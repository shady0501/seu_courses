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49"/>
  </p:notesMasterIdLst>
  <p:sldIdLst>
    <p:sldId id="430" r:id="rId5"/>
    <p:sldId id="256" r:id="rId6"/>
    <p:sldId id="327" r:id="rId7"/>
    <p:sldId id="385" r:id="rId8"/>
    <p:sldId id="397" r:id="rId9"/>
    <p:sldId id="413" r:id="rId10"/>
    <p:sldId id="414" r:id="rId11"/>
    <p:sldId id="449" r:id="rId12"/>
    <p:sldId id="415" r:id="rId13"/>
    <p:sldId id="416" r:id="rId14"/>
    <p:sldId id="417" r:id="rId15"/>
    <p:sldId id="418" r:id="rId16"/>
    <p:sldId id="451" r:id="rId17"/>
    <p:sldId id="431" r:id="rId18"/>
    <p:sldId id="443" r:id="rId19"/>
    <p:sldId id="419" r:id="rId20"/>
    <p:sldId id="420" r:id="rId21"/>
    <p:sldId id="421" r:id="rId22"/>
    <p:sldId id="440" r:id="rId23"/>
    <p:sldId id="441" r:id="rId24"/>
    <p:sldId id="442" r:id="rId25"/>
    <p:sldId id="434" r:id="rId26"/>
    <p:sldId id="452" r:id="rId27"/>
    <p:sldId id="422" r:id="rId28"/>
    <p:sldId id="464" r:id="rId29"/>
    <p:sldId id="423" r:id="rId30"/>
    <p:sldId id="446" r:id="rId31"/>
    <p:sldId id="445" r:id="rId32"/>
    <p:sldId id="424" r:id="rId33"/>
    <p:sldId id="448" r:id="rId34"/>
    <p:sldId id="425" r:id="rId35"/>
    <p:sldId id="426" r:id="rId36"/>
    <p:sldId id="463" r:id="rId37"/>
    <p:sldId id="427" r:id="rId38"/>
    <p:sldId id="462" r:id="rId39"/>
    <p:sldId id="428" r:id="rId40"/>
    <p:sldId id="429" r:id="rId41"/>
    <p:sldId id="460" r:id="rId42"/>
    <p:sldId id="453" r:id="rId43"/>
    <p:sldId id="454" r:id="rId44"/>
    <p:sldId id="455" r:id="rId45"/>
    <p:sldId id="465" r:id="rId46"/>
    <p:sldId id="456" r:id="rId47"/>
    <p:sldId id="458" r:id="rId48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990099"/>
    <a:srgbClr val="FF3300"/>
    <a:srgbClr val="FF3399"/>
    <a:srgbClr val="FFCC99"/>
    <a:srgbClr val="CCFFFF"/>
    <a:srgbClr val="CCECFF"/>
    <a:srgbClr val="CCCCFF"/>
    <a:srgbClr val="99C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28" autoAdjust="0"/>
    <p:restoredTop sz="97197" autoAdjust="0"/>
  </p:normalViewPr>
  <p:slideViewPr>
    <p:cSldViewPr>
      <p:cViewPr>
        <p:scale>
          <a:sx n="80" d="100"/>
          <a:sy n="80" d="100"/>
        </p:scale>
        <p:origin x="-1884" y="-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5FB4FD2-40DE-4077-9F22-6A1ED43CA0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38627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3573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指令信息的约定方法：先确定表示方式（哪些显式、哪些隐式），再进行编码（仅显式信息）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9893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7063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FB4FD2-40DE-4077-9F22-6A1ED43CA00E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996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8C050A-F57A-40C0-9B1B-373CE1AC8D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A890A0-C1D7-4D81-BC83-BB8B5B83BF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44B6CB-6BFD-4E2B-B1E4-61114F34ED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585928-72D7-42F3-890C-59D38CD3E3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F782DC-BC2B-490B-872A-14D20A00881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6D8C57-9535-4CE0-B4EB-86CA6883D3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44408" y="6525344"/>
            <a:ext cx="899592" cy="288032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/>
        </p:spPr>
        <p:txBody>
          <a:bodyPr lIns="18000" tIns="10800" rIns="18000" bIns="10800" anchor="ctr" anchorCtr="0"/>
          <a:lstStyle>
            <a:lvl1pPr algn="ctr">
              <a:lnSpc>
                <a:spcPct val="90000"/>
              </a:lnSpc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9" name="Rectangle 6"/>
          <p:cNvSpPr txBox="1">
            <a:spLocks noChangeArrowheads="1"/>
          </p:cNvSpPr>
          <p:nvPr userDrawn="1"/>
        </p:nvSpPr>
        <p:spPr bwMode="auto">
          <a:xfrm>
            <a:off x="0" y="6525344"/>
            <a:ext cx="1187624" cy="288032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  <a:headEnd/>
            <a:tailEnd/>
          </a:ln>
          <a:effectLst/>
        </p:spPr>
        <p:txBody>
          <a:bodyPr vert="horz" wrap="square" lIns="18000" tIns="10800" rIns="18000" bIns="10800" numCol="1" anchor="ctr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en-US" altLang="zh-CN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  <a:endParaRPr lang="en-US" altLang="zh-CN" b="0" dirty="0">
              <a:solidFill>
                <a:schemeClr val="tx1">
                  <a:lumMod val="50000"/>
                  <a:lumOff val="50000"/>
                </a:schemeClr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1515D5-EFA9-4F76-9D3B-C25D31E190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B06FE7-E0C2-4275-AC9D-E8EDB399D1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7D5888-32B9-4CAB-AF74-F9CAFEAEF5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1C1C2F-8197-4EDA-89D9-CC230000E4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9D9526-6BBD-4A50-A669-516FE580F7E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3110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C0FAEB-EB5E-4D31-9EB0-9E44A91E629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847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DB9B86-2936-4B08-BD86-E74C881D642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274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063C00-78FB-4CDD-A48C-06E9CF06F1B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911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EFD5D0-E101-4D84-8971-D7C8C16F485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9795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32A0D0-3E82-4FF3-9CEB-6E3B37107FC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730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ACA591-8AB8-422E-B769-DC3EBB4193A6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3118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1A7E77-9B5E-4915-B2B7-6B73A385B0C6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5972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1E5E7-4E2F-449F-B4DE-60BB993E181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11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00C549-99FE-4843-AD6F-6249B5E47074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8082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4D215-3808-4588-927C-A27939A24F7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75435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F6768F-A6D7-4A0D-9879-1EDC05C58D1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113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5C9574-2E69-4938-937D-7BE7A9013EBA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70683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D9B4D-86FB-4ECF-AAA3-684F5B00CB1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31513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CECF8-72BB-4143-AE17-43DB8ED7CA0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4842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0C3756-239D-42F7-BABE-9930AF0A5F2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612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115FBB-FD6D-4679-8578-780354EAD01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9592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0B46FB-961D-45CD-932A-737035D922E0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6822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CBB5E4-C697-43A7-8135-FB31C4E5B16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43550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F99711-8ADF-4444-BB2B-AD4FE42A7A8C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0006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0596AA-ADD8-495C-9502-1995ED2D2CD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3552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AE5B36-082F-466F-A27F-FD170CA41E8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5706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026"/>
          <p:cNvSpPr>
            <a:spLocks noChangeShapeType="1"/>
          </p:cNvSpPr>
          <p:nvPr/>
        </p:nvSpPr>
        <p:spPr bwMode="auto">
          <a:xfrm>
            <a:off x="0" y="1708150"/>
            <a:ext cx="9147175" cy="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 sz="2800" smtClean="0">
              <a:solidFill>
                <a:srgbClr val="000000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5" name="Arc 1027"/>
          <p:cNvSpPr>
            <a:spLocks/>
          </p:cNvSpPr>
          <p:nvPr/>
        </p:nvSpPr>
        <p:spPr bwMode="auto">
          <a:xfrm>
            <a:off x="0" y="842963"/>
            <a:ext cx="2895600" cy="6018212"/>
          </a:xfrm>
          <a:custGeom>
            <a:avLst/>
            <a:gdLst>
              <a:gd name="T0" fmla="*/ 0 w 21600"/>
              <a:gd name="T1" fmla="*/ 0 h 21600"/>
              <a:gd name="T2" fmla="*/ 2895600 w 21600"/>
              <a:gd name="T3" fmla="*/ 6018212 h 21600"/>
              <a:gd name="T4" fmla="*/ 0 w 21600"/>
              <a:gd name="T5" fmla="*/ 6018212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 sz="2800" smtClean="0">
              <a:solidFill>
                <a:srgbClr val="000000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48132" name="Rectangle 1028"/>
          <p:cNvSpPr>
            <a:spLocks noGrp="1" noChangeArrowheads="1"/>
          </p:cNvSpPr>
          <p:nvPr>
            <p:ph type="ctrTitle" sz="quarter"/>
          </p:nvPr>
        </p:nvSpPr>
        <p:spPr>
          <a:xfrm>
            <a:off x="2743200" y="427038"/>
            <a:ext cx="6399213" cy="1524000"/>
          </a:xfrm>
        </p:spPr>
        <p:txBody>
          <a:bodyPr anchor="b"/>
          <a:lstStyle>
            <a:lvl1pPr>
              <a:lnSpc>
                <a:spcPct val="80000"/>
              </a:lnSpc>
              <a:defRPr sz="6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8133" name="Rectangle 1029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191000" y="1752600"/>
            <a:ext cx="4572000" cy="1752600"/>
          </a:xfrm>
        </p:spPr>
        <p:txBody>
          <a:bodyPr/>
          <a:lstStyle>
            <a:lvl1pPr marL="0" indent="0">
              <a:buFont typeface="Monotype Sorts" charset="2"/>
              <a:buNone/>
              <a:defRPr sz="24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7" name="Rectangle 103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8" name="Rectangle 103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088FC-4FC6-4395-A238-8BA45FACB30F}" type="slidenum">
              <a:rPr lang="en-US" altLang="zh-CN">
                <a:solidFill>
                  <a:srgbClr val="FF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0845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B36CB8-B487-485F-8E39-3EAEB3F3A268}" type="slidenum">
              <a:rPr lang="en-US" altLang="zh-CN">
                <a:solidFill>
                  <a:srgbClr val="FF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3607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B9918F-5377-4C52-AD64-A5B2DCEF9215}" type="slidenum">
              <a:rPr lang="en-US" altLang="zh-CN">
                <a:solidFill>
                  <a:srgbClr val="FF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7840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819400" y="1981200"/>
            <a:ext cx="2971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43600" y="1981200"/>
            <a:ext cx="2971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E29D96-0DAC-40D6-8564-A12AC0920D1B}" type="slidenum">
              <a:rPr lang="en-US" altLang="zh-CN">
                <a:solidFill>
                  <a:srgbClr val="FF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0916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F1831B-4154-4122-A8BB-2B82CBB073C1}" type="slidenum">
              <a:rPr lang="en-US" altLang="zh-CN">
                <a:solidFill>
                  <a:srgbClr val="FF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3668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8C59B-049E-4208-BA9E-4FA5D3DA9BA7}" type="slidenum">
              <a:rPr lang="en-US" altLang="zh-CN">
                <a:solidFill>
                  <a:srgbClr val="FF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7713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3D8817-DBD1-4B67-BF98-A1FD200D3B8D}" type="slidenum">
              <a:rPr lang="en-US" altLang="zh-CN">
                <a:solidFill>
                  <a:srgbClr val="FF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5916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BC6FC8-74E7-4BBE-BD5C-9A4A2CC1AF85}" type="slidenum">
              <a:rPr lang="en-US" altLang="zh-CN">
                <a:solidFill>
                  <a:srgbClr val="FF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4488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8F1281-ADDD-4F3F-923B-B4D66DAA034F}" type="slidenum">
              <a:rPr lang="en-US" altLang="zh-CN">
                <a:solidFill>
                  <a:srgbClr val="FF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61521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C58DE6-C304-4032-BDF6-A770486104A7}" type="slidenum">
              <a:rPr lang="en-US" altLang="zh-CN">
                <a:solidFill>
                  <a:srgbClr val="FF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5864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91400" y="609600"/>
            <a:ext cx="15240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819400" y="609600"/>
            <a:ext cx="44196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7D7CA3-EA6B-4CF8-9BED-192205E4A751}" type="slidenum">
              <a:rPr lang="en-US" altLang="zh-CN">
                <a:solidFill>
                  <a:srgbClr val="FF0000"/>
                </a:solidFill>
              </a:rPr>
              <a:pPr>
                <a:defRPr/>
              </a:pPr>
              <a:t>‹#›</a:t>
            </a:fld>
            <a:endParaRPr lang="en-US" altLang="zh-C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082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B1E1FF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5B4E53F5-CDC8-4E76-9FDD-E52403B1F9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B1E1FF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fld id="{2A93905D-6CB0-41A5-B23C-35C9B333FAA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29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B1E1FF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u="none"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u="none"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u="none"/>
            </a:lvl1pPr>
          </a:lstStyle>
          <a:p>
            <a:fld id="{56743B6A-F0BE-4ECC-820C-5678D61F99D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33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B1E1FF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rc 2"/>
          <p:cNvSpPr>
            <a:spLocks/>
          </p:cNvSpPr>
          <p:nvPr/>
        </p:nvSpPr>
        <p:spPr bwMode="auto">
          <a:xfrm>
            <a:off x="0" y="842963"/>
            <a:ext cx="2895600" cy="6018212"/>
          </a:xfrm>
          <a:custGeom>
            <a:avLst/>
            <a:gdLst>
              <a:gd name="T0" fmla="*/ 0 w 21600"/>
              <a:gd name="T1" fmla="*/ 0 h 21600"/>
              <a:gd name="T2" fmla="*/ 2895600 w 21600"/>
              <a:gd name="T3" fmla="*/ 6018212 h 21600"/>
              <a:gd name="T4" fmla="*/ 0 w 21600"/>
              <a:gd name="T5" fmla="*/ 6018212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 sz="2800" smtClean="0">
              <a:solidFill>
                <a:srgbClr val="000000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819400" y="609600"/>
            <a:ext cx="6096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19400" y="1981200"/>
            <a:ext cx="60960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hlink"/>
                </a:solidFill>
                <a:latin typeface="+mn-lt"/>
                <a:ea typeface="宋体" pitchFamily="2" charset="-122"/>
              </a:defRPr>
            </a:lvl1pPr>
          </a:lstStyle>
          <a:p>
            <a:pPr eaLnBrk="0" hangingPunct="0"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hlink"/>
                </a:solidFill>
                <a:latin typeface="+mn-lt"/>
                <a:ea typeface="宋体" pitchFamily="2" charset="-122"/>
              </a:defRPr>
            </a:lvl1pPr>
          </a:lstStyle>
          <a:p>
            <a:pPr eaLnBrk="0" hangingPunct="0">
              <a:defRPr/>
            </a:pP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hlink"/>
                </a:solidFill>
                <a:latin typeface="+mn-lt"/>
                <a:ea typeface="宋体" pitchFamily="2" charset="-122"/>
              </a:defRPr>
            </a:lvl1pPr>
          </a:lstStyle>
          <a:p>
            <a:pPr eaLnBrk="0" hangingPunct="0">
              <a:defRPr/>
            </a:pPr>
            <a:fld id="{D16E20B8-35B8-47C0-AD04-9379AD5E26F8}" type="slidenum">
              <a:rPr lang="en-US" altLang="zh-CN">
                <a:solidFill>
                  <a:srgbClr val="FF0000"/>
                </a:solidFill>
              </a:rPr>
              <a:pPr eaLnBrk="0" hangingPunct="0">
                <a:defRPr/>
              </a:pPr>
              <a:t>‹#›</a:t>
            </a:fld>
            <a:endParaRPr lang="en-US" altLang="zh-CN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272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  <a:ea typeface="宋体" pitchFamily="2" charset="-122"/>
        </a:defRPr>
      </a:lvl2pPr>
      <a:lvl3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  <a:ea typeface="宋体" pitchFamily="2" charset="-122"/>
        </a:defRPr>
      </a:lvl3pPr>
      <a:lvl4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  <a:ea typeface="宋体" pitchFamily="2" charset="-122"/>
        </a:defRPr>
      </a:lvl4pPr>
      <a:lvl5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  <a:ea typeface="宋体" pitchFamily="2" charset="-122"/>
        </a:defRPr>
      </a:lvl5pPr>
      <a:lvl6pPr marL="4572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  <a:ea typeface="宋体" pitchFamily="2" charset="-122"/>
        </a:defRPr>
      </a:lvl6pPr>
      <a:lvl7pPr marL="9144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  <a:ea typeface="宋体" pitchFamily="2" charset="-122"/>
        </a:defRPr>
      </a:lvl7pPr>
      <a:lvl8pPr marL="13716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  <a:ea typeface="宋体" pitchFamily="2" charset="-122"/>
        </a:defRPr>
      </a:lvl8pPr>
      <a:lvl9pPr marL="18288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Monotype Sorts" pitchFamily="2" charset="2"/>
        <a:buChar char="n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u"/>
        <a:defRPr kumimoji="1" sz="2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Monotype Sorts" pitchFamily="2" charset="2"/>
        <a:buChar char="F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•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hyperlink" Target="about:blank" TargetMode="External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3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3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3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6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0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ampu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590550"/>
            <a:ext cx="4462463" cy="609600"/>
          </a:xfrm>
        </p:spPr>
        <p:txBody>
          <a:bodyPr/>
          <a:lstStyle/>
          <a:p>
            <a:pPr eaLnBrk="1" hangingPunct="1"/>
            <a:r>
              <a:rPr lang="zh-CN" altLang="en-US" sz="3600" smtClean="0">
                <a:solidFill>
                  <a:srgbClr val="000099"/>
                </a:solidFill>
                <a:ea typeface="华文行楷" pitchFamily="2" charset="-122"/>
              </a:rPr>
              <a:t>东南大学计算机学院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219200" y="2346325"/>
            <a:ext cx="6705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tx2"/>
                </a:solidFill>
                <a:latin typeface="Arial Narrow" pitchFamily="34" charset="0"/>
              </a:rPr>
              <a:t>计算机组成原理</a:t>
            </a: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3856038" y="3148013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 eaLnBrk="1" hangingPunct="1">
              <a:spcBef>
                <a:spcPct val="0"/>
              </a:spcBef>
            </a:pPr>
            <a:endParaRPr kumimoji="1" lang="zh-CN" altLang="zh-CN" sz="2800" b="1">
              <a:solidFill>
                <a:srgbClr val="0000FF"/>
              </a:solidFill>
            </a:endParaRPr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2876550" y="4662488"/>
            <a:ext cx="3490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 eaLnBrk="1" hangingPunct="1">
              <a:spcBef>
                <a:spcPct val="0"/>
              </a:spcBef>
            </a:pPr>
            <a:r>
              <a:rPr kumimoji="1" lang="zh-CN" altLang="en-US" sz="2800" b="1" u="none" dirty="0">
                <a:solidFill>
                  <a:srgbClr val="000099"/>
                </a:solidFill>
              </a:rPr>
              <a:t>主讲教师： 徐造林</a:t>
            </a:r>
          </a:p>
        </p:txBody>
      </p:sp>
    </p:spTree>
    <p:extLst>
      <p:ext uri="{BB962C8B-B14F-4D97-AF65-F5344CB8AC3E}">
        <p14:creationId xmlns:p14="http://schemas.microsoft.com/office/powerpoint/2010/main" val="1344897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5"/>
          <p:cNvSpPr txBox="1">
            <a:spLocks noChangeArrowheads="1"/>
          </p:cNvSpPr>
          <p:nvPr/>
        </p:nvSpPr>
        <p:spPr bwMode="auto">
          <a:xfrm>
            <a:off x="1258888" y="2595563"/>
            <a:ext cx="6697662" cy="762000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4400" b="1" dirty="0" smtClean="0">
                <a:latin typeface="黑体" pitchFamily="2" charset="-122"/>
                <a:ea typeface="黑体" pitchFamily="2" charset="-122"/>
              </a:rPr>
              <a:t>总  复  习 </a:t>
            </a:r>
            <a:endParaRPr lang="zh-CN" altLang="en-US" sz="44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244408" y="6525344"/>
            <a:ext cx="899592" cy="288032"/>
          </a:xfrm>
          <a:noFill/>
        </p:spPr>
        <p:txBody>
          <a:bodyPr/>
          <a:lstStyle/>
          <a:p>
            <a:fld id="{C29E29CF-EAF2-4097-B0D5-FADE98AC9160}" type="slidenum">
              <a:rPr lang="en-US" altLang="zh-CN" smtClean="0"/>
              <a:pPr/>
              <a:t>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29E29CF-EAF2-4097-B0D5-FADE98AC9160}" type="slidenum">
              <a:rPr lang="en-US" altLang="zh-CN" smtClean="0">
                <a:latin typeface="+mn-lt"/>
              </a:rPr>
              <a:pPr/>
              <a:t>3</a:t>
            </a:fld>
            <a:endParaRPr lang="en-US" altLang="zh-CN" dirty="0">
              <a:latin typeface="+mn-lt"/>
            </a:endParaRPr>
          </a:p>
        </p:txBody>
      </p:sp>
      <p:sp>
        <p:nvSpPr>
          <p:cNvPr id="4099" name="Text Box 173"/>
          <p:cNvSpPr txBox="1">
            <a:spLocks noChangeArrowheads="1"/>
          </p:cNvSpPr>
          <p:nvPr/>
        </p:nvSpPr>
        <p:spPr bwMode="auto">
          <a:xfrm>
            <a:off x="838200" y="323945"/>
            <a:ext cx="7467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+mn-lt"/>
              </a:rPr>
              <a:t>考试</a:t>
            </a:r>
            <a:r>
              <a:rPr lang="zh-CN" altLang="en-US" sz="3200" b="1" dirty="0" smtClean="0">
                <a:latin typeface="+mn-lt"/>
              </a:rPr>
              <a:t>题型</a:t>
            </a:r>
            <a:r>
              <a:rPr lang="en-US" altLang="zh-CN" b="1" dirty="0" smtClean="0">
                <a:latin typeface="+mn-lt"/>
              </a:rPr>
              <a:t>(</a:t>
            </a:r>
            <a:r>
              <a:rPr lang="zh-CN" altLang="en-US" b="1" dirty="0" smtClean="0">
                <a:latin typeface="+mn-lt"/>
              </a:rPr>
              <a:t>闭卷</a:t>
            </a:r>
            <a:r>
              <a:rPr lang="en-US" altLang="zh-CN" b="1" dirty="0" smtClean="0">
                <a:latin typeface="+mn-lt"/>
              </a:rPr>
              <a:t>)</a:t>
            </a:r>
            <a:endParaRPr lang="zh-CN" altLang="en-US" b="1" dirty="0">
              <a:latin typeface="+mn-lt"/>
            </a:endParaRPr>
          </a:p>
        </p:txBody>
      </p:sp>
      <p:sp>
        <p:nvSpPr>
          <p:cNvPr id="135343" name="Text Box 175"/>
          <p:cNvSpPr txBox="1">
            <a:spLocks noChangeArrowheads="1"/>
          </p:cNvSpPr>
          <p:nvPr/>
        </p:nvSpPr>
        <p:spPr bwMode="auto">
          <a:xfrm>
            <a:off x="179388" y="928688"/>
            <a:ext cx="8812212" cy="519112"/>
          </a:xfrm>
          <a:prstGeom prst="rect">
            <a:avLst/>
          </a:prstGeom>
          <a:solidFill>
            <a:srgbClr val="FFCC99">
              <a:alpha val="80000"/>
            </a:srgb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rgbClr val="FF3399"/>
                </a:solidFill>
                <a:latin typeface="+mn-lt"/>
              </a:rPr>
              <a:t>1</a:t>
            </a:r>
            <a:r>
              <a:rPr lang="zh-CN" altLang="en-US" sz="2800" b="1" dirty="0">
                <a:solidFill>
                  <a:srgbClr val="FF3399"/>
                </a:solidFill>
                <a:latin typeface="+mn-lt"/>
              </a:rPr>
              <a:t>、选择题（</a:t>
            </a:r>
            <a:r>
              <a:rPr lang="en-US" altLang="zh-CN" sz="2800" b="1" dirty="0">
                <a:solidFill>
                  <a:srgbClr val="FF3399"/>
                </a:solidFill>
                <a:latin typeface="+mn-lt"/>
              </a:rPr>
              <a:t>2</a:t>
            </a:r>
            <a:r>
              <a:rPr lang="zh-CN" altLang="en-US" sz="2800" b="1" dirty="0">
                <a:solidFill>
                  <a:srgbClr val="FF3399"/>
                </a:solidFill>
                <a:latin typeface="+mn-lt"/>
              </a:rPr>
              <a:t>分</a:t>
            </a:r>
            <a:r>
              <a:rPr lang="en-US" altLang="zh-CN" sz="2800" b="1" dirty="0">
                <a:solidFill>
                  <a:srgbClr val="FF3399"/>
                </a:solidFill>
                <a:latin typeface="+mn-lt"/>
              </a:rPr>
              <a:t>×</a:t>
            </a:r>
            <a:r>
              <a:rPr lang="en-US" altLang="zh-CN" sz="2800" b="1" dirty="0" smtClean="0">
                <a:solidFill>
                  <a:srgbClr val="FF3399"/>
                </a:solidFill>
                <a:latin typeface="+mn-lt"/>
              </a:rPr>
              <a:t>12</a:t>
            </a:r>
            <a:r>
              <a:rPr lang="zh-CN" altLang="en-US" sz="2800" b="1" dirty="0" smtClean="0">
                <a:solidFill>
                  <a:srgbClr val="FF3399"/>
                </a:solidFill>
                <a:latin typeface="+mn-lt"/>
              </a:rPr>
              <a:t>）</a:t>
            </a:r>
            <a:endParaRPr lang="zh-CN" altLang="en-US" sz="2800" b="1" dirty="0">
              <a:solidFill>
                <a:srgbClr val="FF3399"/>
              </a:solidFill>
              <a:latin typeface="+mn-lt"/>
            </a:endParaRPr>
          </a:p>
        </p:txBody>
      </p:sp>
      <p:sp>
        <p:nvSpPr>
          <p:cNvPr id="135344" name="Text Box 176"/>
          <p:cNvSpPr txBox="1">
            <a:spLocks noChangeArrowheads="1"/>
          </p:cNvSpPr>
          <p:nvPr/>
        </p:nvSpPr>
        <p:spPr bwMode="auto">
          <a:xfrm>
            <a:off x="179388" y="1412776"/>
            <a:ext cx="8497068" cy="120032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808038" indent="-808038"/>
            <a:r>
              <a:rPr lang="zh-CN" altLang="en-US" b="1" dirty="0" smtClean="0">
                <a:solidFill>
                  <a:schemeClr val="accent2"/>
                </a:solidFill>
                <a:latin typeface="+mn-lt"/>
              </a:rPr>
              <a:t>   例</a:t>
            </a:r>
            <a:r>
              <a:rPr lang="en-US" altLang="zh-CN" b="1" dirty="0" smtClean="0">
                <a:solidFill>
                  <a:schemeClr val="accent2"/>
                </a:solidFill>
                <a:latin typeface="+mn-lt"/>
              </a:rPr>
              <a:t>—</a:t>
            </a:r>
            <a:r>
              <a:rPr lang="zh-CN" altLang="en-US" b="1" dirty="0">
                <a:latin typeface="+mn-lt"/>
              </a:rPr>
              <a:t>下列奇偶校验码中，假定只有一个有奇数个错误，则该校验码为</a:t>
            </a:r>
            <a:r>
              <a:rPr lang="en-US" altLang="zh-CN" b="1" dirty="0">
                <a:latin typeface="+mn-lt"/>
              </a:rPr>
              <a:t>(  </a:t>
            </a:r>
            <a:r>
              <a:rPr lang="en-US" altLang="zh-CN" b="1" dirty="0" smtClean="0">
                <a:latin typeface="+mn-lt"/>
              </a:rPr>
              <a:t>     )</a:t>
            </a:r>
            <a:endParaRPr lang="zh-CN" altLang="en-US" b="1" dirty="0">
              <a:latin typeface="+mn-lt"/>
            </a:endParaRPr>
          </a:p>
          <a:p>
            <a:r>
              <a:rPr lang="zh-CN" altLang="en-US" b="1" dirty="0">
                <a:latin typeface="+mn-lt"/>
              </a:rPr>
              <a:t>      </a:t>
            </a:r>
            <a:r>
              <a:rPr lang="zh-CN" altLang="en-US" b="1" dirty="0" smtClean="0">
                <a:latin typeface="+mn-lt"/>
              </a:rPr>
              <a:t>       </a:t>
            </a:r>
            <a:r>
              <a:rPr lang="en-US" altLang="zh-CN" b="1" dirty="0">
                <a:latin typeface="+mn-lt"/>
              </a:rPr>
              <a:t>A</a:t>
            </a:r>
            <a:r>
              <a:rPr lang="en-US" altLang="zh-CN" b="1" dirty="0" smtClean="0">
                <a:latin typeface="+mn-lt"/>
              </a:rPr>
              <a:t>. 11001011</a:t>
            </a:r>
            <a:r>
              <a:rPr lang="en-US" altLang="zh-CN" b="1" dirty="0">
                <a:latin typeface="+mn-lt"/>
              </a:rPr>
              <a:t>    </a:t>
            </a:r>
            <a:r>
              <a:rPr lang="en-US" altLang="zh-CN" b="1" dirty="0" smtClean="0">
                <a:latin typeface="+mn-lt"/>
              </a:rPr>
              <a:t>          B. 11010110</a:t>
            </a:r>
            <a:r>
              <a:rPr lang="en-US" altLang="zh-CN" b="1" dirty="0">
                <a:latin typeface="+mn-lt"/>
              </a:rPr>
              <a:t>    </a:t>
            </a:r>
            <a:r>
              <a:rPr lang="en-US" altLang="zh-CN" b="1" dirty="0" smtClean="0">
                <a:latin typeface="+mn-lt"/>
              </a:rPr>
              <a:t>        </a:t>
            </a:r>
            <a:r>
              <a:rPr lang="en-US" altLang="zh-CN" b="1" dirty="0">
                <a:latin typeface="+mn-lt"/>
              </a:rPr>
              <a:t>C</a:t>
            </a:r>
            <a:r>
              <a:rPr lang="en-US" altLang="zh-CN" b="1" dirty="0" smtClean="0">
                <a:latin typeface="+mn-lt"/>
              </a:rPr>
              <a:t>. 11001001</a:t>
            </a:r>
            <a:endParaRPr lang="en-US" altLang="zh-CN" b="1" dirty="0">
              <a:latin typeface="+mn-lt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79388" y="4365104"/>
            <a:ext cx="8126412" cy="92333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+mn-lt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+mn-lt"/>
              </a:rPr>
              <a:t>例</a:t>
            </a:r>
            <a:r>
              <a:rPr lang="en-US" altLang="zh-CN" b="1" dirty="0" smtClean="0">
                <a:solidFill>
                  <a:schemeClr val="accent2"/>
                </a:solidFill>
                <a:latin typeface="+mn-lt"/>
              </a:rPr>
              <a:t>—</a:t>
            </a:r>
            <a:r>
              <a:rPr lang="zh-CN" altLang="en-US" b="1" dirty="0" smtClean="0">
                <a:latin typeface="+mn-lt"/>
              </a:rPr>
              <a:t>若</a:t>
            </a:r>
            <a:r>
              <a:rPr lang="en-US" altLang="zh-CN" b="1" dirty="0">
                <a:latin typeface="+mn-lt"/>
              </a:rPr>
              <a:t>X</a:t>
            </a:r>
            <a:r>
              <a:rPr lang="zh-CN" altLang="en-US" b="1" dirty="0">
                <a:latin typeface="+mn-lt"/>
              </a:rPr>
              <a:t>＝</a:t>
            </a:r>
            <a:r>
              <a:rPr lang="en-US" altLang="zh-CN" b="1" dirty="0">
                <a:latin typeface="+mn-lt"/>
              </a:rPr>
              <a:t>-1011</a:t>
            </a:r>
            <a:r>
              <a:rPr lang="zh-CN" altLang="en-US" b="1" dirty="0">
                <a:latin typeface="+mn-lt"/>
              </a:rPr>
              <a:t>，</a:t>
            </a:r>
            <a:r>
              <a:rPr lang="en-US" altLang="zh-CN" b="1" dirty="0">
                <a:latin typeface="+mn-lt"/>
              </a:rPr>
              <a:t>Y</a:t>
            </a:r>
            <a:r>
              <a:rPr lang="zh-CN" altLang="en-US" b="1" dirty="0">
                <a:latin typeface="+mn-lt"/>
              </a:rPr>
              <a:t>＝</a:t>
            </a:r>
            <a:r>
              <a:rPr lang="en-US" altLang="zh-CN" b="1" dirty="0">
                <a:latin typeface="+mn-lt"/>
              </a:rPr>
              <a:t>+1101</a:t>
            </a:r>
            <a:r>
              <a:rPr lang="zh-CN" altLang="en-US" b="1" dirty="0">
                <a:latin typeface="+mn-lt"/>
              </a:rPr>
              <a:t>，求</a:t>
            </a:r>
            <a:r>
              <a:rPr lang="en-US" altLang="zh-CN" b="1" dirty="0">
                <a:latin typeface="+mn-lt"/>
              </a:rPr>
              <a:t>[X]</a:t>
            </a:r>
            <a:r>
              <a:rPr lang="zh-CN" altLang="en-US" b="1" baseline="-20000" dirty="0">
                <a:latin typeface="+mn-lt"/>
              </a:rPr>
              <a:t>原</a:t>
            </a:r>
            <a:r>
              <a:rPr lang="zh-CN" altLang="en-US" b="1" dirty="0">
                <a:latin typeface="+mn-lt"/>
              </a:rPr>
              <a:t>、</a:t>
            </a:r>
            <a:r>
              <a:rPr lang="en-US" altLang="zh-CN" b="1" dirty="0">
                <a:latin typeface="+mn-lt"/>
              </a:rPr>
              <a:t>[-Y]</a:t>
            </a:r>
            <a:r>
              <a:rPr lang="zh-CN" altLang="en-US" b="1" baseline="-20000" dirty="0">
                <a:latin typeface="+mn-lt"/>
              </a:rPr>
              <a:t>补</a:t>
            </a:r>
            <a:r>
              <a:rPr lang="zh-CN" altLang="en-US" b="1" dirty="0">
                <a:latin typeface="+mn-lt"/>
              </a:rPr>
              <a:t>、</a:t>
            </a:r>
            <a:r>
              <a:rPr lang="en-US" altLang="zh-CN" b="1" dirty="0">
                <a:latin typeface="+mn-lt"/>
              </a:rPr>
              <a:t>[X]</a:t>
            </a:r>
            <a:r>
              <a:rPr lang="zh-CN" altLang="en-US" b="1" baseline="-20000" dirty="0">
                <a:latin typeface="+mn-lt"/>
              </a:rPr>
              <a:t>移</a:t>
            </a:r>
            <a:r>
              <a:rPr lang="zh-CN" altLang="en-US" b="1" dirty="0">
                <a:latin typeface="+mn-lt"/>
              </a:rPr>
              <a:t>，</a:t>
            </a: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+mn-lt"/>
              </a:rPr>
              <a:t>       </a:t>
            </a:r>
            <a:r>
              <a:rPr lang="zh-CN" altLang="en-US" b="1" dirty="0" smtClean="0">
                <a:latin typeface="+mn-lt"/>
              </a:rPr>
              <a:t>    求</a:t>
            </a:r>
            <a:r>
              <a:rPr lang="en-US" altLang="zh-CN" b="1" dirty="0">
                <a:latin typeface="+mn-lt"/>
              </a:rPr>
              <a:t>[X+Y]</a:t>
            </a:r>
            <a:r>
              <a:rPr lang="zh-CN" altLang="en-US" b="1" baseline="-20000" dirty="0" smtClean="0">
                <a:latin typeface="+mn-lt"/>
              </a:rPr>
              <a:t>补</a:t>
            </a:r>
            <a:r>
              <a:rPr lang="zh-CN" altLang="en-US" b="1" dirty="0" smtClean="0">
                <a:latin typeface="+mn-lt"/>
              </a:rPr>
              <a:t>、</a:t>
            </a:r>
            <a:r>
              <a:rPr lang="en-US" altLang="zh-CN" b="1" dirty="0" smtClean="0">
                <a:latin typeface="+mn-lt"/>
              </a:rPr>
              <a:t>[X-Y</a:t>
            </a:r>
            <a:r>
              <a:rPr lang="en-US" altLang="zh-CN" b="1" dirty="0">
                <a:latin typeface="+mn-lt"/>
              </a:rPr>
              <a:t>]</a:t>
            </a:r>
            <a:r>
              <a:rPr lang="zh-CN" altLang="en-US" b="1" baseline="-20000" dirty="0" smtClean="0">
                <a:latin typeface="+mn-lt"/>
              </a:rPr>
              <a:t>补</a:t>
            </a:r>
            <a:r>
              <a:rPr lang="zh-CN" altLang="en-US" b="1" dirty="0" smtClean="0">
                <a:latin typeface="+mn-lt"/>
              </a:rPr>
              <a:t>，并判断结果是否溢出。</a:t>
            </a:r>
            <a:r>
              <a:rPr lang="zh-CN" altLang="en-US" dirty="0" smtClean="0">
                <a:latin typeface="+mn-lt"/>
              </a:rPr>
              <a:t> </a:t>
            </a:r>
            <a:endParaRPr lang="zh-CN" altLang="en-US" b="1" dirty="0">
              <a:latin typeface="+mn-lt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179388" y="3773983"/>
            <a:ext cx="8812212" cy="519113"/>
          </a:xfrm>
          <a:prstGeom prst="rect">
            <a:avLst/>
          </a:prstGeom>
          <a:solidFill>
            <a:srgbClr val="FFCC99">
              <a:alpha val="80000"/>
            </a:srgb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 dirty="0" smtClean="0">
                <a:solidFill>
                  <a:srgbClr val="FF3399"/>
                </a:solidFill>
                <a:latin typeface="+mn-lt"/>
              </a:rPr>
              <a:t>3</a:t>
            </a:r>
            <a:r>
              <a:rPr lang="zh-CN" altLang="en-US" sz="2800" b="1" dirty="0" smtClean="0">
                <a:solidFill>
                  <a:srgbClr val="FF3399"/>
                </a:solidFill>
                <a:latin typeface="+mn-lt"/>
              </a:rPr>
              <a:t>、</a:t>
            </a:r>
            <a:r>
              <a:rPr lang="zh-CN" altLang="en-US" sz="2800" b="1" dirty="0">
                <a:solidFill>
                  <a:srgbClr val="FF3399"/>
                </a:solidFill>
                <a:latin typeface="+mn-lt"/>
              </a:rPr>
              <a:t>计算题</a:t>
            </a:r>
            <a:r>
              <a:rPr lang="zh-CN" altLang="en-US" sz="2800" b="1" dirty="0" smtClean="0">
                <a:solidFill>
                  <a:srgbClr val="FF3399"/>
                </a:solidFill>
                <a:latin typeface="+mn-lt"/>
              </a:rPr>
              <a:t>（</a:t>
            </a:r>
            <a:r>
              <a:rPr lang="en-US" altLang="zh-CN" sz="2800" b="1" dirty="0" smtClean="0">
                <a:solidFill>
                  <a:srgbClr val="FF3399"/>
                </a:solidFill>
                <a:latin typeface="+mn-lt"/>
              </a:rPr>
              <a:t>7</a:t>
            </a:r>
            <a:r>
              <a:rPr lang="zh-CN" altLang="en-US" sz="2800" b="1" dirty="0" smtClean="0">
                <a:solidFill>
                  <a:srgbClr val="FF3399"/>
                </a:solidFill>
                <a:latin typeface="+mn-lt"/>
              </a:rPr>
              <a:t>分</a:t>
            </a:r>
            <a:r>
              <a:rPr lang="en-US" altLang="zh-CN" sz="2800" b="1" dirty="0" smtClean="0">
                <a:solidFill>
                  <a:srgbClr val="FF3399"/>
                </a:solidFill>
                <a:latin typeface="+mn-lt"/>
              </a:rPr>
              <a:t>×3</a:t>
            </a:r>
            <a:r>
              <a:rPr lang="zh-CN" altLang="en-US" sz="2800" b="1" dirty="0" smtClean="0">
                <a:solidFill>
                  <a:srgbClr val="FF3399"/>
                </a:solidFill>
                <a:latin typeface="+mn-lt"/>
              </a:rPr>
              <a:t>）</a:t>
            </a:r>
            <a:endParaRPr lang="zh-CN" altLang="en-US" sz="2800" b="1" dirty="0">
              <a:solidFill>
                <a:srgbClr val="FF3399"/>
              </a:solidFill>
              <a:latin typeface="+mn-lt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79388" y="5827330"/>
            <a:ext cx="8812212" cy="55399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+mn-lt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+mn-lt"/>
              </a:rPr>
              <a:t>例</a:t>
            </a:r>
            <a:r>
              <a:rPr lang="en-US" altLang="zh-CN" b="1" dirty="0" smtClean="0">
                <a:solidFill>
                  <a:schemeClr val="accent2"/>
                </a:solidFill>
                <a:latin typeface="+mn-lt"/>
              </a:rPr>
              <a:t>—</a:t>
            </a:r>
            <a:r>
              <a:rPr lang="zh-CN" altLang="en-US" b="1" dirty="0" smtClean="0">
                <a:latin typeface="+mn-lt"/>
              </a:rPr>
              <a:t>简述</a:t>
            </a:r>
            <a:r>
              <a:rPr lang="zh-CN" altLang="en-US" b="1" dirty="0">
                <a:latin typeface="+mn-lt"/>
              </a:rPr>
              <a:t>冯</a:t>
            </a:r>
            <a:r>
              <a:rPr lang="en-US" altLang="zh-CN" b="1" dirty="0">
                <a:latin typeface="+mn-lt"/>
              </a:rPr>
              <a:t>·</a:t>
            </a:r>
            <a:r>
              <a:rPr lang="zh-CN" altLang="en-US" b="1" dirty="0">
                <a:latin typeface="+mn-lt"/>
              </a:rPr>
              <a:t>诺依曼</a:t>
            </a:r>
            <a:r>
              <a:rPr lang="zh-CN" altLang="en-US" b="1" dirty="0" smtClean="0">
                <a:latin typeface="+mn-lt"/>
              </a:rPr>
              <a:t>计算机存储</a:t>
            </a:r>
            <a:r>
              <a:rPr lang="zh-CN" altLang="en-US" b="1" dirty="0">
                <a:latin typeface="+mn-lt"/>
              </a:rPr>
              <a:t>程序原理</a:t>
            </a:r>
            <a:r>
              <a:rPr lang="zh-CN" altLang="en-US" b="1" dirty="0" smtClean="0">
                <a:latin typeface="+mn-lt"/>
              </a:rPr>
              <a:t>的基本思想</a:t>
            </a:r>
            <a:r>
              <a:rPr lang="zh-CN" altLang="en-US" dirty="0" smtClean="0">
                <a:latin typeface="+mn-lt"/>
              </a:rPr>
              <a:t> </a:t>
            </a:r>
            <a:endParaRPr lang="zh-CN" altLang="en-US" b="1" dirty="0">
              <a:latin typeface="+mn-lt"/>
            </a:endParaRP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179388" y="5323274"/>
            <a:ext cx="8812212" cy="519113"/>
          </a:xfrm>
          <a:prstGeom prst="rect">
            <a:avLst/>
          </a:prstGeom>
          <a:solidFill>
            <a:srgbClr val="FFCC99">
              <a:alpha val="80000"/>
            </a:srgb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 dirty="0" smtClean="0">
                <a:solidFill>
                  <a:srgbClr val="FF3399"/>
                </a:solidFill>
                <a:latin typeface="+mn-lt"/>
              </a:rPr>
              <a:t>4</a:t>
            </a:r>
            <a:r>
              <a:rPr lang="zh-CN" altLang="en-US" sz="2800" b="1" dirty="0" smtClean="0">
                <a:solidFill>
                  <a:srgbClr val="FF3399"/>
                </a:solidFill>
                <a:latin typeface="+mn-lt"/>
              </a:rPr>
              <a:t>、</a:t>
            </a:r>
            <a:r>
              <a:rPr lang="zh-CN" altLang="en-US" sz="2800" b="1" dirty="0">
                <a:solidFill>
                  <a:srgbClr val="FF3399"/>
                </a:solidFill>
                <a:latin typeface="+mn-lt"/>
              </a:rPr>
              <a:t>简答题（</a:t>
            </a:r>
            <a:r>
              <a:rPr lang="en-US" altLang="zh-CN" sz="2800" b="1" dirty="0">
                <a:solidFill>
                  <a:srgbClr val="FF3399"/>
                </a:solidFill>
                <a:latin typeface="+mn-lt"/>
              </a:rPr>
              <a:t>5</a:t>
            </a:r>
            <a:r>
              <a:rPr lang="zh-CN" altLang="en-US" sz="2800" b="1" dirty="0">
                <a:solidFill>
                  <a:srgbClr val="FF3399"/>
                </a:solidFill>
                <a:latin typeface="+mn-lt"/>
              </a:rPr>
              <a:t>分</a:t>
            </a:r>
            <a:r>
              <a:rPr lang="en-US" altLang="zh-CN" sz="2800" b="1" dirty="0" smtClean="0">
                <a:solidFill>
                  <a:srgbClr val="FF3399"/>
                </a:solidFill>
                <a:latin typeface="+mn-lt"/>
              </a:rPr>
              <a:t>×3</a:t>
            </a:r>
            <a:r>
              <a:rPr lang="zh-CN" altLang="en-US" sz="2800" b="1" dirty="0" smtClean="0">
                <a:solidFill>
                  <a:srgbClr val="FF3399"/>
                </a:solidFill>
                <a:latin typeface="+mn-lt"/>
              </a:rPr>
              <a:t>）</a:t>
            </a:r>
            <a:endParaRPr lang="zh-CN" altLang="en-US" sz="2800" b="1" dirty="0">
              <a:solidFill>
                <a:srgbClr val="FF3399"/>
              </a:solidFill>
              <a:latin typeface="+mn-lt"/>
            </a:endParaRPr>
          </a:p>
        </p:txBody>
      </p:sp>
      <p:sp>
        <p:nvSpPr>
          <p:cNvPr id="12" name="Text Box 175"/>
          <p:cNvSpPr txBox="1">
            <a:spLocks noChangeArrowheads="1"/>
          </p:cNvSpPr>
          <p:nvPr/>
        </p:nvSpPr>
        <p:spPr bwMode="auto">
          <a:xfrm>
            <a:off x="179512" y="2636912"/>
            <a:ext cx="8812212" cy="519112"/>
          </a:xfrm>
          <a:prstGeom prst="rect">
            <a:avLst/>
          </a:prstGeom>
          <a:solidFill>
            <a:srgbClr val="FFCC99">
              <a:alpha val="80000"/>
            </a:srgb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 dirty="0" smtClean="0">
                <a:solidFill>
                  <a:srgbClr val="FF3399"/>
                </a:solidFill>
                <a:latin typeface="+mn-lt"/>
              </a:rPr>
              <a:t>2</a:t>
            </a:r>
            <a:r>
              <a:rPr lang="zh-CN" altLang="en-US" sz="2800" b="1" dirty="0" smtClean="0">
                <a:solidFill>
                  <a:srgbClr val="FF3399"/>
                </a:solidFill>
                <a:latin typeface="+mn-lt"/>
              </a:rPr>
              <a:t>、判断题（</a:t>
            </a:r>
            <a:r>
              <a:rPr lang="en-US" altLang="zh-CN" sz="2800" b="1" dirty="0" smtClean="0">
                <a:solidFill>
                  <a:srgbClr val="FF3399"/>
                </a:solidFill>
                <a:latin typeface="+mn-lt"/>
              </a:rPr>
              <a:t>1</a:t>
            </a:r>
            <a:r>
              <a:rPr lang="zh-CN" altLang="en-US" sz="2800" b="1" dirty="0" smtClean="0">
                <a:solidFill>
                  <a:srgbClr val="FF3399"/>
                </a:solidFill>
                <a:latin typeface="+mn-lt"/>
              </a:rPr>
              <a:t>分</a:t>
            </a:r>
            <a:r>
              <a:rPr lang="en-US" altLang="zh-CN" sz="2800" b="1" dirty="0">
                <a:solidFill>
                  <a:srgbClr val="FF3399"/>
                </a:solidFill>
                <a:latin typeface="+mn-lt"/>
              </a:rPr>
              <a:t>×</a:t>
            </a:r>
            <a:r>
              <a:rPr lang="en-US" altLang="zh-CN" sz="2800" b="1" dirty="0" smtClean="0">
                <a:solidFill>
                  <a:srgbClr val="FF3399"/>
                </a:solidFill>
                <a:latin typeface="+mn-lt"/>
              </a:rPr>
              <a:t>15</a:t>
            </a:r>
            <a:r>
              <a:rPr lang="zh-CN" altLang="en-US" sz="2800" b="1" dirty="0" smtClean="0">
                <a:solidFill>
                  <a:srgbClr val="FF3399"/>
                </a:solidFill>
                <a:latin typeface="+mn-lt"/>
              </a:rPr>
              <a:t>）</a:t>
            </a:r>
            <a:endParaRPr lang="zh-CN" altLang="en-US" sz="2800" b="1" dirty="0">
              <a:solidFill>
                <a:srgbClr val="FF3399"/>
              </a:solidFill>
              <a:latin typeface="+mn-lt"/>
            </a:endParaRPr>
          </a:p>
        </p:txBody>
      </p:sp>
      <p:sp>
        <p:nvSpPr>
          <p:cNvPr id="14" name="Text Box 176"/>
          <p:cNvSpPr txBox="1">
            <a:spLocks noChangeArrowheads="1"/>
          </p:cNvSpPr>
          <p:nvPr/>
        </p:nvSpPr>
        <p:spPr bwMode="auto">
          <a:xfrm>
            <a:off x="179512" y="3212976"/>
            <a:ext cx="8812212" cy="55399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+mn-lt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+mn-lt"/>
              </a:rPr>
              <a:t>例</a:t>
            </a:r>
            <a:r>
              <a:rPr lang="en-US" altLang="zh-CN" b="1" dirty="0" smtClean="0">
                <a:solidFill>
                  <a:schemeClr val="accent2"/>
                </a:solidFill>
                <a:latin typeface="+mn-lt"/>
              </a:rPr>
              <a:t>—</a:t>
            </a:r>
            <a:r>
              <a:rPr lang="zh-CN" altLang="zh-CN" b="1" dirty="0">
                <a:latin typeface="+mn-lt"/>
              </a:rPr>
              <a:t>虚拟存储器</a:t>
            </a:r>
            <a:r>
              <a:rPr lang="zh-CN" altLang="zh-CN" b="1" dirty="0" smtClean="0">
                <a:latin typeface="+mn-lt"/>
              </a:rPr>
              <a:t>的</a:t>
            </a:r>
            <a:r>
              <a:rPr kumimoji="0" lang="zh-CN" altLang="en-US" b="1" dirty="0" smtClean="0">
                <a:latin typeface="+mn-lt"/>
                <a:cs typeface="Times New Roman" pitchFamily="18" charset="0"/>
              </a:rPr>
              <a:t>快</a:t>
            </a:r>
            <a:r>
              <a:rPr kumimoji="0" lang="zh-CN" altLang="en-US" b="1" dirty="0">
                <a:latin typeface="+mn-lt"/>
                <a:cs typeface="Times New Roman" pitchFamily="18" charset="0"/>
              </a:rPr>
              <a:t>表放在</a:t>
            </a:r>
            <a:r>
              <a:rPr kumimoji="0" lang="en-US" altLang="zh-CN" b="1" dirty="0">
                <a:latin typeface="+mn-lt"/>
                <a:cs typeface="Times New Roman" pitchFamily="18" charset="0"/>
              </a:rPr>
              <a:t>CPU</a:t>
            </a:r>
            <a:r>
              <a:rPr kumimoji="0" lang="zh-CN" altLang="en-US" b="1" dirty="0">
                <a:latin typeface="+mn-lt"/>
                <a:cs typeface="Times New Roman" pitchFamily="18" charset="0"/>
              </a:rPr>
              <a:t>中 </a:t>
            </a:r>
            <a:r>
              <a:rPr lang="zh-CN" altLang="en-US" b="1" dirty="0" smtClean="0">
                <a:latin typeface="+mn-lt"/>
              </a:rPr>
              <a:t>，</a:t>
            </a:r>
            <a:r>
              <a:rPr lang="zh-CN" altLang="zh-CN" b="1" kern="100" dirty="0" smtClean="0">
                <a:latin typeface="+mn-lt"/>
              </a:rPr>
              <a:t>慢</a:t>
            </a:r>
            <a:r>
              <a:rPr lang="zh-CN" altLang="zh-CN" b="1" kern="100" dirty="0">
                <a:latin typeface="+mn-lt"/>
              </a:rPr>
              <a:t>表放在主存</a:t>
            </a:r>
            <a:r>
              <a:rPr lang="zh-CN" altLang="zh-CN" b="1" kern="100" dirty="0" smtClean="0">
                <a:latin typeface="+mn-lt"/>
              </a:rPr>
              <a:t>中</a:t>
            </a:r>
            <a:r>
              <a:rPr lang="zh-CN" altLang="en-US" b="1" kern="100" dirty="0" smtClean="0">
                <a:latin typeface="+mn-lt"/>
              </a:rPr>
              <a:t>。</a:t>
            </a:r>
            <a:r>
              <a:rPr lang="en-US" altLang="zh-CN" b="1" dirty="0" smtClean="0">
                <a:latin typeface="+mn-lt"/>
              </a:rPr>
              <a:t>(       )</a:t>
            </a:r>
            <a:endParaRPr lang="zh-CN" altLang="en-US" b="1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5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35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343" grpId="0" animBg="1"/>
      <p:bldP spid="135344" grpId="0"/>
      <p:bldP spid="8" grpId="0"/>
      <p:bldP spid="9" grpId="0" animBg="1"/>
      <p:bldP spid="10" grpId="0"/>
      <p:bldP spid="11" grpId="0" animBg="1"/>
      <p:bldP spid="12" grpId="0" animBg="1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5022FA3-BBCA-4B4E-B6D6-64EDDDF54463}" type="slidenum">
              <a:rPr lang="en-US" altLang="zh-CN" smtClean="0">
                <a:latin typeface="+mn-lt"/>
              </a:rPr>
              <a:pPr/>
              <a:t>4</a:t>
            </a:fld>
            <a:endParaRPr lang="en-US" altLang="zh-CN" dirty="0">
              <a:latin typeface="+mn-lt"/>
            </a:endParaRPr>
          </a:p>
        </p:txBody>
      </p:sp>
      <p:sp>
        <p:nvSpPr>
          <p:cNvPr id="205830" name="Text Box 6"/>
          <p:cNvSpPr txBox="1">
            <a:spLocks noChangeArrowheads="1"/>
          </p:cNvSpPr>
          <p:nvPr/>
        </p:nvSpPr>
        <p:spPr bwMode="auto">
          <a:xfrm>
            <a:off x="683568" y="548680"/>
            <a:ext cx="7776988" cy="193899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+mn-lt"/>
              </a:rPr>
              <a:t>   </a:t>
            </a:r>
            <a:r>
              <a:rPr lang="zh-CN" altLang="en-US" b="1" dirty="0">
                <a:solidFill>
                  <a:schemeClr val="accent2"/>
                </a:solidFill>
                <a:latin typeface="+mn-lt"/>
              </a:rPr>
              <a:t>例</a:t>
            </a:r>
            <a:r>
              <a:rPr lang="en-US" altLang="zh-CN" b="1" dirty="0" smtClean="0">
                <a:solidFill>
                  <a:schemeClr val="accent2"/>
                </a:solidFill>
                <a:latin typeface="+mn-lt"/>
              </a:rPr>
              <a:t>1—</a:t>
            </a:r>
            <a:r>
              <a:rPr lang="zh-CN" altLang="en-US" b="1" dirty="0" smtClean="0">
                <a:latin typeface="+mn-lt"/>
              </a:rPr>
              <a:t>用</a:t>
            </a:r>
            <a:r>
              <a:rPr lang="en-US" altLang="zh-CN" b="1" dirty="0">
                <a:latin typeface="+mn-lt"/>
              </a:rPr>
              <a:t>1K×4</a:t>
            </a:r>
            <a:r>
              <a:rPr lang="zh-CN" altLang="en-US" b="1" dirty="0" smtClean="0">
                <a:latin typeface="+mn-lt"/>
              </a:rPr>
              <a:t>位</a:t>
            </a:r>
            <a:r>
              <a:rPr lang="en-US" altLang="zh-CN" b="1" dirty="0" smtClean="0">
                <a:latin typeface="+mn-lt"/>
              </a:rPr>
              <a:t>SRAM</a:t>
            </a:r>
            <a:r>
              <a:rPr lang="zh-CN" altLang="en-US" b="1" dirty="0" smtClean="0">
                <a:latin typeface="+mn-lt"/>
              </a:rPr>
              <a:t>芯片构成</a:t>
            </a:r>
            <a:r>
              <a:rPr lang="en-US" altLang="zh-CN" b="1" dirty="0">
                <a:latin typeface="+mn-lt"/>
              </a:rPr>
              <a:t>2K×8</a:t>
            </a:r>
            <a:r>
              <a:rPr lang="zh-CN" altLang="en-US" b="1" dirty="0">
                <a:latin typeface="+mn-lt"/>
              </a:rPr>
              <a:t>位的</a:t>
            </a:r>
            <a:r>
              <a:rPr lang="zh-CN" altLang="en-US" b="1" dirty="0" smtClean="0">
                <a:latin typeface="+mn-lt"/>
              </a:rPr>
              <a:t>存储模块，说明</a:t>
            </a:r>
            <a:r>
              <a:rPr lang="zh-CN" altLang="en-US" b="1" dirty="0">
                <a:latin typeface="+mn-lt"/>
              </a:rPr>
              <a:t>需</a:t>
            </a:r>
            <a:r>
              <a:rPr lang="zh-CN" altLang="en-US" b="1" dirty="0" smtClean="0">
                <a:latin typeface="+mn-lt"/>
              </a:rPr>
              <a:t>多少块芯片</a:t>
            </a:r>
            <a:r>
              <a:rPr lang="zh-CN" altLang="en-US" b="1" dirty="0">
                <a:latin typeface="+mn-lt"/>
              </a:rPr>
              <a:t>、画</a:t>
            </a:r>
            <a:r>
              <a:rPr lang="zh-CN" altLang="en-US" b="1" dirty="0" smtClean="0">
                <a:latin typeface="+mn-lt"/>
              </a:rPr>
              <a:t>出模块内部的芯片连接图。</a:t>
            </a:r>
            <a:endParaRPr lang="en-US" altLang="zh-CN" sz="2000" b="1" dirty="0" smtClean="0">
              <a:latin typeface="+mn-lt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+mn-lt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+mn-lt"/>
              </a:rPr>
              <a:t>例</a:t>
            </a:r>
            <a:r>
              <a:rPr lang="en-US" altLang="zh-CN" b="1" dirty="0" smtClean="0">
                <a:solidFill>
                  <a:schemeClr val="accent2"/>
                </a:solidFill>
                <a:latin typeface="+mn-lt"/>
              </a:rPr>
              <a:t>2—</a:t>
            </a:r>
            <a:r>
              <a:rPr lang="zh-CN" altLang="en-US" b="1" dirty="0" smtClean="0">
                <a:latin typeface="+mn-lt"/>
              </a:rPr>
              <a:t>数据通路如下图，写出指令</a:t>
            </a:r>
            <a:r>
              <a:rPr lang="en-US" altLang="zh-CN" b="1" dirty="0" smtClean="0">
                <a:solidFill>
                  <a:srgbClr val="FF0000"/>
                </a:solidFill>
                <a:latin typeface="+mn-lt"/>
              </a:rPr>
              <a:t>R1←M[(RB)+A]</a:t>
            </a:r>
            <a:r>
              <a:rPr lang="zh-CN" altLang="en-US" b="1" dirty="0" smtClean="0">
                <a:latin typeface="+mn-lt"/>
              </a:rPr>
              <a:t>的</a:t>
            </a:r>
            <a:r>
              <a:rPr lang="en-US" altLang="zh-CN" dirty="0" err="1" smtClean="0">
                <a:latin typeface="+mn-lt"/>
              </a:rPr>
              <a:t>μ</a:t>
            </a:r>
            <a:r>
              <a:rPr lang="en-US" altLang="zh-CN" b="1" dirty="0" err="1" smtClean="0">
                <a:latin typeface="+mn-lt"/>
              </a:rPr>
              <a:t>OPCmd</a:t>
            </a:r>
            <a:r>
              <a:rPr lang="zh-CN" altLang="en-US" b="1" dirty="0" smtClean="0">
                <a:latin typeface="+mn-lt"/>
              </a:rPr>
              <a:t>序列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205833" name="Text Box 9"/>
          <p:cNvSpPr txBox="1">
            <a:spLocks noChangeArrowheads="1"/>
          </p:cNvSpPr>
          <p:nvPr/>
        </p:nvSpPr>
        <p:spPr bwMode="auto">
          <a:xfrm>
            <a:off x="179388" y="30047"/>
            <a:ext cx="8812212" cy="519113"/>
          </a:xfrm>
          <a:prstGeom prst="rect">
            <a:avLst/>
          </a:prstGeom>
          <a:solidFill>
            <a:srgbClr val="FFCC99">
              <a:alpha val="80000"/>
            </a:srgb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sz="2800" b="1" dirty="0" smtClean="0">
                <a:solidFill>
                  <a:srgbClr val="FF3399"/>
                </a:solidFill>
                <a:latin typeface="+mn-lt"/>
              </a:rPr>
              <a:t>5</a:t>
            </a:r>
            <a:r>
              <a:rPr lang="zh-CN" altLang="en-US" sz="2800" b="1" dirty="0" smtClean="0">
                <a:solidFill>
                  <a:srgbClr val="FF3399"/>
                </a:solidFill>
                <a:latin typeface="+mn-lt"/>
              </a:rPr>
              <a:t>、</a:t>
            </a:r>
            <a:r>
              <a:rPr lang="zh-CN" altLang="en-US" sz="2800" b="1" dirty="0">
                <a:solidFill>
                  <a:srgbClr val="FF3399"/>
                </a:solidFill>
                <a:latin typeface="+mn-lt"/>
              </a:rPr>
              <a:t>应用题（</a:t>
            </a:r>
            <a:r>
              <a:rPr lang="en-US" altLang="zh-CN" sz="2800" b="1" dirty="0" smtClean="0">
                <a:solidFill>
                  <a:srgbClr val="FF3399"/>
                </a:solidFill>
                <a:latin typeface="+mn-lt"/>
              </a:rPr>
              <a:t>13</a:t>
            </a:r>
            <a:r>
              <a:rPr lang="zh-CN" altLang="en-US" sz="2800" b="1" dirty="0" smtClean="0">
                <a:solidFill>
                  <a:srgbClr val="FF3399"/>
                </a:solidFill>
                <a:latin typeface="+mn-lt"/>
              </a:rPr>
              <a:t>分＋</a:t>
            </a:r>
            <a:r>
              <a:rPr lang="en-US" altLang="zh-CN" sz="2800" b="1" dirty="0" smtClean="0">
                <a:solidFill>
                  <a:srgbClr val="FF3399"/>
                </a:solidFill>
                <a:latin typeface="+mn-lt"/>
              </a:rPr>
              <a:t>12</a:t>
            </a:r>
            <a:r>
              <a:rPr lang="zh-CN" altLang="en-US" sz="2800" b="1" dirty="0" smtClean="0">
                <a:solidFill>
                  <a:srgbClr val="FF3399"/>
                </a:solidFill>
                <a:latin typeface="+mn-lt"/>
              </a:rPr>
              <a:t>分）</a:t>
            </a:r>
            <a:endParaRPr lang="zh-CN" altLang="en-US" sz="2800" b="1" dirty="0">
              <a:solidFill>
                <a:srgbClr val="FF3399"/>
              </a:solidFill>
              <a:latin typeface="+mn-lt"/>
            </a:endParaRPr>
          </a:p>
        </p:txBody>
      </p:sp>
      <p:sp>
        <p:nvSpPr>
          <p:cNvPr id="205834" name="Text Box 10"/>
          <p:cNvSpPr txBox="1">
            <a:spLocks noChangeArrowheads="1"/>
          </p:cNvSpPr>
          <p:nvPr/>
        </p:nvSpPr>
        <p:spPr bwMode="auto">
          <a:xfrm>
            <a:off x="179388" y="4176095"/>
            <a:ext cx="8812212" cy="1053105"/>
          </a:xfrm>
          <a:prstGeom prst="rect">
            <a:avLst/>
          </a:prstGeom>
          <a:solidFill>
            <a:srgbClr val="CCFF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bIns="8280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b="1" dirty="0">
                <a:solidFill>
                  <a:srgbClr val="FF3399"/>
                </a:solidFill>
                <a:latin typeface="+mn-lt"/>
              </a:rPr>
              <a:t>  </a:t>
            </a:r>
            <a:r>
              <a:rPr lang="zh-CN" altLang="en-US" b="1" dirty="0" smtClean="0">
                <a:solidFill>
                  <a:srgbClr val="FF3399"/>
                </a:solidFill>
                <a:latin typeface="+mn-lt"/>
              </a:rPr>
              <a:t>考核要求：</a:t>
            </a:r>
            <a:r>
              <a:rPr lang="zh-CN" altLang="en-US" b="1" dirty="0" smtClean="0">
                <a:latin typeface="+mn-lt"/>
              </a:rPr>
              <a:t>掌握基本概念、基本原理</a:t>
            </a:r>
            <a:endParaRPr lang="en-US" altLang="zh-CN" b="1" dirty="0" smtClean="0">
              <a:latin typeface="+mn-lt"/>
            </a:endParaRPr>
          </a:p>
          <a:p>
            <a:pPr algn="just"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lt"/>
              </a:rPr>
              <a:t>  </a:t>
            </a:r>
            <a:r>
              <a:rPr lang="zh-CN" altLang="en-US" b="1" dirty="0" smtClean="0">
                <a:solidFill>
                  <a:srgbClr val="FF3399"/>
                </a:solidFill>
                <a:latin typeface="+mn-lt"/>
              </a:rPr>
              <a:t>考核方法：</a:t>
            </a:r>
            <a:r>
              <a:rPr lang="zh-CN" altLang="en-US" b="1" dirty="0" smtClean="0">
                <a:latin typeface="+mn-lt"/>
              </a:rPr>
              <a:t>概念理解、量化分析、原理解释、应用或简单设计</a:t>
            </a:r>
            <a:endParaRPr lang="en-US" altLang="zh-CN" b="1" dirty="0">
              <a:latin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79512" y="5157192"/>
            <a:ext cx="8812088" cy="1477328"/>
            <a:chOff x="179512" y="4027130"/>
            <a:chExt cx="8812088" cy="1477328"/>
          </a:xfrm>
        </p:grpSpPr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179512" y="4027130"/>
              <a:ext cx="8812088" cy="1477328"/>
            </a:xfrm>
            <a:prstGeom prst="rect">
              <a:avLst/>
            </a:prstGeom>
            <a:noFill/>
            <a:ln w="15875">
              <a:noFill/>
              <a:prstDash val="sysDash"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lnSpc>
                  <a:spcPct val="125000"/>
                </a:lnSpc>
              </a:pPr>
              <a:r>
                <a:rPr lang="zh-CN" altLang="en-US" b="1" dirty="0">
                  <a:solidFill>
                    <a:srgbClr val="C00000"/>
                  </a:solidFill>
                  <a:latin typeface="+mn-lt"/>
                </a:rPr>
                <a:t>   </a:t>
              </a:r>
              <a:r>
                <a:rPr lang="en-US" altLang="zh-CN" b="1" dirty="0" smtClean="0">
                  <a:solidFill>
                    <a:srgbClr val="C00000"/>
                  </a:solidFill>
                  <a:latin typeface="+mn-lt"/>
                </a:rPr>
                <a:t>※</a:t>
              </a:r>
              <a:r>
                <a:rPr lang="zh-CN" altLang="en-US" b="1" dirty="0">
                  <a:solidFill>
                    <a:srgbClr val="C00000"/>
                  </a:solidFill>
                  <a:latin typeface="+mn-lt"/>
                </a:rPr>
                <a:t>课程</a:t>
              </a:r>
              <a:r>
                <a:rPr lang="zh-CN" altLang="en-US" b="1" dirty="0" smtClean="0">
                  <a:solidFill>
                    <a:srgbClr val="C00000"/>
                  </a:solidFill>
                  <a:latin typeface="+mn-lt"/>
                </a:rPr>
                <a:t>内容的</a:t>
              </a:r>
              <a:r>
                <a:rPr lang="zh-CN" altLang="en-US" b="1" dirty="0">
                  <a:solidFill>
                    <a:srgbClr val="C00000"/>
                  </a:solidFill>
                  <a:latin typeface="+mn-lt"/>
                </a:rPr>
                <a:t>考核</a:t>
              </a:r>
              <a:r>
                <a:rPr lang="zh-CN" altLang="en-US" b="1" dirty="0" smtClean="0">
                  <a:solidFill>
                    <a:srgbClr val="C00000"/>
                  </a:solidFill>
                  <a:latin typeface="+mn-lt"/>
                </a:rPr>
                <a:t>属性</a:t>
              </a:r>
              <a:r>
                <a:rPr lang="zh-CN" altLang="en-US" b="1" dirty="0">
                  <a:solidFill>
                    <a:srgbClr val="C00000"/>
                  </a:solidFill>
                  <a:latin typeface="+mn-lt"/>
                </a:rPr>
                <a:t>表示</a:t>
              </a:r>
              <a:r>
                <a:rPr lang="zh-CN" altLang="en-US" b="1" dirty="0" smtClean="0">
                  <a:solidFill>
                    <a:srgbClr val="C00000"/>
                  </a:solidFill>
                  <a:latin typeface="+mn-lt"/>
                </a:rPr>
                <a:t>：</a:t>
              </a:r>
              <a:endParaRPr lang="en-US" altLang="zh-CN" b="1" dirty="0" smtClean="0">
                <a:solidFill>
                  <a:srgbClr val="C00000"/>
                </a:solidFill>
                <a:latin typeface="+mn-lt"/>
              </a:endParaRPr>
            </a:p>
            <a:p>
              <a:pPr algn="just">
                <a:lnSpc>
                  <a:spcPct val="125000"/>
                </a:lnSpc>
              </a:pPr>
              <a:r>
                <a:rPr lang="en-US" altLang="zh-CN" b="1" dirty="0">
                  <a:solidFill>
                    <a:schemeClr val="accent2"/>
                  </a:solidFill>
                  <a:latin typeface="+mn-lt"/>
                </a:rPr>
                <a:t> </a:t>
              </a:r>
              <a:r>
                <a:rPr lang="en-US" altLang="zh-CN" b="1" dirty="0" smtClean="0">
                  <a:solidFill>
                    <a:schemeClr val="accent2"/>
                  </a:solidFill>
                  <a:latin typeface="+mn-lt"/>
                </a:rPr>
                <a:t>      </a:t>
              </a:r>
              <a:r>
                <a:rPr lang="zh-CN" altLang="en-US" b="1" dirty="0" smtClean="0">
                  <a:solidFill>
                    <a:schemeClr val="accent2"/>
                  </a:solidFill>
                  <a:latin typeface="+mn-lt"/>
                </a:rPr>
                <a:t>重 要 性</a:t>
              </a:r>
              <a:r>
                <a:rPr lang="en-US" altLang="zh-CN" b="1" dirty="0" smtClean="0">
                  <a:solidFill>
                    <a:schemeClr val="accent2"/>
                  </a:solidFill>
                  <a:latin typeface="+mn-lt"/>
                </a:rPr>
                <a:t>—</a:t>
              </a:r>
              <a:r>
                <a:rPr lang="zh-CN" altLang="en-US" b="1" dirty="0" smtClean="0">
                  <a:latin typeface="+mn-lt"/>
                </a:rPr>
                <a:t>层次有          、       、</a:t>
              </a:r>
              <a:r>
                <a:rPr lang="zh-CN" altLang="en-US" b="1" dirty="0" smtClean="0">
                  <a:solidFill>
                    <a:srgbClr val="990099"/>
                  </a:solidFill>
                  <a:latin typeface="+mn-lt"/>
                </a:rPr>
                <a:t>紫色文字</a:t>
              </a:r>
              <a:r>
                <a:rPr lang="zh-CN" altLang="en-US" b="1" dirty="0" smtClean="0">
                  <a:latin typeface="+mn-lt"/>
                </a:rPr>
                <a:t>、黑色文字</a:t>
              </a:r>
              <a:endParaRPr lang="en-US" altLang="zh-CN" b="1" dirty="0" smtClean="0">
                <a:latin typeface="+mn-lt"/>
              </a:endParaRPr>
            </a:p>
            <a:p>
              <a:pPr algn="just">
                <a:lnSpc>
                  <a:spcPct val="125000"/>
                </a:lnSpc>
              </a:pPr>
              <a:r>
                <a:rPr lang="en-US" altLang="zh-CN" b="1" dirty="0">
                  <a:solidFill>
                    <a:schemeClr val="accent2"/>
                  </a:solidFill>
                  <a:latin typeface="+mn-lt"/>
                </a:rPr>
                <a:t> </a:t>
              </a:r>
              <a:r>
                <a:rPr lang="en-US" altLang="zh-CN" b="1" dirty="0" smtClean="0">
                  <a:solidFill>
                    <a:schemeClr val="accent2"/>
                  </a:solidFill>
                  <a:latin typeface="+mn-lt"/>
                </a:rPr>
                <a:t>      </a:t>
              </a:r>
              <a:r>
                <a:rPr lang="zh-CN" altLang="en-US" b="1" dirty="0" smtClean="0">
                  <a:solidFill>
                    <a:schemeClr val="accent2"/>
                  </a:solidFill>
                  <a:latin typeface="+mn-lt"/>
                </a:rPr>
                <a:t>掌握程度</a:t>
              </a:r>
              <a:r>
                <a:rPr lang="en-US" altLang="zh-CN" b="1" dirty="0" smtClean="0">
                  <a:solidFill>
                    <a:schemeClr val="accent2"/>
                  </a:solidFill>
                  <a:latin typeface="+mn-lt"/>
                </a:rPr>
                <a:t>—</a:t>
              </a:r>
              <a:r>
                <a:rPr lang="zh-CN" altLang="en-US" b="1" dirty="0" smtClean="0">
                  <a:latin typeface="+mn-lt"/>
                </a:rPr>
                <a:t>要求有☆、◇、△</a:t>
              </a:r>
              <a:endParaRPr lang="en-US" altLang="zh-CN" b="1" dirty="0" smtClean="0">
                <a:latin typeface="+mn-lt"/>
              </a:endParaRPr>
            </a:p>
          </p:txBody>
        </p:sp>
        <p:sp>
          <p:nvSpPr>
            <p:cNvPr id="10" name="Text Box 75"/>
            <p:cNvSpPr txBox="1">
              <a:spLocks noChangeArrowheads="1"/>
            </p:cNvSpPr>
            <p:nvPr/>
          </p:nvSpPr>
          <p:spPr bwMode="auto">
            <a:xfrm>
              <a:off x="3203848" y="4603194"/>
              <a:ext cx="576064" cy="369332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zh-CN" altLang="en-US" sz="1800" b="1" dirty="0">
                <a:solidFill>
                  <a:srgbClr val="FF3399"/>
                </a:solidFill>
                <a:latin typeface="+mn-lt"/>
              </a:endParaRPr>
            </a:p>
          </p:txBody>
        </p:sp>
        <p:sp>
          <p:nvSpPr>
            <p:cNvPr id="11" name="Text Box 75"/>
            <p:cNvSpPr txBox="1">
              <a:spLocks noChangeArrowheads="1"/>
            </p:cNvSpPr>
            <p:nvPr/>
          </p:nvSpPr>
          <p:spPr bwMode="auto">
            <a:xfrm>
              <a:off x="4067944" y="4603194"/>
              <a:ext cx="576064" cy="369332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endParaRPr lang="zh-CN" altLang="en-US" sz="1800" b="1" dirty="0">
                <a:solidFill>
                  <a:srgbClr val="FF3399"/>
                </a:solidFill>
                <a:latin typeface="+mn-lt"/>
              </a:endParaRPr>
            </a:p>
          </p:txBody>
        </p:sp>
      </p:grp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068186"/>
              </p:ext>
            </p:extLst>
          </p:nvPr>
        </p:nvGraphicFramePr>
        <p:xfrm>
          <a:off x="1905868" y="2276872"/>
          <a:ext cx="5188247" cy="1897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8" r:id="rId3" imgW="4392058" imgH="1612634" progId="Visio.Drawing.11">
                  <p:embed/>
                </p:oleObj>
              </mc:Choice>
              <mc:Fallback>
                <p:oleObj r:id="rId3" imgW="4392058" imgH="1612634" progId="Visio.Drawing.11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868" y="2276872"/>
                        <a:ext cx="5188247" cy="18975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0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2476DD8-8223-495E-BB24-1835C3AAC9EE}" type="slidenum">
              <a:rPr lang="en-US" altLang="zh-CN" smtClean="0"/>
              <a:pPr/>
              <a:t>5</a:t>
            </a:fld>
            <a:endParaRPr lang="en-US" altLang="zh-CN"/>
          </a:p>
        </p:txBody>
      </p:sp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838200" y="287338"/>
            <a:ext cx="7467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宋体" pitchFamily="2" charset="-122"/>
              </a:rPr>
              <a:t>第</a:t>
            </a:r>
            <a:r>
              <a:rPr lang="en-US" altLang="zh-CN" sz="3200" b="1" dirty="0">
                <a:latin typeface="宋体" pitchFamily="2" charset="-122"/>
              </a:rPr>
              <a:t>1</a:t>
            </a:r>
            <a:r>
              <a:rPr lang="zh-CN" altLang="en-US" sz="3200" b="1" dirty="0">
                <a:latin typeface="宋体" pitchFamily="2" charset="-122"/>
              </a:rPr>
              <a:t>章 </a:t>
            </a:r>
            <a:r>
              <a:rPr lang="zh-CN" altLang="en-US" sz="3200" b="1" dirty="0"/>
              <a:t>计算机系统</a:t>
            </a:r>
            <a:r>
              <a:rPr lang="zh-CN" altLang="en-US" sz="3200" b="1" dirty="0" smtClean="0"/>
              <a:t>概述</a:t>
            </a:r>
            <a:endParaRPr lang="zh-CN" altLang="en-US" sz="3200" b="1" dirty="0"/>
          </a:p>
        </p:txBody>
      </p:sp>
      <p:sp>
        <p:nvSpPr>
          <p:cNvPr id="220165" name="Text Box 5"/>
          <p:cNvSpPr txBox="1">
            <a:spLocks noChangeArrowheads="1"/>
          </p:cNvSpPr>
          <p:nvPr/>
        </p:nvSpPr>
        <p:spPr bwMode="auto">
          <a:xfrm>
            <a:off x="179388" y="1325240"/>
            <a:ext cx="8812212" cy="559769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计算机硬件组成</a:t>
            </a:r>
            <a:endParaRPr lang="en-US" altLang="zh-CN" b="1" dirty="0" smtClean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0215" name="Text Box 55"/>
          <p:cNvSpPr txBox="1">
            <a:spLocks noChangeArrowheads="1"/>
          </p:cNvSpPr>
          <p:nvPr/>
        </p:nvSpPr>
        <p:spPr bwMode="auto">
          <a:xfrm>
            <a:off x="179388" y="1887215"/>
            <a:ext cx="8785225" cy="461665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冯</a:t>
            </a:r>
            <a:r>
              <a:rPr lang="en-US" altLang="zh-CN" b="1" dirty="0">
                <a:solidFill>
                  <a:srgbClr val="FF3399"/>
                </a:solidFill>
                <a:latin typeface="+mn-lt"/>
              </a:rPr>
              <a:t>·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诺依曼计算机        </a:t>
            </a:r>
            <a:r>
              <a:rPr lang="zh-CN" altLang="en-US" sz="2000" b="1" dirty="0" smtClean="0">
                <a:latin typeface="宋体" pitchFamily="2" charset="-122"/>
              </a:rPr>
              <a:t>☆建立软硬件模型</a:t>
            </a:r>
            <a:endParaRPr lang="zh-CN" altLang="en-US" sz="2000" b="1" dirty="0">
              <a:latin typeface="宋体" pitchFamily="2" charset="-122"/>
            </a:endParaRPr>
          </a:p>
        </p:txBody>
      </p:sp>
      <p:sp>
        <p:nvSpPr>
          <p:cNvPr id="220216" name="Text Box 56"/>
          <p:cNvSpPr txBox="1">
            <a:spLocks noChangeArrowheads="1"/>
          </p:cNvSpPr>
          <p:nvPr/>
        </p:nvSpPr>
        <p:spPr bwMode="auto">
          <a:xfrm>
            <a:off x="179389" y="2341329"/>
            <a:ext cx="8785224" cy="101566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硬件结构、存储器</a:t>
            </a:r>
            <a:r>
              <a:rPr lang="zh-CN" altLang="en-US" b="1" dirty="0">
                <a:latin typeface="宋体" pitchFamily="2" charset="-122"/>
              </a:rPr>
              <a:t>结构，程序组成、</a:t>
            </a:r>
            <a:r>
              <a:rPr lang="zh-CN" altLang="en-US" b="1" dirty="0" smtClean="0">
                <a:latin typeface="宋体" pitchFamily="2" charset="-122"/>
              </a:rPr>
              <a:t>指令类型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顺序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转移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工作方式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预先存放到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MEM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、自动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/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逐条取指令并执行（串行：先译码）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zh-CN" altLang="en-US" sz="2000" b="1" dirty="0">
              <a:latin typeface="宋体" pitchFamily="2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619672" y="3429000"/>
            <a:ext cx="6552728" cy="936104"/>
            <a:chOff x="1403648" y="4725144"/>
            <a:chExt cx="6552728" cy="936104"/>
          </a:xfrm>
        </p:grpSpPr>
        <p:sp>
          <p:nvSpPr>
            <p:cNvPr id="34" name="矩形 33"/>
            <p:cNvSpPr/>
            <p:nvPr/>
          </p:nvSpPr>
          <p:spPr bwMode="auto">
            <a:xfrm>
              <a:off x="1403648" y="4725144"/>
              <a:ext cx="4608511" cy="593975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5" name="Text Box 311"/>
            <p:cNvSpPr txBox="1">
              <a:spLocks noChangeArrowheads="1"/>
            </p:cNvSpPr>
            <p:nvPr/>
          </p:nvSpPr>
          <p:spPr bwMode="auto">
            <a:xfrm>
              <a:off x="1572743" y="4851985"/>
              <a:ext cx="1072104" cy="35877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itchFamily="2" charset="-122"/>
                </a:rPr>
                <a:t>取指令</a:t>
              </a:r>
            </a:p>
          </p:txBody>
        </p:sp>
        <p:sp>
          <p:nvSpPr>
            <p:cNvPr id="36" name="Text Box 314"/>
            <p:cNvSpPr txBox="1">
              <a:spLocks noChangeArrowheads="1"/>
            </p:cNvSpPr>
            <p:nvPr/>
          </p:nvSpPr>
          <p:spPr bwMode="auto">
            <a:xfrm>
              <a:off x="3203848" y="4851985"/>
              <a:ext cx="1030012" cy="35877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itchFamily="2" charset="-122"/>
                </a:rPr>
                <a:t>分析指令</a:t>
              </a:r>
            </a:p>
          </p:txBody>
        </p:sp>
        <p:sp>
          <p:nvSpPr>
            <p:cNvPr id="37" name="Text Box 316"/>
            <p:cNvSpPr txBox="1">
              <a:spLocks noChangeArrowheads="1"/>
            </p:cNvSpPr>
            <p:nvPr/>
          </p:nvSpPr>
          <p:spPr bwMode="auto">
            <a:xfrm>
              <a:off x="4763136" y="4851985"/>
              <a:ext cx="1104104" cy="358775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latin typeface="宋体" pitchFamily="2" charset="-122"/>
                </a:rPr>
                <a:t>执行指令</a:t>
              </a:r>
            </a:p>
          </p:txBody>
        </p:sp>
        <p:cxnSp>
          <p:nvCxnSpPr>
            <p:cNvPr id="38" name="直接箭头连接符 37"/>
            <p:cNvCxnSpPr>
              <a:stCxn id="35" idx="3"/>
              <a:endCxn id="36" idx="1"/>
            </p:cNvCxnSpPr>
            <p:nvPr/>
          </p:nvCxnSpPr>
          <p:spPr bwMode="auto">
            <a:xfrm>
              <a:off x="2644847" y="5031373"/>
              <a:ext cx="55900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" name="直接箭头连接符 38"/>
            <p:cNvCxnSpPr>
              <a:stCxn id="36" idx="3"/>
              <a:endCxn id="37" idx="1"/>
            </p:cNvCxnSpPr>
            <p:nvPr/>
          </p:nvCxnSpPr>
          <p:spPr bwMode="auto">
            <a:xfrm>
              <a:off x="4233860" y="5031373"/>
              <a:ext cx="529276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0" name="Text Box 316"/>
            <p:cNvSpPr txBox="1">
              <a:spLocks noChangeArrowheads="1"/>
            </p:cNvSpPr>
            <p:nvPr/>
          </p:nvSpPr>
          <p:spPr bwMode="auto">
            <a:xfrm>
              <a:off x="6372200" y="4853570"/>
              <a:ext cx="1584176" cy="35719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itchFamily="2" charset="-122"/>
                </a:rPr>
                <a:t>计算指令地址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cxnSp>
          <p:nvCxnSpPr>
            <p:cNvPr id="41" name="直接箭头连接符 40"/>
            <p:cNvCxnSpPr>
              <a:stCxn id="37" idx="3"/>
              <a:endCxn id="40" idx="1"/>
            </p:cNvCxnSpPr>
            <p:nvPr/>
          </p:nvCxnSpPr>
          <p:spPr bwMode="auto">
            <a:xfrm>
              <a:off x="5867240" y="5031373"/>
              <a:ext cx="504960" cy="792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" name="直接箭头连接符 27"/>
            <p:cNvCxnSpPr>
              <a:stCxn id="40" idx="3"/>
              <a:endCxn id="35" idx="1"/>
            </p:cNvCxnSpPr>
            <p:nvPr/>
          </p:nvCxnSpPr>
          <p:spPr bwMode="auto">
            <a:xfrm flipH="1" flipV="1">
              <a:off x="1572743" y="5031373"/>
              <a:ext cx="6383633" cy="792"/>
            </a:xfrm>
            <a:prstGeom prst="bentConnector5">
              <a:avLst>
                <a:gd name="adj1" fmla="val -3581"/>
                <a:gd name="adj2" fmla="val 51613636"/>
                <a:gd name="adj3" fmla="val 103581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43" name="Text Box 316"/>
            <p:cNvSpPr txBox="1">
              <a:spLocks noChangeArrowheads="1"/>
            </p:cNvSpPr>
            <p:nvPr/>
          </p:nvSpPr>
          <p:spPr bwMode="auto">
            <a:xfrm>
              <a:off x="1619672" y="5409853"/>
              <a:ext cx="1010252" cy="25139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itchFamily="2" charset="-122"/>
                </a:rPr>
                <a:t>指令地址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44" name="Line 97"/>
            <p:cNvSpPr>
              <a:spLocks noChangeShapeType="1"/>
            </p:cNvSpPr>
            <p:nvPr/>
          </p:nvSpPr>
          <p:spPr bwMode="auto">
            <a:xfrm flipH="1" flipV="1">
              <a:off x="2108795" y="5210760"/>
              <a:ext cx="0" cy="21671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prstDash val="sysDash"/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45" name="直接箭头连接符 41"/>
            <p:cNvCxnSpPr>
              <a:stCxn id="40" idx="2"/>
              <a:endCxn id="43" idx="3"/>
            </p:cNvCxnSpPr>
            <p:nvPr/>
          </p:nvCxnSpPr>
          <p:spPr bwMode="auto">
            <a:xfrm rot="5400000">
              <a:off x="4734711" y="3105973"/>
              <a:ext cx="324791" cy="4534364"/>
            </a:xfrm>
            <a:prstGeom prst="bentConnector2">
              <a:avLst/>
            </a:prstGeom>
            <a:noFill/>
            <a:ln w="1905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46" name="Text Box 5"/>
          <p:cNvSpPr txBox="1">
            <a:spLocks noChangeArrowheads="1"/>
          </p:cNvSpPr>
          <p:nvPr/>
        </p:nvSpPr>
        <p:spPr bwMode="auto">
          <a:xfrm>
            <a:off x="179388" y="4479503"/>
            <a:ext cx="8785348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硬件的结构与组成       </a:t>
            </a:r>
            <a:r>
              <a:rPr lang="zh-CN" altLang="en-US" sz="2000" b="1" dirty="0" smtClean="0">
                <a:latin typeface="宋体" pitchFamily="2" charset="-122"/>
              </a:rPr>
              <a:t>☆建立硬件结构、掌握基本概念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67" name="Text Box 56"/>
          <p:cNvSpPr txBox="1">
            <a:spLocks noChangeArrowheads="1"/>
          </p:cNvSpPr>
          <p:nvPr/>
        </p:nvSpPr>
        <p:spPr bwMode="auto">
          <a:xfrm>
            <a:off x="179512" y="4941168"/>
            <a:ext cx="8812088" cy="55399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基本结构</a:t>
            </a:r>
            <a:r>
              <a:rPr lang="en-US" altLang="zh-CN" sz="1800" b="1" dirty="0" smtClean="0">
                <a:latin typeface="宋体" pitchFamily="2" charset="-122"/>
              </a:rPr>
              <a:t>(2</a:t>
            </a:r>
            <a:r>
              <a:rPr lang="zh-CN" altLang="en-US" sz="1800" b="1" dirty="0" smtClean="0">
                <a:latin typeface="宋体" pitchFamily="2" charset="-122"/>
              </a:rPr>
              <a:t>点改进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，部件组成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功能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结构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r>
              <a:rPr lang="zh-CN" altLang="en-US" b="1" dirty="0">
                <a:latin typeface="宋体" pitchFamily="2" charset="-122"/>
              </a:rPr>
              <a:t>部件</a:t>
            </a:r>
            <a:r>
              <a:rPr lang="zh-CN" altLang="en-US" b="1" dirty="0" smtClean="0">
                <a:latin typeface="宋体" pitchFamily="2" charset="-122"/>
              </a:rPr>
              <a:t>互连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连接</a:t>
            </a:r>
            <a:r>
              <a:rPr lang="en-US" altLang="zh-CN" sz="1800" b="1" dirty="0" smtClean="0">
                <a:latin typeface="宋体" pitchFamily="2" charset="-122"/>
              </a:rPr>
              <a:t>/</a:t>
            </a:r>
            <a:r>
              <a:rPr lang="zh-CN" altLang="en-US" sz="1800" b="1" dirty="0" smtClean="0">
                <a:latin typeface="宋体" pitchFamily="2" charset="-122"/>
              </a:rPr>
              <a:t>传输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endParaRPr lang="zh-CN" altLang="en-US" sz="1600" b="1" dirty="0">
              <a:latin typeface="宋体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043608" y="5445224"/>
            <a:ext cx="7273999" cy="937444"/>
            <a:chOff x="755576" y="5157192"/>
            <a:chExt cx="7273999" cy="937444"/>
          </a:xfrm>
        </p:grpSpPr>
        <p:sp>
          <p:nvSpPr>
            <p:cNvPr id="48" name="Text Box 7"/>
            <p:cNvSpPr txBox="1">
              <a:spLocks noChangeArrowheads="1"/>
            </p:cNvSpPr>
            <p:nvPr/>
          </p:nvSpPr>
          <p:spPr bwMode="auto">
            <a:xfrm>
              <a:off x="755576" y="5383336"/>
              <a:ext cx="1008188" cy="7113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/>
              <a:endParaRPr lang="en-US" altLang="zh-CN" sz="2000" b="1" dirty="0" smtClean="0">
                <a:latin typeface="宋体" pitchFamily="2" charset="-122"/>
              </a:endParaRPr>
            </a:p>
            <a:p>
              <a:pPr algn="ctr"/>
              <a:r>
                <a:rPr lang="en-US" altLang="zh-CN" sz="2000" b="1" dirty="0" smtClean="0">
                  <a:solidFill>
                    <a:srgbClr val="FF0000"/>
                  </a:solidFill>
                  <a:latin typeface="宋体" pitchFamily="2" charset="-122"/>
                </a:rPr>
                <a:t>CPU</a:t>
              </a:r>
              <a:endParaRPr lang="en-US" altLang="zh-CN" sz="2000" b="1" dirty="0">
                <a:solidFill>
                  <a:srgbClr val="FF0000"/>
                </a:solidFill>
                <a:latin typeface="宋体" pitchFamily="2" charset="-122"/>
              </a:endParaRPr>
            </a:p>
          </p:txBody>
        </p:sp>
        <p:sp>
          <p:nvSpPr>
            <p:cNvPr id="49" name="Line 8"/>
            <p:cNvSpPr>
              <a:spLocks noChangeShapeType="1"/>
            </p:cNvSpPr>
            <p:nvPr/>
          </p:nvSpPr>
          <p:spPr bwMode="auto">
            <a:xfrm>
              <a:off x="1331640" y="5157192"/>
              <a:ext cx="0" cy="217488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Text Box 9"/>
            <p:cNvSpPr txBox="1">
              <a:spLocks noChangeArrowheads="1"/>
            </p:cNvSpPr>
            <p:nvPr/>
          </p:nvSpPr>
          <p:spPr bwMode="auto">
            <a:xfrm>
              <a:off x="1907555" y="5804892"/>
              <a:ext cx="1296293" cy="28815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2000" b="1" dirty="0">
                  <a:solidFill>
                    <a:srgbClr val="0000CC"/>
                  </a:solidFill>
                  <a:latin typeface="宋体" pitchFamily="2" charset="-122"/>
                </a:rPr>
                <a:t>主存</a:t>
              </a:r>
            </a:p>
          </p:txBody>
        </p:sp>
        <p:sp>
          <p:nvSpPr>
            <p:cNvPr id="51" name="Text Box 10"/>
            <p:cNvSpPr txBox="1">
              <a:spLocks noChangeArrowheads="1"/>
            </p:cNvSpPr>
            <p:nvPr/>
          </p:nvSpPr>
          <p:spPr bwMode="auto">
            <a:xfrm>
              <a:off x="5075238" y="5374680"/>
              <a:ext cx="1152525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>
                  <a:latin typeface="宋体" pitchFamily="2" charset="-122"/>
                </a:rPr>
                <a:t>I/O</a:t>
              </a:r>
              <a:r>
                <a:rPr lang="zh-CN" altLang="en-US" sz="1800" b="1">
                  <a:latin typeface="宋体" pitchFamily="2" charset="-122"/>
                </a:rPr>
                <a:t>接口</a:t>
              </a:r>
              <a:r>
                <a:rPr lang="en-US" altLang="zh-CN" sz="1800" b="1">
                  <a:latin typeface="宋体" pitchFamily="2" charset="-122"/>
                </a:rPr>
                <a:t>1</a:t>
              </a:r>
            </a:p>
          </p:txBody>
        </p:sp>
        <p:sp>
          <p:nvSpPr>
            <p:cNvPr id="52" name="Line 11"/>
            <p:cNvSpPr>
              <a:spLocks noChangeShapeType="1"/>
            </p:cNvSpPr>
            <p:nvPr/>
          </p:nvSpPr>
          <p:spPr bwMode="auto">
            <a:xfrm flipV="1">
              <a:off x="755576" y="5158779"/>
              <a:ext cx="7272412" cy="1587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12"/>
            <p:cNvSpPr>
              <a:spLocks noChangeShapeType="1"/>
            </p:cNvSpPr>
            <p:nvPr/>
          </p:nvSpPr>
          <p:spPr bwMode="auto">
            <a:xfrm>
              <a:off x="2555776" y="5157192"/>
              <a:ext cx="0" cy="217488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13"/>
            <p:cNvSpPr>
              <a:spLocks noChangeShapeType="1"/>
            </p:cNvSpPr>
            <p:nvPr/>
          </p:nvSpPr>
          <p:spPr bwMode="auto">
            <a:xfrm>
              <a:off x="5651500" y="5160367"/>
              <a:ext cx="0" cy="2159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Text Box 14"/>
            <p:cNvSpPr txBox="1">
              <a:spLocks noChangeArrowheads="1"/>
            </p:cNvSpPr>
            <p:nvPr/>
          </p:nvSpPr>
          <p:spPr bwMode="auto">
            <a:xfrm>
              <a:off x="6227763" y="5374680"/>
              <a:ext cx="577850" cy="431800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/>
            </a:ln>
          </p:spPr>
          <p:txBody>
            <a:bodyPr lIns="18000" tIns="10800" rIns="18000" bIns="10800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/>
                <a:t>…</a:t>
              </a:r>
            </a:p>
          </p:txBody>
        </p:sp>
        <p:sp>
          <p:nvSpPr>
            <p:cNvPr id="56" name="Text Box 16"/>
            <p:cNvSpPr txBox="1">
              <a:spLocks noChangeArrowheads="1"/>
            </p:cNvSpPr>
            <p:nvPr/>
          </p:nvSpPr>
          <p:spPr bwMode="auto">
            <a:xfrm>
              <a:off x="5075238" y="5808067"/>
              <a:ext cx="1152525" cy="28575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I/O</a:t>
              </a:r>
              <a:r>
                <a:rPr lang="zh-CN" altLang="en-US" sz="1800" b="1" dirty="0" smtClean="0">
                  <a:latin typeface="宋体" pitchFamily="2" charset="-122"/>
                </a:rPr>
                <a:t>设备</a:t>
              </a:r>
              <a:r>
                <a:rPr lang="en-US" altLang="zh-CN" sz="1800" b="1" dirty="0" smtClean="0">
                  <a:latin typeface="宋体" pitchFamily="2" charset="-122"/>
                </a:rPr>
                <a:t>1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57" name="Line 17"/>
            <p:cNvSpPr>
              <a:spLocks noChangeShapeType="1"/>
            </p:cNvSpPr>
            <p:nvPr/>
          </p:nvSpPr>
          <p:spPr bwMode="auto">
            <a:xfrm>
              <a:off x="5651500" y="5662017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19"/>
            <p:cNvSpPr>
              <a:spLocks noChangeShapeType="1"/>
            </p:cNvSpPr>
            <p:nvPr/>
          </p:nvSpPr>
          <p:spPr bwMode="auto">
            <a:xfrm>
              <a:off x="7453313" y="5158780"/>
              <a:ext cx="0" cy="2159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Text Box 127"/>
            <p:cNvSpPr txBox="1">
              <a:spLocks noChangeArrowheads="1"/>
            </p:cNvSpPr>
            <p:nvPr/>
          </p:nvSpPr>
          <p:spPr bwMode="auto">
            <a:xfrm>
              <a:off x="6877050" y="5374680"/>
              <a:ext cx="1152525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>
                  <a:latin typeface="宋体" pitchFamily="2" charset="-122"/>
                </a:rPr>
                <a:t>I/O</a:t>
              </a:r>
              <a:r>
                <a:rPr lang="zh-CN" altLang="en-US" sz="1800" b="1">
                  <a:latin typeface="宋体" pitchFamily="2" charset="-122"/>
                </a:rPr>
                <a:t>接口</a:t>
              </a:r>
              <a:r>
                <a:rPr lang="en-US" altLang="zh-CN" sz="1800" b="1">
                  <a:latin typeface="宋体" pitchFamily="2" charset="-122"/>
                </a:rPr>
                <a:t>n</a:t>
              </a:r>
            </a:p>
          </p:txBody>
        </p:sp>
        <p:sp>
          <p:nvSpPr>
            <p:cNvPr id="60" name="Text Box 128"/>
            <p:cNvSpPr txBox="1">
              <a:spLocks noChangeArrowheads="1"/>
            </p:cNvSpPr>
            <p:nvPr/>
          </p:nvSpPr>
          <p:spPr bwMode="auto">
            <a:xfrm>
              <a:off x="6877050" y="5808067"/>
              <a:ext cx="1152525" cy="28575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I/O</a:t>
              </a:r>
              <a:r>
                <a:rPr lang="zh-CN" altLang="en-US" sz="1800" b="1" dirty="0" smtClean="0">
                  <a:latin typeface="宋体" pitchFamily="2" charset="-122"/>
                </a:rPr>
                <a:t>设备</a:t>
              </a:r>
              <a:r>
                <a:rPr lang="en-US" altLang="zh-CN" sz="1800" b="1" dirty="0" smtClean="0">
                  <a:latin typeface="宋体" pitchFamily="2" charset="-122"/>
                </a:rPr>
                <a:t>n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61" name="Line 129"/>
            <p:cNvSpPr>
              <a:spLocks noChangeShapeType="1"/>
            </p:cNvSpPr>
            <p:nvPr/>
          </p:nvSpPr>
          <p:spPr bwMode="auto">
            <a:xfrm>
              <a:off x="7453313" y="5662017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 Box 136"/>
            <p:cNvSpPr txBox="1">
              <a:spLocks noChangeArrowheads="1"/>
            </p:cNvSpPr>
            <p:nvPr/>
          </p:nvSpPr>
          <p:spPr bwMode="auto">
            <a:xfrm>
              <a:off x="3348038" y="5374680"/>
              <a:ext cx="1439863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itchFamily="2" charset="-122"/>
                </a:rPr>
                <a:t>磁盘适配器</a:t>
              </a:r>
            </a:p>
          </p:txBody>
        </p:sp>
        <p:sp>
          <p:nvSpPr>
            <p:cNvPr id="63" name="Line 137"/>
            <p:cNvSpPr>
              <a:spLocks noChangeShapeType="1"/>
            </p:cNvSpPr>
            <p:nvPr/>
          </p:nvSpPr>
          <p:spPr bwMode="auto">
            <a:xfrm>
              <a:off x="4067175" y="5158780"/>
              <a:ext cx="0" cy="21590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Text Box 138"/>
            <p:cNvSpPr txBox="1">
              <a:spLocks noChangeArrowheads="1"/>
            </p:cNvSpPr>
            <p:nvPr/>
          </p:nvSpPr>
          <p:spPr bwMode="auto">
            <a:xfrm>
              <a:off x="3348038" y="5806480"/>
              <a:ext cx="1439863" cy="287338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itchFamily="2" charset="-122"/>
                </a:rPr>
                <a:t>辅存</a:t>
              </a:r>
              <a:r>
                <a:rPr lang="en-US" altLang="zh-CN" sz="1800" b="1" dirty="0" smtClean="0">
                  <a:latin typeface="宋体" pitchFamily="2" charset="-122"/>
                </a:rPr>
                <a:t>(</a:t>
              </a:r>
              <a:r>
                <a:rPr lang="zh-CN" altLang="en-US" sz="1800" b="1" dirty="0" smtClean="0">
                  <a:latin typeface="宋体" pitchFamily="2" charset="-122"/>
                </a:rPr>
                <a:t>如</a:t>
              </a:r>
              <a:r>
                <a:rPr lang="en-US" altLang="zh-CN" sz="1800" b="1" dirty="0" smtClean="0">
                  <a:latin typeface="宋体" pitchFamily="2" charset="-122"/>
                </a:rPr>
                <a:t>HD)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65" name="Line 139"/>
            <p:cNvSpPr>
              <a:spLocks noChangeShapeType="1"/>
            </p:cNvSpPr>
            <p:nvPr/>
          </p:nvSpPr>
          <p:spPr bwMode="auto">
            <a:xfrm>
              <a:off x="4067175" y="5660430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 Box 136"/>
            <p:cNvSpPr txBox="1">
              <a:spLocks noChangeArrowheads="1"/>
            </p:cNvSpPr>
            <p:nvPr/>
          </p:nvSpPr>
          <p:spPr bwMode="auto">
            <a:xfrm>
              <a:off x="1907555" y="5383336"/>
              <a:ext cx="1296293" cy="2770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itchFamily="2" charset="-122"/>
                </a:rPr>
                <a:t>主存控制器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69" name="Text Box 136"/>
            <p:cNvSpPr txBox="1">
              <a:spLocks noChangeArrowheads="1"/>
            </p:cNvSpPr>
            <p:nvPr/>
          </p:nvSpPr>
          <p:spPr bwMode="auto">
            <a:xfrm>
              <a:off x="755576" y="5373216"/>
              <a:ext cx="1008112" cy="28733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itchFamily="2" charset="-122"/>
                </a:rPr>
                <a:t>总线接口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 bwMode="auto">
            <a:xfrm>
              <a:off x="755576" y="5661248"/>
              <a:ext cx="1008188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5" name="Line 139"/>
            <p:cNvSpPr>
              <a:spLocks noChangeShapeType="1"/>
            </p:cNvSpPr>
            <p:nvPr/>
          </p:nvSpPr>
          <p:spPr bwMode="auto">
            <a:xfrm>
              <a:off x="2555776" y="5661248"/>
              <a:ext cx="0" cy="144463"/>
            </a:xfrm>
            <a:prstGeom prst="line">
              <a:avLst/>
            </a:prstGeom>
            <a:noFill/>
            <a:ln w="25400" cmpd="dbl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Text Box 6"/>
          <p:cNvSpPr txBox="1">
            <a:spLocks noChangeArrowheads="1"/>
          </p:cNvSpPr>
          <p:nvPr/>
        </p:nvSpPr>
        <p:spPr bwMode="auto">
          <a:xfrm>
            <a:off x="179512" y="836712"/>
            <a:ext cx="8785101" cy="51552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  主要内容：</a:t>
            </a:r>
            <a:r>
              <a:rPr lang="zh-CN" altLang="en-US" sz="2200" b="1" dirty="0" smtClean="0">
                <a:latin typeface="宋体" pitchFamily="2" charset="-122"/>
              </a:rPr>
              <a:t>硬件组成，工作过程，性能指标</a:t>
            </a:r>
            <a:endParaRPr lang="zh-CN" altLang="en-US" sz="2200" b="1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2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5" grpId="0"/>
      <p:bldP spid="220215" grpId="0" animBg="1"/>
      <p:bldP spid="220216" grpId="0"/>
      <p:bldP spid="46" grpId="0" animBg="1"/>
      <p:bldP spid="6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C4C1B93-8483-479B-9518-A9279CF2AAB5}" type="slidenum">
              <a:rPr lang="en-US" altLang="zh-CN" smtClean="0"/>
              <a:pPr/>
              <a:t>6</a:t>
            </a:fld>
            <a:endParaRPr lang="en-US" altLang="zh-CN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10156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二、计算机的层次结构     </a:t>
            </a:r>
            <a:r>
              <a:rPr lang="zh-CN" altLang="en-US" sz="2000" b="1" dirty="0" smtClean="0">
                <a:latin typeface="+mn-ea"/>
                <a:ea typeface="+mn-ea"/>
              </a:rPr>
              <a:t>△理解组成的任务</a:t>
            </a:r>
            <a:r>
              <a:rPr lang="en-US" altLang="zh-CN" sz="2000" b="1" dirty="0" smtClean="0">
                <a:latin typeface="+mn-ea"/>
                <a:ea typeface="+mn-ea"/>
              </a:rPr>
              <a:t>(</a:t>
            </a:r>
            <a:r>
              <a:rPr lang="zh-CN" altLang="en-US" sz="2000" b="1" dirty="0" smtClean="0">
                <a:latin typeface="+mn-ea"/>
                <a:ea typeface="+mn-ea"/>
              </a:rPr>
              <a:t>含需求</a:t>
            </a:r>
            <a:r>
              <a:rPr lang="en-US" altLang="zh-CN" sz="2000" b="1" dirty="0" smtClean="0">
                <a:latin typeface="+mn-ea"/>
                <a:ea typeface="+mn-ea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层次结构</a:t>
            </a:r>
            <a:r>
              <a:rPr lang="zh-CN" altLang="en-US" b="1" dirty="0">
                <a:latin typeface="宋体" pitchFamily="2" charset="-122"/>
              </a:rPr>
              <a:t>，软件与硬件</a:t>
            </a:r>
            <a:r>
              <a:rPr lang="en-US" altLang="zh-CN" sz="1800" b="1" dirty="0">
                <a:latin typeface="宋体" pitchFamily="2" charset="-122"/>
              </a:rPr>
              <a:t>(</a:t>
            </a:r>
            <a:r>
              <a:rPr lang="zh-CN" altLang="en-US" sz="1800" b="1" dirty="0">
                <a:latin typeface="宋体" pitchFamily="2" charset="-122"/>
              </a:rPr>
              <a:t>性能</a:t>
            </a:r>
            <a:r>
              <a:rPr lang="en-US" altLang="zh-CN" sz="1800" b="1" dirty="0">
                <a:latin typeface="宋体" pitchFamily="2" charset="-122"/>
              </a:rPr>
              <a:t>/</a:t>
            </a:r>
            <a:r>
              <a:rPr lang="zh-CN" altLang="en-US" sz="1800" b="1" dirty="0">
                <a:latin typeface="宋体" pitchFamily="2" charset="-122"/>
              </a:rPr>
              <a:t>成本</a:t>
            </a:r>
            <a:r>
              <a:rPr lang="en-US" altLang="zh-CN" sz="1800" b="1" dirty="0">
                <a:latin typeface="宋体" pitchFamily="2" charset="-122"/>
              </a:rPr>
              <a:t>)</a:t>
            </a:r>
            <a:r>
              <a:rPr lang="zh-CN" altLang="en-US" b="1" dirty="0">
                <a:latin typeface="宋体" pitchFamily="2" charset="-122"/>
              </a:rPr>
              <a:t>，结构与组成</a:t>
            </a:r>
            <a:r>
              <a:rPr lang="en-US" altLang="zh-CN" sz="1800" b="1" dirty="0">
                <a:latin typeface="宋体" pitchFamily="2" charset="-122"/>
              </a:rPr>
              <a:t>(</a:t>
            </a:r>
            <a:r>
              <a:rPr lang="zh-CN" altLang="en-US" sz="1800" b="1" dirty="0">
                <a:latin typeface="宋体" pitchFamily="2" charset="-122"/>
              </a:rPr>
              <a:t>设计与实现</a:t>
            </a:r>
            <a:r>
              <a:rPr lang="en-US" altLang="zh-CN" sz="1800" b="1" dirty="0">
                <a:latin typeface="宋体" pitchFamily="2" charset="-122"/>
              </a:rPr>
              <a:t>)</a:t>
            </a:r>
            <a:endParaRPr lang="en-US" altLang="zh-CN" b="1" dirty="0" smtClean="0">
              <a:latin typeface="+mn-ea"/>
              <a:ea typeface="+mn-ea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512" y="1268760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三、计算机的工作过程     </a:t>
            </a:r>
            <a:endParaRPr lang="en-US" altLang="zh-CN" sz="2000" b="1" dirty="0" smtClean="0">
              <a:latin typeface="+mn-ea"/>
              <a:ea typeface="+mn-ea"/>
            </a:endParaRPr>
          </a:p>
        </p:txBody>
      </p:sp>
      <p:sp>
        <p:nvSpPr>
          <p:cNvPr id="7" name="Text Box 55"/>
          <p:cNvSpPr txBox="1">
            <a:spLocks noChangeArrowheads="1"/>
          </p:cNvSpPr>
          <p:nvPr/>
        </p:nvSpPr>
        <p:spPr bwMode="auto">
          <a:xfrm>
            <a:off x="179388" y="1815207"/>
            <a:ext cx="8785225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计算机的工作方式       </a:t>
            </a:r>
            <a:r>
              <a:rPr lang="zh-CN" altLang="en-US" sz="2000" b="1" dirty="0" smtClean="0">
                <a:latin typeface="宋体" pitchFamily="2" charset="-122"/>
              </a:rPr>
              <a:t>☆深入理解实现</a:t>
            </a:r>
            <a:r>
              <a:rPr lang="zh-CN" altLang="en-US" sz="2000" b="1" dirty="0">
                <a:latin typeface="宋体" pitchFamily="2" charset="-122"/>
              </a:rPr>
              <a:t>方案</a:t>
            </a:r>
            <a:endParaRPr lang="en-US" altLang="zh-CN" sz="2000" b="1" dirty="0" smtClean="0">
              <a:latin typeface="宋体" pitchFamily="2" charset="-122"/>
            </a:endParaRPr>
          </a:p>
        </p:txBody>
      </p:sp>
      <p:sp>
        <p:nvSpPr>
          <p:cNvPr id="8" name="Text Box 56"/>
          <p:cNvSpPr txBox="1">
            <a:spLocks noChangeArrowheads="1"/>
          </p:cNvSpPr>
          <p:nvPr/>
        </p:nvSpPr>
        <p:spPr bwMode="auto">
          <a:xfrm>
            <a:off x="179512" y="2269321"/>
            <a:ext cx="8785224" cy="101566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b="1" dirty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程</a:t>
            </a:r>
            <a:r>
              <a:rPr lang="zh-CN" altLang="en-US" b="1" spc="-100" dirty="0" smtClean="0">
                <a:latin typeface="宋体" pitchFamily="2" charset="-122"/>
              </a:rPr>
              <a:t>序</a:t>
            </a:r>
            <a:r>
              <a:rPr lang="zh-CN" altLang="en-US" b="1" spc="-100" dirty="0">
                <a:latin typeface="宋体" pitchFamily="2" charset="-122"/>
              </a:rPr>
              <a:t>执行的顺序表示</a:t>
            </a:r>
            <a:r>
              <a:rPr lang="en-US" altLang="zh-CN" sz="2000" b="1" spc="-100" dirty="0" smtClean="0">
                <a:latin typeface="宋体" pitchFamily="2" charset="-122"/>
              </a:rPr>
              <a:t>(</a:t>
            </a:r>
            <a:r>
              <a:rPr lang="zh-CN" altLang="en-US" sz="2000" b="1" spc="-100" dirty="0" smtClean="0">
                <a:latin typeface="宋体" pitchFamily="2" charset="-122"/>
              </a:rPr>
              <a:t>指令地址序列</a:t>
            </a:r>
            <a:r>
              <a:rPr lang="en-US" altLang="zh-CN" sz="2000" b="1" spc="-100" dirty="0" smtClean="0">
                <a:latin typeface="宋体" pitchFamily="2" charset="-122"/>
              </a:rPr>
              <a:t>)</a:t>
            </a:r>
            <a:r>
              <a:rPr lang="zh-CN" altLang="en-US" b="1" spc="-100" dirty="0" smtClean="0">
                <a:latin typeface="宋体" pitchFamily="2" charset="-122"/>
              </a:rPr>
              <a:t>，下条指令地址的</a:t>
            </a:r>
            <a:r>
              <a:rPr lang="zh-CN" altLang="en-US" b="1" spc="-100" dirty="0">
                <a:latin typeface="宋体" pitchFamily="2" charset="-122"/>
              </a:rPr>
              <a:t>形成</a:t>
            </a:r>
            <a:r>
              <a:rPr lang="zh-CN" altLang="en-US" b="1" spc="-100" dirty="0" smtClean="0">
                <a:latin typeface="宋体" pitchFamily="2" charset="-122"/>
              </a:rPr>
              <a:t>特征，</a:t>
            </a:r>
            <a:endParaRPr lang="en-US" altLang="zh-CN" b="1" spc="-100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solidFill>
                  <a:srgbClr val="FF0000"/>
                </a:solidFill>
                <a:latin typeface="宋体" pitchFamily="2" charset="-122"/>
              </a:rPr>
              <a:t>程序执行</a:t>
            </a:r>
            <a:r>
              <a:rPr lang="zh-CN" altLang="en-US" b="1" dirty="0">
                <a:solidFill>
                  <a:srgbClr val="FF0000"/>
                </a:solidFill>
                <a:latin typeface="宋体" pitchFamily="2" charset="-122"/>
              </a:rPr>
              <a:t>的机制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循环的指令执行过程、循环与指令执行重叠，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步骤：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</p:txBody>
      </p:sp>
      <p:sp>
        <p:nvSpPr>
          <p:cNvPr id="9" name="Text Box 55"/>
          <p:cNvSpPr txBox="1">
            <a:spLocks noChangeArrowheads="1"/>
          </p:cNvSpPr>
          <p:nvPr/>
        </p:nvSpPr>
        <p:spPr bwMode="auto">
          <a:xfrm>
            <a:off x="179512" y="4365104"/>
            <a:ext cx="3888481" cy="55399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程序执行的实现      </a:t>
            </a:r>
            <a:r>
              <a:rPr lang="zh-CN" altLang="en-US" b="1" dirty="0" smtClean="0"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051720" y="3351291"/>
            <a:ext cx="6192687" cy="869797"/>
            <a:chOff x="1547665" y="3428999"/>
            <a:chExt cx="6192687" cy="869797"/>
          </a:xfrm>
        </p:grpSpPr>
        <p:sp>
          <p:nvSpPr>
            <p:cNvPr id="11" name="矩形 10"/>
            <p:cNvSpPr/>
            <p:nvPr/>
          </p:nvSpPr>
          <p:spPr bwMode="auto">
            <a:xfrm>
              <a:off x="1547665" y="3428999"/>
              <a:ext cx="6192687" cy="869797"/>
            </a:xfrm>
            <a:prstGeom prst="rect">
              <a:avLst/>
            </a:prstGeom>
            <a:solidFill>
              <a:srgbClr val="CCFFFF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2" name="Text Box 316"/>
            <p:cNvSpPr txBox="1">
              <a:spLocks noChangeArrowheads="1"/>
            </p:cNvSpPr>
            <p:nvPr/>
          </p:nvSpPr>
          <p:spPr bwMode="auto">
            <a:xfrm>
              <a:off x="5436096" y="3859783"/>
              <a:ext cx="2160240" cy="35719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rgbClr val="FF3399"/>
              </a:solidFill>
              <a:prstDash val="dash"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 smtClean="0">
                  <a:solidFill>
                    <a:srgbClr val="0000CC"/>
                  </a:solidFill>
                  <a:latin typeface="宋体" pitchFamily="2" charset="-122"/>
                </a:rPr>
                <a:t>PC</a:t>
              </a:r>
              <a:r>
                <a:rPr lang="zh-CN" altLang="en-US" sz="1800" b="1" dirty="0" smtClean="0">
                  <a:solidFill>
                    <a:srgbClr val="0000CC"/>
                  </a:solidFill>
                  <a:latin typeface="宋体" pitchFamily="2" charset="-122"/>
                </a:rPr>
                <a:t>←计算结果</a:t>
              </a:r>
              <a:endParaRPr lang="zh-CN" altLang="en-US" sz="1800" b="1" dirty="0">
                <a:solidFill>
                  <a:srgbClr val="0000CC"/>
                </a:solidFill>
                <a:latin typeface="宋体" pitchFamily="2" charset="-122"/>
              </a:endParaRPr>
            </a:p>
          </p:txBody>
        </p:sp>
        <p:sp>
          <p:nvSpPr>
            <p:cNvPr id="13" name="Text Box 311"/>
            <p:cNvSpPr txBox="1">
              <a:spLocks noChangeArrowheads="1"/>
            </p:cNvSpPr>
            <p:nvPr/>
          </p:nvSpPr>
          <p:spPr bwMode="auto">
            <a:xfrm>
              <a:off x="1691681" y="3501008"/>
              <a:ext cx="1872257" cy="35877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solidFill>
                    <a:srgbClr val="FF0000"/>
                  </a:solidFill>
                  <a:latin typeface="宋体" pitchFamily="2" charset="-122"/>
                </a:rPr>
                <a:t>取</a:t>
              </a:r>
              <a:r>
                <a:rPr lang="zh-CN" altLang="en-US" sz="1800" b="1" dirty="0" smtClean="0">
                  <a:solidFill>
                    <a:srgbClr val="FF0000"/>
                  </a:solidFill>
                  <a:latin typeface="宋体" pitchFamily="2" charset="-122"/>
                </a:rPr>
                <a:t>指令</a:t>
              </a:r>
              <a:endParaRPr lang="zh-CN" altLang="en-US" sz="1800" b="1" dirty="0">
                <a:solidFill>
                  <a:srgbClr val="FF0000"/>
                </a:solidFill>
                <a:latin typeface="宋体" pitchFamily="2" charset="-122"/>
              </a:endParaRPr>
            </a:p>
          </p:txBody>
        </p:sp>
        <p:sp>
          <p:nvSpPr>
            <p:cNvPr id="14" name="Text Box 314"/>
            <p:cNvSpPr txBox="1">
              <a:spLocks noChangeArrowheads="1"/>
            </p:cNvSpPr>
            <p:nvPr/>
          </p:nvSpPr>
          <p:spPr bwMode="auto">
            <a:xfrm>
              <a:off x="3923928" y="3501008"/>
              <a:ext cx="1287024" cy="35877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solidFill>
                    <a:srgbClr val="FF0000"/>
                  </a:solidFill>
                  <a:latin typeface="宋体" pitchFamily="2" charset="-122"/>
                </a:rPr>
                <a:t>分析指令</a:t>
              </a:r>
            </a:p>
          </p:txBody>
        </p:sp>
        <p:sp>
          <p:nvSpPr>
            <p:cNvPr id="15" name="Text Box 316"/>
            <p:cNvSpPr txBox="1">
              <a:spLocks noChangeArrowheads="1"/>
            </p:cNvSpPr>
            <p:nvPr/>
          </p:nvSpPr>
          <p:spPr bwMode="auto">
            <a:xfrm>
              <a:off x="5436096" y="3501008"/>
              <a:ext cx="2160240" cy="358775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solidFill>
                    <a:srgbClr val="FF0000"/>
                  </a:solidFill>
                  <a:latin typeface="宋体" pitchFamily="2" charset="-122"/>
                </a:rPr>
                <a:t>执行指令</a:t>
              </a:r>
            </a:p>
          </p:txBody>
        </p:sp>
        <p:cxnSp>
          <p:nvCxnSpPr>
            <p:cNvPr id="16" name="直接箭头连接符 15"/>
            <p:cNvCxnSpPr>
              <a:stCxn id="13" idx="3"/>
              <a:endCxn id="14" idx="1"/>
            </p:cNvCxnSpPr>
            <p:nvPr/>
          </p:nvCxnSpPr>
          <p:spPr bwMode="auto">
            <a:xfrm>
              <a:off x="3563938" y="3680396"/>
              <a:ext cx="35999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" name="直接箭头连接符 16"/>
            <p:cNvCxnSpPr>
              <a:stCxn id="14" idx="3"/>
              <a:endCxn id="15" idx="1"/>
            </p:cNvCxnSpPr>
            <p:nvPr/>
          </p:nvCxnSpPr>
          <p:spPr bwMode="auto">
            <a:xfrm>
              <a:off x="5210952" y="3680396"/>
              <a:ext cx="225144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8" name="Text Box 316"/>
            <p:cNvSpPr txBox="1">
              <a:spLocks noChangeArrowheads="1"/>
            </p:cNvSpPr>
            <p:nvPr/>
          </p:nvSpPr>
          <p:spPr bwMode="auto">
            <a:xfrm>
              <a:off x="2267744" y="3859783"/>
              <a:ext cx="2943208" cy="357190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rgbClr val="FF3399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 smtClean="0">
                  <a:solidFill>
                    <a:srgbClr val="0000CC"/>
                  </a:solidFill>
                  <a:latin typeface="宋体" pitchFamily="2" charset="-122"/>
                </a:rPr>
                <a:t>PC</a:t>
              </a:r>
              <a:r>
                <a:rPr lang="zh-CN" altLang="en-US" sz="1800" b="1" dirty="0" smtClean="0">
                  <a:solidFill>
                    <a:srgbClr val="0000CC"/>
                  </a:solidFill>
                  <a:latin typeface="宋体" pitchFamily="2" charset="-122"/>
                </a:rPr>
                <a:t>←</a:t>
              </a:r>
              <a:r>
                <a:rPr lang="en-US" altLang="zh-CN" sz="1800" b="1" dirty="0" smtClean="0">
                  <a:solidFill>
                    <a:srgbClr val="0000CC"/>
                  </a:solidFill>
                  <a:latin typeface="宋体" pitchFamily="2" charset="-122"/>
                </a:rPr>
                <a:t>(PC)</a:t>
              </a:r>
              <a:r>
                <a:rPr lang="zh-CN" altLang="en-US" sz="1800" b="1" dirty="0" smtClean="0">
                  <a:solidFill>
                    <a:srgbClr val="0000CC"/>
                  </a:solidFill>
                  <a:latin typeface="宋体" pitchFamily="2" charset="-122"/>
                </a:rPr>
                <a:t>＋</a:t>
              </a:r>
              <a:r>
                <a:rPr lang="en-US" altLang="zh-CN" sz="1800" dirty="0" smtClean="0">
                  <a:solidFill>
                    <a:srgbClr val="0000CC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“</a:t>
              </a:r>
              <a:r>
                <a:rPr lang="en-US" altLang="zh-CN" sz="1800" b="1" dirty="0" smtClean="0">
                  <a:solidFill>
                    <a:srgbClr val="0000CC"/>
                  </a:solidFill>
                  <a:latin typeface="宋体" pitchFamily="2" charset="-122"/>
                </a:rPr>
                <a:t>1</a:t>
              </a:r>
              <a:r>
                <a:rPr lang="en-US" altLang="zh-CN" sz="1800" dirty="0" smtClean="0">
                  <a:solidFill>
                    <a:srgbClr val="0000CC"/>
                  </a:solidFill>
                  <a:latin typeface="Arial Unicode MS" pitchFamily="34" charset="-122"/>
                  <a:ea typeface="Arial Unicode MS" pitchFamily="34" charset="-122"/>
                  <a:cs typeface="Arial Unicode MS" pitchFamily="34" charset="-122"/>
                </a:rPr>
                <a:t>”</a:t>
              </a:r>
              <a:endParaRPr lang="zh-CN" altLang="en-US" sz="1800" dirty="0">
                <a:solidFill>
                  <a:srgbClr val="0000CC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endParaRPr>
            </a:p>
          </p:txBody>
        </p:sp>
        <p:cxnSp>
          <p:nvCxnSpPr>
            <p:cNvPr id="19" name="直接箭头连接符 27"/>
            <p:cNvCxnSpPr>
              <a:stCxn id="15" idx="3"/>
              <a:endCxn id="13" idx="1"/>
            </p:cNvCxnSpPr>
            <p:nvPr/>
          </p:nvCxnSpPr>
          <p:spPr bwMode="auto">
            <a:xfrm flipH="1">
              <a:off x="1691681" y="3680396"/>
              <a:ext cx="5904655" cy="12700"/>
            </a:xfrm>
            <a:prstGeom prst="bentConnector5">
              <a:avLst>
                <a:gd name="adj1" fmla="val -3872"/>
                <a:gd name="adj2" fmla="val -2701780"/>
                <a:gd name="adj3" fmla="val 103872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61" name="组合 60"/>
          <p:cNvGrpSpPr/>
          <p:nvPr/>
        </p:nvGrpSpPr>
        <p:grpSpPr>
          <a:xfrm>
            <a:off x="3995936" y="4509120"/>
            <a:ext cx="4752528" cy="1742720"/>
            <a:chOff x="3995936" y="4509120"/>
            <a:chExt cx="4752528" cy="1742720"/>
          </a:xfrm>
        </p:grpSpPr>
        <p:sp>
          <p:nvSpPr>
            <p:cNvPr id="29" name="矩形 28"/>
            <p:cNvSpPr/>
            <p:nvPr/>
          </p:nvSpPr>
          <p:spPr bwMode="auto">
            <a:xfrm>
              <a:off x="7164288" y="5879778"/>
              <a:ext cx="648072" cy="35753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 cap="flat" cmpd="sng" algn="ctr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0" name="Text Box 352"/>
            <p:cNvSpPr txBox="1">
              <a:spLocks noChangeArrowheads="1"/>
            </p:cNvSpPr>
            <p:nvPr/>
          </p:nvSpPr>
          <p:spPr bwMode="auto">
            <a:xfrm>
              <a:off x="3995936" y="5253135"/>
              <a:ext cx="576064" cy="33610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 smtClean="0">
                  <a:latin typeface="宋体" pitchFamily="2" charset="-122"/>
                </a:rPr>
                <a:t>PC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31" name="Text Box 354"/>
            <p:cNvSpPr txBox="1">
              <a:spLocks noChangeArrowheads="1"/>
            </p:cNvSpPr>
            <p:nvPr/>
          </p:nvSpPr>
          <p:spPr bwMode="auto">
            <a:xfrm>
              <a:off x="3995936" y="5878538"/>
              <a:ext cx="1440160" cy="35877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itchFamily="2" charset="-122"/>
                </a:rPr>
                <a:t>主存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32" name="Text Box 408"/>
            <p:cNvSpPr txBox="1">
              <a:spLocks noChangeArrowheads="1"/>
            </p:cNvSpPr>
            <p:nvPr/>
          </p:nvSpPr>
          <p:spPr bwMode="auto">
            <a:xfrm>
              <a:off x="6012160" y="5129705"/>
              <a:ext cx="648072" cy="604183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 smtClean="0">
                  <a:latin typeface="宋体" pitchFamily="2" charset="-122"/>
                </a:rPr>
                <a:t>ID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sp>
          <p:nvSpPr>
            <p:cNvPr id="33" name="Text Box 439"/>
            <p:cNvSpPr txBox="1">
              <a:spLocks noChangeArrowheads="1"/>
            </p:cNvSpPr>
            <p:nvPr/>
          </p:nvSpPr>
          <p:spPr bwMode="auto">
            <a:xfrm>
              <a:off x="4860032" y="4653135"/>
              <a:ext cx="648072" cy="360041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/>
                <a:t>＋</a:t>
              </a:r>
              <a:r>
                <a:rPr lang="en-US" altLang="zh-CN" sz="1800" dirty="0" smtClean="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“</a:t>
              </a:r>
              <a:r>
                <a:rPr lang="en-US" altLang="zh-CN" sz="1800" b="1" dirty="0">
                  <a:latin typeface="宋体" pitchFamily="2" charset="-122"/>
                </a:rPr>
                <a:t>1</a:t>
              </a:r>
              <a:r>
                <a:rPr lang="en-US" altLang="zh-CN" sz="1800" dirty="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”</a:t>
              </a:r>
            </a:p>
          </p:txBody>
        </p:sp>
        <p:sp>
          <p:nvSpPr>
            <p:cNvPr id="34" name="Text Box 460"/>
            <p:cNvSpPr txBox="1">
              <a:spLocks noChangeArrowheads="1"/>
            </p:cNvSpPr>
            <p:nvPr/>
          </p:nvSpPr>
          <p:spPr bwMode="auto">
            <a:xfrm>
              <a:off x="7308304" y="4581448"/>
              <a:ext cx="1440160" cy="359720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itchFamily="2" charset="-122"/>
                </a:rPr>
                <a:t>地址计算部件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sp>
          <p:nvSpPr>
            <p:cNvPr id="35" name="Text Box 460"/>
            <p:cNvSpPr txBox="1">
              <a:spLocks noChangeArrowheads="1"/>
            </p:cNvSpPr>
            <p:nvPr/>
          </p:nvSpPr>
          <p:spPr bwMode="auto">
            <a:xfrm>
              <a:off x="7308304" y="5013176"/>
              <a:ext cx="1440160" cy="360039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itchFamily="2" charset="-122"/>
                </a:rPr>
                <a:t>功能部件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cxnSp>
          <p:nvCxnSpPr>
            <p:cNvPr id="36" name="直接箭头连接符 35"/>
            <p:cNvCxnSpPr>
              <a:endCxn id="51" idx="2"/>
            </p:cNvCxnSpPr>
            <p:nvPr/>
          </p:nvCxnSpPr>
          <p:spPr bwMode="auto">
            <a:xfrm flipV="1">
              <a:off x="5148064" y="5589240"/>
              <a:ext cx="0" cy="289298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7" name="直接箭头连接符 36"/>
            <p:cNvCxnSpPr>
              <a:stCxn id="30" idx="2"/>
            </p:cNvCxnSpPr>
            <p:nvPr/>
          </p:nvCxnSpPr>
          <p:spPr bwMode="auto">
            <a:xfrm>
              <a:off x="4283968" y="5589240"/>
              <a:ext cx="4" cy="289298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8" name="直接箭头连接符 37"/>
            <p:cNvCxnSpPr/>
            <p:nvPr/>
          </p:nvCxnSpPr>
          <p:spPr bwMode="auto">
            <a:xfrm>
              <a:off x="5436096" y="5445224"/>
              <a:ext cx="576064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9" name="直接连接符 141"/>
            <p:cNvCxnSpPr/>
            <p:nvPr/>
          </p:nvCxnSpPr>
          <p:spPr bwMode="auto">
            <a:xfrm>
              <a:off x="6660232" y="5589240"/>
              <a:ext cx="1008112" cy="289298"/>
            </a:xfrm>
            <a:prstGeom prst="bentConnector3">
              <a:avLst>
                <a:gd name="adj1" fmla="val 99887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0" name="直接连接符 141"/>
            <p:cNvCxnSpPr/>
            <p:nvPr/>
          </p:nvCxnSpPr>
          <p:spPr bwMode="auto">
            <a:xfrm>
              <a:off x="6660232" y="5659982"/>
              <a:ext cx="702078" cy="218556"/>
            </a:xfrm>
            <a:prstGeom prst="bentConnector3">
              <a:avLst>
                <a:gd name="adj1" fmla="val 99927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1" name="直接箭头连接符 40"/>
            <p:cNvCxnSpPr/>
            <p:nvPr/>
          </p:nvCxnSpPr>
          <p:spPr bwMode="auto">
            <a:xfrm flipV="1">
              <a:off x="7452320" y="5373215"/>
              <a:ext cx="0" cy="506563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" name="直接连接符 41"/>
            <p:cNvCxnSpPr/>
            <p:nvPr/>
          </p:nvCxnSpPr>
          <p:spPr bwMode="auto">
            <a:xfrm>
              <a:off x="6660232" y="5229200"/>
              <a:ext cx="648072" cy="0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3" name="直接连接符 141"/>
            <p:cNvCxnSpPr/>
            <p:nvPr/>
          </p:nvCxnSpPr>
          <p:spPr bwMode="auto">
            <a:xfrm>
              <a:off x="6660232" y="5515966"/>
              <a:ext cx="1440160" cy="363813"/>
            </a:xfrm>
            <a:prstGeom prst="bentConnector3">
              <a:avLst>
                <a:gd name="adj1" fmla="val 99736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44" name="直接箭头连接符 160"/>
            <p:cNvCxnSpPr/>
            <p:nvPr/>
          </p:nvCxnSpPr>
          <p:spPr bwMode="auto">
            <a:xfrm>
              <a:off x="8172400" y="5372187"/>
              <a:ext cx="0" cy="507592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5" name="直接箭头连接符 222"/>
            <p:cNvCxnSpPr>
              <a:endCxn id="34" idx="1"/>
            </p:cNvCxnSpPr>
            <p:nvPr/>
          </p:nvCxnSpPr>
          <p:spPr bwMode="auto">
            <a:xfrm rot="5400000" flipH="1" flipV="1">
              <a:off x="6769991" y="4977653"/>
              <a:ext cx="754658" cy="321968"/>
            </a:xfrm>
            <a:prstGeom prst="bentConnector2">
              <a:avLst/>
            </a:prstGeom>
            <a:noFill/>
            <a:ln w="19050" cap="flat" cmpd="sng" algn="ctr">
              <a:solidFill>
                <a:srgbClr val="CC3300"/>
              </a:solidFill>
              <a:prstDash val="sysDash"/>
              <a:round/>
              <a:headEnd type="oval" w="sm" len="sm"/>
              <a:tailEnd type="triangle"/>
            </a:ln>
            <a:effectLst/>
          </p:spPr>
        </p:cxnSp>
        <p:sp>
          <p:nvSpPr>
            <p:cNvPr id="46" name="Text Box 479"/>
            <p:cNvSpPr txBox="1">
              <a:spLocks noChangeArrowheads="1"/>
            </p:cNvSpPr>
            <p:nvPr/>
          </p:nvSpPr>
          <p:spPr bwMode="auto">
            <a:xfrm>
              <a:off x="5940152" y="4509120"/>
              <a:ext cx="796224" cy="28575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itchFamily="2" charset="-122"/>
                </a:rPr>
                <a:t>转移时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cxnSp>
          <p:nvCxnSpPr>
            <p:cNvPr id="47" name="直接箭头连接符 222"/>
            <p:cNvCxnSpPr>
              <a:stCxn id="34" idx="3"/>
            </p:cNvCxnSpPr>
            <p:nvPr/>
          </p:nvCxnSpPr>
          <p:spPr bwMode="auto">
            <a:xfrm flipH="1" flipV="1">
              <a:off x="5652120" y="4509120"/>
              <a:ext cx="3096344" cy="252188"/>
            </a:xfrm>
            <a:prstGeom prst="bentConnector3">
              <a:avLst>
                <a:gd name="adj1" fmla="val -4733"/>
              </a:avLst>
            </a:prstGeom>
            <a:noFill/>
            <a:ln w="1905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" name="直接箭头连接符 222"/>
            <p:cNvCxnSpPr/>
            <p:nvPr/>
          </p:nvCxnSpPr>
          <p:spPr bwMode="auto">
            <a:xfrm>
              <a:off x="4716016" y="4869160"/>
              <a:ext cx="144016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9" name="直接箭头连接符 222"/>
            <p:cNvCxnSpPr>
              <a:stCxn id="33" idx="3"/>
              <a:endCxn id="30" idx="0"/>
            </p:cNvCxnSpPr>
            <p:nvPr/>
          </p:nvCxnSpPr>
          <p:spPr bwMode="auto">
            <a:xfrm flipH="1">
              <a:off x="4283968" y="4833156"/>
              <a:ext cx="1224136" cy="419979"/>
            </a:xfrm>
            <a:prstGeom prst="bentConnector4">
              <a:avLst>
                <a:gd name="adj1" fmla="val -11492"/>
                <a:gd name="adj2" fmla="val -77347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0" name="直接箭头连接符 222"/>
            <p:cNvCxnSpPr/>
            <p:nvPr/>
          </p:nvCxnSpPr>
          <p:spPr bwMode="auto">
            <a:xfrm rot="5400000" flipH="1" flipV="1">
              <a:off x="4085847" y="5067250"/>
              <a:ext cx="828260" cy="432081"/>
            </a:xfrm>
            <a:prstGeom prst="bentConnector3">
              <a:avLst>
                <a:gd name="adj1" fmla="val 320"/>
              </a:avLst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oval" w="med" len="med"/>
              <a:tailEnd type="none"/>
            </a:ln>
            <a:effectLst/>
          </p:spPr>
        </p:cxnSp>
        <p:sp>
          <p:nvSpPr>
            <p:cNvPr id="51" name="Text Box 352"/>
            <p:cNvSpPr txBox="1">
              <a:spLocks noChangeArrowheads="1"/>
            </p:cNvSpPr>
            <p:nvPr/>
          </p:nvSpPr>
          <p:spPr bwMode="auto">
            <a:xfrm>
              <a:off x="4860032" y="5253135"/>
              <a:ext cx="576064" cy="33610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dirty="0" smtClean="0">
                  <a:latin typeface="宋体" pitchFamily="2" charset="-122"/>
                </a:rPr>
                <a:t>IR</a:t>
              </a:r>
              <a:endParaRPr lang="en-US" altLang="zh-CN" sz="1800" b="1" dirty="0">
                <a:latin typeface="宋体" pitchFamily="2" charset="-122"/>
              </a:endParaRPr>
            </a:p>
          </p:txBody>
        </p:sp>
        <p:cxnSp>
          <p:nvCxnSpPr>
            <p:cNvPr id="52" name="直接箭头连接符 51"/>
            <p:cNvCxnSpPr/>
            <p:nvPr/>
          </p:nvCxnSpPr>
          <p:spPr bwMode="auto">
            <a:xfrm flipV="1">
              <a:off x="7740352" y="5373216"/>
              <a:ext cx="0" cy="506563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3" name="矩形 52"/>
            <p:cNvSpPr/>
            <p:nvPr/>
          </p:nvSpPr>
          <p:spPr bwMode="auto">
            <a:xfrm>
              <a:off x="7812360" y="5877272"/>
              <a:ext cx="648072" cy="35753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 cap="flat" cmpd="sng" algn="ctr">
              <a:noFill/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54" name="Text Box 354"/>
            <p:cNvSpPr txBox="1">
              <a:spLocks noChangeArrowheads="1"/>
            </p:cNvSpPr>
            <p:nvPr/>
          </p:nvSpPr>
          <p:spPr bwMode="auto">
            <a:xfrm>
              <a:off x="7164288" y="5878538"/>
              <a:ext cx="1296144" cy="35877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latin typeface="宋体" pitchFamily="2" charset="-122"/>
                </a:rPr>
                <a:t>主存</a:t>
              </a:r>
              <a:r>
                <a:rPr lang="en-US" altLang="zh-CN" sz="1800" b="1" dirty="0" smtClean="0">
                  <a:latin typeface="宋体" pitchFamily="2" charset="-122"/>
                </a:rPr>
                <a:t>/GPRs</a:t>
              </a:r>
              <a:endParaRPr lang="zh-CN" altLang="en-US" sz="1800" b="1" dirty="0">
                <a:latin typeface="宋体" pitchFamily="2" charset="-122"/>
              </a:endParaRPr>
            </a:p>
          </p:txBody>
        </p:sp>
        <p:cxnSp>
          <p:nvCxnSpPr>
            <p:cNvPr id="55" name="直接连接符 54"/>
            <p:cNvCxnSpPr/>
            <p:nvPr/>
          </p:nvCxnSpPr>
          <p:spPr bwMode="auto">
            <a:xfrm>
              <a:off x="5796136" y="4636101"/>
              <a:ext cx="0" cy="15987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 bwMode="auto">
            <a:xfrm>
              <a:off x="6804248" y="4653136"/>
              <a:ext cx="0" cy="159870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62" name="Text Box 55"/>
          <p:cNvSpPr txBox="1">
            <a:spLocks noChangeArrowheads="1"/>
          </p:cNvSpPr>
          <p:nvPr/>
        </p:nvSpPr>
        <p:spPr bwMode="auto">
          <a:xfrm>
            <a:off x="179512" y="4834320"/>
            <a:ext cx="3816424" cy="101566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执行准备</a:t>
            </a:r>
            <a:r>
              <a:rPr lang="en-US" altLang="zh-CN" sz="2000" b="1" dirty="0" smtClean="0">
                <a:latin typeface="宋体" pitchFamily="2" charset="-122"/>
              </a:rPr>
              <a:t>(2</a:t>
            </a:r>
            <a:r>
              <a:rPr lang="zh-CN" altLang="en-US" sz="2000" b="1" dirty="0" smtClean="0">
                <a:latin typeface="宋体" pitchFamily="2" charset="-122"/>
              </a:rPr>
              <a:t>点</a:t>
            </a:r>
            <a:r>
              <a:rPr lang="en-US" altLang="zh-CN" sz="2000" b="1" dirty="0" smtClean="0">
                <a:latin typeface="宋体" pitchFamily="2" charset="-122"/>
              </a:rPr>
              <a:t>[OS</a:t>
            </a:r>
            <a:r>
              <a:rPr lang="zh-CN" altLang="en-US" sz="2000" b="1" dirty="0" smtClean="0">
                <a:latin typeface="宋体" pitchFamily="2" charset="-122"/>
              </a:rPr>
              <a:t>负责</a:t>
            </a:r>
            <a:r>
              <a:rPr lang="en-US" altLang="zh-CN" sz="2000" b="1" dirty="0" smtClean="0">
                <a:latin typeface="宋体" pitchFamily="2" charset="-122"/>
              </a:rPr>
              <a:t>])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操作过程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面向部件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sz="2800" b="1" dirty="0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283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  <p:bldP spid="9" grpId="0"/>
      <p:bldP spid="6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C4C1B93-8483-479B-9518-A9279CF2AAB5}" type="slidenum">
              <a:rPr lang="en-US" altLang="zh-CN" smtClean="0"/>
              <a:pPr/>
              <a:t>7</a:t>
            </a:fld>
            <a:endParaRPr lang="en-US" altLang="zh-CN"/>
          </a:p>
        </p:txBody>
      </p:sp>
      <p:sp>
        <p:nvSpPr>
          <p:cNvPr id="117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四、计算机的性能指标</a:t>
            </a:r>
            <a:endParaRPr lang="en-US" altLang="zh-CN" b="1" dirty="0" smtClean="0">
              <a:latin typeface="+mn-ea"/>
              <a:ea typeface="+mn-ea"/>
            </a:endParaRPr>
          </a:p>
        </p:txBody>
      </p:sp>
      <p:sp>
        <p:nvSpPr>
          <p:cNvPr id="118" name="Text Box 74"/>
          <p:cNvSpPr txBox="1">
            <a:spLocks noChangeArrowheads="1"/>
          </p:cNvSpPr>
          <p:nvPr/>
        </p:nvSpPr>
        <p:spPr bwMode="auto">
          <a:xfrm>
            <a:off x="179388" y="836712"/>
            <a:ext cx="8785225" cy="490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硬件的技术指标        </a:t>
            </a:r>
            <a:r>
              <a:rPr lang="zh-CN" altLang="en-US" sz="2000" b="1" dirty="0" smtClean="0">
                <a:latin typeface="+mn-ea"/>
              </a:rPr>
              <a:t>☆掌握</a:t>
            </a:r>
            <a:r>
              <a:rPr lang="zh-CN" altLang="en-US" sz="2000" b="1" dirty="0">
                <a:latin typeface="+mn-ea"/>
              </a:rPr>
              <a:t>概念、</a:t>
            </a:r>
            <a:r>
              <a:rPr lang="zh-CN" altLang="en-US" sz="2000" b="1" dirty="0" smtClean="0">
                <a:latin typeface="+mn-ea"/>
              </a:rPr>
              <a:t>关联知识点</a:t>
            </a:r>
            <a:endParaRPr lang="zh-CN" altLang="en-US" b="1" dirty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119" name="Text Box 75"/>
          <p:cNvSpPr txBox="1">
            <a:spLocks noChangeArrowheads="1"/>
          </p:cNvSpPr>
          <p:nvPr/>
        </p:nvSpPr>
        <p:spPr bwMode="auto">
          <a:xfrm>
            <a:off x="179388" y="1844824"/>
            <a:ext cx="8785225" cy="461665"/>
          </a:xfrm>
          <a:prstGeom prst="rect">
            <a:avLst/>
          </a:prstGeom>
          <a:noFill/>
          <a:ln w="19050">
            <a:solidFill>
              <a:srgbClr val="FF33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系统的性能指标        </a:t>
            </a:r>
            <a:r>
              <a:rPr lang="zh-CN" altLang="en-US" sz="2000" b="1" dirty="0" smtClean="0">
                <a:latin typeface="+mn-ea"/>
              </a:rPr>
              <a:t>☆熟练运用</a:t>
            </a:r>
            <a:endParaRPr lang="zh-CN" altLang="en-US" b="1" dirty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121" name="Text Box 74"/>
          <p:cNvSpPr txBox="1">
            <a:spLocks noChangeArrowheads="1"/>
          </p:cNvSpPr>
          <p:nvPr/>
        </p:nvSpPr>
        <p:spPr bwMode="auto">
          <a:xfrm>
            <a:off x="179388" y="1282297"/>
            <a:ext cx="878522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机器字长</a:t>
            </a:r>
            <a:r>
              <a:rPr lang="zh-CN" altLang="en-US" sz="1800" b="1" dirty="0" smtClean="0">
                <a:solidFill>
                  <a:srgbClr val="FF0000"/>
                </a:solidFill>
                <a:latin typeface="宋体" pitchFamily="2" charset="-122"/>
              </a:rPr>
              <a:t>（数据</a:t>
            </a:r>
            <a:r>
              <a:rPr lang="en-US" altLang="zh-CN" sz="1800" b="1" dirty="0" smtClean="0">
                <a:solidFill>
                  <a:srgbClr val="FF0000"/>
                </a:solidFill>
                <a:latin typeface="宋体" pitchFamily="2" charset="-122"/>
              </a:rPr>
              <a:t>R</a:t>
            </a:r>
            <a:r>
              <a:rPr lang="zh-CN" altLang="en-US" sz="1800" b="1" dirty="0" smtClean="0">
                <a:solidFill>
                  <a:srgbClr val="FF0000"/>
                </a:solidFill>
                <a:latin typeface="宋体" pitchFamily="2" charset="-122"/>
              </a:rPr>
              <a:t>或</a:t>
            </a:r>
            <a:r>
              <a:rPr lang="en-US" altLang="zh-CN" sz="1800" b="1" dirty="0" smtClean="0">
                <a:solidFill>
                  <a:srgbClr val="FF0000"/>
                </a:solidFill>
                <a:latin typeface="宋体" pitchFamily="2" charset="-122"/>
              </a:rPr>
              <a:t>GPR</a:t>
            </a:r>
            <a:r>
              <a:rPr lang="zh-CN" altLang="en-US" sz="1800" b="1" dirty="0" smtClean="0">
                <a:solidFill>
                  <a:srgbClr val="FF0000"/>
                </a:solidFill>
                <a:latin typeface="宋体" pitchFamily="2" charset="-122"/>
              </a:rPr>
              <a:t>长度）</a:t>
            </a:r>
            <a:r>
              <a:rPr lang="zh-CN" altLang="en-US" b="1" dirty="0" smtClean="0">
                <a:latin typeface="宋体" pitchFamily="2" charset="-122"/>
              </a:rPr>
              <a:t>、</a:t>
            </a:r>
            <a:r>
              <a:rPr lang="en-US" altLang="zh-CN" b="1" dirty="0" smtClean="0">
                <a:latin typeface="宋体" pitchFamily="2" charset="-122"/>
              </a:rPr>
              <a:t>CPU</a:t>
            </a:r>
            <a:r>
              <a:rPr lang="zh-CN" altLang="en-US" b="1" dirty="0" smtClean="0">
                <a:latin typeface="宋体" pitchFamily="2" charset="-122"/>
              </a:rPr>
              <a:t>主频、存储容量</a:t>
            </a:r>
            <a:r>
              <a:rPr lang="en-US" altLang="zh-CN" sz="2000" b="1" dirty="0" smtClean="0">
                <a:latin typeface="宋体" pitchFamily="2" charset="-122"/>
              </a:rPr>
              <a:t>(CPU</a:t>
            </a:r>
            <a:r>
              <a:rPr lang="zh-CN" altLang="en-US" sz="2000" b="1" dirty="0" smtClean="0">
                <a:latin typeface="宋体" pitchFamily="2" charset="-122"/>
              </a:rPr>
              <a:t>可寻址空间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sz="1800" b="1" dirty="0" smtClean="0">
              <a:latin typeface="宋体" pitchFamily="2" charset="-122"/>
            </a:endParaRPr>
          </a:p>
        </p:txBody>
      </p:sp>
      <p:sp>
        <p:nvSpPr>
          <p:cNvPr id="122" name="Text Box 78"/>
          <p:cNvSpPr txBox="1">
            <a:spLocks noChangeArrowheads="1"/>
          </p:cNvSpPr>
          <p:nvPr/>
        </p:nvSpPr>
        <p:spPr bwMode="auto">
          <a:xfrm>
            <a:off x="179388" y="2341329"/>
            <a:ext cx="878522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响应时间</a:t>
            </a:r>
            <a:r>
              <a:rPr lang="en-US" altLang="zh-CN" b="1" dirty="0" smtClean="0">
                <a:latin typeface="宋体" pitchFamily="2" charset="-122"/>
              </a:rPr>
              <a:t>—</a:t>
            </a:r>
            <a:r>
              <a:rPr lang="en-US" altLang="zh-CN" b="1" i="1" dirty="0" smtClean="0">
                <a:latin typeface="宋体" pitchFamily="2" charset="-122"/>
              </a:rPr>
              <a:t>T</a:t>
            </a:r>
            <a:r>
              <a:rPr lang="zh-CN" altLang="en-US" b="1" baseline="-14000" dirty="0">
                <a:latin typeface="宋体" pitchFamily="2" charset="-122"/>
              </a:rPr>
              <a:t>响应</a:t>
            </a:r>
            <a:r>
              <a:rPr lang="zh-CN" altLang="en-US" b="1" dirty="0">
                <a:latin typeface="宋体" pitchFamily="2" charset="-122"/>
              </a:rPr>
              <a:t>＝</a:t>
            </a:r>
            <a:r>
              <a:rPr lang="en-US" altLang="zh-CN" b="1" i="1" dirty="0">
                <a:latin typeface="宋体" pitchFamily="2" charset="-122"/>
              </a:rPr>
              <a:t>T</a:t>
            </a:r>
            <a:r>
              <a:rPr lang="en-US" altLang="zh-CN" b="1" baseline="-14000" dirty="0">
                <a:latin typeface="宋体" pitchFamily="2" charset="-122"/>
              </a:rPr>
              <a:t>CPU</a:t>
            </a:r>
            <a:r>
              <a:rPr lang="zh-CN" altLang="en-US" b="1" dirty="0">
                <a:latin typeface="宋体" pitchFamily="2" charset="-122"/>
              </a:rPr>
              <a:t>＋</a:t>
            </a:r>
            <a:r>
              <a:rPr lang="en-US" altLang="zh-CN" b="1" i="1" dirty="0" smtClean="0">
                <a:latin typeface="宋体" pitchFamily="2" charset="-122"/>
              </a:rPr>
              <a:t>T</a:t>
            </a:r>
            <a:r>
              <a:rPr lang="zh-CN" altLang="en-US" b="1" baseline="-14000" dirty="0" smtClean="0">
                <a:latin typeface="宋体" pitchFamily="2" charset="-122"/>
              </a:rPr>
              <a:t>等待</a:t>
            </a:r>
            <a:r>
              <a:rPr lang="zh-CN" altLang="en-US" b="1" dirty="0">
                <a:latin typeface="宋体" pitchFamily="2" charset="-122"/>
              </a:rPr>
              <a:t>，</a:t>
            </a:r>
            <a:r>
              <a:rPr lang="en-US" altLang="zh-CN" b="1" i="1" dirty="0">
                <a:latin typeface="宋体" pitchFamily="2" charset="-122"/>
              </a:rPr>
              <a:t>T</a:t>
            </a:r>
            <a:r>
              <a:rPr lang="en-US" altLang="zh-CN" b="1" baseline="-14000" dirty="0">
                <a:latin typeface="宋体" pitchFamily="2" charset="-122"/>
              </a:rPr>
              <a:t>CPU</a:t>
            </a:r>
            <a:r>
              <a:rPr lang="zh-CN" altLang="en-US" b="1" dirty="0">
                <a:latin typeface="宋体" pitchFamily="2" charset="-122"/>
              </a:rPr>
              <a:t>＝</a:t>
            </a:r>
            <a:r>
              <a:rPr lang="en-US" altLang="zh-CN" b="1" i="1" dirty="0">
                <a:latin typeface="宋体" pitchFamily="2" charset="-122"/>
              </a:rPr>
              <a:t>I</a:t>
            </a:r>
            <a:r>
              <a:rPr lang="en-US" altLang="zh-CN" b="1" i="1" baseline="-14000" dirty="0">
                <a:latin typeface="宋体" pitchFamily="2" charset="-122"/>
              </a:rPr>
              <a:t>N</a:t>
            </a:r>
            <a:r>
              <a:rPr lang="en-US" altLang="zh-CN" b="1" dirty="0">
                <a:latin typeface="宋体" pitchFamily="2" charset="-122"/>
              </a:rPr>
              <a:t>×CPI×</a:t>
            </a:r>
            <a:r>
              <a:rPr lang="en-US" altLang="zh-CN" b="1" i="1" dirty="0">
                <a:latin typeface="宋体" pitchFamily="2" charset="-122"/>
              </a:rPr>
              <a:t>T</a:t>
            </a:r>
            <a:r>
              <a:rPr lang="en-US" altLang="zh-CN" b="1" baseline="-14000" dirty="0">
                <a:latin typeface="宋体" pitchFamily="2" charset="-122"/>
              </a:rPr>
              <a:t>C</a:t>
            </a:r>
            <a:endParaRPr lang="en-US" altLang="zh-CN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吞 </a:t>
            </a:r>
            <a:r>
              <a:rPr lang="zh-CN" altLang="en-US" b="1" dirty="0">
                <a:latin typeface="宋体" pitchFamily="2" charset="-122"/>
              </a:rPr>
              <a:t>吐 </a:t>
            </a:r>
            <a:r>
              <a:rPr lang="zh-CN" altLang="en-US" b="1" dirty="0" smtClean="0">
                <a:latin typeface="宋体" pitchFamily="2" charset="-122"/>
              </a:rPr>
              <a:t>率</a:t>
            </a:r>
            <a:r>
              <a:rPr lang="en-US" altLang="zh-CN" b="1" dirty="0" smtClean="0">
                <a:latin typeface="宋体" pitchFamily="2" charset="-122"/>
              </a:rPr>
              <a:t>—</a:t>
            </a:r>
            <a:r>
              <a:rPr lang="en-US" altLang="zh-CN" b="1" i="1" dirty="0" smtClean="0">
                <a:latin typeface="宋体" pitchFamily="2" charset="-122"/>
              </a:rPr>
              <a:t>T</a:t>
            </a:r>
            <a:r>
              <a:rPr lang="en-US" altLang="zh-CN" b="1" baseline="-14000" dirty="0" smtClean="0">
                <a:latin typeface="宋体" pitchFamily="2" charset="-122"/>
              </a:rPr>
              <a:t>P</a:t>
            </a:r>
            <a:r>
              <a:rPr lang="zh-CN" altLang="en-US" b="1" dirty="0">
                <a:latin typeface="宋体" pitchFamily="2" charset="-122"/>
              </a:rPr>
              <a:t>＝∑</a:t>
            </a:r>
            <a:r>
              <a:rPr lang="en-US" altLang="zh-CN" b="1" i="1" dirty="0" smtClean="0">
                <a:latin typeface="+mn-ea"/>
                <a:ea typeface="+mn-ea"/>
              </a:rPr>
              <a:t>I</a:t>
            </a:r>
            <a:r>
              <a:rPr lang="en-US" altLang="zh-CN" b="1" i="1" baseline="-14000" dirty="0" smtClean="0">
                <a:latin typeface="+mn-ea"/>
                <a:ea typeface="+mn-ea"/>
              </a:rPr>
              <a:t>N</a:t>
            </a:r>
            <a:r>
              <a:rPr lang="en-US" altLang="zh-CN" b="1" baseline="-14000" dirty="0" smtClean="0">
                <a:latin typeface="+mn-ea"/>
                <a:ea typeface="+mn-ea"/>
              </a:rPr>
              <a:t>(</a:t>
            </a:r>
            <a:r>
              <a:rPr lang="zh-CN" altLang="en-US" b="1" baseline="-14000" dirty="0" smtClean="0">
                <a:latin typeface="+mn-ea"/>
                <a:ea typeface="+mn-ea"/>
              </a:rPr>
              <a:t>任务</a:t>
            </a:r>
            <a:r>
              <a:rPr lang="en-US" altLang="zh-CN" b="1" i="1" baseline="-14000" dirty="0" err="1" smtClean="0">
                <a:latin typeface="+mn-lt"/>
                <a:ea typeface="+mn-ea"/>
              </a:rPr>
              <a:t>i</a:t>
            </a:r>
            <a:r>
              <a:rPr lang="en-US" altLang="zh-CN" b="1" baseline="-14000" dirty="0" smtClean="0">
                <a:latin typeface="+mn-ea"/>
                <a:ea typeface="+mn-ea"/>
              </a:rPr>
              <a:t>)</a:t>
            </a:r>
            <a:r>
              <a:rPr lang="en-US" altLang="zh-CN" b="1" dirty="0" smtClean="0">
                <a:latin typeface="+mn-ea"/>
                <a:ea typeface="+mn-ea"/>
              </a:rPr>
              <a:t>÷</a:t>
            </a:r>
            <a:r>
              <a:rPr lang="en-US" altLang="zh-CN" b="1" i="1" dirty="0" smtClean="0">
                <a:latin typeface="+mn-ea"/>
                <a:ea typeface="+mn-ea"/>
              </a:rPr>
              <a:t>T</a:t>
            </a:r>
            <a:r>
              <a:rPr lang="en-US" altLang="zh-CN" b="1" baseline="-14000" dirty="0" smtClean="0">
                <a:latin typeface="+mn-ea"/>
                <a:ea typeface="+mn-ea"/>
              </a:rPr>
              <a:t>CPU(</a:t>
            </a:r>
            <a:r>
              <a:rPr lang="zh-CN" altLang="en-US" b="1" baseline="-14000" dirty="0" smtClean="0">
                <a:latin typeface="+mn-ea"/>
                <a:ea typeface="+mn-ea"/>
              </a:rPr>
              <a:t>所有</a:t>
            </a:r>
            <a:r>
              <a:rPr lang="zh-CN" altLang="en-US" b="1" baseline="-14000" dirty="0" smtClean="0">
                <a:latin typeface="宋体" pitchFamily="2" charset="-122"/>
              </a:rPr>
              <a:t>任务</a:t>
            </a:r>
            <a:r>
              <a:rPr lang="en-US" altLang="zh-CN" b="1" baseline="-14000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endParaRPr lang="en-US" altLang="zh-CN" b="1" baseline="-14000" dirty="0">
              <a:latin typeface="宋体" pitchFamily="2" charset="-122"/>
            </a:endParaRPr>
          </a:p>
        </p:txBody>
      </p:sp>
      <p:sp>
        <p:nvSpPr>
          <p:cNvPr id="9" name="Text Box 43"/>
          <p:cNvSpPr txBox="1">
            <a:spLocks noChangeArrowheads="1"/>
          </p:cNvSpPr>
          <p:nvPr/>
        </p:nvSpPr>
        <p:spPr bwMode="auto">
          <a:xfrm>
            <a:off x="179512" y="3794264"/>
            <a:ext cx="878522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*本章总体要求：</a:t>
            </a:r>
            <a:endParaRPr lang="en-US" altLang="zh-CN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①理解</a:t>
            </a:r>
            <a:r>
              <a:rPr lang="zh-CN" altLang="en-US" b="1" u="sng" dirty="0" smtClean="0">
                <a:latin typeface="宋体" pitchFamily="2" charset="-122"/>
              </a:rPr>
              <a:t>硬件组成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zh-CN" altLang="en-US" b="1" dirty="0" smtClean="0">
                <a:latin typeface="宋体" pitchFamily="2" charset="-122"/>
              </a:rPr>
              <a:t>结构、部件、互连</a:t>
            </a:r>
            <a:r>
              <a:rPr lang="en-US" altLang="zh-CN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 ②理解</a:t>
            </a:r>
            <a:r>
              <a:rPr lang="zh-CN" altLang="en-US" b="1" u="sng" dirty="0" smtClean="0">
                <a:latin typeface="宋体" pitchFamily="2" charset="-122"/>
              </a:rPr>
              <a:t>工作过程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zh-CN" altLang="en-US" b="1" dirty="0" smtClean="0">
                <a:latin typeface="宋体" pitchFamily="2" charset="-122"/>
              </a:rPr>
              <a:t>执行准备、执行机制</a:t>
            </a:r>
            <a:r>
              <a:rPr lang="en-US" altLang="zh-CN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>
                <a:latin typeface="宋体" pitchFamily="2" charset="-122"/>
              </a:rPr>
              <a:t>③学会</a:t>
            </a:r>
            <a:r>
              <a:rPr lang="zh-CN" altLang="en-US" b="1" u="sng" dirty="0">
                <a:latin typeface="宋体" pitchFamily="2" charset="-122"/>
              </a:rPr>
              <a:t>计算</a:t>
            </a:r>
            <a:r>
              <a:rPr lang="zh-CN" altLang="en-US" b="1" u="sng" dirty="0" smtClean="0">
                <a:latin typeface="宋体" pitchFamily="2" charset="-122"/>
              </a:rPr>
              <a:t>性能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zh-CN" altLang="en-US" b="1" dirty="0" smtClean="0">
                <a:latin typeface="宋体" pitchFamily="2" charset="-122"/>
              </a:rPr>
              <a:t>关联软硬件</a:t>
            </a:r>
            <a:r>
              <a:rPr lang="en-US" altLang="zh-CN" b="1" dirty="0" smtClean="0">
                <a:latin typeface="宋体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51559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  <p:bldP spid="122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417AC38-6360-4109-9FCF-488A37030BC5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264196" name="Text Box 4"/>
          <p:cNvSpPr txBox="1">
            <a:spLocks noChangeArrowheads="1"/>
          </p:cNvSpPr>
          <p:nvPr/>
        </p:nvSpPr>
        <p:spPr bwMode="auto">
          <a:xfrm>
            <a:off x="179388" y="332259"/>
            <a:ext cx="878522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990099"/>
                </a:solidFill>
                <a:latin typeface="宋体" pitchFamily="2" charset="-122"/>
              </a:rPr>
              <a:t>  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例</a:t>
            </a: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1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：</a:t>
            </a:r>
            <a:r>
              <a:rPr lang="zh-CN" altLang="en-US" b="1" dirty="0" smtClean="0">
                <a:latin typeface="宋体" pitchFamily="2" charset="-122"/>
              </a:rPr>
              <a:t>某机</a:t>
            </a:r>
            <a:r>
              <a:rPr lang="zh-CN" altLang="en-US" b="1" dirty="0">
                <a:latin typeface="宋体" pitchFamily="2" charset="-122"/>
              </a:rPr>
              <a:t>主频为</a:t>
            </a:r>
            <a:r>
              <a:rPr lang="en-US" altLang="zh-CN" b="1" dirty="0">
                <a:latin typeface="宋体" pitchFamily="2" charset="-122"/>
              </a:rPr>
              <a:t>2GHz</a:t>
            </a:r>
            <a:r>
              <a:rPr lang="zh-CN" altLang="en-US" b="1" dirty="0">
                <a:latin typeface="宋体" pitchFamily="2" charset="-122"/>
              </a:rPr>
              <a:t>，</a:t>
            </a:r>
            <a:r>
              <a:rPr lang="zh-CN" altLang="en-US" b="1" dirty="0" smtClean="0">
                <a:latin typeface="宋体" pitchFamily="2" charset="-122"/>
              </a:rPr>
              <a:t>指令系统包含</a:t>
            </a:r>
            <a:r>
              <a:rPr lang="en-US" altLang="zh-CN" b="1" dirty="0" smtClean="0">
                <a:latin typeface="宋体" pitchFamily="2" charset="-122"/>
              </a:rPr>
              <a:t>2</a:t>
            </a:r>
            <a:r>
              <a:rPr lang="zh-CN" altLang="en-US" b="1" dirty="0">
                <a:latin typeface="宋体" pitchFamily="2" charset="-122"/>
              </a:rPr>
              <a:t>类指令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en-US" altLang="zh-CN" dirty="0"/>
              <a:t>Ⅰ</a:t>
            </a:r>
            <a:r>
              <a:rPr lang="zh-CN" altLang="en-US" b="1" dirty="0" smtClean="0">
                <a:latin typeface="宋体" pitchFamily="2" charset="-122"/>
              </a:rPr>
              <a:t>类及</a:t>
            </a:r>
            <a:r>
              <a:rPr lang="en-US" altLang="zh-CN" dirty="0" err="1" smtClean="0"/>
              <a:t>ⅠⅠ</a:t>
            </a:r>
            <a:r>
              <a:rPr lang="zh-CN" altLang="en-US" b="1" dirty="0" smtClean="0">
                <a:latin typeface="宋体" pitchFamily="2" charset="-122"/>
              </a:rPr>
              <a:t>类</a:t>
            </a:r>
            <a:r>
              <a:rPr lang="en-US" altLang="zh-CN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，指令长度均为</a:t>
            </a:r>
            <a:r>
              <a:rPr lang="en-US" altLang="zh-CN" b="1" dirty="0" smtClean="0">
                <a:latin typeface="宋体" pitchFamily="2" charset="-122"/>
              </a:rPr>
              <a:t>2B(</a:t>
            </a:r>
            <a:r>
              <a:rPr lang="en-US" altLang="zh-CN" dirty="0" smtClean="0">
                <a:latin typeface="+mn-lt"/>
              </a:rPr>
              <a:t>Byte</a:t>
            </a:r>
            <a:r>
              <a:rPr lang="en-US" altLang="zh-CN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，一条指令执行时间分别</a:t>
            </a:r>
            <a:r>
              <a:rPr lang="zh-CN" altLang="en-US" b="1" dirty="0">
                <a:latin typeface="宋体" pitchFamily="2" charset="-122"/>
              </a:rPr>
              <a:t>为</a:t>
            </a:r>
            <a:r>
              <a:rPr lang="en-US" altLang="zh-CN" b="1" dirty="0">
                <a:latin typeface="宋体" pitchFamily="2" charset="-122"/>
              </a:rPr>
              <a:t>5</a:t>
            </a:r>
            <a:r>
              <a:rPr lang="zh-CN" altLang="en-US" b="1" dirty="0" smtClean="0">
                <a:latin typeface="宋体" pitchFamily="2" charset="-122"/>
              </a:rPr>
              <a:t>个和</a:t>
            </a:r>
            <a:r>
              <a:rPr lang="en-US" altLang="zh-CN" b="1" dirty="0" smtClean="0">
                <a:latin typeface="宋体" pitchFamily="2" charset="-122"/>
              </a:rPr>
              <a:t>8</a:t>
            </a:r>
            <a:r>
              <a:rPr lang="zh-CN" altLang="en-US" b="1" dirty="0" smtClean="0">
                <a:latin typeface="宋体" pitchFamily="2" charset="-122"/>
              </a:rPr>
              <a:t>个主时钟</a:t>
            </a:r>
            <a:r>
              <a:rPr lang="zh-CN" altLang="en-US" b="1" dirty="0">
                <a:latin typeface="宋体" pitchFamily="2" charset="-122"/>
              </a:rPr>
              <a:t>周期</a:t>
            </a:r>
            <a:r>
              <a:rPr lang="zh-CN" altLang="en-US" b="1" dirty="0" smtClean="0">
                <a:latin typeface="宋体" pitchFamily="2" charset="-122"/>
              </a:rPr>
              <a:t>。程序</a:t>
            </a:r>
            <a:r>
              <a:rPr lang="en-US" altLang="zh-CN" b="1" dirty="0">
                <a:latin typeface="宋体" pitchFamily="2" charset="-122"/>
              </a:rPr>
              <a:t>A</a:t>
            </a:r>
            <a:r>
              <a:rPr lang="zh-CN" altLang="en-US" b="1" dirty="0">
                <a:latin typeface="宋体" pitchFamily="2" charset="-122"/>
              </a:rPr>
              <a:t>执行时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r>
              <a:rPr lang="en-US" altLang="zh-CN" dirty="0" smtClean="0"/>
              <a:t>Ⅰ</a:t>
            </a:r>
            <a:r>
              <a:rPr lang="zh-CN" altLang="en-US" b="1" dirty="0" smtClean="0">
                <a:latin typeface="宋体" pitchFamily="2" charset="-122"/>
              </a:rPr>
              <a:t>类指令执行了</a:t>
            </a:r>
            <a:r>
              <a:rPr lang="en-US" altLang="zh-CN" b="1" dirty="0" smtClean="0">
                <a:latin typeface="宋体" pitchFamily="2" charset="-122"/>
              </a:rPr>
              <a:t>3</a:t>
            </a:r>
            <a:r>
              <a:rPr lang="zh-CN" altLang="en-US" b="1" dirty="0" smtClean="0">
                <a:latin typeface="宋体" pitchFamily="2" charset="-122"/>
              </a:rPr>
              <a:t>*</a:t>
            </a:r>
            <a:r>
              <a:rPr lang="en-US" altLang="zh-CN" b="1" dirty="0" smtClean="0">
                <a:latin typeface="宋体" pitchFamily="2" charset="-122"/>
              </a:rPr>
              <a:t>10</a:t>
            </a:r>
            <a:r>
              <a:rPr lang="en-US" altLang="zh-CN" b="1" baseline="30000" dirty="0" smtClean="0">
                <a:latin typeface="宋体" pitchFamily="2" charset="-122"/>
              </a:rPr>
              <a:t>5</a:t>
            </a:r>
            <a:r>
              <a:rPr lang="zh-CN" altLang="en-US" b="1" dirty="0" smtClean="0">
                <a:latin typeface="宋体" pitchFamily="2" charset="-122"/>
              </a:rPr>
              <a:t>条，</a:t>
            </a:r>
            <a:r>
              <a:rPr lang="en-US" altLang="zh-CN" dirty="0" smtClean="0"/>
              <a:t>Ⅱ</a:t>
            </a:r>
            <a:r>
              <a:rPr lang="zh-CN" altLang="en-US" b="1" dirty="0"/>
              <a:t>类</a:t>
            </a:r>
            <a:r>
              <a:rPr lang="zh-CN" altLang="en-US" b="1" dirty="0" smtClean="0">
                <a:latin typeface="宋体" pitchFamily="2" charset="-122"/>
              </a:rPr>
              <a:t>指令执行了</a:t>
            </a:r>
            <a:r>
              <a:rPr lang="en-US" altLang="zh-CN" b="1" dirty="0" smtClean="0">
                <a:latin typeface="宋体" pitchFamily="2" charset="-122"/>
              </a:rPr>
              <a:t>7</a:t>
            </a:r>
            <a:r>
              <a:rPr lang="zh-CN" altLang="en-US" b="1" dirty="0" smtClean="0">
                <a:latin typeface="宋体" pitchFamily="2" charset="-122"/>
              </a:rPr>
              <a:t>*</a:t>
            </a:r>
            <a:r>
              <a:rPr lang="en-US" altLang="zh-CN" b="1" dirty="0" smtClean="0">
                <a:latin typeface="宋体" pitchFamily="2" charset="-122"/>
              </a:rPr>
              <a:t>10</a:t>
            </a:r>
            <a:r>
              <a:rPr lang="en-US" altLang="zh-CN" b="1" baseline="30000" dirty="0" smtClean="0">
                <a:latin typeface="宋体" pitchFamily="2" charset="-122"/>
              </a:rPr>
              <a:t>5</a:t>
            </a:r>
            <a:r>
              <a:rPr lang="zh-CN" altLang="en-US" b="1" dirty="0" smtClean="0">
                <a:latin typeface="宋体" pitchFamily="2" charset="-122"/>
              </a:rPr>
              <a:t>条，求程序</a:t>
            </a:r>
            <a:r>
              <a:rPr lang="en-US" altLang="zh-CN" b="1" dirty="0" smtClean="0">
                <a:latin typeface="宋体" pitchFamily="2" charset="-122"/>
              </a:rPr>
              <a:t>A</a:t>
            </a:r>
            <a:r>
              <a:rPr lang="zh-CN" altLang="en-US" b="1" dirty="0" smtClean="0">
                <a:latin typeface="宋体" pitchFamily="2" charset="-122"/>
              </a:rPr>
              <a:t>执行的</a:t>
            </a:r>
            <a:r>
              <a:rPr lang="en-US" altLang="zh-CN" b="1" dirty="0">
                <a:latin typeface="宋体" pitchFamily="2" charset="-122"/>
              </a:rPr>
              <a:t>CPU</a:t>
            </a:r>
            <a:r>
              <a:rPr lang="zh-CN" altLang="en-US" b="1" dirty="0">
                <a:latin typeface="宋体" pitchFamily="2" charset="-122"/>
              </a:rPr>
              <a:t>时间。</a:t>
            </a:r>
          </a:p>
        </p:txBody>
      </p:sp>
      <p:sp>
        <p:nvSpPr>
          <p:cNvPr id="264201" name="Text Box 9"/>
          <p:cNvSpPr txBox="1">
            <a:spLocks noChangeArrowheads="1"/>
          </p:cNvSpPr>
          <p:nvPr/>
        </p:nvSpPr>
        <p:spPr bwMode="auto">
          <a:xfrm>
            <a:off x="179389" y="2204864"/>
            <a:ext cx="806502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en-US" altLang="zh-CN" b="1" dirty="0" smtClean="0">
                <a:latin typeface="宋体" pitchFamily="2" charset="-122"/>
              </a:rPr>
              <a:t>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解：</a:t>
            </a:r>
            <a:r>
              <a:rPr lang="en-US" altLang="zh-CN" b="1" i="1" dirty="0" smtClean="0">
                <a:latin typeface="宋体" pitchFamily="2" charset="-122"/>
              </a:rPr>
              <a:t>T</a:t>
            </a:r>
            <a:r>
              <a:rPr lang="en-US" altLang="zh-CN" b="1" baseline="-20000" dirty="0" smtClean="0">
                <a:latin typeface="宋体" pitchFamily="2" charset="-122"/>
              </a:rPr>
              <a:t>CPU</a:t>
            </a:r>
            <a:r>
              <a:rPr lang="zh-CN" altLang="en-US" b="1" dirty="0" smtClean="0">
                <a:latin typeface="宋体" pitchFamily="2" charset="-122"/>
              </a:rPr>
              <a:t>＝</a:t>
            </a:r>
            <a:r>
              <a:rPr lang="en-US" altLang="zh-CN" b="1" dirty="0" smtClean="0">
                <a:latin typeface="宋体" pitchFamily="2" charset="-122"/>
              </a:rPr>
              <a:t>(3</a:t>
            </a:r>
            <a:r>
              <a:rPr lang="zh-CN" altLang="en-US" b="1" dirty="0" smtClean="0">
                <a:latin typeface="宋体" pitchFamily="2" charset="-122"/>
              </a:rPr>
              <a:t>*</a:t>
            </a:r>
            <a:r>
              <a:rPr lang="en-US" altLang="zh-CN" b="1" dirty="0" smtClean="0">
                <a:latin typeface="宋体" pitchFamily="2" charset="-122"/>
              </a:rPr>
              <a:t>10</a:t>
            </a:r>
            <a:r>
              <a:rPr lang="en-US" altLang="zh-CN" b="1" baseline="30000" dirty="0" smtClean="0">
                <a:latin typeface="宋体" pitchFamily="2" charset="-122"/>
              </a:rPr>
              <a:t>5</a:t>
            </a:r>
            <a:r>
              <a:rPr lang="en-US" altLang="zh-CN" b="1" dirty="0" smtClean="0">
                <a:latin typeface="宋体" pitchFamily="2" charset="-122"/>
              </a:rPr>
              <a:t>×5</a:t>
            </a:r>
            <a:r>
              <a:rPr lang="zh-CN" altLang="en-US" b="1" dirty="0" smtClean="0">
                <a:latin typeface="宋体" pitchFamily="2" charset="-122"/>
              </a:rPr>
              <a:t>＋</a:t>
            </a:r>
            <a:r>
              <a:rPr lang="en-US" altLang="zh-CN" b="1" dirty="0" smtClean="0">
                <a:latin typeface="宋体" pitchFamily="2" charset="-122"/>
              </a:rPr>
              <a:t>7</a:t>
            </a:r>
            <a:r>
              <a:rPr lang="zh-CN" altLang="en-US" b="1" dirty="0" smtClean="0">
                <a:latin typeface="宋体" pitchFamily="2" charset="-122"/>
              </a:rPr>
              <a:t>*</a:t>
            </a:r>
            <a:r>
              <a:rPr lang="en-US" altLang="zh-CN" b="1" dirty="0" smtClean="0">
                <a:latin typeface="宋体" pitchFamily="2" charset="-122"/>
              </a:rPr>
              <a:t>10</a:t>
            </a:r>
            <a:r>
              <a:rPr lang="en-US" altLang="zh-CN" b="1" baseline="30000" dirty="0" smtClean="0">
                <a:latin typeface="宋体" pitchFamily="2" charset="-122"/>
              </a:rPr>
              <a:t>5</a:t>
            </a:r>
            <a:r>
              <a:rPr lang="en-US" altLang="zh-CN" b="1" dirty="0" smtClean="0">
                <a:latin typeface="宋体" pitchFamily="2" charset="-122"/>
              </a:rPr>
              <a:t>×8)/(2×10</a:t>
            </a:r>
            <a:r>
              <a:rPr lang="en-US" altLang="zh-CN" b="1" baseline="30000" dirty="0" smtClean="0">
                <a:latin typeface="宋体" pitchFamily="2" charset="-122"/>
              </a:rPr>
              <a:t>9</a:t>
            </a:r>
            <a:r>
              <a:rPr lang="en-US" altLang="zh-CN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＝</a:t>
            </a:r>
            <a:r>
              <a:rPr lang="en-US" altLang="zh-CN" b="1" dirty="0" smtClean="0">
                <a:latin typeface="宋体" pitchFamily="2" charset="-122"/>
              </a:rPr>
              <a:t>3.55ms</a:t>
            </a:r>
            <a:endParaRPr lang="en-US" altLang="zh-CN" b="1" baseline="-20000" dirty="0">
              <a:latin typeface="宋体" pitchFamily="2" charset="-122"/>
            </a:endParaRP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79388" y="2747657"/>
            <a:ext cx="878522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990099"/>
                </a:solidFill>
                <a:latin typeface="宋体" pitchFamily="2" charset="-122"/>
              </a:rPr>
              <a:t>  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例</a:t>
            </a: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2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：</a:t>
            </a:r>
            <a:r>
              <a:rPr lang="zh-CN" altLang="en-US" b="1" dirty="0" smtClean="0">
                <a:latin typeface="宋体" pitchFamily="2" charset="-122"/>
              </a:rPr>
              <a:t>续例</a:t>
            </a:r>
            <a:r>
              <a:rPr lang="en-US" altLang="zh-CN" b="1" dirty="0" smtClean="0">
                <a:latin typeface="宋体" pitchFamily="2" charset="-122"/>
              </a:rPr>
              <a:t>1</a:t>
            </a:r>
            <a:r>
              <a:rPr lang="zh-CN" altLang="en-US" b="1" dirty="0" smtClean="0">
                <a:latin typeface="宋体" pitchFamily="2" charset="-122"/>
              </a:rPr>
              <a:t>，程序</a:t>
            </a:r>
            <a:r>
              <a:rPr lang="en-US" altLang="zh-CN" b="1" dirty="0" smtClean="0">
                <a:latin typeface="宋体" pitchFamily="2" charset="-122"/>
              </a:rPr>
              <a:t>B</a:t>
            </a:r>
            <a:r>
              <a:rPr lang="zh-CN" altLang="en-US" b="1" dirty="0" smtClean="0">
                <a:latin typeface="宋体" pitchFamily="2" charset="-122"/>
              </a:rPr>
              <a:t>大小</a:t>
            </a:r>
            <a:r>
              <a:rPr lang="zh-CN" altLang="en-US" b="1" dirty="0">
                <a:latin typeface="宋体" pitchFamily="2" charset="-122"/>
              </a:rPr>
              <a:t>为</a:t>
            </a:r>
            <a:r>
              <a:rPr lang="en-US" altLang="zh-CN" b="1" dirty="0">
                <a:latin typeface="宋体" pitchFamily="2" charset="-122"/>
              </a:rPr>
              <a:t>2MB</a:t>
            </a:r>
            <a:r>
              <a:rPr lang="zh-CN" altLang="en-US" b="1" dirty="0">
                <a:latin typeface="宋体" pitchFamily="2" charset="-122"/>
              </a:rPr>
              <a:t>，其中</a:t>
            </a:r>
            <a:r>
              <a:rPr lang="en-US" altLang="zh-CN" b="1" dirty="0">
                <a:latin typeface="宋体" pitchFamily="2" charset="-122"/>
              </a:rPr>
              <a:t>30</a:t>
            </a:r>
            <a:r>
              <a:rPr lang="en-US" altLang="zh-CN" b="1" dirty="0" smtClean="0">
                <a:latin typeface="宋体" pitchFamily="2" charset="-122"/>
              </a:rPr>
              <a:t>%</a:t>
            </a:r>
            <a:r>
              <a:rPr lang="zh-CN" altLang="en-US" b="1" dirty="0" smtClean="0">
                <a:latin typeface="宋体" pitchFamily="2" charset="-122"/>
              </a:rPr>
              <a:t>为</a:t>
            </a:r>
            <a:r>
              <a:rPr lang="en-US" altLang="zh-CN" dirty="0"/>
              <a:t>Ⅰ</a:t>
            </a:r>
            <a:r>
              <a:rPr lang="zh-CN" altLang="en-US" b="1" dirty="0" smtClean="0">
                <a:latin typeface="宋体" pitchFamily="2" charset="-122"/>
              </a:rPr>
              <a:t>类</a:t>
            </a:r>
            <a:r>
              <a:rPr lang="zh-CN" altLang="en-US" b="1" dirty="0">
                <a:latin typeface="宋体" pitchFamily="2" charset="-122"/>
              </a:rPr>
              <a:t>指令；</a:t>
            </a:r>
            <a:r>
              <a:rPr lang="zh-CN" altLang="en-US" b="1" dirty="0" smtClean="0">
                <a:latin typeface="宋体" pitchFamily="2" charset="-122"/>
              </a:rPr>
              <a:t>程序</a:t>
            </a:r>
            <a:r>
              <a:rPr lang="en-US" altLang="zh-CN" b="1" dirty="0" smtClean="0">
                <a:latin typeface="宋体" pitchFamily="2" charset="-122"/>
              </a:rPr>
              <a:t>B</a:t>
            </a:r>
            <a:r>
              <a:rPr lang="zh-CN" altLang="en-US" b="1" dirty="0" smtClean="0">
                <a:latin typeface="宋体" pitchFamily="2" charset="-122"/>
              </a:rPr>
              <a:t>执行</a:t>
            </a:r>
            <a:r>
              <a:rPr lang="zh-CN" altLang="en-US" b="1" dirty="0">
                <a:latin typeface="宋体" pitchFamily="2" charset="-122"/>
              </a:rPr>
              <a:t>时</a:t>
            </a:r>
            <a:r>
              <a:rPr lang="zh-CN" altLang="en-US" b="1" dirty="0" smtClean="0">
                <a:latin typeface="宋体" pitchFamily="2" charset="-122"/>
              </a:rPr>
              <a:t>，有</a:t>
            </a:r>
            <a:r>
              <a:rPr lang="en-US" altLang="zh-CN" b="1" dirty="0" smtClean="0">
                <a:latin typeface="宋体" pitchFamily="2" charset="-122"/>
              </a:rPr>
              <a:t>10%</a:t>
            </a:r>
            <a:r>
              <a:rPr lang="zh-CN" altLang="en-US" b="1" dirty="0" smtClean="0">
                <a:latin typeface="宋体" pitchFamily="2" charset="-122"/>
              </a:rPr>
              <a:t>的</a:t>
            </a:r>
            <a:r>
              <a:rPr lang="en-US" altLang="zh-CN" dirty="0"/>
              <a:t>Ⅰ</a:t>
            </a:r>
            <a:r>
              <a:rPr lang="zh-CN" altLang="en-US" b="1" dirty="0" smtClean="0">
                <a:latin typeface="宋体" pitchFamily="2" charset="-122"/>
              </a:rPr>
              <a:t>类指令和</a:t>
            </a:r>
            <a:r>
              <a:rPr lang="en-US" altLang="zh-CN" b="1" dirty="0" smtClean="0">
                <a:latin typeface="宋体" pitchFamily="2" charset="-122"/>
              </a:rPr>
              <a:t>20%</a:t>
            </a:r>
            <a:r>
              <a:rPr lang="zh-CN" altLang="en-US" b="1" dirty="0" smtClean="0">
                <a:latin typeface="宋体" pitchFamily="2" charset="-122"/>
              </a:rPr>
              <a:t>的</a:t>
            </a:r>
            <a:r>
              <a:rPr lang="en-US" altLang="zh-CN" dirty="0" err="1" smtClean="0"/>
              <a:t>ⅠⅠ</a:t>
            </a:r>
            <a:r>
              <a:rPr lang="zh-CN" altLang="en-US" b="1" dirty="0" smtClean="0"/>
              <a:t>类</a:t>
            </a:r>
            <a:r>
              <a:rPr lang="zh-CN" altLang="en-US" b="1" dirty="0">
                <a:latin typeface="宋体" pitchFamily="2" charset="-122"/>
              </a:rPr>
              <a:t>指令</a:t>
            </a:r>
            <a:r>
              <a:rPr lang="zh-CN" altLang="en-US" b="1" dirty="0" smtClean="0">
                <a:latin typeface="宋体" pitchFamily="2" charset="-122"/>
              </a:rPr>
              <a:t>各执行了</a:t>
            </a:r>
            <a:r>
              <a:rPr lang="en-US" altLang="zh-CN" b="1" dirty="0" smtClean="0">
                <a:latin typeface="宋体" pitchFamily="2" charset="-122"/>
              </a:rPr>
              <a:t>30</a:t>
            </a:r>
            <a:r>
              <a:rPr lang="zh-CN" altLang="en-US" b="1" dirty="0">
                <a:latin typeface="宋体" pitchFamily="2" charset="-122"/>
              </a:rPr>
              <a:t>次，其余指令</a:t>
            </a:r>
            <a:r>
              <a:rPr lang="zh-CN" altLang="en-US" b="1" dirty="0" smtClean="0">
                <a:latin typeface="宋体" pitchFamily="2" charset="-122"/>
              </a:rPr>
              <a:t>均只执行了</a:t>
            </a:r>
            <a:r>
              <a:rPr lang="en-US" altLang="zh-CN" b="1" dirty="0" smtClean="0">
                <a:latin typeface="宋体" pitchFamily="2" charset="-122"/>
              </a:rPr>
              <a:t>1</a:t>
            </a:r>
            <a:r>
              <a:rPr lang="zh-CN" altLang="en-US" b="1" dirty="0">
                <a:latin typeface="宋体" pitchFamily="2" charset="-122"/>
              </a:rPr>
              <a:t>次。</a:t>
            </a:r>
            <a:r>
              <a:rPr lang="zh-CN" altLang="en-US" b="1" dirty="0" smtClean="0">
                <a:latin typeface="宋体" pitchFamily="2" charset="-122"/>
              </a:rPr>
              <a:t>求程序</a:t>
            </a:r>
            <a:r>
              <a:rPr lang="en-US" altLang="zh-CN" b="1" dirty="0" smtClean="0">
                <a:latin typeface="宋体" pitchFamily="2" charset="-122"/>
              </a:rPr>
              <a:t>B</a:t>
            </a:r>
            <a:r>
              <a:rPr lang="zh-CN" altLang="en-US" b="1" dirty="0" smtClean="0">
                <a:latin typeface="宋体" pitchFamily="2" charset="-122"/>
              </a:rPr>
              <a:t>执行所需的时钟周期数。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79388" y="4143380"/>
            <a:ext cx="878522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990099"/>
                </a:solidFill>
                <a:latin typeface="宋体" pitchFamily="2" charset="-122"/>
              </a:rPr>
              <a:t>    </a:t>
            </a:r>
            <a:r>
              <a:rPr lang="zh-CN" altLang="en-US" b="1" dirty="0">
                <a:solidFill>
                  <a:srgbClr val="990099"/>
                </a:solidFill>
                <a:latin typeface="宋体" pitchFamily="2" charset="-122"/>
              </a:rPr>
              <a:t>解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：</a:t>
            </a:r>
            <a:r>
              <a:rPr lang="zh-CN" altLang="en-US" b="1" dirty="0" smtClean="0">
                <a:latin typeface="宋体" pitchFamily="2" charset="-122"/>
              </a:rPr>
              <a:t>指令数</a:t>
            </a:r>
            <a:r>
              <a:rPr lang="en-US" altLang="zh-CN" b="1" dirty="0" smtClean="0">
                <a:latin typeface="宋体" pitchFamily="2" charset="-122"/>
              </a:rPr>
              <a:t>—</a:t>
            </a:r>
            <a:r>
              <a:rPr lang="en-US" altLang="zh-CN" dirty="0"/>
              <a:t>Ⅰ</a:t>
            </a:r>
            <a:r>
              <a:rPr lang="zh-CN" altLang="en-US" b="1" dirty="0" smtClean="0">
                <a:latin typeface="宋体" pitchFamily="2" charset="-122"/>
              </a:rPr>
              <a:t>类有</a:t>
            </a:r>
            <a:r>
              <a:rPr lang="en-US" altLang="zh-CN" b="1" dirty="0" smtClean="0">
                <a:latin typeface="宋体" pitchFamily="2" charset="-122"/>
              </a:rPr>
              <a:t>0.3*2</a:t>
            </a:r>
            <a:r>
              <a:rPr lang="en-US" altLang="zh-CN" b="1" baseline="30000" dirty="0" smtClean="0">
                <a:latin typeface="宋体" pitchFamily="2" charset="-122"/>
              </a:rPr>
              <a:t>20</a:t>
            </a:r>
            <a:r>
              <a:rPr lang="zh-CN" altLang="en-US" b="1" dirty="0">
                <a:latin typeface="宋体" pitchFamily="2" charset="-122"/>
              </a:rPr>
              <a:t>条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r>
              <a:rPr lang="en-US" altLang="zh-CN" b="1" dirty="0" smtClean="0">
                <a:latin typeface="宋体" pitchFamily="2" charset="-122"/>
              </a:rPr>
              <a:t>Ⅱ</a:t>
            </a:r>
            <a:r>
              <a:rPr lang="zh-CN" altLang="en-US" b="1" dirty="0" smtClean="0">
                <a:latin typeface="宋体" pitchFamily="2" charset="-122"/>
              </a:rPr>
              <a:t>类有</a:t>
            </a:r>
            <a:r>
              <a:rPr lang="en-US" altLang="zh-CN" b="1" dirty="0" smtClean="0">
                <a:latin typeface="宋体" pitchFamily="2" charset="-122"/>
              </a:rPr>
              <a:t>0.7*2</a:t>
            </a:r>
            <a:r>
              <a:rPr lang="en-US" altLang="zh-CN" b="1" baseline="30000" dirty="0" smtClean="0">
                <a:latin typeface="宋体" pitchFamily="2" charset="-122"/>
              </a:rPr>
              <a:t>20</a:t>
            </a:r>
            <a:r>
              <a:rPr lang="zh-CN" altLang="en-US" b="1" dirty="0">
                <a:latin typeface="宋体" pitchFamily="2" charset="-122"/>
              </a:rPr>
              <a:t>条；</a:t>
            </a: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179388" y="4645585"/>
            <a:ext cx="87851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 </a:t>
            </a:r>
            <a:r>
              <a:rPr lang="zh-CN" altLang="en-US" b="1" spc="-50" dirty="0" smtClean="0">
                <a:latin typeface="宋体" pitchFamily="2" charset="-122"/>
              </a:rPr>
              <a:t>执行指令数</a:t>
            </a:r>
            <a:r>
              <a:rPr lang="en-US" altLang="zh-CN" b="1" spc="-50" dirty="0" smtClean="0">
                <a:latin typeface="宋体" pitchFamily="2" charset="-122"/>
              </a:rPr>
              <a:t>—</a:t>
            </a:r>
            <a:r>
              <a:rPr lang="en-US" altLang="zh-CN" dirty="0"/>
              <a:t>Ⅰ</a:t>
            </a:r>
            <a:r>
              <a:rPr lang="zh-CN" altLang="en-US" b="1" spc="-50" dirty="0" smtClean="0">
                <a:latin typeface="宋体" pitchFamily="2" charset="-122"/>
              </a:rPr>
              <a:t>类为</a:t>
            </a:r>
            <a:r>
              <a:rPr lang="en-US" altLang="zh-CN" b="1" spc="-50" dirty="0" smtClean="0">
                <a:latin typeface="宋体" pitchFamily="2" charset="-122"/>
              </a:rPr>
              <a:t>0.3*2</a:t>
            </a:r>
            <a:r>
              <a:rPr lang="en-US" altLang="zh-CN" b="1" spc="-50" baseline="30000" dirty="0" smtClean="0">
                <a:latin typeface="宋体" pitchFamily="2" charset="-122"/>
              </a:rPr>
              <a:t>20</a:t>
            </a:r>
            <a:r>
              <a:rPr lang="en-US" altLang="zh-CN" b="1" spc="-50" dirty="0" smtClean="0">
                <a:latin typeface="宋体" pitchFamily="2" charset="-122"/>
              </a:rPr>
              <a:t>×(10%×30</a:t>
            </a:r>
            <a:r>
              <a:rPr lang="zh-CN" altLang="en-US" b="1" spc="-50" dirty="0" smtClean="0">
                <a:latin typeface="宋体" pitchFamily="2" charset="-122"/>
              </a:rPr>
              <a:t>＋</a:t>
            </a:r>
            <a:r>
              <a:rPr lang="en-US" altLang="zh-CN" b="1" spc="-50" dirty="0" smtClean="0">
                <a:latin typeface="宋体" pitchFamily="2" charset="-122"/>
              </a:rPr>
              <a:t>90%)</a:t>
            </a:r>
            <a:r>
              <a:rPr lang="zh-CN" altLang="en-US" b="1" spc="-50" dirty="0" smtClean="0">
                <a:latin typeface="宋体" pitchFamily="2" charset="-122"/>
              </a:rPr>
              <a:t>＝</a:t>
            </a:r>
            <a:r>
              <a:rPr lang="en-US" altLang="zh-CN" b="1" spc="-50" dirty="0" smtClean="0">
                <a:latin typeface="宋体" pitchFamily="2" charset="-122"/>
              </a:rPr>
              <a:t>1.17*2</a:t>
            </a:r>
            <a:r>
              <a:rPr lang="en-US" altLang="zh-CN" b="1" spc="-50" baseline="30000" dirty="0" smtClean="0">
                <a:latin typeface="宋体" pitchFamily="2" charset="-122"/>
              </a:rPr>
              <a:t>20</a:t>
            </a:r>
            <a:r>
              <a:rPr lang="zh-CN" altLang="en-US" b="1" spc="-50" dirty="0" smtClean="0">
                <a:latin typeface="宋体" pitchFamily="2" charset="-122"/>
              </a:rPr>
              <a:t>条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zh-CN" altLang="en-US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spc="-50" dirty="0" smtClean="0">
                <a:latin typeface="宋体" pitchFamily="2" charset="-122"/>
              </a:rPr>
              <a:t>                </a:t>
            </a:r>
            <a:r>
              <a:rPr lang="en-US" altLang="zh-CN" dirty="0" err="1" smtClean="0"/>
              <a:t>ⅠⅠ</a:t>
            </a:r>
            <a:r>
              <a:rPr lang="zh-CN" altLang="en-US" b="1" spc="-50" dirty="0" smtClean="0">
                <a:latin typeface="宋体" pitchFamily="2" charset="-122"/>
              </a:rPr>
              <a:t>类为</a:t>
            </a:r>
            <a:r>
              <a:rPr lang="en-US" altLang="zh-CN" b="1" spc="-50" dirty="0" smtClean="0">
                <a:latin typeface="宋体" pitchFamily="2" charset="-122"/>
              </a:rPr>
              <a:t>0.7*2</a:t>
            </a:r>
            <a:r>
              <a:rPr lang="en-US" altLang="zh-CN" b="1" spc="-50" baseline="30000" dirty="0" smtClean="0">
                <a:latin typeface="宋体" pitchFamily="2" charset="-122"/>
              </a:rPr>
              <a:t>20</a:t>
            </a:r>
            <a:r>
              <a:rPr lang="en-US" altLang="zh-CN" b="1" spc="-50" dirty="0" smtClean="0">
                <a:latin typeface="宋体" pitchFamily="2" charset="-122"/>
              </a:rPr>
              <a:t>×(20%×30</a:t>
            </a:r>
            <a:r>
              <a:rPr lang="zh-CN" altLang="en-US" b="1" spc="-50" dirty="0" smtClean="0">
                <a:latin typeface="宋体" pitchFamily="2" charset="-122"/>
              </a:rPr>
              <a:t>＋</a:t>
            </a:r>
            <a:r>
              <a:rPr lang="en-US" altLang="zh-CN" b="1" spc="-50" dirty="0" smtClean="0">
                <a:latin typeface="宋体" pitchFamily="2" charset="-122"/>
              </a:rPr>
              <a:t>80%)</a:t>
            </a:r>
            <a:r>
              <a:rPr lang="zh-CN" altLang="en-US" b="1" spc="-50" dirty="0" smtClean="0">
                <a:latin typeface="宋体" pitchFamily="2" charset="-122"/>
              </a:rPr>
              <a:t>＝</a:t>
            </a:r>
            <a:r>
              <a:rPr lang="en-US" altLang="zh-CN" b="1" spc="-50" dirty="0" smtClean="0">
                <a:latin typeface="宋体" pitchFamily="2" charset="-122"/>
              </a:rPr>
              <a:t>4.76*2</a:t>
            </a:r>
            <a:r>
              <a:rPr lang="en-US" altLang="zh-CN" b="1" spc="-50" baseline="30000" dirty="0" smtClean="0">
                <a:latin typeface="宋体" pitchFamily="2" charset="-122"/>
              </a:rPr>
              <a:t>20</a:t>
            </a:r>
            <a:r>
              <a:rPr lang="zh-CN" altLang="en-US" b="1" spc="-50" dirty="0">
                <a:latin typeface="宋体" pitchFamily="2" charset="-122"/>
              </a:rPr>
              <a:t>条</a:t>
            </a:r>
            <a:r>
              <a:rPr lang="zh-CN" altLang="en-US" b="1" dirty="0">
                <a:latin typeface="宋体" pitchFamily="2" charset="-122"/>
              </a:rPr>
              <a:t>；</a:t>
            </a: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179388" y="5572140"/>
            <a:ext cx="8785225" cy="502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 </a:t>
            </a:r>
            <a:r>
              <a:rPr lang="zh-CN" altLang="en-US" b="1" dirty="0" smtClean="0">
                <a:latin typeface="宋体" pitchFamily="2" charset="-122"/>
              </a:rPr>
              <a:t>所需时钟周期数</a:t>
            </a:r>
            <a:r>
              <a:rPr lang="en-US" altLang="zh-CN" b="1" dirty="0" smtClean="0">
                <a:latin typeface="宋体" pitchFamily="2" charset="-122"/>
              </a:rPr>
              <a:t>—</a:t>
            </a:r>
            <a:r>
              <a:rPr lang="en-US" altLang="zh-CN" sz="2200" b="1" dirty="0" smtClean="0">
                <a:latin typeface="宋体" pitchFamily="2" charset="-122"/>
              </a:rPr>
              <a:t>(1.17*2</a:t>
            </a:r>
            <a:r>
              <a:rPr lang="en-US" altLang="zh-CN" sz="2200" b="1" baseline="30000" dirty="0" smtClean="0">
                <a:latin typeface="宋体" pitchFamily="2" charset="-122"/>
              </a:rPr>
              <a:t>20</a:t>
            </a:r>
            <a:r>
              <a:rPr lang="en-US" altLang="zh-CN" sz="2200" b="1" dirty="0" smtClean="0">
                <a:latin typeface="宋体" pitchFamily="2" charset="-122"/>
              </a:rPr>
              <a:t>×5</a:t>
            </a:r>
            <a:r>
              <a:rPr lang="zh-CN" altLang="en-US" sz="2200" b="1" dirty="0" smtClean="0">
                <a:latin typeface="宋体" pitchFamily="2" charset="-122"/>
              </a:rPr>
              <a:t>＋</a:t>
            </a:r>
            <a:r>
              <a:rPr lang="en-US" altLang="zh-CN" sz="2200" b="1" dirty="0" smtClean="0">
                <a:latin typeface="宋体" pitchFamily="2" charset="-122"/>
              </a:rPr>
              <a:t>4.76*2</a:t>
            </a:r>
            <a:r>
              <a:rPr lang="en-US" altLang="zh-CN" sz="2200" b="1" baseline="30000" dirty="0" smtClean="0">
                <a:latin typeface="宋体" pitchFamily="2" charset="-122"/>
              </a:rPr>
              <a:t>20</a:t>
            </a:r>
            <a:r>
              <a:rPr lang="en-US" altLang="zh-CN" sz="2200" b="1" dirty="0" smtClean="0">
                <a:latin typeface="宋体" pitchFamily="2" charset="-122"/>
              </a:rPr>
              <a:t>×8)</a:t>
            </a:r>
            <a:r>
              <a:rPr lang="zh-CN" altLang="en-US" sz="2200" b="1" dirty="0" smtClean="0">
                <a:latin typeface="宋体" pitchFamily="2" charset="-122"/>
              </a:rPr>
              <a:t>＝</a:t>
            </a:r>
            <a:r>
              <a:rPr lang="en-US" altLang="zh-CN" sz="2200" b="1" dirty="0" smtClean="0">
                <a:latin typeface="宋体" pitchFamily="2" charset="-122"/>
              </a:rPr>
              <a:t>43.93×2</a:t>
            </a:r>
            <a:r>
              <a:rPr lang="en-US" altLang="zh-CN" sz="2200" b="1" baseline="30000" dirty="0" smtClean="0">
                <a:latin typeface="宋体" pitchFamily="2" charset="-122"/>
              </a:rPr>
              <a:t>20</a:t>
            </a:r>
            <a:r>
              <a:rPr lang="zh-CN" altLang="en-US" sz="2200" b="1" dirty="0" smtClean="0">
                <a:latin typeface="宋体" pitchFamily="2" charset="-122"/>
              </a:rPr>
              <a:t>个</a:t>
            </a:r>
            <a:endParaRPr lang="en-US" altLang="zh-CN" sz="2200" b="1" dirty="0"/>
          </a:p>
        </p:txBody>
      </p:sp>
    </p:spTree>
    <p:extLst>
      <p:ext uri="{BB962C8B-B14F-4D97-AF65-F5344CB8AC3E}">
        <p14:creationId xmlns:p14="http://schemas.microsoft.com/office/powerpoint/2010/main" val="6196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750"/>
                                        <p:tgtEl>
                                          <p:spTgt spid="26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201" grpId="0"/>
      <p:bldP spid="11" grpId="0"/>
      <p:bldP spid="12" grpId="0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132"/>
          <p:cNvSpPr txBox="1">
            <a:spLocks noChangeArrowheads="1"/>
          </p:cNvSpPr>
          <p:nvPr/>
        </p:nvSpPr>
        <p:spPr bwMode="auto">
          <a:xfrm>
            <a:off x="179388" y="2319263"/>
            <a:ext cx="8785225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838200" y="323945"/>
            <a:ext cx="7467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宋体" pitchFamily="2" charset="-122"/>
              </a:rPr>
              <a:t>第</a:t>
            </a:r>
            <a:r>
              <a:rPr lang="en-US" altLang="zh-CN" sz="3200" b="1" dirty="0">
                <a:latin typeface="宋体" pitchFamily="2" charset="-122"/>
              </a:rPr>
              <a:t>2</a:t>
            </a:r>
            <a:r>
              <a:rPr lang="zh-CN" altLang="en-US" sz="3200" b="1" dirty="0">
                <a:latin typeface="宋体" pitchFamily="2" charset="-122"/>
              </a:rPr>
              <a:t>章 </a:t>
            </a:r>
            <a:r>
              <a:rPr lang="zh-CN" altLang="en-US" sz="3200" b="1" dirty="0"/>
              <a:t>数据的表示与运算</a:t>
            </a: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388" y="1375608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、数据的编码</a:t>
            </a:r>
            <a:endParaRPr lang="en-US" altLang="zh-CN" b="1" dirty="0" smtClean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79388" y="1834445"/>
            <a:ext cx="8713787" cy="293618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数制转换               </a:t>
            </a:r>
            <a:r>
              <a:rPr lang="zh-CN" altLang="en-US" sz="2000" b="1" dirty="0" smtClean="0">
                <a:latin typeface="+mn-ea"/>
              </a:rPr>
              <a:t>☆熟练运用</a:t>
            </a:r>
            <a:endParaRPr lang="en-US" altLang="zh-CN" sz="2000" b="1" dirty="0" smtClean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>
                <a:solidFill>
                  <a:srgbClr val="FF3399"/>
                </a:solidFill>
                <a:latin typeface="宋体" pitchFamily="2" charset="-122"/>
              </a:rPr>
              <a:t>机器数编码             </a:t>
            </a:r>
            <a:r>
              <a:rPr lang="zh-CN" altLang="en-US" sz="2000" b="1" dirty="0">
                <a:latin typeface="+mn-ea"/>
              </a:rPr>
              <a:t>☆熟练</a:t>
            </a:r>
            <a:r>
              <a:rPr lang="zh-CN" altLang="en-US" sz="2000" b="1" dirty="0" smtClean="0">
                <a:latin typeface="+mn-ea"/>
              </a:rPr>
              <a:t>运用</a:t>
            </a:r>
            <a:endParaRPr lang="en-US" altLang="zh-CN" sz="2000" b="1" dirty="0" smtClean="0">
              <a:latin typeface="+mn-ea"/>
            </a:endParaRPr>
          </a:p>
          <a:p>
            <a:pPr>
              <a:lnSpc>
                <a:spcPct val="135000"/>
              </a:lnSpc>
            </a:pPr>
            <a:endParaRPr lang="en-US" altLang="zh-CN" b="1" dirty="0">
              <a:solidFill>
                <a:srgbClr val="FF3399"/>
              </a:solidFill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itchFamily="2" charset="-122"/>
              </a:rPr>
              <a:t>3.</a:t>
            </a:r>
            <a:r>
              <a:rPr lang="zh-CN" altLang="en-US" b="1" dirty="0">
                <a:solidFill>
                  <a:srgbClr val="FF3399"/>
                </a:solidFill>
                <a:latin typeface="宋体" pitchFamily="2" charset="-122"/>
              </a:rPr>
              <a:t>十进制数编码   </a:t>
            </a:r>
            <a:r>
              <a:rPr lang="zh-CN" altLang="en-US" b="1" dirty="0">
                <a:latin typeface="+mn-ea"/>
              </a:rPr>
              <a:t>        </a:t>
            </a:r>
            <a:r>
              <a:rPr lang="zh-CN" altLang="en-US" sz="2000" b="1" dirty="0">
                <a:latin typeface="+mn-ea"/>
              </a:rPr>
              <a:t>△了解</a:t>
            </a:r>
            <a:r>
              <a:rPr lang="en-US" altLang="zh-CN" sz="2000" b="1" dirty="0">
                <a:latin typeface="+mn-ea"/>
              </a:rPr>
              <a:t>8421</a:t>
            </a:r>
            <a:r>
              <a:rPr lang="zh-CN" altLang="en-US" sz="2000" b="1" dirty="0">
                <a:latin typeface="+mn-ea"/>
              </a:rPr>
              <a:t>码</a:t>
            </a:r>
            <a:endParaRPr lang="en-US" altLang="zh-CN" sz="2000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itchFamily="2" charset="-122"/>
              </a:rPr>
              <a:t>4.</a:t>
            </a:r>
            <a:r>
              <a:rPr lang="zh-CN" altLang="en-US" b="1" dirty="0">
                <a:solidFill>
                  <a:srgbClr val="FF3399"/>
                </a:solidFill>
                <a:latin typeface="宋体" pitchFamily="2" charset="-122"/>
              </a:rPr>
              <a:t>字符及字符串编码       </a:t>
            </a:r>
            <a:r>
              <a:rPr lang="zh-CN" altLang="en-US" sz="2000" b="1" dirty="0" smtClean="0">
                <a:latin typeface="+mn-ea"/>
              </a:rPr>
              <a:t>△了解编码方法</a:t>
            </a:r>
            <a:endParaRPr lang="en-US" altLang="zh-CN" sz="2000" b="1" dirty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+mn-ea"/>
              </a:rPr>
              <a:t>5.</a:t>
            </a:r>
            <a:r>
              <a:rPr lang="zh-CN" altLang="en-US" b="1" dirty="0">
                <a:solidFill>
                  <a:srgbClr val="FF3399"/>
                </a:solidFill>
                <a:latin typeface="+mn-ea"/>
              </a:rPr>
              <a:t>校验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</a:rPr>
              <a:t>码</a:t>
            </a:r>
            <a:endParaRPr lang="zh-CN" altLang="en-US" b="1" dirty="0">
              <a:solidFill>
                <a:srgbClr val="FF3399"/>
              </a:solidFill>
              <a:latin typeface="+mn-ea"/>
            </a:endParaRPr>
          </a:p>
        </p:txBody>
      </p:sp>
      <p:sp>
        <p:nvSpPr>
          <p:cNvPr id="19" name="Text Box 32"/>
          <p:cNvSpPr txBox="1">
            <a:spLocks noChangeArrowheads="1"/>
          </p:cNvSpPr>
          <p:nvPr/>
        </p:nvSpPr>
        <p:spPr bwMode="auto">
          <a:xfrm>
            <a:off x="179388" y="2780928"/>
            <a:ext cx="8812212" cy="5492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>
                <a:latin typeface="宋体" pitchFamily="2" charset="-122"/>
              </a:rPr>
              <a:t>原码、</a:t>
            </a:r>
            <a:r>
              <a:rPr lang="zh-CN" altLang="en-US" b="1" dirty="0" smtClean="0">
                <a:latin typeface="宋体" pitchFamily="2" charset="-122"/>
              </a:rPr>
              <a:t>补码、</a:t>
            </a:r>
            <a:r>
              <a:rPr lang="zh-CN" altLang="en-US" b="1" dirty="0">
                <a:latin typeface="宋体" pitchFamily="2" charset="-122"/>
              </a:rPr>
              <a:t>移码</a:t>
            </a:r>
            <a:r>
              <a:rPr lang="zh-CN" altLang="en-US" b="1" dirty="0" smtClean="0">
                <a:latin typeface="宋体" pitchFamily="2" charset="-122"/>
              </a:rPr>
              <a:t>的定义</a:t>
            </a:r>
            <a:r>
              <a:rPr lang="zh-CN" altLang="en-US" b="1" dirty="0">
                <a:latin typeface="宋体" pitchFamily="2" charset="-122"/>
              </a:rPr>
              <a:t>、特性、相互转换</a:t>
            </a:r>
          </a:p>
        </p:txBody>
      </p:sp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179388" y="4615968"/>
            <a:ext cx="8812212" cy="147732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+mn-ea"/>
                <a:ea typeface="+mn-ea"/>
              </a:rPr>
              <a:t>   冗余</a:t>
            </a:r>
            <a:r>
              <a:rPr lang="zh-CN" altLang="en-US" b="1" dirty="0">
                <a:latin typeface="+mn-ea"/>
                <a:ea typeface="+mn-ea"/>
              </a:rPr>
              <a:t>检验</a:t>
            </a:r>
            <a:r>
              <a:rPr lang="zh-CN" altLang="en-US" b="1" dirty="0" smtClean="0">
                <a:latin typeface="+mn-ea"/>
                <a:ea typeface="+mn-ea"/>
              </a:rPr>
              <a:t>思想</a:t>
            </a:r>
            <a:r>
              <a:rPr lang="en-US" altLang="zh-CN" sz="2000" b="1" dirty="0" smtClean="0">
                <a:latin typeface="+mn-ea"/>
                <a:ea typeface="+mn-ea"/>
              </a:rPr>
              <a:t>(</a:t>
            </a:r>
            <a:r>
              <a:rPr lang="zh-CN" altLang="en-US" sz="2000" b="1" dirty="0" smtClean="0">
                <a:latin typeface="+mn-ea"/>
                <a:ea typeface="+mn-ea"/>
              </a:rPr>
              <a:t>检错及纠错的原理</a:t>
            </a:r>
            <a:r>
              <a:rPr lang="en-US" altLang="zh-CN" sz="2000" b="1" dirty="0" smtClean="0">
                <a:latin typeface="+mn-ea"/>
                <a:ea typeface="+mn-ea"/>
              </a:rPr>
              <a:t>)</a:t>
            </a:r>
            <a:r>
              <a:rPr lang="zh-CN" altLang="en-US" b="1" dirty="0" smtClean="0">
                <a:latin typeface="+mn-ea"/>
                <a:ea typeface="+mn-ea"/>
              </a:rPr>
              <a:t>                </a:t>
            </a:r>
            <a:r>
              <a:rPr lang="zh-CN" altLang="en-US" sz="2000" b="1" dirty="0" smtClean="0">
                <a:latin typeface="+mn-ea"/>
                <a:ea typeface="+mn-ea"/>
              </a:rPr>
              <a:t>◇掌握</a:t>
            </a:r>
            <a:endParaRPr lang="en-US" altLang="zh-CN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+mn-ea"/>
                <a:ea typeface="+mn-ea"/>
              </a:rPr>
              <a:t> </a:t>
            </a:r>
            <a:r>
              <a:rPr lang="en-US" altLang="zh-CN" b="1" dirty="0" smtClean="0">
                <a:latin typeface="+mn-ea"/>
                <a:ea typeface="+mn-ea"/>
              </a:rPr>
              <a:t>  </a:t>
            </a:r>
            <a:r>
              <a:rPr lang="zh-CN" altLang="en-US" b="1" dirty="0" smtClean="0">
                <a:latin typeface="+mn-ea"/>
                <a:ea typeface="+mn-ea"/>
              </a:rPr>
              <a:t>奇偶校验码</a:t>
            </a:r>
            <a:r>
              <a:rPr lang="en-US" altLang="zh-CN" b="1" dirty="0" smtClean="0">
                <a:latin typeface="+mn-ea"/>
                <a:ea typeface="+mn-ea"/>
              </a:rPr>
              <a:t>—</a:t>
            </a:r>
            <a:r>
              <a:rPr lang="zh-CN" altLang="en-US" b="1" dirty="0" smtClean="0">
                <a:latin typeface="+mn-ea"/>
                <a:ea typeface="+mn-ea"/>
              </a:rPr>
              <a:t>编码</a:t>
            </a:r>
            <a:r>
              <a:rPr lang="zh-CN" altLang="en-US" b="1" dirty="0">
                <a:latin typeface="+mn-ea"/>
                <a:ea typeface="+mn-ea"/>
              </a:rPr>
              <a:t>原理</a:t>
            </a:r>
            <a:r>
              <a:rPr lang="zh-CN" altLang="en-US" b="1" dirty="0" smtClean="0">
                <a:latin typeface="+mn-ea"/>
                <a:ea typeface="+mn-ea"/>
              </a:rPr>
              <a:t>、</a:t>
            </a:r>
            <a:r>
              <a:rPr lang="zh-CN" altLang="en-US" b="1" dirty="0" smtClean="0">
                <a:solidFill>
                  <a:srgbClr val="990099"/>
                </a:solidFill>
                <a:latin typeface="+mn-ea"/>
                <a:ea typeface="+mn-ea"/>
              </a:rPr>
              <a:t>编码方法</a:t>
            </a:r>
            <a:r>
              <a:rPr lang="zh-CN" altLang="en-US" b="1" dirty="0">
                <a:latin typeface="+mn-ea"/>
                <a:ea typeface="+mn-ea"/>
              </a:rPr>
              <a:t>、校验</a:t>
            </a:r>
            <a:r>
              <a:rPr lang="zh-CN" altLang="en-US" b="1" dirty="0" smtClean="0">
                <a:latin typeface="+mn-ea"/>
                <a:ea typeface="+mn-ea"/>
              </a:rPr>
              <a:t>能力   </a:t>
            </a:r>
            <a:r>
              <a:rPr lang="zh-CN" altLang="en-US" sz="2000" b="1" dirty="0" smtClean="0">
                <a:latin typeface="+mn-ea"/>
                <a:ea typeface="+mn-ea"/>
              </a:rPr>
              <a:t>◇掌握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+mn-ea"/>
                <a:ea typeface="+mn-ea"/>
              </a:rPr>
              <a:t>   </a:t>
            </a:r>
            <a:r>
              <a:rPr lang="zh-CN" altLang="en-US" b="1" dirty="0" smtClean="0">
                <a:latin typeface="+mn-ea"/>
                <a:ea typeface="+mn-ea"/>
              </a:rPr>
              <a:t>海</a:t>
            </a:r>
            <a:r>
              <a:rPr lang="zh-CN" altLang="en-US" b="1" dirty="0">
                <a:latin typeface="+mn-ea"/>
                <a:ea typeface="+mn-ea"/>
              </a:rPr>
              <a:t>明校验</a:t>
            </a:r>
            <a:r>
              <a:rPr lang="zh-CN" altLang="en-US" b="1" dirty="0" smtClean="0">
                <a:latin typeface="+mn-ea"/>
                <a:ea typeface="+mn-ea"/>
              </a:rPr>
              <a:t>码</a:t>
            </a:r>
            <a:r>
              <a:rPr lang="en-US" altLang="zh-CN" b="1" dirty="0" smtClean="0">
                <a:latin typeface="+mn-ea"/>
                <a:ea typeface="+mn-ea"/>
              </a:rPr>
              <a:t>—</a:t>
            </a:r>
            <a:r>
              <a:rPr lang="zh-CN" altLang="en-US" b="1" u="sng" dirty="0" smtClean="0">
                <a:latin typeface="+mn-ea"/>
                <a:ea typeface="+mn-ea"/>
              </a:rPr>
              <a:t>编码</a:t>
            </a:r>
            <a:r>
              <a:rPr lang="zh-CN" altLang="en-US" b="1" u="sng" dirty="0">
                <a:latin typeface="+mn-ea"/>
                <a:ea typeface="+mn-ea"/>
              </a:rPr>
              <a:t>原理</a:t>
            </a:r>
            <a:r>
              <a:rPr lang="zh-CN" altLang="en-US" b="1" dirty="0">
                <a:latin typeface="+mn-ea"/>
                <a:ea typeface="+mn-ea"/>
              </a:rPr>
              <a:t>、校验能力、</a:t>
            </a:r>
            <a:r>
              <a:rPr lang="zh-CN" altLang="en-US" b="1" dirty="0" smtClean="0">
                <a:latin typeface="+mn-ea"/>
                <a:ea typeface="+mn-ea"/>
              </a:rPr>
              <a:t>编码方法   </a:t>
            </a:r>
            <a:r>
              <a:rPr lang="zh-CN" altLang="en-US" sz="2000" b="1" dirty="0" smtClean="0">
                <a:latin typeface="+mn-ea"/>
                <a:ea typeface="+mn-ea"/>
              </a:rPr>
              <a:t>△理解</a:t>
            </a:r>
            <a:endParaRPr lang="en-US" altLang="zh-CN" sz="2000" b="1" dirty="0">
              <a:latin typeface="+mn-ea"/>
              <a:ea typeface="+mn-ea"/>
            </a:endParaRPr>
          </a:p>
        </p:txBody>
      </p:sp>
      <p:sp>
        <p:nvSpPr>
          <p:cNvPr id="31" name="Text Box 6"/>
          <p:cNvSpPr txBox="1">
            <a:spLocks noChangeArrowheads="1"/>
          </p:cNvSpPr>
          <p:nvPr/>
        </p:nvSpPr>
        <p:spPr bwMode="auto">
          <a:xfrm>
            <a:off x="179512" y="908720"/>
            <a:ext cx="8713787" cy="51552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  主要内容：</a:t>
            </a:r>
            <a:r>
              <a:rPr lang="zh-CN" altLang="en-US" sz="2200" b="1" dirty="0" smtClean="0">
                <a:latin typeface="宋体" pitchFamily="2" charset="-122"/>
              </a:rPr>
              <a:t>数据编码，数据表示，定点运算，运算器组织</a:t>
            </a:r>
            <a:endParaRPr lang="zh-CN" altLang="en-US" sz="2200" b="1" dirty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768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" grpId="0"/>
      <p:bldP spid="7" grpId="0"/>
      <p:bldP spid="19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二、数据的表示</a:t>
            </a:r>
            <a:endParaRPr lang="en-US" altLang="zh-CN" b="1" dirty="0" smtClean="0">
              <a:latin typeface="+mn-ea"/>
              <a:ea typeface="+mn-ea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79388" y="792163"/>
            <a:ext cx="6840883" cy="42288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数据</a:t>
            </a:r>
            <a:r>
              <a:rPr lang="zh-CN" altLang="en-US" b="1" dirty="0">
                <a:solidFill>
                  <a:srgbClr val="FF3399"/>
                </a:solidFill>
                <a:latin typeface="宋体" pitchFamily="2" charset="-122"/>
              </a:rPr>
              <a:t>的表示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方法         </a:t>
            </a:r>
            <a:r>
              <a:rPr lang="zh-CN" altLang="en-US" sz="2000" b="1" dirty="0" smtClean="0">
                <a:latin typeface="+mn-ea"/>
              </a:rPr>
              <a:t>△理解相互关系</a:t>
            </a:r>
            <a:r>
              <a:rPr lang="zh-CN" altLang="en-US" b="1" dirty="0" smtClean="0">
                <a:latin typeface="+mn-ea"/>
              </a:rPr>
              <a:t> </a:t>
            </a:r>
            <a:endParaRPr lang="en-US" altLang="zh-CN" b="1" dirty="0" smtClean="0">
              <a:latin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latin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</a:rPr>
              <a:t>整数的表示             </a:t>
            </a:r>
            <a:r>
              <a:rPr lang="zh-CN" altLang="en-US" sz="2000" b="1" dirty="0" smtClean="0">
                <a:latin typeface="+mn-ea"/>
              </a:rPr>
              <a:t>☆</a:t>
            </a:r>
            <a:r>
              <a:rPr lang="zh-CN" altLang="en-US" sz="2000" b="1" dirty="0">
                <a:latin typeface="+mn-ea"/>
              </a:rPr>
              <a:t>深入</a:t>
            </a:r>
            <a:r>
              <a:rPr lang="zh-CN" altLang="en-US" sz="2000" b="1" dirty="0" smtClean="0">
                <a:latin typeface="+mn-ea"/>
              </a:rPr>
              <a:t>理解、熟练运用</a:t>
            </a:r>
            <a:endParaRPr lang="en-US" altLang="zh-CN" b="1" dirty="0" smtClean="0">
              <a:latin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latin typeface="+mn-ea"/>
            </a:endParaRPr>
          </a:p>
          <a:p>
            <a:endParaRPr lang="en-US" altLang="zh-CN" b="1" dirty="0" smtClean="0">
              <a:latin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</a:rPr>
              <a:t>3.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</a:rPr>
              <a:t>实数</a:t>
            </a:r>
            <a:r>
              <a:rPr lang="zh-CN" altLang="en-US" b="1" dirty="0">
                <a:solidFill>
                  <a:srgbClr val="FF3399"/>
                </a:solidFill>
                <a:latin typeface="+mn-ea"/>
              </a:rPr>
              <a:t>的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</a:rPr>
              <a:t>表示             </a:t>
            </a:r>
            <a:r>
              <a:rPr lang="zh-CN" altLang="en-US" sz="2000" b="1" dirty="0" smtClean="0">
                <a:latin typeface="+mn-ea"/>
              </a:rPr>
              <a:t>☆</a:t>
            </a:r>
            <a:r>
              <a:rPr lang="zh-CN" altLang="en-US" sz="2000" b="1" dirty="0">
                <a:latin typeface="+mn-ea"/>
              </a:rPr>
              <a:t>深入</a:t>
            </a:r>
            <a:r>
              <a:rPr lang="zh-CN" altLang="en-US" sz="2000" b="1" dirty="0" smtClean="0">
                <a:latin typeface="+mn-ea"/>
              </a:rPr>
              <a:t>理解、熟练运用</a:t>
            </a:r>
            <a:endParaRPr lang="en-US" altLang="zh-CN" b="1" dirty="0" smtClean="0">
              <a:latin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latin typeface="+mn-ea"/>
            </a:endParaRPr>
          </a:p>
          <a:p>
            <a:pPr>
              <a:lnSpc>
                <a:spcPct val="14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</a:rPr>
              <a:t>4.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</a:rPr>
              <a:t>非数值数据的表示       </a:t>
            </a:r>
            <a:r>
              <a:rPr lang="zh-CN" altLang="en-US" sz="2000" b="1" dirty="0" smtClean="0">
                <a:latin typeface="宋体" pitchFamily="2" charset="-122"/>
              </a:rPr>
              <a:t>◇掌握运算方法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79388" y="1268760"/>
            <a:ext cx="8812212" cy="101566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</a:t>
            </a:r>
            <a:r>
              <a:rPr lang="zh-CN" altLang="en-US" b="1" spc="-100" dirty="0" smtClean="0">
                <a:latin typeface="宋体" pitchFamily="2" charset="-122"/>
              </a:rPr>
              <a:t>表示方法</a:t>
            </a:r>
            <a:r>
              <a:rPr lang="en-US" altLang="zh-CN" sz="2000" b="1" spc="-100" dirty="0" smtClean="0">
                <a:latin typeface="宋体" pitchFamily="2" charset="-122"/>
              </a:rPr>
              <a:t>(</a:t>
            </a:r>
            <a:r>
              <a:rPr lang="zh-CN" altLang="en-US" sz="2000" b="1" spc="-100" dirty="0" smtClean="0">
                <a:latin typeface="宋体" pitchFamily="2" charset="-122"/>
              </a:rPr>
              <a:t>进制</a:t>
            </a:r>
            <a:r>
              <a:rPr lang="en-US" altLang="zh-CN" sz="2000" b="1" spc="-100" dirty="0" smtClean="0">
                <a:latin typeface="宋体" pitchFamily="2" charset="-122"/>
              </a:rPr>
              <a:t>/</a:t>
            </a:r>
            <a:r>
              <a:rPr lang="zh-CN" altLang="en-US" sz="2000" b="1" spc="-100" dirty="0" smtClean="0">
                <a:latin typeface="宋体" pitchFamily="2" charset="-122"/>
              </a:rPr>
              <a:t>格式</a:t>
            </a:r>
            <a:r>
              <a:rPr lang="en-US" altLang="zh-CN" sz="2000" b="1" spc="-100" dirty="0" smtClean="0">
                <a:latin typeface="宋体" pitchFamily="2" charset="-122"/>
              </a:rPr>
              <a:t>/</a:t>
            </a:r>
            <a:r>
              <a:rPr lang="zh-CN" altLang="en-US" sz="2000" b="1" spc="-100" dirty="0" smtClean="0">
                <a:latin typeface="宋体" pitchFamily="2" charset="-122"/>
              </a:rPr>
              <a:t>编码</a:t>
            </a:r>
            <a:r>
              <a:rPr lang="en-US" altLang="zh-CN" sz="2000" b="1" spc="-100" dirty="0" smtClean="0">
                <a:latin typeface="宋体" pitchFamily="2" charset="-122"/>
              </a:rPr>
              <a:t>)</a:t>
            </a:r>
            <a:r>
              <a:rPr lang="zh-CN" altLang="en-US" b="1" spc="-100" dirty="0" smtClean="0">
                <a:latin typeface="宋体" pitchFamily="2" charset="-122"/>
              </a:rPr>
              <a:t>，数据</a:t>
            </a:r>
            <a:r>
              <a:rPr lang="zh-CN" altLang="en-US" b="1" spc="-100" dirty="0">
                <a:latin typeface="宋体" pitchFamily="2" charset="-122"/>
              </a:rPr>
              <a:t>的</a:t>
            </a:r>
            <a:r>
              <a:rPr lang="zh-CN" altLang="en-US" b="1" spc="-100" dirty="0" smtClean="0">
                <a:latin typeface="宋体" pitchFamily="2" charset="-122"/>
              </a:rPr>
              <a:t>表示</a:t>
            </a:r>
            <a:r>
              <a:rPr lang="en-US" altLang="zh-CN" sz="2000" b="1" spc="-100" dirty="0" smtClean="0">
                <a:latin typeface="宋体" pitchFamily="2" charset="-122"/>
              </a:rPr>
              <a:t>(</a:t>
            </a:r>
            <a:r>
              <a:rPr lang="zh-CN" altLang="en-US" sz="2000" b="1" spc="-100" dirty="0" smtClean="0">
                <a:latin typeface="宋体" pitchFamily="2" charset="-122"/>
              </a:rPr>
              <a:t>表示方法＋长度</a:t>
            </a:r>
            <a:r>
              <a:rPr lang="en-US" altLang="zh-CN" sz="2000" b="1" spc="-100" dirty="0" smtClean="0">
                <a:latin typeface="宋体" pitchFamily="2" charset="-122"/>
              </a:rPr>
              <a:t>)</a:t>
            </a:r>
            <a:endParaRPr lang="en-US" altLang="zh-CN" b="1" spc="-100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表示与运算关系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结构</a:t>
            </a:r>
            <a:r>
              <a:rPr lang="en-US" altLang="zh-CN" sz="2000" b="1" dirty="0" smtClean="0">
                <a:latin typeface="宋体" pitchFamily="2" charset="-122"/>
              </a:rPr>
              <a:t>-</a:t>
            </a:r>
            <a:r>
              <a:rPr lang="zh-CN" altLang="en-US" sz="2000" b="1" dirty="0" smtClean="0">
                <a:latin typeface="宋体" pitchFamily="2" charset="-122"/>
              </a:rPr>
              <a:t>组成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，运算的处理需求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运算、溢出检测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179512" y="2658978"/>
            <a:ext cx="8812088" cy="93871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定点表示法，整数的表示，整数的类型转换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位扩展</a:t>
            </a:r>
            <a:r>
              <a:rPr lang="en-US" altLang="zh-CN" b="1" dirty="0" smtClean="0">
                <a:latin typeface="宋体" pitchFamily="2" charset="-122"/>
              </a:rPr>
              <a:t>/</a:t>
            </a:r>
            <a:r>
              <a:rPr lang="zh-CN" altLang="en-US" b="1" dirty="0" smtClean="0">
                <a:latin typeface="宋体" pitchFamily="2" charset="-122"/>
              </a:rPr>
              <a:t>截断</a:t>
            </a:r>
            <a:r>
              <a:rPr lang="en-US" altLang="zh-CN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sz="2000" dirty="0" smtClean="0">
                <a:latin typeface="宋体" pitchFamily="2" charset="-122"/>
              </a:rPr>
              <a:t>              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en-US" altLang="zh-CN" sz="2000" b="1" dirty="0" err="1" smtClean="0">
                <a:latin typeface="宋体" pitchFamily="2" charset="-122"/>
              </a:rPr>
              <a:t>int</a:t>
            </a:r>
            <a:r>
              <a:rPr lang="zh-CN" altLang="en-US" sz="2000" b="1" dirty="0" smtClean="0">
                <a:latin typeface="宋体" pitchFamily="2" charset="-122"/>
              </a:rPr>
              <a:t>默认用补码表示</a:t>
            </a:r>
            <a:r>
              <a:rPr lang="en-US" altLang="zh-CN" sz="2000" b="1" dirty="0" smtClean="0">
                <a:latin typeface="宋体" pitchFamily="2" charset="-122"/>
              </a:rPr>
              <a:t>)   </a:t>
            </a:r>
            <a:r>
              <a:rPr lang="zh-CN" altLang="en-US" sz="2000" dirty="0" smtClean="0">
                <a:latin typeface="宋体" pitchFamily="2" charset="-122"/>
              </a:rPr>
              <a:t>                  </a:t>
            </a:r>
            <a:r>
              <a:rPr lang="zh-CN" altLang="en-US" sz="2000" dirty="0" smtClean="0">
                <a:solidFill>
                  <a:srgbClr val="990099"/>
                </a:solidFill>
                <a:latin typeface="宋体" pitchFamily="2" charset="-122"/>
              </a:rPr>
              <a:t>└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→运算实现</a:t>
            </a:r>
            <a:endParaRPr lang="zh-CN" altLang="en-US" sz="2000" b="1" dirty="0">
              <a:solidFill>
                <a:srgbClr val="990099"/>
              </a:solidFill>
              <a:latin typeface="宋体" pitchFamily="2" charset="-122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2555900" y="2708920"/>
            <a:ext cx="1584052" cy="4318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Text Box 6"/>
          <p:cNvSpPr txBox="1">
            <a:spLocks noChangeArrowheads="1"/>
          </p:cNvSpPr>
          <p:nvPr/>
        </p:nvSpPr>
        <p:spPr bwMode="auto">
          <a:xfrm>
            <a:off x="179512" y="3910990"/>
            <a:ext cx="8964488" cy="55399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浮点表示法，浮点数的规格化，实数的表示</a:t>
            </a:r>
            <a:r>
              <a:rPr lang="en-US" altLang="zh-CN" sz="1200" b="1" dirty="0" smtClean="0">
                <a:latin typeface="宋体" pitchFamily="2" charset="-122"/>
              </a:rPr>
              <a:t>(IEEE 754</a:t>
            </a:r>
            <a:r>
              <a:rPr lang="zh-CN" altLang="en-US" sz="1200" b="1" dirty="0" smtClean="0">
                <a:latin typeface="宋体" pitchFamily="2" charset="-122"/>
              </a:rPr>
              <a:t>：</a:t>
            </a:r>
            <a:r>
              <a:rPr lang="en-US" altLang="zh-CN" sz="1200" b="1" i="1" dirty="0" smtClean="0">
                <a:solidFill>
                  <a:srgbClr val="FF0000"/>
                </a:solidFill>
              </a:rPr>
              <a:t>N</a:t>
            </a:r>
            <a:r>
              <a:rPr lang="en-US" altLang="zh-CN" sz="1200" b="1" dirty="0">
                <a:solidFill>
                  <a:srgbClr val="FF0000"/>
                </a:solidFill>
                <a:latin typeface="宋体" pitchFamily="2" charset="-122"/>
              </a:rPr>
              <a:t>=(-1)</a:t>
            </a:r>
            <a:r>
              <a:rPr lang="en-US" altLang="zh-CN" sz="1200" b="1" i="1" baseline="30000" dirty="0">
                <a:solidFill>
                  <a:srgbClr val="FF0000"/>
                </a:solidFill>
              </a:rPr>
              <a:t>S</a:t>
            </a:r>
            <a:r>
              <a:rPr lang="en-US" altLang="zh-CN" sz="1200" b="1" dirty="0">
                <a:solidFill>
                  <a:srgbClr val="FF0000"/>
                </a:solidFill>
                <a:latin typeface="宋体" pitchFamily="2" charset="-122"/>
              </a:rPr>
              <a:t>×2</a:t>
            </a:r>
            <a:r>
              <a:rPr lang="en-US" altLang="zh-CN" sz="1200" b="1" i="1" baseline="30000" dirty="0">
                <a:solidFill>
                  <a:srgbClr val="FF0000"/>
                </a:solidFill>
              </a:rPr>
              <a:t>E</a:t>
            </a:r>
            <a:r>
              <a:rPr lang="en-US" altLang="zh-CN" sz="1200" b="1" baseline="30000" dirty="0">
                <a:solidFill>
                  <a:srgbClr val="FF0000"/>
                </a:solidFill>
              </a:rPr>
              <a:t> </a:t>
            </a:r>
            <a:r>
              <a:rPr lang="en-US" altLang="zh-CN" sz="1200" b="1" baseline="30000" dirty="0">
                <a:solidFill>
                  <a:srgbClr val="FF0000"/>
                </a:solidFill>
                <a:latin typeface="宋体" pitchFamily="2" charset="-122"/>
              </a:rPr>
              <a:t>-</a:t>
            </a:r>
            <a:r>
              <a:rPr lang="en-US" altLang="zh-CN" sz="1200" b="1" baseline="30000" dirty="0" smtClean="0">
                <a:solidFill>
                  <a:srgbClr val="FF0000"/>
                </a:solidFill>
                <a:latin typeface="宋体" pitchFamily="2" charset="-122"/>
              </a:rPr>
              <a:t>127</a:t>
            </a:r>
            <a:r>
              <a:rPr lang="en-US" altLang="zh-CN" sz="1200" b="1" dirty="0" smtClean="0">
                <a:solidFill>
                  <a:srgbClr val="FF0000"/>
                </a:solidFill>
                <a:latin typeface="宋体" pitchFamily="2" charset="-122"/>
              </a:rPr>
              <a:t>×1.</a:t>
            </a:r>
            <a:r>
              <a:rPr lang="en-US" altLang="zh-CN" sz="1200" b="1" i="1" dirty="0" smtClean="0">
                <a:solidFill>
                  <a:srgbClr val="FF0000"/>
                </a:solidFill>
              </a:rPr>
              <a:t>M</a:t>
            </a:r>
            <a:r>
              <a:rPr lang="en-US" altLang="zh-CN" sz="1200" b="1" dirty="0" smtClean="0">
                <a:latin typeface="宋体" pitchFamily="2" charset="-122"/>
              </a:rPr>
              <a:t>)</a:t>
            </a:r>
            <a:endParaRPr lang="zh-CN" altLang="en-US" sz="1200" b="1" dirty="0">
              <a:latin typeface="宋体" pitchFamily="2" charset="-122"/>
            </a:endParaRP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683568" y="3983246"/>
            <a:ext cx="1656184" cy="431800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79512" y="4869160"/>
            <a:ext cx="8812088" cy="140038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逻辑数的表示</a:t>
            </a:r>
            <a:r>
              <a:rPr lang="en-US" altLang="zh-CN" b="1" dirty="0" smtClean="0">
                <a:latin typeface="宋体" pitchFamily="2" charset="-122"/>
              </a:rPr>
              <a:t>—</a:t>
            </a:r>
            <a:r>
              <a:rPr lang="zh-CN" altLang="en-US" b="1" dirty="0" smtClean="0">
                <a:latin typeface="宋体" pitchFamily="2" charset="-122"/>
              </a:rPr>
              <a:t>表示方法，运算规则及实现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  </a:t>
            </a:r>
            <a:r>
              <a:rPr lang="zh-CN" altLang="en-US" b="1" dirty="0" smtClean="0">
                <a:latin typeface="宋体" pitchFamily="2" charset="-122"/>
              </a:rPr>
              <a:t>字符的表示</a:t>
            </a:r>
            <a:r>
              <a:rPr lang="en-US" altLang="zh-CN" b="1" dirty="0" smtClean="0">
                <a:latin typeface="宋体" pitchFamily="2" charset="-122"/>
              </a:rPr>
              <a:t>—</a:t>
            </a:r>
            <a:r>
              <a:rPr lang="zh-CN" altLang="en-US" b="1" dirty="0" smtClean="0">
                <a:latin typeface="宋体" pitchFamily="2" charset="-122"/>
              </a:rPr>
              <a:t>表示方法，运算规则及实现   </a:t>
            </a:r>
            <a:r>
              <a:rPr lang="zh-CN" altLang="en-US" sz="1800" b="1" dirty="0" smtClean="0">
                <a:latin typeface="宋体" pitchFamily="2" charset="-122"/>
              </a:rPr>
              <a:t>←</a:t>
            </a:r>
            <a:r>
              <a:rPr lang="zh-CN" altLang="en-US" sz="2000" b="1" dirty="0" smtClean="0">
                <a:latin typeface="宋体" pitchFamily="2" charset="-122"/>
              </a:rPr>
              <a:t>需设置标志位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000" b="1" dirty="0" smtClean="0">
                <a:latin typeface="宋体" pitchFamily="2" charset="-122"/>
              </a:rPr>
              <a:t>                                (</a:t>
            </a:r>
            <a:r>
              <a:rPr lang="zh-CN" altLang="en-US" sz="2000" b="1" dirty="0" smtClean="0">
                <a:latin typeface="宋体" pitchFamily="2" charset="-122"/>
              </a:rPr>
              <a:t>含有符号关系运算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zh-CN" altLang="en-US" sz="2000" b="1" dirty="0">
              <a:latin typeface="宋体" pitchFamily="2" charset="-122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4427984" y="5359679"/>
            <a:ext cx="2232248" cy="431800"/>
          </a:xfrm>
          <a:prstGeom prst="rect">
            <a:avLst/>
          </a:prstGeom>
          <a:noFill/>
          <a:ln w="19050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377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2" grpId="0"/>
      <p:bldP spid="13" grpId="0" animBg="1"/>
      <p:bldP spid="14" grpId="0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三、定点数的运算</a:t>
            </a:r>
            <a:endParaRPr lang="en-US" altLang="zh-CN" b="1" dirty="0" smtClean="0">
              <a:latin typeface="+mn-ea"/>
              <a:ea typeface="+mn-ea"/>
            </a:endParaRPr>
          </a:p>
        </p:txBody>
      </p:sp>
      <p:sp>
        <p:nvSpPr>
          <p:cNvPr id="5" name="Text Box 132"/>
          <p:cNvSpPr txBox="1">
            <a:spLocks noChangeArrowheads="1"/>
          </p:cNvSpPr>
          <p:nvPr/>
        </p:nvSpPr>
        <p:spPr bwMode="auto">
          <a:xfrm>
            <a:off x="179512" y="836712"/>
            <a:ext cx="7344815" cy="3360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>
                <a:solidFill>
                  <a:srgbClr val="FF3399"/>
                </a:solidFill>
                <a:latin typeface="宋体" pitchFamily="2" charset="-122"/>
              </a:rPr>
              <a:t>加减运算               </a:t>
            </a:r>
            <a:r>
              <a:rPr lang="zh-CN" altLang="en-US" sz="2000" b="1" dirty="0">
                <a:latin typeface="宋体" pitchFamily="2" charset="-122"/>
              </a:rPr>
              <a:t>☆熟练运用、掌握实现方法</a:t>
            </a:r>
            <a:endParaRPr lang="en-US" altLang="zh-CN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endParaRPr lang="en-US" altLang="zh-CN" b="1" dirty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移位运算               </a:t>
            </a:r>
            <a:r>
              <a:rPr lang="zh-CN" altLang="en-US" b="1" dirty="0">
                <a:latin typeface="宋体" pitchFamily="2" charset="-122"/>
              </a:rPr>
              <a:t>◇</a:t>
            </a:r>
            <a:r>
              <a:rPr lang="zh-CN" altLang="en-US" sz="2000" b="1" dirty="0" smtClean="0">
                <a:latin typeface="宋体" pitchFamily="2" charset="-122"/>
              </a:rPr>
              <a:t>熟练</a:t>
            </a:r>
            <a:r>
              <a:rPr lang="zh-CN" altLang="en-US" sz="2000" b="1" dirty="0">
                <a:latin typeface="宋体" pitchFamily="2" charset="-122"/>
              </a:rPr>
              <a:t>运用</a:t>
            </a:r>
            <a:endParaRPr lang="en-US" altLang="zh-CN" sz="2000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 </a:t>
            </a:r>
          </a:p>
          <a:p>
            <a:pPr>
              <a:lnSpc>
                <a:spcPct val="13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3.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乘法运算               </a:t>
            </a:r>
            <a:r>
              <a:rPr lang="zh-CN" altLang="en-US" sz="2000" b="1" dirty="0" smtClean="0">
                <a:latin typeface="宋体" pitchFamily="2" charset="-122"/>
              </a:rPr>
              <a:t>△理解</a:t>
            </a:r>
            <a:endParaRPr lang="en-US" altLang="zh-CN" b="1" dirty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79512" y="1340768"/>
            <a:ext cx="8812088" cy="133882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补码加减、</a:t>
            </a:r>
            <a:r>
              <a:rPr lang="zh-CN" altLang="en-US" b="1" dirty="0">
                <a:latin typeface="宋体" pitchFamily="2" charset="-122"/>
              </a:rPr>
              <a:t>无符号加减的运算</a:t>
            </a:r>
            <a:r>
              <a:rPr lang="zh-CN" altLang="en-US" b="1" dirty="0" smtClean="0">
                <a:latin typeface="宋体" pitchFamily="2" charset="-122"/>
              </a:rPr>
              <a:t>规则、逻辑实现、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溢出判断</a:t>
            </a:r>
            <a:endParaRPr lang="en-US" altLang="zh-CN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 smtClean="0">
                <a:latin typeface="宋体" pitchFamily="2" charset="-122"/>
              </a:rPr>
              <a:t>        (</a:t>
            </a:r>
            <a:r>
              <a:rPr lang="zh-CN" altLang="en-US" sz="2000" b="1" dirty="0" smtClean="0">
                <a:latin typeface="宋体" pitchFamily="2" charset="-122"/>
              </a:rPr>
              <a:t>原码运算不考</a:t>
            </a:r>
            <a:r>
              <a:rPr lang="en-US" altLang="zh-CN" sz="2000" b="1" dirty="0" smtClean="0">
                <a:latin typeface="宋体" pitchFamily="2" charset="-122"/>
              </a:rPr>
              <a:t>)                               (</a:t>
            </a:r>
            <a:r>
              <a:rPr lang="zh-CN" altLang="en-US" sz="2000" b="1" dirty="0" smtClean="0">
                <a:latin typeface="宋体" pitchFamily="2" charset="-122"/>
              </a:rPr>
              <a:t>标志位的形成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endParaRPr lang="en-US" altLang="zh-CN" sz="2800" dirty="0">
              <a:solidFill>
                <a:srgbClr val="990099"/>
              </a:solidFill>
              <a:latin typeface="宋体" pitchFamily="2" charset="-122"/>
            </a:endParaRPr>
          </a:p>
        </p:txBody>
      </p:sp>
      <p:sp>
        <p:nvSpPr>
          <p:cNvPr id="7" name="Text Box 132"/>
          <p:cNvSpPr txBox="1">
            <a:spLocks noChangeArrowheads="1"/>
          </p:cNvSpPr>
          <p:nvPr/>
        </p:nvSpPr>
        <p:spPr bwMode="auto">
          <a:xfrm>
            <a:off x="179512" y="3019018"/>
            <a:ext cx="881208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逻辑移位、算术移位的运算规则、溢出判断  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逻辑实现不考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8" name="Text Box 132"/>
          <p:cNvSpPr txBox="1">
            <a:spLocks noChangeArrowheads="1"/>
          </p:cNvSpPr>
          <p:nvPr/>
        </p:nvSpPr>
        <p:spPr bwMode="auto">
          <a:xfrm>
            <a:off x="179512" y="3933056"/>
            <a:ext cx="878522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机器乘法实现思路</a:t>
            </a:r>
            <a:r>
              <a:rPr lang="zh-CN" altLang="en-US" sz="1800" b="1" dirty="0" smtClean="0">
                <a:latin typeface="宋体" pitchFamily="2" charset="-122"/>
              </a:rPr>
              <a:t> 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☆深入理解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无</a:t>
            </a:r>
            <a:r>
              <a:rPr lang="zh-CN" altLang="en-US" b="1" spc="-100" dirty="0" smtClean="0">
                <a:latin typeface="宋体" pitchFamily="2" charset="-122"/>
              </a:rPr>
              <a:t>符号</a:t>
            </a:r>
            <a:r>
              <a:rPr lang="en-US" altLang="zh-CN" b="1" spc="-100" dirty="0" smtClean="0">
                <a:latin typeface="宋体" pitchFamily="2" charset="-122"/>
              </a:rPr>
              <a:t>/</a:t>
            </a:r>
            <a:r>
              <a:rPr lang="zh-CN" altLang="en-US" b="1" spc="-100" dirty="0" smtClean="0">
                <a:latin typeface="宋体" pitchFamily="2" charset="-122"/>
              </a:rPr>
              <a:t>原码乘法的运算规则、逻辑实现、控制流程、溢出判断</a:t>
            </a:r>
            <a:endParaRPr lang="zh-CN" altLang="en-US" b="1" spc="-100" dirty="0">
              <a:latin typeface="宋体" pitchFamily="2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79512" y="4941168"/>
            <a:ext cx="8812212" cy="140038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四、浮点数的运算         </a:t>
            </a:r>
            <a:r>
              <a:rPr lang="zh-CN" altLang="en-US" sz="2000" b="1" dirty="0" smtClean="0">
                <a:latin typeface="宋体" pitchFamily="2" charset="-122"/>
              </a:rPr>
              <a:t>△理解、运用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浮点</a:t>
            </a:r>
            <a:r>
              <a:rPr lang="zh-CN" altLang="en-US" b="1" dirty="0">
                <a:latin typeface="宋体" pitchFamily="2" charset="-122"/>
              </a:rPr>
              <a:t>加减运算的运算步骤   </a:t>
            </a:r>
            <a:r>
              <a:rPr lang="en-US" altLang="zh-CN" sz="2000" b="1" dirty="0">
                <a:latin typeface="宋体" pitchFamily="2" charset="-122"/>
              </a:rPr>
              <a:t>(</a:t>
            </a:r>
            <a:r>
              <a:rPr lang="zh-CN" altLang="en-US" sz="2000" b="1" dirty="0">
                <a:latin typeface="宋体" pitchFamily="2" charset="-122"/>
              </a:rPr>
              <a:t>乘除运算不考</a:t>
            </a:r>
            <a:r>
              <a:rPr lang="en-US" altLang="zh-CN" sz="2000" b="1" dirty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sz="2000" b="1" dirty="0">
                <a:latin typeface="宋体" pitchFamily="2" charset="-122"/>
              </a:rPr>
              <a:t>                              </a:t>
            </a:r>
            <a:r>
              <a:rPr lang="en-US" altLang="zh-CN" sz="2000" b="1" dirty="0" smtClean="0">
                <a:latin typeface="宋体" pitchFamily="2" charset="-122"/>
              </a:rPr>
              <a:t>   </a:t>
            </a:r>
            <a:r>
              <a:rPr lang="en-US" altLang="zh-CN" sz="2000" b="1" dirty="0">
                <a:latin typeface="宋体" pitchFamily="2" charset="-122"/>
              </a:rPr>
              <a:t>(</a:t>
            </a:r>
            <a:r>
              <a:rPr lang="zh-CN" altLang="en-US" sz="2000" b="1" dirty="0">
                <a:latin typeface="宋体" pitchFamily="2" charset="-122"/>
              </a:rPr>
              <a:t>十进制运算不考</a:t>
            </a:r>
            <a:r>
              <a:rPr lang="en-US" altLang="zh-CN" sz="2000" b="1" dirty="0">
                <a:latin typeface="宋体" pitchFamily="2" charset="-122"/>
              </a:rPr>
              <a:t>)</a:t>
            </a:r>
            <a:endParaRPr lang="en-US" altLang="zh-CN" sz="2000" b="1" dirty="0" smtClean="0">
              <a:latin typeface="+mn-ea"/>
              <a:ea typeface="+mn-ea"/>
            </a:endParaRPr>
          </a:p>
        </p:txBody>
      </p:sp>
      <p:sp>
        <p:nvSpPr>
          <p:cNvPr id="12" name="Text Box 132"/>
          <p:cNvSpPr txBox="1">
            <a:spLocks noChangeArrowheads="1"/>
          </p:cNvSpPr>
          <p:nvPr/>
        </p:nvSpPr>
        <p:spPr bwMode="auto">
          <a:xfrm>
            <a:off x="179388" y="879103"/>
            <a:ext cx="8785225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13" name="AutoShape 301">
            <a:hlinkClick r:id="rId2" action="ppaction://hlinkpres?slideindex=65&amp;slidetitle=PowerPoint 演示文稿" highlightClick="1"/>
          </p:cNvPr>
          <p:cNvSpPr>
            <a:spLocks noChangeArrowheads="1"/>
          </p:cNvSpPr>
          <p:nvPr/>
        </p:nvSpPr>
        <p:spPr bwMode="auto">
          <a:xfrm rot="10800000">
            <a:off x="8238692" y="2204864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137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五、运算器的组织</a:t>
            </a:r>
            <a:endParaRPr lang="en-US" altLang="zh-CN" b="1" dirty="0" smtClean="0">
              <a:latin typeface="+mn-ea"/>
              <a:ea typeface="+mn-ea"/>
            </a:endParaRPr>
          </a:p>
        </p:txBody>
      </p:sp>
      <p:sp>
        <p:nvSpPr>
          <p:cNvPr id="4" name="Text Box 43"/>
          <p:cNvSpPr txBox="1">
            <a:spLocks noChangeArrowheads="1"/>
          </p:cNvSpPr>
          <p:nvPr/>
        </p:nvSpPr>
        <p:spPr bwMode="auto">
          <a:xfrm>
            <a:off x="179388" y="838349"/>
            <a:ext cx="87852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1.ALU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的组成             </a:t>
            </a:r>
            <a:r>
              <a:rPr lang="zh-CN" altLang="en-US" sz="2000" b="1" dirty="0" smtClean="0">
                <a:latin typeface="宋体" pitchFamily="2" charset="-122"/>
              </a:rPr>
              <a:t>◇理解原理</a:t>
            </a:r>
            <a:endParaRPr lang="zh-CN" altLang="en-US" b="1" dirty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功能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算术仅为加减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、接口、组成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组合逻辑、功能决定引脚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en-US" altLang="zh-CN" b="1" dirty="0" smtClean="0">
                <a:latin typeface="宋体" pitchFamily="2" charset="-122"/>
              </a:rPr>
              <a:t> 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5" name="Text Box 43"/>
          <p:cNvSpPr txBox="1">
            <a:spLocks noChangeArrowheads="1"/>
          </p:cNvSpPr>
          <p:nvPr/>
        </p:nvSpPr>
        <p:spPr bwMode="auto">
          <a:xfrm>
            <a:off x="179512" y="1774453"/>
            <a:ext cx="8785225" cy="1403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运算器的组织          </a:t>
            </a:r>
            <a:r>
              <a:rPr lang="zh-CN" altLang="en-US" sz="2000" b="1" dirty="0" smtClean="0">
                <a:latin typeface="宋体" pitchFamily="2" charset="-122"/>
              </a:rPr>
              <a:t>◇理解原理、关联数据通路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功能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运算</a:t>
            </a:r>
            <a:r>
              <a:rPr lang="en-US" altLang="zh-CN" sz="2000" b="1" dirty="0" smtClean="0">
                <a:latin typeface="宋体" pitchFamily="2" charset="-122"/>
              </a:rPr>
              <a:t>+</a:t>
            </a:r>
            <a:r>
              <a:rPr lang="zh-CN" altLang="en-US" sz="2000" b="1" dirty="0" smtClean="0">
                <a:latin typeface="宋体" pitchFamily="2" charset="-122"/>
              </a:rPr>
              <a:t>暂存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、部件组成</a:t>
            </a:r>
            <a:r>
              <a:rPr lang="en-US" altLang="zh-CN" sz="2000" b="1" dirty="0" smtClean="0">
                <a:latin typeface="宋体" pitchFamily="2" charset="-122"/>
              </a:rPr>
              <a:t>(2</a:t>
            </a:r>
            <a:r>
              <a:rPr lang="zh-CN" altLang="en-US" sz="2000" b="1" dirty="0" smtClean="0">
                <a:latin typeface="宋体" pitchFamily="2" charset="-122"/>
              </a:rPr>
              <a:t>类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、部件互连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总线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点点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zh-CN" altLang="en-US" sz="2000" b="1" dirty="0" smtClean="0">
                <a:latin typeface="宋体" pitchFamily="2" charset="-122"/>
              </a:rPr>
              <a:t>                                          </a:t>
            </a:r>
            <a:r>
              <a:rPr lang="zh-CN" altLang="en-US" sz="2000" dirty="0" smtClean="0">
                <a:latin typeface="宋体" pitchFamily="2" charset="-122"/>
              </a:rPr>
              <a:t>└</a:t>
            </a:r>
            <a:r>
              <a:rPr lang="zh-CN" altLang="en-US" sz="2000" b="1" dirty="0" smtClean="0">
                <a:latin typeface="宋体" pitchFamily="2" charset="-122"/>
              </a:rPr>
              <a:t>←数据通路的一部分</a:t>
            </a:r>
            <a:r>
              <a:rPr lang="en-US" altLang="zh-CN" b="1" dirty="0" smtClean="0">
                <a:latin typeface="宋体" pitchFamily="2" charset="-122"/>
              </a:rPr>
              <a:t> 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7" name="Text Box 43"/>
          <p:cNvSpPr txBox="1">
            <a:spLocks noChangeArrowheads="1"/>
          </p:cNvSpPr>
          <p:nvPr/>
        </p:nvSpPr>
        <p:spPr bwMode="auto">
          <a:xfrm>
            <a:off x="179512" y="3146192"/>
            <a:ext cx="8785225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*本章总体要求：   </a:t>
            </a:r>
            <a:endParaRPr lang="en-US" altLang="zh-CN" b="1" dirty="0" smtClean="0">
              <a:solidFill>
                <a:srgbClr val="C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①掌握数据的</a:t>
            </a:r>
            <a:r>
              <a:rPr lang="zh-CN" altLang="en-US" b="1" u="sng" dirty="0" smtClean="0">
                <a:latin typeface="宋体" pitchFamily="2" charset="-122"/>
              </a:rPr>
              <a:t>编码方法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zh-CN" altLang="en-US" b="1" dirty="0" smtClean="0">
                <a:latin typeface="宋体" pitchFamily="2" charset="-122"/>
              </a:rPr>
              <a:t>重点是数值</a:t>
            </a:r>
            <a:r>
              <a:rPr lang="en-US" altLang="zh-CN" b="1" dirty="0" smtClean="0">
                <a:latin typeface="宋体" pitchFamily="2" charset="-122"/>
              </a:rPr>
              <a:t>/</a:t>
            </a:r>
            <a:r>
              <a:rPr lang="zh-CN" altLang="en-US" b="1" dirty="0" smtClean="0">
                <a:latin typeface="宋体" pitchFamily="2" charset="-122"/>
              </a:rPr>
              <a:t>非数值数据</a:t>
            </a:r>
            <a:r>
              <a:rPr lang="en-US" altLang="zh-CN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宋体" pitchFamily="2" charset="-122"/>
              </a:rPr>
              <a:t> </a:t>
            </a:r>
            <a:r>
              <a:rPr lang="zh-CN" altLang="en-US" b="1" dirty="0" smtClean="0">
                <a:latin typeface="宋体" pitchFamily="2" charset="-122"/>
              </a:rPr>
              <a:t>   ②理解数据</a:t>
            </a:r>
            <a:r>
              <a:rPr lang="zh-CN" altLang="en-US" b="1" u="sng" dirty="0" smtClean="0">
                <a:latin typeface="宋体" pitchFamily="2" charset="-122"/>
              </a:rPr>
              <a:t>如何存放</a:t>
            </a:r>
            <a:r>
              <a:rPr lang="zh-CN" altLang="en-US" b="1" dirty="0" smtClean="0">
                <a:latin typeface="宋体" pitchFamily="2" charset="-122"/>
              </a:rPr>
              <a:t>在硬件中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zh-CN" altLang="en-US" b="1" dirty="0" smtClean="0">
                <a:latin typeface="宋体" pitchFamily="2" charset="-122"/>
              </a:rPr>
              <a:t>表示方法与数据类型</a:t>
            </a:r>
            <a:r>
              <a:rPr lang="en-US" altLang="zh-CN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b="1" dirty="0">
                <a:latin typeface="宋体" pitchFamily="2" charset="-122"/>
              </a:rPr>
              <a:t> </a:t>
            </a:r>
            <a:r>
              <a:rPr lang="zh-CN" altLang="en-US" b="1" dirty="0" smtClean="0">
                <a:latin typeface="宋体" pitchFamily="2" charset="-122"/>
              </a:rPr>
              <a:t>   ③掌握数据的</a:t>
            </a:r>
            <a:r>
              <a:rPr lang="zh-CN" altLang="en-US" b="1" u="sng" dirty="0" smtClean="0">
                <a:latin typeface="宋体" pitchFamily="2" charset="-122"/>
              </a:rPr>
              <a:t>运算方法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zh-CN" altLang="en-US" b="1" dirty="0" smtClean="0">
                <a:latin typeface="宋体" pitchFamily="2" charset="-122"/>
              </a:rPr>
              <a:t>运算规则、溢出</a:t>
            </a:r>
            <a:r>
              <a:rPr lang="zh-CN" altLang="en-US" b="1" dirty="0">
                <a:latin typeface="宋体" pitchFamily="2" charset="-122"/>
              </a:rPr>
              <a:t>判断、逻辑实现</a:t>
            </a:r>
            <a:r>
              <a:rPr lang="en-US" altLang="zh-CN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④理解运算器如何</a:t>
            </a:r>
            <a:r>
              <a:rPr lang="zh-CN" altLang="en-US" b="1" u="sng" dirty="0" smtClean="0">
                <a:latin typeface="宋体" pitchFamily="2" charset="-122"/>
              </a:rPr>
              <a:t>组织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zh-CN" altLang="en-US" b="1" dirty="0" smtClean="0">
                <a:latin typeface="宋体" pitchFamily="2" charset="-122"/>
              </a:rPr>
              <a:t>部件＋互连</a:t>
            </a:r>
            <a:r>
              <a:rPr lang="en-US" altLang="zh-CN" b="1" dirty="0" smtClean="0">
                <a:latin typeface="宋体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4558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95" name="Rectangle 19"/>
          <p:cNvSpPr>
            <a:spLocks noChangeArrowheads="1"/>
          </p:cNvSpPr>
          <p:nvPr/>
        </p:nvSpPr>
        <p:spPr bwMode="auto">
          <a:xfrm>
            <a:off x="179388" y="2276773"/>
            <a:ext cx="8785225" cy="55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038" rIns="90000" bIns="46038">
            <a:spAutoFit/>
          </a:bodyPr>
          <a:lstStyle/>
          <a:p>
            <a:pPr algn="just" eaLnBrk="0" hangingPunct="0">
              <a:lnSpc>
                <a:spcPct val="125000"/>
              </a:lnSpc>
              <a:tabLst>
                <a:tab pos="2066925" algn="l"/>
              </a:tabLst>
            </a:pPr>
            <a:r>
              <a:rPr lang="en-US" altLang="zh-CN" b="1" dirty="0">
                <a:solidFill>
                  <a:srgbClr val="990099"/>
                </a:solidFill>
                <a:latin typeface="宋体" pitchFamily="2" charset="-122"/>
              </a:rPr>
              <a:t>  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例</a:t>
            </a: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2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：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求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IEEE</a:t>
            </a:r>
            <a:r>
              <a:rPr lang="en-US" altLang="zh-CN" b="1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754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单精度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浮点数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CC968000H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的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真值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N</a:t>
            </a:r>
            <a:endParaRPr lang="en-US" altLang="zh-CN" b="1" dirty="0">
              <a:solidFill>
                <a:srgbClr val="000000"/>
              </a:solidFill>
              <a:latin typeface="宋体" pitchFamily="2" charset="-122"/>
              <a:cs typeface="Times New Roman" pitchFamily="18" charset="0"/>
            </a:endParaRPr>
          </a:p>
        </p:txBody>
      </p:sp>
      <p:sp>
        <p:nvSpPr>
          <p:cNvPr id="126996" name="Rectangle 20"/>
          <p:cNvSpPr>
            <a:spLocks noChangeArrowheads="1"/>
          </p:cNvSpPr>
          <p:nvPr/>
        </p:nvSpPr>
        <p:spPr bwMode="auto">
          <a:xfrm>
            <a:off x="179388" y="282072"/>
            <a:ext cx="8785225" cy="554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038" rIns="90000" bIns="46038">
            <a:spAutoFit/>
          </a:bodyPr>
          <a:lstStyle/>
          <a:p>
            <a:pPr algn="just" eaLnBrk="0" hangingPunct="0">
              <a:lnSpc>
                <a:spcPct val="125000"/>
              </a:lnSpc>
              <a:tabLst>
                <a:tab pos="2066925" algn="l"/>
              </a:tabLst>
            </a:pPr>
            <a:r>
              <a:rPr lang="en-US" altLang="zh-CN" b="1" dirty="0">
                <a:solidFill>
                  <a:srgbClr val="990099"/>
                </a:solidFill>
                <a:latin typeface="宋体" pitchFamily="2" charset="-122"/>
              </a:rPr>
              <a:t>  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例</a:t>
            </a: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1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：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求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(-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11/128)</a:t>
            </a:r>
            <a:r>
              <a:rPr lang="en-US" altLang="zh-CN" b="1" baseline="-180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10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的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IEEE 754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单精度浮点数的机器码</a:t>
            </a:r>
            <a:endParaRPr lang="zh-CN" altLang="en-US" b="1" dirty="0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126997" name="Rectangle 21"/>
          <p:cNvSpPr>
            <a:spLocks noChangeArrowheads="1"/>
          </p:cNvSpPr>
          <p:nvPr/>
        </p:nvSpPr>
        <p:spPr bwMode="auto">
          <a:xfrm>
            <a:off x="179388" y="764704"/>
            <a:ext cx="8785225" cy="101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038" rIns="90000" bIns="46038">
            <a:spAutoFit/>
          </a:bodyPr>
          <a:lstStyle/>
          <a:p>
            <a:pPr algn="just" eaLnBrk="0" hangingPunct="0">
              <a:lnSpc>
                <a:spcPct val="125000"/>
              </a:lnSpc>
              <a:tabLst>
                <a:tab pos="2066925" algn="l"/>
              </a:tabLst>
            </a:pPr>
            <a:r>
              <a:rPr lang="en-US" altLang="zh-CN" b="1" dirty="0">
                <a:solidFill>
                  <a:srgbClr val="990099"/>
                </a:solidFill>
                <a:latin typeface="宋体" pitchFamily="2" charset="-122"/>
              </a:rPr>
              <a:t>  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解：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(-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11/128)</a:t>
            </a:r>
            <a:r>
              <a:rPr lang="en-US" altLang="zh-CN" b="1" baseline="-180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10</a:t>
            </a:r>
            <a:r>
              <a:rPr lang="en-US" altLang="zh-CN" b="1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=(</a:t>
            </a:r>
            <a:r>
              <a:rPr lang="en-US" altLang="zh-CN" b="1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-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1011)</a:t>
            </a:r>
            <a:r>
              <a:rPr lang="en-US" altLang="zh-CN" b="1" baseline="-180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×2</a:t>
            </a:r>
            <a:r>
              <a:rPr lang="en-US" altLang="zh-CN" b="1" baseline="300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-7</a:t>
            </a:r>
            <a:r>
              <a:rPr lang="en-US" altLang="zh-CN" b="1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=(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-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0.1011)</a:t>
            </a:r>
            <a:r>
              <a:rPr lang="en-US" altLang="zh-CN" b="1" baseline="-180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×2</a:t>
            </a:r>
            <a:r>
              <a:rPr lang="en-US" altLang="zh-CN" b="1" baseline="300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-3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 </a:t>
            </a:r>
          </a:p>
          <a:p>
            <a:pPr algn="just" eaLnBrk="0" hangingPunct="0">
              <a:lnSpc>
                <a:spcPct val="125000"/>
              </a:lnSpc>
              <a:tabLst>
                <a:tab pos="2066925" algn="l"/>
              </a:tabLst>
            </a:pP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                   </a:t>
            </a:r>
            <a:r>
              <a:rPr lang="en-US" altLang="zh-CN" sz="1800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=(-1.011)</a:t>
            </a:r>
            <a:r>
              <a:rPr lang="en-US" altLang="zh-CN" b="1" baseline="-180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×2</a:t>
            </a:r>
            <a:r>
              <a:rPr lang="en-US" altLang="zh-CN" b="1" baseline="300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-4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=(-1.011)</a:t>
            </a:r>
            <a:r>
              <a:rPr lang="en-US" altLang="zh-CN" b="1" baseline="-180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×2</a:t>
            </a:r>
            <a:r>
              <a:rPr lang="en-US" altLang="zh-CN" b="1" baseline="300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123-127</a:t>
            </a:r>
          </a:p>
        </p:txBody>
      </p:sp>
      <p:sp>
        <p:nvSpPr>
          <p:cNvPr id="126998" name="Rectangle 22"/>
          <p:cNvSpPr>
            <a:spLocks noChangeArrowheads="1"/>
          </p:cNvSpPr>
          <p:nvPr/>
        </p:nvSpPr>
        <p:spPr bwMode="auto">
          <a:xfrm>
            <a:off x="179388" y="2754610"/>
            <a:ext cx="8785225" cy="10163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038" rIns="90000" bIns="46038">
            <a:spAutoFit/>
          </a:bodyPr>
          <a:lstStyle/>
          <a:p>
            <a:pPr algn="just" eaLnBrk="0" hangingPunct="0">
              <a:lnSpc>
                <a:spcPct val="125000"/>
              </a:lnSpc>
              <a:tabLst>
                <a:tab pos="2066925" algn="l"/>
              </a:tabLst>
            </a:pPr>
            <a:r>
              <a:rPr lang="en-US" altLang="zh-CN" b="1" dirty="0">
                <a:solidFill>
                  <a:srgbClr val="990099"/>
                </a:solidFill>
                <a:latin typeface="宋体" pitchFamily="2" charset="-122"/>
              </a:rPr>
              <a:t>  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解：</a:t>
            </a: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CC968000H = </a:t>
            </a:r>
            <a:r>
              <a:rPr lang="en-US" altLang="zh-CN" b="1" u="sng" dirty="0" smtClean="0">
                <a:solidFill>
                  <a:srgbClr val="FF3399"/>
                </a:solidFill>
                <a:latin typeface="宋体" pitchFamily="2" charset="-122"/>
              </a:rPr>
              <a:t>1</a:t>
            </a:r>
            <a:r>
              <a:rPr lang="en-US" altLang="zh-CN" b="1" dirty="0" smtClean="0">
                <a:solidFill>
                  <a:srgbClr val="000000"/>
                </a:solidFill>
              </a:rPr>
              <a:t> </a:t>
            </a:r>
            <a:r>
              <a:rPr lang="en-US" altLang="zh-CN" b="1" u="sng" dirty="0">
                <a:solidFill>
                  <a:srgbClr val="3333CC"/>
                </a:solidFill>
                <a:latin typeface="宋体" pitchFamily="2" charset="-122"/>
                <a:cs typeface="Times New Roman" pitchFamily="18" charset="0"/>
              </a:rPr>
              <a:t>10011001</a:t>
            </a:r>
            <a:r>
              <a:rPr lang="en-US" altLang="zh-CN" b="1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b="1" u="sng" dirty="0">
                <a:solidFill>
                  <a:srgbClr val="990099"/>
                </a:solidFill>
                <a:latin typeface="宋体" pitchFamily="2" charset="-122"/>
                <a:cs typeface="Times New Roman" pitchFamily="18" charset="0"/>
              </a:rPr>
              <a:t>00101101000000000000000</a:t>
            </a:r>
            <a:endParaRPr lang="en-US" altLang="zh-CN" b="1" dirty="0">
              <a:solidFill>
                <a:srgbClr val="990099"/>
              </a:solidFill>
              <a:latin typeface="宋体" pitchFamily="2" charset="-122"/>
              <a:cs typeface="Times New Roman" pitchFamily="18" charset="0"/>
            </a:endParaRPr>
          </a:p>
          <a:p>
            <a:pPr algn="just" eaLnBrk="0" hangingPunct="0">
              <a:lnSpc>
                <a:spcPct val="125000"/>
              </a:lnSpc>
              <a:tabLst>
                <a:tab pos="2066925" algn="l"/>
              </a:tabLst>
            </a:pP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        N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为负数，浮点数为规格化数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itchFamily="2" charset="-122"/>
              </a:rPr>
              <a:t>(∵1</a:t>
            </a:r>
            <a:r>
              <a:rPr lang="zh-CN" altLang="en-US" sz="2000" b="1" dirty="0">
                <a:solidFill>
                  <a:srgbClr val="000000"/>
                </a:solidFill>
                <a:latin typeface="宋体" pitchFamily="2" charset="-122"/>
              </a:rPr>
              <a:t>＜</a:t>
            </a:r>
            <a:r>
              <a:rPr lang="en-US" altLang="zh-CN" sz="2000" b="1" dirty="0">
                <a:solidFill>
                  <a:srgbClr val="3333CC"/>
                </a:solidFill>
                <a:latin typeface="宋体" pitchFamily="2" charset="-122"/>
              </a:rPr>
              <a:t>10011001</a:t>
            </a:r>
            <a:r>
              <a:rPr lang="zh-CN" altLang="en-US" sz="2000" b="1" dirty="0">
                <a:solidFill>
                  <a:srgbClr val="000000"/>
                </a:solidFill>
                <a:latin typeface="宋体" pitchFamily="2" charset="-122"/>
              </a:rPr>
              <a:t>＜</a:t>
            </a:r>
            <a:r>
              <a:rPr lang="en-US" altLang="zh-CN" sz="2000" b="1" dirty="0">
                <a:solidFill>
                  <a:srgbClr val="000000"/>
                </a:solidFill>
                <a:latin typeface="宋体" pitchFamily="2" charset="-122"/>
              </a:rPr>
              <a:t>254)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；</a:t>
            </a:r>
          </a:p>
        </p:txBody>
      </p:sp>
      <p:grpSp>
        <p:nvGrpSpPr>
          <p:cNvPr id="127092" name="Group 116"/>
          <p:cNvGrpSpPr>
            <a:grpSpLocks/>
          </p:cNvGrpSpPr>
          <p:nvPr/>
        </p:nvGrpSpPr>
        <p:grpSpPr bwMode="auto">
          <a:xfrm>
            <a:off x="3205163" y="1844973"/>
            <a:ext cx="5040312" cy="360362"/>
            <a:chOff x="2019" y="1223"/>
            <a:chExt cx="3175" cy="227"/>
          </a:xfrm>
        </p:grpSpPr>
        <p:sp>
          <p:nvSpPr>
            <p:cNvPr id="127074" name="Text Box 98"/>
            <p:cNvSpPr txBox="1">
              <a:spLocks noChangeArrowheads="1"/>
            </p:cNvSpPr>
            <p:nvPr/>
          </p:nvSpPr>
          <p:spPr bwMode="auto">
            <a:xfrm>
              <a:off x="2019" y="1223"/>
              <a:ext cx="227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rIns="18000" anchor="ctr"/>
            <a:lstStyle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宋体" pitchFamily="2" charset="-122"/>
                </a:rPr>
                <a:t>1 </a:t>
              </a:r>
              <a:endParaRPr lang="en-US" altLang="zh-CN" sz="2000" b="1" i="1" dirty="0">
                <a:solidFill>
                  <a:srgbClr val="000000"/>
                </a:solidFill>
                <a:latin typeface="宋体" pitchFamily="2" charset="-122"/>
              </a:endParaRPr>
            </a:p>
          </p:txBody>
        </p:sp>
        <p:sp>
          <p:nvSpPr>
            <p:cNvPr id="127075" name="Text Box 99"/>
            <p:cNvSpPr txBox="1">
              <a:spLocks noChangeArrowheads="1"/>
            </p:cNvSpPr>
            <p:nvPr/>
          </p:nvSpPr>
          <p:spPr bwMode="auto">
            <a:xfrm>
              <a:off x="2246" y="1223"/>
              <a:ext cx="771" cy="22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rIns="18000" anchor="ctr"/>
            <a:lstStyle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宋体" pitchFamily="2" charset="-122"/>
                </a:rPr>
                <a:t>0111</a:t>
              </a:r>
              <a:r>
                <a:rPr lang="en-US" altLang="zh-CN" sz="2000" b="1" dirty="0">
                  <a:solidFill>
                    <a:srgbClr val="000000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0000"/>
                  </a:solidFill>
                  <a:latin typeface="宋体" pitchFamily="2" charset="-122"/>
                </a:rPr>
                <a:t>1011</a:t>
              </a:r>
              <a:endParaRPr lang="en-US" altLang="zh-CN" sz="2000" b="1" i="1" dirty="0">
                <a:solidFill>
                  <a:srgbClr val="000000"/>
                </a:solidFill>
                <a:latin typeface="宋体" pitchFamily="2" charset="-122"/>
              </a:endParaRPr>
            </a:p>
          </p:txBody>
        </p:sp>
        <p:sp>
          <p:nvSpPr>
            <p:cNvPr id="127076" name="Text Box 100"/>
            <p:cNvSpPr txBox="1">
              <a:spLocks noChangeArrowheads="1"/>
            </p:cNvSpPr>
            <p:nvPr/>
          </p:nvSpPr>
          <p:spPr bwMode="auto">
            <a:xfrm>
              <a:off x="3016" y="1223"/>
              <a:ext cx="2178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rIns="18000" anchor="ctr"/>
            <a:lstStyle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宋体" pitchFamily="2" charset="-122"/>
                </a:rPr>
                <a:t>0110</a:t>
              </a:r>
              <a:r>
                <a:rPr lang="en-US" altLang="zh-CN" sz="2000" b="1" dirty="0">
                  <a:solidFill>
                    <a:srgbClr val="000000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0000"/>
                  </a:solidFill>
                  <a:latin typeface="宋体" pitchFamily="2" charset="-122"/>
                </a:rPr>
                <a:t>0000</a:t>
              </a:r>
              <a:r>
                <a:rPr lang="en-US" altLang="zh-CN" sz="2000" b="1" dirty="0">
                  <a:solidFill>
                    <a:srgbClr val="000000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0000"/>
                  </a:solidFill>
                  <a:latin typeface="宋体" pitchFamily="2" charset="-122"/>
                </a:rPr>
                <a:t>0000</a:t>
              </a:r>
              <a:r>
                <a:rPr lang="en-US" altLang="zh-CN" sz="2000" b="1" dirty="0">
                  <a:solidFill>
                    <a:srgbClr val="000000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0000"/>
                  </a:solidFill>
                  <a:latin typeface="宋体" pitchFamily="2" charset="-122"/>
                </a:rPr>
                <a:t>0000</a:t>
              </a:r>
              <a:r>
                <a:rPr lang="en-US" altLang="zh-CN" sz="2000" b="1" dirty="0">
                  <a:solidFill>
                    <a:srgbClr val="000000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0000"/>
                  </a:solidFill>
                  <a:latin typeface="宋体" pitchFamily="2" charset="-122"/>
                </a:rPr>
                <a:t>0000</a:t>
              </a:r>
              <a:r>
                <a:rPr lang="en-US" altLang="zh-CN" sz="2000" b="1" dirty="0">
                  <a:solidFill>
                    <a:srgbClr val="000000"/>
                  </a:solidFill>
                </a:rPr>
                <a:t> </a:t>
              </a:r>
              <a:r>
                <a:rPr lang="en-US" altLang="zh-CN" sz="2000" b="1" dirty="0">
                  <a:solidFill>
                    <a:srgbClr val="000000"/>
                  </a:solidFill>
                  <a:latin typeface="宋体" pitchFamily="2" charset="-122"/>
                </a:rPr>
                <a:t>000</a:t>
              </a:r>
              <a:endParaRPr lang="en-US" altLang="zh-CN" sz="2000" b="1" i="1" dirty="0">
                <a:solidFill>
                  <a:srgbClr val="000000"/>
                </a:solidFill>
                <a:latin typeface="宋体" pitchFamily="2" charset="-122"/>
              </a:endParaRPr>
            </a:p>
          </p:txBody>
        </p:sp>
      </p:grpSp>
      <p:sp>
        <p:nvSpPr>
          <p:cNvPr id="127078" name="Rectangle 102"/>
          <p:cNvSpPr>
            <a:spLocks noChangeArrowheads="1"/>
          </p:cNvSpPr>
          <p:nvPr/>
        </p:nvSpPr>
        <p:spPr bwMode="auto">
          <a:xfrm>
            <a:off x="179388" y="1764010"/>
            <a:ext cx="3024187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038" rIns="90000" bIns="46038">
            <a:spAutoFit/>
          </a:bodyPr>
          <a:lstStyle/>
          <a:p>
            <a:pPr algn="just" eaLnBrk="0" hangingPunct="0">
              <a:lnSpc>
                <a:spcPct val="115000"/>
              </a:lnSpc>
              <a:tabLst>
                <a:tab pos="2066925" algn="l"/>
              </a:tabLst>
            </a:pPr>
            <a:r>
              <a:rPr lang="en-US" altLang="zh-CN" b="1" dirty="0">
                <a:solidFill>
                  <a:srgbClr val="3333CC"/>
                </a:solidFill>
                <a:latin typeface="宋体" pitchFamily="2" charset="-122"/>
              </a:rPr>
              <a:t>        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机器码为：</a:t>
            </a:r>
            <a:endParaRPr lang="zh-CN" altLang="en-US" b="1" baseline="-18000" dirty="0">
              <a:solidFill>
                <a:srgbClr val="000000"/>
              </a:solidFill>
              <a:latin typeface="宋体" pitchFamily="2" charset="-122"/>
              <a:cs typeface="Times New Roman" pitchFamily="18" charset="0"/>
            </a:endParaRPr>
          </a:p>
        </p:txBody>
      </p:sp>
      <p:sp>
        <p:nvSpPr>
          <p:cNvPr id="127079" name="Rectangle 103"/>
          <p:cNvSpPr>
            <a:spLocks noChangeArrowheads="1"/>
          </p:cNvSpPr>
          <p:nvPr/>
        </p:nvSpPr>
        <p:spPr bwMode="auto">
          <a:xfrm>
            <a:off x="179388" y="3762673"/>
            <a:ext cx="8785225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038" rIns="90000" bIns="46038">
            <a:spAutoFit/>
          </a:bodyPr>
          <a:lstStyle/>
          <a:p>
            <a:pPr algn="just" eaLnBrk="0" hangingPunct="0">
              <a:lnSpc>
                <a:spcPct val="125000"/>
              </a:lnSpc>
              <a:tabLst>
                <a:tab pos="2066925" algn="l"/>
              </a:tabLst>
            </a:pP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        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阶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=(10011001)</a:t>
            </a:r>
            <a:r>
              <a:rPr lang="en-US" altLang="zh-CN" b="1" baseline="-18000" dirty="0" smtClean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－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(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01111111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)</a:t>
            </a:r>
            <a:r>
              <a:rPr lang="en-US" altLang="zh-CN" b="1" baseline="-180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(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00011010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)</a:t>
            </a:r>
            <a:r>
              <a:rPr lang="en-US" altLang="zh-CN" b="1" baseline="-180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(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26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)</a:t>
            </a:r>
            <a:r>
              <a:rPr lang="en-US" altLang="zh-CN" b="1" baseline="-200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10</a:t>
            </a:r>
          </a:p>
          <a:p>
            <a:pPr algn="just" eaLnBrk="0" hangingPunct="0">
              <a:lnSpc>
                <a:spcPct val="125000"/>
              </a:lnSpc>
              <a:tabLst>
                <a:tab pos="2066925" algn="l"/>
              </a:tabLst>
            </a:pP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        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尾数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=(</a:t>
            </a:r>
            <a:r>
              <a:rPr lang="en-US" altLang="zh-CN" b="1" dirty="0">
                <a:solidFill>
                  <a:srgbClr val="9900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.00101101)</a:t>
            </a:r>
            <a:r>
              <a:rPr lang="en-US" altLang="zh-CN" b="1" baseline="-180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=(1.17578125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)</a:t>
            </a:r>
            <a:r>
              <a:rPr lang="en-US" altLang="zh-CN" b="1" baseline="-200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10</a:t>
            </a:r>
          </a:p>
          <a:p>
            <a:pPr algn="just" eaLnBrk="0" hangingPunct="0">
              <a:lnSpc>
                <a:spcPct val="125000"/>
              </a:lnSpc>
              <a:tabLst>
                <a:tab pos="2066925" algn="l"/>
              </a:tabLst>
            </a:pP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        ∴N=(―1)</a:t>
            </a:r>
            <a:r>
              <a:rPr lang="en-US" altLang="zh-CN" b="1" baseline="30000" dirty="0">
                <a:solidFill>
                  <a:srgbClr val="000000"/>
                </a:solidFill>
                <a:latin typeface="宋体" pitchFamily="2" charset="-12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×1.17578125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×2</a:t>
            </a:r>
            <a:r>
              <a:rPr lang="en-US" altLang="zh-CN" b="1" baseline="30000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26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=-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1.17578125×2</a:t>
            </a:r>
            <a:r>
              <a:rPr lang="en-US" altLang="zh-CN" b="1" baseline="30000" dirty="0">
                <a:solidFill>
                  <a:srgbClr val="000000"/>
                </a:solidFill>
                <a:latin typeface="宋体" pitchFamily="2" charset="-122"/>
              </a:rPr>
              <a:t>26</a:t>
            </a:r>
          </a:p>
        </p:txBody>
      </p:sp>
      <p:sp>
        <p:nvSpPr>
          <p:cNvPr id="127082" name="Text Box 106"/>
          <p:cNvSpPr txBox="1">
            <a:spLocks noChangeArrowheads="1"/>
          </p:cNvSpPr>
          <p:nvPr/>
        </p:nvSpPr>
        <p:spPr bwMode="auto">
          <a:xfrm>
            <a:off x="179388" y="5229523"/>
            <a:ext cx="8785225" cy="96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itchFamily="2" charset="-122"/>
              </a:rPr>
              <a:t>   ◇</a:t>
            </a:r>
            <a:r>
              <a:rPr lang="zh-CN" altLang="en-US" b="1" dirty="0">
                <a:solidFill>
                  <a:srgbClr val="FF3399"/>
                </a:solidFill>
                <a:latin typeface="宋体" pitchFamily="2" charset="-122"/>
              </a:rPr>
              <a:t>数值数据的表示：</a:t>
            </a:r>
            <a:r>
              <a:rPr lang="zh-CN" altLang="en-US" b="1" u="sng" dirty="0">
                <a:solidFill>
                  <a:srgbClr val="3333CC"/>
                </a:solidFill>
              </a:rPr>
              <a:t>表示格式</a:t>
            </a:r>
            <a:r>
              <a:rPr lang="zh-CN" altLang="en-US" b="1" dirty="0">
                <a:solidFill>
                  <a:srgbClr val="000000"/>
                </a:solidFill>
              </a:rPr>
              <a:t>、</a:t>
            </a:r>
            <a:r>
              <a:rPr lang="zh-CN" altLang="en-US" b="1" u="sng" dirty="0">
                <a:solidFill>
                  <a:srgbClr val="3333CC"/>
                </a:solidFill>
                <a:latin typeface="宋体" pitchFamily="2" charset="-122"/>
              </a:rPr>
              <a:t>编码方式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、</a:t>
            </a:r>
            <a:r>
              <a:rPr lang="zh-CN" altLang="en-US" b="1" u="sng" dirty="0">
                <a:solidFill>
                  <a:srgbClr val="3333CC"/>
                </a:solidFill>
                <a:latin typeface="宋体" pitchFamily="2" charset="-122"/>
              </a:rPr>
              <a:t>数码长度</a:t>
            </a:r>
            <a:r>
              <a:rPr lang="zh-CN" altLang="en-US" b="1" dirty="0">
                <a:solidFill>
                  <a:srgbClr val="3333CC"/>
                </a:solidFill>
                <a:latin typeface="宋体" pitchFamily="2" charset="-122"/>
              </a:rPr>
              <a:t> </a:t>
            </a:r>
          </a:p>
          <a:p>
            <a:pPr>
              <a:lnSpc>
                <a:spcPct val="135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宋体" pitchFamily="2" charset="-122"/>
              </a:rPr>
              <a:t>                        </a:t>
            </a:r>
            <a:r>
              <a:rPr lang="en-US" altLang="zh-CN" sz="2000" b="1" dirty="0">
                <a:solidFill>
                  <a:srgbClr val="000000"/>
                </a:solidFill>
                <a:latin typeface="宋体" pitchFamily="2" charset="-122"/>
              </a:rPr>
              <a:t>(</a:t>
            </a:r>
            <a:r>
              <a:rPr lang="zh-CN" altLang="en-US" sz="2000" b="1" dirty="0">
                <a:solidFill>
                  <a:srgbClr val="000000"/>
                </a:solidFill>
                <a:latin typeface="宋体" pitchFamily="2" charset="-122"/>
              </a:rPr>
              <a:t>定点</a:t>
            </a:r>
            <a:r>
              <a:rPr lang="en-US" altLang="zh-CN" sz="2000" b="1" dirty="0">
                <a:solidFill>
                  <a:srgbClr val="000000"/>
                </a:solidFill>
                <a:latin typeface="宋体" pitchFamily="2" charset="-122"/>
              </a:rPr>
              <a:t>/</a:t>
            </a:r>
            <a:r>
              <a:rPr lang="zh-CN" altLang="en-US" sz="2000" b="1" dirty="0">
                <a:solidFill>
                  <a:srgbClr val="000000"/>
                </a:solidFill>
                <a:latin typeface="宋体" pitchFamily="2" charset="-122"/>
              </a:rPr>
              <a:t>浮点</a:t>
            </a:r>
            <a:r>
              <a:rPr lang="en-US" altLang="zh-CN" sz="2000" b="1" dirty="0">
                <a:solidFill>
                  <a:srgbClr val="000000"/>
                </a:solidFill>
                <a:latin typeface="宋体" pitchFamily="2" charset="-122"/>
              </a:rPr>
              <a:t>)  </a:t>
            </a:r>
            <a:r>
              <a:rPr lang="en-US" altLang="zh-CN" sz="2000" b="1" dirty="0" smtClean="0">
                <a:solidFill>
                  <a:srgbClr val="000000"/>
                </a:solidFill>
                <a:latin typeface="宋体" pitchFamily="2" charset="-122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宋体" pitchFamily="2" charset="-122"/>
              </a:rPr>
              <a:t>(</a:t>
            </a:r>
            <a:r>
              <a:rPr lang="zh-CN" altLang="en-US" sz="2000" b="1" dirty="0">
                <a:solidFill>
                  <a:srgbClr val="000000"/>
                </a:solidFill>
                <a:latin typeface="宋体" pitchFamily="2" charset="-122"/>
              </a:rPr>
              <a:t>某种</a:t>
            </a:r>
            <a:r>
              <a:rPr lang="en-US" altLang="zh-CN" sz="2000" b="1" dirty="0">
                <a:solidFill>
                  <a:srgbClr val="000000"/>
                </a:solidFill>
                <a:latin typeface="宋体" pitchFamily="2" charset="-122"/>
              </a:rPr>
              <a:t>)      (</a:t>
            </a:r>
            <a:r>
              <a:rPr lang="zh-CN" altLang="en-US" sz="2000" b="1" dirty="0">
                <a:solidFill>
                  <a:srgbClr val="000000"/>
                </a:solidFill>
                <a:latin typeface="宋体" pitchFamily="2" charset="-122"/>
              </a:rPr>
              <a:t>几种</a:t>
            </a:r>
            <a:r>
              <a:rPr lang="en-US" altLang="zh-CN" sz="2000" b="1" dirty="0">
                <a:solidFill>
                  <a:srgbClr val="000000"/>
                </a:solidFill>
                <a:latin typeface="宋体" pitchFamily="2" charset="-122"/>
              </a:rPr>
              <a:t>)</a:t>
            </a:r>
            <a:endParaRPr lang="en-US" altLang="zh-CN" sz="2000" b="1" dirty="0">
              <a:solidFill>
                <a:srgbClr val="000000"/>
              </a:solidFill>
            </a:endParaRPr>
          </a:p>
        </p:txBody>
      </p:sp>
      <p:sp>
        <p:nvSpPr>
          <p:cNvPr id="23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244408" y="6525344"/>
            <a:ext cx="899592" cy="288032"/>
          </a:xfrm>
        </p:spPr>
        <p:txBody>
          <a:bodyPr/>
          <a:lstStyle/>
          <a:p>
            <a:pPr algn="ctr">
              <a:defRPr/>
            </a:pPr>
            <a:fld id="{5C4C1B93-8483-479B-9518-A9279CF2AAB5}" type="slidenum">
              <a:rPr lang="en-US" altLang="zh-CN" sz="1600" smtClean="0"/>
              <a:pPr algn="ctr">
                <a:defRPr/>
              </a:pPr>
              <a:t>13</a:t>
            </a:fld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077538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6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2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6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126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1" dur="1000"/>
                                        <p:tgtEl>
                                          <p:spTgt spid="12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27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95" grpId="0"/>
      <p:bldP spid="126997" grpId="0"/>
      <p:bldP spid="126998" grpId="0"/>
      <p:bldP spid="127078" grpId="0"/>
      <p:bldP spid="127079" grpId="0"/>
      <p:bldP spid="12708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  <p:sp>
        <p:nvSpPr>
          <p:cNvPr id="7" name="TextBox 6"/>
          <p:cNvSpPr txBox="1"/>
          <p:nvPr/>
        </p:nvSpPr>
        <p:spPr>
          <a:xfrm>
            <a:off x="251520" y="980728"/>
            <a:ext cx="8892480" cy="218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200" b="1" kern="100" dirty="0" smtClean="0">
                <a:solidFill>
                  <a:srgbClr val="0000CC"/>
                </a:solidFill>
                <a:latin typeface="+mn-lt"/>
                <a:ea typeface="+mn-ea"/>
              </a:rPr>
              <a:t>例</a:t>
            </a:r>
            <a:r>
              <a:rPr lang="en-US" altLang="zh-CN" sz="2200" b="1" kern="100" dirty="0" smtClean="0">
                <a:solidFill>
                  <a:srgbClr val="0000CC"/>
                </a:solidFill>
                <a:latin typeface="+mn-lt"/>
                <a:ea typeface="+mn-ea"/>
              </a:rPr>
              <a:t>3</a:t>
            </a:r>
            <a:r>
              <a:rPr lang="zh-CN" altLang="en-US" sz="2200" b="1" kern="100" dirty="0" smtClean="0">
                <a:solidFill>
                  <a:srgbClr val="0000CC"/>
                </a:solidFill>
                <a:latin typeface="+mn-lt"/>
                <a:ea typeface="+mn-ea"/>
              </a:rPr>
              <a:t>：</a:t>
            </a:r>
            <a:r>
              <a:rPr lang="zh-CN" altLang="zh-CN" sz="2200" b="1" kern="100" dirty="0" smtClean="0">
                <a:latin typeface="+mn-lt"/>
                <a:ea typeface="+mn-ea"/>
              </a:rPr>
              <a:t>已知</a:t>
            </a:r>
            <a:r>
              <a:rPr lang="zh-CN" altLang="zh-CN" sz="2200" b="1" kern="100" dirty="0">
                <a:latin typeface="+mn-lt"/>
                <a:ea typeface="+mn-ea"/>
              </a:rPr>
              <a:t>计算机中有符号整数用</a:t>
            </a:r>
            <a:r>
              <a:rPr lang="en-US" altLang="zh-CN" sz="2200" b="1" kern="100" dirty="0">
                <a:latin typeface="+mn-lt"/>
                <a:ea typeface="+mn-ea"/>
              </a:rPr>
              <a:t>8</a:t>
            </a:r>
            <a:r>
              <a:rPr lang="zh-CN" altLang="zh-CN" sz="2200" b="1" kern="100" dirty="0">
                <a:latin typeface="+mn-lt"/>
                <a:ea typeface="+mn-ea"/>
              </a:rPr>
              <a:t>位补码表示，有</a:t>
            </a:r>
            <a:r>
              <a:rPr lang="en-US" altLang="zh-CN" sz="2200" b="1" kern="100" dirty="0">
                <a:latin typeface="+mn-lt"/>
                <a:ea typeface="+mn-ea"/>
              </a:rPr>
              <a:t>/</a:t>
            </a:r>
            <a:r>
              <a:rPr lang="zh-CN" altLang="zh-CN" sz="2200" b="1" kern="100" dirty="0">
                <a:latin typeface="+mn-lt"/>
                <a:ea typeface="+mn-ea"/>
              </a:rPr>
              <a:t>无符号整数的加</a:t>
            </a:r>
            <a:r>
              <a:rPr lang="en-US" altLang="zh-CN" sz="2200" b="1" kern="100" dirty="0">
                <a:latin typeface="+mn-lt"/>
                <a:ea typeface="+mn-ea"/>
              </a:rPr>
              <a:t>/</a:t>
            </a:r>
            <a:r>
              <a:rPr lang="zh-CN" altLang="zh-CN" sz="2200" b="1" kern="100" dirty="0">
                <a:latin typeface="+mn-lt"/>
                <a:ea typeface="+mn-ea"/>
              </a:rPr>
              <a:t>减运算均基于加法器实现。</a:t>
            </a:r>
          </a:p>
          <a:p>
            <a:pPr indent="298450"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sz="2200" b="1" kern="100" dirty="0">
                <a:latin typeface="+mn-lt"/>
                <a:ea typeface="+mn-ea"/>
              </a:rPr>
              <a:t>1</a:t>
            </a:r>
            <a:r>
              <a:rPr lang="zh-CN" altLang="zh-CN" sz="2200" b="1" kern="100" dirty="0">
                <a:latin typeface="+mn-lt"/>
                <a:ea typeface="+mn-ea"/>
              </a:rPr>
              <a:t>）若</a:t>
            </a:r>
            <a:r>
              <a:rPr lang="en-US" altLang="zh-CN" sz="2200" b="1" kern="100" dirty="0">
                <a:latin typeface="+mn-lt"/>
                <a:ea typeface="+mn-ea"/>
              </a:rPr>
              <a:t>X</a:t>
            </a:r>
            <a:r>
              <a:rPr lang="en-US" altLang="zh-CN" sz="2200" b="1" kern="100" dirty="0" smtClean="0">
                <a:latin typeface="+mn-lt"/>
                <a:ea typeface="+mn-ea"/>
              </a:rPr>
              <a:t>=-33</a:t>
            </a:r>
            <a:r>
              <a:rPr lang="zh-CN" altLang="zh-CN" sz="2200" b="1" kern="100" dirty="0" smtClean="0">
                <a:latin typeface="+mn-lt"/>
                <a:ea typeface="+mn-ea"/>
              </a:rPr>
              <a:t>、</a:t>
            </a:r>
            <a:r>
              <a:rPr lang="en-US" altLang="zh-CN" sz="2200" b="1" kern="100" dirty="0">
                <a:latin typeface="+mn-lt"/>
                <a:ea typeface="+mn-ea"/>
              </a:rPr>
              <a:t>Y</a:t>
            </a:r>
            <a:r>
              <a:rPr lang="en-US" altLang="zh-CN" sz="2200" b="1" kern="100" dirty="0" smtClean="0">
                <a:latin typeface="+mn-lt"/>
                <a:ea typeface="+mn-ea"/>
              </a:rPr>
              <a:t>=+44</a:t>
            </a:r>
            <a:r>
              <a:rPr lang="zh-CN" altLang="zh-CN" sz="2200" b="1" kern="100" dirty="0" smtClean="0">
                <a:latin typeface="+mn-lt"/>
                <a:ea typeface="+mn-ea"/>
              </a:rPr>
              <a:t>，</a:t>
            </a:r>
            <a:r>
              <a:rPr lang="zh-CN" altLang="zh-CN" sz="2200" b="1" kern="100" dirty="0">
                <a:latin typeface="+mn-lt"/>
                <a:ea typeface="+mn-ea"/>
              </a:rPr>
              <a:t>写出</a:t>
            </a:r>
            <a:r>
              <a:rPr lang="en-US" altLang="zh-CN" sz="2200" b="1" kern="100" dirty="0">
                <a:latin typeface="+mn-lt"/>
                <a:ea typeface="+mn-ea"/>
              </a:rPr>
              <a:t>[X]</a:t>
            </a:r>
            <a:r>
              <a:rPr lang="zh-CN" altLang="zh-CN" sz="2200" b="1" kern="100" baseline="-25000" dirty="0" smtClean="0">
                <a:latin typeface="+mn-lt"/>
                <a:ea typeface="+mn-ea"/>
              </a:rPr>
              <a:t>补</a:t>
            </a:r>
            <a:r>
              <a:rPr lang="zh-CN" altLang="en-US" sz="2200" b="1" kern="100" dirty="0"/>
              <a:t>及</a:t>
            </a:r>
            <a:r>
              <a:rPr lang="zh-CN" altLang="en-US" sz="2200" b="1" kern="100" dirty="0">
                <a:solidFill>
                  <a:srgbClr val="FF0000"/>
                </a:solidFill>
              </a:rPr>
              <a:t>移位</a:t>
            </a:r>
            <a:r>
              <a:rPr lang="zh-CN" altLang="zh-CN" sz="2200" b="1" kern="100" dirty="0" smtClean="0">
                <a:latin typeface="+mn-lt"/>
                <a:ea typeface="+mn-ea"/>
              </a:rPr>
              <a:t>、</a:t>
            </a:r>
            <a:r>
              <a:rPr lang="en-US" altLang="zh-CN" sz="2200" b="1" kern="100" dirty="0">
                <a:latin typeface="+mn-lt"/>
                <a:ea typeface="+mn-ea"/>
              </a:rPr>
              <a:t>[Y]</a:t>
            </a:r>
            <a:r>
              <a:rPr lang="zh-CN" altLang="zh-CN" sz="2200" b="1" kern="100" baseline="-25000" dirty="0">
                <a:latin typeface="+mn-lt"/>
                <a:ea typeface="+mn-ea"/>
              </a:rPr>
              <a:t>补</a:t>
            </a:r>
            <a:r>
              <a:rPr lang="zh-CN" altLang="zh-CN" sz="2200" b="1" kern="100" dirty="0">
                <a:latin typeface="+mn-lt"/>
                <a:ea typeface="+mn-ea"/>
              </a:rPr>
              <a:t>、</a:t>
            </a:r>
            <a:r>
              <a:rPr lang="en-US" altLang="zh-CN" sz="2200" b="1" kern="100" dirty="0">
                <a:latin typeface="+mn-lt"/>
                <a:ea typeface="+mn-ea"/>
              </a:rPr>
              <a:t>[X+Y]</a:t>
            </a:r>
            <a:r>
              <a:rPr lang="zh-CN" altLang="zh-CN" sz="2200" b="1" kern="100" baseline="-25000" dirty="0">
                <a:latin typeface="+mn-lt"/>
                <a:ea typeface="+mn-ea"/>
              </a:rPr>
              <a:t>补</a:t>
            </a:r>
            <a:r>
              <a:rPr lang="zh-CN" altLang="zh-CN" sz="2200" b="1" kern="100" dirty="0">
                <a:latin typeface="+mn-lt"/>
                <a:ea typeface="+mn-ea"/>
              </a:rPr>
              <a:t>、</a:t>
            </a:r>
            <a:r>
              <a:rPr lang="en-US" altLang="zh-CN" sz="2200" b="1" kern="100" dirty="0">
                <a:latin typeface="+mn-lt"/>
                <a:ea typeface="+mn-ea"/>
              </a:rPr>
              <a:t>[X-Y]</a:t>
            </a:r>
            <a:r>
              <a:rPr lang="zh-CN" altLang="zh-CN" sz="2200" b="1" kern="100" baseline="-25000" dirty="0">
                <a:latin typeface="+mn-lt"/>
                <a:ea typeface="+mn-ea"/>
              </a:rPr>
              <a:t>补</a:t>
            </a:r>
            <a:r>
              <a:rPr lang="zh-CN" altLang="zh-CN" sz="2200" b="1" kern="100" dirty="0">
                <a:latin typeface="+mn-lt"/>
                <a:ea typeface="+mn-ea"/>
              </a:rPr>
              <a:t>；</a:t>
            </a:r>
          </a:p>
          <a:p>
            <a:pPr indent="298450">
              <a:lnSpc>
                <a:spcPct val="120000"/>
              </a:lnSpc>
              <a:spcBef>
                <a:spcPts val="240"/>
              </a:spcBef>
              <a:spcAft>
                <a:spcPts val="0"/>
              </a:spcAft>
            </a:pPr>
            <a:r>
              <a:rPr lang="en-US" altLang="zh-CN" sz="2200" b="1" kern="100" dirty="0">
                <a:latin typeface="+mn-lt"/>
                <a:ea typeface="+mn-ea"/>
              </a:rPr>
              <a:t>2</a:t>
            </a:r>
            <a:r>
              <a:rPr lang="zh-CN" altLang="zh-CN" sz="2200" b="1" kern="100" dirty="0" smtClean="0">
                <a:latin typeface="+mn-lt"/>
                <a:ea typeface="+mn-ea"/>
              </a:rPr>
              <a:t>）</a:t>
            </a:r>
            <a:r>
              <a:rPr lang="zh-CN" altLang="en-US" sz="2200" b="1" kern="100" dirty="0" smtClean="0">
                <a:latin typeface="+mn-lt"/>
                <a:ea typeface="+mn-ea"/>
              </a:rPr>
              <a:t>叙述</a:t>
            </a:r>
            <a:r>
              <a:rPr lang="zh-CN" altLang="zh-CN" sz="2200" b="1" kern="100" dirty="0" smtClean="0">
                <a:latin typeface="+mn-lt"/>
                <a:ea typeface="+mn-ea"/>
              </a:rPr>
              <a:t>产生</a:t>
            </a:r>
            <a:r>
              <a:rPr lang="zh-CN" altLang="zh-CN" sz="2200" b="1" kern="100" dirty="0">
                <a:latin typeface="+mn-lt"/>
                <a:ea typeface="+mn-ea"/>
              </a:rPr>
              <a:t>溢出标志</a:t>
            </a:r>
            <a:r>
              <a:rPr lang="en-US" altLang="zh-CN" sz="2200" b="1" kern="100" dirty="0" smtClean="0">
                <a:latin typeface="+mn-lt"/>
                <a:ea typeface="+mn-ea"/>
              </a:rPr>
              <a:t>OF</a:t>
            </a:r>
            <a:r>
              <a:rPr lang="zh-CN" altLang="en-US" sz="2200" b="1" kern="100" dirty="0" smtClean="0">
                <a:latin typeface="+mn-lt"/>
                <a:ea typeface="+mn-ea"/>
              </a:rPr>
              <a:t>的三种表示方法及</a:t>
            </a:r>
            <a:r>
              <a:rPr lang="en-US" altLang="zh-CN" sz="2200" b="1" dirty="0"/>
              <a:t>CF</a:t>
            </a:r>
            <a:r>
              <a:rPr lang="zh-CN" altLang="en-US" sz="2200" b="1" dirty="0"/>
              <a:t>的逻辑表达式</a:t>
            </a:r>
            <a:r>
              <a:rPr lang="zh-CN" altLang="zh-CN" sz="2200" b="1" kern="100" dirty="0" smtClean="0">
                <a:latin typeface="+mn-lt"/>
                <a:ea typeface="+mn-ea"/>
              </a:rPr>
              <a:t>。</a:t>
            </a:r>
            <a:endParaRPr lang="en-US" altLang="zh-CN" sz="2200" b="1" kern="100" dirty="0" smtClean="0">
              <a:latin typeface="+mn-lt"/>
              <a:ea typeface="+mn-ea"/>
            </a:endParaRPr>
          </a:p>
          <a:p>
            <a:pPr marL="228600" indent="-228600"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sz="2200" b="1" kern="100" dirty="0" smtClean="0">
                <a:latin typeface="+mn-lt"/>
              </a:rPr>
              <a:t>    3</a:t>
            </a:r>
            <a:r>
              <a:rPr lang="zh-CN" altLang="zh-CN" sz="2200" b="1" kern="100" dirty="0" smtClean="0">
                <a:latin typeface="+mn-lt"/>
              </a:rPr>
              <a:t>）</a:t>
            </a:r>
            <a:r>
              <a:rPr lang="zh-CN" altLang="en-US" sz="2200" b="1" kern="100" dirty="0">
                <a:latin typeface="+mn-lt"/>
              </a:rPr>
              <a:t>关系</a:t>
            </a:r>
            <a:r>
              <a:rPr lang="zh-CN" altLang="en-US" sz="2200" b="1" kern="100" dirty="0" smtClean="0">
                <a:latin typeface="+mn-lt"/>
              </a:rPr>
              <a:t>表达式运算影响哪些标志位及移位？</a:t>
            </a:r>
            <a:endParaRPr lang="zh-CN" altLang="en-US" sz="2200" b="1" dirty="0">
              <a:latin typeface="+mn-lt"/>
              <a:ea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7524" y="3284741"/>
            <a:ext cx="8533072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kern="100" dirty="0" smtClean="0">
                <a:solidFill>
                  <a:srgbClr val="0000CC"/>
                </a:solidFill>
              </a:rPr>
              <a:t>解：</a:t>
            </a:r>
            <a:r>
              <a:rPr lang="en-US" altLang="zh-CN" b="1" kern="100" dirty="0" smtClean="0"/>
              <a:t>1</a:t>
            </a:r>
            <a:r>
              <a:rPr lang="zh-CN" altLang="zh-CN" b="1" kern="100" dirty="0"/>
              <a:t>）</a:t>
            </a:r>
            <a:r>
              <a:rPr lang="en-US" altLang="zh-CN" b="1" dirty="0" smtClean="0"/>
              <a:t>[</a:t>
            </a:r>
            <a:r>
              <a:rPr lang="en-US" altLang="zh-CN" b="1" dirty="0"/>
              <a:t>X]</a:t>
            </a:r>
            <a:r>
              <a:rPr lang="zh-CN" altLang="zh-CN" b="1" baseline="-25000" dirty="0"/>
              <a:t>补</a:t>
            </a:r>
            <a:r>
              <a:rPr lang="en-US" altLang="zh-CN" b="1" dirty="0"/>
              <a:t>=</a:t>
            </a:r>
            <a:r>
              <a:rPr lang="en-US" altLang="zh-CN" b="1" dirty="0" smtClean="0"/>
              <a:t>1101 1111</a:t>
            </a:r>
            <a:r>
              <a:rPr lang="zh-CN" altLang="zh-CN" b="1" dirty="0" smtClean="0"/>
              <a:t>、</a:t>
            </a:r>
            <a:r>
              <a:rPr lang="en-US" altLang="zh-CN" b="1" dirty="0"/>
              <a:t>[Y]</a:t>
            </a:r>
            <a:r>
              <a:rPr lang="zh-CN" altLang="zh-CN" b="1" baseline="-25000" dirty="0"/>
              <a:t>补</a:t>
            </a:r>
            <a:r>
              <a:rPr lang="en-US" altLang="zh-CN" b="1" dirty="0"/>
              <a:t>=0010 1100 </a:t>
            </a:r>
            <a:r>
              <a:rPr lang="zh-CN" altLang="en-US" b="1" dirty="0" smtClean="0"/>
              <a:t>、</a:t>
            </a:r>
            <a:r>
              <a:rPr lang="en-US" altLang="zh-CN" b="1" dirty="0" smtClean="0"/>
              <a:t>[-Y</a:t>
            </a:r>
            <a:r>
              <a:rPr lang="en-US" altLang="zh-CN" b="1" dirty="0"/>
              <a:t>]</a:t>
            </a:r>
            <a:r>
              <a:rPr lang="zh-CN" altLang="zh-CN" b="1" baseline="-25000" dirty="0"/>
              <a:t>补</a:t>
            </a:r>
            <a:r>
              <a:rPr lang="en-US" altLang="zh-CN" b="1" dirty="0" smtClean="0"/>
              <a:t>=1101 0100 </a:t>
            </a:r>
            <a:r>
              <a:rPr lang="zh-CN" altLang="zh-CN" b="1" dirty="0" smtClean="0"/>
              <a:t>，</a:t>
            </a:r>
            <a:endParaRPr lang="en-US" altLang="zh-CN" b="1" dirty="0" smtClean="0"/>
          </a:p>
          <a:p>
            <a:pPr>
              <a:lnSpc>
                <a:spcPct val="120000"/>
              </a:lnSpc>
            </a:pPr>
            <a:r>
              <a:rPr lang="en-US" altLang="zh-CN" b="1" dirty="0" smtClean="0"/>
              <a:t>               [</a:t>
            </a:r>
            <a:r>
              <a:rPr lang="en-US" altLang="zh-CN" b="1" dirty="0"/>
              <a:t>X+Y]</a:t>
            </a:r>
            <a:r>
              <a:rPr lang="zh-CN" altLang="zh-CN" b="1" baseline="-25000" dirty="0"/>
              <a:t>补</a:t>
            </a:r>
            <a:r>
              <a:rPr lang="en-US" altLang="zh-CN" b="1" dirty="0"/>
              <a:t>=</a:t>
            </a:r>
            <a:r>
              <a:rPr lang="en-US" altLang="zh-CN" b="1" dirty="0" smtClean="0"/>
              <a:t>0000 1011</a:t>
            </a:r>
            <a:r>
              <a:rPr lang="zh-CN" altLang="zh-CN" b="1" dirty="0" smtClean="0"/>
              <a:t>，</a:t>
            </a:r>
            <a:r>
              <a:rPr lang="en-US" altLang="zh-CN" b="1" dirty="0"/>
              <a:t>[X-Y]</a:t>
            </a:r>
            <a:r>
              <a:rPr lang="zh-CN" altLang="zh-CN" b="1" baseline="-25000" dirty="0"/>
              <a:t>补</a:t>
            </a:r>
            <a:r>
              <a:rPr lang="en-US" altLang="zh-CN" b="1" dirty="0"/>
              <a:t>=1011 </a:t>
            </a:r>
            <a:r>
              <a:rPr lang="en-US" altLang="zh-CN" b="1" dirty="0" smtClean="0"/>
              <a:t>0011</a:t>
            </a:r>
            <a:endParaRPr lang="zh-CN" altLang="zh-CN" b="1" dirty="0"/>
          </a:p>
        </p:txBody>
      </p:sp>
      <p:grpSp>
        <p:nvGrpSpPr>
          <p:cNvPr id="3" name="组合 2"/>
          <p:cNvGrpSpPr/>
          <p:nvPr/>
        </p:nvGrpSpPr>
        <p:grpSpPr>
          <a:xfrm>
            <a:off x="611560" y="4313187"/>
            <a:ext cx="8209036" cy="1754326"/>
            <a:chOff x="611560" y="3480917"/>
            <a:chExt cx="8209036" cy="1754326"/>
          </a:xfrm>
        </p:grpSpPr>
        <p:sp>
          <p:nvSpPr>
            <p:cNvPr id="6" name="Text Box 27"/>
            <p:cNvSpPr txBox="1">
              <a:spLocks noChangeArrowheads="1"/>
            </p:cNvSpPr>
            <p:nvPr/>
          </p:nvSpPr>
          <p:spPr bwMode="auto">
            <a:xfrm>
              <a:off x="611560" y="3480917"/>
              <a:ext cx="8209036" cy="1754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b="1" dirty="0">
                  <a:solidFill>
                    <a:srgbClr val="C00000"/>
                  </a:solidFill>
                </a:rPr>
                <a:t>   </a:t>
              </a:r>
              <a:r>
                <a:rPr lang="en-US" altLang="zh-CN" b="1" kern="100" dirty="0"/>
                <a:t> 2</a:t>
              </a:r>
              <a:r>
                <a:rPr lang="zh-CN" altLang="zh-CN" b="1" kern="100" dirty="0" smtClean="0"/>
                <a:t>）</a:t>
              </a:r>
              <a:r>
                <a:rPr lang="en-US" altLang="zh-CN" sz="2200" b="1" dirty="0" smtClean="0">
                  <a:solidFill>
                    <a:srgbClr val="C00000"/>
                  </a:solidFill>
                </a:rPr>
                <a:t>*</a:t>
              </a:r>
              <a:r>
                <a:rPr lang="zh-CN" altLang="en-US" sz="2200" b="1" dirty="0" smtClean="0">
                  <a:solidFill>
                    <a:srgbClr val="C00000"/>
                  </a:solidFill>
                </a:rPr>
                <a:t>判断方法①：</a:t>
              </a:r>
              <a:r>
                <a:rPr lang="zh-CN" altLang="en-US" sz="2200" b="1" dirty="0" smtClean="0">
                  <a:solidFill>
                    <a:schemeClr val="tx1"/>
                  </a:solidFill>
                </a:rPr>
                <a:t>用</a:t>
              </a:r>
              <a:r>
                <a:rPr lang="en-US" altLang="zh-CN" sz="2200" b="1" dirty="0" smtClean="0">
                  <a:solidFill>
                    <a:srgbClr val="990099"/>
                  </a:solidFill>
                </a:rPr>
                <a:t>1</a:t>
              </a:r>
              <a:r>
                <a:rPr lang="zh-CN" altLang="en-US" sz="2200" b="1" dirty="0" smtClean="0">
                  <a:solidFill>
                    <a:srgbClr val="990099"/>
                  </a:solidFill>
                </a:rPr>
                <a:t>位符号位</a:t>
              </a:r>
              <a:r>
                <a:rPr lang="zh-CN" altLang="en-US" sz="2200" b="1" dirty="0" smtClean="0">
                  <a:solidFill>
                    <a:schemeClr val="tx1"/>
                  </a:solidFill>
                </a:rPr>
                <a:t>判断</a:t>
              </a:r>
              <a:r>
                <a:rPr lang="zh-CN" altLang="en-US" sz="2200" b="1" dirty="0" smtClean="0">
                  <a:solidFill>
                    <a:schemeClr val="tx1"/>
                  </a:solidFill>
                </a:rPr>
                <a:t>，</a:t>
              </a:r>
              <a:r>
                <a:rPr lang="en-US" altLang="zh-CN" sz="2200" b="1" dirty="0" smtClean="0">
                  <a:sym typeface="Symbol"/>
                </a:rPr>
                <a:t>op</a:t>
              </a:r>
              <a:r>
                <a:rPr lang="en-US" altLang="zh-CN" sz="2200" b="1" dirty="0" smtClean="0">
                  <a:solidFill>
                    <a:schemeClr val="tx1"/>
                  </a:solidFill>
                </a:rPr>
                <a:t>=0</a:t>
              </a:r>
              <a:r>
                <a:rPr lang="zh-CN" altLang="en-US" sz="2200" b="1" dirty="0" smtClean="0">
                  <a:solidFill>
                    <a:schemeClr val="tx1"/>
                  </a:solidFill>
                </a:rPr>
                <a:t>、</a:t>
              </a:r>
              <a:r>
                <a:rPr lang="en-US" altLang="zh-CN" sz="2200" b="1" dirty="0" smtClean="0">
                  <a:solidFill>
                    <a:schemeClr val="tx1"/>
                  </a:solidFill>
                </a:rPr>
                <a:t>1</a:t>
              </a:r>
              <a:r>
                <a:rPr lang="zh-CN" altLang="en-US" sz="2200" b="1" dirty="0" smtClean="0">
                  <a:solidFill>
                    <a:schemeClr val="tx1"/>
                  </a:solidFill>
                </a:rPr>
                <a:t>表示加、减。</a:t>
              </a:r>
              <a:endParaRPr lang="en-US" altLang="zh-CN" sz="2200" b="1" dirty="0" smtClean="0">
                <a:solidFill>
                  <a:schemeClr val="tx1"/>
                </a:solidFill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2200" b="1" dirty="0" smtClean="0">
                  <a:solidFill>
                    <a:schemeClr val="accent2"/>
                  </a:solidFill>
                </a:rPr>
                <a:t>      </a:t>
              </a:r>
              <a:r>
                <a:rPr lang="zh-CN" altLang="en-US" sz="2200" b="1" dirty="0" smtClean="0">
                  <a:solidFill>
                    <a:schemeClr val="accent2"/>
                  </a:solidFill>
                </a:rPr>
                <a:t>依据</a:t>
              </a:r>
              <a:r>
                <a:rPr lang="en-US" altLang="zh-CN" sz="2200" b="1" dirty="0" smtClean="0">
                  <a:solidFill>
                    <a:schemeClr val="accent2"/>
                  </a:solidFill>
                </a:rPr>
                <a:t>—</a:t>
              </a:r>
              <a:r>
                <a:rPr lang="zh-CN" altLang="en-US" sz="2200" b="1" dirty="0" smtClean="0">
                  <a:solidFill>
                    <a:schemeClr val="tx1"/>
                  </a:solidFill>
                </a:rPr>
                <a:t>正溢出</a:t>
              </a:r>
              <a:r>
                <a:rPr lang="en-US" altLang="zh-CN" sz="2200" b="1" dirty="0" smtClean="0">
                  <a:solidFill>
                    <a:schemeClr val="tx1"/>
                  </a:solidFill>
                </a:rPr>
                <a:t>(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+mn-lt"/>
                </a:rPr>
                <a:t>a</a:t>
              </a:r>
              <a:r>
                <a:rPr lang="en-US" altLang="zh-CN" sz="2200" b="1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2200" b="1" dirty="0" smtClean="0">
                  <a:solidFill>
                    <a:schemeClr val="tx1"/>
                  </a:solidFill>
                </a:rPr>
                <a:t>=0)</a:t>
              </a:r>
              <a:r>
                <a:rPr lang="zh-CN" altLang="en-US" sz="2200" b="1" dirty="0" smtClean="0">
                  <a:solidFill>
                    <a:schemeClr val="tx1"/>
                  </a:solidFill>
                </a:rPr>
                <a:t>时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+mn-lt"/>
                </a:rPr>
                <a:t>z</a:t>
              </a:r>
              <a:r>
                <a:rPr lang="en-US" altLang="zh-CN" sz="2200" b="1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2200" b="1" dirty="0" smtClean="0">
                  <a:solidFill>
                    <a:schemeClr val="tx1"/>
                  </a:solidFill>
                </a:rPr>
                <a:t>=1</a:t>
              </a:r>
              <a:r>
                <a:rPr lang="zh-CN" altLang="en-US" sz="2200" b="1" dirty="0" smtClean="0">
                  <a:solidFill>
                    <a:schemeClr val="tx1"/>
                  </a:solidFill>
                </a:rPr>
                <a:t>，负溢出</a:t>
              </a:r>
              <a:r>
                <a:rPr lang="en-US" altLang="zh-CN" sz="2200" b="1" dirty="0" smtClean="0">
                  <a:solidFill>
                    <a:schemeClr val="tx1"/>
                  </a:solidFill>
                </a:rPr>
                <a:t>(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+mn-lt"/>
                </a:rPr>
                <a:t>a</a:t>
              </a:r>
              <a:r>
                <a:rPr lang="en-US" altLang="zh-CN" sz="2200" b="1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2200" b="1" dirty="0" smtClean="0">
                  <a:solidFill>
                    <a:schemeClr val="tx1"/>
                  </a:solidFill>
                </a:rPr>
                <a:t>=1)</a:t>
              </a:r>
              <a:r>
                <a:rPr lang="zh-CN" altLang="en-US" sz="2200" b="1" dirty="0" smtClean="0">
                  <a:solidFill>
                    <a:schemeClr val="tx1"/>
                  </a:solidFill>
                </a:rPr>
                <a:t>时</a:t>
              </a:r>
              <a:r>
                <a:rPr lang="en-US" altLang="zh-CN" sz="2200" b="1" i="1" dirty="0" smtClean="0">
                  <a:solidFill>
                    <a:schemeClr val="tx1"/>
                  </a:solidFill>
                  <a:latin typeface="+mn-lt"/>
                </a:rPr>
                <a:t>z</a:t>
              </a:r>
              <a:r>
                <a:rPr lang="en-US" altLang="zh-CN" sz="2200" b="1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2200" b="1" dirty="0" smtClean="0">
                  <a:solidFill>
                    <a:schemeClr val="tx1"/>
                  </a:solidFill>
                </a:rPr>
                <a:t>=0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2200" b="1" dirty="0" smtClean="0">
                  <a:solidFill>
                    <a:schemeClr val="accent2"/>
                  </a:solidFill>
                </a:rPr>
                <a:t>      溢出逻辑</a:t>
              </a:r>
              <a:r>
                <a:rPr lang="en-US" altLang="zh-CN" sz="2200" b="1" dirty="0" smtClean="0">
                  <a:solidFill>
                    <a:schemeClr val="accent2"/>
                  </a:solidFill>
                </a:rPr>
                <a:t>—</a:t>
              </a:r>
              <a:r>
                <a:rPr lang="en-US" altLang="zh-CN" sz="2200" b="1" dirty="0" smtClean="0">
                  <a:solidFill>
                    <a:schemeClr val="tx1"/>
                  </a:solidFill>
                </a:rPr>
                <a:t>OF</a:t>
              </a:r>
              <a:r>
                <a:rPr lang="zh-CN" altLang="en-US" sz="2200" b="1" dirty="0" smtClean="0">
                  <a:solidFill>
                    <a:schemeClr val="tx1"/>
                  </a:solidFill>
                </a:rPr>
                <a:t>＝</a:t>
              </a:r>
              <a:r>
                <a:rPr lang="en-US" altLang="zh-CN" sz="2200" b="1" dirty="0">
                  <a:sym typeface="Symbol"/>
                </a:rPr>
                <a:t>op </a:t>
              </a:r>
              <a:r>
                <a:rPr lang="en-US" altLang="zh-CN" sz="2200" b="1" dirty="0" smtClean="0">
                  <a:solidFill>
                    <a:schemeClr val="tx1"/>
                  </a:solidFill>
                </a:rPr>
                <a:t>(</a:t>
              </a:r>
              <a:r>
                <a:rPr lang="en-US" altLang="zh-CN" sz="2200" b="1" i="1" spc="-40" dirty="0" smtClean="0">
                  <a:solidFill>
                    <a:schemeClr val="tx1"/>
                  </a:solidFill>
                  <a:latin typeface="+mn-lt"/>
                </a:rPr>
                <a:t>a</a:t>
              </a:r>
              <a:r>
                <a:rPr lang="en-US" altLang="zh-CN" sz="2200" b="1" spc="-40" baseline="-18000" dirty="0" smtClean="0">
                  <a:solidFill>
                    <a:schemeClr val="tx1"/>
                  </a:solidFill>
                </a:rPr>
                <a:t>n-1 </a:t>
              </a:r>
              <a:r>
                <a:rPr lang="en-US" altLang="zh-CN" sz="2200" b="1" i="1" spc="-40" dirty="0" smtClean="0">
                  <a:solidFill>
                    <a:schemeClr val="tx1"/>
                  </a:solidFill>
                  <a:latin typeface="+mn-lt"/>
                </a:rPr>
                <a:t>b</a:t>
              </a:r>
              <a:r>
                <a:rPr lang="en-US" altLang="zh-CN" sz="2200" b="1" spc="-40" baseline="-18000" dirty="0" smtClean="0">
                  <a:solidFill>
                    <a:schemeClr val="tx1"/>
                  </a:solidFill>
                </a:rPr>
                <a:t>n-1 </a:t>
              </a:r>
              <a:r>
                <a:rPr lang="en-US" altLang="zh-CN" sz="2200" b="1" i="1" spc="-40" dirty="0" smtClean="0">
                  <a:solidFill>
                    <a:schemeClr val="tx1"/>
                  </a:solidFill>
                  <a:latin typeface="+mn-lt"/>
                </a:rPr>
                <a:t>z</a:t>
              </a:r>
              <a:r>
                <a:rPr lang="en-US" altLang="zh-CN" sz="2200" b="1" spc="-4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zh-CN" altLang="en-US" sz="2200" b="1" spc="-40" dirty="0" smtClean="0">
                  <a:solidFill>
                    <a:schemeClr val="tx1"/>
                  </a:solidFill>
                </a:rPr>
                <a:t>＋</a:t>
              </a:r>
              <a:r>
                <a:rPr lang="en-US" altLang="zh-CN" sz="2200" b="1" i="1" spc="-40" dirty="0" smtClean="0">
                  <a:solidFill>
                    <a:schemeClr val="tx1"/>
                  </a:solidFill>
                  <a:latin typeface="+mn-lt"/>
                </a:rPr>
                <a:t>a</a:t>
              </a:r>
              <a:r>
                <a:rPr lang="en-US" altLang="zh-CN" sz="2200" b="1" spc="-40" baseline="-18000" dirty="0" smtClean="0">
                  <a:solidFill>
                    <a:schemeClr val="tx1"/>
                  </a:solidFill>
                </a:rPr>
                <a:t>n-1 </a:t>
              </a:r>
              <a:r>
                <a:rPr lang="en-US" altLang="zh-CN" sz="2200" b="1" i="1" spc="-40" dirty="0" smtClean="0">
                  <a:solidFill>
                    <a:schemeClr val="tx1"/>
                  </a:solidFill>
                  <a:latin typeface="+mn-lt"/>
                </a:rPr>
                <a:t>b</a:t>
              </a:r>
              <a:r>
                <a:rPr lang="en-US" altLang="zh-CN" sz="2200" b="1" spc="-40" baseline="-18000" dirty="0" smtClean="0">
                  <a:solidFill>
                    <a:schemeClr val="tx1"/>
                  </a:solidFill>
                </a:rPr>
                <a:t>n-1 </a:t>
              </a:r>
              <a:r>
                <a:rPr lang="en-US" altLang="zh-CN" sz="2200" b="1" i="1" spc="-40" dirty="0" smtClean="0">
                  <a:solidFill>
                    <a:schemeClr val="tx1"/>
                  </a:solidFill>
                  <a:latin typeface="+mn-lt"/>
                </a:rPr>
                <a:t>z</a:t>
              </a:r>
              <a:r>
                <a:rPr lang="en-US" altLang="zh-CN" sz="2200" b="1" spc="-40" baseline="-18000" dirty="0" smtClean="0">
                  <a:solidFill>
                    <a:schemeClr val="tx1"/>
                  </a:solidFill>
                </a:rPr>
                <a:t>n-1</a:t>
              </a:r>
              <a:r>
                <a:rPr lang="en-US" altLang="zh-CN" sz="2200" b="1" dirty="0" smtClean="0"/>
                <a:t>) </a:t>
              </a:r>
              <a:r>
                <a:rPr lang="zh-CN" altLang="en-US" sz="2200" b="1" spc="-40" dirty="0"/>
                <a:t>＋</a:t>
              </a:r>
              <a:endParaRPr lang="en-US" altLang="zh-CN" sz="2200" b="1" dirty="0" smtClean="0"/>
            </a:p>
            <a:p>
              <a:pPr>
                <a:lnSpc>
                  <a:spcPct val="120000"/>
                </a:lnSpc>
              </a:pPr>
              <a:r>
                <a:rPr lang="en-US" altLang="zh-CN" sz="2200" b="1" spc="-40" baseline="-18000" dirty="0" smtClean="0">
                  <a:solidFill>
                    <a:schemeClr val="tx1"/>
                  </a:solidFill>
                </a:rPr>
                <a:t>                                                           </a:t>
              </a:r>
              <a:r>
                <a:rPr lang="en-US" altLang="zh-CN" sz="2200" b="1" dirty="0">
                  <a:sym typeface="Symbol"/>
                </a:rPr>
                <a:t>op </a:t>
              </a:r>
              <a:r>
                <a:rPr lang="en-US" altLang="zh-CN" sz="2200" b="1" dirty="0" smtClean="0"/>
                <a:t>(</a:t>
              </a:r>
              <a:r>
                <a:rPr lang="en-US" altLang="zh-CN" sz="2200" b="1" i="1" spc="-40" dirty="0" smtClean="0"/>
                <a:t>a</a:t>
              </a:r>
              <a:r>
                <a:rPr lang="en-US" altLang="zh-CN" sz="2200" b="1" spc="-40" baseline="-18000" dirty="0" smtClean="0"/>
                <a:t>n-1 </a:t>
              </a:r>
              <a:r>
                <a:rPr lang="en-US" altLang="zh-CN" sz="2200" b="1" i="1" spc="-40" dirty="0" smtClean="0"/>
                <a:t>b</a:t>
              </a:r>
              <a:r>
                <a:rPr lang="en-US" altLang="zh-CN" sz="2200" b="1" spc="-40" baseline="-18000" dirty="0" smtClean="0"/>
                <a:t>n-1 </a:t>
              </a:r>
              <a:r>
                <a:rPr lang="en-US" altLang="zh-CN" sz="2200" b="1" i="1" spc="-40" dirty="0" smtClean="0"/>
                <a:t>z</a:t>
              </a:r>
              <a:r>
                <a:rPr lang="en-US" altLang="zh-CN" sz="2200" b="1" spc="-40" baseline="-18000" dirty="0" smtClean="0"/>
                <a:t>n-1</a:t>
              </a:r>
              <a:r>
                <a:rPr lang="zh-CN" altLang="en-US" sz="2200" b="1" spc="-40" dirty="0"/>
                <a:t>＋</a:t>
              </a:r>
              <a:r>
                <a:rPr lang="en-US" altLang="zh-CN" sz="2200" b="1" i="1" spc="-40" dirty="0" smtClean="0"/>
                <a:t>a</a:t>
              </a:r>
              <a:r>
                <a:rPr lang="en-US" altLang="zh-CN" sz="2200" b="1" spc="-40" baseline="-18000" dirty="0" smtClean="0"/>
                <a:t>n-1 </a:t>
              </a:r>
              <a:r>
                <a:rPr lang="en-US" altLang="zh-CN" sz="2200" b="1" i="1" spc="-40" dirty="0" smtClean="0"/>
                <a:t>b</a:t>
              </a:r>
              <a:r>
                <a:rPr lang="en-US" altLang="zh-CN" sz="2200" b="1" spc="-40" baseline="-18000" dirty="0" smtClean="0"/>
                <a:t>n-1 </a:t>
              </a:r>
              <a:r>
                <a:rPr lang="en-US" altLang="zh-CN" sz="2200" b="1" i="1" spc="-40" dirty="0" smtClean="0"/>
                <a:t>z</a:t>
              </a:r>
              <a:r>
                <a:rPr lang="en-US" altLang="zh-CN" sz="2200" b="1" spc="-40" baseline="-18000" dirty="0" smtClean="0"/>
                <a:t>n-1</a:t>
              </a:r>
              <a:r>
                <a:rPr lang="en-US" altLang="zh-CN" sz="2200" b="1" dirty="0" smtClean="0"/>
                <a:t>)</a:t>
              </a:r>
              <a:endParaRPr lang="en-US" altLang="zh-CN" sz="2200" b="1" spc="-4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接连接符 8"/>
            <p:cNvCxnSpPr/>
            <p:nvPr/>
          </p:nvCxnSpPr>
          <p:spPr bwMode="auto">
            <a:xfrm>
              <a:off x="3635896" y="4417021"/>
              <a:ext cx="28800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直接连接符 9"/>
            <p:cNvCxnSpPr/>
            <p:nvPr/>
          </p:nvCxnSpPr>
          <p:spPr bwMode="auto">
            <a:xfrm>
              <a:off x="4067944" y="4417021"/>
              <a:ext cx="28800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 bwMode="auto">
            <a:xfrm>
              <a:off x="5976192" y="4468938"/>
              <a:ext cx="32400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2" name="直接连接符 11"/>
          <p:cNvCxnSpPr/>
          <p:nvPr/>
        </p:nvCxnSpPr>
        <p:spPr bwMode="auto">
          <a:xfrm>
            <a:off x="3275856" y="5301208"/>
            <a:ext cx="288000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/>
          <p:cNvCxnSpPr/>
          <p:nvPr/>
        </p:nvCxnSpPr>
        <p:spPr bwMode="auto">
          <a:xfrm>
            <a:off x="3707936" y="5661248"/>
            <a:ext cx="288000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直接连接符 13"/>
          <p:cNvCxnSpPr/>
          <p:nvPr/>
        </p:nvCxnSpPr>
        <p:spPr bwMode="auto">
          <a:xfrm>
            <a:off x="5580144" y="5661248"/>
            <a:ext cx="288000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/>
          <p:cNvCxnSpPr/>
          <p:nvPr/>
        </p:nvCxnSpPr>
        <p:spPr bwMode="auto">
          <a:xfrm>
            <a:off x="6012192" y="5661248"/>
            <a:ext cx="288000" cy="0"/>
          </a:xfrm>
          <a:prstGeom prst="lin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87142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  <p:graphicFrame>
        <p:nvGraphicFramePr>
          <p:cNvPr id="10" name="Group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430552"/>
              </p:ext>
            </p:extLst>
          </p:nvPr>
        </p:nvGraphicFramePr>
        <p:xfrm>
          <a:off x="1316061" y="4583424"/>
          <a:ext cx="7072363" cy="1221840"/>
        </p:xfrm>
        <a:graphic>
          <a:graphicData uri="http://schemas.openxmlformats.org/drawingml/2006/table">
            <a:tbl>
              <a:tblPr/>
              <a:tblGrid>
                <a:gridCol w="428628"/>
                <a:gridCol w="1357323"/>
                <a:gridCol w="928694"/>
                <a:gridCol w="1285884"/>
                <a:gridCol w="1285884"/>
                <a:gridCol w="928694"/>
                <a:gridCol w="857256"/>
              </a:tblGrid>
              <a:tr h="38893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关系运算</a:t>
                      </a:r>
                    </a:p>
                  </a:txBody>
                  <a:tcPr marL="18000" marR="18000" marT="36000" marB="3600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A≥B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A≤B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＞</a:t>
                      </a:r>
                      <a:r>
                        <a:rPr kumimoji="1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＜</a:t>
                      </a:r>
                      <a:r>
                        <a:rPr kumimoji="1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＝</a:t>
                      </a:r>
                      <a:r>
                        <a:rPr kumimoji="1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>
                        <a:alpha val="80000"/>
                      </a:srgbClr>
                    </a:solidFill>
                  </a:tcPr>
                </a:tc>
              </a:tr>
              <a:tr h="21888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200" b="1" dirty="0" smtClean="0">
                          <a:solidFill>
                            <a:schemeClr val="accent2"/>
                          </a:solidFill>
                        </a:rPr>
                        <a:t>实现</a:t>
                      </a:r>
                      <a:endParaRPr lang="zh-CN" altLang="en-US" sz="22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18000" marR="18000" marT="36000" marB="36000" vert="eaVert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减法运算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           </a:t>
                      </a:r>
                      <a:r>
                        <a:rPr kumimoji="1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A</a:t>
                      </a: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－</a:t>
                      </a:r>
                      <a:r>
                        <a:rPr kumimoji="1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B</a:t>
                      </a:r>
                      <a:r>
                        <a:rPr lang="zh-CN" altLang="en-US" sz="2200" b="1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，产生</a:t>
                      </a:r>
                      <a:r>
                        <a:rPr lang="en-US" altLang="zh-CN" sz="2200" b="1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ZF</a:t>
                      </a:r>
                      <a:r>
                        <a:rPr lang="zh-CN" altLang="en-US" sz="2200" b="1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及</a:t>
                      </a:r>
                      <a:r>
                        <a:rPr lang="en-US" altLang="zh-CN" sz="2200" b="1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CF</a:t>
                      </a:r>
                      <a:endParaRPr kumimoji="1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8880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18000" marR="18000" marT="36000" marB="36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逻辑运算</a:t>
                      </a: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9" name="组合 18"/>
          <p:cNvGrpSpPr/>
          <p:nvPr/>
        </p:nvGrpSpPr>
        <p:grpSpPr>
          <a:xfrm>
            <a:off x="3389473" y="5435310"/>
            <a:ext cx="4813706" cy="353200"/>
            <a:chOff x="3389473" y="4943766"/>
            <a:chExt cx="4813706" cy="353200"/>
          </a:xfrm>
        </p:grpSpPr>
        <p:cxnSp>
          <p:nvCxnSpPr>
            <p:cNvPr id="12" name="直接连接符 11"/>
            <p:cNvCxnSpPr/>
            <p:nvPr/>
          </p:nvCxnSpPr>
          <p:spPr bwMode="auto">
            <a:xfrm>
              <a:off x="3424356" y="4989884"/>
              <a:ext cx="285752" cy="1588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直接连接符 12"/>
            <p:cNvCxnSpPr/>
            <p:nvPr/>
          </p:nvCxnSpPr>
          <p:spPr bwMode="auto">
            <a:xfrm>
              <a:off x="5616591" y="4989884"/>
              <a:ext cx="714380" cy="1588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" name="Text Box 101"/>
            <p:cNvSpPr txBox="1">
              <a:spLocks noChangeArrowheads="1"/>
            </p:cNvSpPr>
            <p:nvPr/>
          </p:nvSpPr>
          <p:spPr bwMode="auto">
            <a:xfrm>
              <a:off x="3389473" y="4943766"/>
              <a:ext cx="4813706" cy="35320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rIns="18000" anchor="t" anchorCtr="0"/>
            <a:lstStyle/>
            <a:p>
              <a:pPr>
                <a:lnSpc>
                  <a:spcPct val="90000"/>
                </a:lnSpc>
              </a:pPr>
              <a:r>
                <a:rPr lang="en-US" altLang="zh-CN" sz="2200" b="1" dirty="0" smtClean="0">
                  <a:solidFill>
                    <a:schemeClr val="tx1"/>
                  </a:solidFill>
                  <a:latin typeface="+mn-lt"/>
                </a:rPr>
                <a:t>CF      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+mn-lt"/>
                </a:rPr>
                <a:t> </a:t>
              </a:r>
              <a:r>
                <a:rPr lang="en-US" altLang="zh-CN" sz="2200" b="1" dirty="0" smtClean="0">
                  <a:solidFill>
                    <a:srgbClr val="FF0000"/>
                  </a:solidFill>
                  <a:latin typeface="+mn-lt"/>
                </a:rPr>
                <a:t>CF+ZF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+mn-lt"/>
                </a:rPr>
                <a:t>      </a:t>
              </a:r>
              <a:r>
                <a:rPr lang="en-US" altLang="zh-CN" sz="2200" b="1" dirty="0" err="1" smtClean="0">
                  <a:solidFill>
                    <a:schemeClr val="tx1"/>
                  </a:solidFill>
                  <a:latin typeface="+mn-lt"/>
                </a:rPr>
                <a:t>CF+ZF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+mn-lt"/>
                </a:rPr>
                <a:t>  </a:t>
              </a:r>
              <a:r>
                <a:rPr lang="en-US" altLang="zh-CN" sz="1800" b="1" dirty="0" smtClean="0">
                  <a:solidFill>
                    <a:schemeClr val="tx1"/>
                  </a:solidFill>
                  <a:latin typeface="+mn-lt"/>
                </a:rPr>
                <a:t>    </a:t>
              </a:r>
              <a:r>
                <a:rPr lang="en-US" altLang="zh-CN" sz="1800" b="1" dirty="0" smtClean="0">
                  <a:latin typeface="+mn-lt"/>
                </a:rPr>
                <a:t> </a:t>
              </a:r>
              <a:r>
                <a:rPr lang="en-US" altLang="zh-CN" sz="2200" b="1" dirty="0" smtClean="0">
                  <a:latin typeface="+mn-lt"/>
                </a:rPr>
                <a:t>CF       </a:t>
              </a:r>
              <a:r>
                <a:rPr lang="en-US" altLang="zh-CN" sz="2200" b="1" dirty="0" smtClean="0">
                  <a:solidFill>
                    <a:schemeClr val="tx1"/>
                  </a:solidFill>
                  <a:latin typeface="+mn-lt"/>
                </a:rPr>
                <a:t>ZF</a:t>
              </a:r>
              <a:endParaRPr lang="en-US" altLang="zh-CN" sz="2200" b="1" baseline="-18000" dirty="0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16" name="Text Box 28"/>
          <p:cNvSpPr txBox="1">
            <a:spLocks noChangeArrowheads="1"/>
          </p:cNvSpPr>
          <p:nvPr/>
        </p:nvSpPr>
        <p:spPr bwMode="auto">
          <a:xfrm>
            <a:off x="683568" y="980728"/>
            <a:ext cx="7705105" cy="1311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200" b="1" dirty="0">
                <a:solidFill>
                  <a:srgbClr val="C00000"/>
                </a:solidFill>
              </a:rPr>
              <a:t>    </a:t>
            </a:r>
            <a:r>
              <a:rPr lang="en-US" altLang="zh-CN" sz="2200" b="1" dirty="0" smtClean="0">
                <a:solidFill>
                  <a:srgbClr val="C00000"/>
                </a:solidFill>
              </a:rPr>
              <a:t>      </a:t>
            </a:r>
            <a:r>
              <a:rPr lang="en-US" altLang="zh-CN" sz="2200" b="1" dirty="0" smtClean="0"/>
              <a:t>*</a:t>
            </a:r>
            <a:r>
              <a:rPr lang="zh-CN" altLang="en-US" sz="2200" b="1" dirty="0" smtClean="0"/>
              <a:t>判断方法②：用进位</a:t>
            </a:r>
            <a:r>
              <a:rPr lang="zh-CN" altLang="en-US" sz="2200" b="1" dirty="0"/>
              <a:t>位</a:t>
            </a:r>
            <a:r>
              <a:rPr lang="zh-CN" altLang="en-US" sz="2200" b="1" dirty="0" smtClean="0"/>
              <a:t>判断</a:t>
            </a:r>
            <a:endParaRPr lang="en-US" altLang="zh-CN" sz="2200" b="1" dirty="0" smtClean="0"/>
          </a:p>
          <a:p>
            <a:pPr>
              <a:lnSpc>
                <a:spcPct val="120000"/>
              </a:lnSpc>
            </a:pPr>
            <a:r>
              <a:rPr lang="en-US" altLang="zh-CN" sz="2200" b="1" dirty="0" smtClean="0"/>
              <a:t>      </a:t>
            </a:r>
            <a:r>
              <a:rPr lang="zh-CN" altLang="en-US" sz="2200" b="1" dirty="0" smtClean="0"/>
              <a:t>依据</a:t>
            </a:r>
            <a:r>
              <a:rPr lang="en-US" altLang="zh-CN" sz="2200" b="1" dirty="0" smtClean="0"/>
              <a:t>—</a:t>
            </a:r>
            <a:r>
              <a:rPr lang="zh-CN" altLang="en-US" sz="2200" b="1" spc="-50" dirty="0" smtClean="0"/>
              <a:t>正溢出时</a:t>
            </a:r>
            <a:r>
              <a:rPr lang="en-US" altLang="zh-CN" sz="2200" b="1" i="1" spc="-50" dirty="0" smtClean="0">
                <a:latin typeface="+mn-lt"/>
              </a:rPr>
              <a:t>C</a:t>
            </a:r>
            <a:r>
              <a:rPr lang="en-US" altLang="zh-CN" sz="2200" b="1" spc="-50" baseline="-18000" dirty="0" smtClean="0"/>
              <a:t>n-1</a:t>
            </a:r>
            <a:r>
              <a:rPr lang="en-US" altLang="zh-CN" sz="2200" b="1" spc="-50" dirty="0" smtClean="0">
                <a:sym typeface="Symbol"/>
              </a:rPr>
              <a:t>=0</a:t>
            </a:r>
            <a:r>
              <a:rPr lang="zh-CN" altLang="en-US" sz="2200" b="1" spc="-50" dirty="0" smtClean="0">
                <a:sym typeface="Symbol"/>
              </a:rPr>
              <a:t>、</a:t>
            </a:r>
            <a:r>
              <a:rPr lang="en-US" altLang="zh-CN" sz="2200" b="1" i="1" spc="-50" dirty="0" smtClean="0">
                <a:latin typeface="+mn-lt"/>
              </a:rPr>
              <a:t>C</a:t>
            </a:r>
            <a:r>
              <a:rPr lang="en-US" altLang="zh-CN" sz="2200" b="1" spc="-50" baseline="-18000" dirty="0" smtClean="0"/>
              <a:t>n-2</a:t>
            </a:r>
            <a:r>
              <a:rPr lang="en-US" altLang="zh-CN" sz="2200" b="1" spc="-50" dirty="0" smtClean="0">
                <a:sym typeface="Symbol"/>
              </a:rPr>
              <a:t>=1</a:t>
            </a:r>
            <a:r>
              <a:rPr lang="zh-CN" altLang="en-US" sz="2200" b="1" spc="-50" dirty="0" smtClean="0">
                <a:sym typeface="Symbol"/>
              </a:rPr>
              <a:t>，</a:t>
            </a:r>
            <a:r>
              <a:rPr lang="zh-CN" altLang="en-US" sz="2200" b="1" spc="-50" dirty="0" smtClean="0"/>
              <a:t>负溢出时</a:t>
            </a:r>
            <a:r>
              <a:rPr lang="en-US" altLang="zh-CN" sz="2200" b="1" i="1" spc="-50" dirty="0" smtClean="0">
                <a:latin typeface="+mn-lt"/>
              </a:rPr>
              <a:t>C</a:t>
            </a:r>
            <a:r>
              <a:rPr lang="en-US" altLang="zh-CN" sz="2200" b="1" spc="-50" baseline="-18000" dirty="0" smtClean="0"/>
              <a:t>n-1</a:t>
            </a:r>
            <a:r>
              <a:rPr lang="en-US" altLang="zh-CN" sz="2200" b="1" spc="-50" dirty="0" smtClean="0">
                <a:sym typeface="Symbol"/>
              </a:rPr>
              <a:t>=1</a:t>
            </a:r>
            <a:r>
              <a:rPr lang="zh-CN" altLang="en-US" sz="2200" b="1" spc="-50" dirty="0" smtClean="0">
                <a:sym typeface="Symbol"/>
              </a:rPr>
              <a:t>、</a:t>
            </a:r>
            <a:r>
              <a:rPr lang="en-US" altLang="zh-CN" sz="2200" b="1" i="1" spc="-50" dirty="0" smtClean="0">
                <a:latin typeface="+mn-lt"/>
              </a:rPr>
              <a:t>C</a:t>
            </a:r>
            <a:r>
              <a:rPr lang="en-US" altLang="zh-CN" sz="2200" b="1" spc="-50" baseline="-18000" dirty="0" smtClean="0"/>
              <a:t>n-2</a:t>
            </a:r>
            <a:r>
              <a:rPr lang="en-US" altLang="zh-CN" sz="2200" b="1" spc="-50" dirty="0" smtClean="0">
                <a:sym typeface="Symbol"/>
              </a:rPr>
              <a:t>=0</a:t>
            </a:r>
          </a:p>
          <a:p>
            <a:pPr>
              <a:lnSpc>
                <a:spcPct val="120000"/>
              </a:lnSpc>
            </a:pPr>
            <a:r>
              <a:rPr lang="en-US" altLang="zh-CN" sz="2200" b="1" dirty="0" smtClean="0"/>
              <a:t>      </a:t>
            </a:r>
            <a:r>
              <a:rPr lang="zh-CN" altLang="en-US" sz="2200" b="1" dirty="0" smtClean="0"/>
              <a:t>溢出</a:t>
            </a:r>
            <a:r>
              <a:rPr lang="zh-CN" altLang="en-US" sz="2200" b="1" dirty="0"/>
              <a:t>逻辑</a:t>
            </a:r>
            <a:r>
              <a:rPr lang="en-US" altLang="zh-CN" sz="2200" b="1" dirty="0" smtClean="0"/>
              <a:t>—OF</a:t>
            </a:r>
            <a:r>
              <a:rPr lang="zh-CN" altLang="en-US" sz="2200" b="1" dirty="0"/>
              <a:t>＝</a:t>
            </a:r>
            <a:r>
              <a:rPr lang="en-US" altLang="zh-CN" sz="2200" b="1" i="1" dirty="0">
                <a:latin typeface="+mn-lt"/>
              </a:rPr>
              <a:t>C</a:t>
            </a:r>
            <a:r>
              <a:rPr lang="en-US" altLang="zh-CN" sz="2200" b="1" baseline="-18000" dirty="0"/>
              <a:t>n-1</a:t>
            </a:r>
            <a:r>
              <a:rPr lang="en-US" altLang="zh-CN" sz="2200" b="1" dirty="0">
                <a:sym typeface="Symbol"/>
              </a:rPr>
              <a:t></a:t>
            </a:r>
            <a:r>
              <a:rPr lang="en-US" altLang="zh-CN" sz="2200" b="1" i="1" dirty="0">
                <a:latin typeface="+mn-lt"/>
              </a:rPr>
              <a:t>C</a:t>
            </a:r>
            <a:r>
              <a:rPr lang="en-US" altLang="zh-CN" sz="2200" b="1" baseline="-18000" dirty="0"/>
              <a:t>n-2</a:t>
            </a:r>
            <a:r>
              <a:rPr lang="en-US" altLang="zh-CN" sz="2200" b="1" dirty="0"/>
              <a:t> </a:t>
            </a:r>
          </a:p>
        </p:txBody>
      </p:sp>
      <p:sp>
        <p:nvSpPr>
          <p:cNvPr id="17" name="Text Box 91"/>
          <p:cNvSpPr txBox="1">
            <a:spLocks noChangeArrowheads="1"/>
          </p:cNvSpPr>
          <p:nvPr/>
        </p:nvSpPr>
        <p:spPr bwMode="auto">
          <a:xfrm>
            <a:off x="1115616" y="2420888"/>
            <a:ext cx="6120680" cy="2041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200" b="1" dirty="0" smtClean="0">
                <a:solidFill>
                  <a:schemeClr val="accent2"/>
                </a:solidFill>
              </a:rPr>
              <a:t>    </a:t>
            </a:r>
            <a:r>
              <a:rPr lang="en-US" altLang="zh-CN" sz="2200" b="1" dirty="0" smtClean="0"/>
              <a:t>*</a:t>
            </a:r>
            <a:r>
              <a:rPr lang="zh-CN" altLang="en-US" sz="2200" b="1" dirty="0" smtClean="0"/>
              <a:t>判断方法③：用</a:t>
            </a:r>
            <a:r>
              <a:rPr lang="en-US" altLang="zh-CN" sz="2200" b="1" dirty="0" smtClean="0"/>
              <a:t>2</a:t>
            </a:r>
            <a:r>
              <a:rPr lang="zh-CN" altLang="en-US" sz="2200" b="1" dirty="0" smtClean="0"/>
              <a:t>位符号位</a:t>
            </a:r>
            <a:r>
              <a:rPr lang="zh-CN" altLang="en-US" sz="2200" b="1" dirty="0"/>
              <a:t>变形</a:t>
            </a:r>
            <a:r>
              <a:rPr lang="zh-CN" altLang="en-US" sz="2200" b="1" dirty="0" smtClean="0"/>
              <a:t>补码判断</a:t>
            </a:r>
          </a:p>
          <a:p>
            <a:r>
              <a:rPr lang="zh-CN" altLang="en-US" sz="2200" b="1" dirty="0" smtClean="0"/>
              <a:t>依据</a:t>
            </a:r>
            <a:r>
              <a:rPr lang="en-US" altLang="zh-CN" sz="2200" b="1" dirty="0" smtClean="0"/>
              <a:t>—</a:t>
            </a:r>
            <a:r>
              <a:rPr lang="zh-CN" altLang="en-US" sz="2200" b="1" dirty="0"/>
              <a:t>正</a:t>
            </a:r>
            <a:r>
              <a:rPr lang="zh-CN" altLang="en-US" sz="2200" b="1" dirty="0" smtClean="0"/>
              <a:t>溢出时</a:t>
            </a:r>
            <a:r>
              <a:rPr lang="en-US" altLang="zh-CN" sz="2200" b="1" i="1" dirty="0" smtClean="0">
                <a:latin typeface="+mn-lt"/>
              </a:rPr>
              <a:t>z</a:t>
            </a:r>
            <a:r>
              <a:rPr lang="en-US" altLang="zh-CN" sz="2200" b="1" baseline="-18000" dirty="0" smtClean="0"/>
              <a:t>n</a:t>
            </a:r>
            <a:r>
              <a:rPr lang="en-US" altLang="zh-CN" sz="2200" b="1" i="1" dirty="0" smtClean="0">
                <a:latin typeface="+mn-lt"/>
              </a:rPr>
              <a:t>z</a:t>
            </a:r>
            <a:r>
              <a:rPr lang="en-US" altLang="zh-CN" sz="2200" b="1" baseline="-18000" dirty="0" smtClean="0"/>
              <a:t>n-1</a:t>
            </a:r>
            <a:r>
              <a:rPr lang="en-US" altLang="zh-CN" sz="2200" b="1" dirty="0" smtClean="0"/>
              <a:t>=01</a:t>
            </a:r>
            <a:r>
              <a:rPr lang="zh-CN" altLang="en-US" sz="2200" b="1" dirty="0" smtClean="0"/>
              <a:t>，负溢出</a:t>
            </a:r>
            <a:r>
              <a:rPr lang="zh-CN" altLang="en-US" sz="2200" b="1" dirty="0"/>
              <a:t>时</a:t>
            </a:r>
            <a:r>
              <a:rPr lang="en-US" altLang="zh-CN" sz="2200" b="1" i="1" dirty="0" smtClean="0">
                <a:latin typeface="+mn-lt"/>
              </a:rPr>
              <a:t>z</a:t>
            </a:r>
            <a:r>
              <a:rPr lang="en-US" altLang="zh-CN" sz="2200" b="1" baseline="-18000" dirty="0" smtClean="0"/>
              <a:t>n</a:t>
            </a:r>
            <a:r>
              <a:rPr lang="en-US" altLang="zh-CN" sz="2200" b="1" i="1" dirty="0" smtClean="0">
                <a:latin typeface="+mn-lt"/>
              </a:rPr>
              <a:t>z</a:t>
            </a:r>
            <a:r>
              <a:rPr lang="en-US" altLang="zh-CN" sz="2200" b="1" baseline="-18000" dirty="0" smtClean="0"/>
              <a:t>n-1</a:t>
            </a:r>
            <a:r>
              <a:rPr lang="en-US" altLang="zh-CN" sz="2200" b="1" dirty="0" smtClean="0"/>
              <a:t>=10</a:t>
            </a:r>
          </a:p>
          <a:p>
            <a:r>
              <a:rPr lang="zh-CN" altLang="en-US" sz="2200" b="1" dirty="0" smtClean="0"/>
              <a:t>溢出逻辑</a:t>
            </a:r>
            <a:r>
              <a:rPr lang="en-US" altLang="zh-CN" sz="2200" b="1" dirty="0" smtClean="0"/>
              <a:t>—OF</a:t>
            </a:r>
            <a:r>
              <a:rPr lang="zh-CN" altLang="en-US" sz="2200" b="1" dirty="0" smtClean="0"/>
              <a:t>＝</a:t>
            </a:r>
            <a:r>
              <a:rPr lang="en-US" altLang="zh-CN" sz="2200" b="1" i="1" dirty="0">
                <a:latin typeface="+mn-lt"/>
              </a:rPr>
              <a:t>z</a:t>
            </a:r>
            <a:r>
              <a:rPr lang="en-US" altLang="zh-CN" sz="2200" b="1" baseline="-18000" dirty="0" smtClean="0"/>
              <a:t>n</a:t>
            </a:r>
            <a:r>
              <a:rPr lang="en-US" altLang="zh-CN" sz="2200" b="1" dirty="0" smtClean="0">
                <a:sym typeface="Symbol"/>
              </a:rPr>
              <a:t></a:t>
            </a:r>
            <a:r>
              <a:rPr lang="en-US" altLang="zh-CN" sz="2200" b="1" i="1" dirty="0" smtClean="0">
                <a:latin typeface="+mn-lt"/>
              </a:rPr>
              <a:t>z</a:t>
            </a:r>
            <a:r>
              <a:rPr lang="en-US" altLang="zh-CN" sz="2200" b="1" baseline="-18000" dirty="0" smtClean="0"/>
              <a:t>n-1</a:t>
            </a:r>
          </a:p>
          <a:p>
            <a:endParaRPr lang="en-US" altLang="zh-CN" sz="2200" b="1" baseline="-18000" dirty="0"/>
          </a:p>
          <a:p>
            <a:r>
              <a:rPr lang="en-US" altLang="zh-CN" sz="2000" b="1" dirty="0" smtClean="0">
                <a:solidFill>
                  <a:srgbClr val="C00000"/>
                </a:solidFill>
              </a:rPr>
              <a:t>     </a:t>
            </a:r>
            <a:r>
              <a:rPr lang="en-US" altLang="zh-CN" sz="2200" b="1" dirty="0" smtClean="0">
                <a:solidFill>
                  <a:srgbClr val="C00000"/>
                </a:solidFill>
              </a:rPr>
              <a:t>*</a:t>
            </a:r>
            <a:r>
              <a:rPr lang="en-US" altLang="zh-CN" sz="2200" b="1" dirty="0">
                <a:solidFill>
                  <a:srgbClr val="C00000"/>
                </a:solidFill>
              </a:rPr>
              <a:t>CF</a:t>
            </a:r>
            <a:r>
              <a:rPr lang="zh-CN" altLang="en-US" sz="2200" b="1" dirty="0">
                <a:solidFill>
                  <a:srgbClr val="C00000"/>
                </a:solidFill>
              </a:rPr>
              <a:t>的逻辑表达式：</a:t>
            </a:r>
            <a:r>
              <a:rPr lang="en-US" altLang="zh-CN" sz="2200" b="1" dirty="0"/>
              <a:t>CF</a:t>
            </a:r>
            <a:r>
              <a:rPr lang="zh-CN" altLang="en-US" sz="2200" b="1" dirty="0"/>
              <a:t> </a:t>
            </a:r>
            <a:r>
              <a:rPr lang="en-US" altLang="zh-CN" sz="2200" b="1" dirty="0"/>
              <a:t>=</a:t>
            </a:r>
            <a:r>
              <a:rPr lang="en-US" altLang="zh-CN" sz="2200" b="1" i="1" dirty="0"/>
              <a:t>C</a:t>
            </a:r>
            <a:r>
              <a:rPr lang="en-US" altLang="zh-CN" sz="2200" b="1" baseline="-16000" dirty="0"/>
              <a:t>n-1</a:t>
            </a:r>
            <a:r>
              <a:rPr lang="en-US" altLang="zh-CN" sz="2200" b="1" dirty="0">
                <a:sym typeface="Symbol"/>
              </a:rPr>
              <a:t>op</a:t>
            </a:r>
            <a:endParaRPr lang="en-US" altLang="zh-CN" sz="2200" b="1" dirty="0"/>
          </a:p>
          <a:p>
            <a:endParaRPr lang="en-US" altLang="zh-CN" sz="2200" b="1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043608" y="4136568"/>
            <a:ext cx="6479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kern="100" dirty="0" smtClean="0">
                <a:latin typeface="+mn-lt"/>
              </a:rPr>
              <a:t>3</a:t>
            </a:r>
            <a:r>
              <a:rPr lang="zh-CN" altLang="zh-CN" b="1" kern="100" dirty="0" smtClean="0">
                <a:latin typeface="+mn-lt"/>
              </a:rPr>
              <a:t>）</a:t>
            </a:r>
            <a:endParaRPr lang="zh-CN" altLang="en-US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9135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  <p:sp>
        <p:nvSpPr>
          <p:cNvPr id="3" name="Text Box 56"/>
          <p:cNvSpPr txBox="1">
            <a:spLocks noChangeArrowheads="1"/>
          </p:cNvSpPr>
          <p:nvPr/>
        </p:nvSpPr>
        <p:spPr bwMode="auto">
          <a:xfrm>
            <a:off x="838200" y="339378"/>
            <a:ext cx="7467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600" b="1" dirty="0">
                <a:latin typeface="宋体" pitchFamily="2" charset="-122"/>
              </a:rPr>
              <a:t>第</a:t>
            </a:r>
            <a:r>
              <a:rPr lang="en-US" altLang="zh-CN" sz="3600" b="1" dirty="0">
                <a:latin typeface="宋体" pitchFamily="2" charset="-122"/>
              </a:rPr>
              <a:t>3</a:t>
            </a:r>
            <a:r>
              <a:rPr lang="zh-CN" altLang="en-US" sz="3600" b="1" dirty="0">
                <a:latin typeface="宋体" pitchFamily="2" charset="-122"/>
              </a:rPr>
              <a:t>章 </a:t>
            </a:r>
            <a:r>
              <a:rPr lang="zh-CN" altLang="en-US" sz="3200" b="1" dirty="0"/>
              <a:t>存储系统</a:t>
            </a:r>
            <a:endParaRPr lang="zh-CN" altLang="en-US" sz="3600" b="1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388" y="1393606"/>
            <a:ext cx="8812212" cy="10156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、存储系统概述        </a:t>
            </a:r>
            <a:r>
              <a:rPr lang="zh-CN" altLang="en-US" sz="2000" b="1" dirty="0" smtClean="0">
                <a:latin typeface="宋体" pitchFamily="2" charset="-122"/>
              </a:rPr>
              <a:t>◇</a:t>
            </a:r>
            <a:r>
              <a:rPr lang="zh-CN" altLang="en-US" sz="2000" b="1" dirty="0">
                <a:latin typeface="宋体" pitchFamily="2" charset="-122"/>
              </a:rPr>
              <a:t>理解</a:t>
            </a:r>
            <a:r>
              <a:rPr lang="zh-CN" altLang="en-US" sz="2000" b="1" dirty="0" smtClean="0">
                <a:latin typeface="宋体" pitchFamily="2" charset="-122"/>
              </a:rPr>
              <a:t>原理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技术</a:t>
            </a:r>
            <a:r>
              <a:rPr lang="zh-CN" altLang="en-US" b="1" dirty="0">
                <a:latin typeface="宋体" pitchFamily="2" charset="-122"/>
              </a:rPr>
              <a:t>指标，程序访问局部性，层次结构的组织、工作过程</a:t>
            </a:r>
            <a:endParaRPr lang="en-US" altLang="zh-CN" b="1" dirty="0" smtClean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79512" y="908720"/>
            <a:ext cx="8713787" cy="51552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  主要内容：</a:t>
            </a:r>
            <a:r>
              <a:rPr lang="zh-CN" altLang="en-US" sz="2200" b="1" dirty="0" smtClean="0">
                <a:latin typeface="宋体" pitchFamily="2" charset="-122"/>
              </a:rPr>
              <a:t>层次结构，</a:t>
            </a:r>
            <a:r>
              <a:rPr lang="en-US" altLang="zh-CN" sz="2200" b="1" dirty="0" smtClean="0">
                <a:latin typeface="宋体" pitchFamily="2" charset="-122"/>
              </a:rPr>
              <a:t>RAM</a:t>
            </a:r>
            <a:r>
              <a:rPr lang="zh-CN" altLang="en-US" sz="2200" b="1" dirty="0" smtClean="0">
                <a:latin typeface="宋体" pitchFamily="2" charset="-122"/>
              </a:rPr>
              <a:t>基础，主存，</a:t>
            </a:r>
            <a:r>
              <a:rPr lang="en-US" altLang="zh-CN" sz="2200" b="1" dirty="0" smtClean="0">
                <a:latin typeface="宋体" pitchFamily="2" charset="-122"/>
              </a:rPr>
              <a:t>Cache</a:t>
            </a:r>
            <a:r>
              <a:rPr lang="zh-CN" altLang="en-US" sz="2200" b="1" dirty="0" smtClean="0">
                <a:latin typeface="宋体" pitchFamily="2" charset="-122"/>
              </a:rPr>
              <a:t>，虚拟存储器</a:t>
            </a:r>
            <a:endParaRPr lang="zh-CN" altLang="en-US" sz="2200" b="1" dirty="0">
              <a:latin typeface="宋体" pitchFamily="2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79512" y="2366878"/>
            <a:ext cx="8812212" cy="2862322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二、半导体存储器基础</a:t>
            </a:r>
            <a:endParaRPr lang="en-US" altLang="zh-CN" sz="2000" b="1" dirty="0" smtClean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1.SRAM                  </a:t>
            </a:r>
            <a:r>
              <a:rPr lang="zh-CN" altLang="en-US" sz="2000" b="1" dirty="0" smtClean="0">
                <a:latin typeface="+mn-ea"/>
                <a:ea typeface="+mn-ea"/>
              </a:rPr>
              <a:t>☆掌握</a:t>
            </a:r>
            <a:r>
              <a:rPr lang="zh-CN" altLang="en-US" sz="2000" b="1" dirty="0" smtClean="0">
                <a:latin typeface="宋体" pitchFamily="2" charset="-122"/>
              </a:rPr>
              <a:t>原理、熟练运用</a:t>
            </a:r>
            <a:endParaRPr lang="zh-CN" altLang="en-US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存储元组成与操作，</a:t>
            </a:r>
            <a:r>
              <a:rPr lang="zh-CN" altLang="en-US" b="1" spc="-100" dirty="0" smtClean="0">
                <a:latin typeface="宋体" pitchFamily="2" charset="-122"/>
              </a:rPr>
              <a:t>芯片的组成、引脚组织、读写时序</a:t>
            </a:r>
            <a:endParaRPr lang="en-US" altLang="zh-CN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2.DRAM                  </a:t>
            </a:r>
            <a:r>
              <a:rPr lang="zh-CN" altLang="en-US" sz="2000" b="1" dirty="0" smtClean="0">
                <a:latin typeface="宋体" pitchFamily="2" charset="-122"/>
              </a:rPr>
              <a:t>◇理解原理</a:t>
            </a:r>
            <a:endParaRPr lang="en-US" altLang="zh-CN" sz="2000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存储元组成与操作，</a:t>
            </a:r>
            <a:r>
              <a:rPr lang="zh-CN" altLang="en-US" b="1" spc="-100" dirty="0" smtClean="0">
                <a:latin typeface="宋体" pitchFamily="2" charset="-122"/>
              </a:rPr>
              <a:t>芯片的引脚组织、组成、操作时序、刷新</a:t>
            </a:r>
            <a:endParaRPr lang="en-US" altLang="zh-CN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3.ROM                   </a:t>
            </a:r>
            <a:r>
              <a:rPr lang="zh-CN" altLang="en-US" sz="2000" b="1" dirty="0" smtClean="0">
                <a:latin typeface="宋体" pitchFamily="2" charset="-122"/>
              </a:rPr>
              <a:t>△了解</a:t>
            </a:r>
            <a:endParaRPr lang="en-US" altLang="zh-CN" sz="2000" b="1" dirty="0">
              <a:latin typeface="宋体" pitchFamily="2" charset="-122"/>
            </a:endParaRP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3564012" y="3374990"/>
            <a:ext cx="2952204" cy="4318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261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490519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三、主存</a:t>
            </a:r>
            <a:endParaRPr lang="en-US" altLang="zh-CN" b="1" dirty="0" smtClean="0">
              <a:latin typeface="+mn-ea"/>
              <a:ea typeface="+mn-ea"/>
            </a:endParaRPr>
          </a:p>
        </p:txBody>
      </p:sp>
      <p:sp>
        <p:nvSpPr>
          <p:cNvPr id="4" name="Text Box 85"/>
          <p:cNvSpPr txBox="1">
            <a:spLocks noChangeArrowheads="1"/>
          </p:cNvSpPr>
          <p:nvPr/>
        </p:nvSpPr>
        <p:spPr bwMode="auto">
          <a:xfrm>
            <a:off x="179388" y="785813"/>
            <a:ext cx="8785225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主存的组成             </a:t>
            </a:r>
            <a:r>
              <a:rPr lang="zh-CN" altLang="en-US" sz="2000" b="1" dirty="0" smtClean="0">
                <a:latin typeface="宋体" pitchFamily="2" charset="-122"/>
              </a:rPr>
              <a:t>◇掌握概念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组成</a:t>
            </a:r>
            <a:r>
              <a:rPr lang="en-US" altLang="zh-CN" b="1" dirty="0" smtClean="0">
                <a:latin typeface="宋体" pitchFamily="2" charset="-122"/>
              </a:rPr>
              <a:t>(ROM+RAM)</a:t>
            </a:r>
            <a:r>
              <a:rPr lang="zh-CN" altLang="en-US" b="1" dirty="0" smtClean="0">
                <a:latin typeface="宋体" pitchFamily="2" charset="-122"/>
              </a:rPr>
              <a:t>、特性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zh-CN" altLang="en-US" b="1" dirty="0" smtClean="0">
                <a:latin typeface="宋体" pitchFamily="2" charset="-122"/>
              </a:rPr>
              <a:t>容量可配置</a:t>
            </a:r>
            <a:r>
              <a:rPr lang="en-US" altLang="zh-CN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主存的逻辑设计         </a:t>
            </a:r>
            <a:r>
              <a:rPr lang="zh-CN" altLang="en-US" sz="2000" b="1" dirty="0" smtClean="0">
                <a:latin typeface="宋体" pitchFamily="2" charset="-122"/>
              </a:rPr>
              <a:t>☆综合应用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3.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主存与</a:t>
            </a:r>
            <a:r>
              <a:rPr lang="en-US" altLang="zh-CN" b="1" dirty="0">
                <a:solidFill>
                  <a:srgbClr val="FF3399"/>
                </a:solidFill>
                <a:latin typeface="宋体" pitchFamily="2" charset="-122"/>
              </a:rPr>
              <a:t>CPU</a:t>
            </a:r>
            <a:r>
              <a:rPr lang="zh-CN" altLang="en-US" b="1" dirty="0">
                <a:solidFill>
                  <a:srgbClr val="FF3399"/>
                </a:solidFill>
                <a:latin typeface="宋体" pitchFamily="2" charset="-122"/>
              </a:rPr>
              <a:t>的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连接        </a:t>
            </a:r>
            <a:r>
              <a:rPr lang="zh-CN" altLang="en-US" sz="2000" b="1" dirty="0" smtClean="0">
                <a:latin typeface="宋体" pitchFamily="2" charset="-122"/>
              </a:rPr>
              <a:t>☆</a:t>
            </a:r>
            <a:r>
              <a:rPr lang="zh-CN" altLang="en-US" sz="2000" b="1" dirty="0">
                <a:latin typeface="宋体" pitchFamily="2" charset="-122"/>
              </a:rPr>
              <a:t>综合应用</a:t>
            </a:r>
            <a:endParaRPr lang="zh-CN" altLang="en-US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4.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提高</a:t>
            </a:r>
            <a:r>
              <a:rPr lang="zh-CN" altLang="en-US" b="1" dirty="0">
                <a:solidFill>
                  <a:srgbClr val="FF3399"/>
                </a:solidFill>
                <a:latin typeface="宋体" pitchFamily="2" charset="-122"/>
              </a:rPr>
              <a:t>访存速度的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措施     </a:t>
            </a:r>
            <a:r>
              <a:rPr lang="zh-CN" altLang="en-US" sz="2000" b="1" dirty="0" smtClean="0">
                <a:latin typeface="宋体" pitchFamily="2" charset="-122"/>
              </a:rPr>
              <a:t>◇掌握原理、可分析性能</a:t>
            </a:r>
            <a:endParaRPr lang="zh-CN" altLang="en-US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b="1" dirty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5" name="Text Box 87"/>
          <p:cNvSpPr txBox="1">
            <a:spLocks noChangeArrowheads="1"/>
          </p:cNvSpPr>
          <p:nvPr/>
        </p:nvSpPr>
        <p:spPr bwMode="auto">
          <a:xfrm>
            <a:off x="179388" y="2204864"/>
            <a:ext cx="8785225" cy="490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基于</a:t>
            </a:r>
            <a:r>
              <a:rPr lang="en-US" altLang="zh-CN" b="1" dirty="0" smtClean="0">
                <a:latin typeface="宋体" pitchFamily="2" charset="-122"/>
              </a:rPr>
              <a:t>SRAM</a:t>
            </a:r>
            <a:r>
              <a:rPr lang="zh-CN" altLang="en-US" b="1" dirty="0" smtClean="0">
                <a:latin typeface="宋体" pitchFamily="2" charset="-122"/>
              </a:rPr>
              <a:t>芯片、采用位扩展</a:t>
            </a:r>
            <a:r>
              <a:rPr lang="en-US" altLang="zh-CN" b="1" dirty="0" smtClean="0">
                <a:latin typeface="宋体" pitchFamily="2" charset="-122"/>
              </a:rPr>
              <a:t>/</a:t>
            </a:r>
            <a:r>
              <a:rPr lang="zh-CN" altLang="en-US" b="1" dirty="0" smtClean="0">
                <a:latin typeface="宋体" pitchFamily="2" charset="-122"/>
              </a:rPr>
              <a:t>字扩展</a:t>
            </a:r>
            <a:r>
              <a:rPr lang="en-US" altLang="zh-CN" b="1" dirty="0" smtClean="0">
                <a:latin typeface="宋体" pitchFamily="2" charset="-122"/>
              </a:rPr>
              <a:t>/</a:t>
            </a:r>
            <a:r>
              <a:rPr lang="zh-CN" altLang="en-US" b="1" dirty="0" smtClean="0">
                <a:latin typeface="宋体" pitchFamily="2" charset="-122"/>
              </a:rPr>
              <a:t>字</a:t>
            </a:r>
            <a:r>
              <a:rPr lang="zh-CN" altLang="en-US" b="1" dirty="0">
                <a:latin typeface="宋体" pitchFamily="2" charset="-122"/>
              </a:rPr>
              <a:t>位</a:t>
            </a:r>
            <a:r>
              <a:rPr lang="zh-CN" altLang="en-US" b="1" dirty="0" smtClean="0">
                <a:latin typeface="宋体" pitchFamily="2" charset="-122"/>
              </a:rPr>
              <a:t>扩展的主存设计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6" name="Text Box 91"/>
          <p:cNvSpPr txBox="1">
            <a:spLocks noChangeArrowheads="1"/>
          </p:cNvSpPr>
          <p:nvPr/>
        </p:nvSpPr>
        <p:spPr bwMode="auto">
          <a:xfrm>
            <a:off x="179388" y="3083475"/>
            <a:ext cx="878522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CPU</a:t>
            </a:r>
            <a:r>
              <a:rPr lang="zh-CN" altLang="en-US" b="1" dirty="0" smtClean="0">
                <a:latin typeface="宋体" pitchFamily="2" charset="-122"/>
              </a:rPr>
              <a:t>外部接口，主存各信号</a:t>
            </a:r>
            <a:r>
              <a:rPr lang="zh-CN" altLang="en-US" b="1" dirty="0">
                <a:latin typeface="宋体" pitchFamily="2" charset="-122"/>
              </a:rPr>
              <a:t>线与</a:t>
            </a:r>
            <a:r>
              <a:rPr lang="en-US" altLang="zh-CN" b="1" dirty="0">
                <a:latin typeface="宋体" pitchFamily="2" charset="-122"/>
              </a:rPr>
              <a:t>CPU</a:t>
            </a:r>
            <a:r>
              <a:rPr lang="zh-CN" altLang="en-US" b="1" dirty="0">
                <a:latin typeface="宋体" pitchFamily="2" charset="-122"/>
              </a:rPr>
              <a:t>引脚的</a:t>
            </a:r>
            <a:r>
              <a:rPr lang="zh-CN" altLang="en-US" b="1" dirty="0" smtClean="0">
                <a:latin typeface="宋体" pitchFamily="2" charset="-122"/>
              </a:rPr>
              <a:t>连接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endParaRPr lang="en-US" altLang="zh-CN" sz="2000" b="1" dirty="0">
              <a:latin typeface="宋体" pitchFamily="2" charset="-122"/>
            </a:endParaRPr>
          </a:p>
        </p:txBody>
      </p:sp>
      <p:sp>
        <p:nvSpPr>
          <p:cNvPr id="8" name="Text Box 94"/>
          <p:cNvSpPr txBox="1">
            <a:spLocks noChangeArrowheads="1"/>
          </p:cNvSpPr>
          <p:nvPr/>
        </p:nvSpPr>
        <p:spPr bwMode="auto">
          <a:xfrm>
            <a:off x="179388" y="4437112"/>
            <a:ext cx="8785225" cy="10156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增强的</a:t>
            </a:r>
            <a:r>
              <a:rPr lang="en-US" altLang="zh-CN" b="1" dirty="0" smtClean="0">
                <a:latin typeface="宋体" pitchFamily="2" charset="-122"/>
              </a:rPr>
              <a:t>MEM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itchFamily="2" charset="-122"/>
              </a:rPr>
              <a:t>SDRAM</a:t>
            </a:r>
            <a:r>
              <a:rPr lang="zh-CN" altLang="en-US" sz="2000" b="1" dirty="0">
                <a:latin typeface="宋体" pitchFamily="2" charset="-122"/>
              </a:rPr>
              <a:t>、</a:t>
            </a:r>
            <a:r>
              <a:rPr lang="en-US" altLang="zh-CN" sz="2000" b="1" dirty="0">
                <a:latin typeface="宋体" pitchFamily="2" charset="-122"/>
              </a:rPr>
              <a:t>DDR SDRAM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的工作方式</a:t>
            </a:r>
            <a:r>
              <a:rPr lang="en-US" altLang="zh-CN" b="1" dirty="0" smtClean="0">
                <a:latin typeface="宋体" pitchFamily="2" charset="-122"/>
              </a:rPr>
              <a:t>/</a:t>
            </a:r>
            <a:r>
              <a:rPr lang="zh-CN" altLang="en-US" b="1" dirty="0" smtClean="0">
                <a:latin typeface="宋体" pitchFamily="2" charset="-122"/>
              </a:rPr>
              <a:t>原理，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多体交叉</a:t>
            </a:r>
            <a:r>
              <a:rPr lang="en-US" altLang="zh-CN" b="1" dirty="0" smtClean="0">
                <a:latin typeface="宋体" pitchFamily="2" charset="-122"/>
              </a:rPr>
              <a:t>MEM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交叉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并行方式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的结构、工作原理</a:t>
            </a:r>
            <a:endParaRPr lang="en-US" altLang="zh-CN" sz="2000" b="1" dirty="0">
              <a:latin typeface="宋体" pitchFamily="2" charset="-122"/>
            </a:endParaRPr>
          </a:p>
        </p:txBody>
      </p:sp>
      <p:sp>
        <p:nvSpPr>
          <p:cNvPr id="9" name="Text Box 132"/>
          <p:cNvSpPr txBox="1">
            <a:spLocks noChangeArrowheads="1"/>
          </p:cNvSpPr>
          <p:nvPr/>
        </p:nvSpPr>
        <p:spPr bwMode="auto">
          <a:xfrm>
            <a:off x="179388" y="1743199"/>
            <a:ext cx="8785225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2699792" y="3140968"/>
            <a:ext cx="4248472" cy="4318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684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32"/>
          <p:cNvSpPr txBox="1">
            <a:spLocks noChangeArrowheads="1"/>
          </p:cNvSpPr>
          <p:nvPr/>
        </p:nvSpPr>
        <p:spPr bwMode="auto">
          <a:xfrm>
            <a:off x="179388" y="807095"/>
            <a:ext cx="8785225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490519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</a:t>
            </a:r>
            <a:r>
              <a:rPr lang="en-US" altLang="zh-CN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Cache</a:t>
            </a:r>
            <a:endParaRPr lang="en-US" altLang="zh-CN" b="1" dirty="0" smtClean="0">
              <a:latin typeface="+mn-ea"/>
              <a:ea typeface="+mn-ea"/>
            </a:endParaRPr>
          </a:p>
        </p:txBody>
      </p:sp>
      <p:sp>
        <p:nvSpPr>
          <p:cNvPr id="5" name="Text Box 85"/>
          <p:cNvSpPr txBox="1">
            <a:spLocks noChangeArrowheads="1"/>
          </p:cNvSpPr>
          <p:nvPr/>
        </p:nvSpPr>
        <p:spPr bwMode="auto">
          <a:xfrm>
            <a:off x="179388" y="764704"/>
            <a:ext cx="6048795" cy="4321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1.Cache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的基本原理        </a:t>
            </a:r>
            <a:r>
              <a:rPr lang="zh-CN" altLang="en-US" sz="2000" b="1" dirty="0" smtClean="0">
                <a:latin typeface="宋体" pitchFamily="2" charset="-122"/>
              </a:rPr>
              <a:t>☆深入理解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2.Cache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的地址映射        </a:t>
            </a:r>
            <a:r>
              <a:rPr lang="zh-CN" altLang="en-US" sz="2000" b="1" dirty="0" smtClean="0">
                <a:latin typeface="宋体" pitchFamily="2" charset="-122"/>
              </a:rPr>
              <a:t>☆可分析性能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3.Cache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的替换算法        </a:t>
            </a:r>
            <a:r>
              <a:rPr lang="zh-CN" altLang="en-US" sz="2000" b="1" dirty="0" smtClean="0">
                <a:latin typeface="宋体" pitchFamily="2" charset="-122"/>
              </a:rPr>
              <a:t>△理解原理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4.Cache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的写策略          </a:t>
            </a:r>
            <a:r>
              <a:rPr lang="zh-CN" altLang="en-US" sz="2000" b="1" dirty="0" smtClean="0">
                <a:latin typeface="宋体" pitchFamily="2" charset="-122"/>
              </a:rPr>
              <a:t>△</a:t>
            </a:r>
            <a:r>
              <a:rPr lang="zh-CN" altLang="en-US" sz="2000" b="1" dirty="0">
                <a:latin typeface="宋体" pitchFamily="2" charset="-122"/>
              </a:rPr>
              <a:t>理解原理</a:t>
            </a:r>
            <a:endParaRPr lang="zh-CN" altLang="en-US" b="1" dirty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zh-CN" altLang="en-US" b="1" dirty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79388" y="1268760"/>
            <a:ext cx="8785225" cy="490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性</a:t>
            </a:r>
            <a:r>
              <a:rPr lang="zh-CN" altLang="en-US" b="1" spc="-100" dirty="0" smtClean="0">
                <a:latin typeface="宋体" pitchFamily="2" charset="-122"/>
              </a:rPr>
              <a:t>能，存储空间管理</a:t>
            </a:r>
            <a:r>
              <a:rPr lang="en-US" altLang="zh-CN" sz="1800" b="1" spc="-100" dirty="0" smtClean="0">
                <a:latin typeface="宋体" pitchFamily="2" charset="-122"/>
              </a:rPr>
              <a:t>(</a:t>
            </a:r>
            <a:r>
              <a:rPr lang="zh-CN" altLang="en-US" sz="1800" b="1" spc="-100" dirty="0" smtClean="0">
                <a:latin typeface="宋体" pitchFamily="2" charset="-122"/>
              </a:rPr>
              <a:t>交换单位</a:t>
            </a:r>
            <a:r>
              <a:rPr lang="en-US" altLang="zh-CN" sz="1800" b="1" spc="-100" dirty="0" smtClean="0">
                <a:latin typeface="宋体" pitchFamily="2" charset="-122"/>
              </a:rPr>
              <a:t>/</a:t>
            </a:r>
            <a:r>
              <a:rPr lang="zh-CN" altLang="en-US" sz="1800" b="1" spc="-100" dirty="0" smtClean="0">
                <a:latin typeface="宋体" pitchFamily="2" charset="-122"/>
              </a:rPr>
              <a:t>传送管理</a:t>
            </a:r>
            <a:r>
              <a:rPr lang="en-US" altLang="zh-CN" sz="1800" b="1" spc="-100" dirty="0" smtClean="0">
                <a:latin typeface="宋体" pitchFamily="2" charset="-122"/>
              </a:rPr>
              <a:t>/</a:t>
            </a:r>
            <a:r>
              <a:rPr lang="zh-CN" altLang="en-US" sz="1800" b="1" spc="-100" dirty="0" smtClean="0">
                <a:latin typeface="宋体" pitchFamily="2" charset="-122"/>
              </a:rPr>
              <a:t>硬件组织</a:t>
            </a:r>
            <a:r>
              <a:rPr lang="en-US" altLang="zh-CN" sz="1800" b="1" spc="-100" dirty="0" smtClean="0">
                <a:latin typeface="宋体" pitchFamily="2" charset="-122"/>
              </a:rPr>
              <a:t>)</a:t>
            </a:r>
            <a:r>
              <a:rPr lang="zh-CN" altLang="en-US" b="1" spc="-100" dirty="0" smtClean="0">
                <a:latin typeface="宋体" pitchFamily="2" charset="-122"/>
              </a:rPr>
              <a:t>，工作流程，结构</a:t>
            </a:r>
            <a:endParaRPr lang="zh-CN" altLang="en-US" b="1" spc="-100" dirty="0">
              <a:latin typeface="宋体" pitchFamily="2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79512" y="2132856"/>
            <a:ext cx="8785225" cy="10156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直接、全相联、组</a:t>
            </a:r>
            <a:r>
              <a:rPr lang="zh-CN" altLang="en-US" b="1" dirty="0">
                <a:latin typeface="宋体" pitchFamily="2" charset="-122"/>
              </a:rPr>
              <a:t>相</a:t>
            </a:r>
            <a:r>
              <a:rPr lang="zh-CN" altLang="en-US" b="1" dirty="0" smtClean="0">
                <a:latin typeface="宋体" pitchFamily="2" charset="-122"/>
              </a:rPr>
              <a:t>联的映射规则、标记选定、地址变换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〖</a:t>
            </a:r>
            <a:r>
              <a:rPr lang="zh-CN" altLang="en-US" b="1" dirty="0">
                <a:latin typeface="宋体" pitchFamily="2" charset="-122"/>
              </a:rPr>
              <a:t>例</a:t>
            </a:r>
            <a:r>
              <a:rPr lang="en-US" altLang="zh-CN" b="1" dirty="0" smtClean="0">
                <a:latin typeface="宋体" pitchFamily="2" charset="-122"/>
              </a:rPr>
              <a:t>〗PPT3.P68</a:t>
            </a:r>
            <a:r>
              <a:rPr lang="en-US" altLang="zh-CN" b="1" dirty="0" smtClean="0"/>
              <a:t>~</a:t>
            </a:r>
            <a:r>
              <a:rPr lang="en-US" altLang="zh-CN" b="1" dirty="0" smtClean="0">
                <a:latin typeface="宋体" pitchFamily="2" charset="-122"/>
              </a:rPr>
              <a:t>P75</a:t>
            </a:r>
            <a:r>
              <a:rPr lang="zh-CN" altLang="en-US" b="1" dirty="0" smtClean="0">
                <a:latin typeface="宋体" pitchFamily="2" charset="-122"/>
              </a:rPr>
              <a:t>例</a:t>
            </a:r>
            <a:r>
              <a:rPr lang="en-US" altLang="zh-CN" b="1" dirty="0">
                <a:latin typeface="宋体" pitchFamily="2" charset="-122"/>
              </a:rPr>
              <a:t>1</a:t>
            </a:r>
            <a:r>
              <a:rPr lang="en-US" altLang="zh-CN" b="1" dirty="0"/>
              <a:t>~</a:t>
            </a:r>
            <a:r>
              <a:rPr lang="zh-CN" altLang="en-US" b="1" dirty="0">
                <a:latin typeface="宋体" pitchFamily="2" charset="-122"/>
              </a:rPr>
              <a:t>例</a:t>
            </a:r>
            <a:r>
              <a:rPr lang="en-US" altLang="zh-CN" b="1" dirty="0" smtClean="0">
                <a:latin typeface="宋体" pitchFamily="2" charset="-122"/>
              </a:rPr>
              <a:t>4</a:t>
            </a:r>
            <a:r>
              <a:rPr lang="zh-CN" altLang="en-US" b="1" dirty="0" smtClean="0">
                <a:latin typeface="宋体" pitchFamily="2" charset="-122"/>
              </a:rPr>
              <a:t>，自行汇总、比较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179388" y="3455789"/>
            <a:ext cx="878522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C3300"/>
                </a:solidFill>
                <a:latin typeface="宋体" pitchFamily="2" charset="-122"/>
              </a:rPr>
              <a:t>   </a:t>
            </a:r>
            <a:r>
              <a:rPr lang="en-US" altLang="zh-CN" b="1" dirty="0" smtClean="0">
                <a:latin typeface="宋体" pitchFamily="2" charset="-122"/>
              </a:rPr>
              <a:t>RAND</a:t>
            </a:r>
            <a:r>
              <a:rPr lang="zh-CN" altLang="en-US" b="1" dirty="0">
                <a:latin typeface="宋体" pitchFamily="2" charset="-122"/>
              </a:rPr>
              <a:t>、</a:t>
            </a:r>
            <a:r>
              <a:rPr lang="en-US" altLang="zh-CN" b="1" dirty="0">
                <a:latin typeface="宋体" pitchFamily="2" charset="-122"/>
              </a:rPr>
              <a:t>FIFO</a:t>
            </a:r>
            <a:r>
              <a:rPr lang="zh-CN" altLang="en-US" b="1" dirty="0">
                <a:latin typeface="宋体" pitchFamily="2" charset="-122"/>
              </a:rPr>
              <a:t>、</a:t>
            </a:r>
            <a:r>
              <a:rPr lang="en-US" altLang="zh-CN" b="1" dirty="0" smtClean="0">
                <a:latin typeface="宋体" pitchFamily="2" charset="-122"/>
              </a:rPr>
              <a:t>LRU</a:t>
            </a:r>
            <a:r>
              <a:rPr lang="zh-CN" altLang="en-US" b="1" dirty="0">
                <a:latin typeface="宋体" pitchFamily="2" charset="-122"/>
              </a:rPr>
              <a:t>算法</a:t>
            </a:r>
            <a:r>
              <a:rPr lang="zh-CN" altLang="en-US" b="1" dirty="0" smtClean="0">
                <a:latin typeface="宋体" pitchFamily="2" charset="-122"/>
              </a:rPr>
              <a:t>的思想、</a:t>
            </a:r>
            <a:r>
              <a:rPr lang="zh-CN" altLang="en-US" b="1" dirty="0">
                <a:latin typeface="宋体" pitchFamily="2" charset="-122"/>
              </a:rPr>
              <a:t>实现方法</a:t>
            </a:r>
            <a:r>
              <a:rPr lang="zh-CN" altLang="en-US" b="1" dirty="0" smtClean="0">
                <a:latin typeface="宋体" pitchFamily="2" charset="-122"/>
              </a:rPr>
              <a:t>、硬件支持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79388" y="4391893"/>
            <a:ext cx="87852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全写法</a:t>
            </a:r>
            <a:r>
              <a:rPr lang="zh-CN" altLang="en-US" b="1" dirty="0" smtClean="0">
                <a:latin typeface="宋体" pitchFamily="2" charset="-122"/>
              </a:rPr>
              <a:t>、写回法的思想、性能、工作流程、硬件支持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13" name="Text Box 132"/>
          <p:cNvSpPr txBox="1">
            <a:spLocks noChangeArrowheads="1"/>
          </p:cNvSpPr>
          <p:nvPr/>
        </p:nvSpPr>
        <p:spPr bwMode="auto">
          <a:xfrm>
            <a:off x="2555777" y="3527797"/>
            <a:ext cx="576064" cy="40011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altLang="zh-CN" sz="2000" b="1" dirty="0" smtClean="0">
              <a:latin typeface="宋体" pitchFamily="2" charset="-122"/>
            </a:endParaRPr>
          </a:p>
        </p:txBody>
      </p:sp>
      <p:sp>
        <p:nvSpPr>
          <p:cNvPr id="16" name="Text Box 132"/>
          <p:cNvSpPr txBox="1">
            <a:spLocks noChangeArrowheads="1"/>
          </p:cNvSpPr>
          <p:nvPr/>
        </p:nvSpPr>
        <p:spPr bwMode="auto">
          <a:xfrm>
            <a:off x="2843808" y="2165415"/>
            <a:ext cx="1008112" cy="461665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179388" y="4882697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、虚拟存储器</a:t>
            </a:r>
            <a:r>
              <a:rPr lang="zh-CN" altLang="en-US" sz="2000" b="1" dirty="0" smtClean="0">
                <a:solidFill>
                  <a:srgbClr val="990099"/>
                </a:solidFill>
                <a:latin typeface="+mn-lt"/>
                <a:ea typeface="黑体" panose="02010609060101010101" pitchFamily="49" charset="-122"/>
              </a:rPr>
              <a:t>（</a:t>
            </a:r>
            <a:r>
              <a:rPr lang="en-US" altLang="zh-CN" sz="2000" b="1" dirty="0" smtClean="0">
                <a:solidFill>
                  <a:srgbClr val="990099"/>
                </a:solidFill>
                <a:latin typeface="+mn-lt"/>
                <a:ea typeface="黑体" panose="02010609060101010101" pitchFamily="49" charset="-122"/>
              </a:rPr>
              <a:t>MMU</a:t>
            </a:r>
            <a:r>
              <a:rPr lang="zh-CN" altLang="en-US" sz="2000" b="1" dirty="0" smtClean="0">
                <a:solidFill>
                  <a:srgbClr val="990099"/>
                </a:solidFill>
                <a:latin typeface="+mn-lt"/>
                <a:ea typeface="黑体" panose="02010609060101010101" pitchFamily="49" charset="-122"/>
              </a:rPr>
              <a:t>、页表</a:t>
            </a:r>
            <a:r>
              <a:rPr lang="en-US" altLang="zh-CN" sz="2000" b="1" dirty="0" smtClean="0">
                <a:solidFill>
                  <a:srgbClr val="990099"/>
                </a:solidFill>
                <a:latin typeface="+mn-lt"/>
                <a:ea typeface="黑体" panose="02010609060101010101" pitchFamily="49" charset="-122"/>
              </a:rPr>
              <a:t>(</a:t>
            </a:r>
            <a:r>
              <a:rPr lang="zh-CN" altLang="en-US" sz="2000" b="1" dirty="0" smtClean="0">
                <a:solidFill>
                  <a:srgbClr val="990099"/>
                </a:solidFill>
                <a:latin typeface="+mn-lt"/>
                <a:ea typeface="黑体" panose="02010609060101010101" pitchFamily="49" charset="-122"/>
              </a:rPr>
              <a:t>内存中</a:t>
            </a:r>
            <a:r>
              <a:rPr lang="en-US" altLang="zh-CN" sz="2000" b="1" dirty="0" smtClean="0">
                <a:solidFill>
                  <a:srgbClr val="990099"/>
                </a:solidFill>
                <a:latin typeface="+mn-lt"/>
                <a:ea typeface="黑体" panose="02010609060101010101" pitchFamily="49" charset="-122"/>
              </a:rPr>
              <a:t>)</a:t>
            </a:r>
            <a:r>
              <a:rPr lang="zh-CN" altLang="en-US" sz="2000" b="1" dirty="0" smtClean="0">
                <a:solidFill>
                  <a:srgbClr val="990099"/>
                </a:solidFill>
                <a:latin typeface="+mn-lt"/>
                <a:ea typeface="黑体" panose="02010609060101010101" pitchFamily="49" charset="-122"/>
              </a:rPr>
              <a:t>、</a:t>
            </a:r>
            <a:r>
              <a:rPr lang="en-US" altLang="zh-CN" sz="2000" b="1" dirty="0" smtClean="0">
                <a:solidFill>
                  <a:srgbClr val="990099"/>
                </a:solidFill>
                <a:latin typeface="+mn-lt"/>
                <a:ea typeface="黑体" panose="02010609060101010101" pitchFamily="49" charset="-122"/>
              </a:rPr>
              <a:t>TLB</a:t>
            </a:r>
            <a:r>
              <a:rPr lang="zh-CN" altLang="en-US" sz="2000" b="1" dirty="0" smtClean="0">
                <a:solidFill>
                  <a:srgbClr val="990099"/>
                </a:solidFill>
                <a:latin typeface="+mn-lt"/>
                <a:ea typeface="黑体" panose="02010609060101010101" pitchFamily="49" charset="-122"/>
              </a:rPr>
              <a:t>（</a:t>
            </a:r>
            <a:r>
              <a:rPr lang="en-US" altLang="zh-CN" sz="2000" b="1" dirty="0" smtClean="0">
                <a:solidFill>
                  <a:srgbClr val="990099"/>
                </a:solidFill>
                <a:latin typeface="+mn-lt"/>
                <a:ea typeface="黑体" panose="02010609060101010101" pitchFamily="49" charset="-122"/>
              </a:rPr>
              <a:t>CPU</a:t>
            </a:r>
            <a:r>
              <a:rPr lang="zh-CN" altLang="en-US" sz="2000" b="1" dirty="0" smtClean="0">
                <a:solidFill>
                  <a:srgbClr val="990099"/>
                </a:solidFill>
                <a:latin typeface="+mn-lt"/>
                <a:ea typeface="黑体" panose="02010609060101010101" pitchFamily="49" charset="-122"/>
              </a:rPr>
              <a:t>中）</a:t>
            </a:r>
            <a:r>
              <a:rPr lang="zh-CN" altLang="en-US" sz="2000" b="1" dirty="0" smtClean="0">
                <a:latin typeface="+mn-ea"/>
                <a:ea typeface="+mn-ea"/>
              </a:rPr>
              <a:t>△理解相关概念</a:t>
            </a:r>
            <a:endParaRPr lang="en-US" altLang="zh-CN" sz="2000" b="1" dirty="0" smtClean="0">
              <a:latin typeface="+mn-ea"/>
              <a:ea typeface="+mn-ea"/>
            </a:endParaRPr>
          </a:p>
        </p:txBody>
      </p:sp>
      <p:sp>
        <p:nvSpPr>
          <p:cNvPr id="18" name="Text Box 43"/>
          <p:cNvSpPr txBox="1">
            <a:spLocks noChangeArrowheads="1"/>
          </p:cNvSpPr>
          <p:nvPr/>
        </p:nvSpPr>
        <p:spPr bwMode="auto">
          <a:xfrm>
            <a:off x="179512" y="5373216"/>
            <a:ext cx="878522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*本章总体要求：</a:t>
            </a:r>
            <a:r>
              <a:rPr lang="zh-CN" altLang="en-US" b="1" dirty="0" smtClean="0">
                <a:latin typeface="宋体" pitchFamily="2" charset="-122"/>
              </a:rPr>
              <a:t>①可设计主存、并与</a:t>
            </a:r>
            <a:r>
              <a:rPr lang="en-US" altLang="zh-CN" b="1" dirty="0" smtClean="0">
                <a:latin typeface="宋体" pitchFamily="2" charset="-122"/>
              </a:rPr>
              <a:t>CPU</a:t>
            </a:r>
            <a:r>
              <a:rPr lang="zh-CN" altLang="en-US" b="1" dirty="0" smtClean="0">
                <a:latin typeface="宋体" pitchFamily="2" charset="-122"/>
              </a:rPr>
              <a:t>连接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       </a:t>
            </a:r>
            <a:r>
              <a:rPr lang="zh-CN" altLang="en-US" b="1" dirty="0" smtClean="0">
                <a:latin typeface="宋体" pitchFamily="2" charset="-122"/>
              </a:rPr>
              <a:t>②掌握</a:t>
            </a:r>
            <a:r>
              <a:rPr lang="en-US" altLang="zh-CN" b="1" dirty="0" smtClean="0">
                <a:latin typeface="宋体" pitchFamily="2" charset="-122"/>
              </a:rPr>
              <a:t>Cache</a:t>
            </a:r>
            <a:r>
              <a:rPr lang="zh-CN" altLang="en-US" b="1" dirty="0" smtClean="0">
                <a:latin typeface="宋体" pitchFamily="2" charset="-122"/>
              </a:rPr>
              <a:t>的组织与工作原理 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可扩展至</a:t>
            </a:r>
            <a:r>
              <a:rPr lang="zh-CN" altLang="en-US" sz="2000" b="1" dirty="0">
                <a:latin typeface="宋体" pitchFamily="2" charset="-122"/>
              </a:rPr>
              <a:t>任意</a:t>
            </a:r>
            <a:r>
              <a:rPr lang="zh-CN" altLang="en-US" sz="2000" b="1" dirty="0" smtClean="0">
                <a:latin typeface="宋体" pitchFamily="2" charset="-122"/>
              </a:rPr>
              <a:t>缓冲器</a:t>
            </a:r>
            <a:r>
              <a:rPr lang="en-US" altLang="zh-CN" sz="2000" b="1" dirty="0">
                <a:latin typeface="宋体" pitchFamily="2" charset="-122"/>
              </a:rPr>
              <a:t>)</a:t>
            </a:r>
            <a:endParaRPr lang="en-US" altLang="zh-CN" sz="2000" b="1" dirty="0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721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1" grpId="0"/>
      <p:bldP spid="13" grpId="0" animBg="1"/>
      <p:bldP spid="16" grpId="0" animBg="1"/>
      <p:bldP spid="17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C092676-1262-4DAD-807E-48E875256232}" type="slidenum">
              <a:rPr lang="en-US" altLang="zh-CN"/>
              <a:pPr/>
              <a:t>19</a:t>
            </a:fld>
            <a:endParaRPr lang="en-US" altLang="zh-CN" dirty="0"/>
          </a:p>
        </p:txBody>
      </p:sp>
      <p:grpSp>
        <p:nvGrpSpPr>
          <p:cNvPr id="337326" name="Group 430"/>
          <p:cNvGrpSpPr>
            <a:grpSpLocks/>
          </p:cNvGrpSpPr>
          <p:nvPr/>
        </p:nvGrpSpPr>
        <p:grpSpPr bwMode="auto">
          <a:xfrm>
            <a:off x="179388" y="272057"/>
            <a:ext cx="8785225" cy="2400300"/>
            <a:chOff x="113" y="81"/>
            <a:chExt cx="5534" cy="1512"/>
          </a:xfrm>
        </p:grpSpPr>
        <p:sp>
          <p:nvSpPr>
            <p:cNvPr id="337312" name="Text Box 416"/>
            <p:cNvSpPr txBox="1">
              <a:spLocks noChangeArrowheads="1"/>
            </p:cNvSpPr>
            <p:nvPr/>
          </p:nvSpPr>
          <p:spPr bwMode="auto">
            <a:xfrm>
              <a:off x="113" y="81"/>
              <a:ext cx="5534" cy="15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lang="en-US" altLang="zh-CN" b="1" u="none" dirty="0">
                  <a:solidFill>
                    <a:srgbClr val="0000CC"/>
                  </a:solidFill>
                  <a:latin typeface="宋体" pitchFamily="2" charset="-122"/>
                </a:rPr>
                <a:t>   </a:t>
              </a:r>
              <a:r>
                <a:rPr lang="zh-CN" altLang="en-US" b="1" u="none" dirty="0">
                  <a:solidFill>
                    <a:srgbClr val="0000CC"/>
                  </a:solidFill>
                  <a:latin typeface="宋体" pitchFamily="2" charset="-122"/>
                </a:rPr>
                <a:t>例</a:t>
              </a:r>
              <a:r>
                <a:rPr lang="en-US" altLang="zh-CN" b="1" u="none" dirty="0" smtClean="0">
                  <a:solidFill>
                    <a:srgbClr val="0000CC"/>
                  </a:solidFill>
                  <a:latin typeface="宋体" pitchFamily="2" charset="-122"/>
                </a:rPr>
                <a:t>1</a:t>
              </a:r>
              <a:r>
                <a:rPr lang="zh-CN" altLang="en-US" b="1" u="none" dirty="0" smtClean="0">
                  <a:solidFill>
                    <a:srgbClr val="0000CC"/>
                  </a:solidFill>
                  <a:latin typeface="宋体" pitchFamily="2" charset="-122"/>
                </a:rPr>
                <a:t>：</a:t>
              </a:r>
              <a:r>
                <a:rPr lang="zh-CN" altLang="en-US" b="1" u="none" dirty="0" smtClean="0">
                  <a:latin typeface="宋体" pitchFamily="2" charset="-122"/>
                </a:rPr>
                <a:t>某</a:t>
              </a:r>
              <a:r>
                <a:rPr lang="en-US" altLang="zh-CN" b="1" u="none" dirty="0">
                  <a:latin typeface="宋体" pitchFamily="2" charset="-122"/>
                </a:rPr>
                <a:t>CPU</a:t>
              </a:r>
              <a:r>
                <a:rPr lang="zh-CN" altLang="en-US" b="1" u="none" dirty="0">
                  <a:latin typeface="宋体" pitchFamily="2" charset="-122"/>
                </a:rPr>
                <a:t>有</a:t>
              </a:r>
              <a:r>
                <a:rPr lang="en-US" altLang="zh-CN" b="1" u="none" dirty="0">
                  <a:latin typeface="宋体" pitchFamily="2" charset="-122"/>
                </a:rPr>
                <a:t>16</a:t>
              </a:r>
              <a:r>
                <a:rPr lang="zh-CN" altLang="en-US" b="1" u="none" dirty="0">
                  <a:latin typeface="宋体" pitchFamily="2" charset="-122"/>
                </a:rPr>
                <a:t>根地址线、</a:t>
              </a:r>
              <a:r>
                <a:rPr lang="en-US" altLang="zh-CN" b="1" u="none" dirty="0">
                  <a:latin typeface="宋体" pitchFamily="2" charset="-122"/>
                </a:rPr>
                <a:t>8</a:t>
              </a:r>
              <a:r>
                <a:rPr lang="zh-CN" altLang="en-US" b="1" u="none" dirty="0">
                  <a:latin typeface="宋体" pitchFamily="2" charset="-122"/>
                </a:rPr>
                <a:t>根数据线，命令</a:t>
              </a:r>
              <a:r>
                <a:rPr lang="zh-CN" altLang="en-US" b="1" u="none" dirty="0" smtClean="0">
                  <a:latin typeface="宋体" pitchFamily="2" charset="-122"/>
                </a:rPr>
                <a:t>线为</a:t>
              </a:r>
              <a:r>
                <a:rPr lang="en-US" altLang="zh-CN" b="1" u="none" dirty="0" smtClean="0">
                  <a:latin typeface="宋体" pitchFamily="2" charset="-122"/>
                </a:rPr>
                <a:t>IO/M</a:t>
              </a:r>
              <a:r>
                <a:rPr lang="zh-CN" altLang="en-US" b="1" u="none" dirty="0">
                  <a:latin typeface="宋体" pitchFamily="2" charset="-122"/>
                </a:rPr>
                <a:t>、</a:t>
              </a:r>
              <a:r>
                <a:rPr lang="en-US" altLang="zh-CN" b="1" u="none" dirty="0">
                  <a:latin typeface="宋体" pitchFamily="2" charset="-122"/>
                </a:rPr>
                <a:t>RD</a:t>
              </a:r>
              <a:r>
                <a:rPr lang="zh-CN" altLang="en-US" b="1" u="none" dirty="0">
                  <a:latin typeface="宋体" pitchFamily="2" charset="-122"/>
                </a:rPr>
                <a:t>、</a:t>
              </a:r>
              <a:r>
                <a:rPr lang="en-US" altLang="zh-CN" b="1" u="none" dirty="0" smtClean="0">
                  <a:latin typeface="宋体" pitchFamily="2" charset="-122"/>
                </a:rPr>
                <a:t>WR</a:t>
              </a:r>
              <a:r>
                <a:rPr lang="zh-CN" altLang="en-US" b="1" u="none" dirty="0" smtClean="0">
                  <a:latin typeface="宋体" pitchFamily="2" charset="-122"/>
                </a:rPr>
                <a:t>。主存配置空间如</a:t>
              </a:r>
              <a:r>
                <a:rPr lang="zh-CN" altLang="en-US" b="1" u="none" dirty="0">
                  <a:latin typeface="宋体" pitchFamily="2" charset="-122"/>
                </a:rPr>
                <a:t>右图所示，有</a:t>
              </a:r>
              <a:r>
                <a:rPr lang="en-US" altLang="zh-CN" b="1" u="none" dirty="0" smtClean="0">
                  <a:latin typeface="宋体" pitchFamily="2" charset="-122"/>
                </a:rPr>
                <a:t>2K×8b</a:t>
              </a:r>
              <a:r>
                <a:rPr lang="zh-CN" altLang="en-US" b="1" u="none" dirty="0" smtClean="0">
                  <a:latin typeface="宋体" pitchFamily="2" charset="-122"/>
                </a:rPr>
                <a:t>的</a:t>
              </a:r>
              <a:r>
                <a:rPr lang="en-US" altLang="zh-CN" b="1" u="none" dirty="0" smtClean="0">
                  <a:latin typeface="宋体" pitchFamily="2" charset="-122"/>
                </a:rPr>
                <a:t>ROM</a:t>
              </a:r>
              <a:r>
                <a:rPr lang="zh-CN" altLang="en-US" b="1" u="none" dirty="0" smtClean="0">
                  <a:latin typeface="宋体" pitchFamily="2" charset="-122"/>
                </a:rPr>
                <a:t>及</a:t>
              </a:r>
              <a:endParaRPr lang="en-US" altLang="zh-CN" b="1" u="none" dirty="0" smtClean="0">
                <a:latin typeface="宋体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en-US" altLang="zh-CN" b="1" u="none" dirty="0" smtClean="0">
                  <a:latin typeface="宋体" pitchFamily="2" charset="-122"/>
                </a:rPr>
                <a:t>4K×4b</a:t>
              </a:r>
              <a:r>
                <a:rPr lang="zh-CN" altLang="en-US" b="1" u="none" dirty="0" smtClean="0">
                  <a:latin typeface="宋体" pitchFamily="2" charset="-122"/>
                </a:rPr>
                <a:t>的</a:t>
              </a:r>
              <a:r>
                <a:rPr lang="en-US" altLang="zh-CN" b="1" u="none" dirty="0" smtClean="0">
                  <a:latin typeface="宋体" pitchFamily="2" charset="-122"/>
                </a:rPr>
                <a:t>SRAM</a:t>
              </a:r>
              <a:r>
                <a:rPr lang="zh-CN" altLang="en-US" b="1" u="none" dirty="0" smtClean="0">
                  <a:latin typeface="宋体" pitchFamily="2" charset="-122"/>
                </a:rPr>
                <a:t>芯片</a:t>
              </a:r>
              <a:r>
                <a:rPr lang="zh-CN" altLang="en-US" b="1" u="none" dirty="0">
                  <a:latin typeface="宋体" pitchFamily="2" charset="-122"/>
                </a:rPr>
                <a:t>可用。⑴需</a:t>
              </a:r>
              <a:r>
                <a:rPr lang="en-US" altLang="zh-CN" b="1" u="none" dirty="0">
                  <a:latin typeface="宋体" pitchFamily="2" charset="-122"/>
                </a:rPr>
                <a:t>ROM</a:t>
              </a:r>
              <a:r>
                <a:rPr lang="zh-CN" altLang="en-US" b="1" u="none" dirty="0">
                  <a:latin typeface="宋体" pitchFamily="2" charset="-122"/>
                </a:rPr>
                <a:t>、</a:t>
              </a:r>
              <a:r>
                <a:rPr lang="en-US" altLang="zh-CN" b="1" u="none" dirty="0">
                  <a:latin typeface="宋体" pitchFamily="2" charset="-122"/>
                </a:rPr>
                <a:t>RAM</a:t>
              </a:r>
              <a:r>
                <a:rPr lang="zh-CN" altLang="en-US" b="1" u="none" dirty="0" smtClean="0">
                  <a:latin typeface="宋体" pitchFamily="2" charset="-122"/>
                </a:rPr>
                <a:t>芯片各多少</a:t>
              </a:r>
              <a:endParaRPr lang="en-US" altLang="zh-CN" b="1" u="none" dirty="0" smtClean="0">
                <a:latin typeface="宋体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b="1" u="none" dirty="0" smtClean="0">
                  <a:latin typeface="宋体" pitchFamily="2" charset="-122"/>
                </a:rPr>
                <a:t>片？⑵写出各芯片</a:t>
              </a:r>
              <a:r>
                <a:rPr lang="zh-CN" altLang="en-US" b="1" u="none" dirty="0">
                  <a:latin typeface="宋体" pitchFamily="2" charset="-122"/>
                </a:rPr>
                <a:t>所在</a:t>
              </a:r>
              <a:r>
                <a:rPr lang="zh-CN" altLang="en-US" b="1" u="none" dirty="0" smtClean="0">
                  <a:latin typeface="宋体" pitchFamily="2" charset="-122"/>
                </a:rPr>
                <a:t>地址范围及片选有效逻辑；</a:t>
              </a:r>
              <a:endParaRPr lang="en-US" altLang="zh-CN" b="1" u="none" dirty="0" smtClean="0">
                <a:latin typeface="宋体" pitchFamily="2" charset="-122"/>
              </a:endParaRPr>
            </a:p>
            <a:p>
              <a:pPr>
                <a:lnSpc>
                  <a:spcPct val="125000"/>
                </a:lnSpc>
              </a:pPr>
              <a:r>
                <a:rPr lang="zh-CN" altLang="en-US" b="1" u="none" dirty="0">
                  <a:latin typeface="宋体" pitchFamily="2" charset="-122"/>
                </a:rPr>
                <a:t>⑶</a:t>
              </a:r>
              <a:r>
                <a:rPr lang="zh-CN" altLang="en-US" b="1" u="none" dirty="0" smtClean="0">
                  <a:latin typeface="宋体" pitchFamily="2" charset="-122"/>
                </a:rPr>
                <a:t>画主存的内部连接图；⑷画主存与</a:t>
              </a:r>
              <a:r>
                <a:rPr lang="en-US" altLang="zh-CN" b="1" u="none" dirty="0" smtClean="0">
                  <a:latin typeface="宋体" pitchFamily="2" charset="-122"/>
                </a:rPr>
                <a:t>CPU</a:t>
              </a:r>
              <a:r>
                <a:rPr lang="zh-CN" altLang="en-US" b="1" u="none" dirty="0" smtClean="0">
                  <a:latin typeface="宋体" pitchFamily="2" charset="-122"/>
                </a:rPr>
                <a:t>的连接图</a:t>
              </a:r>
              <a:endParaRPr lang="zh-CN" altLang="en-US" b="1" u="none" dirty="0">
                <a:latin typeface="宋体" pitchFamily="2" charset="-122"/>
              </a:endParaRPr>
            </a:p>
          </p:txBody>
        </p:sp>
        <p:sp>
          <p:nvSpPr>
            <p:cNvPr id="337323" name="Line 427"/>
            <p:cNvSpPr>
              <a:spLocks noChangeShapeType="1"/>
            </p:cNvSpPr>
            <p:nvPr/>
          </p:nvSpPr>
          <p:spPr bwMode="auto">
            <a:xfrm>
              <a:off x="4915" y="163"/>
              <a:ext cx="109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324" name="Line 428"/>
            <p:cNvSpPr>
              <a:spLocks noChangeShapeType="1"/>
            </p:cNvSpPr>
            <p:nvPr/>
          </p:nvSpPr>
          <p:spPr bwMode="auto">
            <a:xfrm>
              <a:off x="5205" y="163"/>
              <a:ext cx="18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325" name="Line 429"/>
            <p:cNvSpPr>
              <a:spLocks noChangeShapeType="1"/>
            </p:cNvSpPr>
            <p:nvPr/>
          </p:nvSpPr>
          <p:spPr bwMode="auto">
            <a:xfrm>
              <a:off x="176" y="444"/>
              <a:ext cx="18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37327" name="Text Box 431"/>
          <p:cNvSpPr txBox="1">
            <a:spLocks noChangeArrowheads="1"/>
          </p:cNvSpPr>
          <p:nvPr/>
        </p:nvSpPr>
        <p:spPr bwMode="auto">
          <a:xfrm>
            <a:off x="179388" y="2586970"/>
            <a:ext cx="878522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rgbClr val="990099"/>
                </a:solidFill>
                <a:latin typeface="宋体" pitchFamily="2" charset="-122"/>
              </a:rPr>
              <a:t>   </a:t>
            </a:r>
            <a:r>
              <a:rPr lang="zh-CN" altLang="en-US" b="1" u="none" dirty="0">
                <a:solidFill>
                  <a:srgbClr val="990099"/>
                </a:solidFill>
                <a:latin typeface="宋体" pitchFamily="2" charset="-122"/>
              </a:rPr>
              <a:t>解：</a:t>
            </a:r>
            <a:r>
              <a:rPr lang="zh-CN" altLang="en-US" b="1" u="none" dirty="0">
                <a:latin typeface="宋体" pitchFamily="2" charset="-122"/>
              </a:rPr>
              <a:t>⑴所需</a:t>
            </a:r>
            <a:r>
              <a:rPr lang="zh-CN" altLang="en-US" b="1" u="none" dirty="0">
                <a:solidFill>
                  <a:schemeClr val="accent2"/>
                </a:solidFill>
                <a:latin typeface="宋体" pitchFamily="2" charset="-122"/>
              </a:rPr>
              <a:t>芯片数量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  <a:r>
              <a:rPr lang="en-US" altLang="zh-CN" b="1" u="none" dirty="0" smtClean="0">
                <a:latin typeface="宋体" pitchFamily="2" charset="-122"/>
              </a:rPr>
              <a:t>ROM</a:t>
            </a:r>
            <a:r>
              <a:rPr lang="zh-CN" altLang="en-US" b="1" u="none" dirty="0" smtClean="0">
                <a:latin typeface="宋体" pitchFamily="2" charset="-122"/>
              </a:rPr>
              <a:t>＝</a:t>
            </a:r>
            <a:r>
              <a:rPr lang="en-US" altLang="zh-CN" b="1" u="none" dirty="0" smtClean="0">
                <a:latin typeface="宋体" pitchFamily="2" charset="-122"/>
              </a:rPr>
              <a:t>2</a:t>
            </a:r>
            <a:r>
              <a:rPr lang="zh-CN" altLang="en-US" b="1" u="none" dirty="0">
                <a:latin typeface="宋体" pitchFamily="2" charset="-122"/>
              </a:rPr>
              <a:t>块</a:t>
            </a:r>
            <a:r>
              <a:rPr lang="zh-CN" altLang="en-US" b="1" u="none" dirty="0" smtClean="0">
                <a:latin typeface="宋体" pitchFamily="2" charset="-122"/>
              </a:rPr>
              <a:t>，</a:t>
            </a:r>
            <a:r>
              <a:rPr lang="en-US" altLang="zh-CN" b="1" u="none" dirty="0" smtClean="0">
                <a:latin typeface="宋体" pitchFamily="2" charset="-122"/>
              </a:rPr>
              <a:t>RAM</a:t>
            </a:r>
            <a:r>
              <a:rPr lang="zh-CN" altLang="en-US" b="1" u="none" dirty="0" smtClean="0">
                <a:latin typeface="宋体" pitchFamily="2" charset="-122"/>
              </a:rPr>
              <a:t>＝</a:t>
            </a:r>
            <a:r>
              <a:rPr lang="en-US" altLang="zh-CN" b="1" u="none" dirty="0" smtClean="0">
                <a:latin typeface="宋体" pitchFamily="2" charset="-122"/>
              </a:rPr>
              <a:t>6</a:t>
            </a:r>
            <a:r>
              <a:rPr lang="zh-CN" altLang="en-US" b="1" u="none" dirty="0">
                <a:latin typeface="宋体" pitchFamily="2" charset="-122"/>
              </a:rPr>
              <a:t>块</a:t>
            </a:r>
          </a:p>
        </p:txBody>
      </p:sp>
      <p:sp>
        <p:nvSpPr>
          <p:cNvPr id="337330" name="Text Box 434"/>
          <p:cNvSpPr txBox="1">
            <a:spLocks noChangeArrowheads="1"/>
          </p:cNvSpPr>
          <p:nvPr/>
        </p:nvSpPr>
        <p:spPr bwMode="auto">
          <a:xfrm>
            <a:off x="179388" y="3095749"/>
            <a:ext cx="878522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latin typeface="宋体" pitchFamily="2" charset="-122"/>
              </a:rPr>
              <a:t>   </a:t>
            </a:r>
            <a:r>
              <a:rPr lang="en-US" altLang="zh-CN" b="1" u="none" dirty="0" smtClean="0">
                <a:latin typeface="宋体" pitchFamily="2" charset="-122"/>
              </a:rPr>
              <a:t>⑵</a:t>
            </a:r>
            <a:r>
              <a:rPr lang="zh-CN" altLang="en-US" b="1" u="none" dirty="0">
                <a:latin typeface="宋体" pitchFamily="2" charset="-122"/>
              </a:rPr>
              <a:t>各芯片所在</a:t>
            </a:r>
            <a:r>
              <a:rPr lang="zh-CN" altLang="en-US" b="1" u="none" dirty="0">
                <a:solidFill>
                  <a:schemeClr val="accent2"/>
                </a:solidFill>
                <a:latin typeface="宋体" pitchFamily="2" charset="-122"/>
              </a:rPr>
              <a:t>地址范围</a:t>
            </a:r>
            <a:r>
              <a:rPr lang="en-US" altLang="zh-CN" b="1" u="none" dirty="0" smtClean="0">
                <a:solidFill>
                  <a:schemeClr val="accent2"/>
                </a:solidFill>
                <a:latin typeface="宋体" pitchFamily="2" charset="-122"/>
              </a:rPr>
              <a:t>—</a:t>
            </a:r>
            <a:r>
              <a:rPr lang="zh-CN" altLang="en-US" b="1" u="none" dirty="0" smtClean="0">
                <a:latin typeface="宋体" pitchFamily="2" charset="-122"/>
              </a:rPr>
              <a:t>芯片的地址范围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itchFamily="2" charset="-122"/>
              </a:rPr>
              <a:t>连续</a:t>
            </a:r>
            <a:r>
              <a:rPr lang="en-US" altLang="zh-CN" b="1" u="none" dirty="0" smtClean="0">
                <a:latin typeface="宋体" pitchFamily="2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b="1" u="none" dirty="0">
                <a:latin typeface="宋体" pitchFamily="2" charset="-122"/>
              </a:rPr>
              <a:t> </a:t>
            </a:r>
            <a:r>
              <a:rPr lang="en-US" altLang="zh-CN" b="1" u="none" dirty="0" smtClean="0">
                <a:latin typeface="宋体" pitchFamily="2" charset="-122"/>
              </a:rPr>
              <a:t>          </a:t>
            </a:r>
            <a:r>
              <a:rPr lang="zh-CN" altLang="en-US" b="1" u="none" dirty="0" smtClean="0">
                <a:latin typeface="宋体" pitchFamily="2" charset="-122"/>
              </a:rPr>
              <a:t>片选</a:t>
            </a:r>
            <a:r>
              <a:rPr lang="zh-CN" altLang="en-US" b="1" u="none" dirty="0">
                <a:solidFill>
                  <a:schemeClr val="accent2"/>
                </a:solidFill>
                <a:latin typeface="宋体" pitchFamily="2" charset="-122"/>
              </a:rPr>
              <a:t>有效</a:t>
            </a:r>
            <a:r>
              <a:rPr lang="zh-CN" altLang="en-US" b="1" u="none" dirty="0" smtClean="0">
                <a:solidFill>
                  <a:schemeClr val="accent2"/>
                </a:solidFill>
                <a:latin typeface="宋体" pitchFamily="2" charset="-122"/>
              </a:rPr>
              <a:t>逻辑</a:t>
            </a:r>
            <a:r>
              <a:rPr lang="en-US" altLang="zh-CN" b="1" u="none" dirty="0" smtClean="0">
                <a:latin typeface="宋体" pitchFamily="2" charset="-122"/>
              </a:rPr>
              <a:t>--</a:t>
            </a:r>
            <a:r>
              <a:rPr lang="zh-CN" altLang="en-US" b="1" u="none" dirty="0">
                <a:latin typeface="宋体" pitchFamily="2" charset="-122"/>
              </a:rPr>
              <a:t>操作地址</a:t>
            </a:r>
            <a:r>
              <a:rPr lang="zh-CN" altLang="en-US" b="1" u="none" dirty="0" smtClean="0">
                <a:solidFill>
                  <a:srgbClr val="990099"/>
                </a:solidFill>
                <a:latin typeface="宋体" pitchFamily="2" charset="-122"/>
              </a:rPr>
              <a:t>∈</a:t>
            </a:r>
            <a:r>
              <a:rPr lang="zh-CN" altLang="en-US" b="1" u="none" dirty="0" smtClean="0">
                <a:latin typeface="宋体" pitchFamily="2" charset="-122"/>
              </a:rPr>
              <a:t>所在地址</a:t>
            </a:r>
            <a:r>
              <a:rPr lang="zh-CN" altLang="en-US" b="1" u="none" dirty="0">
                <a:latin typeface="宋体" pitchFamily="2" charset="-122"/>
              </a:rPr>
              <a:t>范围</a:t>
            </a:r>
            <a:endParaRPr lang="en-US" altLang="zh-CN" b="1" u="none" dirty="0" smtClean="0">
              <a:latin typeface="宋体" pitchFamily="2" charset="-122"/>
            </a:endParaRPr>
          </a:p>
        </p:txBody>
      </p:sp>
      <p:graphicFrame>
        <p:nvGraphicFramePr>
          <p:cNvPr id="337473" name="Group 5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025702"/>
              </p:ext>
            </p:extLst>
          </p:nvPr>
        </p:nvGraphicFramePr>
        <p:xfrm>
          <a:off x="6442075" y="4121648"/>
          <a:ext cx="2378397" cy="2115664"/>
        </p:xfrm>
        <a:graphic>
          <a:graphicData uri="http://schemas.openxmlformats.org/drawingml/2006/table">
            <a:tbl>
              <a:tblPr/>
              <a:tblGrid>
                <a:gridCol w="1520825"/>
                <a:gridCol w="857572"/>
              </a:tblGrid>
              <a:tr h="28733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芯片片选有效逻辑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37752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13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12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=00</a:t>
                      </a:r>
                    </a:p>
                  </a:txBody>
                  <a:tcPr marL="90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=0</a:t>
                      </a:r>
                    </a:p>
                  </a:txBody>
                  <a:tcPr marL="90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591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itchFamily="2" charset="-122"/>
                        <a:ea typeface="宋体" pitchFamily="2" charset="-122"/>
                      </a:endParaRPr>
                    </a:p>
                  </a:txBody>
                  <a:tcPr marL="90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=1</a:t>
                      </a:r>
                    </a:p>
                  </a:txBody>
                  <a:tcPr marL="90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59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13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12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=01</a:t>
                      </a:r>
                    </a:p>
                  </a:txBody>
                  <a:tcPr marL="90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600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13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12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=10</a:t>
                      </a:r>
                    </a:p>
                  </a:txBody>
                  <a:tcPr marL="90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3600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13</a:t>
                      </a: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～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A</a:t>
                      </a:r>
                      <a:r>
                        <a:rPr kumimoji="1" lang="en-US" altLang="zh-CN" sz="2000" b="1" i="0" u="none" strike="noStrike" cap="none" normalizeH="0" baseline="-18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12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=11</a:t>
                      </a:r>
                    </a:p>
                  </a:txBody>
                  <a:tcPr marL="90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37477" name="Group 5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350092"/>
              </p:ext>
            </p:extLst>
          </p:nvPr>
        </p:nvGraphicFramePr>
        <p:xfrm>
          <a:off x="2843213" y="4128835"/>
          <a:ext cx="3384550" cy="2079656"/>
        </p:xfrm>
        <a:graphic>
          <a:graphicData uri="http://schemas.openxmlformats.org/drawingml/2006/table">
            <a:tbl>
              <a:tblPr/>
              <a:tblGrid>
                <a:gridCol w="1296987"/>
                <a:gridCol w="2087563"/>
              </a:tblGrid>
              <a:tr h="28733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芯片所在地址范围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85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0K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</a:rPr>
                        <a:t>~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2K-1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000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X XXXXXXXXXX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4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2K</a:t>
                      </a:r>
                      <a:r>
                        <a:rPr kumimoji="1" lang="en-US" altLang="zh-CN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+mn-cs"/>
                        </a:rPr>
                        <a:t>~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4K-1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001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X XXXXXXXXXX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86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4K</a:t>
                      </a:r>
                      <a:r>
                        <a:rPr kumimoji="1" lang="en-US" altLang="zh-CN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+mn-cs"/>
                        </a:rPr>
                        <a:t>~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8K-1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01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XX XXXXXXXXXX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8K</a:t>
                      </a:r>
                      <a:r>
                        <a:rPr kumimoji="1" lang="en-US" altLang="zh-CN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+mn-cs"/>
                        </a:rPr>
                        <a:t>~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12K-1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10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XX XXXXXXXXXX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12K</a:t>
                      </a:r>
                      <a:r>
                        <a:rPr kumimoji="1" lang="en-US" altLang="zh-CN" sz="2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宋体" pitchFamily="2" charset="-122"/>
                          <a:cs typeface="+mn-cs"/>
                        </a:rPr>
                        <a:t>~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16K-1</a:t>
                      </a: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11</a:t>
                      </a:r>
                      <a:r>
                        <a:rPr kumimoji="1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XX XXXXXXXXXX</a:t>
                      </a:r>
                    </a:p>
                  </a:txBody>
                  <a:tcPr marL="36000" marR="360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37499" name="Group 603"/>
          <p:cNvGrpSpPr>
            <a:grpSpLocks/>
          </p:cNvGrpSpPr>
          <p:nvPr/>
        </p:nvGrpSpPr>
        <p:grpSpPr bwMode="auto">
          <a:xfrm>
            <a:off x="539552" y="4190580"/>
            <a:ext cx="2159000" cy="2019300"/>
            <a:chOff x="-748" y="2296"/>
            <a:chExt cx="1360" cy="1272"/>
          </a:xfrm>
        </p:grpSpPr>
        <p:sp>
          <p:nvSpPr>
            <p:cNvPr id="337500" name="Text Box 604"/>
            <p:cNvSpPr txBox="1">
              <a:spLocks noChangeArrowheads="1"/>
            </p:cNvSpPr>
            <p:nvPr/>
          </p:nvSpPr>
          <p:spPr bwMode="auto">
            <a:xfrm>
              <a:off x="-703" y="2296"/>
              <a:ext cx="63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itchFamily="2" charset="-122"/>
                </a:rPr>
                <a:t>b</a:t>
              </a:r>
              <a:r>
                <a:rPr lang="en-US" altLang="zh-CN" sz="1800" b="1" u="none" baseline="-20000" dirty="0">
                  <a:latin typeface="宋体" pitchFamily="2" charset="-122"/>
                </a:rPr>
                <a:t>7</a:t>
              </a:r>
              <a:r>
                <a:rPr lang="en-US" altLang="zh-CN" sz="1800" b="1" u="none" dirty="0">
                  <a:latin typeface="宋体" pitchFamily="2" charset="-122"/>
                </a:rPr>
                <a:t> </a:t>
              </a:r>
              <a:r>
                <a:rPr lang="zh-CN" altLang="en-US" sz="1800" b="1" u="none" dirty="0">
                  <a:latin typeface="宋体" pitchFamily="2" charset="-122"/>
                </a:rPr>
                <a:t>～ </a:t>
              </a:r>
              <a:r>
                <a:rPr lang="en-US" altLang="zh-CN" sz="1800" b="1" u="none" dirty="0">
                  <a:latin typeface="宋体" pitchFamily="2" charset="-122"/>
                </a:rPr>
                <a:t>b</a:t>
              </a:r>
              <a:r>
                <a:rPr lang="en-US" altLang="zh-CN" sz="1800" b="1" u="none" baseline="-20000" dirty="0">
                  <a:latin typeface="宋体" pitchFamily="2" charset="-122"/>
                </a:rPr>
                <a:t>4</a:t>
              </a:r>
            </a:p>
          </p:txBody>
        </p:sp>
        <p:sp>
          <p:nvSpPr>
            <p:cNvPr id="337501" name="Rectangle 605"/>
            <p:cNvSpPr>
              <a:spLocks noChangeArrowheads="1"/>
            </p:cNvSpPr>
            <p:nvPr/>
          </p:nvSpPr>
          <p:spPr bwMode="auto">
            <a:xfrm>
              <a:off x="-748" y="2839"/>
              <a:ext cx="680" cy="27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 dirty="0" smtClean="0">
                  <a:latin typeface="宋体" pitchFamily="2" charset="-122"/>
                </a:rPr>
                <a:t>1# SRAM</a:t>
              </a:r>
              <a:endParaRPr lang="en-US" altLang="zh-CN" sz="2000" b="1" u="none" dirty="0">
                <a:latin typeface="宋体" pitchFamily="2" charset="-122"/>
              </a:endParaRPr>
            </a:p>
          </p:txBody>
        </p:sp>
        <p:sp>
          <p:nvSpPr>
            <p:cNvPr id="337502" name="Text Box 606"/>
            <p:cNvSpPr txBox="1">
              <a:spLocks noChangeArrowheads="1"/>
            </p:cNvSpPr>
            <p:nvPr/>
          </p:nvSpPr>
          <p:spPr bwMode="auto">
            <a:xfrm>
              <a:off x="-23" y="2296"/>
              <a:ext cx="590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u="none" dirty="0">
                  <a:latin typeface="宋体" pitchFamily="2" charset="-122"/>
                </a:rPr>
                <a:t>b</a:t>
              </a:r>
              <a:r>
                <a:rPr lang="en-US" altLang="zh-CN" sz="1800" b="1" u="none" baseline="-20000" dirty="0">
                  <a:latin typeface="宋体" pitchFamily="2" charset="-122"/>
                </a:rPr>
                <a:t>3</a:t>
              </a:r>
              <a:r>
                <a:rPr lang="en-US" altLang="zh-CN" sz="1800" b="1" u="none" dirty="0">
                  <a:latin typeface="宋体" pitchFamily="2" charset="-122"/>
                </a:rPr>
                <a:t> </a:t>
              </a:r>
              <a:r>
                <a:rPr lang="zh-CN" altLang="en-US" sz="1800" b="1" u="none" dirty="0">
                  <a:latin typeface="宋体" pitchFamily="2" charset="-122"/>
                </a:rPr>
                <a:t>～ </a:t>
              </a:r>
              <a:r>
                <a:rPr lang="en-US" altLang="zh-CN" sz="1800" b="1" u="none" dirty="0">
                  <a:latin typeface="宋体" pitchFamily="2" charset="-122"/>
                </a:rPr>
                <a:t>b</a:t>
              </a:r>
              <a:r>
                <a:rPr lang="en-US" altLang="zh-CN" sz="1800" b="1" u="none" baseline="-20000" dirty="0">
                  <a:latin typeface="宋体" pitchFamily="2" charset="-122"/>
                </a:rPr>
                <a:t>0</a:t>
              </a:r>
            </a:p>
          </p:txBody>
        </p:sp>
        <p:sp>
          <p:nvSpPr>
            <p:cNvPr id="337503" name="Rectangle 607"/>
            <p:cNvSpPr>
              <a:spLocks noChangeArrowheads="1"/>
            </p:cNvSpPr>
            <p:nvPr/>
          </p:nvSpPr>
          <p:spPr bwMode="auto">
            <a:xfrm>
              <a:off x="-68" y="2839"/>
              <a:ext cx="680" cy="27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 dirty="0">
                  <a:latin typeface="宋体" pitchFamily="2" charset="-122"/>
                </a:rPr>
                <a:t>0</a:t>
              </a:r>
              <a:r>
                <a:rPr lang="en-US" altLang="zh-CN" sz="2000" b="1" u="none" dirty="0" smtClean="0">
                  <a:latin typeface="宋体" pitchFamily="2" charset="-122"/>
                </a:rPr>
                <a:t># SRAM</a:t>
              </a:r>
              <a:endParaRPr lang="en-US" altLang="zh-CN" sz="2000" b="1" u="none" dirty="0">
                <a:latin typeface="宋体" pitchFamily="2" charset="-122"/>
              </a:endParaRPr>
            </a:p>
          </p:txBody>
        </p:sp>
        <p:sp>
          <p:nvSpPr>
            <p:cNvPr id="337504" name="Rectangle 608"/>
            <p:cNvSpPr>
              <a:spLocks noChangeArrowheads="1"/>
            </p:cNvSpPr>
            <p:nvPr/>
          </p:nvSpPr>
          <p:spPr bwMode="auto">
            <a:xfrm>
              <a:off x="-748" y="3114"/>
              <a:ext cx="680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 dirty="0">
                  <a:latin typeface="宋体" pitchFamily="2" charset="-122"/>
                </a:rPr>
                <a:t>3</a:t>
              </a:r>
              <a:r>
                <a:rPr lang="en-US" altLang="zh-CN" sz="2000" b="1" u="none" dirty="0" smtClean="0">
                  <a:latin typeface="宋体" pitchFamily="2" charset="-122"/>
                </a:rPr>
                <a:t># SRAM</a:t>
              </a:r>
              <a:endParaRPr lang="en-US" altLang="zh-CN" sz="2000" b="1" u="none" dirty="0">
                <a:latin typeface="宋体" pitchFamily="2" charset="-122"/>
              </a:endParaRPr>
            </a:p>
          </p:txBody>
        </p:sp>
        <p:sp>
          <p:nvSpPr>
            <p:cNvPr id="337505" name="Rectangle 609"/>
            <p:cNvSpPr>
              <a:spLocks noChangeArrowheads="1"/>
            </p:cNvSpPr>
            <p:nvPr/>
          </p:nvSpPr>
          <p:spPr bwMode="auto">
            <a:xfrm>
              <a:off x="-68" y="3114"/>
              <a:ext cx="680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 dirty="0">
                  <a:latin typeface="宋体" pitchFamily="2" charset="-122"/>
                </a:rPr>
                <a:t>2</a:t>
              </a:r>
              <a:r>
                <a:rPr lang="en-US" altLang="zh-CN" sz="2000" b="1" u="none" dirty="0" smtClean="0">
                  <a:latin typeface="宋体" pitchFamily="2" charset="-122"/>
                </a:rPr>
                <a:t># SRAM</a:t>
              </a:r>
              <a:endParaRPr lang="en-US" altLang="zh-CN" sz="2000" b="1" u="none" dirty="0">
                <a:latin typeface="宋体" pitchFamily="2" charset="-122"/>
              </a:endParaRPr>
            </a:p>
          </p:txBody>
        </p:sp>
        <p:sp>
          <p:nvSpPr>
            <p:cNvPr id="337506" name="Rectangle 610"/>
            <p:cNvSpPr>
              <a:spLocks noChangeArrowheads="1"/>
            </p:cNvSpPr>
            <p:nvPr/>
          </p:nvSpPr>
          <p:spPr bwMode="auto">
            <a:xfrm>
              <a:off x="-748" y="2471"/>
              <a:ext cx="1360" cy="183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18000" rIns="36000" bIns="18000" anchor="ctr"/>
            <a:lstStyle/>
            <a:p>
              <a:pPr algn="ctr"/>
              <a:r>
                <a:rPr lang="en-US" altLang="zh-CN" sz="2000" b="1" u="none" dirty="0">
                  <a:latin typeface="宋体" pitchFamily="2" charset="-122"/>
                </a:rPr>
                <a:t>0# ROM</a:t>
              </a:r>
            </a:p>
          </p:txBody>
        </p:sp>
        <p:sp>
          <p:nvSpPr>
            <p:cNvPr id="337507" name="Rectangle 611"/>
            <p:cNvSpPr>
              <a:spLocks noChangeArrowheads="1"/>
            </p:cNvSpPr>
            <p:nvPr/>
          </p:nvSpPr>
          <p:spPr bwMode="auto">
            <a:xfrm>
              <a:off x="-748" y="2657"/>
              <a:ext cx="1360" cy="183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18000" rIns="36000" bIns="18000" anchor="ctr"/>
            <a:lstStyle/>
            <a:p>
              <a:pPr algn="ctr"/>
              <a:r>
                <a:rPr lang="en-US" altLang="zh-CN" sz="2000" b="1" u="none" dirty="0">
                  <a:latin typeface="宋体" pitchFamily="2" charset="-122"/>
                </a:rPr>
                <a:t>1# ROM</a:t>
              </a:r>
            </a:p>
          </p:txBody>
        </p:sp>
        <p:sp>
          <p:nvSpPr>
            <p:cNvPr id="337508" name="Rectangle 612"/>
            <p:cNvSpPr>
              <a:spLocks noChangeArrowheads="1"/>
            </p:cNvSpPr>
            <p:nvPr/>
          </p:nvSpPr>
          <p:spPr bwMode="auto">
            <a:xfrm>
              <a:off x="-748" y="3341"/>
              <a:ext cx="680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 dirty="0">
                  <a:latin typeface="宋体" pitchFamily="2" charset="-122"/>
                </a:rPr>
                <a:t>5</a:t>
              </a:r>
              <a:r>
                <a:rPr lang="en-US" altLang="zh-CN" sz="2000" b="1" u="none" dirty="0" smtClean="0">
                  <a:latin typeface="宋体" pitchFamily="2" charset="-122"/>
                </a:rPr>
                <a:t># SRAM</a:t>
              </a:r>
              <a:endParaRPr lang="en-US" altLang="zh-CN" sz="2000" b="1" u="none" dirty="0">
                <a:latin typeface="宋体" pitchFamily="2" charset="-122"/>
              </a:endParaRPr>
            </a:p>
          </p:txBody>
        </p:sp>
        <p:sp>
          <p:nvSpPr>
            <p:cNvPr id="337509" name="Rectangle 613"/>
            <p:cNvSpPr>
              <a:spLocks noChangeArrowheads="1"/>
            </p:cNvSpPr>
            <p:nvPr/>
          </p:nvSpPr>
          <p:spPr bwMode="auto">
            <a:xfrm>
              <a:off x="-68" y="3341"/>
              <a:ext cx="680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36000" tIns="18000" rIns="36000" bIns="180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 dirty="0">
                  <a:latin typeface="宋体" pitchFamily="2" charset="-122"/>
                </a:rPr>
                <a:t>4</a:t>
              </a:r>
              <a:r>
                <a:rPr lang="en-US" altLang="zh-CN" sz="2000" b="1" u="none" dirty="0" smtClean="0">
                  <a:latin typeface="宋体" pitchFamily="2" charset="-122"/>
                </a:rPr>
                <a:t># SRAM</a:t>
              </a:r>
              <a:endParaRPr lang="en-US" altLang="zh-CN" sz="2000" b="1" u="none" dirty="0">
                <a:latin typeface="宋体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7164411" y="836712"/>
            <a:ext cx="1728069" cy="1585913"/>
            <a:chOff x="6948388" y="1268760"/>
            <a:chExt cx="1728069" cy="1585913"/>
          </a:xfrm>
        </p:grpSpPr>
        <p:sp>
          <p:nvSpPr>
            <p:cNvPr id="337403" name="Text Box 507"/>
            <p:cNvSpPr txBox="1">
              <a:spLocks noChangeArrowheads="1"/>
            </p:cNvSpPr>
            <p:nvPr/>
          </p:nvSpPr>
          <p:spPr bwMode="auto">
            <a:xfrm>
              <a:off x="7141344" y="1268760"/>
              <a:ext cx="820738" cy="28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/>
            <a:lstStyle/>
            <a:p>
              <a:r>
                <a:rPr lang="en-US" altLang="zh-CN" sz="1800" b="1" u="none" dirty="0">
                  <a:latin typeface="宋体" pitchFamily="2" charset="-122"/>
                </a:rPr>
                <a:t>b</a:t>
              </a:r>
              <a:r>
                <a:rPr lang="en-US" altLang="zh-CN" sz="1800" b="1" u="none" baseline="-20000" dirty="0">
                  <a:latin typeface="宋体" pitchFamily="2" charset="-122"/>
                </a:rPr>
                <a:t>7</a:t>
              </a:r>
              <a:r>
                <a:rPr lang="en-US" altLang="zh-CN" sz="1800" b="1" u="none" baseline="-25000" dirty="0">
                  <a:latin typeface="宋体" pitchFamily="2" charset="-122"/>
                </a:rPr>
                <a:t> </a:t>
              </a:r>
              <a:r>
                <a:rPr lang="en-US" altLang="zh-CN" sz="1800" b="1" u="none" dirty="0">
                  <a:latin typeface="宋体" pitchFamily="2" charset="-122"/>
                </a:rPr>
                <a:t>…</a:t>
              </a:r>
              <a:r>
                <a:rPr lang="en-US" altLang="zh-CN" sz="1800" b="1" u="none" baseline="-25000" dirty="0">
                  <a:latin typeface="宋体" pitchFamily="2" charset="-122"/>
                </a:rPr>
                <a:t> </a:t>
              </a:r>
              <a:r>
                <a:rPr lang="en-US" altLang="zh-CN" sz="1800" b="1" u="none" dirty="0" smtClean="0">
                  <a:latin typeface="宋体" pitchFamily="2" charset="-122"/>
                </a:rPr>
                <a:t>b</a:t>
              </a:r>
              <a:r>
                <a:rPr lang="en-US" altLang="zh-CN" sz="1800" b="1" u="none" baseline="-20000" dirty="0" smtClean="0">
                  <a:latin typeface="宋体" pitchFamily="2" charset="-122"/>
                </a:rPr>
                <a:t>0</a:t>
              </a:r>
              <a:endParaRPr lang="en-US" altLang="zh-CN" sz="1800" b="1" u="none" baseline="-20000" dirty="0">
                <a:latin typeface="宋体" pitchFamily="2" charset="-122"/>
              </a:endParaRPr>
            </a:p>
          </p:txBody>
        </p:sp>
        <p:sp>
          <p:nvSpPr>
            <p:cNvPr id="337404" name="AutoShape 508"/>
            <p:cNvSpPr>
              <a:spLocks/>
            </p:cNvSpPr>
            <p:nvPr/>
          </p:nvSpPr>
          <p:spPr bwMode="auto">
            <a:xfrm>
              <a:off x="8028756" y="2108548"/>
              <a:ext cx="90488" cy="720725"/>
            </a:xfrm>
            <a:prstGeom prst="rightBrace">
              <a:avLst>
                <a:gd name="adj1" fmla="val 73099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7405" name="Text Box 509"/>
            <p:cNvSpPr txBox="1">
              <a:spLocks noChangeArrowheads="1"/>
            </p:cNvSpPr>
            <p:nvPr/>
          </p:nvSpPr>
          <p:spPr bwMode="auto">
            <a:xfrm>
              <a:off x="7163569" y="2062510"/>
              <a:ext cx="798513" cy="79216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>
                  <a:latin typeface="宋体" pitchFamily="2" charset="-122"/>
                </a:rPr>
                <a:t>RAM</a:t>
              </a:r>
              <a:endParaRPr lang="en-US" altLang="zh-CN" sz="1800" b="1" u="none" baseline="-20000">
                <a:latin typeface="宋体" pitchFamily="2" charset="-122"/>
              </a:endParaRPr>
            </a:p>
          </p:txBody>
        </p:sp>
        <p:sp>
          <p:nvSpPr>
            <p:cNvPr id="337406" name="Text Box 510"/>
            <p:cNvSpPr txBox="1">
              <a:spLocks noChangeArrowheads="1"/>
            </p:cNvSpPr>
            <p:nvPr/>
          </p:nvSpPr>
          <p:spPr bwMode="auto">
            <a:xfrm>
              <a:off x="7163569" y="1629123"/>
              <a:ext cx="798513" cy="43338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1800" b="1" u="none" dirty="0">
                  <a:latin typeface="宋体" pitchFamily="2" charset="-122"/>
                </a:rPr>
                <a:t>ROM</a:t>
              </a:r>
              <a:endParaRPr lang="en-US" altLang="zh-CN" sz="1800" b="1" u="none" baseline="-20000" dirty="0">
                <a:latin typeface="宋体" pitchFamily="2" charset="-122"/>
              </a:endParaRPr>
            </a:p>
          </p:txBody>
        </p:sp>
        <p:sp>
          <p:nvSpPr>
            <p:cNvPr id="337407" name="AutoShape 511"/>
            <p:cNvSpPr>
              <a:spLocks/>
            </p:cNvSpPr>
            <p:nvPr/>
          </p:nvSpPr>
          <p:spPr bwMode="auto">
            <a:xfrm>
              <a:off x="8028756" y="1656110"/>
              <a:ext cx="71438" cy="360363"/>
            </a:xfrm>
            <a:prstGeom prst="rightBrace">
              <a:avLst>
                <a:gd name="adj1" fmla="val 50370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7408" name="Text Box 512"/>
            <p:cNvSpPr txBox="1">
              <a:spLocks noChangeArrowheads="1"/>
            </p:cNvSpPr>
            <p:nvPr/>
          </p:nvSpPr>
          <p:spPr bwMode="auto">
            <a:xfrm>
              <a:off x="8173219" y="1627535"/>
              <a:ext cx="503238" cy="433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5000"/>
                </a:lnSpc>
              </a:pPr>
              <a:r>
                <a:rPr lang="en-US" altLang="zh-CN" sz="1800" b="1" u="none" dirty="0" smtClean="0">
                  <a:latin typeface="宋体" pitchFamily="2" charset="-122"/>
                </a:rPr>
                <a:t>4KB</a:t>
              </a:r>
              <a:endParaRPr lang="zh-CN" altLang="en-US" sz="1800" b="1" u="none" baseline="-20000" dirty="0">
                <a:latin typeface="宋体" pitchFamily="2" charset="-122"/>
              </a:endParaRPr>
            </a:p>
          </p:txBody>
        </p:sp>
        <p:sp>
          <p:nvSpPr>
            <p:cNvPr id="337409" name="Text Box 513"/>
            <p:cNvSpPr txBox="1">
              <a:spLocks noChangeArrowheads="1"/>
            </p:cNvSpPr>
            <p:nvPr/>
          </p:nvSpPr>
          <p:spPr bwMode="auto">
            <a:xfrm>
              <a:off x="6949256" y="1556098"/>
              <a:ext cx="215900" cy="287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800" b="1" u="none" dirty="0" smtClean="0">
                  <a:solidFill>
                    <a:srgbClr val="CC3300"/>
                  </a:solidFill>
                  <a:latin typeface="宋体" pitchFamily="2" charset="-122"/>
                </a:rPr>
                <a:t>0</a:t>
              </a:r>
              <a:endParaRPr lang="en-US" altLang="zh-CN" sz="1800" b="1" u="none" baseline="-20000" dirty="0">
                <a:solidFill>
                  <a:srgbClr val="CC3300"/>
                </a:solidFill>
                <a:latin typeface="宋体" pitchFamily="2" charset="-122"/>
              </a:endParaRPr>
            </a:p>
          </p:txBody>
        </p:sp>
        <p:sp>
          <p:nvSpPr>
            <p:cNvPr id="337410" name="Line 514"/>
            <p:cNvSpPr>
              <a:spLocks noChangeShapeType="1"/>
            </p:cNvSpPr>
            <p:nvPr/>
          </p:nvSpPr>
          <p:spPr bwMode="auto">
            <a:xfrm>
              <a:off x="7058794" y="1918048"/>
              <a:ext cx="0" cy="71913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411" name="Text Box 515"/>
            <p:cNvSpPr txBox="1">
              <a:spLocks noChangeArrowheads="1"/>
            </p:cNvSpPr>
            <p:nvPr/>
          </p:nvSpPr>
          <p:spPr bwMode="auto">
            <a:xfrm>
              <a:off x="8152581" y="2203798"/>
              <a:ext cx="523875" cy="433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5000"/>
                </a:lnSpc>
              </a:pPr>
              <a:r>
                <a:rPr lang="en-US" altLang="zh-CN" sz="1800" b="1" u="none" dirty="0" smtClean="0">
                  <a:latin typeface="宋体" pitchFamily="2" charset="-122"/>
                </a:rPr>
                <a:t>12KB</a:t>
              </a:r>
              <a:endParaRPr lang="zh-CN" altLang="en-US" sz="1800" b="1" u="none" baseline="-20000" dirty="0">
                <a:latin typeface="宋体" pitchFamily="2" charset="-122"/>
              </a:endParaRPr>
            </a:p>
          </p:txBody>
        </p:sp>
        <p:sp>
          <p:nvSpPr>
            <p:cNvPr id="35" name="Text Box 513"/>
            <p:cNvSpPr txBox="1">
              <a:spLocks noChangeArrowheads="1"/>
            </p:cNvSpPr>
            <p:nvPr/>
          </p:nvSpPr>
          <p:spPr bwMode="auto">
            <a:xfrm>
              <a:off x="6948388" y="2564904"/>
              <a:ext cx="215900" cy="287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800" b="1" u="none" dirty="0" smtClean="0">
                  <a:solidFill>
                    <a:srgbClr val="CC3300"/>
                  </a:solidFill>
                  <a:latin typeface="宋体" pitchFamily="2" charset="-122"/>
                </a:rPr>
                <a:t>m</a:t>
              </a:r>
              <a:endParaRPr lang="en-US" altLang="zh-CN" sz="1800" b="1" u="none" baseline="-20000" dirty="0">
                <a:solidFill>
                  <a:srgbClr val="CC3300"/>
                </a:solidFill>
                <a:latin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62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750"/>
                                        <p:tgtEl>
                                          <p:spTgt spid="337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37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37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37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327" grpId="0" autoUpdateAnimBg="0"/>
      <p:bldP spid="33733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612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137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+mn-ea"/>
                <a:ea typeface="+mn-ea"/>
              </a:rPr>
              <a:t>   ⑶</a:t>
            </a:r>
            <a:r>
              <a:rPr lang="zh-CN" altLang="en-US" b="1" u="none" dirty="0" smtClean="0">
                <a:solidFill>
                  <a:schemeClr val="accent2"/>
                </a:solidFill>
                <a:latin typeface="+mn-ea"/>
                <a:ea typeface="+mn-ea"/>
              </a:rPr>
              <a:t>主存的内部连接</a:t>
            </a:r>
            <a:r>
              <a:rPr lang="en-US" altLang="zh-CN" b="1" u="none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endParaRPr lang="en-US" altLang="zh-CN" b="1" u="none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grpSp>
        <p:nvGrpSpPr>
          <p:cNvPr id="452912" name="Group 304"/>
          <p:cNvGrpSpPr>
            <a:grpSpLocks/>
          </p:cNvGrpSpPr>
          <p:nvPr/>
        </p:nvGrpSpPr>
        <p:grpSpPr bwMode="auto">
          <a:xfrm>
            <a:off x="395288" y="908050"/>
            <a:ext cx="8424863" cy="3527425"/>
            <a:chOff x="159" y="618"/>
            <a:chExt cx="5307" cy="2222"/>
          </a:xfrm>
        </p:grpSpPr>
        <p:sp>
          <p:nvSpPr>
            <p:cNvPr id="452913" name="Rectangle 305"/>
            <p:cNvSpPr>
              <a:spLocks noChangeArrowheads="1"/>
            </p:cNvSpPr>
            <p:nvPr/>
          </p:nvSpPr>
          <p:spPr bwMode="auto">
            <a:xfrm>
              <a:off x="793" y="618"/>
              <a:ext cx="4673" cy="2222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914" name="Text Box 306"/>
            <p:cNvSpPr txBox="1">
              <a:spLocks noChangeArrowheads="1"/>
            </p:cNvSpPr>
            <p:nvPr/>
          </p:nvSpPr>
          <p:spPr bwMode="auto">
            <a:xfrm>
              <a:off x="1155" y="2069"/>
              <a:ext cx="40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 dirty="0">
                  <a:latin typeface="宋体" pitchFamily="2" charset="-122"/>
                </a:rPr>
                <a:t>0#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 dirty="0">
                  <a:latin typeface="宋体" pitchFamily="2" charset="-122"/>
                </a:rPr>
                <a:t>ROM</a:t>
              </a:r>
            </a:p>
          </p:txBody>
        </p:sp>
        <p:grpSp>
          <p:nvGrpSpPr>
            <p:cNvPr id="452915" name="Group 307"/>
            <p:cNvGrpSpPr>
              <a:grpSpLocks/>
            </p:cNvGrpSpPr>
            <p:nvPr/>
          </p:nvGrpSpPr>
          <p:grpSpPr bwMode="auto">
            <a:xfrm>
              <a:off x="476" y="2659"/>
              <a:ext cx="181" cy="181"/>
              <a:chOff x="3198" y="2523"/>
              <a:chExt cx="181" cy="181"/>
            </a:xfrm>
          </p:grpSpPr>
          <p:sp>
            <p:nvSpPr>
              <p:cNvPr id="452916" name="Text Box 308"/>
              <p:cNvSpPr txBox="1">
                <a:spLocks noChangeArrowheads="1"/>
              </p:cNvSpPr>
              <p:nvPr/>
            </p:nvSpPr>
            <p:spPr bwMode="auto">
              <a:xfrm>
                <a:off x="3198" y="2523"/>
                <a:ext cx="181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r>
                  <a:rPr lang="en-US" altLang="zh-CN" sz="1800" b="1" u="none">
                    <a:latin typeface="宋体" pitchFamily="2" charset="-122"/>
                  </a:rPr>
                  <a:t>WE</a:t>
                </a:r>
              </a:p>
            </p:txBody>
          </p:sp>
          <p:sp>
            <p:nvSpPr>
              <p:cNvPr id="452917" name="Line 309"/>
              <p:cNvSpPr>
                <a:spLocks noChangeShapeType="1"/>
              </p:cNvSpPr>
              <p:nvPr/>
            </p:nvSpPr>
            <p:spPr bwMode="auto">
              <a:xfrm>
                <a:off x="3207" y="2550"/>
                <a:ext cx="1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2918" name="Text Box 310"/>
            <p:cNvSpPr txBox="1">
              <a:spLocks noChangeArrowheads="1"/>
            </p:cNvSpPr>
            <p:nvPr/>
          </p:nvSpPr>
          <p:spPr bwMode="auto">
            <a:xfrm>
              <a:off x="1700" y="2069"/>
              <a:ext cx="408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itchFamily="2" charset="-122"/>
                </a:rPr>
                <a:t>1#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itchFamily="2" charset="-122"/>
                </a:rPr>
                <a:t>ROM</a:t>
              </a:r>
            </a:p>
          </p:txBody>
        </p:sp>
        <p:sp>
          <p:nvSpPr>
            <p:cNvPr id="452919" name="Text Box 311"/>
            <p:cNvSpPr txBox="1">
              <a:spLocks noChangeArrowheads="1"/>
            </p:cNvSpPr>
            <p:nvPr/>
          </p:nvSpPr>
          <p:spPr bwMode="auto">
            <a:xfrm>
              <a:off x="2243" y="2069"/>
              <a:ext cx="40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itchFamily="2" charset="-122"/>
                </a:rPr>
                <a:t>0#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itchFamily="2" charset="-122"/>
                </a:rPr>
                <a:t>SRAM</a:t>
              </a:r>
            </a:p>
          </p:txBody>
        </p:sp>
        <p:sp>
          <p:nvSpPr>
            <p:cNvPr id="452920" name="Text Box 312"/>
            <p:cNvSpPr txBox="1">
              <a:spLocks noChangeArrowheads="1"/>
            </p:cNvSpPr>
            <p:nvPr/>
          </p:nvSpPr>
          <p:spPr bwMode="auto">
            <a:xfrm>
              <a:off x="2788" y="2069"/>
              <a:ext cx="40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itchFamily="2" charset="-122"/>
                </a:rPr>
                <a:t>1#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itchFamily="2" charset="-122"/>
                </a:rPr>
                <a:t>SRAM</a:t>
              </a:r>
            </a:p>
          </p:txBody>
        </p:sp>
        <p:sp>
          <p:nvSpPr>
            <p:cNvPr id="452921" name="Text Box 313"/>
            <p:cNvSpPr txBox="1">
              <a:spLocks noChangeArrowheads="1"/>
            </p:cNvSpPr>
            <p:nvPr/>
          </p:nvSpPr>
          <p:spPr bwMode="auto">
            <a:xfrm>
              <a:off x="3331" y="2069"/>
              <a:ext cx="40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itchFamily="2" charset="-122"/>
                </a:rPr>
                <a:t>2#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itchFamily="2" charset="-122"/>
                </a:rPr>
                <a:t>SRAM</a:t>
              </a:r>
            </a:p>
          </p:txBody>
        </p:sp>
        <p:sp>
          <p:nvSpPr>
            <p:cNvPr id="452922" name="Text Box 314"/>
            <p:cNvSpPr txBox="1">
              <a:spLocks noChangeArrowheads="1"/>
            </p:cNvSpPr>
            <p:nvPr/>
          </p:nvSpPr>
          <p:spPr bwMode="auto">
            <a:xfrm>
              <a:off x="3876" y="2069"/>
              <a:ext cx="40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itchFamily="2" charset="-122"/>
                </a:rPr>
                <a:t>3#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itchFamily="2" charset="-122"/>
                </a:rPr>
                <a:t>SRAM</a:t>
              </a:r>
            </a:p>
          </p:txBody>
        </p:sp>
        <p:sp>
          <p:nvSpPr>
            <p:cNvPr id="452923" name="Text Box 315"/>
            <p:cNvSpPr txBox="1">
              <a:spLocks noChangeArrowheads="1"/>
            </p:cNvSpPr>
            <p:nvPr/>
          </p:nvSpPr>
          <p:spPr bwMode="auto">
            <a:xfrm>
              <a:off x="4420" y="2069"/>
              <a:ext cx="40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itchFamily="2" charset="-122"/>
                </a:rPr>
                <a:t>4#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itchFamily="2" charset="-122"/>
                </a:rPr>
                <a:t>SRAM</a:t>
              </a:r>
            </a:p>
          </p:txBody>
        </p:sp>
        <p:sp>
          <p:nvSpPr>
            <p:cNvPr id="452924" name="Text Box 316"/>
            <p:cNvSpPr txBox="1">
              <a:spLocks noChangeArrowheads="1"/>
            </p:cNvSpPr>
            <p:nvPr/>
          </p:nvSpPr>
          <p:spPr bwMode="auto">
            <a:xfrm>
              <a:off x="4965" y="2069"/>
              <a:ext cx="409" cy="3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itchFamily="2" charset="-122"/>
                </a:rPr>
                <a:t>5#</a:t>
              </a:r>
            </a:p>
            <a:p>
              <a:pPr algn="ctr">
                <a:lnSpc>
                  <a:spcPct val="90000"/>
                </a:lnSpc>
              </a:pPr>
              <a:r>
                <a:rPr lang="en-US" altLang="zh-CN" sz="2000" b="1" u="none">
                  <a:latin typeface="宋体" pitchFamily="2" charset="-122"/>
                </a:rPr>
                <a:t>SRAM</a:t>
              </a:r>
            </a:p>
          </p:txBody>
        </p:sp>
        <p:sp>
          <p:nvSpPr>
            <p:cNvPr id="452925" name="Text Box 317"/>
            <p:cNvSpPr txBox="1">
              <a:spLocks noChangeArrowheads="1"/>
            </p:cNvSpPr>
            <p:nvPr/>
          </p:nvSpPr>
          <p:spPr bwMode="auto">
            <a:xfrm>
              <a:off x="159" y="1843"/>
              <a:ext cx="499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>
                  <a:latin typeface="宋体" pitchFamily="2" charset="-122"/>
                </a:rPr>
                <a:t>A</a:t>
              </a:r>
              <a:r>
                <a:rPr lang="en-US" altLang="zh-CN" sz="1800" b="1" u="none" baseline="-18000">
                  <a:latin typeface="宋体" pitchFamily="2" charset="-122"/>
                </a:rPr>
                <a:t>10</a:t>
              </a:r>
              <a:r>
                <a:rPr lang="zh-CN" altLang="en-US" sz="1800" b="1" u="none">
                  <a:latin typeface="宋体" pitchFamily="2" charset="-122"/>
                </a:rPr>
                <a:t>～</a:t>
              </a:r>
              <a:r>
                <a:rPr lang="en-US" altLang="zh-CN" sz="1800" b="1" u="none">
                  <a:latin typeface="宋体" pitchFamily="2" charset="-122"/>
                </a:rPr>
                <a:t>A</a:t>
              </a:r>
              <a:r>
                <a:rPr lang="en-US" altLang="zh-CN" sz="1800" b="1" u="none" baseline="-18000">
                  <a:latin typeface="宋体" pitchFamily="2" charset="-122"/>
                </a:rPr>
                <a:t>0</a:t>
              </a:r>
            </a:p>
          </p:txBody>
        </p:sp>
        <p:sp>
          <p:nvSpPr>
            <p:cNvPr id="452926" name="Text Box 318"/>
            <p:cNvSpPr txBox="1">
              <a:spLocks noChangeArrowheads="1"/>
            </p:cNvSpPr>
            <p:nvPr/>
          </p:nvSpPr>
          <p:spPr bwMode="auto">
            <a:xfrm>
              <a:off x="205" y="2115"/>
              <a:ext cx="453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>
                  <a:latin typeface="宋体" pitchFamily="2" charset="-122"/>
                </a:rPr>
                <a:t>D</a:t>
              </a:r>
              <a:r>
                <a:rPr lang="en-US" altLang="zh-CN" sz="1800" b="1" u="none" baseline="-18000">
                  <a:latin typeface="宋体" pitchFamily="2" charset="-122"/>
                </a:rPr>
                <a:t>3</a:t>
              </a:r>
              <a:r>
                <a:rPr lang="zh-CN" altLang="en-US" sz="1800" b="1" u="none">
                  <a:latin typeface="宋体" pitchFamily="2" charset="-122"/>
                </a:rPr>
                <a:t>～</a:t>
              </a:r>
              <a:r>
                <a:rPr lang="en-US" altLang="zh-CN" sz="1800" b="1" u="none">
                  <a:latin typeface="宋体" pitchFamily="2" charset="-122"/>
                </a:rPr>
                <a:t>D</a:t>
              </a:r>
              <a:r>
                <a:rPr lang="en-US" altLang="zh-CN" sz="1800" b="1" u="none" baseline="-18000">
                  <a:latin typeface="宋体" pitchFamily="2" charset="-122"/>
                </a:rPr>
                <a:t>0</a:t>
              </a:r>
            </a:p>
          </p:txBody>
        </p:sp>
        <p:sp>
          <p:nvSpPr>
            <p:cNvPr id="452927" name="Text Box 319"/>
            <p:cNvSpPr txBox="1">
              <a:spLocks noChangeArrowheads="1"/>
            </p:cNvSpPr>
            <p:nvPr/>
          </p:nvSpPr>
          <p:spPr bwMode="auto">
            <a:xfrm>
              <a:off x="205" y="2342"/>
              <a:ext cx="453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>
                  <a:latin typeface="宋体" pitchFamily="2" charset="-122"/>
                </a:rPr>
                <a:t>D</a:t>
              </a:r>
              <a:r>
                <a:rPr lang="en-US" altLang="zh-CN" sz="1800" b="1" u="none" baseline="-18000">
                  <a:latin typeface="宋体" pitchFamily="2" charset="-122"/>
                </a:rPr>
                <a:t>7</a:t>
              </a:r>
              <a:r>
                <a:rPr lang="zh-CN" altLang="en-US" sz="1800" b="1" u="none">
                  <a:latin typeface="宋体" pitchFamily="2" charset="-122"/>
                </a:rPr>
                <a:t>～</a:t>
              </a:r>
              <a:r>
                <a:rPr lang="en-US" altLang="zh-CN" sz="1800" b="1" u="none">
                  <a:latin typeface="宋体" pitchFamily="2" charset="-122"/>
                </a:rPr>
                <a:t>D</a:t>
              </a:r>
              <a:r>
                <a:rPr lang="en-US" altLang="zh-CN" sz="1800" b="1" u="none" baseline="-18000">
                  <a:latin typeface="宋体" pitchFamily="2" charset="-122"/>
                </a:rPr>
                <a:t>4</a:t>
              </a:r>
            </a:p>
          </p:txBody>
        </p:sp>
        <p:sp>
          <p:nvSpPr>
            <p:cNvPr id="452928" name="Text Box 320"/>
            <p:cNvSpPr txBox="1">
              <a:spLocks noChangeArrowheads="1"/>
            </p:cNvSpPr>
            <p:nvPr/>
          </p:nvSpPr>
          <p:spPr bwMode="auto">
            <a:xfrm>
              <a:off x="431" y="935"/>
              <a:ext cx="227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 dirty="0">
                  <a:latin typeface="宋体" pitchFamily="2" charset="-122"/>
                </a:rPr>
                <a:t>A</a:t>
              </a:r>
              <a:r>
                <a:rPr lang="en-US" altLang="zh-CN" sz="1800" b="1" u="none" baseline="-18000" dirty="0">
                  <a:latin typeface="宋体" pitchFamily="2" charset="-122"/>
                </a:rPr>
                <a:t>13</a:t>
              </a:r>
            </a:p>
          </p:txBody>
        </p:sp>
        <p:sp>
          <p:nvSpPr>
            <p:cNvPr id="452929" name="Text Box 321"/>
            <p:cNvSpPr txBox="1">
              <a:spLocks noChangeArrowheads="1"/>
            </p:cNvSpPr>
            <p:nvPr/>
          </p:nvSpPr>
          <p:spPr bwMode="auto">
            <a:xfrm>
              <a:off x="431" y="1116"/>
              <a:ext cx="227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>
                  <a:latin typeface="宋体" pitchFamily="2" charset="-122"/>
                </a:rPr>
                <a:t>A</a:t>
              </a:r>
              <a:r>
                <a:rPr lang="en-US" altLang="zh-CN" sz="1800" b="1" u="none" baseline="-18000">
                  <a:latin typeface="宋体" pitchFamily="2" charset="-122"/>
                </a:rPr>
                <a:t>12</a:t>
              </a:r>
            </a:p>
          </p:txBody>
        </p:sp>
        <p:sp>
          <p:nvSpPr>
            <p:cNvPr id="452930" name="Text Box 322"/>
            <p:cNvSpPr txBox="1">
              <a:spLocks noChangeArrowheads="1"/>
            </p:cNvSpPr>
            <p:nvPr/>
          </p:nvSpPr>
          <p:spPr bwMode="auto">
            <a:xfrm>
              <a:off x="431" y="1706"/>
              <a:ext cx="227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800" b="1" u="none">
                  <a:latin typeface="宋体" pitchFamily="2" charset="-122"/>
                </a:rPr>
                <a:t>A</a:t>
              </a:r>
              <a:r>
                <a:rPr lang="en-US" altLang="zh-CN" sz="1800" b="1" u="none" baseline="-18000">
                  <a:latin typeface="宋体" pitchFamily="2" charset="-122"/>
                </a:rPr>
                <a:t>11</a:t>
              </a:r>
            </a:p>
          </p:txBody>
        </p:sp>
        <p:grpSp>
          <p:nvGrpSpPr>
            <p:cNvPr id="452931" name="Group 323"/>
            <p:cNvGrpSpPr>
              <a:grpSpLocks/>
            </p:cNvGrpSpPr>
            <p:nvPr/>
          </p:nvGrpSpPr>
          <p:grpSpPr bwMode="auto">
            <a:xfrm>
              <a:off x="476" y="754"/>
              <a:ext cx="181" cy="181"/>
              <a:chOff x="3198" y="2523"/>
              <a:chExt cx="181" cy="181"/>
            </a:xfrm>
          </p:grpSpPr>
          <p:sp>
            <p:nvSpPr>
              <p:cNvPr id="452932" name="Text Box 324"/>
              <p:cNvSpPr txBox="1">
                <a:spLocks noChangeArrowheads="1"/>
              </p:cNvSpPr>
              <p:nvPr/>
            </p:nvSpPr>
            <p:spPr bwMode="auto">
              <a:xfrm>
                <a:off x="3198" y="2523"/>
                <a:ext cx="181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r>
                  <a:rPr lang="en-US" altLang="zh-CN" sz="1800" b="1" u="none">
                    <a:latin typeface="宋体" pitchFamily="2" charset="-122"/>
                  </a:rPr>
                  <a:t>CS</a:t>
                </a:r>
              </a:p>
            </p:txBody>
          </p:sp>
          <p:sp>
            <p:nvSpPr>
              <p:cNvPr id="452933" name="Line 325"/>
              <p:cNvSpPr>
                <a:spLocks noChangeShapeType="1"/>
              </p:cNvSpPr>
              <p:nvPr/>
            </p:nvSpPr>
            <p:spPr bwMode="auto">
              <a:xfrm>
                <a:off x="3207" y="2550"/>
                <a:ext cx="1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2934" name="Line 326"/>
            <p:cNvSpPr>
              <a:spLocks noChangeShapeType="1"/>
            </p:cNvSpPr>
            <p:nvPr/>
          </p:nvSpPr>
          <p:spPr bwMode="auto">
            <a:xfrm>
              <a:off x="657" y="1207"/>
              <a:ext cx="136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35" name="Line 327"/>
            <p:cNvSpPr>
              <a:spLocks noChangeShapeType="1"/>
            </p:cNvSpPr>
            <p:nvPr/>
          </p:nvSpPr>
          <p:spPr bwMode="auto">
            <a:xfrm>
              <a:off x="657" y="1026"/>
              <a:ext cx="136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36" name="Line 328"/>
            <p:cNvSpPr>
              <a:spLocks noChangeShapeType="1"/>
            </p:cNvSpPr>
            <p:nvPr/>
          </p:nvSpPr>
          <p:spPr bwMode="auto">
            <a:xfrm>
              <a:off x="657" y="845"/>
              <a:ext cx="136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37" name="Line 329"/>
            <p:cNvSpPr>
              <a:spLocks noChangeShapeType="1"/>
            </p:cNvSpPr>
            <p:nvPr/>
          </p:nvSpPr>
          <p:spPr bwMode="auto">
            <a:xfrm flipV="1">
              <a:off x="657" y="2432"/>
              <a:ext cx="137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38" name="Line 330"/>
            <p:cNvSpPr>
              <a:spLocks noChangeShapeType="1"/>
            </p:cNvSpPr>
            <p:nvPr/>
          </p:nvSpPr>
          <p:spPr bwMode="auto">
            <a:xfrm flipV="1">
              <a:off x="657" y="2205"/>
              <a:ext cx="137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39" name="Line 331"/>
            <p:cNvSpPr>
              <a:spLocks noChangeShapeType="1"/>
            </p:cNvSpPr>
            <p:nvPr/>
          </p:nvSpPr>
          <p:spPr bwMode="auto">
            <a:xfrm flipV="1">
              <a:off x="657" y="1933"/>
              <a:ext cx="137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40" name="Line 332"/>
            <p:cNvSpPr>
              <a:spLocks noChangeShapeType="1"/>
            </p:cNvSpPr>
            <p:nvPr/>
          </p:nvSpPr>
          <p:spPr bwMode="auto">
            <a:xfrm>
              <a:off x="657" y="1797"/>
              <a:ext cx="136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41" name="Line 333"/>
            <p:cNvSpPr>
              <a:spLocks noChangeShapeType="1"/>
            </p:cNvSpPr>
            <p:nvPr/>
          </p:nvSpPr>
          <p:spPr bwMode="auto">
            <a:xfrm>
              <a:off x="657" y="2750"/>
              <a:ext cx="136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3029" name="Group 421"/>
          <p:cNvGrpSpPr>
            <a:grpSpLocks/>
          </p:cNvGrpSpPr>
          <p:nvPr/>
        </p:nvGrpSpPr>
        <p:grpSpPr bwMode="auto">
          <a:xfrm>
            <a:off x="1401763" y="2779713"/>
            <a:ext cx="7273925" cy="1512887"/>
            <a:chOff x="793" y="1797"/>
            <a:chExt cx="4582" cy="953"/>
          </a:xfrm>
        </p:grpSpPr>
        <p:sp>
          <p:nvSpPr>
            <p:cNvPr id="452943" name="Line 335"/>
            <p:cNvSpPr>
              <a:spLocks noChangeShapeType="1"/>
            </p:cNvSpPr>
            <p:nvPr/>
          </p:nvSpPr>
          <p:spPr bwMode="auto">
            <a:xfrm flipV="1">
              <a:off x="793" y="1933"/>
              <a:ext cx="4581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44" name="Line 336"/>
            <p:cNvSpPr>
              <a:spLocks noChangeShapeType="1"/>
            </p:cNvSpPr>
            <p:nvPr/>
          </p:nvSpPr>
          <p:spPr bwMode="auto">
            <a:xfrm>
              <a:off x="1020" y="2568"/>
              <a:ext cx="4355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45" name="Line 337"/>
            <p:cNvSpPr>
              <a:spLocks noChangeShapeType="1"/>
            </p:cNvSpPr>
            <p:nvPr/>
          </p:nvSpPr>
          <p:spPr bwMode="auto">
            <a:xfrm flipH="1" flipV="1">
              <a:off x="1246" y="2432"/>
              <a:ext cx="0" cy="22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diamond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46" name="Line 338"/>
            <p:cNvSpPr>
              <a:spLocks noChangeShapeType="1"/>
            </p:cNvSpPr>
            <p:nvPr/>
          </p:nvSpPr>
          <p:spPr bwMode="auto">
            <a:xfrm>
              <a:off x="884" y="2659"/>
              <a:ext cx="4491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47" name="Line 339"/>
            <p:cNvSpPr>
              <a:spLocks noChangeShapeType="1"/>
            </p:cNvSpPr>
            <p:nvPr/>
          </p:nvSpPr>
          <p:spPr bwMode="auto">
            <a:xfrm flipH="1" flipV="1">
              <a:off x="1337" y="2432"/>
              <a:ext cx="0" cy="136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diamond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48" name="Line 340"/>
            <p:cNvSpPr>
              <a:spLocks noChangeShapeType="1"/>
            </p:cNvSpPr>
            <p:nvPr/>
          </p:nvSpPr>
          <p:spPr bwMode="auto">
            <a:xfrm flipV="1">
              <a:off x="1881" y="2432"/>
              <a:ext cx="0" cy="136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diamond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49" name="Line 341"/>
            <p:cNvSpPr>
              <a:spLocks noChangeShapeType="1"/>
            </p:cNvSpPr>
            <p:nvPr/>
          </p:nvSpPr>
          <p:spPr bwMode="auto">
            <a:xfrm flipH="1" flipV="1">
              <a:off x="2970" y="2432"/>
              <a:ext cx="1" cy="22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diamond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0" name="Line 342"/>
            <p:cNvSpPr>
              <a:spLocks noChangeShapeType="1"/>
            </p:cNvSpPr>
            <p:nvPr/>
          </p:nvSpPr>
          <p:spPr bwMode="auto">
            <a:xfrm flipH="1" flipV="1">
              <a:off x="3513" y="2432"/>
              <a:ext cx="1" cy="13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diamond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1" name="Line 343"/>
            <p:cNvSpPr>
              <a:spLocks noChangeShapeType="1"/>
            </p:cNvSpPr>
            <p:nvPr/>
          </p:nvSpPr>
          <p:spPr bwMode="auto">
            <a:xfrm flipH="1" flipV="1">
              <a:off x="5146" y="2432"/>
              <a:ext cx="1" cy="22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diamond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2" name="Line 344"/>
            <p:cNvSpPr>
              <a:spLocks noChangeShapeType="1"/>
            </p:cNvSpPr>
            <p:nvPr/>
          </p:nvSpPr>
          <p:spPr bwMode="auto">
            <a:xfrm>
              <a:off x="1338" y="1933"/>
              <a:ext cx="0" cy="135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diamond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3" name="Line 345"/>
            <p:cNvSpPr>
              <a:spLocks noChangeShapeType="1"/>
            </p:cNvSpPr>
            <p:nvPr/>
          </p:nvSpPr>
          <p:spPr bwMode="auto">
            <a:xfrm>
              <a:off x="1882" y="1933"/>
              <a:ext cx="0" cy="135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diamond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4" name="Line 346"/>
            <p:cNvSpPr>
              <a:spLocks noChangeShapeType="1"/>
            </p:cNvSpPr>
            <p:nvPr/>
          </p:nvSpPr>
          <p:spPr bwMode="auto">
            <a:xfrm>
              <a:off x="2472" y="1933"/>
              <a:ext cx="0" cy="135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diamond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5" name="Line 347"/>
            <p:cNvSpPr>
              <a:spLocks noChangeShapeType="1"/>
            </p:cNvSpPr>
            <p:nvPr/>
          </p:nvSpPr>
          <p:spPr bwMode="auto">
            <a:xfrm>
              <a:off x="3515" y="1933"/>
              <a:ext cx="0" cy="136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diamond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6" name="Line 348"/>
            <p:cNvSpPr>
              <a:spLocks noChangeShapeType="1"/>
            </p:cNvSpPr>
            <p:nvPr/>
          </p:nvSpPr>
          <p:spPr bwMode="auto">
            <a:xfrm flipH="1">
              <a:off x="4059" y="1933"/>
              <a:ext cx="1" cy="136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diamond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7" name="Line 349"/>
            <p:cNvSpPr>
              <a:spLocks noChangeShapeType="1"/>
            </p:cNvSpPr>
            <p:nvPr/>
          </p:nvSpPr>
          <p:spPr bwMode="auto">
            <a:xfrm flipH="1">
              <a:off x="4604" y="1933"/>
              <a:ext cx="1" cy="136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diamond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8" name="Line 350"/>
            <p:cNvSpPr>
              <a:spLocks noChangeShapeType="1"/>
            </p:cNvSpPr>
            <p:nvPr/>
          </p:nvSpPr>
          <p:spPr bwMode="auto">
            <a:xfrm flipH="1" flipV="1">
              <a:off x="1791" y="2432"/>
              <a:ext cx="0" cy="22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diamond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59" name="Line 351"/>
            <p:cNvSpPr>
              <a:spLocks noChangeShapeType="1"/>
            </p:cNvSpPr>
            <p:nvPr/>
          </p:nvSpPr>
          <p:spPr bwMode="auto">
            <a:xfrm flipH="1" flipV="1">
              <a:off x="2426" y="2432"/>
              <a:ext cx="1" cy="13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diamond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60" name="Line 352"/>
            <p:cNvSpPr>
              <a:spLocks noChangeShapeType="1"/>
            </p:cNvSpPr>
            <p:nvPr/>
          </p:nvSpPr>
          <p:spPr bwMode="auto">
            <a:xfrm flipH="1">
              <a:off x="2381" y="1797"/>
              <a:ext cx="0" cy="272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61" name="Line 353"/>
            <p:cNvSpPr>
              <a:spLocks noChangeShapeType="1"/>
            </p:cNvSpPr>
            <p:nvPr/>
          </p:nvSpPr>
          <p:spPr bwMode="auto">
            <a:xfrm>
              <a:off x="793" y="1797"/>
              <a:ext cx="4582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62" name="Line 354"/>
            <p:cNvSpPr>
              <a:spLocks noChangeShapeType="1"/>
            </p:cNvSpPr>
            <p:nvPr/>
          </p:nvSpPr>
          <p:spPr bwMode="auto">
            <a:xfrm>
              <a:off x="793" y="2750"/>
              <a:ext cx="4581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65" name="Line 357"/>
            <p:cNvSpPr>
              <a:spLocks noChangeShapeType="1"/>
            </p:cNvSpPr>
            <p:nvPr/>
          </p:nvSpPr>
          <p:spPr bwMode="auto">
            <a:xfrm flipH="1" flipV="1">
              <a:off x="2562" y="2433"/>
              <a:ext cx="1" cy="31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66" name="Line 358"/>
            <p:cNvSpPr>
              <a:spLocks noChangeShapeType="1"/>
            </p:cNvSpPr>
            <p:nvPr/>
          </p:nvSpPr>
          <p:spPr bwMode="auto">
            <a:xfrm flipH="1" flipV="1">
              <a:off x="3106" y="2433"/>
              <a:ext cx="1" cy="31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67" name="Line 359"/>
            <p:cNvSpPr>
              <a:spLocks noChangeShapeType="1"/>
            </p:cNvSpPr>
            <p:nvPr/>
          </p:nvSpPr>
          <p:spPr bwMode="auto">
            <a:xfrm flipV="1">
              <a:off x="3650" y="2433"/>
              <a:ext cx="0" cy="31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68" name="Line 360"/>
            <p:cNvSpPr>
              <a:spLocks noChangeShapeType="1"/>
            </p:cNvSpPr>
            <p:nvPr/>
          </p:nvSpPr>
          <p:spPr bwMode="auto">
            <a:xfrm flipH="1" flipV="1">
              <a:off x="5282" y="2433"/>
              <a:ext cx="1" cy="31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01" name="Line 393"/>
            <p:cNvSpPr>
              <a:spLocks noChangeShapeType="1"/>
            </p:cNvSpPr>
            <p:nvPr/>
          </p:nvSpPr>
          <p:spPr bwMode="auto">
            <a:xfrm flipH="1" flipV="1">
              <a:off x="4059" y="2432"/>
              <a:ext cx="1" cy="22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diamond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02" name="Line 394"/>
            <p:cNvSpPr>
              <a:spLocks noChangeShapeType="1"/>
            </p:cNvSpPr>
            <p:nvPr/>
          </p:nvSpPr>
          <p:spPr bwMode="auto">
            <a:xfrm flipH="1" flipV="1">
              <a:off x="4602" y="2432"/>
              <a:ext cx="1" cy="13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diamond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03" name="Line 395"/>
            <p:cNvSpPr>
              <a:spLocks noChangeShapeType="1"/>
            </p:cNvSpPr>
            <p:nvPr/>
          </p:nvSpPr>
          <p:spPr bwMode="auto">
            <a:xfrm flipH="1" flipV="1">
              <a:off x="4195" y="2433"/>
              <a:ext cx="1" cy="31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04" name="Line 396"/>
            <p:cNvSpPr>
              <a:spLocks noChangeShapeType="1"/>
            </p:cNvSpPr>
            <p:nvPr/>
          </p:nvSpPr>
          <p:spPr bwMode="auto">
            <a:xfrm flipV="1">
              <a:off x="4739" y="2433"/>
              <a:ext cx="0" cy="31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05" name="Line 397"/>
            <p:cNvSpPr>
              <a:spLocks noChangeShapeType="1"/>
            </p:cNvSpPr>
            <p:nvPr/>
          </p:nvSpPr>
          <p:spPr bwMode="auto">
            <a:xfrm>
              <a:off x="2971" y="1933"/>
              <a:ext cx="0" cy="136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diamond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06" name="Line 398"/>
            <p:cNvSpPr>
              <a:spLocks noChangeShapeType="1"/>
            </p:cNvSpPr>
            <p:nvPr/>
          </p:nvSpPr>
          <p:spPr bwMode="auto">
            <a:xfrm>
              <a:off x="5148" y="1933"/>
              <a:ext cx="0" cy="136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diamond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09" name="Line 401"/>
            <p:cNvSpPr>
              <a:spLocks noChangeShapeType="1"/>
            </p:cNvSpPr>
            <p:nvPr/>
          </p:nvSpPr>
          <p:spPr bwMode="auto">
            <a:xfrm flipH="1">
              <a:off x="2879" y="1797"/>
              <a:ext cx="1" cy="27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13" name="Line 405"/>
            <p:cNvSpPr>
              <a:spLocks noChangeShapeType="1"/>
            </p:cNvSpPr>
            <p:nvPr/>
          </p:nvSpPr>
          <p:spPr bwMode="auto">
            <a:xfrm flipH="1">
              <a:off x="3968" y="1797"/>
              <a:ext cx="1" cy="27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14" name="Line 406"/>
            <p:cNvSpPr>
              <a:spLocks noChangeShapeType="1"/>
            </p:cNvSpPr>
            <p:nvPr/>
          </p:nvSpPr>
          <p:spPr bwMode="auto">
            <a:xfrm flipH="1">
              <a:off x="3424" y="1797"/>
              <a:ext cx="0" cy="27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20" name="Line 412"/>
            <p:cNvSpPr>
              <a:spLocks noChangeShapeType="1"/>
            </p:cNvSpPr>
            <p:nvPr/>
          </p:nvSpPr>
          <p:spPr bwMode="auto">
            <a:xfrm flipH="1">
              <a:off x="4513" y="1797"/>
              <a:ext cx="1" cy="27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21" name="Line 413"/>
            <p:cNvSpPr>
              <a:spLocks noChangeShapeType="1"/>
            </p:cNvSpPr>
            <p:nvPr/>
          </p:nvSpPr>
          <p:spPr bwMode="auto">
            <a:xfrm flipH="1">
              <a:off x="5056" y="1797"/>
              <a:ext cx="1" cy="27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25" name="Line 417"/>
            <p:cNvSpPr>
              <a:spLocks noChangeShapeType="1"/>
            </p:cNvSpPr>
            <p:nvPr/>
          </p:nvSpPr>
          <p:spPr bwMode="auto">
            <a:xfrm>
              <a:off x="793" y="2205"/>
              <a:ext cx="227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26" name="Line 418"/>
            <p:cNvSpPr>
              <a:spLocks noChangeShapeType="1"/>
            </p:cNvSpPr>
            <p:nvPr/>
          </p:nvSpPr>
          <p:spPr bwMode="auto">
            <a:xfrm>
              <a:off x="1020" y="2205"/>
              <a:ext cx="1" cy="364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27" name="Line 419"/>
            <p:cNvSpPr>
              <a:spLocks noChangeShapeType="1"/>
            </p:cNvSpPr>
            <p:nvPr/>
          </p:nvSpPr>
          <p:spPr bwMode="auto">
            <a:xfrm flipV="1">
              <a:off x="793" y="2431"/>
              <a:ext cx="91" cy="1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28" name="Line 420"/>
            <p:cNvSpPr>
              <a:spLocks noChangeShapeType="1"/>
            </p:cNvSpPr>
            <p:nvPr/>
          </p:nvSpPr>
          <p:spPr bwMode="auto">
            <a:xfrm>
              <a:off x="884" y="2431"/>
              <a:ext cx="0" cy="228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3078" name="Group 470"/>
          <p:cNvGrpSpPr>
            <a:grpSpLocks/>
          </p:cNvGrpSpPr>
          <p:nvPr/>
        </p:nvGrpSpPr>
        <p:grpSpPr bwMode="auto">
          <a:xfrm>
            <a:off x="1401763" y="1052513"/>
            <a:ext cx="7273925" cy="2159000"/>
            <a:chOff x="883" y="891"/>
            <a:chExt cx="4582" cy="1360"/>
          </a:xfrm>
        </p:grpSpPr>
        <p:sp>
          <p:nvSpPr>
            <p:cNvPr id="452969" name="Line 361"/>
            <p:cNvSpPr>
              <a:spLocks noChangeShapeType="1"/>
            </p:cNvSpPr>
            <p:nvPr/>
          </p:nvSpPr>
          <p:spPr bwMode="auto">
            <a:xfrm>
              <a:off x="5374" y="1480"/>
              <a:ext cx="0" cy="77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70" name="Line 362"/>
            <p:cNvSpPr>
              <a:spLocks noChangeShapeType="1"/>
            </p:cNvSpPr>
            <p:nvPr/>
          </p:nvSpPr>
          <p:spPr bwMode="auto">
            <a:xfrm flipH="1">
              <a:off x="4830" y="1617"/>
              <a:ext cx="1" cy="634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71" name="Line 363"/>
            <p:cNvSpPr>
              <a:spLocks noChangeShapeType="1"/>
            </p:cNvSpPr>
            <p:nvPr/>
          </p:nvSpPr>
          <p:spPr bwMode="auto">
            <a:xfrm flipH="1">
              <a:off x="2108" y="1934"/>
              <a:ext cx="0" cy="31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72" name="Line 364"/>
            <p:cNvSpPr>
              <a:spLocks noChangeShapeType="1"/>
            </p:cNvSpPr>
            <p:nvPr/>
          </p:nvSpPr>
          <p:spPr bwMode="auto">
            <a:xfrm>
              <a:off x="1564" y="1934"/>
              <a:ext cx="0" cy="31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73" name="Line 365"/>
            <p:cNvSpPr>
              <a:spLocks noChangeShapeType="1"/>
            </p:cNvSpPr>
            <p:nvPr/>
          </p:nvSpPr>
          <p:spPr bwMode="auto">
            <a:xfrm>
              <a:off x="2698" y="1617"/>
              <a:ext cx="0" cy="634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74" name="Text Box 366"/>
            <p:cNvSpPr txBox="1">
              <a:spLocks noChangeArrowheads="1"/>
            </p:cNvSpPr>
            <p:nvPr/>
          </p:nvSpPr>
          <p:spPr bwMode="auto">
            <a:xfrm>
              <a:off x="1791" y="891"/>
              <a:ext cx="3674" cy="589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2000" b="1" u="none">
                  <a:latin typeface="宋体" pitchFamily="2" charset="-122"/>
                </a:rPr>
                <a:t>2:4</a:t>
              </a:r>
              <a:r>
                <a:rPr lang="zh-CN" altLang="en-US" sz="2000" b="1" u="none">
                  <a:latin typeface="宋体" pitchFamily="2" charset="-122"/>
                </a:rPr>
                <a:t>译码器</a:t>
              </a:r>
            </a:p>
          </p:txBody>
        </p:sp>
        <p:sp>
          <p:nvSpPr>
            <p:cNvPr id="452975" name="Text Box 367"/>
            <p:cNvSpPr txBox="1">
              <a:spLocks noChangeArrowheads="1"/>
            </p:cNvSpPr>
            <p:nvPr/>
          </p:nvSpPr>
          <p:spPr bwMode="auto">
            <a:xfrm>
              <a:off x="1837" y="1117"/>
              <a:ext cx="136" cy="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/>
            <a:lstStyle/>
            <a:p>
              <a:pPr algn="ctr"/>
              <a:r>
                <a:rPr lang="en-US" altLang="zh-CN" sz="1800" b="1" u="none">
                  <a:latin typeface="宋体" pitchFamily="2" charset="-122"/>
                </a:rPr>
                <a:t>B</a:t>
              </a:r>
            </a:p>
            <a:p>
              <a:pPr algn="ctr"/>
              <a:r>
                <a:rPr lang="en-US" altLang="zh-CN" sz="1800" b="1" u="none">
                  <a:latin typeface="宋体" pitchFamily="2" charset="-122"/>
                </a:rPr>
                <a:t>A</a:t>
              </a:r>
            </a:p>
          </p:txBody>
        </p:sp>
        <p:grpSp>
          <p:nvGrpSpPr>
            <p:cNvPr id="452976" name="Group 368"/>
            <p:cNvGrpSpPr>
              <a:grpSpLocks/>
            </p:cNvGrpSpPr>
            <p:nvPr/>
          </p:nvGrpSpPr>
          <p:grpSpPr bwMode="auto">
            <a:xfrm>
              <a:off x="1791" y="936"/>
              <a:ext cx="226" cy="181"/>
              <a:chOff x="2336" y="2659"/>
              <a:chExt cx="226" cy="181"/>
            </a:xfrm>
          </p:grpSpPr>
          <p:sp>
            <p:nvSpPr>
              <p:cNvPr id="452977" name="Text Box 369"/>
              <p:cNvSpPr txBox="1">
                <a:spLocks noChangeArrowheads="1"/>
              </p:cNvSpPr>
              <p:nvPr/>
            </p:nvSpPr>
            <p:spPr bwMode="auto">
              <a:xfrm>
                <a:off x="2336" y="2659"/>
                <a:ext cx="226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itchFamily="2" charset="-122"/>
                  </a:rPr>
                  <a:t>GE</a:t>
                </a:r>
              </a:p>
            </p:txBody>
          </p:sp>
          <p:sp>
            <p:nvSpPr>
              <p:cNvPr id="452978" name="Line 370"/>
              <p:cNvSpPr>
                <a:spLocks noChangeShapeType="1"/>
              </p:cNvSpPr>
              <p:nvPr/>
            </p:nvSpPr>
            <p:spPr bwMode="auto">
              <a:xfrm>
                <a:off x="2372" y="2686"/>
                <a:ext cx="136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2979" name="Group 371"/>
            <p:cNvGrpSpPr>
              <a:grpSpLocks/>
            </p:cNvGrpSpPr>
            <p:nvPr/>
          </p:nvGrpSpPr>
          <p:grpSpPr bwMode="auto">
            <a:xfrm>
              <a:off x="2108" y="1281"/>
              <a:ext cx="181" cy="181"/>
              <a:chOff x="4332" y="2614"/>
              <a:chExt cx="181" cy="181"/>
            </a:xfrm>
          </p:grpSpPr>
          <p:sp>
            <p:nvSpPr>
              <p:cNvPr id="452980" name="Text Box 372"/>
              <p:cNvSpPr txBox="1">
                <a:spLocks noChangeArrowheads="1"/>
              </p:cNvSpPr>
              <p:nvPr/>
            </p:nvSpPr>
            <p:spPr bwMode="auto">
              <a:xfrm>
                <a:off x="4332" y="2614"/>
                <a:ext cx="181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itchFamily="2" charset="-122"/>
                  </a:rPr>
                  <a:t>Y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0</a:t>
                </a:r>
              </a:p>
            </p:txBody>
          </p:sp>
          <p:sp>
            <p:nvSpPr>
              <p:cNvPr id="452981" name="Line 373"/>
              <p:cNvSpPr>
                <a:spLocks noChangeShapeType="1"/>
              </p:cNvSpPr>
              <p:nvPr/>
            </p:nvSpPr>
            <p:spPr bwMode="auto">
              <a:xfrm>
                <a:off x="4350" y="2641"/>
                <a:ext cx="1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2982" name="Group 374"/>
            <p:cNvGrpSpPr>
              <a:grpSpLocks/>
            </p:cNvGrpSpPr>
            <p:nvPr/>
          </p:nvGrpSpPr>
          <p:grpSpPr bwMode="auto">
            <a:xfrm>
              <a:off x="4149" y="1281"/>
              <a:ext cx="181" cy="181"/>
              <a:chOff x="4332" y="2614"/>
              <a:chExt cx="181" cy="181"/>
            </a:xfrm>
          </p:grpSpPr>
          <p:sp>
            <p:nvSpPr>
              <p:cNvPr id="452983" name="Text Box 375"/>
              <p:cNvSpPr txBox="1">
                <a:spLocks noChangeArrowheads="1"/>
              </p:cNvSpPr>
              <p:nvPr/>
            </p:nvSpPr>
            <p:spPr bwMode="auto">
              <a:xfrm>
                <a:off x="4332" y="2614"/>
                <a:ext cx="181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itchFamily="2" charset="-122"/>
                  </a:rPr>
                  <a:t>Y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2</a:t>
                </a:r>
              </a:p>
            </p:txBody>
          </p:sp>
          <p:sp>
            <p:nvSpPr>
              <p:cNvPr id="452984" name="Line 376"/>
              <p:cNvSpPr>
                <a:spLocks noChangeShapeType="1"/>
              </p:cNvSpPr>
              <p:nvPr/>
            </p:nvSpPr>
            <p:spPr bwMode="auto">
              <a:xfrm>
                <a:off x="4350" y="2641"/>
                <a:ext cx="1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2985" name="Line 377"/>
            <p:cNvSpPr>
              <a:spLocks noChangeShapeType="1"/>
            </p:cNvSpPr>
            <p:nvPr/>
          </p:nvSpPr>
          <p:spPr bwMode="auto">
            <a:xfrm flipV="1">
              <a:off x="883" y="1027"/>
              <a:ext cx="908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52986" name="Group 378"/>
            <p:cNvGrpSpPr>
              <a:grpSpLocks/>
            </p:cNvGrpSpPr>
            <p:nvPr/>
          </p:nvGrpSpPr>
          <p:grpSpPr bwMode="auto">
            <a:xfrm>
              <a:off x="3106" y="1281"/>
              <a:ext cx="181" cy="181"/>
              <a:chOff x="4332" y="2614"/>
              <a:chExt cx="181" cy="181"/>
            </a:xfrm>
          </p:grpSpPr>
          <p:sp>
            <p:nvSpPr>
              <p:cNvPr id="452987" name="Text Box 379"/>
              <p:cNvSpPr txBox="1">
                <a:spLocks noChangeArrowheads="1"/>
              </p:cNvSpPr>
              <p:nvPr/>
            </p:nvSpPr>
            <p:spPr bwMode="auto">
              <a:xfrm>
                <a:off x="4332" y="2614"/>
                <a:ext cx="181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itchFamily="2" charset="-122"/>
                  </a:rPr>
                  <a:t>Y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1</a:t>
                </a:r>
              </a:p>
            </p:txBody>
          </p:sp>
          <p:sp>
            <p:nvSpPr>
              <p:cNvPr id="452988" name="Line 380"/>
              <p:cNvSpPr>
                <a:spLocks noChangeShapeType="1"/>
              </p:cNvSpPr>
              <p:nvPr/>
            </p:nvSpPr>
            <p:spPr bwMode="auto">
              <a:xfrm>
                <a:off x="4350" y="2641"/>
                <a:ext cx="1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2989" name="Text Box 381"/>
            <p:cNvSpPr txBox="1">
              <a:spLocks noChangeArrowheads="1"/>
            </p:cNvSpPr>
            <p:nvPr/>
          </p:nvSpPr>
          <p:spPr bwMode="auto">
            <a:xfrm>
              <a:off x="1428" y="1752"/>
              <a:ext cx="273" cy="1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>
                  <a:latin typeface="宋体" pitchFamily="2" charset="-122"/>
                </a:rPr>
                <a:t>&amp;</a:t>
              </a:r>
            </a:p>
          </p:txBody>
        </p:sp>
        <p:sp>
          <p:nvSpPr>
            <p:cNvPr id="452990" name="Oval 382"/>
            <p:cNvSpPr>
              <a:spLocks noChangeArrowheads="1"/>
            </p:cNvSpPr>
            <p:nvPr/>
          </p:nvSpPr>
          <p:spPr bwMode="auto">
            <a:xfrm>
              <a:off x="1541" y="1888"/>
              <a:ext cx="46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991" name="Line 383"/>
            <p:cNvSpPr>
              <a:spLocks noChangeShapeType="1"/>
            </p:cNvSpPr>
            <p:nvPr/>
          </p:nvSpPr>
          <p:spPr bwMode="auto">
            <a:xfrm>
              <a:off x="1473" y="1617"/>
              <a:ext cx="1" cy="91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92" name="Line 384"/>
            <p:cNvSpPr>
              <a:spLocks noChangeShapeType="1"/>
            </p:cNvSpPr>
            <p:nvPr/>
          </p:nvSpPr>
          <p:spPr bwMode="auto">
            <a:xfrm>
              <a:off x="1655" y="1572"/>
              <a:ext cx="0" cy="134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93" name="Oval 385"/>
            <p:cNvSpPr>
              <a:spLocks noChangeArrowheads="1"/>
            </p:cNvSpPr>
            <p:nvPr/>
          </p:nvSpPr>
          <p:spPr bwMode="auto">
            <a:xfrm>
              <a:off x="1450" y="1707"/>
              <a:ext cx="46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994" name="Text Box 386"/>
            <p:cNvSpPr txBox="1">
              <a:spLocks noChangeArrowheads="1"/>
            </p:cNvSpPr>
            <p:nvPr/>
          </p:nvSpPr>
          <p:spPr bwMode="auto">
            <a:xfrm>
              <a:off x="1972" y="1752"/>
              <a:ext cx="273" cy="1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1" u="none">
                  <a:latin typeface="宋体" pitchFamily="2" charset="-122"/>
                </a:rPr>
                <a:t>&amp;</a:t>
              </a:r>
            </a:p>
          </p:txBody>
        </p:sp>
        <p:sp>
          <p:nvSpPr>
            <p:cNvPr id="452995" name="Oval 387"/>
            <p:cNvSpPr>
              <a:spLocks noChangeArrowheads="1"/>
            </p:cNvSpPr>
            <p:nvPr/>
          </p:nvSpPr>
          <p:spPr bwMode="auto">
            <a:xfrm>
              <a:off x="2085" y="1888"/>
              <a:ext cx="46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2996" name="Line 388"/>
            <p:cNvSpPr>
              <a:spLocks noChangeShapeType="1"/>
            </p:cNvSpPr>
            <p:nvPr/>
          </p:nvSpPr>
          <p:spPr bwMode="auto">
            <a:xfrm>
              <a:off x="2018" y="1617"/>
              <a:ext cx="1" cy="136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97" name="Line 389"/>
            <p:cNvSpPr>
              <a:spLocks noChangeShapeType="1"/>
            </p:cNvSpPr>
            <p:nvPr/>
          </p:nvSpPr>
          <p:spPr bwMode="auto">
            <a:xfrm>
              <a:off x="2199" y="1481"/>
              <a:ext cx="1" cy="22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98" name="Line 390"/>
            <p:cNvSpPr>
              <a:spLocks noChangeShapeType="1"/>
            </p:cNvSpPr>
            <p:nvPr/>
          </p:nvSpPr>
          <p:spPr bwMode="auto">
            <a:xfrm>
              <a:off x="1655" y="1571"/>
              <a:ext cx="544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2999" name="Line 391"/>
            <p:cNvSpPr>
              <a:spLocks noChangeShapeType="1"/>
            </p:cNvSpPr>
            <p:nvPr/>
          </p:nvSpPr>
          <p:spPr bwMode="auto">
            <a:xfrm>
              <a:off x="883" y="1208"/>
              <a:ext cx="908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00" name="Line 392"/>
            <p:cNvSpPr>
              <a:spLocks noChangeShapeType="1"/>
            </p:cNvSpPr>
            <p:nvPr/>
          </p:nvSpPr>
          <p:spPr bwMode="auto">
            <a:xfrm>
              <a:off x="883" y="1389"/>
              <a:ext cx="908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07" name="Line 399"/>
            <p:cNvSpPr>
              <a:spLocks noChangeShapeType="1"/>
            </p:cNvSpPr>
            <p:nvPr/>
          </p:nvSpPr>
          <p:spPr bwMode="auto">
            <a:xfrm>
              <a:off x="2698" y="1616"/>
              <a:ext cx="499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08" name="Line 400"/>
            <p:cNvSpPr>
              <a:spLocks noChangeShapeType="1"/>
            </p:cNvSpPr>
            <p:nvPr/>
          </p:nvSpPr>
          <p:spPr bwMode="auto">
            <a:xfrm>
              <a:off x="3197" y="1480"/>
              <a:ext cx="0" cy="77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10" name="Line 402"/>
            <p:cNvSpPr>
              <a:spLocks noChangeShapeType="1"/>
            </p:cNvSpPr>
            <p:nvPr/>
          </p:nvSpPr>
          <p:spPr bwMode="auto">
            <a:xfrm>
              <a:off x="3741" y="1617"/>
              <a:ext cx="0" cy="634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11" name="Line 403"/>
            <p:cNvSpPr>
              <a:spLocks noChangeShapeType="1"/>
            </p:cNvSpPr>
            <p:nvPr/>
          </p:nvSpPr>
          <p:spPr bwMode="auto">
            <a:xfrm>
              <a:off x="3741" y="1616"/>
              <a:ext cx="499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12" name="Line 404"/>
            <p:cNvSpPr>
              <a:spLocks noChangeShapeType="1"/>
            </p:cNvSpPr>
            <p:nvPr/>
          </p:nvSpPr>
          <p:spPr bwMode="auto">
            <a:xfrm>
              <a:off x="4240" y="1480"/>
              <a:ext cx="0" cy="77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15" name="Line 407"/>
            <p:cNvSpPr>
              <a:spLocks noChangeShapeType="1"/>
            </p:cNvSpPr>
            <p:nvPr/>
          </p:nvSpPr>
          <p:spPr bwMode="auto">
            <a:xfrm flipV="1">
              <a:off x="1337" y="1616"/>
              <a:ext cx="0" cy="3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16" name="Line 408"/>
            <p:cNvSpPr>
              <a:spLocks noChangeShapeType="1"/>
            </p:cNvSpPr>
            <p:nvPr/>
          </p:nvSpPr>
          <p:spPr bwMode="auto">
            <a:xfrm>
              <a:off x="1337" y="1617"/>
              <a:ext cx="136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17" name="Line 409"/>
            <p:cNvSpPr>
              <a:spLocks noChangeShapeType="1"/>
            </p:cNvSpPr>
            <p:nvPr/>
          </p:nvSpPr>
          <p:spPr bwMode="auto">
            <a:xfrm flipV="1">
              <a:off x="1881" y="1616"/>
              <a:ext cx="0" cy="3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 type="oval" w="sm" len="sm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18" name="Line 410"/>
            <p:cNvSpPr>
              <a:spLocks noChangeShapeType="1"/>
            </p:cNvSpPr>
            <p:nvPr/>
          </p:nvSpPr>
          <p:spPr bwMode="auto">
            <a:xfrm>
              <a:off x="1881" y="1617"/>
              <a:ext cx="137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3019" name="Line 411"/>
            <p:cNvSpPr>
              <a:spLocks noChangeShapeType="1"/>
            </p:cNvSpPr>
            <p:nvPr/>
          </p:nvSpPr>
          <p:spPr bwMode="auto">
            <a:xfrm>
              <a:off x="4830" y="1616"/>
              <a:ext cx="544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53022" name="Group 414"/>
            <p:cNvGrpSpPr>
              <a:grpSpLocks/>
            </p:cNvGrpSpPr>
            <p:nvPr/>
          </p:nvGrpSpPr>
          <p:grpSpPr bwMode="auto">
            <a:xfrm>
              <a:off x="5284" y="1281"/>
              <a:ext cx="181" cy="181"/>
              <a:chOff x="4332" y="2614"/>
              <a:chExt cx="181" cy="181"/>
            </a:xfrm>
          </p:grpSpPr>
          <p:sp>
            <p:nvSpPr>
              <p:cNvPr id="453023" name="Text Box 415"/>
              <p:cNvSpPr txBox="1">
                <a:spLocks noChangeArrowheads="1"/>
              </p:cNvSpPr>
              <p:nvPr/>
            </p:nvSpPr>
            <p:spPr bwMode="auto">
              <a:xfrm>
                <a:off x="4332" y="2614"/>
                <a:ext cx="181" cy="18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 algn="ctr"/>
                <a:r>
                  <a:rPr lang="en-US" altLang="zh-CN" sz="1800" b="1" u="none">
                    <a:latin typeface="宋体" pitchFamily="2" charset="-122"/>
                  </a:rPr>
                  <a:t>Y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3</a:t>
                </a:r>
              </a:p>
            </p:txBody>
          </p:sp>
          <p:sp>
            <p:nvSpPr>
              <p:cNvPr id="453024" name="Line 416"/>
              <p:cNvSpPr>
                <a:spLocks noChangeShapeType="1"/>
              </p:cNvSpPr>
              <p:nvPr/>
            </p:nvSpPr>
            <p:spPr bwMode="auto">
              <a:xfrm>
                <a:off x="4350" y="2641"/>
                <a:ext cx="100" cy="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3076" name="Oval 468"/>
            <p:cNvSpPr>
              <a:spLocks noChangeArrowheads="1"/>
            </p:cNvSpPr>
            <p:nvPr/>
          </p:nvSpPr>
          <p:spPr bwMode="auto">
            <a:xfrm>
              <a:off x="1633" y="1706"/>
              <a:ext cx="46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3077" name="Oval 469"/>
            <p:cNvSpPr>
              <a:spLocks noChangeArrowheads="1"/>
            </p:cNvSpPr>
            <p:nvPr/>
          </p:nvSpPr>
          <p:spPr bwMode="auto">
            <a:xfrm>
              <a:off x="2178" y="1706"/>
              <a:ext cx="46" cy="4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244408" y="6525344"/>
            <a:ext cx="899592" cy="288032"/>
          </a:xfrm>
          <a:noFill/>
        </p:spPr>
        <p:txBody>
          <a:bodyPr/>
          <a:lstStyle/>
          <a:p>
            <a:fld id="{DC092676-1262-4DAD-807E-48E875256232}" type="slidenum">
              <a:rPr lang="en-US" altLang="zh-CN"/>
              <a:pPr/>
              <a:t>20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15649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45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45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A61762B-1201-4EBA-A120-C0B41B94483E}" type="slidenum">
              <a:rPr lang="en-US" altLang="zh-CN"/>
              <a:pPr/>
              <a:t>21</a:t>
            </a:fld>
            <a:endParaRPr lang="en-US" altLang="zh-CN" dirty="0"/>
          </a:p>
        </p:txBody>
      </p:sp>
      <p:sp>
        <p:nvSpPr>
          <p:cNvPr id="454660" name="Text Box 4"/>
          <p:cNvSpPr txBox="1">
            <a:spLocks noChangeArrowheads="1"/>
          </p:cNvSpPr>
          <p:nvPr/>
        </p:nvSpPr>
        <p:spPr bwMode="auto">
          <a:xfrm>
            <a:off x="179388" y="287437"/>
            <a:ext cx="8857108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u="none" dirty="0">
                <a:solidFill>
                  <a:schemeClr val="accent2"/>
                </a:solidFill>
                <a:latin typeface="+mn-ea"/>
                <a:ea typeface="+mn-ea"/>
              </a:rPr>
              <a:t>   ⑷</a:t>
            </a:r>
            <a:r>
              <a:rPr lang="zh-CN" altLang="en-US" b="1" u="none" dirty="0">
                <a:solidFill>
                  <a:schemeClr val="accent2"/>
                </a:solidFill>
                <a:latin typeface="+mn-ea"/>
                <a:ea typeface="+mn-ea"/>
              </a:rPr>
              <a:t>主存与</a:t>
            </a:r>
            <a:r>
              <a:rPr lang="en-US" altLang="zh-CN" b="1" u="none" dirty="0">
                <a:solidFill>
                  <a:schemeClr val="accent2"/>
                </a:solidFill>
                <a:latin typeface="+mn-ea"/>
                <a:ea typeface="+mn-ea"/>
              </a:rPr>
              <a:t>CPU</a:t>
            </a:r>
            <a:r>
              <a:rPr lang="zh-CN" altLang="en-US" b="1" u="none" dirty="0">
                <a:solidFill>
                  <a:schemeClr val="accent2"/>
                </a:solidFill>
                <a:latin typeface="+mn-ea"/>
                <a:ea typeface="+mn-ea"/>
              </a:rPr>
              <a:t>的连接</a:t>
            </a:r>
            <a:r>
              <a:rPr lang="en-US" altLang="zh-CN" b="1" u="none" dirty="0" smtClean="0">
                <a:solidFill>
                  <a:schemeClr val="accent2"/>
                </a:solidFill>
                <a:latin typeface="+mn-ea"/>
                <a:ea typeface="+mn-ea"/>
              </a:rPr>
              <a:t>—</a:t>
            </a:r>
            <a:r>
              <a:rPr lang="zh-CN" altLang="en-US" b="1" u="none" dirty="0" smtClean="0">
                <a:latin typeface="+mn-ea"/>
                <a:ea typeface="+mn-ea"/>
              </a:rPr>
              <a:t>主存地址从</a:t>
            </a:r>
            <a:r>
              <a:rPr lang="en-US" altLang="zh-CN" b="1" u="none" dirty="0" smtClean="0">
                <a:latin typeface="+mn-ea"/>
                <a:ea typeface="+mn-ea"/>
              </a:rPr>
              <a:t>0</a:t>
            </a:r>
            <a:r>
              <a:rPr lang="zh-CN" altLang="en-US" b="1" u="none" dirty="0" smtClean="0">
                <a:latin typeface="+mn-ea"/>
                <a:ea typeface="+mn-ea"/>
              </a:rPr>
              <a:t>开始</a:t>
            </a:r>
            <a:r>
              <a:rPr lang="en-US" altLang="zh-CN" sz="2000" b="1" u="none" dirty="0" smtClean="0">
                <a:latin typeface="+mn-ea"/>
                <a:ea typeface="+mn-ea"/>
              </a:rPr>
              <a:t>(</a:t>
            </a:r>
            <a:r>
              <a:rPr lang="zh-CN" altLang="en-US" sz="2000" b="1" u="none" dirty="0" smtClean="0">
                <a:latin typeface="+mn-ea"/>
                <a:ea typeface="+mn-ea"/>
              </a:rPr>
              <a:t>存储器</a:t>
            </a:r>
            <a:r>
              <a:rPr lang="zh-CN" altLang="en-US" sz="2000" b="1" u="none" dirty="0" smtClean="0">
                <a:solidFill>
                  <a:srgbClr val="990099"/>
                </a:solidFill>
                <a:latin typeface="+mn-ea"/>
                <a:ea typeface="+mn-ea"/>
              </a:rPr>
              <a:t>访问时间</a:t>
            </a:r>
            <a:r>
              <a:rPr lang="zh-CN" altLang="en-US" sz="2000" b="1" u="none" dirty="0" smtClean="0">
                <a:latin typeface="+mn-ea"/>
                <a:ea typeface="+mn-ea"/>
              </a:rPr>
              <a:t>计算</a:t>
            </a:r>
            <a:r>
              <a:rPr lang="en-US" altLang="zh-CN" sz="2000" b="1" u="none" dirty="0" smtClean="0">
                <a:latin typeface="+mn-ea"/>
                <a:ea typeface="+mn-ea"/>
              </a:rPr>
              <a:t>)</a:t>
            </a:r>
            <a:endParaRPr lang="zh-CN" altLang="en-US" sz="2000" b="1" u="none" dirty="0">
              <a:latin typeface="+mn-ea"/>
              <a:ea typeface="+mn-ea"/>
            </a:endParaRPr>
          </a:p>
        </p:txBody>
      </p:sp>
      <p:grpSp>
        <p:nvGrpSpPr>
          <p:cNvPr id="454781" name="Group 125"/>
          <p:cNvGrpSpPr>
            <a:grpSpLocks/>
          </p:cNvGrpSpPr>
          <p:nvPr/>
        </p:nvGrpSpPr>
        <p:grpSpPr bwMode="auto">
          <a:xfrm>
            <a:off x="1357290" y="836984"/>
            <a:ext cx="5761038" cy="3240088"/>
            <a:chOff x="793" y="527"/>
            <a:chExt cx="3629" cy="2041"/>
          </a:xfrm>
        </p:grpSpPr>
        <p:sp>
          <p:nvSpPr>
            <p:cNvPr id="454661" name="Rectangle 5"/>
            <p:cNvSpPr>
              <a:spLocks noChangeArrowheads="1"/>
            </p:cNvSpPr>
            <p:nvPr/>
          </p:nvSpPr>
          <p:spPr bwMode="auto">
            <a:xfrm>
              <a:off x="1746" y="527"/>
              <a:ext cx="1361" cy="2041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prstDash val="sysDot"/>
              <a:miter lim="800000"/>
              <a:headEnd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54773" name="Group 117"/>
            <p:cNvGrpSpPr>
              <a:grpSpLocks/>
            </p:cNvGrpSpPr>
            <p:nvPr/>
          </p:nvGrpSpPr>
          <p:grpSpPr bwMode="auto">
            <a:xfrm>
              <a:off x="3470" y="935"/>
              <a:ext cx="952" cy="1633"/>
              <a:chOff x="3470" y="935"/>
              <a:chExt cx="952" cy="1633"/>
            </a:xfrm>
          </p:grpSpPr>
          <p:sp>
            <p:nvSpPr>
              <p:cNvPr id="454669" name="Text Box 13"/>
              <p:cNvSpPr txBox="1">
                <a:spLocks noChangeArrowheads="1"/>
              </p:cNvSpPr>
              <p:nvPr/>
            </p:nvSpPr>
            <p:spPr bwMode="auto">
              <a:xfrm>
                <a:off x="3470" y="935"/>
                <a:ext cx="952" cy="1633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r>
                  <a:rPr lang="en-US" altLang="zh-CN" b="1" u="none">
                    <a:latin typeface="宋体" pitchFamily="2" charset="-122"/>
                  </a:rPr>
                  <a:t>       </a:t>
                </a:r>
                <a:r>
                  <a:rPr lang="zh-CN" altLang="en-US" b="1" u="none">
                    <a:latin typeface="宋体" pitchFamily="2" charset="-122"/>
                  </a:rPr>
                  <a:t>主</a:t>
                </a:r>
              </a:p>
              <a:p>
                <a:r>
                  <a:rPr lang="zh-CN" altLang="en-US" b="1" u="none">
                    <a:latin typeface="宋体" pitchFamily="2" charset="-122"/>
                  </a:rPr>
                  <a:t>       存</a:t>
                </a:r>
              </a:p>
            </p:txBody>
          </p:sp>
          <p:grpSp>
            <p:nvGrpSpPr>
              <p:cNvPr id="454670" name="Group 14"/>
              <p:cNvGrpSpPr>
                <a:grpSpLocks/>
              </p:cNvGrpSpPr>
              <p:nvPr/>
            </p:nvGrpSpPr>
            <p:grpSpPr bwMode="auto">
              <a:xfrm>
                <a:off x="3515" y="981"/>
                <a:ext cx="181" cy="181"/>
                <a:chOff x="3198" y="2523"/>
                <a:chExt cx="181" cy="181"/>
              </a:xfrm>
            </p:grpSpPr>
            <p:sp>
              <p:nvSpPr>
                <p:cNvPr id="454671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3198" y="2523"/>
                  <a:ext cx="181" cy="18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lIns="18000" tIns="10800" rIns="18000" bIns="10800" anchor="ctr"/>
                <a:lstStyle/>
                <a:p>
                  <a:r>
                    <a:rPr lang="en-US" altLang="zh-CN" sz="1800" b="1" u="none">
                      <a:latin typeface="宋体" pitchFamily="2" charset="-122"/>
                    </a:rPr>
                    <a:t>CS</a:t>
                  </a:r>
                </a:p>
              </p:txBody>
            </p:sp>
            <p:sp>
              <p:nvSpPr>
                <p:cNvPr id="454672" name="Line 16"/>
                <p:cNvSpPr>
                  <a:spLocks noChangeShapeType="1"/>
                </p:cNvSpPr>
                <p:nvPr/>
              </p:nvSpPr>
              <p:spPr bwMode="auto">
                <a:xfrm>
                  <a:off x="3213" y="2550"/>
                  <a:ext cx="136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54673" name="Group 17"/>
              <p:cNvGrpSpPr>
                <a:grpSpLocks/>
              </p:cNvGrpSpPr>
              <p:nvPr/>
            </p:nvGrpSpPr>
            <p:grpSpPr bwMode="auto">
              <a:xfrm>
                <a:off x="3515" y="2387"/>
                <a:ext cx="181" cy="181"/>
                <a:chOff x="3198" y="2523"/>
                <a:chExt cx="181" cy="181"/>
              </a:xfrm>
            </p:grpSpPr>
            <p:sp>
              <p:nvSpPr>
                <p:cNvPr id="454674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3198" y="2523"/>
                  <a:ext cx="181" cy="18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lIns="18000" tIns="10800" rIns="18000" bIns="10800" anchor="ctr"/>
                <a:lstStyle/>
                <a:p>
                  <a:r>
                    <a:rPr lang="en-US" altLang="zh-CN" sz="1800" b="1" u="none">
                      <a:latin typeface="宋体" pitchFamily="2" charset="-122"/>
                    </a:rPr>
                    <a:t>WE</a:t>
                  </a:r>
                </a:p>
              </p:txBody>
            </p:sp>
            <p:sp>
              <p:nvSpPr>
                <p:cNvPr id="454675" name="Line 19"/>
                <p:cNvSpPr>
                  <a:spLocks noChangeShapeType="1"/>
                </p:cNvSpPr>
                <p:nvPr/>
              </p:nvSpPr>
              <p:spPr bwMode="auto">
                <a:xfrm>
                  <a:off x="3200" y="2550"/>
                  <a:ext cx="150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54766" name="Text Box 110"/>
              <p:cNvSpPr txBox="1">
                <a:spLocks noChangeArrowheads="1"/>
              </p:cNvSpPr>
              <p:nvPr/>
            </p:nvSpPr>
            <p:spPr bwMode="auto">
              <a:xfrm>
                <a:off x="3515" y="1434"/>
                <a:ext cx="227" cy="1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>
                    <a:latin typeface="宋体" pitchFamily="2" charset="-122"/>
                  </a:rPr>
                  <a:t>A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13</a:t>
                </a:r>
              </a:p>
            </p:txBody>
          </p:sp>
          <p:sp>
            <p:nvSpPr>
              <p:cNvPr id="454767" name="Text Box 111"/>
              <p:cNvSpPr txBox="1">
                <a:spLocks noChangeArrowheads="1"/>
              </p:cNvSpPr>
              <p:nvPr/>
            </p:nvSpPr>
            <p:spPr bwMode="auto">
              <a:xfrm>
                <a:off x="3515" y="1570"/>
                <a:ext cx="227" cy="1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>
                    <a:latin typeface="宋体" pitchFamily="2" charset="-122"/>
                  </a:rPr>
                  <a:t>A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12</a:t>
                </a:r>
              </a:p>
            </p:txBody>
          </p:sp>
          <p:sp>
            <p:nvSpPr>
              <p:cNvPr id="454768" name="Text Box 112"/>
              <p:cNvSpPr txBox="1">
                <a:spLocks noChangeArrowheads="1"/>
              </p:cNvSpPr>
              <p:nvPr/>
            </p:nvSpPr>
            <p:spPr bwMode="auto">
              <a:xfrm>
                <a:off x="3515" y="1706"/>
                <a:ext cx="227" cy="1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>
                    <a:latin typeface="宋体" pitchFamily="2" charset="-122"/>
                  </a:rPr>
                  <a:t>A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11</a:t>
                </a:r>
              </a:p>
            </p:txBody>
          </p:sp>
          <p:sp>
            <p:nvSpPr>
              <p:cNvPr id="454769" name="Text Box 113"/>
              <p:cNvSpPr txBox="1">
                <a:spLocks noChangeArrowheads="1"/>
              </p:cNvSpPr>
              <p:nvPr/>
            </p:nvSpPr>
            <p:spPr bwMode="auto">
              <a:xfrm>
                <a:off x="3515" y="1888"/>
                <a:ext cx="499" cy="1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>
                    <a:latin typeface="宋体" pitchFamily="2" charset="-122"/>
                  </a:rPr>
                  <a:t>A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10</a:t>
                </a:r>
                <a:r>
                  <a:rPr lang="zh-CN" altLang="en-US" sz="1800" b="1" u="none">
                    <a:latin typeface="宋体" pitchFamily="2" charset="-122"/>
                  </a:rPr>
                  <a:t>～</a:t>
                </a:r>
                <a:r>
                  <a:rPr lang="en-US" altLang="zh-CN" sz="1800" b="1" u="none">
                    <a:latin typeface="宋体" pitchFamily="2" charset="-122"/>
                  </a:rPr>
                  <a:t>A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0</a:t>
                </a:r>
              </a:p>
            </p:txBody>
          </p:sp>
          <p:sp>
            <p:nvSpPr>
              <p:cNvPr id="454770" name="Text Box 114"/>
              <p:cNvSpPr txBox="1">
                <a:spLocks noChangeArrowheads="1"/>
              </p:cNvSpPr>
              <p:nvPr/>
            </p:nvSpPr>
            <p:spPr bwMode="auto">
              <a:xfrm>
                <a:off x="3515" y="2069"/>
                <a:ext cx="453" cy="1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>
                    <a:latin typeface="宋体" pitchFamily="2" charset="-122"/>
                  </a:rPr>
                  <a:t>D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3</a:t>
                </a:r>
                <a:r>
                  <a:rPr lang="zh-CN" altLang="en-US" sz="1800" b="1" u="none">
                    <a:latin typeface="宋体" pitchFamily="2" charset="-122"/>
                  </a:rPr>
                  <a:t>～</a:t>
                </a:r>
                <a:r>
                  <a:rPr lang="en-US" altLang="zh-CN" sz="1800" b="1" u="none">
                    <a:latin typeface="宋体" pitchFamily="2" charset="-122"/>
                  </a:rPr>
                  <a:t>D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0</a:t>
                </a:r>
              </a:p>
            </p:txBody>
          </p:sp>
          <p:sp>
            <p:nvSpPr>
              <p:cNvPr id="454771" name="Text Box 115"/>
              <p:cNvSpPr txBox="1">
                <a:spLocks noChangeArrowheads="1"/>
              </p:cNvSpPr>
              <p:nvPr/>
            </p:nvSpPr>
            <p:spPr bwMode="auto">
              <a:xfrm>
                <a:off x="3515" y="2251"/>
                <a:ext cx="453" cy="1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>
                    <a:latin typeface="宋体" pitchFamily="2" charset="-122"/>
                  </a:rPr>
                  <a:t>D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7</a:t>
                </a:r>
                <a:r>
                  <a:rPr lang="zh-CN" altLang="en-US" sz="1800" b="1" u="none">
                    <a:latin typeface="宋体" pitchFamily="2" charset="-122"/>
                  </a:rPr>
                  <a:t>～</a:t>
                </a:r>
                <a:r>
                  <a:rPr lang="en-US" altLang="zh-CN" sz="1800" b="1" u="none">
                    <a:latin typeface="宋体" pitchFamily="2" charset="-122"/>
                  </a:rPr>
                  <a:t>D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4</a:t>
                </a:r>
              </a:p>
            </p:txBody>
          </p:sp>
        </p:grpSp>
        <p:grpSp>
          <p:nvGrpSpPr>
            <p:cNvPr id="454778" name="Group 122"/>
            <p:cNvGrpSpPr>
              <a:grpSpLocks/>
            </p:cNvGrpSpPr>
            <p:nvPr/>
          </p:nvGrpSpPr>
          <p:grpSpPr bwMode="auto">
            <a:xfrm>
              <a:off x="793" y="527"/>
              <a:ext cx="772" cy="1905"/>
              <a:chOff x="793" y="527"/>
              <a:chExt cx="772" cy="1905"/>
            </a:xfrm>
          </p:grpSpPr>
          <p:sp>
            <p:nvSpPr>
              <p:cNvPr id="454703" name="Text Box 47"/>
              <p:cNvSpPr txBox="1">
                <a:spLocks noChangeArrowheads="1"/>
              </p:cNvSpPr>
              <p:nvPr/>
            </p:nvSpPr>
            <p:spPr bwMode="auto">
              <a:xfrm>
                <a:off x="793" y="527"/>
                <a:ext cx="772" cy="1905"/>
              </a:xfrm>
              <a:prstGeom prst="rect">
                <a:avLst/>
              </a:prstGeom>
              <a:solidFill>
                <a:srgbClr val="FF99CC">
                  <a:alpha val="80000"/>
                </a:srgbClr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r>
                  <a:rPr lang="en-US" altLang="zh-CN" b="1" u="none" dirty="0">
                    <a:latin typeface="宋体" pitchFamily="2" charset="-122"/>
                  </a:rPr>
                  <a:t>CPU</a:t>
                </a:r>
                <a:endParaRPr lang="en-US" altLang="zh-CN" sz="1800" b="1" u="none" baseline="-20000" dirty="0">
                  <a:latin typeface="宋体" pitchFamily="2" charset="-122"/>
                </a:endParaRPr>
              </a:p>
            </p:txBody>
          </p:sp>
          <p:sp>
            <p:nvSpPr>
              <p:cNvPr id="454704" name="Text Box 48"/>
              <p:cNvSpPr txBox="1">
                <a:spLocks noChangeArrowheads="1"/>
              </p:cNvSpPr>
              <p:nvPr/>
            </p:nvSpPr>
            <p:spPr bwMode="auto">
              <a:xfrm>
                <a:off x="1338" y="1434"/>
                <a:ext cx="227" cy="1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>
                    <a:latin typeface="宋体" pitchFamily="2" charset="-122"/>
                  </a:rPr>
                  <a:t>A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13</a:t>
                </a:r>
              </a:p>
            </p:txBody>
          </p:sp>
          <p:sp>
            <p:nvSpPr>
              <p:cNvPr id="454705" name="Text Box 49"/>
              <p:cNvSpPr txBox="1">
                <a:spLocks noChangeArrowheads="1"/>
              </p:cNvSpPr>
              <p:nvPr/>
            </p:nvSpPr>
            <p:spPr bwMode="auto">
              <a:xfrm>
                <a:off x="1338" y="1570"/>
                <a:ext cx="227" cy="1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>
                    <a:latin typeface="宋体" pitchFamily="2" charset="-122"/>
                  </a:rPr>
                  <a:t>A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12</a:t>
                </a:r>
              </a:p>
            </p:txBody>
          </p:sp>
          <p:sp>
            <p:nvSpPr>
              <p:cNvPr id="454706" name="Text Box 50"/>
              <p:cNvSpPr txBox="1">
                <a:spLocks noChangeArrowheads="1"/>
              </p:cNvSpPr>
              <p:nvPr/>
            </p:nvSpPr>
            <p:spPr bwMode="auto">
              <a:xfrm>
                <a:off x="1338" y="1298"/>
                <a:ext cx="227" cy="1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>
                    <a:latin typeface="宋体" pitchFamily="2" charset="-122"/>
                  </a:rPr>
                  <a:t>A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14</a:t>
                </a:r>
              </a:p>
            </p:txBody>
          </p:sp>
          <p:sp>
            <p:nvSpPr>
              <p:cNvPr id="454707" name="Text Box 51"/>
              <p:cNvSpPr txBox="1">
                <a:spLocks noChangeArrowheads="1"/>
              </p:cNvSpPr>
              <p:nvPr/>
            </p:nvSpPr>
            <p:spPr bwMode="auto">
              <a:xfrm>
                <a:off x="1338" y="1162"/>
                <a:ext cx="227" cy="1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>
                    <a:latin typeface="宋体" pitchFamily="2" charset="-122"/>
                  </a:rPr>
                  <a:t>A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15</a:t>
                </a:r>
              </a:p>
            </p:txBody>
          </p:sp>
          <p:sp>
            <p:nvSpPr>
              <p:cNvPr id="454708" name="Text Box 52"/>
              <p:cNvSpPr txBox="1">
                <a:spLocks noChangeArrowheads="1"/>
              </p:cNvSpPr>
              <p:nvPr/>
            </p:nvSpPr>
            <p:spPr bwMode="auto">
              <a:xfrm>
                <a:off x="1338" y="1706"/>
                <a:ext cx="227" cy="1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>
                    <a:latin typeface="宋体" pitchFamily="2" charset="-122"/>
                  </a:rPr>
                  <a:t>A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11</a:t>
                </a:r>
              </a:p>
            </p:txBody>
          </p:sp>
          <p:sp>
            <p:nvSpPr>
              <p:cNvPr id="454709" name="Text Box 53"/>
              <p:cNvSpPr txBox="1">
                <a:spLocks noChangeArrowheads="1"/>
              </p:cNvSpPr>
              <p:nvPr/>
            </p:nvSpPr>
            <p:spPr bwMode="auto">
              <a:xfrm>
                <a:off x="1066" y="1888"/>
                <a:ext cx="499" cy="1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>
                    <a:latin typeface="宋体" pitchFamily="2" charset="-122"/>
                  </a:rPr>
                  <a:t>A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10</a:t>
                </a:r>
                <a:r>
                  <a:rPr lang="zh-CN" altLang="en-US" sz="1800" b="1" u="none">
                    <a:latin typeface="宋体" pitchFamily="2" charset="-122"/>
                  </a:rPr>
                  <a:t>～</a:t>
                </a:r>
                <a:r>
                  <a:rPr lang="en-US" altLang="zh-CN" sz="1800" b="1" u="none">
                    <a:latin typeface="宋体" pitchFamily="2" charset="-122"/>
                  </a:rPr>
                  <a:t>A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0</a:t>
                </a:r>
              </a:p>
            </p:txBody>
          </p:sp>
          <p:grpSp>
            <p:nvGrpSpPr>
              <p:cNvPr id="454710" name="Group 54"/>
              <p:cNvGrpSpPr>
                <a:grpSpLocks/>
              </p:cNvGrpSpPr>
              <p:nvPr/>
            </p:nvGrpSpPr>
            <p:grpSpPr bwMode="auto">
              <a:xfrm>
                <a:off x="1340" y="754"/>
                <a:ext cx="181" cy="181"/>
                <a:chOff x="3198" y="2523"/>
                <a:chExt cx="181" cy="181"/>
              </a:xfrm>
            </p:grpSpPr>
            <p:sp>
              <p:nvSpPr>
                <p:cNvPr id="454711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3198" y="2523"/>
                  <a:ext cx="181" cy="18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lIns="18000" tIns="10800" rIns="18000" bIns="10800" anchor="ctr"/>
                <a:lstStyle/>
                <a:p>
                  <a:r>
                    <a:rPr lang="en-US" altLang="zh-CN" sz="1800" b="1" u="none">
                      <a:latin typeface="宋体" pitchFamily="2" charset="-122"/>
                    </a:rPr>
                    <a:t>RD</a:t>
                  </a:r>
                </a:p>
              </p:txBody>
            </p:sp>
            <p:sp>
              <p:nvSpPr>
                <p:cNvPr id="454712" name="Line 56"/>
                <p:cNvSpPr>
                  <a:spLocks noChangeShapeType="1"/>
                </p:cNvSpPr>
                <p:nvPr/>
              </p:nvSpPr>
              <p:spPr bwMode="auto">
                <a:xfrm>
                  <a:off x="3216" y="2550"/>
                  <a:ext cx="136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54713" name="Group 57"/>
              <p:cNvGrpSpPr>
                <a:grpSpLocks/>
              </p:cNvGrpSpPr>
              <p:nvPr/>
            </p:nvGrpSpPr>
            <p:grpSpPr bwMode="auto">
              <a:xfrm>
                <a:off x="1340" y="935"/>
                <a:ext cx="181" cy="181"/>
                <a:chOff x="3198" y="2523"/>
                <a:chExt cx="181" cy="181"/>
              </a:xfrm>
            </p:grpSpPr>
            <p:sp>
              <p:nvSpPr>
                <p:cNvPr id="454714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3198" y="2523"/>
                  <a:ext cx="181" cy="18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lIns="18000" tIns="10800" rIns="18000" bIns="10800" anchor="ctr"/>
                <a:lstStyle/>
                <a:p>
                  <a:r>
                    <a:rPr lang="en-US" altLang="zh-CN" sz="1800" b="1" u="none">
                      <a:latin typeface="宋体" pitchFamily="2" charset="-122"/>
                    </a:rPr>
                    <a:t>WR</a:t>
                  </a:r>
                </a:p>
              </p:txBody>
            </p:sp>
            <p:sp>
              <p:nvSpPr>
                <p:cNvPr id="454715" name="Line 59"/>
                <p:cNvSpPr>
                  <a:spLocks noChangeShapeType="1"/>
                </p:cNvSpPr>
                <p:nvPr/>
              </p:nvSpPr>
              <p:spPr bwMode="auto">
                <a:xfrm>
                  <a:off x="3206" y="2550"/>
                  <a:ext cx="150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54719" name="Text Box 63"/>
              <p:cNvSpPr txBox="1">
                <a:spLocks noChangeArrowheads="1"/>
              </p:cNvSpPr>
              <p:nvPr/>
            </p:nvSpPr>
            <p:spPr bwMode="auto">
              <a:xfrm>
                <a:off x="1112" y="2069"/>
                <a:ext cx="453" cy="1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>
                    <a:latin typeface="宋体" pitchFamily="2" charset="-122"/>
                  </a:rPr>
                  <a:t>D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3</a:t>
                </a:r>
                <a:r>
                  <a:rPr lang="zh-CN" altLang="en-US" sz="1800" b="1" u="none">
                    <a:latin typeface="宋体" pitchFamily="2" charset="-122"/>
                  </a:rPr>
                  <a:t>～</a:t>
                </a:r>
                <a:r>
                  <a:rPr lang="en-US" altLang="zh-CN" sz="1800" b="1" u="none">
                    <a:latin typeface="宋体" pitchFamily="2" charset="-122"/>
                  </a:rPr>
                  <a:t>D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0</a:t>
                </a:r>
              </a:p>
            </p:txBody>
          </p:sp>
          <p:sp>
            <p:nvSpPr>
              <p:cNvPr id="454720" name="Text Box 64"/>
              <p:cNvSpPr txBox="1">
                <a:spLocks noChangeArrowheads="1"/>
              </p:cNvSpPr>
              <p:nvPr/>
            </p:nvSpPr>
            <p:spPr bwMode="auto">
              <a:xfrm>
                <a:off x="1112" y="2251"/>
                <a:ext cx="453" cy="1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1800" b="1" u="none">
                    <a:latin typeface="宋体" pitchFamily="2" charset="-122"/>
                  </a:rPr>
                  <a:t>D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7</a:t>
                </a:r>
                <a:r>
                  <a:rPr lang="zh-CN" altLang="en-US" sz="1800" b="1" u="none">
                    <a:latin typeface="宋体" pitchFamily="2" charset="-122"/>
                  </a:rPr>
                  <a:t>～</a:t>
                </a:r>
                <a:r>
                  <a:rPr lang="en-US" altLang="zh-CN" sz="1800" b="1" u="none">
                    <a:latin typeface="宋体" pitchFamily="2" charset="-122"/>
                  </a:rPr>
                  <a:t>D</a:t>
                </a:r>
                <a:r>
                  <a:rPr lang="en-US" altLang="zh-CN" sz="1800" b="1" u="none" baseline="-18000">
                    <a:latin typeface="宋体" pitchFamily="2" charset="-122"/>
                  </a:rPr>
                  <a:t>4</a:t>
                </a:r>
              </a:p>
            </p:txBody>
          </p:sp>
          <p:grpSp>
            <p:nvGrpSpPr>
              <p:cNvPr id="454775" name="Group 119"/>
              <p:cNvGrpSpPr>
                <a:grpSpLocks/>
              </p:cNvGrpSpPr>
              <p:nvPr/>
            </p:nvGrpSpPr>
            <p:grpSpPr bwMode="auto">
              <a:xfrm>
                <a:off x="1156" y="574"/>
                <a:ext cx="363" cy="135"/>
                <a:chOff x="657" y="3067"/>
                <a:chExt cx="363" cy="135"/>
              </a:xfrm>
            </p:grpSpPr>
            <p:sp>
              <p:nvSpPr>
                <p:cNvPr id="454776" name="Text Box 120"/>
                <p:cNvSpPr txBox="1">
                  <a:spLocks noChangeArrowheads="1"/>
                </p:cNvSpPr>
                <p:nvPr/>
              </p:nvSpPr>
              <p:spPr bwMode="auto">
                <a:xfrm>
                  <a:off x="657" y="3067"/>
                  <a:ext cx="363" cy="135"/>
                </a:xfrm>
                <a:prstGeom prst="rect">
                  <a:avLst/>
                </a:prstGeom>
                <a:noFill/>
                <a:ln w="19050">
                  <a:noFill/>
                  <a:miter lim="800000"/>
                  <a:headEnd/>
                  <a:tailEnd/>
                </a:ln>
                <a:effectLst/>
              </p:spPr>
              <p:txBody>
                <a:bodyPr lIns="18000" tIns="10800" rIns="18000" bIns="10800" anchor="ctr"/>
                <a:lstStyle/>
                <a:p>
                  <a:pPr algn="ctr"/>
                  <a:r>
                    <a:rPr lang="en-US" altLang="zh-CN" sz="1800" b="1" u="none">
                      <a:latin typeface="宋体" pitchFamily="2" charset="-122"/>
                    </a:rPr>
                    <a:t>IO/M</a:t>
                  </a:r>
                </a:p>
              </p:txBody>
            </p:sp>
            <p:sp>
              <p:nvSpPr>
                <p:cNvPr id="454777" name="Line 121"/>
                <p:cNvSpPr>
                  <a:spLocks noChangeShapeType="1"/>
                </p:cNvSpPr>
                <p:nvPr/>
              </p:nvSpPr>
              <p:spPr bwMode="auto">
                <a:xfrm flipV="1">
                  <a:off x="914" y="3073"/>
                  <a:ext cx="79" cy="0"/>
                </a:xfrm>
                <a:prstGeom prst="line">
                  <a:avLst/>
                </a:prstGeom>
                <a:noFill/>
                <a:ln w="1587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454809" name="Group 153"/>
          <p:cNvGrpSpPr>
            <a:grpSpLocks/>
          </p:cNvGrpSpPr>
          <p:nvPr/>
        </p:nvGrpSpPr>
        <p:grpSpPr bwMode="auto">
          <a:xfrm>
            <a:off x="3086077" y="1628800"/>
            <a:ext cx="2520950" cy="2305050"/>
            <a:chOff x="1882" y="1026"/>
            <a:chExt cx="1588" cy="1452"/>
          </a:xfrm>
        </p:grpSpPr>
        <p:sp>
          <p:nvSpPr>
            <p:cNvPr id="454789" name="Line 133"/>
            <p:cNvSpPr>
              <a:spLocks noChangeShapeType="1"/>
            </p:cNvSpPr>
            <p:nvPr/>
          </p:nvSpPr>
          <p:spPr bwMode="auto">
            <a:xfrm>
              <a:off x="1882" y="1026"/>
              <a:ext cx="0" cy="145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oval" w="med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794" name="Line 138"/>
            <p:cNvSpPr>
              <a:spLocks noChangeShapeType="1"/>
            </p:cNvSpPr>
            <p:nvPr/>
          </p:nvSpPr>
          <p:spPr bwMode="auto">
            <a:xfrm flipV="1">
              <a:off x="1882" y="2478"/>
              <a:ext cx="1588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4808" name="Group 152"/>
          <p:cNvGrpSpPr>
            <a:grpSpLocks/>
          </p:cNvGrpSpPr>
          <p:nvPr/>
        </p:nvGrpSpPr>
        <p:grpSpPr bwMode="auto">
          <a:xfrm>
            <a:off x="2582840" y="1197347"/>
            <a:ext cx="3024188" cy="1079500"/>
            <a:chOff x="1565" y="754"/>
            <a:chExt cx="1905" cy="680"/>
          </a:xfrm>
        </p:grpSpPr>
        <p:sp>
          <p:nvSpPr>
            <p:cNvPr id="454783" name="Text Box 127"/>
            <p:cNvSpPr txBox="1">
              <a:spLocks noChangeArrowheads="1"/>
            </p:cNvSpPr>
            <p:nvPr/>
          </p:nvSpPr>
          <p:spPr bwMode="auto">
            <a:xfrm>
              <a:off x="2789" y="754"/>
              <a:ext cx="182" cy="68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>
                  <a:latin typeface="宋体" pitchFamily="2" charset="-122"/>
                </a:rPr>
                <a:t>&amp;</a:t>
              </a:r>
              <a:endParaRPr lang="en-US" altLang="zh-CN" sz="1800" b="1" u="none" baseline="-20000">
                <a:latin typeface="宋体" pitchFamily="2" charset="-122"/>
              </a:endParaRPr>
            </a:p>
          </p:txBody>
        </p:sp>
        <p:sp>
          <p:nvSpPr>
            <p:cNvPr id="454785" name="Line 129"/>
            <p:cNvSpPr>
              <a:spLocks noChangeShapeType="1"/>
            </p:cNvSpPr>
            <p:nvPr/>
          </p:nvSpPr>
          <p:spPr bwMode="auto">
            <a:xfrm flipV="1">
              <a:off x="1565" y="1253"/>
              <a:ext cx="1179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798" name="Line 142"/>
            <p:cNvSpPr>
              <a:spLocks noChangeShapeType="1"/>
            </p:cNvSpPr>
            <p:nvPr/>
          </p:nvSpPr>
          <p:spPr bwMode="auto">
            <a:xfrm flipV="1">
              <a:off x="1565" y="1389"/>
              <a:ext cx="1179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799" name="Oval 143"/>
            <p:cNvSpPr>
              <a:spLocks noChangeArrowheads="1"/>
            </p:cNvSpPr>
            <p:nvPr/>
          </p:nvSpPr>
          <p:spPr bwMode="auto">
            <a:xfrm>
              <a:off x="2743" y="1232"/>
              <a:ext cx="46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4800" name="Oval 144"/>
            <p:cNvSpPr>
              <a:spLocks noChangeArrowheads="1"/>
            </p:cNvSpPr>
            <p:nvPr/>
          </p:nvSpPr>
          <p:spPr bwMode="auto">
            <a:xfrm>
              <a:off x="2744" y="1368"/>
              <a:ext cx="46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4801" name="Oval 145"/>
            <p:cNvSpPr>
              <a:spLocks noChangeArrowheads="1"/>
            </p:cNvSpPr>
            <p:nvPr/>
          </p:nvSpPr>
          <p:spPr bwMode="auto">
            <a:xfrm>
              <a:off x="2970" y="1053"/>
              <a:ext cx="46" cy="4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4802" name="Line 146"/>
            <p:cNvSpPr>
              <a:spLocks noChangeShapeType="1"/>
            </p:cNvSpPr>
            <p:nvPr/>
          </p:nvSpPr>
          <p:spPr bwMode="auto">
            <a:xfrm flipV="1">
              <a:off x="3016" y="1071"/>
              <a:ext cx="454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4812" name="Group 156"/>
          <p:cNvGrpSpPr>
            <a:grpSpLocks/>
          </p:cNvGrpSpPr>
          <p:nvPr/>
        </p:nvGrpSpPr>
        <p:grpSpPr bwMode="auto">
          <a:xfrm>
            <a:off x="2582840" y="3429372"/>
            <a:ext cx="3025775" cy="287337"/>
            <a:chOff x="1792" y="2115"/>
            <a:chExt cx="1906" cy="181"/>
          </a:xfrm>
        </p:grpSpPr>
        <p:sp>
          <p:nvSpPr>
            <p:cNvPr id="454784" name="Line 128"/>
            <p:cNvSpPr>
              <a:spLocks noChangeShapeType="1"/>
            </p:cNvSpPr>
            <p:nvPr/>
          </p:nvSpPr>
          <p:spPr bwMode="auto">
            <a:xfrm flipV="1">
              <a:off x="1792" y="2115"/>
              <a:ext cx="1906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803" name="Line 147"/>
            <p:cNvSpPr>
              <a:spLocks noChangeShapeType="1"/>
            </p:cNvSpPr>
            <p:nvPr/>
          </p:nvSpPr>
          <p:spPr bwMode="auto">
            <a:xfrm flipV="1">
              <a:off x="1792" y="2296"/>
              <a:ext cx="1906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54813" name="Group 157"/>
          <p:cNvGrpSpPr>
            <a:grpSpLocks/>
          </p:cNvGrpSpPr>
          <p:nvPr/>
        </p:nvGrpSpPr>
        <p:grpSpPr bwMode="auto">
          <a:xfrm>
            <a:off x="2582840" y="2421309"/>
            <a:ext cx="3024188" cy="720725"/>
            <a:chOff x="1792" y="1480"/>
            <a:chExt cx="1905" cy="454"/>
          </a:xfrm>
        </p:grpSpPr>
        <p:sp>
          <p:nvSpPr>
            <p:cNvPr id="454782" name="Line 126"/>
            <p:cNvSpPr>
              <a:spLocks noChangeShapeType="1"/>
            </p:cNvSpPr>
            <p:nvPr/>
          </p:nvSpPr>
          <p:spPr bwMode="auto">
            <a:xfrm>
              <a:off x="1792" y="1934"/>
              <a:ext cx="1905" cy="0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804" name="Line 148"/>
            <p:cNvSpPr>
              <a:spLocks noChangeShapeType="1"/>
            </p:cNvSpPr>
            <p:nvPr/>
          </p:nvSpPr>
          <p:spPr bwMode="auto">
            <a:xfrm flipV="1">
              <a:off x="1792" y="1480"/>
              <a:ext cx="1905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805" name="Line 149"/>
            <p:cNvSpPr>
              <a:spLocks noChangeShapeType="1"/>
            </p:cNvSpPr>
            <p:nvPr/>
          </p:nvSpPr>
          <p:spPr bwMode="auto">
            <a:xfrm flipV="1">
              <a:off x="1792" y="1616"/>
              <a:ext cx="1905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806" name="Line 150"/>
            <p:cNvSpPr>
              <a:spLocks noChangeShapeType="1"/>
            </p:cNvSpPr>
            <p:nvPr/>
          </p:nvSpPr>
          <p:spPr bwMode="auto">
            <a:xfrm flipV="1">
              <a:off x="1792" y="1752"/>
              <a:ext cx="1905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2576557" y="981447"/>
            <a:ext cx="1949386" cy="719137"/>
            <a:chOff x="2576557" y="981447"/>
            <a:chExt cx="1949386" cy="719137"/>
          </a:xfrm>
        </p:grpSpPr>
        <p:sp>
          <p:nvSpPr>
            <p:cNvPr id="454786" name="Text Box 130"/>
            <p:cNvSpPr txBox="1">
              <a:spLocks noChangeArrowheads="1"/>
            </p:cNvSpPr>
            <p:nvPr/>
          </p:nvSpPr>
          <p:spPr bwMode="auto">
            <a:xfrm>
              <a:off x="3301980" y="1268784"/>
              <a:ext cx="288925" cy="4318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tIns="10800" rIns="0" bIns="10800" anchor="ctr"/>
            <a:lstStyle/>
            <a:p>
              <a:pPr algn="ctr"/>
              <a:r>
                <a:rPr lang="en-US" altLang="zh-CN" sz="1600" b="1" u="none">
                  <a:latin typeface="宋体" pitchFamily="2" charset="-122"/>
                </a:rPr>
                <a:t>=1</a:t>
              </a:r>
            </a:p>
          </p:txBody>
        </p:sp>
        <p:sp>
          <p:nvSpPr>
            <p:cNvPr id="454787" name="Line 131"/>
            <p:cNvSpPr>
              <a:spLocks noChangeShapeType="1"/>
            </p:cNvSpPr>
            <p:nvPr/>
          </p:nvSpPr>
          <p:spPr bwMode="auto">
            <a:xfrm flipV="1">
              <a:off x="2582842" y="1341809"/>
              <a:ext cx="719138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790" name="Line 134"/>
            <p:cNvSpPr>
              <a:spLocks noChangeShapeType="1"/>
            </p:cNvSpPr>
            <p:nvPr/>
          </p:nvSpPr>
          <p:spPr bwMode="auto">
            <a:xfrm flipV="1">
              <a:off x="3590905" y="1484684"/>
              <a:ext cx="215900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791" name="Text Box 135"/>
            <p:cNvSpPr txBox="1">
              <a:spLocks noChangeArrowheads="1"/>
            </p:cNvSpPr>
            <p:nvPr/>
          </p:nvSpPr>
          <p:spPr bwMode="auto">
            <a:xfrm>
              <a:off x="3806805" y="981447"/>
              <a:ext cx="288925" cy="576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en-US" altLang="zh-CN" sz="1800" b="1" u="none">
                  <a:latin typeface="宋体" pitchFamily="2" charset="-122"/>
                </a:rPr>
                <a:t>&amp;</a:t>
              </a:r>
              <a:endParaRPr lang="en-US" altLang="zh-CN" sz="1800" b="1" u="none" baseline="-20000">
                <a:latin typeface="宋体" pitchFamily="2" charset="-122"/>
              </a:endParaRPr>
            </a:p>
          </p:txBody>
        </p:sp>
        <p:sp>
          <p:nvSpPr>
            <p:cNvPr id="454792" name="Line 136"/>
            <p:cNvSpPr>
              <a:spLocks noChangeShapeType="1"/>
            </p:cNvSpPr>
            <p:nvPr/>
          </p:nvSpPr>
          <p:spPr bwMode="auto">
            <a:xfrm flipV="1">
              <a:off x="2582842" y="1052884"/>
              <a:ext cx="1150938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4793" name="Oval 137"/>
            <p:cNvSpPr>
              <a:spLocks noChangeArrowheads="1"/>
            </p:cNvSpPr>
            <p:nvPr/>
          </p:nvSpPr>
          <p:spPr bwMode="auto">
            <a:xfrm>
              <a:off x="3733780" y="1014784"/>
              <a:ext cx="73025" cy="71437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4795" name="Line 139"/>
            <p:cNvSpPr>
              <a:spLocks noChangeShapeType="1"/>
            </p:cNvSpPr>
            <p:nvPr/>
          </p:nvSpPr>
          <p:spPr bwMode="auto">
            <a:xfrm flipV="1">
              <a:off x="4094143" y="1268784"/>
              <a:ext cx="431800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132"/>
            <p:cNvSpPr>
              <a:spLocks noChangeShapeType="1"/>
            </p:cNvSpPr>
            <p:nvPr/>
          </p:nvSpPr>
          <p:spPr bwMode="auto">
            <a:xfrm flipV="1">
              <a:off x="2576557" y="1628800"/>
              <a:ext cx="719138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238734" y="908422"/>
            <a:ext cx="3365714" cy="357190"/>
            <a:chOff x="5238734" y="908422"/>
            <a:chExt cx="3365714" cy="357190"/>
          </a:xfrm>
        </p:grpSpPr>
        <p:sp>
          <p:nvSpPr>
            <p:cNvPr id="79" name="Text Box 237"/>
            <p:cNvSpPr txBox="1">
              <a:spLocks noChangeArrowheads="1"/>
            </p:cNvSpPr>
            <p:nvPr/>
          </p:nvSpPr>
          <p:spPr bwMode="auto">
            <a:xfrm>
              <a:off x="5238734" y="908422"/>
              <a:ext cx="3365714" cy="357190"/>
            </a:xfrm>
            <a:prstGeom prst="rect">
              <a:avLst/>
            </a:prstGeom>
            <a:solidFill>
              <a:srgbClr val="FFCCFF">
                <a:alpha val="85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vert="horz" lIns="18000" tIns="54000" rIns="18000" bIns="10800" anchor="ctr" anchorCtr="0"/>
            <a:lstStyle/>
            <a:p>
              <a:r>
                <a:rPr lang="en-US" altLang="zh-CN" sz="1800" b="1" u="none" dirty="0" smtClean="0">
                  <a:latin typeface="宋体" pitchFamily="2" charset="-122"/>
                </a:rPr>
                <a:t>CS</a:t>
              </a:r>
              <a:r>
                <a:rPr lang="zh-CN" altLang="en-US" sz="1800" b="1" u="none" dirty="0" smtClean="0">
                  <a:latin typeface="宋体" pitchFamily="2" charset="-122"/>
                </a:rPr>
                <a:t>＝</a:t>
              </a:r>
              <a:r>
                <a:rPr lang="en-US" altLang="zh-CN" sz="1800" b="1" u="none" dirty="0" smtClean="0">
                  <a:latin typeface="宋体" pitchFamily="2" charset="-122"/>
                </a:rPr>
                <a:t>(IO</a:t>
              </a:r>
              <a:r>
                <a:rPr lang="en-US" altLang="zh-CN" sz="1800" b="1" u="none" dirty="0" smtClean="0">
                  <a:latin typeface="+mn-lt"/>
                </a:rPr>
                <a:t>/</a:t>
              </a:r>
              <a:r>
                <a:rPr lang="en-US" altLang="zh-CN" sz="1800" b="1" u="none" dirty="0" smtClean="0">
                  <a:latin typeface="宋体" pitchFamily="2" charset="-122"/>
                </a:rPr>
                <a:t>M</a:t>
              </a:r>
              <a:r>
                <a:rPr lang="en-US" altLang="zh-CN" sz="1800" b="1" u="none" dirty="0" smtClean="0">
                  <a:latin typeface="+mn-lt"/>
                </a:rPr>
                <a:t>·</a:t>
              </a:r>
              <a:r>
                <a:rPr lang="en-US" altLang="zh-CN" sz="1800" b="1" u="none" dirty="0" smtClean="0">
                  <a:latin typeface="宋体" pitchFamily="2" charset="-122"/>
                </a:rPr>
                <a:t>(RD⊕WR))</a:t>
              </a:r>
              <a:r>
                <a:rPr lang="en-US" altLang="zh-CN" sz="1800" b="1" u="none" dirty="0" smtClean="0"/>
                <a:t>·</a:t>
              </a:r>
              <a:r>
                <a:rPr lang="en-US" altLang="zh-CN" sz="1800" b="1" u="none" dirty="0">
                  <a:latin typeface="宋体" pitchFamily="2" charset="-122"/>
                </a:rPr>
                <a:t>(</a:t>
              </a:r>
              <a:r>
                <a:rPr lang="en-US" altLang="zh-CN" sz="1800" b="1" u="none" dirty="0" smtClean="0">
                  <a:latin typeface="宋体" pitchFamily="2" charset="-122"/>
                </a:rPr>
                <a:t>A</a:t>
              </a:r>
              <a:r>
                <a:rPr lang="en-US" altLang="zh-CN" sz="2000" b="1" u="none" baseline="-14000" dirty="0" smtClean="0">
                  <a:latin typeface="宋体" pitchFamily="2" charset="-122"/>
                </a:rPr>
                <a:t>15</a:t>
              </a:r>
              <a:r>
                <a:rPr lang="en-US" altLang="zh-CN" sz="1600" b="1" u="none" dirty="0" smtClean="0">
                  <a:latin typeface="宋体" pitchFamily="2" charset="-122"/>
                </a:rPr>
                <a:t> </a:t>
              </a:r>
              <a:r>
                <a:rPr lang="en-US" altLang="zh-CN" sz="1800" b="1" u="none" dirty="0" smtClean="0">
                  <a:latin typeface="宋体" pitchFamily="2" charset="-122"/>
                </a:rPr>
                <a:t>&amp;</a:t>
              </a:r>
              <a:r>
                <a:rPr lang="en-US" altLang="zh-CN" sz="1400" b="1" u="none" dirty="0" smtClean="0">
                  <a:latin typeface="宋体" pitchFamily="2" charset="-122"/>
                </a:rPr>
                <a:t> </a:t>
              </a:r>
              <a:r>
                <a:rPr lang="en-US" altLang="zh-CN" sz="1800" b="1" u="none" dirty="0" smtClean="0">
                  <a:latin typeface="宋体" pitchFamily="2" charset="-122"/>
                </a:rPr>
                <a:t>A</a:t>
              </a:r>
              <a:r>
                <a:rPr lang="en-US" altLang="zh-CN" sz="2000" b="1" u="none" baseline="-14000" dirty="0" smtClean="0">
                  <a:latin typeface="宋体" pitchFamily="2" charset="-122"/>
                </a:rPr>
                <a:t>14</a:t>
              </a:r>
              <a:r>
                <a:rPr lang="en-US" altLang="zh-CN" sz="1800" b="1" u="none" dirty="0" smtClean="0">
                  <a:latin typeface="宋体" pitchFamily="2" charset="-122"/>
                </a:rPr>
                <a:t>)</a:t>
              </a:r>
              <a:endParaRPr lang="en-US" altLang="zh-CN" sz="1800" b="1" u="none" baseline="-20000" dirty="0">
                <a:latin typeface="宋体" pitchFamily="2" charset="-122"/>
              </a:endParaRPr>
            </a:p>
          </p:txBody>
        </p:sp>
        <p:cxnSp>
          <p:nvCxnSpPr>
            <p:cNvPr id="85" name="直接连接符 84"/>
            <p:cNvCxnSpPr/>
            <p:nvPr/>
          </p:nvCxnSpPr>
          <p:spPr bwMode="auto">
            <a:xfrm>
              <a:off x="6448393" y="977326"/>
              <a:ext cx="212727" cy="794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9" name="直接连接符 88"/>
            <p:cNvCxnSpPr/>
            <p:nvPr/>
          </p:nvCxnSpPr>
          <p:spPr bwMode="auto">
            <a:xfrm flipV="1">
              <a:off x="6138423" y="1014632"/>
              <a:ext cx="121229" cy="0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1" name="直接连接符 90"/>
            <p:cNvCxnSpPr/>
            <p:nvPr/>
          </p:nvCxnSpPr>
          <p:spPr bwMode="auto">
            <a:xfrm>
              <a:off x="5872936" y="979707"/>
              <a:ext cx="401005" cy="0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" name="直接连接符 94"/>
            <p:cNvCxnSpPr/>
            <p:nvPr/>
          </p:nvCxnSpPr>
          <p:spPr bwMode="auto">
            <a:xfrm>
              <a:off x="5777396" y="928906"/>
              <a:ext cx="2735992" cy="794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7" name="直接连接符 96"/>
            <p:cNvCxnSpPr/>
            <p:nvPr/>
          </p:nvCxnSpPr>
          <p:spPr bwMode="auto">
            <a:xfrm flipV="1">
              <a:off x="5264578" y="995853"/>
              <a:ext cx="221624" cy="298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3" name="直接连接符 92"/>
            <p:cNvCxnSpPr/>
            <p:nvPr/>
          </p:nvCxnSpPr>
          <p:spPr bwMode="auto">
            <a:xfrm>
              <a:off x="6914360" y="976305"/>
              <a:ext cx="212727" cy="794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" name="直接连接符 95"/>
            <p:cNvCxnSpPr/>
            <p:nvPr/>
          </p:nvCxnSpPr>
          <p:spPr bwMode="auto">
            <a:xfrm>
              <a:off x="7588996" y="976305"/>
              <a:ext cx="234000" cy="794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9" name="直接连接符 98"/>
            <p:cNvCxnSpPr/>
            <p:nvPr/>
          </p:nvCxnSpPr>
          <p:spPr bwMode="auto">
            <a:xfrm>
              <a:off x="8178239" y="977099"/>
              <a:ext cx="234000" cy="794"/>
            </a:xfrm>
            <a:prstGeom prst="line">
              <a:avLst/>
            </a:prstGeom>
            <a:solidFill>
              <a:srgbClr val="FFCCFF">
                <a:alpha val="85000"/>
              </a:srgbClr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736390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454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454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50"/>
                            </p:stCondLst>
                            <p:childTnLst>
                              <p:par>
                                <p:cTn id="24" presetID="8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750"/>
                                        <p:tgtEl>
                                          <p:spTgt spid="454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750"/>
                                        <p:tgtEl>
                                          <p:spTgt spid="454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  <p:sp>
        <p:nvSpPr>
          <p:cNvPr id="3" name="TextBox 2"/>
          <p:cNvSpPr txBox="1"/>
          <p:nvPr/>
        </p:nvSpPr>
        <p:spPr>
          <a:xfrm>
            <a:off x="179512" y="475604"/>
            <a:ext cx="8784976" cy="628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kern="100" dirty="0" smtClean="0">
                <a:solidFill>
                  <a:srgbClr val="0000CC"/>
                </a:solidFill>
                <a:latin typeface="+mn-lt"/>
              </a:rPr>
              <a:t>例</a:t>
            </a:r>
            <a:r>
              <a:rPr lang="en-US" altLang="zh-CN" b="1" kern="100" dirty="0" smtClean="0">
                <a:solidFill>
                  <a:srgbClr val="0000CC"/>
                </a:solidFill>
                <a:latin typeface="+mn-lt"/>
              </a:rPr>
              <a:t>2</a:t>
            </a:r>
            <a:r>
              <a:rPr lang="zh-CN" altLang="en-US" b="1" kern="100" dirty="0" smtClean="0">
                <a:solidFill>
                  <a:srgbClr val="0000CC"/>
                </a:solidFill>
                <a:latin typeface="+mn-lt"/>
              </a:rPr>
              <a:t>：</a:t>
            </a:r>
            <a:r>
              <a:rPr lang="zh-CN" altLang="zh-CN" b="1" dirty="0">
                <a:latin typeface="+mn-lt"/>
              </a:rPr>
              <a:t>第</a:t>
            </a:r>
            <a:r>
              <a:rPr lang="en-US" altLang="zh-CN" b="1" dirty="0">
                <a:latin typeface="+mn-lt"/>
              </a:rPr>
              <a:t>3</a:t>
            </a:r>
            <a:r>
              <a:rPr lang="zh-CN" altLang="zh-CN" b="1" dirty="0">
                <a:latin typeface="+mn-lt"/>
              </a:rPr>
              <a:t>章</a:t>
            </a:r>
            <a:r>
              <a:rPr lang="zh-CN" altLang="en-US" b="1" kern="100" dirty="0" smtClean="0">
                <a:latin typeface="+mn-lt"/>
              </a:rPr>
              <a:t>作业第</a:t>
            </a:r>
            <a:r>
              <a:rPr lang="en-US" altLang="zh-CN" b="1" dirty="0" smtClean="0">
                <a:latin typeface="+mn-lt"/>
              </a:rPr>
              <a:t>28</a:t>
            </a:r>
            <a:r>
              <a:rPr lang="zh-CN" altLang="en-US" b="1" dirty="0" smtClean="0">
                <a:latin typeface="+mn-lt"/>
              </a:rPr>
              <a:t>题：</a:t>
            </a:r>
            <a:r>
              <a:rPr lang="zh-CN" altLang="zh-CN" b="1" dirty="0" smtClean="0">
                <a:latin typeface="+mn-lt"/>
              </a:rPr>
              <a:t>某</a:t>
            </a:r>
            <a:r>
              <a:rPr lang="zh-CN" altLang="zh-CN" b="1" dirty="0">
                <a:latin typeface="+mn-lt"/>
              </a:rPr>
              <a:t>计算机的存储器按字节编址，主存地址空间为</a:t>
            </a:r>
            <a:r>
              <a:rPr lang="en-US" altLang="zh-CN" b="1" dirty="0">
                <a:latin typeface="+mn-lt"/>
              </a:rPr>
              <a:t>24</a:t>
            </a:r>
            <a:r>
              <a:rPr lang="zh-CN" altLang="zh-CN" b="1" dirty="0">
                <a:latin typeface="+mn-lt"/>
              </a:rPr>
              <a:t>位，配置有</a:t>
            </a:r>
            <a:r>
              <a:rPr lang="en-US" altLang="zh-CN" b="1" dirty="0">
                <a:latin typeface="+mn-lt"/>
              </a:rPr>
              <a:t>4MB</a:t>
            </a:r>
            <a:r>
              <a:rPr lang="zh-CN" altLang="zh-CN" b="1" dirty="0">
                <a:latin typeface="+mn-lt"/>
              </a:rPr>
              <a:t>的主存，主存块大小为</a:t>
            </a:r>
            <a:r>
              <a:rPr lang="en-US" altLang="zh-CN" b="1" dirty="0">
                <a:latin typeface="+mn-lt"/>
              </a:rPr>
              <a:t>32B</a:t>
            </a:r>
            <a:r>
              <a:rPr lang="zh-CN" altLang="zh-CN" b="1" dirty="0">
                <a:latin typeface="+mn-lt"/>
              </a:rPr>
              <a:t>，</a:t>
            </a:r>
            <a:r>
              <a:rPr lang="en-US" altLang="zh-CN" b="1" dirty="0">
                <a:latin typeface="+mn-lt"/>
              </a:rPr>
              <a:t>Cache</a:t>
            </a:r>
            <a:r>
              <a:rPr lang="zh-CN" altLang="zh-CN" b="1" dirty="0">
                <a:latin typeface="+mn-lt"/>
              </a:rPr>
              <a:t>有</a:t>
            </a:r>
            <a:r>
              <a:rPr lang="en-US" altLang="zh-CN" b="1" dirty="0">
                <a:latin typeface="+mn-lt"/>
              </a:rPr>
              <a:t>256</a:t>
            </a:r>
            <a:r>
              <a:rPr lang="zh-CN" altLang="zh-CN" b="1" dirty="0">
                <a:latin typeface="+mn-lt"/>
              </a:rPr>
              <a:t>个行，采用</a:t>
            </a:r>
            <a:r>
              <a:rPr lang="en-US" altLang="zh-CN" b="1" dirty="0">
                <a:latin typeface="+mn-lt"/>
              </a:rPr>
              <a:t>4</a:t>
            </a:r>
            <a:r>
              <a:rPr lang="zh-CN" altLang="zh-CN" b="1" dirty="0">
                <a:latin typeface="+mn-lt"/>
              </a:rPr>
              <a:t>路组相联映射、</a:t>
            </a:r>
            <a:r>
              <a:rPr lang="en-US" altLang="zh-CN" b="1" dirty="0">
                <a:latin typeface="+mn-lt"/>
              </a:rPr>
              <a:t>LRU</a:t>
            </a:r>
            <a:r>
              <a:rPr lang="zh-CN" altLang="zh-CN" b="1" dirty="0">
                <a:latin typeface="+mn-lt"/>
              </a:rPr>
              <a:t>替换算法、写回法写策略，</a:t>
            </a:r>
            <a:r>
              <a:rPr lang="en-US" altLang="zh-CN" b="1" dirty="0">
                <a:latin typeface="+mn-lt"/>
              </a:rPr>
              <a:t>Cache</a:t>
            </a:r>
            <a:r>
              <a:rPr lang="zh-CN" altLang="zh-CN" b="1" dirty="0">
                <a:latin typeface="+mn-lt"/>
              </a:rPr>
              <a:t>行的管理信息至少有多少位</a:t>
            </a:r>
            <a:r>
              <a:rPr lang="zh-CN" altLang="zh-CN" b="1" dirty="0" smtClean="0">
                <a:latin typeface="+mn-lt"/>
              </a:rPr>
              <a:t>？</a:t>
            </a:r>
            <a:r>
              <a:rPr lang="en-US" altLang="zh-CN" sz="1800" b="1" dirty="0">
                <a:latin typeface="+mn-lt"/>
              </a:rPr>
              <a:t>CPU</a:t>
            </a:r>
            <a:r>
              <a:rPr lang="zh-CN" altLang="en-US" sz="1800" b="1" dirty="0">
                <a:latin typeface="+mn-lt"/>
              </a:rPr>
              <a:t>访存地址</a:t>
            </a:r>
            <a:r>
              <a:rPr lang="zh-CN" altLang="en-US" sz="1800" b="1" dirty="0" smtClean="0">
                <a:latin typeface="+mn-lt"/>
              </a:rPr>
              <a:t>为</a:t>
            </a:r>
            <a:r>
              <a:rPr lang="en-US" altLang="zh-CN" sz="1800" b="1" dirty="0" smtClean="0">
                <a:latin typeface="+mn-lt"/>
              </a:rPr>
              <a:t>123456H</a:t>
            </a:r>
            <a:r>
              <a:rPr lang="zh-CN" altLang="en-US" sz="1800" b="1" dirty="0">
                <a:latin typeface="+mn-lt"/>
              </a:rPr>
              <a:t>时，则可能命中的</a:t>
            </a:r>
            <a:r>
              <a:rPr lang="en-US" altLang="zh-CN" sz="1800" b="1" dirty="0">
                <a:latin typeface="+mn-lt"/>
              </a:rPr>
              <a:t>Cache</a:t>
            </a:r>
            <a:r>
              <a:rPr lang="zh-CN" altLang="en-US" sz="1800" b="1" dirty="0">
                <a:latin typeface="+mn-lt"/>
              </a:rPr>
              <a:t>组</a:t>
            </a:r>
            <a:r>
              <a:rPr lang="zh-CN" altLang="en-US" sz="1800" b="1" dirty="0" smtClean="0">
                <a:latin typeface="+mn-lt"/>
              </a:rPr>
              <a:t>号</a:t>
            </a:r>
            <a:r>
              <a:rPr lang="zh-CN" altLang="en-US" sz="1800" b="1" dirty="0">
                <a:latin typeface="+mn-lt"/>
              </a:rPr>
              <a:t>及行号</a:t>
            </a:r>
            <a:r>
              <a:rPr lang="zh-CN" altLang="en-US" sz="1800" b="1" dirty="0" smtClean="0">
                <a:latin typeface="+mn-lt"/>
              </a:rPr>
              <a:t>是</a:t>
            </a:r>
            <a:r>
              <a:rPr lang="zh-CN" altLang="en-US" sz="1800" b="1" dirty="0">
                <a:latin typeface="+mn-lt"/>
              </a:rPr>
              <a:t>多少？命中时目标行的</a:t>
            </a:r>
            <a:r>
              <a:rPr lang="en-US" altLang="zh-CN" sz="1800" b="1" dirty="0" smtClean="0">
                <a:latin typeface="+mn-lt"/>
              </a:rPr>
              <a:t>Tag</a:t>
            </a:r>
            <a:r>
              <a:rPr lang="zh-CN" altLang="en-US" sz="1800" b="1" dirty="0" smtClean="0">
                <a:latin typeface="+mn-lt"/>
              </a:rPr>
              <a:t>（标记）为</a:t>
            </a:r>
            <a:r>
              <a:rPr lang="zh-CN" altLang="en-US" sz="1800" b="1" dirty="0">
                <a:latin typeface="+mn-lt"/>
              </a:rPr>
              <a:t>多少？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zh-CN" altLang="en-US" b="1" dirty="0" smtClean="0">
                <a:solidFill>
                  <a:srgbClr val="0000CC"/>
                </a:solidFill>
                <a:latin typeface="+mn-lt"/>
              </a:rPr>
              <a:t>解</a:t>
            </a:r>
            <a:r>
              <a:rPr lang="zh-CN" altLang="zh-CN" b="1" dirty="0" smtClean="0">
                <a:solidFill>
                  <a:srgbClr val="0000CC"/>
                </a:solidFill>
                <a:latin typeface="+mn-lt"/>
              </a:rPr>
              <a:t>：</a:t>
            </a:r>
            <a:r>
              <a:rPr lang="en-US" altLang="zh-CN" b="1" dirty="0" smtClean="0">
                <a:latin typeface="+mn-lt"/>
              </a:rPr>
              <a:t>Cache</a:t>
            </a:r>
            <a:r>
              <a:rPr lang="zh-CN" altLang="zh-CN" b="1" dirty="0">
                <a:latin typeface="+mn-lt"/>
              </a:rPr>
              <a:t>组内行</a:t>
            </a:r>
            <a:r>
              <a:rPr lang="zh-CN" altLang="zh-CN" b="1" dirty="0" smtClean="0">
                <a:latin typeface="+mn-lt"/>
              </a:rPr>
              <a:t>号</a:t>
            </a:r>
            <a:r>
              <a:rPr lang="zh-CN" altLang="en-US" b="1" dirty="0" smtClean="0">
                <a:latin typeface="+mn-lt"/>
              </a:rPr>
              <a:t>：</a:t>
            </a:r>
            <a:r>
              <a:rPr lang="en-US" altLang="zh-CN" b="1" dirty="0" smtClean="0">
                <a:latin typeface="+mn-lt"/>
              </a:rPr>
              <a:t>log</a:t>
            </a:r>
            <a:r>
              <a:rPr lang="en-US" altLang="zh-CN" b="1" baseline="-25000" dirty="0" smtClean="0">
                <a:latin typeface="+mn-lt"/>
              </a:rPr>
              <a:t>2</a:t>
            </a:r>
            <a:r>
              <a:rPr lang="en-US" altLang="zh-CN" b="1" dirty="0" smtClean="0">
                <a:latin typeface="+mn-lt"/>
              </a:rPr>
              <a:t>4</a:t>
            </a:r>
            <a:r>
              <a:rPr lang="zh-CN" altLang="zh-CN" b="1" dirty="0">
                <a:latin typeface="+mn-lt"/>
              </a:rPr>
              <a:t>＝</a:t>
            </a:r>
            <a:r>
              <a:rPr lang="en-US" altLang="zh-CN" b="1" dirty="0">
                <a:latin typeface="+mn-lt"/>
              </a:rPr>
              <a:t>2</a:t>
            </a:r>
            <a:r>
              <a:rPr lang="zh-CN" altLang="zh-CN" b="1" dirty="0">
                <a:latin typeface="+mn-lt"/>
              </a:rPr>
              <a:t>位，组号为</a:t>
            </a:r>
            <a:r>
              <a:rPr lang="en-US" altLang="zh-CN" b="1" dirty="0" smtClean="0">
                <a:latin typeface="+mn-lt"/>
              </a:rPr>
              <a:t>log</a:t>
            </a:r>
            <a:r>
              <a:rPr lang="en-US" altLang="zh-CN" b="1" baseline="-25000" dirty="0" smtClean="0">
                <a:latin typeface="+mn-lt"/>
              </a:rPr>
              <a:t>2</a:t>
            </a:r>
            <a:r>
              <a:rPr lang="en-US" altLang="zh-CN" b="1" dirty="0" smtClean="0">
                <a:latin typeface="+mn-lt"/>
              </a:rPr>
              <a:t>256 – 2</a:t>
            </a:r>
            <a:r>
              <a:rPr lang="zh-CN" altLang="zh-CN" b="1" dirty="0">
                <a:latin typeface="+mn-lt"/>
              </a:rPr>
              <a:t>＝</a:t>
            </a:r>
            <a:r>
              <a:rPr lang="en-US" altLang="zh-CN" b="1" dirty="0">
                <a:solidFill>
                  <a:srgbClr val="FF0000"/>
                </a:solidFill>
                <a:latin typeface="+mn-lt"/>
              </a:rPr>
              <a:t>6</a:t>
            </a:r>
            <a:r>
              <a:rPr lang="zh-CN" altLang="zh-CN" b="1" dirty="0">
                <a:solidFill>
                  <a:srgbClr val="FF0000"/>
                </a:solidFill>
                <a:latin typeface="+mn-lt"/>
              </a:rPr>
              <a:t>位</a:t>
            </a:r>
            <a:r>
              <a:rPr lang="zh-CN" altLang="zh-CN" b="1" dirty="0" smtClean="0">
                <a:latin typeface="+mn-lt"/>
              </a:rPr>
              <a:t>；</a:t>
            </a:r>
            <a:endParaRPr lang="en-US" altLang="zh-CN" b="1" dirty="0" smtClean="0">
              <a:latin typeface="+mn-lt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 smtClean="0">
                <a:latin typeface="+mn-lt"/>
              </a:rPr>
              <a:t>  </a:t>
            </a:r>
            <a:r>
              <a:rPr lang="zh-CN" altLang="zh-CN" b="1" dirty="0" smtClean="0">
                <a:latin typeface="+mn-lt"/>
              </a:rPr>
              <a:t>主存地址</a:t>
            </a:r>
            <a:r>
              <a:rPr lang="zh-CN" altLang="en-US" b="1" dirty="0" smtClean="0">
                <a:latin typeface="+mn-lt"/>
              </a:rPr>
              <a:t>：</a:t>
            </a:r>
            <a:r>
              <a:rPr lang="zh-CN" altLang="zh-CN" b="1" dirty="0" smtClean="0">
                <a:latin typeface="+mn-lt"/>
              </a:rPr>
              <a:t>由</a:t>
            </a:r>
            <a:r>
              <a:rPr lang="zh-CN" altLang="zh-CN" b="1" dirty="0">
                <a:latin typeface="+mn-lt"/>
              </a:rPr>
              <a:t>群号、群内块号、块内地址</a:t>
            </a:r>
            <a:r>
              <a:rPr lang="zh-CN" altLang="zh-CN" b="1" dirty="0" smtClean="0">
                <a:latin typeface="+mn-lt"/>
              </a:rPr>
              <a:t>组成</a:t>
            </a:r>
            <a:r>
              <a:rPr lang="zh-CN" altLang="en-US" b="1" dirty="0" smtClean="0">
                <a:latin typeface="+mn-lt"/>
              </a:rPr>
              <a:t>；</a:t>
            </a:r>
            <a:endParaRPr lang="en-US" altLang="zh-CN" b="1" dirty="0" smtClean="0">
              <a:latin typeface="+mn-lt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 smtClean="0">
                <a:latin typeface="+mn-lt"/>
              </a:rPr>
              <a:t>  </a:t>
            </a:r>
            <a:r>
              <a:rPr lang="zh-CN" altLang="zh-CN" b="1" dirty="0" smtClean="0">
                <a:latin typeface="+mn-lt"/>
              </a:rPr>
              <a:t>块</a:t>
            </a:r>
            <a:r>
              <a:rPr lang="zh-CN" altLang="zh-CN" b="1" dirty="0">
                <a:latin typeface="+mn-lt"/>
              </a:rPr>
              <a:t>内地址为</a:t>
            </a:r>
            <a:r>
              <a:rPr lang="en-US" altLang="zh-CN" b="1" dirty="0">
                <a:latin typeface="+mn-lt"/>
              </a:rPr>
              <a:t>log</a:t>
            </a:r>
            <a:r>
              <a:rPr lang="en-US" altLang="zh-CN" b="1" baseline="-25000" dirty="0">
                <a:latin typeface="+mn-lt"/>
              </a:rPr>
              <a:t>2</a:t>
            </a:r>
            <a:r>
              <a:rPr lang="en-US" altLang="zh-CN" b="1" dirty="0">
                <a:latin typeface="+mn-lt"/>
              </a:rPr>
              <a:t>(32B/1B)</a:t>
            </a:r>
            <a:r>
              <a:rPr lang="zh-CN" altLang="zh-CN" b="1" dirty="0">
                <a:latin typeface="+mn-lt"/>
              </a:rPr>
              <a:t>＝</a:t>
            </a:r>
            <a:r>
              <a:rPr lang="en-US" altLang="zh-CN" b="1" dirty="0">
                <a:latin typeface="+mn-lt"/>
              </a:rPr>
              <a:t>5</a:t>
            </a:r>
            <a:r>
              <a:rPr lang="zh-CN" altLang="zh-CN" b="1" dirty="0">
                <a:latin typeface="+mn-lt"/>
              </a:rPr>
              <a:t>位，群内块号为</a:t>
            </a:r>
            <a:r>
              <a:rPr lang="en-US" altLang="zh-CN" b="1" dirty="0">
                <a:solidFill>
                  <a:srgbClr val="FF0000"/>
                </a:solidFill>
                <a:latin typeface="+mn-lt"/>
              </a:rPr>
              <a:t>6</a:t>
            </a:r>
            <a:r>
              <a:rPr lang="zh-CN" altLang="zh-CN" b="1" dirty="0" smtClean="0">
                <a:solidFill>
                  <a:srgbClr val="FF0000"/>
                </a:solidFill>
                <a:latin typeface="+mn-lt"/>
              </a:rPr>
              <a:t>位</a:t>
            </a:r>
            <a:r>
              <a:rPr lang="zh-CN" altLang="en-US" b="1" dirty="0" smtClean="0">
                <a:latin typeface="+mn-lt"/>
              </a:rPr>
              <a:t>；</a:t>
            </a:r>
            <a:endParaRPr lang="en-US" altLang="zh-CN" b="1" dirty="0" smtClean="0">
              <a:latin typeface="+mn-lt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 smtClean="0">
                <a:latin typeface="+mn-lt"/>
              </a:rPr>
              <a:t>  </a:t>
            </a:r>
            <a:r>
              <a:rPr lang="zh-CN" altLang="zh-CN" b="1" dirty="0" smtClean="0">
                <a:latin typeface="+mn-lt"/>
              </a:rPr>
              <a:t>群</a:t>
            </a:r>
            <a:r>
              <a:rPr lang="zh-CN" altLang="zh-CN" b="1" dirty="0">
                <a:latin typeface="+mn-lt"/>
              </a:rPr>
              <a:t>号为</a:t>
            </a:r>
            <a:r>
              <a:rPr lang="en-US" altLang="zh-CN" b="1" dirty="0" smtClean="0">
                <a:latin typeface="+mn-lt"/>
              </a:rPr>
              <a:t>24 – 6 – 5</a:t>
            </a:r>
            <a:r>
              <a:rPr lang="zh-CN" altLang="zh-CN" b="1" dirty="0">
                <a:latin typeface="+mn-lt"/>
              </a:rPr>
              <a:t>＝</a:t>
            </a:r>
            <a:r>
              <a:rPr lang="en-US" altLang="zh-CN" b="1" dirty="0">
                <a:latin typeface="+mn-lt"/>
              </a:rPr>
              <a:t>13</a:t>
            </a:r>
            <a:r>
              <a:rPr lang="zh-CN" altLang="zh-CN" b="1" dirty="0" smtClean="0">
                <a:latin typeface="+mn-lt"/>
              </a:rPr>
              <a:t>位</a:t>
            </a:r>
            <a:r>
              <a:rPr lang="zh-CN" altLang="en-US" b="1" dirty="0" smtClean="0">
                <a:latin typeface="+mn-lt"/>
              </a:rPr>
              <a:t>，</a:t>
            </a:r>
            <a:r>
              <a:rPr lang="zh-CN" altLang="zh-CN" b="1" dirty="0" smtClean="0">
                <a:latin typeface="+mn-lt"/>
              </a:rPr>
              <a:t>故</a:t>
            </a:r>
            <a:r>
              <a:rPr lang="en-US" altLang="zh-CN" b="1" dirty="0">
                <a:solidFill>
                  <a:srgbClr val="FF3399"/>
                </a:solidFill>
                <a:latin typeface="+mn-lt"/>
              </a:rPr>
              <a:t>Cache</a:t>
            </a:r>
            <a:r>
              <a:rPr lang="zh-CN" altLang="zh-CN" b="1" dirty="0">
                <a:solidFill>
                  <a:srgbClr val="FF3399"/>
                </a:solidFill>
                <a:latin typeface="+mn-lt"/>
              </a:rPr>
              <a:t>行的标记为</a:t>
            </a:r>
            <a:r>
              <a:rPr lang="en-US" altLang="zh-CN" b="1" dirty="0">
                <a:solidFill>
                  <a:srgbClr val="FF3399"/>
                </a:solidFill>
                <a:latin typeface="+mn-lt"/>
              </a:rPr>
              <a:t>13</a:t>
            </a:r>
            <a:r>
              <a:rPr lang="zh-CN" altLang="zh-CN" b="1" dirty="0" smtClean="0">
                <a:solidFill>
                  <a:srgbClr val="FF3399"/>
                </a:solidFill>
                <a:latin typeface="+mn-lt"/>
              </a:rPr>
              <a:t>位</a:t>
            </a:r>
            <a:r>
              <a:rPr lang="zh-CN" altLang="en-US" b="1" dirty="0" smtClean="0">
                <a:solidFill>
                  <a:srgbClr val="FF3399"/>
                </a:solidFill>
                <a:latin typeface="+mn-lt"/>
              </a:rPr>
              <a:t>；</a:t>
            </a:r>
            <a:endParaRPr lang="zh-CN" altLang="zh-CN" b="1" dirty="0">
              <a:latin typeface="+mn-lt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 smtClean="0">
                <a:latin typeface="+mn-lt"/>
              </a:rPr>
              <a:t>  </a:t>
            </a:r>
            <a:r>
              <a:rPr lang="zh-CN" altLang="zh-CN" b="1" dirty="0" smtClean="0">
                <a:latin typeface="+mn-lt"/>
              </a:rPr>
              <a:t>采用</a:t>
            </a:r>
            <a:r>
              <a:rPr lang="en-US" altLang="zh-CN" b="1" dirty="0">
                <a:latin typeface="+mn-lt"/>
              </a:rPr>
              <a:t>LRU</a:t>
            </a:r>
            <a:r>
              <a:rPr lang="zh-CN" altLang="zh-CN" b="1" dirty="0">
                <a:latin typeface="+mn-lt"/>
              </a:rPr>
              <a:t>替换算法时，每个</a:t>
            </a:r>
            <a:r>
              <a:rPr lang="en-US" altLang="zh-CN" b="1" dirty="0">
                <a:latin typeface="+mn-lt"/>
              </a:rPr>
              <a:t>Cache</a:t>
            </a:r>
            <a:r>
              <a:rPr lang="zh-CN" altLang="zh-CN" b="1" dirty="0">
                <a:latin typeface="+mn-lt"/>
              </a:rPr>
              <a:t>行的</a:t>
            </a:r>
            <a:r>
              <a:rPr lang="en-US" altLang="zh-CN" b="1" dirty="0">
                <a:latin typeface="+mn-lt"/>
              </a:rPr>
              <a:t>LRU</a:t>
            </a:r>
            <a:r>
              <a:rPr lang="zh-CN" altLang="zh-CN" b="1" dirty="0">
                <a:latin typeface="+mn-lt"/>
              </a:rPr>
              <a:t>位为</a:t>
            </a:r>
            <a:r>
              <a:rPr lang="en-US" altLang="zh-CN" b="1" dirty="0">
                <a:latin typeface="+mn-lt"/>
              </a:rPr>
              <a:t>log</a:t>
            </a:r>
            <a:r>
              <a:rPr lang="en-US" altLang="zh-CN" b="1" baseline="-25000" dirty="0">
                <a:latin typeface="+mn-lt"/>
              </a:rPr>
              <a:t>2</a:t>
            </a:r>
            <a:r>
              <a:rPr lang="en-US" altLang="zh-CN" b="1" dirty="0">
                <a:latin typeface="+mn-lt"/>
              </a:rPr>
              <a:t>4</a:t>
            </a:r>
            <a:r>
              <a:rPr lang="zh-CN" altLang="zh-CN" b="1" dirty="0">
                <a:latin typeface="+mn-lt"/>
              </a:rPr>
              <a:t>＝</a:t>
            </a:r>
            <a:r>
              <a:rPr lang="en-US" altLang="zh-CN" b="1" dirty="0">
                <a:latin typeface="+mn-lt"/>
              </a:rPr>
              <a:t>2</a:t>
            </a:r>
            <a:r>
              <a:rPr lang="zh-CN" altLang="zh-CN" b="1" dirty="0" smtClean="0">
                <a:latin typeface="+mn-lt"/>
              </a:rPr>
              <a:t>位</a:t>
            </a:r>
            <a:r>
              <a:rPr lang="zh-CN" altLang="en-US" b="1" dirty="0" smtClean="0">
                <a:latin typeface="+mn-lt"/>
              </a:rPr>
              <a:t>；</a:t>
            </a:r>
            <a:endParaRPr lang="zh-CN" altLang="zh-CN" b="1" dirty="0">
              <a:latin typeface="+mn-lt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 smtClean="0">
                <a:latin typeface="+mn-lt"/>
              </a:rPr>
              <a:t>  </a:t>
            </a:r>
            <a:r>
              <a:rPr lang="zh-CN" altLang="zh-CN" b="1" dirty="0" smtClean="0">
                <a:latin typeface="+mn-lt"/>
              </a:rPr>
              <a:t>采用</a:t>
            </a:r>
            <a:r>
              <a:rPr lang="zh-CN" altLang="zh-CN" b="1" dirty="0">
                <a:solidFill>
                  <a:srgbClr val="FF0000"/>
                </a:solidFill>
                <a:latin typeface="+mn-lt"/>
              </a:rPr>
              <a:t>写回法</a:t>
            </a:r>
            <a:r>
              <a:rPr lang="zh-CN" altLang="zh-CN" b="1" dirty="0">
                <a:latin typeface="+mn-lt"/>
              </a:rPr>
              <a:t>写策略时，每个</a:t>
            </a:r>
            <a:r>
              <a:rPr lang="en-US" altLang="zh-CN" b="1" dirty="0">
                <a:latin typeface="+mn-lt"/>
              </a:rPr>
              <a:t>Cache</a:t>
            </a:r>
            <a:r>
              <a:rPr lang="zh-CN" altLang="zh-CN" b="1" dirty="0">
                <a:latin typeface="+mn-lt"/>
              </a:rPr>
              <a:t>行需设置脏位（</a:t>
            </a:r>
            <a:r>
              <a:rPr lang="en-US" altLang="zh-CN" b="1" dirty="0">
                <a:latin typeface="+mn-lt"/>
              </a:rPr>
              <a:t>1</a:t>
            </a:r>
            <a:r>
              <a:rPr lang="zh-CN" altLang="zh-CN" b="1" dirty="0">
                <a:latin typeface="+mn-lt"/>
              </a:rPr>
              <a:t>位</a:t>
            </a:r>
            <a:r>
              <a:rPr lang="zh-CN" altLang="zh-CN" b="1" dirty="0" smtClean="0">
                <a:latin typeface="+mn-lt"/>
              </a:rPr>
              <a:t>）</a:t>
            </a:r>
            <a:r>
              <a:rPr lang="zh-CN" altLang="en-US" b="1" dirty="0" smtClean="0">
                <a:latin typeface="+mn-lt"/>
              </a:rPr>
              <a:t>；</a:t>
            </a:r>
            <a:endParaRPr lang="zh-CN" altLang="zh-CN" b="1" dirty="0">
              <a:latin typeface="+mn-lt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b="1" dirty="0" smtClean="0">
                <a:solidFill>
                  <a:srgbClr val="7030A0"/>
                </a:solidFill>
                <a:latin typeface="+mn-lt"/>
              </a:rPr>
              <a:t>  </a:t>
            </a:r>
            <a:r>
              <a:rPr lang="zh-CN" altLang="zh-CN" b="1" dirty="0" smtClean="0">
                <a:solidFill>
                  <a:srgbClr val="7030A0"/>
                </a:solidFill>
                <a:latin typeface="+mn-lt"/>
              </a:rPr>
              <a:t>每个</a:t>
            </a:r>
            <a:r>
              <a:rPr lang="en-US" altLang="zh-CN" b="1" dirty="0">
                <a:solidFill>
                  <a:srgbClr val="7030A0"/>
                </a:solidFill>
                <a:latin typeface="+mn-lt"/>
              </a:rPr>
              <a:t>Cache</a:t>
            </a:r>
            <a:r>
              <a:rPr lang="zh-CN" altLang="zh-CN" b="1" dirty="0">
                <a:solidFill>
                  <a:srgbClr val="7030A0"/>
                </a:solidFill>
                <a:latin typeface="+mn-lt"/>
              </a:rPr>
              <a:t>行的</a:t>
            </a:r>
            <a:r>
              <a:rPr lang="zh-CN" altLang="zh-CN" b="1" dirty="0">
                <a:solidFill>
                  <a:srgbClr val="FF0000"/>
                </a:solidFill>
                <a:latin typeface="+mn-lt"/>
              </a:rPr>
              <a:t>管理</a:t>
            </a:r>
            <a:r>
              <a:rPr lang="zh-CN" altLang="zh-CN" b="1" dirty="0">
                <a:solidFill>
                  <a:srgbClr val="7030A0"/>
                </a:solidFill>
                <a:latin typeface="+mn-lt"/>
              </a:rPr>
              <a:t>信息至少有</a:t>
            </a:r>
            <a:r>
              <a:rPr lang="zh-CN" altLang="zh-CN" b="1" dirty="0" smtClean="0">
                <a:solidFill>
                  <a:srgbClr val="7030A0"/>
                </a:solidFill>
                <a:latin typeface="+mn-lt"/>
              </a:rPr>
              <a:t>：</a:t>
            </a:r>
            <a:endParaRPr lang="en-US" altLang="zh-CN" b="1" dirty="0" smtClean="0">
              <a:solidFill>
                <a:srgbClr val="7030A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7030A0"/>
                </a:solidFill>
                <a:latin typeface="+mn-lt"/>
              </a:rPr>
              <a:t>  </a:t>
            </a:r>
            <a:r>
              <a:rPr lang="zh-CN" altLang="zh-CN" b="1" dirty="0" smtClean="0">
                <a:solidFill>
                  <a:srgbClr val="7030A0"/>
                </a:solidFill>
                <a:latin typeface="+mn-lt"/>
              </a:rPr>
              <a:t>有效</a:t>
            </a:r>
            <a:r>
              <a:rPr lang="zh-CN" altLang="zh-CN" b="1" dirty="0">
                <a:solidFill>
                  <a:srgbClr val="7030A0"/>
                </a:solidFill>
                <a:latin typeface="+mn-lt"/>
              </a:rPr>
              <a:t>位</a:t>
            </a:r>
            <a:r>
              <a:rPr lang="en-US" altLang="zh-CN" b="1" dirty="0">
                <a:solidFill>
                  <a:srgbClr val="7030A0"/>
                </a:solidFill>
                <a:latin typeface="+mn-lt"/>
              </a:rPr>
              <a:t>(1</a:t>
            </a:r>
            <a:r>
              <a:rPr lang="zh-CN" altLang="zh-CN" b="1" dirty="0">
                <a:solidFill>
                  <a:srgbClr val="7030A0"/>
                </a:solidFill>
                <a:latin typeface="+mn-lt"/>
              </a:rPr>
              <a:t>位</a:t>
            </a:r>
            <a:r>
              <a:rPr lang="en-US" altLang="zh-CN" b="1" dirty="0" smtClean="0">
                <a:solidFill>
                  <a:srgbClr val="7030A0"/>
                </a:solidFill>
                <a:latin typeface="+mn-lt"/>
              </a:rPr>
              <a:t>)+</a:t>
            </a:r>
            <a:r>
              <a:rPr lang="zh-CN" altLang="zh-CN" b="1" dirty="0" smtClean="0">
                <a:solidFill>
                  <a:srgbClr val="7030A0"/>
                </a:solidFill>
                <a:latin typeface="+mn-lt"/>
              </a:rPr>
              <a:t>标记</a:t>
            </a:r>
            <a:r>
              <a:rPr lang="en-US" altLang="zh-CN" b="1" dirty="0">
                <a:solidFill>
                  <a:srgbClr val="7030A0"/>
                </a:solidFill>
                <a:latin typeface="+mn-lt"/>
              </a:rPr>
              <a:t>(13</a:t>
            </a:r>
            <a:r>
              <a:rPr lang="zh-CN" altLang="zh-CN" b="1" dirty="0">
                <a:solidFill>
                  <a:srgbClr val="7030A0"/>
                </a:solidFill>
                <a:latin typeface="+mn-lt"/>
              </a:rPr>
              <a:t>位</a:t>
            </a:r>
            <a:r>
              <a:rPr lang="en-US" altLang="zh-CN" b="1" dirty="0" smtClean="0">
                <a:solidFill>
                  <a:srgbClr val="7030A0"/>
                </a:solidFill>
                <a:latin typeface="+mn-lt"/>
              </a:rPr>
              <a:t>)+LRU</a:t>
            </a:r>
            <a:r>
              <a:rPr lang="zh-CN" altLang="zh-CN" b="1" dirty="0">
                <a:solidFill>
                  <a:srgbClr val="7030A0"/>
                </a:solidFill>
                <a:latin typeface="+mn-lt"/>
              </a:rPr>
              <a:t>位</a:t>
            </a:r>
            <a:r>
              <a:rPr lang="en-US" altLang="zh-CN" b="1" dirty="0">
                <a:solidFill>
                  <a:srgbClr val="7030A0"/>
                </a:solidFill>
                <a:latin typeface="+mn-lt"/>
              </a:rPr>
              <a:t>(2</a:t>
            </a:r>
            <a:r>
              <a:rPr lang="zh-CN" altLang="zh-CN" b="1" dirty="0">
                <a:solidFill>
                  <a:srgbClr val="7030A0"/>
                </a:solidFill>
                <a:latin typeface="+mn-lt"/>
              </a:rPr>
              <a:t>位</a:t>
            </a:r>
            <a:r>
              <a:rPr lang="en-US" altLang="zh-CN" b="1" dirty="0" smtClean="0">
                <a:solidFill>
                  <a:srgbClr val="7030A0"/>
                </a:solidFill>
                <a:latin typeface="+mn-lt"/>
              </a:rPr>
              <a:t>)+</a:t>
            </a:r>
            <a:r>
              <a:rPr lang="zh-CN" altLang="zh-CN" b="1" dirty="0" smtClean="0">
                <a:solidFill>
                  <a:srgbClr val="7030A0"/>
                </a:solidFill>
                <a:latin typeface="+mn-lt"/>
              </a:rPr>
              <a:t>脏</a:t>
            </a:r>
            <a:r>
              <a:rPr lang="zh-CN" altLang="zh-CN" b="1" dirty="0">
                <a:solidFill>
                  <a:srgbClr val="7030A0"/>
                </a:solidFill>
                <a:latin typeface="+mn-lt"/>
              </a:rPr>
              <a:t>位</a:t>
            </a:r>
            <a:r>
              <a:rPr lang="en-US" altLang="zh-CN" b="1" dirty="0">
                <a:solidFill>
                  <a:srgbClr val="7030A0"/>
                </a:solidFill>
                <a:latin typeface="+mn-lt"/>
              </a:rPr>
              <a:t>(1</a:t>
            </a:r>
            <a:r>
              <a:rPr lang="zh-CN" altLang="zh-CN" b="1" dirty="0">
                <a:solidFill>
                  <a:srgbClr val="7030A0"/>
                </a:solidFill>
                <a:latin typeface="+mn-lt"/>
              </a:rPr>
              <a:t>位</a:t>
            </a:r>
            <a:r>
              <a:rPr lang="en-US" altLang="zh-CN" b="1" dirty="0" smtClean="0">
                <a:solidFill>
                  <a:srgbClr val="7030A0"/>
                </a:solidFill>
                <a:latin typeface="+mn-lt"/>
              </a:rPr>
              <a:t>)=17</a:t>
            </a:r>
            <a:r>
              <a:rPr lang="zh-CN" altLang="zh-CN" b="1" dirty="0">
                <a:solidFill>
                  <a:srgbClr val="7030A0"/>
                </a:solidFill>
                <a:latin typeface="+mn-lt"/>
              </a:rPr>
              <a:t>位</a:t>
            </a:r>
            <a:r>
              <a:rPr lang="zh-CN" altLang="zh-CN" b="1" dirty="0">
                <a:latin typeface="+mn-lt"/>
              </a:rPr>
              <a:t>。</a:t>
            </a:r>
            <a:endParaRPr lang="en-US" altLang="zh-CN" b="1" kern="10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4779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29" name="Text Box 313"/>
          <p:cNvSpPr txBox="1">
            <a:spLocks noChangeArrowheads="1"/>
          </p:cNvSpPr>
          <p:nvPr/>
        </p:nvSpPr>
        <p:spPr bwMode="auto">
          <a:xfrm>
            <a:off x="179388" y="247650"/>
            <a:ext cx="8785225" cy="1994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990099"/>
                </a:solidFill>
                <a:latin typeface="宋体" pitchFamily="2" charset="-122"/>
              </a:rPr>
              <a:t>    </a:t>
            </a:r>
            <a:r>
              <a:rPr lang="zh-CN" altLang="en-US" b="1" dirty="0" smtClean="0">
                <a:solidFill>
                  <a:srgbClr val="990099"/>
                </a:solidFill>
                <a:latin typeface="+mn-lt"/>
              </a:rPr>
              <a:t>例</a:t>
            </a:r>
            <a:r>
              <a:rPr lang="en-US" altLang="zh-CN" b="1" dirty="0" smtClean="0">
                <a:solidFill>
                  <a:srgbClr val="990099"/>
                </a:solidFill>
                <a:latin typeface="+mn-lt"/>
              </a:rPr>
              <a:t>3</a:t>
            </a:r>
            <a:r>
              <a:rPr lang="zh-CN" altLang="en-US" b="1" dirty="0" smtClean="0">
                <a:solidFill>
                  <a:srgbClr val="990099"/>
                </a:solidFill>
                <a:latin typeface="+mn-lt"/>
              </a:rPr>
              <a:t>：</a:t>
            </a:r>
            <a:r>
              <a:rPr lang="zh-CN" altLang="en-US" b="1" dirty="0" smtClean="0">
                <a:solidFill>
                  <a:srgbClr val="000000"/>
                </a:solidFill>
                <a:latin typeface="+mn-lt"/>
              </a:rPr>
              <a:t>主存地址空间为</a:t>
            </a:r>
            <a:r>
              <a:rPr lang="en-US" altLang="zh-CN" b="1" dirty="0" smtClean="0">
                <a:solidFill>
                  <a:srgbClr val="000000"/>
                </a:solidFill>
                <a:latin typeface="+mn-lt"/>
              </a:rPr>
              <a:t>16M</a:t>
            </a:r>
            <a:r>
              <a:rPr lang="zh-CN" altLang="en-US" b="1" dirty="0" smtClean="0">
                <a:solidFill>
                  <a:srgbClr val="000000"/>
                </a:solidFill>
                <a:latin typeface="+mn-lt"/>
              </a:rPr>
              <a:t>、按</a:t>
            </a:r>
            <a:r>
              <a:rPr lang="zh-CN" altLang="en-US" b="1" dirty="0">
                <a:solidFill>
                  <a:srgbClr val="000000"/>
                </a:solidFill>
                <a:latin typeface="+mn-lt"/>
              </a:rPr>
              <a:t>字节编址，块大小</a:t>
            </a:r>
            <a:r>
              <a:rPr lang="en-US" altLang="zh-CN" b="1" dirty="0" smtClean="0">
                <a:solidFill>
                  <a:srgbClr val="000000"/>
                </a:solidFill>
                <a:latin typeface="+mn-lt"/>
              </a:rPr>
              <a:t>32B</a:t>
            </a:r>
            <a:r>
              <a:rPr lang="zh-CN" altLang="en-US" b="1" dirty="0" smtClean="0">
                <a:solidFill>
                  <a:srgbClr val="000000"/>
                </a:solidFill>
                <a:latin typeface="+mn-lt"/>
              </a:rPr>
              <a:t>；</a:t>
            </a:r>
            <a:r>
              <a:rPr lang="en-US" altLang="zh-CN" b="1" dirty="0" smtClean="0">
                <a:solidFill>
                  <a:srgbClr val="000000"/>
                </a:solidFill>
                <a:latin typeface="+mn-lt"/>
              </a:rPr>
              <a:t>Cache</a:t>
            </a:r>
            <a:r>
              <a:rPr lang="zh-CN" altLang="en-US" b="1" dirty="0">
                <a:solidFill>
                  <a:srgbClr val="000000"/>
                </a:solidFill>
                <a:latin typeface="+mn-lt"/>
              </a:rPr>
              <a:t>容量为</a:t>
            </a:r>
            <a:r>
              <a:rPr lang="en-US" altLang="zh-CN" b="1" dirty="0" smtClean="0">
                <a:solidFill>
                  <a:srgbClr val="000000"/>
                </a:solidFill>
                <a:latin typeface="+mn-lt"/>
              </a:rPr>
              <a:t>8KB</a:t>
            </a:r>
            <a:r>
              <a:rPr lang="zh-CN" altLang="en-US" b="1" dirty="0" smtClean="0">
                <a:solidFill>
                  <a:srgbClr val="000000"/>
                </a:solidFill>
                <a:latin typeface="+mn-lt"/>
              </a:rPr>
              <a:t>，采用</a:t>
            </a:r>
            <a:r>
              <a:rPr lang="en-US" altLang="zh-CN" b="1" dirty="0">
                <a:solidFill>
                  <a:srgbClr val="000000"/>
                </a:solidFill>
                <a:latin typeface="+mn-lt"/>
              </a:rPr>
              <a:t>4</a:t>
            </a:r>
            <a:r>
              <a:rPr lang="zh-CN" altLang="en-US" b="1" dirty="0">
                <a:solidFill>
                  <a:srgbClr val="000000"/>
                </a:solidFill>
                <a:latin typeface="+mn-lt"/>
              </a:rPr>
              <a:t>路组相联映射</a:t>
            </a:r>
            <a:r>
              <a:rPr lang="zh-CN" altLang="en-US" b="1" dirty="0" smtClean="0">
                <a:solidFill>
                  <a:srgbClr val="000000"/>
                </a:solidFill>
                <a:latin typeface="+mn-lt"/>
              </a:rPr>
              <a:t>方式。⑴</a:t>
            </a:r>
            <a:r>
              <a:rPr lang="zh-CN" altLang="en-US" b="1" dirty="0">
                <a:solidFill>
                  <a:srgbClr val="000000"/>
                </a:solidFill>
                <a:latin typeface="+mn-lt"/>
              </a:rPr>
              <a:t>主存地址如何</a:t>
            </a:r>
            <a:r>
              <a:rPr lang="zh-CN" altLang="en-US" b="1" dirty="0" smtClean="0">
                <a:solidFill>
                  <a:srgbClr val="000000"/>
                </a:solidFill>
                <a:latin typeface="+mn-lt"/>
              </a:rPr>
              <a:t>划分？ ⑵若</a:t>
            </a:r>
            <a:r>
              <a:rPr lang="en-US" altLang="zh-CN" b="1" dirty="0" smtClean="0">
                <a:solidFill>
                  <a:srgbClr val="000000"/>
                </a:solidFill>
                <a:latin typeface="+mn-lt"/>
              </a:rPr>
              <a:t>Cache</a:t>
            </a:r>
            <a:r>
              <a:rPr lang="zh-CN" altLang="en-US" b="1" dirty="0">
                <a:solidFill>
                  <a:srgbClr val="000000"/>
                </a:solidFill>
                <a:latin typeface="+mn-lt"/>
              </a:rPr>
              <a:t>初态为空，</a:t>
            </a:r>
            <a:r>
              <a:rPr lang="en-US" altLang="zh-CN" b="1" dirty="0">
                <a:solidFill>
                  <a:srgbClr val="000000"/>
                </a:solidFill>
                <a:latin typeface="+mn-lt"/>
              </a:rPr>
              <a:t>CPU</a:t>
            </a:r>
            <a:r>
              <a:rPr lang="zh-CN" altLang="en-US" b="1" dirty="0">
                <a:solidFill>
                  <a:srgbClr val="000000"/>
                </a:solidFill>
                <a:latin typeface="+mn-lt"/>
              </a:rPr>
              <a:t>从</a:t>
            </a:r>
            <a:r>
              <a:rPr lang="en-US" altLang="zh-CN" b="1" dirty="0">
                <a:solidFill>
                  <a:srgbClr val="000000"/>
                </a:solidFill>
                <a:latin typeface="+mn-lt"/>
              </a:rPr>
              <a:t>0</a:t>
            </a:r>
            <a:r>
              <a:rPr lang="en-US" altLang="zh-CN" b="1" dirty="0" smtClean="0">
                <a:solidFill>
                  <a:srgbClr val="000000"/>
                </a:solidFill>
                <a:latin typeface="+mn-lt"/>
              </a:rPr>
              <a:t>#</a:t>
            </a:r>
            <a:r>
              <a:rPr lang="zh-CN" altLang="en-US" b="1" dirty="0" smtClean="0">
                <a:solidFill>
                  <a:srgbClr val="000000"/>
                </a:solidFill>
                <a:latin typeface="+mn-lt"/>
              </a:rPr>
              <a:t>单元起连续读出</a:t>
            </a:r>
            <a:r>
              <a:rPr lang="en-US" altLang="zh-CN" b="1" dirty="0" smtClean="0">
                <a:solidFill>
                  <a:srgbClr val="000000"/>
                </a:solidFill>
                <a:latin typeface="+mn-lt"/>
              </a:rPr>
              <a:t>100B</a:t>
            </a:r>
            <a:r>
              <a:rPr lang="zh-CN" altLang="en-US" b="1" dirty="0">
                <a:solidFill>
                  <a:srgbClr val="000000"/>
                </a:solidFill>
                <a:latin typeface="+mn-lt"/>
              </a:rPr>
              <a:t>数据</a:t>
            </a:r>
            <a:r>
              <a:rPr lang="en-US" altLang="zh-CN" b="1" dirty="0" smtClean="0">
                <a:solidFill>
                  <a:srgbClr val="000000"/>
                </a:solidFill>
                <a:latin typeface="+mn-lt"/>
              </a:rPr>
              <a:t>(1B/</a:t>
            </a:r>
            <a:r>
              <a:rPr lang="zh-CN" altLang="en-US" b="1" dirty="0" smtClean="0">
                <a:solidFill>
                  <a:srgbClr val="000000"/>
                </a:solidFill>
                <a:latin typeface="+mn-lt"/>
              </a:rPr>
              <a:t>次</a:t>
            </a:r>
            <a:r>
              <a:rPr lang="en-US" altLang="zh-CN" b="1" dirty="0" smtClean="0">
                <a:solidFill>
                  <a:srgbClr val="000000"/>
                </a:solidFill>
                <a:latin typeface="+mn-lt"/>
              </a:rPr>
              <a:t>)</a:t>
            </a:r>
            <a:r>
              <a:rPr lang="zh-CN" altLang="en-US" b="1" dirty="0">
                <a:solidFill>
                  <a:srgbClr val="000000"/>
                </a:solidFill>
                <a:latin typeface="+mn-lt"/>
              </a:rPr>
              <a:t>，</a:t>
            </a:r>
            <a:r>
              <a:rPr lang="zh-CN" altLang="en-US" b="1" dirty="0" smtClean="0">
                <a:solidFill>
                  <a:srgbClr val="000000"/>
                </a:solidFill>
                <a:latin typeface="+mn-lt"/>
              </a:rPr>
              <a:t>此时</a:t>
            </a:r>
            <a:r>
              <a:rPr lang="en-US" altLang="zh-CN" b="1" dirty="0" smtClean="0">
                <a:solidFill>
                  <a:srgbClr val="000000"/>
                </a:solidFill>
                <a:latin typeface="+mn-lt"/>
              </a:rPr>
              <a:t>Cache</a:t>
            </a:r>
            <a:r>
              <a:rPr lang="zh-CN" altLang="en-US" b="1" dirty="0" smtClean="0">
                <a:solidFill>
                  <a:srgbClr val="000000"/>
                </a:solidFill>
                <a:latin typeface="+mn-lt"/>
              </a:rPr>
              <a:t>的命中率？</a:t>
            </a:r>
            <a:r>
              <a:rPr lang="zh-CN" altLang="en-US" b="1" dirty="0">
                <a:solidFill>
                  <a:srgbClr val="0000CC"/>
                </a:solidFill>
                <a:latin typeface="+mn-lt"/>
              </a:rPr>
              <a:t>平均访问时间是多少</a:t>
            </a:r>
            <a:r>
              <a:rPr lang="zh-CN" altLang="en-US" b="1" dirty="0" smtClean="0">
                <a:solidFill>
                  <a:srgbClr val="0000CC"/>
                </a:solidFill>
                <a:latin typeface="+mn-lt"/>
              </a:rPr>
              <a:t>？</a:t>
            </a:r>
            <a:r>
              <a:rPr lang="zh-CN" altLang="en-US" b="1" dirty="0" smtClean="0">
                <a:solidFill>
                  <a:srgbClr val="000000"/>
                </a:solidFill>
                <a:latin typeface="+mn-lt"/>
              </a:rPr>
              <a:t>⑶若题⑵中的</a:t>
            </a:r>
            <a:r>
              <a:rPr lang="en-US" altLang="zh-CN" b="1" dirty="0">
                <a:latin typeface="+mn-lt"/>
              </a:rPr>
              <a:t>100B</a:t>
            </a:r>
            <a:r>
              <a:rPr lang="zh-CN" altLang="en-US" b="1" dirty="0">
                <a:solidFill>
                  <a:srgbClr val="000000"/>
                </a:solidFill>
                <a:latin typeface="+mn-lt"/>
              </a:rPr>
              <a:t>数据从</a:t>
            </a:r>
            <a:r>
              <a:rPr lang="en-US" altLang="zh-CN" b="1" dirty="0">
                <a:solidFill>
                  <a:srgbClr val="000000"/>
                </a:solidFill>
                <a:latin typeface="+mn-lt"/>
              </a:rPr>
              <a:t>62#</a:t>
            </a:r>
            <a:r>
              <a:rPr lang="zh-CN" altLang="en-US" b="1" dirty="0">
                <a:solidFill>
                  <a:srgbClr val="000000"/>
                </a:solidFill>
                <a:latin typeface="+mn-lt"/>
              </a:rPr>
              <a:t>单元起存储，</a:t>
            </a:r>
            <a:r>
              <a:rPr lang="zh-CN" altLang="en-US" b="1" dirty="0" smtClean="0">
                <a:solidFill>
                  <a:srgbClr val="000000"/>
                </a:solidFill>
                <a:latin typeface="+mn-lt"/>
              </a:rPr>
              <a:t>则命中率又为多少？</a:t>
            </a:r>
            <a:endParaRPr lang="zh-CN" altLang="en-US" b="1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14330" name="Text Box 314"/>
          <p:cNvSpPr txBox="1">
            <a:spLocks noChangeArrowheads="1"/>
          </p:cNvSpPr>
          <p:nvPr/>
        </p:nvSpPr>
        <p:spPr bwMode="auto">
          <a:xfrm>
            <a:off x="179388" y="2357430"/>
            <a:ext cx="8785225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990099"/>
                </a:solidFill>
                <a:latin typeface="宋体" pitchFamily="2" charset="-122"/>
              </a:rPr>
              <a:t>    </a:t>
            </a:r>
            <a:r>
              <a:rPr lang="zh-CN" altLang="en-US" b="1" dirty="0">
                <a:solidFill>
                  <a:srgbClr val="990099"/>
                </a:solidFill>
                <a:latin typeface="宋体" pitchFamily="2" charset="-122"/>
              </a:rPr>
              <a:t>解：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⑴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Cache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有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(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8KB/32B)/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4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＝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64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个组，组号为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log</a:t>
            </a:r>
            <a:r>
              <a:rPr lang="en-US" altLang="zh-CN" b="1" baseline="-18000" dirty="0" smtClean="0">
                <a:solidFill>
                  <a:srgbClr val="000000"/>
                </a:solidFill>
                <a:latin typeface="宋体" pitchFamily="2" charset="-122"/>
              </a:rPr>
              <a:t>2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64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＝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6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位</a:t>
            </a:r>
            <a:endParaRPr lang="en-US" altLang="zh-CN" b="1" dirty="0" smtClean="0">
              <a:solidFill>
                <a:srgbClr val="0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  <a:spcBef>
                <a:spcPts val="1800"/>
              </a:spcBef>
            </a:pP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           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主存地址组成：</a:t>
            </a:r>
            <a:endParaRPr lang="zh-CN" altLang="en-US" b="1" dirty="0">
              <a:solidFill>
                <a:srgbClr val="000000"/>
              </a:solidFill>
              <a:latin typeface="宋体" pitchFamily="2" charset="-122"/>
            </a:endParaRPr>
          </a:p>
        </p:txBody>
      </p:sp>
      <p:grpSp>
        <p:nvGrpSpPr>
          <p:cNvPr id="214383" name="Group 367"/>
          <p:cNvGrpSpPr>
            <a:grpSpLocks/>
          </p:cNvGrpSpPr>
          <p:nvPr/>
        </p:nvGrpSpPr>
        <p:grpSpPr bwMode="auto">
          <a:xfrm>
            <a:off x="4355976" y="2780928"/>
            <a:ext cx="3455987" cy="311150"/>
            <a:chOff x="3334" y="2372"/>
            <a:chExt cx="2177" cy="196"/>
          </a:xfrm>
        </p:grpSpPr>
        <p:sp>
          <p:nvSpPr>
            <p:cNvPr id="214333" name="Line 317"/>
            <p:cNvSpPr>
              <a:spLocks noChangeShapeType="1"/>
            </p:cNvSpPr>
            <p:nvPr/>
          </p:nvSpPr>
          <p:spPr bwMode="auto">
            <a:xfrm>
              <a:off x="4785" y="2417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u="sng">
                <a:solidFill>
                  <a:srgbClr val="000000"/>
                </a:solidFill>
              </a:endParaRPr>
            </a:p>
          </p:txBody>
        </p:sp>
        <p:sp>
          <p:nvSpPr>
            <p:cNvPr id="214334" name="Line 318"/>
            <p:cNvSpPr>
              <a:spLocks noChangeShapeType="1"/>
            </p:cNvSpPr>
            <p:nvPr/>
          </p:nvSpPr>
          <p:spPr bwMode="auto">
            <a:xfrm>
              <a:off x="5511" y="2417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u="sng">
                <a:solidFill>
                  <a:srgbClr val="000000"/>
                </a:solidFill>
              </a:endParaRPr>
            </a:p>
          </p:txBody>
        </p:sp>
        <p:sp>
          <p:nvSpPr>
            <p:cNvPr id="214335" name="Text Box 319"/>
            <p:cNvSpPr txBox="1">
              <a:spLocks noChangeArrowheads="1"/>
            </p:cNvSpPr>
            <p:nvPr/>
          </p:nvSpPr>
          <p:spPr bwMode="auto">
            <a:xfrm>
              <a:off x="5012" y="2372"/>
              <a:ext cx="272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/>
            <a:lstStyle/>
            <a:p>
              <a:r>
                <a:rPr lang="en-US" altLang="zh-CN" sz="1800" b="1">
                  <a:solidFill>
                    <a:srgbClr val="CC3300"/>
                  </a:solidFill>
                  <a:latin typeface="宋体" pitchFamily="2" charset="-122"/>
                </a:rPr>
                <a:t>5</a:t>
              </a:r>
              <a:r>
                <a:rPr lang="zh-CN" altLang="en-US" sz="1800" b="1">
                  <a:solidFill>
                    <a:srgbClr val="CC3300"/>
                  </a:solidFill>
                  <a:latin typeface="宋体" pitchFamily="2" charset="-122"/>
                </a:rPr>
                <a:t>位</a:t>
              </a:r>
            </a:p>
          </p:txBody>
        </p:sp>
        <p:sp>
          <p:nvSpPr>
            <p:cNvPr id="214336" name="Line 320"/>
            <p:cNvSpPr>
              <a:spLocks noChangeShapeType="1"/>
            </p:cNvSpPr>
            <p:nvPr/>
          </p:nvSpPr>
          <p:spPr bwMode="auto">
            <a:xfrm>
              <a:off x="5239" y="2478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u="sng">
                <a:solidFill>
                  <a:srgbClr val="000000"/>
                </a:solidFill>
              </a:endParaRPr>
            </a:p>
          </p:txBody>
        </p:sp>
        <p:sp>
          <p:nvSpPr>
            <p:cNvPr id="214337" name="Line 321"/>
            <p:cNvSpPr>
              <a:spLocks noChangeShapeType="1"/>
            </p:cNvSpPr>
            <p:nvPr/>
          </p:nvSpPr>
          <p:spPr bwMode="auto">
            <a:xfrm flipV="1">
              <a:off x="3833" y="247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u="sng">
                <a:solidFill>
                  <a:srgbClr val="000000"/>
                </a:solidFill>
              </a:endParaRPr>
            </a:p>
          </p:txBody>
        </p:sp>
        <p:sp>
          <p:nvSpPr>
            <p:cNvPr id="214338" name="Line 322"/>
            <p:cNvSpPr>
              <a:spLocks noChangeShapeType="1"/>
            </p:cNvSpPr>
            <p:nvPr/>
          </p:nvSpPr>
          <p:spPr bwMode="auto">
            <a:xfrm flipH="1">
              <a:off x="4785" y="2478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u="sng">
                <a:solidFill>
                  <a:srgbClr val="000000"/>
                </a:solidFill>
              </a:endParaRPr>
            </a:p>
          </p:txBody>
        </p:sp>
        <p:sp>
          <p:nvSpPr>
            <p:cNvPr id="214340" name="Line 324"/>
            <p:cNvSpPr>
              <a:spLocks noChangeShapeType="1"/>
            </p:cNvSpPr>
            <p:nvPr/>
          </p:nvSpPr>
          <p:spPr bwMode="auto">
            <a:xfrm>
              <a:off x="3334" y="2417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u="sng">
                <a:solidFill>
                  <a:srgbClr val="000000"/>
                </a:solidFill>
              </a:endParaRPr>
            </a:p>
          </p:txBody>
        </p:sp>
        <p:sp>
          <p:nvSpPr>
            <p:cNvPr id="214341" name="Text Box 325"/>
            <p:cNvSpPr txBox="1">
              <a:spLocks noChangeArrowheads="1"/>
            </p:cNvSpPr>
            <p:nvPr/>
          </p:nvSpPr>
          <p:spPr bwMode="auto">
            <a:xfrm>
              <a:off x="3515" y="2372"/>
              <a:ext cx="318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/>
            <a:lstStyle/>
            <a:p>
              <a:r>
                <a:rPr lang="en-US" altLang="zh-CN" sz="1800" b="1" dirty="0">
                  <a:solidFill>
                    <a:srgbClr val="CC3300"/>
                  </a:solidFill>
                  <a:latin typeface="宋体" pitchFamily="2" charset="-122"/>
                </a:rPr>
                <a:t>13</a:t>
              </a:r>
              <a:r>
                <a:rPr lang="zh-CN" altLang="en-US" sz="1800" b="1" dirty="0">
                  <a:solidFill>
                    <a:srgbClr val="CC3300"/>
                  </a:solidFill>
                  <a:latin typeface="宋体" pitchFamily="2" charset="-122"/>
                </a:rPr>
                <a:t>位</a:t>
              </a:r>
            </a:p>
          </p:txBody>
        </p:sp>
        <p:sp>
          <p:nvSpPr>
            <p:cNvPr id="214342" name="Line 326"/>
            <p:cNvSpPr>
              <a:spLocks noChangeShapeType="1"/>
            </p:cNvSpPr>
            <p:nvPr/>
          </p:nvSpPr>
          <p:spPr bwMode="auto">
            <a:xfrm flipH="1">
              <a:off x="3334" y="2478"/>
              <a:ext cx="1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u="sng">
                <a:solidFill>
                  <a:srgbClr val="000000"/>
                </a:solidFill>
              </a:endParaRPr>
            </a:p>
          </p:txBody>
        </p:sp>
        <p:sp>
          <p:nvSpPr>
            <p:cNvPr id="214344" name="Line 328"/>
            <p:cNvSpPr>
              <a:spLocks noChangeShapeType="1"/>
            </p:cNvSpPr>
            <p:nvPr/>
          </p:nvSpPr>
          <p:spPr bwMode="auto">
            <a:xfrm>
              <a:off x="4014" y="2417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u="sng">
                <a:solidFill>
                  <a:srgbClr val="000000"/>
                </a:solidFill>
              </a:endParaRPr>
            </a:p>
          </p:txBody>
        </p:sp>
        <p:sp>
          <p:nvSpPr>
            <p:cNvPr id="214345" name="Line 329"/>
            <p:cNvSpPr>
              <a:spLocks noChangeShapeType="1"/>
            </p:cNvSpPr>
            <p:nvPr/>
          </p:nvSpPr>
          <p:spPr bwMode="auto">
            <a:xfrm flipV="1">
              <a:off x="4513" y="2478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u="sng">
                <a:solidFill>
                  <a:srgbClr val="000000"/>
                </a:solidFill>
              </a:endParaRPr>
            </a:p>
          </p:txBody>
        </p:sp>
        <p:sp>
          <p:nvSpPr>
            <p:cNvPr id="214346" name="Text Box 330"/>
            <p:cNvSpPr txBox="1">
              <a:spLocks noChangeArrowheads="1"/>
            </p:cNvSpPr>
            <p:nvPr/>
          </p:nvSpPr>
          <p:spPr bwMode="auto">
            <a:xfrm>
              <a:off x="4286" y="2372"/>
              <a:ext cx="272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/>
            <a:lstStyle/>
            <a:p>
              <a:r>
                <a:rPr lang="en-US" altLang="zh-CN" sz="1800" b="1">
                  <a:solidFill>
                    <a:srgbClr val="CC3300"/>
                  </a:solidFill>
                  <a:latin typeface="宋体" pitchFamily="2" charset="-122"/>
                </a:rPr>
                <a:t>6</a:t>
              </a:r>
              <a:r>
                <a:rPr lang="zh-CN" altLang="en-US" sz="1800" b="1">
                  <a:solidFill>
                    <a:srgbClr val="CC3300"/>
                  </a:solidFill>
                  <a:latin typeface="宋体" pitchFamily="2" charset="-122"/>
                </a:rPr>
                <a:t>位</a:t>
              </a:r>
            </a:p>
          </p:txBody>
        </p:sp>
        <p:sp>
          <p:nvSpPr>
            <p:cNvPr id="214347" name="Line 331"/>
            <p:cNvSpPr>
              <a:spLocks noChangeShapeType="1"/>
            </p:cNvSpPr>
            <p:nvPr/>
          </p:nvSpPr>
          <p:spPr bwMode="auto">
            <a:xfrm flipH="1">
              <a:off x="4014" y="2478"/>
              <a:ext cx="2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u="sng">
                <a:solidFill>
                  <a:srgbClr val="000000"/>
                </a:solidFill>
              </a:endParaRPr>
            </a:p>
          </p:txBody>
        </p:sp>
      </p:grpSp>
      <p:grpSp>
        <p:nvGrpSpPr>
          <p:cNvPr id="214382" name="Group 366"/>
          <p:cNvGrpSpPr>
            <a:grpSpLocks/>
          </p:cNvGrpSpPr>
          <p:nvPr/>
        </p:nvGrpSpPr>
        <p:grpSpPr bwMode="auto">
          <a:xfrm>
            <a:off x="4355976" y="3093671"/>
            <a:ext cx="3455987" cy="360363"/>
            <a:chOff x="1837" y="2523"/>
            <a:chExt cx="2177" cy="227"/>
          </a:xfrm>
        </p:grpSpPr>
        <p:sp>
          <p:nvSpPr>
            <p:cNvPr id="214332" name="Text Box 316"/>
            <p:cNvSpPr txBox="1">
              <a:spLocks noChangeArrowheads="1"/>
            </p:cNvSpPr>
            <p:nvPr/>
          </p:nvSpPr>
          <p:spPr bwMode="auto">
            <a:xfrm>
              <a:off x="3288" y="2523"/>
              <a:ext cx="726" cy="227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>
                  <a:solidFill>
                    <a:srgbClr val="000000"/>
                  </a:solidFill>
                  <a:latin typeface="宋体" pitchFamily="2" charset="-122"/>
                </a:rPr>
                <a:t>块内地址</a:t>
              </a:r>
            </a:p>
          </p:txBody>
        </p:sp>
        <p:sp>
          <p:nvSpPr>
            <p:cNvPr id="214339" name="Text Box 323"/>
            <p:cNvSpPr txBox="1">
              <a:spLocks noChangeArrowheads="1"/>
            </p:cNvSpPr>
            <p:nvPr/>
          </p:nvSpPr>
          <p:spPr bwMode="auto">
            <a:xfrm>
              <a:off x="1837" y="2523"/>
              <a:ext cx="680" cy="22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solidFill>
                    <a:srgbClr val="000000"/>
                  </a:solidFill>
                  <a:latin typeface="宋体" pitchFamily="2" charset="-122"/>
                </a:rPr>
                <a:t>群号</a:t>
              </a:r>
              <a:endParaRPr lang="zh-CN" altLang="en-US" sz="1800" b="1" dirty="0">
                <a:solidFill>
                  <a:srgbClr val="000000"/>
                </a:solidFill>
                <a:latin typeface="宋体" pitchFamily="2" charset="-122"/>
              </a:endParaRPr>
            </a:p>
          </p:txBody>
        </p:sp>
        <p:sp>
          <p:nvSpPr>
            <p:cNvPr id="214343" name="Text Box 327"/>
            <p:cNvSpPr txBox="1">
              <a:spLocks noChangeArrowheads="1"/>
            </p:cNvSpPr>
            <p:nvPr/>
          </p:nvSpPr>
          <p:spPr bwMode="auto">
            <a:xfrm>
              <a:off x="2517" y="2523"/>
              <a:ext cx="771" cy="22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zh-CN" altLang="en-US" sz="1800" b="1" dirty="0" smtClean="0">
                  <a:solidFill>
                    <a:srgbClr val="000000"/>
                  </a:solidFill>
                  <a:latin typeface="宋体" pitchFamily="2" charset="-122"/>
                </a:rPr>
                <a:t>群内块号</a:t>
              </a:r>
              <a:endParaRPr lang="zh-CN" altLang="en-US" sz="1800" b="1" dirty="0">
                <a:solidFill>
                  <a:srgbClr val="000000"/>
                </a:solidFill>
                <a:latin typeface="宋体" pitchFamily="2" charset="-122"/>
              </a:endParaRPr>
            </a:p>
          </p:txBody>
        </p:sp>
      </p:grpSp>
      <p:sp>
        <p:nvSpPr>
          <p:cNvPr id="214367" name="Text Box 351"/>
          <p:cNvSpPr txBox="1">
            <a:spLocks noChangeArrowheads="1"/>
          </p:cNvSpPr>
          <p:nvPr/>
        </p:nvSpPr>
        <p:spPr bwMode="auto">
          <a:xfrm>
            <a:off x="179389" y="3603925"/>
            <a:ext cx="8785225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990099"/>
                </a:solidFill>
                <a:latin typeface="宋体" pitchFamily="2" charset="-122"/>
              </a:rPr>
              <a:t>    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⑵100B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数据放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在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连续的 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  <a:sym typeface="Symbol"/>
              </a:rPr>
              <a:t>                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个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主存块中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，</a:t>
            </a:r>
            <a:endParaRPr lang="en-US" altLang="zh-CN" b="1" dirty="0" smtClean="0">
              <a:solidFill>
                <a:srgbClr val="0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     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数据调入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Cache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时，放在 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      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 组中，</a:t>
            </a:r>
            <a:endParaRPr lang="en-US" altLang="zh-CN" b="1" dirty="0" smtClean="0">
              <a:solidFill>
                <a:srgbClr val="0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     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连续访问时，每个块不命中的块内地址是</a:t>
            </a:r>
            <a:endParaRPr lang="en-US" altLang="zh-CN" b="1" dirty="0" smtClean="0">
              <a:solidFill>
                <a:srgbClr val="000000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      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因此，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Cache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命中率＝      </a:t>
            </a:r>
            <a:endParaRPr lang="zh-CN" altLang="en-US" b="1" dirty="0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214368" name="Text Box 352"/>
          <p:cNvSpPr txBox="1">
            <a:spLocks noChangeArrowheads="1"/>
          </p:cNvSpPr>
          <p:nvPr/>
        </p:nvSpPr>
        <p:spPr bwMode="auto">
          <a:xfrm>
            <a:off x="179389" y="5445224"/>
            <a:ext cx="8497068" cy="952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903288" indent="-903288">
              <a:lnSpc>
                <a:spcPct val="125000"/>
              </a:lnSpc>
            </a:pPr>
            <a:r>
              <a:rPr lang="en-US" altLang="zh-CN" b="1" dirty="0">
                <a:solidFill>
                  <a:srgbClr val="990099"/>
                </a:solidFill>
                <a:latin typeface="宋体" pitchFamily="2" charset="-122"/>
              </a:rPr>
              <a:t>    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⑶100B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数据从</a:t>
            </a:r>
            <a:r>
              <a:rPr lang="en-US" altLang="zh-CN" b="1" dirty="0">
                <a:solidFill>
                  <a:srgbClr val="000000"/>
                </a:solidFill>
                <a:latin typeface="宋体" pitchFamily="2" charset="-122"/>
              </a:rPr>
              <a:t>62#</a:t>
            </a:r>
            <a:r>
              <a:rPr lang="zh-CN" altLang="en-US" b="1" dirty="0">
                <a:solidFill>
                  <a:srgbClr val="000000"/>
                </a:solidFill>
                <a:latin typeface="宋体" pitchFamily="2" charset="-122"/>
              </a:rPr>
              <a:t>单元起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存储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[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  <a:sym typeface="Symbol"/>
              </a:rPr>
              <a:t>(62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  <a:sym typeface="Symbol"/>
              </a:rPr>
              <a:t>、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  <a:sym typeface="Symbol"/>
              </a:rPr>
              <a:t>63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  <a:sym typeface="Symbol"/>
              </a:rPr>
              <a:t>；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  <a:sym typeface="Symbol"/>
              </a:rPr>
              <a:t>64</a:t>
            </a:r>
            <a:r>
              <a:rPr lang="zh-CN" altLang="en-US" b="1" dirty="0" smtClean="0">
                <a:solidFill>
                  <a:srgbClr val="3333CC"/>
                </a:solidFill>
                <a:latin typeface="宋体" pitchFamily="2" charset="-122"/>
              </a:rPr>
              <a:t>～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  <a:sym typeface="Symbol"/>
              </a:rPr>
              <a:t>95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  <a:sym typeface="Symbol"/>
              </a:rPr>
              <a:t>；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  <a:sym typeface="Symbol"/>
              </a:rPr>
              <a:t>96</a:t>
            </a:r>
            <a:r>
              <a:rPr lang="zh-CN" altLang="en-US" b="1" dirty="0" smtClean="0">
                <a:solidFill>
                  <a:srgbClr val="3333CC"/>
                </a:solidFill>
                <a:latin typeface="宋体" pitchFamily="2" charset="-122"/>
              </a:rPr>
              <a:t>～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  <a:sym typeface="Symbol"/>
              </a:rPr>
              <a:t>99]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＝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3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个块中。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H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＝（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38-3</a:t>
            </a:r>
            <a:r>
              <a:rPr lang="zh-CN" altLang="en-US" b="1" dirty="0" smtClean="0">
                <a:solidFill>
                  <a:srgbClr val="000000"/>
                </a:solidFill>
                <a:latin typeface="宋体" pitchFamily="2" charset="-122"/>
              </a:rPr>
              <a:t>）</a:t>
            </a:r>
            <a:r>
              <a:rPr lang="en-US" altLang="zh-CN" b="1" dirty="0" smtClean="0">
                <a:solidFill>
                  <a:srgbClr val="000000"/>
                </a:solidFill>
                <a:latin typeface="宋体" pitchFamily="2" charset="-122"/>
              </a:rPr>
              <a:t>/38=92%</a:t>
            </a:r>
            <a:endParaRPr lang="en-US" altLang="zh-CN" b="1" dirty="0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214376" name="Text Box 360"/>
          <p:cNvSpPr txBox="1">
            <a:spLocks noChangeArrowheads="1"/>
          </p:cNvSpPr>
          <p:nvPr/>
        </p:nvSpPr>
        <p:spPr bwMode="auto">
          <a:xfrm>
            <a:off x="3881407" y="3573016"/>
            <a:ext cx="3642921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3333CC"/>
                </a:solidFill>
                <a:latin typeface="宋体" pitchFamily="2" charset="-122"/>
              </a:rPr>
              <a:t>[</a:t>
            </a:r>
            <a:r>
              <a:rPr lang="en-US" altLang="zh-CN" b="1" dirty="0" smtClean="0">
                <a:solidFill>
                  <a:srgbClr val="3333CC"/>
                </a:solidFill>
                <a:latin typeface="宋体" pitchFamily="2" charset="-122"/>
                <a:sym typeface="Symbol"/>
              </a:rPr>
              <a:t>(</a:t>
            </a:r>
            <a:r>
              <a:rPr lang="en-US" altLang="zh-CN" b="1" dirty="0">
                <a:solidFill>
                  <a:srgbClr val="3333CC"/>
                </a:solidFill>
                <a:latin typeface="宋体" pitchFamily="2" charset="-122"/>
              </a:rPr>
              <a:t>100</a:t>
            </a:r>
            <a:r>
              <a:rPr lang="zh-CN" altLang="en-US" b="1" dirty="0">
                <a:solidFill>
                  <a:srgbClr val="3333CC"/>
                </a:solidFill>
                <a:latin typeface="宋体" pitchFamily="2" charset="-122"/>
              </a:rPr>
              <a:t>＋</a:t>
            </a:r>
            <a:r>
              <a:rPr lang="en-US" altLang="zh-CN" b="1" dirty="0">
                <a:solidFill>
                  <a:srgbClr val="3333CC"/>
                </a:solidFill>
                <a:latin typeface="宋体" pitchFamily="2" charset="-122"/>
              </a:rPr>
              <a:t>0)/</a:t>
            </a:r>
            <a:r>
              <a:rPr lang="en-US" altLang="zh-CN" b="1" dirty="0" smtClean="0">
                <a:solidFill>
                  <a:srgbClr val="3333CC"/>
                </a:solidFill>
                <a:latin typeface="宋体" pitchFamily="2" charset="-122"/>
              </a:rPr>
              <a:t>32]</a:t>
            </a:r>
            <a:r>
              <a:rPr lang="zh-CN" altLang="en-US" b="1" dirty="0" smtClean="0">
                <a:solidFill>
                  <a:srgbClr val="3333CC"/>
                </a:solidFill>
                <a:latin typeface="宋体" pitchFamily="2" charset="-122"/>
              </a:rPr>
              <a:t>＝</a:t>
            </a:r>
            <a:r>
              <a:rPr lang="en-US" altLang="zh-CN" b="1" dirty="0" smtClean="0">
                <a:solidFill>
                  <a:srgbClr val="3333CC"/>
                </a:solidFill>
                <a:latin typeface="宋体" pitchFamily="2" charset="-122"/>
              </a:rPr>
              <a:t>4</a:t>
            </a: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3333CC"/>
                </a:solidFill>
                <a:latin typeface="宋体" pitchFamily="2" charset="-122"/>
              </a:rPr>
              <a:t>    0#</a:t>
            </a:r>
            <a:r>
              <a:rPr lang="zh-CN" altLang="en-US" b="1" dirty="0" smtClean="0">
                <a:solidFill>
                  <a:srgbClr val="3333CC"/>
                </a:solidFill>
                <a:latin typeface="宋体" pitchFamily="2" charset="-122"/>
              </a:rPr>
              <a:t>～</a:t>
            </a:r>
            <a:r>
              <a:rPr lang="en-US" altLang="zh-CN" b="1" dirty="0" smtClean="0">
                <a:solidFill>
                  <a:srgbClr val="3333CC"/>
                </a:solidFill>
                <a:latin typeface="宋体" pitchFamily="2" charset="-122"/>
              </a:rPr>
              <a:t>3#</a:t>
            </a: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3333CC"/>
                </a:solidFill>
                <a:latin typeface="宋体" pitchFamily="2" charset="-122"/>
              </a:rPr>
              <a:t>                  </a:t>
            </a:r>
            <a:r>
              <a:rPr lang="en-US" altLang="zh-CN" dirty="0" smtClean="0">
                <a:solidFill>
                  <a:srgbClr val="3333CC"/>
                </a:solidFill>
                <a:latin typeface="宋体" pitchFamily="2" charset="-122"/>
              </a:rPr>
              <a:t> </a:t>
            </a:r>
            <a:r>
              <a:rPr lang="en-US" altLang="zh-CN" b="1" dirty="0" smtClean="0">
                <a:solidFill>
                  <a:srgbClr val="3333CC"/>
                </a:solidFill>
                <a:latin typeface="宋体" pitchFamily="2" charset="-122"/>
              </a:rPr>
              <a:t>0#</a:t>
            </a: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3333CC"/>
                </a:solidFill>
                <a:latin typeface="宋体" pitchFamily="2" charset="-122"/>
              </a:rPr>
              <a:t>  (100-4)/100</a:t>
            </a:r>
            <a:r>
              <a:rPr lang="zh-CN" altLang="en-US" b="1" dirty="0" smtClean="0">
                <a:solidFill>
                  <a:srgbClr val="3333CC"/>
                </a:solidFill>
                <a:latin typeface="宋体" pitchFamily="2" charset="-122"/>
              </a:rPr>
              <a:t>＝</a:t>
            </a:r>
            <a:r>
              <a:rPr lang="en-US" altLang="zh-CN" b="1" dirty="0" smtClean="0">
                <a:solidFill>
                  <a:srgbClr val="3333CC"/>
                </a:solidFill>
                <a:latin typeface="宋体" pitchFamily="2" charset="-122"/>
              </a:rPr>
              <a:t>96%</a:t>
            </a:r>
            <a:endParaRPr lang="en-US" altLang="zh-CN" b="1" dirty="0">
              <a:solidFill>
                <a:srgbClr val="3333CC"/>
              </a:solidFill>
              <a:latin typeface="宋体" pitchFamily="2" charset="-122"/>
            </a:endParaRPr>
          </a:p>
        </p:txBody>
      </p:sp>
      <p:sp>
        <p:nvSpPr>
          <p:cNvPr id="30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244408" y="6525344"/>
            <a:ext cx="899592" cy="288032"/>
          </a:xfrm>
        </p:spPr>
        <p:txBody>
          <a:bodyPr/>
          <a:lstStyle/>
          <a:p>
            <a:pPr algn="ctr">
              <a:defRPr/>
            </a:pPr>
            <a:fld id="{5C4C1B93-8483-479B-9518-A9279CF2AAB5}" type="slidenum">
              <a:rPr lang="en-US" altLang="zh-CN" sz="1600" smtClean="0"/>
              <a:pPr algn="ctr">
                <a:defRPr/>
              </a:pPr>
              <a:t>23</a:t>
            </a:fld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76364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4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750"/>
                                        <p:tgtEl>
                                          <p:spTgt spid="214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14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14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14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330" grpId="0"/>
      <p:bldP spid="214367" grpId="0"/>
      <p:bldP spid="214368" grpId="0"/>
      <p:bldP spid="21437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24</a:t>
            </a:fld>
            <a:endParaRPr lang="en-US" altLang="zh-CN" dirty="0"/>
          </a:p>
        </p:txBody>
      </p:sp>
      <p:sp>
        <p:nvSpPr>
          <p:cNvPr id="5" name="Text Box 132"/>
          <p:cNvSpPr txBox="1">
            <a:spLocks noChangeArrowheads="1"/>
          </p:cNvSpPr>
          <p:nvPr/>
        </p:nvSpPr>
        <p:spPr bwMode="auto">
          <a:xfrm>
            <a:off x="838200" y="323945"/>
            <a:ext cx="7467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宋体" pitchFamily="2" charset="-122"/>
              </a:rPr>
              <a:t>第</a:t>
            </a:r>
            <a:r>
              <a:rPr lang="en-US" altLang="zh-CN" sz="3200" b="1" dirty="0">
                <a:latin typeface="宋体" pitchFamily="2" charset="-122"/>
              </a:rPr>
              <a:t>4</a:t>
            </a:r>
            <a:r>
              <a:rPr lang="zh-CN" altLang="en-US" sz="3200" b="1" dirty="0">
                <a:latin typeface="宋体" pitchFamily="2" charset="-122"/>
              </a:rPr>
              <a:t>章 </a:t>
            </a:r>
            <a:r>
              <a:rPr lang="zh-CN" altLang="en-US" sz="3200" b="1" dirty="0"/>
              <a:t>指令系统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388" y="1393606"/>
            <a:ext cx="8812212" cy="2400657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、指令系统组成         </a:t>
            </a:r>
            <a:r>
              <a:rPr lang="zh-CN" altLang="en-US" sz="2000" b="1" dirty="0" smtClean="0">
                <a:latin typeface="+mn-ea"/>
                <a:ea typeface="+mn-ea"/>
              </a:rPr>
              <a:t>☆掌握</a:t>
            </a:r>
            <a:r>
              <a:rPr lang="zh-CN" altLang="en-US" sz="2000" b="1" dirty="0" smtClean="0">
                <a:latin typeface="宋体" pitchFamily="2" charset="-122"/>
              </a:rPr>
              <a:t>信息约定方法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指令功能</a:t>
            </a:r>
            <a:r>
              <a:rPr lang="en-US" altLang="zh-CN" b="1" dirty="0" smtClean="0">
                <a:latin typeface="宋体" pitchFamily="2" charset="-122"/>
              </a:rPr>
              <a:t>—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数据操作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itchFamily="2" charset="-122"/>
              </a:rPr>
              <a:t>(OP/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存结果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itchFamily="2" charset="-122"/>
              </a:rPr>
              <a:t>)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、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指令地址计算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itchFamily="2" charset="-122"/>
              </a:rPr>
              <a:t>(2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类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itchFamily="2" charset="-122"/>
              </a:rPr>
              <a:t>)</a:t>
            </a:r>
            <a:endParaRPr lang="en-US" altLang="zh-CN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指令格式</a:t>
            </a:r>
            <a:r>
              <a:rPr lang="en-US" altLang="zh-CN" b="1" dirty="0" smtClean="0">
                <a:latin typeface="宋体" pitchFamily="2" charset="-122"/>
              </a:rPr>
              <a:t>—</a:t>
            </a:r>
            <a:r>
              <a:rPr lang="zh-CN" altLang="en-US" b="1" dirty="0" smtClean="0">
                <a:latin typeface="宋体" pitchFamily="2" charset="-122"/>
              </a:rPr>
              <a:t>需约定信息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en-US" altLang="zh-CN" sz="2000" b="1" dirty="0">
                <a:latin typeface="宋体" pitchFamily="2" charset="-122"/>
              </a:rPr>
              <a:t>OP/</a:t>
            </a:r>
            <a:r>
              <a:rPr lang="zh-CN" altLang="en-US" sz="2000" b="1" dirty="0" smtClean="0">
                <a:latin typeface="宋体" pitchFamily="2" charset="-122"/>
              </a:rPr>
              <a:t>格式、</a:t>
            </a:r>
            <a:r>
              <a:rPr lang="zh-CN" altLang="en-US" sz="2000" b="1" dirty="0">
                <a:latin typeface="宋体" pitchFamily="2" charset="-122"/>
              </a:rPr>
              <a:t>源</a:t>
            </a:r>
            <a:r>
              <a:rPr lang="en-US" altLang="zh-CN" sz="2000" b="1" dirty="0">
                <a:latin typeface="宋体" pitchFamily="2" charset="-122"/>
              </a:rPr>
              <a:t>/</a:t>
            </a:r>
            <a:r>
              <a:rPr lang="zh-CN" altLang="en-US" sz="2000" b="1" dirty="0">
                <a:latin typeface="宋体" pitchFamily="2" charset="-122"/>
              </a:rPr>
              <a:t>目</a:t>
            </a:r>
            <a:r>
              <a:rPr lang="en-US" altLang="zh-CN" sz="2000" b="1" dirty="0">
                <a:latin typeface="宋体" pitchFamily="2" charset="-122"/>
              </a:rPr>
              <a:t>/</a:t>
            </a:r>
            <a:r>
              <a:rPr lang="zh-CN" altLang="en-US" sz="2000" b="1" dirty="0">
                <a:latin typeface="宋体" pitchFamily="2" charset="-122"/>
              </a:rPr>
              <a:t>指令地址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→组成，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          性能</a:t>
            </a:r>
            <a:r>
              <a:rPr lang="en-US" altLang="zh-CN" sz="2000" b="1" dirty="0" smtClean="0">
                <a:latin typeface="宋体" pitchFamily="2" charset="-122"/>
              </a:rPr>
              <a:t>(2</a:t>
            </a:r>
            <a:r>
              <a:rPr lang="zh-CN" altLang="en-US" sz="2000" b="1" dirty="0" smtClean="0">
                <a:latin typeface="宋体" pitchFamily="2" charset="-122"/>
              </a:rPr>
              <a:t>点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→信息的表示方法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显式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隐式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          信息的编码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显式信息的约定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，指令字长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79512" y="908720"/>
            <a:ext cx="8812088" cy="51552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  主要内容：</a:t>
            </a:r>
            <a:r>
              <a:rPr lang="zh-CN" altLang="en-US" sz="2200" b="1" dirty="0" smtClean="0">
                <a:latin typeface="宋体" pitchFamily="2" charset="-122"/>
              </a:rPr>
              <a:t>指令格式，</a:t>
            </a:r>
            <a:r>
              <a:rPr lang="en-US" altLang="zh-CN" sz="2200" b="1" dirty="0" smtClean="0">
                <a:latin typeface="宋体" pitchFamily="2" charset="-122"/>
              </a:rPr>
              <a:t>OPD</a:t>
            </a:r>
            <a:r>
              <a:rPr lang="zh-CN" altLang="en-US" sz="2200" b="1" dirty="0" smtClean="0">
                <a:latin typeface="宋体" pitchFamily="2" charset="-122"/>
              </a:rPr>
              <a:t>的存放，寻址方式</a:t>
            </a:r>
            <a:endParaRPr lang="zh-CN" altLang="en-US" sz="2200" b="1" dirty="0">
              <a:latin typeface="宋体" pitchFamily="2" charset="-122"/>
            </a:endParaRP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179512" y="3679760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</a:t>
            </a:r>
            <a:r>
              <a:rPr lang="en-US" altLang="zh-CN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OPD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的存放（</a:t>
            </a:r>
            <a:r>
              <a:rPr lang="en-US" altLang="zh-CN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语言定义</a:t>
            </a:r>
            <a:r>
              <a:rPr lang="en-US" altLang="zh-CN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20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         </a:t>
            </a:r>
            <a:r>
              <a:rPr lang="zh-CN" altLang="en-US" sz="2000" b="1" dirty="0" smtClean="0">
                <a:latin typeface="宋体" pitchFamily="2" charset="-122"/>
              </a:rPr>
              <a:t>◇理解概念</a:t>
            </a:r>
            <a:endParaRPr lang="en-US" altLang="zh-CN" sz="2000" b="1" dirty="0" smtClean="0">
              <a:latin typeface="宋体" pitchFamily="2" charset="-122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125468"/>
              </p:ext>
            </p:extLst>
          </p:nvPr>
        </p:nvGraphicFramePr>
        <p:xfrm>
          <a:off x="323528" y="4255824"/>
          <a:ext cx="8712968" cy="185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/>
                <a:gridCol w="1512168"/>
                <a:gridCol w="2088232"/>
                <a:gridCol w="1872208"/>
                <a:gridCol w="208823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OPD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长度表示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存放方法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2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数据地址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中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OP</a:t>
                      </a: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码指明</a:t>
                      </a:r>
                      <a:endParaRPr lang="en-US" altLang="zh-CN" sz="24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显式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2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隐式</a:t>
                      </a:r>
                      <a:r>
                        <a:rPr lang="en-US" altLang="zh-CN" sz="20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所有位、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低端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部分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2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REG</a:t>
                      </a: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编号</a:t>
                      </a: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</a:t>
                      </a: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中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端序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大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小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 smtClean="0">
                          <a:solidFill>
                            <a:srgbClr val="990099"/>
                          </a:solidFill>
                          <a:latin typeface="+mn-ea"/>
                          <a:ea typeface="+mn-ea"/>
                        </a:rPr>
                        <a:t>对齐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是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否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最小单元地址</a:t>
                      </a:r>
                      <a:endParaRPr lang="en-US" altLang="zh-CN" sz="24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20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值受对齐影响</a:t>
                      </a:r>
                      <a:r>
                        <a:rPr lang="en-US" altLang="zh-CN" sz="2000" b="1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2000" b="1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指令中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400" b="1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8000" marR="18000" marT="10800" marB="108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端序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同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MEM)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对齐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zh-CN" altLang="en-US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否</a:t>
                      </a:r>
                      <a:r>
                        <a:rPr lang="en-US" altLang="zh-CN" sz="2400" b="1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zh-CN" altLang="en-US" sz="2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10800" marB="1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Text Box 132"/>
          <p:cNvSpPr txBox="1">
            <a:spLocks noChangeArrowheads="1"/>
          </p:cNvSpPr>
          <p:nvPr/>
        </p:nvSpPr>
        <p:spPr bwMode="auto">
          <a:xfrm>
            <a:off x="683568" y="2348880"/>
            <a:ext cx="1368152" cy="461665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altLang="zh-CN" b="1" dirty="0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33455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35496" y="241176"/>
            <a:ext cx="3023815" cy="45152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2400" b="1" dirty="0" smtClean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三、堆栈存取方式</a:t>
            </a:r>
            <a:endParaRPr lang="zh-CN" altLang="en-US" sz="2400" b="1" dirty="0">
              <a:solidFill>
                <a:srgbClr val="FF3300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4" name="Group 113"/>
          <p:cNvGrpSpPr>
            <a:grpSpLocks/>
          </p:cNvGrpSpPr>
          <p:nvPr/>
        </p:nvGrpSpPr>
        <p:grpSpPr bwMode="auto">
          <a:xfrm>
            <a:off x="587375" y="692696"/>
            <a:ext cx="5054600" cy="2541588"/>
            <a:chOff x="202" y="2326"/>
            <a:chExt cx="3184" cy="1601"/>
          </a:xfrm>
        </p:grpSpPr>
        <p:sp>
          <p:nvSpPr>
            <p:cNvPr id="28" name="Text Box 59"/>
            <p:cNvSpPr txBox="1">
              <a:spLocks noChangeArrowheads="1"/>
            </p:cNvSpPr>
            <p:nvPr/>
          </p:nvSpPr>
          <p:spPr bwMode="auto">
            <a:xfrm>
              <a:off x="672" y="2326"/>
              <a:ext cx="2229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just" eaLnBrk="1" hangingPunct="1"/>
              <a:r>
                <a:rPr lang="zh-CN" altLang="en-US" b="1" dirty="0">
                  <a:solidFill>
                    <a:srgbClr val="FF0000"/>
                  </a:solidFill>
                </a:rPr>
                <a:t>满递减方式</a:t>
              </a:r>
              <a:r>
                <a:rPr lang="zh-CN" altLang="en-US" sz="1800" b="1" dirty="0"/>
                <a:t>（小端）</a:t>
              </a:r>
            </a:p>
          </p:txBody>
        </p:sp>
        <p:sp>
          <p:nvSpPr>
            <p:cNvPr id="29" name="Text Box 60"/>
            <p:cNvSpPr txBox="1">
              <a:spLocks noChangeArrowheads="1"/>
            </p:cNvSpPr>
            <p:nvPr/>
          </p:nvSpPr>
          <p:spPr bwMode="auto">
            <a:xfrm>
              <a:off x="436" y="2558"/>
              <a:ext cx="1273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just" eaLnBrk="1" hangingPunct="1"/>
              <a:r>
                <a:rPr kumimoji="0" lang="en-US" altLang="zh-CN" sz="2000" b="1">
                  <a:solidFill>
                    <a:srgbClr val="2020D6"/>
                  </a:solidFill>
                  <a:ea typeface="楷体_GB2312" pitchFamily="49" charset="-122"/>
                </a:rPr>
                <a:t>        </a:t>
              </a:r>
              <a:r>
                <a:rPr kumimoji="0" lang="zh-CN" altLang="en-US" sz="2000" b="1">
                  <a:solidFill>
                    <a:srgbClr val="2020D6"/>
                  </a:solidFill>
                  <a:ea typeface="楷体_GB2312" pitchFamily="49" charset="-122"/>
                </a:rPr>
                <a:t>压栈前</a:t>
              </a:r>
            </a:p>
          </p:txBody>
        </p:sp>
        <p:sp>
          <p:nvSpPr>
            <p:cNvPr id="30" name="Text Box 61"/>
            <p:cNvSpPr txBox="1">
              <a:spLocks noChangeArrowheads="1"/>
            </p:cNvSpPr>
            <p:nvPr/>
          </p:nvSpPr>
          <p:spPr bwMode="auto">
            <a:xfrm>
              <a:off x="1408" y="2562"/>
              <a:ext cx="1274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just" eaLnBrk="1" hangingPunct="1"/>
              <a:r>
                <a:rPr kumimoji="0" lang="en-US" altLang="zh-CN" sz="1800" b="1" dirty="0">
                  <a:solidFill>
                    <a:srgbClr val="2020D6"/>
                  </a:solidFill>
                  <a:ea typeface="楷体_GB2312" pitchFamily="49" charset="-122"/>
                </a:rPr>
                <a:t>    </a:t>
              </a:r>
              <a:r>
                <a:rPr kumimoji="0" lang="zh-CN" altLang="en-US" sz="1800" b="1" dirty="0">
                  <a:solidFill>
                    <a:srgbClr val="2020D6"/>
                  </a:solidFill>
                  <a:ea typeface="楷体_GB2312" pitchFamily="49" charset="-122"/>
                </a:rPr>
                <a:t>压栈后</a:t>
              </a:r>
            </a:p>
          </p:txBody>
        </p:sp>
        <p:grpSp>
          <p:nvGrpSpPr>
            <p:cNvPr id="31" name="Group 62"/>
            <p:cNvGrpSpPr>
              <a:grpSpLocks/>
            </p:cNvGrpSpPr>
            <p:nvPr/>
          </p:nvGrpSpPr>
          <p:grpSpPr bwMode="auto">
            <a:xfrm>
              <a:off x="761" y="2786"/>
              <a:ext cx="637" cy="1141"/>
              <a:chOff x="2517" y="2376"/>
              <a:chExt cx="720" cy="2184"/>
            </a:xfrm>
          </p:grpSpPr>
          <p:sp>
            <p:nvSpPr>
              <p:cNvPr id="73" name="Rectangle 63"/>
              <p:cNvSpPr>
                <a:spLocks noChangeArrowheads="1"/>
              </p:cNvSpPr>
              <p:nvPr/>
            </p:nvSpPr>
            <p:spPr bwMode="auto">
              <a:xfrm>
                <a:off x="2517" y="2376"/>
                <a:ext cx="720" cy="218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kumimoji="0" lang="zh-CN" altLang="zh-CN" sz="1800">
                  <a:ea typeface="楷体_GB2312" pitchFamily="49" charset="-122"/>
                </a:endParaRPr>
              </a:p>
            </p:txBody>
          </p:sp>
          <p:sp>
            <p:nvSpPr>
              <p:cNvPr id="74" name="Line 64"/>
              <p:cNvSpPr>
                <a:spLocks noChangeShapeType="1"/>
              </p:cNvSpPr>
              <p:nvPr/>
            </p:nvSpPr>
            <p:spPr bwMode="auto">
              <a:xfrm>
                <a:off x="2517" y="2688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Line 65"/>
              <p:cNvSpPr>
                <a:spLocks noChangeShapeType="1"/>
              </p:cNvSpPr>
              <p:nvPr/>
            </p:nvSpPr>
            <p:spPr bwMode="auto">
              <a:xfrm>
                <a:off x="2517" y="3000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Line 66"/>
              <p:cNvSpPr>
                <a:spLocks noChangeShapeType="1"/>
              </p:cNvSpPr>
              <p:nvPr/>
            </p:nvSpPr>
            <p:spPr bwMode="auto">
              <a:xfrm>
                <a:off x="2517" y="3312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Line 67"/>
              <p:cNvSpPr>
                <a:spLocks noChangeShapeType="1"/>
              </p:cNvSpPr>
              <p:nvPr/>
            </p:nvSpPr>
            <p:spPr bwMode="auto">
              <a:xfrm>
                <a:off x="2517" y="3624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8" name="Line 68"/>
              <p:cNvSpPr>
                <a:spLocks noChangeShapeType="1"/>
              </p:cNvSpPr>
              <p:nvPr/>
            </p:nvSpPr>
            <p:spPr bwMode="auto">
              <a:xfrm>
                <a:off x="2517" y="3936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9" name="Line 69"/>
              <p:cNvSpPr>
                <a:spLocks noChangeShapeType="1"/>
              </p:cNvSpPr>
              <p:nvPr/>
            </p:nvSpPr>
            <p:spPr bwMode="auto">
              <a:xfrm>
                <a:off x="2517" y="4248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2" name="Group 70"/>
            <p:cNvGrpSpPr>
              <a:grpSpLocks/>
            </p:cNvGrpSpPr>
            <p:nvPr/>
          </p:nvGrpSpPr>
          <p:grpSpPr bwMode="auto">
            <a:xfrm>
              <a:off x="1557" y="2786"/>
              <a:ext cx="637" cy="1141"/>
              <a:chOff x="2517" y="2376"/>
              <a:chExt cx="720" cy="2184"/>
            </a:xfrm>
          </p:grpSpPr>
          <p:sp>
            <p:nvSpPr>
              <p:cNvPr id="66" name="Rectangle 71"/>
              <p:cNvSpPr>
                <a:spLocks noChangeArrowheads="1"/>
              </p:cNvSpPr>
              <p:nvPr/>
            </p:nvSpPr>
            <p:spPr bwMode="auto">
              <a:xfrm>
                <a:off x="2517" y="2376"/>
                <a:ext cx="720" cy="2184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eaLnBrk="1" hangingPunct="1"/>
                <a:endParaRPr kumimoji="0" lang="zh-CN" altLang="zh-CN" sz="1800">
                  <a:ea typeface="楷体_GB2312" pitchFamily="49" charset="-122"/>
                </a:endParaRPr>
              </a:p>
            </p:txBody>
          </p:sp>
          <p:sp>
            <p:nvSpPr>
              <p:cNvPr id="67" name="Line 72"/>
              <p:cNvSpPr>
                <a:spLocks noChangeShapeType="1"/>
              </p:cNvSpPr>
              <p:nvPr/>
            </p:nvSpPr>
            <p:spPr bwMode="auto">
              <a:xfrm>
                <a:off x="2517" y="2688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Line 73"/>
              <p:cNvSpPr>
                <a:spLocks noChangeShapeType="1"/>
              </p:cNvSpPr>
              <p:nvPr/>
            </p:nvSpPr>
            <p:spPr bwMode="auto">
              <a:xfrm>
                <a:off x="2517" y="3000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Line 74"/>
              <p:cNvSpPr>
                <a:spLocks noChangeShapeType="1"/>
              </p:cNvSpPr>
              <p:nvPr/>
            </p:nvSpPr>
            <p:spPr bwMode="auto">
              <a:xfrm>
                <a:off x="2517" y="3312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Line 75"/>
              <p:cNvSpPr>
                <a:spLocks noChangeShapeType="1"/>
              </p:cNvSpPr>
              <p:nvPr/>
            </p:nvSpPr>
            <p:spPr bwMode="auto">
              <a:xfrm>
                <a:off x="2517" y="3624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Line 76"/>
              <p:cNvSpPr>
                <a:spLocks noChangeShapeType="1"/>
              </p:cNvSpPr>
              <p:nvPr/>
            </p:nvSpPr>
            <p:spPr bwMode="auto">
              <a:xfrm>
                <a:off x="2517" y="3936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Line 77"/>
              <p:cNvSpPr>
                <a:spLocks noChangeShapeType="1"/>
              </p:cNvSpPr>
              <p:nvPr/>
            </p:nvSpPr>
            <p:spPr bwMode="auto">
              <a:xfrm>
                <a:off x="2517" y="4248"/>
                <a:ext cx="72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3" name="Text Box 78"/>
            <p:cNvSpPr txBox="1">
              <a:spLocks noChangeArrowheads="1"/>
            </p:cNvSpPr>
            <p:nvPr/>
          </p:nvSpPr>
          <p:spPr bwMode="auto">
            <a:xfrm>
              <a:off x="202" y="3475"/>
              <a:ext cx="478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just" eaLnBrk="1" hangingPunct="1"/>
              <a:r>
                <a:rPr kumimoji="0" lang="en-US" altLang="zh-CN" sz="1800" dirty="0">
                  <a:solidFill>
                    <a:srgbClr val="2020D6"/>
                  </a:solidFill>
                  <a:ea typeface="楷体_GB2312" pitchFamily="49" charset="-122"/>
                </a:rPr>
                <a:t>SP</a:t>
              </a:r>
            </a:p>
          </p:txBody>
        </p:sp>
        <p:sp>
          <p:nvSpPr>
            <p:cNvPr id="34" name="Text Box 79"/>
            <p:cNvSpPr txBox="1">
              <a:spLocks noChangeArrowheads="1"/>
            </p:cNvSpPr>
            <p:nvPr/>
          </p:nvSpPr>
          <p:spPr bwMode="auto">
            <a:xfrm>
              <a:off x="1669" y="3243"/>
              <a:ext cx="478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just" eaLnBrk="1" hangingPunct="1"/>
              <a:r>
                <a:rPr kumimoji="0" lang="en-US" altLang="zh-CN" sz="1800" b="1" dirty="0" smtClean="0">
                  <a:solidFill>
                    <a:srgbClr val="FF0000"/>
                  </a:solidFill>
                  <a:ea typeface="楷体_GB2312" pitchFamily="49" charset="-122"/>
                </a:rPr>
                <a:t>B0</a:t>
              </a:r>
              <a:endParaRPr kumimoji="0" lang="en-US" altLang="zh-CN" sz="1800" b="1" dirty="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sp>
          <p:nvSpPr>
            <p:cNvPr id="35" name="Text Box 80"/>
            <p:cNvSpPr txBox="1">
              <a:spLocks noChangeArrowheads="1"/>
            </p:cNvSpPr>
            <p:nvPr/>
          </p:nvSpPr>
          <p:spPr bwMode="auto">
            <a:xfrm>
              <a:off x="1677" y="3408"/>
              <a:ext cx="477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just" eaLnBrk="1" hangingPunct="1"/>
              <a:r>
                <a:rPr kumimoji="0" lang="en-US" altLang="zh-CN" sz="1800" b="1" dirty="0" smtClean="0">
                  <a:solidFill>
                    <a:srgbClr val="FF0000"/>
                  </a:solidFill>
                  <a:ea typeface="楷体_GB2312" pitchFamily="49" charset="-122"/>
                </a:rPr>
                <a:t>B1</a:t>
              </a:r>
              <a:endParaRPr kumimoji="0" lang="en-US" altLang="zh-CN" sz="1800" b="1" dirty="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sp>
          <p:nvSpPr>
            <p:cNvPr id="36" name="Text Box 82"/>
            <p:cNvSpPr txBox="1">
              <a:spLocks noChangeArrowheads="1"/>
            </p:cNvSpPr>
            <p:nvPr/>
          </p:nvSpPr>
          <p:spPr bwMode="auto">
            <a:xfrm>
              <a:off x="2265" y="3158"/>
              <a:ext cx="478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just" eaLnBrk="1" hangingPunct="1"/>
              <a:r>
                <a:rPr kumimoji="0" lang="en-US" altLang="zh-CN" sz="1800" dirty="0">
                  <a:solidFill>
                    <a:srgbClr val="FF0000"/>
                  </a:solidFill>
                  <a:ea typeface="楷体_GB2312" pitchFamily="49" charset="-122"/>
                </a:rPr>
                <a:t>SP</a:t>
              </a:r>
            </a:p>
          </p:txBody>
        </p:sp>
        <p:sp>
          <p:nvSpPr>
            <p:cNvPr id="37" name="Line 83"/>
            <p:cNvSpPr>
              <a:spLocks noChangeShapeType="1"/>
            </p:cNvSpPr>
            <p:nvPr/>
          </p:nvSpPr>
          <p:spPr bwMode="auto">
            <a:xfrm>
              <a:off x="283" y="3702"/>
              <a:ext cx="47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Line 84"/>
            <p:cNvSpPr>
              <a:spLocks noChangeShapeType="1"/>
            </p:cNvSpPr>
            <p:nvPr/>
          </p:nvSpPr>
          <p:spPr bwMode="auto">
            <a:xfrm flipH="1">
              <a:off x="2194" y="3357"/>
              <a:ext cx="47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Line 111"/>
            <p:cNvSpPr>
              <a:spLocks noChangeShapeType="1"/>
            </p:cNvSpPr>
            <p:nvPr/>
          </p:nvSpPr>
          <p:spPr bwMode="auto">
            <a:xfrm flipV="1">
              <a:off x="2883" y="2959"/>
              <a:ext cx="0" cy="82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 Box 112"/>
            <p:cNvSpPr txBox="1">
              <a:spLocks noChangeArrowheads="1"/>
            </p:cNvSpPr>
            <p:nvPr/>
          </p:nvSpPr>
          <p:spPr bwMode="auto">
            <a:xfrm>
              <a:off x="2431" y="2734"/>
              <a:ext cx="955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algn="just" eaLnBrk="1" hangingPunct="1"/>
              <a:r>
                <a:rPr kumimoji="0" lang="zh-CN" altLang="en-US" sz="1800" b="1" dirty="0" smtClean="0">
                  <a:solidFill>
                    <a:srgbClr val="2020D6"/>
                  </a:solidFill>
                  <a:ea typeface="楷体_GB2312" pitchFamily="49" charset="-122"/>
                </a:rPr>
                <a:t>地址</a:t>
              </a:r>
              <a:r>
                <a:rPr kumimoji="0" lang="zh-CN" altLang="en-US" sz="1800" b="1" dirty="0">
                  <a:solidFill>
                    <a:srgbClr val="2020D6"/>
                  </a:solidFill>
                  <a:ea typeface="楷体_GB2312" pitchFamily="49" charset="-122"/>
                </a:rPr>
                <a:t>增</a:t>
              </a:r>
            </a:p>
          </p:txBody>
        </p:sp>
      </p:grpSp>
      <p:sp>
        <p:nvSpPr>
          <p:cNvPr id="111" name="Text Box 40"/>
          <p:cNvSpPr txBox="1">
            <a:spLocks noChangeArrowheads="1"/>
          </p:cNvSpPr>
          <p:nvPr/>
        </p:nvSpPr>
        <p:spPr bwMode="auto">
          <a:xfrm>
            <a:off x="179388" y="3333006"/>
            <a:ext cx="878522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424113" indent="-242411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6035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2782888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962275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314166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5988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40560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5132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9704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b="1" dirty="0">
                <a:solidFill>
                  <a:srgbClr val="CC3300"/>
                </a:solidFill>
                <a:latin typeface="宋体" charset="-122"/>
              </a:rPr>
              <a:t>   *</a:t>
            </a:r>
            <a:r>
              <a:rPr lang="zh-CN" altLang="en-US" b="1" dirty="0">
                <a:solidFill>
                  <a:srgbClr val="CC3300"/>
                </a:solidFill>
                <a:latin typeface="宋体" charset="-122"/>
              </a:rPr>
              <a:t>存储器堆栈：</a:t>
            </a:r>
            <a:r>
              <a:rPr lang="en-US" altLang="zh-CN" b="1" dirty="0">
                <a:latin typeface="宋体" charset="-122"/>
              </a:rPr>
              <a:t>--</a:t>
            </a:r>
            <a:r>
              <a:rPr lang="zh-CN" altLang="en-US" b="1" dirty="0">
                <a:latin typeface="宋体" charset="-122"/>
              </a:rPr>
              <a:t>借用主存空间实现，面向软件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charset="-122"/>
              </a:rPr>
              <a:t>      </a:t>
            </a:r>
            <a:r>
              <a:rPr lang="zh-CN" altLang="en-US" b="1" dirty="0">
                <a:solidFill>
                  <a:srgbClr val="2020D6"/>
                </a:solidFill>
                <a:latin typeface="宋体" charset="-122"/>
              </a:rPr>
              <a:t>组成特征</a:t>
            </a:r>
            <a:r>
              <a:rPr lang="en-US" altLang="zh-CN" b="1" dirty="0">
                <a:latin typeface="宋体" charset="-122"/>
              </a:rPr>
              <a:t>—</a:t>
            </a:r>
            <a:r>
              <a:rPr lang="zh-CN" altLang="en-US" b="1" dirty="0">
                <a:latin typeface="宋体" charset="-122"/>
              </a:rPr>
              <a:t>大小及栈顶均</a:t>
            </a:r>
            <a:r>
              <a:rPr lang="zh-CN" altLang="en-US" b="1" u="sng" dirty="0">
                <a:solidFill>
                  <a:srgbClr val="990099"/>
                </a:solidFill>
                <a:latin typeface="宋体" charset="-122"/>
              </a:rPr>
              <a:t>可变</a:t>
            </a:r>
            <a:r>
              <a:rPr lang="zh-CN" altLang="en-US" b="1" dirty="0">
                <a:latin typeface="宋体" charset="-122"/>
              </a:rPr>
              <a:t>，</a:t>
            </a:r>
          </a:p>
        </p:txBody>
      </p:sp>
      <p:sp>
        <p:nvSpPr>
          <p:cNvPr id="112" name="Text Box 41"/>
          <p:cNvSpPr txBox="1">
            <a:spLocks noChangeArrowheads="1"/>
          </p:cNvSpPr>
          <p:nvPr/>
        </p:nvSpPr>
        <p:spPr bwMode="auto">
          <a:xfrm>
            <a:off x="179388" y="5277693"/>
            <a:ext cx="8785225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327275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250666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6860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865438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32263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377983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23703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694238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charset="-122"/>
              </a:rPr>
              <a:t>      </a:t>
            </a:r>
            <a:r>
              <a:rPr lang="zh-CN" altLang="en-US" b="1" dirty="0">
                <a:solidFill>
                  <a:srgbClr val="2020D6"/>
                </a:solidFill>
                <a:latin typeface="宋体" charset="-122"/>
              </a:rPr>
              <a:t>操作步骤</a:t>
            </a:r>
            <a:r>
              <a:rPr lang="en-US" altLang="zh-CN" b="1" dirty="0">
                <a:latin typeface="宋体" charset="-122"/>
              </a:rPr>
              <a:t>—</a:t>
            </a:r>
            <a:r>
              <a:rPr lang="zh-CN" altLang="en-US" b="1" dirty="0">
                <a:latin typeface="宋体" charset="-122"/>
              </a:rPr>
              <a:t>以</a:t>
            </a:r>
            <a:r>
              <a:rPr lang="zh-CN" altLang="en-US" b="1" u="sng" dirty="0">
                <a:solidFill>
                  <a:srgbClr val="CC3300"/>
                </a:solidFill>
                <a:latin typeface="宋体" charset="-122"/>
              </a:rPr>
              <a:t>入栈时</a:t>
            </a:r>
            <a:r>
              <a:rPr lang="en-US" altLang="zh-CN" b="1" u="sng" dirty="0">
                <a:solidFill>
                  <a:srgbClr val="CC3300"/>
                </a:solidFill>
                <a:latin typeface="宋体" charset="-122"/>
              </a:rPr>
              <a:t>SP</a:t>
            </a:r>
            <a:r>
              <a:rPr lang="zh-CN" altLang="en-US" b="1" u="sng" dirty="0">
                <a:solidFill>
                  <a:srgbClr val="CC3300"/>
                </a:solidFill>
                <a:latin typeface="宋体" charset="-122"/>
              </a:rPr>
              <a:t>递减移动</a:t>
            </a:r>
            <a:r>
              <a:rPr lang="en-US" altLang="zh-CN" b="1" dirty="0" smtClean="0">
                <a:latin typeface="宋体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</a:rPr>
              <a:t>满递减方式</a:t>
            </a:r>
            <a:r>
              <a:rPr lang="en-US" altLang="zh-CN" b="1" dirty="0" smtClean="0">
                <a:latin typeface="宋体" charset="-122"/>
              </a:rPr>
              <a:t>)</a:t>
            </a:r>
            <a:endParaRPr lang="zh-CN" altLang="en-US" b="1" dirty="0">
              <a:latin typeface="宋体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solidFill>
                  <a:srgbClr val="990099"/>
                </a:solidFill>
                <a:latin typeface="宋体" charset="-122"/>
              </a:rPr>
              <a:t>        入栈：</a:t>
            </a:r>
            <a:r>
              <a:rPr lang="zh-CN" altLang="en-US" b="1" dirty="0">
                <a:latin typeface="宋体" charset="-122"/>
              </a:rPr>
              <a:t>①</a:t>
            </a:r>
            <a:r>
              <a:rPr lang="en-US" altLang="zh-CN" b="1" dirty="0">
                <a:latin typeface="宋体" charset="-122"/>
              </a:rPr>
              <a:t>SP←(SP)</a:t>
            </a:r>
            <a:r>
              <a:rPr lang="en-US" altLang="zh-CN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</a:rPr>
              <a:t>-X</a:t>
            </a:r>
            <a:r>
              <a:rPr lang="zh-CN" altLang="en-US" b="1" dirty="0">
                <a:latin typeface="宋体" charset="-122"/>
              </a:rPr>
              <a:t>，    ②</a:t>
            </a:r>
            <a:r>
              <a:rPr lang="en-US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</a:rPr>
              <a:t>[</a:t>
            </a:r>
            <a:r>
              <a:rPr lang="en-US" altLang="zh-CN" b="1" dirty="0">
                <a:latin typeface="宋体" charset="-122"/>
              </a:rPr>
              <a:t>SP</a:t>
            </a:r>
            <a:r>
              <a:rPr lang="en-US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</a:rPr>
              <a:t>]</a:t>
            </a:r>
            <a:r>
              <a:rPr lang="en-US" altLang="zh-CN" b="1" dirty="0">
                <a:latin typeface="宋体" charset="-122"/>
              </a:rPr>
              <a:t>←</a:t>
            </a:r>
            <a:r>
              <a:rPr lang="zh-CN" altLang="en-US" b="1" dirty="0">
                <a:latin typeface="宋体" charset="-122"/>
              </a:rPr>
              <a:t>源数据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solidFill>
                  <a:srgbClr val="990099"/>
                </a:solidFill>
                <a:latin typeface="宋体" charset="-122"/>
              </a:rPr>
              <a:t>        出栈：</a:t>
            </a:r>
            <a:r>
              <a:rPr lang="zh-CN" altLang="en-US" b="1" dirty="0">
                <a:latin typeface="宋体" charset="-122"/>
              </a:rPr>
              <a:t>①目标地址←</a:t>
            </a:r>
            <a:r>
              <a:rPr lang="en-US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</a:rPr>
              <a:t>[</a:t>
            </a:r>
            <a:r>
              <a:rPr lang="en-US" altLang="zh-CN" b="1" dirty="0">
                <a:latin typeface="宋体" charset="-122"/>
              </a:rPr>
              <a:t>SP</a:t>
            </a:r>
            <a:r>
              <a:rPr lang="en-US" altLang="zh-CN" b="1" dirty="0">
                <a:solidFill>
                  <a:srgbClr val="FF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</a:rPr>
              <a:t>]</a:t>
            </a:r>
            <a:r>
              <a:rPr lang="zh-CN" altLang="en-US" b="1" dirty="0">
                <a:latin typeface="宋体" charset="-122"/>
              </a:rPr>
              <a:t>，②</a:t>
            </a:r>
            <a:r>
              <a:rPr lang="en-US" altLang="zh-CN" b="1" dirty="0">
                <a:latin typeface="宋体" charset="-122"/>
              </a:rPr>
              <a:t>SP←(SP)</a:t>
            </a:r>
            <a:r>
              <a:rPr lang="en-US" altLang="zh-CN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charset="-122"/>
              </a:rPr>
              <a:t>+X</a:t>
            </a:r>
          </a:p>
        </p:txBody>
      </p:sp>
      <p:sp>
        <p:nvSpPr>
          <p:cNvPr id="113" name="Text Box 44"/>
          <p:cNvSpPr txBox="1">
            <a:spLocks noChangeArrowheads="1"/>
          </p:cNvSpPr>
          <p:nvPr/>
        </p:nvSpPr>
        <p:spPr bwMode="auto">
          <a:xfrm>
            <a:off x="179388" y="4263281"/>
            <a:ext cx="6121400" cy="952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424113" indent="-242411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26035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2782888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2962275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3141663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35988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40560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45132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497046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b="1" dirty="0">
                <a:latin typeface="宋体" charset="-122"/>
              </a:rPr>
              <a:t>          CPU</a:t>
            </a:r>
            <a:r>
              <a:rPr lang="zh-CN" altLang="en-US" b="1" dirty="0">
                <a:latin typeface="宋体" charset="-122"/>
              </a:rPr>
              <a:t>用</a:t>
            </a:r>
            <a:r>
              <a:rPr lang="zh-CN" altLang="en-US" b="1" u="sng" dirty="0">
                <a:solidFill>
                  <a:srgbClr val="CC3300"/>
                </a:solidFill>
                <a:latin typeface="宋体" charset="-122"/>
              </a:rPr>
              <a:t>堆栈指针</a:t>
            </a:r>
            <a:r>
              <a:rPr lang="en-US" altLang="zh-CN" b="1" u="sng" dirty="0">
                <a:solidFill>
                  <a:srgbClr val="CC3300"/>
                </a:solidFill>
                <a:latin typeface="宋体" charset="-122"/>
              </a:rPr>
              <a:t>REG</a:t>
            </a:r>
            <a:r>
              <a:rPr lang="zh-CN" altLang="en-US" b="1" dirty="0">
                <a:latin typeface="宋体" charset="-122"/>
              </a:rPr>
              <a:t>指向栈顶，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latin typeface="宋体" charset="-122"/>
              </a:rPr>
              <a:t>             用</a:t>
            </a:r>
            <a:r>
              <a:rPr lang="zh-CN" altLang="en-US" b="1" u="sng" dirty="0">
                <a:solidFill>
                  <a:srgbClr val="CC3300"/>
                </a:solidFill>
                <a:latin typeface="宋体" charset="-122"/>
              </a:rPr>
              <a:t>相关</a:t>
            </a:r>
            <a:r>
              <a:rPr lang="en-US" altLang="zh-CN" b="1" u="sng" dirty="0">
                <a:solidFill>
                  <a:srgbClr val="CC3300"/>
                </a:solidFill>
                <a:latin typeface="宋体" charset="-122"/>
              </a:rPr>
              <a:t>REG</a:t>
            </a:r>
            <a:r>
              <a:rPr lang="zh-CN" altLang="en-US" b="1" dirty="0">
                <a:latin typeface="宋体" charset="-122"/>
              </a:rPr>
              <a:t>表示栈底或大小</a:t>
            </a:r>
          </a:p>
        </p:txBody>
      </p:sp>
      <p:grpSp>
        <p:nvGrpSpPr>
          <p:cNvPr id="114" name="Group 45"/>
          <p:cNvGrpSpPr>
            <a:grpSpLocks/>
          </p:cNvGrpSpPr>
          <p:nvPr/>
        </p:nvGrpSpPr>
        <p:grpSpPr bwMode="auto">
          <a:xfrm>
            <a:off x="6300788" y="3933081"/>
            <a:ext cx="2663825" cy="1368425"/>
            <a:chOff x="431" y="1253"/>
            <a:chExt cx="1678" cy="862"/>
          </a:xfrm>
        </p:grpSpPr>
        <p:sp>
          <p:nvSpPr>
            <p:cNvPr id="115" name="Rectangle 46"/>
            <p:cNvSpPr>
              <a:spLocks noChangeArrowheads="1"/>
            </p:cNvSpPr>
            <p:nvPr/>
          </p:nvSpPr>
          <p:spPr bwMode="auto">
            <a:xfrm>
              <a:off x="930" y="1525"/>
              <a:ext cx="544" cy="408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16" name="Text Box 47"/>
            <p:cNvSpPr txBox="1">
              <a:spLocks noChangeArrowheads="1"/>
            </p:cNvSpPr>
            <p:nvPr/>
          </p:nvSpPr>
          <p:spPr bwMode="auto">
            <a:xfrm>
              <a:off x="612" y="1253"/>
              <a:ext cx="1043" cy="2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10800" rIns="18000" bIns="10800"/>
            <a:lstStyle/>
            <a:p>
              <a:pPr algn="ctr" eaLnBrk="1" hangingPunct="1"/>
              <a:r>
                <a:rPr lang="zh-CN" altLang="en-US" sz="2000" b="1">
                  <a:solidFill>
                    <a:srgbClr val="990099"/>
                  </a:solidFill>
                  <a:latin typeface="宋体" charset="-122"/>
                </a:rPr>
                <a:t>堆栈存储空间</a:t>
              </a:r>
            </a:p>
          </p:txBody>
        </p:sp>
        <p:sp>
          <p:nvSpPr>
            <p:cNvPr id="117" name="Line 48"/>
            <p:cNvSpPr>
              <a:spLocks noChangeShapeType="1"/>
            </p:cNvSpPr>
            <p:nvPr/>
          </p:nvSpPr>
          <p:spPr bwMode="auto">
            <a:xfrm>
              <a:off x="930" y="1661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118" name="Line 49"/>
            <p:cNvSpPr>
              <a:spLocks noChangeShapeType="1"/>
            </p:cNvSpPr>
            <p:nvPr/>
          </p:nvSpPr>
          <p:spPr bwMode="auto">
            <a:xfrm>
              <a:off x="930" y="1797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119" name="Line 50"/>
            <p:cNvSpPr>
              <a:spLocks noChangeShapeType="1"/>
            </p:cNvSpPr>
            <p:nvPr/>
          </p:nvSpPr>
          <p:spPr bwMode="auto">
            <a:xfrm>
              <a:off x="930" y="1525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120" name="Text Box 51"/>
            <p:cNvSpPr txBox="1">
              <a:spLocks noChangeArrowheads="1"/>
            </p:cNvSpPr>
            <p:nvPr/>
          </p:nvSpPr>
          <p:spPr bwMode="auto">
            <a:xfrm>
              <a:off x="431" y="1480"/>
              <a:ext cx="453" cy="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10800" rIns="18000" bIns="10800"/>
            <a:lstStyle/>
            <a:p>
              <a:pPr algn="r" eaLnBrk="1" hangingPunct="1">
                <a:lnSpc>
                  <a:spcPct val="95000"/>
                </a:lnSpc>
              </a:pPr>
              <a:r>
                <a:rPr lang="en-US" altLang="zh-CN" sz="1800" b="1" dirty="0">
                  <a:latin typeface="宋体" charset="-122"/>
                </a:rPr>
                <a:t>8000H </a:t>
              </a:r>
            </a:p>
            <a:p>
              <a:pPr algn="r" eaLnBrk="1" hangingPunct="1">
                <a:lnSpc>
                  <a:spcPct val="85000"/>
                </a:lnSpc>
              </a:pPr>
              <a:r>
                <a:rPr lang="en-US" altLang="zh-CN" sz="1800" b="1" dirty="0">
                  <a:latin typeface="宋体" charset="-122"/>
                </a:rPr>
                <a:t>……</a:t>
              </a:r>
            </a:p>
            <a:p>
              <a:pPr algn="r" eaLnBrk="1" hangingPunct="1">
                <a:lnSpc>
                  <a:spcPct val="85000"/>
                </a:lnSpc>
              </a:pPr>
              <a:r>
                <a:rPr lang="en-US" altLang="zh-CN" sz="1800" b="1" dirty="0">
                  <a:latin typeface="宋体" charset="-122"/>
                </a:rPr>
                <a:t>803FH</a:t>
              </a:r>
            </a:p>
            <a:p>
              <a:pPr algn="r" eaLnBrk="1" hangingPunct="1">
                <a:lnSpc>
                  <a:spcPct val="85000"/>
                </a:lnSpc>
              </a:pPr>
              <a:r>
                <a:rPr lang="en-US" altLang="zh-CN" sz="1800" b="1" dirty="0">
                  <a:latin typeface="宋体" charset="-122"/>
                </a:rPr>
                <a:t>8040H</a:t>
              </a:r>
            </a:p>
          </p:txBody>
        </p:sp>
        <p:sp>
          <p:nvSpPr>
            <p:cNvPr id="121" name="Line 52"/>
            <p:cNvSpPr>
              <a:spLocks noChangeShapeType="1"/>
            </p:cNvSpPr>
            <p:nvPr/>
          </p:nvSpPr>
          <p:spPr bwMode="auto">
            <a:xfrm flipH="1" flipV="1">
              <a:off x="1474" y="1706"/>
              <a:ext cx="227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122" name="Line 53"/>
            <p:cNvSpPr>
              <a:spLocks noChangeShapeType="1"/>
            </p:cNvSpPr>
            <p:nvPr/>
          </p:nvSpPr>
          <p:spPr bwMode="auto">
            <a:xfrm>
              <a:off x="930" y="1934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123" name="Line 54"/>
            <p:cNvSpPr>
              <a:spLocks noChangeShapeType="1"/>
            </p:cNvSpPr>
            <p:nvPr/>
          </p:nvSpPr>
          <p:spPr bwMode="auto">
            <a:xfrm>
              <a:off x="930" y="2070"/>
              <a:ext cx="5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124" name="Line 55"/>
            <p:cNvSpPr>
              <a:spLocks noChangeShapeType="1"/>
            </p:cNvSpPr>
            <p:nvPr/>
          </p:nvSpPr>
          <p:spPr bwMode="auto">
            <a:xfrm>
              <a:off x="930" y="1480"/>
              <a:ext cx="0" cy="6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125" name="Line 56"/>
            <p:cNvSpPr>
              <a:spLocks noChangeShapeType="1"/>
            </p:cNvSpPr>
            <p:nvPr/>
          </p:nvSpPr>
          <p:spPr bwMode="auto">
            <a:xfrm>
              <a:off x="1474" y="1480"/>
              <a:ext cx="0" cy="6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sp>
          <p:nvSpPr>
            <p:cNvPr id="126" name="Text Box 57"/>
            <p:cNvSpPr txBox="1">
              <a:spLocks noChangeArrowheads="1"/>
            </p:cNvSpPr>
            <p:nvPr/>
          </p:nvSpPr>
          <p:spPr bwMode="auto">
            <a:xfrm>
              <a:off x="1701" y="1616"/>
              <a:ext cx="408" cy="18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10800" rIns="18000" bIns="10800" anchor="ctr"/>
            <a:lstStyle/>
            <a:p>
              <a:pPr algn="ctr" eaLnBrk="1" hangingPunct="1"/>
              <a:r>
                <a:rPr lang="en-US" altLang="zh-CN" sz="2000" b="1">
                  <a:solidFill>
                    <a:srgbClr val="CC3300"/>
                  </a:solidFill>
                  <a:latin typeface="宋体" charset="-122"/>
                </a:rPr>
                <a:t>SP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9622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2" grpId="0"/>
      <p:bldP spid="1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26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四、寻址方式</a:t>
            </a:r>
            <a:endParaRPr lang="en-US" altLang="zh-CN" b="1" dirty="0" smtClean="0">
              <a:latin typeface="+mn-ea"/>
              <a:ea typeface="+mn-ea"/>
            </a:endParaRPr>
          </a:p>
        </p:txBody>
      </p:sp>
      <p:sp>
        <p:nvSpPr>
          <p:cNvPr id="6" name="Text Box 85"/>
          <p:cNvSpPr txBox="1">
            <a:spLocks noChangeArrowheads="1"/>
          </p:cNvSpPr>
          <p:nvPr/>
        </p:nvSpPr>
        <p:spPr bwMode="auto">
          <a:xfrm>
            <a:off x="179388" y="817777"/>
            <a:ext cx="7416948" cy="2899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指令寻址方式           </a:t>
            </a:r>
            <a:r>
              <a:rPr lang="zh-CN" altLang="en-US" sz="2000" b="1" dirty="0" smtClean="0">
                <a:latin typeface="宋体" pitchFamily="2" charset="-122"/>
              </a:rPr>
              <a:t>☆掌握概念、理解原理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3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数据寻址方式           </a:t>
            </a:r>
            <a:r>
              <a:rPr lang="zh-CN" altLang="en-US" sz="2000" b="1" dirty="0" smtClean="0">
                <a:latin typeface="宋体" pitchFamily="2" charset="-122"/>
              </a:rPr>
              <a:t>☆掌握概念、理解原理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79388" y="1268760"/>
            <a:ext cx="881221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寻址类型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顺序、跳跃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，寻址方式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隐含</a:t>
            </a:r>
            <a:r>
              <a:rPr lang="zh-CN" altLang="en-US" b="1" dirty="0" smtClean="0">
                <a:latin typeface="宋体" pitchFamily="2" charset="-122"/>
              </a:rPr>
              <a:t>、</a:t>
            </a:r>
            <a:r>
              <a:rPr lang="zh-CN" altLang="en-US" sz="2000" b="1" dirty="0" smtClean="0">
                <a:latin typeface="宋体" pitchFamily="2" charset="-122"/>
              </a:rPr>
              <a:t>直接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相对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隐含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寻址方式的识别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无、译码时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与实现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取指时、执行时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179512" y="2686854"/>
            <a:ext cx="8785225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寻址方式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立即</a:t>
            </a:r>
            <a:r>
              <a:rPr lang="en-US" altLang="zh-CN" sz="2000" b="1" dirty="0" smtClean="0">
                <a:latin typeface="宋体" pitchFamily="2" charset="-122"/>
              </a:rPr>
              <a:t>/REG/</a:t>
            </a:r>
            <a:r>
              <a:rPr lang="zh-CN" altLang="en-US" sz="2000" b="1" dirty="0" smtClean="0">
                <a:latin typeface="宋体" pitchFamily="2" charset="-122"/>
              </a:rPr>
              <a:t>直接</a:t>
            </a:r>
            <a:r>
              <a:rPr lang="en-US" altLang="zh-CN" sz="2000" b="1" dirty="0" smtClean="0">
                <a:latin typeface="宋体" pitchFamily="2" charset="-122"/>
              </a:rPr>
              <a:t>/REG</a:t>
            </a:r>
            <a:r>
              <a:rPr lang="zh-CN" altLang="en-US" sz="2000" b="1" dirty="0" smtClean="0">
                <a:latin typeface="宋体" pitchFamily="2" charset="-122"/>
              </a:rPr>
              <a:t>间接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基址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变址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隐含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zh-CN" altLang="en-US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地址码编码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方式位、地址参数的表示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，寻址方式的识别与实现</a:t>
            </a:r>
            <a:endParaRPr lang="zh-CN" altLang="en-US" sz="1800" b="1" dirty="0">
              <a:latin typeface="宋体" pitchFamily="2" charset="-122"/>
            </a:endParaRPr>
          </a:p>
        </p:txBody>
      </p:sp>
      <p:sp>
        <p:nvSpPr>
          <p:cNvPr id="9" name="Text Box 50"/>
          <p:cNvSpPr txBox="1">
            <a:spLocks noChangeArrowheads="1"/>
          </p:cNvSpPr>
          <p:nvPr/>
        </p:nvSpPr>
        <p:spPr bwMode="auto">
          <a:xfrm>
            <a:off x="179388" y="3622958"/>
            <a:ext cx="8785225" cy="55399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  〖</a:t>
            </a:r>
            <a:r>
              <a:rPr lang="zh-CN" altLang="en-US" b="1" dirty="0">
                <a:latin typeface="宋体" pitchFamily="2" charset="-122"/>
              </a:rPr>
              <a:t>例</a:t>
            </a:r>
            <a:r>
              <a:rPr lang="en-US" altLang="zh-CN" b="1" dirty="0" smtClean="0">
                <a:latin typeface="宋体" pitchFamily="2" charset="-122"/>
              </a:rPr>
              <a:t>〗PPT4. </a:t>
            </a:r>
            <a:r>
              <a:rPr lang="zh-CN" altLang="en-US" b="1" dirty="0" smtClean="0">
                <a:latin typeface="宋体" pitchFamily="2" charset="-122"/>
              </a:rPr>
              <a:t>例</a:t>
            </a:r>
            <a:r>
              <a:rPr lang="en-US" altLang="zh-CN" b="1" dirty="0" smtClean="0">
                <a:latin typeface="宋体" pitchFamily="2" charset="-122"/>
              </a:rPr>
              <a:t>1</a:t>
            </a:r>
            <a:r>
              <a:rPr lang="zh-CN" altLang="en-US" b="1" dirty="0" smtClean="0">
                <a:latin typeface="宋体" pitchFamily="2" charset="-122"/>
              </a:rPr>
              <a:t>、例</a:t>
            </a:r>
            <a:r>
              <a:rPr lang="en-US" altLang="zh-CN" b="1" dirty="0" smtClean="0">
                <a:latin typeface="宋体" pitchFamily="2" charset="-122"/>
              </a:rPr>
              <a:t>2</a:t>
            </a:r>
            <a:r>
              <a:rPr lang="zh-CN" altLang="en-US" b="1" dirty="0" smtClean="0">
                <a:latin typeface="宋体" pitchFamily="2" charset="-122"/>
              </a:rPr>
              <a:t>，例</a:t>
            </a:r>
            <a:r>
              <a:rPr lang="en-US" altLang="zh-CN" b="1" dirty="0" smtClean="0">
                <a:latin typeface="宋体" pitchFamily="2" charset="-122"/>
              </a:rPr>
              <a:t>3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理解指令信息如何约定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b="1" dirty="0">
              <a:latin typeface="宋体" pitchFamily="2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79388" y="4077072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五、指令系统发展         </a:t>
            </a:r>
            <a:r>
              <a:rPr lang="zh-CN" altLang="en-US" sz="2000" b="1" dirty="0" smtClean="0">
                <a:latin typeface="+mn-ea"/>
                <a:ea typeface="+mn-ea"/>
              </a:rPr>
              <a:t>△理解相关概念</a:t>
            </a:r>
            <a:endParaRPr lang="en-US" altLang="zh-CN" sz="2000" b="1" dirty="0" smtClean="0">
              <a:latin typeface="+mn-ea"/>
              <a:ea typeface="+mn-ea"/>
            </a:endParaRPr>
          </a:p>
        </p:txBody>
      </p:sp>
      <p:sp>
        <p:nvSpPr>
          <p:cNvPr id="11" name="Text Box 43"/>
          <p:cNvSpPr txBox="1">
            <a:spLocks noChangeArrowheads="1"/>
          </p:cNvSpPr>
          <p:nvPr/>
        </p:nvSpPr>
        <p:spPr bwMode="auto">
          <a:xfrm>
            <a:off x="179512" y="4653136"/>
            <a:ext cx="878522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*本章总体要求：</a:t>
            </a:r>
            <a:r>
              <a:rPr lang="zh-CN" altLang="en-US" b="1" dirty="0" smtClean="0">
                <a:latin typeface="宋体" pitchFamily="2" charset="-122"/>
              </a:rPr>
              <a:t>①理解指令信息的约定方法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zh-CN" altLang="en-US" b="1" dirty="0" smtClean="0">
                <a:latin typeface="宋体" pitchFamily="2" charset="-122"/>
              </a:rPr>
              <a:t>表示方式及编码</a:t>
            </a:r>
            <a:r>
              <a:rPr lang="en-US" altLang="zh-CN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             ②理解数据在</a:t>
            </a:r>
            <a:r>
              <a:rPr lang="en-US" altLang="zh-CN" b="1" dirty="0" smtClean="0">
                <a:latin typeface="宋体" pitchFamily="2" charset="-122"/>
              </a:rPr>
              <a:t>MEM</a:t>
            </a:r>
            <a:r>
              <a:rPr lang="zh-CN" altLang="en-US" b="1" dirty="0" smtClean="0">
                <a:latin typeface="宋体" pitchFamily="2" charset="-122"/>
              </a:rPr>
              <a:t>中的存放方法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zh-CN" altLang="en-US" b="1" dirty="0" smtClean="0">
                <a:latin typeface="宋体" pitchFamily="2" charset="-122"/>
              </a:rPr>
              <a:t>～地址码</a:t>
            </a:r>
            <a:r>
              <a:rPr lang="en-US" altLang="zh-CN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             ③理解寻址方式的地址形成方法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zh-CN" altLang="en-US" b="1" dirty="0">
                <a:latin typeface="宋体" pitchFamily="2" charset="-122"/>
              </a:rPr>
              <a:t>～</a:t>
            </a:r>
            <a:r>
              <a:rPr lang="zh-CN" altLang="en-US" b="1" dirty="0" smtClean="0">
                <a:latin typeface="宋体" pitchFamily="2" charset="-122"/>
              </a:rPr>
              <a:t>地址码</a:t>
            </a:r>
            <a:r>
              <a:rPr lang="en-US" altLang="zh-CN" b="1" dirty="0" smtClean="0">
                <a:latin typeface="宋体" pitchFamily="2" charset="-122"/>
              </a:rPr>
              <a:t>)</a:t>
            </a:r>
            <a:endParaRPr lang="en-US" altLang="zh-CN" sz="2000" b="1" dirty="0" smtClean="0">
              <a:latin typeface="宋体" pitchFamily="2" charset="-122"/>
            </a:endParaRPr>
          </a:p>
        </p:txBody>
      </p:sp>
      <p:sp>
        <p:nvSpPr>
          <p:cNvPr id="12" name="Text Box 132"/>
          <p:cNvSpPr txBox="1">
            <a:spLocks noChangeArrowheads="1"/>
          </p:cNvSpPr>
          <p:nvPr/>
        </p:nvSpPr>
        <p:spPr bwMode="auto">
          <a:xfrm>
            <a:off x="683568" y="2729245"/>
            <a:ext cx="1368152" cy="461665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14" name="Text Box 132"/>
          <p:cNvSpPr txBox="1">
            <a:spLocks noChangeArrowheads="1"/>
          </p:cNvSpPr>
          <p:nvPr/>
        </p:nvSpPr>
        <p:spPr bwMode="auto">
          <a:xfrm>
            <a:off x="4644008" y="3687415"/>
            <a:ext cx="2952328" cy="461665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altLang="zh-CN" b="1" dirty="0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3749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 animBg="1"/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58B1A9-3221-4966-99E7-B96DFE6AA525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169994" name="Text Box 10"/>
          <p:cNvSpPr txBox="1">
            <a:spLocks noChangeArrowheads="1"/>
          </p:cNvSpPr>
          <p:nvPr/>
        </p:nvSpPr>
        <p:spPr bwMode="auto">
          <a:xfrm>
            <a:off x="179388" y="285728"/>
            <a:ext cx="8785225" cy="2640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dirty="0">
                <a:latin typeface="宋体" pitchFamily="2" charset="-122"/>
              </a:rPr>
              <a:t>  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例</a:t>
            </a: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1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：</a:t>
            </a:r>
            <a:r>
              <a:rPr lang="zh-CN" altLang="en-US" b="1" dirty="0" smtClean="0">
                <a:latin typeface="宋体" pitchFamily="2" charset="-122"/>
              </a:rPr>
              <a:t>某</a:t>
            </a:r>
            <a:r>
              <a:rPr lang="zh-CN" altLang="en-US" b="1" dirty="0">
                <a:latin typeface="宋体" pitchFamily="2" charset="-122"/>
              </a:rPr>
              <a:t>计算机主存按字节</a:t>
            </a:r>
            <a:r>
              <a:rPr lang="zh-CN" altLang="en-US" b="1" dirty="0" smtClean="0">
                <a:latin typeface="宋体" pitchFamily="2" charset="-122"/>
              </a:rPr>
              <a:t>编址，有</a:t>
            </a:r>
            <a:r>
              <a:rPr lang="zh-CN" altLang="en-US" b="1" dirty="0">
                <a:latin typeface="宋体" pitchFamily="2" charset="-122"/>
              </a:rPr>
              <a:t>符号</a:t>
            </a:r>
            <a:r>
              <a:rPr lang="zh-CN" altLang="en-US" b="1" dirty="0" smtClean="0">
                <a:latin typeface="宋体" pitchFamily="2" charset="-122"/>
              </a:rPr>
              <a:t>定点数用</a:t>
            </a:r>
            <a:r>
              <a:rPr lang="zh-CN" altLang="en-US" b="1" dirty="0" smtClean="0">
                <a:solidFill>
                  <a:srgbClr val="FF0000"/>
                </a:solidFill>
                <a:latin typeface="宋体" pitchFamily="2" charset="-122"/>
              </a:rPr>
              <a:t>补码表示</a:t>
            </a:r>
            <a:r>
              <a:rPr lang="zh-CN" altLang="en-US" b="1" dirty="0" smtClean="0">
                <a:latin typeface="宋体" pitchFamily="2" charset="-122"/>
              </a:rPr>
              <a:t>，单地址指令</a:t>
            </a:r>
            <a:r>
              <a:rPr lang="zh-CN" altLang="en-US" b="1" dirty="0">
                <a:latin typeface="宋体" pitchFamily="2" charset="-122"/>
              </a:rPr>
              <a:t>格式</a:t>
            </a:r>
            <a:r>
              <a:rPr lang="zh-CN" altLang="en-US" b="1" dirty="0" smtClean="0">
                <a:latin typeface="宋体" pitchFamily="2" charset="-122"/>
              </a:rPr>
              <a:t>如下图</a:t>
            </a:r>
            <a:r>
              <a:rPr lang="zh-CN" altLang="en-US" b="1" dirty="0">
                <a:latin typeface="宋体" pitchFamily="2" charset="-122"/>
              </a:rPr>
              <a:t>所</a:t>
            </a:r>
            <a:r>
              <a:rPr lang="zh-CN" altLang="en-US" b="1" dirty="0" smtClean="0">
                <a:latin typeface="宋体" pitchFamily="2" charset="-122"/>
              </a:rPr>
              <a:t>示，基址</a:t>
            </a:r>
            <a:r>
              <a:rPr lang="en-US" altLang="zh-CN" b="1" dirty="0">
                <a:latin typeface="宋体" pitchFamily="2" charset="-122"/>
              </a:rPr>
              <a:t>REG</a:t>
            </a:r>
            <a:r>
              <a:rPr lang="zh-CN" altLang="en-US" b="1" dirty="0">
                <a:latin typeface="宋体" pitchFamily="2" charset="-122"/>
              </a:rPr>
              <a:t>和变址</a:t>
            </a:r>
            <a:r>
              <a:rPr lang="en-US" altLang="zh-CN" b="1" dirty="0">
                <a:latin typeface="宋体" pitchFamily="2" charset="-122"/>
              </a:rPr>
              <a:t>REG</a:t>
            </a:r>
            <a:r>
              <a:rPr lang="zh-CN" altLang="en-US" b="1" dirty="0">
                <a:latin typeface="宋体" pitchFamily="2" charset="-122"/>
              </a:rPr>
              <a:t>各有</a:t>
            </a:r>
            <a:r>
              <a:rPr lang="en-US" altLang="zh-CN" b="1" dirty="0">
                <a:latin typeface="宋体" pitchFamily="2" charset="-122"/>
              </a:rPr>
              <a:t>1</a:t>
            </a:r>
            <a:r>
              <a:rPr lang="zh-CN" altLang="en-US" b="1" dirty="0">
                <a:latin typeface="宋体" pitchFamily="2" charset="-122"/>
              </a:rPr>
              <a:t>个</a:t>
            </a:r>
            <a:r>
              <a:rPr lang="en-US" altLang="zh-CN" b="1" dirty="0">
                <a:latin typeface="宋体" pitchFamily="2" charset="-122"/>
              </a:rPr>
              <a:t>(</a:t>
            </a:r>
            <a:r>
              <a:rPr lang="zh-CN" altLang="en-US" b="1" dirty="0">
                <a:latin typeface="宋体" pitchFamily="2" charset="-122"/>
              </a:rPr>
              <a:t>分别记为</a:t>
            </a:r>
            <a:r>
              <a:rPr lang="en-US" altLang="zh-CN" b="1" dirty="0">
                <a:latin typeface="宋体" pitchFamily="2" charset="-122"/>
              </a:rPr>
              <a:t>RB</a:t>
            </a:r>
            <a:r>
              <a:rPr lang="zh-CN" altLang="en-US" b="1" dirty="0">
                <a:latin typeface="宋体" pitchFamily="2" charset="-122"/>
              </a:rPr>
              <a:t>和</a:t>
            </a:r>
            <a:r>
              <a:rPr lang="en-US" altLang="zh-CN" b="1" dirty="0">
                <a:latin typeface="宋体" pitchFamily="2" charset="-122"/>
              </a:rPr>
              <a:t>RI</a:t>
            </a:r>
            <a:r>
              <a:rPr lang="en-US" altLang="zh-CN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。设</a:t>
            </a:r>
            <a:r>
              <a:rPr lang="en-US" altLang="zh-CN" b="1" dirty="0">
                <a:latin typeface="宋体" pitchFamily="2" charset="-122"/>
              </a:rPr>
              <a:t>(RB</a:t>
            </a:r>
            <a:r>
              <a:rPr lang="en-US" altLang="zh-CN" b="1" dirty="0" smtClean="0">
                <a:latin typeface="宋体" pitchFamily="2" charset="-122"/>
              </a:rPr>
              <a:t>)=8000H</a:t>
            </a:r>
            <a:r>
              <a:rPr lang="zh-CN" altLang="en-US" b="1" dirty="0" smtClean="0">
                <a:latin typeface="宋体" pitchFamily="2" charset="-122"/>
              </a:rPr>
              <a:t>、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en-US" altLang="zh-CN" b="1" dirty="0">
                <a:latin typeface="宋体" pitchFamily="2" charset="-122"/>
              </a:rPr>
              <a:t>RI</a:t>
            </a:r>
            <a:r>
              <a:rPr lang="en-US" altLang="zh-CN" b="1" dirty="0" smtClean="0">
                <a:latin typeface="宋体" pitchFamily="2" charset="-122"/>
              </a:rPr>
              <a:t>)=0007H</a:t>
            </a:r>
            <a:r>
              <a:rPr lang="zh-CN" altLang="en-US" b="1" dirty="0" smtClean="0">
                <a:latin typeface="宋体" pitchFamily="2" charset="-122"/>
              </a:rPr>
              <a:t>、</a:t>
            </a:r>
            <a:r>
              <a:rPr lang="en-US" altLang="zh-CN" b="1" dirty="0">
                <a:latin typeface="宋体" pitchFamily="2" charset="-122"/>
              </a:rPr>
              <a:t>(PC)=1234H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r>
              <a:rPr lang="en-US" altLang="zh-CN" b="1" dirty="0" smtClean="0">
                <a:latin typeface="宋体" pitchFamily="2" charset="-122"/>
              </a:rPr>
              <a:t>CPU</a:t>
            </a:r>
            <a:r>
              <a:rPr lang="zh-CN" altLang="en-US" b="1" dirty="0">
                <a:latin typeface="宋体" pitchFamily="2" charset="-122"/>
              </a:rPr>
              <a:t>取指令时自动完成</a:t>
            </a:r>
            <a:r>
              <a:rPr lang="en-US" altLang="zh-CN" b="1" dirty="0">
                <a:latin typeface="宋体" pitchFamily="2" charset="-122"/>
              </a:rPr>
              <a:t>PC←(PC)</a:t>
            </a:r>
            <a:r>
              <a:rPr lang="zh-CN" altLang="en-US" b="1" dirty="0">
                <a:latin typeface="宋体" pitchFamily="2" charset="-122"/>
              </a:rPr>
              <a:t>＋</a:t>
            </a:r>
            <a:r>
              <a:rPr lang="zh-CN" altLang="en-US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“</a:t>
            </a:r>
            <a:r>
              <a:rPr lang="en-US" altLang="zh-CN" b="1" dirty="0">
                <a:latin typeface="宋体" pitchFamily="2" charset="-122"/>
              </a:rPr>
              <a:t>1</a:t>
            </a:r>
            <a:r>
              <a:rPr lang="zh-CN" altLang="en-US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” </a:t>
            </a:r>
            <a:r>
              <a:rPr lang="zh-CN" altLang="en-US" b="1" dirty="0">
                <a:latin typeface="宋体" pitchFamily="2" charset="-122"/>
              </a:rPr>
              <a:t>，</a:t>
            </a:r>
            <a:r>
              <a:rPr lang="zh-CN" altLang="en-US" b="1" dirty="0" smtClean="0">
                <a:latin typeface="宋体" pitchFamily="2" charset="-122"/>
              </a:rPr>
              <a:t>请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15000"/>
              </a:lnSpc>
            </a:pPr>
            <a:r>
              <a:rPr lang="zh-CN" altLang="en-US" b="1" dirty="0" smtClean="0">
                <a:latin typeface="宋体" pitchFamily="2" charset="-122"/>
              </a:rPr>
              <a:t>计算下列指令字①</a:t>
            </a:r>
            <a:r>
              <a:rPr lang="en-US" altLang="zh-CN" b="1" dirty="0">
                <a:latin typeface="宋体" pitchFamily="2" charset="-122"/>
              </a:rPr>
              <a:t>4428H ②2244H </a:t>
            </a:r>
          </a:p>
          <a:p>
            <a:pPr>
              <a:lnSpc>
                <a:spcPct val="115000"/>
              </a:lnSpc>
            </a:pPr>
            <a:r>
              <a:rPr lang="en-US" altLang="zh-CN" b="1" dirty="0">
                <a:latin typeface="宋体" pitchFamily="2" charset="-122"/>
              </a:rPr>
              <a:t>③</a:t>
            </a:r>
            <a:r>
              <a:rPr lang="en-US" altLang="zh-CN" b="1" dirty="0" smtClean="0">
                <a:latin typeface="宋体" pitchFamily="2" charset="-122"/>
              </a:rPr>
              <a:t>1390H </a:t>
            </a:r>
            <a:r>
              <a:rPr lang="en-US" altLang="zh-CN" b="1" dirty="0">
                <a:latin typeface="宋体" pitchFamily="2" charset="-122"/>
              </a:rPr>
              <a:t>④3592H</a:t>
            </a:r>
            <a:r>
              <a:rPr lang="zh-CN" altLang="en-US" b="1" dirty="0" smtClean="0">
                <a:latin typeface="宋体" pitchFamily="2" charset="-122"/>
              </a:rPr>
              <a:t>的</a:t>
            </a:r>
            <a:r>
              <a:rPr lang="en-US" altLang="zh-CN" b="1" dirty="0" smtClean="0">
                <a:latin typeface="宋体" pitchFamily="2" charset="-122"/>
              </a:rPr>
              <a:t>OPD</a:t>
            </a:r>
            <a:r>
              <a:rPr lang="zh-CN" altLang="en-US" b="1" dirty="0" smtClean="0">
                <a:latin typeface="宋体" pitchFamily="2" charset="-122"/>
              </a:rPr>
              <a:t>或</a:t>
            </a:r>
            <a:r>
              <a:rPr lang="en-US" altLang="zh-CN" b="1" dirty="0" smtClean="0">
                <a:latin typeface="宋体" pitchFamily="2" charset="-122"/>
              </a:rPr>
              <a:t>OPD</a:t>
            </a:r>
            <a:r>
              <a:rPr lang="zh-CN" altLang="en-US" b="1" dirty="0" smtClean="0">
                <a:latin typeface="宋体" pitchFamily="2" charset="-122"/>
              </a:rPr>
              <a:t>的</a:t>
            </a:r>
            <a:r>
              <a:rPr lang="en-US" altLang="zh-CN" b="1" dirty="0" smtClean="0">
                <a:latin typeface="宋体" pitchFamily="2" charset="-122"/>
              </a:rPr>
              <a:t>EA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169995" name="Text Box 11"/>
          <p:cNvSpPr txBox="1">
            <a:spLocks noChangeArrowheads="1"/>
          </p:cNvSpPr>
          <p:nvPr/>
        </p:nvSpPr>
        <p:spPr bwMode="auto">
          <a:xfrm>
            <a:off x="179389" y="2863828"/>
            <a:ext cx="5688755" cy="517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b="1" dirty="0">
                <a:solidFill>
                  <a:srgbClr val="990099"/>
                </a:solidFill>
                <a:latin typeface="宋体" pitchFamily="2" charset="-122"/>
              </a:rPr>
              <a:t>  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解：</a:t>
            </a:r>
            <a:r>
              <a:rPr lang="en-US" altLang="zh-CN" b="1" dirty="0" smtClean="0">
                <a:latin typeface="宋体" pitchFamily="2" charset="-122"/>
              </a:rPr>
              <a:t>①4428H</a:t>
            </a:r>
            <a:r>
              <a:rPr lang="zh-CN" altLang="en-US" b="1" dirty="0" smtClean="0">
                <a:latin typeface="宋体" pitchFamily="2" charset="-122"/>
              </a:rPr>
              <a:t>＝</a:t>
            </a:r>
            <a:r>
              <a:rPr lang="en-US" altLang="zh-CN" b="1" dirty="0" smtClean="0">
                <a:solidFill>
                  <a:schemeClr val="accent2"/>
                </a:solidFill>
                <a:latin typeface="宋体" pitchFamily="2" charset="-122"/>
              </a:rPr>
              <a:t>0100</a:t>
            </a:r>
            <a:r>
              <a:rPr lang="en-US" altLang="zh-CN" b="1" dirty="0" smtClean="0"/>
              <a:t> </a:t>
            </a:r>
            <a:r>
              <a:rPr lang="en-US" altLang="zh-CN" b="1" dirty="0">
                <a:solidFill>
                  <a:schemeClr val="accent2"/>
                </a:solidFill>
                <a:latin typeface="宋体" pitchFamily="2" charset="-122"/>
              </a:rPr>
              <a:t>01</a:t>
            </a:r>
            <a:r>
              <a:rPr lang="en-US" altLang="zh-CN" b="1" u="sng" dirty="0">
                <a:solidFill>
                  <a:srgbClr val="990099"/>
                </a:solidFill>
                <a:latin typeface="宋体" pitchFamily="2" charset="-122"/>
              </a:rPr>
              <a:t>00</a:t>
            </a:r>
            <a:r>
              <a:rPr lang="en-US" altLang="zh-CN" b="1" dirty="0"/>
              <a:t> </a:t>
            </a:r>
            <a:r>
              <a:rPr lang="en-US" altLang="zh-CN" b="1" dirty="0">
                <a:latin typeface="宋体" pitchFamily="2" charset="-122"/>
              </a:rPr>
              <a:t>0010</a:t>
            </a:r>
            <a:r>
              <a:rPr lang="en-US" altLang="zh-CN" b="1" dirty="0"/>
              <a:t> </a:t>
            </a:r>
            <a:r>
              <a:rPr lang="en-US" altLang="zh-CN" b="1" dirty="0" smtClean="0">
                <a:latin typeface="宋体" pitchFamily="2" charset="-122"/>
              </a:rPr>
              <a:t>1000B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169996" name="Text Box 12"/>
          <p:cNvSpPr txBox="1">
            <a:spLocks noChangeArrowheads="1"/>
          </p:cNvSpPr>
          <p:nvPr/>
        </p:nvSpPr>
        <p:spPr bwMode="auto">
          <a:xfrm>
            <a:off x="179388" y="3297214"/>
            <a:ext cx="8785225" cy="517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b="1" dirty="0">
                <a:solidFill>
                  <a:srgbClr val="CC3300"/>
                </a:solidFill>
                <a:latin typeface="宋体" pitchFamily="2" charset="-122"/>
              </a:rPr>
              <a:t>    </a:t>
            </a:r>
            <a:r>
              <a:rPr lang="en-US" altLang="zh-CN" b="1" dirty="0" smtClean="0">
                <a:latin typeface="宋体" pitchFamily="2" charset="-122"/>
              </a:rPr>
              <a:t>②2244H</a:t>
            </a:r>
            <a:r>
              <a:rPr lang="zh-CN" altLang="en-US" b="1" dirty="0" smtClean="0">
                <a:latin typeface="宋体" pitchFamily="2" charset="-122"/>
              </a:rPr>
              <a:t>＝</a:t>
            </a:r>
            <a:r>
              <a:rPr lang="en-US" altLang="zh-CN" b="1" dirty="0" smtClean="0">
                <a:solidFill>
                  <a:schemeClr val="accent2"/>
                </a:solidFill>
                <a:latin typeface="宋体" pitchFamily="2" charset="-122"/>
              </a:rPr>
              <a:t>0010</a:t>
            </a:r>
            <a:r>
              <a:rPr lang="en-US" altLang="zh-CN" b="1" dirty="0" smtClean="0">
                <a:solidFill>
                  <a:schemeClr val="accent2"/>
                </a:solidFill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宋体" pitchFamily="2" charset="-122"/>
              </a:rPr>
              <a:t>00</a:t>
            </a:r>
            <a:r>
              <a:rPr lang="en-US" altLang="zh-CN" b="1" u="sng" dirty="0">
                <a:solidFill>
                  <a:srgbClr val="990099"/>
                </a:solidFill>
                <a:latin typeface="宋体" pitchFamily="2" charset="-122"/>
              </a:rPr>
              <a:t>10</a:t>
            </a:r>
            <a:r>
              <a:rPr lang="en-US" altLang="zh-CN" b="1" dirty="0"/>
              <a:t> </a:t>
            </a:r>
            <a:r>
              <a:rPr lang="en-US" altLang="zh-CN" b="1" dirty="0">
                <a:latin typeface="宋体" pitchFamily="2" charset="-122"/>
              </a:rPr>
              <a:t>0100</a:t>
            </a:r>
            <a:r>
              <a:rPr lang="en-US" altLang="zh-CN" b="1" dirty="0"/>
              <a:t> </a:t>
            </a:r>
            <a:r>
              <a:rPr lang="en-US" altLang="zh-CN" b="1" dirty="0">
                <a:latin typeface="宋体" pitchFamily="2" charset="-122"/>
              </a:rPr>
              <a:t>0100B</a:t>
            </a:r>
            <a:r>
              <a:rPr lang="zh-CN" altLang="en-US" b="1" dirty="0">
                <a:latin typeface="宋体" pitchFamily="2" charset="-122"/>
              </a:rPr>
              <a:t>，基址</a:t>
            </a:r>
            <a:r>
              <a:rPr lang="zh-CN" altLang="en-US" b="1" dirty="0" smtClean="0">
                <a:latin typeface="宋体" pitchFamily="2" charset="-122"/>
              </a:rPr>
              <a:t>寻址</a:t>
            </a:r>
            <a:r>
              <a:rPr lang="en-US" altLang="zh-CN" b="1" dirty="0">
                <a:latin typeface="宋体" pitchFamily="2" charset="-122"/>
              </a:rPr>
              <a:t>(</a:t>
            </a:r>
            <a:r>
              <a:rPr lang="en-US" altLang="zh-CN" b="1" dirty="0" smtClean="0">
                <a:latin typeface="宋体" pitchFamily="2" charset="-122"/>
              </a:rPr>
              <a:t>A=44H)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169997" name="Text Box 13"/>
          <p:cNvSpPr txBox="1">
            <a:spLocks noChangeArrowheads="1"/>
          </p:cNvSpPr>
          <p:nvPr/>
        </p:nvSpPr>
        <p:spPr bwMode="auto">
          <a:xfrm>
            <a:off x="179388" y="4154470"/>
            <a:ext cx="878522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b="1" dirty="0">
                <a:solidFill>
                  <a:srgbClr val="CC3300"/>
                </a:solidFill>
                <a:latin typeface="宋体" pitchFamily="2" charset="-122"/>
              </a:rPr>
              <a:t>    </a:t>
            </a:r>
            <a:r>
              <a:rPr lang="en-US" altLang="zh-CN" b="1" dirty="0" smtClean="0">
                <a:latin typeface="宋体" pitchFamily="2" charset="-122"/>
              </a:rPr>
              <a:t>③1392H</a:t>
            </a:r>
            <a:r>
              <a:rPr lang="zh-CN" altLang="en-US" b="1" dirty="0" smtClean="0">
                <a:latin typeface="宋体" pitchFamily="2" charset="-122"/>
              </a:rPr>
              <a:t>＝</a:t>
            </a:r>
            <a:r>
              <a:rPr lang="en-US" altLang="zh-CN" b="1" dirty="0" smtClean="0">
                <a:solidFill>
                  <a:schemeClr val="accent2"/>
                </a:solidFill>
                <a:latin typeface="宋体" pitchFamily="2" charset="-122"/>
              </a:rPr>
              <a:t>0001</a:t>
            </a:r>
            <a:r>
              <a:rPr lang="en-US" altLang="zh-CN" b="1" dirty="0" smtClean="0">
                <a:solidFill>
                  <a:schemeClr val="accent2"/>
                </a:solidFill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宋体" pitchFamily="2" charset="-122"/>
              </a:rPr>
              <a:t>00</a:t>
            </a:r>
            <a:r>
              <a:rPr lang="en-US" altLang="zh-CN" b="1" u="sng" dirty="0">
                <a:solidFill>
                  <a:srgbClr val="990099"/>
                </a:solidFill>
                <a:latin typeface="宋体" pitchFamily="2" charset="-122"/>
              </a:rPr>
              <a:t>11</a:t>
            </a:r>
            <a:r>
              <a:rPr lang="en-US" altLang="zh-CN" b="1" dirty="0"/>
              <a:t> </a:t>
            </a:r>
            <a:r>
              <a:rPr lang="en-US" altLang="zh-CN" b="1" dirty="0">
                <a:latin typeface="宋体" pitchFamily="2" charset="-122"/>
              </a:rPr>
              <a:t>1001</a:t>
            </a:r>
            <a:r>
              <a:rPr lang="en-US" altLang="zh-CN" b="1" dirty="0"/>
              <a:t> </a:t>
            </a:r>
            <a:r>
              <a:rPr lang="en-US" altLang="zh-CN" b="1" dirty="0" smtClean="0">
                <a:latin typeface="宋体" pitchFamily="2" charset="-122"/>
              </a:rPr>
              <a:t>0000B</a:t>
            </a:r>
            <a:r>
              <a:rPr lang="zh-CN" altLang="en-US" b="1" dirty="0">
                <a:latin typeface="宋体" pitchFamily="2" charset="-122"/>
              </a:rPr>
              <a:t>，变址寻址</a:t>
            </a:r>
            <a:r>
              <a:rPr lang="en-US" altLang="zh-CN" b="1" dirty="0">
                <a:latin typeface="宋体" pitchFamily="2" charset="-122"/>
              </a:rPr>
              <a:t>(</a:t>
            </a:r>
            <a:r>
              <a:rPr lang="en-US" altLang="zh-CN" b="1" dirty="0" smtClean="0">
                <a:latin typeface="宋体" pitchFamily="2" charset="-122"/>
              </a:rPr>
              <a:t>A=90H</a:t>
            </a:r>
            <a:r>
              <a:rPr lang="en-US" altLang="zh-CN" b="1" dirty="0">
                <a:latin typeface="宋体" pitchFamily="2" charset="-122"/>
              </a:rPr>
              <a:t>)</a:t>
            </a:r>
            <a:r>
              <a:rPr lang="zh-CN" altLang="en-US" b="1" dirty="0">
                <a:latin typeface="宋体" pitchFamily="2" charset="-122"/>
              </a:rPr>
              <a:t>，</a:t>
            </a:r>
          </a:p>
        </p:txBody>
      </p:sp>
      <p:sp>
        <p:nvSpPr>
          <p:cNvPr id="169998" name="Text Box 14"/>
          <p:cNvSpPr txBox="1">
            <a:spLocks noChangeArrowheads="1"/>
          </p:cNvSpPr>
          <p:nvPr/>
        </p:nvSpPr>
        <p:spPr bwMode="auto">
          <a:xfrm>
            <a:off x="179388" y="5011726"/>
            <a:ext cx="878522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b="1" dirty="0">
                <a:solidFill>
                  <a:srgbClr val="CC3300"/>
                </a:solidFill>
                <a:latin typeface="宋体" pitchFamily="2" charset="-122"/>
              </a:rPr>
              <a:t>    </a:t>
            </a:r>
            <a:r>
              <a:rPr lang="en-US" altLang="zh-CN" b="1" dirty="0" smtClean="0">
                <a:latin typeface="宋体" pitchFamily="2" charset="-122"/>
              </a:rPr>
              <a:t>④3592H</a:t>
            </a:r>
            <a:r>
              <a:rPr lang="zh-CN" altLang="en-US" b="1" dirty="0" smtClean="0">
                <a:latin typeface="宋体" pitchFamily="2" charset="-122"/>
              </a:rPr>
              <a:t>＝</a:t>
            </a:r>
            <a:r>
              <a:rPr lang="en-US" altLang="zh-CN" b="1" dirty="0" smtClean="0">
                <a:solidFill>
                  <a:schemeClr val="accent2"/>
                </a:solidFill>
                <a:latin typeface="宋体" pitchFamily="2" charset="-122"/>
              </a:rPr>
              <a:t>0011</a:t>
            </a:r>
            <a:r>
              <a:rPr lang="en-US" altLang="zh-CN" b="1" dirty="0" smtClean="0">
                <a:solidFill>
                  <a:schemeClr val="accent2"/>
                </a:solidFill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宋体" pitchFamily="2" charset="-122"/>
              </a:rPr>
              <a:t>01</a:t>
            </a:r>
            <a:r>
              <a:rPr lang="en-US" altLang="zh-CN" b="1" u="sng" dirty="0">
                <a:solidFill>
                  <a:srgbClr val="990099"/>
                </a:solidFill>
                <a:latin typeface="宋体" pitchFamily="2" charset="-122"/>
              </a:rPr>
              <a:t>01</a:t>
            </a:r>
            <a:r>
              <a:rPr lang="en-US" altLang="zh-CN" b="1" dirty="0"/>
              <a:t> </a:t>
            </a:r>
            <a:r>
              <a:rPr lang="en-US" altLang="zh-CN" b="1" dirty="0" smtClean="0">
                <a:latin typeface="宋体" pitchFamily="2" charset="-122"/>
              </a:rPr>
              <a:t>1001</a:t>
            </a:r>
            <a:r>
              <a:rPr lang="en-US" altLang="zh-CN" b="1" dirty="0" smtClean="0"/>
              <a:t> </a:t>
            </a:r>
            <a:r>
              <a:rPr lang="en-US" altLang="zh-CN" b="1" dirty="0" smtClean="0">
                <a:latin typeface="宋体" pitchFamily="2" charset="-122"/>
              </a:rPr>
              <a:t>0010B</a:t>
            </a:r>
            <a:r>
              <a:rPr lang="zh-CN" altLang="en-US" b="1" dirty="0">
                <a:latin typeface="宋体" pitchFamily="2" charset="-122"/>
              </a:rPr>
              <a:t>，相对寻址</a:t>
            </a:r>
            <a:r>
              <a:rPr lang="en-US" altLang="zh-CN" b="1" dirty="0">
                <a:latin typeface="宋体" pitchFamily="2" charset="-122"/>
              </a:rPr>
              <a:t>(A=92H)</a:t>
            </a:r>
            <a:r>
              <a:rPr lang="zh-CN" altLang="en-US" b="1" dirty="0">
                <a:latin typeface="宋体" pitchFamily="2" charset="-122"/>
              </a:rPr>
              <a:t>，</a:t>
            </a:r>
          </a:p>
        </p:txBody>
      </p:sp>
      <p:grpSp>
        <p:nvGrpSpPr>
          <p:cNvPr id="170004" name="Group 20"/>
          <p:cNvGrpSpPr>
            <a:grpSpLocks/>
          </p:cNvGrpSpPr>
          <p:nvPr/>
        </p:nvGrpSpPr>
        <p:grpSpPr bwMode="auto">
          <a:xfrm>
            <a:off x="5364088" y="1628973"/>
            <a:ext cx="3457575" cy="1223963"/>
            <a:chOff x="3198" y="565"/>
            <a:chExt cx="2178" cy="771"/>
          </a:xfrm>
        </p:grpSpPr>
        <p:sp>
          <p:nvSpPr>
            <p:cNvPr id="169990" name="Text Box 6"/>
            <p:cNvSpPr txBox="1">
              <a:spLocks noChangeArrowheads="1"/>
            </p:cNvSpPr>
            <p:nvPr/>
          </p:nvSpPr>
          <p:spPr bwMode="auto">
            <a:xfrm>
              <a:off x="3243" y="708"/>
              <a:ext cx="784" cy="227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 algn="ctr"/>
              <a:r>
                <a:rPr lang="en-US" altLang="zh-CN" sz="2000" b="1" dirty="0">
                  <a:latin typeface="宋体" pitchFamily="2" charset="-122"/>
                </a:rPr>
                <a:t>OP</a:t>
              </a:r>
            </a:p>
          </p:txBody>
        </p:sp>
        <p:sp>
          <p:nvSpPr>
            <p:cNvPr id="169992" name="Text Box 8"/>
            <p:cNvSpPr txBox="1">
              <a:spLocks noChangeArrowheads="1"/>
            </p:cNvSpPr>
            <p:nvPr/>
          </p:nvSpPr>
          <p:spPr bwMode="auto">
            <a:xfrm>
              <a:off x="4027" y="708"/>
              <a:ext cx="1303" cy="22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54000" tIns="10800" rIns="18000" bIns="10800" anchor="ctr"/>
            <a:lstStyle/>
            <a:p>
              <a:r>
                <a:rPr lang="en-US" altLang="zh-CN" sz="2000" b="1" dirty="0">
                  <a:latin typeface="宋体" pitchFamily="2" charset="-122"/>
                </a:rPr>
                <a:t> F       A</a:t>
              </a:r>
            </a:p>
          </p:txBody>
        </p:sp>
        <p:sp>
          <p:nvSpPr>
            <p:cNvPr id="169993" name="Text Box 9"/>
            <p:cNvSpPr txBox="1">
              <a:spLocks noChangeArrowheads="1"/>
            </p:cNvSpPr>
            <p:nvPr/>
          </p:nvSpPr>
          <p:spPr bwMode="auto">
            <a:xfrm>
              <a:off x="3243" y="565"/>
              <a:ext cx="2132" cy="13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itchFamily="2" charset="-122"/>
                </a:rPr>
                <a:t>15  </a:t>
              </a:r>
              <a:r>
                <a:rPr lang="en-US" altLang="zh-CN" sz="1800" b="1" dirty="0" smtClean="0">
                  <a:latin typeface="宋体" pitchFamily="2" charset="-122"/>
                </a:rPr>
                <a:t>    10 </a:t>
              </a:r>
              <a:r>
                <a:rPr lang="en-US" altLang="zh-CN" sz="1800" b="1" dirty="0">
                  <a:latin typeface="宋体" pitchFamily="2" charset="-122"/>
                </a:rPr>
                <a:t>9 </a:t>
              </a:r>
              <a:r>
                <a:rPr lang="en-US" altLang="zh-CN" sz="1800" b="1" dirty="0" smtClean="0">
                  <a:latin typeface="宋体" pitchFamily="2" charset="-122"/>
                </a:rPr>
                <a:t> 8 7          </a:t>
              </a:r>
              <a:r>
                <a:rPr lang="en-US" altLang="zh-CN" sz="1800" b="1" dirty="0">
                  <a:latin typeface="宋体" pitchFamily="2" charset="-122"/>
                </a:rPr>
                <a:t>0</a:t>
              </a:r>
            </a:p>
          </p:txBody>
        </p:sp>
        <p:sp>
          <p:nvSpPr>
            <p:cNvPr id="170001" name="Line 17"/>
            <p:cNvSpPr>
              <a:spLocks noChangeShapeType="1"/>
            </p:cNvSpPr>
            <p:nvPr/>
          </p:nvSpPr>
          <p:spPr bwMode="auto">
            <a:xfrm>
              <a:off x="4377" y="708"/>
              <a:ext cx="0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002" name="Text Box 18"/>
            <p:cNvSpPr txBox="1">
              <a:spLocks noChangeArrowheads="1"/>
            </p:cNvSpPr>
            <p:nvPr/>
          </p:nvSpPr>
          <p:spPr bwMode="auto">
            <a:xfrm>
              <a:off x="3198" y="928"/>
              <a:ext cx="2178" cy="408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lIns="54000" tIns="10800" rIns="18000" bIns="10800" anchor="ctr"/>
            <a:lstStyle/>
            <a:p>
              <a:pPr>
                <a:lnSpc>
                  <a:spcPct val="110000"/>
                </a:lnSpc>
              </a:pPr>
              <a:r>
                <a:rPr lang="en-US" altLang="zh-CN" sz="1800" b="1" dirty="0" smtClean="0">
                  <a:latin typeface="宋体" pitchFamily="2" charset="-122"/>
                </a:rPr>
                <a:t>F</a:t>
              </a:r>
              <a:r>
                <a:rPr lang="zh-CN" altLang="en-US" sz="1800" b="1" dirty="0" smtClean="0">
                  <a:latin typeface="宋体" pitchFamily="2" charset="-122"/>
                </a:rPr>
                <a:t>＝</a:t>
              </a:r>
              <a:r>
                <a:rPr lang="en-US" altLang="zh-CN" sz="1800" b="1" dirty="0" smtClean="0">
                  <a:latin typeface="宋体" pitchFamily="2" charset="-122"/>
                </a:rPr>
                <a:t>00</a:t>
              </a:r>
              <a:r>
                <a:rPr lang="zh-CN" altLang="en-US" sz="1800" b="1" dirty="0">
                  <a:latin typeface="宋体" pitchFamily="2" charset="-122"/>
                </a:rPr>
                <a:t>为立即寻址，</a:t>
              </a:r>
              <a:r>
                <a:rPr lang="en-US" altLang="zh-CN" sz="1800" b="1" dirty="0">
                  <a:latin typeface="宋体" pitchFamily="2" charset="-122"/>
                </a:rPr>
                <a:t>01</a:t>
              </a:r>
              <a:r>
                <a:rPr lang="zh-CN" altLang="en-US" sz="1800" b="1" dirty="0">
                  <a:latin typeface="宋体" pitchFamily="2" charset="-122"/>
                </a:rPr>
                <a:t>为相对寻址</a:t>
              </a:r>
            </a:p>
            <a:p>
              <a:pPr>
                <a:lnSpc>
                  <a:spcPct val="110000"/>
                </a:lnSpc>
              </a:pPr>
              <a:r>
                <a:rPr lang="zh-CN" altLang="en-US" sz="1800" b="1" dirty="0">
                  <a:latin typeface="宋体" pitchFamily="2" charset="-122"/>
                </a:rPr>
                <a:t>  </a:t>
              </a:r>
              <a:r>
                <a:rPr lang="zh-CN" altLang="en-US" sz="1800" b="1" dirty="0" smtClean="0">
                  <a:latin typeface="宋体" pitchFamily="2" charset="-122"/>
                </a:rPr>
                <a:t> </a:t>
              </a:r>
              <a:r>
                <a:rPr lang="en-US" altLang="zh-CN" sz="1800" b="1" dirty="0" smtClean="0">
                  <a:latin typeface="宋体" pitchFamily="2" charset="-122"/>
                </a:rPr>
                <a:t>10</a:t>
              </a:r>
              <a:r>
                <a:rPr lang="zh-CN" altLang="en-US" sz="1800" b="1" dirty="0">
                  <a:latin typeface="宋体" pitchFamily="2" charset="-122"/>
                </a:rPr>
                <a:t>为基址寻址，</a:t>
              </a:r>
              <a:r>
                <a:rPr lang="en-US" altLang="zh-CN" sz="1800" b="1" dirty="0">
                  <a:latin typeface="宋体" pitchFamily="2" charset="-122"/>
                </a:rPr>
                <a:t>11</a:t>
              </a:r>
              <a:r>
                <a:rPr lang="zh-CN" altLang="en-US" sz="1800" b="1" dirty="0">
                  <a:latin typeface="宋体" pitchFamily="2" charset="-122"/>
                </a:rPr>
                <a:t>为变址寻址</a:t>
              </a:r>
            </a:p>
          </p:txBody>
        </p:sp>
      </p:grpSp>
      <p:sp>
        <p:nvSpPr>
          <p:cNvPr id="170008" name="Text Box 24"/>
          <p:cNvSpPr txBox="1">
            <a:spLocks noChangeArrowheads="1"/>
          </p:cNvSpPr>
          <p:nvPr/>
        </p:nvSpPr>
        <p:spPr bwMode="auto">
          <a:xfrm>
            <a:off x="5868144" y="2852936"/>
            <a:ext cx="2160240" cy="517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b="1" dirty="0" smtClean="0">
                <a:latin typeface="宋体" pitchFamily="2" charset="-122"/>
              </a:rPr>
              <a:t>[OPD]</a:t>
            </a:r>
            <a:r>
              <a:rPr lang="zh-CN" altLang="en-US" b="1" baseline="-18000" dirty="0" smtClean="0">
                <a:latin typeface="宋体" pitchFamily="2" charset="-122"/>
              </a:rPr>
              <a:t>补</a:t>
            </a:r>
            <a:r>
              <a:rPr lang="zh-CN" altLang="en-US" b="1" dirty="0" smtClean="0">
                <a:latin typeface="宋体" pitchFamily="2" charset="-122"/>
              </a:rPr>
              <a:t>＝</a:t>
            </a:r>
            <a:r>
              <a:rPr lang="en-US" altLang="zh-CN" b="1" dirty="0" smtClean="0">
                <a:latin typeface="宋体" pitchFamily="2" charset="-122"/>
              </a:rPr>
              <a:t>28H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170009" name="Text Box 25"/>
          <p:cNvSpPr txBox="1">
            <a:spLocks noChangeArrowheads="1"/>
          </p:cNvSpPr>
          <p:nvPr/>
        </p:nvSpPr>
        <p:spPr bwMode="auto">
          <a:xfrm>
            <a:off x="179388" y="3725842"/>
            <a:ext cx="878522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b="1" dirty="0">
                <a:latin typeface="宋体" pitchFamily="2" charset="-122"/>
              </a:rPr>
              <a:t>      </a:t>
            </a:r>
            <a:r>
              <a:rPr lang="en-US" altLang="zh-CN" b="1" dirty="0" smtClean="0">
                <a:latin typeface="宋体" pitchFamily="2" charset="-122"/>
              </a:rPr>
              <a:t>OPD</a:t>
            </a:r>
            <a:r>
              <a:rPr lang="zh-CN" altLang="en-US" b="1" dirty="0" smtClean="0">
                <a:latin typeface="宋体" pitchFamily="2" charset="-122"/>
              </a:rPr>
              <a:t>的</a:t>
            </a:r>
            <a:r>
              <a:rPr lang="en-US" altLang="zh-CN" b="1" dirty="0" smtClean="0">
                <a:latin typeface="宋体" pitchFamily="2" charset="-122"/>
              </a:rPr>
              <a:t>EA</a:t>
            </a:r>
            <a:r>
              <a:rPr lang="zh-CN" altLang="en-US" b="1" dirty="0" smtClean="0">
                <a:latin typeface="宋体" pitchFamily="2" charset="-122"/>
              </a:rPr>
              <a:t>＝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en-US" altLang="zh-CN" b="1" dirty="0">
                <a:latin typeface="宋体" pitchFamily="2" charset="-122"/>
              </a:rPr>
              <a:t>RB</a:t>
            </a:r>
            <a:r>
              <a:rPr lang="en-US" altLang="zh-CN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＋</a:t>
            </a:r>
            <a:r>
              <a:rPr lang="en-US" altLang="zh-CN" b="1" dirty="0" smtClean="0">
                <a:latin typeface="宋体" pitchFamily="2" charset="-122"/>
              </a:rPr>
              <a:t>A</a:t>
            </a:r>
            <a:r>
              <a:rPr lang="zh-CN" altLang="en-US" b="1" dirty="0" smtClean="0">
                <a:latin typeface="宋体" pitchFamily="2" charset="-122"/>
              </a:rPr>
              <a:t>＝</a:t>
            </a:r>
            <a:r>
              <a:rPr lang="en-US" altLang="zh-CN" b="1" dirty="0" smtClean="0">
                <a:latin typeface="宋体" pitchFamily="2" charset="-122"/>
              </a:rPr>
              <a:t>8000H</a:t>
            </a:r>
            <a:r>
              <a:rPr lang="zh-CN" altLang="en-US" b="1" dirty="0" smtClean="0">
                <a:latin typeface="宋体" pitchFamily="2" charset="-122"/>
              </a:rPr>
              <a:t>＋</a:t>
            </a:r>
            <a:r>
              <a:rPr lang="en-US" altLang="zh-CN" b="1" dirty="0" smtClean="0">
                <a:solidFill>
                  <a:srgbClr val="CC3300"/>
                </a:solidFill>
                <a:latin typeface="宋体" pitchFamily="2" charset="-122"/>
              </a:rPr>
              <a:t>00</a:t>
            </a:r>
            <a:r>
              <a:rPr lang="en-US" altLang="zh-CN" b="1" dirty="0" smtClean="0">
                <a:latin typeface="宋体" pitchFamily="2" charset="-122"/>
              </a:rPr>
              <a:t>44H</a:t>
            </a:r>
            <a:r>
              <a:rPr lang="zh-CN" altLang="en-US" b="1" dirty="0" smtClean="0">
                <a:latin typeface="宋体" pitchFamily="2" charset="-122"/>
              </a:rPr>
              <a:t>＝</a:t>
            </a:r>
            <a:r>
              <a:rPr lang="en-US" altLang="zh-CN" b="1" dirty="0" smtClean="0">
                <a:latin typeface="宋体" pitchFamily="2" charset="-122"/>
              </a:rPr>
              <a:t>8044H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170010" name="Text Box 26"/>
          <p:cNvSpPr txBox="1">
            <a:spLocks noChangeArrowheads="1"/>
          </p:cNvSpPr>
          <p:nvPr/>
        </p:nvSpPr>
        <p:spPr bwMode="auto">
          <a:xfrm>
            <a:off x="179388" y="4583098"/>
            <a:ext cx="878522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b="1" dirty="0">
                <a:latin typeface="宋体" pitchFamily="2" charset="-122"/>
              </a:rPr>
              <a:t>      </a:t>
            </a:r>
            <a:r>
              <a:rPr lang="en-US" altLang="zh-CN" b="1" dirty="0" smtClean="0">
                <a:latin typeface="宋体" pitchFamily="2" charset="-122"/>
              </a:rPr>
              <a:t>OPD</a:t>
            </a:r>
            <a:r>
              <a:rPr lang="zh-CN" altLang="en-US" b="1" dirty="0">
                <a:latin typeface="宋体" pitchFamily="2" charset="-122"/>
              </a:rPr>
              <a:t>的</a:t>
            </a:r>
            <a:r>
              <a:rPr lang="en-US" altLang="zh-CN" b="1" dirty="0" smtClean="0">
                <a:latin typeface="宋体" pitchFamily="2" charset="-122"/>
              </a:rPr>
              <a:t>EA</a:t>
            </a:r>
            <a:r>
              <a:rPr lang="zh-CN" altLang="en-US" b="1" dirty="0" smtClean="0">
                <a:latin typeface="宋体" pitchFamily="2" charset="-122"/>
              </a:rPr>
              <a:t>＝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en-US" altLang="zh-CN" b="1" dirty="0">
                <a:latin typeface="宋体" pitchFamily="2" charset="-122"/>
              </a:rPr>
              <a:t>RI</a:t>
            </a:r>
            <a:r>
              <a:rPr lang="en-US" altLang="zh-CN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＋</a:t>
            </a:r>
            <a:r>
              <a:rPr lang="en-US" altLang="zh-CN" b="1" dirty="0" smtClean="0">
                <a:latin typeface="宋体" pitchFamily="2" charset="-122"/>
              </a:rPr>
              <a:t>A</a:t>
            </a:r>
            <a:r>
              <a:rPr lang="zh-CN" altLang="en-US" b="1" dirty="0" smtClean="0">
                <a:latin typeface="宋体" pitchFamily="2" charset="-122"/>
              </a:rPr>
              <a:t>＝</a:t>
            </a:r>
            <a:r>
              <a:rPr lang="en-US" altLang="zh-CN" b="1" dirty="0" smtClean="0">
                <a:latin typeface="宋体" pitchFamily="2" charset="-122"/>
              </a:rPr>
              <a:t>0007H</a:t>
            </a:r>
            <a:r>
              <a:rPr lang="zh-CN" altLang="en-US" b="1" dirty="0" smtClean="0">
                <a:latin typeface="宋体" pitchFamily="2" charset="-122"/>
              </a:rPr>
              <a:t>＋</a:t>
            </a:r>
            <a:r>
              <a:rPr lang="en-US" altLang="zh-CN" b="1" dirty="0" smtClean="0">
                <a:solidFill>
                  <a:srgbClr val="CC3300"/>
                </a:solidFill>
                <a:latin typeface="宋体" pitchFamily="2" charset="-122"/>
              </a:rPr>
              <a:t>00</a:t>
            </a:r>
            <a:r>
              <a:rPr lang="en-US" altLang="zh-CN" b="1" dirty="0" smtClean="0">
                <a:latin typeface="宋体" pitchFamily="2" charset="-122"/>
              </a:rPr>
              <a:t>90H</a:t>
            </a:r>
            <a:r>
              <a:rPr lang="zh-CN" altLang="en-US" b="1" dirty="0" smtClean="0">
                <a:latin typeface="宋体" pitchFamily="2" charset="-122"/>
              </a:rPr>
              <a:t>＝</a:t>
            </a:r>
            <a:r>
              <a:rPr lang="en-US" altLang="zh-CN" b="1" dirty="0" smtClean="0">
                <a:latin typeface="宋体" pitchFamily="2" charset="-122"/>
              </a:rPr>
              <a:t>0097H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170011" name="Text Box 27"/>
          <p:cNvSpPr txBox="1">
            <a:spLocks noChangeArrowheads="1"/>
          </p:cNvSpPr>
          <p:nvPr/>
        </p:nvSpPr>
        <p:spPr bwMode="auto">
          <a:xfrm>
            <a:off x="179388" y="5436051"/>
            <a:ext cx="8785225" cy="941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b="1" dirty="0">
                <a:latin typeface="宋体" pitchFamily="2" charset="-122"/>
              </a:rPr>
              <a:t>      </a:t>
            </a:r>
            <a:r>
              <a:rPr lang="en-US" altLang="zh-CN" b="1" dirty="0" smtClean="0">
                <a:latin typeface="宋体" pitchFamily="2" charset="-122"/>
              </a:rPr>
              <a:t>[</a:t>
            </a:r>
            <a:r>
              <a:rPr lang="en-US" altLang="zh-CN" dirty="0" err="1" smtClean="0">
                <a:latin typeface="+mn-lt"/>
              </a:rPr>
              <a:t>disp</a:t>
            </a:r>
            <a:r>
              <a:rPr lang="en-US" altLang="zh-CN" b="1" dirty="0" smtClean="0">
                <a:latin typeface="宋体" pitchFamily="2" charset="-122"/>
              </a:rPr>
              <a:t>]</a:t>
            </a:r>
            <a:r>
              <a:rPr lang="zh-CN" altLang="en-US" b="1" baseline="-18000" dirty="0" smtClean="0">
                <a:latin typeface="宋体" pitchFamily="2" charset="-122"/>
              </a:rPr>
              <a:t>补</a:t>
            </a:r>
            <a:r>
              <a:rPr lang="zh-CN" altLang="en-US" b="1" dirty="0" smtClean="0">
                <a:latin typeface="宋体" pitchFamily="2" charset="-122"/>
              </a:rPr>
              <a:t>＝</a:t>
            </a:r>
            <a:r>
              <a:rPr lang="en-US" altLang="zh-CN" b="1" dirty="0" smtClean="0">
                <a:latin typeface="宋体" pitchFamily="2" charset="-122"/>
              </a:rPr>
              <a:t>92H</a:t>
            </a:r>
            <a:r>
              <a:rPr lang="zh-CN" altLang="en-US" b="1" dirty="0">
                <a:latin typeface="宋体" pitchFamily="2" charset="-122"/>
              </a:rPr>
              <a:t>，位扩展后的</a:t>
            </a:r>
            <a:r>
              <a:rPr lang="en-US" altLang="zh-CN" b="1" dirty="0">
                <a:latin typeface="宋体" pitchFamily="2" charset="-122"/>
              </a:rPr>
              <a:t>[</a:t>
            </a:r>
            <a:r>
              <a:rPr lang="en-US" altLang="zh-CN" dirty="0" err="1" smtClean="0"/>
              <a:t>disp</a:t>
            </a:r>
            <a:r>
              <a:rPr lang="en-US" altLang="zh-CN" b="1" dirty="0" smtClean="0">
                <a:latin typeface="宋体" pitchFamily="2" charset="-122"/>
              </a:rPr>
              <a:t>]</a:t>
            </a:r>
            <a:r>
              <a:rPr lang="zh-CN" altLang="en-US" b="1" baseline="-18000" dirty="0">
                <a:latin typeface="宋体" pitchFamily="2" charset="-122"/>
              </a:rPr>
              <a:t>补</a:t>
            </a:r>
            <a:r>
              <a:rPr lang="zh-CN" altLang="en-US" b="1" dirty="0">
                <a:latin typeface="宋体" pitchFamily="2" charset="-122"/>
              </a:rPr>
              <a:t>＝</a:t>
            </a:r>
            <a:r>
              <a:rPr lang="en-US" altLang="zh-CN" b="1" dirty="0" smtClean="0">
                <a:latin typeface="宋体" pitchFamily="2" charset="-122"/>
              </a:rPr>
              <a:t>FF92H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1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   </a:t>
            </a:r>
            <a:r>
              <a:rPr lang="zh-CN" altLang="en-US" b="1" dirty="0" smtClean="0">
                <a:latin typeface="宋体" pitchFamily="2" charset="-122"/>
              </a:rPr>
              <a:t>转移目标的</a:t>
            </a:r>
            <a:r>
              <a:rPr lang="en-US" altLang="zh-CN" b="1" dirty="0" smtClean="0">
                <a:latin typeface="宋体" pitchFamily="2" charset="-122"/>
              </a:rPr>
              <a:t>EA</a:t>
            </a:r>
            <a:r>
              <a:rPr lang="zh-CN" altLang="en-US" b="1" dirty="0">
                <a:latin typeface="宋体" pitchFamily="2" charset="-122"/>
              </a:rPr>
              <a:t>＝</a:t>
            </a:r>
            <a:r>
              <a:rPr lang="en-US" altLang="zh-CN" b="1" dirty="0">
                <a:latin typeface="宋体" pitchFamily="2" charset="-122"/>
              </a:rPr>
              <a:t>(PC)</a:t>
            </a:r>
            <a:r>
              <a:rPr lang="zh-CN" altLang="en-US" b="1" dirty="0" smtClean="0">
                <a:latin typeface="宋体" pitchFamily="2" charset="-122"/>
              </a:rPr>
              <a:t>＋</a:t>
            </a:r>
            <a:r>
              <a:rPr lang="en-US" altLang="zh-CN" dirty="0" err="1" smtClean="0"/>
              <a:t>disp</a:t>
            </a:r>
            <a:r>
              <a:rPr lang="zh-CN" altLang="en-US" b="1" dirty="0" smtClean="0">
                <a:latin typeface="宋体" pitchFamily="2" charset="-122"/>
              </a:rPr>
              <a:t>＝</a:t>
            </a:r>
            <a:r>
              <a:rPr lang="en-US" altLang="zh-CN" b="1" dirty="0">
                <a:latin typeface="宋体" pitchFamily="2" charset="-122"/>
              </a:rPr>
              <a:t>(</a:t>
            </a:r>
            <a:r>
              <a:rPr lang="en-US" altLang="zh-CN" b="1" dirty="0" smtClean="0">
                <a:latin typeface="宋体" pitchFamily="2" charset="-122"/>
              </a:rPr>
              <a:t>1234H</a:t>
            </a:r>
            <a:r>
              <a:rPr lang="zh-CN" altLang="en-US" b="1" dirty="0" smtClean="0">
                <a:latin typeface="宋体" pitchFamily="2" charset="-122"/>
              </a:rPr>
              <a:t>＋</a:t>
            </a:r>
            <a:r>
              <a:rPr lang="en-US" altLang="zh-CN" b="1" dirty="0" smtClean="0">
                <a:solidFill>
                  <a:srgbClr val="FF0000"/>
                </a:solidFill>
                <a:latin typeface="宋体" pitchFamily="2" charset="-122"/>
              </a:rPr>
              <a:t>2</a:t>
            </a:r>
            <a:r>
              <a:rPr lang="en-US" altLang="zh-CN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＋</a:t>
            </a:r>
            <a:r>
              <a:rPr lang="en-US" altLang="zh-CN" b="1" dirty="0" smtClean="0">
                <a:latin typeface="宋体" pitchFamily="2" charset="-122"/>
              </a:rPr>
              <a:t>FF92H</a:t>
            </a:r>
            <a:r>
              <a:rPr lang="zh-CN" altLang="en-US" b="1" dirty="0">
                <a:latin typeface="宋体" pitchFamily="2" charset="-122"/>
              </a:rPr>
              <a:t>＝</a:t>
            </a:r>
            <a:r>
              <a:rPr lang="en-US" altLang="zh-CN" b="1" dirty="0" smtClean="0">
                <a:latin typeface="宋体" pitchFamily="2" charset="-122"/>
              </a:rPr>
              <a:t>11C8H</a:t>
            </a:r>
            <a:endParaRPr lang="zh-CN" altLang="en-US" sz="2000" b="1" dirty="0">
              <a:latin typeface="宋体" pitchFamily="2" charset="-122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7702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9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70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9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70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70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70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95" grpId="0"/>
      <p:bldP spid="169996" grpId="0"/>
      <p:bldP spid="169997" grpId="0"/>
      <p:bldP spid="169998" grpId="0"/>
      <p:bldP spid="170008" grpId="0"/>
      <p:bldP spid="170009" grpId="0"/>
      <p:bldP spid="170010" grpId="0"/>
      <p:bldP spid="1700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CB1E953-56A6-4A30-B320-3D0CFA2AEDF9}" type="slidenum">
              <a:rPr lang="en-US" altLang="zh-CN" smtClean="0"/>
              <a:pPr/>
              <a:t>28</a:t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79388" y="685545"/>
            <a:ext cx="8785225" cy="1823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990099"/>
                </a:solidFill>
                <a:latin typeface="宋体" pitchFamily="2" charset="-122"/>
              </a:rPr>
              <a:t>  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例</a:t>
            </a: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2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：</a:t>
            </a:r>
            <a:r>
              <a:rPr lang="zh-CN" altLang="en-US" sz="2200" b="1" dirty="0" smtClean="0">
                <a:latin typeface="宋体" pitchFamily="2" charset="-122"/>
              </a:rPr>
              <a:t>某计算机采用</a:t>
            </a:r>
            <a:r>
              <a:rPr lang="en-US" altLang="zh-CN" sz="2200" b="1" dirty="0" err="1" smtClean="0">
                <a:latin typeface="宋体" pitchFamily="2" charset="-122"/>
              </a:rPr>
              <a:t>Demo_IS</a:t>
            </a:r>
            <a:r>
              <a:rPr lang="zh-CN" altLang="en-US" sz="2200" b="1" dirty="0" smtClean="0">
                <a:latin typeface="宋体" pitchFamily="2" charset="-122"/>
              </a:rPr>
              <a:t>指令系统，有</a:t>
            </a:r>
            <a:r>
              <a:rPr lang="zh-CN" altLang="en-US" sz="2200" b="1" dirty="0">
                <a:latin typeface="宋体" pitchFamily="2" charset="-122"/>
              </a:rPr>
              <a:t>符号</a:t>
            </a:r>
            <a:r>
              <a:rPr lang="zh-CN" altLang="en-US" sz="2200" b="1" dirty="0" smtClean="0">
                <a:latin typeface="宋体" pitchFamily="2" charset="-122"/>
              </a:rPr>
              <a:t>定点数用</a:t>
            </a:r>
            <a:r>
              <a:rPr lang="zh-CN" altLang="en-US" sz="2200" b="1" dirty="0" smtClean="0">
                <a:solidFill>
                  <a:srgbClr val="FF0000"/>
                </a:solidFill>
                <a:latin typeface="宋体" pitchFamily="2" charset="-122"/>
              </a:rPr>
              <a:t>补码表示</a:t>
            </a:r>
            <a:r>
              <a:rPr lang="zh-CN" altLang="en-US" sz="2200" b="1" dirty="0" smtClean="0">
                <a:latin typeface="宋体" pitchFamily="2" charset="-122"/>
              </a:rPr>
              <a:t>，</a:t>
            </a:r>
            <a:r>
              <a:rPr lang="en-US" altLang="zh-CN" sz="2200" b="1" dirty="0" smtClean="0">
                <a:latin typeface="宋体" pitchFamily="2" charset="-122"/>
              </a:rPr>
              <a:t>CPU</a:t>
            </a:r>
            <a:r>
              <a:rPr lang="zh-CN" altLang="en-US" sz="2200" b="1" dirty="0" smtClean="0">
                <a:latin typeface="宋体" pitchFamily="2" charset="-122"/>
              </a:rPr>
              <a:t>取</a:t>
            </a:r>
            <a:r>
              <a:rPr lang="zh-CN" altLang="en-US" sz="2200" b="1" dirty="0">
                <a:latin typeface="宋体" pitchFamily="2" charset="-122"/>
              </a:rPr>
              <a:t>指令</a:t>
            </a:r>
            <a:r>
              <a:rPr lang="zh-CN" altLang="en-US" sz="2200" b="1" dirty="0" smtClean="0">
                <a:latin typeface="宋体" pitchFamily="2" charset="-122"/>
              </a:rPr>
              <a:t>时自动</a:t>
            </a:r>
            <a:r>
              <a:rPr lang="zh-CN" altLang="en-US" sz="2200" b="1" dirty="0">
                <a:latin typeface="宋体" pitchFamily="2" charset="-122"/>
              </a:rPr>
              <a:t>完成</a:t>
            </a:r>
            <a:r>
              <a:rPr lang="en-US" altLang="zh-CN" sz="2200" b="1" dirty="0">
                <a:latin typeface="宋体" pitchFamily="2" charset="-122"/>
              </a:rPr>
              <a:t>PC←(PC</a:t>
            </a:r>
            <a:r>
              <a:rPr lang="en-US" altLang="zh-CN" sz="2200" b="1" dirty="0" smtClean="0">
                <a:latin typeface="宋体" pitchFamily="2" charset="-122"/>
              </a:rPr>
              <a:t>)</a:t>
            </a:r>
            <a:r>
              <a:rPr lang="zh-CN" altLang="en-US" sz="2200" b="1" dirty="0" smtClean="0">
                <a:latin typeface="宋体" pitchFamily="2" charset="-122"/>
              </a:rPr>
              <a:t>＋</a:t>
            </a:r>
            <a:r>
              <a:rPr lang="zh-CN" altLang="en-US" sz="22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“</a:t>
            </a:r>
            <a:r>
              <a:rPr lang="en-US" altLang="zh-CN" sz="2200" b="1" dirty="0" smtClean="0">
                <a:latin typeface="+mn-ea"/>
                <a:ea typeface="+mn-ea"/>
                <a:cs typeface="Arial Unicode MS" panose="020B0604020202020204" pitchFamily="34" charset="-122"/>
              </a:rPr>
              <a:t>1</a:t>
            </a:r>
            <a:r>
              <a:rPr lang="zh-CN" altLang="en-US" sz="2200" dirty="0" smtClean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”</a:t>
            </a:r>
            <a:r>
              <a:rPr lang="zh-CN" altLang="en-US" sz="2200" b="1" dirty="0" smtClean="0">
                <a:latin typeface="宋体" pitchFamily="2" charset="-122"/>
              </a:rPr>
              <a:t>。⑴说明指令字</a:t>
            </a:r>
            <a:r>
              <a:rPr lang="en-US" altLang="zh-CN" sz="2200" b="1" dirty="0" smtClean="0">
                <a:latin typeface="宋体" pitchFamily="2" charset="-122"/>
              </a:rPr>
              <a:t>84H</a:t>
            </a:r>
            <a:r>
              <a:rPr lang="zh-CN" altLang="en-US" sz="2200" b="1" dirty="0" smtClean="0">
                <a:latin typeface="宋体" pitchFamily="2" charset="-122"/>
              </a:rPr>
              <a:t>的功能；⑵写出</a:t>
            </a:r>
            <a:r>
              <a:rPr lang="en-US" altLang="zh-CN" sz="2200" b="1" dirty="0" smtClean="0">
                <a:latin typeface="宋体" pitchFamily="2" charset="-122"/>
              </a:rPr>
              <a:t>y=</a:t>
            </a:r>
            <a:r>
              <a:rPr lang="en-US" altLang="zh-CN" sz="2200" b="1" dirty="0" err="1" smtClean="0">
                <a:latin typeface="宋体" pitchFamily="2" charset="-122"/>
              </a:rPr>
              <a:t>x+y</a:t>
            </a:r>
            <a:r>
              <a:rPr lang="zh-CN" altLang="en-US" sz="2200" b="1" dirty="0" smtClean="0">
                <a:latin typeface="宋体" pitchFamily="2" charset="-122"/>
              </a:rPr>
              <a:t>的指令序列，</a:t>
            </a:r>
            <a:r>
              <a:rPr lang="en-US" altLang="zh-CN" sz="2200" b="1" dirty="0" smtClean="0">
                <a:latin typeface="宋体" pitchFamily="2" charset="-122"/>
              </a:rPr>
              <a:t>x</a:t>
            </a:r>
            <a:r>
              <a:rPr lang="zh-CN" altLang="en-US" sz="2200" b="1" dirty="0" smtClean="0">
                <a:latin typeface="宋体" pitchFamily="2" charset="-122"/>
              </a:rPr>
              <a:t>、</a:t>
            </a:r>
            <a:r>
              <a:rPr lang="en-US" altLang="zh-CN" sz="2200" b="1" dirty="0" smtClean="0">
                <a:latin typeface="宋体" pitchFamily="2" charset="-122"/>
              </a:rPr>
              <a:t>y</a:t>
            </a:r>
            <a:r>
              <a:rPr lang="zh-CN" altLang="en-US" sz="2200" b="1" dirty="0" smtClean="0">
                <a:latin typeface="宋体" pitchFamily="2" charset="-122"/>
              </a:rPr>
              <a:t>的</a:t>
            </a:r>
            <a:r>
              <a:rPr lang="en-US" altLang="zh-CN" sz="2200" b="1" dirty="0" smtClean="0">
                <a:latin typeface="宋体" pitchFamily="2" charset="-122"/>
              </a:rPr>
              <a:t>MEM</a:t>
            </a:r>
            <a:r>
              <a:rPr lang="zh-CN" altLang="en-US" sz="2200" b="1" dirty="0" smtClean="0">
                <a:latin typeface="宋体" pitchFamily="2" charset="-122"/>
              </a:rPr>
              <a:t>地址分别为</a:t>
            </a:r>
            <a:r>
              <a:rPr lang="en-US" altLang="zh-CN" sz="2200" b="1" dirty="0" smtClean="0">
                <a:latin typeface="宋体" pitchFamily="2" charset="-122"/>
              </a:rPr>
              <a:t>14H</a:t>
            </a:r>
            <a:r>
              <a:rPr lang="zh-CN" altLang="en-US" sz="2200" b="1" dirty="0" smtClean="0">
                <a:latin typeface="宋体" pitchFamily="2" charset="-122"/>
              </a:rPr>
              <a:t>、</a:t>
            </a:r>
            <a:r>
              <a:rPr lang="en-US" altLang="zh-CN" sz="2200" b="1" dirty="0" smtClean="0">
                <a:latin typeface="宋体" pitchFamily="2" charset="-122"/>
              </a:rPr>
              <a:t>15H</a:t>
            </a:r>
            <a:r>
              <a:rPr lang="zh-CN" altLang="en-US" sz="2200" b="1" dirty="0" smtClean="0">
                <a:latin typeface="宋体" pitchFamily="2" charset="-122"/>
              </a:rPr>
              <a:t>；⑶操作码只可放在高</a:t>
            </a:r>
            <a:r>
              <a:rPr lang="en-US" altLang="zh-CN" sz="2200" b="1" dirty="0" smtClean="0">
                <a:latin typeface="宋体" pitchFamily="2" charset="-122"/>
              </a:rPr>
              <a:t>4</a:t>
            </a:r>
            <a:r>
              <a:rPr lang="zh-CN" altLang="en-US" sz="2200" b="1" dirty="0" smtClean="0">
                <a:latin typeface="宋体" pitchFamily="2" charset="-122"/>
              </a:rPr>
              <a:t>位，最多还可定义多少条指令？</a:t>
            </a:r>
            <a:endParaRPr lang="zh-CN" altLang="en-US" sz="2200" b="1" dirty="0">
              <a:latin typeface="宋体" pitchFamily="2" charset="-122"/>
            </a:endParaRPr>
          </a:p>
        </p:txBody>
      </p:sp>
      <p:sp>
        <p:nvSpPr>
          <p:cNvPr id="4" name="Text Box 141"/>
          <p:cNvSpPr txBox="1">
            <a:spLocks noChangeArrowheads="1"/>
          </p:cNvSpPr>
          <p:nvPr/>
        </p:nvSpPr>
        <p:spPr bwMode="auto">
          <a:xfrm>
            <a:off x="179388" y="2388657"/>
            <a:ext cx="878522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990099"/>
                </a:solidFill>
                <a:latin typeface="宋体" pitchFamily="2" charset="-122"/>
              </a:rPr>
              <a:t>  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解：</a:t>
            </a:r>
            <a:r>
              <a:rPr lang="zh-CN" altLang="en-US" sz="2200" b="1" dirty="0" smtClean="0">
                <a:latin typeface="宋体" pitchFamily="2" charset="-122"/>
              </a:rPr>
              <a:t>⑴</a:t>
            </a:r>
            <a:r>
              <a:rPr lang="en-US" altLang="zh-CN" sz="2200" b="1" dirty="0" smtClean="0">
                <a:latin typeface="宋体" pitchFamily="2" charset="-122"/>
              </a:rPr>
              <a:t>84H</a:t>
            </a:r>
            <a:r>
              <a:rPr lang="zh-CN" altLang="en-US" sz="2200" b="1" dirty="0" smtClean="0">
                <a:latin typeface="宋体" pitchFamily="2" charset="-122"/>
              </a:rPr>
              <a:t>＝</a:t>
            </a:r>
            <a:r>
              <a:rPr lang="en-US" altLang="zh-CN" sz="2200" b="1" dirty="0" smtClean="0">
                <a:solidFill>
                  <a:srgbClr val="FF3399"/>
                </a:solidFill>
                <a:latin typeface="宋体" pitchFamily="2" charset="-122"/>
              </a:rPr>
              <a:t>1000</a:t>
            </a:r>
            <a:r>
              <a:rPr lang="en-US" altLang="zh-CN" sz="2200" b="1" dirty="0" smtClean="0">
                <a:solidFill>
                  <a:srgbClr val="FFC000"/>
                </a:solidFill>
                <a:latin typeface="宋体" pitchFamily="2" charset="-122"/>
              </a:rPr>
              <a:t>01</a:t>
            </a:r>
            <a:r>
              <a:rPr lang="en-US" altLang="zh-CN" sz="2200" b="1" dirty="0" smtClean="0">
                <a:latin typeface="宋体" pitchFamily="2" charset="-122"/>
              </a:rPr>
              <a:t>00B</a:t>
            </a:r>
            <a:r>
              <a:rPr lang="zh-CN" altLang="en-US" sz="2200" b="1" dirty="0" smtClean="0">
                <a:latin typeface="宋体" pitchFamily="2" charset="-122"/>
              </a:rPr>
              <a:t>，指令功能为</a:t>
            </a:r>
            <a:r>
              <a:rPr lang="en-US" altLang="zh-CN" sz="2200" b="1" dirty="0" smtClean="0">
                <a:latin typeface="宋体" pitchFamily="2" charset="-122"/>
              </a:rPr>
              <a:t>R1←</a:t>
            </a:r>
            <a:r>
              <a:rPr lang="en-US" altLang="zh-CN" sz="2200" b="1" dirty="0">
                <a:latin typeface="宋体" pitchFamily="2" charset="-122"/>
              </a:rPr>
              <a:t>(</a:t>
            </a:r>
            <a:r>
              <a:rPr lang="en-US" altLang="zh-CN" sz="2200" b="1" dirty="0" smtClean="0">
                <a:latin typeface="宋体" pitchFamily="2" charset="-122"/>
              </a:rPr>
              <a:t>R1)</a:t>
            </a:r>
            <a:r>
              <a:rPr lang="zh-CN" altLang="en-US" sz="2200" b="1" dirty="0">
                <a:latin typeface="宋体" pitchFamily="2" charset="-122"/>
              </a:rPr>
              <a:t>＋</a:t>
            </a:r>
            <a:r>
              <a:rPr lang="en-US" altLang="zh-CN" sz="2200" b="1" dirty="0" smtClean="0">
                <a:latin typeface="宋体" pitchFamily="2" charset="-122"/>
              </a:rPr>
              <a:t>1</a:t>
            </a:r>
            <a:endParaRPr lang="en-US" altLang="zh-CN" sz="2200" b="1" dirty="0">
              <a:latin typeface="宋体" pitchFamily="2" charset="-122"/>
            </a:endParaRPr>
          </a:p>
        </p:txBody>
      </p:sp>
      <p:sp>
        <p:nvSpPr>
          <p:cNvPr id="5" name="Text Box 141"/>
          <p:cNvSpPr txBox="1">
            <a:spLocks noChangeArrowheads="1"/>
          </p:cNvSpPr>
          <p:nvPr/>
        </p:nvSpPr>
        <p:spPr bwMode="auto">
          <a:xfrm>
            <a:off x="179512" y="2820705"/>
            <a:ext cx="8785225" cy="1715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itchFamily="2" charset="-122"/>
              </a:rPr>
              <a:t>    </a:t>
            </a:r>
            <a:r>
              <a:rPr lang="zh-CN" altLang="en-US" sz="2200" b="1" dirty="0" smtClean="0">
                <a:latin typeface="宋体" pitchFamily="2" charset="-122"/>
              </a:rPr>
              <a:t>⑵指令序列为</a:t>
            </a:r>
            <a:r>
              <a:rPr lang="zh-CN" altLang="en-US" sz="2200" b="1" spc="200" dirty="0" smtClean="0">
                <a:latin typeface="宋体" pitchFamily="2" charset="-122"/>
              </a:rPr>
              <a:t>：</a:t>
            </a:r>
            <a:r>
              <a:rPr lang="en-US" altLang="zh-CN" sz="2000" b="1" dirty="0" smtClean="0">
                <a:latin typeface="宋体" pitchFamily="2" charset="-122"/>
              </a:rPr>
              <a:t>00000000 00010100  // R0</a:t>
            </a:r>
            <a:r>
              <a:rPr lang="zh-CN" altLang="en-US" sz="2000" b="1" dirty="0" smtClean="0">
                <a:latin typeface="宋体" pitchFamily="2" charset="-122"/>
              </a:rPr>
              <a:t>←</a:t>
            </a:r>
            <a:r>
              <a:rPr lang="en-US" altLang="zh-CN" sz="2000" b="1" dirty="0" smtClean="0">
                <a:latin typeface="宋体" pitchFamily="2" charset="-122"/>
              </a:rPr>
              <a:t>14H           ;&amp;x</a:t>
            </a:r>
            <a:endParaRPr lang="en-US" altLang="zh-CN" sz="2000" b="1" dirty="0">
              <a:latin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000" b="1" dirty="0" smtClean="0">
                <a:latin typeface="宋体" pitchFamily="2" charset="-122"/>
              </a:rPr>
              <a:t>                    00100100           // R1</a:t>
            </a:r>
            <a:r>
              <a:rPr lang="zh-CN" altLang="en-US" sz="2000" b="1" dirty="0" smtClean="0">
                <a:latin typeface="宋体" pitchFamily="2" charset="-122"/>
              </a:rPr>
              <a:t>←</a:t>
            </a:r>
            <a:r>
              <a:rPr lang="en-US" altLang="zh-CN" sz="2000" b="1" dirty="0" smtClean="0">
                <a:latin typeface="宋体" pitchFamily="2" charset="-122"/>
              </a:rPr>
              <a:t>M[(R0)]        </a:t>
            </a:r>
          </a:p>
          <a:p>
            <a:r>
              <a:rPr lang="en-US" altLang="zh-CN" sz="2000" b="1" dirty="0">
                <a:latin typeface="宋体" pitchFamily="2" charset="-122"/>
              </a:rPr>
              <a:t> </a:t>
            </a:r>
            <a:r>
              <a:rPr lang="en-US" altLang="zh-CN" sz="2000" b="1" dirty="0" smtClean="0">
                <a:latin typeface="宋体" pitchFamily="2" charset="-122"/>
              </a:rPr>
              <a:t>                   10000000           // R0←</a:t>
            </a:r>
            <a:r>
              <a:rPr lang="en-US" altLang="zh-CN" sz="2000" b="1" dirty="0">
                <a:latin typeface="宋体" pitchFamily="2" charset="-122"/>
              </a:rPr>
              <a:t>(</a:t>
            </a:r>
            <a:r>
              <a:rPr lang="en-US" altLang="zh-CN" sz="2000" b="1" dirty="0" smtClean="0">
                <a:latin typeface="宋体" pitchFamily="2" charset="-122"/>
              </a:rPr>
              <a:t>R0)</a:t>
            </a:r>
            <a:r>
              <a:rPr lang="zh-CN" altLang="en-US" sz="2000" b="1" dirty="0">
                <a:latin typeface="宋体" pitchFamily="2" charset="-122"/>
              </a:rPr>
              <a:t>＋</a:t>
            </a:r>
            <a:r>
              <a:rPr lang="en-US" altLang="zh-CN" sz="2000" b="1" dirty="0" smtClean="0">
                <a:latin typeface="宋体" pitchFamily="2" charset="-122"/>
              </a:rPr>
              <a:t>1       ;&amp;y</a:t>
            </a:r>
            <a:endParaRPr lang="en-US" altLang="zh-CN" sz="2000" b="1" dirty="0">
              <a:latin typeface="宋体" pitchFamily="2" charset="-122"/>
            </a:endParaRPr>
          </a:p>
          <a:p>
            <a:r>
              <a:rPr lang="en-US" altLang="zh-CN" sz="2000" b="1" dirty="0" smtClean="0">
                <a:latin typeface="宋体" pitchFamily="2" charset="-122"/>
              </a:rPr>
              <a:t>                    01010100           // R1</a:t>
            </a:r>
            <a:r>
              <a:rPr lang="zh-CN" altLang="en-US" sz="2000" b="1" dirty="0" smtClean="0">
                <a:latin typeface="宋体" pitchFamily="2" charset="-122"/>
              </a:rPr>
              <a:t>←</a:t>
            </a:r>
            <a:r>
              <a:rPr lang="en-US" altLang="zh-CN" sz="2000" b="1" dirty="0" smtClean="0">
                <a:latin typeface="宋体" pitchFamily="2" charset="-122"/>
              </a:rPr>
              <a:t>(R1)</a:t>
            </a:r>
            <a:r>
              <a:rPr lang="zh-CN" altLang="en-US" sz="2000" b="1" dirty="0" smtClean="0">
                <a:latin typeface="宋体" pitchFamily="2" charset="-122"/>
              </a:rPr>
              <a:t>＋</a:t>
            </a:r>
            <a:r>
              <a:rPr lang="en-US" altLang="zh-CN" sz="2000" b="1" dirty="0" smtClean="0">
                <a:latin typeface="宋体" pitchFamily="2" charset="-122"/>
              </a:rPr>
              <a:t>M</a:t>
            </a:r>
            <a:r>
              <a:rPr lang="en-US" altLang="zh-CN" sz="2000" b="1" dirty="0">
                <a:latin typeface="宋体" pitchFamily="2" charset="-122"/>
              </a:rPr>
              <a:t>[(R0)]</a:t>
            </a:r>
          </a:p>
          <a:p>
            <a:r>
              <a:rPr lang="en-US" altLang="zh-CN" sz="2000" b="1" dirty="0" smtClean="0">
                <a:latin typeface="宋体" pitchFamily="2" charset="-122"/>
              </a:rPr>
              <a:t>                    00100100           // M</a:t>
            </a:r>
            <a:r>
              <a:rPr lang="en-US" altLang="zh-CN" sz="2000" b="1" dirty="0">
                <a:latin typeface="宋体" pitchFamily="2" charset="-122"/>
              </a:rPr>
              <a:t>[(R0</a:t>
            </a:r>
            <a:r>
              <a:rPr lang="en-US" altLang="zh-CN" sz="2000" b="1" dirty="0" smtClean="0">
                <a:latin typeface="宋体" pitchFamily="2" charset="-122"/>
              </a:rPr>
              <a:t>)]</a:t>
            </a:r>
            <a:r>
              <a:rPr lang="zh-CN" altLang="en-US" sz="2000" b="1" dirty="0" smtClean="0">
                <a:latin typeface="宋体" pitchFamily="2" charset="-122"/>
              </a:rPr>
              <a:t>←</a:t>
            </a:r>
            <a:r>
              <a:rPr lang="en-US" altLang="zh-CN" sz="2000" b="1" dirty="0">
                <a:latin typeface="宋体" pitchFamily="2" charset="-122"/>
              </a:rPr>
              <a:t>(</a:t>
            </a:r>
            <a:r>
              <a:rPr lang="en-US" altLang="zh-CN" sz="2000" b="1" dirty="0" smtClean="0">
                <a:latin typeface="宋体" pitchFamily="2" charset="-122"/>
              </a:rPr>
              <a:t>R1)      </a:t>
            </a:r>
            <a:endParaRPr lang="zh-CN" altLang="en-US" sz="2000" b="1" dirty="0" smtClean="0">
              <a:latin typeface="宋体" pitchFamily="2" charset="-122"/>
            </a:endParaRPr>
          </a:p>
        </p:txBody>
      </p:sp>
      <p:sp>
        <p:nvSpPr>
          <p:cNvPr id="6" name="Text Box 141"/>
          <p:cNvSpPr txBox="1">
            <a:spLocks noChangeArrowheads="1"/>
          </p:cNvSpPr>
          <p:nvPr/>
        </p:nvSpPr>
        <p:spPr bwMode="auto">
          <a:xfrm>
            <a:off x="179512" y="4476889"/>
            <a:ext cx="8785225" cy="14003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itchFamily="2" charset="-122"/>
              </a:rPr>
              <a:t>    </a:t>
            </a:r>
            <a:r>
              <a:rPr lang="zh-CN" altLang="en-US" sz="2200" b="1" dirty="0" smtClean="0">
                <a:latin typeface="宋体" pitchFamily="2" charset="-122"/>
              </a:rPr>
              <a:t>⑶已定义指令占用了高</a:t>
            </a:r>
            <a:r>
              <a:rPr lang="en-US" altLang="zh-CN" sz="2200" b="1" dirty="0" smtClean="0">
                <a:latin typeface="宋体" pitchFamily="2" charset="-122"/>
              </a:rPr>
              <a:t>4</a:t>
            </a:r>
            <a:r>
              <a:rPr lang="zh-CN" altLang="en-US" sz="2200" b="1" dirty="0" smtClean="0">
                <a:latin typeface="宋体" pitchFamily="2" charset="-122"/>
              </a:rPr>
              <a:t>位的</a:t>
            </a:r>
            <a:r>
              <a:rPr lang="en-US" altLang="zh-CN" sz="2200" b="1" dirty="0" smtClean="0">
                <a:latin typeface="宋体" pitchFamily="2" charset="-122"/>
              </a:rPr>
              <a:t>10</a:t>
            </a:r>
            <a:r>
              <a:rPr lang="zh-CN" altLang="en-US" sz="2200" b="1" dirty="0" smtClean="0">
                <a:latin typeface="宋体" pitchFamily="2" charset="-122"/>
              </a:rPr>
              <a:t>个编码，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200" b="1" dirty="0" smtClean="0">
                <a:latin typeface="宋体" pitchFamily="2" charset="-122"/>
              </a:rPr>
              <a:t>      操作码</a:t>
            </a:r>
            <a:r>
              <a:rPr lang="zh-CN" altLang="en-US" sz="2200" b="1" dirty="0">
                <a:latin typeface="宋体" pitchFamily="2" charset="-122"/>
              </a:rPr>
              <a:t>只可放</a:t>
            </a:r>
            <a:r>
              <a:rPr lang="zh-CN" altLang="en-US" sz="2200" b="1" dirty="0" smtClean="0">
                <a:latin typeface="宋体" pitchFamily="2" charset="-122"/>
              </a:rPr>
              <a:t>在高</a:t>
            </a:r>
            <a:r>
              <a:rPr lang="en-US" altLang="zh-CN" sz="2200" b="1" dirty="0" smtClean="0">
                <a:latin typeface="宋体" pitchFamily="2" charset="-122"/>
              </a:rPr>
              <a:t>4</a:t>
            </a:r>
            <a:r>
              <a:rPr lang="zh-CN" altLang="en-US" sz="2200" b="1" dirty="0" smtClean="0">
                <a:latin typeface="宋体" pitchFamily="2" charset="-122"/>
              </a:rPr>
              <a:t>位时</a:t>
            </a:r>
            <a:r>
              <a:rPr lang="zh-CN" altLang="en-US" sz="2200" b="1" dirty="0">
                <a:latin typeface="宋体" pitchFamily="2" charset="-122"/>
              </a:rPr>
              <a:t>，</a:t>
            </a:r>
            <a:r>
              <a:rPr lang="zh-CN" altLang="en-US" sz="2200" b="1" u="sng" dirty="0" smtClean="0">
                <a:latin typeface="宋体" pitchFamily="2" charset="-122"/>
              </a:rPr>
              <a:t>最多</a:t>
            </a:r>
            <a:r>
              <a:rPr lang="zh-CN" altLang="en-US" sz="2200" b="1" dirty="0" smtClean="0">
                <a:latin typeface="宋体" pitchFamily="2" charset="-122"/>
              </a:rPr>
              <a:t>还可定义的指令数为：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itchFamily="2" charset="-122"/>
              </a:rPr>
              <a:t> </a:t>
            </a:r>
            <a:r>
              <a:rPr lang="en-US" altLang="zh-CN" sz="2200" b="1" dirty="0" smtClean="0">
                <a:latin typeface="宋体" pitchFamily="2" charset="-122"/>
              </a:rPr>
              <a:t>         2</a:t>
            </a:r>
            <a:r>
              <a:rPr lang="en-US" altLang="zh-CN" sz="2200" b="1" baseline="30000" dirty="0" smtClean="0">
                <a:latin typeface="宋体" pitchFamily="2" charset="-122"/>
              </a:rPr>
              <a:t>4</a:t>
            </a:r>
            <a:r>
              <a:rPr lang="zh-CN" altLang="en-US" sz="2200" b="1" dirty="0" smtClean="0">
                <a:latin typeface="宋体" pitchFamily="2" charset="-122"/>
              </a:rPr>
              <a:t>－</a:t>
            </a:r>
            <a:r>
              <a:rPr lang="en-US" altLang="zh-CN" sz="2200" b="1" dirty="0" smtClean="0">
                <a:latin typeface="宋体" pitchFamily="2" charset="-122"/>
              </a:rPr>
              <a:t>10</a:t>
            </a:r>
            <a:r>
              <a:rPr lang="zh-CN" altLang="en-US" sz="2200" b="1" dirty="0" smtClean="0">
                <a:latin typeface="宋体" pitchFamily="2" charset="-122"/>
              </a:rPr>
              <a:t>＝</a:t>
            </a:r>
            <a:r>
              <a:rPr lang="en-US" altLang="zh-CN" sz="2200" b="1" dirty="0" smtClean="0">
                <a:latin typeface="宋体" pitchFamily="2" charset="-122"/>
              </a:rPr>
              <a:t>6</a:t>
            </a:r>
            <a:r>
              <a:rPr lang="zh-CN" altLang="en-US" sz="2200" b="1" dirty="0" smtClean="0">
                <a:latin typeface="宋体" pitchFamily="2" charset="-122"/>
              </a:rPr>
              <a:t>条；       </a:t>
            </a:r>
            <a:r>
              <a:rPr lang="zh-CN" altLang="en-US" sz="2200" dirty="0" smtClean="0">
                <a:solidFill>
                  <a:srgbClr val="990099"/>
                </a:solidFill>
                <a:latin typeface="宋体" pitchFamily="2" charset="-122"/>
              </a:rPr>
              <a:t>└←</a:t>
            </a:r>
            <a:r>
              <a:rPr lang="zh-CN" altLang="en-US" sz="2000" b="1" dirty="0" smtClean="0">
                <a:latin typeface="宋体" pitchFamily="2" charset="-122"/>
              </a:rPr>
              <a:t>每</a:t>
            </a:r>
            <a:r>
              <a:rPr lang="zh-CN" altLang="en-US" sz="2000" b="1" dirty="0">
                <a:latin typeface="宋体" pitchFamily="2" charset="-122"/>
              </a:rPr>
              <a:t>条指令</a:t>
            </a:r>
            <a:r>
              <a:rPr lang="zh-CN" altLang="en-US" sz="2000" b="1" dirty="0">
                <a:solidFill>
                  <a:srgbClr val="990099"/>
                </a:solidFill>
                <a:latin typeface="宋体" pitchFamily="2" charset="-122"/>
              </a:rPr>
              <a:t>占</a:t>
            </a:r>
            <a:r>
              <a:rPr lang="en-US" altLang="zh-CN" sz="2000" b="1" dirty="0">
                <a:solidFill>
                  <a:srgbClr val="990099"/>
                </a:solidFill>
                <a:latin typeface="宋体" pitchFamily="2" charset="-122"/>
              </a:rPr>
              <a:t>1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个操作码</a:t>
            </a:r>
            <a:endParaRPr lang="zh-CN" altLang="en-US" sz="2200" b="1" dirty="0" smtClean="0">
              <a:solidFill>
                <a:srgbClr val="990099"/>
              </a:solidFill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3622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32"/>
          <p:cNvSpPr txBox="1">
            <a:spLocks noChangeArrowheads="1"/>
          </p:cNvSpPr>
          <p:nvPr/>
        </p:nvSpPr>
        <p:spPr bwMode="auto">
          <a:xfrm>
            <a:off x="179512" y="3645024"/>
            <a:ext cx="8785225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7" name="Text Box 132"/>
          <p:cNvSpPr txBox="1">
            <a:spLocks noChangeArrowheads="1"/>
          </p:cNvSpPr>
          <p:nvPr/>
        </p:nvSpPr>
        <p:spPr bwMode="auto">
          <a:xfrm>
            <a:off x="179388" y="1844824"/>
            <a:ext cx="8785225" cy="461665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29</a:t>
            </a:fld>
            <a:endParaRPr lang="en-US" altLang="zh-CN" dirty="0"/>
          </a:p>
        </p:txBody>
      </p:sp>
      <p:sp>
        <p:nvSpPr>
          <p:cNvPr id="3" name="Text Box 76"/>
          <p:cNvSpPr txBox="1">
            <a:spLocks noChangeArrowheads="1"/>
          </p:cNvSpPr>
          <p:nvPr/>
        </p:nvSpPr>
        <p:spPr bwMode="auto">
          <a:xfrm>
            <a:off x="838200" y="332656"/>
            <a:ext cx="7467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宋体" pitchFamily="2" charset="-122"/>
              </a:rPr>
              <a:t>第</a:t>
            </a:r>
            <a:r>
              <a:rPr lang="en-US" altLang="zh-CN" sz="3200" b="1" dirty="0">
                <a:latin typeface="宋体" pitchFamily="2" charset="-122"/>
              </a:rPr>
              <a:t>5</a:t>
            </a:r>
            <a:r>
              <a:rPr lang="zh-CN" altLang="en-US" sz="3200" b="1" dirty="0">
                <a:latin typeface="宋体" pitchFamily="2" charset="-122"/>
              </a:rPr>
              <a:t>章 </a:t>
            </a:r>
            <a:r>
              <a:rPr lang="zh-CN" altLang="en-US" sz="3200" b="1" dirty="0"/>
              <a:t>中央处理器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79512" y="908720"/>
            <a:ext cx="8812088" cy="938719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  主要内容：</a:t>
            </a:r>
            <a:r>
              <a:rPr lang="en-US" altLang="zh-CN" sz="2200" b="1" dirty="0" smtClean="0">
                <a:latin typeface="宋体" pitchFamily="2" charset="-122"/>
              </a:rPr>
              <a:t>CPU</a:t>
            </a:r>
            <a:r>
              <a:rPr lang="zh-CN" altLang="en-US" sz="2200" b="1" dirty="0" smtClean="0">
                <a:latin typeface="宋体" pitchFamily="2" charset="-122"/>
              </a:rPr>
              <a:t>组成与工作流程，数据通路组织，控制单元组成，</a:t>
            </a:r>
            <a:endParaRPr lang="en-US" altLang="zh-CN" sz="22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200" b="1" dirty="0">
                <a:latin typeface="宋体" pitchFamily="2" charset="-122"/>
              </a:rPr>
              <a:t> </a:t>
            </a:r>
            <a:r>
              <a:rPr lang="en-US" altLang="zh-CN" sz="2200" b="1" dirty="0" smtClean="0">
                <a:latin typeface="宋体" pitchFamily="2" charset="-122"/>
              </a:rPr>
              <a:t>           </a:t>
            </a:r>
            <a:r>
              <a:rPr lang="zh-CN" altLang="en-US" sz="2200" b="1" dirty="0" smtClean="0">
                <a:latin typeface="宋体" pitchFamily="2" charset="-122"/>
              </a:rPr>
              <a:t>异常及中断处理，指令流水线</a:t>
            </a:r>
            <a:endParaRPr lang="zh-CN" altLang="en-US" sz="2200" b="1" dirty="0">
              <a:latin typeface="宋体" pitchFamily="2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9388" y="1772816"/>
            <a:ext cx="8812212" cy="147732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CPU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组成与工作流程    </a:t>
            </a:r>
            <a:r>
              <a:rPr lang="zh-CN" altLang="en-US" sz="2000" b="1" dirty="0" smtClean="0">
                <a:latin typeface="+mn-ea"/>
                <a:ea typeface="+mn-ea"/>
              </a:rPr>
              <a:t>☆深入理解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CPU</a:t>
            </a:r>
            <a:r>
              <a:rPr lang="zh-CN" altLang="en-US" b="1" dirty="0" smtClean="0">
                <a:latin typeface="宋体" pitchFamily="2" charset="-122"/>
              </a:rPr>
              <a:t>的功能、组成、工作流程，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指令的执行过程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*</a:t>
            </a:r>
            <a:r>
              <a:rPr lang="zh-CN" altLang="en-US" sz="2000" b="1" dirty="0" smtClean="0">
                <a:latin typeface="宋体" pitchFamily="2" charset="-122"/>
              </a:rPr>
              <a:t>步骤及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操作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   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基础</a:t>
            </a: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(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需求</a:t>
            </a: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)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：</a:t>
            </a:r>
            <a:r>
              <a:rPr lang="zh-CN" altLang="en-US" b="1" dirty="0" smtClean="0">
                <a:latin typeface="宋体" pitchFamily="2" charset="-122"/>
              </a:rPr>
              <a:t>冯氏模型</a:t>
            </a:r>
            <a:r>
              <a:rPr lang="en-US" altLang="zh-CN" sz="18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latin typeface="宋体" pitchFamily="2" charset="-122"/>
              </a:rPr>
              <a:t>结构及</a:t>
            </a:r>
            <a:r>
              <a:rPr lang="zh-CN" altLang="en-US" sz="1800" b="1" dirty="0" smtClean="0">
                <a:solidFill>
                  <a:srgbClr val="FF0000"/>
                </a:solidFill>
                <a:latin typeface="宋体" pitchFamily="2" charset="-122"/>
              </a:rPr>
              <a:t>工作过程串行执行的原因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，指令系统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512" y="3140968"/>
            <a:ext cx="8812212" cy="2400657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二、数据通路的组织       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数据通路的组成         </a:t>
            </a:r>
            <a:r>
              <a:rPr lang="zh-CN" altLang="en-US" sz="2000" b="1" dirty="0" smtClean="0">
                <a:latin typeface="宋体" pitchFamily="2" charset="-122"/>
              </a:rPr>
              <a:t>☆深入理解、熟练运用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 </a:t>
            </a:r>
            <a:endParaRPr lang="en-US" altLang="zh-CN" sz="2000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79512" y="4069521"/>
            <a:ext cx="8812212" cy="147732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通路部件、通路结构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总线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点点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、</a:t>
            </a:r>
            <a:r>
              <a:rPr lang="en-US" altLang="zh-CN" dirty="0" err="1" smtClean="0">
                <a:latin typeface="+mn-lt"/>
              </a:rPr>
              <a:t>μ</a:t>
            </a:r>
            <a:r>
              <a:rPr lang="en-US" altLang="zh-CN" b="1" dirty="0" err="1" smtClean="0">
                <a:latin typeface="宋体" pitchFamily="2" charset="-122"/>
              </a:rPr>
              <a:t>OP</a:t>
            </a:r>
            <a:r>
              <a:rPr lang="zh-CN" altLang="en-US" b="1" dirty="0" smtClean="0">
                <a:latin typeface="宋体" pitchFamily="2" charset="-122"/>
              </a:rPr>
              <a:t>及其控制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en-US" altLang="zh-CN" dirty="0" err="1" smtClean="0"/>
              <a:t>μ</a:t>
            </a:r>
            <a:r>
              <a:rPr lang="en-US" altLang="zh-CN" b="1" dirty="0" err="1" smtClean="0">
                <a:latin typeface="宋体" pitchFamily="2" charset="-122"/>
              </a:rPr>
              <a:t>OPCmd</a:t>
            </a:r>
            <a:r>
              <a:rPr lang="en-US" altLang="zh-CN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指令执行过程的组织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各</a:t>
            </a:r>
            <a:r>
              <a:rPr lang="en-US" altLang="zh-CN" sz="2000" dirty="0" err="1">
                <a:solidFill>
                  <a:srgbClr val="990099"/>
                </a:solidFill>
              </a:rPr>
              <a:t>μ</a:t>
            </a:r>
            <a:r>
              <a:rPr lang="en-US" altLang="zh-CN" sz="2000" b="1" dirty="0" err="1">
                <a:solidFill>
                  <a:srgbClr val="990099"/>
                </a:solidFill>
                <a:latin typeface="宋体" pitchFamily="2" charset="-122"/>
              </a:rPr>
              <a:t>OPCmd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序列</a:t>
            </a:r>
            <a:r>
              <a:rPr lang="zh-CN" altLang="en-US" sz="2000" b="1" dirty="0" smtClean="0">
                <a:latin typeface="宋体" pitchFamily="2" charset="-122"/>
              </a:rPr>
              <a:t>→</a:t>
            </a:r>
            <a:r>
              <a:rPr lang="en-US" altLang="zh-CN" sz="2000" b="1" dirty="0" smtClean="0">
                <a:latin typeface="宋体" pitchFamily="2" charset="-122"/>
              </a:rPr>
              <a:t>CPU</a:t>
            </a:r>
            <a:r>
              <a:rPr lang="zh-CN" altLang="en-US" sz="2000" b="1" dirty="0" smtClean="0">
                <a:latin typeface="宋体" pitchFamily="2" charset="-122"/>
              </a:rPr>
              <a:t>控制需求</a:t>
            </a:r>
            <a:r>
              <a:rPr lang="en-US" altLang="zh-CN" sz="2000" b="1" dirty="0" smtClean="0">
                <a:latin typeface="宋体" pitchFamily="2" charset="-122"/>
              </a:rPr>
              <a:t>[</a:t>
            </a:r>
            <a:r>
              <a:rPr lang="zh-CN" altLang="en-US" sz="2000" b="1" dirty="0" smtClean="0">
                <a:latin typeface="宋体" pitchFamily="2" charset="-122"/>
              </a:rPr>
              <a:t>状态转换图</a:t>
            </a:r>
            <a:r>
              <a:rPr lang="en-US" altLang="zh-CN" sz="2000" b="1" dirty="0" smtClean="0">
                <a:latin typeface="宋体" pitchFamily="2" charset="-122"/>
              </a:rPr>
              <a:t>])</a:t>
            </a: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〖</a:t>
            </a:r>
            <a:r>
              <a:rPr lang="zh-CN" altLang="en-US" b="1" dirty="0">
                <a:solidFill>
                  <a:srgbClr val="990099"/>
                </a:solidFill>
                <a:latin typeface="宋体" pitchFamily="2" charset="-122"/>
              </a:rPr>
              <a:t>例</a:t>
            </a: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〗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教材</a:t>
            </a: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P180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例起</a:t>
            </a: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5.1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及例</a:t>
            </a: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5.2</a:t>
            </a:r>
            <a:r>
              <a:rPr lang="zh-CN" altLang="en-US" b="1" dirty="0" smtClean="0">
                <a:latin typeface="宋体" pitchFamily="2" charset="-122"/>
              </a:rPr>
              <a:t>，注意寻址方式的实现</a:t>
            </a:r>
            <a:endParaRPr lang="en-US" altLang="zh-CN" b="1" dirty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8977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5" grpId="0"/>
      <p:bldP spid="6" grpId="0"/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30</a:t>
            </a:fld>
            <a:endParaRPr lang="en-US" altLang="zh-CN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405036"/>
              </p:ext>
            </p:extLst>
          </p:nvPr>
        </p:nvGraphicFramePr>
        <p:xfrm>
          <a:off x="1044476" y="1428297"/>
          <a:ext cx="6911900" cy="3080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4" r:id="rId3" imgW="4122765" imgH="1843203" progId="Visio.Drawing.11">
                  <p:embed/>
                </p:oleObj>
              </mc:Choice>
              <mc:Fallback>
                <p:oleObj r:id="rId3" imgW="4122765" imgH="184320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476" y="1428297"/>
                        <a:ext cx="6911900" cy="30808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23528" y="4725144"/>
            <a:ext cx="8136904" cy="147732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</a:t>
            </a:r>
            <a:r>
              <a:rPr lang="en-US" altLang="zh-CN" b="1" dirty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>
                <a:solidFill>
                  <a:srgbClr val="FF3399"/>
                </a:solidFill>
                <a:latin typeface="宋体" pitchFamily="2" charset="-122"/>
              </a:rPr>
              <a:t>数据通路的设计         </a:t>
            </a:r>
            <a:r>
              <a:rPr lang="zh-CN" altLang="en-US" sz="2000" b="1" dirty="0">
                <a:latin typeface="宋体" pitchFamily="2" charset="-122"/>
              </a:rPr>
              <a:t>△了解设计</a:t>
            </a:r>
            <a:r>
              <a:rPr lang="zh-CN" altLang="en-US" sz="2000" b="1" dirty="0" smtClean="0">
                <a:latin typeface="宋体" pitchFamily="2" charset="-122"/>
              </a:rPr>
              <a:t>流程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指令周期</a:t>
            </a:r>
            <a:r>
              <a:rPr lang="zh-CN" altLang="en-US" b="1" dirty="0">
                <a:latin typeface="宋体" pitchFamily="2" charset="-122"/>
              </a:rPr>
              <a:t>类型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数据宽度</a:t>
            </a:r>
            <a:r>
              <a:rPr lang="zh-CN" altLang="en-US" b="1" dirty="0" smtClean="0">
                <a:latin typeface="宋体" pitchFamily="2" charset="-122"/>
              </a:rPr>
              <a:t>、设计</a:t>
            </a:r>
            <a:r>
              <a:rPr lang="zh-CN" altLang="en-US" b="1" dirty="0">
                <a:latin typeface="宋体" pitchFamily="2" charset="-122"/>
              </a:rPr>
              <a:t>方法，</a:t>
            </a:r>
            <a:r>
              <a:rPr lang="zh-CN" altLang="en-US" b="1" dirty="0">
                <a:solidFill>
                  <a:srgbClr val="FF0000"/>
                </a:solidFill>
                <a:latin typeface="宋体" pitchFamily="2" charset="-122"/>
              </a:rPr>
              <a:t>单</a:t>
            </a:r>
            <a:r>
              <a:rPr lang="en-US" altLang="zh-CN" b="1" dirty="0">
                <a:latin typeface="宋体" pitchFamily="2" charset="-122"/>
              </a:rPr>
              <a:t>/</a:t>
            </a:r>
            <a:r>
              <a:rPr lang="zh-CN" altLang="en-US" b="1" dirty="0">
                <a:latin typeface="宋体" pitchFamily="2" charset="-122"/>
              </a:rPr>
              <a:t>多周期</a:t>
            </a:r>
            <a:r>
              <a:rPr lang="en-US" altLang="zh-CN" b="1" dirty="0">
                <a:latin typeface="宋体" pitchFamily="2" charset="-122"/>
              </a:rPr>
              <a:t>DP</a:t>
            </a:r>
            <a:r>
              <a:rPr lang="zh-CN" altLang="en-US" b="1" dirty="0">
                <a:latin typeface="宋体" pitchFamily="2" charset="-122"/>
              </a:rPr>
              <a:t>的设计示例</a:t>
            </a:r>
            <a:endParaRPr lang="en-US" altLang="zh-CN" sz="2000" b="1" dirty="0">
              <a:latin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9552" y="692696"/>
            <a:ext cx="3278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990099"/>
                </a:solidFill>
                <a:latin typeface="宋体" pitchFamily="2" charset="-122"/>
              </a:rPr>
              <a:t>数据通路的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组成实例：</a:t>
            </a:r>
            <a:endParaRPr lang="zh-CN" altLang="en-US" dirty="0">
              <a:solidFill>
                <a:srgbClr val="990099"/>
              </a:solidFill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5004048" y="2780928"/>
            <a:ext cx="432048" cy="28803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7728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31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641084" cy="544764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三、控制器的组成</a:t>
            </a:r>
            <a:endParaRPr lang="en-US" altLang="zh-CN" b="1" dirty="0" smtClean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</a:rPr>
              <a:t>控制器的基本结构       </a:t>
            </a:r>
            <a:r>
              <a:rPr lang="zh-CN" altLang="en-US" sz="2000" b="1" dirty="0" smtClean="0">
                <a:latin typeface="+mn-ea"/>
                <a:ea typeface="+mn-ea"/>
              </a:rPr>
              <a:t>◇理解原理</a:t>
            </a:r>
            <a:endParaRPr lang="en-US" altLang="zh-CN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</a:rPr>
              <a:t>时序信号的形成         </a:t>
            </a:r>
            <a:r>
              <a:rPr lang="zh-CN" altLang="en-US" sz="2000" b="1" dirty="0" smtClean="0">
                <a:latin typeface="+mn-ea"/>
              </a:rPr>
              <a:t>◇</a:t>
            </a:r>
            <a:r>
              <a:rPr lang="zh-CN" altLang="en-US" sz="2000" b="1" dirty="0">
                <a:latin typeface="+mn-ea"/>
              </a:rPr>
              <a:t>理解原理</a:t>
            </a:r>
            <a:endParaRPr lang="en-US" altLang="zh-CN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200000"/>
              </a:lnSpc>
            </a:pPr>
            <a:endParaRPr lang="en-US" altLang="zh-CN" b="1" dirty="0">
              <a:solidFill>
                <a:srgbClr val="FF3399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3.</a:t>
            </a:r>
            <a:r>
              <a:rPr lang="en-US" altLang="zh-CN" dirty="0">
                <a:solidFill>
                  <a:srgbClr val="FF3399"/>
                </a:solidFill>
              </a:rPr>
              <a:t> </a:t>
            </a:r>
            <a:r>
              <a:rPr lang="en-US" altLang="zh-CN" dirty="0" err="1" smtClean="0">
                <a:solidFill>
                  <a:srgbClr val="FF3399"/>
                </a:solidFill>
              </a:rPr>
              <a:t>μ</a:t>
            </a:r>
            <a:r>
              <a:rPr lang="en-US" altLang="zh-CN" b="1" dirty="0" err="1" smtClean="0">
                <a:solidFill>
                  <a:srgbClr val="FF3399"/>
                </a:solidFill>
                <a:latin typeface="宋体" pitchFamily="2" charset="-122"/>
              </a:rPr>
              <a:t>OP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控制信号的形成   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itchFamily="2" charset="-122"/>
              </a:rPr>
              <a:t> </a:t>
            </a:r>
            <a:r>
              <a:rPr lang="zh-CN" altLang="en-US" sz="2000" b="1" dirty="0" smtClean="0">
                <a:solidFill>
                  <a:srgbClr val="FF3399"/>
                </a:solidFill>
                <a:latin typeface="宋体" pitchFamily="2" charset="-122"/>
              </a:rPr>
              <a:t>  </a:t>
            </a:r>
            <a:r>
              <a:rPr lang="zh-CN" altLang="en-US" sz="2000" b="1" dirty="0" smtClean="0">
                <a:latin typeface="宋体" pitchFamily="2" charset="-122"/>
              </a:rPr>
              <a:t>△了解功能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latin typeface="宋体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4.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硬布线控制器的设计</a:t>
            </a: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(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  <a:ea typeface="+mn-ea"/>
              </a:rPr>
              <a:t>单周期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  <a:ea typeface="+mn-ea"/>
              </a:rPr>
              <a:t>CPU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  <a:ea typeface="+mn-ea"/>
              </a:rPr>
              <a:t>不采用总线结构</a:t>
            </a: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)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 </a:t>
            </a:r>
            <a:r>
              <a:rPr lang="zh-CN" altLang="en-US" sz="2000" b="1" dirty="0" smtClean="0">
                <a:latin typeface="宋体" pitchFamily="2" charset="-122"/>
              </a:rPr>
              <a:t>△了解设计流程</a:t>
            </a:r>
            <a:endParaRPr lang="en-US" altLang="zh-CN" sz="2000" b="1" dirty="0" smtClean="0">
              <a:solidFill>
                <a:srgbClr val="FF3399"/>
              </a:solidFill>
              <a:latin typeface="宋体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5.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</a:rPr>
              <a:t>微程序控制器的设计     </a:t>
            </a:r>
            <a:r>
              <a:rPr lang="zh-CN" altLang="en-US" sz="2000" b="1" dirty="0" smtClean="0">
                <a:latin typeface="+mn-ea"/>
              </a:rPr>
              <a:t>◇</a:t>
            </a:r>
            <a:r>
              <a:rPr lang="zh-CN" altLang="en-US" sz="2000" b="1" dirty="0">
                <a:latin typeface="+mn-ea"/>
              </a:rPr>
              <a:t>理解原理</a:t>
            </a:r>
            <a:endParaRPr lang="en-US" altLang="zh-CN" sz="2000" b="1" dirty="0">
              <a:solidFill>
                <a:srgbClr val="FF3399"/>
              </a:solidFill>
              <a:latin typeface="宋体" pitchFamily="2" charset="-122"/>
              <a:ea typeface="+mn-ea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512" y="1261209"/>
            <a:ext cx="8812212" cy="10156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组成</a:t>
            </a:r>
            <a:r>
              <a:rPr lang="en-US" altLang="zh-CN" sz="2000" b="1" dirty="0" smtClean="0">
                <a:latin typeface="宋体" pitchFamily="2" charset="-122"/>
              </a:rPr>
              <a:t>(3</a:t>
            </a:r>
            <a:r>
              <a:rPr lang="zh-CN" altLang="en-US" sz="2000" b="1" dirty="0" smtClean="0">
                <a:latin typeface="宋体" pitchFamily="2" charset="-122"/>
              </a:rPr>
              <a:t>个部件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，工作原理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循环产生</a:t>
            </a:r>
            <a:r>
              <a:rPr lang="en-US" altLang="zh-CN" sz="2000" dirty="0" err="1"/>
              <a:t>μ</a:t>
            </a:r>
            <a:r>
              <a:rPr lang="en-US" altLang="zh-CN" sz="2000" b="1" dirty="0" err="1">
                <a:latin typeface="宋体" pitchFamily="2" charset="-122"/>
              </a:rPr>
              <a:t>OPCmd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，类型</a:t>
            </a:r>
            <a:r>
              <a:rPr lang="en-US" altLang="zh-CN" sz="2000" b="1" dirty="0" smtClean="0">
                <a:latin typeface="宋体" pitchFamily="2" charset="-122"/>
              </a:rPr>
              <a:t>(2</a:t>
            </a:r>
            <a:r>
              <a:rPr lang="zh-CN" altLang="en-US" sz="2000" b="1" dirty="0" smtClean="0">
                <a:latin typeface="宋体" pitchFamily="2" charset="-122"/>
              </a:rPr>
              <a:t>种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  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基础</a:t>
            </a: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(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需求</a:t>
            </a: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)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：</a:t>
            </a:r>
            <a:r>
              <a:rPr lang="zh-CN" altLang="en-US" b="1" dirty="0" smtClean="0">
                <a:latin typeface="宋体" pitchFamily="2" charset="-122"/>
              </a:rPr>
              <a:t>状态转换图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>
                <a:latin typeface="宋体" pitchFamily="2" charset="-122"/>
              </a:rPr>
              <a:t>指令及中断响应</a:t>
            </a:r>
            <a:r>
              <a:rPr lang="en-US" altLang="zh-CN" sz="2000" dirty="0" err="1" smtClean="0"/>
              <a:t>μ</a:t>
            </a:r>
            <a:r>
              <a:rPr lang="en-US" altLang="zh-CN" sz="2000" b="1" dirty="0" err="1" smtClean="0">
                <a:latin typeface="宋体" pitchFamily="2" charset="-122"/>
              </a:rPr>
              <a:t>OPCmd</a:t>
            </a:r>
            <a:r>
              <a:rPr lang="zh-CN" altLang="en-US" sz="2000" b="1" dirty="0" smtClean="0">
                <a:latin typeface="宋体" pitchFamily="2" charset="-122"/>
              </a:rPr>
              <a:t>序列的整合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b="1" dirty="0">
              <a:latin typeface="宋体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512" y="2629361"/>
            <a:ext cx="8812212" cy="1306512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   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时序系统组织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>
                <a:latin typeface="宋体" pitchFamily="2" charset="-122"/>
              </a:rPr>
              <a:t>基于状态转换</a:t>
            </a:r>
            <a:r>
              <a:rPr lang="zh-CN" altLang="en-US" sz="2000" b="1" dirty="0" smtClean="0">
                <a:latin typeface="宋体" pitchFamily="2" charset="-122"/>
              </a:rPr>
              <a:t>图，信号个数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序列种类</a:t>
            </a:r>
            <a:r>
              <a:rPr lang="en-US" altLang="zh-CN" sz="2000" b="1" dirty="0" smtClean="0">
                <a:latin typeface="宋体" pitchFamily="2" charset="-122"/>
              </a:rPr>
              <a:t>[</a:t>
            </a:r>
            <a:r>
              <a:rPr lang="zh-CN" altLang="en-US" sz="2000" b="1" dirty="0" smtClean="0">
                <a:latin typeface="宋体" pitchFamily="2" charset="-122"/>
              </a:rPr>
              <a:t>如图</a:t>
            </a:r>
            <a:r>
              <a:rPr lang="en-US" altLang="zh-CN" sz="2000" b="1" dirty="0" smtClean="0">
                <a:latin typeface="宋体" pitchFamily="2" charset="-122"/>
              </a:rPr>
              <a:t>5.25])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>
                <a:latin typeface="宋体" pitchFamily="2" charset="-122"/>
              </a:rPr>
              <a:t>时序</a:t>
            </a:r>
            <a:r>
              <a:rPr lang="zh-CN" altLang="en-US" b="1" dirty="0" smtClean="0">
                <a:latin typeface="宋体" pitchFamily="2" charset="-122"/>
              </a:rPr>
              <a:t>电路组成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>
                <a:latin typeface="宋体" pitchFamily="2" charset="-122"/>
              </a:rPr>
              <a:t>定时</a:t>
            </a:r>
            <a:r>
              <a:rPr lang="zh-CN" altLang="en-US" sz="2000" b="1" dirty="0" smtClean="0">
                <a:latin typeface="宋体" pitchFamily="2" charset="-122"/>
              </a:rPr>
              <a:t>逻辑、信号发生器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，定时方式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>
                <a:latin typeface="宋体" pitchFamily="2" charset="-122"/>
              </a:rPr>
              <a:t>基于</a:t>
            </a:r>
            <a:r>
              <a:rPr lang="en-US" altLang="zh-CN" sz="2000" dirty="0" err="1" smtClean="0"/>
              <a:t>μ</a:t>
            </a:r>
            <a:r>
              <a:rPr lang="en-US" altLang="zh-CN" sz="2000" b="1" dirty="0" err="1" smtClean="0">
                <a:latin typeface="宋体" pitchFamily="2" charset="-122"/>
              </a:rPr>
              <a:t>OP</a:t>
            </a:r>
            <a:r>
              <a:rPr lang="zh-CN" altLang="en-US" sz="2000" b="1" dirty="0" smtClean="0">
                <a:latin typeface="宋体" pitchFamily="2" charset="-122"/>
              </a:rPr>
              <a:t>，</a:t>
            </a:r>
            <a:r>
              <a:rPr lang="en-US" altLang="zh-CN" sz="2000" b="1" dirty="0" smtClean="0">
                <a:latin typeface="宋体" pitchFamily="2" charset="-122"/>
              </a:rPr>
              <a:t>3</a:t>
            </a:r>
            <a:r>
              <a:rPr lang="zh-CN" altLang="en-US" sz="2000" b="1" dirty="0" smtClean="0">
                <a:latin typeface="宋体" pitchFamily="2" charset="-122"/>
              </a:rPr>
              <a:t>种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altLang="zh-CN" sz="1800" b="1" dirty="0" smtClean="0">
                <a:latin typeface="宋体" pitchFamily="2" charset="-122"/>
              </a:rPr>
              <a:t>                     [CLK</a:t>
            </a:r>
            <a:r>
              <a:rPr lang="zh-CN" altLang="en-US" sz="1800" b="1" dirty="0" smtClean="0">
                <a:latin typeface="宋体" pitchFamily="2" charset="-122"/>
              </a:rPr>
              <a:t>→</a:t>
            </a:r>
            <a:r>
              <a:rPr lang="en-US" altLang="zh-CN" sz="1800" b="1" dirty="0" smtClean="0">
                <a:latin typeface="宋体" pitchFamily="2" charset="-122"/>
              </a:rPr>
              <a:t>CP]</a:t>
            </a:r>
            <a:r>
              <a:rPr lang="zh-CN" altLang="en-US" sz="1800" b="1" dirty="0" smtClean="0">
                <a:latin typeface="宋体" pitchFamily="2" charset="-122"/>
              </a:rPr>
              <a:t> </a:t>
            </a:r>
            <a:r>
              <a:rPr lang="en-US" altLang="zh-CN" sz="1800" b="1" dirty="0" smtClean="0">
                <a:latin typeface="宋体" pitchFamily="2" charset="-122"/>
              </a:rPr>
              <a:t>[CP</a:t>
            </a:r>
            <a:r>
              <a:rPr lang="zh-CN" altLang="en-US" sz="1800" b="1" dirty="0" smtClean="0">
                <a:latin typeface="宋体" pitchFamily="2" charset="-122"/>
              </a:rPr>
              <a:t>→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itchFamily="2" charset="-122"/>
              </a:rPr>
              <a:t>节拍</a:t>
            </a:r>
            <a:r>
              <a:rPr lang="zh-CN" altLang="en-US" sz="1800" b="1" dirty="0" smtClean="0">
                <a:latin typeface="宋体" pitchFamily="2" charset="-122"/>
              </a:rPr>
              <a:t>及脉冲（</a:t>
            </a:r>
            <a:r>
              <a:rPr lang="zh-CN" altLang="en-US" sz="1800" b="1" dirty="0" smtClean="0">
                <a:solidFill>
                  <a:srgbClr val="FF0000"/>
                </a:solidFill>
                <a:latin typeface="宋体" pitchFamily="2" charset="-122"/>
              </a:rPr>
              <a:t>不用于</a:t>
            </a:r>
            <a:r>
              <a:rPr lang="zh-CN" altLang="en-US" sz="1800" b="1" dirty="0">
                <a:solidFill>
                  <a:srgbClr val="FF0000"/>
                </a:solidFill>
                <a:latin typeface="+mn-ea"/>
              </a:rPr>
              <a:t>微程序控制</a:t>
            </a:r>
            <a:r>
              <a:rPr lang="zh-CN" altLang="en-US" sz="1800" b="1" dirty="0" smtClean="0">
                <a:solidFill>
                  <a:srgbClr val="FF0000"/>
                </a:solidFill>
                <a:latin typeface="+mn-ea"/>
              </a:rPr>
              <a:t>器</a:t>
            </a:r>
            <a:r>
              <a:rPr lang="zh-CN" altLang="en-US" sz="1800" b="1" dirty="0" smtClean="0">
                <a:solidFill>
                  <a:srgbClr val="FF3399"/>
                </a:solidFill>
                <a:latin typeface="+mn-ea"/>
              </a:rPr>
              <a:t>）</a:t>
            </a:r>
            <a:r>
              <a:rPr lang="en-US" altLang="zh-CN" sz="1800" b="1" dirty="0" smtClean="0">
                <a:latin typeface="宋体" pitchFamily="2" charset="-122"/>
              </a:rPr>
              <a:t>]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79512" y="4243154"/>
            <a:ext cx="8812212" cy="490519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引脚信号、内部逻辑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状态转换图的需求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sz="1600" b="1" dirty="0" smtClean="0">
              <a:latin typeface="宋体" pitchFamily="2" charset="-122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179512" y="5661248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工作流程的实现方法，</a:t>
            </a:r>
            <a:r>
              <a:rPr lang="en-US" altLang="zh-CN" b="1" dirty="0" smtClean="0">
                <a:latin typeface="宋体" pitchFamily="2" charset="-122"/>
              </a:rPr>
              <a:t>CU</a:t>
            </a:r>
            <a:r>
              <a:rPr lang="zh-CN" altLang="en-US" b="1" dirty="0" smtClean="0">
                <a:latin typeface="宋体" pitchFamily="2" charset="-122"/>
              </a:rPr>
              <a:t>组成、工作原理   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共理解</a:t>
            </a:r>
            <a:r>
              <a:rPr lang="en-US" altLang="zh-CN" sz="2000" b="1" dirty="0" smtClean="0">
                <a:latin typeface="宋体" pitchFamily="2" charset="-122"/>
              </a:rPr>
              <a:t>3</a:t>
            </a:r>
            <a:r>
              <a:rPr lang="zh-CN" altLang="en-US" sz="2000" b="1" dirty="0" smtClean="0">
                <a:latin typeface="宋体" pitchFamily="2" charset="-122"/>
              </a:rPr>
              <a:t>张图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sz="1800" b="1" dirty="0" smtClean="0">
              <a:latin typeface="宋体" pitchFamily="2" charset="-122"/>
            </a:endParaRPr>
          </a:p>
        </p:txBody>
      </p:sp>
      <p:sp>
        <p:nvSpPr>
          <p:cNvPr id="8" name="Text Box 132"/>
          <p:cNvSpPr txBox="1">
            <a:spLocks noChangeArrowheads="1"/>
          </p:cNvSpPr>
          <p:nvPr/>
        </p:nvSpPr>
        <p:spPr bwMode="auto">
          <a:xfrm>
            <a:off x="179388" y="2247255"/>
            <a:ext cx="8785225" cy="461665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0627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32</a:t>
            </a:fld>
            <a:endParaRPr lang="en-US" altLang="zh-CN" dirty="0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713092" cy="2862322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、异常及中断的处理</a:t>
            </a:r>
            <a:endParaRPr lang="en-US" altLang="zh-CN" b="1" dirty="0" smtClean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基本概念               </a:t>
            </a:r>
            <a:r>
              <a:rPr lang="zh-CN" altLang="en-US" sz="2000" b="1" dirty="0" smtClean="0">
                <a:latin typeface="宋体" pitchFamily="2" charset="-122"/>
              </a:rPr>
              <a:t>◇掌握概念</a:t>
            </a:r>
            <a:endParaRPr lang="en-US" altLang="zh-CN" b="1" dirty="0" smtClean="0">
              <a:solidFill>
                <a:srgbClr val="FF3399"/>
              </a:solidFill>
              <a:latin typeface="宋体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异常</a:t>
            </a:r>
            <a:r>
              <a:rPr lang="zh-CN" altLang="en-US" b="1" dirty="0">
                <a:latin typeface="宋体" pitchFamily="2" charset="-122"/>
              </a:rPr>
              <a:t>及</a:t>
            </a:r>
            <a:r>
              <a:rPr lang="zh-CN" altLang="en-US" b="1" dirty="0" smtClean="0">
                <a:latin typeface="宋体" pitchFamily="2" charset="-122"/>
              </a:rPr>
              <a:t>中断的处理</a:t>
            </a:r>
            <a:r>
              <a:rPr lang="zh-CN" altLang="en-US" b="1" dirty="0">
                <a:latin typeface="宋体" pitchFamily="2" charset="-122"/>
              </a:rPr>
              <a:t>时机</a:t>
            </a:r>
            <a:r>
              <a:rPr lang="en-US" altLang="zh-CN" b="1" dirty="0">
                <a:latin typeface="宋体" pitchFamily="2" charset="-122"/>
              </a:rPr>
              <a:t>/</a:t>
            </a:r>
            <a:r>
              <a:rPr lang="zh-CN" altLang="en-US" b="1" dirty="0">
                <a:latin typeface="宋体" pitchFamily="2" charset="-122"/>
              </a:rPr>
              <a:t>分类</a:t>
            </a:r>
            <a:r>
              <a:rPr lang="en-US" altLang="zh-CN" b="1" dirty="0">
                <a:latin typeface="宋体" pitchFamily="2" charset="-122"/>
              </a:rPr>
              <a:t>/</a:t>
            </a:r>
            <a:r>
              <a:rPr lang="zh-CN" altLang="en-US" b="1" dirty="0">
                <a:latin typeface="宋体" pitchFamily="2" charset="-122"/>
              </a:rPr>
              <a:t>返回</a:t>
            </a:r>
            <a:r>
              <a:rPr lang="zh-CN" altLang="en-US" b="1" dirty="0" smtClean="0">
                <a:latin typeface="宋体" pitchFamily="2" charset="-122"/>
              </a:rPr>
              <a:t>方式</a:t>
            </a:r>
            <a:endParaRPr lang="en-US" altLang="zh-CN" b="1" dirty="0">
              <a:solidFill>
                <a:srgbClr val="FF3399"/>
              </a:solidFill>
              <a:latin typeface="宋体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处理过程               </a:t>
            </a:r>
            <a:r>
              <a:rPr lang="zh-CN" altLang="en-US" sz="2000" b="1" dirty="0" smtClean="0">
                <a:latin typeface="宋体" pitchFamily="2" charset="-122"/>
                <a:ea typeface="+mn-ea"/>
              </a:rPr>
              <a:t>◇理解原理</a:t>
            </a:r>
            <a:endParaRPr lang="en-US" altLang="zh-CN" b="1" dirty="0" smtClean="0">
              <a:latin typeface="宋体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  <a:ea typeface="+mn-ea"/>
              </a:rPr>
              <a:t>   </a:t>
            </a:r>
            <a:r>
              <a:rPr lang="zh-CN" altLang="en-US" b="1" dirty="0" smtClean="0">
                <a:latin typeface="宋体" pitchFamily="2" charset="-122"/>
                <a:ea typeface="+mn-ea"/>
              </a:rPr>
              <a:t>处理过程</a:t>
            </a:r>
            <a:r>
              <a:rPr lang="en-US" altLang="zh-CN" sz="2000" b="1" dirty="0" smtClean="0">
                <a:latin typeface="宋体" pitchFamily="2" charset="-122"/>
                <a:ea typeface="+mn-ea"/>
              </a:rPr>
              <a:t>(3</a:t>
            </a:r>
            <a:r>
              <a:rPr lang="zh-CN" altLang="en-US" sz="2000" b="1" dirty="0" smtClean="0">
                <a:latin typeface="宋体" pitchFamily="2" charset="-122"/>
                <a:ea typeface="+mn-ea"/>
              </a:rPr>
              <a:t>段</a:t>
            </a:r>
            <a:r>
              <a:rPr lang="en-US" altLang="zh-CN" sz="2000" b="1" dirty="0" smtClean="0">
                <a:latin typeface="宋体" pitchFamily="2" charset="-122"/>
                <a:ea typeface="+mn-ea"/>
              </a:rPr>
              <a:t>)</a:t>
            </a:r>
            <a:r>
              <a:rPr lang="zh-CN" altLang="en-US" b="1" dirty="0" smtClean="0">
                <a:latin typeface="宋体" pitchFamily="2" charset="-122"/>
                <a:ea typeface="+mn-ea"/>
              </a:rPr>
              <a:t>，响应需完成的任务</a:t>
            </a:r>
            <a:r>
              <a:rPr lang="en-US" altLang="zh-CN" b="1" dirty="0" smtClean="0">
                <a:latin typeface="宋体" pitchFamily="2" charset="-122"/>
              </a:rPr>
              <a:t>(3</a:t>
            </a:r>
            <a:r>
              <a:rPr lang="zh-CN" altLang="en-US" b="1" dirty="0" smtClean="0">
                <a:latin typeface="宋体" pitchFamily="2" charset="-122"/>
              </a:rPr>
              <a:t>点</a:t>
            </a:r>
            <a:r>
              <a:rPr lang="en-US" altLang="zh-CN" b="1" dirty="0" smtClean="0">
                <a:latin typeface="宋体" pitchFamily="2" charset="-122"/>
              </a:rPr>
              <a:t>)</a:t>
            </a:r>
            <a:endParaRPr lang="en-US" altLang="zh-CN" b="1" dirty="0" smtClean="0">
              <a:latin typeface="宋体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3.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  <a:ea typeface="+mn-ea"/>
              </a:rPr>
              <a:t>中断机构的组成         </a:t>
            </a:r>
            <a:r>
              <a:rPr lang="zh-CN" altLang="en-US" sz="2000" b="1" dirty="0" smtClean="0">
                <a:latin typeface="宋体" pitchFamily="2" charset="-122"/>
                <a:ea typeface="+mn-ea"/>
              </a:rPr>
              <a:t>△了解基本结构及功能</a:t>
            </a:r>
            <a:endParaRPr lang="en-US" altLang="zh-CN" sz="2000" b="1" dirty="0" smtClean="0">
              <a:latin typeface="宋体" pitchFamily="2" charset="-122"/>
              <a:ea typeface="+mn-ea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79512" y="3133417"/>
            <a:ext cx="8713092" cy="10156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五、指令流水线技术       </a:t>
            </a:r>
            <a:r>
              <a:rPr lang="zh-CN" altLang="en-US" sz="2000" b="1" dirty="0" smtClean="0">
                <a:latin typeface="宋体" pitchFamily="2" charset="-122"/>
              </a:rPr>
              <a:t>◇掌握概念、理解</a:t>
            </a:r>
            <a:r>
              <a:rPr lang="zh-CN" altLang="en-US" sz="2000" b="1" dirty="0">
                <a:latin typeface="宋体" pitchFamily="2" charset="-122"/>
              </a:rPr>
              <a:t>原理</a:t>
            </a:r>
            <a:endParaRPr lang="en-US" altLang="zh-CN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工作原理、组成要求、性能、分类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8" name="Text Box 43"/>
          <p:cNvSpPr txBox="1">
            <a:spLocks noChangeArrowheads="1"/>
          </p:cNvSpPr>
          <p:nvPr/>
        </p:nvSpPr>
        <p:spPr bwMode="auto">
          <a:xfrm>
            <a:off x="179512" y="4077072"/>
            <a:ext cx="8785225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*本章总体要求：</a:t>
            </a:r>
            <a:r>
              <a:rPr lang="zh-CN" altLang="en-US" b="1" dirty="0" smtClean="0">
                <a:latin typeface="宋体" pitchFamily="2" charset="-122"/>
              </a:rPr>
              <a:t>①理解</a:t>
            </a:r>
            <a:r>
              <a:rPr lang="en-US" altLang="zh-CN" b="1" dirty="0" smtClean="0">
                <a:latin typeface="宋体" pitchFamily="2" charset="-122"/>
              </a:rPr>
              <a:t>CPU</a:t>
            </a:r>
            <a:r>
              <a:rPr lang="zh-CN" altLang="en-US" b="1" dirty="0" smtClean="0">
                <a:latin typeface="宋体" pitchFamily="2" charset="-122"/>
              </a:rPr>
              <a:t>的组成与工作流程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             ②能够组织指令的执行过程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zh-CN" altLang="en-US" b="1" dirty="0" smtClean="0">
                <a:latin typeface="宋体" pitchFamily="2" charset="-122"/>
              </a:rPr>
              <a:t>基于</a:t>
            </a:r>
            <a:r>
              <a:rPr lang="en-US" altLang="zh-CN" b="1" dirty="0" smtClean="0">
                <a:latin typeface="宋体" pitchFamily="2" charset="-122"/>
              </a:rPr>
              <a:t>DP)</a:t>
            </a: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             ③理解状态转换图的</a:t>
            </a:r>
            <a:r>
              <a:rPr lang="zh-CN" altLang="en-US" b="1" dirty="0">
                <a:latin typeface="宋体" pitchFamily="2" charset="-122"/>
              </a:rPr>
              <a:t>实现</a:t>
            </a:r>
            <a:r>
              <a:rPr lang="zh-CN" altLang="en-US" b="1" dirty="0" smtClean="0">
                <a:latin typeface="宋体" pitchFamily="2" charset="-122"/>
              </a:rPr>
              <a:t>方法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zh-CN" altLang="en-US" b="1" dirty="0" smtClean="0">
                <a:latin typeface="宋体" pitchFamily="2" charset="-122"/>
              </a:rPr>
              <a:t>时序</a:t>
            </a:r>
            <a:r>
              <a:rPr lang="en-US" altLang="zh-CN" b="1" dirty="0" smtClean="0">
                <a:latin typeface="宋体" pitchFamily="2" charset="-122"/>
              </a:rPr>
              <a:t>/</a:t>
            </a:r>
            <a:r>
              <a:rPr lang="en-US" altLang="zh-CN" dirty="0" err="1"/>
              <a:t>μ</a:t>
            </a:r>
            <a:r>
              <a:rPr lang="en-US" altLang="zh-CN" b="1" dirty="0" err="1">
                <a:latin typeface="宋体" pitchFamily="2" charset="-122"/>
              </a:rPr>
              <a:t>OP</a:t>
            </a:r>
            <a:r>
              <a:rPr lang="en-US" altLang="zh-CN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             </a:t>
            </a:r>
            <a:r>
              <a:rPr lang="zh-CN" altLang="en-US" b="1" dirty="0" smtClean="0">
                <a:latin typeface="宋体" pitchFamily="2" charset="-122"/>
              </a:rPr>
              <a:t>④理解中断响应的任务及相关概念</a:t>
            </a:r>
            <a:r>
              <a:rPr lang="en-US" altLang="zh-CN" b="1" dirty="0" smtClean="0">
                <a:latin typeface="宋体" pitchFamily="2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             ⑤了解</a:t>
            </a:r>
            <a:r>
              <a:rPr lang="zh-CN" altLang="en-US" b="1" dirty="0">
                <a:latin typeface="宋体" pitchFamily="2" charset="-122"/>
              </a:rPr>
              <a:t>指令</a:t>
            </a:r>
            <a:r>
              <a:rPr lang="zh-CN" altLang="en-US" b="1" dirty="0" smtClean="0">
                <a:latin typeface="宋体" pitchFamily="2" charset="-122"/>
              </a:rPr>
              <a:t>流水线的基本组成及工作原理</a:t>
            </a:r>
            <a:endParaRPr lang="en-US" altLang="zh-CN" sz="2000" b="1" dirty="0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742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33</a:t>
            </a:fld>
            <a:endParaRPr lang="en-US" altLang="zh-CN" dirty="0"/>
          </a:p>
        </p:txBody>
      </p:sp>
      <p:sp>
        <p:nvSpPr>
          <p:cNvPr id="3" name="TextBox 2"/>
          <p:cNvSpPr txBox="1"/>
          <p:nvPr/>
        </p:nvSpPr>
        <p:spPr>
          <a:xfrm>
            <a:off x="323528" y="332656"/>
            <a:ext cx="82809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b="1" dirty="0" smtClean="0">
                <a:solidFill>
                  <a:srgbClr val="0000CC"/>
                </a:solidFill>
                <a:latin typeface="+mn-lt"/>
              </a:rPr>
              <a:t>      例：</a:t>
            </a:r>
            <a:r>
              <a:rPr lang="zh-CN" altLang="zh-CN" sz="2200" b="1" dirty="0" smtClean="0">
                <a:latin typeface="+mn-lt"/>
              </a:rPr>
              <a:t>某</a:t>
            </a:r>
            <a:r>
              <a:rPr lang="en-US" altLang="zh-CN" sz="2200" b="1" dirty="0">
                <a:latin typeface="+mn-lt"/>
              </a:rPr>
              <a:t>CPU</a:t>
            </a:r>
            <a:r>
              <a:rPr lang="zh-CN" altLang="zh-CN" sz="2200" b="1" dirty="0">
                <a:latin typeface="+mn-lt"/>
              </a:rPr>
              <a:t>主频为</a:t>
            </a:r>
            <a:r>
              <a:rPr lang="en-US" altLang="zh-CN" sz="2200" b="1" dirty="0">
                <a:latin typeface="+mn-lt"/>
              </a:rPr>
              <a:t>100MHz</a:t>
            </a:r>
            <a:r>
              <a:rPr lang="zh-CN" altLang="zh-CN" sz="2200" b="1" dirty="0">
                <a:latin typeface="+mn-lt"/>
              </a:rPr>
              <a:t>，指令周期由取指</a:t>
            </a:r>
            <a:r>
              <a:rPr lang="en-US" altLang="zh-CN" sz="2200" b="1" dirty="0">
                <a:latin typeface="+mn-lt"/>
              </a:rPr>
              <a:t>(IF)</a:t>
            </a:r>
            <a:r>
              <a:rPr lang="zh-CN" altLang="zh-CN" sz="2200" b="1" dirty="0">
                <a:latin typeface="+mn-lt"/>
              </a:rPr>
              <a:t>、译码</a:t>
            </a:r>
            <a:r>
              <a:rPr lang="en-US" altLang="zh-CN" sz="2200" b="1" dirty="0">
                <a:latin typeface="+mn-lt"/>
              </a:rPr>
              <a:t>(ID)</a:t>
            </a:r>
            <a:r>
              <a:rPr lang="zh-CN" altLang="zh-CN" sz="2200" b="1" dirty="0">
                <a:latin typeface="+mn-lt"/>
              </a:rPr>
              <a:t>、取操作数</a:t>
            </a:r>
            <a:r>
              <a:rPr lang="en-US" altLang="zh-CN" sz="2200" b="1" dirty="0">
                <a:latin typeface="+mn-lt"/>
              </a:rPr>
              <a:t>(OF)</a:t>
            </a:r>
            <a:r>
              <a:rPr lang="zh-CN" altLang="zh-CN" sz="2200" b="1" dirty="0">
                <a:latin typeface="+mn-lt"/>
              </a:rPr>
              <a:t>、执行</a:t>
            </a:r>
            <a:r>
              <a:rPr lang="en-US" altLang="zh-CN" sz="2200" b="1" dirty="0">
                <a:latin typeface="+mn-lt"/>
              </a:rPr>
              <a:t>(EX)</a:t>
            </a:r>
            <a:r>
              <a:rPr lang="zh-CN" altLang="zh-CN" sz="2200" b="1" dirty="0">
                <a:latin typeface="+mn-lt"/>
              </a:rPr>
              <a:t>、写结果</a:t>
            </a:r>
            <a:r>
              <a:rPr lang="en-US" altLang="zh-CN" sz="2200" b="1" dirty="0">
                <a:latin typeface="+mn-lt"/>
              </a:rPr>
              <a:t>(WB)</a:t>
            </a:r>
            <a:r>
              <a:rPr lang="zh-CN" altLang="zh-CN" sz="2200" b="1" dirty="0">
                <a:latin typeface="+mn-lt"/>
              </a:rPr>
              <a:t>五个阶段组成，每个阶段需</a:t>
            </a:r>
            <a:r>
              <a:rPr lang="en-US" altLang="zh-CN" sz="2200" b="1" dirty="0">
                <a:latin typeface="+mn-lt"/>
              </a:rPr>
              <a:t>1</a:t>
            </a:r>
            <a:r>
              <a:rPr lang="zh-CN" altLang="zh-CN" sz="2200" b="1" dirty="0">
                <a:latin typeface="+mn-lt"/>
              </a:rPr>
              <a:t>个时钟周期。程序</a:t>
            </a:r>
            <a:r>
              <a:rPr lang="en-US" altLang="zh-CN" sz="2200" b="1" dirty="0">
                <a:latin typeface="+mn-lt"/>
              </a:rPr>
              <a:t>A</a:t>
            </a:r>
            <a:r>
              <a:rPr lang="zh-CN" altLang="zh-CN" sz="2200" b="1" dirty="0">
                <a:latin typeface="+mn-lt"/>
              </a:rPr>
              <a:t>执行时共需执行</a:t>
            </a:r>
            <a:r>
              <a:rPr lang="en-US" altLang="zh-CN" sz="2200" b="1" dirty="0">
                <a:latin typeface="+mn-lt"/>
              </a:rPr>
              <a:t>2000</a:t>
            </a:r>
            <a:r>
              <a:rPr lang="zh-CN" altLang="zh-CN" sz="2200" b="1" dirty="0">
                <a:latin typeface="+mn-lt"/>
              </a:rPr>
              <a:t>条指令</a:t>
            </a:r>
            <a:r>
              <a:rPr lang="zh-CN" altLang="zh-CN" sz="2200" b="1" dirty="0" smtClean="0">
                <a:latin typeface="+mn-lt"/>
              </a:rPr>
              <a:t>。</a:t>
            </a:r>
            <a:endParaRPr lang="en-US" altLang="zh-CN" sz="2200" b="1" dirty="0" smtClean="0">
              <a:latin typeface="+mn-lt"/>
            </a:endParaRPr>
          </a:p>
          <a:p>
            <a:r>
              <a:rPr lang="en-US" altLang="zh-CN" sz="2200" b="1" dirty="0">
                <a:latin typeface="+mn-lt"/>
              </a:rPr>
              <a:t>1</a:t>
            </a:r>
            <a:r>
              <a:rPr lang="zh-CN" altLang="zh-CN" sz="2200" b="1" dirty="0">
                <a:latin typeface="+mn-lt"/>
              </a:rPr>
              <a:t>）</a:t>
            </a:r>
            <a:r>
              <a:rPr lang="en-US" altLang="zh-CN" sz="2200" b="1" dirty="0">
                <a:latin typeface="+mn-lt"/>
              </a:rPr>
              <a:t>CPU</a:t>
            </a:r>
            <a:r>
              <a:rPr lang="zh-CN" altLang="zh-CN" sz="2200" b="1" dirty="0">
                <a:latin typeface="+mn-lt"/>
              </a:rPr>
              <a:t>采用串行方式执行程序时，计算程序</a:t>
            </a:r>
            <a:r>
              <a:rPr lang="en-US" altLang="zh-CN" sz="2200" b="1" dirty="0">
                <a:latin typeface="+mn-lt"/>
              </a:rPr>
              <a:t>A</a:t>
            </a:r>
            <a:r>
              <a:rPr lang="zh-CN" altLang="zh-CN" sz="2200" b="1" dirty="0">
                <a:latin typeface="+mn-lt"/>
              </a:rPr>
              <a:t>的执行时间</a:t>
            </a:r>
            <a:r>
              <a:rPr lang="en-US" altLang="zh-CN" sz="2200" b="1" dirty="0">
                <a:latin typeface="+mn-lt"/>
              </a:rPr>
              <a:t>T0</a:t>
            </a:r>
            <a:r>
              <a:rPr lang="zh-CN" altLang="zh-CN" sz="2200" b="1" dirty="0">
                <a:latin typeface="+mn-lt"/>
              </a:rPr>
              <a:t>，及此期间系统的吞吐率</a:t>
            </a:r>
            <a:r>
              <a:rPr lang="en-US" altLang="zh-CN" sz="2200" b="1" dirty="0" err="1">
                <a:latin typeface="+mn-lt"/>
              </a:rPr>
              <a:t>Tp</a:t>
            </a:r>
            <a:r>
              <a:rPr lang="zh-CN" altLang="zh-CN" sz="2200" b="1" dirty="0" smtClean="0">
                <a:latin typeface="+mn-lt"/>
              </a:rPr>
              <a:t>。</a:t>
            </a:r>
            <a:endParaRPr lang="en-US" altLang="zh-CN" sz="2200" b="1" dirty="0" smtClean="0">
              <a:latin typeface="+mn-lt"/>
            </a:endParaRPr>
          </a:p>
          <a:p>
            <a:r>
              <a:rPr lang="en-US" altLang="zh-CN" sz="2200" b="1" dirty="0">
                <a:latin typeface="+mn-lt"/>
              </a:rPr>
              <a:t>2</a:t>
            </a:r>
            <a:r>
              <a:rPr lang="zh-CN" altLang="zh-CN" sz="2200" b="1" dirty="0">
                <a:latin typeface="+mn-lt"/>
              </a:rPr>
              <a:t>）</a:t>
            </a:r>
            <a:r>
              <a:rPr lang="en-US" altLang="zh-CN" sz="2200" b="1" dirty="0">
                <a:latin typeface="+mn-lt"/>
              </a:rPr>
              <a:t>CPU</a:t>
            </a:r>
            <a:r>
              <a:rPr lang="zh-CN" altLang="zh-CN" sz="2200" b="1" dirty="0">
                <a:latin typeface="+mn-lt"/>
              </a:rPr>
              <a:t>采用流水方式执行程序时，指令流水线以时钟周期为拍。若忽略流水线中各种相关</a:t>
            </a:r>
            <a:r>
              <a:rPr lang="en-US" altLang="zh-CN" sz="2200" b="1" dirty="0">
                <a:latin typeface="+mn-lt"/>
              </a:rPr>
              <a:t>(</a:t>
            </a:r>
            <a:r>
              <a:rPr lang="zh-CN" altLang="zh-CN" sz="2200" b="1" dirty="0">
                <a:latin typeface="+mn-lt"/>
              </a:rPr>
              <a:t>冒险</a:t>
            </a:r>
            <a:r>
              <a:rPr lang="en-US" altLang="zh-CN" sz="2200" b="1" dirty="0">
                <a:latin typeface="+mn-lt"/>
              </a:rPr>
              <a:t>)</a:t>
            </a:r>
            <a:r>
              <a:rPr lang="zh-CN" altLang="zh-CN" sz="2200" b="1" dirty="0">
                <a:latin typeface="+mn-lt"/>
              </a:rPr>
              <a:t>，计算程序</a:t>
            </a:r>
            <a:r>
              <a:rPr lang="en-US" altLang="zh-CN" sz="2200" b="1" dirty="0">
                <a:latin typeface="+mn-lt"/>
              </a:rPr>
              <a:t>A</a:t>
            </a:r>
            <a:r>
              <a:rPr lang="zh-CN" altLang="zh-CN" sz="2200" b="1" dirty="0">
                <a:latin typeface="+mn-lt"/>
              </a:rPr>
              <a:t>的执行时间</a:t>
            </a:r>
            <a:r>
              <a:rPr lang="en-US" altLang="zh-CN" sz="2200" b="1" dirty="0">
                <a:latin typeface="+mn-lt"/>
              </a:rPr>
              <a:t>T1</a:t>
            </a:r>
            <a:r>
              <a:rPr lang="zh-CN" altLang="zh-CN" sz="2200" b="1" dirty="0">
                <a:latin typeface="+mn-lt"/>
              </a:rPr>
              <a:t>。若</a:t>
            </a:r>
            <a:r>
              <a:rPr lang="en-US" altLang="zh-CN" sz="2200" b="1" dirty="0">
                <a:latin typeface="+mn-lt"/>
              </a:rPr>
              <a:t> RAW</a:t>
            </a:r>
            <a:r>
              <a:rPr lang="zh-CN" altLang="zh-CN" sz="2200" b="1" dirty="0">
                <a:latin typeface="+mn-lt"/>
              </a:rPr>
              <a:t>相关</a:t>
            </a:r>
            <a:r>
              <a:rPr lang="en-US" altLang="zh-CN" sz="2200" b="1" dirty="0">
                <a:latin typeface="+mn-lt"/>
              </a:rPr>
              <a:t>(</a:t>
            </a:r>
            <a:r>
              <a:rPr lang="zh-CN" altLang="zh-CN" sz="2200" b="1" dirty="0">
                <a:latin typeface="+mn-lt"/>
              </a:rPr>
              <a:t>冒险</a:t>
            </a:r>
            <a:r>
              <a:rPr lang="en-US" altLang="zh-CN" sz="2200" b="1" dirty="0">
                <a:latin typeface="+mn-lt"/>
              </a:rPr>
              <a:t>)</a:t>
            </a:r>
            <a:r>
              <a:rPr lang="zh-CN" altLang="zh-CN" sz="2200" b="1" dirty="0">
                <a:latin typeface="+mn-lt"/>
              </a:rPr>
              <a:t>仅采用后推法处理，则流水线最多会停顿多少拍？</a:t>
            </a:r>
            <a:r>
              <a:rPr lang="zh-CN" altLang="zh-CN" sz="2200" b="1" dirty="0" smtClean="0">
                <a:latin typeface="+mn-lt"/>
              </a:rPr>
              <a:t>举例说明</a:t>
            </a:r>
            <a:r>
              <a:rPr lang="zh-CN" altLang="en-US" sz="2200" b="1" dirty="0" smtClean="0">
                <a:latin typeface="+mn-lt"/>
              </a:rPr>
              <a:t>。</a:t>
            </a:r>
            <a:endParaRPr lang="en-US" altLang="zh-CN" sz="2200" b="1" dirty="0" smtClean="0">
              <a:latin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8942" y="3382039"/>
            <a:ext cx="7433457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>
                <a:solidFill>
                  <a:srgbClr val="0000CC"/>
                </a:solidFill>
              </a:rPr>
              <a:t>解：</a:t>
            </a:r>
            <a:endParaRPr lang="en-US" altLang="zh-CN" sz="2200" b="1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200" b="1" dirty="0"/>
              <a:t>1</a:t>
            </a:r>
            <a:r>
              <a:rPr lang="zh-CN" altLang="zh-CN" sz="2200" b="1" dirty="0"/>
              <a:t>）串行</a:t>
            </a:r>
            <a:r>
              <a:rPr lang="en-US" altLang="zh-CN" sz="2200" b="1" dirty="0"/>
              <a:t>T0</a:t>
            </a:r>
            <a:r>
              <a:rPr lang="zh-CN" altLang="zh-CN" sz="2200" b="1" dirty="0"/>
              <a:t>＝</a:t>
            </a:r>
            <a:r>
              <a:rPr lang="en-US" altLang="zh-CN" sz="2200" b="1" dirty="0"/>
              <a:t>2000*5*1/(100*10</a:t>
            </a:r>
            <a:r>
              <a:rPr lang="en-US" altLang="zh-CN" sz="2200" b="1" baseline="30000" dirty="0"/>
              <a:t>6</a:t>
            </a:r>
            <a:r>
              <a:rPr lang="en-US" altLang="zh-CN" sz="2200" b="1" dirty="0"/>
              <a:t>)</a:t>
            </a:r>
            <a:r>
              <a:rPr lang="zh-CN" altLang="zh-CN" sz="2200" b="1" dirty="0"/>
              <a:t>＝</a:t>
            </a:r>
            <a:r>
              <a:rPr lang="en-US" altLang="zh-CN" sz="2200" b="1" dirty="0"/>
              <a:t>100us</a:t>
            </a:r>
            <a:r>
              <a:rPr lang="zh-CN" altLang="zh-CN" sz="2200" b="1" dirty="0" smtClean="0"/>
              <a:t>，</a:t>
            </a:r>
            <a:endParaRPr lang="en-US" altLang="zh-CN" sz="2200" b="1" dirty="0" smtClean="0"/>
          </a:p>
          <a:p>
            <a:pPr>
              <a:lnSpc>
                <a:spcPct val="150000"/>
              </a:lnSpc>
            </a:pPr>
            <a:r>
              <a:rPr lang="en-US" altLang="zh-CN" sz="2200" b="1" dirty="0"/>
              <a:t> </a:t>
            </a:r>
            <a:r>
              <a:rPr lang="en-US" altLang="zh-CN" sz="2200" b="1" dirty="0" smtClean="0"/>
              <a:t>     </a:t>
            </a:r>
            <a:r>
              <a:rPr lang="en-US" altLang="zh-CN" sz="2200" b="1" dirty="0" err="1" smtClean="0"/>
              <a:t>Tp</a:t>
            </a:r>
            <a:r>
              <a:rPr lang="zh-CN" altLang="zh-CN" sz="2200" b="1" dirty="0"/>
              <a:t>＝</a:t>
            </a:r>
            <a:r>
              <a:rPr lang="en-US" altLang="zh-CN" sz="2200" b="1" dirty="0"/>
              <a:t>2000/100us</a:t>
            </a:r>
            <a:r>
              <a:rPr lang="zh-CN" altLang="zh-CN" sz="2200" b="1" dirty="0"/>
              <a:t>＝</a:t>
            </a:r>
            <a:r>
              <a:rPr lang="en-US" altLang="zh-CN" sz="2200" b="1" dirty="0"/>
              <a:t>20MIPS</a:t>
            </a:r>
            <a:r>
              <a:rPr lang="zh-CN" altLang="en-US" sz="2200" b="1" dirty="0"/>
              <a:t>；</a:t>
            </a:r>
            <a:r>
              <a:rPr lang="en-US" altLang="zh-CN" sz="2200" b="1" dirty="0"/>
              <a:t>             </a:t>
            </a:r>
          </a:p>
          <a:p>
            <a:pPr>
              <a:lnSpc>
                <a:spcPct val="150000"/>
              </a:lnSpc>
            </a:pPr>
            <a:r>
              <a:rPr lang="en-US" altLang="zh-CN" sz="2200" b="1" dirty="0"/>
              <a:t>2</a:t>
            </a:r>
            <a:r>
              <a:rPr lang="zh-CN" altLang="zh-CN" sz="2200" b="1" dirty="0"/>
              <a:t>）流水</a:t>
            </a:r>
            <a:r>
              <a:rPr lang="en-US" altLang="zh-CN" sz="2200" b="1" dirty="0"/>
              <a:t>T1</a:t>
            </a:r>
            <a:r>
              <a:rPr lang="zh-CN" altLang="zh-CN" sz="2200" b="1" dirty="0"/>
              <a:t>＝</a:t>
            </a:r>
            <a:r>
              <a:rPr lang="en-US" altLang="zh-CN" sz="2200" b="1" dirty="0"/>
              <a:t>[5+(2000-1)]*1/(100*10</a:t>
            </a:r>
            <a:r>
              <a:rPr lang="en-US" altLang="zh-CN" sz="2200" b="1" baseline="30000" dirty="0"/>
              <a:t>6</a:t>
            </a:r>
            <a:r>
              <a:rPr lang="en-US" altLang="zh-CN" sz="2200" b="1" dirty="0"/>
              <a:t>)</a:t>
            </a:r>
            <a:r>
              <a:rPr lang="zh-CN" altLang="zh-CN" sz="2200" b="1" dirty="0"/>
              <a:t>＝</a:t>
            </a:r>
            <a:r>
              <a:rPr lang="en-US" altLang="zh-CN" sz="2200" b="1" dirty="0"/>
              <a:t>20.04us</a:t>
            </a:r>
            <a:r>
              <a:rPr lang="zh-CN" altLang="zh-CN" sz="2200" b="1" dirty="0" smtClean="0"/>
              <a:t>，</a:t>
            </a:r>
            <a:endParaRPr lang="en-US" altLang="zh-CN" sz="2200" b="1" dirty="0" smtClean="0"/>
          </a:p>
          <a:p>
            <a:pPr>
              <a:lnSpc>
                <a:spcPct val="150000"/>
              </a:lnSpc>
            </a:pPr>
            <a:r>
              <a:rPr lang="en-US" altLang="zh-CN" sz="2200" b="1" dirty="0"/>
              <a:t> </a:t>
            </a:r>
            <a:r>
              <a:rPr lang="en-US" altLang="zh-CN" sz="2200" b="1" dirty="0" smtClean="0"/>
              <a:t>     </a:t>
            </a:r>
            <a:r>
              <a:rPr lang="zh-CN" altLang="zh-CN" sz="2200" b="1" dirty="0" smtClean="0"/>
              <a:t>最多</a:t>
            </a:r>
            <a:r>
              <a:rPr lang="zh-CN" altLang="zh-CN" sz="2200" b="1" dirty="0"/>
              <a:t>停顿</a:t>
            </a:r>
            <a:r>
              <a:rPr lang="en-US" altLang="zh-CN" sz="2200" b="1" dirty="0"/>
              <a:t>2</a:t>
            </a:r>
            <a:r>
              <a:rPr lang="zh-CN" altLang="zh-CN" sz="2200" b="1" dirty="0"/>
              <a:t>拍，相邻两条指令有</a:t>
            </a:r>
            <a:r>
              <a:rPr lang="en-US" altLang="zh-CN" sz="2200" b="1" dirty="0"/>
              <a:t>RAW</a:t>
            </a:r>
            <a:r>
              <a:rPr lang="zh-CN" altLang="zh-CN" sz="2200" b="1" dirty="0"/>
              <a:t>相关时</a:t>
            </a:r>
            <a:r>
              <a:rPr lang="zh-CN" altLang="zh-CN" sz="2200" b="1" dirty="0" smtClean="0"/>
              <a:t>。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7411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34</a:t>
            </a:fld>
            <a:endParaRPr lang="en-US" altLang="zh-CN" dirty="0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838200" y="332656"/>
            <a:ext cx="7467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宋体" pitchFamily="2" charset="-122"/>
              </a:rPr>
              <a:t>第</a:t>
            </a:r>
            <a:r>
              <a:rPr lang="en-US" altLang="zh-CN" sz="3200" b="1" dirty="0">
                <a:latin typeface="宋体" pitchFamily="2" charset="-122"/>
              </a:rPr>
              <a:t>6</a:t>
            </a:r>
            <a:r>
              <a:rPr lang="zh-CN" altLang="en-US" sz="3200" b="1" dirty="0">
                <a:latin typeface="宋体" pitchFamily="2" charset="-122"/>
              </a:rPr>
              <a:t>章 </a:t>
            </a:r>
            <a:r>
              <a:rPr lang="zh-CN" altLang="en-US" sz="3200" b="1" dirty="0"/>
              <a:t>总线及互连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79388" y="908720"/>
            <a:ext cx="8812212" cy="449353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+mn-ea"/>
                <a:ea typeface="+mn-ea"/>
              </a:rPr>
              <a:t>1.</a:t>
            </a:r>
            <a:r>
              <a:rPr lang="zh-CN" altLang="en-US" b="1" dirty="0" smtClean="0">
                <a:solidFill>
                  <a:srgbClr val="FF3399"/>
                </a:solidFill>
                <a:latin typeface="+mn-ea"/>
                <a:ea typeface="+mn-ea"/>
              </a:rPr>
              <a:t>基本概念               </a:t>
            </a:r>
            <a:r>
              <a:rPr lang="zh-CN" altLang="en-US" sz="2000" b="1" dirty="0" smtClean="0">
                <a:latin typeface="+mn-ea"/>
                <a:ea typeface="+mn-ea"/>
              </a:rPr>
              <a:t>☆掌握概念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</a:t>
            </a:r>
            <a:r>
              <a:rPr lang="zh-CN" altLang="en-US" b="1" dirty="0">
                <a:latin typeface="宋体" pitchFamily="2" charset="-122"/>
              </a:rPr>
              <a:t> 分类、特性</a:t>
            </a:r>
            <a:r>
              <a:rPr lang="en-US" altLang="zh-CN" sz="2000" b="1" dirty="0">
                <a:latin typeface="宋体" pitchFamily="2" charset="-122"/>
              </a:rPr>
              <a:t>(4</a:t>
            </a:r>
            <a:r>
              <a:rPr lang="zh-CN" altLang="en-US" sz="2000" b="1" dirty="0">
                <a:latin typeface="宋体" pitchFamily="2" charset="-122"/>
              </a:rPr>
              <a:t>点</a:t>
            </a:r>
            <a:r>
              <a:rPr lang="en-US" altLang="zh-CN" sz="2000" b="1" dirty="0">
                <a:latin typeface="宋体" pitchFamily="2" charset="-122"/>
              </a:rPr>
              <a:t>)</a:t>
            </a:r>
            <a:r>
              <a:rPr lang="zh-CN" altLang="en-US" b="1" dirty="0">
                <a:latin typeface="宋体" pitchFamily="2" charset="-122"/>
              </a:rPr>
              <a:t>、</a:t>
            </a:r>
            <a:r>
              <a:rPr lang="zh-CN" altLang="en-US" b="1" dirty="0">
                <a:solidFill>
                  <a:srgbClr val="990099"/>
                </a:solidFill>
                <a:latin typeface="宋体" pitchFamily="2" charset="-122"/>
              </a:rPr>
              <a:t>性能指标</a:t>
            </a:r>
            <a:r>
              <a:rPr lang="zh-CN" altLang="en-US" b="1" dirty="0">
                <a:latin typeface="宋体" pitchFamily="2" charset="-122"/>
              </a:rPr>
              <a:t>，操作过程 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步骤及操作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itchFamily="2" charset="-122"/>
              </a:rPr>
              <a:t>-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4</a:t>
            </a:r>
            <a:r>
              <a:rPr lang="zh-CN" altLang="en-US" sz="2000" b="1" dirty="0">
                <a:solidFill>
                  <a:srgbClr val="FF0000"/>
                </a:solidFill>
              </a:rPr>
              <a:t>个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阶段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en-US" altLang="zh-CN" b="1" dirty="0" smtClean="0">
                <a:latin typeface="宋体" pitchFamily="2" charset="-122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总线仲裁               </a:t>
            </a:r>
            <a:r>
              <a:rPr lang="zh-CN" altLang="en-US" sz="2000" b="1" dirty="0" smtClean="0">
                <a:latin typeface="+mn-ea"/>
              </a:rPr>
              <a:t>◇</a:t>
            </a:r>
            <a:r>
              <a:rPr lang="zh-CN" altLang="en-US" sz="2000" b="1" dirty="0">
                <a:latin typeface="+mn-ea"/>
              </a:rPr>
              <a:t>理解</a:t>
            </a:r>
            <a:r>
              <a:rPr lang="zh-CN" altLang="en-US" sz="2000" b="1" dirty="0" smtClean="0">
                <a:latin typeface="+mn-ea"/>
              </a:rPr>
              <a:t>原理       </a:t>
            </a:r>
            <a:r>
              <a:rPr lang="en-US" altLang="zh-CN" sz="2000" b="1" dirty="0" smtClean="0">
                <a:latin typeface="+mn-ea"/>
              </a:rPr>
              <a:t>(</a:t>
            </a:r>
            <a:r>
              <a:rPr lang="zh-CN" altLang="en-US" sz="2000" b="1" dirty="0" smtClean="0">
                <a:latin typeface="+mn-ea"/>
              </a:rPr>
              <a:t>第</a:t>
            </a:r>
            <a:r>
              <a:rPr lang="en-US" altLang="zh-CN" sz="2000" b="1" dirty="0" smtClean="0">
                <a:latin typeface="+mn-ea"/>
              </a:rPr>
              <a:t>1</a:t>
            </a:r>
            <a:r>
              <a:rPr lang="zh-CN" altLang="en-US" sz="2000" b="1" dirty="0" smtClean="0">
                <a:latin typeface="+mn-ea"/>
              </a:rPr>
              <a:t>步的组织</a:t>
            </a:r>
            <a:r>
              <a:rPr lang="en-US" altLang="zh-CN" sz="2000" b="1" dirty="0" smtClean="0">
                <a:latin typeface="+mn-ea"/>
              </a:rPr>
              <a:t>)</a:t>
            </a: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3.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总线定时               </a:t>
            </a:r>
            <a:r>
              <a:rPr lang="zh-CN" altLang="en-US" sz="2000" b="1" dirty="0" smtClean="0">
                <a:latin typeface="+mn-ea"/>
              </a:rPr>
              <a:t>◇</a:t>
            </a:r>
            <a:r>
              <a:rPr lang="zh-CN" altLang="en-US" sz="2000" b="1" dirty="0">
                <a:latin typeface="+mn-ea"/>
              </a:rPr>
              <a:t>理解</a:t>
            </a:r>
            <a:r>
              <a:rPr lang="zh-CN" altLang="en-US" sz="2000" b="1" dirty="0" smtClean="0">
                <a:latin typeface="+mn-ea"/>
              </a:rPr>
              <a:t>原理       </a:t>
            </a:r>
            <a:r>
              <a:rPr lang="en-US" altLang="zh-CN" sz="2000" b="1" dirty="0" smtClean="0">
                <a:latin typeface="+mn-ea"/>
              </a:rPr>
              <a:t>(</a:t>
            </a:r>
            <a:r>
              <a:rPr lang="zh-CN" altLang="en-US" sz="2000" b="1" dirty="0" smtClean="0">
                <a:latin typeface="+mn-ea"/>
              </a:rPr>
              <a:t>每步时长</a:t>
            </a:r>
            <a:r>
              <a:rPr lang="zh-CN" altLang="en-US" sz="2000" b="1" dirty="0">
                <a:latin typeface="+mn-ea"/>
              </a:rPr>
              <a:t>的</a:t>
            </a:r>
            <a:r>
              <a:rPr lang="zh-CN" altLang="en-US" sz="2000" b="1" dirty="0" smtClean="0">
                <a:latin typeface="+mn-ea"/>
              </a:rPr>
              <a:t>组织</a:t>
            </a:r>
            <a:r>
              <a:rPr lang="en-US" altLang="zh-CN" sz="2000" b="1" dirty="0">
                <a:latin typeface="+mn-ea"/>
              </a:rPr>
              <a:t>)</a:t>
            </a: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4.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总线传输               </a:t>
            </a:r>
            <a:r>
              <a:rPr lang="zh-CN" altLang="en-US" sz="2000" b="1" dirty="0" smtClean="0">
                <a:latin typeface="宋体" pitchFamily="2" charset="-122"/>
              </a:rPr>
              <a:t>△了解           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后</a:t>
            </a:r>
            <a:r>
              <a:rPr lang="en-US" altLang="zh-CN" sz="2000" b="1" dirty="0" smtClean="0">
                <a:latin typeface="宋体" pitchFamily="2" charset="-122"/>
              </a:rPr>
              <a:t>3</a:t>
            </a:r>
            <a:r>
              <a:rPr lang="zh-CN" altLang="en-US" sz="2000" b="1" dirty="0" smtClean="0">
                <a:latin typeface="宋体" pitchFamily="2" charset="-122"/>
              </a:rPr>
              <a:t>步的组织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endParaRPr lang="en-US" altLang="zh-CN" sz="2000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05000"/>
              </a:lnSpc>
            </a:pPr>
            <a:endParaRPr lang="en-US" altLang="zh-CN" sz="2000" b="1" dirty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5.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总线结构               </a:t>
            </a:r>
            <a:r>
              <a:rPr lang="zh-CN" altLang="en-US" sz="2000" b="1" dirty="0" smtClean="0">
                <a:latin typeface="宋体" pitchFamily="2" charset="-122"/>
              </a:rPr>
              <a:t>△了解</a:t>
            </a:r>
            <a:r>
              <a:rPr lang="zh-CN" altLang="en-US" sz="2000" b="1" dirty="0">
                <a:latin typeface="宋体" pitchFamily="2" charset="-122"/>
              </a:rPr>
              <a:t>提高</a:t>
            </a:r>
            <a:r>
              <a:rPr lang="zh-CN" altLang="en-US" sz="2000" b="1" dirty="0" smtClean="0">
                <a:latin typeface="宋体" pitchFamily="2" charset="-122"/>
              </a:rPr>
              <a:t>性能的方法</a:t>
            </a:r>
            <a:endParaRPr lang="en-US" altLang="zh-CN" sz="2000" b="1" dirty="0" smtClean="0">
              <a:latin typeface="宋体" pitchFamily="2" charset="-122"/>
            </a:endParaRPr>
          </a:p>
        </p:txBody>
      </p:sp>
      <p:sp>
        <p:nvSpPr>
          <p:cNvPr id="6" name="Text Box 132"/>
          <p:cNvSpPr txBox="1">
            <a:spLocks noChangeArrowheads="1"/>
          </p:cNvSpPr>
          <p:nvPr/>
        </p:nvSpPr>
        <p:spPr bwMode="auto">
          <a:xfrm>
            <a:off x="4572000" y="1412776"/>
            <a:ext cx="1368152" cy="461665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79512" y="2276872"/>
            <a:ext cx="8812212" cy="490519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solidFill>
                  <a:srgbClr val="FF0000"/>
                </a:solidFill>
                <a:latin typeface="宋体" pitchFamily="2" charset="-122"/>
              </a:rPr>
              <a:t>集中式仲裁</a:t>
            </a:r>
            <a:r>
              <a:rPr lang="en-US" altLang="zh-CN" b="1" dirty="0" smtClean="0">
                <a:solidFill>
                  <a:srgbClr val="FF0000"/>
                </a:solidFill>
                <a:latin typeface="宋体" pitchFamily="2" charset="-122"/>
              </a:rPr>
              <a:t>(3</a:t>
            </a:r>
            <a:r>
              <a:rPr lang="zh-CN" altLang="en-US" b="1" dirty="0" smtClean="0">
                <a:solidFill>
                  <a:srgbClr val="FF0000"/>
                </a:solidFill>
                <a:latin typeface="宋体" pitchFamily="2" charset="-122"/>
              </a:rPr>
              <a:t>种</a:t>
            </a:r>
            <a:r>
              <a:rPr lang="en-US" altLang="zh-CN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的仲裁线连接、仲裁时机、仲裁方法、</a:t>
            </a:r>
            <a:r>
              <a:rPr lang="zh-CN" altLang="en-US" b="1" dirty="0" smtClean="0">
                <a:solidFill>
                  <a:srgbClr val="FF0000"/>
                </a:solidFill>
                <a:latin typeface="宋体" pitchFamily="2" charset="-122"/>
              </a:rPr>
              <a:t>特点</a:t>
            </a:r>
            <a:endParaRPr lang="en-US" altLang="zh-CN" b="1" dirty="0" smtClean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79512" y="3163034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</a:t>
            </a:r>
            <a:r>
              <a:rPr lang="en-US" altLang="zh-CN" b="1" dirty="0" smtClean="0">
                <a:latin typeface="宋体" pitchFamily="2" charset="-122"/>
              </a:rPr>
              <a:t>3</a:t>
            </a:r>
            <a:r>
              <a:rPr lang="zh-CN" altLang="en-US" b="1" dirty="0" smtClean="0">
                <a:latin typeface="宋体" pitchFamily="2" charset="-122"/>
              </a:rPr>
              <a:t>种定时方式</a:t>
            </a:r>
            <a:r>
              <a:rPr lang="zh-CN" altLang="en-US" sz="1600" b="1" dirty="0" smtClean="0">
                <a:latin typeface="宋体" pitchFamily="2" charset="-122"/>
              </a:rPr>
              <a:t>（同步、异步、半同步）</a:t>
            </a:r>
            <a:r>
              <a:rPr lang="zh-CN" altLang="en-US" b="1" dirty="0" smtClean="0">
                <a:latin typeface="宋体" pitchFamily="2" charset="-122"/>
              </a:rPr>
              <a:t>的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定时原理</a:t>
            </a:r>
            <a:r>
              <a:rPr lang="zh-CN" altLang="en-US" b="1" dirty="0" smtClean="0">
                <a:latin typeface="宋体" pitchFamily="2" charset="-122"/>
              </a:rPr>
              <a:t>、联络方式、特点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79512" y="4099138"/>
            <a:ext cx="8812212" cy="8771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0000"/>
                </a:solidFill>
                <a:latin typeface="宋体" pitchFamily="2" charset="-122"/>
              </a:rPr>
              <a:t>总线</a:t>
            </a:r>
            <a:r>
              <a:rPr lang="zh-CN" altLang="en-US" b="1" dirty="0" smtClean="0">
                <a:solidFill>
                  <a:srgbClr val="FF0000"/>
                </a:solidFill>
                <a:latin typeface="宋体" pitchFamily="2" charset="-122"/>
              </a:rPr>
              <a:t>事务</a:t>
            </a:r>
            <a:r>
              <a:rPr lang="zh-CN" altLang="en-US" b="1" dirty="0" smtClean="0">
                <a:latin typeface="宋体" pitchFamily="2" charset="-122"/>
              </a:rPr>
              <a:t>、传输需求、所支持模式的表示与实现，总线标准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05000"/>
              </a:lnSpc>
            </a:pPr>
            <a:r>
              <a:rPr lang="en-US" altLang="zh-CN" sz="2000" b="1" dirty="0" smtClean="0">
                <a:latin typeface="宋体" pitchFamily="2" charset="-122"/>
              </a:rPr>
              <a:t>                         (</a:t>
            </a:r>
            <a:r>
              <a:rPr lang="zh-CN" altLang="en-US" sz="2000" b="1" dirty="0">
                <a:latin typeface="宋体" pitchFamily="2" charset="-122"/>
              </a:rPr>
              <a:t>不同</a:t>
            </a:r>
            <a:r>
              <a:rPr lang="zh-CN" altLang="en-US" sz="2000" b="1" dirty="0" smtClean="0">
                <a:latin typeface="宋体" pitchFamily="2" charset="-122"/>
              </a:rPr>
              <a:t>事务</a:t>
            </a:r>
            <a:r>
              <a:rPr lang="en-US" altLang="zh-CN" sz="2000" b="1" dirty="0" smtClean="0">
                <a:latin typeface="宋体" pitchFamily="2" charset="-122"/>
              </a:rPr>
              <a:t>) </a:t>
            </a:r>
            <a:r>
              <a:rPr lang="en-US" altLang="zh-CN" sz="2000" b="1" dirty="0">
                <a:latin typeface="宋体" pitchFamily="2" charset="-122"/>
              </a:rPr>
              <a:t>(</a:t>
            </a:r>
            <a:r>
              <a:rPr lang="zh-CN" altLang="en-US" sz="2000" b="1" dirty="0">
                <a:latin typeface="宋体" pitchFamily="2" charset="-122"/>
              </a:rPr>
              <a:t>不同协议</a:t>
            </a:r>
            <a:r>
              <a:rPr lang="en-US" altLang="zh-CN" sz="2000" b="1" dirty="0" smtClean="0">
                <a:latin typeface="宋体" pitchFamily="2" charset="-122"/>
              </a:rPr>
              <a:t>) </a:t>
            </a:r>
          </a:p>
        </p:txBody>
      </p:sp>
      <p:cxnSp>
        <p:nvCxnSpPr>
          <p:cNvPr id="12" name="直接箭头连接符 11"/>
          <p:cNvCxnSpPr/>
          <p:nvPr/>
        </p:nvCxnSpPr>
        <p:spPr bwMode="auto">
          <a:xfrm>
            <a:off x="2051720" y="1844824"/>
            <a:ext cx="6048672" cy="2376264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/>
          </a:ln>
          <a:effectLst/>
        </p:spPr>
      </p:cxnSp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179512" y="5251266"/>
            <a:ext cx="8812212" cy="55399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总线结构</a:t>
            </a:r>
            <a:r>
              <a:rPr lang="en-US" altLang="zh-CN" b="1" dirty="0" smtClean="0">
                <a:latin typeface="宋体" pitchFamily="2" charset="-122"/>
              </a:rPr>
              <a:t>(3</a:t>
            </a:r>
            <a:r>
              <a:rPr lang="zh-CN" altLang="en-US" b="1" dirty="0" smtClean="0">
                <a:latin typeface="宋体" pitchFamily="2" charset="-122"/>
              </a:rPr>
              <a:t>类</a:t>
            </a:r>
            <a:r>
              <a:rPr lang="en-US" altLang="zh-CN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的类型、特点，总线接口单元的类型、功能</a:t>
            </a:r>
            <a:endParaRPr lang="en-US" altLang="zh-CN" b="1" dirty="0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706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4" name="Text Box 6"/>
          <p:cNvSpPr txBox="1">
            <a:spLocks noChangeArrowheads="1"/>
          </p:cNvSpPr>
          <p:nvPr/>
        </p:nvSpPr>
        <p:spPr bwMode="auto">
          <a:xfrm>
            <a:off x="742950" y="1224920"/>
            <a:ext cx="6134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FF3399"/>
                </a:solidFill>
                <a:latin typeface="+mn-ea"/>
                <a:ea typeface="+mn-ea"/>
              </a:rPr>
              <a:t>6</a:t>
            </a:r>
            <a:r>
              <a:rPr lang="zh-CN" altLang="en-US" sz="2400" b="1" dirty="0" smtClean="0">
                <a:solidFill>
                  <a:srgbClr val="FF3399"/>
                </a:solidFill>
                <a:latin typeface="+mn-ea"/>
                <a:ea typeface="+mn-ea"/>
              </a:rPr>
              <a:t>、</a:t>
            </a:r>
            <a:r>
              <a:rPr lang="zh-CN" altLang="en-US" sz="2400" b="1" dirty="0">
                <a:solidFill>
                  <a:srgbClr val="FF3399"/>
                </a:solidFill>
                <a:latin typeface="+mn-ea"/>
                <a:ea typeface="+mn-ea"/>
              </a:rPr>
              <a:t>影响总线带宽的因素</a:t>
            </a:r>
          </a:p>
        </p:txBody>
      </p:sp>
      <p:sp>
        <p:nvSpPr>
          <p:cNvPr id="196615" name="Text Box 7"/>
          <p:cNvSpPr txBox="1">
            <a:spLocks noChangeArrowheads="1"/>
          </p:cNvSpPr>
          <p:nvPr/>
        </p:nvSpPr>
        <p:spPr bwMode="auto">
          <a:xfrm>
            <a:off x="1043609" y="1864915"/>
            <a:ext cx="5833442" cy="1348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+mn-ea"/>
                <a:ea typeface="+mn-ea"/>
              </a:rPr>
              <a:t>(1) </a:t>
            </a:r>
            <a:r>
              <a:rPr lang="zh-CN" altLang="en-US" sz="2400" b="1" dirty="0">
                <a:latin typeface="+mn-ea"/>
                <a:ea typeface="+mn-ea"/>
              </a:rPr>
              <a:t>数据总线宽度；</a:t>
            </a:r>
            <a:endParaRPr lang="zh-CN" altLang="en-US" sz="2400" b="1" dirty="0">
              <a:solidFill>
                <a:srgbClr val="008080"/>
              </a:solidFill>
              <a:latin typeface="+mn-ea"/>
              <a:ea typeface="+mn-ea"/>
            </a:endParaRPr>
          </a:p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+mn-ea"/>
                <a:ea typeface="+mn-ea"/>
              </a:rPr>
              <a:t>(2) </a:t>
            </a:r>
            <a:r>
              <a:rPr lang="zh-CN" altLang="en-US" sz="2400" b="1" dirty="0">
                <a:latin typeface="+mn-ea"/>
                <a:ea typeface="+mn-ea"/>
              </a:rPr>
              <a:t>信号线是专用还是分时复用；</a:t>
            </a:r>
          </a:p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+mn-ea"/>
                <a:ea typeface="+mn-ea"/>
              </a:rPr>
              <a:t>(3) </a:t>
            </a:r>
            <a:r>
              <a:rPr lang="zh-CN" altLang="en-US" sz="2400" b="1" dirty="0">
                <a:latin typeface="+mn-ea"/>
                <a:ea typeface="+mn-ea"/>
              </a:rPr>
              <a:t>是否允许大数据块传送。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814388" y="3493457"/>
            <a:ext cx="6134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pitchFamily="2" charset="-122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 smtClean="0">
                <a:solidFill>
                  <a:srgbClr val="FF3399"/>
                </a:solidFill>
                <a:latin typeface="+mn-ea"/>
                <a:ea typeface="+mn-ea"/>
              </a:rPr>
              <a:t>7</a:t>
            </a:r>
            <a:r>
              <a:rPr lang="zh-CN" altLang="en-US" sz="2400" b="1" dirty="0" smtClean="0">
                <a:solidFill>
                  <a:srgbClr val="FF3399"/>
                </a:solidFill>
                <a:latin typeface="+mn-ea"/>
                <a:ea typeface="+mn-ea"/>
              </a:rPr>
              <a:t>、</a:t>
            </a:r>
            <a:r>
              <a:rPr lang="zh-CN" altLang="en-US" sz="2400" b="1" u="sng" dirty="0">
                <a:solidFill>
                  <a:srgbClr val="FF0000"/>
                </a:solidFill>
                <a:latin typeface="+mn-ea"/>
                <a:ea typeface="+mn-ea"/>
              </a:rPr>
              <a:t>总线带宽计算</a:t>
            </a:r>
          </a:p>
        </p:txBody>
      </p:sp>
      <p:sp>
        <p:nvSpPr>
          <p:cNvPr id="7" name="Text Box 43"/>
          <p:cNvSpPr txBox="1">
            <a:spLocks noChangeArrowheads="1"/>
          </p:cNvSpPr>
          <p:nvPr/>
        </p:nvSpPr>
        <p:spPr bwMode="auto">
          <a:xfrm>
            <a:off x="742950" y="4149080"/>
            <a:ext cx="740768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*本章总体要求：</a:t>
            </a:r>
            <a:r>
              <a:rPr lang="zh-CN" altLang="en-US" b="1" dirty="0" smtClean="0">
                <a:latin typeface="宋体" pitchFamily="2" charset="-122"/>
              </a:rPr>
              <a:t>掌握基本概念，理解总线操作过程的组织方法</a:t>
            </a:r>
            <a:endParaRPr lang="en-US" altLang="zh-CN" sz="2000" b="1" dirty="0" smtClean="0">
              <a:latin typeface="宋体" pitchFamily="2" charset="-122"/>
            </a:endParaRPr>
          </a:p>
        </p:txBody>
      </p:sp>
      <p:sp>
        <p:nvSpPr>
          <p:cNvPr id="8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244408" y="6525344"/>
            <a:ext cx="899592" cy="288032"/>
          </a:xfrm>
        </p:spPr>
        <p:txBody>
          <a:bodyPr/>
          <a:lstStyle/>
          <a:p>
            <a:pPr algn="ctr">
              <a:defRPr/>
            </a:pPr>
            <a:fld id="{5C4C1B93-8483-479B-9518-A9279CF2AAB5}" type="slidenum">
              <a:rPr lang="en-US" altLang="zh-CN" sz="1600" smtClean="0"/>
              <a:pPr algn="ctr">
                <a:defRPr/>
              </a:pPr>
              <a:t>35</a:t>
            </a:fld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825699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6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5" grpId="0"/>
      <p:bldP spid="2" grpId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32"/>
          <p:cNvSpPr txBox="1">
            <a:spLocks noChangeArrowheads="1"/>
          </p:cNvSpPr>
          <p:nvPr/>
        </p:nvSpPr>
        <p:spPr bwMode="auto">
          <a:xfrm>
            <a:off x="179512" y="2852936"/>
            <a:ext cx="8785225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 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36</a:t>
            </a:fld>
            <a:endParaRPr lang="en-US" altLang="zh-CN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838200" y="332656"/>
            <a:ext cx="7467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 smtClean="0">
                <a:latin typeface="宋体" pitchFamily="2" charset="-122"/>
              </a:rPr>
              <a:t>第</a:t>
            </a:r>
            <a:r>
              <a:rPr lang="en-US" altLang="zh-CN" sz="3200" b="1" dirty="0" smtClean="0">
                <a:latin typeface="宋体" pitchFamily="2" charset="-122"/>
              </a:rPr>
              <a:t>7</a:t>
            </a:r>
            <a:r>
              <a:rPr lang="zh-CN" altLang="en-US" sz="3200" b="1" dirty="0" smtClean="0">
                <a:latin typeface="宋体" pitchFamily="2" charset="-122"/>
              </a:rPr>
              <a:t>章 输入输出系统</a:t>
            </a:r>
            <a:endParaRPr lang="zh-CN" altLang="en-US" sz="3200" b="1" dirty="0"/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179512" y="908720"/>
            <a:ext cx="8812088" cy="515526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itchFamily="2" charset="-122"/>
              </a:rPr>
              <a:t>  主要内容：</a:t>
            </a:r>
            <a:r>
              <a:rPr lang="en-US" altLang="zh-CN" sz="2200" b="1" dirty="0" smtClean="0">
                <a:latin typeface="宋体" pitchFamily="2" charset="-122"/>
              </a:rPr>
              <a:t>I/O</a:t>
            </a:r>
            <a:r>
              <a:rPr lang="zh-CN" altLang="en-US" sz="2200" b="1" dirty="0" smtClean="0">
                <a:latin typeface="宋体" pitchFamily="2" charset="-122"/>
              </a:rPr>
              <a:t>系统组成，外设组成，接口组成，传送控制方式组织</a:t>
            </a:r>
            <a:endParaRPr lang="zh-CN" altLang="en-US" sz="2200" b="1" dirty="0">
              <a:latin typeface="宋体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388" y="1412776"/>
            <a:ext cx="8812212" cy="3360920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I/O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系统组成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1.I/O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系统组成            </a:t>
            </a:r>
            <a:r>
              <a:rPr lang="zh-CN" altLang="en-US" sz="2000" b="1" dirty="0" smtClean="0">
                <a:latin typeface="宋体" pitchFamily="2" charset="-122"/>
              </a:rPr>
              <a:t>△了解软</a:t>
            </a:r>
            <a:r>
              <a:rPr lang="en-US" altLang="zh-CN" sz="2000" b="1" dirty="0" smtClean="0">
                <a:latin typeface="宋体" pitchFamily="2" charset="-122"/>
              </a:rPr>
              <a:t>/</a:t>
            </a:r>
            <a:r>
              <a:rPr lang="zh-CN" altLang="en-US" sz="2000" b="1" dirty="0" smtClean="0">
                <a:latin typeface="宋体" pitchFamily="2" charset="-122"/>
              </a:rPr>
              <a:t>硬件关系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I/O</a:t>
            </a:r>
            <a:r>
              <a:rPr lang="zh-CN" altLang="en-US" b="1" dirty="0" smtClean="0">
                <a:latin typeface="宋体" pitchFamily="2" charset="-122"/>
              </a:rPr>
              <a:t>的性能，硬件组成，软件组成</a:t>
            </a:r>
            <a:r>
              <a:rPr lang="en-US" altLang="zh-CN" sz="2000" b="1" dirty="0" smtClean="0">
                <a:latin typeface="宋体" pitchFamily="2" charset="-122"/>
              </a:rPr>
              <a:t>(I/O</a:t>
            </a:r>
            <a:r>
              <a:rPr lang="zh-CN" altLang="en-US" sz="2000" b="1" dirty="0" smtClean="0">
                <a:latin typeface="宋体" pitchFamily="2" charset="-122"/>
              </a:rPr>
              <a:t>指令格式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endParaRPr lang="en-US" altLang="zh-CN" sz="2000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2.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外设与主机的联系       </a:t>
            </a:r>
            <a:r>
              <a:rPr lang="zh-CN" altLang="en-US" sz="2000" b="1" dirty="0">
                <a:latin typeface="宋体" pitchFamily="2" charset="-122"/>
              </a:rPr>
              <a:t>☆</a:t>
            </a:r>
            <a:r>
              <a:rPr lang="zh-CN" altLang="en-US" sz="2000" b="1" dirty="0" smtClean="0">
                <a:latin typeface="宋体" pitchFamily="2" charset="-122"/>
              </a:rPr>
              <a:t>掌握传送实现的基本条件及组织方法</a:t>
            </a:r>
            <a:endParaRPr lang="en-US" altLang="zh-CN" sz="2000" b="1" dirty="0" smtClean="0">
              <a:latin typeface="宋体" pitchFamily="2" charset="-122"/>
            </a:endParaRPr>
          </a:p>
          <a:p>
            <a:pPr>
              <a:lnSpc>
                <a:spcPct val="135000"/>
              </a:lnSpc>
            </a:pPr>
            <a:r>
              <a:rPr lang="en-US" altLang="zh-CN" b="1" dirty="0" smtClean="0">
                <a:latin typeface="宋体" pitchFamily="2" charset="-122"/>
              </a:rPr>
              <a:t> </a:t>
            </a:r>
            <a:endParaRPr lang="en-US" altLang="zh-CN" b="1" dirty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itchFamily="2" charset="-122"/>
              </a:rPr>
              <a:t>3.I/O</a:t>
            </a:r>
            <a:r>
              <a:rPr lang="zh-CN" altLang="en-US" b="1" dirty="0" smtClean="0">
                <a:solidFill>
                  <a:srgbClr val="FF3399"/>
                </a:solidFill>
                <a:latin typeface="宋体" pitchFamily="2" charset="-122"/>
              </a:rPr>
              <a:t>的传送控制方式</a:t>
            </a:r>
            <a:endParaRPr lang="en-US" altLang="zh-CN" b="1" dirty="0" smtClean="0">
              <a:solidFill>
                <a:srgbClr val="FF3399"/>
              </a:solidFill>
              <a:latin typeface="宋体" pitchFamily="2" charset="-122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79512" y="5085184"/>
            <a:ext cx="8812212" cy="147732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二、外部设备             </a:t>
            </a:r>
            <a:r>
              <a:rPr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△</a:t>
            </a:r>
            <a:r>
              <a:rPr lang="zh-CN" altLang="en-US" sz="2000" b="1" dirty="0">
                <a:latin typeface="+mn-ea"/>
                <a:ea typeface="+mn-ea"/>
              </a:rPr>
              <a:t>掌握</a:t>
            </a:r>
            <a:r>
              <a:rPr lang="zh-CN" altLang="en-US" sz="2000" b="1" dirty="0" smtClean="0">
                <a:latin typeface="+mn-ea"/>
                <a:ea typeface="+mn-ea"/>
              </a:rPr>
              <a:t>概念、了解组成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latin typeface="宋体" pitchFamily="2" charset="-122"/>
              </a:rPr>
              <a:t>输入设备、输出设备的组成、工作原理，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磁盘的结构、工作原理，</a:t>
            </a:r>
            <a:r>
              <a:rPr lang="zh-CN" altLang="en-US" b="1" dirty="0" smtClean="0">
                <a:solidFill>
                  <a:srgbClr val="FF0000"/>
                </a:solidFill>
                <a:latin typeface="宋体" pitchFamily="2" charset="-122"/>
              </a:rPr>
              <a:t>辅存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性能指标</a:t>
            </a:r>
            <a:r>
              <a:rPr lang="zh-CN" altLang="en-US" b="1" dirty="0" smtClean="0">
                <a:latin typeface="宋体" pitchFamily="2" charset="-122"/>
              </a:rPr>
              <a:t>，磁盘信息记录格式</a:t>
            </a:r>
            <a:endParaRPr lang="en-US" altLang="zh-CN" b="1" dirty="0" smtClean="0">
              <a:latin typeface="宋体" pitchFamily="2" charset="-122"/>
            </a:endParaRPr>
          </a:p>
        </p:txBody>
      </p:sp>
      <p:sp>
        <p:nvSpPr>
          <p:cNvPr id="8" name="Text Box 352"/>
          <p:cNvSpPr txBox="1">
            <a:spLocks noChangeArrowheads="1"/>
          </p:cNvSpPr>
          <p:nvPr/>
        </p:nvSpPr>
        <p:spPr bwMode="auto">
          <a:xfrm>
            <a:off x="188944" y="3284984"/>
            <a:ext cx="8812212" cy="101566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连接方式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传送实现原理、总线地址含义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，编址方式，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识别方法，数据传送方式</a:t>
            </a:r>
            <a:r>
              <a:rPr lang="en-US" altLang="zh-CN" b="1" dirty="0" smtClean="0">
                <a:latin typeface="宋体" pitchFamily="2" charset="-122"/>
              </a:rPr>
              <a:t>(2</a:t>
            </a:r>
            <a:r>
              <a:rPr lang="zh-CN" altLang="en-US" b="1" dirty="0" smtClean="0">
                <a:latin typeface="宋体" pitchFamily="2" charset="-122"/>
              </a:rPr>
              <a:t>种</a:t>
            </a:r>
            <a:r>
              <a:rPr lang="en-US" altLang="zh-CN" b="1" dirty="0" smtClean="0">
                <a:latin typeface="宋体" pitchFamily="2" charset="-122"/>
              </a:rPr>
              <a:t>)</a:t>
            </a:r>
            <a:endParaRPr lang="zh-CN" altLang="en-US" b="1" dirty="0">
              <a:latin typeface="宋体" pitchFamily="2" charset="-122"/>
            </a:endParaRPr>
          </a:p>
        </p:txBody>
      </p:sp>
      <p:sp>
        <p:nvSpPr>
          <p:cNvPr id="10" name="Text Box 352"/>
          <p:cNvSpPr txBox="1">
            <a:spLocks noChangeArrowheads="1"/>
          </p:cNvSpPr>
          <p:nvPr/>
        </p:nvSpPr>
        <p:spPr bwMode="auto">
          <a:xfrm>
            <a:off x="179512" y="4653136"/>
            <a:ext cx="8812212" cy="553998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目标</a:t>
            </a:r>
            <a:r>
              <a:rPr lang="zh-CN" altLang="en-US" b="1" dirty="0">
                <a:latin typeface="宋体" pitchFamily="2" charset="-122"/>
              </a:rPr>
              <a:t>，</a:t>
            </a:r>
            <a:r>
              <a:rPr lang="en-US" altLang="zh-CN" b="1" dirty="0">
                <a:solidFill>
                  <a:srgbClr val="990099"/>
                </a:solidFill>
                <a:latin typeface="宋体" pitchFamily="2" charset="-122"/>
              </a:rPr>
              <a:t>4</a:t>
            </a:r>
            <a:r>
              <a:rPr lang="zh-CN" altLang="en-US" b="1" dirty="0">
                <a:solidFill>
                  <a:srgbClr val="990099"/>
                </a:solidFill>
                <a:latin typeface="宋体" pitchFamily="2" charset="-122"/>
              </a:rPr>
              <a:t>种</a:t>
            </a:r>
            <a:r>
              <a:rPr lang="zh-CN" altLang="en-US" b="1" dirty="0">
                <a:latin typeface="宋体" pitchFamily="2" charset="-122"/>
              </a:rPr>
              <a:t>方式的传送控制原理、</a:t>
            </a:r>
            <a:r>
              <a:rPr lang="en-US" altLang="zh-CN" b="1" dirty="0">
                <a:solidFill>
                  <a:srgbClr val="990099"/>
                </a:solidFill>
                <a:latin typeface="宋体" pitchFamily="2" charset="-122"/>
              </a:rPr>
              <a:t>I/O</a:t>
            </a:r>
            <a:r>
              <a:rPr lang="zh-CN" altLang="en-US" b="1" dirty="0">
                <a:solidFill>
                  <a:srgbClr val="990099"/>
                </a:solidFill>
                <a:latin typeface="宋体" pitchFamily="2" charset="-122"/>
              </a:rPr>
              <a:t>所占</a:t>
            </a:r>
            <a:r>
              <a:rPr lang="en-US" altLang="zh-CN" b="1" dirty="0">
                <a:solidFill>
                  <a:srgbClr val="990099"/>
                </a:solidFill>
                <a:latin typeface="宋体" pitchFamily="2" charset="-122"/>
              </a:rPr>
              <a:t>CPU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时间计算*</a:t>
            </a:r>
            <a:endParaRPr lang="zh-CN" altLang="en-US" b="1" dirty="0">
              <a:solidFill>
                <a:srgbClr val="990099"/>
              </a:solidFill>
              <a:latin typeface="宋体" pitchFamily="2" charset="-122"/>
            </a:endParaRPr>
          </a:p>
        </p:txBody>
      </p:sp>
      <p:sp>
        <p:nvSpPr>
          <p:cNvPr id="12" name="Text Box 132"/>
          <p:cNvSpPr txBox="1">
            <a:spLocks noChangeArrowheads="1"/>
          </p:cNvSpPr>
          <p:nvPr/>
        </p:nvSpPr>
        <p:spPr bwMode="auto">
          <a:xfrm>
            <a:off x="1619672" y="4699302"/>
            <a:ext cx="3312368" cy="461665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altLang="zh-CN" b="1" dirty="0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763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/>
      <p:bldP spid="7" grpId="0"/>
      <p:bldP spid="8" grpId="0"/>
      <p:bldP spid="10" grpId="0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37</a:t>
            </a:fld>
            <a:endParaRPr lang="en-US" altLang="zh-CN" dirty="0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79388" y="332656"/>
            <a:ext cx="8713092" cy="1015663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</a:t>
            </a:r>
            <a:r>
              <a:rPr lang="en-US" altLang="zh-CN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I/O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接口              </a:t>
            </a:r>
            <a:r>
              <a:rPr lang="zh-CN" altLang="en-US" sz="2000" b="1" dirty="0" smtClean="0">
                <a:latin typeface="宋体" pitchFamily="2" charset="-122"/>
              </a:rPr>
              <a:t>△</a:t>
            </a:r>
            <a:r>
              <a:rPr lang="zh-CN" altLang="en-US" sz="2000" b="1" dirty="0">
                <a:latin typeface="宋体" pitchFamily="2" charset="-122"/>
              </a:rPr>
              <a:t>了解概念</a:t>
            </a:r>
            <a:endParaRPr lang="en-US" altLang="zh-CN" sz="2000" b="1" dirty="0" smtClean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功能、</a:t>
            </a:r>
            <a:r>
              <a:rPr lang="en-US" altLang="zh-CN" b="1" dirty="0" smtClean="0">
                <a:latin typeface="宋体" pitchFamily="2" charset="-122"/>
              </a:rPr>
              <a:t>I/O</a:t>
            </a:r>
            <a:r>
              <a:rPr lang="zh-CN" altLang="en-US" b="1" dirty="0" smtClean="0">
                <a:latin typeface="宋体" pitchFamily="2" charset="-122"/>
              </a:rPr>
              <a:t>端口类型，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组成</a:t>
            </a:r>
            <a:r>
              <a:rPr lang="zh-CN" altLang="en-US" b="1" dirty="0" smtClean="0">
                <a:latin typeface="宋体" pitchFamily="2" charset="-122"/>
              </a:rPr>
              <a:t>、信息中转原理，</a:t>
            </a: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I/O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端口</a:t>
            </a:r>
            <a:r>
              <a:rPr lang="zh-CN" altLang="en-US" b="1" dirty="0" smtClean="0">
                <a:latin typeface="宋体" pitchFamily="2" charset="-122"/>
              </a:rPr>
              <a:t>的访问</a:t>
            </a:r>
            <a:endParaRPr lang="en-US" altLang="zh-CN" b="1" dirty="0" smtClean="0">
              <a:latin typeface="宋体" pitchFamily="2" charset="-122"/>
              <a:ea typeface="+mn-ea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512" y="1227524"/>
            <a:ext cx="8964488" cy="3785652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四、程序直接控制</a:t>
            </a:r>
            <a:r>
              <a:rPr lang="en-US" altLang="zh-CN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I/O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方式  </a:t>
            </a:r>
            <a:r>
              <a:rPr lang="zh-CN" altLang="en-US" sz="2000" b="1" dirty="0" smtClean="0">
                <a:latin typeface="+mn-ea"/>
                <a:ea typeface="+mn-ea"/>
              </a:rPr>
              <a:t>◇理解控制流程→硬件组织</a:t>
            </a:r>
            <a:endParaRPr lang="en-US" altLang="zh-CN" b="1" dirty="0" smtClean="0">
              <a:solidFill>
                <a:srgbClr val="FF33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</a:t>
            </a:r>
            <a:r>
              <a:rPr lang="zh-CN" altLang="en-US" b="1" dirty="0" smtClean="0">
                <a:solidFill>
                  <a:srgbClr val="FF0000"/>
                </a:solidFill>
                <a:latin typeface="宋体" pitchFamily="2" charset="-122"/>
              </a:rPr>
              <a:t>程序查询方式</a:t>
            </a:r>
            <a:r>
              <a:rPr lang="en-US" altLang="zh-CN" b="1" dirty="0" smtClean="0">
                <a:latin typeface="宋体" pitchFamily="2" charset="-122"/>
              </a:rPr>
              <a:t>—</a:t>
            </a:r>
            <a:r>
              <a:rPr lang="en-US" altLang="zh-CN" sz="2000" b="1" dirty="0" smtClean="0">
                <a:latin typeface="宋体" pitchFamily="2" charset="-122"/>
              </a:rPr>
              <a:t>I/O</a:t>
            </a:r>
            <a:r>
              <a:rPr lang="zh-CN" altLang="en-US" sz="2000" b="1" dirty="0" smtClean="0">
                <a:latin typeface="宋体" pitchFamily="2" charset="-122"/>
              </a:rPr>
              <a:t>控制流程，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itchFamily="2" charset="-122"/>
              </a:rPr>
              <a:t>I/O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接口组织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itchFamily="2" charset="-122"/>
              </a:rPr>
              <a:t>（</a:t>
            </a:r>
            <a:r>
              <a:rPr lang="zh-CN" altLang="en-US" sz="1800" b="1" dirty="0" smtClean="0">
                <a:solidFill>
                  <a:srgbClr val="FF0000"/>
                </a:solidFill>
                <a:latin typeface="宋体" pitchFamily="2" charset="-122"/>
              </a:rPr>
              <a:t>控制口、识别自己为从设备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itchFamily="2" charset="-122"/>
              </a:rPr>
              <a:t>）</a:t>
            </a:r>
            <a:endParaRPr lang="en-US" altLang="zh-CN" sz="1800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  <a:ea typeface="+mn-ea"/>
              </a:rPr>
              <a:t> </a:t>
            </a:r>
            <a:r>
              <a:rPr lang="en-US" altLang="zh-CN" b="1" dirty="0" smtClean="0">
                <a:latin typeface="宋体" pitchFamily="2" charset="-122"/>
                <a:ea typeface="+mn-ea"/>
              </a:rPr>
              <a:t>  </a:t>
            </a:r>
            <a:r>
              <a:rPr lang="zh-CN" altLang="en-US" b="1" dirty="0" smtClean="0">
                <a:latin typeface="宋体" pitchFamily="2" charset="-122"/>
                <a:ea typeface="+mn-ea"/>
              </a:rPr>
              <a:t>直接传送方式</a:t>
            </a:r>
            <a:r>
              <a:rPr lang="en-US" altLang="zh-CN" b="1" dirty="0" smtClean="0">
                <a:latin typeface="宋体" pitchFamily="2" charset="-122"/>
                <a:ea typeface="+mn-ea"/>
              </a:rPr>
              <a:t>—</a:t>
            </a:r>
            <a:r>
              <a:rPr lang="en-US" altLang="zh-CN" b="1" dirty="0">
                <a:latin typeface="宋体" pitchFamily="2" charset="-122"/>
              </a:rPr>
              <a:t>I/O</a:t>
            </a:r>
            <a:r>
              <a:rPr lang="zh-CN" altLang="en-US" b="1" dirty="0">
                <a:latin typeface="宋体" pitchFamily="2" charset="-122"/>
              </a:rPr>
              <a:t>控制流程，</a:t>
            </a:r>
            <a:r>
              <a:rPr lang="en-US" altLang="zh-CN" b="1" dirty="0">
                <a:latin typeface="宋体" pitchFamily="2" charset="-122"/>
              </a:rPr>
              <a:t>I/O</a:t>
            </a:r>
            <a:r>
              <a:rPr lang="zh-CN" altLang="en-US" b="1" dirty="0">
                <a:latin typeface="宋体" pitchFamily="2" charset="-122"/>
              </a:rPr>
              <a:t>接口</a:t>
            </a:r>
            <a:r>
              <a:rPr lang="zh-CN" altLang="en-US" b="1" dirty="0" smtClean="0">
                <a:latin typeface="宋体" pitchFamily="2" charset="-122"/>
              </a:rPr>
              <a:t>组织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五、程序中断</a:t>
            </a:r>
            <a:r>
              <a:rPr lang="en-US" altLang="zh-CN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I/O</a:t>
            </a: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endParaRPr lang="en-US" altLang="zh-CN" b="1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latin typeface="宋体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>
              <a:latin typeface="宋体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endParaRPr lang="en-US" altLang="zh-CN" b="1" dirty="0" smtClean="0">
              <a:latin typeface="宋体" pitchFamily="2" charset="-122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六、</a:t>
            </a:r>
            <a:r>
              <a:rPr lang="en-US" altLang="zh-CN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DMA I/O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方式</a:t>
            </a:r>
            <a:endParaRPr lang="en-US" altLang="zh-CN" b="1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0" y="2564904"/>
            <a:ext cx="9144000" cy="2031325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+mn-ea"/>
              </a:rPr>
              <a:t>                         </a:t>
            </a:r>
            <a:r>
              <a:rPr lang="zh-CN" altLang="en-US" sz="2000" b="1" dirty="0" smtClean="0">
                <a:latin typeface="+mn-ea"/>
              </a:rPr>
              <a:t>◇理解中断过程→软</a:t>
            </a:r>
            <a:r>
              <a:rPr lang="en-US" altLang="zh-CN" sz="2000" b="1" dirty="0" smtClean="0">
                <a:latin typeface="+mn-ea"/>
              </a:rPr>
              <a:t>/</a:t>
            </a:r>
            <a:r>
              <a:rPr lang="zh-CN" altLang="en-US" sz="2000" b="1" dirty="0" smtClean="0">
                <a:latin typeface="+mn-ea"/>
              </a:rPr>
              <a:t>硬件组织</a:t>
            </a:r>
            <a:endParaRPr lang="en-US" altLang="zh-CN" sz="2000" b="1" dirty="0" smtClean="0">
              <a:latin typeface="宋体" pitchFamily="2" charset="-122"/>
            </a:endParaRPr>
          </a:p>
          <a:p>
            <a:r>
              <a:rPr lang="en-US" altLang="zh-CN" b="1" dirty="0" smtClean="0">
                <a:latin typeface="宋体" pitchFamily="2" charset="-122"/>
              </a:rPr>
              <a:t>  I/O</a:t>
            </a:r>
            <a:r>
              <a:rPr lang="zh-CN" altLang="en-US" b="1" dirty="0" smtClean="0">
                <a:latin typeface="宋体" pitchFamily="2" charset="-122"/>
              </a:rPr>
              <a:t>控制流程，中断的类型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＋</a:t>
            </a:r>
            <a:r>
              <a:rPr lang="zh-CN" altLang="en-US" sz="2000" b="1" dirty="0" smtClean="0">
                <a:latin typeface="宋体" pitchFamily="2" charset="-122"/>
                <a:ea typeface="+mn-ea"/>
              </a:rPr>
              <a:t>多重中断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r>
              <a:rPr lang="zh-CN" altLang="en-US" b="1" dirty="0" smtClean="0">
                <a:solidFill>
                  <a:srgbClr val="FF0000"/>
                </a:solidFill>
                <a:latin typeface="宋体" pitchFamily="2" charset="-122"/>
              </a:rPr>
              <a:t>中断过程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1800" b="1" dirty="0" smtClean="0">
                <a:solidFill>
                  <a:srgbClr val="FF0000"/>
                </a:solidFill>
                <a:latin typeface="宋体" pitchFamily="2" charset="-122"/>
              </a:rPr>
              <a:t>中断响应任务</a:t>
            </a:r>
            <a:r>
              <a:rPr lang="en-US" altLang="zh-CN" sz="1800" b="1" dirty="0" smtClean="0">
                <a:solidFill>
                  <a:srgbClr val="FF0000"/>
                </a:solidFill>
                <a:latin typeface="宋体" pitchFamily="2" charset="-122"/>
              </a:rPr>
              <a:t>:</a:t>
            </a:r>
            <a:endParaRPr lang="zh-CN" altLang="en-US" sz="1800" dirty="0"/>
          </a:p>
          <a:p>
            <a:r>
              <a:rPr lang="zh-CN" altLang="en-US" sz="1800" b="1" dirty="0" smtClean="0">
                <a:solidFill>
                  <a:srgbClr val="0000CC"/>
                </a:solidFill>
              </a:rPr>
              <a:t>操作</a:t>
            </a:r>
            <a:r>
              <a:rPr lang="zh-CN" altLang="en-US" sz="1800" b="1" dirty="0">
                <a:solidFill>
                  <a:srgbClr val="0000CC"/>
                </a:solidFill>
              </a:rPr>
              <a:t>有保存断点及</a:t>
            </a:r>
            <a:r>
              <a:rPr lang="en-US" altLang="zh-CN" sz="1800" b="1" dirty="0">
                <a:solidFill>
                  <a:srgbClr val="0000CC"/>
                </a:solidFill>
              </a:rPr>
              <a:t>PSW</a:t>
            </a:r>
            <a:r>
              <a:rPr lang="zh-CN" altLang="en-US" sz="1800" b="1" dirty="0">
                <a:solidFill>
                  <a:srgbClr val="0000CC"/>
                </a:solidFill>
              </a:rPr>
              <a:t>、关中断、中断源判优、查</a:t>
            </a:r>
            <a:r>
              <a:rPr lang="en-US" altLang="zh-CN" sz="1800" b="1" dirty="0">
                <a:solidFill>
                  <a:srgbClr val="0000CC"/>
                </a:solidFill>
              </a:rPr>
              <a:t>IVT</a:t>
            </a:r>
            <a:r>
              <a:rPr lang="zh-CN" altLang="en-US" sz="1800" b="1" dirty="0">
                <a:solidFill>
                  <a:srgbClr val="0000CC"/>
                </a:solidFill>
              </a:rPr>
              <a:t>、所得中断程序入口地址写入</a:t>
            </a:r>
            <a:r>
              <a:rPr lang="en-US" altLang="zh-CN" sz="1800" b="1" dirty="0" smtClean="0">
                <a:solidFill>
                  <a:srgbClr val="0000CC"/>
                </a:solidFill>
              </a:rPr>
              <a:t>PC</a:t>
            </a:r>
            <a:r>
              <a:rPr lang="en-US" altLang="zh-CN" sz="1800" b="1" dirty="0" smtClean="0">
                <a:latin typeface="宋体" pitchFamily="2" charset="-122"/>
              </a:rPr>
              <a:t>)</a:t>
            </a: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990099"/>
                </a:solidFill>
                <a:latin typeface="宋体" pitchFamily="2" charset="-122"/>
              </a:rPr>
              <a:t>   I/O</a:t>
            </a:r>
            <a:r>
              <a:rPr lang="zh-CN" altLang="en-US" b="1" dirty="0">
                <a:solidFill>
                  <a:srgbClr val="990099"/>
                </a:solidFill>
                <a:latin typeface="宋体" pitchFamily="2" charset="-122"/>
              </a:rPr>
              <a:t>接口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组织</a:t>
            </a:r>
            <a:r>
              <a:rPr lang="zh-CN" altLang="en-US" b="1" dirty="0" smtClean="0">
                <a:latin typeface="宋体" pitchFamily="2" charset="-122"/>
              </a:rPr>
              <a:t>，识别中断源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latin typeface="宋体" pitchFamily="2" charset="-122"/>
              </a:rPr>
              <a:t>→中断控制器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</a:t>
            </a:r>
            <a:endParaRPr lang="en-US" altLang="zh-CN" b="1" dirty="0" smtClean="0">
              <a:latin typeface="宋体" pitchFamily="2" charset="-122"/>
            </a:endParaRPr>
          </a:p>
          <a:p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</a:t>
            </a:r>
            <a:r>
              <a:rPr lang="zh-CN" altLang="en-US" b="1" dirty="0" smtClean="0">
                <a:latin typeface="宋体" pitchFamily="2" charset="-122"/>
              </a:rPr>
              <a:t>中断系统举例</a:t>
            </a:r>
            <a:r>
              <a:rPr lang="en-US" altLang="zh-CN" sz="2000" b="1" dirty="0" smtClean="0">
                <a:latin typeface="宋体" pitchFamily="2" charset="-122"/>
              </a:rPr>
              <a:t>(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itchFamily="2" charset="-122"/>
              </a:rPr>
              <a:t>理解各部件如何协同</a:t>
            </a:r>
            <a:r>
              <a:rPr lang="en-US" altLang="zh-CN" sz="2000" b="1" dirty="0" smtClean="0">
                <a:latin typeface="宋体" pitchFamily="2" charset="-122"/>
              </a:rPr>
              <a:t>)</a:t>
            </a:r>
            <a:r>
              <a:rPr lang="zh-CN" altLang="en-US" b="1" dirty="0" smtClean="0">
                <a:latin typeface="宋体" pitchFamily="2" charset="-122"/>
              </a:rPr>
              <a:t>，多重中断及中断屏蔽</a:t>
            </a:r>
            <a:endParaRPr lang="en-US" altLang="zh-CN" sz="1800" b="1" dirty="0" smtClean="0">
              <a:latin typeface="宋体" pitchFamily="2" charset="-122"/>
              <a:ea typeface="+mn-ea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79512" y="4471952"/>
            <a:ext cx="8784976" cy="1477328"/>
          </a:xfrm>
          <a:prstGeom prst="rect">
            <a:avLst/>
          </a:prstGeom>
          <a:noFill/>
          <a:ln w="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latin typeface="宋体" pitchFamily="2" charset="-122"/>
              </a:rPr>
              <a:t>               （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itchFamily="2" charset="-122"/>
              </a:rPr>
              <a:t>存储器为中心</a:t>
            </a:r>
            <a:r>
              <a:rPr lang="zh-CN" altLang="en-US" b="1" dirty="0" smtClean="0">
                <a:latin typeface="宋体" pitchFamily="2" charset="-122"/>
              </a:rPr>
              <a:t>）      </a:t>
            </a:r>
            <a:r>
              <a:rPr lang="zh-CN" altLang="en-US" sz="2000" b="1" dirty="0" smtClean="0">
                <a:latin typeface="宋体" pitchFamily="2" charset="-122"/>
              </a:rPr>
              <a:t>△了解</a:t>
            </a:r>
            <a:r>
              <a:rPr lang="en-US" altLang="zh-CN" sz="2000" b="1" dirty="0" smtClean="0">
                <a:latin typeface="宋体" pitchFamily="2" charset="-122"/>
              </a:rPr>
              <a:t>DMA</a:t>
            </a:r>
            <a:r>
              <a:rPr lang="zh-CN" altLang="en-US" sz="2000" b="1" dirty="0">
                <a:latin typeface="宋体" pitchFamily="2" charset="-122"/>
              </a:rPr>
              <a:t>的</a:t>
            </a:r>
            <a:r>
              <a:rPr lang="zh-CN" altLang="en-US" sz="2000" b="1" dirty="0" smtClean="0">
                <a:latin typeface="宋体" pitchFamily="2" charset="-122"/>
              </a:rPr>
              <a:t>传送过程</a:t>
            </a:r>
            <a:endParaRPr lang="en-US" altLang="zh-CN" b="1" dirty="0" smtClean="0"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 smtClean="0">
                <a:latin typeface="宋体" pitchFamily="2" charset="-122"/>
              </a:rPr>
              <a:t>   I/O</a:t>
            </a:r>
            <a:r>
              <a:rPr lang="zh-CN" altLang="en-US" b="1" dirty="0">
                <a:latin typeface="宋体" pitchFamily="2" charset="-122"/>
              </a:rPr>
              <a:t>控制流程</a:t>
            </a:r>
            <a:r>
              <a:rPr lang="zh-CN" altLang="en-US" b="1" dirty="0" smtClean="0">
                <a:latin typeface="宋体" pitchFamily="2" charset="-122"/>
              </a:rPr>
              <a:t>，传送方式，</a:t>
            </a:r>
            <a:r>
              <a:rPr lang="en-US" altLang="zh-CN" b="1" dirty="0">
                <a:latin typeface="宋体" pitchFamily="2" charset="-122"/>
              </a:rPr>
              <a:t>I/O</a:t>
            </a:r>
            <a:r>
              <a:rPr lang="zh-CN" altLang="en-US" b="1" dirty="0">
                <a:latin typeface="宋体" pitchFamily="2" charset="-122"/>
              </a:rPr>
              <a:t>功能→</a:t>
            </a:r>
            <a:r>
              <a:rPr lang="en-US" altLang="zh-CN" b="1" dirty="0">
                <a:latin typeface="宋体" pitchFamily="2" charset="-122"/>
              </a:rPr>
              <a:t>DMA</a:t>
            </a:r>
            <a:r>
              <a:rPr lang="zh-CN" altLang="en-US" b="1" dirty="0">
                <a:latin typeface="宋体" pitchFamily="2" charset="-122"/>
              </a:rPr>
              <a:t>接口</a:t>
            </a:r>
            <a:r>
              <a:rPr lang="zh-CN" altLang="en-US" b="1" dirty="0" smtClean="0">
                <a:latin typeface="宋体" pitchFamily="2" charset="-122"/>
              </a:rPr>
              <a:t>结</a:t>
            </a:r>
            <a:r>
              <a:rPr lang="zh-CN" altLang="en-US" b="1" dirty="0">
                <a:latin typeface="宋体" pitchFamily="2" charset="-122"/>
              </a:rPr>
              <a:t>构</a:t>
            </a:r>
            <a:r>
              <a:rPr lang="zh-CN" altLang="en-US" b="1" dirty="0" smtClean="0">
                <a:latin typeface="宋体" pitchFamily="2" charset="-122"/>
              </a:rPr>
              <a:t>→</a:t>
            </a:r>
            <a:r>
              <a:rPr lang="zh-CN" altLang="en-US" b="1" dirty="0" smtClean="0">
                <a:solidFill>
                  <a:srgbClr val="990099"/>
                </a:solidFill>
                <a:latin typeface="宋体" pitchFamily="2" charset="-122"/>
              </a:rPr>
              <a:t>传送过程</a:t>
            </a:r>
            <a:endParaRPr lang="en-US" altLang="zh-CN" b="1" dirty="0" smtClean="0">
              <a:solidFill>
                <a:srgbClr val="990099"/>
              </a:solidFill>
              <a:latin typeface="宋体" pitchFamily="2" charset="-122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latin typeface="宋体" pitchFamily="2" charset="-122"/>
              </a:rPr>
              <a:t> </a:t>
            </a:r>
            <a:r>
              <a:rPr lang="en-US" altLang="zh-CN" b="1" dirty="0" smtClean="0">
                <a:latin typeface="宋体" pitchFamily="2" charset="-122"/>
              </a:rPr>
              <a:t>  I/O</a:t>
            </a:r>
            <a:r>
              <a:rPr lang="zh-CN" altLang="en-US" b="1" dirty="0" smtClean="0">
                <a:latin typeface="宋体" pitchFamily="2" charset="-122"/>
              </a:rPr>
              <a:t>接口组织</a:t>
            </a:r>
            <a:r>
              <a:rPr lang="en-US" altLang="zh-CN" b="1" dirty="0" smtClean="0">
                <a:latin typeface="宋体" pitchFamily="2" charset="-122"/>
              </a:rPr>
              <a:t>(</a:t>
            </a:r>
            <a:r>
              <a:rPr lang="zh-CN" altLang="en-US" b="1" dirty="0" smtClean="0">
                <a:latin typeface="宋体" pitchFamily="2" charset="-122"/>
              </a:rPr>
              <a:t>通用型</a:t>
            </a:r>
            <a:r>
              <a:rPr lang="en-US" altLang="zh-CN" b="1" dirty="0" smtClean="0">
                <a:latin typeface="宋体" pitchFamily="2" charset="-122"/>
              </a:rPr>
              <a:t>/</a:t>
            </a:r>
            <a:r>
              <a:rPr lang="zh-CN" altLang="en-US" b="1" dirty="0" smtClean="0">
                <a:latin typeface="宋体" pitchFamily="2" charset="-122"/>
              </a:rPr>
              <a:t>增强型</a:t>
            </a:r>
            <a:r>
              <a:rPr lang="en-US" altLang="zh-CN" b="1" dirty="0" smtClean="0">
                <a:latin typeface="宋体" pitchFamily="2" charset="-122"/>
              </a:rPr>
              <a:t>)</a:t>
            </a:r>
          </a:p>
        </p:txBody>
      </p:sp>
      <p:sp>
        <p:nvSpPr>
          <p:cNvPr id="20" name="Text Box 43"/>
          <p:cNvSpPr txBox="1">
            <a:spLocks noChangeArrowheads="1"/>
          </p:cNvSpPr>
          <p:nvPr/>
        </p:nvSpPr>
        <p:spPr bwMode="auto">
          <a:xfrm>
            <a:off x="179512" y="5827330"/>
            <a:ext cx="8964488" cy="490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itchFamily="2" charset="-122"/>
              </a:rPr>
              <a:t>*本章总体要求：</a:t>
            </a:r>
            <a:r>
              <a:rPr lang="zh-CN" altLang="en-US" b="1" spc="-150" dirty="0" smtClean="0">
                <a:latin typeface="宋体" pitchFamily="2" charset="-122"/>
              </a:rPr>
              <a:t>掌握</a:t>
            </a:r>
            <a:r>
              <a:rPr lang="en-US" altLang="zh-CN" b="1" spc="-150" dirty="0" smtClean="0">
                <a:latin typeface="宋体" pitchFamily="2" charset="-122"/>
              </a:rPr>
              <a:t>I/O</a:t>
            </a:r>
            <a:r>
              <a:rPr lang="zh-CN" altLang="en-US" b="1" spc="-150" dirty="0" smtClean="0">
                <a:latin typeface="宋体" pitchFamily="2" charset="-122"/>
              </a:rPr>
              <a:t>的软硬件关联，理解各</a:t>
            </a:r>
            <a:r>
              <a:rPr lang="en-US" altLang="zh-CN" b="1" spc="-150" dirty="0" smtClean="0">
                <a:latin typeface="宋体" pitchFamily="2" charset="-122"/>
              </a:rPr>
              <a:t>I/O</a:t>
            </a:r>
            <a:r>
              <a:rPr lang="zh-CN" altLang="en-US" b="1" spc="-150" dirty="0" smtClean="0">
                <a:latin typeface="宋体" pitchFamily="2" charset="-122"/>
              </a:rPr>
              <a:t>方式的接口组成</a:t>
            </a:r>
            <a:endParaRPr lang="en-US" altLang="zh-CN" sz="2000" b="1" spc="-150" dirty="0" smtClean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35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2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5C4C1B93-8483-479B-9518-A9279CF2AAB5}" type="slidenum">
              <a:rPr lang="en-US" altLang="zh-CN" smtClean="0"/>
              <a:pPr>
                <a:defRPr/>
              </a:pPr>
              <a:t>38</a:t>
            </a:fld>
            <a:endParaRPr lang="en-US" altLang="zh-CN" dirty="0"/>
          </a:p>
        </p:txBody>
      </p:sp>
      <p:sp>
        <p:nvSpPr>
          <p:cNvPr id="10" name="TextBox 9"/>
          <p:cNvSpPr txBox="1"/>
          <p:nvPr/>
        </p:nvSpPr>
        <p:spPr>
          <a:xfrm>
            <a:off x="467544" y="260648"/>
            <a:ext cx="813690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98450">
              <a:spcAft>
                <a:spcPts val="0"/>
              </a:spcAft>
            </a:pPr>
            <a:r>
              <a:rPr lang="zh-CN" altLang="en-US" sz="2200" b="1" kern="100" dirty="0" smtClean="0">
                <a:solidFill>
                  <a:srgbClr val="0000CC"/>
                </a:solidFill>
                <a:latin typeface="+mn-lt"/>
              </a:rPr>
              <a:t>例：</a:t>
            </a:r>
            <a:r>
              <a:rPr lang="zh-CN" altLang="zh-CN" sz="2200" b="1" kern="100" dirty="0" smtClean="0">
                <a:latin typeface="+mn-lt"/>
              </a:rPr>
              <a:t>某</a:t>
            </a:r>
            <a:r>
              <a:rPr lang="zh-CN" altLang="zh-CN" sz="2200" b="1" kern="100" dirty="0">
                <a:latin typeface="+mn-lt"/>
              </a:rPr>
              <a:t>计算机的主频为</a:t>
            </a:r>
            <a:r>
              <a:rPr lang="en-US" altLang="zh-CN" sz="2200" b="1" kern="100" dirty="0">
                <a:latin typeface="+mn-lt"/>
              </a:rPr>
              <a:t>100MHz</a:t>
            </a:r>
            <a:r>
              <a:rPr lang="zh-CN" altLang="zh-CN" sz="2200" b="1" kern="100" dirty="0">
                <a:latin typeface="+mn-lt"/>
              </a:rPr>
              <a:t>、</a:t>
            </a:r>
            <a:r>
              <a:rPr lang="en-US" altLang="zh-CN" sz="2200" b="1" kern="100" dirty="0">
                <a:latin typeface="+mn-lt"/>
              </a:rPr>
              <a:t>CPI</a:t>
            </a:r>
            <a:r>
              <a:rPr lang="zh-CN" altLang="zh-CN" sz="2200" b="1" kern="100" dirty="0">
                <a:latin typeface="+mn-lt"/>
              </a:rPr>
              <a:t>为</a:t>
            </a:r>
            <a:r>
              <a:rPr lang="en-US" altLang="zh-CN" sz="2200" b="1" kern="100" dirty="0">
                <a:latin typeface="+mn-lt"/>
              </a:rPr>
              <a:t>5</a:t>
            </a:r>
            <a:r>
              <a:rPr lang="zh-CN" altLang="zh-CN" sz="2200" b="1" kern="100" dirty="0">
                <a:latin typeface="+mn-lt"/>
              </a:rPr>
              <a:t>，中断响应需要</a:t>
            </a:r>
            <a:r>
              <a:rPr lang="en-US" altLang="zh-CN" sz="2200" b="1" kern="100" dirty="0">
                <a:latin typeface="+mn-lt"/>
              </a:rPr>
              <a:t>8</a:t>
            </a:r>
            <a:r>
              <a:rPr lang="zh-CN" altLang="zh-CN" sz="2200" b="1" kern="100" dirty="0">
                <a:latin typeface="+mn-lt"/>
              </a:rPr>
              <a:t>个时钟周期；外设</a:t>
            </a:r>
            <a:r>
              <a:rPr lang="en-US" altLang="zh-CN" sz="2200" b="1" kern="100" dirty="0">
                <a:latin typeface="+mn-lt"/>
              </a:rPr>
              <a:t>A</a:t>
            </a:r>
            <a:r>
              <a:rPr lang="zh-CN" altLang="zh-CN" sz="2200" b="1" kern="100" dirty="0">
                <a:latin typeface="+mn-lt"/>
              </a:rPr>
              <a:t>的数据传输率为</a:t>
            </a:r>
            <a:r>
              <a:rPr lang="en-US" altLang="zh-CN" sz="2200" b="1" kern="100" dirty="0">
                <a:latin typeface="+mn-lt"/>
              </a:rPr>
              <a:t>400Kbps</a:t>
            </a:r>
            <a:r>
              <a:rPr lang="zh-CN" altLang="zh-CN" sz="2200" b="1" kern="100" dirty="0">
                <a:latin typeface="+mn-lt"/>
              </a:rPr>
              <a:t>，每次传输</a:t>
            </a:r>
            <a:r>
              <a:rPr lang="en-US" altLang="zh-CN" sz="2200" b="1" kern="100" dirty="0">
                <a:latin typeface="+mn-lt"/>
              </a:rPr>
              <a:t>16</a:t>
            </a:r>
            <a:r>
              <a:rPr lang="zh-CN" altLang="zh-CN" sz="2200" b="1" kern="100" dirty="0">
                <a:latin typeface="+mn-lt"/>
              </a:rPr>
              <a:t>位数据。假设外设</a:t>
            </a:r>
            <a:r>
              <a:rPr lang="en-US" altLang="zh-CN" sz="2200" b="1" kern="100" dirty="0">
                <a:latin typeface="+mn-lt"/>
              </a:rPr>
              <a:t>A</a:t>
            </a:r>
            <a:r>
              <a:rPr lang="zh-CN" altLang="zh-CN" sz="2200" b="1" kern="100" dirty="0">
                <a:latin typeface="+mn-lt"/>
              </a:rPr>
              <a:t>有</a:t>
            </a:r>
            <a:r>
              <a:rPr lang="en-US" altLang="zh-CN" sz="2200" b="1" kern="100" dirty="0">
                <a:latin typeface="+mn-lt"/>
              </a:rPr>
              <a:t>20%</a:t>
            </a:r>
            <a:r>
              <a:rPr lang="zh-CN" altLang="zh-CN" sz="2200" b="1" kern="100" dirty="0">
                <a:latin typeface="+mn-lt"/>
              </a:rPr>
              <a:t>的时间在进行</a:t>
            </a:r>
            <a:r>
              <a:rPr lang="en-US" altLang="zh-CN" sz="2200" b="1" kern="100" dirty="0">
                <a:latin typeface="+mn-lt"/>
              </a:rPr>
              <a:t>I/O</a:t>
            </a:r>
            <a:r>
              <a:rPr lang="zh-CN" altLang="zh-CN" sz="2200" b="1" kern="100" dirty="0">
                <a:latin typeface="+mn-lt"/>
              </a:rPr>
              <a:t>，回答下列问题：</a:t>
            </a:r>
          </a:p>
          <a:p>
            <a:pPr indent="298450">
              <a:spcAft>
                <a:spcPts val="0"/>
              </a:spcAft>
            </a:pPr>
            <a:r>
              <a:rPr lang="zh-CN" altLang="zh-CN" sz="2200" b="1" kern="100" dirty="0">
                <a:latin typeface="+mn-lt"/>
              </a:rPr>
              <a:t>（</a:t>
            </a:r>
            <a:r>
              <a:rPr lang="en-US" altLang="zh-CN" sz="2200" b="1" kern="100" dirty="0">
                <a:latin typeface="+mn-lt"/>
              </a:rPr>
              <a:t>1</a:t>
            </a:r>
            <a:r>
              <a:rPr lang="zh-CN" altLang="zh-CN" sz="2200" b="1" kern="100" dirty="0">
                <a:latin typeface="+mn-lt"/>
              </a:rPr>
              <a:t>）采用独占查询方式</a:t>
            </a:r>
            <a:r>
              <a:rPr lang="en-US" altLang="zh-CN" sz="2200" b="1" kern="100" dirty="0">
                <a:latin typeface="+mn-lt"/>
              </a:rPr>
              <a:t>I/O</a:t>
            </a:r>
            <a:r>
              <a:rPr lang="zh-CN" altLang="zh-CN" sz="2200" b="1" kern="100" dirty="0">
                <a:latin typeface="+mn-lt"/>
              </a:rPr>
              <a:t>时，</a:t>
            </a:r>
            <a:r>
              <a:rPr lang="en-US" altLang="zh-CN" sz="2200" b="1" kern="100" dirty="0">
                <a:latin typeface="+mn-lt"/>
              </a:rPr>
              <a:t>I/O</a:t>
            </a:r>
            <a:r>
              <a:rPr lang="zh-CN" altLang="zh-CN" sz="2200" b="1" kern="100" dirty="0">
                <a:latin typeface="+mn-lt"/>
              </a:rPr>
              <a:t>所占</a:t>
            </a:r>
            <a:r>
              <a:rPr lang="en-US" altLang="zh-CN" sz="2200" b="1" kern="100" dirty="0">
                <a:latin typeface="+mn-lt"/>
              </a:rPr>
              <a:t>CPU</a:t>
            </a:r>
            <a:r>
              <a:rPr lang="zh-CN" altLang="zh-CN" sz="2200" b="1" kern="100" dirty="0">
                <a:latin typeface="+mn-lt"/>
              </a:rPr>
              <a:t>时间的百分比是多少？</a:t>
            </a:r>
          </a:p>
          <a:p>
            <a:pPr indent="298450">
              <a:spcAft>
                <a:spcPts val="0"/>
              </a:spcAft>
            </a:pPr>
            <a:r>
              <a:rPr lang="zh-CN" altLang="zh-CN" sz="2200" b="1" kern="100" dirty="0">
                <a:latin typeface="+mn-lt"/>
              </a:rPr>
              <a:t>（</a:t>
            </a:r>
            <a:r>
              <a:rPr lang="en-US" altLang="zh-CN" sz="2200" b="1" kern="100" dirty="0">
                <a:latin typeface="+mn-lt"/>
              </a:rPr>
              <a:t>2</a:t>
            </a:r>
            <a:r>
              <a:rPr lang="zh-CN" altLang="zh-CN" sz="2200" b="1" kern="100" dirty="0">
                <a:latin typeface="+mn-lt"/>
              </a:rPr>
              <a:t>）采用定时查询方式</a:t>
            </a:r>
            <a:r>
              <a:rPr lang="en-US" altLang="zh-CN" sz="2200" b="1" kern="100" dirty="0">
                <a:latin typeface="+mn-lt"/>
              </a:rPr>
              <a:t>I/O</a:t>
            </a:r>
            <a:r>
              <a:rPr lang="zh-CN" altLang="zh-CN" sz="2200" b="1" kern="100" dirty="0">
                <a:latin typeface="+mn-lt"/>
              </a:rPr>
              <a:t>时，若设备启动</a:t>
            </a:r>
            <a:r>
              <a:rPr lang="en-US" altLang="zh-CN" sz="2200" b="1" kern="100" dirty="0">
                <a:latin typeface="+mn-lt"/>
              </a:rPr>
              <a:t>35μs</a:t>
            </a:r>
            <a:r>
              <a:rPr lang="zh-CN" altLang="zh-CN" sz="2200" b="1" kern="100" dirty="0">
                <a:latin typeface="+mn-lt"/>
              </a:rPr>
              <a:t>后开始查询，则</a:t>
            </a:r>
            <a:r>
              <a:rPr lang="en-US" altLang="zh-CN" sz="2200" b="1" kern="100" dirty="0">
                <a:latin typeface="+mn-lt"/>
              </a:rPr>
              <a:t>I/O</a:t>
            </a:r>
            <a:r>
              <a:rPr lang="zh-CN" altLang="zh-CN" sz="2200" b="1" kern="100" dirty="0">
                <a:latin typeface="+mn-lt"/>
              </a:rPr>
              <a:t>所占</a:t>
            </a:r>
            <a:r>
              <a:rPr lang="en-US" altLang="zh-CN" sz="2200" b="1" kern="100" dirty="0">
                <a:latin typeface="+mn-lt"/>
              </a:rPr>
              <a:t>CPU</a:t>
            </a:r>
            <a:r>
              <a:rPr lang="zh-CN" altLang="zh-CN" sz="2200" b="1" kern="100" dirty="0">
                <a:latin typeface="+mn-lt"/>
              </a:rPr>
              <a:t>时间的百分比是多少</a:t>
            </a:r>
            <a:r>
              <a:rPr lang="zh-CN" altLang="zh-CN" sz="2200" b="1" kern="100" dirty="0" smtClean="0">
                <a:latin typeface="+mn-lt"/>
              </a:rPr>
              <a:t>？</a:t>
            </a:r>
            <a:endParaRPr lang="en-US" altLang="zh-CN" sz="2200" b="1" kern="100" dirty="0" smtClean="0">
              <a:latin typeface="+mn-lt"/>
            </a:endParaRPr>
          </a:p>
          <a:p>
            <a:pPr indent="298450">
              <a:spcAft>
                <a:spcPts val="0"/>
              </a:spcAft>
            </a:pPr>
            <a:r>
              <a:rPr lang="zh-CN" altLang="zh-CN" sz="2200" b="1" kern="100" dirty="0"/>
              <a:t>（</a:t>
            </a:r>
            <a:r>
              <a:rPr lang="en-US" altLang="zh-CN" sz="2200" b="1" kern="100" dirty="0"/>
              <a:t>3</a:t>
            </a:r>
            <a:r>
              <a:rPr lang="zh-CN" altLang="zh-CN" sz="2200" b="1" kern="100" dirty="0"/>
              <a:t>）采用中断方式</a:t>
            </a:r>
            <a:r>
              <a:rPr lang="en-US" altLang="zh-CN" sz="2200" b="1" kern="100" dirty="0"/>
              <a:t>I/O</a:t>
            </a:r>
            <a:r>
              <a:rPr lang="zh-CN" altLang="zh-CN" sz="2200" b="1" kern="100" dirty="0"/>
              <a:t>时，若中断服务程序包含</a:t>
            </a:r>
            <a:r>
              <a:rPr lang="en-US" altLang="zh-CN" sz="2200" b="1" kern="100" dirty="0"/>
              <a:t>18</a:t>
            </a:r>
            <a:r>
              <a:rPr lang="zh-CN" altLang="zh-CN" sz="2200" b="1" kern="100" dirty="0"/>
              <a:t>条指令，则</a:t>
            </a:r>
            <a:r>
              <a:rPr lang="en-US" altLang="zh-CN" sz="2200" b="1" kern="100" dirty="0"/>
              <a:t>I/O</a:t>
            </a:r>
            <a:r>
              <a:rPr lang="zh-CN" altLang="zh-CN" sz="2200" b="1" kern="100" dirty="0"/>
              <a:t>所占</a:t>
            </a:r>
            <a:r>
              <a:rPr lang="en-US" altLang="zh-CN" sz="2200" b="1" kern="100" dirty="0"/>
              <a:t>CPU</a:t>
            </a:r>
            <a:r>
              <a:rPr lang="zh-CN" altLang="zh-CN" sz="2200" b="1" kern="100" dirty="0"/>
              <a:t>时间的百分比是多少</a:t>
            </a:r>
            <a:r>
              <a:rPr lang="zh-CN" altLang="zh-CN" sz="2200" b="1" kern="100" dirty="0" smtClean="0"/>
              <a:t>？</a:t>
            </a:r>
            <a:endParaRPr lang="zh-CN" altLang="en-US" sz="2200" b="1" dirty="0">
              <a:latin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7544" y="3284984"/>
            <a:ext cx="84249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 dirty="0" smtClean="0">
                <a:solidFill>
                  <a:srgbClr val="0000CC"/>
                </a:solidFill>
              </a:rPr>
              <a:t>解：</a:t>
            </a:r>
            <a:endParaRPr lang="en-US" altLang="zh-CN" sz="2200" b="1" dirty="0" smtClean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zh-CN" sz="2200" b="1" dirty="0" smtClean="0"/>
              <a:t>外设</a:t>
            </a:r>
            <a:r>
              <a:rPr lang="en-US" altLang="zh-CN" sz="2200" b="1" dirty="0"/>
              <a:t>A</a:t>
            </a:r>
            <a:r>
              <a:rPr lang="zh-CN" altLang="zh-CN" sz="2200" b="1" dirty="0"/>
              <a:t>每秒传送</a:t>
            </a:r>
            <a:r>
              <a:rPr lang="en-US" altLang="zh-CN" sz="2200" b="1" dirty="0"/>
              <a:t>400Kbps/16b</a:t>
            </a:r>
            <a:r>
              <a:rPr lang="zh-CN" altLang="zh-CN" sz="2200" b="1" dirty="0"/>
              <a:t>＝</a:t>
            </a:r>
            <a:r>
              <a:rPr lang="en-US" altLang="zh-CN" sz="2200" b="1" dirty="0"/>
              <a:t>25000</a:t>
            </a:r>
            <a:r>
              <a:rPr lang="zh-CN" altLang="zh-CN" sz="2200" b="1" dirty="0"/>
              <a:t>次，每次间隔为</a:t>
            </a:r>
            <a:r>
              <a:rPr lang="en-US" altLang="zh-CN" sz="2200" b="1" dirty="0"/>
              <a:t>1/25000</a:t>
            </a:r>
            <a:r>
              <a:rPr lang="zh-CN" altLang="zh-CN" sz="2200" b="1" dirty="0"/>
              <a:t>＝</a:t>
            </a:r>
            <a:r>
              <a:rPr lang="en-US" altLang="zh-CN" sz="2200" b="1" dirty="0" smtClean="0"/>
              <a:t>40μs</a:t>
            </a:r>
            <a:r>
              <a:rPr lang="zh-CN" altLang="en-US" sz="2200" b="1" dirty="0" smtClean="0"/>
              <a:t>；</a:t>
            </a:r>
            <a:endParaRPr lang="zh-CN" altLang="zh-CN" sz="2200" b="1" dirty="0"/>
          </a:p>
          <a:p>
            <a:pPr marL="457200" indent="-457200">
              <a:lnSpc>
                <a:spcPct val="150000"/>
              </a:lnSpc>
              <a:buAutoNum type="arabicParenBoth"/>
            </a:pPr>
            <a:r>
              <a:rPr lang="en-US" altLang="zh-CN" sz="2200" b="1" dirty="0" smtClean="0"/>
              <a:t>I/O</a:t>
            </a:r>
            <a:r>
              <a:rPr lang="zh-CN" altLang="zh-CN" sz="2200" b="1" dirty="0"/>
              <a:t>所占</a:t>
            </a:r>
            <a:r>
              <a:rPr lang="en-US" altLang="zh-CN" sz="2200" b="1" dirty="0"/>
              <a:t>CPU</a:t>
            </a:r>
            <a:r>
              <a:rPr lang="zh-CN" altLang="zh-CN" sz="2200" b="1" dirty="0"/>
              <a:t>时间百分比＝</a:t>
            </a:r>
            <a:r>
              <a:rPr lang="en-US" altLang="zh-CN" sz="2200" b="1" dirty="0"/>
              <a:t>(40/40</a:t>
            </a:r>
            <a:r>
              <a:rPr lang="zh-CN" altLang="zh-CN" sz="2200" b="1" dirty="0"/>
              <a:t>×</a:t>
            </a:r>
            <a:r>
              <a:rPr lang="en-US" altLang="zh-CN" sz="2200" b="1" dirty="0"/>
              <a:t>0.2s)/1s</a:t>
            </a:r>
            <a:r>
              <a:rPr lang="zh-CN" altLang="zh-CN" sz="2200" b="1" dirty="0"/>
              <a:t>＝</a:t>
            </a:r>
            <a:r>
              <a:rPr lang="en-US" altLang="zh-CN" sz="2200" b="1" dirty="0"/>
              <a:t>20</a:t>
            </a:r>
            <a:r>
              <a:rPr lang="en-US" altLang="zh-CN" sz="2200" b="1" dirty="0" smtClean="0"/>
              <a:t>%</a:t>
            </a:r>
            <a:r>
              <a:rPr lang="zh-CN" altLang="en-US" sz="2200" b="1" dirty="0" smtClean="0"/>
              <a:t>；</a:t>
            </a:r>
            <a:endParaRPr lang="en-US" altLang="zh-CN" sz="2200" b="1" dirty="0" smtClean="0"/>
          </a:p>
          <a:p>
            <a:pPr marL="457200" indent="-457200">
              <a:lnSpc>
                <a:spcPct val="150000"/>
              </a:lnSpc>
              <a:buAutoNum type="arabicParenBoth"/>
            </a:pPr>
            <a:r>
              <a:rPr lang="en-US" altLang="zh-CN" sz="2200" b="1" dirty="0" smtClean="0"/>
              <a:t>I/O</a:t>
            </a:r>
            <a:r>
              <a:rPr lang="zh-CN" altLang="zh-CN" sz="2200" b="1" dirty="0"/>
              <a:t>所占</a:t>
            </a:r>
            <a:r>
              <a:rPr lang="en-US" altLang="zh-CN" sz="2200" b="1" dirty="0"/>
              <a:t>CPU</a:t>
            </a:r>
            <a:r>
              <a:rPr lang="zh-CN" altLang="zh-CN" sz="2200" b="1" dirty="0"/>
              <a:t>时间百分比＝</a:t>
            </a:r>
            <a:r>
              <a:rPr lang="en-US" altLang="zh-CN" sz="2200" b="1" dirty="0"/>
              <a:t>[(40</a:t>
            </a:r>
            <a:r>
              <a:rPr lang="zh-CN" altLang="zh-CN" sz="2200" b="1" dirty="0"/>
              <a:t>－</a:t>
            </a:r>
            <a:r>
              <a:rPr lang="en-US" altLang="zh-CN" sz="2200" b="1" dirty="0"/>
              <a:t>35)/40</a:t>
            </a:r>
            <a:r>
              <a:rPr lang="zh-CN" altLang="zh-CN" sz="2200" b="1" dirty="0"/>
              <a:t>×</a:t>
            </a:r>
            <a:r>
              <a:rPr lang="en-US" altLang="zh-CN" sz="2200" b="1" dirty="0"/>
              <a:t>0.2s]/1s</a:t>
            </a:r>
            <a:r>
              <a:rPr lang="zh-CN" altLang="zh-CN" sz="2200" b="1" dirty="0"/>
              <a:t>＝</a:t>
            </a:r>
            <a:r>
              <a:rPr lang="en-US" altLang="zh-CN" sz="2200" b="1" dirty="0"/>
              <a:t>2.5</a:t>
            </a:r>
            <a:r>
              <a:rPr lang="en-US" altLang="zh-CN" sz="2200" b="1" dirty="0" smtClean="0"/>
              <a:t>%</a:t>
            </a:r>
            <a:r>
              <a:rPr lang="zh-CN" altLang="en-US" sz="2200" b="1" dirty="0" smtClean="0"/>
              <a:t>；</a:t>
            </a:r>
            <a:endParaRPr lang="zh-CN" altLang="zh-CN" sz="2200" b="1" dirty="0"/>
          </a:p>
          <a:p>
            <a:pPr>
              <a:lnSpc>
                <a:spcPct val="150000"/>
              </a:lnSpc>
            </a:pPr>
            <a:r>
              <a:rPr lang="en-US" altLang="zh-CN" sz="2200" b="1" dirty="0"/>
              <a:t>(3</a:t>
            </a:r>
            <a:r>
              <a:rPr lang="en-US" altLang="zh-CN" sz="2200" b="1" dirty="0" smtClean="0"/>
              <a:t>) </a:t>
            </a:r>
            <a:r>
              <a:rPr lang="zh-CN" altLang="zh-CN" sz="2200" b="1" dirty="0" smtClean="0"/>
              <a:t>每次</a:t>
            </a:r>
            <a:r>
              <a:rPr lang="zh-CN" altLang="zh-CN" sz="2200" b="1" dirty="0"/>
              <a:t>中断占</a:t>
            </a:r>
            <a:r>
              <a:rPr lang="en-US" altLang="zh-CN" sz="2200" b="1" dirty="0"/>
              <a:t>CPU</a:t>
            </a:r>
            <a:r>
              <a:rPr lang="zh-CN" altLang="zh-CN" sz="2200" b="1" dirty="0"/>
              <a:t>时间</a:t>
            </a:r>
            <a:r>
              <a:rPr lang="en-US" altLang="zh-CN" sz="2200" b="1" dirty="0"/>
              <a:t>Ti</a:t>
            </a:r>
            <a:r>
              <a:rPr lang="zh-CN" altLang="zh-CN" sz="2200" b="1" dirty="0"/>
              <a:t>＝</a:t>
            </a:r>
            <a:r>
              <a:rPr lang="en-US" altLang="zh-CN" sz="2200" b="1" dirty="0"/>
              <a:t>(8+18</a:t>
            </a:r>
            <a:r>
              <a:rPr lang="zh-CN" altLang="zh-CN" sz="2200" b="1" dirty="0"/>
              <a:t>×</a:t>
            </a:r>
            <a:r>
              <a:rPr lang="en-US" altLang="zh-CN" sz="2200" b="1" dirty="0"/>
              <a:t>5)/(100</a:t>
            </a:r>
            <a:r>
              <a:rPr lang="zh-CN" altLang="zh-CN" sz="2200" b="1" dirty="0"/>
              <a:t>×</a:t>
            </a:r>
            <a:r>
              <a:rPr lang="en-US" altLang="zh-CN" sz="2200" b="1" dirty="0"/>
              <a:t>10</a:t>
            </a:r>
            <a:r>
              <a:rPr lang="en-US" altLang="zh-CN" sz="2200" b="1" baseline="30000" dirty="0"/>
              <a:t>6</a:t>
            </a:r>
            <a:r>
              <a:rPr lang="en-US" altLang="zh-CN" sz="2200" b="1" dirty="0"/>
              <a:t>)</a:t>
            </a:r>
            <a:r>
              <a:rPr lang="zh-CN" altLang="zh-CN" sz="2200" b="1" dirty="0"/>
              <a:t>＝</a:t>
            </a:r>
            <a:r>
              <a:rPr lang="en-US" altLang="zh-CN" sz="2200" b="1" dirty="0"/>
              <a:t>0.98μs</a:t>
            </a:r>
            <a:r>
              <a:rPr lang="zh-CN" altLang="zh-CN" sz="2200" b="1" dirty="0" smtClean="0"/>
              <a:t>，</a:t>
            </a:r>
            <a:endParaRPr lang="en-US" altLang="zh-CN" sz="2200" b="1" dirty="0" smtClean="0"/>
          </a:p>
          <a:p>
            <a:pPr>
              <a:lnSpc>
                <a:spcPct val="150000"/>
              </a:lnSpc>
            </a:pPr>
            <a:r>
              <a:rPr lang="en-US" altLang="zh-CN" sz="2200" b="1" dirty="0"/>
              <a:t> </a:t>
            </a:r>
            <a:r>
              <a:rPr lang="en-US" altLang="zh-CN" sz="2200" b="1" dirty="0" smtClean="0"/>
              <a:t>    I/O</a:t>
            </a:r>
            <a:r>
              <a:rPr lang="zh-CN" altLang="zh-CN" sz="2200" b="1" dirty="0"/>
              <a:t>所占</a:t>
            </a:r>
            <a:r>
              <a:rPr lang="en-US" altLang="zh-CN" sz="2200" b="1" dirty="0"/>
              <a:t>CPU</a:t>
            </a:r>
            <a:r>
              <a:rPr lang="zh-CN" altLang="zh-CN" sz="2200" b="1" dirty="0"/>
              <a:t>时间百分比＝</a:t>
            </a:r>
            <a:r>
              <a:rPr lang="en-US" altLang="zh-CN" sz="2200" b="1" dirty="0"/>
              <a:t>(0.98/40)</a:t>
            </a:r>
            <a:r>
              <a:rPr lang="zh-CN" altLang="zh-CN" sz="2200" b="1" dirty="0"/>
              <a:t>×</a:t>
            </a:r>
            <a:r>
              <a:rPr lang="en-US" altLang="zh-CN" sz="2200" b="1" dirty="0"/>
              <a:t>20%</a:t>
            </a:r>
            <a:r>
              <a:rPr lang="zh-CN" altLang="zh-CN" sz="2200" b="1" dirty="0"/>
              <a:t>＝</a:t>
            </a:r>
            <a:r>
              <a:rPr lang="en-US" altLang="zh-CN" sz="2200" b="1" dirty="0"/>
              <a:t>0.49% </a:t>
            </a:r>
            <a:r>
              <a:rPr lang="zh-CN" altLang="en-US" sz="2200" b="1" dirty="0" smtClean="0"/>
              <a:t>。</a:t>
            </a:r>
            <a:endParaRPr lang="zh-CN" alt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533137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 sz="2800" smtClean="0">
              <a:solidFill>
                <a:srgbClr val="000000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41991" name="Text Box 1027"/>
          <p:cNvSpPr txBox="1">
            <a:spLocks noChangeArrowheads="1"/>
          </p:cNvSpPr>
          <p:nvPr/>
        </p:nvSpPr>
        <p:spPr bwMode="auto">
          <a:xfrm>
            <a:off x="428625" y="1176338"/>
            <a:ext cx="8286750" cy="496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0" hangingPunct="0">
              <a:lnSpc>
                <a:spcPct val="120000"/>
              </a:lnSpc>
            </a:pPr>
            <a:r>
              <a:rPr lang="zh-CN" altLang="en-US" sz="2400" b="1" dirty="0" smtClean="0">
                <a:solidFill>
                  <a:srgbClr val="0000CC"/>
                </a:solidFill>
                <a:latin typeface="Times New Roman" pitchFamily="18" charset="0"/>
              </a:rPr>
              <a:t>例</a:t>
            </a:r>
            <a:r>
              <a:rPr lang="en-US" altLang="zh-CN" sz="2400" b="1" dirty="0" smtClean="0">
                <a:solidFill>
                  <a:srgbClr val="0000CC"/>
                </a:solidFill>
                <a:latin typeface="Times New Roman" pitchFamily="18" charset="0"/>
              </a:rPr>
              <a:t>1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</a:rPr>
              <a:t>：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欲用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16K×8bits  SRAM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芯片、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8K×8bits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SRAM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芯片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8K×8bits   ROM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芯片构成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64K×8bits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的主存储器（前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8KB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为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ROM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空间），主存片选信号线记为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      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，完成下列要求：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1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）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 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主存储器的地址信号线、数据信号线的个数各是多少？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2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）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 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主存储器需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ROM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SRAM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芯片各多少片？说明各芯片在主存储器空间中的位置及地址范围；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3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）画出该主存储器引脚与各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ROM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SRAM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芯片引脚的连接图；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4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）若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CPU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地址线为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 A19~A0（20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根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）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MEM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读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写控制线为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 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         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 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，写出该主存储器与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CPU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连接时，其片选信号线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 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的有效逻辑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(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表达式或电路均可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)。</a:t>
            </a:r>
            <a:endParaRPr lang="zh-CN" altLang="en-US" sz="2400" b="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1988" name="Object 2"/>
          <p:cNvGraphicFramePr>
            <a:graphicFrameLocks noChangeAspect="1"/>
          </p:cNvGraphicFramePr>
          <p:nvPr/>
        </p:nvGraphicFramePr>
        <p:xfrm>
          <a:off x="1500188" y="5140325"/>
          <a:ext cx="63341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5" name="公式" r:id="rId3" imgW="368140" imgH="203112" progId="Equation.3">
                  <p:embed/>
                </p:oleObj>
              </mc:Choice>
              <mc:Fallback>
                <p:oleObj name="公式" r:id="rId3" imgW="368140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5140325"/>
                        <a:ext cx="633412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6"/>
          <p:cNvGraphicFramePr>
            <a:graphicFrameLocks noChangeAspect="1"/>
          </p:cNvGraphicFramePr>
          <p:nvPr/>
        </p:nvGraphicFramePr>
        <p:xfrm>
          <a:off x="571500" y="5143500"/>
          <a:ext cx="6223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6" name="公式" r:id="rId5" imgW="355292" imgH="203024" progId="Equation.3">
                  <p:embed/>
                </p:oleObj>
              </mc:Choice>
              <mc:Fallback>
                <p:oleObj name="公式" r:id="rId5" imgW="355292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" y="5143500"/>
                        <a:ext cx="62230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0" name="Text Box 3"/>
          <p:cNvSpPr txBox="1">
            <a:spLocks noChangeArrowheads="1"/>
          </p:cNvSpPr>
          <p:nvPr/>
        </p:nvSpPr>
        <p:spPr bwMode="auto">
          <a:xfrm>
            <a:off x="533400" y="500063"/>
            <a:ext cx="571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0" hangingPunct="0">
              <a:spcBef>
                <a:spcPct val="50000"/>
              </a:spcBef>
              <a:buFontTx/>
              <a:buChar char="•"/>
            </a:pPr>
            <a:r>
              <a:rPr lang="zh-CN" altLang="en-US" b="1" smtClean="0">
                <a:solidFill>
                  <a:srgbClr val="FF0000"/>
                </a:solidFill>
                <a:latin typeface="Times New Roman" pitchFamily="18" charset="0"/>
              </a:rPr>
              <a:t>典型例题：</a:t>
            </a:r>
          </a:p>
        </p:txBody>
      </p:sp>
      <p:sp>
        <p:nvSpPr>
          <p:cNvPr id="9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244408" y="6525344"/>
            <a:ext cx="899592" cy="288032"/>
          </a:xfrm>
        </p:spPr>
        <p:txBody>
          <a:bodyPr/>
          <a:lstStyle/>
          <a:p>
            <a:pPr algn="ctr">
              <a:defRPr/>
            </a:pPr>
            <a:fld id="{5C4C1B93-8483-479B-9518-A9279CF2AAB5}" type="slidenum">
              <a:rPr lang="en-US" altLang="zh-CN" sz="16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pPr algn="ctr">
                <a:defRPr/>
              </a:pPr>
              <a:t>39</a:t>
            </a:fld>
            <a:endParaRPr lang="en-US" altLang="zh-C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0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863928"/>
              </p:ext>
            </p:extLst>
          </p:nvPr>
        </p:nvGraphicFramePr>
        <p:xfrm>
          <a:off x="5292331" y="2060848"/>
          <a:ext cx="431797" cy="431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7" name="Microsoft 公式 3.0" r:id="rId7" imgW="228501" imgH="215806" progId="Equation.3">
                  <p:embed/>
                </p:oleObj>
              </mc:Choice>
              <mc:Fallback>
                <p:oleObj name="Microsoft 公式 3.0" r:id="rId7" imgW="228501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331" y="2060848"/>
                        <a:ext cx="431797" cy="431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7896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027"/>
          <p:cNvSpPr txBox="1">
            <a:spLocks noChangeArrowheads="1"/>
          </p:cNvSpPr>
          <p:nvPr/>
        </p:nvSpPr>
        <p:spPr bwMode="auto">
          <a:xfrm>
            <a:off x="714375" y="561975"/>
            <a:ext cx="774605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0" hangingPunct="0"/>
            <a:r>
              <a:rPr lang="zh-CN" altLang="en-US" sz="24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解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①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地址信号线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=16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根、数据信号线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=8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根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；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eaLnBrk="0" hangingPunct="0"/>
            <a:endParaRPr lang="en-US" altLang="zh-CN" sz="2400" b="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0" hangingPunct="0"/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②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需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8K×8bits   ROM</a:t>
            </a:r>
            <a:r>
              <a:rPr lang="zh-CN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芯片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片、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 8K×8bits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SRAM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芯片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片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ahoma" pitchFamily="34" charset="0"/>
              </a:rPr>
              <a:t>16K×8bits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SRAM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芯片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片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；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     </a:t>
            </a:r>
          </a:p>
          <a:p>
            <a:pPr eaLnBrk="0" hangingPunct="0"/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</a:p>
          <a:p>
            <a:pPr eaLnBrk="0" hangingPunct="0"/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zh-CN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各芯片的位置：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942527"/>
              </p:ext>
            </p:extLst>
          </p:nvPr>
        </p:nvGraphicFramePr>
        <p:xfrm>
          <a:off x="1259632" y="3068960"/>
          <a:ext cx="6696744" cy="2996597"/>
        </p:xfrm>
        <a:graphic>
          <a:graphicData uri="http://schemas.openxmlformats.org/drawingml/2006/table">
            <a:tbl>
              <a:tblPr/>
              <a:tblGrid>
                <a:gridCol w="2016224"/>
                <a:gridCol w="1512168"/>
                <a:gridCol w="3168352"/>
              </a:tblGrid>
              <a:tr h="432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芯片</a:t>
                      </a:r>
                    </a:p>
                  </a:txBody>
                  <a:tcPr marL="68574" marR="6857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数据位</a:t>
                      </a:r>
                    </a:p>
                  </a:txBody>
                  <a:tcPr marL="68574" marR="6857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 smtClean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在主存储器中地址范围</a:t>
                      </a:r>
                      <a:endParaRPr lang="zh-CN" sz="2000" b="1" kern="100" dirty="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74" marR="6857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281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ahoma" pitchFamily="34" charset="0"/>
                        </a:rPr>
                        <a:t>8K  </a:t>
                      </a:r>
                      <a:r>
                        <a:rPr lang="en-US" sz="2000" b="1" kern="100" dirty="0" smtClean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ROM0</a:t>
                      </a:r>
                      <a:r>
                        <a:rPr lang="en-US" sz="2000" b="1" kern="1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#</a:t>
                      </a:r>
                      <a:endParaRPr lang="zh-CN" sz="2000" b="1" kern="100" dirty="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74" marR="6857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b7</a:t>
                      </a:r>
                      <a:r>
                        <a:rPr lang="zh-CN" sz="2000" b="1" kern="1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～</a:t>
                      </a:r>
                      <a:r>
                        <a:rPr lang="en-US" sz="2000" b="1" kern="100" dirty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b0</a:t>
                      </a:r>
                      <a:endParaRPr lang="zh-CN" sz="2000" b="1" kern="100" dirty="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74" marR="6857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 smtClean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0000H</a:t>
                      </a:r>
                      <a:r>
                        <a:rPr lang="zh-CN" sz="2000" b="1" kern="100" dirty="0" smtClean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～</a:t>
                      </a:r>
                      <a:r>
                        <a:rPr lang="en-US" sz="2000" b="1" kern="100" dirty="0" smtClean="0"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1FFFH</a:t>
                      </a:r>
                      <a:endParaRPr lang="zh-CN" sz="2000" b="1" kern="100" dirty="0"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956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dirty="0" smtClean="0">
                          <a:solidFill>
                            <a:srgbClr val="0000CC"/>
                          </a:solidFill>
                          <a:latin typeface="Times New Roman" pitchFamily="18" charset="0"/>
                          <a:cs typeface="Tahoma" pitchFamily="34" charset="0"/>
                        </a:rPr>
                        <a:t>8K </a:t>
                      </a:r>
                      <a:r>
                        <a:rPr lang="en-US" altLang="zh-CN" sz="2000" b="1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ahoma" pitchFamily="34" charset="0"/>
                        </a:rPr>
                        <a:t> </a:t>
                      </a:r>
                      <a:r>
                        <a:rPr lang="en-US" altLang="zh-CN" sz="2000" b="1" kern="100" dirty="0" smtClean="0">
                          <a:solidFill>
                            <a:srgbClr val="0000CC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SRAM0#</a:t>
                      </a:r>
                      <a:endParaRPr lang="zh-CN" altLang="zh-CN" sz="2000" b="1" kern="100" dirty="0">
                        <a:solidFill>
                          <a:srgbClr val="0000CC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74" marR="6857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rgbClr val="0000CC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b7</a:t>
                      </a:r>
                      <a:r>
                        <a:rPr lang="zh-CN" sz="2000" b="1" kern="100" dirty="0">
                          <a:solidFill>
                            <a:srgbClr val="0000CC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～</a:t>
                      </a:r>
                      <a:r>
                        <a:rPr lang="en-US" sz="2000" b="1" kern="100" dirty="0">
                          <a:solidFill>
                            <a:srgbClr val="0000CC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b0</a:t>
                      </a:r>
                      <a:endParaRPr lang="zh-CN" sz="2000" b="1" kern="100" dirty="0">
                        <a:solidFill>
                          <a:srgbClr val="0000CC"/>
                        </a:solidFill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74" marR="6857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 smtClean="0">
                          <a:solidFill>
                            <a:srgbClr val="0000CC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2000H</a:t>
                      </a:r>
                      <a:r>
                        <a:rPr lang="zh-CN" sz="2000" b="1" kern="100" dirty="0" smtClean="0">
                          <a:solidFill>
                            <a:srgbClr val="0000CC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～</a:t>
                      </a:r>
                      <a:r>
                        <a:rPr lang="en-US" sz="2000" b="1" kern="100" dirty="0" smtClean="0">
                          <a:solidFill>
                            <a:srgbClr val="0000CC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3FFFH</a:t>
                      </a:r>
                      <a:endParaRPr lang="zh-CN" sz="2000" b="1" kern="100" dirty="0">
                        <a:solidFill>
                          <a:srgbClr val="0000CC"/>
                        </a:solidFill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0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ahoma" pitchFamily="34" charset="0"/>
                        </a:rPr>
                        <a:t>16K  </a:t>
                      </a:r>
                      <a:r>
                        <a:rPr lang="en-US" sz="2000" b="1" kern="1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SRAM0</a:t>
                      </a:r>
                      <a:r>
                        <a:rPr lang="en-US" sz="2000" b="1" kern="1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#</a:t>
                      </a:r>
                      <a:endParaRPr lang="zh-CN" sz="2000" b="1" kern="1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74" marR="6857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b7</a:t>
                      </a:r>
                      <a:r>
                        <a:rPr lang="zh-CN" sz="2000" b="1" kern="1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～</a:t>
                      </a:r>
                      <a:r>
                        <a:rPr lang="en-US" sz="2000" b="1" kern="1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b0</a:t>
                      </a:r>
                      <a:endParaRPr lang="zh-CN" sz="2000" b="1" kern="1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74" marR="6857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4000H</a:t>
                      </a:r>
                      <a:r>
                        <a:rPr lang="zh-CN" sz="2000" b="1" kern="1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～</a:t>
                      </a:r>
                      <a:r>
                        <a:rPr lang="en-US" sz="2000" b="1" kern="1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7FFFH</a:t>
                      </a:r>
                      <a:endParaRPr lang="zh-CN" sz="2000" b="1" kern="1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0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ahoma" pitchFamily="34" charset="0"/>
                        </a:rPr>
                        <a:t>16K  </a:t>
                      </a:r>
                      <a:r>
                        <a:rPr lang="en-US" altLang="zh-CN" sz="2000" b="1" kern="1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SRAM1#</a:t>
                      </a:r>
                      <a:endParaRPr lang="zh-CN" altLang="zh-CN" sz="2000" b="1" kern="1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74" marR="6857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b7</a:t>
                      </a:r>
                      <a:r>
                        <a:rPr lang="zh-CN" sz="2000" b="1" kern="1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～</a:t>
                      </a:r>
                      <a:r>
                        <a:rPr lang="en-US" sz="2000" b="1" kern="1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b0</a:t>
                      </a:r>
                      <a:endParaRPr lang="zh-CN" sz="2000" b="1" kern="1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74" marR="6857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8000H</a:t>
                      </a:r>
                      <a:r>
                        <a:rPr lang="zh-CN" sz="2000" b="1" kern="1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～</a:t>
                      </a:r>
                      <a:r>
                        <a:rPr lang="en-US" sz="2000" b="1" kern="1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BFFFH</a:t>
                      </a:r>
                      <a:endParaRPr lang="zh-CN" sz="2000" b="1" kern="1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40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cs typeface="Tahoma" pitchFamily="34" charset="0"/>
                        </a:rPr>
                        <a:t>16K  </a:t>
                      </a:r>
                      <a:r>
                        <a:rPr lang="en-US" altLang="zh-CN" sz="2000" b="1" kern="1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SRAM2#</a:t>
                      </a:r>
                      <a:endParaRPr lang="zh-CN" altLang="zh-CN" sz="2000" b="1" kern="100" dirty="0" smtClean="0">
                        <a:solidFill>
                          <a:srgbClr val="FF0000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68574" marR="6857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b7</a:t>
                      </a:r>
                      <a:r>
                        <a:rPr lang="zh-CN" sz="2000" b="1" kern="1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～</a:t>
                      </a:r>
                      <a:r>
                        <a:rPr lang="en-US" sz="2000" b="1" kern="100" dirty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b0</a:t>
                      </a:r>
                      <a:endParaRPr lang="zh-CN" sz="2000" b="1" kern="1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74" marR="6857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C000H</a:t>
                      </a:r>
                      <a:r>
                        <a:rPr lang="zh-CN" sz="2000" b="1" kern="1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～</a:t>
                      </a:r>
                      <a:r>
                        <a:rPr lang="en-US" sz="2000" b="1" kern="100" dirty="0" smtClean="0">
                          <a:solidFill>
                            <a:srgbClr val="FF0000"/>
                          </a:solidFill>
                          <a:latin typeface="Times New Roman" pitchFamily="18" charset="0"/>
                          <a:ea typeface="宋体"/>
                          <a:cs typeface="Times New Roman" pitchFamily="18" charset="0"/>
                        </a:rPr>
                        <a:t>FFFFH</a:t>
                      </a:r>
                      <a:endParaRPr lang="zh-CN" sz="2000" b="1" kern="100" dirty="0">
                        <a:solidFill>
                          <a:srgbClr val="FF0000"/>
                        </a:solidFill>
                        <a:latin typeface="Times New Roman" pitchFamily="18" charset="0"/>
                        <a:ea typeface="宋体"/>
                        <a:cs typeface="Times New Roman" pitchFamily="18" charset="0"/>
                      </a:endParaRPr>
                    </a:p>
                  </a:txBody>
                  <a:tcPr marL="68574" marR="6857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244408" y="6525344"/>
            <a:ext cx="899592" cy="288032"/>
          </a:xfrm>
        </p:spPr>
        <p:txBody>
          <a:bodyPr/>
          <a:lstStyle/>
          <a:p>
            <a:pPr algn="ctr">
              <a:defRPr/>
            </a:pPr>
            <a:fld id="{5C4C1B93-8483-479B-9518-A9279CF2AAB5}" type="slidenum">
              <a:rPr lang="en-US" altLang="zh-CN" sz="16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pPr algn="ctr">
                <a:defRPr/>
              </a:pPr>
              <a:t>40</a:t>
            </a:fld>
            <a:endParaRPr lang="en-US" altLang="zh-C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263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1027"/>
          <p:cNvSpPr txBox="1">
            <a:spLocks noChangeArrowheads="1"/>
          </p:cNvSpPr>
          <p:nvPr/>
        </p:nvSpPr>
        <p:spPr bwMode="auto">
          <a:xfrm>
            <a:off x="669925" y="323850"/>
            <a:ext cx="6545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0" hangingPunct="0"/>
            <a:r>
              <a:rPr lang="zh-CN" altLang="en-US" sz="2400" b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③ </a:t>
            </a:r>
            <a:r>
              <a:rPr lang="zh-CN" altLang="en-US" sz="2400" b="1" smtClean="0">
                <a:solidFill>
                  <a:srgbClr val="000000"/>
                </a:solidFill>
              </a:rPr>
              <a:t>主存的信号线与内部各芯片引脚的连接图</a:t>
            </a:r>
            <a:endParaRPr lang="zh-CN" altLang="zh-CN" sz="2400" b="1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03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 sz="2800" smtClean="0">
              <a:solidFill>
                <a:srgbClr val="000000"/>
              </a:solidFill>
              <a:latin typeface="宋体" charset="-122"/>
              <a:ea typeface="宋体" charset="-122"/>
            </a:endParaRPr>
          </a:p>
        </p:txBody>
      </p:sp>
      <p:graphicFrame>
        <p:nvGraphicFramePr>
          <p:cNvPr id="44036" name="Object 2"/>
          <p:cNvGraphicFramePr>
            <a:graphicFrameLocks noChangeAspect="1"/>
          </p:cNvGraphicFramePr>
          <p:nvPr/>
        </p:nvGraphicFramePr>
        <p:xfrm>
          <a:off x="5662613" y="5272088"/>
          <a:ext cx="183832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7" name="Microsoft 公式 3.0" r:id="rId3" imgW="850531" imgH="241195" progId="Equation.3">
                  <p:embed/>
                </p:oleObj>
              </mc:Choice>
              <mc:Fallback>
                <p:oleObj name="Microsoft 公式 3.0" r:id="rId3" imgW="850531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2613" y="5272088"/>
                        <a:ext cx="183832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7" name="Text Box 1027"/>
          <p:cNvSpPr txBox="1">
            <a:spLocks noChangeArrowheads="1"/>
          </p:cNvSpPr>
          <p:nvPr/>
        </p:nvSpPr>
        <p:spPr bwMode="auto">
          <a:xfrm>
            <a:off x="688975" y="5286375"/>
            <a:ext cx="7240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0" hangingPunct="0"/>
            <a:r>
              <a:rPr lang="zh-CN" altLang="zh-CN" b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④ </a:t>
            </a:r>
            <a:r>
              <a:rPr lang="en-US" altLang="zh-CN" b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altLang="zh-CN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=(A19+A18+A17+A16) +</a:t>
            </a:r>
            <a:endParaRPr lang="zh-CN" altLang="zh-CN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4038" name="Object 1"/>
          <p:cNvGraphicFramePr>
            <a:graphicFrameLocks noChangeAspect="1"/>
          </p:cNvGraphicFramePr>
          <p:nvPr/>
        </p:nvGraphicFramePr>
        <p:xfrm>
          <a:off x="1192213" y="5246688"/>
          <a:ext cx="52228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08" name="Microsoft 公式 3.0" r:id="rId5" imgW="228501" imgH="215806" progId="Equation.3">
                  <p:embed/>
                </p:oleObj>
              </mc:Choice>
              <mc:Fallback>
                <p:oleObj name="Microsoft 公式 3.0" r:id="rId5" imgW="228501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5246688"/>
                        <a:ext cx="522287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244408" y="6525344"/>
            <a:ext cx="899592" cy="288032"/>
          </a:xfrm>
        </p:spPr>
        <p:txBody>
          <a:bodyPr/>
          <a:lstStyle/>
          <a:p>
            <a:pPr algn="ctr">
              <a:defRPr/>
            </a:pPr>
            <a:fld id="{5C4C1B93-8483-479B-9518-A9279CF2AAB5}" type="slidenum">
              <a:rPr lang="en-US" altLang="zh-CN" sz="16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pPr algn="ctr">
                <a:defRPr/>
              </a:pPr>
              <a:t>41</a:t>
            </a:fld>
            <a:endParaRPr lang="en-US" altLang="zh-C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498" name="Picture 37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012676"/>
            <a:ext cx="6896100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9882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67544" y="1380832"/>
            <a:ext cx="820891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思考题：</a:t>
            </a:r>
            <a:r>
              <a:rPr lang="zh-CN" altLang="en-US" b="1" dirty="0" smtClean="0"/>
              <a:t>如上述计算机</a:t>
            </a:r>
            <a:r>
              <a:rPr lang="zh-CN" altLang="en-US" b="1" dirty="0"/>
              <a:t>的</a:t>
            </a:r>
            <a:r>
              <a:rPr lang="zh-CN" altLang="en-US" b="1" dirty="0" smtClean="0"/>
              <a:t>存储器，空间</a:t>
            </a:r>
            <a:r>
              <a:rPr lang="zh-CN" altLang="en-US" b="1" dirty="0"/>
              <a:t>的低端为主存空间、高端为</a:t>
            </a:r>
            <a:r>
              <a:rPr lang="en-US" altLang="zh-CN" b="1" dirty="0"/>
              <a:t>I/O</a:t>
            </a:r>
            <a:r>
              <a:rPr lang="zh-CN" altLang="en-US" b="1" dirty="0"/>
              <a:t>空间；系统总线</a:t>
            </a:r>
            <a:r>
              <a:rPr lang="en-US" altLang="zh-CN" b="1" dirty="0"/>
              <a:t>X</a:t>
            </a:r>
            <a:r>
              <a:rPr lang="zh-CN" altLang="en-US" b="1" dirty="0"/>
              <a:t>为</a:t>
            </a:r>
            <a:r>
              <a:rPr lang="en-US" altLang="zh-CN" b="1" dirty="0"/>
              <a:t>8</a:t>
            </a:r>
            <a:r>
              <a:rPr lang="zh-CN" altLang="en-US" b="1" dirty="0"/>
              <a:t>位半同步总线，时钟频率为</a:t>
            </a:r>
            <a:r>
              <a:rPr lang="en-US" altLang="zh-CN" b="1" dirty="0"/>
              <a:t>10MHz</a:t>
            </a:r>
            <a:r>
              <a:rPr lang="zh-CN" altLang="en-US" b="1" dirty="0" smtClean="0"/>
              <a:t>，控制</a:t>
            </a:r>
            <a:r>
              <a:rPr lang="zh-CN" altLang="en-US" b="1" dirty="0"/>
              <a:t>线中的</a:t>
            </a:r>
            <a:r>
              <a:rPr lang="zh-CN" altLang="en-US" b="1" dirty="0" smtClean="0"/>
              <a:t>、         、      有效</a:t>
            </a:r>
            <a:r>
              <a:rPr lang="zh-CN" altLang="en-US" b="1" dirty="0"/>
              <a:t>分别表示存储器读、存储器写总线事务</a:t>
            </a:r>
            <a:r>
              <a:rPr lang="zh-CN" altLang="en-US" b="1" dirty="0" smtClean="0"/>
              <a:t>。芯片</a:t>
            </a:r>
            <a:r>
              <a:rPr lang="zh-CN" altLang="en-US" b="1" dirty="0"/>
              <a:t>的存取周期都为</a:t>
            </a:r>
            <a:r>
              <a:rPr lang="en-US" altLang="zh-CN" b="1" dirty="0" smtClean="0"/>
              <a:t>0.35μs</a:t>
            </a:r>
            <a:r>
              <a:rPr lang="zh-CN" altLang="en-US" b="1" dirty="0" smtClean="0"/>
              <a:t>。该</a:t>
            </a:r>
            <a:r>
              <a:rPr lang="zh-CN" altLang="en-US" b="1" dirty="0"/>
              <a:t>计算机中，</a:t>
            </a:r>
            <a:r>
              <a:rPr lang="en-US" altLang="zh-CN" b="1" dirty="0"/>
              <a:t>I/O</a:t>
            </a:r>
            <a:r>
              <a:rPr lang="zh-CN" altLang="en-US" b="1" dirty="0"/>
              <a:t>端口采用的编址方式是什么</a:t>
            </a:r>
            <a:r>
              <a:rPr lang="zh-CN" altLang="en-US" b="1" dirty="0" smtClean="0"/>
              <a:t>？若</a:t>
            </a:r>
            <a:r>
              <a:rPr lang="en-US" altLang="zh-CN" b="1" dirty="0"/>
              <a:t>X</a:t>
            </a:r>
            <a:r>
              <a:rPr lang="zh-CN" altLang="en-US" b="1" dirty="0" smtClean="0"/>
              <a:t>总线</a:t>
            </a:r>
            <a:r>
              <a:rPr lang="zh-CN" altLang="en-US" b="1" dirty="0"/>
              <a:t>每个时钟周期可以传送一个地址</a:t>
            </a:r>
            <a:r>
              <a:rPr lang="en-US" altLang="zh-CN" b="1" dirty="0"/>
              <a:t>/</a:t>
            </a:r>
            <a:r>
              <a:rPr lang="zh-CN" altLang="en-US" b="1" dirty="0"/>
              <a:t>命令或一个数据，数据传送支持突发传输方式，则</a:t>
            </a:r>
            <a:r>
              <a:rPr lang="en-US" altLang="zh-CN" b="1" dirty="0"/>
              <a:t>X</a:t>
            </a:r>
            <a:r>
              <a:rPr lang="zh-CN" altLang="en-US" b="1" dirty="0"/>
              <a:t>总线的总线带宽是多少？</a:t>
            </a:r>
            <a:r>
              <a:rPr lang="zh-CN" altLang="en-US" b="1" dirty="0" smtClean="0"/>
              <a:t>通过</a:t>
            </a:r>
            <a:r>
              <a:rPr lang="en-US" altLang="zh-CN" b="1" dirty="0"/>
              <a:t>X</a:t>
            </a:r>
            <a:r>
              <a:rPr lang="zh-CN" altLang="en-US" b="1" dirty="0" smtClean="0"/>
              <a:t>总线</a:t>
            </a:r>
            <a:r>
              <a:rPr lang="zh-CN" altLang="en-US" b="1" dirty="0"/>
              <a:t>从主存</a:t>
            </a:r>
            <a:r>
              <a:rPr lang="zh-CN" altLang="en-US" b="1" dirty="0" smtClean="0"/>
              <a:t>读取</a:t>
            </a:r>
            <a:r>
              <a:rPr lang="en-US" altLang="zh-CN" b="1" dirty="0" smtClean="0"/>
              <a:t>2B</a:t>
            </a:r>
            <a:r>
              <a:rPr lang="zh-CN" altLang="en-US" b="1" dirty="0"/>
              <a:t>数据至少需要多少时间？	</a:t>
            </a:r>
          </a:p>
          <a:p>
            <a:endParaRPr lang="en-US" altLang="zh-CN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515432"/>
              </p:ext>
            </p:extLst>
          </p:nvPr>
        </p:nvGraphicFramePr>
        <p:xfrm>
          <a:off x="3589660" y="2134121"/>
          <a:ext cx="622300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1" name="公式" r:id="rId3" imgW="355292" imgH="203024" progId="Equation.3">
                  <p:embed/>
                </p:oleObj>
              </mc:Choice>
              <mc:Fallback>
                <p:oleObj name="公式" r:id="rId3" imgW="355292" imgH="203024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9660" y="2134121"/>
                        <a:ext cx="622300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693785"/>
              </p:ext>
            </p:extLst>
          </p:nvPr>
        </p:nvGraphicFramePr>
        <p:xfrm>
          <a:off x="4514652" y="2132533"/>
          <a:ext cx="63341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2" name="公式" r:id="rId5" imgW="368140" imgH="203112" progId="Equation.3">
                  <p:embed/>
                </p:oleObj>
              </mc:Choice>
              <mc:Fallback>
                <p:oleObj name="公式" r:id="rId5" imgW="368140" imgH="203112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652" y="2132533"/>
                        <a:ext cx="633412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0136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3"/>
          <p:cNvSpPr txBox="1">
            <a:spLocks noChangeArrowheads="1"/>
          </p:cNvSpPr>
          <p:nvPr/>
        </p:nvSpPr>
        <p:spPr bwMode="auto">
          <a:xfrm>
            <a:off x="395536" y="265872"/>
            <a:ext cx="8208912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zh-CN" altLang="en-US" sz="20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例</a:t>
            </a:r>
            <a:r>
              <a:rPr lang="en-US" altLang="zh-CN" sz="20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0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zh-CN" altLang="zh-CN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某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zh-CN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位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CPU</a:t>
            </a:r>
            <a:r>
              <a:rPr lang="zh-CN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中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，数据通路采用单总线结构，如下图所示。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ALU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可实现加法、减法运算（控制信号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Op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分别为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），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可实现零扩展、符号扩展运算（控制信号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en-US" altLang="zh-CN" sz="2000" b="1" baseline="-25000" dirty="0" err="1">
                <a:latin typeface="Times New Roman" pitchFamily="18" charset="0"/>
                <a:cs typeface="Times New Roman" pitchFamily="18" charset="0"/>
              </a:rPr>
              <a:t>sgn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分别为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），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PC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具有计数功能（控制信号为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PC</a:t>
            </a:r>
            <a:r>
              <a:rPr lang="en-US" altLang="zh-CN" sz="2000" b="1" baseline="-25000" dirty="0">
                <a:latin typeface="Times New Roman" pitchFamily="18" charset="0"/>
                <a:cs typeface="Times New Roman" pitchFamily="18" charset="0"/>
              </a:rPr>
              <a:t>+1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），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GPRs</a:t>
            </a:r>
            <a:r>
              <a:rPr lang="zh-CN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读端口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的寄存器地址由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Rsel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选择（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对应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RS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），未标出的部件输入、输出控制信号名用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000" b="1" baseline="-25000" dirty="0" err="1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及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000" b="1" baseline="-25000" dirty="0" err="1"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表示。控制器采用联合控制方式进行</a:t>
            </a:r>
            <a:r>
              <a:rPr lang="en-US" altLang="zh-CN" sz="2000" b="1" dirty="0" err="1">
                <a:latin typeface="Times New Roman" pitchFamily="18" charset="0"/>
                <a:cs typeface="Times New Roman" pitchFamily="18" charset="0"/>
              </a:rPr>
              <a:t>μOP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定时（控制信号为</a:t>
            </a:r>
            <a:r>
              <a:rPr lang="en-US" altLang="zh-CN" sz="2000" b="1" dirty="0">
                <a:latin typeface="Times New Roman" pitchFamily="18" charset="0"/>
                <a:cs typeface="Times New Roman" pitchFamily="18" charset="0"/>
              </a:rPr>
              <a:t>WMFC</a:t>
            </a:r>
            <a:r>
              <a:rPr lang="zh-CN" altLang="zh-CN" sz="2000" b="1" dirty="0">
                <a:latin typeface="Times New Roman" pitchFamily="18" charset="0"/>
                <a:cs typeface="Times New Roman" pitchFamily="18" charset="0"/>
              </a:rPr>
              <a:t>）</a:t>
            </a:r>
            <a:r>
              <a:rPr lang="zh-CN" altLang="zh-CN" sz="2000" b="1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lang="zh-CN" altLang="en-US" sz="2000" b="1" dirty="0" smtClean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059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endParaRPr lang="zh-CN" altLang="en-US" sz="2800" smtClean="0">
              <a:solidFill>
                <a:srgbClr val="000000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420636"/>
              </p:ext>
            </p:extLst>
          </p:nvPr>
        </p:nvGraphicFramePr>
        <p:xfrm>
          <a:off x="823340" y="2132856"/>
          <a:ext cx="7497320" cy="2742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r:id="rId3" imgW="4392058" imgH="1612634" progId="Visio.Drawing.11">
                  <p:embed/>
                </p:oleObj>
              </mc:Choice>
              <mc:Fallback>
                <p:oleObj r:id="rId3" imgW="4392058" imgH="1612634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340" y="2132856"/>
                        <a:ext cx="7497320" cy="27425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1540" y="4869160"/>
            <a:ext cx="83529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304800" algn="just"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000" b="1" kern="100" dirty="0">
                <a:solidFill>
                  <a:srgbClr val="000000"/>
                </a:solidFill>
                <a:ea typeface="+mn-ea"/>
                <a:cs typeface="Times New Roman" pitchFamily="18" charset="0"/>
              </a:rPr>
              <a:t>回答下列问题：</a:t>
            </a:r>
          </a:p>
          <a:p>
            <a:pPr marL="903288" lvl="0" indent="-598488" algn="just"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000" b="1" kern="100" dirty="0">
                <a:solidFill>
                  <a:srgbClr val="000000"/>
                </a:solidFill>
                <a:ea typeface="+mn-ea"/>
                <a:cs typeface="Times New Roman" pitchFamily="18" charset="0"/>
              </a:rPr>
              <a:t>（</a:t>
            </a:r>
            <a:r>
              <a:rPr kumimoji="0" lang="en-US" altLang="zh-CN" sz="2000" b="1" kern="100" dirty="0">
                <a:solidFill>
                  <a:srgbClr val="000000"/>
                </a:solidFill>
                <a:ea typeface="+mn-ea"/>
                <a:cs typeface="Times New Roman" pitchFamily="18" charset="0"/>
              </a:rPr>
              <a:t>1</a:t>
            </a:r>
            <a:r>
              <a:rPr kumimoji="0" lang="zh-CN" altLang="en-US" sz="2000" b="1" kern="100" dirty="0" smtClean="0">
                <a:solidFill>
                  <a:srgbClr val="000000"/>
                </a:solidFill>
                <a:ea typeface="+mn-ea"/>
                <a:cs typeface="Times New Roman" pitchFamily="18" charset="0"/>
              </a:rPr>
              <a:t>）写出</a:t>
            </a:r>
            <a:r>
              <a:rPr kumimoji="0" lang="en-US" altLang="zh-CN" sz="2000" b="1" kern="100" dirty="0">
                <a:solidFill>
                  <a:srgbClr val="000000"/>
                </a:solidFill>
                <a:ea typeface="+mn-ea"/>
                <a:cs typeface="Times New Roman" pitchFamily="18" charset="0"/>
              </a:rPr>
              <a:t>DE</a:t>
            </a:r>
            <a:r>
              <a:rPr kumimoji="0" lang="zh-CN" altLang="en-US" sz="2000" b="1" kern="100" dirty="0">
                <a:solidFill>
                  <a:srgbClr val="000000"/>
                </a:solidFill>
                <a:ea typeface="+mn-ea"/>
                <a:cs typeface="Times New Roman" pitchFamily="18" charset="0"/>
              </a:rPr>
              <a:t>出端信号</a:t>
            </a:r>
            <a:r>
              <a:rPr kumimoji="0" lang="zh-CN" altLang="en-US" sz="2000" b="1" kern="100" dirty="0" smtClean="0">
                <a:solidFill>
                  <a:srgbClr val="000000"/>
                </a:solidFill>
                <a:ea typeface="+mn-ea"/>
                <a:cs typeface="Times New Roman" pitchFamily="18" charset="0"/>
              </a:rPr>
              <a:t>的逻辑</a:t>
            </a:r>
            <a:r>
              <a:rPr kumimoji="0" lang="zh-CN" altLang="en-US" sz="2000" b="1" kern="100" dirty="0">
                <a:solidFill>
                  <a:srgbClr val="000000"/>
                </a:solidFill>
                <a:ea typeface="+mn-ea"/>
                <a:cs typeface="Times New Roman" pitchFamily="18" charset="0"/>
              </a:rPr>
              <a:t>。</a:t>
            </a:r>
          </a:p>
          <a:p>
            <a:pPr lvl="0" indent="304800" algn="just"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en-US" sz="2000" b="1" kern="100" dirty="0">
                <a:solidFill>
                  <a:srgbClr val="000000"/>
                </a:solidFill>
                <a:ea typeface="+mn-ea"/>
                <a:cs typeface="Times New Roman" pitchFamily="18" charset="0"/>
              </a:rPr>
              <a:t>（</a:t>
            </a:r>
            <a:r>
              <a:rPr kumimoji="0" lang="en-US" altLang="zh-CN" sz="2000" b="1" kern="100" dirty="0">
                <a:solidFill>
                  <a:srgbClr val="000000"/>
                </a:solidFill>
                <a:ea typeface="+mn-ea"/>
                <a:cs typeface="Times New Roman" pitchFamily="18" charset="0"/>
              </a:rPr>
              <a:t>2</a:t>
            </a:r>
            <a:r>
              <a:rPr kumimoji="0" lang="zh-CN" altLang="en-US" sz="2000" b="1" kern="100" dirty="0">
                <a:solidFill>
                  <a:srgbClr val="000000"/>
                </a:solidFill>
                <a:ea typeface="+mn-ea"/>
                <a:cs typeface="Times New Roman" pitchFamily="18" charset="0"/>
              </a:rPr>
              <a:t>）说明</a:t>
            </a:r>
            <a:r>
              <a:rPr kumimoji="0" lang="en-US" altLang="zh-CN" sz="2000" b="1" kern="100" dirty="0" smtClean="0">
                <a:solidFill>
                  <a:srgbClr val="000000"/>
                </a:solidFill>
                <a:ea typeface="+mn-ea"/>
                <a:cs typeface="Times New Roman" pitchFamily="18" charset="0"/>
              </a:rPr>
              <a:t>ALU</a:t>
            </a:r>
            <a:r>
              <a:rPr kumimoji="0" lang="zh-CN" altLang="en-US" sz="2000" b="1" kern="100" dirty="0" smtClean="0">
                <a:solidFill>
                  <a:srgbClr val="000000"/>
                </a:solidFill>
                <a:ea typeface="+mn-ea"/>
                <a:cs typeface="Times New Roman" pitchFamily="18" charset="0"/>
              </a:rPr>
              <a:t>入端</a:t>
            </a:r>
            <a:r>
              <a:rPr kumimoji="0" lang="zh-CN" altLang="en-US" sz="2000" b="1" kern="100" dirty="0">
                <a:solidFill>
                  <a:srgbClr val="000000"/>
                </a:solidFill>
                <a:ea typeface="+mn-ea"/>
                <a:cs typeface="Times New Roman" pitchFamily="18" charset="0"/>
              </a:rPr>
              <a:t>设置</a:t>
            </a:r>
            <a:r>
              <a:rPr kumimoji="0" lang="zh-CN" altLang="en-US" sz="2000" b="1" kern="100" dirty="0" smtClean="0">
                <a:solidFill>
                  <a:srgbClr val="000000"/>
                </a:solidFill>
                <a:ea typeface="+mn-ea"/>
                <a:cs typeface="Times New Roman" pitchFamily="18" charset="0"/>
              </a:rPr>
              <a:t>寄存器</a:t>
            </a:r>
            <a:r>
              <a:rPr kumimoji="0" lang="en-US" altLang="zh-CN" sz="2000" b="1" kern="100" dirty="0" smtClean="0">
                <a:solidFill>
                  <a:srgbClr val="000000"/>
                </a:solidFill>
                <a:ea typeface="+mn-ea"/>
                <a:cs typeface="Times New Roman" pitchFamily="18" charset="0"/>
              </a:rPr>
              <a:t>Y</a:t>
            </a:r>
            <a:r>
              <a:rPr kumimoji="0" lang="zh-CN" altLang="en-US" sz="2000" b="1" kern="100" dirty="0" smtClean="0">
                <a:solidFill>
                  <a:srgbClr val="000000"/>
                </a:solidFill>
                <a:ea typeface="+mn-ea"/>
                <a:cs typeface="Times New Roman" pitchFamily="18" charset="0"/>
              </a:rPr>
              <a:t>的</a:t>
            </a:r>
            <a:r>
              <a:rPr kumimoji="0" lang="zh-CN" altLang="en-US" sz="2000" b="1" kern="100" dirty="0">
                <a:solidFill>
                  <a:srgbClr val="000000"/>
                </a:solidFill>
                <a:ea typeface="+mn-ea"/>
                <a:cs typeface="Times New Roman" pitchFamily="18" charset="0"/>
              </a:rPr>
              <a:t>原因</a:t>
            </a:r>
            <a:r>
              <a:rPr kumimoji="0" lang="zh-CN" altLang="en-US" sz="2000" b="1" kern="100" dirty="0" smtClean="0">
                <a:solidFill>
                  <a:srgbClr val="000000"/>
                </a:solidFill>
                <a:ea typeface="+mn-ea"/>
                <a:cs typeface="Times New Roman" pitchFamily="18" charset="0"/>
              </a:rPr>
              <a:t>。</a:t>
            </a:r>
            <a:endParaRPr kumimoji="0" lang="en-US" altLang="zh-CN" sz="2000" b="1" kern="100" dirty="0" smtClean="0">
              <a:solidFill>
                <a:srgbClr val="000000"/>
              </a:solidFill>
              <a:ea typeface="+mn-ea"/>
              <a:cs typeface="Times New Roman" pitchFamily="18" charset="0"/>
            </a:endParaRPr>
          </a:p>
          <a:p>
            <a:pPr indent="304800" algn="just"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2000" b="1" kern="100" dirty="0"/>
              <a:t>（</a:t>
            </a:r>
            <a:r>
              <a:rPr lang="en-US" altLang="zh-CN" sz="2000" b="1" kern="100" dirty="0"/>
              <a:t>3</a:t>
            </a:r>
            <a:r>
              <a:rPr lang="zh-CN" altLang="zh-CN" sz="2000" b="1" kern="100" dirty="0" smtClean="0"/>
              <a:t>）</a:t>
            </a:r>
            <a:r>
              <a:rPr lang="zh-CN" altLang="en-US" sz="2000" b="1" dirty="0">
                <a:solidFill>
                  <a:srgbClr val="000000"/>
                </a:solidFill>
                <a:cs typeface="Times New Roman" pitchFamily="18" charset="0"/>
              </a:rPr>
              <a:t>将存储单元</a:t>
            </a:r>
            <a:r>
              <a:rPr lang="en-US" altLang="zh-CN" sz="2000" b="1" dirty="0">
                <a:solidFill>
                  <a:srgbClr val="000000"/>
                </a:solidFill>
                <a:cs typeface="Times New Roman" pitchFamily="18" charset="0"/>
              </a:rPr>
              <a:t>NUM</a:t>
            </a:r>
            <a:r>
              <a:rPr lang="zh-CN" altLang="en-US" sz="2000" b="1" dirty="0">
                <a:solidFill>
                  <a:srgbClr val="000000"/>
                </a:solidFill>
                <a:cs typeface="Times New Roman" pitchFamily="18" charset="0"/>
              </a:rPr>
              <a:t>的内容加到寄存器</a:t>
            </a:r>
            <a:r>
              <a:rPr lang="en-US" altLang="zh-CN" sz="2000" b="1" dirty="0">
                <a:solidFill>
                  <a:srgbClr val="000000"/>
                </a:solidFill>
                <a:cs typeface="Times New Roman" pitchFamily="18" charset="0"/>
              </a:rPr>
              <a:t>RD</a:t>
            </a:r>
            <a:r>
              <a:rPr lang="zh-CN" altLang="en-US" sz="2000" b="1" dirty="0">
                <a:solidFill>
                  <a:srgbClr val="000000"/>
                </a:solidFill>
                <a:cs typeface="Times New Roman" pitchFamily="18" charset="0"/>
              </a:rPr>
              <a:t>中，该指令是双字指令；写出</a:t>
            </a:r>
            <a:r>
              <a:rPr lang="en-US" altLang="zh-CN" sz="2000" b="1" kern="100" dirty="0" err="1">
                <a:cs typeface="Times New Roman" pitchFamily="18" charset="0"/>
              </a:rPr>
              <a:t>μOPCmd</a:t>
            </a:r>
            <a:r>
              <a:rPr lang="zh-CN" altLang="zh-CN" sz="2000" b="1" kern="100" dirty="0" smtClean="0">
                <a:cs typeface="Times New Roman" pitchFamily="18" charset="0"/>
              </a:rPr>
              <a:t>序列</a:t>
            </a:r>
            <a:r>
              <a:rPr lang="zh-CN" altLang="zh-CN" sz="2000" b="1" kern="100" dirty="0" smtClean="0"/>
              <a:t>。</a:t>
            </a:r>
            <a:endParaRPr lang="zh-CN" altLang="en-US" sz="2000" b="1" dirty="0">
              <a:ea typeface="+mn-ea"/>
              <a:cs typeface="Times New Roman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244408" y="6525344"/>
            <a:ext cx="899592" cy="288032"/>
          </a:xfrm>
        </p:spPr>
        <p:txBody>
          <a:bodyPr/>
          <a:lstStyle/>
          <a:p>
            <a:pPr algn="ctr">
              <a:defRPr/>
            </a:pPr>
            <a:fld id="{5C4C1B93-8483-479B-9518-A9279CF2AAB5}" type="slidenum">
              <a:rPr lang="en-US" altLang="zh-CN" sz="16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pPr algn="ctr">
                <a:defRPr/>
              </a:pPr>
              <a:t>43</a:t>
            </a:fld>
            <a:endParaRPr lang="en-US" altLang="zh-C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81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457200" y="1893887"/>
            <a:ext cx="8001000" cy="4847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宋体" charset="-122"/>
                <a:ea typeface="宋体" charset="-122"/>
              </a:defRPr>
            </a:lvl9pPr>
          </a:lstStyle>
          <a:p>
            <a:pPr algn="just" eaLnBrk="0" hangingPunct="0">
              <a:spcBef>
                <a:spcPts val="600"/>
              </a:spcBef>
            </a:pP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（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）将存储单元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NUM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的内容加到寄存器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中，该指令是双字指令；写出</a:t>
            </a:r>
            <a:r>
              <a:rPr lang="en-US" altLang="zh-CN" sz="2400" b="1" kern="100" dirty="0" err="1" smtClean="0">
                <a:latin typeface="Times New Roman" pitchFamily="18" charset="0"/>
                <a:cs typeface="Times New Roman" pitchFamily="18" charset="0"/>
              </a:rPr>
              <a:t>μOPCmd</a:t>
            </a:r>
            <a:r>
              <a:rPr lang="zh-CN" altLang="zh-CN" sz="2400" b="1" kern="100" dirty="0">
                <a:latin typeface="Times New Roman" pitchFamily="18" charset="0"/>
                <a:cs typeface="Times New Roman" pitchFamily="18" charset="0"/>
              </a:rPr>
              <a:t>序列， </a:t>
            </a:r>
            <a:r>
              <a:rPr lang="zh-CN" altLang="en-US" sz="2000" b="1" dirty="0" smtClean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（若指令是单字指令？）</a:t>
            </a:r>
          </a:p>
          <a:p>
            <a:pPr algn="just" eaLnBrk="0" hangingPunct="0">
              <a:spcBef>
                <a:spcPts val="600"/>
              </a:spcBef>
            </a:pPr>
            <a:r>
              <a:rPr lang="zh-CN" altLang="en-US" sz="24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4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t1</a:t>
            </a:r>
            <a:r>
              <a:rPr lang="zh-CN" altLang="en-US" sz="24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2400" b="1" dirty="0" err="1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PC</a:t>
            </a:r>
            <a:r>
              <a:rPr lang="en-US" altLang="zh-CN" sz="2400" b="1" baseline="-30000" dirty="0" err="1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zh-CN" altLang="zh-CN" sz="2400" b="1" kern="100" dirty="0" smtClean="0">
                <a:solidFill>
                  <a:srgbClr val="0000CC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、</a:t>
            </a:r>
            <a:r>
              <a:rPr lang="en-US" altLang="zh-CN" sz="2400" b="1" dirty="0" err="1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MAR</a:t>
            </a:r>
            <a:r>
              <a:rPr lang="en-US" altLang="zh-CN" sz="2400" b="1" baseline="-30000" dirty="0" err="1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zh-CN" altLang="zh-CN" sz="2400" b="1" kern="100" dirty="0" smtClean="0">
                <a:solidFill>
                  <a:srgbClr val="0000CC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、</a:t>
            </a:r>
            <a:r>
              <a:rPr lang="en-US" altLang="zh-CN" sz="24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READ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24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  t2</a:t>
            </a:r>
            <a:r>
              <a:rPr lang="zh-CN" altLang="en-US" sz="24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24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WMFC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24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  t3</a:t>
            </a:r>
            <a:r>
              <a:rPr lang="zh-CN" altLang="en-US" sz="24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2400" b="1" dirty="0" err="1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MDR</a:t>
            </a:r>
            <a:r>
              <a:rPr lang="en-US" altLang="zh-CN" sz="2400" b="1" baseline="-30000" dirty="0" err="1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zh-CN" altLang="zh-CN" sz="2400" b="1" kern="100" dirty="0" smtClean="0">
                <a:solidFill>
                  <a:srgbClr val="0000CC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、</a:t>
            </a:r>
            <a:r>
              <a:rPr lang="en-US" altLang="zh-CN" sz="2400" b="1" dirty="0" err="1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IR</a:t>
            </a:r>
            <a:r>
              <a:rPr lang="en-US" altLang="zh-CN" sz="2400" b="1" baseline="-30000" dirty="0" err="1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endParaRPr lang="en-US" altLang="zh-CN" sz="2400" b="1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hangingPunct="0">
              <a:spcBef>
                <a:spcPts val="600"/>
              </a:spcBef>
            </a:pPr>
            <a:r>
              <a:rPr lang="en-US" altLang="zh-CN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t4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24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PC</a:t>
            </a:r>
            <a:r>
              <a:rPr lang="en-US" altLang="zh-CN" sz="2400" b="1" baseline="-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zh-CN" altLang="zh-CN" sz="2400" b="1" kern="100" dirty="0" smtClean="0">
                <a:solidFill>
                  <a:srgbClr val="FF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、</a:t>
            </a:r>
            <a:r>
              <a:rPr lang="en-US" altLang="zh-CN" sz="24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MAR</a:t>
            </a:r>
            <a:r>
              <a:rPr lang="en-US" altLang="zh-CN" sz="2400" b="1" baseline="-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zh-CN" altLang="zh-CN" sz="2400" b="1" kern="100" dirty="0" smtClean="0">
                <a:solidFill>
                  <a:srgbClr val="FF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、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READ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t5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WMFC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 t6</a:t>
            </a:r>
            <a:r>
              <a:rPr lang="zh-CN" altLang="en-US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2400" b="1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MDR</a:t>
            </a:r>
            <a:r>
              <a:rPr lang="en-US" altLang="zh-CN" sz="2400" b="1" baseline="-30000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zh-CN" altLang="zh-CN" sz="2400" b="1" kern="100" dirty="0" smtClean="0">
                <a:solidFill>
                  <a:srgbClr val="00B05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、</a:t>
            </a:r>
            <a:r>
              <a:rPr lang="en-US" altLang="zh-CN" sz="2400" b="1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MAR</a:t>
            </a:r>
            <a:r>
              <a:rPr lang="en-US" altLang="zh-CN" sz="2400" b="1" baseline="-30000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zh-CN" altLang="zh-CN" sz="2400" b="1" kern="100" dirty="0" smtClean="0">
                <a:solidFill>
                  <a:srgbClr val="00B05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、</a:t>
            </a:r>
            <a:r>
              <a:rPr lang="en-US" altLang="zh-CN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READ</a:t>
            </a:r>
            <a:r>
              <a:rPr lang="zh-CN" altLang="zh-CN" sz="2400" b="1" kern="100" dirty="0" smtClean="0">
                <a:solidFill>
                  <a:srgbClr val="00B05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、</a:t>
            </a:r>
            <a:r>
              <a:rPr lang="en-US" altLang="zh-CN" sz="24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WMFC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t7</a:t>
            </a:r>
            <a:r>
              <a:rPr lang="zh-CN" alt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24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MDR</a:t>
            </a:r>
            <a:r>
              <a:rPr lang="en-US" altLang="zh-CN" sz="2400" b="1" baseline="-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zh-CN" altLang="zh-CN" sz="2400" b="1" kern="100" dirty="0" smtClean="0">
                <a:solidFill>
                  <a:srgbClr val="FF0000"/>
                </a:solidFill>
                <a:latin typeface="Times New Roman" pitchFamily="18" charset="0"/>
                <a:ea typeface="宋体"/>
                <a:cs typeface="Times New Roman" pitchFamily="18" charset="0"/>
              </a:rPr>
              <a:t>、</a:t>
            </a:r>
            <a:r>
              <a:rPr lang="en-US" altLang="zh-CN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zh-CN" sz="2400" b="1" baseline="-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endParaRPr lang="en-US" altLang="zh-CN" sz="24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hangingPunct="0">
              <a:spcBef>
                <a:spcPts val="600"/>
              </a:spcBef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t8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2400" b="1" kern="100" dirty="0">
                <a:latin typeface="Times New Roman" pitchFamily="18" charset="0"/>
                <a:ea typeface="宋体"/>
                <a:cs typeface="Times New Roman" pitchFamily="18" charset="0"/>
              </a:rPr>
              <a:t> </a:t>
            </a:r>
            <a:r>
              <a:rPr lang="en-US" altLang="zh-CN" sz="2400" b="1" kern="100" dirty="0" err="1">
                <a:latin typeface="Times New Roman" pitchFamily="18" charset="0"/>
                <a:ea typeface="宋体"/>
                <a:cs typeface="Times New Roman" pitchFamily="18" charset="0"/>
              </a:rPr>
              <a:t>GR</a:t>
            </a:r>
            <a:r>
              <a:rPr lang="en-US" altLang="zh-CN" sz="2400" b="1" kern="100" baseline="-25000" dirty="0" err="1">
                <a:latin typeface="Times New Roman" pitchFamily="18" charset="0"/>
                <a:ea typeface="宋体"/>
                <a:cs typeface="Times New Roman" pitchFamily="18" charset="0"/>
              </a:rPr>
              <a:t>out</a:t>
            </a:r>
            <a:r>
              <a:rPr lang="zh-CN" altLang="zh-CN" sz="2400" b="1" kern="100" dirty="0">
                <a:latin typeface="Times New Roman" pitchFamily="18" charset="0"/>
                <a:ea typeface="宋体"/>
                <a:cs typeface="Times New Roman" pitchFamily="18" charset="0"/>
              </a:rPr>
              <a:t>、</a:t>
            </a:r>
            <a:r>
              <a:rPr lang="en-US" altLang="zh-CN" sz="2400" b="1" kern="100" dirty="0" err="1" smtClean="0">
                <a:latin typeface="Times New Roman" pitchFamily="18" charset="0"/>
                <a:ea typeface="宋体"/>
                <a:cs typeface="Times New Roman" pitchFamily="18" charset="0"/>
              </a:rPr>
              <a:t>Rsel</a:t>
            </a:r>
            <a:r>
              <a:rPr lang="en-US" altLang="zh-CN" sz="2400" b="1" kern="100" dirty="0" smtClean="0">
                <a:latin typeface="Times New Roman" pitchFamily="18" charset="0"/>
                <a:ea typeface="宋体"/>
                <a:cs typeface="Times New Roman" pitchFamily="18" charset="0"/>
              </a:rPr>
              <a:t>=1</a:t>
            </a:r>
            <a:r>
              <a:rPr lang="zh-CN" altLang="zh-CN" sz="2400" b="1" kern="100" dirty="0" smtClean="0">
                <a:latin typeface="Times New Roman" pitchFamily="18" charset="0"/>
                <a:ea typeface="宋体"/>
                <a:cs typeface="Times New Roman" pitchFamily="18" charset="0"/>
              </a:rPr>
              <a:t>、</a:t>
            </a:r>
            <a:r>
              <a:rPr lang="en-US" altLang="zh-CN" sz="2400" b="1" kern="100" dirty="0" smtClean="0">
                <a:latin typeface="Times New Roman" pitchFamily="18" charset="0"/>
                <a:ea typeface="宋体"/>
                <a:cs typeface="Times New Roman" pitchFamily="18" charset="0"/>
              </a:rPr>
              <a:t>Op</a:t>
            </a:r>
            <a:r>
              <a:rPr lang="zh-CN" altLang="zh-CN" sz="2400" b="1" kern="100" dirty="0">
                <a:latin typeface="Times New Roman" pitchFamily="18" charset="0"/>
                <a:ea typeface="宋体"/>
                <a:cs typeface="Times New Roman" pitchFamily="18" charset="0"/>
              </a:rPr>
              <a:t>＝</a:t>
            </a:r>
            <a:r>
              <a:rPr lang="en-US" altLang="zh-CN" sz="2400" b="1" kern="100" dirty="0" smtClean="0">
                <a:latin typeface="Times New Roman" pitchFamily="18" charset="0"/>
                <a:ea typeface="宋体"/>
                <a:cs typeface="Times New Roman" pitchFamily="18" charset="0"/>
              </a:rPr>
              <a:t>0</a:t>
            </a:r>
            <a:r>
              <a:rPr lang="zh-CN" altLang="zh-CN" sz="2400" b="1" kern="100" dirty="0" smtClean="0">
                <a:latin typeface="Times New Roman" pitchFamily="18" charset="0"/>
                <a:ea typeface="宋体"/>
                <a:cs typeface="Times New Roman" pitchFamily="18" charset="0"/>
              </a:rPr>
              <a:t>、 </a:t>
            </a:r>
            <a:r>
              <a:rPr lang="en-US" altLang="zh-CN" sz="2400" b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CN" sz="2400" b="1" baseline="-30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endParaRPr lang="en-US" altLang="zh-CN" sz="2400" b="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 eaLnBrk="0" hangingPunct="0">
              <a:spcBef>
                <a:spcPts val="600"/>
              </a:spcBef>
            </a:pP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t9</a:t>
            </a:r>
            <a:r>
              <a:rPr lang="zh-CN" altLang="en-US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en-US" altLang="zh-CN" sz="2400" b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CN" sz="2400" b="1" baseline="-30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zh-CN" altLang="zh-CN" sz="2400" b="1" kern="100" dirty="0" smtClean="0">
                <a:latin typeface="Times New Roman" pitchFamily="18" charset="0"/>
                <a:ea typeface="宋体"/>
                <a:cs typeface="Times New Roman" pitchFamily="18" charset="0"/>
              </a:rPr>
              <a:t>、</a:t>
            </a:r>
            <a:r>
              <a:rPr lang="en-US" altLang="zh-CN" sz="2400" b="1" kern="100" dirty="0" err="1" smtClean="0">
                <a:latin typeface="Times New Roman" pitchFamily="18" charset="0"/>
                <a:ea typeface="宋体"/>
                <a:cs typeface="Times New Roman" pitchFamily="18" charset="0"/>
              </a:rPr>
              <a:t>GR</a:t>
            </a:r>
            <a:r>
              <a:rPr lang="en-US" altLang="zh-CN" sz="2400" b="1" kern="100" baseline="-25000" dirty="0" err="1" smtClean="0">
                <a:latin typeface="Times New Roman" pitchFamily="18" charset="0"/>
                <a:ea typeface="宋体"/>
                <a:cs typeface="Times New Roman" pitchFamily="18" charset="0"/>
              </a:rPr>
              <a:t>in</a:t>
            </a:r>
            <a:r>
              <a:rPr lang="zh-CN" altLang="zh-CN" sz="2400" b="1" kern="100" dirty="0" smtClean="0">
                <a:latin typeface="Times New Roman" pitchFamily="18" charset="0"/>
                <a:ea typeface="宋体"/>
                <a:cs typeface="Times New Roman" pitchFamily="18" charset="0"/>
              </a:rPr>
              <a:t>、</a:t>
            </a:r>
            <a:r>
              <a:rPr lang="en-US" altLang="zh-CN" sz="24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END </a:t>
            </a:r>
          </a:p>
        </p:txBody>
      </p:sp>
      <p:sp>
        <p:nvSpPr>
          <p:cNvPr id="3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244408" y="6525344"/>
            <a:ext cx="899592" cy="288032"/>
          </a:xfrm>
        </p:spPr>
        <p:txBody>
          <a:bodyPr/>
          <a:lstStyle/>
          <a:p>
            <a:pPr algn="ctr">
              <a:defRPr/>
            </a:pPr>
            <a:fld id="{5C4C1B93-8483-479B-9518-A9279CF2AAB5}" type="slidenum">
              <a:rPr lang="en-US" altLang="zh-CN" sz="16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pPr algn="ctr">
                <a:defRPr/>
              </a:pPr>
              <a:t>44</a:t>
            </a:fld>
            <a:endParaRPr lang="en-US" altLang="zh-CN" sz="1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1560" y="162506"/>
            <a:ext cx="82089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b="1" kern="100" dirty="0" smtClean="0">
                <a:solidFill>
                  <a:srgbClr val="0000CC"/>
                </a:solidFill>
                <a:ea typeface="宋体"/>
                <a:cs typeface="Times New Roman" pitchFamily="18" charset="0"/>
              </a:rPr>
              <a:t>解：</a:t>
            </a:r>
            <a:endParaRPr lang="en-US" altLang="zh-CN" b="1" kern="100" dirty="0" smtClean="0">
              <a:solidFill>
                <a:srgbClr val="0000CC"/>
              </a:solidFill>
              <a:ea typeface="宋体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AutoNum type="arabicParenBoth"/>
            </a:pPr>
            <a:r>
              <a:rPr lang="en-US" altLang="zh-CN" b="1" kern="100" dirty="0" smtClean="0">
                <a:ea typeface="宋体"/>
                <a:cs typeface="Times New Roman" pitchFamily="18" charset="0"/>
              </a:rPr>
              <a:t> </a:t>
            </a:r>
            <a:r>
              <a:rPr lang="zh-CN" altLang="en-US" b="1" kern="100" dirty="0" smtClean="0">
                <a:ea typeface="宋体"/>
                <a:cs typeface="Times New Roman" pitchFamily="18" charset="0"/>
              </a:rPr>
              <a:t>例如</a:t>
            </a:r>
            <a:r>
              <a:rPr lang="en-US" altLang="zh-CN" b="1" kern="100" dirty="0" smtClean="0">
                <a:ea typeface="宋体"/>
                <a:cs typeface="Times New Roman" pitchFamily="18" charset="0"/>
              </a:rPr>
              <a:t>8</a:t>
            </a:r>
            <a:r>
              <a:rPr lang="zh-CN" altLang="en-US" b="1" kern="100" dirty="0" smtClean="0">
                <a:ea typeface="宋体"/>
                <a:cs typeface="Times New Roman" pitchFamily="18" charset="0"/>
              </a:rPr>
              <a:t>位扩</a:t>
            </a:r>
            <a:r>
              <a:rPr lang="en-US" altLang="zh-CN" b="1" kern="100" dirty="0" smtClean="0">
                <a:ea typeface="宋体"/>
                <a:cs typeface="Times New Roman" pitchFamily="18" charset="0"/>
              </a:rPr>
              <a:t>16</a:t>
            </a:r>
            <a:r>
              <a:rPr lang="zh-CN" altLang="en-US" b="1" kern="100" dirty="0" smtClean="0">
                <a:ea typeface="宋体"/>
                <a:cs typeface="Times New Roman" pitchFamily="18" charset="0"/>
              </a:rPr>
              <a:t>位：</a:t>
            </a:r>
            <a:r>
              <a:rPr lang="en-US" altLang="zh-CN" b="1" kern="100" dirty="0" smtClean="0">
                <a:ea typeface="宋体"/>
                <a:cs typeface="Times New Roman" pitchFamily="18" charset="0"/>
              </a:rPr>
              <a:t>Q</a:t>
            </a:r>
            <a:r>
              <a:rPr lang="en-US" altLang="zh-CN" b="1" kern="100" baseline="-25000" dirty="0" smtClean="0">
                <a:ea typeface="宋体"/>
                <a:cs typeface="Times New Roman" pitchFamily="18" charset="0"/>
              </a:rPr>
              <a:t>15 </a:t>
            </a:r>
            <a:r>
              <a:rPr lang="en-US" altLang="zh-CN" b="1" kern="100" dirty="0" smtClean="0">
                <a:ea typeface="宋体"/>
                <a:cs typeface="Times New Roman" pitchFamily="18" charset="0"/>
              </a:rPr>
              <a:t>~ Q</a:t>
            </a:r>
            <a:r>
              <a:rPr lang="en-US" altLang="zh-CN" b="1" kern="100" baseline="-25000" dirty="0" smtClean="0">
                <a:ea typeface="宋体"/>
                <a:cs typeface="Times New Roman" pitchFamily="18" charset="0"/>
              </a:rPr>
              <a:t>8</a:t>
            </a:r>
            <a:r>
              <a:rPr lang="zh-CN" altLang="zh-CN" b="1" kern="100" dirty="0">
                <a:ea typeface="宋体"/>
                <a:cs typeface="Times New Roman" pitchFamily="18" charset="0"/>
              </a:rPr>
              <a:t>＝</a:t>
            </a:r>
            <a:r>
              <a:rPr lang="en-US" altLang="zh-CN" b="1" kern="100" dirty="0">
                <a:ea typeface="宋体"/>
                <a:cs typeface="Times New Roman" pitchFamily="18" charset="0"/>
              </a:rPr>
              <a:t>D</a:t>
            </a:r>
            <a:r>
              <a:rPr lang="en-US" altLang="zh-CN" b="1" kern="100" baseline="-25000" dirty="0">
                <a:ea typeface="宋体"/>
                <a:cs typeface="Times New Roman" pitchFamily="18" charset="0"/>
              </a:rPr>
              <a:t>7</a:t>
            </a:r>
            <a:r>
              <a:rPr lang="en-US" altLang="zh-CN" b="1" kern="100" dirty="0">
                <a:ea typeface="宋体"/>
                <a:cs typeface="Times New Roman" pitchFamily="18" charset="0"/>
              </a:rPr>
              <a:t>·DE</a:t>
            </a:r>
            <a:r>
              <a:rPr lang="en-US" altLang="zh-CN" b="1" kern="100" baseline="-25000" dirty="0">
                <a:ea typeface="宋体"/>
                <a:cs typeface="Times New Roman" pitchFamily="18" charset="0"/>
              </a:rPr>
              <a:t>sgn</a:t>
            </a:r>
            <a:r>
              <a:rPr lang="zh-CN" altLang="zh-CN" b="1" kern="100" dirty="0">
                <a:ea typeface="宋体"/>
                <a:cs typeface="Times New Roman" pitchFamily="18" charset="0"/>
              </a:rPr>
              <a:t>，</a:t>
            </a:r>
            <a:r>
              <a:rPr lang="en-US" altLang="zh-CN" b="1" kern="100" dirty="0" smtClean="0">
                <a:ea typeface="宋体"/>
                <a:cs typeface="Times New Roman" pitchFamily="18" charset="0"/>
              </a:rPr>
              <a:t>Q</a:t>
            </a:r>
            <a:r>
              <a:rPr lang="en-US" altLang="zh-CN" b="1" kern="100" baseline="-25000" dirty="0" smtClean="0">
                <a:ea typeface="宋体"/>
                <a:cs typeface="Times New Roman" pitchFamily="18" charset="0"/>
              </a:rPr>
              <a:t>7 </a:t>
            </a:r>
            <a:r>
              <a:rPr lang="en-US" altLang="zh-CN" b="1" kern="100" dirty="0" smtClean="0">
                <a:ea typeface="宋体"/>
                <a:cs typeface="Times New Roman" pitchFamily="18" charset="0"/>
              </a:rPr>
              <a:t>~ Q</a:t>
            </a:r>
            <a:r>
              <a:rPr lang="en-US" altLang="zh-CN" b="1" kern="100" baseline="-25000" dirty="0" smtClean="0">
                <a:ea typeface="宋体"/>
                <a:cs typeface="Times New Roman" pitchFamily="18" charset="0"/>
              </a:rPr>
              <a:t>0</a:t>
            </a:r>
            <a:r>
              <a:rPr lang="zh-CN" altLang="zh-CN" b="1" kern="100" dirty="0">
                <a:ea typeface="宋体"/>
                <a:cs typeface="Times New Roman" pitchFamily="18" charset="0"/>
              </a:rPr>
              <a:t>＝</a:t>
            </a:r>
            <a:r>
              <a:rPr lang="en-US" altLang="zh-CN" b="1" kern="100" dirty="0" smtClean="0">
                <a:ea typeface="宋体"/>
                <a:cs typeface="Times New Roman" pitchFamily="18" charset="0"/>
              </a:rPr>
              <a:t>D</a:t>
            </a:r>
            <a:r>
              <a:rPr lang="en-US" altLang="zh-CN" b="1" kern="100" baseline="-25000" dirty="0" smtClean="0">
                <a:ea typeface="宋体"/>
                <a:cs typeface="Times New Roman" pitchFamily="18" charset="0"/>
              </a:rPr>
              <a:t>7 </a:t>
            </a:r>
            <a:r>
              <a:rPr lang="en-US" altLang="zh-CN" b="1" kern="100" dirty="0" smtClean="0">
                <a:ea typeface="宋体"/>
                <a:cs typeface="Times New Roman" pitchFamily="18" charset="0"/>
              </a:rPr>
              <a:t>~ D</a:t>
            </a:r>
            <a:r>
              <a:rPr lang="en-US" altLang="zh-CN" b="1" kern="100" baseline="-25000" dirty="0" smtClean="0">
                <a:ea typeface="宋体"/>
                <a:cs typeface="Times New Roman" pitchFamily="18" charset="0"/>
              </a:rPr>
              <a:t>0</a:t>
            </a:r>
            <a:endParaRPr lang="en-US" altLang="zh-CN" b="1" kern="100" dirty="0" smtClean="0">
              <a:ea typeface="宋体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spcAft>
                <a:spcPts val="0"/>
              </a:spcAft>
              <a:buAutoNum type="arabicParenBoth"/>
            </a:pPr>
            <a:r>
              <a:rPr lang="en-US" altLang="zh-CN" b="1" kern="100" dirty="0" smtClean="0">
                <a:ea typeface="宋体"/>
                <a:cs typeface="Times New Roman" pitchFamily="18" charset="0"/>
              </a:rPr>
              <a:t> </a:t>
            </a:r>
            <a:r>
              <a:rPr lang="zh-CN" altLang="zh-CN" b="1" kern="100" dirty="0" smtClean="0">
                <a:ea typeface="宋体"/>
                <a:cs typeface="Times New Roman" pitchFamily="18" charset="0"/>
              </a:rPr>
              <a:t>如</a:t>
            </a:r>
            <a:r>
              <a:rPr lang="zh-CN" altLang="zh-CN" b="1" kern="100" dirty="0">
                <a:ea typeface="宋体"/>
                <a:cs typeface="Times New Roman" pitchFamily="18" charset="0"/>
              </a:rPr>
              <a:t>不</a:t>
            </a:r>
            <a:r>
              <a:rPr lang="zh-CN" altLang="zh-CN" b="1" kern="100" dirty="0" smtClean="0">
                <a:ea typeface="宋体"/>
                <a:cs typeface="Times New Roman" pitchFamily="18" charset="0"/>
              </a:rPr>
              <a:t>设置</a:t>
            </a:r>
            <a:r>
              <a:rPr lang="en-US" altLang="zh-CN" b="1" kern="100" dirty="0" smtClean="0">
                <a:ea typeface="宋体"/>
                <a:cs typeface="Times New Roman" pitchFamily="18" charset="0"/>
              </a:rPr>
              <a:t>Y</a:t>
            </a:r>
            <a:r>
              <a:rPr lang="zh-CN" altLang="zh-CN" b="1" kern="100" dirty="0" smtClean="0">
                <a:ea typeface="宋体"/>
                <a:cs typeface="Times New Roman" pitchFamily="18" charset="0"/>
              </a:rPr>
              <a:t>，</a:t>
            </a:r>
            <a:r>
              <a:rPr lang="en-US" altLang="zh-CN" b="1" kern="100" dirty="0" smtClean="0">
                <a:ea typeface="宋体"/>
                <a:cs typeface="Times New Roman" pitchFamily="18" charset="0"/>
              </a:rPr>
              <a:t>ALU</a:t>
            </a:r>
            <a:r>
              <a:rPr lang="zh-CN" altLang="zh-CN" b="1" kern="100" dirty="0" smtClean="0">
                <a:ea typeface="宋体"/>
                <a:cs typeface="Times New Roman" pitchFamily="18" charset="0"/>
              </a:rPr>
              <a:t>入端</a:t>
            </a:r>
            <a:r>
              <a:rPr lang="zh-CN" altLang="en-US" b="1" kern="100" dirty="0" smtClean="0">
                <a:ea typeface="宋体"/>
                <a:cs typeface="Times New Roman" pitchFamily="18" charset="0"/>
              </a:rPr>
              <a:t>数据冲突 </a:t>
            </a:r>
            <a:endParaRPr lang="en-US" altLang="zh-CN" b="1" kern="100" dirty="0" smtClean="0">
              <a:ea typeface="宋体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697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2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rgbClr val="CC3300"/>
            </a:solidFill>
            <a:effectLst/>
            <a:latin typeface="宋体" pitchFamily="2" charset="-12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25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rgbClr val="CC3300"/>
            </a:solidFill>
            <a:effectLst/>
            <a:latin typeface="宋体" pitchFamily="2" charset="-122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模板">
  <a:themeElements>
    <a:clrScheme name="">
      <a:dk1>
        <a:srgbClr val="000000"/>
      </a:dk1>
      <a:lt1>
        <a:srgbClr val="FFFFFF"/>
      </a:lt1>
      <a:dk2>
        <a:srgbClr val="336699"/>
      </a:dk2>
      <a:lt2>
        <a:srgbClr val="CEC8BA"/>
      </a:lt2>
      <a:accent1>
        <a:srgbClr val="CCECFF"/>
      </a:accent1>
      <a:accent2>
        <a:srgbClr val="FFFFE7"/>
      </a:accent2>
      <a:accent3>
        <a:srgbClr val="FFFFFF"/>
      </a:accent3>
      <a:accent4>
        <a:srgbClr val="000000"/>
      </a:accent4>
      <a:accent5>
        <a:srgbClr val="E2F4FF"/>
      </a:accent5>
      <a:accent6>
        <a:srgbClr val="E7E7D1"/>
      </a:accent6>
      <a:hlink>
        <a:srgbClr val="FF0000"/>
      </a:hlink>
      <a:folHlink>
        <a:srgbClr val="0000FF"/>
      </a:folHlink>
    </a:clrScheme>
    <a:fontScheme name="模板">
      <a:majorFont>
        <a:latin typeface="Arial Narrow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1"/>
          </a:solidFill>
          <a:prstDash val="solid"/>
          <a:miter lim="800000"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tx1"/>
          </a:solidFill>
          <a:prstDash val="solid"/>
          <a:miter lim="800000"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</a:defRPr>
        </a:defPPr>
      </a:lstStyle>
    </a:lnDef>
  </a:objectDefaults>
  <a:extraClrSchemeLst>
    <a:extraClrScheme>
      <a:clrScheme name="模板 1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模板 2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000000"/>
        </a:accent1>
        <a:accent2>
          <a:srgbClr val="000099"/>
        </a:accent2>
        <a:accent3>
          <a:srgbClr val="AAAAAA"/>
        </a:accent3>
        <a:accent4>
          <a:srgbClr val="DADADA"/>
        </a:accent4>
        <a:accent5>
          <a:srgbClr val="AAAAAA"/>
        </a:accent5>
        <a:accent6>
          <a:srgbClr val="00008A"/>
        </a:accent6>
        <a:hlink>
          <a:srgbClr val="800000"/>
        </a:hlink>
        <a:folHlink>
          <a:srgbClr val="00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模板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6374</Words>
  <Application>Microsoft Office PowerPoint</Application>
  <PresentationFormat>全屏显示(4:3)</PresentationFormat>
  <Paragraphs>680</Paragraphs>
  <Slides>44</Slides>
  <Notes>4</Notes>
  <HiddenSlides>0</HiddenSlides>
  <MMClips>0</MMClips>
  <ScaleCrop>false</ScaleCrop>
  <HeadingPairs>
    <vt:vector size="6" baseType="variant">
      <vt:variant>
        <vt:lpstr>主题</vt:lpstr>
      </vt:variant>
      <vt:variant>
        <vt:i4>4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44</vt:i4>
      </vt:variant>
    </vt:vector>
  </HeadingPairs>
  <TitlesOfParts>
    <vt:vector size="51" baseType="lpstr">
      <vt:lpstr>默认设计模板</vt:lpstr>
      <vt:lpstr>1_默认设计模板</vt:lpstr>
      <vt:lpstr>2_默认设计模板</vt:lpstr>
      <vt:lpstr>模板</vt:lpstr>
      <vt:lpstr>Visio.Drawing.11</vt:lpstr>
      <vt:lpstr>公式</vt:lpstr>
      <vt:lpstr>Microsoft 公式 3.0</vt:lpstr>
      <vt:lpstr>东南大学计算机学院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>
  <dc:title>PowerPoint 演示文稿</dc:title>
  <cp:revision>755</cp:revision>
</cp:coreProperties>
</file>