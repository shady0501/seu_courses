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327" r:id="rId3"/>
    <p:sldId id="385" r:id="rId4"/>
    <p:sldId id="397" r:id="rId5"/>
    <p:sldId id="430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33" r:id="rId19"/>
    <p:sldId id="425" r:id="rId20"/>
    <p:sldId id="426" r:id="rId21"/>
    <p:sldId id="427" r:id="rId22"/>
    <p:sldId id="428" r:id="rId23"/>
    <p:sldId id="429" r:id="rId24"/>
    <p:sldId id="431" r:id="rId25"/>
    <p:sldId id="434" r:id="rId26"/>
    <p:sldId id="435" r:id="rId27"/>
    <p:sldId id="436" r:id="rId28"/>
    <p:sldId id="437" r:id="rId29"/>
    <p:sldId id="439" r:id="rId30"/>
    <p:sldId id="440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990099"/>
    <a:srgbClr val="CCCCFF"/>
    <a:srgbClr val="CCECFF"/>
    <a:srgbClr val="CCFFFF"/>
    <a:srgbClr val="99CCFF"/>
    <a:srgbClr val="FFCCFF"/>
    <a:srgbClr val="FFCC99"/>
    <a:srgbClr val="CC99FF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5669" autoAdjust="0"/>
  </p:normalViewPr>
  <p:slideViewPr>
    <p:cSldViewPr>
      <p:cViewPr>
        <p:scale>
          <a:sx n="70" d="100"/>
          <a:sy n="70" d="100"/>
        </p:scale>
        <p:origin x="-816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FB4FD2-40DE-4077-9F22-6A1ED43CA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8627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3573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指令地址用程序</a:t>
            </a:r>
            <a:r>
              <a:rPr lang="en-US" altLang="zh-CN" dirty="0" smtClean="0"/>
              <a:t>MEM</a:t>
            </a:r>
            <a:r>
              <a:rPr lang="zh-CN" altLang="en-US" dirty="0" smtClean="0"/>
              <a:t>地址表示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833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指令信息的约定方法：先确定表示方式（哪些显式、哪些隐式），再进行编码（仅显式信息）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893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寻址方式通过操作码、寻址方式位来识别，通过相关部件来实现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7063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1200" b="0" dirty="0" smtClean="0">
                <a:solidFill>
                  <a:srgbClr val="0033CC"/>
                </a:solidFill>
                <a:latin typeface="+mn-ea"/>
              </a:rPr>
              <a:t>CPU</a:t>
            </a:r>
            <a:r>
              <a:rPr lang="zh-CN" altLang="en-US" sz="1200" b="0" dirty="0" smtClean="0">
                <a:solidFill>
                  <a:srgbClr val="0033CC"/>
                </a:solidFill>
                <a:latin typeface="+mn-ea"/>
              </a:rPr>
              <a:t>工作原理</a:t>
            </a:r>
            <a:r>
              <a:rPr lang="en-US" altLang="zh-CN" sz="1200" b="0" dirty="0" smtClean="0">
                <a:solidFill>
                  <a:srgbClr val="0033CC"/>
                </a:solidFill>
                <a:latin typeface="+mn-ea"/>
              </a:rPr>
              <a:t>—</a:t>
            </a:r>
            <a:r>
              <a:rPr lang="en-US" altLang="zh-CN" sz="1200" b="0" dirty="0" smtClean="0">
                <a:latin typeface="+mn-ea"/>
              </a:rPr>
              <a:t>CU</a:t>
            </a:r>
            <a:r>
              <a:rPr lang="zh-CN" altLang="en-US" sz="1200" b="0" dirty="0" smtClean="0">
                <a:latin typeface="+mn-ea"/>
              </a:rPr>
              <a:t>循环地产生工作流程所需的</a:t>
            </a:r>
            <a:r>
              <a:rPr lang="en-US" altLang="zh-CN" sz="1200" b="0" spc="-80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μ</a:t>
            </a:r>
            <a:r>
              <a:rPr lang="en-US" altLang="zh-CN" sz="1200" b="0" spc="-80" dirty="0" err="1" smtClean="0">
                <a:latin typeface="宋体" pitchFamily="2" charset="-122"/>
              </a:rPr>
              <a:t>OP</a:t>
            </a:r>
            <a:r>
              <a:rPr lang="zh-CN" altLang="en-US" sz="1200" b="0" spc="-80" dirty="0" smtClean="0">
                <a:latin typeface="宋体" pitchFamily="2" charset="-122"/>
              </a:rPr>
              <a:t>控制信号，控制</a:t>
            </a:r>
            <a:r>
              <a:rPr lang="en-US" altLang="zh-CN" sz="1200" b="0" spc="-80" dirty="0" err="1" smtClean="0">
                <a:latin typeface="宋体" pitchFamily="2" charset="-122"/>
              </a:rPr>
              <a:t>DataPath</a:t>
            </a:r>
            <a:r>
              <a:rPr lang="zh-CN" altLang="en-US" sz="1200" b="0" spc="-80" dirty="0" smtClean="0">
                <a:latin typeface="宋体" pitchFamily="2" charset="-122"/>
              </a:rPr>
              <a:t>实现工作流程约定的操作</a:t>
            </a:r>
            <a:endParaRPr lang="en-US" altLang="zh-CN" sz="1200" b="0" dirty="0" smtClean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3162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996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C050A-F57A-40C0-9B1B-373CE1AC8D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890A0-C1D7-4D81-BC83-BB8B5B83BF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4B6CB-6BFD-4E2B-B1E4-61114F34ED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85928-72D7-42F3-890C-59D38CD3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782DC-BC2B-490B-872A-14D20A0088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D8C57-9535-4CE0-B4EB-86CA6883D3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/>
        </p:spPr>
        <p:txBody>
          <a:bodyPr lIns="18000" tIns="10800" rIns="18000" bIns="10800" anchor="ctr" anchorCtr="0"/>
          <a:lstStyle>
            <a:lvl1pPr algn="ctr">
              <a:lnSpc>
                <a:spcPct val="9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0" y="6525344"/>
            <a:ext cx="1187624" cy="288032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vert="horz" wrap="square" lIns="18000" tIns="10800" rIns="18000" bIns="1080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b="0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515D5-EFA9-4F76-9D3B-C25D31E190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06FE7-E0C2-4275-AC9D-E8EDB399D1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D5888-32B9-4CAB-AF74-F9CAFEAEF5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C1C2F-8197-4EDA-89D9-CC230000E4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5B4E53F5-CDC8-4E76-9FDD-E52403B1F9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2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1&#31456;.pptx#-1,35,PowerPoint &#28436;&#31034;&#25991;&#31295;" TargetMode="Externa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2&#31456;.pptx#-1,58,PowerPoint &#28436;&#31034;&#25991;&#31295;" TargetMode="External"/><Relationship Id="rId2" Type="http://schemas.openxmlformats.org/officeDocument/2006/relationships/hyperlink" Target="&#35745;&#31639;&#26426;&#32452;&#25104;&#21407;&#29702;&#31532;2&#31456;.pptx#-1,60,PowerPoint &#28436;&#31034;&#25991;&#31295;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3&#31456;.pptx#-1,8,PowerPoint &#28436;&#31034;&#25991;&#31295;" TargetMode="Externa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7.xml"/><Relationship Id="rId5" Type="http://schemas.openxmlformats.org/officeDocument/2006/relationships/slide" Target="slide4.xml"/><Relationship Id="rId4" Type="http://schemas.openxmlformats.org/officeDocument/2006/relationships/hyperlink" Target="&#35745;&#31639;&#26426;&#32452;&#25104;&#21407;&#29702;&#31532;3&#31456;.pptx#-1,14,PowerPoint &#28436;&#31034;&#25991;&#31295;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3&#31456;.pptx#-1,40,PowerPoint &#28436;&#31034;&#25991;&#31295;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3&#31456;.pptx#-1,58,PowerPoint &#28436;&#31034;&#25991;&#31295;" TargetMode="Externa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&#35745;&#31639;&#26426;&#32452;&#25104;&#21407;&#29702;&#31532;3&#31456;.pptx#-1,71,PowerPoint &#28436;&#31034;&#25991;&#31295;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4&#31456;.pptx#-1,17,PowerPoint &#28436;&#31034;&#25991;&#31295;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&#35745;&#31639;&#26426;&#32452;&#25104;&#21407;&#29702;&#31532;2&#31456;.pptx#-1,55,PowerPoint &#28436;&#31034;&#25991;&#31295;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4&#31456;.pptx#-1,34,PowerPoint &#28436;&#31034;&#25991;&#31295;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5&#31456;.pptx#-1,17,PowerPoint &#28436;&#31034;&#25991;&#31295;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5&#31456;.pptx#-1,53,PowerPoint &#28436;&#31034;&#25991;&#31295;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5&#31456;.pptx#-1,58,PowerPoint &#28436;&#31034;&#25991;&#31295;" TargetMode="External"/><Relationship Id="rId2" Type="http://schemas.openxmlformats.org/officeDocument/2006/relationships/hyperlink" Target="&#35745;&#31639;&#26426;&#32452;&#25104;&#21407;&#29702;&#31532;5&#31456;.pptx#-1,76,PowerPoint &#28436;&#31034;&#25991;&#31295;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&#35745;&#31639;&#26426;&#32452;&#25104;&#21407;&#29702;&#31532;5&#31456;.pptx#-1,64,PowerPoint &#28436;&#31034;&#25991;&#31295;" TargetMode="External"/><Relationship Id="rId4" Type="http://schemas.openxmlformats.org/officeDocument/2006/relationships/hyperlink" Target="&#35745;&#31639;&#26426;&#32452;&#25104;&#21407;&#29702;&#31532;5&#31456;.pptx#-1,63,PowerPoint &#28436;&#31034;&#25991;&#31295;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5&#31456;.pptx#-1,86,PowerPoint &#28436;&#31034;&#25991;&#31295;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6&#31456;.pptx#-1,49,PowerPoint &#28436;&#31034;&#25991;&#31295;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7&#31456;.pptx#-1,10,PowerPoint &#28436;&#31034;&#25991;&#31295;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&#35745;&#31639;&#26426;&#32452;&#25104;&#21407;&#29702;&#31532;7&#31456;.pptx#-1,61,PowerPoint &#28436;&#31034;&#25991;&#31295;" TargetMode="External"/><Relationship Id="rId5" Type="http://schemas.openxmlformats.org/officeDocument/2006/relationships/hyperlink" Target="&#35745;&#31639;&#26426;&#32452;&#25104;&#21407;&#29702;&#31532;7&#31456;.pptx#-1,36,PowerPoint &#28436;&#31034;&#25991;&#31295;" TargetMode="External"/><Relationship Id="rId4" Type="http://schemas.openxmlformats.org/officeDocument/2006/relationships/hyperlink" Target="&#35745;&#31639;&#26426;&#32452;&#25104;&#21407;&#29702;&#31532;7&#31456;.pptx#-1,12,PowerPoint &#28436;&#31034;&#25991;&#31295;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7&#31456;.pptx#-1,49,PowerPoint &#28436;&#31034;&#25991;&#31295;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1&#31456;.pptx#-1,39,PowerPoint &#28436;&#31034;&#25991;&#31295;" TargetMode="External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762000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4400" b="1" dirty="0" smtClean="0">
                <a:latin typeface="黑体" pitchFamily="2" charset="-122"/>
                <a:ea typeface="黑体" pitchFamily="2" charset="-122"/>
              </a:rPr>
              <a:t>总  复  习 </a:t>
            </a:r>
            <a:endParaRPr lang="zh-CN" altLang="en-US" sz="4400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E29CF-EAF2-4097-B0D5-FADE98AC9160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4099" name="Text Box 173"/>
          <p:cNvSpPr txBox="1">
            <a:spLocks noChangeArrowheads="1"/>
          </p:cNvSpPr>
          <p:nvPr/>
        </p:nvSpPr>
        <p:spPr bwMode="auto">
          <a:xfrm>
            <a:off x="838200" y="323945"/>
            <a:ext cx="7467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800" b="1" dirty="0">
                <a:latin typeface="宋体" pitchFamily="2" charset="-122"/>
              </a:rPr>
              <a:t>考试</a:t>
            </a:r>
            <a:r>
              <a:rPr lang="zh-CN" altLang="en-US" sz="2800" b="1" dirty="0" smtClean="0">
                <a:latin typeface="宋体" pitchFamily="2" charset="-122"/>
              </a:rPr>
              <a:t>题型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闭卷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endParaRPr lang="zh-CN" altLang="en-US" b="1" dirty="0"/>
          </a:p>
        </p:txBody>
      </p:sp>
      <p:sp>
        <p:nvSpPr>
          <p:cNvPr id="135343" name="Text Box 175"/>
          <p:cNvSpPr txBox="1">
            <a:spLocks noChangeArrowheads="1"/>
          </p:cNvSpPr>
          <p:nvPr/>
        </p:nvSpPr>
        <p:spPr bwMode="auto">
          <a:xfrm>
            <a:off x="179388" y="836712"/>
            <a:ext cx="8812212" cy="430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</a:rPr>
              <a:t>、选择题（</a:t>
            </a:r>
            <a:r>
              <a:rPr lang="en-US" altLang="zh-CN" sz="2200" b="1" dirty="0">
                <a:solidFill>
                  <a:srgbClr val="FF3399"/>
                </a:solidFill>
                <a:latin typeface="宋体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</a:rPr>
              <a:t>分</a:t>
            </a:r>
            <a:r>
              <a:rPr lang="en-US" altLang="zh-CN" sz="2200" b="1" dirty="0">
                <a:solidFill>
                  <a:srgbClr val="FF3399"/>
                </a:solidFill>
                <a:latin typeface="宋体" pitchFamily="2" charset="-122"/>
              </a:rPr>
              <a:t>×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12=24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分）</a:t>
            </a:r>
            <a:endParaRPr lang="zh-CN" altLang="en-US" sz="2200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35344" name="Text Box 176"/>
          <p:cNvSpPr txBox="1">
            <a:spLocks noChangeArrowheads="1"/>
          </p:cNvSpPr>
          <p:nvPr/>
        </p:nvSpPr>
        <p:spPr bwMode="auto">
          <a:xfrm>
            <a:off x="179388" y="1268760"/>
            <a:ext cx="8812212" cy="79406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000" b="1" dirty="0" smtClean="0">
                <a:latin typeface="宋体" pitchFamily="2" charset="-122"/>
              </a:rPr>
              <a:t>下列总线仲裁方式中，会发生</a:t>
            </a:r>
            <a:r>
              <a:rPr lang="zh-CN" altLang="en-US" sz="2000" b="1" dirty="0">
                <a:latin typeface="宋体" pitchFamily="2" charset="-122"/>
              </a:rPr>
              <a:t>断链</a:t>
            </a:r>
            <a:r>
              <a:rPr lang="zh-CN" altLang="en-US" sz="2000" b="1" dirty="0" smtClean="0">
                <a:latin typeface="宋体" pitchFamily="2" charset="-122"/>
              </a:rPr>
              <a:t>现象的是</a:t>
            </a:r>
            <a:r>
              <a:rPr lang="en-US" altLang="zh-CN" sz="2000" b="1" dirty="0">
                <a:latin typeface="宋体" pitchFamily="2" charset="-122"/>
              </a:rPr>
              <a:t>(  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sz="2000" b="1" dirty="0">
                <a:latin typeface="宋体" pitchFamily="2" charset="-122"/>
              </a:rPr>
              <a:t>方式</a:t>
            </a:r>
          </a:p>
          <a:p>
            <a:pPr>
              <a:lnSpc>
                <a:spcPct val="114000"/>
              </a:lnSpc>
            </a:pPr>
            <a:r>
              <a:rPr lang="zh-CN" altLang="en-US" sz="2000" b="1" dirty="0">
                <a:latin typeface="宋体" pitchFamily="2" charset="-122"/>
              </a:rPr>
              <a:t>       </a:t>
            </a:r>
            <a:r>
              <a:rPr lang="en-US" altLang="zh-CN" sz="2000" b="1" dirty="0">
                <a:latin typeface="宋体" pitchFamily="2" charset="-122"/>
              </a:rPr>
              <a:t>A</a:t>
            </a:r>
            <a:r>
              <a:rPr lang="en-US" altLang="zh-CN" sz="2000" b="1" dirty="0" smtClean="0">
                <a:latin typeface="宋体" pitchFamily="2" charset="-122"/>
              </a:rPr>
              <a:t>.</a:t>
            </a:r>
            <a:r>
              <a:rPr lang="zh-CN" altLang="en-US" sz="2000" b="1" dirty="0">
                <a:latin typeface="宋体" pitchFamily="2" charset="-122"/>
              </a:rPr>
              <a:t>链式</a:t>
            </a:r>
            <a:r>
              <a:rPr lang="zh-CN" altLang="en-US" sz="2000" b="1" dirty="0" smtClean="0">
                <a:latin typeface="宋体" pitchFamily="2" charset="-122"/>
              </a:rPr>
              <a:t>查询     </a:t>
            </a:r>
            <a:r>
              <a:rPr lang="en-US" altLang="zh-CN" sz="2000" b="1" dirty="0" smtClean="0">
                <a:latin typeface="宋体" pitchFamily="2" charset="-122"/>
              </a:rPr>
              <a:t>B</a:t>
            </a:r>
            <a:r>
              <a:rPr lang="en-US" altLang="zh-CN" sz="2000" b="1" dirty="0">
                <a:latin typeface="宋体" pitchFamily="2" charset="-122"/>
              </a:rPr>
              <a:t>.</a:t>
            </a:r>
            <a:r>
              <a:rPr lang="zh-CN" altLang="en-US" sz="2000" b="1" dirty="0">
                <a:latin typeface="宋体" pitchFamily="2" charset="-122"/>
              </a:rPr>
              <a:t>计数器定时查询   </a:t>
            </a:r>
            <a:r>
              <a:rPr lang="en-US" altLang="zh-CN" sz="2000" b="1" dirty="0">
                <a:latin typeface="宋体" pitchFamily="2" charset="-122"/>
              </a:rPr>
              <a:t>C</a:t>
            </a:r>
            <a:r>
              <a:rPr lang="en-US" altLang="zh-CN" sz="2000" b="1" dirty="0" smtClean="0">
                <a:latin typeface="宋体" pitchFamily="2" charset="-122"/>
              </a:rPr>
              <a:t>.</a:t>
            </a:r>
            <a:r>
              <a:rPr lang="zh-CN" altLang="en-US" sz="2000" b="1" dirty="0">
                <a:latin typeface="宋体" pitchFamily="2" charset="-122"/>
              </a:rPr>
              <a:t>独立</a:t>
            </a:r>
            <a:r>
              <a:rPr lang="zh-CN" altLang="en-US" sz="2000" b="1" dirty="0" smtClean="0">
                <a:latin typeface="宋体" pitchFamily="2" charset="-122"/>
              </a:rPr>
              <a:t>请求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9388" y="3284984"/>
            <a:ext cx="8812212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000" b="1" dirty="0" smtClean="0">
                <a:latin typeface="宋体" pitchFamily="2" charset="-122"/>
              </a:rPr>
              <a:t>若</a:t>
            </a:r>
            <a:r>
              <a:rPr lang="en-US" altLang="zh-CN" sz="2000" b="1" dirty="0">
                <a:latin typeface="宋体" pitchFamily="2" charset="-122"/>
              </a:rPr>
              <a:t>X</a:t>
            </a:r>
            <a:r>
              <a:rPr lang="zh-CN" altLang="en-US" sz="2000" b="1" dirty="0">
                <a:latin typeface="宋体" pitchFamily="2" charset="-122"/>
              </a:rPr>
              <a:t>＝</a:t>
            </a:r>
            <a:r>
              <a:rPr lang="en-US" altLang="zh-CN" sz="2000" b="1" dirty="0">
                <a:latin typeface="宋体" pitchFamily="2" charset="-122"/>
              </a:rPr>
              <a:t>-1011</a:t>
            </a:r>
            <a:r>
              <a:rPr lang="zh-CN" altLang="en-US" sz="2000" b="1" dirty="0">
                <a:latin typeface="宋体" pitchFamily="2" charset="-122"/>
              </a:rPr>
              <a:t>，</a:t>
            </a:r>
            <a:r>
              <a:rPr lang="en-US" altLang="zh-CN" sz="2000" b="1" dirty="0">
                <a:latin typeface="宋体" pitchFamily="2" charset="-122"/>
              </a:rPr>
              <a:t>Y</a:t>
            </a:r>
            <a:r>
              <a:rPr lang="zh-CN" altLang="en-US" sz="2000" b="1" dirty="0">
                <a:latin typeface="宋体" pitchFamily="2" charset="-122"/>
              </a:rPr>
              <a:t>＝</a:t>
            </a:r>
            <a:r>
              <a:rPr lang="en-US" altLang="zh-CN" sz="2000" b="1" dirty="0">
                <a:latin typeface="宋体" pitchFamily="2" charset="-122"/>
              </a:rPr>
              <a:t>+</a:t>
            </a:r>
            <a:r>
              <a:rPr lang="en-US" altLang="zh-CN" sz="2000" b="1" dirty="0" smtClean="0">
                <a:latin typeface="宋体" pitchFamily="2" charset="-122"/>
              </a:rPr>
              <a:t>1101</a:t>
            </a:r>
            <a:r>
              <a:rPr lang="zh-CN" altLang="en-US" sz="2000" b="1" dirty="0" smtClean="0">
                <a:latin typeface="宋体" pitchFamily="2" charset="-122"/>
              </a:rPr>
              <a:t>的机器数为</a:t>
            </a:r>
            <a:r>
              <a:rPr lang="en-US" altLang="zh-CN" sz="2000" b="1" dirty="0" smtClean="0">
                <a:latin typeface="宋体" pitchFamily="2" charset="-122"/>
              </a:rPr>
              <a:t>8</a:t>
            </a:r>
            <a:r>
              <a:rPr lang="zh-CN" altLang="en-US" sz="2000" b="1" dirty="0" smtClean="0">
                <a:latin typeface="宋体" pitchFamily="2" charset="-122"/>
              </a:rPr>
              <a:t>位，</a:t>
            </a:r>
            <a:r>
              <a:rPr lang="zh-CN" altLang="en-US" sz="2000" b="1" dirty="0">
                <a:latin typeface="宋体" pitchFamily="2" charset="-122"/>
              </a:rPr>
              <a:t>求</a:t>
            </a:r>
            <a:r>
              <a:rPr lang="en-US" altLang="zh-CN" sz="2000" b="1" dirty="0">
                <a:latin typeface="宋体" pitchFamily="2" charset="-122"/>
              </a:rPr>
              <a:t>[X]</a:t>
            </a:r>
            <a:r>
              <a:rPr lang="zh-CN" altLang="en-US" sz="2000" b="1" baseline="-20000" dirty="0" smtClean="0">
                <a:latin typeface="宋体" pitchFamily="2" charset="-122"/>
              </a:rPr>
              <a:t>原</a:t>
            </a:r>
            <a:r>
              <a:rPr lang="zh-CN" altLang="en-US" sz="2000" b="1" dirty="0" smtClean="0">
                <a:latin typeface="宋体" pitchFamily="2" charset="-122"/>
              </a:rPr>
              <a:t>、</a:t>
            </a:r>
            <a:r>
              <a:rPr lang="en-US" altLang="zh-CN" sz="2000" b="1" dirty="0">
                <a:latin typeface="宋体" pitchFamily="2" charset="-122"/>
              </a:rPr>
              <a:t>[X]</a:t>
            </a:r>
            <a:r>
              <a:rPr lang="zh-CN" altLang="en-US" sz="2000" b="1" baseline="-20000" dirty="0" smtClean="0">
                <a:latin typeface="宋体" pitchFamily="2" charset="-122"/>
              </a:rPr>
              <a:t>移</a:t>
            </a:r>
            <a:r>
              <a:rPr lang="zh-CN" altLang="en-US" sz="2000" b="1" dirty="0" smtClean="0">
                <a:latin typeface="宋体" pitchFamily="2" charset="-122"/>
              </a:rPr>
              <a:t>、</a:t>
            </a:r>
            <a:r>
              <a:rPr lang="en-US" altLang="zh-CN" sz="2000" b="1" dirty="0" smtClean="0">
                <a:latin typeface="宋体" pitchFamily="2" charset="-122"/>
              </a:rPr>
              <a:t>[</a:t>
            </a:r>
            <a:r>
              <a:rPr lang="en-US" altLang="zh-CN" sz="2000" b="1" dirty="0">
                <a:latin typeface="宋体" pitchFamily="2" charset="-122"/>
              </a:rPr>
              <a:t>X+Y]</a:t>
            </a:r>
            <a:r>
              <a:rPr lang="zh-CN" altLang="en-US" sz="2000" b="1" baseline="-20000" dirty="0" smtClean="0">
                <a:latin typeface="宋体" pitchFamily="2" charset="-122"/>
              </a:rPr>
              <a:t>补</a:t>
            </a:r>
            <a:r>
              <a:rPr lang="zh-CN" altLang="en-US" sz="2000" b="1" dirty="0" smtClean="0">
                <a:latin typeface="宋体" pitchFamily="2" charset="-122"/>
              </a:rPr>
              <a:t>。</a:t>
            </a:r>
            <a:r>
              <a:rPr lang="zh-CN" altLang="en-US" sz="2000" dirty="0" smtClean="0">
                <a:latin typeface="宋体" pitchFamily="2" charset="-122"/>
              </a:rPr>
              <a:t> 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79388" y="2852936"/>
            <a:ext cx="8812212" cy="430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、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</a:rPr>
              <a:t>计算题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（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7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×3=21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分）</a:t>
            </a:r>
            <a:endParaRPr lang="zh-CN" altLang="en-US" sz="2200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388" y="4149080"/>
            <a:ext cx="8812212" cy="39876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000" b="1" dirty="0" smtClean="0">
                <a:latin typeface="宋体" pitchFamily="2" charset="-122"/>
              </a:rPr>
              <a:t>简述</a:t>
            </a:r>
            <a:r>
              <a:rPr lang="zh-CN" altLang="en-US" sz="2000" b="1" dirty="0">
                <a:latin typeface="宋体" pitchFamily="2" charset="-122"/>
              </a:rPr>
              <a:t>冯</a:t>
            </a:r>
            <a:r>
              <a:rPr lang="en-US" altLang="zh-CN" sz="2000" b="1" dirty="0">
                <a:latin typeface="宋体" pitchFamily="2" charset="-122"/>
              </a:rPr>
              <a:t>·</a:t>
            </a:r>
            <a:r>
              <a:rPr lang="zh-CN" altLang="en-US" sz="2000" b="1" dirty="0">
                <a:latin typeface="宋体" pitchFamily="2" charset="-122"/>
              </a:rPr>
              <a:t>诺依曼</a:t>
            </a:r>
            <a:r>
              <a:rPr lang="zh-CN" altLang="en-US" sz="2000" b="1" dirty="0" smtClean="0">
                <a:latin typeface="宋体" pitchFamily="2" charset="-122"/>
              </a:rPr>
              <a:t>计算机中存储程序工作方式的基本思想</a:t>
            </a:r>
            <a:r>
              <a:rPr lang="zh-CN" altLang="en-US" sz="2000" dirty="0" smtClean="0">
                <a:latin typeface="宋体" pitchFamily="2" charset="-122"/>
              </a:rPr>
              <a:t> 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79388" y="3718193"/>
            <a:ext cx="8812212" cy="430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4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、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</a:rPr>
              <a:t>简答题（</a:t>
            </a:r>
            <a:r>
              <a:rPr lang="en-US" altLang="zh-CN" sz="2200" b="1" dirty="0">
                <a:solidFill>
                  <a:srgbClr val="FF3399"/>
                </a:solidFill>
                <a:latin typeface="宋体" pitchFamily="2" charset="-122"/>
              </a:rPr>
              <a:t>5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</a:rPr>
              <a:t>分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×3=15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分）</a:t>
            </a:r>
            <a:endParaRPr lang="zh-CN" altLang="en-US" sz="2200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79388" y="5013176"/>
            <a:ext cx="8812212" cy="11449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1—</a:t>
            </a:r>
            <a:r>
              <a:rPr lang="zh-CN" altLang="en-US" sz="2000" b="1" dirty="0" smtClean="0">
                <a:latin typeface="宋体" pitchFamily="2" charset="-122"/>
              </a:rPr>
              <a:t>用</a:t>
            </a:r>
            <a:r>
              <a:rPr lang="en-US" altLang="zh-CN" sz="2000" b="1" dirty="0">
                <a:latin typeface="宋体" pitchFamily="2" charset="-122"/>
              </a:rPr>
              <a:t>1K×4</a:t>
            </a:r>
            <a:r>
              <a:rPr lang="zh-CN" altLang="en-US" sz="2000" b="1" dirty="0" smtClean="0">
                <a:latin typeface="宋体" pitchFamily="2" charset="-122"/>
              </a:rPr>
              <a:t>位</a:t>
            </a:r>
            <a:r>
              <a:rPr lang="en-US" altLang="zh-CN" sz="2000" b="1" dirty="0" smtClean="0">
                <a:latin typeface="宋体" pitchFamily="2" charset="-122"/>
              </a:rPr>
              <a:t>SRAM</a:t>
            </a:r>
            <a:r>
              <a:rPr lang="zh-CN" altLang="en-US" sz="2000" b="1" dirty="0" smtClean="0">
                <a:latin typeface="宋体" pitchFamily="2" charset="-122"/>
              </a:rPr>
              <a:t>芯片构成</a:t>
            </a:r>
            <a:r>
              <a:rPr lang="en-US" altLang="zh-CN" sz="2000" b="1" dirty="0">
                <a:latin typeface="宋体" pitchFamily="2" charset="-122"/>
              </a:rPr>
              <a:t>2K×8</a:t>
            </a:r>
            <a:r>
              <a:rPr lang="zh-CN" altLang="en-US" sz="2000" b="1" dirty="0" smtClean="0">
                <a:latin typeface="宋体" pitchFamily="2" charset="-122"/>
              </a:rPr>
              <a:t>位存储模块，画出存储模块内部的芯片连接图，及连接</a:t>
            </a:r>
            <a:r>
              <a:rPr lang="en-US" altLang="zh-CN" sz="2000" b="1" dirty="0" smtClean="0">
                <a:latin typeface="宋体" pitchFamily="2" charset="-122"/>
              </a:rPr>
              <a:t>CPU</a:t>
            </a:r>
            <a:r>
              <a:rPr lang="zh-CN" altLang="en-US" sz="2000" b="1" dirty="0" smtClean="0">
                <a:latin typeface="宋体" pitchFamily="2" charset="-122"/>
              </a:rPr>
              <a:t>时其</a:t>
            </a:r>
            <a:r>
              <a:rPr lang="en-US" altLang="zh-CN" sz="2000" b="1" dirty="0" smtClean="0">
                <a:latin typeface="宋体" pitchFamily="2" charset="-122"/>
              </a:rPr>
              <a:t>CS#</a:t>
            </a:r>
            <a:r>
              <a:rPr lang="zh-CN" altLang="en-US" sz="2000" b="1" dirty="0" smtClean="0">
                <a:latin typeface="宋体" pitchFamily="2" charset="-122"/>
              </a:rPr>
              <a:t>的逻辑表达式   </a:t>
            </a:r>
            <a:r>
              <a:rPr lang="zh-CN" altLang="en-US" sz="2000" b="1" dirty="0" smtClean="0">
                <a:latin typeface="宋体" pitchFamily="2" charset="-122"/>
                <a:sym typeface="Wingdings" pitchFamily="2" charset="2"/>
              </a:rPr>
              <a:t>←第</a:t>
            </a:r>
            <a:r>
              <a:rPr lang="en-US" altLang="zh-CN" sz="2000" b="1" dirty="0" smtClean="0">
                <a:latin typeface="宋体" pitchFamily="2" charset="-122"/>
                <a:sym typeface="Wingdings" pitchFamily="2" charset="2"/>
              </a:rPr>
              <a:t>3</a:t>
            </a:r>
            <a:r>
              <a:rPr lang="zh-CN" altLang="en-US" sz="2000" b="1" dirty="0" smtClean="0">
                <a:latin typeface="宋体" pitchFamily="2" charset="-122"/>
                <a:sym typeface="Wingdings" pitchFamily="2" charset="2"/>
              </a:rPr>
              <a:t>章课件</a:t>
            </a:r>
            <a:r>
              <a:rPr lang="en-US" altLang="zh-CN" sz="2000" b="1" dirty="0" smtClean="0">
                <a:latin typeface="宋体" pitchFamily="2" charset="-122"/>
                <a:sym typeface="Wingdings" pitchFamily="2" charset="2"/>
              </a:rPr>
              <a:t>P42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2—</a:t>
            </a:r>
            <a:r>
              <a:rPr lang="en-US" altLang="zh-CN" sz="2000" b="1" dirty="0" smtClean="0">
                <a:latin typeface="宋体" pitchFamily="2" charset="-122"/>
              </a:rPr>
              <a:t>P182</a:t>
            </a:r>
            <a:r>
              <a:rPr lang="zh-CN" altLang="en-US" sz="2000" b="1" dirty="0" smtClean="0">
                <a:latin typeface="宋体" pitchFamily="2" charset="-122"/>
              </a:rPr>
              <a:t>例</a:t>
            </a:r>
            <a:r>
              <a:rPr lang="en-US" altLang="zh-CN" sz="2000" b="1" dirty="0" smtClean="0">
                <a:latin typeface="宋体" pitchFamily="2" charset="-122"/>
              </a:rPr>
              <a:t>5.2</a:t>
            </a:r>
            <a:r>
              <a:rPr lang="zh-CN" altLang="en-US" sz="2000" b="1" dirty="0" smtClean="0">
                <a:latin typeface="宋体" pitchFamily="2" charset="-122"/>
              </a:rPr>
              <a:t>，写出</a:t>
            </a:r>
            <a:r>
              <a:rPr lang="en-US" altLang="zh-CN" sz="2000" b="1" dirty="0" smtClean="0">
                <a:latin typeface="宋体" pitchFamily="2" charset="-122"/>
              </a:rPr>
              <a:t>R1</a:t>
            </a:r>
            <a:r>
              <a:rPr lang="en-US" altLang="zh-CN" sz="2000" b="1" dirty="0">
                <a:latin typeface="宋体" pitchFamily="2" charset="-122"/>
              </a:rPr>
              <a:t>←(R2</a:t>
            </a:r>
            <a:r>
              <a:rPr lang="en-US" altLang="zh-CN" sz="2000" b="1" dirty="0" smtClean="0">
                <a:latin typeface="宋体" pitchFamily="2" charset="-122"/>
              </a:rPr>
              <a:t>)+M[(R3)]</a:t>
            </a:r>
            <a:r>
              <a:rPr lang="zh-CN" altLang="en-US" sz="2000" b="1" dirty="0" smtClean="0">
                <a:latin typeface="宋体" pitchFamily="2" charset="-122"/>
              </a:rPr>
              <a:t>执行阶段的</a:t>
            </a:r>
            <a:r>
              <a:rPr lang="en-US" altLang="zh-CN" sz="2000" dirty="0" err="1" smtClean="0">
                <a:latin typeface="+mn-lt"/>
              </a:rPr>
              <a:t>μ</a:t>
            </a:r>
            <a:r>
              <a:rPr lang="en-US" altLang="zh-CN" sz="2000" b="1" dirty="0" err="1" smtClean="0">
                <a:latin typeface="宋体" pitchFamily="2" charset="-122"/>
              </a:rPr>
              <a:t>OPCmd</a:t>
            </a:r>
            <a:r>
              <a:rPr lang="zh-CN" altLang="en-US" sz="2000" b="1" dirty="0" smtClean="0">
                <a:latin typeface="宋体" pitchFamily="2" charset="-122"/>
              </a:rPr>
              <a:t>序列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79388" y="4581128"/>
            <a:ext cx="8812212" cy="430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5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、</a:t>
            </a:r>
            <a:r>
              <a:rPr lang="zh-CN" altLang="en-US" sz="2200" b="1" dirty="0">
                <a:solidFill>
                  <a:srgbClr val="FF3399"/>
                </a:solidFill>
                <a:latin typeface="宋体" pitchFamily="2" charset="-122"/>
              </a:rPr>
              <a:t>应用题（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13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分＋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12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=25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分）</a:t>
            </a:r>
            <a:endParaRPr lang="zh-CN" altLang="en-US" sz="2200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4" name="Text Box 175"/>
          <p:cNvSpPr txBox="1">
            <a:spLocks noChangeArrowheads="1"/>
          </p:cNvSpPr>
          <p:nvPr/>
        </p:nvSpPr>
        <p:spPr bwMode="auto">
          <a:xfrm>
            <a:off x="179512" y="1988840"/>
            <a:ext cx="8812212" cy="4308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2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、判断题（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1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</a:t>
            </a:r>
            <a:r>
              <a:rPr lang="en-US" altLang="zh-CN" sz="2200" b="1" dirty="0">
                <a:solidFill>
                  <a:srgbClr val="FF3399"/>
                </a:solidFill>
                <a:latin typeface="宋体" pitchFamily="2" charset="-122"/>
              </a:rPr>
              <a:t>×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15=15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itchFamily="2" charset="-122"/>
              </a:rPr>
              <a:t>分）</a:t>
            </a:r>
            <a:endParaRPr lang="zh-CN" altLang="en-US" sz="2200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5" name="Text Box 176"/>
          <p:cNvSpPr txBox="1">
            <a:spLocks noChangeArrowheads="1"/>
          </p:cNvSpPr>
          <p:nvPr/>
        </p:nvSpPr>
        <p:spPr bwMode="auto">
          <a:xfrm>
            <a:off x="179512" y="2420888"/>
            <a:ext cx="8812212" cy="4431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   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itchFamily="2" charset="-122"/>
              </a:rPr>
              <a:t>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000" b="1" dirty="0" smtClean="0">
                <a:latin typeface="宋体" pitchFamily="2" charset="-122"/>
              </a:rPr>
              <a:t>同样长度的补码比原码多表示一个数。</a:t>
            </a:r>
            <a:r>
              <a:rPr lang="en-US" altLang="zh-CN" sz="2000" b="1" dirty="0" smtClean="0">
                <a:latin typeface="宋体" pitchFamily="2" charset="-122"/>
              </a:rPr>
              <a:t>(  )</a:t>
            </a:r>
            <a:endParaRPr lang="zh-CN" altLang="en-US" sz="20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43"/>
          <p:cNvSpPr txBox="1">
            <a:spLocks noChangeArrowheads="1"/>
          </p:cNvSpPr>
          <p:nvPr/>
        </p:nvSpPr>
        <p:spPr bwMode="auto">
          <a:xfrm>
            <a:off x="179512" y="3284984"/>
            <a:ext cx="8712968" cy="3208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※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复习建议：</a:t>
            </a: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思路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200" b="1" dirty="0">
                <a:latin typeface="宋体" pitchFamily="2" charset="-122"/>
              </a:rPr>
              <a:t>优先建立整机概念，基于需求理解部件</a:t>
            </a:r>
            <a:r>
              <a:rPr lang="zh-CN" altLang="en-US" sz="2200" b="1" dirty="0" smtClean="0">
                <a:latin typeface="宋体" pitchFamily="2" charset="-122"/>
              </a:rPr>
              <a:t>组成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     方法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200" b="1" dirty="0" smtClean="0">
                <a:latin typeface="宋体" pitchFamily="2" charset="-122"/>
              </a:rPr>
              <a:t>教材、课件同步看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互补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200" b="1" dirty="0" smtClean="0">
                <a:latin typeface="宋体" pitchFamily="2" charset="-122"/>
              </a:rPr>
              <a:t>，通过做题巩固、查漏，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     </a:t>
            </a:r>
            <a:r>
              <a:rPr lang="zh-CN" altLang="en-US" sz="2200" b="1" dirty="0" smtClean="0">
                <a:latin typeface="宋体" pitchFamily="2" charset="-122"/>
              </a:rPr>
              <a:t>注意知识点融合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22FA3-BBCA-4B4E-B6D6-64EDDDF54463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179512" y="476672"/>
            <a:ext cx="8712968" cy="2862322"/>
          </a:xfrm>
          <a:prstGeom prst="rect">
            <a:avLst/>
          </a:prstGeom>
          <a:noFill/>
          <a:ln w="15875">
            <a:noFill/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※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课程考核的相关问题：</a:t>
            </a: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考核</a:t>
            </a:r>
            <a:r>
              <a:rPr lang="zh-CN" altLang="en-US" sz="2200" b="1" dirty="0">
                <a:solidFill>
                  <a:schemeClr val="accent2"/>
                </a:solidFill>
                <a:latin typeface="宋体" pitchFamily="2" charset="-122"/>
              </a:rPr>
              <a:t>目标</a:t>
            </a: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200" b="1" dirty="0">
                <a:latin typeface="宋体" pitchFamily="2" charset="-122"/>
              </a:rPr>
              <a:t>基本概念、</a:t>
            </a:r>
            <a:r>
              <a:rPr lang="zh-CN" altLang="en-US" sz="2200" b="1" dirty="0" smtClean="0">
                <a:latin typeface="宋体" pitchFamily="2" charset="-122"/>
              </a:rPr>
              <a:t>基本原理</a:t>
            </a:r>
            <a:endParaRPr lang="en-US" altLang="zh-CN" sz="2200" b="1" dirty="0" smtClean="0">
              <a:latin typeface="宋体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    考核</a:t>
            </a:r>
            <a:r>
              <a:rPr lang="zh-CN" altLang="en-US" sz="2200" b="1" dirty="0">
                <a:solidFill>
                  <a:schemeClr val="accent2"/>
                </a:solidFill>
                <a:latin typeface="宋体" pitchFamily="2" charset="-122"/>
              </a:rPr>
              <a:t>方法</a:t>
            </a: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200" b="1" spc="-100" dirty="0">
                <a:latin typeface="宋体" pitchFamily="2" charset="-122"/>
              </a:rPr>
              <a:t>概念理解、原理解释、量化分析、</a:t>
            </a:r>
            <a:r>
              <a:rPr lang="zh-CN" altLang="en-US" sz="2200" b="1" spc="-100" dirty="0" smtClean="0">
                <a:latin typeface="宋体" pitchFamily="2" charset="-122"/>
              </a:rPr>
              <a:t>简单设计</a:t>
            </a:r>
            <a:endParaRPr lang="en-US" altLang="zh-CN" sz="2200" b="1" spc="-100" dirty="0">
              <a:latin typeface="宋体" pitchFamily="2" charset="-122"/>
            </a:endParaRPr>
          </a:p>
          <a:p>
            <a:pPr algn="just">
              <a:lnSpc>
                <a:spcPct val="105000"/>
              </a:lnSpc>
            </a:pPr>
            <a:r>
              <a:rPr lang="en-US" altLang="zh-CN" sz="1600" b="1" spc="-100" dirty="0">
                <a:latin typeface="宋体" pitchFamily="2" charset="-122"/>
              </a:rPr>
              <a:t>                         (</a:t>
            </a:r>
            <a:r>
              <a:rPr lang="zh-CN" altLang="en-US" sz="1600" b="1" spc="-100" dirty="0">
                <a:latin typeface="宋体" pitchFamily="2" charset="-122"/>
              </a:rPr>
              <a:t>闭卷考试时，场景会给出的</a:t>
            </a:r>
            <a:r>
              <a:rPr lang="en-US" altLang="zh-CN" sz="1600" b="1" spc="-100" dirty="0">
                <a:latin typeface="宋体" pitchFamily="2" charset="-122"/>
              </a:rPr>
              <a:t>[</a:t>
            </a:r>
            <a:r>
              <a:rPr lang="zh-CN" altLang="en-US" sz="1600" b="1" spc="-100" dirty="0">
                <a:latin typeface="宋体" pitchFamily="2" charset="-122"/>
              </a:rPr>
              <a:t>不需要背</a:t>
            </a:r>
            <a:r>
              <a:rPr lang="en-US" altLang="zh-CN" sz="1600" b="1" spc="-100" dirty="0" smtClean="0">
                <a:latin typeface="宋体" pitchFamily="2" charset="-122"/>
              </a:rPr>
              <a:t>])</a:t>
            </a:r>
          </a:p>
          <a:p>
            <a:pPr algn="just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考核范围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sz="2200" b="1" dirty="0" smtClean="0">
                <a:latin typeface="宋体" pitchFamily="2" charset="-122"/>
              </a:rPr>
              <a:t>课件未讲的不考，</a:t>
            </a:r>
            <a:r>
              <a:rPr lang="zh-CN" altLang="en-US" sz="2200" b="1" dirty="0">
                <a:latin typeface="宋体" pitchFamily="2" charset="-122"/>
              </a:rPr>
              <a:t>标</a:t>
            </a:r>
            <a:r>
              <a:rPr lang="en-US" altLang="zh-CN" sz="2200" b="1" dirty="0" smtClean="0">
                <a:latin typeface="宋体" pitchFamily="2" charset="-122"/>
              </a:rPr>
              <a:t>×</a:t>
            </a:r>
            <a:r>
              <a:rPr lang="zh-CN" altLang="en-US" sz="2200" b="1" dirty="0" smtClean="0">
                <a:latin typeface="宋体" pitchFamily="2" charset="-122"/>
              </a:rPr>
              <a:t>的不考</a:t>
            </a:r>
            <a:endParaRPr lang="en-US" altLang="zh-CN" sz="2200" b="1" dirty="0" smtClean="0">
              <a:latin typeface="宋体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dirty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       </a:t>
            </a:r>
            <a:r>
              <a:rPr lang="zh-CN" altLang="en-US" sz="2000" b="1" dirty="0" smtClean="0">
                <a:latin typeface="宋体" pitchFamily="2" charset="-122"/>
              </a:rPr>
              <a:t>重 要 性：</a:t>
            </a:r>
            <a:r>
              <a:rPr lang="zh-CN" altLang="en-US" sz="2000" b="1" dirty="0">
                <a:latin typeface="宋体" pitchFamily="2" charset="-122"/>
              </a:rPr>
              <a:t>层次有     、    、</a:t>
            </a:r>
            <a:r>
              <a:rPr lang="zh-CN" altLang="en-US" sz="2000" b="1" dirty="0">
                <a:solidFill>
                  <a:srgbClr val="990099"/>
                </a:solidFill>
                <a:latin typeface="宋体" pitchFamily="2" charset="-122"/>
              </a:rPr>
              <a:t>紫色文字</a:t>
            </a:r>
            <a:r>
              <a:rPr lang="zh-CN" altLang="en-US" sz="2000" b="1" dirty="0">
                <a:latin typeface="宋体" pitchFamily="2" charset="-122"/>
              </a:rPr>
              <a:t>、黑色</a:t>
            </a:r>
            <a:r>
              <a:rPr lang="zh-CN" altLang="en-US" sz="2000" b="1" dirty="0" smtClean="0">
                <a:latin typeface="宋体" pitchFamily="2" charset="-122"/>
              </a:rPr>
              <a:t>文字</a:t>
            </a:r>
            <a:endParaRPr lang="en-US" altLang="zh-CN" sz="2000" b="1" dirty="0" smtClean="0">
              <a:latin typeface="宋体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dirty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       </a:t>
            </a:r>
            <a:r>
              <a:rPr lang="zh-CN" altLang="en-US" sz="2000" b="1" dirty="0" smtClean="0">
                <a:latin typeface="宋体" pitchFamily="2" charset="-122"/>
              </a:rPr>
              <a:t>掌握</a:t>
            </a:r>
            <a:r>
              <a:rPr lang="zh-CN" altLang="en-US" sz="2000" b="1" dirty="0">
                <a:latin typeface="宋体" pitchFamily="2" charset="-122"/>
              </a:rPr>
              <a:t>程度</a:t>
            </a:r>
            <a:r>
              <a:rPr lang="zh-CN" altLang="en-US" sz="2000" b="1" dirty="0" smtClean="0">
                <a:latin typeface="宋体" pitchFamily="2" charset="-122"/>
              </a:rPr>
              <a:t>：级别有</a:t>
            </a:r>
            <a:r>
              <a:rPr lang="zh-CN" altLang="en-US" sz="2000" b="1" dirty="0">
                <a:latin typeface="宋体" pitchFamily="2" charset="-122"/>
              </a:rPr>
              <a:t>☆、◇、</a:t>
            </a:r>
            <a:r>
              <a:rPr lang="zh-CN" altLang="en-US" sz="2000" b="1" dirty="0" smtClean="0">
                <a:latin typeface="宋体" pitchFamily="2" charset="-122"/>
              </a:rPr>
              <a:t>△</a:t>
            </a:r>
            <a:endParaRPr lang="en-US" altLang="zh-CN" sz="2000" b="1" dirty="0">
              <a:latin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19872" y="2528928"/>
            <a:ext cx="1351662" cy="252000"/>
            <a:chOff x="3618318" y="4229612"/>
            <a:chExt cx="1426039" cy="352715"/>
          </a:xfrm>
        </p:grpSpPr>
        <p:sp>
          <p:nvSpPr>
            <p:cNvPr id="10" name="Text Box 75"/>
            <p:cNvSpPr txBox="1">
              <a:spLocks noChangeArrowheads="1"/>
            </p:cNvSpPr>
            <p:nvPr/>
          </p:nvSpPr>
          <p:spPr bwMode="auto">
            <a:xfrm>
              <a:off x="3618318" y="4229612"/>
              <a:ext cx="576064" cy="352715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square">
              <a:noAutofit/>
            </a:bodyPr>
            <a:lstStyle/>
            <a:p>
              <a:endParaRPr lang="zh-CN" altLang="en-US" sz="1800" b="1" dirty="0">
                <a:solidFill>
                  <a:srgbClr val="FF3399"/>
                </a:solidFill>
                <a:latin typeface="宋体" pitchFamily="2" charset="-122"/>
              </a:endParaRPr>
            </a:p>
          </p:txBody>
        </p:sp>
        <p:sp>
          <p:nvSpPr>
            <p:cNvPr id="11" name="Text Box 75"/>
            <p:cNvSpPr txBox="1">
              <a:spLocks noChangeArrowheads="1"/>
            </p:cNvSpPr>
            <p:nvPr/>
          </p:nvSpPr>
          <p:spPr bwMode="auto">
            <a:xfrm>
              <a:off x="4468293" y="4229612"/>
              <a:ext cx="576064" cy="35271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square">
              <a:noAutofit/>
            </a:bodyPr>
            <a:lstStyle/>
            <a:p>
              <a:endParaRPr lang="zh-CN" altLang="en-US" sz="1800" b="1" dirty="0">
                <a:solidFill>
                  <a:srgbClr val="FF3399"/>
                </a:solidFill>
                <a:latin typeface="宋体" pitchFamily="2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3923928" y="4293096"/>
            <a:ext cx="1296144" cy="1152128"/>
            <a:chOff x="3923928" y="4005064"/>
            <a:chExt cx="1296144" cy="1152128"/>
          </a:xfrm>
        </p:grpSpPr>
        <p:sp>
          <p:nvSpPr>
            <p:cNvPr id="76" name="Text Box 316"/>
            <p:cNvSpPr txBox="1">
              <a:spLocks noChangeArrowheads="1"/>
            </p:cNvSpPr>
            <p:nvPr/>
          </p:nvSpPr>
          <p:spPr bwMode="auto">
            <a:xfrm>
              <a:off x="4572042" y="4257965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itchFamily="2" charset="-122"/>
                </a:rPr>
                <a:t>…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88" name="直接箭头连接符 87"/>
            <p:cNvCxnSpPr/>
            <p:nvPr/>
          </p:nvCxnSpPr>
          <p:spPr bwMode="auto">
            <a:xfrm flipV="1">
              <a:off x="3923929" y="4149080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 flipV="1">
              <a:off x="3923928" y="4631641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0" name="Text Box 314"/>
            <p:cNvSpPr txBox="1">
              <a:spLocks noChangeArrowheads="1"/>
            </p:cNvSpPr>
            <p:nvPr/>
          </p:nvSpPr>
          <p:spPr bwMode="auto">
            <a:xfrm>
              <a:off x="4212043" y="4005064"/>
              <a:ext cx="1008000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部件</a:t>
              </a:r>
              <a:r>
                <a:rPr lang="en-US" altLang="zh-CN" sz="1600" b="1" dirty="0" smtClean="0">
                  <a:latin typeface="宋体" pitchFamily="2" charset="-122"/>
                </a:rPr>
                <a:t>1</a:t>
              </a:r>
              <a:r>
                <a:rPr lang="zh-CN" altLang="en-US" sz="1600" b="1" dirty="0" smtClean="0">
                  <a:latin typeface="宋体" pitchFamily="2" charset="-122"/>
                </a:rPr>
                <a:t>需求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91" name="Text Box 314"/>
            <p:cNvSpPr txBox="1">
              <a:spLocks noChangeArrowheads="1"/>
            </p:cNvSpPr>
            <p:nvPr/>
          </p:nvSpPr>
          <p:spPr bwMode="auto">
            <a:xfrm>
              <a:off x="4212043" y="4473144"/>
              <a:ext cx="1008000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部件</a:t>
              </a:r>
              <a:r>
                <a:rPr lang="en-US" altLang="zh-CN" sz="1600" b="1" dirty="0" smtClean="0">
                  <a:latin typeface="宋体" pitchFamily="2" charset="-122"/>
                </a:rPr>
                <a:t>n</a:t>
              </a:r>
              <a:r>
                <a:rPr lang="zh-CN" altLang="en-US" sz="1600" b="1" dirty="0" smtClean="0">
                  <a:latin typeface="宋体" pitchFamily="2" charset="-122"/>
                </a:rPr>
                <a:t>需求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92" name="Text Box 314"/>
            <p:cNvSpPr txBox="1">
              <a:spLocks noChangeArrowheads="1"/>
            </p:cNvSpPr>
            <p:nvPr/>
          </p:nvSpPr>
          <p:spPr bwMode="auto">
            <a:xfrm>
              <a:off x="4212073" y="4905192"/>
              <a:ext cx="1007999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rgbClr val="990099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itchFamily="2" charset="-122"/>
                </a:rPr>
                <a:t>控制</a:t>
              </a:r>
              <a:r>
                <a:rPr lang="zh-CN" altLang="en-US" sz="1600" b="1" dirty="0" smtClean="0">
                  <a:latin typeface="宋体" pitchFamily="2" charset="-122"/>
                </a:rPr>
                <a:t>需求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93" name="直接箭头连接符 92"/>
            <p:cNvCxnSpPr/>
            <p:nvPr/>
          </p:nvCxnSpPr>
          <p:spPr bwMode="auto">
            <a:xfrm flipV="1">
              <a:off x="3923928" y="5033957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4" name="组合 93"/>
          <p:cNvGrpSpPr/>
          <p:nvPr/>
        </p:nvGrpSpPr>
        <p:grpSpPr>
          <a:xfrm>
            <a:off x="1547664" y="4221088"/>
            <a:ext cx="2376264" cy="1224080"/>
            <a:chOff x="1547664" y="3933056"/>
            <a:chExt cx="2376264" cy="1224080"/>
          </a:xfrm>
        </p:grpSpPr>
        <p:sp>
          <p:nvSpPr>
            <p:cNvPr id="95" name="Text Box 311"/>
            <p:cNvSpPr txBox="1">
              <a:spLocks noChangeArrowheads="1"/>
            </p:cNvSpPr>
            <p:nvPr/>
          </p:nvSpPr>
          <p:spPr bwMode="auto">
            <a:xfrm>
              <a:off x="1547664" y="3933056"/>
              <a:ext cx="288000" cy="122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FF0000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dirty="0" smtClean="0">
                  <a:latin typeface="宋体" pitchFamily="2" charset="-122"/>
                </a:rPr>
                <a:t>计算机模型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>
              <a:off x="3059832" y="4395546"/>
              <a:ext cx="576000" cy="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7" name="Text Box 311"/>
            <p:cNvSpPr txBox="1">
              <a:spLocks noChangeArrowheads="1"/>
            </p:cNvSpPr>
            <p:nvPr/>
          </p:nvSpPr>
          <p:spPr bwMode="auto">
            <a:xfrm>
              <a:off x="2123727" y="4257120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硬件</a:t>
              </a:r>
              <a:r>
                <a:rPr lang="zh-CN" altLang="en-US" sz="1600" b="1" dirty="0">
                  <a:latin typeface="宋体" pitchFamily="2" charset="-122"/>
                </a:rPr>
                <a:t>结构</a:t>
              </a:r>
            </a:p>
          </p:txBody>
        </p:sp>
        <p:sp>
          <p:nvSpPr>
            <p:cNvPr id="98" name="Text Box 311"/>
            <p:cNvSpPr txBox="1">
              <a:spLocks noChangeArrowheads="1"/>
            </p:cNvSpPr>
            <p:nvPr/>
          </p:nvSpPr>
          <p:spPr bwMode="auto">
            <a:xfrm>
              <a:off x="2123727" y="3933056"/>
              <a:ext cx="93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工作过程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99" name="直接箭头连接符 98"/>
            <p:cNvCxnSpPr/>
            <p:nvPr/>
          </p:nvCxnSpPr>
          <p:spPr bwMode="auto">
            <a:xfrm>
              <a:off x="1835696" y="4395550"/>
              <a:ext cx="28696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1836733" y="4077072"/>
              <a:ext cx="28696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1" name="Text Box 311"/>
            <p:cNvSpPr txBox="1">
              <a:spLocks noChangeArrowheads="1"/>
            </p:cNvSpPr>
            <p:nvPr/>
          </p:nvSpPr>
          <p:spPr bwMode="auto">
            <a:xfrm>
              <a:off x="2123727" y="4581128"/>
              <a:ext cx="936000" cy="252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软件组成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102" name="直接箭头连接符 101"/>
            <p:cNvCxnSpPr/>
            <p:nvPr/>
          </p:nvCxnSpPr>
          <p:spPr bwMode="auto">
            <a:xfrm>
              <a:off x="1835664" y="4725144"/>
              <a:ext cx="28696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3" name="直接箭头连接符 102"/>
            <p:cNvCxnSpPr/>
            <p:nvPr/>
          </p:nvCxnSpPr>
          <p:spPr bwMode="auto">
            <a:xfrm>
              <a:off x="3059832" y="4077072"/>
              <a:ext cx="576000" cy="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103"/>
            <p:cNvCxnSpPr/>
            <p:nvPr/>
          </p:nvCxnSpPr>
          <p:spPr bwMode="auto">
            <a:xfrm>
              <a:off x="3059832" y="4725144"/>
              <a:ext cx="432000" cy="4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V="1">
              <a:off x="3419896" y="5036041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6" name="Text Box 311"/>
            <p:cNvSpPr txBox="1">
              <a:spLocks noChangeArrowheads="1"/>
            </p:cNvSpPr>
            <p:nvPr/>
          </p:nvSpPr>
          <p:spPr bwMode="auto">
            <a:xfrm>
              <a:off x="2555896" y="4905136"/>
              <a:ext cx="86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FF0000"/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ISA</a:t>
              </a:r>
              <a:r>
                <a:rPr lang="zh-CN" altLang="en-US" sz="1600" b="1" dirty="0" smtClean="0">
                  <a:latin typeface="宋体" pitchFamily="2" charset="-122"/>
                </a:rPr>
                <a:t>约定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107" name="直接箭头连接符 106"/>
            <p:cNvCxnSpPr/>
            <p:nvPr/>
          </p:nvCxnSpPr>
          <p:spPr bwMode="auto">
            <a:xfrm flipV="1">
              <a:off x="2339776" y="4833128"/>
              <a:ext cx="24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8" name="直接箭头连接符 107"/>
            <p:cNvCxnSpPr/>
            <p:nvPr/>
          </p:nvCxnSpPr>
          <p:spPr bwMode="auto">
            <a:xfrm flipH="1">
              <a:off x="2339800" y="5049152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9" name="Text Box 316"/>
            <p:cNvSpPr txBox="1">
              <a:spLocks noChangeArrowheads="1"/>
            </p:cNvSpPr>
            <p:nvPr/>
          </p:nvSpPr>
          <p:spPr bwMode="auto">
            <a:xfrm>
              <a:off x="3635928" y="3933056"/>
              <a:ext cx="288000" cy="1224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dirty="0" smtClean="0">
                  <a:latin typeface="宋体" pitchFamily="2" charset="-122"/>
                </a:rPr>
                <a:t>硬件需求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110" name="Text Box 316"/>
            <p:cNvSpPr txBox="1">
              <a:spLocks noChangeArrowheads="1"/>
            </p:cNvSpPr>
            <p:nvPr/>
          </p:nvSpPr>
          <p:spPr bwMode="auto">
            <a:xfrm>
              <a:off x="3059832" y="450912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 smtClean="0">
                  <a:solidFill>
                    <a:srgbClr val="C00000"/>
                  </a:solidFill>
                  <a:latin typeface="宋体" pitchFamily="2" charset="-122"/>
                </a:rPr>
                <a:t>应用</a:t>
              </a:r>
              <a:endParaRPr lang="zh-CN" altLang="en-US" sz="1400" b="1" dirty="0">
                <a:solidFill>
                  <a:srgbClr val="C00000"/>
                </a:solidFill>
                <a:latin typeface="宋体" pitchFamily="2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5220072" y="4221088"/>
            <a:ext cx="2520280" cy="864096"/>
            <a:chOff x="5220072" y="3933056"/>
            <a:chExt cx="2520280" cy="864096"/>
          </a:xfrm>
        </p:grpSpPr>
        <p:sp>
          <p:nvSpPr>
            <p:cNvPr id="112" name="Text Box 314"/>
            <p:cNvSpPr txBox="1">
              <a:spLocks noChangeArrowheads="1"/>
            </p:cNvSpPr>
            <p:nvPr/>
          </p:nvSpPr>
          <p:spPr bwMode="auto">
            <a:xfrm>
              <a:off x="5580216" y="4005064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硬件组成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113" name="Text Box 314"/>
            <p:cNvSpPr txBox="1">
              <a:spLocks noChangeArrowheads="1"/>
            </p:cNvSpPr>
            <p:nvPr/>
          </p:nvSpPr>
          <p:spPr bwMode="auto">
            <a:xfrm>
              <a:off x="5580216" y="4473144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硬件组成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114" name="Text Box 314"/>
            <p:cNvSpPr txBox="1">
              <a:spLocks noChangeArrowheads="1"/>
            </p:cNvSpPr>
            <p:nvPr/>
          </p:nvSpPr>
          <p:spPr bwMode="auto">
            <a:xfrm>
              <a:off x="6876352" y="4473144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工作原理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115" name="Text Box 314"/>
            <p:cNvSpPr txBox="1">
              <a:spLocks noChangeArrowheads="1"/>
            </p:cNvSpPr>
            <p:nvPr/>
          </p:nvSpPr>
          <p:spPr bwMode="auto">
            <a:xfrm>
              <a:off x="6876256" y="4005064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工作原理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116" name="直接箭头连接符 115"/>
            <p:cNvCxnSpPr>
              <a:stCxn id="112" idx="3"/>
              <a:endCxn id="115" idx="1"/>
            </p:cNvCxnSpPr>
            <p:nvPr/>
          </p:nvCxnSpPr>
          <p:spPr bwMode="auto">
            <a:xfrm>
              <a:off x="6516216" y="4131064"/>
              <a:ext cx="3600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7" name="直接箭头连接符 116"/>
            <p:cNvCxnSpPr>
              <a:stCxn id="113" idx="3"/>
              <a:endCxn id="114" idx="1"/>
            </p:cNvCxnSpPr>
            <p:nvPr/>
          </p:nvCxnSpPr>
          <p:spPr bwMode="auto">
            <a:xfrm>
              <a:off x="6516216" y="4599144"/>
              <a:ext cx="36013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8" name="直接箭头连接符 117"/>
            <p:cNvCxnSpPr/>
            <p:nvPr/>
          </p:nvCxnSpPr>
          <p:spPr bwMode="auto">
            <a:xfrm>
              <a:off x="5220072" y="4131064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9" name="直接箭头连接符 118"/>
            <p:cNvCxnSpPr/>
            <p:nvPr/>
          </p:nvCxnSpPr>
          <p:spPr bwMode="auto">
            <a:xfrm>
              <a:off x="5220072" y="4599144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0" name="直接箭头连接符 119"/>
            <p:cNvCxnSpPr/>
            <p:nvPr/>
          </p:nvCxnSpPr>
          <p:spPr bwMode="auto">
            <a:xfrm>
              <a:off x="5364088" y="3933056"/>
              <a:ext cx="129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1" name="直接箭头连接符 120"/>
            <p:cNvCxnSpPr/>
            <p:nvPr/>
          </p:nvCxnSpPr>
          <p:spPr bwMode="auto">
            <a:xfrm>
              <a:off x="6660232" y="3933056"/>
              <a:ext cx="0" cy="19800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 flipV="1">
              <a:off x="5364088" y="3933056"/>
              <a:ext cx="0" cy="19800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>
              <a:off x="5364088" y="4797152"/>
              <a:ext cx="129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/>
            <p:cNvCxnSpPr/>
            <p:nvPr/>
          </p:nvCxnSpPr>
          <p:spPr bwMode="auto">
            <a:xfrm flipH="1" flipV="1">
              <a:off x="6660232" y="4599152"/>
              <a:ext cx="0" cy="19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5364088" y="4599152"/>
              <a:ext cx="0" cy="19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26" name="Text Box 316"/>
            <p:cNvSpPr txBox="1">
              <a:spLocks noChangeArrowheads="1"/>
            </p:cNvSpPr>
            <p:nvPr/>
          </p:nvSpPr>
          <p:spPr bwMode="auto">
            <a:xfrm>
              <a:off x="5868416" y="4262650"/>
              <a:ext cx="1656000" cy="216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itchFamily="2" charset="-122"/>
                </a:rPr>
                <a:t>…           …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</p:grpSp>
      <p:grpSp>
        <p:nvGrpSpPr>
          <p:cNvPr id="127" name="组合 126"/>
          <p:cNvGrpSpPr/>
          <p:nvPr/>
        </p:nvGrpSpPr>
        <p:grpSpPr>
          <a:xfrm>
            <a:off x="5212791" y="4419096"/>
            <a:ext cx="2815593" cy="1026128"/>
            <a:chOff x="5212791" y="4131064"/>
            <a:chExt cx="2815593" cy="1026128"/>
          </a:xfrm>
        </p:grpSpPr>
        <p:cxnSp>
          <p:nvCxnSpPr>
            <p:cNvPr id="128" name="直接箭头连接符 127"/>
            <p:cNvCxnSpPr/>
            <p:nvPr/>
          </p:nvCxnSpPr>
          <p:spPr bwMode="auto">
            <a:xfrm flipH="1">
              <a:off x="6516176" y="4995160"/>
              <a:ext cx="136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 flipV="1">
              <a:off x="6156176" y="4725144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0" name="直接箭头连接符 27"/>
            <p:cNvCxnSpPr/>
            <p:nvPr/>
          </p:nvCxnSpPr>
          <p:spPr bwMode="auto">
            <a:xfrm>
              <a:off x="7740544" y="4599144"/>
              <a:ext cx="143824" cy="396016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31" name="Text Box 311"/>
            <p:cNvSpPr txBox="1">
              <a:spLocks noChangeArrowheads="1"/>
            </p:cNvSpPr>
            <p:nvPr/>
          </p:nvSpPr>
          <p:spPr bwMode="auto">
            <a:xfrm>
              <a:off x="5580112" y="4905192"/>
              <a:ext cx="93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 smtClean="0">
                  <a:latin typeface="宋体" pitchFamily="2" charset="-122"/>
                </a:rPr>
                <a:t>硬件控制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132" name="直接箭头连接符 131"/>
            <p:cNvCxnSpPr/>
            <p:nvPr/>
          </p:nvCxnSpPr>
          <p:spPr bwMode="auto">
            <a:xfrm>
              <a:off x="5212791" y="5033957"/>
              <a:ext cx="36742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3" name="直接箭头连接符 132"/>
            <p:cNvCxnSpPr/>
            <p:nvPr/>
          </p:nvCxnSpPr>
          <p:spPr bwMode="auto">
            <a:xfrm flipV="1">
              <a:off x="6012160" y="4257966"/>
              <a:ext cx="0" cy="64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H="1">
              <a:off x="6516216" y="5085184"/>
              <a:ext cx="151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27"/>
            <p:cNvCxnSpPr/>
            <p:nvPr/>
          </p:nvCxnSpPr>
          <p:spPr bwMode="auto">
            <a:xfrm>
              <a:off x="7740256" y="4131064"/>
              <a:ext cx="288128" cy="954120"/>
            </a:xfrm>
            <a:prstGeom prst="bentConnector2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6DD8-8223-495E-BB24-1835C3AAC9EE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38200" y="287338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1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计算机系统</a:t>
            </a:r>
            <a:r>
              <a:rPr lang="zh-CN" altLang="en-US" sz="3200" b="1" dirty="0" smtClean="0"/>
              <a:t>概述</a:t>
            </a:r>
            <a:endParaRPr lang="zh-CN" altLang="en-US" sz="3200" b="1" dirty="0"/>
          </a:p>
        </p:txBody>
      </p:sp>
      <p:sp>
        <p:nvSpPr>
          <p:cNvPr id="220165" name="Text Box 5"/>
          <p:cNvSpPr txBox="1">
            <a:spLocks noChangeArrowheads="1"/>
          </p:cNvSpPr>
          <p:nvPr/>
        </p:nvSpPr>
        <p:spPr bwMode="auto">
          <a:xfrm>
            <a:off x="179388" y="1325240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计算机硬件组成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51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15816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0215" name="Text Box 55"/>
          <p:cNvSpPr txBox="1">
            <a:spLocks noChangeArrowheads="1"/>
          </p:cNvSpPr>
          <p:nvPr/>
        </p:nvSpPr>
        <p:spPr bwMode="auto">
          <a:xfrm>
            <a:off x="179388" y="1887215"/>
            <a:ext cx="8785225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冯</a:t>
            </a:r>
            <a:r>
              <a:rPr lang="en-US" altLang="zh-CN" b="1" dirty="0">
                <a:solidFill>
                  <a:srgbClr val="FF3399"/>
                </a:solidFill>
                <a:latin typeface="+mn-lt"/>
              </a:rPr>
              <a:t>·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诺依曼计算机        </a:t>
            </a:r>
            <a:r>
              <a:rPr lang="zh-CN" altLang="en-US" sz="2000" b="1" dirty="0" smtClean="0">
                <a:latin typeface="宋体" pitchFamily="2" charset="-122"/>
              </a:rPr>
              <a:t>☆</a:t>
            </a:r>
            <a:r>
              <a:rPr lang="zh-CN" altLang="en-US" sz="2000" b="1" dirty="0">
                <a:latin typeface="宋体" pitchFamily="2" charset="-122"/>
              </a:rPr>
              <a:t>建立整机</a:t>
            </a:r>
            <a:r>
              <a:rPr lang="zh-CN" altLang="en-US" sz="2000" b="1" dirty="0" smtClean="0">
                <a:latin typeface="宋体" pitchFamily="2" charset="-122"/>
              </a:rPr>
              <a:t>概念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C00000"/>
                </a:solidFill>
                <a:latin typeface="宋体" pitchFamily="2" charset="-122"/>
              </a:rPr>
              <a:t>软硬件模型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220216" name="Text Box 56"/>
          <p:cNvSpPr txBox="1">
            <a:spLocks noChangeArrowheads="1"/>
          </p:cNvSpPr>
          <p:nvPr/>
        </p:nvSpPr>
        <p:spPr bwMode="auto">
          <a:xfrm>
            <a:off x="179388" y="2341329"/>
            <a:ext cx="8812211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硬</a:t>
            </a:r>
            <a:r>
              <a:rPr lang="zh-CN" altLang="en-US" b="1" spc="-100" dirty="0" smtClean="0">
                <a:latin typeface="宋体" pitchFamily="2" charset="-122"/>
              </a:rPr>
              <a:t>件结构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spc="-100" dirty="0" smtClean="0">
                <a:latin typeface="宋体" pitchFamily="2" charset="-122"/>
              </a:rPr>
              <a:t>含存储器结构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，软件组成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spc="-100" dirty="0">
                <a:latin typeface="宋体" pitchFamily="2" charset="-122"/>
              </a:rPr>
              <a:t>含</a:t>
            </a:r>
            <a:r>
              <a:rPr lang="zh-CN" altLang="en-US" sz="1800" b="1" spc="-100" dirty="0" smtClean="0">
                <a:latin typeface="宋体" pitchFamily="2" charset="-122"/>
              </a:rPr>
              <a:t>指令组成、执行顺序</a:t>
            </a:r>
            <a:r>
              <a:rPr lang="en-US" altLang="zh-CN" sz="1800" b="1" spc="-100" dirty="0" smtClean="0">
                <a:latin typeface="宋体" pitchFamily="2" charset="-122"/>
              </a:rPr>
              <a:t>[</a:t>
            </a:r>
            <a:r>
              <a:rPr lang="zh-CN" altLang="en-US" sz="1800" b="1" spc="-100" dirty="0" smtClean="0">
                <a:latin typeface="宋体" pitchFamily="2" charset="-122"/>
              </a:rPr>
              <a:t>～指令类型</a:t>
            </a:r>
            <a:r>
              <a:rPr lang="en-US" altLang="zh-CN" sz="1800" b="1" spc="-100" dirty="0" smtClean="0">
                <a:latin typeface="宋体" pitchFamily="2" charset="-122"/>
              </a:rPr>
              <a:t>])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工作方式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预先存放到</a:t>
            </a:r>
            <a:r>
              <a:rPr lang="en-US" altLang="zh-CN" sz="1800" b="1" dirty="0" smtClean="0">
                <a:latin typeface="宋体" pitchFamily="2" charset="-122"/>
              </a:rPr>
              <a:t>MEM</a:t>
            </a:r>
            <a:r>
              <a:rPr lang="zh-CN" altLang="en-US" sz="1800" b="1" dirty="0" smtClean="0">
                <a:latin typeface="宋体" pitchFamily="2" charset="-122"/>
              </a:rPr>
              <a:t>中、自动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逐条取指令并执行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zh-CN" altLang="en-US" sz="1800" b="1" dirty="0">
              <a:latin typeface="宋体" pitchFamily="2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619672" y="3429000"/>
            <a:ext cx="6552728" cy="936104"/>
            <a:chOff x="1403648" y="4725144"/>
            <a:chExt cx="6552728" cy="936104"/>
          </a:xfrm>
        </p:grpSpPr>
        <p:sp>
          <p:nvSpPr>
            <p:cNvPr id="34" name="矩形 33"/>
            <p:cNvSpPr/>
            <p:nvPr/>
          </p:nvSpPr>
          <p:spPr bwMode="auto">
            <a:xfrm>
              <a:off x="1403648" y="4725144"/>
              <a:ext cx="4608511" cy="593975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5" name="Text Box 311"/>
            <p:cNvSpPr txBox="1">
              <a:spLocks noChangeArrowheads="1"/>
            </p:cNvSpPr>
            <p:nvPr/>
          </p:nvSpPr>
          <p:spPr bwMode="auto">
            <a:xfrm>
              <a:off x="1572743" y="4851985"/>
              <a:ext cx="1072104" cy="35877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取指令</a:t>
              </a:r>
            </a:p>
          </p:txBody>
        </p:sp>
        <p:sp>
          <p:nvSpPr>
            <p:cNvPr id="36" name="Text Box 314"/>
            <p:cNvSpPr txBox="1">
              <a:spLocks noChangeArrowheads="1"/>
            </p:cNvSpPr>
            <p:nvPr/>
          </p:nvSpPr>
          <p:spPr bwMode="auto">
            <a:xfrm>
              <a:off x="3203848" y="4851985"/>
              <a:ext cx="1030012" cy="3587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分析指令</a:t>
              </a:r>
            </a:p>
          </p:txBody>
        </p:sp>
        <p:sp>
          <p:nvSpPr>
            <p:cNvPr id="37" name="Text Box 316"/>
            <p:cNvSpPr txBox="1">
              <a:spLocks noChangeArrowheads="1"/>
            </p:cNvSpPr>
            <p:nvPr/>
          </p:nvSpPr>
          <p:spPr bwMode="auto">
            <a:xfrm>
              <a:off x="4763136" y="4851985"/>
              <a:ext cx="1104104" cy="358775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执行指令</a:t>
              </a:r>
            </a:p>
          </p:txBody>
        </p:sp>
        <p:cxnSp>
          <p:nvCxnSpPr>
            <p:cNvPr id="38" name="直接箭头连接符 37"/>
            <p:cNvCxnSpPr>
              <a:stCxn id="35" idx="3"/>
              <a:endCxn id="36" idx="1"/>
            </p:cNvCxnSpPr>
            <p:nvPr/>
          </p:nvCxnSpPr>
          <p:spPr bwMode="auto">
            <a:xfrm>
              <a:off x="2644847" y="5031373"/>
              <a:ext cx="55900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>
              <a:stCxn id="36" idx="3"/>
              <a:endCxn id="37" idx="1"/>
            </p:cNvCxnSpPr>
            <p:nvPr/>
          </p:nvCxnSpPr>
          <p:spPr bwMode="auto">
            <a:xfrm>
              <a:off x="4233860" y="5031373"/>
              <a:ext cx="529276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0" name="Text Box 316"/>
            <p:cNvSpPr txBox="1">
              <a:spLocks noChangeArrowheads="1"/>
            </p:cNvSpPr>
            <p:nvPr/>
          </p:nvSpPr>
          <p:spPr bwMode="auto">
            <a:xfrm>
              <a:off x="6372200" y="4853570"/>
              <a:ext cx="1584176" cy="35719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计算指令地址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41" name="直接箭头连接符 40"/>
            <p:cNvCxnSpPr>
              <a:stCxn id="37" idx="3"/>
              <a:endCxn id="40" idx="1"/>
            </p:cNvCxnSpPr>
            <p:nvPr/>
          </p:nvCxnSpPr>
          <p:spPr bwMode="auto">
            <a:xfrm>
              <a:off x="5867240" y="5031373"/>
              <a:ext cx="504960" cy="79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27"/>
            <p:cNvCxnSpPr>
              <a:stCxn id="40" idx="3"/>
              <a:endCxn id="35" idx="1"/>
            </p:cNvCxnSpPr>
            <p:nvPr/>
          </p:nvCxnSpPr>
          <p:spPr bwMode="auto">
            <a:xfrm flipH="1" flipV="1">
              <a:off x="1572743" y="5031373"/>
              <a:ext cx="6383633" cy="792"/>
            </a:xfrm>
            <a:prstGeom prst="bentConnector5">
              <a:avLst>
                <a:gd name="adj1" fmla="val -3581"/>
                <a:gd name="adj2" fmla="val 51613636"/>
                <a:gd name="adj3" fmla="val 10358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3" name="Text Box 316"/>
            <p:cNvSpPr txBox="1">
              <a:spLocks noChangeArrowheads="1"/>
            </p:cNvSpPr>
            <p:nvPr/>
          </p:nvSpPr>
          <p:spPr bwMode="auto">
            <a:xfrm>
              <a:off x="1619672" y="5409853"/>
              <a:ext cx="1010252" cy="25139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指令地址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44" name="Line 97"/>
            <p:cNvSpPr>
              <a:spLocks noChangeShapeType="1"/>
            </p:cNvSpPr>
            <p:nvPr/>
          </p:nvSpPr>
          <p:spPr bwMode="auto">
            <a:xfrm flipH="1" flipV="1">
              <a:off x="2108795" y="5210760"/>
              <a:ext cx="0" cy="21671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5" name="直接箭头连接符 41"/>
            <p:cNvCxnSpPr>
              <a:stCxn id="40" idx="2"/>
              <a:endCxn id="43" idx="3"/>
            </p:cNvCxnSpPr>
            <p:nvPr/>
          </p:nvCxnSpPr>
          <p:spPr bwMode="auto">
            <a:xfrm rot="5400000">
              <a:off x="4734711" y="3105973"/>
              <a:ext cx="324791" cy="4534364"/>
            </a:xfrm>
            <a:prstGeom prst="bentConnector2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179388" y="4479503"/>
            <a:ext cx="8785348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硬件的结构与组成       </a:t>
            </a:r>
            <a:r>
              <a:rPr lang="zh-CN" altLang="en-US" sz="2000" b="1" dirty="0" smtClean="0">
                <a:latin typeface="宋体" pitchFamily="2" charset="-122"/>
              </a:rPr>
              <a:t>☆理解硬件结构、掌握基本概念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67" name="Text Box 56"/>
          <p:cNvSpPr txBox="1">
            <a:spLocks noChangeArrowheads="1"/>
          </p:cNvSpPr>
          <p:nvPr/>
        </p:nvSpPr>
        <p:spPr bwMode="auto">
          <a:xfrm>
            <a:off x="179512" y="4941168"/>
            <a:ext cx="8812088" cy="5539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基本结构</a:t>
            </a:r>
            <a:r>
              <a:rPr lang="en-US" altLang="zh-CN" sz="1800" b="1" dirty="0" smtClean="0">
                <a:latin typeface="宋体" pitchFamily="2" charset="-122"/>
              </a:rPr>
              <a:t>(2</a:t>
            </a:r>
            <a:r>
              <a:rPr lang="zh-CN" altLang="en-US" sz="1800" b="1" dirty="0" smtClean="0">
                <a:latin typeface="宋体" pitchFamily="2" charset="-122"/>
              </a:rPr>
              <a:t>点改进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，部件组成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功能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组成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zh-CN" altLang="en-US" b="1" dirty="0">
                <a:latin typeface="宋体" pitchFamily="2" charset="-122"/>
              </a:rPr>
              <a:t>部件</a:t>
            </a:r>
            <a:r>
              <a:rPr lang="zh-CN" altLang="en-US" b="1" dirty="0" smtClean="0">
                <a:latin typeface="宋体" pitchFamily="2" charset="-122"/>
              </a:rPr>
              <a:t>互连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连接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传输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zh-CN" altLang="en-US" sz="1600" b="1" dirty="0">
              <a:latin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43607" y="5445224"/>
            <a:ext cx="7704857" cy="937444"/>
            <a:chOff x="755575" y="5157192"/>
            <a:chExt cx="7704857" cy="937444"/>
          </a:xfrm>
        </p:grpSpPr>
        <p:sp>
          <p:nvSpPr>
            <p:cNvPr id="48" name="Text Box 7"/>
            <p:cNvSpPr txBox="1">
              <a:spLocks noChangeArrowheads="1"/>
            </p:cNvSpPr>
            <p:nvPr/>
          </p:nvSpPr>
          <p:spPr bwMode="auto">
            <a:xfrm>
              <a:off x="755576" y="5383336"/>
              <a:ext cx="1008188" cy="7113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 smtClean="0">
                <a:latin typeface="宋体" pitchFamily="2" charset="-122"/>
              </a:endParaRPr>
            </a:p>
            <a:p>
              <a:pPr algn="ctr"/>
              <a:r>
                <a:rPr lang="en-US" altLang="zh-CN" sz="2000" b="1" dirty="0" smtClean="0">
                  <a:latin typeface="宋体" pitchFamily="2" charset="-122"/>
                </a:rPr>
                <a:t>CPU</a:t>
              </a:r>
              <a:endParaRPr lang="en-US" altLang="zh-CN" sz="2000" b="1" dirty="0">
                <a:latin typeface="宋体" pitchFamily="2" charset="-122"/>
              </a:endParaRPr>
            </a:p>
          </p:txBody>
        </p:sp>
        <p:sp>
          <p:nvSpPr>
            <p:cNvPr id="49" name="Line 8"/>
            <p:cNvSpPr>
              <a:spLocks noChangeShapeType="1"/>
            </p:cNvSpPr>
            <p:nvPr/>
          </p:nvSpPr>
          <p:spPr bwMode="auto">
            <a:xfrm>
              <a:off x="1331640" y="5157192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9"/>
            <p:cNvSpPr txBox="1">
              <a:spLocks noChangeArrowheads="1"/>
            </p:cNvSpPr>
            <p:nvPr/>
          </p:nvSpPr>
          <p:spPr bwMode="auto">
            <a:xfrm>
              <a:off x="1907555" y="5804892"/>
              <a:ext cx="1296293" cy="28815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latin typeface="宋体" pitchFamily="2" charset="-122"/>
                </a:rPr>
                <a:t>主存</a:t>
              </a:r>
            </a:p>
          </p:txBody>
        </p:sp>
        <p:sp>
          <p:nvSpPr>
            <p:cNvPr id="51" name="Text Box 10"/>
            <p:cNvSpPr txBox="1">
              <a:spLocks noChangeArrowheads="1"/>
            </p:cNvSpPr>
            <p:nvPr/>
          </p:nvSpPr>
          <p:spPr bwMode="auto">
            <a:xfrm>
              <a:off x="5075238" y="5374680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I/O</a:t>
              </a:r>
              <a:r>
                <a:rPr lang="zh-CN" altLang="en-US" sz="1800" b="1" dirty="0">
                  <a:latin typeface="宋体" pitchFamily="2" charset="-122"/>
                </a:rPr>
                <a:t>接口</a:t>
              </a:r>
              <a:r>
                <a:rPr lang="en-US" altLang="zh-CN" sz="1800" b="1" dirty="0">
                  <a:latin typeface="宋体" pitchFamily="2" charset="-122"/>
                </a:rPr>
                <a:t>1</a:t>
              </a:r>
            </a:p>
          </p:txBody>
        </p:sp>
        <p:sp>
          <p:nvSpPr>
            <p:cNvPr id="52" name="Line 11"/>
            <p:cNvSpPr>
              <a:spLocks noChangeShapeType="1"/>
            </p:cNvSpPr>
            <p:nvPr/>
          </p:nvSpPr>
          <p:spPr bwMode="auto">
            <a:xfrm>
              <a:off x="755575" y="5160365"/>
              <a:ext cx="7704857" cy="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>
              <a:off x="2555776" y="5157192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3"/>
            <p:cNvSpPr>
              <a:spLocks noChangeShapeType="1"/>
            </p:cNvSpPr>
            <p:nvPr/>
          </p:nvSpPr>
          <p:spPr bwMode="auto">
            <a:xfrm>
              <a:off x="5651500" y="5160367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14"/>
            <p:cNvSpPr txBox="1">
              <a:spLocks noChangeArrowheads="1"/>
            </p:cNvSpPr>
            <p:nvPr/>
          </p:nvSpPr>
          <p:spPr bwMode="auto">
            <a:xfrm>
              <a:off x="6227763" y="5374680"/>
              <a:ext cx="577850" cy="4318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/>
                <a:t>…</a:t>
              </a:r>
            </a:p>
          </p:txBody>
        </p:sp>
        <p:sp>
          <p:nvSpPr>
            <p:cNvPr id="56" name="Text Box 16"/>
            <p:cNvSpPr txBox="1">
              <a:spLocks noChangeArrowheads="1"/>
            </p:cNvSpPr>
            <p:nvPr/>
          </p:nvSpPr>
          <p:spPr bwMode="auto">
            <a:xfrm>
              <a:off x="5075238" y="5808067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1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5651500" y="5662017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7453313" y="5158780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127"/>
            <p:cNvSpPr txBox="1">
              <a:spLocks noChangeArrowheads="1"/>
            </p:cNvSpPr>
            <p:nvPr/>
          </p:nvSpPr>
          <p:spPr bwMode="auto">
            <a:xfrm>
              <a:off x="6877050" y="5374680"/>
              <a:ext cx="1583382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I/O</a:t>
              </a:r>
              <a:r>
                <a:rPr lang="zh-CN" altLang="en-US" sz="1800" b="1" dirty="0">
                  <a:latin typeface="宋体" pitchFamily="2" charset="-122"/>
                </a:rPr>
                <a:t>接口</a:t>
              </a:r>
              <a:r>
                <a:rPr lang="en-US" altLang="zh-CN" sz="1800" b="1" dirty="0" smtClean="0">
                  <a:latin typeface="宋体" pitchFamily="2" charset="-122"/>
                </a:rPr>
                <a:t>n(DMA)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60" name="Text Box 128"/>
            <p:cNvSpPr txBox="1">
              <a:spLocks noChangeArrowheads="1"/>
            </p:cNvSpPr>
            <p:nvPr/>
          </p:nvSpPr>
          <p:spPr bwMode="auto">
            <a:xfrm>
              <a:off x="6877050" y="5808067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n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61" name="Line 129"/>
            <p:cNvSpPr>
              <a:spLocks noChangeShapeType="1"/>
            </p:cNvSpPr>
            <p:nvPr/>
          </p:nvSpPr>
          <p:spPr bwMode="auto">
            <a:xfrm>
              <a:off x="7453313" y="5662017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136"/>
            <p:cNvSpPr txBox="1">
              <a:spLocks noChangeArrowheads="1"/>
            </p:cNvSpPr>
            <p:nvPr/>
          </p:nvSpPr>
          <p:spPr bwMode="auto">
            <a:xfrm>
              <a:off x="3348038" y="5374680"/>
              <a:ext cx="1439863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itchFamily="2" charset="-122"/>
                </a:rPr>
                <a:t>磁盘适配器</a:t>
              </a:r>
            </a:p>
          </p:txBody>
        </p:sp>
        <p:sp>
          <p:nvSpPr>
            <p:cNvPr id="63" name="Line 137"/>
            <p:cNvSpPr>
              <a:spLocks noChangeShapeType="1"/>
            </p:cNvSpPr>
            <p:nvPr/>
          </p:nvSpPr>
          <p:spPr bwMode="auto">
            <a:xfrm>
              <a:off x="4067175" y="5158780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Box 138"/>
            <p:cNvSpPr txBox="1">
              <a:spLocks noChangeArrowheads="1"/>
            </p:cNvSpPr>
            <p:nvPr/>
          </p:nvSpPr>
          <p:spPr bwMode="auto">
            <a:xfrm>
              <a:off x="3348038" y="5806480"/>
              <a:ext cx="1439863" cy="28733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辅存</a:t>
              </a:r>
              <a:r>
                <a:rPr lang="en-US" altLang="zh-CN" sz="1800" b="1" dirty="0" smtClean="0">
                  <a:latin typeface="宋体" pitchFamily="2" charset="-122"/>
                </a:rPr>
                <a:t>(</a:t>
              </a:r>
              <a:r>
                <a:rPr lang="zh-CN" altLang="en-US" sz="1800" b="1" dirty="0" smtClean="0">
                  <a:latin typeface="宋体" pitchFamily="2" charset="-122"/>
                </a:rPr>
                <a:t>如</a:t>
              </a:r>
              <a:r>
                <a:rPr lang="en-US" altLang="zh-CN" sz="1800" b="1" dirty="0" smtClean="0">
                  <a:latin typeface="宋体" pitchFamily="2" charset="-122"/>
                </a:rPr>
                <a:t>HD)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65" name="Line 139"/>
            <p:cNvSpPr>
              <a:spLocks noChangeShapeType="1"/>
            </p:cNvSpPr>
            <p:nvPr/>
          </p:nvSpPr>
          <p:spPr bwMode="auto">
            <a:xfrm>
              <a:off x="4067175" y="566043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136"/>
            <p:cNvSpPr txBox="1">
              <a:spLocks noChangeArrowheads="1"/>
            </p:cNvSpPr>
            <p:nvPr/>
          </p:nvSpPr>
          <p:spPr bwMode="auto">
            <a:xfrm>
              <a:off x="1907555" y="5383336"/>
              <a:ext cx="1296293" cy="2770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主存控制器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69" name="Text Box 136"/>
            <p:cNvSpPr txBox="1">
              <a:spLocks noChangeArrowheads="1"/>
            </p:cNvSpPr>
            <p:nvPr/>
          </p:nvSpPr>
          <p:spPr bwMode="auto">
            <a:xfrm>
              <a:off x="766462" y="5400431"/>
              <a:ext cx="986416" cy="25614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BIU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>
              <a:off x="755576" y="5661248"/>
              <a:ext cx="100818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Line 139"/>
            <p:cNvSpPr>
              <a:spLocks noChangeShapeType="1"/>
            </p:cNvSpPr>
            <p:nvPr/>
          </p:nvSpPr>
          <p:spPr bwMode="auto">
            <a:xfrm>
              <a:off x="2555776" y="5661248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Text Box 6"/>
          <p:cNvSpPr txBox="1">
            <a:spLocks noChangeArrowheads="1"/>
          </p:cNvSpPr>
          <p:nvPr/>
        </p:nvSpPr>
        <p:spPr bwMode="auto">
          <a:xfrm>
            <a:off x="179512" y="836712"/>
            <a:ext cx="8785101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计算机硬件组成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含模型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sz="2200" b="1" dirty="0" smtClean="0">
                <a:latin typeface="宋体" pitchFamily="2" charset="-122"/>
              </a:rPr>
              <a:t>，工作过程，性能指标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66" name="AutoShape 5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076057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 bwMode="auto">
          <a:xfrm flipH="1">
            <a:off x="2843733" y="3212976"/>
            <a:ext cx="648147" cy="187220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ash"/>
            <a:round/>
            <a:headEnd type="none" w="med" len="sm"/>
            <a:tailEnd type="arrow" w="med" len="sm"/>
          </a:ln>
          <a:effectLst/>
        </p:spPr>
      </p:cxnSp>
      <p:sp>
        <p:nvSpPr>
          <p:cNvPr id="70" name="AutoShape 5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3995937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AutoShape 50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870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5" grpId="0"/>
      <p:bldP spid="220215" grpId="0" animBg="1"/>
      <p:bldP spid="220216" grpId="0"/>
      <p:bldP spid="46" grpId="0" animBg="1"/>
      <p:bldP spid="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3" name="Text Box 56"/>
          <p:cNvSpPr txBox="1">
            <a:spLocks noChangeArrowheads="1"/>
          </p:cNvSpPr>
          <p:nvPr/>
        </p:nvSpPr>
        <p:spPr bwMode="auto">
          <a:xfrm>
            <a:off x="179512" y="332656"/>
            <a:ext cx="8812088" cy="621766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 tIns="0" bIns="0">
            <a:no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知识点融合：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复习时应能回答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</a:t>
            </a:r>
            <a:r>
              <a:rPr lang="zh-CN" altLang="en-US" sz="2200" b="1" dirty="0" smtClean="0">
                <a:latin typeface="宋体" pitchFamily="2" charset="-122"/>
              </a:rPr>
              <a:t>①为什么存储器≥主存</a:t>
            </a:r>
            <a:r>
              <a:rPr lang="en-US" altLang="zh-CN" sz="2200" b="1" dirty="0" smtClean="0">
                <a:latin typeface="宋体" pitchFamily="2" charset="-122"/>
              </a:rPr>
              <a:t>+</a:t>
            </a:r>
            <a:r>
              <a:rPr lang="zh-CN" altLang="en-US" sz="2200" b="1" dirty="0" smtClean="0">
                <a:latin typeface="宋体" pitchFamily="2" charset="-122"/>
              </a:rPr>
              <a:t>辅存？主存</a:t>
            </a:r>
            <a:r>
              <a:rPr lang="en-US" altLang="zh-CN" sz="2200" b="1" dirty="0" smtClean="0">
                <a:latin typeface="宋体" pitchFamily="2" charset="-122"/>
              </a:rPr>
              <a:t>-</a:t>
            </a:r>
            <a:r>
              <a:rPr lang="zh-CN" altLang="en-US" sz="2200" b="1" dirty="0" smtClean="0">
                <a:latin typeface="宋体" pitchFamily="2" charset="-122"/>
              </a:rPr>
              <a:t>辅存间关系及其原因？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  (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提高性能、降低成本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 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层次结构，局部性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</a:t>
            </a:r>
          </a:p>
          <a:p>
            <a:pPr>
              <a:defRPr/>
            </a:pPr>
            <a:r>
              <a:rPr lang="zh-CN" altLang="en-US" sz="2200" b="1" dirty="0" smtClean="0">
                <a:latin typeface="宋体" pitchFamily="2" charset="-122"/>
              </a:rPr>
              <a:t>     ②硬件</a:t>
            </a:r>
            <a:r>
              <a:rPr lang="zh-CN" altLang="en-US" sz="2200" b="1" dirty="0">
                <a:latin typeface="宋体" pitchFamily="2" charset="-122"/>
              </a:rPr>
              <a:t>结构</a:t>
            </a:r>
            <a:r>
              <a:rPr lang="zh-CN" altLang="en-US" sz="2200" b="1" dirty="0" smtClean="0">
                <a:latin typeface="宋体" pitchFamily="2" charset="-122"/>
              </a:rPr>
              <a:t>以存储器为中心的目标？基本</a:t>
            </a:r>
            <a:r>
              <a:rPr lang="zh-CN" altLang="en-US" sz="2200" b="1" dirty="0">
                <a:latin typeface="宋体" pitchFamily="2" charset="-122"/>
              </a:rPr>
              <a:t>实现技术</a:t>
            </a:r>
            <a:r>
              <a:rPr lang="zh-CN" altLang="en-US" sz="2200" b="1" dirty="0" smtClean="0">
                <a:latin typeface="宋体" pitchFamily="2" charset="-122"/>
              </a:rPr>
              <a:t>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</a:t>
            </a:r>
            <a:r>
              <a:rPr lang="zh-CN" altLang="en-US" sz="1600" b="1" dirty="0" smtClean="0">
                <a:latin typeface="宋体" pitchFamily="2" charset="-122"/>
              </a:rPr>
              <a:t>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运算与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I/O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并行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     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缓冲技术＋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DMA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技术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</a:p>
          <a:p>
            <a:pPr>
              <a:defRPr/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</a:t>
            </a:r>
            <a:r>
              <a:rPr lang="zh-CN" altLang="en-US" sz="2200" b="1" dirty="0" smtClean="0">
                <a:latin typeface="宋体" pitchFamily="2" charset="-122"/>
              </a:rPr>
              <a:t>③运算器的功能取决于什么？为什么要设置</a:t>
            </a:r>
            <a:r>
              <a:rPr lang="en-US" altLang="zh-CN" sz="2200" b="1" dirty="0" smtClean="0">
                <a:latin typeface="宋体" pitchFamily="2" charset="-122"/>
              </a:rPr>
              <a:t>GPRs</a:t>
            </a:r>
            <a:r>
              <a:rPr lang="zh-CN" altLang="en-US" sz="2200" b="1" dirty="0" smtClean="0">
                <a:latin typeface="宋体" pitchFamily="2" charset="-122"/>
              </a:rPr>
              <a:t>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指令系统的运算需求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避免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频繁访问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MEM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</a:p>
          <a:p>
            <a:pPr>
              <a:defRPr/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</a:t>
            </a:r>
            <a:r>
              <a:rPr lang="zh-CN" altLang="en-US" sz="2200" b="1" dirty="0" smtClean="0">
                <a:latin typeface="宋体" pitchFamily="2" charset="-122"/>
              </a:rPr>
              <a:t>④主存容量能否改变？对主存引脚、</a:t>
            </a:r>
            <a:r>
              <a:rPr lang="en-US" altLang="zh-CN" sz="2200" b="1" dirty="0" smtClean="0">
                <a:latin typeface="宋体" pitchFamily="2" charset="-122"/>
              </a:rPr>
              <a:t>CPU</a:t>
            </a:r>
            <a:r>
              <a:rPr lang="zh-CN" altLang="en-US" sz="2200" b="1" dirty="0" smtClean="0">
                <a:latin typeface="宋体" pitchFamily="2" charset="-122"/>
              </a:rPr>
              <a:t>地址引脚有什么要求？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 (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能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               (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增加片选引脚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  (=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最大容量地址位数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</a:p>
          <a:p>
            <a:pPr>
              <a:defRPr/>
            </a:pPr>
            <a:r>
              <a:rPr lang="zh-CN" altLang="en-US" sz="2200" b="1" dirty="0" smtClean="0">
                <a:latin typeface="宋体" pitchFamily="2" charset="-122"/>
              </a:rPr>
              <a:t>     </a:t>
            </a:r>
            <a:r>
              <a:rPr lang="zh-CN" altLang="en-US" sz="2200" b="1" dirty="0">
                <a:latin typeface="宋体" pitchFamily="2" charset="-122"/>
              </a:rPr>
              <a:t>⑤控制器</a:t>
            </a:r>
            <a:r>
              <a:rPr lang="zh-CN" altLang="en-US" sz="2200" b="1" dirty="0" smtClean="0">
                <a:latin typeface="宋体" pitchFamily="2" charset="-122"/>
              </a:rPr>
              <a:t>由哪些基本部件组成？设置原因各是什么？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(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PC/IR/ID/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时序信号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控制信号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循环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多步骤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二进制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时间控制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操作控制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</a:p>
          <a:p>
            <a:pPr>
              <a:defRPr/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</a:t>
            </a:r>
            <a:r>
              <a:rPr lang="zh-CN" altLang="en-US" sz="2200" b="1" dirty="0" smtClean="0">
                <a:latin typeface="宋体" pitchFamily="2" charset="-122"/>
              </a:rPr>
              <a:t>⑥</a:t>
            </a:r>
            <a:r>
              <a:rPr lang="zh-CN" altLang="en-US" sz="2200" b="1" dirty="0">
                <a:latin typeface="宋体" pitchFamily="2" charset="-122"/>
              </a:rPr>
              <a:t>部件</a:t>
            </a:r>
            <a:r>
              <a:rPr lang="zh-CN" altLang="en-US" sz="2200" b="1" dirty="0" smtClean="0">
                <a:latin typeface="宋体" pitchFamily="2" charset="-122"/>
              </a:rPr>
              <a:t>为什么采用总线</a:t>
            </a:r>
            <a:r>
              <a:rPr lang="zh-CN" altLang="en-US" sz="2200" b="1" dirty="0">
                <a:latin typeface="宋体" pitchFamily="2" charset="-122"/>
              </a:rPr>
              <a:t>方式互连？</a:t>
            </a:r>
            <a:r>
              <a:rPr lang="zh-CN" altLang="en-US" sz="2200" b="1" dirty="0" smtClean="0">
                <a:latin typeface="宋体" pitchFamily="2" charset="-122"/>
              </a:rPr>
              <a:t>为什么要设置</a:t>
            </a:r>
            <a:r>
              <a:rPr lang="en-US" altLang="zh-CN" sz="2200" b="1" dirty="0" smtClean="0">
                <a:latin typeface="宋体" pitchFamily="2" charset="-122"/>
              </a:rPr>
              <a:t>I/O</a:t>
            </a:r>
            <a:r>
              <a:rPr lang="zh-CN" altLang="en-US" sz="2200" b="1" dirty="0" smtClean="0">
                <a:latin typeface="宋体" pitchFamily="2" charset="-122"/>
              </a:rPr>
              <a:t>接口？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提高应用可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扩展性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              (I/O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操作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标准化、提高部件通用性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  <a:endParaRPr lang="en-US" altLang="zh-CN" sz="1600" b="1" dirty="0">
              <a:solidFill>
                <a:schemeClr val="bg1">
                  <a:lumMod val="85000"/>
                </a:schemeClr>
              </a:solidFill>
              <a:latin typeface="宋体" pitchFamily="2" charset="-122"/>
            </a:endParaRPr>
          </a:p>
          <a:p>
            <a:pPr>
              <a:defRPr/>
            </a:pPr>
            <a:r>
              <a:rPr lang="zh-CN" altLang="en-US" sz="2200" b="1" dirty="0" smtClean="0">
                <a:latin typeface="宋体" pitchFamily="2" charset="-122"/>
              </a:rPr>
              <a:t>     </a:t>
            </a:r>
            <a:r>
              <a:rPr lang="zh-CN" altLang="en-US" sz="2200" b="1" dirty="0">
                <a:latin typeface="宋体" pitchFamily="2" charset="-122"/>
              </a:rPr>
              <a:t>⑦总线</a:t>
            </a:r>
            <a:r>
              <a:rPr lang="zh-CN" altLang="en-US" sz="2200" b="1" dirty="0" smtClean="0">
                <a:latin typeface="宋体" pitchFamily="2" charset="-122"/>
              </a:rPr>
              <a:t>上</a:t>
            </a:r>
            <a:r>
              <a:rPr lang="zh-CN" altLang="en-US" sz="2200" b="1" dirty="0">
                <a:latin typeface="宋体" pitchFamily="2" charset="-122"/>
              </a:rPr>
              <a:t>的</a:t>
            </a:r>
            <a:r>
              <a:rPr lang="zh-CN" altLang="en-US" sz="2200" b="1" dirty="0" smtClean="0">
                <a:latin typeface="宋体" pitchFamily="2" charset="-122"/>
              </a:rPr>
              <a:t>部件</a:t>
            </a:r>
            <a:r>
              <a:rPr lang="zh-CN" altLang="en-US" sz="2200" b="1" dirty="0">
                <a:latin typeface="宋体" pitchFamily="2" charset="-122"/>
              </a:rPr>
              <a:t>如何标识</a:t>
            </a:r>
            <a:r>
              <a:rPr lang="zh-CN" altLang="en-US" sz="2200" b="1" dirty="0" smtClean="0">
                <a:latin typeface="宋体" pitchFamily="2" charset="-122"/>
              </a:rPr>
              <a:t>？</a:t>
            </a:r>
            <a:r>
              <a:rPr lang="zh-CN" altLang="en-US" sz="2200" b="1" dirty="0">
                <a:latin typeface="宋体" pitchFamily="2" charset="-122"/>
              </a:rPr>
              <a:t>相对于</a:t>
            </a:r>
            <a:r>
              <a:rPr lang="en-US" altLang="zh-CN" sz="2200" b="1" dirty="0">
                <a:latin typeface="宋体" pitchFamily="2" charset="-122"/>
              </a:rPr>
              <a:t>CPU</a:t>
            </a:r>
            <a:r>
              <a:rPr lang="zh-CN" altLang="en-US" sz="2200" b="1" dirty="0">
                <a:latin typeface="宋体" pitchFamily="2" charset="-122"/>
              </a:rPr>
              <a:t>，部件操作有哪些类型？</a:t>
            </a:r>
            <a:endParaRPr lang="en-US" altLang="zh-CN" sz="2200" b="1" dirty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按地址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      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(4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种，部件通过地址再识别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[</a:t>
            </a:r>
            <a:r>
              <a:rPr lang="en-US" altLang="zh-CN" sz="1600" b="1" dirty="0" err="1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Cmd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/Data/State])</a:t>
            </a:r>
            <a:endParaRPr lang="en-US" altLang="zh-CN" sz="1600" b="1" dirty="0">
              <a:solidFill>
                <a:schemeClr val="bg1">
                  <a:lumMod val="85000"/>
                </a:schemeClr>
              </a:solidFill>
              <a:latin typeface="宋体" pitchFamily="2" charset="-122"/>
            </a:endParaRPr>
          </a:p>
          <a:p>
            <a:pPr>
              <a:defRPr/>
            </a:pPr>
            <a:r>
              <a:rPr lang="en-US" altLang="zh-CN" sz="2200" b="1" dirty="0" smtClean="0">
                <a:latin typeface="宋体" pitchFamily="2" charset="-122"/>
              </a:rPr>
              <a:t>     </a:t>
            </a:r>
            <a:r>
              <a:rPr lang="zh-CN" altLang="en-US" sz="2200" b="1" dirty="0" smtClean="0">
                <a:latin typeface="宋体" pitchFamily="2" charset="-122"/>
              </a:rPr>
              <a:t>⑧</a:t>
            </a:r>
            <a:r>
              <a:rPr lang="en-US" altLang="zh-CN" sz="2200" b="1" dirty="0" smtClean="0">
                <a:latin typeface="宋体" pitchFamily="2" charset="-122"/>
              </a:rPr>
              <a:t>MEM</a:t>
            </a:r>
            <a:r>
              <a:rPr lang="zh-CN" altLang="en-US" sz="2200" b="1" dirty="0">
                <a:latin typeface="宋体" pitchFamily="2" charset="-122"/>
              </a:rPr>
              <a:t>与外设如何</a:t>
            </a:r>
            <a:r>
              <a:rPr lang="zh-CN" altLang="en-US" sz="2200" b="1" dirty="0" smtClean="0">
                <a:latin typeface="宋体" pitchFamily="2" charset="-122"/>
              </a:rPr>
              <a:t>区分？对总线信号的要求？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统一编址、独立编址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 (2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种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OP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信号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、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4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种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OP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信号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  <a:endParaRPr lang="zh-CN" altLang="en-US" sz="1600" b="1" dirty="0">
              <a:solidFill>
                <a:schemeClr val="bg1">
                  <a:lumMod val="85000"/>
                </a:schemeClr>
              </a:solidFill>
              <a:latin typeface="宋体" pitchFamily="2" charset="-122"/>
            </a:endParaRPr>
          </a:p>
          <a:p>
            <a:pPr>
              <a:defRPr/>
            </a:pPr>
            <a:r>
              <a:rPr lang="zh-CN" altLang="en-US" sz="2200" b="1" dirty="0" smtClean="0">
                <a:latin typeface="宋体" pitchFamily="2" charset="-122"/>
              </a:rPr>
              <a:t>     </a:t>
            </a:r>
            <a:r>
              <a:rPr lang="zh-CN" altLang="en-US" sz="2200" b="1" dirty="0">
                <a:latin typeface="宋体" pitchFamily="2" charset="-122"/>
              </a:rPr>
              <a:t>⑨总线</a:t>
            </a:r>
            <a:r>
              <a:rPr lang="zh-CN" altLang="en-US" sz="2200" b="1" dirty="0" smtClean="0">
                <a:latin typeface="宋体" pitchFamily="2" charset="-122"/>
              </a:rPr>
              <a:t>操作有哪些基本步骤？为什么？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仲裁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地址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数据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结束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多主设备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按地址标识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传送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/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资源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共用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  <a:r>
              <a:rPr lang="en-US" altLang="zh-CN" sz="1600" b="1" dirty="0" smtClean="0">
                <a:latin typeface="宋体" pitchFamily="2" charset="-122"/>
              </a:rPr>
              <a:t> </a:t>
            </a:r>
          </a:p>
          <a:p>
            <a:pPr>
              <a:defRPr/>
            </a:pPr>
            <a:r>
              <a:rPr lang="zh-CN" altLang="en-US" sz="2200" b="1" dirty="0" smtClean="0">
                <a:latin typeface="宋体" pitchFamily="2" charset="-122"/>
              </a:rPr>
              <a:t>     ⑩程序</a:t>
            </a:r>
            <a:r>
              <a:rPr lang="en-US" altLang="zh-CN" sz="2200" b="1" dirty="0">
                <a:latin typeface="宋体" pitchFamily="2" charset="-122"/>
              </a:rPr>
              <a:t>MEM</a:t>
            </a:r>
            <a:r>
              <a:rPr lang="zh-CN" altLang="en-US" sz="2200" b="1" dirty="0">
                <a:latin typeface="宋体" pitchFamily="2" charset="-122"/>
              </a:rPr>
              <a:t>与</a:t>
            </a:r>
            <a:r>
              <a:rPr lang="zh-CN" altLang="en-US" sz="2200" b="1" dirty="0" smtClean="0">
                <a:latin typeface="宋体" pitchFamily="2" charset="-122"/>
              </a:rPr>
              <a:t>主存的关系？</a:t>
            </a:r>
            <a:r>
              <a:rPr lang="zh-CN" altLang="en-US" sz="2200" b="1" dirty="0">
                <a:latin typeface="宋体" pitchFamily="2" charset="-122"/>
              </a:rPr>
              <a:t>程序</a:t>
            </a:r>
            <a:r>
              <a:rPr lang="zh-CN" altLang="en-US" sz="2200" b="1" dirty="0" smtClean="0">
                <a:latin typeface="宋体" pitchFamily="2" charset="-122"/>
              </a:rPr>
              <a:t>执行时如何访问主存？</a:t>
            </a:r>
            <a:endParaRPr lang="en-US" altLang="zh-CN" sz="2200" b="1" dirty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编址单位相同、地址空间不同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按程序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地址访问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=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地址变换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+</a:t>
            </a:r>
            <a:r>
              <a:rPr lang="zh-CN" altLang="en-US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按主存地址访问</a:t>
            </a:r>
            <a:r>
              <a:rPr lang="en-US" altLang="zh-CN" sz="16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)   </a:t>
            </a:r>
            <a:endParaRPr lang="en-US" altLang="zh-CN" sz="1600" b="1" dirty="0">
              <a:solidFill>
                <a:schemeClr val="bg1">
                  <a:lumMod val="85000"/>
                </a:schemeClr>
              </a:solidFill>
              <a:latin typeface="宋体" pitchFamily="2" charset="-122"/>
            </a:endParaRPr>
          </a:p>
        </p:txBody>
      </p:sp>
      <p:sp>
        <p:nvSpPr>
          <p:cNvPr id="4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29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1B93-8483-479B-9518-A9279CF2AAB5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二、计算机的层次结构     </a:t>
            </a:r>
            <a:r>
              <a:rPr lang="zh-CN" altLang="en-US" sz="2000" b="1" dirty="0" smtClean="0">
                <a:latin typeface="+mn-ea"/>
                <a:ea typeface="+mn-ea"/>
              </a:rPr>
              <a:t>△了解组成的任务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层次结构</a:t>
            </a:r>
            <a:r>
              <a:rPr lang="zh-CN" altLang="en-US" b="1" dirty="0">
                <a:latin typeface="宋体" pitchFamily="2" charset="-122"/>
              </a:rPr>
              <a:t>，软件与硬件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性能</a:t>
            </a:r>
            <a:r>
              <a:rPr lang="en-US" altLang="zh-CN" sz="1800" b="1" dirty="0">
                <a:latin typeface="宋体" pitchFamily="2" charset="-122"/>
              </a:rPr>
              <a:t>/</a:t>
            </a:r>
            <a:r>
              <a:rPr lang="zh-CN" altLang="en-US" sz="1800" b="1" dirty="0">
                <a:latin typeface="宋体" pitchFamily="2" charset="-122"/>
              </a:rPr>
              <a:t>成本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，结构与组成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设计</a:t>
            </a:r>
            <a:r>
              <a:rPr lang="zh-CN" altLang="en-US" sz="1800" b="1" dirty="0" smtClean="0">
                <a:latin typeface="宋体" pitchFamily="2" charset="-122"/>
              </a:rPr>
              <a:t>与</a:t>
            </a:r>
            <a:r>
              <a:rPr lang="zh-CN" altLang="en-US" sz="1800" b="1" u="sng" dirty="0" smtClean="0">
                <a:latin typeface="宋体" pitchFamily="2" charset="-122"/>
              </a:rPr>
              <a:t>逻辑实现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1268760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三、计算机的工作过程     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7" name="Text Box 55"/>
          <p:cNvSpPr txBox="1">
            <a:spLocks noChangeArrowheads="1"/>
          </p:cNvSpPr>
          <p:nvPr/>
        </p:nvSpPr>
        <p:spPr bwMode="auto">
          <a:xfrm>
            <a:off x="179388" y="1815207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计算机的工作方式       </a:t>
            </a:r>
            <a:r>
              <a:rPr lang="zh-CN" altLang="en-US" sz="2000" b="1" dirty="0" smtClean="0">
                <a:latin typeface="宋体" pitchFamily="2" charset="-122"/>
              </a:rPr>
              <a:t>☆理解工作方式的实现</a:t>
            </a:r>
            <a:r>
              <a:rPr lang="zh-CN" altLang="en-US" sz="2000" b="1" dirty="0">
                <a:latin typeface="宋体" pitchFamily="2" charset="-122"/>
              </a:rPr>
              <a:t>方案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179512" y="2269321"/>
            <a:ext cx="8812212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程</a:t>
            </a:r>
            <a:r>
              <a:rPr lang="zh-CN" altLang="en-US" b="1" spc="-100" dirty="0" smtClean="0">
                <a:latin typeface="宋体" pitchFamily="2" charset="-122"/>
              </a:rPr>
              <a:t>序执行顺序</a:t>
            </a:r>
            <a:r>
              <a:rPr lang="zh-CN" altLang="en-US" b="1" spc="-100" dirty="0">
                <a:latin typeface="宋体" pitchFamily="2" charset="-122"/>
              </a:rPr>
              <a:t>的表示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u="sng" spc="-100" dirty="0" smtClean="0">
                <a:latin typeface="宋体" pitchFamily="2" charset="-122"/>
              </a:rPr>
              <a:t>指令地址</a:t>
            </a:r>
            <a:r>
              <a:rPr lang="zh-CN" altLang="en-US" sz="1800" b="1" spc="-100" dirty="0" smtClean="0">
                <a:latin typeface="宋体" pitchFamily="2" charset="-122"/>
              </a:rPr>
              <a:t>序列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，下条指令地址的形成</a:t>
            </a:r>
            <a:r>
              <a:rPr lang="en-US" altLang="zh-CN" sz="1800" b="1" spc="-100" dirty="0" smtClean="0">
                <a:latin typeface="宋体" pitchFamily="2" charset="-122"/>
              </a:rPr>
              <a:t>(2</a:t>
            </a:r>
            <a:r>
              <a:rPr lang="zh-CN" altLang="en-US" sz="1800" b="1" spc="-100" dirty="0" smtClean="0">
                <a:latin typeface="宋体" pitchFamily="2" charset="-122"/>
              </a:rPr>
              <a:t>种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</a:t>
            </a:r>
            <a:endParaRPr lang="en-US" altLang="zh-CN" b="1" spc="-10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程序的执行机制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循环的指令执行过程、循环处理与执行</a:t>
            </a:r>
            <a:r>
              <a:rPr lang="zh-CN" altLang="en-US" sz="1800" b="1" dirty="0">
                <a:latin typeface="宋体" pitchFamily="2" charset="-122"/>
              </a:rPr>
              <a:t>过程</a:t>
            </a:r>
            <a:r>
              <a:rPr lang="zh-CN" altLang="en-US" sz="1800" b="1" dirty="0" smtClean="0">
                <a:latin typeface="宋体" pitchFamily="2" charset="-122"/>
              </a:rPr>
              <a:t>重叠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9" name="Text Box 55"/>
          <p:cNvSpPr txBox="1">
            <a:spLocks noChangeArrowheads="1"/>
          </p:cNvSpPr>
          <p:nvPr/>
        </p:nvSpPr>
        <p:spPr bwMode="auto">
          <a:xfrm>
            <a:off x="179512" y="4293096"/>
            <a:ext cx="3888481" cy="5539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程序执行的实现      </a:t>
            </a:r>
            <a:r>
              <a:rPr lang="zh-CN" altLang="en-US" b="1" dirty="0" smtClean="0"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31640" y="3351291"/>
            <a:ext cx="6192687" cy="869797"/>
            <a:chOff x="1547665" y="3428999"/>
            <a:chExt cx="6192687" cy="869797"/>
          </a:xfrm>
        </p:grpSpPr>
        <p:sp>
          <p:nvSpPr>
            <p:cNvPr id="11" name="矩形 10"/>
            <p:cNvSpPr/>
            <p:nvPr/>
          </p:nvSpPr>
          <p:spPr bwMode="auto">
            <a:xfrm>
              <a:off x="1547665" y="3428999"/>
              <a:ext cx="6192687" cy="86979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" name="Text Box 316"/>
            <p:cNvSpPr txBox="1">
              <a:spLocks noChangeArrowheads="1"/>
            </p:cNvSpPr>
            <p:nvPr/>
          </p:nvSpPr>
          <p:spPr bwMode="auto">
            <a:xfrm>
              <a:off x="5436096" y="3859783"/>
              <a:ext cx="2160240" cy="35719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prstDash val="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PC</a:t>
              </a:r>
              <a:r>
                <a:rPr lang="zh-CN" altLang="en-US" sz="1800" b="1" dirty="0" smtClean="0">
                  <a:latin typeface="宋体" pitchFamily="2" charset="-122"/>
                </a:rPr>
                <a:t>←计算结果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15" name="Text Box 316"/>
            <p:cNvSpPr txBox="1">
              <a:spLocks noChangeArrowheads="1"/>
            </p:cNvSpPr>
            <p:nvPr/>
          </p:nvSpPr>
          <p:spPr bwMode="auto">
            <a:xfrm>
              <a:off x="5436096" y="3501008"/>
              <a:ext cx="2160240" cy="358775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执行指令</a:t>
              </a:r>
            </a:p>
          </p:txBody>
        </p:sp>
        <p:cxnSp>
          <p:nvCxnSpPr>
            <p:cNvPr id="16" name="直接箭头连接符 15"/>
            <p:cNvCxnSpPr>
              <a:stCxn id="13" idx="3"/>
              <a:endCxn id="14" idx="1"/>
            </p:cNvCxnSpPr>
            <p:nvPr/>
          </p:nvCxnSpPr>
          <p:spPr bwMode="auto">
            <a:xfrm>
              <a:off x="3563938" y="3680396"/>
              <a:ext cx="35999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接箭头连接符 16"/>
            <p:cNvCxnSpPr>
              <a:stCxn id="14" idx="3"/>
              <a:endCxn id="15" idx="1"/>
            </p:cNvCxnSpPr>
            <p:nvPr/>
          </p:nvCxnSpPr>
          <p:spPr bwMode="auto">
            <a:xfrm>
              <a:off x="5210952" y="3680396"/>
              <a:ext cx="22514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 Box 316"/>
            <p:cNvSpPr txBox="1">
              <a:spLocks noChangeArrowheads="1"/>
            </p:cNvSpPr>
            <p:nvPr/>
          </p:nvSpPr>
          <p:spPr bwMode="auto">
            <a:xfrm>
              <a:off x="2267744" y="3859783"/>
              <a:ext cx="2943208" cy="35719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PC</a:t>
              </a:r>
              <a:r>
                <a:rPr lang="zh-CN" altLang="en-US" sz="1800" b="1" dirty="0" smtClean="0">
                  <a:latin typeface="宋体" pitchFamily="2" charset="-122"/>
                </a:rPr>
                <a:t>←</a:t>
              </a:r>
              <a:r>
                <a:rPr lang="en-US" altLang="zh-CN" sz="1800" b="1" dirty="0" smtClean="0">
                  <a:latin typeface="宋体" pitchFamily="2" charset="-122"/>
                </a:rPr>
                <a:t>(PC)</a:t>
              </a:r>
              <a:r>
                <a:rPr lang="zh-CN" altLang="en-US" sz="1800" b="1" dirty="0" smtClean="0">
                  <a:latin typeface="宋体" pitchFamily="2" charset="-122"/>
                </a:rPr>
                <a:t>＋</a:t>
              </a:r>
              <a:r>
                <a:rPr lang="en-US" altLang="zh-CN" sz="1800" dirty="0" smtClean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“</a:t>
              </a:r>
              <a:r>
                <a:rPr lang="en-US" altLang="zh-CN" sz="1800" b="1" dirty="0" smtClean="0">
                  <a:latin typeface="宋体" pitchFamily="2" charset="-122"/>
                </a:rPr>
                <a:t>1</a:t>
              </a:r>
              <a:r>
                <a:rPr lang="en-US" altLang="zh-CN" sz="1800" dirty="0" smtClean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”</a:t>
              </a:r>
              <a:endParaRPr lang="zh-CN" altLang="en-US" sz="18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19" name="直接箭头连接符 27"/>
            <p:cNvCxnSpPr>
              <a:stCxn id="15" idx="3"/>
              <a:endCxn id="13" idx="1"/>
            </p:cNvCxnSpPr>
            <p:nvPr/>
          </p:nvCxnSpPr>
          <p:spPr bwMode="auto">
            <a:xfrm flipH="1">
              <a:off x="1691681" y="3680396"/>
              <a:ext cx="5904655" cy="12700"/>
            </a:xfrm>
            <a:prstGeom prst="bentConnector5">
              <a:avLst>
                <a:gd name="adj1" fmla="val -3872"/>
                <a:gd name="adj2" fmla="val -2701780"/>
                <a:gd name="adj3" fmla="val 103872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Text Box 311"/>
            <p:cNvSpPr txBox="1">
              <a:spLocks noChangeArrowheads="1"/>
            </p:cNvSpPr>
            <p:nvPr/>
          </p:nvSpPr>
          <p:spPr bwMode="auto">
            <a:xfrm>
              <a:off x="1691681" y="3501008"/>
              <a:ext cx="1872257" cy="35877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取</a:t>
              </a:r>
              <a:r>
                <a:rPr lang="zh-CN" altLang="en-US" sz="1800" b="1" dirty="0" smtClean="0">
                  <a:latin typeface="宋体" pitchFamily="2" charset="-122"/>
                </a:rPr>
                <a:t>指令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14" name="Text Box 314"/>
            <p:cNvSpPr txBox="1">
              <a:spLocks noChangeArrowheads="1"/>
            </p:cNvSpPr>
            <p:nvPr/>
          </p:nvSpPr>
          <p:spPr bwMode="auto">
            <a:xfrm>
              <a:off x="3923928" y="3501008"/>
              <a:ext cx="1287024" cy="3587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分析指令</a:t>
              </a:r>
            </a:p>
          </p:txBody>
        </p:sp>
      </p:grpSp>
      <p:sp>
        <p:nvSpPr>
          <p:cNvPr id="62" name="Text Box 55"/>
          <p:cNvSpPr txBox="1">
            <a:spLocks noChangeArrowheads="1"/>
          </p:cNvSpPr>
          <p:nvPr/>
        </p:nvSpPr>
        <p:spPr bwMode="auto">
          <a:xfrm>
            <a:off x="179512" y="4789601"/>
            <a:ext cx="3816424" cy="136191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执行的准备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装入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>
                <a:latin typeface="宋体" pitchFamily="2" charset="-122"/>
              </a:rPr>
              <a:t>置</a:t>
            </a:r>
            <a:r>
              <a:rPr lang="en-US" altLang="zh-CN" sz="1800" b="1" dirty="0" smtClean="0">
                <a:latin typeface="宋体" pitchFamily="2" charset="-122"/>
              </a:rPr>
              <a:t>PC)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执行的实现</a:t>
            </a:r>
            <a:r>
              <a:rPr lang="en-US" altLang="zh-CN" sz="1800" b="1" dirty="0" smtClean="0">
                <a:latin typeface="宋体" pitchFamily="2" charset="-122"/>
              </a:rPr>
              <a:t>(3</a:t>
            </a:r>
            <a:r>
              <a:rPr lang="zh-CN" altLang="en-US" sz="1800" b="1" dirty="0" smtClean="0">
                <a:latin typeface="宋体" pitchFamily="2" charset="-122"/>
              </a:rPr>
              <a:t>段</a:t>
            </a:r>
            <a:r>
              <a:rPr lang="zh-CN" altLang="en-US" sz="1800" b="1" dirty="0">
                <a:latin typeface="宋体" pitchFamily="2" charset="-122"/>
              </a:rPr>
              <a:t>式</a:t>
            </a:r>
            <a:r>
              <a:rPr lang="zh-CN" altLang="en-US" sz="1800" b="1" dirty="0" smtClean="0">
                <a:latin typeface="宋体" pitchFamily="2" charset="-122"/>
              </a:rPr>
              <a:t>操作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 smtClean="0">
                <a:latin typeface="宋体" pitchFamily="2" charset="-122"/>
              </a:rPr>
              <a:t>    (</a:t>
            </a:r>
            <a:r>
              <a:rPr lang="zh-CN" altLang="en-US" sz="1800" b="1" dirty="0" smtClean="0">
                <a:latin typeface="宋体" pitchFamily="2" charset="-122"/>
              </a:rPr>
              <a:t>需求：按逻辑地址访问主存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56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156177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45298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067944" y="4437112"/>
            <a:ext cx="4752528" cy="1870942"/>
            <a:chOff x="4067944" y="4437112"/>
            <a:chExt cx="4752528" cy="1870942"/>
          </a:xfrm>
        </p:grpSpPr>
        <p:sp>
          <p:nvSpPr>
            <p:cNvPr id="59" name="矩形 58"/>
            <p:cNvSpPr/>
            <p:nvPr/>
          </p:nvSpPr>
          <p:spPr bwMode="auto">
            <a:xfrm>
              <a:off x="7740352" y="5949280"/>
              <a:ext cx="576064" cy="357533"/>
            </a:xfrm>
            <a:prstGeom prst="rect">
              <a:avLst/>
            </a:prstGeom>
            <a:solidFill>
              <a:srgbClr val="CCCCFF"/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7092280" y="5949280"/>
              <a:ext cx="648072" cy="35753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" name="Text Box 352"/>
            <p:cNvSpPr txBox="1">
              <a:spLocks noChangeArrowheads="1"/>
            </p:cNvSpPr>
            <p:nvPr/>
          </p:nvSpPr>
          <p:spPr bwMode="auto">
            <a:xfrm>
              <a:off x="4067944" y="5181127"/>
              <a:ext cx="576064" cy="3361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PC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31" name="Text Box 354"/>
            <p:cNvSpPr txBox="1">
              <a:spLocks noChangeArrowheads="1"/>
            </p:cNvSpPr>
            <p:nvPr/>
          </p:nvSpPr>
          <p:spPr bwMode="auto">
            <a:xfrm>
              <a:off x="4067944" y="5949280"/>
              <a:ext cx="1440160" cy="35877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主存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32" name="Text Box 408"/>
            <p:cNvSpPr txBox="1">
              <a:spLocks noChangeArrowheads="1"/>
            </p:cNvSpPr>
            <p:nvPr/>
          </p:nvSpPr>
          <p:spPr bwMode="auto">
            <a:xfrm>
              <a:off x="6084168" y="5057697"/>
              <a:ext cx="648072" cy="60418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ID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33" name="Text Box 439"/>
            <p:cNvSpPr txBox="1">
              <a:spLocks noChangeArrowheads="1"/>
            </p:cNvSpPr>
            <p:nvPr/>
          </p:nvSpPr>
          <p:spPr bwMode="auto">
            <a:xfrm>
              <a:off x="4932040" y="4581127"/>
              <a:ext cx="648072" cy="36004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/>
                <a:t>＋</a:t>
              </a:r>
              <a:r>
                <a:rPr lang="en-US" altLang="zh-CN" sz="1800" dirty="0" smtClean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“</a:t>
              </a:r>
              <a:r>
                <a:rPr lang="en-US" altLang="zh-CN" sz="1800" b="1" dirty="0">
                  <a:latin typeface="宋体" pitchFamily="2" charset="-122"/>
                </a:rPr>
                <a:t>1</a:t>
              </a:r>
              <a:r>
                <a:rPr lang="en-US" altLang="zh-CN" sz="1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”</a:t>
              </a:r>
            </a:p>
          </p:txBody>
        </p:sp>
        <p:sp>
          <p:nvSpPr>
            <p:cNvPr id="34" name="Text Box 460"/>
            <p:cNvSpPr txBox="1">
              <a:spLocks noChangeArrowheads="1"/>
            </p:cNvSpPr>
            <p:nvPr/>
          </p:nvSpPr>
          <p:spPr bwMode="auto">
            <a:xfrm>
              <a:off x="7380312" y="4509440"/>
              <a:ext cx="1440160" cy="35972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地址计算部件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35" name="Text Box 460"/>
            <p:cNvSpPr txBox="1">
              <a:spLocks noChangeArrowheads="1"/>
            </p:cNvSpPr>
            <p:nvPr/>
          </p:nvSpPr>
          <p:spPr bwMode="auto">
            <a:xfrm>
              <a:off x="7380312" y="4941168"/>
              <a:ext cx="1440160" cy="360039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功能部件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36" name="直接箭头连接符 35"/>
            <p:cNvCxnSpPr>
              <a:endCxn id="51" idx="2"/>
            </p:cNvCxnSpPr>
            <p:nvPr/>
          </p:nvCxnSpPr>
          <p:spPr bwMode="auto">
            <a:xfrm flipV="1">
              <a:off x="5220072" y="5517232"/>
              <a:ext cx="0" cy="28929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/>
            <p:cNvCxnSpPr>
              <a:stCxn id="30" idx="2"/>
            </p:cNvCxnSpPr>
            <p:nvPr/>
          </p:nvCxnSpPr>
          <p:spPr bwMode="auto">
            <a:xfrm>
              <a:off x="4355976" y="5517232"/>
              <a:ext cx="4" cy="289298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/>
            <p:cNvCxnSpPr/>
            <p:nvPr/>
          </p:nvCxnSpPr>
          <p:spPr bwMode="auto">
            <a:xfrm>
              <a:off x="5508104" y="5373216"/>
              <a:ext cx="57606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连接符 141"/>
            <p:cNvCxnSpPr/>
            <p:nvPr/>
          </p:nvCxnSpPr>
          <p:spPr bwMode="auto">
            <a:xfrm>
              <a:off x="6732240" y="5517232"/>
              <a:ext cx="1008112" cy="289298"/>
            </a:xfrm>
            <a:prstGeom prst="bentConnector3">
              <a:avLst>
                <a:gd name="adj1" fmla="val 9988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直接连接符 141"/>
            <p:cNvCxnSpPr/>
            <p:nvPr/>
          </p:nvCxnSpPr>
          <p:spPr bwMode="auto">
            <a:xfrm>
              <a:off x="6732240" y="5587974"/>
              <a:ext cx="702078" cy="218556"/>
            </a:xfrm>
            <a:prstGeom prst="bentConnector3">
              <a:avLst>
                <a:gd name="adj1" fmla="val 9992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 bwMode="auto">
            <a:xfrm flipV="1">
              <a:off x="7524328" y="5301207"/>
              <a:ext cx="0" cy="506563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>
              <a:off x="6732240" y="5157192"/>
              <a:ext cx="648072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直接连接符 141"/>
            <p:cNvCxnSpPr/>
            <p:nvPr/>
          </p:nvCxnSpPr>
          <p:spPr bwMode="auto">
            <a:xfrm>
              <a:off x="6732240" y="5445224"/>
              <a:ext cx="1440160" cy="360040"/>
            </a:xfrm>
            <a:prstGeom prst="bentConnector3">
              <a:avLst>
                <a:gd name="adj1" fmla="val 100265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箭头连接符 160"/>
            <p:cNvCxnSpPr/>
            <p:nvPr/>
          </p:nvCxnSpPr>
          <p:spPr bwMode="auto">
            <a:xfrm>
              <a:off x="8244408" y="5301208"/>
              <a:ext cx="0" cy="50405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直接箭头连接符 222"/>
            <p:cNvCxnSpPr/>
            <p:nvPr/>
          </p:nvCxnSpPr>
          <p:spPr bwMode="auto">
            <a:xfrm rot="5400000" flipH="1" flipV="1">
              <a:off x="6841999" y="4906911"/>
              <a:ext cx="754658" cy="321968"/>
            </a:xfrm>
            <a:prstGeom prst="bentConnector2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sp>
          <p:nvSpPr>
            <p:cNvPr id="46" name="Text Box 479"/>
            <p:cNvSpPr txBox="1">
              <a:spLocks noChangeArrowheads="1"/>
            </p:cNvSpPr>
            <p:nvPr/>
          </p:nvSpPr>
          <p:spPr bwMode="auto">
            <a:xfrm>
              <a:off x="6012160" y="4437112"/>
              <a:ext cx="796224" cy="28575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转移时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47" name="直接箭头连接符 222"/>
            <p:cNvCxnSpPr>
              <a:stCxn id="34" idx="3"/>
            </p:cNvCxnSpPr>
            <p:nvPr/>
          </p:nvCxnSpPr>
          <p:spPr bwMode="auto">
            <a:xfrm flipH="1" flipV="1">
              <a:off x="5724128" y="4437112"/>
              <a:ext cx="3096344" cy="252188"/>
            </a:xfrm>
            <a:prstGeom prst="bentConnector3">
              <a:avLst>
                <a:gd name="adj1" fmla="val -4733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222"/>
            <p:cNvCxnSpPr/>
            <p:nvPr/>
          </p:nvCxnSpPr>
          <p:spPr bwMode="auto">
            <a:xfrm>
              <a:off x="4788024" y="4797152"/>
              <a:ext cx="14401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222"/>
            <p:cNvCxnSpPr>
              <a:stCxn id="33" idx="3"/>
              <a:endCxn id="30" idx="0"/>
            </p:cNvCxnSpPr>
            <p:nvPr/>
          </p:nvCxnSpPr>
          <p:spPr bwMode="auto">
            <a:xfrm flipH="1">
              <a:off x="4355976" y="4761148"/>
              <a:ext cx="1224136" cy="419979"/>
            </a:xfrm>
            <a:prstGeom prst="bentConnector4">
              <a:avLst>
                <a:gd name="adj1" fmla="val -11492"/>
                <a:gd name="adj2" fmla="val -7734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222"/>
            <p:cNvCxnSpPr/>
            <p:nvPr/>
          </p:nvCxnSpPr>
          <p:spPr bwMode="auto">
            <a:xfrm rot="5400000" flipH="1" flipV="1">
              <a:off x="4157855" y="4995242"/>
              <a:ext cx="828260" cy="432081"/>
            </a:xfrm>
            <a:prstGeom prst="bentConnector3">
              <a:avLst>
                <a:gd name="adj1" fmla="val 320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med" len="med"/>
              <a:tailEnd type="none"/>
            </a:ln>
            <a:effectLst/>
          </p:spPr>
        </p:cxnSp>
        <p:sp>
          <p:nvSpPr>
            <p:cNvPr id="51" name="Text Box 352"/>
            <p:cNvSpPr txBox="1">
              <a:spLocks noChangeArrowheads="1"/>
            </p:cNvSpPr>
            <p:nvPr/>
          </p:nvSpPr>
          <p:spPr bwMode="auto">
            <a:xfrm>
              <a:off x="4932040" y="5181127"/>
              <a:ext cx="576064" cy="3361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IR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cxnSp>
          <p:nvCxnSpPr>
            <p:cNvPr id="52" name="直接箭头连接符 51"/>
            <p:cNvCxnSpPr/>
            <p:nvPr/>
          </p:nvCxnSpPr>
          <p:spPr bwMode="auto">
            <a:xfrm flipV="1">
              <a:off x="7812360" y="5301208"/>
              <a:ext cx="0" cy="506563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矩形 52"/>
            <p:cNvSpPr/>
            <p:nvPr/>
          </p:nvSpPr>
          <p:spPr bwMode="auto">
            <a:xfrm>
              <a:off x="8316416" y="5949280"/>
              <a:ext cx="504056" cy="3575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4" name="Text Box 354"/>
            <p:cNvSpPr txBox="1">
              <a:spLocks noChangeArrowheads="1"/>
            </p:cNvSpPr>
            <p:nvPr/>
          </p:nvSpPr>
          <p:spPr bwMode="auto">
            <a:xfrm>
              <a:off x="7092280" y="5949280"/>
              <a:ext cx="1728192" cy="35877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主存</a:t>
              </a:r>
              <a:r>
                <a:rPr lang="en-US" altLang="zh-CN" sz="1800" b="1" dirty="0" smtClean="0">
                  <a:latin typeface="宋体" pitchFamily="2" charset="-122"/>
                </a:rPr>
                <a:t>/</a:t>
              </a:r>
              <a:r>
                <a:rPr lang="zh-CN" altLang="en-US" sz="1800" b="1" dirty="0" smtClean="0">
                  <a:latin typeface="宋体" pitchFamily="2" charset="-122"/>
                </a:rPr>
                <a:t>外设</a:t>
              </a:r>
              <a:r>
                <a:rPr lang="en-US" altLang="zh-CN" sz="1800" b="1" dirty="0" smtClean="0">
                  <a:latin typeface="宋体" pitchFamily="2" charset="-122"/>
                </a:rPr>
                <a:t>/GPRs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 bwMode="auto">
            <a:xfrm>
              <a:off x="5868144" y="4564093"/>
              <a:ext cx="0" cy="15987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6876256" y="4581128"/>
              <a:ext cx="0" cy="15987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 Box 316"/>
            <p:cNvSpPr txBox="1">
              <a:spLocks noChangeArrowheads="1"/>
            </p:cNvSpPr>
            <p:nvPr/>
          </p:nvSpPr>
          <p:spPr bwMode="auto">
            <a:xfrm>
              <a:off x="4067992" y="5805264"/>
              <a:ext cx="4248424" cy="14401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 dirty="0" smtClean="0">
                  <a:latin typeface="宋体" pitchFamily="2" charset="-122"/>
                </a:rPr>
                <a:t>MMU</a:t>
              </a:r>
              <a:endParaRPr lang="zh-CN" altLang="en-US" sz="1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61" name="直接连接符 141"/>
            <p:cNvCxnSpPr/>
            <p:nvPr/>
          </p:nvCxnSpPr>
          <p:spPr bwMode="auto">
            <a:xfrm rot="16200000" flipH="1">
              <a:off x="8064388" y="5553236"/>
              <a:ext cx="504056" cy="288032"/>
            </a:xfrm>
            <a:prstGeom prst="bentConnector3">
              <a:avLst>
                <a:gd name="adj1" fmla="val -391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直接箭头连接符 160"/>
            <p:cNvCxnSpPr/>
            <p:nvPr/>
          </p:nvCxnSpPr>
          <p:spPr bwMode="auto">
            <a:xfrm rot="16200000" flipH="1">
              <a:off x="8190402" y="5607242"/>
              <a:ext cx="396044" cy="288032"/>
            </a:xfrm>
            <a:prstGeom prst="bentConnector3">
              <a:avLst>
                <a:gd name="adj1" fmla="val -2911"/>
              </a:avLst>
            </a:prstGeom>
            <a:noFill/>
            <a:ln w="1905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3" name="AutoShape 338"/>
          <p:cNvSpPr>
            <a:spLocks/>
          </p:cNvSpPr>
          <p:nvPr/>
        </p:nvSpPr>
        <p:spPr bwMode="auto">
          <a:xfrm>
            <a:off x="4814008" y="1356094"/>
            <a:ext cx="1774216" cy="284682"/>
          </a:xfrm>
          <a:prstGeom prst="borderCallout2">
            <a:avLst>
              <a:gd name="adj1" fmla="val 46428"/>
              <a:gd name="adj2" fmla="val -480"/>
              <a:gd name="adj3" fmla="val 46015"/>
              <a:gd name="adj4" fmla="val -11303"/>
              <a:gd name="adj5" fmla="val 379364"/>
              <a:gd name="adj6" fmla="val -51090"/>
            </a:avLst>
          </a:prstGeom>
          <a:noFill/>
          <a:ln w="15875">
            <a:solidFill>
              <a:srgbClr val="990099"/>
            </a:solidFill>
            <a:prstDash val="sysDash"/>
            <a:miter lim="800000"/>
            <a:headEnd/>
            <a:tailEnd type="triangle" w="med" len="med"/>
          </a:ln>
          <a:effectLst/>
        </p:spPr>
        <p:txBody>
          <a:bodyPr lIns="18000" tIns="10800" rIns="18000" bIns="10800"/>
          <a:lstStyle/>
          <a:p>
            <a:pPr algn="ctr"/>
            <a:r>
              <a:rPr lang="zh-CN" altLang="en-US" sz="1600" b="1" dirty="0" smtClean="0">
                <a:latin typeface="宋体" pitchFamily="2" charset="-122"/>
              </a:rPr>
              <a:t>用什么地址表示？</a:t>
            </a:r>
            <a:endParaRPr lang="zh-CN" altLang="en-US" sz="1600" b="1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83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62" grpId="0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1B93-8483-479B-9518-A9279CF2AAB5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117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四、计算机的性能指标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118" name="Text Box 74"/>
          <p:cNvSpPr txBox="1">
            <a:spLocks noChangeArrowheads="1"/>
          </p:cNvSpPr>
          <p:nvPr/>
        </p:nvSpPr>
        <p:spPr bwMode="auto">
          <a:xfrm>
            <a:off x="179388" y="836712"/>
            <a:ext cx="8785225" cy="49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硬件的技术指标        </a:t>
            </a:r>
            <a:r>
              <a:rPr lang="zh-CN" altLang="en-US" sz="2000" b="1" dirty="0" smtClean="0">
                <a:latin typeface="+mn-ea"/>
              </a:rPr>
              <a:t>☆掌握</a:t>
            </a:r>
            <a:r>
              <a:rPr lang="zh-CN" altLang="en-US" sz="2000" b="1" dirty="0">
                <a:latin typeface="+mn-ea"/>
              </a:rPr>
              <a:t>概念、</a:t>
            </a:r>
            <a:r>
              <a:rPr lang="zh-CN" altLang="en-US" sz="2000" b="1" dirty="0" smtClean="0">
                <a:latin typeface="+mn-ea"/>
              </a:rPr>
              <a:t>关联知识点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19" name="Text Box 75"/>
          <p:cNvSpPr txBox="1">
            <a:spLocks noChangeArrowheads="1"/>
          </p:cNvSpPr>
          <p:nvPr/>
        </p:nvSpPr>
        <p:spPr bwMode="auto">
          <a:xfrm>
            <a:off x="179388" y="1815207"/>
            <a:ext cx="8785225" cy="461665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系统的性能指标        </a:t>
            </a:r>
            <a:r>
              <a:rPr lang="zh-CN" altLang="en-US" sz="2000" b="1" dirty="0" smtClean="0">
                <a:latin typeface="+mn-ea"/>
              </a:rPr>
              <a:t>☆熟练运用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21" name="Text Box 74"/>
          <p:cNvSpPr txBox="1">
            <a:spLocks noChangeArrowheads="1"/>
          </p:cNvSpPr>
          <p:nvPr/>
        </p:nvSpPr>
        <p:spPr bwMode="auto">
          <a:xfrm>
            <a:off x="179388" y="1282297"/>
            <a:ext cx="8857108" cy="49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机器字长</a:t>
            </a:r>
            <a:r>
              <a:rPr lang="zh-CN" altLang="en-US" b="1" dirty="0" smtClean="0">
                <a:latin typeface="宋体" pitchFamily="2" charset="-122"/>
              </a:rPr>
              <a:t>、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主频、存储容量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itchFamily="2" charset="-122"/>
              </a:rPr>
              <a:t>CPU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itchFamily="2" charset="-122"/>
              </a:rPr>
              <a:t>可寻址空间、主存地址位数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122" name="Text Box 78"/>
          <p:cNvSpPr txBox="1">
            <a:spLocks noChangeArrowheads="1"/>
          </p:cNvSpPr>
          <p:nvPr/>
        </p:nvSpPr>
        <p:spPr bwMode="auto">
          <a:xfrm>
            <a:off x="179388" y="2276872"/>
            <a:ext cx="87852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响应时间</a:t>
            </a:r>
            <a:r>
              <a:rPr lang="en-US" altLang="zh-CN" b="1" i="1" dirty="0" smtClean="0">
                <a:latin typeface="宋体" pitchFamily="2" charset="-122"/>
              </a:rPr>
              <a:t>T</a:t>
            </a:r>
            <a:r>
              <a:rPr lang="zh-CN" altLang="en-US" b="1" baseline="-14000" dirty="0">
                <a:latin typeface="宋体" pitchFamily="2" charset="-122"/>
              </a:rPr>
              <a:t>响应</a:t>
            </a:r>
            <a:r>
              <a:rPr lang="zh-CN" altLang="en-US" b="1" dirty="0">
                <a:latin typeface="宋体" pitchFamily="2" charset="-122"/>
              </a:rPr>
              <a:t>＝</a:t>
            </a:r>
            <a:r>
              <a:rPr lang="en-US" altLang="zh-CN" b="1" i="1" dirty="0">
                <a:latin typeface="宋体" pitchFamily="2" charset="-122"/>
              </a:rPr>
              <a:t>T</a:t>
            </a:r>
            <a:r>
              <a:rPr lang="en-US" altLang="zh-CN" b="1" baseline="-14000" dirty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＋</a:t>
            </a:r>
            <a:r>
              <a:rPr lang="en-US" altLang="zh-CN" b="1" i="1" dirty="0" smtClean="0">
                <a:latin typeface="宋体" pitchFamily="2" charset="-122"/>
              </a:rPr>
              <a:t>T</a:t>
            </a:r>
            <a:r>
              <a:rPr lang="zh-CN" altLang="en-US" b="1" baseline="-14000" dirty="0" smtClean="0">
                <a:latin typeface="宋体" pitchFamily="2" charset="-122"/>
              </a:rPr>
              <a:t>等待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en-US" altLang="zh-CN" b="1" i="1" dirty="0">
                <a:latin typeface="宋体" pitchFamily="2" charset="-122"/>
              </a:rPr>
              <a:t>T</a:t>
            </a:r>
            <a:r>
              <a:rPr lang="en-US" altLang="zh-CN" b="1" baseline="-14000" dirty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＝</a:t>
            </a:r>
            <a:r>
              <a:rPr lang="en-US" altLang="zh-CN" b="1" i="1" dirty="0">
                <a:latin typeface="宋体" pitchFamily="2" charset="-122"/>
              </a:rPr>
              <a:t>I</a:t>
            </a:r>
            <a:r>
              <a:rPr lang="en-US" altLang="zh-CN" b="1" i="1" baseline="-14000" dirty="0">
                <a:latin typeface="宋体" pitchFamily="2" charset="-122"/>
              </a:rPr>
              <a:t>N</a:t>
            </a:r>
            <a:r>
              <a:rPr lang="en-US" altLang="zh-CN" b="1" dirty="0">
                <a:latin typeface="宋体" pitchFamily="2" charset="-122"/>
              </a:rPr>
              <a:t>×CPI×</a:t>
            </a:r>
            <a:r>
              <a:rPr lang="en-US" altLang="zh-CN" b="1" i="1" dirty="0">
                <a:latin typeface="宋体" pitchFamily="2" charset="-122"/>
              </a:rPr>
              <a:t>T</a:t>
            </a:r>
            <a:r>
              <a:rPr lang="en-US" altLang="zh-CN" b="1" baseline="-14000" dirty="0">
                <a:latin typeface="宋体" pitchFamily="2" charset="-122"/>
              </a:rPr>
              <a:t>C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吞 </a:t>
            </a:r>
            <a:r>
              <a:rPr lang="zh-CN" altLang="en-US" b="1" dirty="0">
                <a:latin typeface="宋体" pitchFamily="2" charset="-122"/>
              </a:rPr>
              <a:t>吐 </a:t>
            </a:r>
            <a:r>
              <a:rPr lang="zh-CN" altLang="en-US" b="1" dirty="0" smtClean="0">
                <a:latin typeface="宋体" pitchFamily="2" charset="-122"/>
              </a:rPr>
              <a:t>率</a:t>
            </a:r>
            <a:r>
              <a:rPr lang="en-US" altLang="zh-CN" b="1" i="1" dirty="0" smtClean="0">
                <a:latin typeface="宋体" pitchFamily="2" charset="-122"/>
              </a:rPr>
              <a:t>T</a:t>
            </a:r>
            <a:r>
              <a:rPr lang="en-US" altLang="zh-CN" b="1" baseline="-14000" dirty="0" smtClean="0">
                <a:latin typeface="宋体" pitchFamily="2" charset="-122"/>
              </a:rPr>
              <a:t>P</a:t>
            </a:r>
            <a:r>
              <a:rPr lang="zh-CN" altLang="en-US" b="1" dirty="0">
                <a:latin typeface="宋体" pitchFamily="2" charset="-122"/>
              </a:rPr>
              <a:t>＝∑</a:t>
            </a:r>
            <a:r>
              <a:rPr lang="en-US" altLang="zh-CN" b="1" i="1" dirty="0" smtClean="0">
                <a:latin typeface="+mn-ea"/>
                <a:ea typeface="+mn-ea"/>
              </a:rPr>
              <a:t>I</a:t>
            </a:r>
            <a:r>
              <a:rPr lang="en-US" altLang="zh-CN" b="1" i="1" baseline="-14000" dirty="0" smtClean="0">
                <a:latin typeface="+mn-ea"/>
                <a:ea typeface="+mn-ea"/>
              </a:rPr>
              <a:t>N</a:t>
            </a:r>
            <a:r>
              <a:rPr lang="en-US" altLang="zh-CN" b="1" baseline="-14000" dirty="0" smtClean="0">
                <a:latin typeface="+mn-ea"/>
                <a:ea typeface="+mn-ea"/>
              </a:rPr>
              <a:t>(</a:t>
            </a:r>
            <a:r>
              <a:rPr lang="zh-CN" altLang="en-US" b="1" baseline="-14000" dirty="0" smtClean="0">
                <a:latin typeface="+mn-ea"/>
                <a:ea typeface="+mn-ea"/>
              </a:rPr>
              <a:t>任务</a:t>
            </a:r>
            <a:r>
              <a:rPr lang="en-US" altLang="zh-CN" b="1" i="1" baseline="-14000" dirty="0" err="1" smtClean="0">
                <a:latin typeface="+mn-lt"/>
                <a:ea typeface="+mn-ea"/>
              </a:rPr>
              <a:t>i</a:t>
            </a:r>
            <a:r>
              <a:rPr lang="en-US" altLang="zh-CN" b="1" baseline="-14000" dirty="0" smtClean="0">
                <a:latin typeface="+mn-ea"/>
                <a:ea typeface="+mn-ea"/>
              </a:rPr>
              <a:t>)</a:t>
            </a:r>
            <a:r>
              <a:rPr lang="en-US" altLang="zh-CN" b="1" dirty="0" smtClean="0">
                <a:latin typeface="+mn-ea"/>
                <a:ea typeface="+mn-ea"/>
              </a:rPr>
              <a:t>÷</a:t>
            </a:r>
            <a:r>
              <a:rPr lang="en-US" altLang="zh-CN" b="1" i="1" dirty="0" smtClean="0">
                <a:latin typeface="+mn-ea"/>
                <a:ea typeface="+mn-ea"/>
              </a:rPr>
              <a:t>T</a:t>
            </a:r>
            <a:r>
              <a:rPr lang="en-US" altLang="zh-CN" b="1" baseline="-14000" dirty="0" smtClean="0">
                <a:latin typeface="+mn-ea"/>
                <a:ea typeface="+mn-ea"/>
              </a:rPr>
              <a:t>CPU(</a:t>
            </a:r>
            <a:r>
              <a:rPr lang="zh-CN" altLang="en-US" b="1" baseline="-14000" dirty="0" smtClean="0">
                <a:latin typeface="+mn-ea"/>
                <a:ea typeface="+mn-ea"/>
              </a:rPr>
              <a:t>所有</a:t>
            </a:r>
            <a:r>
              <a:rPr lang="zh-CN" altLang="en-US" b="1" baseline="-14000" dirty="0" smtClean="0">
                <a:latin typeface="宋体" pitchFamily="2" charset="-122"/>
              </a:rPr>
              <a:t>任务</a:t>
            </a:r>
            <a:r>
              <a:rPr lang="en-US" altLang="zh-CN" b="1" baseline="-14000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〖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〗PPT1.P34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r>
              <a:rPr lang="en-US" altLang="zh-CN" sz="2200" b="1" dirty="0">
                <a:latin typeface="宋体" pitchFamily="2" charset="-122"/>
              </a:rPr>
              <a:t>2</a:t>
            </a:r>
            <a:endParaRPr lang="en-US" altLang="zh-CN" sz="2200" b="1" baseline="-14000" dirty="0">
              <a:latin typeface="宋体" pitchFamily="2" charset="-122"/>
            </a:endParaRPr>
          </a:p>
        </p:txBody>
      </p:sp>
      <p:sp>
        <p:nvSpPr>
          <p:cNvPr id="9" name="Text Box 43"/>
          <p:cNvSpPr txBox="1">
            <a:spLocks noChangeArrowheads="1"/>
          </p:cNvSpPr>
          <p:nvPr/>
        </p:nvSpPr>
        <p:spPr bwMode="auto">
          <a:xfrm>
            <a:off x="179512" y="4941168"/>
            <a:ext cx="87852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*总体要求：</a:t>
            </a:r>
            <a:r>
              <a:rPr lang="zh-CN" altLang="en-US" b="1" dirty="0" smtClean="0">
                <a:latin typeface="宋体" pitchFamily="2" charset="-122"/>
              </a:rPr>
              <a:t>①理解</a:t>
            </a:r>
            <a:r>
              <a:rPr lang="zh-CN" altLang="en-US" b="1" u="sng" dirty="0" smtClean="0">
                <a:latin typeface="宋体" pitchFamily="2" charset="-122"/>
              </a:rPr>
              <a:t>硬件组成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结构、部件、互连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②理解</a:t>
            </a:r>
            <a:r>
              <a:rPr lang="zh-CN" altLang="en-US" b="1" u="sng" dirty="0" smtClean="0">
                <a:latin typeface="宋体" pitchFamily="2" charset="-122"/>
              </a:rPr>
              <a:t>工作过程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执行机制、准备及操作过程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        </a:t>
            </a:r>
            <a:r>
              <a:rPr lang="zh-CN" altLang="en-US" b="1" dirty="0" smtClean="0">
                <a:latin typeface="宋体" pitchFamily="2" charset="-122"/>
              </a:rPr>
              <a:t>③理解</a:t>
            </a:r>
            <a:r>
              <a:rPr lang="zh-CN" altLang="en-US" b="1" u="sng" dirty="0" smtClean="0">
                <a:latin typeface="宋体" pitchFamily="2" charset="-122"/>
              </a:rPr>
              <a:t>性能组成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关联软硬件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1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45298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2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18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56"/>
          <p:cNvSpPr txBox="1">
            <a:spLocks noChangeArrowheads="1"/>
          </p:cNvSpPr>
          <p:nvPr/>
        </p:nvSpPr>
        <p:spPr bwMode="auto">
          <a:xfrm>
            <a:off x="179512" y="3684220"/>
            <a:ext cx="8812088" cy="118494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知识点融合：</a:t>
            </a:r>
            <a:r>
              <a:rPr lang="zh-CN" altLang="en-US" sz="2200" b="1" dirty="0" smtClean="0">
                <a:latin typeface="宋体" pitchFamily="2" charset="-122"/>
              </a:rPr>
              <a:t>机器字长与哪些部件有关？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          CPU</a:t>
            </a:r>
            <a:r>
              <a:rPr lang="zh-CN" altLang="en-US" sz="2200" b="1" dirty="0" smtClean="0">
                <a:latin typeface="宋体" pitchFamily="2" charset="-122"/>
              </a:rPr>
              <a:t>主频、</a:t>
            </a:r>
            <a:r>
              <a:rPr lang="en-US" altLang="zh-CN" sz="2200" b="1" dirty="0" smtClean="0">
                <a:latin typeface="宋体" pitchFamily="2" charset="-122"/>
              </a:rPr>
              <a:t>CPI</a:t>
            </a:r>
            <a:r>
              <a:rPr lang="zh-CN" altLang="en-US" sz="2200" b="1" dirty="0" smtClean="0">
                <a:latin typeface="宋体" pitchFamily="2" charset="-122"/>
              </a:rPr>
              <a:t>与指令周期组成的关联？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defRPr/>
            </a:pP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              (ALU/GPRs</a:t>
            </a:r>
            <a:r>
              <a:rPr lang="zh-CN" altLang="en-US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等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)</a:t>
            </a:r>
            <a:r>
              <a:rPr lang="zh-CN" altLang="en-US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   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(T</a:t>
            </a:r>
            <a:r>
              <a:rPr lang="en-US" altLang="zh-CN" sz="1600" b="1" baseline="-18000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C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=max{T</a:t>
            </a:r>
            <a:r>
              <a:rPr lang="zh-CN" altLang="en-US" sz="1600" b="1" baseline="-18000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基本</a:t>
            </a:r>
            <a:r>
              <a:rPr lang="en-US" altLang="zh-CN" sz="1600" baseline="-18000" dirty="0" err="1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μ</a:t>
            </a:r>
            <a:r>
              <a:rPr lang="en-US" altLang="zh-CN" sz="1600" b="1" baseline="-18000" dirty="0" err="1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OP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}</a:t>
            </a:r>
            <a:r>
              <a:rPr lang="zh-CN" altLang="en-US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，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CPI=</a:t>
            </a: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步数</a:t>
            </a:r>
            <a:r>
              <a:rPr lang="en-US" altLang="zh-CN" sz="1600" baseline="-18000" dirty="0" err="1" smtClean="0">
                <a:solidFill>
                  <a:schemeClr val="bg1">
                    <a:lumMod val="75000"/>
                  </a:schemeClr>
                </a:solidFill>
              </a:rPr>
              <a:t>μ</a:t>
            </a:r>
            <a:r>
              <a:rPr lang="en-US" altLang="zh-CN" sz="1600" b="1" baseline="-18000" dirty="0" err="1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OP</a:t>
            </a:r>
            <a:r>
              <a:rPr lang="zh-CN" altLang="en-US" sz="1600" b="1" baseline="-18000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序列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[</a:t>
            </a:r>
            <a:r>
              <a:rPr lang="zh-CN" altLang="en-US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同步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]=T</a:t>
            </a:r>
            <a:r>
              <a:rPr lang="en-US" altLang="zh-CN" sz="1600" baseline="-18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sz="1600" baseline="-18000" dirty="0" err="1" smtClean="0">
                <a:solidFill>
                  <a:schemeClr val="bg1">
                    <a:lumMod val="75000"/>
                  </a:schemeClr>
                </a:solidFill>
              </a:rPr>
              <a:t>μ</a:t>
            </a:r>
            <a:r>
              <a:rPr lang="en-US" altLang="zh-CN" sz="1600" b="1" baseline="-18000" dirty="0" err="1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OP</a:t>
            </a:r>
            <a:r>
              <a:rPr lang="zh-CN" altLang="en-US" sz="1600" b="1" baseline="-18000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序列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/T</a:t>
            </a:r>
            <a:r>
              <a:rPr lang="en-US" altLang="zh-CN" sz="1600" b="1" baseline="-18000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C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[</a:t>
            </a:r>
            <a:r>
              <a:rPr lang="zh-CN" altLang="en-US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联合</a:t>
            </a:r>
            <a:r>
              <a:rPr lang="en-US" altLang="zh-CN" sz="1600" b="1" dirty="0" smtClean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])   </a:t>
            </a:r>
          </a:p>
        </p:txBody>
      </p:sp>
      <p:sp>
        <p:nvSpPr>
          <p:cNvPr id="15" name="AutoShape 62">
            <a:hlinkClick r:id="rId3" action="ppaction://hlinkpres?slideindex=35&amp;slidetitle=PowerPoint 演示文稿"/>
          </p:cNvPr>
          <p:cNvSpPr>
            <a:spLocks noChangeArrowheads="1"/>
          </p:cNvSpPr>
          <p:nvPr/>
        </p:nvSpPr>
        <p:spPr bwMode="auto">
          <a:xfrm>
            <a:off x="8244408" y="3374993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-35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155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9" grpId="0"/>
      <p:bldP spid="14" grpId="0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388" y="2319263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2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数据的表示与运算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1375608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、数据的编码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1834445"/>
            <a:ext cx="8713787" cy="29361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数制转换               </a:t>
            </a:r>
            <a:r>
              <a:rPr lang="zh-CN" altLang="en-US" sz="2000" b="1" dirty="0" smtClean="0">
                <a:latin typeface="+mn-ea"/>
              </a:rPr>
              <a:t>☆熟练运用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机器数编码             </a:t>
            </a:r>
            <a:r>
              <a:rPr lang="zh-CN" altLang="en-US" sz="2000" b="1" dirty="0">
                <a:latin typeface="+mn-ea"/>
              </a:rPr>
              <a:t>☆熟练</a:t>
            </a:r>
            <a:r>
              <a:rPr lang="zh-CN" altLang="en-US" sz="2000" b="1" dirty="0" smtClean="0">
                <a:latin typeface="+mn-ea"/>
              </a:rPr>
              <a:t>运用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35000"/>
              </a:lnSpc>
            </a:pPr>
            <a:endParaRPr lang="en-US" altLang="zh-CN" b="1" dirty="0">
              <a:solidFill>
                <a:srgbClr val="FF3399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十进制数编码   </a:t>
            </a:r>
            <a:r>
              <a:rPr lang="zh-CN" altLang="en-US" b="1" dirty="0">
                <a:latin typeface="+mn-ea"/>
              </a:rPr>
              <a:t>        </a:t>
            </a:r>
            <a:r>
              <a:rPr lang="zh-CN" altLang="en-US" sz="2000" b="1" dirty="0">
                <a:latin typeface="+mn-ea"/>
              </a:rPr>
              <a:t>△了解</a:t>
            </a:r>
            <a:r>
              <a:rPr lang="en-US" altLang="zh-CN" sz="2000" b="1" dirty="0">
                <a:latin typeface="+mn-ea"/>
              </a:rPr>
              <a:t>8421</a:t>
            </a:r>
            <a:r>
              <a:rPr lang="zh-CN" altLang="en-US" sz="2000" b="1" dirty="0">
                <a:latin typeface="+mn-ea"/>
              </a:rPr>
              <a:t>码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4.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字符及字符串编码       </a:t>
            </a:r>
            <a:r>
              <a:rPr lang="zh-CN" altLang="en-US" sz="2000" b="1" dirty="0" smtClean="0">
                <a:latin typeface="+mn-ea"/>
              </a:rPr>
              <a:t>△了解编码</a:t>
            </a:r>
            <a:r>
              <a:rPr lang="zh-CN" altLang="en-US" sz="2000" b="1" dirty="0">
                <a:latin typeface="+mn-ea"/>
              </a:rPr>
              <a:t>类型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</a:rPr>
              <a:t>5.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校验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码                 </a:t>
            </a:r>
            <a:r>
              <a:rPr lang="en-US" altLang="zh-CN" sz="2000" b="1" dirty="0" smtClean="0">
                <a:latin typeface="+mn-ea"/>
              </a:rPr>
              <a:t>×</a:t>
            </a:r>
            <a:r>
              <a:rPr lang="zh-CN" altLang="en-US" sz="2000" b="1" dirty="0" smtClean="0">
                <a:latin typeface="+mn-ea"/>
              </a:rPr>
              <a:t>不考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179388" y="2780928"/>
            <a:ext cx="8812212" cy="5492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原码、</a:t>
            </a:r>
            <a:r>
              <a:rPr lang="zh-CN" altLang="en-US" b="1" dirty="0" smtClean="0">
                <a:latin typeface="宋体" pitchFamily="2" charset="-122"/>
              </a:rPr>
              <a:t>补码、</a:t>
            </a:r>
            <a:r>
              <a:rPr lang="zh-CN" altLang="en-US" b="1" dirty="0">
                <a:latin typeface="宋体" pitchFamily="2" charset="-122"/>
              </a:rPr>
              <a:t>移码</a:t>
            </a:r>
            <a:r>
              <a:rPr lang="zh-CN" altLang="en-US" b="1" dirty="0" smtClean="0">
                <a:latin typeface="宋体" pitchFamily="2" charset="-122"/>
              </a:rPr>
              <a:t>的定义</a:t>
            </a:r>
            <a:r>
              <a:rPr lang="zh-CN" altLang="en-US" b="1" dirty="0">
                <a:latin typeface="宋体" pitchFamily="2" charset="-122"/>
              </a:rPr>
              <a:t>、特性、相互转换</a:t>
            </a: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713787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数据编码，数据表示，定点运算组织，运算器组成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11" name="AutoShape 5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68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/>
      <p:bldP spid="7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二、数据的表示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8" y="792163"/>
            <a:ext cx="6696868" cy="42288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数据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的表示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方法         </a:t>
            </a:r>
            <a:r>
              <a:rPr lang="zh-CN" altLang="en-US" sz="2000" b="1" dirty="0" smtClean="0">
                <a:latin typeface="+mn-ea"/>
              </a:rPr>
              <a:t>△理解相互关系</a:t>
            </a:r>
            <a:r>
              <a:rPr lang="zh-CN" altLang="en-US" b="1" dirty="0" smtClean="0">
                <a:latin typeface="+mn-ea"/>
              </a:rPr>
              <a:t> 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整数的表示             </a:t>
            </a:r>
            <a:r>
              <a:rPr lang="zh-CN" altLang="en-US" sz="2000" b="1" dirty="0" smtClean="0">
                <a:latin typeface="+mn-ea"/>
              </a:rPr>
              <a:t>☆</a:t>
            </a:r>
            <a:r>
              <a:rPr lang="zh-CN" altLang="en-US" sz="2000" b="1" dirty="0">
                <a:latin typeface="+mn-ea"/>
              </a:rPr>
              <a:t>深入</a:t>
            </a:r>
            <a:r>
              <a:rPr lang="zh-CN" altLang="en-US" sz="2000" b="1" dirty="0" smtClean="0">
                <a:latin typeface="+mn-ea"/>
              </a:rPr>
              <a:t>理解、熟练运用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+mn-ea"/>
            </a:endParaRPr>
          </a:p>
          <a:p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实数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的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表示             </a:t>
            </a:r>
            <a:r>
              <a:rPr lang="zh-CN" altLang="en-US" sz="2000" b="1" dirty="0" smtClean="0">
                <a:latin typeface="+mn-ea"/>
              </a:rPr>
              <a:t>☆</a:t>
            </a:r>
            <a:r>
              <a:rPr lang="zh-CN" altLang="en-US" sz="2000" b="1" dirty="0">
                <a:latin typeface="+mn-ea"/>
              </a:rPr>
              <a:t>深入</a:t>
            </a:r>
            <a:r>
              <a:rPr lang="zh-CN" altLang="en-US" sz="2000" b="1" dirty="0" smtClean="0">
                <a:latin typeface="+mn-ea"/>
              </a:rPr>
              <a:t>理解、熟练运用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+mn-ea"/>
            </a:endParaRPr>
          </a:p>
          <a:p>
            <a:pPr>
              <a:lnSpc>
                <a:spcPct val="14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非数值数据的表示       </a:t>
            </a:r>
            <a:r>
              <a:rPr lang="zh-CN" altLang="en-US" sz="2000" b="1" dirty="0" smtClean="0">
                <a:latin typeface="宋体" pitchFamily="2" charset="-122"/>
              </a:rPr>
              <a:t>◇掌握运算实现方法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79388" y="1268760"/>
            <a:ext cx="8812212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spc="-100" dirty="0" smtClean="0">
                <a:latin typeface="宋体" pitchFamily="2" charset="-122"/>
              </a:rPr>
              <a:t>表示方法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spc="-100" dirty="0" smtClean="0">
                <a:latin typeface="宋体" pitchFamily="2" charset="-122"/>
              </a:rPr>
              <a:t>进制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格式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编码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      数据</a:t>
            </a:r>
            <a:r>
              <a:rPr lang="zh-CN" altLang="en-US" b="1" spc="-100" dirty="0">
                <a:latin typeface="宋体" pitchFamily="2" charset="-122"/>
              </a:rPr>
              <a:t>的</a:t>
            </a:r>
            <a:r>
              <a:rPr lang="zh-CN" altLang="en-US" b="1" spc="-100" dirty="0" smtClean="0">
                <a:latin typeface="宋体" pitchFamily="2" charset="-122"/>
              </a:rPr>
              <a:t>表示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spc="-100" dirty="0" smtClean="0">
                <a:latin typeface="宋体" pitchFamily="2" charset="-122"/>
              </a:rPr>
              <a:t>表示方法</a:t>
            </a:r>
            <a:r>
              <a:rPr lang="en-US" altLang="zh-CN" sz="1800" b="1" spc="-100" dirty="0" smtClean="0">
                <a:latin typeface="宋体" pitchFamily="2" charset="-122"/>
              </a:rPr>
              <a:t>+</a:t>
            </a:r>
            <a:r>
              <a:rPr lang="zh-CN" altLang="en-US" sz="1800" b="1" spc="-100" dirty="0" smtClean="0">
                <a:latin typeface="宋体" pitchFamily="2" charset="-122"/>
              </a:rPr>
              <a:t>数据长度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endParaRPr lang="en-US" altLang="zh-CN" b="1" spc="-10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表示与运算关系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结构</a:t>
            </a:r>
            <a:r>
              <a:rPr lang="en-US" altLang="zh-CN" sz="1800" b="1" dirty="0" smtClean="0">
                <a:latin typeface="宋体" pitchFamily="2" charset="-122"/>
              </a:rPr>
              <a:t>-</a:t>
            </a:r>
            <a:r>
              <a:rPr lang="zh-CN" altLang="en-US" sz="1800" b="1" dirty="0" smtClean="0">
                <a:latin typeface="宋体" pitchFamily="2" charset="-122"/>
              </a:rPr>
              <a:t>组成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，数据的运算需求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运算规则</a:t>
            </a:r>
            <a:r>
              <a:rPr lang="en-US" altLang="zh-CN" sz="1800" b="1" dirty="0" smtClean="0">
                <a:latin typeface="宋体" pitchFamily="2" charset="-122"/>
              </a:rPr>
              <a:t>+</a:t>
            </a:r>
            <a:r>
              <a:rPr lang="zh-CN" altLang="en-US" sz="1800" b="1" dirty="0" smtClean="0">
                <a:latin typeface="宋体" pitchFamily="2" charset="-122"/>
              </a:rPr>
              <a:t>溢出</a:t>
            </a:r>
            <a:r>
              <a:rPr lang="zh-CN" altLang="en-US" sz="1800" b="1" dirty="0">
                <a:latin typeface="宋体" pitchFamily="2" charset="-122"/>
              </a:rPr>
              <a:t>处理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79512" y="2706305"/>
            <a:ext cx="8812088" cy="93871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定点表示法，整数的表示，整数的类型转换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位扩展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截断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000" dirty="0" smtClean="0">
                <a:latin typeface="宋体" pitchFamily="2" charset="-122"/>
              </a:rPr>
              <a:t>            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有几种长度、有符号数默认用补码表示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en-US" altLang="zh-CN" sz="2000" b="1" dirty="0" smtClean="0">
                <a:latin typeface="宋体" pitchFamily="2" charset="-122"/>
              </a:rPr>
              <a:t>  </a:t>
            </a:r>
            <a:r>
              <a:rPr lang="zh-CN" altLang="en-US" sz="2000" dirty="0" smtClean="0">
                <a:latin typeface="宋体" pitchFamily="2" charset="-122"/>
              </a:rPr>
              <a:t>      └</a:t>
            </a:r>
            <a:r>
              <a:rPr lang="zh-CN" altLang="en-US" sz="2000" b="1" dirty="0" smtClean="0">
                <a:latin typeface="宋体" pitchFamily="2" charset="-122"/>
              </a:rPr>
              <a:t>→逻辑实现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555900" y="2756247"/>
            <a:ext cx="1584052" cy="431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79512" y="3910990"/>
            <a:ext cx="8812088" cy="5539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浮点表示法，浮点数的规格化，实数的表示</a:t>
            </a:r>
            <a:r>
              <a:rPr lang="en-US" altLang="zh-CN" sz="2000" b="1" dirty="0" smtClean="0">
                <a:latin typeface="宋体" pitchFamily="2" charset="-122"/>
              </a:rPr>
              <a:t>(IEEE 754</a:t>
            </a:r>
            <a:r>
              <a:rPr lang="zh-CN" altLang="en-US" sz="2000" b="1" dirty="0" smtClean="0">
                <a:latin typeface="宋体" pitchFamily="2" charset="-122"/>
              </a:rPr>
              <a:t>标准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83568" y="3983246"/>
            <a:ext cx="1656184" cy="43180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79512" y="4908937"/>
            <a:ext cx="8856984" cy="136191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逻辑数的表示方法，运算规则、实现方法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 </a:t>
            </a:r>
            <a:r>
              <a:rPr lang="zh-CN" altLang="en-US" b="1" dirty="0" smtClean="0">
                <a:latin typeface="宋体" pitchFamily="2" charset="-122"/>
              </a:rPr>
              <a:t>字符的表示方法，运算规则、实现方法   </a:t>
            </a:r>
            <a:r>
              <a:rPr lang="zh-CN" altLang="en-US" sz="1600" b="1" dirty="0" smtClean="0">
                <a:latin typeface="宋体" pitchFamily="2" charset="-122"/>
              </a:rPr>
              <a:t>←</a:t>
            </a:r>
            <a:r>
              <a:rPr lang="zh-CN" altLang="en-US" sz="1800" b="1" dirty="0" smtClean="0">
                <a:latin typeface="宋体" pitchFamily="2" charset="-122"/>
              </a:rPr>
              <a:t>设置</a:t>
            </a:r>
            <a:r>
              <a:rPr lang="en-US" altLang="zh-CN" sz="1800" b="1" dirty="0" smtClean="0">
                <a:latin typeface="宋体" pitchFamily="2" charset="-122"/>
              </a:rPr>
              <a:t>ZF/CF</a:t>
            </a:r>
            <a:r>
              <a:rPr lang="zh-CN" altLang="en-US" sz="1800" b="1" dirty="0" smtClean="0">
                <a:latin typeface="宋体" pitchFamily="2" charset="-122"/>
              </a:rPr>
              <a:t>等的原因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 smtClean="0">
                <a:latin typeface="宋体" pitchFamily="2" charset="-122"/>
              </a:rPr>
              <a:t>                            (</a:t>
            </a:r>
            <a:r>
              <a:rPr lang="zh-CN" altLang="en-US" sz="1800" b="1" dirty="0" smtClean="0">
                <a:latin typeface="宋体" pitchFamily="2" charset="-122"/>
              </a:rPr>
              <a:t>扩展至有符号数的关系运算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zh-CN" altLang="en-US" sz="1800" b="1" dirty="0">
              <a:latin typeface="宋体" pitchFamily="2" charset="-122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491880" y="5399456"/>
            <a:ext cx="2880320" cy="43180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5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7020198" y="1700808"/>
            <a:ext cx="1080194" cy="216024"/>
            <a:chOff x="6948190" y="1700808"/>
            <a:chExt cx="1080194" cy="216024"/>
          </a:xfrm>
        </p:grpSpPr>
        <p:cxnSp>
          <p:nvCxnSpPr>
            <p:cNvPr id="17" name="直接箭头连接符 16"/>
            <p:cNvCxnSpPr/>
            <p:nvPr/>
          </p:nvCxnSpPr>
          <p:spPr bwMode="auto">
            <a:xfrm>
              <a:off x="6948190" y="1700808"/>
              <a:ext cx="0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arrow" w="med" len="sm"/>
            </a:ln>
            <a:effectLst/>
          </p:spPr>
        </p:cxnSp>
        <p:cxnSp>
          <p:nvCxnSpPr>
            <p:cNvPr id="18" name="直接箭头连接符 17"/>
            <p:cNvCxnSpPr/>
            <p:nvPr/>
          </p:nvCxnSpPr>
          <p:spPr bwMode="auto">
            <a:xfrm>
              <a:off x="7812360" y="1700808"/>
              <a:ext cx="216024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arrow" w="med" len="sm"/>
            </a:ln>
            <a:effectLst/>
          </p:spPr>
        </p:cxnSp>
        <p:cxnSp>
          <p:nvCxnSpPr>
            <p:cNvPr id="19" name="直接箭头连接符 18"/>
            <p:cNvCxnSpPr/>
            <p:nvPr/>
          </p:nvCxnSpPr>
          <p:spPr bwMode="auto">
            <a:xfrm>
              <a:off x="6948264" y="1700808"/>
              <a:ext cx="864096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arrow" w="med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45337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  <p:bldP spid="13" grpId="0" animBg="1"/>
      <p:bldP spid="14" grpId="0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三、定点数的运算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5" name="Text Box 132"/>
          <p:cNvSpPr txBox="1">
            <a:spLocks noChangeArrowheads="1"/>
          </p:cNvSpPr>
          <p:nvPr/>
        </p:nvSpPr>
        <p:spPr bwMode="auto">
          <a:xfrm>
            <a:off x="179512" y="836712"/>
            <a:ext cx="7416824" cy="3360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加减运算               </a:t>
            </a:r>
            <a:r>
              <a:rPr lang="zh-CN" altLang="en-US" sz="2000" b="1" dirty="0">
                <a:latin typeface="宋体" pitchFamily="2" charset="-122"/>
              </a:rPr>
              <a:t>☆熟练运用、掌握实现方法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移位运算               </a:t>
            </a:r>
            <a:r>
              <a:rPr lang="zh-CN" altLang="en-US" b="1" dirty="0">
                <a:latin typeface="宋体" pitchFamily="2" charset="-122"/>
              </a:rPr>
              <a:t>◇</a:t>
            </a:r>
            <a:r>
              <a:rPr lang="zh-CN" altLang="en-US" sz="2000" b="1" dirty="0" smtClean="0">
                <a:latin typeface="宋体" pitchFamily="2" charset="-122"/>
              </a:rPr>
              <a:t>熟练</a:t>
            </a:r>
            <a:r>
              <a:rPr lang="zh-CN" altLang="en-US" sz="2000" b="1" dirty="0">
                <a:latin typeface="宋体" pitchFamily="2" charset="-122"/>
              </a:rPr>
              <a:t>运用</a:t>
            </a:r>
            <a:endParaRPr lang="en-US" altLang="zh-CN" sz="2000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</a:p>
          <a:p>
            <a:pPr>
              <a:lnSpc>
                <a:spcPct val="13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乘法运算               </a:t>
            </a:r>
            <a:r>
              <a:rPr lang="zh-CN" altLang="en-US" sz="2000" b="1" dirty="0" smtClean="0">
                <a:latin typeface="宋体" pitchFamily="2" charset="-122"/>
              </a:rPr>
              <a:t>△理解</a:t>
            </a:r>
            <a:r>
              <a:rPr lang="zh-CN" altLang="en-US" sz="2000" b="1" dirty="0">
                <a:latin typeface="宋体" pitchFamily="2" charset="-122"/>
              </a:rPr>
              <a:t>方法、不</a:t>
            </a:r>
            <a:r>
              <a:rPr lang="zh-CN" altLang="en-US" sz="2000" b="1" dirty="0" smtClean="0">
                <a:latin typeface="宋体" pitchFamily="2" charset="-122"/>
              </a:rPr>
              <a:t>考计算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易错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9512" y="1340768"/>
            <a:ext cx="8812088" cy="136498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补码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无</a:t>
            </a:r>
            <a:r>
              <a:rPr lang="zh-CN" altLang="en-US" b="1" dirty="0">
                <a:latin typeface="宋体" pitchFamily="2" charset="-122"/>
              </a:rPr>
              <a:t>符号加减的运算</a:t>
            </a:r>
            <a:r>
              <a:rPr lang="zh-CN" altLang="en-US" b="1" dirty="0" smtClean="0">
                <a:latin typeface="宋体" pitchFamily="2" charset="-122"/>
              </a:rPr>
              <a:t>规则、逻辑实现、溢出判断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(</a:t>
            </a:r>
            <a:r>
              <a:rPr lang="zh-CN" altLang="en-US" sz="2000" b="1" dirty="0" smtClean="0">
                <a:latin typeface="宋体" pitchFamily="2" charset="-122"/>
              </a:rPr>
              <a:t>原码运算不考</a:t>
            </a:r>
            <a:r>
              <a:rPr lang="en-US" altLang="zh-CN" sz="2000" b="1" dirty="0" smtClean="0">
                <a:latin typeface="宋体" pitchFamily="2" charset="-122"/>
              </a:rPr>
              <a:t>)                               </a:t>
            </a:r>
            <a:r>
              <a:rPr lang="zh-CN" altLang="en-US" sz="2000" dirty="0" smtClean="0">
                <a:latin typeface="宋体" pitchFamily="2" charset="-122"/>
              </a:rPr>
              <a:t>└</a:t>
            </a:r>
            <a:r>
              <a:rPr lang="zh-CN" altLang="en-US" sz="2000" b="1" dirty="0" smtClean="0">
                <a:latin typeface="宋体" pitchFamily="2" charset="-122"/>
              </a:rPr>
              <a:t>→</a:t>
            </a:r>
            <a:r>
              <a:rPr lang="en-US" altLang="zh-CN" sz="2000" b="1" dirty="0" smtClean="0">
                <a:latin typeface="宋体" pitchFamily="2" charset="-122"/>
              </a:rPr>
              <a:t>CF/OF</a:t>
            </a:r>
            <a:r>
              <a:rPr lang="zh-CN" altLang="en-US" sz="2000" b="1" dirty="0" smtClean="0">
                <a:latin typeface="宋体" pitchFamily="2" charset="-122"/>
              </a:rPr>
              <a:t>的形成</a:t>
            </a:r>
            <a:r>
              <a:rPr lang="en-US" altLang="zh-CN" b="1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itchFamily="2" charset="-122"/>
              </a:rPr>
              <a:t>     〖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>
                <a:latin typeface="宋体" pitchFamily="2" charset="-122"/>
              </a:rPr>
              <a:t>〗</a:t>
            </a:r>
            <a:r>
              <a:rPr lang="en-US" altLang="zh-CN" sz="2200" b="1" dirty="0" smtClean="0">
                <a:latin typeface="宋体" pitchFamily="2" charset="-122"/>
              </a:rPr>
              <a:t>PPT2.P62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r>
              <a:rPr lang="en-US" altLang="zh-CN" sz="2200" b="1" dirty="0">
                <a:latin typeface="宋体" pitchFamily="2" charset="-122"/>
              </a:rPr>
              <a:t>4</a:t>
            </a:r>
            <a:endParaRPr lang="en-US" altLang="zh-CN" sz="2200" dirty="0">
              <a:latin typeface="宋体" pitchFamily="2" charset="-122"/>
            </a:endParaRPr>
          </a:p>
        </p:txBody>
      </p:sp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512" y="3068960"/>
            <a:ext cx="881221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逻辑移位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/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算术移位</a:t>
            </a:r>
            <a:r>
              <a:rPr lang="zh-CN" altLang="en-US" b="1" dirty="0" smtClean="0">
                <a:latin typeface="宋体" pitchFamily="2" charset="-122"/>
              </a:rPr>
              <a:t>的运算规则、溢出判断 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仅方法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8" name="Text Box 132"/>
          <p:cNvSpPr txBox="1">
            <a:spLocks noChangeArrowheads="1"/>
          </p:cNvSpPr>
          <p:nvPr/>
        </p:nvSpPr>
        <p:spPr bwMode="auto">
          <a:xfrm>
            <a:off x="179512" y="3997513"/>
            <a:ext cx="88122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机器乘法实现思路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◇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spc="-100" dirty="0" smtClean="0">
                <a:latin typeface="宋体" pitchFamily="2" charset="-122"/>
              </a:rPr>
              <a:t>无符号</a:t>
            </a:r>
            <a:r>
              <a:rPr lang="en-US" altLang="zh-CN" b="1" spc="-100" dirty="0" smtClean="0">
                <a:latin typeface="宋体" pitchFamily="2" charset="-122"/>
              </a:rPr>
              <a:t>/</a:t>
            </a:r>
            <a:r>
              <a:rPr lang="zh-CN" altLang="en-US" b="1" spc="-100" dirty="0" smtClean="0">
                <a:latin typeface="宋体" pitchFamily="2" charset="-122"/>
              </a:rPr>
              <a:t>原码乘法的运算规则、溢出判断  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不</a:t>
            </a:r>
            <a:r>
              <a:rPr lang="zh-CN" altLang="en-US" sz="1800" b="1" dirty="0" smtClean="0">
                <a:latin typeface="宋体" pitchFamily="2" charset="-122"/>
              </a:rPr>
              <a:t>考逻辑实现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控制流程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79512" y="4941168"/>
            <a:ext cx="881221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四、浮点数的运算         </a:t>
            </a:r>
            <a:r>
              <a:rPr lang="zh-CN" altLang="en-US" sz="2000" b="1" dirty="0" smtClean="0">
                <a:latin typeface="宋体" pitchFamily="2" charset="-122"/>
              </a:rPr>
              <a:t>△理解方法、不考计算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浮点</a:t>
            </a:r>
            <a:r>
              <a:rPr lang="zh-CN" altLang="en-US" b="1" dirty="0">
                <a:latin typeface="宋体" pitchFamily="2" charset="-122"/>
              </a:rPr>
              <a:t>加减运算的运算</a:t>
            </a:r>
            <a:r>
              <a:rPr lang="zh-CN" altLang="en-US" b="1" dirty="0" smtClean="0">
                <a:latin typeface="宋体" pitchFamily="2" charset="-122"/>
              </a:rPr>
              <a:t>步骤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11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388" y="879103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5" name="AutoShape 62">
            <a:hlinkClick r:id="rId2" action="ppaction://hlinkpres?slideindex=60&amp;slidetitle=PowerPoint 演示文稿"/>
          </p:cNvPr>
          <p:cNvSpPr>
            <a:spLocks noChangeArrowheads="1"/>
          </p:cNvSpPr>
          <p:nvPr/>
        </p:nvSpPr>
        <p:spPr bwMode="auto">
          <a:xfrm>
            <a:off x="7164288" y="227687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-60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" name="AutoShape 62">
            <a:hlinkClick r:id="rId3" action="ppaction://hlinkpres?slideindex=58&amp;slidetitle=PowerPoint 演示文稿"/>
          </p:cNvPr>
          <p:cNvSpPr>
            <a:spLocks noChangeArrowheads="1"/>
          </p:cNvSpPr>
          <p:nvPr/>
        </p:nvSpPr>
        <p:spPr bwMode="auto">
          <a:xfrm>
            <a:off x="5292080" y="184482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-58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13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五、运算器的组成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4" name="Text Box 43"/>
          <p:cNvSpPr txBox="1">
            <a:spLocks noChangeArrowheads="1"/>
          </p:cNvSpPr>
          <p:nvPr/>
        </p:nvSpPr>
        <p:spPr bwMode="auto">
          <a:xfrm>
            <a:off x="179388" y="1778040"/>
            <a:ext cx="878522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部件设计      </a:t>
            </a:r>
            <a:r>
              <a:rPr lang="zh-CN" altLang="en-US" sz="2000" b="1" dirty="0" smtClean="0">
                <a:latin typeface="宋体" pitchFamily="2" charset="-122"/>
              </a:rPr>
              <a:t>△理解方法、简单设计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功能组织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汇总需求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分类合并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、具体设计</a:t>
            </a:r>
            <a:r>
              <a:rPr lang="en-US" altLang="zh-CN" sz="1800" b="1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部件互连      </a:t>
            </a:r>
            <a:r>
              <a:rPr lang="zh-CN" altLang="en-US" sz="2000" b="1" dirty="0" smtClean="0">
                <a:latin typeface="宋体" pitchFamily="2" charset="-122"/>
              </a:rPr>
              <a:t>◇</a:t>
            </a:r>
            <a:r>
              <a:rPr lang="zh-CN" altLang="en-US" sz="2000" b="1" dirty="0">
                <a:latin typeface="宋体" pitchFamily="2" charset="-122"/>
              </a:rPr>
              <a:t>理解原理、关联数据通路</a:t>
            </a: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总线结构、专用结构的互连需求、应用   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5" name="Text Box 43"/>
          <p:cNvSpPr txBox="1">
            <a:spLocks noChangeArrowheads="1"/>
          </p:cNvSpPr>
          <p:nvPr/>
        </p:nvSpPr>
        <p:spPr bwMode="auto">
          <a:xfrm>
            <a:off x="179512" y="799544"/>
            <a:ext cx="88120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功能与组成    </a:t>
            </a:r>
            <a:r>
              <a:rPr lang="zh-CN" altLang="en-US" sz="2000" b="1" dirty="0" smtClean="0">
                <a:latin typeface="宋体" pitchFamily="2" charset="-122"/>
              </a:rPr>
              <a:t>◇基于指令系统理解需求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功能</a:t>
            </a:r>
            <a:r>
              <a:rPr lang="en-US" altLang="zh-CN" sz="1800" b="1" dirty="0" smtClean="0">
                <a:latin typeface="宋体" pitchFamily="2" charset="-122"/>
              </a:rPr>
              <a:t>(ISA</a:t>
            </a:r>
            <a:r>
              <a:rPr lang="zh-CN" altLang="en-US" sz="1800" b="1" dirty="0" smtClean="0">
                <a:latin typeface="宋体" pitchFamily="2" charset="-122"/>
              </a:rPr>
              <a:t>指令操作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、部件组成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运算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存放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、部件</a:t>
            </a:r>
            <a:r>
              <a:rPr lang="zh-CN" altLang="en-US" b="1" dirty="0" smtClean="0">
                <a:latin typeface="宋体" pitchFamily="2" charset="-122"/>
              </a:rPr>
              <a:t>互连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引脚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结构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7" name="Text Box 43"/>
          <p:cNvSpPr txBox="1">
            <a:spLocks noChangeArrowheads="1"/>
          </p:cNvSpPr>
          <p:nvPr/>
        </p:nvSpPr>
        <p:spPr bwMode="auto">
          <a:xfrm>
            <a:off x="179263" y="3717032"/>
            <a:ext cx="878522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*总体要求：   </a:t>
            </a:r>
            <a:endParaRPr lang="en-US" altLang="zh-CN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①掌握数据的</a:t>
            </a:r>
            <a:r>
              <a:rPr lang="zh-CN" altLang="en-US" b="1" u="sng" dirty="0" smtClean="0">
                <a:latin typeface="宋体" pitchFamily="2" charset="-122"/>
              </a:rPr>
              <a:t>编码方法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数值数据、</a:t>
            </a:r>
            <a:r>
              <a:rPr lang="zh-CN" altLang="en-US" sz="2000" b="1" dirty="0" smtClean="0">
                <a:latin typeface="宋体" pitchFamily="2" charset="-122"/>
              </a:rPr>
              <a:t>逻辑数及字符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  ②理解数据</a:t>
            </a:r>
            <a:r>
              <a:rPr lang="zh-CN" altLang="en-US" b="1" u="sng" dirty="0" smtClean="0">
                <a:latin typeface="宋体" pitchFamily="2" charset="-122"/>
              </a:rPr>
              <a:t>如何表示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表示方法、数据类型表示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  ③掌握数据</a:t>
            </a:r>
            <a:r>
              <a:rPr lang="zh-CN" altLang="en-US" b="1" u="sng" dirty="0" smtClean="0">
                <a:latin typeface="宋体" pitchFamily="2" charset="-122"/>
              </a:rPr>
              <a:t>如何运算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运算规则、溢出</a:t>
            </a:r>
            <a:r>
              <a:rPr lang="zh-CN" altLang="en-US" sz="2000" b="1" dirty="0">
                <a:latin typeface="宋体" pitchFamily="2" charset="-122"/>
              </a:rPr>
              <a:t>判断、逻辑实现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④了解运算器</a:t>
            </a:r>
            <a:r>
              <a:rPr lang="zh-CN" altLang="en-US" b="1" u="sng" dirty="0" smtClean="0">
                <a:latin typeface="宋体" pitchFamily="2" charset="-122"/>
              </a:rPr>
              <a:t>如何组织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部件组成、互连方法、操作控制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9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58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3" name="Text Box 56"/>
          <p:cNvSpPr txBox="1">
            <a:spLocks noChangeArrowheads="1"/>
          </p:cNvSpPr>
          <p:nvPr/>
        </p:nvSpPr>
        <p:spPr bwMode="auto">
          <a:xfrm>
            <a:off x="838200" y="339378"/>
            <a:ext cx="7467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600" b="1" dirty="0">
                <a:latin typeface="宋体" pitchFamily="2" charset="-122"/>
              </a:rPr>
              <a:t>第</a:t>
            </a:r>
            <a:r>
              <a:rPr lang="en-US" altLang="zh-CN" sz="3600" b="1" dirty="0">
                <a:latin typeface="宋体" pitchFamily="2" charset="-122"/>
              </a:rPr>
              <a:t>3</a:t>
            </a:r>
            <a:r>
              <a:rPr lang="zh-CN" altLang="en-US" sz="36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存储系统</a:t>
            </a:r>
            <a:endParaRPr lang="zh-CN" altLang="en-US" sz="3600" b="1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1465614"/>
            <a:ext cx="896461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、存储系统概述        </a:t>
            </a:r>
            <a:r>
              <a:rPr lang="zh-CN" altLang="en-US" sz="2000" b="1" dirty="0" smtClean="0">
                <a:latin typeface="宋体" pitchFamily="2" charset="-122"/>
              </a:rPr>
              <a:t>◇</a:t>
            </a:r>
            <a:r>
              <a:rPr lang="zh-CN" altLang="en-US" sz="2000" b="1" dirty="0">
                <a:latin typeface="宋体" pitchFamily="2" charset="-122"/>
              </a:rPr>
              <a:t>理解</a:t>
            </a:r>
            <a:r>
              <a:rPr lang="zh-CN" altLang="en-US" sz="2000" b="1" dirty="0" smtClean="0">
                <a:latin typeface="宋体" pitchFamily="2" charset="-122"/>
              </a:rPr>
              <a:t>原理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技术</a:t>
            </a:r>
            <a:r>
              <a:rPr lang="zh-CN" altLang="en-US" b="1" dirty="0">
                <a:latin typeface="宋体" pitchFamily="2" charset="-122"/>
              </a:rPr>
              <a:t>指标</a:t>
            </a:r>
            <a:r>
              <a:rPr lang="zh-CN" altLang="en-US" b="1" dirty="0" smtClean="0">
                <a:latin typeface="宋体" pitchFamily="2" charset="-122"/>
              </a:rPr>
              <a:t>，访问局部性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zh-CN" altLang="en-US" b="1" dirty="0" smtClean="0">
                <a:latin typeface="宋体" pitchFamily="2" charset="-122"/>
              </a:rPr>
              <a:t>层次结构</a:t>
            </a:r>
            <a:r>
              <a:rPr lang="zh-CN" altLang="en-US" b="1" dirty="0">
                <a:latin typeface="宋体" pitchFamily="2" charset="-122"/>
              </a:rPr>
              <a:t>组织</a:t>
            </a:r>
            <a:r>
              <a:rPr lang="zh-CN" altLang="en-US" b="1" dirty="0" smtClean="0">
                <a:latin typeface="宋体" pitchFamily="2" charset="-122"/>
              </a:rPr>
              <a:t>、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工作过程</a:t>
            </a:r>
            <a:r>
              <a:rPr lang="en-US" altLang="zh-CN" sz="1600" b="1" dirty="0" smtClean="0">
                <a:latin typeface="宋体" pitchFamily="2" charset="-122"/>
              </a:rPr>
              <a:t>(</a:t>
            </a:r>
            <a:r>
              <a:rPr lang="zh-CN" altLang="en-US" sz="1600" b="1" dirty="0" smtClean="0">
                <a:latin typeface="宋体" pitchFamily="2" charset="-122"/>
              </a:rPr>
              <a:t>层次</a:t>
            </a:r>
            <a:r>
              <a:rPr lang="en-US" altLang="zh-CN" sz="1600" b="1" dirty="0" smtClean="0">
                <a:latin typeface="宋体" pitchFamily="2" charset="-122"/>
              </a:rPr>
              <a:t>+</a:t>
            </a:r>
            <a:r>
              <a:rPr lang="zh-CN" altLang="en-US" sz="1600" b="1" dirty="0" smtClean="0">
                <a:latin typeface="宋体" pitchFamily="2" charset="-122"/>
              </a:rPr>
              <a:t>变换</a:t>
            </a:r>
            <a:r>
              <a:rPr lang="en-US" altLang="zh-CN" sz="1600" b="1" dirty="0" smtClean="0">
                <a:latin typeface="宋体" pitchFamily="2" charset="-122"/>
              </a:rPr>
              <a:t>+</a:t>
            </a:r>
            <a:r>
              <a:rPr lang="zh-CN" altLang="en-US" sz="1600" b="1" dirty="0" smtClean="0">
                <a:latin typeface="宋体" pitchFamily="2" charset="-122"/>
              </a:rPr>
              <a:t>访问</a:t>
            </a:r>
            <a:r>
              <a:rPr lang="en-US" altLang="zh-CN" sz="1600" b="1" dirty="0" smtClean="0">
                <a:latin typeface="宋体" pitchFamily="2" charset="-122"/>
              </a:rPr>
              <a:t>)</a:t>
            </a:r>
            <a:endParaRPr lang="en-US" altLang="zh-CN" sz="1800" dirty="0" smtClean="0">
              <a:latin typeface="+mn-ea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512" y="980728"/>
            <a:ext cx="8812212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层次结构，</a:t>
            </a:r>
            <a:r>
              <a:rPr lang="en-US" altLang="zh-CN" sz="2200" b="1" dirty="0" smtClean="0">
                <a:latin typeface="宋体" pitchFamily="2" charset="-122"/>
              </a:rPr>
              <a:t>RAM</a:t>
            </a:r>
            <a:r>
              <a:rPr lang="zh-CN" altLang="en-US" sz="2200" b="1" dirty="0" smtClean="0">
                <a:latin typeface="宋体" pitchFamily="2" charset="-122"/>
              </a:rPr>
              <a:t>基础，主存设计，</a:t>
            </a:r>
            <a:r>
              <a:rPr lang="en-US" altLang="zh-CN" sz="2200" b="1" dirty="0" smtClean="0">
                <a:latin typeface="宋体" pitchFamily="2" charset="-122"/>
              </a:rPr>
              <a:t>Cache</a:t>
            </a:r>
            <a:r>
              <a:rPr lang="zh-CN" altLang="en-US" sz="2200" b="1" dirty="0" smtClean="0">
                <a:latin typeface="宋体" pitchFamily="2" charset="-122"/>
              </a:rPr>
              <a:t>原理，虚存概念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3810755"/>
            <a:ext cx="8812212" cy="271458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RAM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基础</a:t>
            </a:r>
            <a:endParaRPr lang="en-US" altLang="zh-CN" sz="2000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1.SRAM                  </a:t>
            </a:r>
            <a:r>
              <a:rPr lang="zh-CN" altLang="en-US" sz="2000" b="1" dirty="0" smtClean="0">
                <a:latin typeface="+mn-ea"/>
                <a:ea typeface="+mn-ea"/>
              </a:rPr>
              <a:t>☆掌握</a:t>
            </a:r>
            <a:r>
              <a:rPr lang="zh-CN" altLang="en-US" sz="2000" b="1" dirty="0" smtClean="0">
                <a:latin typeface="宋体" pitchFamily="2" charset="-122"/>
              </a:rPr>
              <a:t>原理、熟练运用</a:t>
            </a:r>
            <a:endParaRPr lang="zh-CN" altLang="en-US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b="1" dirty="0" smtClean="0">
                <a:latin typeface="宋体" pitchFamily="2" charset="-122"/>
              </a:rPr>
              <a:t>   存储元组成与操作，</a:t>
            </a:r>
            <a:r>
              <a:rPr lang="zh-CN" altLang="en-US" b="1" spc="-100" dirty="0" smtClean="0">
                <a:latin typeface="宋体" pitchFamily="2" charset="-122"/>
              </a:rPr>
              <a:t>芯片的组成、引脚组织、读写时序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2.DRAM                  </a:t>
            </a:r>
            <a:r>
              <a:rPr lang="zh-CN" altLang="en-US" sz="2000" b="1" dirty="0" smtClean="0">
                <a:latin typeface="宋体" pitchFamily="2" charset="-122"/>
              </a:rPr>
              <a:t>◇理解原理</a:t>
            </a:r>
            <a:endParaRPr lang="en-US" altLang="zh-CN" sz="20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zh-CN" altLang="en-US" b="1" dirty="0" smtClean="0">
                <a:latin typeface="宋体" pitchFamily="2" charset="-122"/>
              </a:rPr>
              <a:t>   存储元组成与操作，</a:t>
            </a:r>
            <a:r>
              <a:rPr lang="zh-CN" altLang="en-US" b="1" spc="-100" dirty="0" smtClean="0">
                <a:latin typeface="宋体" pitchFamily="2" charset="-122"/>
              </a:rPr>
              <a:t>芯片的引脚组织、组成、</a:t>
            </a:r>
            <a:r>
              <a:rPr lang="zh-CN" altLang="en-US" b="1" spc="-100" dirty="0">
                <a:latin typeface="宋体" pitchFamily="2" charset="-122"/>
              </a:rPr>
              <a:t>读写</a:t>
            </a:r>
            <a:r>
              <a:rPr lang="zh-CN" altLang="en-US" b="1" spc="-100" dirty="0" smtClean="0">
                <a:latin typeface="宋体" pitchFamily="2" charset="-122"/>
              </a:rPr>
              <a:t>时序、刷新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3.ROM                   </a:t>
            </a:r>
            <a:r>
              <a:rPr lang="en-US" altLang="zh-CN" sz="2000" b="1" dirty="0" smtClean="0">
                <a:latin typeface="+mn-ea"/>
                <a:ea typeface="+mn-ea"/>
              </a:rPr>
              <a:t>×</a:t>
            </a:r>
            <a:r>
              <a:rPr lang="zh-CN" altLang="en-US" sz="2000" b="1" dirty="0" smtClean="0">
                <a:latin typeface="+mn-ea"/>
                <a:ea typeface="+mn-ea"/>
              </a:rPr>
              <a:t>不考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491880" y="4725144"/>
            <a:ext cx="3024336" cy="431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5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491880" y="5589240"/>
            <a:ext cx="3024336" cy="431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62">
            <a:hlinkClick r:id="rId3" action="ppaction://hlinkpres?slideindex=8&amp;slidetitle=PowerPoint 演示文稿"/>
          </p:cNvPr>
          <p:cNvSpPr>
            <a:spLocks noChangeArrowheads="1"/>
          </p:cNvSpPr>
          <p:nvPr/>
        </p:nvSpPr>
        <p:spPr bwMode="auto">
          <a:xfrm>
            <a:off x="8521824" y="3068960"/>
            <a:ext cx="442664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5" name="AutoShape 62">
            <a:hlinkClick r:id="rId4" action="ppaction://hlinkpres?slideindex=14&amp;slidetitle=PowerPoint 演示文稿"/>
          </p:cNvPr>
          <p:cNvSpPr>
            <a:spLocks noChangeArrowheads="1"/>
          </p:cNvSpPr>
          <p:nvPr/>
        </p:nvSpPr>
        <p:spPr bwMode="auto">
          <a:xfrm>
            <a:off x="8388424" y="4599129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-14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899592" y="2420888"/>
            <a:ext cx="7704857" cy="1297484"/>
            <a:chOff x="899592" y="1699468"/>
            <a:chExt cx="7704857" cy="1297484"/>
          </a:xfrm>
        </p:grpSpPr>
        <p:sp>
          <p:nvSpPr>
            <p:cNvPr id="43" name="Text Box 7"/>
            <p:cNvSpPr txBox="1">
              <a:spLocks noChangeArrowheads="1"/>
            </p:cNvSpPr>
            <p:nvPr/>
          </p:nvSpPr>
          <p:spPr bwMode="auto">
            <a:xfrm>
              <a:off x="899592" y="2276872"/>
              <a:ext cx="1008189" cy="72008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 smtClean="0">
                <a:latin typeface="宋体" pitchFamily="2" charset="-122"/>
              </a:endParaRPr>
            </a:p>
            <a:p>
              <a:pPr algn="ctr">
                <a:lnSpc>
                  <a:spcPct val="70000"/>
                </a:lnSpc>
              </a:pPr>
              <a:endParaRPr lang="en-US" altLang="zh-CN" sz="1600" b="1" dirty="0" smtClean="0">
                <a:latin typeface="宋体" pitchFamily="2" charset="-122"/>
              </a:endParaRPr>
            </a:p>
            <a:p>
              <a:pPr algn="ctr"/>
              <a:r>
                <a:rPr lang="en-US" altLang="zh-CN" sz="2000" b="1" dirty="0" smtClean="0">
                  <a:latin typeface="宋体" pitchFamily="2" charset="-122"/>
                </a:rPr>
                <a:t>CPU</a:t>
              </a:r>
              <a:endParaRPr lang="en-US" altLang="zh-CN" sz="2000" b="1" dirty="0">
                <a:latin typeface="宋体" pitchFamily="2" charset="-122"/>
              </a:endParaRPr>
            </a:p>
          </p:txBody>
        </p:sp>
        <p:sp>
          <p:nvSpPr>
            <p:cNvPr id="44" name="Line 8"/>
            <p:cNvSpPr>
              <a:spLocks noChangeShapeType="1"/>
            </p:cNvSpPr>
            <p:nvPr/>
          </p:nvSpPr>
          <p:spPr bwMode="auto">
            <a:xfrm>
              <a:off x="1475657" y="1699468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9"/>
            <p:cNvSpPr txBox="1">
              <a:spLocks noChangeArrowheads="1"/>
            </p:cNvSpPr>
            <p:nvPr/>
          </p:nvSpPr>
          <p:spPr bwMode="auto">
            <a:xfrm>
              <a:off x="2051572" y="2347168"/>
              <a:ext cx="1296293" cy="28815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latin typeface="宋体" pitchFamily="2" charset="-122"/>
                </a:rPr>
                <a:t>主存</a:t>
              </a:r>
            </a:p>
          </p:txBody>
        </p:sp>
        <p:sp>
          <p:nvSpPr>
            <p:cNvPr id="46" name="Text Box 10"/>
            <p:cNvSpPr txBox="1">
              <a:spLocks noChangeArrowheads="1"/>
            </p:cNvSpPr>
            <p:nvPr/>
          </p:nvSpPr>
          <p:spPr bwMode="auto">
            <a:xfrm>
              <a:off x="5219255" y="1916956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>
                  <a:latin typeface="宋体" pitchFamily="2" charset="-122"/>
                </a:rPr>
                <a:t>I/O</a:t>
              </a:r>
              <a:r>
                <a:rPr lang="zh-CN" altLang="en-US" sz="1800" b="1">
                  <a:latin typeface="宋体" pitchFamily="2" charset="-122"/>
                </a:rPr>
                <a:t>接口</a:t>
              </a:r>
              <a:r>
                <a:rPr lang="en-US" altLang="zh-CN" sz="1800" b="1">
                  <a:latin typeface="宋体" pitchFamily="2" charset="-122"/>
                </a:rPr>
                <a:t>1</a:t>
              </a:r>
            </a:p>
          </p:txBody>
        </p:sp>
        <p:sp>
          <p:nvSpPr>
            <p:cNvPr id="47" name="Line 11"/>
            <p:cNvSpPr>
              <a:spLocks noChangeShapeType="1"/>
            </p:cNvSpPr>
            <p:nvPr/>
          </p:nvSpPr>
          <p:spPr bwMode="auto">
            <a:xfrm>
              <a:off x="899592" y="1702641"/>
              <a:ext cx="7704857" cy="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2"/>
            <p:cNvSpPr>
              <a:spLocks noChangeShapeType="1"/>
            </p:cNvSpPr>
            <p:nvPr/>
          </p:nvSpPr>
          <p:spPr bwMode="auto">
            <a:xfrm>
              <a:off x="2699793" y="1699468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3"/>
            <p:cNvSpPr>
              <a:spLocks noChangeShapeType="1"/>
            </p:cNvSpPr>
            <p:nvPr/>
          </p:nvSpPr>
          <p:spPr bwMode="auto">
            <a:xfrm>
              <a:off x="5795517" y="1702643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>
              <a:off x="6371780" y="1916956"/>
              <a:ext cx="577850" cy="4318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/>
                <a:t>…</a:t>
              </a:r>
            </a:p>
          </p:txBody>
        </p:sp>
        <p:sp>
          <p:nvSpPr>
            <p:cNvPr id="51" name="Text Box 16"/>
            <p:cNvSpPr txBox="1">
              <a:spLocks noChangeArrowheads="1"/>
            </p:cNvSpPr>
            <p:nvPr/>
          </p:nvSpPr>
          <p:spPr bwMode="auto">
            <a:xfrm>
              <a:off x="5219255" y="2350343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1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52" name="Line 17"/>
            <p:cNvSpPr>
              <a:spLocks noChangeShapeType="1"/>
            </p:cNvSpPr>
            <p:nvPr/>
          </p:nvSpPr>
          <p:spPr bwMode="auto">
            <a:xfrm>
              <a:off x="5795517" y="220429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9"/>
            <p:cNvSpPr>
              <a:spLocks noChangeShapeType="1"/>
            </p:cNvSpPr>
            <p:nvPr/>
          </p:nvSpPr>
          <p:spPr bwMode="auto">
            <a:xfrm>
              <a:off x="7597330" y="1701056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127"/>
            <p:cNvSpPr txBox="1">
              <a:spLocks noChangeArrowheads="1"/>
            </p:cNvSpPr>
            <p:nvPr/>
          </p:nvSpPr>
          <p:spPr bwMode="auto">
            <a:xfrm>
              <a:off x="7021067" y="1916956"/>
              <a:ext cx="1583382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I/O</a:t>
              </a:r>
              <a:r>
                <a:rPr lang="zh-CN" altLang="en-US" sz="1800" b="1" dirty="0">
                  <a:latin typeface="宋体" pitchFamily="2" charset="-122"/>
                </a:rPr>
                <a:t>接口</a:t>
              </a:r>
              <a:r>
                <a:rPr lang="en-US" altLang="zh-CN" sz="1800" b="1" dirty="0" smtClean="0">
                  <a:latin typeface="宋体" pitchFamily="2" charset="-122"/>
                </a:rPr>
                <a:t>n(DMA)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55" name="Text Box 128"/>
            <p:cNvSpPr txBox="1">
              <a:spLocks noChangeArrowheads="1"/>
            </p:cNvSpPr>
            <p:nvPr/>
          </p:nvSpPr>
          <p:spPr bwMode="auto">
            <a:xfrm>
              <a:off x="7021067" y="2350343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n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56" name="Line 129"/>
            <p:cNvSpPr>
              <a:spLocks noChangeShapeType="1"/>
            </p:cNvSpPr>
            <p:nvPr/>
          </p:nvSpPr>
          <p:spPr bwMode="auto">
            <a:xfrm>
              <a:off x="7597330" y="220429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136"/>
            <p:cNvSpPr txBox="1">
              <a:spLocks noChangeArrowheads="1"/>
            </p:cNvSpPr>
            <p:nvPr/>
          </p:nvSpPr>
          <p:spPr bwMode="auto">
            <a:xfrm>
              <a:off x="3492055" y="1916956"/>
              <a:ext cx="1439863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itchFamily="2" charset="-122"/>
                </a:rPr>
                <a:t>磁盘适配器</a:t>
              </a:r>
            </a:p>
          </p:txBody>
        </p:sp>
        <p:sp>
          <p:nvSpPr>
            <p:cNvPr id="58" name="Line 137"/>
            <p:cNvSpPr>
              <a:spLocks noChangeShapeType="1"/>
            </p:cNvSpPr>
            <p:nvPr/>
          </p:nvSpPr>
          <p:spPr bwMode="auto">
            <a:xfrm>
              <a:off x="4211192" y="1701056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138"/>
            <p:cNvSpPr txBox="1">
              <a:spLocks noChangeArrowheads="1"/>
            </p:cNvSpPr>
            <p:nvPr/>
          </p:nvSpPr>
          <p:spPr bwMode="auto">
            <a:xfrm>
              <a:off x="3492055" y="2348756"/>
              <a:ext cx="1439863" cy="287338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辅存</a:t>
              </a:r>
              <a:r>
                <a:rPr lang="en-US" altLang="zh-CN" sz="1800" b="1" dirty="0" smtClean="0">
                  <a:latin typeface="宋体" pitchFamily="2" charset="-122"/>
                </a:rPr>
                <a:t>(</a:t>
              </a:r>
              <a:r>
                <a:rPr lang="zh-CN" altLang="en-US" sz="1800" b="1" dirty="0" smtClean="0">
                  <a:latin typeface="宋体" pitchFamily="2" charset="-122"/>
                </a:rPr>
                <a:t>如</a:t>
              </a:r>
              <a:r>
                <a:rPr lang="en-US" altLang="zh-CN" sz="1800" b="1" dirty="0" smtClean="0">
                  <a:latin typeface="宋体" pitchFamily="2" charset="-122"/>
                </a:rPr>
                <a:t>HD)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60" name="Line 139"/>
            <p:cNvSpPr>
              <a:spLocks noChangeShapeType="1"/>
            </p:cNvSpPr>
            <p:nvPr/>
          </p:nvSpPr>
          <p:spPr bwMode="auto">
            <a:xfrm>
              <a:off x="4211192" y="2202706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136"/>
            <p:cNvSpPr txBox="1">
              <a:spLocks noChangeArrowheads="1"/>
            </p:cNvSpPr>
            <p:nvPr/>
          </p:nvSpPr>
          <p:spPr bwMode="auto">
            <a:xfrm>
              <a:off x="2051572" y="1925612"/>
              <a:ext cx="1296293" cy="2770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主存控制器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62" name="Text Box 136"/>
            <p:cNvSpPr txBox="1">
              <a:spLocks noChangeArrowheads="1"/>
            </p:cNvSpPr>
            <p:nvPr/>
          </p:nvSpPr>
          <p:spPr bwMode="auto">
            <a:xfrm>
              <a:off x="921288" y="2287464"/>
              <a:ext cx="967140" cy="25614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BIU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 bwMode="auto">
            <a:xfrm>
              <a:off x="910479" y="2564904"/>
              <a:ext cx="99722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Line 139"/>
            <p:cNvSpPr>
              <a:spLocks noChangeShapeType="1"/>
            </p:cNvSpPr>
            <p:nvPr/>
          </p:nvSpPr>
          <p:spPr bwMode="auto">
            <a:xfrm>
              <a:off x="2699793" y="2203524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136"/>
            <p:cNvSpPr txBox="1">
              <a:spLocks noChangeArrowheads="1"/>
            </p:cNvSpPr>
            <p:nvPr/>
          </p:nvSpPr>
          <p:spPr bwMode="auto">
            <a:xfrm>
              <a:off x="899592" y="1923486"/>
              <a:ext cx="1020209" cy="27922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Cache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66" name="Line 8"/>
            <p:cNvSpPr>
              <a:spLocks noChangeShapeType="1"/>
            </p:cNvSpPr>
            <p:nvPr/>
          </p:nvSpPr>
          <p:spPr bwMode="auto">
            <a:xfrm>
              <a:off x="1459400" y="2203524"/>
              <a:ext cx="0" cy="72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136"/>
            <p:cNvSpPr txBox="1">
              <a:spLocks noChangeArrowheads="1"/>
            </p:cNvSpPr>
            <p:nvPr/>
          </p:nvSpPr>
          <p:spPr bwMode="auto">
            <a:xfrm>
              <a:off x="1165773" y="2563564"/>
              <a:ext cx="486636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宋体" pitchFamily="2" charset="-122"/>
                </a:rPr>
                <a:t>MMU</a:t>
              </a:r>
              <a:endParaRPr lang="zh-CN" altLang="en-US" sz="1400" b="1" dirty="0">
                <a:latin typeface="宋体" pitchFamily="2" charset="-122"/>
              </a:endParaRPr>
            </a:p>
          </p:txBody>
        </p:sp>
      </p:grpSp>
      <p:sp>
        <p:nvSpPr>
          <p:cNvPr id="68" name="Text Box 36"/>
          <p:cNvSpPr txBox="1">
            <a:spLocks noChangeArrowheads="1"/>
          </p:cNvSpPr>
          <p:nvPr/>
        </p:nvSpPr>
        <p:spPr bwMode="auto">
          <a:xfrm>
            <a:off x="2267743" y="3466714"/>
            <a:ext cx="6624737" cy="322326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  <a:headEnd/>
            <a:tailEnd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 err="1" smtClean="0">
                <a:latin typeface="宋体" pitchFamily="2" charset="-122"/>
              </a:rPr>
              <a:t>Addr</a:t>
            </a:r>
            <a:r>
              <a:rPr lang="zh-CN" altLang="en-US" sz="1800" b="1" baseline="-18000" dirty="0" smtClean="0">
                <a:latin typeface="宋体" pitchFamily="2" charset="-122"/>
              </a:rPr>
              <a:t>程序</a:t>
            </a:r>
            <a:r>
              <a:rPr lang="en-US" altLang="zh-CN" sz="1800" b="1" baseline="-18000" dirty="0" smtClean="0">
                <a:latin typeface="宋体" pitchFamily="2" charset="-122"/>
              </a:rPr>
              <a:t>MEM</a:t>
            </a:r>
            <a:r>
              <a:rPr lang="zh-CN" altLang="en-US" sz="1800" b="1" dirty="0" smtClean="0">
                <a:latin typeface="宋体" pitchFamily="2" charset="-122"/>
              </a:rPr>
              <a:t>→</a:t>
            </a:r>
            <a:r>
              <a:rPr lang="en-US" altLang="zh-CN" sz="1800" b="1" dirty="0" smtClean="0">
                <a:latin typeface="宋体" pitchFamily="2" charset="-122"/>
              </a:rPr>
              <a:t>MMU</a:t>
            </a:r>
            <a:r>
              <a:rPr lang="zh-CN" altLang="en-US" sz="1800" b="1" dirty="0" smtClean="0">
                <a:latin typeface="宋体" pitchFamily="2" charset="-122"/>
              </a:rPr>
              <a:t>→</a:t>
            </a:r>
            <a:r>
              <a:rPr lang="en-US" altLang="zh-CN" sz="1800" b="1" dirty="0" err="1" smtClean="0">
                <a:latin typeface="宋体" pitchFamily="2" charset="-122"/>
              </a:rPr>
              <a:t>Addr</a:t>
            </a:r>
            <a:r>
              <a:rPr lang="zh-CN" altLang="en-US" sz="1800" b="1" baseline="-18000" dirty="0" smtClean="0">
                <a:latin typeface="宋体" pitchFamily="2" charset="-122"/>
              </a:rPr>
              <a:t>主存</a:t>
            </a:r>
            <a:r>
              <a:rPr lang="zh-CN" altLang="en-US" sz="1800" b="1" dirty="0" smtClean="0">
                <a:latin typeface="宋体" pitchFamily="2" charset="-122"/>
              </a:rPr>
              <a:t>或</a:t>
            </a:r>
            <a:r>
              <a:rPr lang="zh-CN" altLang="en-US" sz="1800" b="1" dirty="0">
                <a:latin typeface="宋体" pitchFamily="2" charset="-122"/>
              </a:rPr>
              <a:t>异常</a:t>
            </a:r>
            <a:r>
              <a:rPr lang="zh-CN" altLang="en-US" sz="1800" b="1" dirty="0" smtClean="0">
                <a:latin typeface="宋体" pitchFamily="2" charset="-122"/>
              </a:rPr>
              <a:t>，程序</a:t>
            </a:r>
            <a:r>
              <a:rPr lang="en-US" altLang="zh-CN" sz="1800" b="1" dirty="0" smtClean="0">
                <a:latin typeface="宋体" pitchFamily="2" charset="-122"/>
              </a:rPr>
              <a:t>MEM</a:t>
            </a:r>
            <a:r>
              <a:rPr lang="zh-CN" altLang="en-US" sz="1800" b="1" dirty="0" smtClean="0">
                <a:latin typeface="宋体" pitchFamily="2" charset="-122"/>
              </a:rPr>
              <a:t>→</a:t>
            </a:r>
            <a:r>
              <a:rPr lang="en-US" altLang="zh-CN" sz="1800" b="1" dirty="0" smtClean="0">
                <a:latin typeface="宋体" pitchFamily="2" charset="-122"/>
              </a:rPr>
              <a:t>Cache</a:t>
            </a:r>
            <a:r>
              <a:rPr lang="zh-CN" altLang="en-US" sz="1800" b="1" dirty="0" smtClean="0">
                <a:latin typeface="宋体" pitchFamily="2" charset="-122"/>
              </a:rPr>
              <a:t>→主存→辅存</a:t>
            </a:r>
            <a:endParaRPr lang="zh-CN" altLang="en-US" sz="1800" b="1" dirty="0">
              <a:latin typeface="宋体" pitchFamily="2" charset="-122"/>
            </a:endParaRPr>
          </a:p>
        </p:txBody>
      </p:sp>
      <p:sp>
        <p:nvSpPr>
          <p:cNvPr id="69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6156524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0" name="AutoShape 50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26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 animBg="1"/>
      <p:bldP spid="11" grpId="0" animBg="1"/>
      <p:bldP spid="13" grpId="0" animBg="1"/>
      <p:bldP spid="15" grpId="0" animBg="1"/>
      <p:bldP spid="6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49051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三、主存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4" name="Text Box 85"/>
          <p:cNvSpPr txBox="1">
            <a:spLocks noChangeArrowheads="1"/>
          </p:cNvSpPr>
          <p:nvPr/>
        </p:nvSpPr>
        <p:spPr bwMode="auto">
          <a:xfrm>
            <a:off x="179388" y="785813"/>
            <a:ext cx="878522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主存的组成             </a:t>
            </a:r>
            <a:r>
              <a:rPr lang="zh-CN" altLang="en-US" sz="2000" b="1" dirty="0" smtClean="0">
                <a:latin typeface="宋体" pitchFamily="2" charset="-122"/>
              </a:rPr>
              <a:t>△理解概念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tabLst>
                <a:tab pos="1790700" algn="l"/>
              </a:tabLst>
            </a:pPr>
            <a:r>
              <a:rPr lang="zh-CN" altLang="en-US" b="1" dirty="0" smtClean="0">
                <a:latin typeface="宋体" pitchFamily="2" charset="-122"/>
              </a:rPr>
              <a:t>   组成</a:t>
            </a:r>
            <a:r>
              <a:rPr lang="en-US" altLang="zh-CN" b="1" dirty="0" smtClean="0">
                <a:latin typeface="宋体" pitchFamily="2" charset="-122"/>
              </a:rPr>
              <a:t>(ROM+RAM)</a:t>
            </a:r>
            <a:r>
              <a:rPr lang="zh-CN" altLang="en-US" b="1" dirty="0" smtClean="0">
                <a:latin typeface="宋体" pitchFamily="2" charset="-122"/>
              </a:rPr>
              <a:t>、参数来源     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主存单元长度＝</a:t>
            </a:r>
            <a:r>
              <a:rPr lang="en-US" altLang="zh-CN" sz="1800" b="1" dirty="0" smtClean="0">
                <a:latin typeface="宋体" pitchFamily="2" charset="-122"/>
              </a:rPr>
              <a:t>min{</a:t>
            </a:r>
            <a:r>
              <a:rPr lang="zh-CN" altLang="en-US" sz="1800" b="1" dirty="0" smtClean="0">
                <a:latin typeface="宋体" pitchFamily="2" charset="-122"/>
              </a:rPr>
              <a:t>数据表示长度</a:t>
            </a:r>
            <a:r>
              <a:rPr lang="en-US" altLang="zh-CN" sz="1800" b="1" dirty="0" smtClean="0">
                <a:latin typeface="宋体" pitchFamily="2" charset="-122"/>
              </a:rPr>
              <a:t>})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主存的逻辑设计         </a:t>
            </a:r>
            <a:r>
              <a:rPr lang="zh-CN" altLang="en-US" sz="2000" b="1" dirty="0" smtClean="0">
                <a:latin typeface="宋体" pitchFamily="2" charset="-122"/>
              </a:rPr>
              <a:t>☆综合应用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主存与</a:t>
            </a: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CPU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的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连接        </a:t>
            </a:r>
            <a:r>
              <a:rPr lang="zh-CN" altLang="en-US" sz="2000" b="1" dirty="0" smtClean="0">
                <a:latin typeface="宋体" pitchFamily="2" charset="-122"/>
              </a:rPr>
              <a:t>☆</a:t>
            </a:r>
            <a:r>
              <a:rPr lang="zh-CN" altLang="en-US" sz="2000" b="1" dirty="0">
                <a:latin typeface="宋体" pitchFamily="2" charset="-122"/>
              </a:rPr>
              <a:t>综合应用</a:t>
            </a:r>
            <a:endParaRPr lang="zh-CN" altLang="en-US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提高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访存速度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的技术     </a:t>
            </a:r>
            <a:r>
              <a:rPr lang="zh-CN" altLang="en-US" sz="2000" b="1" dirty="0" smtClean="0">
                <a:latin typeface="宋体" pitchFamily="2" charset="-122"/>
              </a:rPr>
              <a:t>◇掌握概念、理解原理</a:t>
            </a:r>
            <a:r>
              <a:rPr lang="en-US" altLang="zh-CN" sz="2000" b="1" dirty="0" smtClean="0">
                <a:latin typeface="宋体" pitchFamily="2" charset="-122"/>
              </a:rPr>
              <a:t>[</a:t>
            </a:r>
            <a:r>
              <a:rPr lang="zh-CN" altLang="en-US" sz="2000" b="1" dirty="0" smtClean="0">
                <a:latin typeface="宋体" pitchFamily="2" charset="-122"/>
              </a:rPr>
              <a:t>分析性能</a:t>
            </a:r>
            <a:r>
              <a:rPr lang="en-US" altLang="zh-CN" sz="2000" b="1" dirty="0" smtClean="0">
                <a:latin typeface="宋体" pitchFamily="2" charset="-122"/>
              </a:rPr>
              <a:t>]</a:t>
            </a:r>
            <a:endParaRPr lang="zh-CN" altLang="en-US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5" name="Text Box 87"/>
          <p:cNvSpPr txBox="1">
            <a:spLocks noChangeArrowheads="1"/>
          </p:cNvSpPr>
          <p:nvPr/>
        </p:nvSpPr>
        <p:spPr bwMode="auto">
          <a:xfrm>
            <a:off x="179388" y="2204864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基于</a:t>
            </a:r>
            <a:r>
              <a:rPr lang="en-US" altLang="zh-CN" b="1" dirty="0" smtClean="0">
                <a:latin typeface="宋体" pitchFamily="2" charset="-122"/>
              </a:rPr>
              <a:t>RAM</a:t>
            </a:r>
            <a:r>
              <a:rPr lang="zh-CN" altLang="en-US" b="1" dirty="0" smtClean="0">
                <a:latin typeface="宋体" pitchFamily="2" charset="-122"/>
              </a:rPr>
              <a:t>芯片的容量扩展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位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字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字位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6" name="Text Box 91"/>
          <p:cNvSpPr txBox="1">
            <a:spLocks noChangeArrowheads="1"/>
          </p:cNvSpPr>
          <p:nvPr/>
        </p:nvSpPr>
        <p:spPr bwMode="auto">
          <a:xfrm>
            <a:off x="179388" y="3083475"/>
            <a:ext cx="87852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en-US" altLang="zh-CN" b="1" dirty="0" smtClean="0">
                <a:latin typeface="宋体" pitchFamily="2" charset="-122"/>
              </a:rPr>
              <a:t>MEM</a:t>
            </a:r>
            <a:r>
              <a:rPr lang="zh-CN" altLang="en-US" b="1" dirty="0" smtClean="0">
                <a:latin typeface="宋体" pitchFamily="2" charset="-122"/>
              </a:rPr>
              <a:t>接口，主存信号</a:t>
            </a:r>
            <a:r>
              <a:rPr lang="zh-CN" altLang="en-US" b="1" dirty="0">
                <a:latin typeface="宋体" pitchFamily="2" charset="-122"/>
              </a:rPr>
              <a:t>线与</a:t>
            </a:r>
            <a:r>
              <a:rPr lang="en-US" altLang="zh-CN" b="1" dirty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引脚的</a:t>
            </a:r>
            <a:r>
              <a:rPr lang="zh-CN" altLang="en-US" b="1" dirty="0" smtClean="0">
                <a:latin typeface="宋体" pitchFamily="2" charset="-122"/>
              </a:rPr>
              <a:t>连接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itchFamily="2" charset="-122"/>
              </a:rPr>
              <a:t>    〖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>
                <a:latin typeface="宋体" pitchFamily="2" charset="-122"/>
              </a:rPr>
              <a:t>〗</a:t>
            </a:r>
            <a:r>
              <a:rPr lang="en-US" altLang="zh-CN" sz="2200" b="1" dirty="0" smtClean="0">
                <a:latin typeface="宋体" pitchFamily="2" charset="-122"/>
              </a:rPr>
              <a:t>PPT3.P40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主存设计与连接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8" name="Text Box 94"/>
          <p:cNvSpPr txBox="1">
            <a:spLocks noChangeArrowheads="1"/>
          </p:cNvSpPr>
          <p:nvPr/>
        </p:nvSpPr>
        <p:spPr bwMode="auto">
          <a:xfrm>
            <a:off x="179388" y="4869160"/>
            <a:ext cx="8785225" cy="140038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增强型</a:t>
            </a:r>
            <a:r>
              <a:rPr lang="en-US" altLang="zh-CN" b="1" dirty="0" smtClean="0">
                <a:latin typeface="宋体" pitchFamily="2" charset="-122"/>
              </a:rPr>
              <a:t>MEM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SDRAM</a:t>
            </a:r>
            <a:r>
              <a:rPr lang="zh-CN" altLang="en-US" sz="2000" b="1" dirty="0">
                <a:latin typeface="宋体" pitchFamily="2" charset="-122"/>
              </a:rPr>
              <a:t>、</a:t>
            </a:r>
            <a:r>
              <a:rPr lang="en-US" altLang="zh-CN" sz="2000" b="1" dirty="0">
                <a:latin typeface="宋体" pitchFamily="2" charset="-122"/>
              </a:rPr>
              <a:t>DDR SDRAM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的工作原理，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itchFamily="2" charset="-122"/>
              </a:rPr>
              <a:t>突发传送</a:t>
            </a:r>
            <a:r>
              <a:rPr lang="zh-CN" altLang="en-US" b="1" dirty="0" smtClean="0">
                <a:latin typeface="宋体" pitchFamily="2" charset="-122"/>
              </a:rPr>
              <a:t>模式；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多体交叉</a:t>
            </a:r>
            <a:r>
              <a:rPr lang="en-US" altLang="zh-CN" b="1" dirty="0" smtClean="0">
                <a:latin typeface="宋体" pitchFamily="2" charset="-122"/>
              </a:rPr>
              <a:t>MEM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交叉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并行访问方式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的结构、工作原理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(</a:t>
            </a:r>
            <a:r>
              <a:rPr lang="zh-CN" altLang="en-US" sz="2000" b="1" dirty="0" smtClean="0">
                <a:latin typeface="宋体" pitchFamily="2" charset="-122"/>
              </a:rPr>
              <a:t>双端口</a:t>
            </a:r>
            <a:r>
              <a:rPr lang="en-US" altLang="zh-CN" sz="2000" b="1" dirty="0" smtClean="0">
                <a:latin typeface="宋体" pitchFamily="2" charset="-122"/>
              </a:rPr>
              <a:t>MEM</a:t>
            </a:r>
            <a:r>
              <a:rPr lang="zh-CN" altLang="en-US" sz="2000" b="1" dirty="0" smtClean="0">
                <a:latin typeface="宋体" pitchFamily="2" charset="-122"/>
              </a:rPr>
              <a:t>不考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9" name="Text Box 132"/>
          <p:cNvSpPr txBox="1">
            <a:spLocks noChangeArrowheads="1"/>
          </p:cNvSpPr>
          <p:nvPr/>
        </p:nvSpPr>
        <p:spPr bwMode="auto">
          <a:xfrm>
            <a:off x="179388" y="1743199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2843808" y="3140968"/>
            <a:ext cx="4032448" cy="431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56"/>
          <p:cNvSpPr txBox="1">
            <a:spLocks noChangeArrowheads="1"/>
          </p:cNvSpPr>
          <p:nvPr/>
        </p:nvSpPr>
        <p:spPr bwMode="auto">
          <a:xfrm>
            <a:off x="179512" y="3993594"/>
            <a:ext cx="8812088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※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知识点融合：</a:t>
            </a:r>
            <a:r>
              <a:rPr lang="zh-CN" altLang="en-US" sz="2200" b="1" dirty="0" smtClean="0">
                <a:latin typeface="宋体" pitchFamily="2" charset="-122"/>
              </a:rPr>
              <a:t>主存如何与总线连接？</a:t>
            </a:r>
            <a:endParaRPr lang="en-US" altLang="zh-CN" sz="1600" b="1" dirty="0" smtClean="0">
              <a:solidFill>
                <a:schemeClr val="bg1">
                  <a:lumMod val="85000"/>
                </a:schemeClr>
              </a:solidFill>
              <a:latin typeface="宋体" pitchFamily="2" charset="-122"/>
            </a:endParaRPr>
          </a:p>
        </p:txBody>
      </p:sp>
      <p:sp>
        <p:nvSpPr>
          <p:cNvPr id="18" name="AutoShape 62">
            <a:hlinkClick r:id="rId2" action="ppaction://hlinkpres?slideindex=40&amp;slidetitle=PowerPoint 演示文稿"/>
          </p:cNvPr>
          <p:cNvSpPr>
            <a:spLocks noChangeArrowheads="1"/>
          </p:cNvSpPr>
          <p:nvPr/>
        </p:nvSpPr>
        <p:spPr bwMode="auto">
          <a:xfrm>
            <a:off x="8388424" y="3645024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-40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684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 animBg="1"/>
      <p:bldP spid="13" grpId="0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388" y="826725"/>
            <a:ext cx="8785225" cy="427494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tIns="28800" bIns="28800"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               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5" name="Text Box 85"/>
          <p:cNvSpPr txBox="1">
            <a:spLocks noChangeArrowheads="1"/>
          </p:cNvSpPr>
          <p:nvPr/>
        </p:nvSpPr>
        <p:spPr bwMode="auto">
          <a:xfrm>
            <a:off x="179388" y="764704"/>
            <a:ext cx="7128916" cy="4012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的基本原理        </a:t>
            </a:r>
            <a:r>
              <a:rPr lang="zh-CN" altLang="en-US" sz="2000" b="1" dirty="0" smtClean="0">
                <a:latin typeface="宋体" pitchFamily="2" charset="-122"/>
              </a:rPr>
              <a:t>☆深入理解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的地址映射方式    </a:t>
            </a:r>
            <a:r>
              <a:rPr lang="zh-CN" altLang="en-US" sz="2000" b="1" dirty="0" smtClean="0">
                <a:latin typeface="宋体" pitchFamily="2" charset="-122"/>
              </a:rPr>
              <a:t>☆掌握原理、可分析性能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的替换算法        </a:t>
            </a:r>
            <a:r>
              <a:rPr lang="zh-CN" altLang="en-US" sz="2000" b="1" dirty="0" smtClean="0">
                <a:latin typeface="宋体" pitchFamily="2" charset="-122"/>
              </a:rPr>
              <a:t>△理解原理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4.Cache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的写策略          </a:t>
            </a:r>
            <a:r>
              <a:rPr lang="zh-CN" altLang="en-US" sz="2000" b="1" dirty="0" smtClean="0">
                <a:latin typeface="宋体" pitchFamily="2" charset="-122"/>
              </a:rPr>
              <a:t>△理解</a:t>
            </a:r>
            <a:r>
              <a:rPr lang="zh-CN" altLang="en-US" sz="2000" b="1" dirty="0">
                <a:latin typeface="宋体" pitchFamily="2" charset="-122"/>
              </a:rPr>
              <a:t>原理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9388" y="1218818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性</a:t>
            </a:r>
            <a:r>
              <a:rPr lang="zh-CN" altLang="en-US" b="1" spc="-100" dirty="0" smtClean="0">
                <a:latin typeface="宋体" pitchFamily="2" charset="-122"/>
              </a:rPr>
              <a:t>能，存储空间管理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spc="-100" dirty="0" smtClean="0">
                <a:latin typeface="宋体" pitchFamily="2" charset="-122"/>
              </a:rPr>
              <a:t>交换单位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交换管理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硬件组织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，工作流程</a:t>
            </a:r>
            <a:endParaRPr lang="zh-CN" altLang="en-US" b="1" spc="-100" dirty="0">
              <a:latin typeface="宋体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9512" y="2060848"/>
            <a:ext cx="8785225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直接、全相联、组</a:t>
            </a:r>
            <a:r>
              <a:rPr lang="zh-CN" altLang="en-US" b="1" dirty="0">
                <a:latin typeface="宋体" pitchFamily="2" charset="-122"/>
              </a:rPr>
              <a:t>相</a:t>
            </a:r>
            <a:r>
              <a:rPr lang="zh-CN" altLang="en-US" b="1" dirty="0" smtClean="0">
                <a:latin typeface="宋体" pitchFamily="2" charset="-122"/>
              </a:rPr>
              <a:t>联的映射规则、标记选定、地址变换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〖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〗PPT3.P64</a:t>
            </a:r>
            <a:r>
              <a:rPr lang="en-US" altLang="zh-CN" sz="2200" b="1" dirty="0" smtClean="0"/>
              <a:t>~</a:t>
            </a:r>
            <a:r>
              <a:rPr lang="en-US" altLang="zh-CN" sz="2200" b="1" dirty="0" smtClean="0">
                <a:latin typeface="宋体" pitchFamily="2" charset="-122"/>
              </a:rPr>
              <a:t>P71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r>
              <a:rPr lang="en-US" altLang="zh-CN" sz="2200" b="1" dirty="0">
                <a:latin typeface="宋体" pitchFamily="2" charset="-122"/>
              </a:rPr>
              <a:t>1</a:t>
            </a:r>
            <a:r>
              <a:rPr lang="en-US" altLang="zh-CN" sz="2200" b="1" dirty="0"/>
              <a:t>~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4</a:t>
            </a:r>
            <a:r>
              <a:rPr lang="zh-CN" altLang="en-US" sz="2200" b="1" dirty="0" smtClean="0">
                <a:latin typeface="宋体" pitchFamily="2" charset="-122"/>
              </a:rPr>
              <a:t>，自行比较</a:t>
            </a:r>
            <a:r>
              <a:rPr lang="zh-CN" altLang="en-US" sz="2200" b="1" dirty="0">
                <a:latin typeface="宋体" pitchFamily="2" charset="-122"/>
              </a:rPr>
              <a:t>、</a:t>
            </a:r>
            <a:r>
              <a:rPr lang="zh-CN" altLang="en-US" sz="2200" b="1" dirty="0" smtClean="0">
                <a:latin typeface="宋体" pitchFamily="2" charset="-122"/>
              </a:rPr>
              <a:t>汇总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179388" y="3311773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C3300"/>
                </a:solidFill>
                <a:latin typeface="宋体" pitchFamily="2" charset="-122"/>
              </a:rPr>
              <a:t>   </a:t>
            </a:r>
            <a:r>
              <a:rPr lang="en-US" altLang="zh-CN" b="1" dirty="0" smtClean="0">
                <a:latin typeface="宋体" pitchFamily="2" charset="-122"/>
              </a:rPr>
              <a:t>RAND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FIFO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 smtClean="0">
                <a:latin typeface="宋体" pitchFamily="2" charset="-122"/>
              </a:rPr>
              <a:t>LRU</a:t>
            </a:r>
            <a:r>
              <a:rPr lang="zh-CN" altLang="en-US" b="1" dirty="0">
                <a:latin typeface="宋体" pitchFamily="2" charset="-122"/>
              </a:rPr>
              <a:t>算法</a:t>
            </a:r>
            <a:r>
              <a:rPr lang="zh-CN" altLang="en-US" b="1" dirty="0" smtClean="0">
                <a:latin typeface="宋体" pitchFamily="2" charset="-122"/>
              </a:rPr>
              <a:t>的思想、</a:t>
            </a:r>
            <a:r>
              <a:rPr lang="zh-CN" altLang="en-US" b="1" dirty="0">
                <a:latin typeface="宋体" pitchFamily="2" charset="-122"/>
              </a:rPr>
              <a:t>实现方法</a:t>
            </a:r>
            <a:r>
              <a:rPr lang="zh-CN" altLang="en-US" b="1" dirty="0" smtClean="0">
                <a:latin typeface="宋体" pitchFamily="2" charset="-122"/>
              </a:rPr>
              <a:t>、硬件需求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9388" y="4175869"/>
            <a:ext cx="87852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全写法、写回法的思想、性能、工作流程、硬件需求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3" name="Text Box 132"/>
          <p:cNvSpPr txBox="1">
            <a:spLocks noChangeArrowheads="1"/>
          </p:cNvSpPr>
          <p:nvPr/>
        </p:nvSpPr>
        <p:spPr bwMode="auto">
          <a:xfrm>
            <a:off x="2555777" y="3429040"/>
            <a:ext cx="576064" cy="360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16" name="Text Box 132"/>
          <p:cNvSpPr txBox="1">
            <a:spLocks noChangeArrowheads="1"/>
          </p:cNvSpPr>
          <p:nvPr/>
        </p:nvSpPr>
        <p:spPr bwMode="auto">
          <a:xfrm>
            <a:off x="2843808" y="2138666"/>
            <a:ext cx="1008112" cy="360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79388" y="4653136"/>
            <a:ext cx="881221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、虚拟存储器           </a:t>
            </a:r>
            <a:r>
              <a:rPr lang="zh-CN" altLang="en-US" sz="2000" b="1" dirty="0" smtClean="0">
                <a:latin typeface="+mn-ea"/>
                <a:ea typeface="+mn-ea"/>
              </a:rPr>
              <a:t>△了解概念 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+mn-ea"/>
                <a:ea typeface="+mn-ea"/>
              </a:rPr>
              <a:t>  </a:t>
            </a:r>
            <a:r>
              <a:rPr lang="en-US" altLang="zh-CN" b="1" dirty="0" smtClean="0">
                <a:latin typeface="+mn-ea"/>
                <a:ea typeface="+mn-ea"/>
              </a:rPr>
              <a:t> </a:t>
            </a:r>
            <a:r>
              <a:rPr lang="zh-CN" altLang="en-US" b="1" dirty="0" smtClean="0">
                <a:latin typeface="+mn-ea"/>
                <a:ea typeface="+mn-ea"/>
              </a:rPr>
              <a:t>存储管理概念，</a:t>
            </a:r>
            <a:r>
              <a:rPr lang="en-US" altLang="zh-CN" b="1" dirty="0" smtClean="0">
                <a:latin typeface="+mn-ea"/>
                <a:ea typeface="+mn-ea"/>
              </a:rPr>
              <a:t>VM</a:t>
            </a:r>
            <a:r>
              <a:rPr lang="zh-CN" altLang="en-US" b="1" dirty="0" smtClean="0">
                <a:latin typeface="+mn-ea"/>
                <a:ea typeface="+mn-ea"/>
              </a:rPr>
              <a:t>的组成、工作过程，地址变换步骤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179512" y="5555848"/>
            <a:ext cx="8856984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*总体要求：</a:t>
            </a:r>
            <a:r>
              <a:rPr lang="zh-CN" altLang="en-US" b="1" dirty="0" smtClean="0">
                <a:latin typeface="宋体" pitchFamily="2" charset="-122"/>
              </a:rPr>
              <a:t>①可</a:t>
            </a:r>
            <a:r>
              <a:rPr lang="zh-CN" altLang="en-US" b="1" u="sng" dirty="0" smtClean="0">
                <a:latin typeface="宋体" pitchFamily="2" charset="-122"/>
              </a:rPr>
              <a:t>设计</a:t>
            </a:r>
            <a:r>
              <a:rPr lang="zh-CN" altLang="en-US" b="1" dirty="0" smtClean="0">
                <a:latin typeface="宋体" pitchFamily="2" charset="-122"/>
              </a:rPr>
              <a:t>主存、将主存</a:t>
            </a:r>
            <a:r>
              <a:rPr lang="zh-CN" altLang="en-US" b="1" u="sng" dirty="0" smtClean="0">
                <a:latin typeface="宋体" pitchFamily="2" charset="-122"/>
              </a:rPr>
              <a:t>连接</a:t>
            </a:r>
            <a:r>
              <a:rPr lang="zh-CN" altLang="en-US" b="1" dirty="0" smtClean="0">
                <a:latin typeface="宋体" pitchFamily="2" charset="-122"/>
              </a:rPr>
              <a:t>到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或总线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         </a:t>
            </a:r>
            <a:r>
              <a:rPr lang="zh-CN" altLang="en-US" b="1" dirty="0" smtClean="0">
                <a:latin typeface="宋体" pitchFamily="2" charset="-122"/>
              </a:rPr>
              <a:t>②掌握</a:t>
            </a:r>
            <a:r>
              <a:rPr lang="en-US" altLang="zh-CN" b="1" dirty="0" smtClean="0">
                <a:latin typeface="宋体" pitchFamily="2" charset="-122"/>
              </a:rPr>
              <a:t>Cache</a:t>
            </a:r>
            <a:r>
              <a:rPr lang="zh-CN" altLang="en-US" b="1" dirty="0" smtClean="0">
                <a:latin typeface="宋体" pitchFamily="2" charset="-122"/>
              </a:rPr>
              <a:t>的组成与</a:t>
            </a:r>
            <a:r>
              <a:rPr lang="zh-CN" altLang="en-US" b="1" u="sng" dirty="0" smtClean="0">
                <a:latin typeface="宋体" pitchFamily="2" charset="-122"/>
              </a:rPr>
              <a:t>工作原理</a:t>
            </a:r>
            <a:r>
              <a:rPr lang="zh-CN" altLang="en-US" b="1" dirty="0" smtClean="0">
                <a:latin typeface="宋体" pitchFamily="2" charset="-122"/>
              </a:rPr>
              <a:t>     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缓冲机制的原理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19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45298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5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AutoShape 62">
            <a:hlinkClick r:id="rId3" action="ppaction://hlinkpres?slideindex=58&amp;slidetitle=PowerPoint 演示文稿"/>
          </p:cNvPr>
          <p:cNvSpPr>
            <a:spLocks noChangeArrowheads="1"/>
          </p:cNvSpPr>
          <p:nvPr/>
        </p:nvSpPr>
        <p:spPr bwMode="auto">
          <a:xfrm>
            <a:off x="8316416" y="926721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-58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AutoShape 62">
            <a:hlinkClick r:id="rId4" action="ppaction://hlinkpres?slideindex=71&amp;slidetitle=PowerPoint 演示文稿"/>
          </p:cNvPr>
          <p:cNvSpPr>
            <a:spLocks noChangeArrowheads="1"/>
          </p:cNvSpPr>
          <p:nvPr/>
        </p:nvSpPr>
        <p:spPr bwMode="auto">
          <a:xfrm>
            <a:off x="8316416" y="2582905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-71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072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3" grpId="0" animBg="1"/>
      <p:bldP spid="16" grpId="0" animBg="1"/>
      <p:bldP spid="17" grpId="0"/>
      <p:bldP spid="18" grpId="0"/>
      <p:bldP spid="22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5" name="Text Box 132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4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指令系统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388" y="1465614"/>
            <a:ext cx="8812212" cy="240065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、指令系统组成          </a:t>
            </a:r>
            <a:r>
              <a:rPr lang="zh-CN" altLang="en-US" sz="2000" b="1" dirty="0" smtClean="0">
                <a:latin typeface="+mn-ea"/>
                <a:ea typeface="+mn-ea"/>
              </a:rPr>
              <a:t>☆掌握</a:t>
            </a:r>
            <a:r>
              <a:rPr lang="zh-CN" altLang="en-US" sz="2000" b="1" dirty="0" smtClean="0">
                <a:latin typeface="宋体" pitchFamily="2" charset="-122"/>
              </a:rPr>
              <a:t>信息约定方法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指令功能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zh-CN" altLang="en-US" b="1" dirty="0" smtClean="0">
                <a:latin typeface="宋体" pitchFamily="2" charset="-122"/>
              </a:rPr>
              <a:t>数据操作</a:t>
            </a:r>
            <a:r>
              <a:rPr lang="en-US" altLang="zh-CN" sz="1800" b="1" dirty="0" smtClean="0">
                <a:latin typeface="宋体" pitchFamily="2" charset="-122"/>
              </a:rPr>
              <a:t>(OP/</a:t>
            </a:r>
            <a:r>
              <a:rPr lang="zh-CN" altLang="en-US" sz="1800" b="1" dirty="0" smtClean="0">
                <a:latin typeface="宋体" pitchFamily="2" charset="-122"/>
              </a:rPr>
              <a:t>存结果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</a:t>
            </a:r>
            <a:r>
              <a:rPr lang="zh-CN" altLang="en-US" b="1" dirty="0" smtClean="0">
                <a:latin typeface="宋体" pitchFamily="2" charset="-122"/>
              </a:rPr>
              <a:t>指令地址计算</a:t>
            </a:r>
            <a:r>
              <a:rPr lang="en-US" altLang="zh-CN" sz="1800" b="1" dirty="0" smtClean="0">
                <a:latin typeface="宋体" pitchFamily="2" charset="-122"/>
              </a:rPr>
              <a:t>(2</a:t>
            </a:r>
            <a:r>
              <a:rPr lang="zh-CN" altLang="en-US" sz="1800" b="1" dirty="0" smtClean="0">
                <a:latin typeface="宋体" pitchFamily="2" charset="-122"/>
              </a:rPr>
              <a:t>类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指令格式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zh-CN" altLang="en-US" b="1" dirty="0">
                <a:latin typeface="宋体" pitchFamily="2" charset="-122"/>
              </a:rPr>
              <a:t>组成</a:t>
            </a:r>
            <a:r>
              <a:rPr lang="en-US" altLang="zh-CN" sz="1800" b="1" dirty="0">
                <a:latin typeface="宋体" pitchFamily="2" charset="-122"/>
              </a:rPr>
              <a:t>(2</a:t>
            </a:r>
            <a:r>
              <a:rPr lang="zh-CN" altLang="en-US" sz="1800" b="1" dirty="0">
                <a:latin typeface="宋体" pitchFamily="2" charset="-122"/>
              </a:rPr>
              <a:t>段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→</a:t>
            </a:r>
            <a:r>
              <a:rPr lang="zh-CN" altLang="en-US" b="1" dirty="0">
                <a:latin typeface="宋体" pitchFamily="2" charset="-122"/>
              </a:rPr>
              <a:t>需</a:t>
            </a:r>
            <a:r>
              <a:rPr lang="zh-CN" altLang="en-US" b="1" dirty="0" smtClean="0">
                <a:latin typeface="宋体" pitchFamily="2" charset="-122"/>
              </a:rPr>
              <a:t>约定信息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en-US" altLang="zh-CN" sz="1800" b="1" dirty="0">
                <a:latin typeface="宋体" pitchFamily="2" charset="-122"/>
              </a:rPr>
              <a:t>OP/</a:t>
            </a:r>
            <a:r>
              <a:rPr lang="zh-CN" altLang="en-US" sz="1800" b="1" dirty="0" smtClean="0">
                <a:latin typeface="宋体" pitchFamily="2" charset="-122"/>
              </a:rPr>
              <a:t>格式、源</a:t>
            </a:r>
            <a:r>
              <a:rPr lang="en-US" altLang="zh-CN" sz="1800" b="1" dirty="0" smtClean="0">
                <a:latin typeface="宋体" pitchFamily="2" charset="-122"/>
              </a:rPr>
              <a:t>&amp;</a:t>
            </a:r>
            <a:r>
              <a:rPr lang="zh-CN" altLang="en-US" sz="1800" b="1" dirty="0">
                <a:latin typeface="宋体" pitchFamily="2" charset="-122"/>
              </a:rPr>
              <a:t>目</a:t>
            </a:r>
            <a:r>
              <a:rPr lang="en-US" altLang="zh-CN" sz="1800" b="1" dirty="0" smtClean="0">
                <a:latin typeface="宋体" pitchFamily="2" charset="-122"/>
              </a:rPr>
              <a:t>OPD/</a:t>
            </a:r>
            <a:r>
              <a:rPr lang="zh-CN" altLang="en-US" sz="1800" b="1" dirty="0">
                <a:latin typeface="宋体" pitchFamily="2" charset="-122"/>
              </a:rPr>
              <a:t>指令地址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性能</a:t>
            </a:r>
            <a:r>
              <a:rPr lang="en-US" altLang="zh-CN" sz="1800" b="1" dirty="0">
                <a:latin typeface="宋体" pitchFamily="2" charset="-122"/>
              </a:rPr>
              <a:t>(2</a:t>
            </a:r>
            <a:r>
              <a:rPr lang="zh-CN" altLang="en-US" sz="1800" b="1" dirty="0">
                <a:latin typeface="宋体" pitchFamily="2" charset="-122"/>
              </a:rPr>
              <a:t>点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→信息的表示方法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显式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隐式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编码</a:t>
            </a:r>
            <a:r>
              <a:rPr lang="en-US" altLang="zh-CN" sz="1800" b="1" dirty="0" smtClean="0">
                <a:latin typeface="宋体" pitchFamily="2" charset="-122"/>
              </a:rPr>
              <a:t>(2</a:t>
            </a:r>
            <a:r>
              <a:rPr lang="zh-CN" altLang="en-US" sz="1800" b="1" dirty="0" smtClean="0">
                <a:latin typeface="宋体" pitchFamily="2" charset="-122"/>
              </a:rPr>
              <a:t>类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→</a:t>
            </a:r>
            <a:r>
              <a:rPr lang="en-US" altLang="zh-CN" b="1" dirty="0" smtClean="0">
                <a:latin typeface="宋体" pitchFamily="2" charset="-122"/>
              </a:rPr>
              <a:t>OP</a:t>
            </a:r>
            <a:r>
              <a:rPr lang="zh-CN" altLang="en-US" b="1" dirty="0" smtClean="0">
                <a:latin typeface="宋体" pitchFamily="2" charset="-122"/>
              </a:rPr>
              <a:t>编码、地址编码，指令字长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512" y="969258"/>
            <a:ext cx="8812088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指令功能、指令格式，</a:t>
            </a:r>
            <a:r>
              <a:rPr lang="en-US" altLang="zh-CN" sz="2200" b="1" dirty="0" smtClean="0">
                <a:latin typeface="宋体" pitchFamily="2" charset="-122"/>
              </a:rPr>
              <a:t>OPD</a:t>
            </a:r>
            <a:r>
              <a:rPr lang="zh-CN" altLang="en-US" sz="2200" b="1" dirty="0" smtClean="0">
                <a:latin typeface="宋体" pitchFamily="2" charset="-122"/>
              </a:rPr>
              <a:t>存放方式，寻址方式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381110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OPD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的存放方式         </a:t>
            </a:r>
            <a:r>
              <a:rPr lang="zh-CN" altLang="en-US" sz="2000" b="1" dirty="0" smtClean="0">
                <a:latin typeface="宋体" pitchFamily="2" charset="-122"/>
              </a:rPr>
              <a:t>◇理解概念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13" name="Text Box 132"/>
          <p:cNvSpPr txBox="1">
            <a:spLocks noChangeArrowheads="1"/>
          </p:cNvSpPr>
          <p:nvPr/>
        </p:nvSpPr>
        <p:spPr bwMode="auto">
          <a:xfrm>
            <a:off x="683568" y="2420888"/>
            <a:ext cx="1368152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5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129292"/>
              </p:ext>
            </p:extLst>
          </p:nvPr>
        </p:nvGraphicFramePr>
        <p:xfrm>
          <a:off x="467544" y="4388296"/>
          <a:ext cx="8496944" cy="1485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/>
                <a:gridCol w="1584176"/>
                <a:gridCol w="1944216"/>
                <a:gridCol w="1944216"/>
                <a:gridCol w="1728192"/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存放部件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存放方法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数据地址</a:t>
                      </a:r>
                      <a:endParaRPr lang="zh-CN" altLang="en-US" sz="2200" b="1" dirty="0">
                        <a:solidFill>
                          <a:srgbClr val="FF33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b="1" dirty="0" smtClean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长度表示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全部、</a:t>
                      </a: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低端</a:t>
                      </a: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部分</a:t>
                      </a: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编号</a:t>
                      </a: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码指明</a:t>
                      </a:r>
                      <a:endParaRPr lang="en-US" altLang="zh-CN" sz="22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201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大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对齐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是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否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最小单元地址</a:t>
                      </a:r>
                      <a:endParaRPr lang="en-US" altLang="zh-CN" sz="22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323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</a:t>
                      </a: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同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对齐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否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AutoShape 62">
            <a:hlinkClick r:id="rId3" action="ppaction://hlinkpres?slideindex=17&amp;slidetitle=PowerPoint 演示文稿"/>
          </p:cNvPr>
          <p:cNvSpPr>
            <a:spLocks noChangeArrowheads="1"/>
          </p:cNvSpPr>
          <p:nvPr/>
        </p:nvSpPr>
        <p:spPr bwMode="auto">
          <a:xfrm>
            <a:off x="8244408" y="162880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4-17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4" name="AutoShape 62">
            <a:hlinkClick r:id="rId4" action="ppaction://hlinkpres?slideindex=55&amp;slidetitle=PowerPoint 演示文稿"/>
          </p:cNvPr>
          <p:cNvSpPr>
            <a:spLocks noChangeArrowheads="1"/>
          </p:cNvSpPr>
          <p:nvPr/>
        </p:nvSpPr>
        <p:spPr bwMode="auto">
          <a:xfrm>
            <a:off x="4482338" y="594928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2-55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345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 animBg="1"/>
      <p:bldP spid="16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683568" y="3163034"/>
            <a:ext cx="1296144" cy="411723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4" name="Text Box 132"/>
          <p:cNvSpPr txBox="1">
            <a:spLocks noChangeArrowheads="1"/>
          </p:cNvSpPr>
          <p:nvPr/>
        </p:nvSpPr>
        <p:spPr bwMode="auto">
          <a:xfrm>
            <a:off x="3563888" y="3637473"/>
            <a:ext cx="3024336" cy="389657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三、寻址方式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179388" y="817777"/>
            <a:ext cx="7416948" cy="289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指令寻址方式           </a:t>
            </a:r>
            <a:r>
              <a:rPr lang="zh-CN" altLang="en-US" sz="2000" b="1" dirty="0" smtClean="0">
                <a:latin typeface="宋体" pitchFamily="2" charset="-122"/>
              </a:rPr>
              <a:t>☆掌握概念、理解原理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数据寻址方式           </a:t>
            </a:r>
            <a:r>
              <a:rPr lang="zh-CN" altLang="en-US" sz="2000" b="1" dirty="0" smtClean="0">
                <a:latin typeface="宋体" pitchFamily="2" charset="-122"/>
              </a:rPr>
              <a:t>☆掌握概念、理解原理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1268760"/>
            <a:ext cx="88122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寻址类型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顺序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跳跃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，寻址方式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隐含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直接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itchFamily="2" charset="-122"/>
              </a:rPr>
              <a:t>相对</a:t>
            </a:r>
            <a:r>
              <a:rPr lang="zh-CN" altLang="en-US" sz="1800" b="1" dirty="0" smtClean="0">
                <a:latin typeface="宋体" pitchFamily="2" charset="-122"/>
              </a:rPr>
              <a:t>等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寻址方式的识别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译码时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79512" y="2636912"/>
            <a:ext cx="87852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地址码组成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方式</a:t>
            </a:r>
            <a:r>
              <a:rPr lang="zh-CN" altLang="en-US" sz="1800" b="1" dirty="0" smtClean="0">
                <a:latin typeface="宋体" pitchFamily="2" charset="-122"/>
              </a:rPr>
              <a:t>位</a:t>
            </a:r>
            <a:r>
              <a:rPr lang="en-US" altLang="zh-CN" sz="1800" b="1" dirty="0" smtClean="0">
                <a:latin typeface="宋体" pitchFamily="2" charset="-122"/>
              </a:rPr>
              <a:t>+</a:t>
            </a:r>
            <a:r>
              <a:rPr lang="zh-CN" altLang="en-US" sz="1800" b="1" dirty="0" smtClean="0">
                <a:latin typeface="宋体" pitchFamily="2" charset="-122"/>
              </a:rPr>
              <a:t>地址参数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，寻址方式的</a:t>
            </a:r>
            <a:r>
              <a:rPr lang="zh-CN" altLang="en-US" b="1" dirty="0" smtClean="0">
                <a:latin typeface="宋体" pitchFamily="2" charset="-122"/>
              </a:rPr>
              <a:t>识别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译码时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spc="-100" dirty="0" smtClean="0">
                <a:latin typeface="宋体" pitchFamily="2" charset="-122"/>
              </a:rPr>
              <a:t>寻址方式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spc="-100" dirty="0" smtClean="0">
                <a:latin typeface="宋体" pitchFamily="2" charset="-122"/>
              </a:rPr>
              <a:t>立即</a:t>
            </a:r>
            <a:r>
              <a:rPr lang="en-US" altLang="zh-CN" sz="1800" b="1" spc="-100" dirty="0" smtClean="0">
                <a:latin typeface="宋体" pitchFamily="2" charset="-122"/>
              </a:rPr>
              <a:t>/REG/</a:t>
            </a:r>
            <a:r>
              <a:rPr lang="zh-CN" altLang="en-US" sz="1800" b="1" spc="-100" dirty="0" smtClean="0">
                <a:latin typeface="宋体" pitchFamily="2" charset="-122"/>
              </a:rPr>
              <a:t>直接</a:t>
            </a:r>
            <a:r>
              <a:rPr lang="en-US" altLang="zh-CN" sz="1800" b="1" spc="-100" dirty="0" smtClean="0">
                <a:latin typeface="宋体" pitchFamily="2" charset="-122"/>
              </a:rPr>
              <a:t>/REG</a:t>
            </a:r>
            <a:r>
              <a:rPr lang="zh-CN" altLang="en-US" sz="1800" b="1" spc="-100" dirty="0" smtClean="0">
                <a:latin typeface="宋体" pitchFamily="2" charset="-122"/>
              </a:rPr>
              <a:t>间接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基址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变址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隐含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的地址形成方法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179388" y="3545140"/>
            <a:ext cx="8785225" cy="49051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en-US" altLang="zh-CN" b="1" dirty="0" smtClean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〖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〗PPT4.P30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2</a:t>
            </a:r>
            <a:r>
              <a:rPr lang="zh-CN" altLang="en-US" sz="2200" b="1" dirty="0" smtClean="0">
                <a:latin typeface="宋体" pitchFamily="2" charset="-122"/>
              </a:rPr>
              <a:t>，</a:t>
            </a:r>
            <a:r>
              <a:rPr lang="en-US" altLang="zh-CN" sz="2200" b="1" dirty="0" smtClean="0">
                <a:latin typeface="宋体" pitchFamily="2" charset="-122"/>
              </a:rPr>
              <a:t>P34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3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itchFamily="2" charset="-122"/>
              </a:rPr>
              <a:t>理解指令系统组成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388" y="4027130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四、指令系统发展         </a:t>
            </a:r>
            <a:r>
              <a:rPr lang="zh-CN" altLang="en-US" sz="2000" b="1" dirty="0" smtClean="0">
                <a:latin typeface="+mn-ea"/>
                <a:ea typeface="+mn-ea"/>
              </a:rPr>
              <a:t>△了解概念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11" name="Text Box 43"/>
          <p:cNvSpPr txBox="1">
            <a:spLocks noChangeArrowheads="1"/>
          </p:cNvSpPr>
          <p:nvPr/>
        </p:nvSpPr>
        <p:spPr bwMode="auto">
          <a:xfrm>
            <a:off x="179512" y="4603194"/>
            <a:ext cx="8785225" cy="186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*总体要求：</a:t>
            </a:r>
            <a:r>
              <a:rPr lang="zh-CN" altLang="en-US" b="1" dirty="0" smtClean="0">
                <a:latin typeface="宋体" pitchFamily="2" charset="-122"/>
              </a:rPr>
              <a:t>①理解指令中信息的</a:t>
            </a:r>
            <a:r>
              <a:rPr lang="zh-CN" altLang="en-US" b="1" u="sng" dirty="0" smtClean="0">
                <a:latin typeface="宋体" pitchFamily="2" charset="-122"/>
              </a:rPr>
              <a:t>约定方法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信息→格式</a:t>
            </a:r>
            <a:r>
              <a:rPr lang="zh-CN" altLang="en-US" sz="2000" b="1" dirty="0" smtClean="0">
                <a:latin typeface="宋体" pitchFamily="2" charset="-122"/>
              </a:rPr>
              <a:t>及编码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②理解数据在部件中的</a:t>
            </a:r>
            <a:r>
              <a:rPr lang="zh-CN" altLang="en-US" b="1" u="sng" dirty="0" smtClean="0">
                <a:latin typeface="宋体" pitchFamily="2" charset="-122"/>
              </a:rPr>
              <a:t>存放方法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方法→数据地址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③理解寻址方式的</a:t>
            </a:r>
            <a:r>
              <a:rPr lang="zh-CN" altLang="en-US" b="1" u="sng" dirty="0" smtClean="0">
                <a:latin typeface="宋体" pitchFamily="2" charset="-122"/>
              </a:rPr>
              <a:t>地址形成方法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地址码←地址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  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说明：</a:t>
            </a:r>
            <a:r>
              <a:rPr lang="zh-CN" altLang="en-US" sz="2000" b="1" dirty="0">
                <a:latin typeface="宋体" pitchFamily="2" charset="-122"/>
              </a:rPr>
              <a:t>指令系统</a:t>
            </a:r>
            <a:r>
              <a:rPr lang="zh-CN" altLang="en-US" sz="2000" b="1" dirty="0" smtClean="0">
                <a:latin typeface="宋体" pitchFamily="2" charset="-122"/>
              </a:rPr>
              <a:t>不</a:t>
            </a:r>
            <a:r>
              <a:rPr lang="zh-CN" altLang="en-US" sz="2000" b="1" dirty="0">
                <a:latin typeface="宋体" pitchFamily="2" charset="-122"/>
              </a:rPr>
              <a:t>需要</a:t>
            </a:r>
            <a:r>
              <a:rPr lang="zh-CN" altLang="en-US" sz="2000" b="1" dirty="0" smtClean="0">
                <a:latin typeface="宋体" pitchFamily="2" charset="-122"/>
              </a:rPr>
              <a:t>背，考试时会给出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13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62">
            <a:hlinkClick r:id="rId3" action="ppaction://hlinkpres?slideindex=34&amp;slidetitle=PowerPoint 演示文稿"/>
          </p:cNvPr>
          <p:cNvSpPr>
            <a:spLocks noChangeArrowheads="1"/>
          </p:cNvSpPr>
          <p:nvPr/>
        </p:nvSpPr>
        <p:spPr bwMode="auto">
          <a:xfrm>
            <a:off x="8244408" y="3685091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4-34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7834132" y="5489062"/>
            <a:ext cx="0" cy="216024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8374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7" grpId="0"/>
      <p:bldP spid="8" grpId="0"/>
      <p:bldP spid="9" grpId="0"/>
      <p:bldP spid="10" grpId="0"/>
      <p:bldP spid="11" grpId="0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388" y="1834090"/>
            <a:ext cx="8785225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3" name="Text Box 76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5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中央处理器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812088" cy="93871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en-US" altLang="zh-CN" sz="2200" b="1" dirty="0" smtClean="0">
                <a:latin typeface="宋体" pitchFamily="2" charset="-122"/>
              </a:rPr>
              <a:t>CPU</a:t>
            </a:r>
            <a:r>
              <a:rPr lang="zh-CN" altLang="en-US" sz="2200" b="1" dirty="0" smtClean="0">
                <a:latin typeface="宋体" pitchFamily="2" charset="-122"/>
              </a:rPr>
              <a:t>组成与工作流程，数据通路组织，控制单元组成，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      </a:t>
            </a:r>
            <a:r>
              <a:rPr lang="zh-CN" altLang="en-US" sz="2200" b="1" dirty="0" smtClean="0">
                <a:latin typeface="宋体" pitchFamily="2" charset="-122"/>
              </a:rPr>
              <a:t>异常及中断处理，指令流水线概念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388" y="1791699"/>
            <a:ext cx="8785225" cy="467050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组成与工作流程    </a:t>
            </a:r>
            <a:r>
              <a:rPr lang="zh-CN" altLang="en-US" sz="2000" b="1" dirty="0" smtClean="0">
                <a:latin typeface="+mn-ea"/>
                <a:ea typeface="+mn-ea"/>
              </a:rPr>
              <a:t>☆深入理解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   </a:t>
            </a:r>
            <a:r>
              <a:rPr lang="zh-CN" altLang="en-US" sz="2000" b="1" dirty="0" smtClean="0">
                <a:latin typeface="宋体" pitchFamily="2" charset="-122"/>
              </a:rPr>
              <a:t>（需求：按存储程序工作方式执行程序</a:t>
            </a:r>
            <a:r>
              <a:rPr lang="en-US" altLang="zh-CN" sz="2000" b="1" dirty="0" smtClean="0">
                <a:latin typeface="宋体" pitchFamily="2" charset="-122"/>
              </a:rPr>
              <a:t>[</a:t>
            </a:r>
            <a:r>
              <a:rPr lang="zh-CN" altLang="en-US" sz="2000" b="1" dirty="0" smtClean="0">
                <a:latin typeface="宋体" pitchFamily="2" charset="-122"/>
              </a:rPr>
              <a:t>指令∈指令系统</a:t>
            </a:r>
            <a:r>
              <a:rPr lang="en-US" altLang="zh-CN" sz="2000" b="1" dirty="0">
                <a:latin typeface="宋体" pitchFamily="2" charset="-122"/>
              </a:rPr>
              <a:t>]</a:t>
            </a:r>
            <a:r>
              <a:rPr lang="zh-CN" altLang="en-US" sz="2000" b="1" dirty="0" smtClean="0">
                <a:latin typeface="宋体" pitchFamily="2" charset="-122"/>
              </a:rPr>
              <a:t>）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功能、组成，工作流程，工作原理</a:t>
            </a:r>
            <a:r>
              <a:rPr lang="en-US" altLang="zh-CN" sz="1800" b="1" dirty="0" smtClean="0">
                <a:latin typeface="宋体" pitchFamily="2" charset="-122"/>
              </a:rPr>
              <a:t>(CU</a:t>
            </a:r>
            <a:r>
              <a:rPr lang="zh-CN" altLang="en-US" sz="1800" b="1" dirty="0" smtClean="0">
                <a:latin typeface="宋体" pitchFamily="2" charset="-122"/>
              </a:rPr>
              <a:t>控制</a:t>
            </a:r>
            <a:r>
              <a:rPr lang="en-US" altLang="zh-CN" sz="1800" b="1" dirty="0" smtClean="0">
                <a:latin typeface="宋体" pitchFamily="2" charset="-122"/>
              </a:rPr>
              <a:t>/DP</a:t>
            </a:r>
            <a:r>
              <a:rPr lang="zh-CN" altLang="en-US" sz="1800" b="1" dirty="0" smtClean="0">
                <a:latin typeface="宋体" pitchFamily="2" charset="-122"/>
              </a:rPr>
              <a:t>实现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指令的执行过程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u="sng" dirty="0" smtClean="0">
                <a:latin typeface="宋体" pitchFamily="2" charset="-122"/>
              </a:rPr>
              <a:t>步骤</a:t>
            </a:r>
            <a:r>
              <a:rPr lang="zh-CN" altLang="en-US" sz="1800" b="1" dirty="0" smtClean="0">
                <a:latin typeface="宋体" pitchFamily="2" charset="-122"/>
              </a:rPr>
              <a:t>及操作</a:t>
            </a:r>
            <a:r>
              <a:rPr lang="en-US" altLang="zh-CN" sz="1800" b="1" dirty="0" smtClean="0">
                <a:latin typeface="宋体" pitchFamily="2" charset="-122"/>
              </a:rPr>
              <a:t>)                </a:t>
            </a:r>
            <a:r>
              <a:rPr lang="zh-CN" altLang="en-US" sz="1800" b="1" dirty="0" smtClean="0">
                <a:latin typeface="宋体" pitchFamily="2" charset="-122"/>
              </a:rPr>
              <a:t>←指令周期额组织</a:t>
            </a:r>
            <a:endParaRPr lang="en-US" altLang="zh-CN" sz="1800" b="1" dirty="0" smtClean="0">
              <a:latin typeface="宋体" pitchFamily="2" charset="-122"/>
            </a:endParaRPr>
          </a:p>
        </p:txBody>
      </p:sp>
      <p:sp>
        <p:nvSpPr>
          <p:cNvPr id="14" name="AutoShape 62">
            <a:hlinkClick r:id="rId3" action="ppaction://hlinkpres?slideindex=17&amp;slidetitle=PowerPoint 演示文稿"/>
          </p:cNvPr>
          <p:cNvSpPr>
            <a:spLocks noChangeArrowheads="1"/>
          </p:cNvSpPr>
          <p:nvPr/>
        </p:nvSpPr>
        <p:spPr bwMode="auto">
          <a:xfrm>
            <a:off x="8316416" y="191683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5-17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107504" y="3284885"/>
            <a:ext cx="8928992" cy="2520379"/>
            <a:chOff x="107504" y="3716933"/>
            <a:chExt cx="8928992" cy="2520379"/>
          </a:xfrm>
        </p:grpSpPr>
        <p:sp>
          <p:nvSpPr>
            <p:cNvPr id="18" name="Rectangle 274"/>
            <p:cNvSpPr>
              <a:spLocks noChangeArrowheads="1"/>
            </p:cNvSpPr>
            <p:nvPr/>
          </p:nvSpPr>
          <p:spPr bwMode="auto">
            <a:xfrm>
              <a:off x="5292080" y="3788941"/>
              <a:ext cx="1368152" cy="720972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Rectangle 274"/>
            <p:cNvSpPr>
              <a:spLocks noChangeArrowheads="1"/>
            </p:cNvSpPr>
            <p:nvPr/>
          </p:nvSpPr>
          <p:spPr bwMode="auto">
            <a:xfrm>
              <a:off x="3707904" y="3788941"/>
              <a:ext cx="1584176" cy="360933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274"/>
            <p:cNvSpPr>
              <a:spLocks noChangeArrowheads="1"/>
            </p:cNvSpPr>
            <p:nvPr/>
          </p:nvSpPr>
          <p:spPr bwMode="auto">
            <a:xfrm>
              <a:off x="2496058" y="3789566"/>
              <a:ext cx="1212714" cy="79190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ctangle 274"/>
            <p:cNvSpPr>
              <a:spLocks noChangeArrowheads="1"/>
            </p:cNvSpPr>
            <p:nvPr/>
          </p:nvSpPr>
          <p:spPr bwMode="auto">
            <a:xfrm>
              <a:off x="3851920" y="4869061"/>
              <a:ext cx="2337172" cy="122375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ctangle 274"/>
            <p:cNvSpPr>
              <a:spLocks noChangeArrowheads="1"/>
            </p:cNvSpPr>
            <p:nvPr/>
          </p:nvSpPr>
          <p:spPr bwMode="auto">
            <a:xfrm>
              <a:off x="2480828" y="4869966"/>
              <a:ext cx="1155068" cy="1006859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ext Box 227"/>
            <p:cNvSpPr txBox="1">
              <a:spLocks noChangeArrowheads="1"/>
            </p:cNvSpPr>
            <p:nvPr/>
          </p:nvSpPr>
          <p:spPr bwMode="auto">
            <a:xfrm>
              <a:off x="6371680" y="4653037"/>
              <a:ext cx="288552" cy="108200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itchFamily="2" charset="-122"/>
                </a:rPr>
                <a:t>中断机构</a:t>
              </a:r>
            </a:p>
          </p:txBody>
        </p:sp>
        <p:sp>
          <p:nvSpPr>
            <p:cNvPr id="24" name="Text Box 254"/>
            <p:cNvSpPr txBox="1">
              <a:spLocks noChangeArrowheads="1"/>
            </p:cNvSpPr>
            <p:nvPr/>
          </p:nvSpPr>
          <p:spPr bwMode="auto">
            <a:xfrm>
              <a:off x="2627784" y="4941069"/>
              <a:ext cx="866576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PC</a:t>
              </a:r>
            </a:p>
          </p:txBody>
        </p:sp>
        <p:sp>
          <p:nvSpPr>
            <p:cNvPr id="25" name="Text Box 255"/>
            <p:cNvSpPr txBox="1">
              <a:spLocks noChangeArrowheads="1"/>
            </p:cNvSpPr>
            <p:nvPr/>
          </p:nvSpPr>
          <p:spPr bwMode="auto">
            <a:xfrm>
              <a:off x="2629370" y="5517828"/>
              <a:ext cx="864989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IR</a:t>
              </a:r>
            </a:p>
          </p:txBody>
        </p:sp>
        <p:sp>
          <p:nvSpPr>
            <p:cNvPr id="26" name="Text Box 256"/>
            <p:cNvSpPr txBox="1">
              <a:spLocks noChangeArrowheads="1"/>
            </p:cNvSpPr>
            <p:nvPr/>
          </p:nvSpPr>
          <p:spPr bwMode="auto">
            <a:xfrm>
              <a:off x="4100116" y="5446316"/>
              <a:ext cx="286519" cy="43239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ID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27" name="Text Box 257"/>
            <p:cNvSpPr txBox="1">
              <a:spLocks noChangeArrowheads="1"/>
            </p:cNvSpPr>
            <p:nvPr/>
          </p:nvSpPr>
          <p:spPr bwMode="auto">
            <a:xfrm>
              <a:off x="4100116" y="4941069"/>
              <a:ext cx="1944440" cy="2889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时序信号形成电路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28" name="Text Box 258"/>
            <p:cNvSpPr txBox="1">
              <a:spLocks noChangeArrowheads="1"/>
            </p:cNvSpPr>
            <p:nvPr/>
          </p:nvSpPr>
          <p:spPr bwMode="auto">
            <a:xfrm>
              <a:off x="4676180" y="5447705"/>
              <a:ext cx="1368896" cy="5746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 smtClean="0">
                  <a:latin typeface="+mn-lt"/>
                </a:rPr>
                <a:t>μ</a:t>
              </a:r>
              <a:r>
                <a:rPr lang="en-US" altLang="zh-CN" sz="1800" b="1" dirty="0" err="1" smtClean="0">
                  <a:latin typeface="宋体" pitchFamily="2" charset="-122"/>
                </a:rPr>
                <a:t>OP</a:t>
              </a:r>
              <a:r>
                <a:rPr lang="zh-CN" altLang="en-US" sz="1800" b="1" dirty="0" smtClean="0">
                  <a:latin typeface="宋体" pitchFamily="2" charset="-122"/>
                </a:rPr>
                <a:t>控制信号</a:t>
              </a:r>
              <a:r>
                <a:rPr lang="zh-CN" altLang="en-US" sz="1800" b="1" dirty="0">
                  <a:latin typeface="宋体" pitchFamily="2" charset="-122"/>
                </a:rPr>
                <a:t>形成电路</a:t>
              </a:r>
            </a:p>
          </p:txBody>
        </p:sp>
        <p:sp>
          <p:nvSpPr>
            <p:cNvPr id="29" name="Text Box 271"/>
            <p:cNvSpPr txBox="1">
              <a:spLocks noChangeArrowheads="1"/>
            </p:cNvSpPr>
            <p:nvPr/>
          </p:nvSpPr>
          <p:spPr bwMode="auto">
            <a:xfrm>
              <a:off x="5108973" y="6059388"/>
              <a:ext cx="576064" cy="14463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</a:rPr>
                <a:t>……</a:t>
              </a:r>
            </a:p>
          </p:txBody>
        </p:sp>
        <p:sp>
          <p:nvSpPr>
            <p:cNvPr id="30" name="Rectangle 274"/>
            <p:cNvSpPr>
              <a:spLocks noChangeArrowheads="1"/>
            </p:cNvSpPr>
            <p:nvPr/>
          </p:nvSpPr>
          <p:spPr bwMode="auto">
            <a:xfrm>
              <a:off x="251520" y="3789735"/>
              <a:ext cx="1368152" cy="20874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 Box 291"/>
            <p:cNvSpPr txBox="1">
              <a:spLocks noChangeArrowheads="1"/>
            </p:cNvSpPr>
            <p:nvPr/>
          </p:nvSpPr>
          <p:spPr bwMode="auto">
            <a:xfrm>
              <a:off x="2629370" y="3860949"/>
              <a:ext cx="864989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MDR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32" name="Text Box 292"/>
            <p:cNvSpPr txBox="1">
              <a:spLocks noChangeArrowheads="1"/>
            </p:cNvSpPr>
            <p:nvPr/>
          </p:nvSpPr>
          <p:spPr bwMode="auto">
            <a:xfrm>
              <a:off x="2629370" y="4220989"/>
              <a:ext cx="864989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MAR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33" name="Text Box 293"/>
            <p:cNvSpPr txBox="1">
              <a:spLocks noChangeArrowheads="1"/>
            </p:cNvSpPr>
            <p:nvPr/>
          </p:nvSpPr>
          <p:spPr bwMode="auto">
            <a:xfrm>
              <a:off x="5973069" y="3860825"/>
              <a:ext cx="687164" cy="5762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itchFamily="2" charset="-122"/>
                </a:rPr>
                <a:t>总线逻辑</a:t>
              </a:r>
            </a:p>
          </p:txBody>
        </p:sp>
        <p:sp>
          <p:nvSpPr>
            <p:cNvPr id="34" name="Rectangle 299"/>
            <p:cNvSpPr>
              <a:spLocks noChangeArrowheads="1"/>
            </p:cNvSpPr>
            <p:nvPr/>
          </p:nvSpPr>
          <p:spPr bwMode="auto">
            <a:xfrm>
              <a:off x="107504" y="3716933"/>
              <a:ext cx="6552728" cy="25203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Text Box 333"/>
            <p:cNvSpPr txBox="1">
              <a:spLocks noChangeArrowheads="1"/>
            </p:cNvSpPr>
            <p:nvPr/>
          </p:nvSpPr>
          <p:spPr bwMode="auto">
            <a:xfrm>
              <a:off x="1906861" y="3789735"/>
              <a:ext cx="288875" cy="201662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数据通路</a:t>
              </a:r>
              <a:r>
                <a:rPr lang="zh-CN" altLang="en-US" sz="1800" b="1" dirty="0">
                  <a:latin typeface="宋体" pitchFamily="2" charset="-122"/>
                </a:rPr>
                <a:t>结构</a:t>
              </a:r>
            </a:p>
          </p:txBody>
        </p:sp>
        <p:sp>
          <p:nvSpPr>
            <p:cNvPr id="36" name="Text Box 391"/>
            <p:cNvSpPr txBox="1">
              <a:spLocks noChangeArrowheads="1"/>
            </p:cNvSpPr>
            <p:nvPr/>
          </p:nvSpPr>
          <p:spPr bwMode="auto">
            <a:xfrm>
              <a:off x="5364907" y="4076973"/>
              <a:ext cx="503237" cy="25247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BIU</a:t>
              </a:r>
            </a:p>
          </p:txBody>
        </p:sp>
        <p:sp>
          <p:nvSpPr>
            <p:cNvPr id="37" name="Text Box 392"/>
            <p:cNvSpPr txBox="1">
              <a:spLocks noChangeArrowheads="1"/>
            </p:cNvSpPr>
            <p:nvPr/>
          </p:nvSpPr>
          <p:spPr bwMode="auto">
            <a:xfrm>
              <a:off x="3851920" y="5229797"/>
              <a:ext cx="288032" cy="2093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CU</a:t>
              </a:r>
            </a:p>
          </p:txBody>
        </p:sp>
        <p:cxnSp>
          <p:nvCxnSpPr>
            <p:cNvPr id="38" name="直接箭头连接符 37"/>
            <p:cNvCxnSpPr/>
            <p:nvPr/>
          </p:nvCxnSpPr>
          <p:spPr bwMode="auto">
            <a:xfrm>
              <a:off x="6660232" y="4005411"/>
              <a:ext cx="864096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/>
            <p:nvPr/>
          </p:nvCxnSpPr>
          <p:spPr bwMode="auto">
            <a:xfrm flipV="1">
              <a:off x="3491620" y="4075902"/>
              <a:ext cx="2481448" cy="107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/>
            <p:cNvCxnSpPr/>
            <p:nvPr/>
          </p:nvCxnSpPr>
          <p:spPr bwMode="auto">
            <a:xfrm flipH="1">
              <a:off x="3491620" y="3932262"/>
              <a:ext cx="2481448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 bwMode="auto">
            <a:xfrm>
              <a:off x="2195736" y="3932262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H="1" flipV="1">
              <a:off x="2195736" y="4076726"/>
              <a:ext cx="429568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 bwMode="auto">
            <a:xfrm>
              <a:off x="2195736" y="4436194"/>
              <a:ext cx="431155" cy="819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" name="Text Box 292"/>
            <p:cNvSpPr txBox="1">
              <a:spLocks noChangeArrowheads="1"/>
            </p:cNvSpPr>
            <p:nvPr/>
          </p:nvSpPr>
          <p:spPr bwMode="auto">
            <a:xfrm>
              <a:off x="4139952" y="4220989"/>
              <a:ext cx="792324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MMU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>
              <a:off x="2195736" y="5014268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" name="直接箭头连接符 45"/>
            <p:cNvCxnSpPr/>
            <p:nvPr/>
          </p:nvCxnSpPr>
          <p:spPr bwMode="auto">
            <a:xfrm flipH="1" flipV="1">
              <a:off x="2195736" y="5158732"/>
              <a:ext cx="429568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直接箭头连接符 46"/>
            <p:cNvCxnSpPr/>
            <p:nvPr/>
          </p:nvCxnSpPr>
          <p:spPr bwMode="auto">
            <a:xfrm flipV="1">
              <a:off x="2195736" y="5661943"/>
              <a:ext cx="431155" cy="57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/>
            <p:cNvCxnSpPr/>
            <p:nvPr/>
          </p:nvCxnSpPr>
          <p:spPr bwMode="auto">
            <a:xfrm>
              <a:off x="1476549" y="3932957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48"/>
            <p:cNvCxnSpPr/>
            <p:nvPr/>
          </p:nvCxnSpPr>
          <p:spPr bwMode="auto">
            <a:xfrm flipH="1" flipV="1">
              <a:off x="1476549" y="4292996"/>
              <a:ext cx="429568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>
              <a:off x="1476549" y="4076278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1" name="AutoShape 189"/>
            <p:cNvSpPr>
              <a:spLocks noChangeArrowheads="1"/>
            </p:cNvSpPr>
            <p:nvPr/>
          </p:nvSpPr>
          <p:spPr bwMode="auto">
            <a:xfrm>
              <a:off x="395536" y="4869966"/>
              <a:ext cx="1077368" cy="359135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dirty="0" smtClean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52" name="直接箭头连接符 97"/>
            <p:cNvCxnSpPr/>
            <p:nvPr/>
          </p:nvCxnSpPr>
          <p:spPr bwMode="auto">
            <a:xfrm rot="10800000" flipV="1">
              <a:off x="611560" y="4579835"/>
              <a:ext cx="1290913" cy="289225"/>
            </a:xfrm>
            <a:prstGeom prst="bentConnector3">
              <a:avLst>
                <a:gd name="adj1" fmla="val 100000"/>
              </a:avLst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直接箭头连接符 98"/>
            <p:cNvCxnSpPr/>
            <p:nvPr/>
          </p:nvCxnSpPr>
          <p:spPr bwMode="auto">
            <a:xfrm rot="10800000" flipV="1">
              <a:off x="1257016" y="4724350"/>
              <a:ext cx="650689" cy="144710"/>
            </a:xfrm>
            <a:prstGeom prst="bentConnector3">
              <a:avLst>
                <a:gd name="adj1" fmla="val 99598"/>
              </a:avLst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98"/>
            <p:cNvCxnSpPr/>
            <p:nvPr/>
          </p:nvCxnSpPr>
          <p:spPr bwMode="auto">
            <a:xfrm>
              <a:off x="934220" y="5228854"/>
              <a:ext cx="968252" cy="144263"/>
            </a:xfrm>
            <a:prstGeom prst="bentConnector3">
              <a:avLst>
                <a:gd name="adj1" fmla="val -460"/>
              </a:avLst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/>
            <p:cNvCxnSpPr/>
            <p:nvPr/>
          </p:nvCxnSpPr>
          <p:spPr bwMode="auto">
            <a:xfrm flipH="1">
              <a:off x="1475657" y="5732463"/>
              <a:ext cx="426815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>
              <a:off x="1476549" y="5589141"/>
              <a:ext cx="430262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/>
          </p:nvCxnSpPr>
          <p:spPr bwMode="auto">
            <a:xfrm>
              <a:off x="4386635" y="5509458"/>
              <a:ext cx="2895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/>
            <p:nvPr/>
          </p:nvCxnSpPr>
          <p:spPr bwMode="auto">
            <a:xfrm>
              <a:off x="4388148" y="5806356"/>
              <a:ext cx="2895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9" name="Text Box 271"/>
            <p:cNvSpPr txBox="1">
              <a:spLocks noChangeArrowheads="1"/>
            </p:cNvSpPr>
            <p:nvPr/>
          </p:nvSpPr>
          <p:spPr bwMode="auto">
            <a:xfrm rot="16200000">
              <a:off x="4312085" y="5585520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 smtClean="0"/>
                <a:t>…</a:t>
              </a:r>
              <a:endParaRPr lang="en-US" altLang="zh-CN" sz="1800" b="1" dirty="0"/>
            </a:p>
          </p:txBody>
        </p:sp>
        <p:cxnSp>
          <p:nvCxnSpPr>
            <p:cNvPr id="60" name="直接箭头连接符 117"/>
            <p:cNvCxnSpPr>
              <a:stCxn id="88" idx="2"/>
            </p:cNvCxnSpPr>
            <p:nvPr/>
          </p:nvCxnSpPr>
          <p:spPr bwMode="auto">
            <a:xfrm rot="16200000" flipH="1">
              <a:off x="2716510" y="3987999"/>
              <a:ext cx="144710" cy="3777652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>
              <a:off x="5613028" y="5238849"/>
              <a:ext cx="0" cy="20885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>
              <a:off x="5180980" y="5230292"/>
              <a:ext cx="0" cy="20885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3" name="Text Box 271"/>
            <p:cNvSpPr txBox="1">
              <a:spLocks noChangeArrowheads="1"/>
            </p:cNvSpPr>
            <p:nvPr/>
          </p:nvSpPr>
          <p:spPr bwMode="auto">
            <a:xfrm>
              <a:off x="5252988" y="5237146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 smtClean="0"/>
                <a:t>…</a:t>
              </a:r>
              <a:endParaRPr lang="en-US" altLang="zh-CN" sz="1800" b="1" dirty="0"/>
            </a:p>
          </p:txBody>
        </p:sp>
        <p:cxnSp>
          <p:nvCxnSpPr>
            <p:cNvPr id="64" name="直接箭头连接符 63"/>
            <p:cNvCxnSpPr/>
            <p:nvPr/>
          </p:nvCxnSpPr>
          <p:spPr bwMode="auto">
            <a:xfrm flipH="1">
              <a:off x="6044556" y="5661149"/>
              <a:ext cx="3271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>
              <a:off x="2195736" y="4797053"/>
              <a:ext cx="4175944" cy="993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 bwMode="auto">
            <a:xfrm flipH="1">
              <a:off x="2195736" y="4725045"/>
              <a:ext cx="4175944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>
              <a:off x="3494360" y="5657905"/>
              <a:ext cx="6057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/>
            <p:cNvCxnSpPr/>
            <p:nvPr/>
          </p:nvCxnSpPr>
          <p:spPr bwMode="auto">
            <a:xfrm flipH="1">
              <a:off x="5756722" y="6022380"/>
              <a:ext cx="322" cy="18625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/>
            <p:cNvCxnSpPr/>
            <p:nvPr/>
          </p:nvCxnSpPr>
          <p:spPr bwMode="auto">
            <a:xfrm>
              <a:off x="5036964" y="6021189"/>
              <a:ext cx="0" cy="18744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0" name="Text Box 392"/>
            <p:cNvSpPr txBox="1">
              <a:spLocks noChangeArrowheads="1"/>
            </p:cNvSpPr>
            <p:nvPr/>
          </p:nvSpPr>
          <p:spPr bwMode="auto">
            <a:xfrm>
              <a:off x="2555776" y="5229100"/>
              <a:ext cx="1006526" cy="28035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指令部件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cxnSp>
          <p:nvCxnSpPr>
            <p:cNvPr id="71" name="直接箭头连接符 70"/>
            <p:cNvCxnSpPr/>
            <p:nvPr/>
          </p:nvCxnSpPr>
          <p:spPr bwMode="auto">
            <a:xfrm>
              <a:off x="2493764" y="3789734"/>
              <a:ext cx="4166468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2" name="直接箭头连接符 71"/>
            <p:cNvCxnSpPr/>
            <p:nvPr/>
          </p:nvCxnSpPr>
          <p:spPr bwMode="auto">
            <a:xfrm>
              <a:off x="2493764" y="3789735"/>
              <a:ext cx="0" cy="79129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" name="直接箭头连接符 72"/>
            <p:cNvCxnSpPr/>
            <p:nvPr/>
          </p:nvCxnSpPr>
          <p:spPr bwMode="auto">
            <a:xfrm>
              <a:off x="2493764" y="4581031"/>
              <a:ext cx="12150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" name="直接箭头连接符 73"/>
            <p:cNvCxnSpPr/>
            <p:nvPr/>
          </p:nvCxnSpPr>
          <p:spPr bwMode="auto">
            <a:xfrm flipH="1">
              <a:off x="3707904" y="4148981"/>
              <a:ext cx="868" cy="43165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/>
            <p:cNvCxnSpPr/>
            <p:nvPr/>
          </p:nvCxnSpPr>
          <p:spPr bwMode="auto">
            <a:xfrm>
              <a:off x="3708772" y="4148956"/>
              <a:ext cx="15833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/>
          </p:nvCxnSpPr>
          <p:spPr bwMode="auto">
            <a:xfrm>
              <a:off x="5292080" y="4509914"/>
              <a:ext cx="136815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7" name="直接箭头连接符 76"/>
            <p:cNvCxnSpPr/>
            <p:nvPr/>
          </p:nvCxnSpPr>
          <p:spPr bwMode="auto">
            <a:xfrm flipH="1">
              <a:off x="5291212" y="4148981"/>
              <a:ext cx="868" cy="36093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8" name="直接箭头连接符 77"/>
            <p:cNvCxnSpPr>
              <a:endCxn id="44" idx="1"/>
            </p:cNvCxnSpPr>
            <p:nvPr/>
          </p:nvCxnSpPr>
          <p:spPr bwMode="auto">
            <a:xfrm>
              <a:off x="3491880" y="4365005"/>
              <a:ext cx="648072" cy="447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>
              <a:stCxn id="44" idx="3"/>
            </p:cNvCxnSpPr>
            <p:nvPr/>
          </p:nvCxnSpPr>
          <p:spPr bwMode="auto">
            <a:xfrm>
              <a:off x="4932276" y="4365452"/>
              <a:ext cx="1040792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173"/>
            <p:cNvCxnSpPr>
              <a:stCxn id="44" idx="2"/>
              <a:endCxn id="23" idx="0"/>
            </p:cNvCxnSpPr>
            <p:nvPr/>
          </p:nvCxnSpPr>
          <p:spPr bwMode="auto">
            <a:xfrm rot="16200000" flipH="1">
              <a:off x="5454474" y="3591554"/>
              <a:ext cx="143123" cy="1979842"/>
            </a:xfrm>
            <a:prstGeom prst="bentConnector3">
              <a:avLst>
                <a:gd name="adj1" fmla="val 33361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直接箭头连接符 80"/>
            <p:cNvCxnSpPr/>
            <p:nvPr/>
          </p:nvCxnSpPr>
          <p:spPr bwMode="auto">
            <a:xfrm flipH="1">
              <a:off x="6660232" y="5229101"/>
              <a:ext cx="3271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>
              <a:off x="6660232" y="5445125"/>
              <a:ext cx="3271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6660232" y="4177559"/>
              <a:ext cx="86409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 bwMode="auto">
            <a:xfrm>
              <a:off x="6663927" y="4365452"/>
              <a:ext cx="860401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/>
            <p:nvPr/>
          </p:nvCxnSpPr>
          <p:spPr bwMode="auto">
            <a:xfrm>
              <a:off x="754336" y="5238849"/>
              <a:ext cx="1240" cy="27897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7" name="Text Box 392"/>
            <p:cNvSpPr txBox="1">
              <a:spLocks noChangeArrowheads="1"/>
            </p:cNvSpPr>
            <p:nvPr/>
          </p:nvSpPr>
          <p:spPr bwMode="auto">
            <a:xfrm>
              <a:off x="6948264" y="5088329"/>
              <a:ext cx="513892" cy="50081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请求</a:t>
              </a:r>
              <a:endParaRPr lang="en-US" altLang="zh-CN" sz="1600" b="1" dirty="0" smtClean="0">
                <a:latin typeface="宋体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itchFamily="2" charset="-122"/>
                </a:rPr>
                <a:t>响应</a:t>
              </a:r>
              <a:endParaRPr lang="en-US" altLang="zh-CN" sz="1600" b="1" dirty="0" smtClean="0">
                <a:latin typeface="宋体" pitchFamily="2" charset="-122"/>
              </a:endParaRPr>
            </a:p>
          </p:txBody>
        </p:sp>
        <p:sp>
          <p:nvSpPr>
            <p:cNvPr id="88" name="Text Box 276"/>
            <p:cNvSpPr txBox="1">
              <a:spLocks noChangeArrowheads="1"/>
            </p:cNvSpPr>
            <p:nvPr/>
          </p:nvSpPr>
          <p:spPr bwMode="auto">
            <a:xfrm>
              <a:off x="323528" y="5517133"/>
              <a:ext cx="1153021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spc="-100" dirty="0" smtClean="0">
                  <a:latin typeface="宋体" pitchFamily="2" charset="-122"/>
                </a:rPr>
                <a:t>状态寄存器</a:t>
              </a:r>
              <a:endParaRPr lang="en-US" altLang="zh-CN" sz="1800" b="1" spc="-100" dirty="0">
                <a:latin typeface="宋体" pitchFamily="2" charset="-122"/>
              </a:endParaRPr>
            </a:p>
          </p:txBody>
        </p:sp>
        <p:sp>
          <p:nvSpPr>
            <p:cNvPr id="89" name="Text Box 314"/>
            <p:cNvSpPr txBox="1">
              <a:spLocks noChangeArrowheads="1"/>
            </p:cNvSpPr>
            <p:nvPr/>
          </p:nvSpPr>
          <p:spPr bwMode="auto">
            <a:xfrm>
              <a:off x="396156" y="3860949"/>
              <a:ext cx="1079500" cy="50311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寄存器组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116" name="Line 19"/>
            <p:cNvSpPr>
              <a:spLocks noChangeShapeType="1"/>
            </p:cNvSpPr>
            <p:nvPr/>
          </p:nvSpPr>
          <p:spPr bwMode="auto">
            <a:xfrm>
              <a:off x="7524327" y="3716934"/>
              <a:ext cx="1" cy="252037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cxnSp>
          <p:nvCxnSpPr>
            <p:cNvPr id="121" name="直接箭头连接符 120"/>
            <p:cNvCxnSpPr/>
            <p:nvPr/>
          </p:nvCxnSpPr>
          <p:spPr bwMode="auto">
            <a:xfrm flipH="1" flipV="1">
              <a:off x="6663928" y="4221088"/>
              <a:ext cx="86040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4" name="Text Box 9"/>
            <p:cNvSpPr txBox="1">
              <a:spLocks noChangeArrowheads="1"/>
            </p:cNvSpPr>
            <p:nvPr/>
          </p:nvSpPr>
          <p:spPr bwMode="auto">
            <a:xfrm>
              <a:off x="8028384" y="4149181"/>
              <a:ext cx="792237" cy="28815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latin typeface="宋体" pitchFamily="2" charset="-122"/>
                </a:rPr>
                <a:t>主存</a:t>
              </a:r>
            </a:p>
          </p:txBody>
        </p:sp>
        <p:sp>
          <p:nvSpPr>
            <p:cNvPr id="125" name="Text Box 136"/>
            <p:cNvSpPr txBox="1">
              <a:spLocks noChangeArrowheads="1"/>
            </p:cNvSpPr>
            <p:nvPr/>
          </p:nvSpPr>
          <p:spPr bwMode="auto">
            <a:xfrm>
              <a:off x="7812360" y="3727401"/>
              <a:ext cx="1224136" cy="28279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主存控制器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126" name="Line 19"/>
            <p:cNvSpPr>
              <a:spLocks noChangeShapeType="1"/>
            </p:cNvSpPr>
            <p:nvPr/>
          </p:nvSpPr>
          <p:spPr bwMode="auto">
            <a:xfrm>
              <a:off x="7524327" y="3861048"/>
              <a:ext cx="288033" cy="138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27" name="Line 19"/>
            <p:cNvSpPr>
              <a:spLocks noChangeShapeType="1"/>
            </p:cNvSpPr>
            <p:nvPr/>
          </p:nvSpPr>
          <p:spPr bwMode="auto">
            <a:xfrm>
              <a:off x="8424938" y="4005064"/>
              <a:ext cx="0" cy="144091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28" name="Text Box 10"/>
            <p:cNvSpPr txBox="1">
              <a:spLocks noChangeArrowheads="1"/>
            </p:cNvSpPr>
            <p:nvPr/>
          </p:nvSpPr>
          <p:spPr bwMode="auto">
            <a:xfrm>
              <a:off x="7812360" y="4582071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I/O</a:t>
              </a:r>
              <a:r>
                <a:rPr lang="zh-CN" altLang="en-US" sz="1800" b="1" dirty="0">
                  <a:latin typeface="宋体" pitchFamily="2" charset="-122"/>
                </a:rPr>
                <a:t>接口</a:t>
              </a:r>
              <a:r>
                <a:rPr lang="en-US" altLang="zh-CN" sz="1800" b="1" dirty="0">
                  <a:latin typeface="宋体" pitchFamily="2" charset="-122"/>
                </a:rPr>
                <a:t>1</a:t>
              </a:r>
            </a:p>
          </p:txBody>
        </p:sp>
        <p:sp>
          <p:nvSpPr>
            <p:cNvPr id="129" name="Text Box 16"/>
            <p:cNvSpPr txBox="1">
              <a:spLocks noChangeArrowheads="1"/>
            </p:cNvSpPr>
            <p:nvPr/>
          </p:nvSpPr>
          <p:spPr bwMode="auto">
            <a:xfrm>
              <a:off x="7812360" y="5015458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1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130" name="Line 17"/>
            <p:cNvSpPr>
              <a:spLocks noChangeShapeType="1"/>
            </p:cNvSpPr>
            <p:nvPr/>
          </p:nvSpPr>
          <p:spPr bwMode="auto">
            <a:xfrm>
              <a:off x="8388622" y="4869408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1" name="Line 19"/>
            <p:cNvSpPr>
              <a:spLocks noChangeShapeType="1"/>
            </p:cNvSpPr>
            <p:nvPr/>
          </p:nvSpPr>
          <p:spPr bwMode="auto">
            <a:xfrm>
              <a:off x="7524328" y="4723755"/>
              <a:ext cx="288033" cy="138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2" name="Text Box 10"/>
            <p:cNvSpPr txBox="1">
              <a:spLocks noChangeArrowheads="1"/>
            </p:cNvSpPr>
            <p:nvPr/>
          </p:nvSpPr>
          <p:spPr bwMode="auto">
            <a:xfrm>
              <a:off x="7812360" y="5518175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接口</a:t>
              </a:r>
              <a:r>
                <a:rPr lang="en-US" altLang="zh-CN" sz="1800" b="1" dirty="0" smtClean="0">
                  <a:latin typeface="宋体" pitchFamily="2" charset="-122"/>
                </a:rPr>
                <a:t>n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133" name="Text Box 16"/>
            <p:cNvSpPr txBox="1">
              <a:spLocks noChangeArrowheads="1"/>
            </p:cNvSpPr>
            <p:nvPr/>
          </p:nvSpPr>
          <p:spPr bwMode="auto">
            <a:xfrm>
              <a:off x="7812360" y="5951562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n</a:t>
              </a:r>
            </a:p>
          </p:txBody>
        </p:sp>
        <p:sp>
          <p:nvSpPr>
            <p:cNvPr id="134" name="Line 17"/>
            <p:cNvSpPr>
              <a:spLocks noChangeShapeType="1"/>
            </p:cNvSpPr>
            <p:nvPr/>
          </p:nvSpPr>
          <p:spPr bwMode="auto">
            <a:xfrm>
              <a:off x="8388622" y="5805512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5" name="Line 19"/>
            <p:cNvSpPr>
              <a:spLocks noChangeShapeType="1"/>
            </p:cNvSpPr>
            <p:nvPr/>
          </p:nvSpPr>
          <p:spPr bwMode="auto">
            <a:xfrm>
              <a:off x="7524328" y="5659859"/>
              <a:ext cx="288033" cy="138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6" name="Text Box 14"/>
            <p:cNvSpPr txBox="1">
              <a:spLocks noChangeArrowheads="1"/>
            </p:cNvSpPr>
            <p:nvPr/>
          </p:nvSpPr>
          <p:spPr bwMode="auto">
            <a:xfrm>
              <a:off x="8243515" y="5229200"/>
              <a:ext cx="288925" cy="218257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…</a:t>
              </a:r>
            </a:p>
          </p:txBody>
        </p:sp>
      </p:grpSp>
      <p:sp>
        <p:nvSpPr>
          <p:cNvPr id="141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45298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89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3" name="Text Box 132"/>
          <p:cNvSpPr txBox="1">
            <a:spLocks noChangeArrowheads="1"/>
          </p:cNvSpPr>
          <p:nvPr/>
        </p:nvSpPr>
        <p:spPr bwMode="auto">
          <a:xfrm>
            <a:off x="179512" y="836712"/>
            <a:ext cx="8785225" cy="42449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8812212" cy="378565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二、数据通路的组织       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数据通路的组成         </a:t>
            </a:r>
            <a:r>
              <a:rPr lang="zh-CN" altLang="en-US" sz="2000" b="1" dirty="0" smtClean="0">
                <a:latin typeface="宋体" pitchFamily="2" charset="-122"/>
              </a:rPr>
              <a:t>☆深入理解、熟练运用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数据通路的设计         </a:t>
            </a:r>
            <a:r>
              <a:rPr lang="zh-CN" altLang="en-US" sz="2000" b="1" dirty="0" smtClean="0">
                <a:latin typeface="宋体" pitchFamily="2" charset="-122"/>
              </a:rPr>
              <a:t>△理解概念、了解设计流程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512" y="1261209"/>
            <a:ext cx="8812212" cy="236218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spc="-30" dirty="0" smtClean="0">
                <a:latin typeface="宋体" pitchFamily="2" charset="-122"/>
              </a:rPr>
              <a:t>  通路</a:t>
            </a:r>
            <a:r>
              <a:rPr lang="zh-CN" altLang="en-US" b="1" spc="-30" dirty="0">
                <a:latin typeface="宋体" pitchFamily="2" charset="-122"/>
              </a:rPr>
              <a:t>组成</a:t>
            </a:r>
            <a:r>
              <a:rPr lang="en-US" altLang="zh-CN" sz="1800" b="1" spc="-30" dirty="0" smtClean="0">
                <a:latin typeface="宋体" pitchFamily="2" charset="-122"/>
              </a:rPr>
              <a:t>(</a:t>
            </a:r>
            <a:r>
              <a:rPr lang="zh-CN" altLang="en-US" sz="1800" b="1" spc="-30" dirty="0" smtClean="0">
                <a:latin typeface="宋体" pitchFamily="2" charset="-122"/>
              </a:rPr>
              <a:t>部件</a:t>
            </a:r>
            <a:r>
              <a:rPr lang="en-US" altLang="zh-CN" sz="1800" b="1" spc="-30" dirty="0" smtClean="0">
                <a:latin typeface="宋体" pitchFamily="2" charset="-122"/>
              </a:rPr>
              <a:t>+</a:t>
            </a:r>
            <a:r>
              <a:rPr lang="zh-CN" altLang="en-US" sz="1800" b="1" spc="-30" dirty="0" smtClean="0">
                <a:latin typeface="宋体" pitchFamily="2" charset="-122"/>
              </a:rPr>
              <a:t>互连</a:t>
            </a:r>
            <a:r>
              <a:rPr lang="en-US" altLang="zh-CN" sz="1800" b="1" spc="-30" dirty="0" smtClean="0">
                <a:latin typeface="宋体" pitchFamily="2" charset="-122"/>
              </a:rPr>
              <a:t>)  </a:t>
            </a:r>
            <a:r>
              <a:rPr lang="zh-CN" altLang="en-US" b="1" spc="-30" dirty="0" smtClean="0">
                <a:latin typeface="宋体" pitchFamily="2" charset="-122"/>
              </a:rPr>
              <a:t>                      </a:t>
            </a:r>
            <a:r>
              <a:rPr lang="zh-CN" altLang="en-US" sz="2000" b="1" spc="-30" dirty="0" smtClean="0">
                <a:latin typeface="宋体" pitchFamily="2" charset="-122"/>
              </a:rPr>
              <a:t>  </a:t>
            </a:r>
            <a:r>
              <a:rPr lang="zh-CN" altLang="en-US" sz="1600" b="1" spc="-30" dirty="0" smtClean="0">
                <a:latin typeface="宋体" pitchFamily="2" charset="-122"/>
              </a:rPr>
              <a:t> </a:t>
            </a:r>
            <a:r>
              <a:rPr lang="zh-CN" altLang="en-US" sz="1800" b="1" spc="-30" dirty="0" smtClean="0">
                <a:latin typeface="宋体" pitchFamily="2" charset="-122"/>
              </a:rPr>
              <a:t>←电路的组成要求</a:t>
            </a:r>
            <a:endParaRPr lang="en-US" altLang="zh-CN" b="1" spc="-3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spc="-30" dirty="0">
                <a:latin typeface="宋体" pitchFamily="2" charset="-122"/>
              </a:rPr>
              <a:t> </a:t>
            </a:r>
            <a:r>
              <a:rPr lang="en-US" altLang="zh-CN" b="1" spc="-30" dirty="0" smtClean="0">
                <a:latin typeface="宋体" pitchFamily="2" charset="-122"/>
              </a:rPr>
              <a:t>    </a:t>
            </a:r>
            <a:r>
              <a:rPr lang="zh-CN" altLang="en-US" b="1" dirty="0" smtClean="0">
                <a:latin typeface="宋体" pitchFamily="2" charset="-122"/>
              </a:rPr>
              <a:t>部件组成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取指</a:t>
            </a:r>
            <a:r>
              <a:rPr lang="en-US" altLang="zh-CN" sz="1800" b="1" dirty="0" smtClean="0">
                <a:latin typeface="宋体" pitchFamily="2" charset="-122"/>
              </a:rPr>
              <a:t>+</a:t>
            </a:r>
            <a:r>
              <a:rPr lang="zh-CN" altLang="en-US" sz="1800" b="1" dirty="0" smtClean="0">
                <a:latin typeface="宋体" pitchFamily="2" charset="-122"/>
              </a:rPr>
              <a:t>执行</a:t>
            </a:r>
            <a:r>
              <a:rPr lang="en-US" altLang="zh-CN" sz="1800" b="1" dirty="0" smtClean="0">
                <a:latin typeface="宋体" pitchFamily="2" charset="-122"/>
              </a:rPr>
              <a:t>[</a:t>
            </a:r>
            <a:r>
              <a:rPr lang="zh-CN" altLang="en-US" sz="1800" b="1" dirty="0" smtClean="0">
                <a:latin typeface="宋体" pitchFamily="2" charset="-122"/>
              </a:rPr>
              <a:t>～</a:t>
            </a:r>
            <a:r>
              <a:rPr lang="en-US" altLang="zh-CN" sz="1800" b="1" dirty="0" smtClean="0">
                <a:latin typeface="宋体" pitchFamily="2" charset="-122"/>
              </a:rPr>
              <a:t>ISA])</a:t>
            </a:r>
            <a:r>
              <a:rPr lang="zh-CN" altLang="en-US" b="1" dirty="0" smtClean="0">
                <a:latin typeface="宋体" pitchFamily="2" charset="-122"/>
              </a:rPr>
              <a:t>，部件互连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结构需求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指令需求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en-US" altLang="zh-CN" dirty="0" err="1"/>
              <a:t>μ</a:t>
            </a:r>
            <a:r>
              <a:rPr lang="en-US" altLang="zh-CN" b="1" dirty="0" err="1">
                <a:latin typeface="宋体" pitchFamily="2" charset="-122"/>
              </a:rPr>
              <a:t>OP</a:t>
            </a:r>
            <a:r>
              <a:rPr lang="zh-CN" altLang="en-US" b="1" dirty="0">
                <a:latin typeface="宋体" pitchFamily="2" charset="-122"/>
              </a:rPr>
              <a:t>及其控制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itchFamily="2" charset="-122"/>
              </a:rPr>
              <a:t>组成要求</a:t>
            </a:r>
            <a:r>
              <a:rPr lang="zh-CN" altLang="en-US" sz="1800" b="1" dirty="0">
                <a:latin typeface="宋体" pitchFamily="2" charset="-122"/>
              </a:rPr>
              <a:t>、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itchFamily="2" charset="-122"/>
              </a:rPr>
              <a:t>OPCmd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endParaRPr lang="en-US" altLang="zh-CN" sz="1800" b="1" spc="-3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spc="-30" dirty="0" smtClean="0">
                <a:latin typeface="宋体" pitchFamily="2" charset="-122"/>
              </a:rPr>
              <a:t>  指令执行过程的</a:t>
            </a:r>
            <a:r>
              <a:rPr lang="zh-CN" altLang="en-US" b="1" u="sng" spc="-30" dirty="0" smtClean="0">
                <a:latin typeface="宋体" pitchFamily="2" charset="-122"/>
              </a:rPr>
              <a:t>组织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功能需求</a:t>
            </a:r>
            <a:r>
              <a:rPr lang="en-US" altLang="zh-CN" sz="1800" b="1" dirty="0" smtClean="0">
                <a:latin typeface="宋体" pitchFamily="2" charset="-122"/>
              </a:rPr>
              <a:t>+</a:t>
            </a:r>
            <a:r>
              <a:rPr lang="zh-CN" altLang="en-US" sz="1800" b="1" dirty="0" smtClean="0">
                <a:latin typeface="宋体" pitchFamily="2" charset="-122"/>
              </a:rPr>
              <a:t>通路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itchFamily="2" charset="-122"/>
              </a:rPr>
              <a:t>→</a:t>
            </a:r>
            <a:r>
              <a:rPr lang="en-US" altLang="zh-CN" sz="1800" dirty="0" err="1" smtClean="0"/>
              <a:t>μ</a:t>
            </a:r>
            <a:r>
              <a:rPr lang="en-US" altLang="zh-CN" sz="1800" b="1" dirty="0" err="1" smtClean="0">
                <a:latin typeface="宋体" pitchFamily="2" charset="-122"/>
              </a:rPr>
              <a:t>OPCmd</a:t>
            </a:r>
            <a:r>
              <a:rPr lang="zh-CN" altLang="en-US" sz="1800" b="1" dirty="0" smtClean="0">
                <a:latin typeface="宋体" pitchFamily="2" charset="-122"/>
              </a:rPr>
              <a:t>序列</a:t>
            </a:r>
            <a:r>
              <a:rPr lang="en-US" altLang="zh-CN" sz="1800" b="1" dirty="0" smtClean="0">
                <a:latin typeface="宋体" pitchFamily="2" charset="-122"/>
              </a:rPr>
              <a:t>)    </a:t>
            </a:r>
            <a:r>
              <a:rPr lang="zh-CN" altLang="en-US" sz="1800" b="1" dirty="0" smtClean="0">
                <a:latin typeface="宋体" pitchFamily="2" charset="-122"/>
              </a:rPr>
              <a:t>←电路</a:t>
            </a:r>
            <a:r>
              <a:rPr lang="zh-CN" altLang="en-US" sz="1800" b="1" spc="-30" dirty="0" smtClean="0">
                <a:latin typeface="宋体" pitchFamily="2" charset="-122"/>
              </a:rPr>
              <a:t>的控制要求</a:t>
            </a:r>
            <a:endParaRPr lang="en-US" altLang="zh-CN" sz="18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itchFamily="2" charset="-122"/>
              </a:rPr>
              <a:t>     〖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〗</a:t>
            </a:r>
            <a:r>
              <a:rPr lang="zh-CN" altLang="en-US" sz="2200" b="1" dirty="0" smtClean="0">
                <a:latin typeface="宋体" pitchFamily="2" charset="-122"/>
              </a:rPr>
              <a:t>教材</a:t>
            </a:r>
            <a:r>
              <a:rPr lang="en-US" altLang="zh-CN" sz="2200" b="1" dirty="0" smtClean="0">
                <a:latin typeface="宋体" pitchFamily="2" charset="-122"/>
              </a:rPr>
              <a:t>P180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5.1</a:t>
            </a:r>
            <a:r>
              <a:rPr lang="zh-CN" altLang="en-US" sz="2200" b="1" dirty="0" smtClean="0">
                <a:latin typeface="宋体" pitchFamily="2" charset="-122"/>
              </a:rPr>
              <a:t>及例</a:t>
            </a:r>
            <a:r>
              <a:rPr lang="en-US" altLang="zh-CN" sz="2200" b="1" dirty="0" smtClean="0">
                <a:latin typeface="宋体" pitchFamily="2" charset="-122"/>
              </a:rPr>
              <a:t>5.2</a:t>
            </a:r>
            <a:r>
              <a:rPr lang="zh-CN" altLang="en-US" sz="2200" b="1" dirty="0" smtClean="0">
                <a:latin typeface="宋体" pitchFamily="2" charset="-122"/>
              </a:rPr>
              <a:t>，注意各种寻址方式的实现</a:t>
            </a:r>
            <a:endParaRPr lang="en-US" altLang="zh-CN" sz="2200" b="1" dirty="0"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4005064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单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/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多周期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DP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特征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en-US" altLang="zh-CN" b="1" dirty="0" smtClean="0">
                <a:latin typeface="宋体" pitchFamily="2" charset="-122"/>
              </a:rPr>
              <a:t>DP</a:t>
            </a:r>
            <a:r>
              <a:rPr lang="zh-CN" altLang="en-US" b="1" dirty="0" smtClean="0">
                <a:latin typeface="宋体" pitchFamily="2" charset="-122"/>
              </a:rPr>
              <a:t>设计</a:t>
            </a:r>
            <a:r>
              <a:rPr lang="zh-CN" altLang="en-US" b="1" dirty="0">
                <a:latin typeface="宋体" pitchFamily="2" charset="-122"/>
              </a:rPr>
              <a:t>方法，单</a:t>
            </a:r>
            <a:r>
              <a:rPr lang="en-US" altLang="zh-CN" b="1" dirty="0">
                <a:latin typeface="宋体" pitchFamily="2" charset="-122"/>
              </a:rPr>
              <a:t>/</a:t>
            </a:r>
            <a:r>
              <a:rPr lang="zh-CN" altLang="en-US" b="1" dirty="0">
                <a:latin typeface="宋体" pitchFamily="2" charset="-122"/>
              </a:rPr>
              <a:t>多周期</a:t>
            </a:r>
            <a:r>
              <a:rPr lang="en-US" altLang="zh-CN" b="1" dirty="0">
                <a:latin typeface="宋体" pitchFamily="2" charset="-122"/>
              </a:rPr>
              <a:t>DP</a:t>
            </a:r>
            <a:r>
              <a:rPr lang="zh-CN" altLang="en-US" b="1" dirty="0">
                <a:latin typeface="宋体" pitchFamily="2" charset="-122"/>
              </a:rPr>
              <a:t>的</a:t>
            </a:r>
            <a:r>
              <a:rPr lang="zh-CN" altLang="en-US" b="1" dirty="0" smtClean="0">
                <a:latin typeface="宋体" pitchFamily="2" charset="-122"/>
              </a:rPr>
              <a:t>设计</a:t>
            </a:r>
            <a:r>
              <a:rPr lang="en-US" altLang="zh-CN" sz="1800" b="1" dirty="0" smtClean="0">
                <a:latin typeface="宋体" pitchFamily="2" charset="-122"/>
              </a:rPr>
              <a:t>(×)</a:t>
            </a:r>
            <a:endParaRPr lang="en-US" altLang="zh-CN" sz="1600" b="1" dirty="0">
              <a:latin typeface="宋体" pitchFamily="2" charset="-122"/>
            </a:endParaRPr>
          </a:p>
        </p:txBody>
      </p:sp>
      <p:sp>
        <p:nvSpPr>
          <p:cNvPr id="7" name="AutoShape 62">
            <a:hlinkClick r:id="rId2" action="ppaction://hlinkpres?slideindex=53&amp;slidetitle=PowerPoint 演示文稿"/>
          </p:cNvPr>
          <p:cNvSpPr>
            <a:spLocks noChangeArrowheads="1"/>
          </p:cNvSpPr>
          <p:nvPr/>
        </p:nvSpPr>
        <p:spPr bwMode="auto">
          <a:xfrm>
            <a:off x="8172400" y="91394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5-53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7" y="332656"/>
            <a:ext cx="8785225" cy="584621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三、控制器的组成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控制器的基本结构       </a:t>
            </a:r>
            <a:r>
              <a:rPr lang="zh-CN" altLang="en-US" sz="2000" b="1" dirty="0" smtClean="0">
                <a:latin typeface="+mn-ea"/>
                <a:ea typeface="+mn-ea"/>
              </a:rPr>
              <a:t>◇理解原理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   (</a:t>
            </a:r>
            <a:r>
              <a:rPr lang="zh-CN" altLang="en-US" sz="2000" b="1" dirty="0" smtClean="0">
                <a:latin typeface="宋体" pitchFamily="2" charset="-122"/>
              </a:rPr>
              <a:t>需求：</a:t>
            </a:r>
            <a:r>
              <a:rPr lang="zh-CN" altLang="en-US" sz="2000" b="1" dirty="0">
                <a:latin typeface="宋体" pitchFamily="2" charset="-122"/>
              </a:rPr>
              <a:t>实现</a:t>
            </a:r>
            <a:r>
              <a:rPr lang="en-US" altLang="zh-CN" sz="2000" b="1" dirty="0">
                <a:latin typeface="宋体" pitchFamily="2" charset="-122"/>
              </a:rPr>
              <a:t>CPU</a:t>
            </a:r>
            <a:r>
              <a:rPr lang="zh-CN" altLang="en-US" sz="2000" b="1" dirty="0">
                <a:latin typeface="宋体" pitchFamily="2" charset="-122"/>
              </a:rPr>
              <a:t>工作流程的状态转换图</a:t>
            </a:r>
            <a:r>
              <a:rPr lang="en-US" altLang="zh-CN" sz="2000" b="1" dirty="0">
                <a:latin typeface="宋体" pitchFamily="2" charset="-122"/>
              </a:rPr>
              <a:t>[</a:t>
            </a:r>
            <a:r>
              <a:rPr lang="zh-CN" altLang="en-US" sz="2000" b="1" dirty="0">
                <a:latin typeface="宋体" pitchFamily="2" charset="-122"/>
              </a:rPr>
              <a:t>指令周期</a:t>
            </a:r>
            <a:r>
              <a:rPr lang="en-US" altLang="zh-CN" sz="2000" b="1" dirty="0">
                <a:latin typeface="宋体" pitchFamily="2" charset="-122"/>
              </a:rPr>
              <a:t>+</a:t>
            </a:r>
            <a:r>
              <a:rPr lang="zh-CN" altLang="en-US" sz="2000" b="1" dirty="0">
                <a:latin typeface="宋体" pitchFamily="2" charset="-122"/>
              </a:rPr>
              <a:t>中断</a:t>
            </a:r>
            <a:r>
              <a:rPr lang="zh-CN" altLang="en-US" sz="2000" b="1" dirty="0" smtClean="0">
                <a:latin typeface="宋体" pitchFamily="2" charset="-122"/>
              </a:rPr>
              <a:t>响应周期</a:t>
            </a:r>
            <a:r>
              <a:rPr lang="en-US" altLang="zh-CN" sz="2000" b="1" dirty="0" smtClean="0">
                <a:latin typeface="宋体" pitchFamily="2" charset="-122"/>
              </a:rPr>
              <a:t>])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组成</a:t>
            </a:r>
            <a:r>
              <a:rPr lang="en-US" altLang="zh-CN" sz="1800" b="1" dirty="0">
                <a:latin typeface="宋体" pitchFamily="2" charset="-122"/>
              </a:rPr>
              <a:t>(3</a:t>
            </a:r>
            <a:r>
              <a:rPr lang="zh-CN" altLang="en-US" sz="1800" b="1" dirty="0">
                <a:latin typeface="宋体" pitchFamily="2" charset="-122"/>
              </a:rPr>
              <a:t>个部件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，工作原理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循环有序产生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itchFamily="2" charset="-122"/>
              </a:rPr>
              <a:t>OPCmd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，类型</a:t>
            </a:r>
            <a:r>
              <a:rPr lang="en-US" altLang="zh-CN" sz="1800" b="1" dirty="0">
                <a:latin typeface="宋体" pitchFamily="2" charset="-122"/>
              </a:rPr>
              <a:t>(2</a:t>
            </a:r>
            <a:r>
              <a:rPr lang="zh-CN" altLang="en-US" sz="1800" b="1" dirty="0">
                <a:latin typeface="宋体" pitchFamily="2" charset="-122"/>
              </a:rPr>
              <a:t>种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时序信号的形成         </a:t>
            </a:r>
            <a:r>
              <a:rPr lang="zh-CN" altLang="en-US" sz="2000" b="1" dirty="0" smtClean="0">
                <a:latin typeface="+mn-ea"/>
              </a:rPr>
              <a:t>◇</a:t>
            </a:r>
            <a:r>
              <a:rPr lang="zh-CN" altLang="en-US" sz="2000" b="1" dirty="0">
                <a:latin typeface="+mn-ea"/>
              </a:rPr>
              <a:t>理解原理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时序</a:t>
            </a:r>
            <a:r>
              <a:rPr lang="zh-CN" altLang="en-US" b="1" dirty="0">
                <a:latin typeface="宋体" pitchFamily="2" charset="-122"/>
              </a:rPr>
              <a:t>系统组织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信号个数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功能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定时、序列组成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时序电路组成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定时</a:t>
            </a:r>
            <a:r>
              <a:rPr lang="zh-CN" altLang="en-US" sz="1800" b="1" dirty="0" smtClean="0">
                <a:latin typeface="宋体" pitchFamily="2" charset="-122"/>
              </a:rPr>
              <a:t>逻辑＋定</a:t>
            </a:r>
            <a:r>
              <a:rPr lang="zh-CN" altLang="en-US" sz="1800" b="1" dirty="0">
                <a:latin typeface="宋体" pitchFamily="2" charset="-122"/>
              </a:rPr>
              <a:t>序逻辑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，定时方式</a:t>
            </a:r>
            <a:r>
              <a:rPr lang="en-US" altLang="zh-CN" sz="1800" b="1" dirty="0">
                <a:latin typeface="宋体" pitchFamily="2" charset="-122"/>
              </a:rPr>
              <a:t>(3</a:t>
            </a:r>
            <a:r>
              <a:rPr lang="zh-CN" altLang="en-US" sz="1800" b="1" dirty="0">
                <a:latin typeface="宋体" pitchFamily="2" charset="-122"/>
              </a:rPr>
              <a:t>种、基于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itchFamily="2" charset="-122"/>
              </a:rPr>
              <a:t>OP</a:t>
            </a:r>
            <a:r>
              <a:rPr lang="en-US" altLang="zh-CN" sz="1800" b="1" dirty="0">
                <a:latin typeface="宋体" pitchFamily="2" charset="-122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itchFamily="2" charset="-122"/>
              </a:rPr>
              <a:t>                      </a:t>
            </a:r>
            <a:r>
              <a:rPr lang="en-US" altLang="zh-CN" sz="1600" b="1" dirty="0" smtClean="0">
                <a:latin typeface="宋体" pitchFamily="2" charset="-122"/>
              </a:rPr>
              <a:t>    </a:t>
            </a:r>
            <a:r>
              <a:rPr lang="en-US" altLang="zh-CN" sz="1600" b="1" dirty="0">
                <a:latin typeface="宋体" pitchFamily="2" charset="-122"/>
              </a:rPr>
              <a:t>[</a:t>
            </a:r>
            <a:r>
              <a:rPr lang="en-US" altLang="zh-CN" sz="1600" b="1" dirty="0">
                <a:solidFill>
                  <a:srgbClr val="990099"/>
                </a:solidFill>
                <a:latin typeface="宋体" pitchFamily="2" charset="-122"/>
              </a:rPr>
              <a:t>CLK</a:t>
            </a:r>
            <a:r>
              <a:rPr lang="zh-CN" altLang="en-US" sz="1600" b="1" dirty="0">
                <a:solidFill>
                  <a:srgbClr val="990099"/>
                </a:solidFill>
                <a:latin typeface="宋体" pitchFamily="2" charset="-122"/>
              </a:rPr>
              <a:t>→</a:t>
            </a:r>
            <a:r>
              <a:rPr lang="en-US" altLang="zh-CN" sz="1600" b="1" dirty="0">
                <a:latin typeface="宋体" pitchFamily="2" charset="-122"/>
              </a:rPr>
              <a:t>CP</a:t>
            </a:r>
            <a:r>
              <a:rPr lang="zh-CN" altLang="en-US" sz="1600" b="1" dirty="0">
                <a:solidFill>
                  <a:srgbClr val="990099"/>
                </a:solidFill>
                <a:latin typeface="宋体" pitchFamily="2" charset="-122"/>
              </a:rPr>
              <a:t>→节拍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itchFamily="2" charset="-122"/>
              </a:rPr>
              <a:t>及工作脉冲序列</a:t>
            </a:r>
            <a:r>
              <a:rPr lang="en-US" altLang="zh-CN" sz="1600" b="1" dirty="0" smtClean="0">
                <a:latin typeface="宋体" pitchFamily="2" charset="-122"/>
              </a:rPr>
              <a:t>]</a:t>
            </a:r>
            <a:endParaRPr lang="en-US" altLang="zh-CN" sz="16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3.</a:t>
            </a:r>
            <a:r>
              <a:rPr lang="en-US" altLang="zh-CN" dirty="0">
                <a:solidFill>
                  <a:srgbClr val="FF3399"/>
                </a:solidFill>
              </a:rPr>
              <a:t> </a:t>
            </a:r>
            <a:r>
              <a:rPr lang="en-US" altLang="zh-CN" dirty="0" err="1" smtClean="0">
                <a:solidFill>
                  <a:srgbClr val="FF3399"/>
                </a:solidFill>
              </a:rPr>
              <a:t>μ</a:t>
            </a:r>
            <a:r>
              <a:rPr lang="en-US" altLang="zh-CN" b="1" dirty="0" err="1" smtClean="0">
                <a:solidFill>
                  <a:srgbClr val="FF3399"/>
                </a:solidFill>
                <a:latin typeface="宋体" pitchFamily="2" charset="-122"/>
              </a:rPr>
              <a:t>OP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控制信号的形成   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itchFamily="2" charset="-122"/>
              </a:rPr>
              <a:t>  </a:t>
            </a:r>
            <a:r>
              <a:rPr lang="zh-CN" altLang="en-US" sz="2000" b="1" dirty="0" smtClean="0">
                <a:latin typeface="宋体" pitchFamily="2" charset="-122"/>
              </a:rPr>
              <a:t>△了解功能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引脚</a:t>
            </a:r>
            <a:r>
              <a:rPr lang="zh-CN" altLang="en-US" b="1" dirty="0">
                <a:latin typeface="宋体" pitchFamily="2" charset="-122"/>
              </a:rPr>
              <a:t>信号</a:t>
            </a:r>
            <a:r>
              <a:rPr lang="en-US" altLang="zh-CN" sz="1800" b="1" dirty="0">
                <a:latin typeface="宋体" pitchFamily="2" charset="-122"/>
              </a:rPr>
              <a:t>(4</a:t>
            </a:r>
            <a:r>
              <a:rPr lang="zh-CN" altLang="en-US" sz="1800" b="1" dirty="0">
                <a:latin typeface="宋体" pitchFamily="2" charset="-122"/>
              </a:rPr>
              <a:t>种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、内部逻辑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状态转换图的状态实现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endParaRPr lang="en-US" altLang="zh-CN" sz="1800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硬布线控制器的设计     </a:t>
            </a:r>
            <a:r>
              <a:rPr lang="zh-CN" altLang="en-US" sz="2000" b="1" dirty="0" smtClean="0">
                <a:latin typeface="宋体" pitchFamily="2" charset="-122"/>
              </a:rPr>
              <a:t>△了解设计流程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视作例题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solidFill>
                <a:srgbClr val="FF3399"/>
              </a:solidFill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5.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微程序控制器的设计     </a:t>
            </a:r>
            <a:r>
              <a:rPr lang="zh-CN" altLang="en-US" sz="2000" b="1" dirty="0" smtClean="0">
                <a:latin typeface="宋体" pitchFamily="2" charset="-122"/>
              </a:rPr>
              <a:t>△了</a:t>
            </a:r>
            <a:r>
              <a:rPr lang="zh-CN" altLang="en-US" sz="2000" b="1" dirty="0" smtClean="0">
                <a:latin typeface="+mn-ea"/>
              </a:rPr>
              <a:t>解原理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en-US" altLang="zh-CN" dirty="0" err="1" smtClean="0"/>
              <a:t>μ</a:t>
            </a:r>
            <a:r>
              <a:rPr lang="en-US" altLang="zh-CN" b="1" dirty="0" err="1" smtClean="0">
                <a:latin typeface="宋体" pitchFamily="2" charset="-122"/>
              </a:rPr>
              <a:t>OPCmd</a:t>
            </a:r>
            <a:r>
              <a:rPr lang="zh-CN" altLang="en-US" b="1" dirty="0" smtClean="0">
                <a:latin typeface="宋体" pitchFamily="2" charset="-122"/>
              </a:rPr>
              <a:t>的产生方法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en-US" altLang="zh-CN" b="1" dirty="0">
                <a:latin typeface="宋体" pitchFamily="2" charset="-122"/>
              </a:rPr>
              <a:t>CU</a:t>
            </a:r>
            <a:r>
              <a:rPr lang="zh-CN" altLang="en-US" b="1" dirty="0">
                <a:latin typeface="宋体" pitchFamily="2" charset="-122"/>
              </a:rPr>
              <a:t>组成、工作原理  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共理解</a:t>
            </a:r>
            <a:r>
              <a:rPr lang="en-US" altLang="zh-CN" sz="1800" b="1" dirty="0">
                <a:latin typeface="宋体" pitchFamily="2" charset="-122"/>
              </a:rPr>
              <a:t>3</a:t>
            </a:r>
            <a:r>
              <a:rPr lang="zh-CN" altLang="en-US" sz="1800" b="1" dirty="0">
                <a:latin typeface="宋体" pitchFamily="2" charset="-122"/>
              </a:rPr>
              <a:t>张图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endParaRPr lang="en-US" altLang="zh-CN" sz="2000" b="1" dirty="0">
              <a:solidFill>
                <a:srgbClr val="FF3399"/>
              </a:solidFill>
              <a:latin typeface="宋体" pitchFamily="2" charset="-122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8" name="Text Box 132"/>
          <p:cNvSpPr txBox="1">
            <a:spLocks noChangeArrowheads="1"/>
          </p:cNvSpPr>
          <p:nvPr/>
        </p:nvSpPr>
        <p:spPr bwMode="auto">
          <a:xfrm>
            <a:off x="179388" y="2161026"/>
            <a:ext cx="8785225" cy="382106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9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62">
            <a:hlinkClick r:id="rId2" action="ppaction://hlinkpres?slideindex=76&amp;slidetitle=PowerPoint 演示文稿"/>
          </p:cNvPr>
          <p:cNvSpPr>
            <a:spLocks noChangeArrowheads="1"/>
          </p:cNvSpPr>
          <p:nvPr/>
        </p:nvSpPr>
        <p:spPr bwMode="auto">
          <a:xfrm>
            <a:off x="8226754" y="5373216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5-76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" name="AutoShape 62">
            <a:hlinkClick r:id="rId3" action="ppaction://hlinkpres?slideindex=58&amp;slidetitle=PowerPoint 演示文稿"/>
          </p:cNvPr>
          <p:cNvSpPr>
            <a:spLocks noChangeArrowheads="1"/>
          </p:cNvSpPr>
          <p:nvPr/>
        </p:nvSpPr>
        <p:spPr bwMode="auto">
          <a:xfrm>
            <a:off x="8235138" y="2780928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5-58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 flipH="1">
            <a:off x="3563888" y="2060848"/>
            <a:ext cx="3096344" cy="64807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ysDash"/>
            <a:round/>
            <a:headEnd type="none" w="med" len="sm"/>
            <a:tailEnd type="arrow" w="med" len="sm"/>
          </a:ln>
          <a:effectLst/>
        </p:spPr>
      </p:cxnSp>
      <p:sp>
        <p:nvSpPr>
          <p:cNvPr id="15" name="AutoShape 62">
            <a:hlinkClick r:id="rId4" action="ppaction://hlinkpres?slideindex=63&amp;slidetitle=PowerPoint 演示文稿"/>
          </p:cNvPr>
          <p:cNvSpPr>
            <a:spLocks noChangeArrowheads="1"/>
          </p:cNvSpPr>
          <p:nvPr/>
        </p:nvSpPr>
        <p:spPr bwMode="auto">
          <a:xfrm>
            <a:off x="8244408" y="4455113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5-63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2" name="AutoShape 62">
            <a:hlinkClick r:id="rId5" action="ppaction://hlinkpres?slideindex=64&amp;slidetitle=PowerPoint 演示文稿"/>
          </p:cNvPr>
          <p:cNvSpPr>
            <a:spLocks noChangeArrowheads="1"/>
          </p:cNvSpPr>
          <p:nvPr/>
        </p:nvSpPr>
        <p:spPr bwMode="auto">
          <a:xfrm>
            <a:off x="8244408" y="90872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5-64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062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713092" cy="286232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、异常及中断的处理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基本概念               </a:t>
            </a:r>
            <a:r>
              <a:rPr lang="zh-CN" altLang="en-US" sz="2000" b="1" dirty="0" smtClean="0">
                <a:latin typeface="宋体" pitchFamily="2" charset="-122"/>
              </a:rPr>
              <a:t>◇掌握概念</a:t>
            </a:r>
            <a:endParaRPr lang="en-US" altLang="zh-CN" b="1" dirty="0" smtClean="0">
              <a:solidFill>
                <a:srgbClr val="FF3399"/>
              </a:solidFill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异常及中断</a:t>
            </a:r>
            <a:r>
              <a:rPr lang="zh-CN" altLang="en-US" b="1" dirty="0">
                <a:latin typeface="宋体" pitchFamily="2" charset="-122"/>
              </a:rPr>
              <a:t>的分类、处理</a:t>
            </a:r>
            <a:r>
              <a:rPr lang="zh-CN" altLang="en-US" b="1" dirty="0" smtClean="0">
                <a:latin typeface="宋体" pitchFamily="2" charset="-122"/>
              </a:rPr>
              <a:t>时机、返回方式</a:t>
            </a:r>
            <a:endParaRPr lang="en-US" altLang="zh-CN" b="1" dirty="0">
              <a:solidFill>
                <a:srgbClr val="FF3399"/>
              </a:solidFill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处理过程               </a:t>
            </a:r>
            <a:r>
              <a:rPr lang="zh-CN" altLang="en-US" sz="2000" b="1" dirty="0" smtClean="0">
                <a:latin typeface="宋体" pitchFamily="2" charset="-122"/>
                <a:ea typeface="+mn-ea"/>
              </a:rPr>
              <a:t>◇理解原理</a:t>
            </a:r>
            <a:endParaRPr lang="en-US" altLang="zh-CN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  <a:ea typeface="+mn-ea"/>
              </a:rPr>
              <a:t>   </a:t>
            </a:r>
            <a:r>
              <a:rPr lang="zh-CN" altLang="en-US" b="1" dirty="0" smtClean="0">
                <a:latin typeface="宋体" pitchFamily="2" charset="-122"/>
                <a:ea typeface="+mn-ea"/>
              </a:rPr>
              <a:t>处理过程</a:t>
            </a:r>
            <a:r>
              <a:rPr lang="en-US" altLang="zh-CN" sz="1800" b="1" dirty="0" smtClean="0">
                <a:latin typeface="宋体" pitchFamily="2" charset="-122"/>
                <a:ea typeface="+mn-ea"/>
              </a:rPr>
              <a:t>(3</a:t>
            </a:r>
            <a:r>
              <a:rPr lang="zh-CN" altLang="en-US" sz="1800" b="1" dirty="0" smtClean="0">
                <a:latin typeface="宋体" pitchFamily="2" charset="-122"/>
                <a:ea typeface="+mn-ea"/>
              </a:rPr>
              <a:t>段</a:t>
            </a:r>
            <a:r>
              <a:rPr lang="en-US" altLang="zh-CN" sz="1800" b="1" dirty="0" smtClean="0">
                <a:latin typeface="宋体" pitchFamily="2" charset="-122"/>
                <a:ea typeface="+mn-ea"/>
              </a:rPr>
              <a:t>)</a:t>
            </a:r>
            <a:r>
              <a:rPr lang="zh-CN" altLang="en-US" b="1" dirty="0" smtClean="0">
                <a:latin typeface="宋体" pitchFamily="2" charset="-122"/>
                <a:ea typeface="+mn-ea"/>
              </a:rPr>
              <a:t>，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  <a:ea typeface="+mn-ea"/>
              </a:rPr>
              <a:t>响应的任务</a:t>
            </a:r>
            <a:r>
              <a:rPr lang="en-US" altLang="zh-CN" sz="1800" b="1" dirty="0">
                <a:latin typeface="宋体" pitchFamily="2" charset="-122"/>
              </a:rPr>
              <a:t>(3</a:t>
            </a:r>
            <a:r>
              <a:rPr lang="zh-CN" altLang="en-US" sz="1800" b="1" dirty="0" smtClean="0">
                <a:latin typeface="宋体" pitchFamily="2" charset="-122"/>
              </a:rPr>
              <a:t>点→</a:t>
            </a:r>
            <a:r>
              <a:rPr lang="en-US" altLang="zh-CN" sz="1800" b="1" dirty="0" smtClean="0">
                <a:latin typeface="宋体" pitchFamily="2" charset="-122"/>
              </a:rPr>
              <a:t>5</a:t>
            </a:r>
            <a:r>
              <a:rPr lang="zh-CN" altLang="en-US" sz="1800" b="1" dirty="0" smtClean="0">
                <a:latin typeface="宋体" pitchFamily="2" charset="-122"/>
              </a:rPr>
              <a:t>点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  <a:ea typeface="+mn-ea"/>
              </a:rPr>
              <a:t>及实现方法</a:t>
            </a:r>
            <a:endParaRPr lang="en-US" altLang="zh-CN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中断机构的组成         </a:t>
            </a:r>
            <a:r>
              <a:rPr lang="zh-CN" altLang="en-US" sz="2000" b="1" dirty="0" smtClean="0">
                <a:latin typeface="宋体" pitchFamily="2" charset="-122"/>
                <a:ea typeface="+mn-ea"/>
              </a:rPr>
              <a:t>△了解基本结构及功能实现</a:t>
            </a:r>
            <a:endParaRPr lang="en-US" altLang="zh-CN" sz="1800" b="1" dirty="0" smtClean="0">
              <a:latin typeface="宋体" pitchFamily="2" charset="-122"/>
              <a:ea typeface="+mn-ea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3133417"/>
            <a:ext cx="871309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五、指令流水线技术       </a:t>
            </a:r>
            <a:r>
              <a:rPr lang="en-US" altLang="zh-CN" sz="2000" b="1" dirty="0" smtClean="0">
                <a:latin typeface="+mn-ea"/>
                <a:ea typeface="+mn-ea"/>
              </a:rPr>
              <a:t>×</a:t>
            </a:r>
            <a:r>
              <a:rPr lang="zh-CN" altLang="en-US" sz="2000" b="1" dirty="0" smtClean="0">
                <a:latin typeface="+mn-ea"/>
                <a:ea typeface="+mn-ea"/>
              </a:rPr>
              <a:t>不考  </a:t>
            </a:r>
            <a:r>
              <a:rPr lang="en-US" altLang="zh-CN" sz="2000" b="1" dirty="0" smtClean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solidFill>
                  <a:schemeClr val="bg1">
                    <a:lumMod val="95000"/>
                  </a:schemeClr>
                </a:solidFill>
                <a:latin typeface="宋体" pitchFamily="2" charset="-122"/>
              </a:rPr>
              <a:t>掌握概念、理解原理</a:t>
            </a:r>
            <a:r>
              <a:rPr lang="en-US" altLang="zh-CN" sz="2000" b="1" dirty="0" smtClean="0">
                <a:solidFill>
                  <a:schemeClr val="bg1">
                    <a:lumMod val="95000"/>
                  </a:schemeClr>
                </a:solidFill>
                <a:latin typeface="宋体" pitchFamily="2" charset="-122"/>
              </a:rPr>
              <a:t>)</a:t>
            </a:r>
            <a:endParaRPr lang="en-US" altLang="zh-CN" b="1" dirty="0" smtClean="0">
              <a:solidFill>
                <a:schemeClr val="bg1">
                  <a:lumMod val="9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工作原理、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组成要求</a:t>
            </a:r>
            <a:r>
              <a:rPr lang="zh-CN" altLang="en-US" b="1" dirty="0" smtClean="0">
                <a:latin typeface="宋体" pitchFamily="2" charset="-122"/>
              </a:rPr>
              <a:t>、性能、分类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不考冒险处理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179512" y="4077072"/>
            <a:ext cx="8964488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*总体要求：</a:t>
            </a:r>
            <a:r>
              <a:rPr lang="zh-CN" altLang="en-US" b="1" dirty="0" smtClean="0">
                <a:latin typeface="宋体" pitchFamily="2" charset="-122"/>
              </a:rPr>
              <a:t>①理解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zh-CN" altLang="en-US" b="1" u="sng" dirty="0" smtClean="0">
                <a:latin typeface="宋体" pitchFamily="2" charset="-122"/>
              </a:rPr>
              <a:t>组成、工作流程及工作原理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基于</a:t>
            </a:r>
            <a:r>
              <a:rPr lang="en-US" altLang="zh-CN" sz="1800" b="1" dirty="0" smtClean="0">
                <a:latin typeface="宋体" pitchFamily="2" charset="-122"/>
              </a:rPr>
              <a:t>CPU</a:t>
            </a:r>
            <a:r>
              <a:rPr lang="zh-CN" altLang="en-US" sz="1800" b="1" dirty="0" smtClean="0">
                <a:latin typeface="宋体" pitchFamily="2" charset="-122"/>
              </a:rPr>
              <a:t>功能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②能够</a:t>
            </a:r>
            <a:r>
              <a:rPr lang="zh-CN" altLang="en-US" b="1" u="sng" dirty="0" smtClean="0">
                <a:latin typeface="宋体" pitchFamily="2" charset="-122"/>
              </a:rPr>
              <a:t>组织</a:t>
            </a:r>
            <a:r>
              <a:rPr lang="zh-CN" altLang="en-US" b="1" dirty="0" smtClean="0">
                <a:latin typeface="宋体" pitchFamily="2" charset="-122"/>
              </a:rPr>
              <a:t>指令的执行过程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基于</a:t>
            </a:r>
            <a:r>
              <a:rPr lang="en-US" altLang="zh-CN" sz="2000" b="1" dirty="0" smtClean="0">
                <a:latin typeface="宋体" pitchFamily="2" charset="-122"/>
              </a:rPr>
              <a:t>DP</a:t>
            </a:r>
            <a:r>
              <a:rPr lang="zh-CN" altLang="en-US" sz="2000" b="1" dirty="0">
                <a:latin typeface="宋体" pitchFamily="2" charset="-122"/>
              </a:rPr>
              <a:t>及</a:t>
            </a:r>
            <a:r>
              <a:rPr lang="en-US" altLang="zh-CN" sz="2000" b="1" dirty="0" smtClean="0">
                <a:latin typeface="宋体" pitchFamily="2" charset="-122"/>
              </a:rPr>
              <a:t>ISA)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③理解</a:t>
            </a:r>
            <a:r>
              <a:rPr lang="en-US" altLang="zh-CN" b="1" spc="-100" dirty="0" smtClean="0">
                <a:latin typeface="宋体" pitchFamily="2" charset="-122"/>
              </a:rPr>
              <a:t>CU</a:t>
            </a:r>
            <a:r>
              <a:rPr lang="zh-CN" altLang="en-US" b="1" spc="-100" dirty="0" smtClean="0">
                <a:latin typeface="宋体" pitchFamily="2" charset="-122"/>
              </a:rPr>
              <a:t>的</a:t>
            </a:r>
            <a:r>
              <a:rPr lang="zh-CN" altLang="en-US" b="1" spc="-100" dirty="0">
                <a:latin typeface="宋体" pitchFamily="2" charset="-122"/>
              </a:rPr>
              <a:t>组成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基于状态转换图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及工作原理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        </a:t>
            </a:r>
            <a:r>
              <a:rPr lang="zh-CN" altLang="en-US" b="1" dirty="0" smtClean="0">
                <a:latin typeface="宋体" pitchFamily="2" charset="-122"/>
              </a:rPr>
              <a:t>④理解异常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中断的</a:t>
            </a:r>
            <a:r>
              <a:rPr lang="zh-CN" altLang="en-US" b="1" u="sng" dirty="0" smtClean="0">
                <a:latin typeface="宋体" pitchFamily="2" charset="-122"/>
              </a:rPr>
              <a:t>概念</a:t>
            </a:r>
            <a:r>
              <a:rPr lang="zh-CN" altLang="en-US" b="1" dirty="0" smtClean="0">
                <a:latin typeface="宋体" pitchFamily="2" charset="-122"/>
              </a:rPr>
              <a:t>及</a:t>
            </a:r>
            <a:r>
              <a:rPr lang="zh-CN" altLang="en-US" b="1" u="sng" dirty="0" smtClean="0">
                <a:latin typeface="宋体" pitchFamily="2" charset="-122"/>
              </a:rPr>
              <a:t>响应过程</a:t>
            </a:r>
            <a:r>
              <a:rPr lang="en-US" altLang="zh-CN" b="1" u="sng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⑤了解</a:t>
            </a:r>
            <a:r>
              <a:rPr lang="zh-CN" altLang="en-US" b="1" dirty="0">
                <a:latin typeface="宋体" pitchFamily="2" charset="-122"/>
              </a:rPr>
              <a:t>指令</a:t>
            </a:r>
            <a:r>
              <a:rPr lang="zh-CN" altLang="en-US" b="1" dirty="0" smtClean="0">
                <a:latin typeface="宋体" pitchFamily="2" charset="-122"/>
              </a:rPr>
              <a:t>流水线的</a:t>
            </a:r>
            <a:r>
              <a:rPr lang="zh-CN" altLang="en-US" b="1" u="sng" dirty="0" smtClean="0">
                <a:latin typeface="宋体" pitchFamily="2" charset="-122"/>
              </a:rPr>
              <a:t>工作原理</a:t>
            </a:r>
            <a:r>
              <a:rPr lang="zh-CN" altLang="en-US" b="1" dirty="0" smtClean="0">
                <a:latin typeface="宋体" pitchFamily="2" charset="-122"/>
              </a:rPr>
              <a:t>及</a:t>
            </a:r>
            <a:r>
              <a:rPr lang="zh-CN" altLang="en-US" b="1" u="sng" dirty="0" smtClean="0">
                <a:latin typeface="宋体" pitchFamily="2" charset="-122"/>
              </a:rPr>
              <a:t>组成要求</a:t>
            </a:r>
            <a:endParaRPr lang="en-US" altLang="zh-CN" b="1" u="sng" dirty="0" smtClean="0">
              <a:latin typeface="宋体" pitchFamily="2" charset="-122"/>
            </a:endParaRPr>
          </a:p>
        </p:txBody>
      </p:sp>
      <p:sp>
        <p:nvSpPr>
          <p:cNvPr id="6" name="AutoShape 62">
            <a:hlinkClick r:id="rId2" action="ppaction://hlinkpres?slideindex=86&amp;slidetitle=PowerPoint 演示文稿"/>
          </p:cNvPr>
          <p:cNvSpPr>
            <a:spLocks noChangeArrowheads="1"/>
          </p:cNvSpPr>
          <p:nvPr/>
        </p:nvSpPr>
        <p:spPr bwMode="auto">
          <a:xfrm>
            <a:off x="8442778" y="2798929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5-86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742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6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总线及互连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388" y="908720"/>
            <a:ext cx="8812212" cy="424731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基本概念               </a:t>
            </a:r>
            <a:r>
              <a:rPr lang="zh-CN" altLang="en-US" sz="2000" b="1" dirty="0" smtClean="0">
                <a:latin typeface="+mn-ea"/>
                <a:ea typeface="+mn-ea"/>
              </a:rPr>
              <a:t>☆掌握概念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</a:t>
            </a: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分类</a:t>
            </a:r>
            <a:r>
              <a:rPr lang="zh-CN" altLang="en-US" b="1" dirty="0">
                <a:latin typeface="宋体" pitchFamily="2" charset="-122"/>
              </a:rPr>
              <a:t>、特性</a:t>
            </a:r>
            <a:r>
              <a:rPr lang="en-US" altLang="zh-CN" sz="1800" b="1" dirty="0">
                <a:latin typeface="宋体" pitchFamily="2" charset="-122"/>
              </a:rPr>
              <a:t>(4</a:t>
            </a:r>
            <a:r>
              <a:rPr lang="zh-CN" altLang="en-US" sz="1800" b="1" dirty="0">
                <a:latin typeface="宋体" pitchFamily="2" charset="-122"/>
              </a:rPr>
              <a:t>点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性能指标</a:t>
            </a:r>
            <a:r>
              <a:rPr lang="zh-CN" altLang="en-US" b="1" dirty="0">
                <a:latin typeface="宋体" pitchFamily="2" charset="-122"/>
              </a:rPr>
              <a:t>，操作过程 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连接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步骤</a:t>
            </a:r>
            <a:r>
              <a:rPr lang="en-US" altLang="zh-CN" sz="1800" b="1" dirty="0" smtClean="0">
                <a:latin typeface="宋体" pitchFamily="2" charset="-122"/>
              </a:rPr>
              <a:t>) 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总线仲裁               </a:t>
            </a:r>
            <a:r>
              <a:rPr lang="zh-CN" altLang="en-US" sz="2000" b="1" dirty="0" smtClean="0">
                <a:latin typeface="+mn-ea"/>
              </a:rPr>
              <a:t>◇</a:t>
            </a:r>
            <a:r>
              <a:rPr lang="zh-CN" altLang="en-US" sz="2000" b="1" dirty="0">
                <a:latin typeface="+mn-ea"/>
              </a:rPr>
              <a:t>理解</a:t>
            </a:r>
            <a:r>
              <a:rPr lang="zh-CN" altLang="en-US" sz="2000" b="1" dirty="0" smtClean="0">
                <a:latin typeface="+mn-ea"/>
              </a:rPr>
              <a:t>原理       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latin typeface="+mn-ea"/>
              </a:rPr>
              <a:t>第</a:t>
            </a: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步的组织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集中式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仲裁</a:t>
            </a:r>
            <a:r>
              <a:rPr lang="en-US" altLang="zh-CN" sz="1800" b="1" dirty="0">
                <a:latin typeface="宋体" pitchFamily="2" charset="-122"/>
              </a:rPr>
              <a:t>(3</a:t>
            </a:r>
            <a:r>
              <a:rPr lang="zh-CN" altLang="en-US" sz="1800" b="1" dirty="0">
                <a:latin typeface="宋体" pitchFamily="2" charset="-122"/>
              </a:rPr>
              <a:t>种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的仲裁线连接、仲裁时机、仲裁</a:t>
            </a:r>
            <a:r>
              <a:rPr lang="zh-CN" altLang="en-US" b="1" dirty="0" smtClean="0">
                <a:latin typeface="宋体" pitchFamily="2" charset="-122"/>
              </a:rPr>
              <a:t>方法、特点</a:t>
            </a: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总线传输与定时         </a:t>
            </a:r>
            <a:r>
              <a:rPr lang="zh-CN" altLang="en-US" sz="2000" b="1" dirty="0" smtClean="0">
                <a:latin typeface="宋体" pitchFamily="2" charset="-122"/>
              </a:rPr>
              <a:t>△理解      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后</a:t>
            </a:r>
            <a:r>
              <a:rPr lang="en-US" altLang="zh-CN" sz="2000" b="1" dirty="0" smtClean="0">
                <a:latin typeface="宋体" pitchFamily="2" charset="-122"/>
              </a:rPr>
              <a:t>3</a:t>
            </a:r>
            <a:r>
              <a:rPr lang="zh-CN" altLang="en-US" sz="2000" b="1" dirty="0" smtClean="0">
                <a:latin typeface="宋体" pitchFamily="2" charset="-122"/>
              </a:rPr>
              <a:t>步的组织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 总线事务的类型、传输过程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传输协议组成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sz="1800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总线定时方式</a:t>
            </a:r>
            <a:r>
              <a:rPr lang="en-US" altLang="zh-CN" sz="1800" b="1" dirty="0" smtClean="0">
                <a:latin typeface="宋体" pitchFamily="2" charset="-122"/>
              </a:rPr>
              <a:t>(3</a:t>
            </a:r>
            <a:r>
              <a:rPr lang="zh-CN" altLang="en-US" sz="1800" b="1" dirty="0" smtClean="0">
                <a:latin typeface="宋体" pitchFamily="2" charset="-122"/>
              </a:rPr>
              <a:t>种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定时原理</a:t>
            </a:r>
            <a:r>
              <a:rPr lang="zh-CN" altLang="en-US" b="1" dirty="0">
                <a:latin typeface="宋体" pitchFamily="2" charset="-122"/>
              </a:rPr>
              <a:t>、联络方式、特点</a:t>
            </a: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总线结构               </a:t>
            </a:r>
            <a:r>
              <a:rPr lang="zh-CN" altLang="en-US" sz="2000" b="1" dirty="0" smtClean="0">
                <a:latin typeface="宋体" pitchFamily="2" charset="-122"/>
              </a:rPr>
              <a:t>△了解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 总线标准</a:t>
            </a:r>
            <a:r>
              <a:rPr lang="en-US" altLang="zh-CN" sz="1800" b="1" dirty="0" smtClean="0">
                <a:latin typeface="宋体" pitchFamily="2" charset="-122"/>
              </a:rPr>
              <a:t>(×)</a:t>
            </a:r>
            <a:r>
              <a:rPr lang="zh-CN" altLang="en-US" b="1" dirty="0" smtClean="0">
                <a:latin typeface="宋体" pitchFamily="2" charset="-122"/>
              </a:rPr>
              <a:t>，总线结构，</a:t>
            </a:r>
            <a:r>
              <a:rPr lang="zh-CN" altLang="en-US" b="1" dirty="0">
                <a:latin typeface="宋体" pitchFamily="2" charset="-122"/>
              </a:rPr>
              <a:t>总线接口单元的类型、功能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6" name="Text Box 132"/>
          <p:cNvSpPr txBox="1">
            <a:spLocks noChangeArrowheads="1"/>
          </p:cNvSpPr>
          <p:nvPr/>
        </p:nvSpPr>
        <p:spPr bwMode="auto">
          <a:xfrm>
            <a:off x="4716016" y="1456209"/>
            <a:ext cx="1368152" cy="36004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179512" y="5301208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*总体要求：</a:t>
            </a:r>
            <a:r>
              <a:rPr lang="zh-CN" altLang="en-US" b="1" dirty="0" smtClean="0">
                <a:latin typeface="宋体" pitchFamily="2" charset="-122"/>
              </a:rPr>
              <a:t>掌握基本概念，理解总线操作的</a:t>
            </a:r>
            <a:r>
              <a:rPr lang="zh-CN" altLang="en-US" b="1" u="sng" dirty="0" smtClean="0">
                <a:latin typeface="宋体" pitchFamily="2" charset="-122"/>
              </a:rPr>
              <a:t>组织方法</a:t>
            </a:r>
            <a:endParaRPr lang="en-US" altLang="zh-CN" sz="2000" b="1" u="sng" dirty="0" smtClean="0">
              <a:latin typeface="宋体" pitchFamily="2" charset="-122"/>
            </a:endParaRPr>
          </a:p>
        </p:txBody>
      </p:sp>
      <p:sp>
        <p:nvSpPr>
          <p:cNvPr id="11" name="AutoShape 62">
            <a:hlinkClick r:id="rId2" action="ppaction://hlinkpres?slideindex=49&amp;slidetitle=PowerPoint 演示文稿"/>
          </p:cNvPr>
          <p:cNvSpPr>
            <a:spLocks noChangeArrowheads="1"/>
          </p:cNvSpPr>
          <p:nvPr/>
        </p:nvSpPr>
        <p:spPr bwMode="auto">
          <a:xfrm>
            <a:off x="8235138" y="155679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6-49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706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511" y="4177654"/>
            <a:ext cx="8785225" cy="403473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9" name="Text Box 132"/>
          <p:cNvSpPr txBox="1">
            <a:spLocks noChangeArrowheads="1"/>
          </p:cNvSpPr>
          <p:nvPr/>
        </p:nvSpPr>
        <p:spPr bwMode="auto">
          <a:xfrm>
            <a:off x="179512" y="2780928"/>
            <a:ext cx="8785225" cy="40347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 smtClean="0">
                <a:latin typeface="宋体" pitchFamily="2" charset="-122"/>
              </a:rPr>
              <a:t>第</a:t>
            </a:r>
            <a:r>
              <a:rPr lang="en-US" altLang="zh-CN" sz="3200" b="1" dirty="0" smtClean="0">
                <a:latin typeface="宋体" pitchFamily="2" charset="-122"/>
              </a:rPr>
              <a:t>7</a:t>
            </a:r>
            <a:r>
              <a:rPr lang="zh-CN" altLang="en-US" sz="3200" b="1" dirty="0" smtClean="0">
                <a:latin typeface="宋体" pitchFamily="2" charset="-122"/>
              </a:rPr>
              <a:t>章 输入输出系统</a:t>
            </a:r>
            <a:endParaRPr lang="zh-CN" altLang="en-US" sz="3200" b="1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812088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en-US" altLang="zh-CN" sz="2200" b="1" dirty="0" smtClean="0">
                <a:latin typeface="宋体" pitchFamily="2" charset="-122"/>
              </a:rPr>
              <a:t>I/O</a:t>
            </a:r>
            <a:r>
              <a:rPr lang="zh-CN" altLang="en-US" sz="2200" b="1" dirty="0" smtClean="0">
                <a:latin typeface="宋体" pitchFamily="2" charset="-122"/>
              </a:rPr>
              <a:t>系统组成，磁盘组成，</a:t>
            </a:r>
            <a:r>
              <a:rPr lang="en-US" altLang="zh-CN" sz="2200" b="1" dirty="0" smtClean="0">
                <a:latin typeface="宋体" pitchFamily="2" charset="-122"/>
              </a:rPr>
              <a:t>I/O</a:t>
            </a:r>
            <a:r>
              <a:rPr lang="zh-CN" altLang="en-US" sz="2200" b="1" dirty="0" smtClean="0">
                <a:latin typeface="宋体" pitchFamily="2" charset="-122"/>
              </a:rPr>
              <a:t>接口，传送控制方式组织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388" y="1340768"/>
            <a:ext cx="8812212" cy="336092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系统组成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1.I/O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系统组成            </a:t>
            </a:r>
            <a:r>
              <a:rPr lang="zh-CN" altLang="en-US" sz="2000" b="1" dirty="0" smtClean="0">
                <a:latin typeface="宋体" pitchFamily="2" charset="-122"/>
              </a:rPr>
              <a:t>△了解软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硬件关系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I/O</a:t>
            </a:r>
            <a:r>
              <a:rPr lang="zh-CN" altLang="en-US" b="1" dirty="0" smtClean="0">
                <a:latin typeface="宋体" pitchFamily="2" charset="-122"/>
              </a:rPr>
              <a:t>的性能</a:t>
            </a:r>
            <a:r>
              <a:rPr lang="en-US" altLang="zh-CN" sz="1800" b="1" dirty="0" smtClean="0">
                <a:latin typeface="宋体" pitchFamily="2" charset="-122"/>
              </a:rPr>
              <a:t>(I/O</a:t>
            </a:r>
            <a:r>
              <a:rPr lang="zh-CN" altLang="en-US" sz="1800" b="1" dirty="0" smtClean="0">
                <a:latin typeface="宋体" pitchFamily="2" charset="-122"/>
              </a:rPr>
              <a:t>所占</a:t>
            </a:r>
            <a:r>
              <a:rPr lang="en-US" altLang="zh-CN" sz="1800" b="1" dirty="0" smtClean="0">
                <a:latin typeface="宋体" pitchFamily="2" charset="-122"/>
              </a:rPr>
              <a:t>CPU</a:t>
            </a:r>
            <a:r>
              <a:rPr lang="zh-CN" altLang="en-US" sz="1800" b="1" dirty="0" smtClean="0">
                <a:latin typeface="宋体" pitchFamily="2" charset="-122"/>
              </a:rPr>
              <a:t>时间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，硬件组成，软件组成</a:t>
            </a:r>
            <a:endParaRPr lang="en-US" altLang="zh-CN" sz="1800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外设与主机的联系       </a:t>
            </a:r>
            <a:r>
              <a:rPr lang="zh-CN" altLang="en-US" sz="2000" b="1" dirty="0" smtClean="0">
                <a:latin typeface="宋体" pitchFamily="2" charset="-122"/>
              </a:rPr>
              <a:t>☆理解</a:t>
            </a:r>
            <a:r>
              <a:rPr lang="en-US" altLang="zh-CN" sz="2000" b="1" dirty="0" smtClean="0">
                <a:latin typeface="宋体" pitchFamily="2" charset="-122"/>
              </a:rPr>
              <a:t>I/O</a:t>
            </a:r>
            <a:r>
              <a:rPr lang="zh-CN" altLang="en-US" sz="2000" b="1" dirty="0" smtClean="0">
                <a:latin typeface="宋体" pitchFamily="2" charset="-122"/>
              </a:rPr>
              <a:t>的硬件组织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b="1" dirty="0" smtClean="0">
                <a:latin typeface="宋体" pitchFamily="2" charset="-122"/>
              </a:rPr>
              <a:t> 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3.I/O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的传送控制方式      </a:t>
            </a:r>
            <a:r>
              <a:rPr lang="zh-CN" altLang="en-US" sz="2000" b="1" dirty="0" smtClean="0">
                <a:latin typeface="宋体" pitchFamily="2" charset="-122"/>
              </a:rPr>
              <a:t>☆理解</a:t>
            </a:r>
            <a:r>
              <a:rPr lang="en-US" altLang="zh-CN" sz="2000" b="1" dirty="0" smtClean="0">
                <a:latin typeface="宋体" pitchFamily="2" charset="-122"/>
              </a:rPr>
              <a:t>I/O</a:t>
            </a:r>
            <a:r>
              <a:rPr lang="zh-CN" altLang="en-US" sz="2000" b="1" dirty="0" smtClean="0">
                <a:latin typeface="宋体" pitchFamily="2" charset="-122"/>
              </a:rPr>
              <a:t>的软件组织</a:t>
            </a:r>
            <a:endParaRPr lang="en-US" altLang="zh-CN" sz="2000" b="1" dirty="0" smtClean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8" name="Text Box 352"/>
          <p:cNvSpPr txBox="1">
            <a:spLocks noChangeArrowheads="1"/>
          </p:cNvSpPr>
          <p:nvPr/>
        </p:nvSpPr>
        <p:spPr bwMode="auto">
          <a:xfrm>
            <a:off x="188944" y="3205424"/>
            <a:ext cx="8812212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连接方式</a:t>
            </a:r>
            <a:r>
              <a:rPr lang="en-US" altLang="zh-CN" sz="1800" b="1" dirty="0" smtClean="0">
                <a:latin typeface="宋体" pitchFamily="2" charset="-122"/>
              </a:rPr>
              <a:t>(I/O</a:t>
            </a:r>
            <a:r>
              <a:rPr lang="zh-CN" altLang="en-US" sz="1800" b="1" dirty="0" smtClean="0">
                <a:latin typeface="宋体" pitchFamily="2" charset="-122"/>
              </a:rPr>
              <a:t>过程、</a:t>
            </a:r>
            <a:r>
              <a:rPr lang="en-US" altLang="zh-CN" sz="1800" b="1" dirty="0" smtClean="0">
                <a:latin typeface="宋体" pitchFamily="2" charset="-122"/>
              </a:rPr>
              <a:t>I/O</a:t>
            </a:r>
            <a:r>
              <a:rPr lang="zh-CN" altLang="en-US" sz="1800" b="1" dirty="0" smtClean="0">
                <a:latin typeface="宋体" pitchFamily="2" charset="-122"/>
              </a:rPr>
              <a:t>指令功能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，编址方式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总线需求、特点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目标设备识别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判断方法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，联络方式</a:t>
            </a:r>
            <a:r>
              <a:rPr lang="en-US" altLang="zh-CN" sz="1800" b="1" dirty="0" smtClean="0">
                <a:latin typeface="宋体" pitchFamily="2" charset="-122"/>
              </a:rPr>
              <a:t>(3</a:t>
            </a:r>
            <a:r>
              <a:rPr lang="zh-CN" altLang="en-US" sz="1800" b="1" dirty="0" smtClean="0">
                <a:latin typeface="宋体" pitchFamily="2" charset="-122"/>
              </a:rPr>
              <a:t>种</a:t>
            </a:r>
            <a:r>
              <a:rPr lang="en-US" altLang="zh-CN" sz="1800" b="1" dirty="0" smtClean="0">
                <a:latin typeface="宋体" pitchFamily="2" charset="-122"/>
              </a:rPr>
              <a:t>[</a:t>
            </a:r>
            <a:r>
              <a:rPr lang="zh-CN" altLang="en-US" sz="1800" b="1" dirty="0" smtClean="0">
                <a:latin typeface="宋体" pitchFamily="2" charset="-122"/>
              </a:rPr>
              <a:t>基于数据传送方式</a:t>
            </a:r>
            <a:r>
              <a:rPr lang="en-US" altLang="zh-CN" sz="1800" b="1" dirty="0" smtClean="0">
                <a:latin typeface="宋体" pitchFamily="2" charset="-122"/>
              </a:rPr>
              <a:t>])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10" name="Text Box 352"/>
          <p:cNvSpPr txBox="1">
            <a:spLocks noChangeArrowheads="1"/>
          </p:cNvSpPr>
          <p:nvPr/>
        </p:nvSpPr>
        <p:spPr bwMode="auto">
          <a:xfrm>
            <a:off x="179512" y="4581128"/>
            <a:ext cx="8812212" cy="1361911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en-US" altLang="zh-CN" b="1" dirty="0" smtClean="0">
                <a:latin typeface="宋体" pitchFamily="2" charset="-122"/>
              </a:rPr>
              <a:t>4</a:t>
            </a:r>
            <a:r>
              <a:rPr lang="zh-CN" altLang="en-US" b="1" dirty="0">
                <a:latin typeface="宋体" pitchFamily="2" charset="-122"/>
              </a:rPr>
              <a:t>种方式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en-US" altLang="zh-CN" b="1" dirty="0" smtClean="0">
                <a:latin typeface="宋体" pitchFamily="2" charset="-122"/>
              </a:rPr>
              <a:t>I/O</a:t>
            </a:r>
            <a:r>
              <a:rPr lang="zh-CN" altLang="en-US" b="1" dirty="0" smtClean="0">
                <a:latin typeface="宋体" pitchFamily="2" charset="-122"/>
              </a:rPr>
              <a:t>功能、传送</a:t>
            </a:r>
            <a:r>
              <a:rPr lang="zh-CN" altLang="en-US" b="1" dirty="0">
                <a:latin typeface="宋体" pitchFamily="2" charset="-122"/>
              </a:rPr>
              <a:t>控制原理、</a:t>
            </a:r>
            <a:r>
              <a:rPr lang="en-US" altLang="zh-CN" b="1" dirty="0">
                <a:latin typeface="宋体" pitchFamily="2" charset="-122"/>
              </a:rPr>
              <a:t>I/O</a:t>
            </a:r>
            <a:r>
              <a:rPr lang="zh-CN" altLang="en-US" b="1" dirty="0">
                <a:latin typeface="宋体" pitchFamily="2" charset="-122"/>
              </a:rPr>
              <a:t>所占</a:t>
            </a:r>
            <a:r>
              <a:rPr lang="en-US" altLang="zh-CN" b="1" dirty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时间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 smtClean="0">
                <a:latin typeface="宋体" pitchFamily="2" charset="-122"/>
              </a:rPr>
              <a:t>         (</a:t>
            </a:r>
            <a:r>
              <a:rPr lang="zh-CN" altLang="en-US" sz="1800" b="1" dirty="0" smtClean="0">
                <a:latin typeface="宋体" pitchFamily="2" charset="-122"/>
              </a:rPr>
              <a:t>查询</a:t>
            </a:r>
            <a:r>
              <a:rPr lang="zh-CN" altLang="en-US" sz="1800" b="1" dirty="0">
                <a:latin typeface="宋体" pitchFamily="2" charset="-122"/>
              </a:rPr>
              <a:t>方式</a:t>
            </a:r>
            <a:r>
              <a:rPr lang="zh-CN" altLang="en-US" sz="1800" b="1" dirty="0" smtClean="0">
                <a:latin typeface="宋体" pitchFamily="2" charset="-122"/>
              </a:rPr>
              <a:t>有独占</a:t>
            </a:r>
            <a:r>
              <a:rPr lang="zh-CN" altLang="en-US" sz="1800" b="1" dirty="0">
                <a:latin typeface="宋体" pitchFamily="2" charset="-122"/>
              </a:rPr>
              <a:t>查询</a:t>
            </a:r>
            <a:r>
              <a:rPr lang="zh-CN" altLang="en-US" sz="1800" b="1" dirty="0" smtClean="0">
                <a:latin typeface="宋体" pitchFamily="2" charset="-122"/>
              </a:rPr>
              <a:t>、定时查询</a:t>
            </a:r>
            <a:r>
              <a:rPr lang="en-US" altLang="zh-CN" sz="1800" b="1" dirty="0" smtClean="0">
                <a:latin typeface="宋体" pitchFamily="2" charset="-122"/>
              </a:rPr>
              <a:t>2</a:t>
            </a:r>
            <a:r>
              <a:rPr lang="zh-CN" altLang="en-US" sz="1800" b="1" dirty="0">
                <a:latin typeface="宋体" pitchFamily="2" charset="-122"/>
              </a:rPr>
              <a:t>种类型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itchFamily="2" charset="-122"/>
              </a:rPr>
              <a:t>     〖</a:t>
            </a:r>
            <a:r>
              <a:rPr lang="zh-CN" altLang="en-US" sz="2200" b="1" dirty="0">
                <a:latin typeface="宋体" pitchFamily="2" charset="-122"/>
              </a:rPr>
              <a:t>例</a:t>
            </a:r>
            <a:r>
              <a:rPr lang="en-US" altLang="zh-CN" sz="2200" b="1" dirty="0" smtClean="0">
                <a:latin typeface="宋体" pitchFamily="2" charset="-122"/>
              </a:rPr>
              <a:t>〗PPT7</a:t>
            </a:r>
            <a:r>
              <a:rPr lang="zh-CN" altLang="en-US" sz="2200" b="1" dirty="0" smtClean="0">
                <a:latin typeface="宋体" pitchFamily="2" charset="-122"/>
              </a:rPr>
              <a:t>的</a:t>
            </a:r>
            <a:r>
              <a:rPr lang="en-US" altLang="zh-CN" sz="2200" b="1" dirty="0" smtClean="0">
                <a:latin typeface="宋体" pitchFamily="2" charset="-122"/>
              </a:rPr>
              <a:t>P36</a:t>
            </a:r>
            <a:r>
              <a:rPr lang="zh-CN" altLang="en-US" sz="2200" b="1" dirty="0" smtClean="0">
                <a:latin typeface="宋体" pitchFamily="2" charset="-122"/>
              </a:rPr>
              <a:t>例、</a:t>
            </a:r>
            <a:r>
              <a:rPr lang="en-US" altLang="zh-CN" sz="2200" b="1" dirty="0" smtClean="0">
                <a:latin typeface="宋体" pitchFamily="2" charset="-122"/>
              </a:rPr>
              <a:t>P61</a:t>
            </a:r>
            <a:r>
              <a:rPr lang="zh-CN" altLang="en-US" sz="2200" b="1" dirty="0" smtClean="0">
                <a:latin typeface="宋体" pitchFamily="2" charset="-122"/>
              </a:rPr>
              <a:t>例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11" name="AutoShape 62">
            <a:hlinkClick r:id="rId3" action="ppaction://hlinkpres?slideindex=10&amp;slidetitle=PowerPoint 演示文稿"/>
          </p:cNvPr>
          <p:cNvSpPr>
            <a:spLocks noChangeArrowheads="1"/>
          </p:cNvSpPr>
          <p:nvPr/>
        </p:nvSpPr>
        <p:spPr bwMode="auto">
          <a:xfrm>
            <a:off x="8298762" y="2870937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7-10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" name="AutoShape 62">
            <a:hlinkClick r:id="rId4" action="ppaction://hlinkpres?slideindex=12&amp;slidetitle=PowerPoint 演示文稿"/>
          </p:cNvPr>
          <p:cNvSpPr>
            <a:spLocks noChangeArrowheads="1"/>
          </p:cNvSpPr>
          <p:nvPr/>
        </p:nvSpPr>
        <p:spPr bwMode="auto">
          <a:xfrm>
            <a:off x="8370770" y="515719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7-12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4" name="AutoShape 62">
            <a:hlinkClick r:id="rId5" action="ppaction://hlinkpres?slideindex=36&amp;slidetitle=PowerPoint 演示文稿"/>
          </p:cNvPr>
          <p:cNvSpPr>
            <a:spLocks noChangeArrowheads="1"/>
          </p:cNvSpPr>
          <p:nvPr/>
        </p:nvSpPr>
        <p:spPr bwMode="auto">
          <a:xfrm>
            <a:off x="7596336" y="558924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7-36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5" name="AutoShape 62">
            <a:hlinkClick r:id="rId6" action="ppaction://hlinkpres?slideindex=61&amp;slidetitle=PowerPoint 演示文稿"/>
          </p:cNvPr>
          <p:cNvSpPr>
            <a:spLocks noChangeArrowheads="1"/>
          </p:cNvSpPr>
          <p:nvPr/>
        </p:nvSpPr>
        <p:spPr bwMode="auto">
          <a:xfrm>
            <a:off x="8370770" y="558924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7-61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763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6" grpId="0"/>
      <p:bldP spid="8" grpId="0"/>
      <p:bldP spid="10" grpId="0"/>
      <p:bldP spid="11" grpId="0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2708920"/>
            <a:ext cx="8812212" cy="240065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控制方式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程序直接控制</a:t>
            </a: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方式    </a:t>
            </a:r>
            <a:r>
              <a:rPr lang="zh-CN" altLang="en-US" sz="2000" b="1" dirty="0" smtClean="0">
                <a:latin typeface="+mn-ea"/>
                <a:ea typeface="+mn-ea"/>
              </a:rPr>
              <a:t>◇理解控制流程→硬件组织</a:t>
            </a:r>
            <a:endParaRPr lang="en-US" altLang="zh-CN" b="1" dirty="0" smtClean="0">
              <a:solidFill>
                <a:srgbClr val="FF33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程序查询方式</a:t>
            </a:r>
            <a:r>
              <a:rPr lang="en-US" altLang="zh-CN" b="1" dirty="0" smtClean="0">
                <a:latin typeface="宋体" pitchFamily="2" charset="-122"/>
              </a:rPr>
              <a:t>—I/O</a:t>
            </a:r>
            <a:r>
              <a:rPr lang="zh-CN" altLang="en-US" b="1" dirty="0" smtClean="0">
                <a:latin typeface="宋体" pitchFamily="2" charset="-122"/>
              </a:rPr>
              <a:t>控制流程，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I/O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接口组织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端口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支持操作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  <a:ea typeface="+mn-ea"/>
              </a:rPr>
              <a:t>   直接传送方式</a:t>
            </a:r>
            <a:r>
              <a:rPr lang="en-US" altLang="zh-CN" b="1" dirty="0" smtClean="0">
                <a:latin typeface="宋体" pitchFamily="2" charset="-122"/>
                <a:ea typeface="+mn-ea"/>
              </a:rPr>
              <a:t>—</a:t>
            </a:r>
            <a:r>
              <a:rPr lang="en-US" altLang="zh-CN" b="1" dirty="0">
                <a:latin typeface="宋体" pitchFamily="2" charset="-122"/>
              </a:rPr>
              <a:t>I/O</a:t>
            </a:r>
            <a:r>
              <a:rPr lang="zh-CN" altLang="en-US" b="1" dirty="0">
                <a:latin typeface="宋体" pitchFamily="2" charset="-122"/>
              </a:rPr>
              <a:t>控制流程，</a:t>
            </a:r>
            <a:r>
              <a:rPr lang="en-US" altLang="zh-CN" b="1" dirty="0">
                <a:latin typeface="宋体" pitchFamily="2" charset="-122"/>
              </a:rPr>
              <a:t>I/O</a:t>
            </a:r>
            <a:r>
              <a:rPr lang="zh-CN" altLang="en-US" b="1" dirty="0" smtClean="0">
                <a:latin typeface="宋体" pitchFamily="2" charset="-122"/>
              </a:rPr>
              <a:t>接口组织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端口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支持</a:t>
            </a:r>
            <a:r>
              <a:rPr lang="zh-CN" altLang="en-US" sz="1800" b="1" dirty="0">
                <a:latin typeface="宋体" pitchFamily="2" charset="-122"/>
              </a:rPr>
              <a:t>操作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程序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中断</a:t>
            </a: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方式</a:t>
            </a:r>
            <a:endParaRPr lang="en-US" altLang="zh-CN" b="1" dirty="0">
              <a:solidFill>
                <a:srgbClr val="FF3399"/>
              </a:solidFill>
              <a:latin typeface="+mn-ea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1772816"/>
            <a:ext cx="871309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              </a:t>
            </a:r>
            <a:r>
              <a:rPr lang="zh-CN" altLang="en-US" sz="2000" b="1" dirty="0" smtClean="0">
                <a:latin typeface="宋体" pitchFamily="2" charset="-122"/>
              </a:rPr>
              <a:t>△</a:t>
            </a:r>
            <a:r>
              <a:rPr lang="zh-CN" altLang="en-US" sz="2000" b="1" dirty="0">
                <a:latin typeface="宋体" pitchFamily="2" charset="-122"/>
              </a:rPr>
              <a:t>了解概念</a:t>
            </a:r>
            <a:endParaRPr lang="en-US" altLang="zh-CN" sz="2000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功能、</a:t>
            </a:r>
            <a:r>
              <a:rPr lang="en-US" altLang="zh-CN" b="1" dirty="0" smtClean="0">
                <a:latin typeface="宋体" pitchFamily="2" charset="-122"/>
              </a:rPr>
              <a:t>I/O</a:t>
            </a:r>
            <a:r>
              <a:rPr lang="zh-CN" altLang="en-US" b="1" dirty="0" smtClean="0">
                <a:latin typeface="宋体" pitchFamily="2" charset="-122"/>
              </a:rPr>
              <a:t>端口类型，组成、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工作原理</a:t>
            </a:r>
            <a:r>
              <a:rPr lang="zh-CN" altLang="en-US" b="1" dirty="0" smtClean="0">
                <a:latin typeface="宋体" pitchFamily="2" charset="-122"/>
              </a:rPr>
              <a:t>，访问方法</a:t>
            </a:r>
            <a:endParaRPr lang="en-US" altLang="zh-CN" b="1" dirty="0" smtClean="0">
              <a:latin typeface="宋体" pitchFamily="2" charset="-122"/>
              <a:ea typeface="+mn-ea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512" y="4514344"/>
            <a:ext cx="8784976" cy="193899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+mn-ea"/>
              </a:rPr>
              <a:t>                         </a:t>
            </a:r>
            <a:r>
              <a:rPr lang="zh-CN" altLang="en-US" sz="2000" b="1" dirty="0" smtClean="0">
                <a:latin typeface="+mn-ea"/>
              </a:rPr>
              <a:t>◇理解中断过程→软</a:t>
            </a:r>
            <a:r>
              <a:rPr lang="en-US" altLang="zh-CN" sz="2000" b="1" dirty="0" smtClean="0">
                <a:latin typeface="+mn-ea"/>
              </a:rPr>
              <a:t>/</a:t>
            </a:r>
            <a:r>
              <a:rPr lang="zh-CN" altLang="en-US" sz="2000" b="1" dirty="0" smtClean="0">
                <a:latin typeface="+mn-ea"/>
              </a:rPr>
              <a:t>硬件组织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I/O</a:t>
            </a:r>
            <a:r>
              <a:rPr lang="zh-CN" altLang="en-US" b="1" dirty="0">
                <a:latin typeface="宋体" pitchFamily="2" charset="-122"/>
              </a:rPr>
              <a:t>控制流程</a:t>
            </a:r>
            <a:r>
              <a:rPr lang="zh-CN" altLang="en-US" b="1" dirty="0" smtClean="0">
                <a:latin typeface="宋体" pitchFamily="2" charset="-122"/>
              </a:rPr>
              <a:t>，中断的类型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请求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响应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处理过程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   I/O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接口组织</a:t>
            </a:r>
            <a:r>
              <a:rPr lang="zh-CN" altLang="en-US" b="1" dirty="0" smtClean="0">
                <a:latin typeface="宋体" pitchFamily="2" charset="-122"/>
              </a:rPr>
              <a:t>，中断源识别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连接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判优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，中断控制器</a:t>
            </a:r>
            <a:r>
              <a:rPr lang="en-US" altLang="zh-CN" sz="2000" b="1" dirty="0" smtClean="0">
                <a:latin typeface="宋体" pitchFamily="2" charset="-122"/>
              </a:rPr>
              <a:t>(×)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中断系统举例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理解软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硬件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协同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，多重中断及中断屏蔽</a:t>
            </a:r>
            <a:r>
              <a:rPr lang="en-US" altLang="zh-CN" sz="2000" b="1" dirty="0" smtClean="0">
                <a:latin typeface="宋体" pitchFamily="2" charset="-122"/>
              </a:rPr>
              <a:t>(×)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3995936" y="5445224"/>
            <a:ext cx="828154" cy="576064"/>
            <a:chOff x="4103886" y="3573016"/>
            <a:chExt cx="828154" cy="576064"/>
          </a:xfrm>
        </p:grpSpPr>
        <p:cxnSp>
          <p:nvCxnSpPr>
            <p:cNvPr id="7" name="直接箭头连接符 6"/>
            <p:cNvCxnSpPr/>
            <p:nvPr/>
          </p:nvCxnSpPr>
          <p:spPr bwMode="auto">
            <a:xfrm>
              <a:off x="4103886" y="3573016"/>
              <a:ext cx="432048" cy="57606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 bwMode="auto">
            <a:xfrm flipH="1">
              <a:off x="4572000" y="4005064"/>
              <a:ext cx="360040" cy="14401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512" y="367496"/>
            <a:ext cx="8812212" cy="147732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二、外部设备             </a:t>
            </a:r>
            <a:r>
              <a:rPr lang="en-US" altLang="zh-CN" sz="2000" b="1" dirty="0" smtClean="0">
                <a:latin typeface="+mn-ea"/>
                <a:ea typeface="+mn-ea"/>
              </a:rPr>
              <a:t>×</a:t>
            </a:r>
            <a:r>
              <a:rPr lang="zh-CN" altLang="en-US" sz="2000" b="1" dirty="0" smtClean="0">
                <a:latin typeface="+mn-ea"/>
                <a:ea typeface="+mn-ea"/>
              </a:rPr>
              <a:t>不考  </a:t>
            </a:r>
            <a:r>
              <a:rPr lang="en-US" altLang="zh-CN" sz="1800" b="1" dirty="0" smtClean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solidFill>
                  <a:schemeClr val="bg1">
                    <a:lumMod val="85000"/>
                  </a:schemeClr>
                </a:solidFill>
                <a:latin typeface="宋体" pitchFamily="2" charset="-122"/>
              </a:rPr>
              <a:t>了解</a:t>
            </a:r>
            <a:r>
              <a:rPr lang="zh-CN" altLang="en-US" sz="1800" b="1" dirty="0" smtClean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rPr>
              <a:t>磁盘组成、可分析性能</a:t>
            </a:r>
            <a:r>
              <a:rPr lang="en-US" altLang="zh-CN" sz="1800" b="1" dirty="0" smtClean="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输入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设备的组成、工作原理</a:t>
            </a:r>
            <a:r>
              <a:rPr lang="en-US" altLang="zh-CN" sz="2000" b="1" dirty="0" smtClean="0">
                <a:latin typeface="宋体" pitchFamily="2" charset="-122"/>
              </a:rPr>
              <a:t>(×)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磁盘的结构、工作原理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zh-CN" altLang="en-US" b="1" dirty="0" smtClean="0">
                <a:latin typeface="宋体" pitchFamily="2" charset="-122"/>
              </a:rPr>
              <a:t>性能指标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6" name="AutoShape 62">
            <a:hlinkClick r:id="rId2" action="ppaction://hlinkpres?slideindex=49&amp;slidetitle=PowerPoint 演示文稿"/>
          </p:cNvPr>
          <p:cNvSpPr>
            <a:spLocks noChangeArrowheads="1"/>
          </p:cNvSpPr>
          <p:nvPr/>
        </p:nvSpPr>
        <p:spPr bwMode="auto">
          <a:xfrm>
            <a:off x="8370770" y="472514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7-49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915816" y="2708920"/>
            <a:ext cx="2689705" cy="1512168"/>
            <a:chOff x="2915816" y="2708920"/>
            <a:chExt cx="2689705" cy="1512168"/>
          </a:xfrm>
        </p:grpSpPr>
        <p:cxnSp>
          <p:nvCxnSpPr>
            <p:cNvPr id="11" name="直接箭头连接符 10"/>
            <p:cNvCxnSpPr/>
            <p:nvPr/>
          </p:nvCxnSpPr>
          <p:spPr bwMode="auto">
            <a:xfrm>
              <a:off x="2915816" y="2708920"/>
              <a:ext cx="2689705" cy="100811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2915816" y="2708920"/>
              <a:ext cx="2592288" cy="151216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035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404664"/>
            <a:ext cx="8784976" cy="2229841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</a:rPr>
              <a:t>3.DMA I/O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方式 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            </a:t>
            </a:r>
            <a:r>
              <a:rPr lang="zh-CN" altLang="en-US" sz="2000" b="1" dirty="0" smtClean="0">
                <a:latin typeface="宋体" pitchFamily="2" charset="-122"/>
              </a:rPr>
              <a:t>△了解</a:t>
            </a:r>
            <a:r>
              <a:rPr lang="en-US" altLang="zh-CN" sz="2000" b="1" dirty="0" smtClean="0">
                <a:latin typeface="宋体" pitchFamily="2" charset="-122"/>
              </a:rPr>
              <a:t>DMA</a:t>
            </a:r>
            <a:r>
              <a:rPr lang="zh-CN" altLang="en-US" sz="2000" b="1" dirty="0">
                <a:latin typeface="宋体" pitchFamily="2" charset="-122"/>
              </a:rPr>
              <a:t>的</a:t>
            </a:r>
            <a:r>
              <a:rPr lang="zh-CN" altLang="en-US" sz="2000" b="1" dirty="0" smtClean="0">
                <a:latin typeface="宋体" pitchFamily="2" charset="-122"/>
              </a:rPr>
              <a:t>传送过程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I/O</a:t>
            </a:r>
            <a:r>
              <a:rPr lang="zh-CN" altLang="en-US" b="1" dirty="0" smtClean="0">
                <a:latin typeface="宋体" pitchFamily="2" charset="-122"/>
              </a:rPr>
              <a:t>功能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→对</a:t>
            </a:r>
            <a:r>
              <a:rPr lang="en-US" altLang="zh-CN" sz="1800" b="1" dirty="0" smtClean="0">
                <a:latin typeface="宋体" pitchFamily="2" charset="-122"/>
              </a:rPr>
              <a:t>CPU</a:t>
            </a:r>
            <a:r>
              <a:rPr lang="zh-CN" altLang="en-US" sz="1800" b="1" dirty="0" smtClean="0">
                <a:latin typeface="宋体" pitchFamily="2" charset="-122"/>
              </a:rPr>
              <a:t>的要求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en-US" altLang="zh-CN" b="1" dirty="0" smtClean="0">
                <a:latin typeface="宋体" pitchFamily="2" charset="-122"/>
              </a:rPr>
              <a:t>I/O</a:t>
            </a:r>
            <a:r>
              <a:rPr lang="zh-CN" altLang="en-US" b="1" dirty="0">
                <a:latin typeface="宋体" pitchFamily="2" charset="-122"/>
              </a:rPr>
              <a:t>控制流程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传送方式</a:t>
            </a:r>
            <a:r>
              <a:rPr lang="en-US" altLang="zh-CN" sz="1800" b="1" dirty="0" smtClean="0">
                <a:latin typeface="宋体" pitchFamily="2" charset="-122"/>
              </a:rPr>
              <a:t>([</a:t>
            </a:r>
            <a:r>
              <a:rPr lang="zh-CN" altLang="en-US" sz="1800" b="1" dirty="0" smtClean="0">
                <a:latin typeface="宋体" pitchFamily="2" charset="-122"/>
              </a:rPr>
              <a:t>总线使用权</a:t>
            </a:r>
            <a:r>
              <a:rPr lang="zh-CN" altLang="en-US" sz="1800" b="1" dirty="0">
                <a:latin typeface="宋体" pitchFamily="2" charset="-122"/>
              </a:rPr>
              <a:t>的请求方式</a:t>
            </a:r>
            <a:r>
              <a:rPr lang="en-US" altLang="zh-CN" sz="1800" b="1" dirty="0" smtClean="0">
                <a:latin typeface="宋体" pitchFamily="2" charset="-122"/>
              </a:rPr>
              <a:t>]3</a:t>
            </a:r>
            <a:r>
              <a:rPr lang="zh-CN" altLang="en-US" sz="1800" b="1" dirty="0" smtClean="0">
                <a:latin typeface="宋体" pitchFamily="2" charset="-122"/>
              </a:rPr>
              <a:t>种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DMA</a:t>
            </a:r>
            <a:r>
              <a:rPr lang="zh-CN" altLang="en-US" b="1" dirty="0" smtClean="0">
                <a:latin typeface="宋体" pitchFamily="2" charset="-122"/>
              </a:rPr>
              <a:t>接口基本结构→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传送过程，</a:t>
            </a:r>
            <a:r>
              <a:rPr lang="en-US" altLang="zh-CN" b="1" dirty="0" smtClean="0">
                <a:latin typeface="宋体" pitchFamily="2" charset="-122"/>
              </a:rPr>
              <a:t>I/O</a:t>
            </a:r>
            <a:r>
              <a:rPr lang="zh-CN" altLang="en-US" b="1" dirty="0" smtClean="0">
                <a:latin typeface="宋体" pitchFamily="2" charset="-122"/>
              </a:rPr>
              <a:t>接口组织</a:t>
            </a:r>
            <a:r>
              <a:rPr lang="en-US" altLang="zh-CN" sz="2000" b="1" dirty="0" smtClean="0">
                <a:latin typeface="宋体" pitchFamily="2" charset="-122"/>
              </a:rPr>
              <a:t>(×)</a:t>
            </a:r>
          </a:p>
          <a:p>
            <a:pPr>
              <a:lnSpc>
                <a:spcPct val="105000"/>
              </a:lnSpc>
            </a:pPr>
            <a:r>
              <a:rPr lang="en-US" altLang="zh-CN" sz="1800" b="1" dirty="0" smtClean="0">
                <a:latin typeface="宋体" pitchFamily="2" charset="-122"/>
              </a:rPr>
              <a:t>   (</a:t>
            </a:r>
            <a:r>
              <a:rPr lang="zh-CN" altLang="en-US" sz="1800" b="1" dirty="0" smtClean="0">
                <a:latin typeface="宋体" pitchFamily="2" charset="-122"/>
              </a:rPr>
              <a:t>中断接口</a:t>
            </a:r>
            <a:r>
              <a:rPr lang="en-US" altLang="zh-CN" sz="1800" b="1" dirty="0" smtClean="0">
                <a:latin typeface="宋体" pitchFamily="2" charset="-122"/>
              </a:rPr>
              <a:t>+DMA</a:t>
            </a:r>
            <a:r>
              <a:rPr lang="zh-CN" altLang="en-US" sz="1800" b="1" dirty="0" smtClean="0">
                <a:latin typeface="宋体" pitchFamily="2" charset="-122"/>
              </a:rPr>
              <a:t>传送控制</a:t>
            </a:r>
            <a:r>
              <a:rPr lang="en-US" altLang="zh-CN" sz="1800" b="1" dirty="0" smtClean="0">
                <a:latin typeface="宋体" pitchFamily="2" charset="-122"/>
              </a:rPr>
              <a:t>)    (3</a:t>
            </a:r>
            <a:r>
              <a:rPr lang="zh-CN" altLang="en-US" sz="1800" b="1" dirty="0" smtClean="0">
                <a:latin typeface="宋体" pitchFamily="2" charset="-122"/>
              </a:rPr>
              <a:t>段式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4" name="Text Box 43"/>
          <p:cNvSpPr txBox="1">
            <a:spLocks noChangeArrowheads="1"/>
          </p:cNvSpPr>
          <p:nvPr/>
        </p:nvSpPr>
        <p:spPr bwMode="auto">
          <a:xfrm>
            <a:off x="179512" y="2629361"/>
            <a:ext cx="8784976" cy="1400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*总体要求：</a:t>
            </a:r>
            <a:r>
              <a:rPr lang="zh-CN" altLang="en-US" b="1" spc="-150" dirty="0" smtClean="0">
                <a:latin typeface="宋体" pitchFamily="2" charset="-122"/>
              </a:rPr>
              <a:t>掌握</a:t>
            </a:r>
            <a:r>
              <a:rPr lang="en-US" altLang="zh-CN" b="1" spc="-150" dirty="0" smtClean="0">
                <a:latin typeface="宋体" pitchFamily="2" charset="-122"/>
              </a:rPr>
              <a:t>I/O</a:t>
            </a:r>
            <a:r>
              <a:rPr lang="zh-CN" altLang="en-US" b="1" spc="-150" dirty="0" smtClean="0">
                <a:latin typeface="宋体" pitchFamily="2" charset="-122"/>
              </a:rPr>
              <a:t>过程的</a:t>
            </a:r>
            <a:r>
              <a:rPr lang="zh-CN" altLang="en-US" b="1" u="sng" spc="-150" dirty="0" smtClean="0">
                <a:latin typeface="宋体" pitchFamily="2" charset="-122"/>
              </a:rPr>
              <a:t>软硬件协同</a:t>
            </a:r>
            <a:r>
              <a:rPr lang="zh-CN" altLang="en-US" b="1" spc="-150" dirty="0" smtClean="0">
                <a:latin typeface="宋体" pitchFamily="2" charset="-122"/>
              </a:rPr>
              <a:t>，</a:t>
            </a:r>
            <a:endParaRPr lang="en-US" altLang="zh-CN" b="1" spc="-15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spc="-150" dirty="0" smtClean="0">
                <a:latin typeface="宋体" pitchFamily="2" charset="-122"/>
              </a:rPr>
              <a:t>                                        (</a:t>
            </a:r>
            <a:r>
              <a:rPr lang="zh-CN" altLang="en-US" sz="1800" b="1" spc="-150" dirty="0">
                <a:latin typeface="宋体" pitchFamily="2" charset="-122"/>
              </a:rPr>
              <a:t>连接</a:t>
            </a:r>
            <a:r>
              <a:rPr lang="en-US" altLang="zh-CN" sz="1800" b="1" spc="-150" dirty="0" smtClean="0">
                <a:latin typeface="宋体" pitchFamily="2" charset="-122"/>
              </a:rPr>
              <a:t>/IO</a:t>
            </a:r>
            <a:r>
              <a:rPr lang="zh-CN" altLang="en-US" sz="1800" b="1" spc="-150" dirty="0" smtClean="0">
                <a:latin typeface="宋体" pitchFamily="2" charset="-122"/>
              </a:rPr>
              <a:t>过程的操作</a:t>
            </a:r>
            <a:r>
              <a:rPr lang="en-US" altLang="zh-CN" sz="1800" b="1" spc="-150" dirty="0" smtClean="0">
                <a:latin typeface="宋体" pitchFamily="2" charset="-122"/>
              </a:rPr>
              <a:t>/</a:t>
            </a:r>
            <a:r>
              <a:rPr lang="zh-CN" altLang="en-US" sz="1800" b="1" spc="-150" dirty="0" smtClean="0">
                <a:latin typeface="宋体" pitchFamily="2" charset="-122"/>
              </a:rPr>
              <a:t>指令格式</a:t>
            </a:r>
            <a:r>
              <a:rPr lang="en-US" altLang="zh-CN" sz="1800" b="1" spc="-150" dirty="0">
                <a:latin typeface="宋体" pitchFamily="2" charset="-122"/>
              </a:rPr>
              <a:t>/</a:t>
            </a:r>
            <a:r>
              <a:rPr lang="zh-CN" altLang="en-US" sz="1800" b="1" spc="-150" dirty="0">
                <a:latin typeface="宋体" pitchFamily="2" charset="-122"/>
              </a:rPr>
              <a:t>总线操作实现</a:t>
            </a:r>
            <a:r>
              <a:rPr lang="en-US" altLang="zh-CN" sz="1800" b="1" spc="-150" dirty="0">
                <a:latin typeface="宋体" pitchFamily="2" charset="-122"/>
              </a:rPr>
              <a:t>)</a:t>
            </a:r>
            <a:endParaRPr lang="en-US" altLang="zh-CN" b="1" spc="-15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spc="-150" dirty="0">
                <a:latin typeface="宋体" pitchFamily="2" charset="-122"/>
              </a:rPr>
              <a:t> </a:t>
            </a:r>
            <a:r>
              <a:rPr lang="en-US" altLang="zh-CN" b="1" spc="-150" dirty="0" smtClean="0">
                <a:latin typeface="宋体" pitchFamily="2" charset="-122"/>
              </a:rPr>
              <a:t>             </a:t>
            </a:r>
            <a:r>
              <a:rPr lang="zh-CN" altLang="en-US" b="1" spc="-150" dirty="0" smtClean="0">
                <a:latin typeface="宋体" pitchFamily="2" charset="-122"/>
              </a:rPr>
              <a:t>理解各</a:t>
            </a:r>
            <a:r>
              <a:rPr lang="en-US" altLang="zh-CN" b="1" spc="-150" dirty="0" smtClean="0">
                <a:latin typeface="宋体" pitchFamily="2" charset="-122"/>
              </a:rPr>
              <a:t>I/O</a:t>
            </a:r>
            <a:r>
              <a:rPr lang="zh-CN" altLang="en-US" b="1" spc="-150" dirty="0" smtClean="0">
                <a:latin typeface="宋体" pitchFamily="2" charset="-122"/>
              </a:rPr>
              <a:t>方式的</a:t>
            </a:r>
            <a:r>
              <a:rPr lang="zh-CN" altLang="en-US" b="1" u="sng" spc="-150" dirty="0" smtClean="0">
                <a:latin typeface="宋体" pitchFamily="2" charset="-122"/>
              </a:rPr>
              <a:t>接口组成</a:t>
            </a:r>
            <a:r>
              <a:rPr lang="en-US" altLang="zh-CN" sz="2000" b="1" spc="-150" dirty="0" smtClean="0">
                <a:latin typeface="宋体" pitchFamily="2" charset="-122"/>
              </a:rPr>
              <a:t>(</a:t>
            </a:r>
            <a:r>
              <a:rPr lang="zh-CN" altLang="en-US" sz="2000" b="1" spc="-150" dirty="0" smtClean="0">
                <a:latin typeface="宋体" pitchFamily="2" charset="-122"/>
              </a:rPr>
              <a:t>功能、</a:t>
            </a:r>
            <a:r>
              <a:rPr lang="en-US" altLang="zh-CN" sz="2000" b="1" spc="-150" dirty="0" smtClean="0">
                <a:latin typeface="宋体" pitchFamily="2" charset="-122"/>
              </a:rPr>
              <a:t>I/O</a:t>
            </a:r>
            <a:r>
              <a:rPr lang="zh-CN" altLang="en-US" sz="2000" b="1" spc="-150" dirty="0" smtClean="0">
                <a:latin typeface="宋体" pitchFamily="2" charset="-122"/>
              </a:rPr>
              <a:t>端口类型</a:t>
            </a:r>
            <a:r>
              <a:rPr lang="en-US" altLang="zh-CN" sz="2000" b="1" spc="-150" dirty="0" smtClean="0">
                <a:latin typeface="宋体" pitchFamily="2" charset="-122"/>
              </a:rPr>
              <a:t>)</a:t>
            </a:r>
            <a:endParaRPr lang="en-US" altLang="zh-CN" sz="1800" b="1" spc="-150" dirty="0" smtClean="0">
              <a:latin typeface="宋体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1259632" y="1268760"/>
            <a:ext cx="1008112" cy="5040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9531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179511" y="332656"/>
            <a:ext cx="4608513" cy="497828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</a:rPr>
              <a:t>图解计算机组成</a:t>
            </a:r>
            <a:endParaRPr lang="en-US" altLang="zh-CN" sz="2200" b="1" dirty="0" smtClean="0">
              <a:solidFill>
                <a:srgbClr val="FF3399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*硬件组成：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*软件组成：</a:t>
            </a: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 smtClean="0">
                <a:latin typeface="宋体" pitchFamily="2" charset="-122"/>
              </a:rPr>
              <a:t>      </a:t>
            </a:r>
            <a:r>
              <a:rPr lang="zh-CN" altLang="en-US" sz="2000" b="1" dirty="0" smtClean="0">
                <a:latin typeface="宋体" pitchFamily="2" charset="-122"/>
              </a:rPr>
              <a:t>指令序列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指令</a:t>
            </a:r>
            <a:r>
              <a:rPr lang="zh-CN" altLang="en-US" sz="2000" b="1" dirty="0">
                <a:latin typeface="宋体" pitchFamily="2" charset="-122"/>
              </a:rPr>
              <a:t>∈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itchFamily="2" charset="-122"/>
              </a:rPr>
              <a:t>ISA</a:t>
            </a:r>
            <a:r>
              <a:rPr lang="en-US" altLang="zh-CN" sz="2000" b="1" dirty="0">
                <a:latin typeface="宋体" pitchFamily="2" charset="-122"/>
              </a:rPr>
              <a:t>)</a:t>
            </a: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 smtClean="0">
                <a:latin typeface="宋体" pitchFamily="2" charset="-122"/>
              </a:rPr>
              <a:t>      程序空间→存储器空间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  (</a:t>
            </a:r>
            <a:r>
              <a:rPr lang="zh-CN" altLang="en-US" sz="2000" b="1" dirty="0" smtClean="0">
                <a:latin typeface="宋体" pitchFamily="2" charset="-122"/>
              </a:rPr>
              <a:t>地址从</a:t>
            </a:r>
            <a:r>
              <a:rPr lang="en-US" altLang="zh-CN" sz="2000" b="1" dirty="0" smtClean="0">
                <a:latin typeface="宋体" pitchFamily="2" charset="-122"/>
              </a:rPr>
              <a:t>0</a:t>
            </a:r>
            <a:r>
              <a:rPr lang="zh-CN" altLang="en-US" sz="2000" b="1" dirty="0" smtClean="0">
                <a:latin typeface="宋体" pitchFamily="2" charset="-122"/>
              </a:rPr>
              <a:t>开始、指令长度可变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*工作方式：</a:t>
            </a: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程序存放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程序执行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</p:txBody>
      </p:sp>
      <p:sp>
        <p:nvSpPr>
          <p:cNvPr id="93" name="Text Box 5"/>
          <p:cNvSpPr txBox="1">
            <a:spLocks noChangeArrowheads="1"/>
          </p:cNvSpPr>
          <p:nvPr/>
        </p:nvSpPr>
        <p:spPr bwMode="auto">
          <a:xfrm>
            <a:off x="2195736" y="764704"/>
            <a:ext cx="6552728" cy="558614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5</a:t>
            </a:r>
            <a:r>
              <a:rPr lang="zh-CN" altLang="en-US" sz="2000" b="1" dirty="0" smtClean="0">
                <a:latin typeface="宋体" pitchFamily="2" charset="-122"/>
              </a:rPr>
              <a:t>大部件</a:t>
            </a:r>
            <a:r>
              <a:rPr lang="en-US" altLang="zh-CN" sz="2000" b="1" dirty="0" smtClean="0">
                <a:latin typeface="宋体" pitchFamily="2" charset="-122"/>
              </a:rPr>
              <a:t>+</a:t>
            </a:r>
            <a:r>
              <a:rPr lang="zh-CN" altLang="en-US" sz="2000" b="1" dirty="0" smtClean="0">
                <a:latin typeface="宋体" pitchFamily="2" charset="-122"/>
              </a:rPr>
              <a:t>总线互连，存储器</a:t>
            </a:r>
            <a:r>
              <a:rPr lang="en-US" altLang="zh-CN" sz="2000" b="1" dirty="0" smtClean="0">
                <a:latin typeface="宋体" pitchFamily="2" charset="-122"/>
              </a:rPr>
              <a:t>=</a:t>
            </a:r>
            <a:r>
              <a:rPr lang="zh-CN" altLang="en-US" sz="2000" b="1" dirty="0" smtClean="0">
                <a:latin typeface="宋体" pitchFamily="2" charset="-122"/>
              </a:rPr>
              <a:t>主存</a:t>
            </a:r>
            <a:r>
              <a:rPr lang="en-US" altLang="zh-CN" sz="2000" b="1" dirty="0" smtClean="0">
                <a:latin typeface="宋体" pitchFamily="2" charset="-122"/>
              </a:rPr>
              <a:t>+</a:t>
            </a:r>
            <a:r>
              <a:rPr lang="zh-CN" altLang="en-US" sz="2000" b="1" dirty="0" smtClean="0">
                <a:latin typeface="宋体" pitchFamily="2" charset="-122"/>
              </a:rPr>
              <a:t>辅存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itchFamily="2" charset="-122"/>
              </a:rPr>
              <a:t>存储程序方式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</a:t>
            </a:r>
            <a:r>
              <a:rPr lang="zh-CN" altLang="en-US" sz="2000" b="1" dirty="0" smtClean="0">
                <a:latin typeface="宋体" pitchFamily="2" charset="-122"/>
              </a:rPr>
              <a:t>预先装入主存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装入</a:t>
            </a:r>
            <a:r>
              <a:rPr lang="zh-CN" altLang="en-US" sz="2000" b="1" dirty="0">
                <a:latin typeface="宋体" pitchFamily="2" charset="-122"/>
              </a:rPr>
              <a:t>地址</a:t>
            </a:r>
            <a:r>
              <a:rPr lang="zh-CN" altLang="en-US" sz="2000" b="1" dirty="0" smtClean="0">
                <a:latin typeface="宋体" pitchFamily="2" charset="-122"/>
              </a:rPr>
              <a:t>可变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①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 smtClean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 ②</a:t>
            </a:r>
            <a:r>
              <a:rPr lang="zh-CN" altLang="en-US" sz="2000" b="1" dirty="0">
                <a:latin typeface="宋体" pitchFamily="2" charset="-122"/>
              </a:rPr>
              <a:t>访</a:t>
            </a:r>
            <a:r>
              <a:rPr lang="zh-CN" altLang="en-US" sz="2000" b="1" dirty="0" smtClean="0">
                <a:latin typeface="宋体" pitchFamily="2" charset="-122"/>
              </a:rPr>
              <a:t>存时先进行</a:t>
            </a:r>
            <a:r>
              <a:rPr lang="zh-CN" altLang="en-US" sz="2000" b="1" u="sng" dirty="0" smtClean="0">
                <a:latin typeface="宋体" pitchFamily="2" charset="-122"/>
              </a:rPr>
              <a:t>地址变换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逻辑地址→物理地址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1043607" y="1268760"/>
            <a:ext cx="7704857" cy="937444"/>
            <a:chOff x="755575" y="5157192"/>
            <a:chExt cx="7704857" cy="937444"/>
          </a:xfrm>
        </p:grpSpPr>
        <p:sp>
          <p:nvSpPr>
            <p:cNvPr id="4" name="Text Box 7"/>
            <p:cNvSpPr txBox="1">
              <a:spLocks noChangeArrowheads="1"/>
            </p:cNvSpPr>
            <p:nvPr/>
          </p:nvSpPr>
          <p:spPr bwMode="auto">
            <a:xfrm>
              <a:off x="755576" y="5383336"/>
              <a:ext cx="1008188" cy="7113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 smtClean="0">
                <a:latin typeface="宋体" pitchFamily="2" charset="-122"/>
              </a:endParaRPr>
            </a:p>
            <a:p>
              <a:pPr algn="ctr"/>
              <a:r>
                <a:rPr lang="en-US" altLang="zh-CN" sz="2000" b="1" dirty="0" smtClean="0">
                  <a:latin typeface="宋体" pitchFamily="2" charset="-122"/>
                </a:rPr>
                <a:t>CPU</a:t>
              </a:r>
              <a:endParaRPr lang="en-US" altLang="zh-CN" sz="2000" b="1" dirty="0">
                <a:latin typeface="宋体" pitchFamily="2" charset="-122"/>
              </a:endParaRPr>
            </a:p>
          </p:txBody>
        </p:sp>
        <p:sp>
          <p:nvSpPr>
            <p:cNvPr id="5" name="Line 8"/>
            <p:cNvSpPr>
              <a:spLocks noChangeShapeType="1"/>
            </p:cNvSpPr>
            <p:nvPr/>
          </p:nvSpPr>
          <p:spPr bwMode="auto">
            <a:xfrm>
              <a:off x="1331640" y="5157192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1907555" y="5804892"/>
              <a:ext cx="1296293" cy="28815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latin typeface="宋体" pitchFamily="2" charset="-122"/>
                </a:rPr>
                <a:t>主存</a:t>
              </a: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5075238" y="5374680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>
                  <a:latin typeface="宋体" pitchFamily="2" charset="-122"/>
                </a:rPr>
                <a:t>I/O</a:t>
              </a:r>
              <a:r>
                <a:rPr lang="zh-CN" altLang="en-US" sz="1800" b="1">
                  <a:latin typeface="宋体" pitchFamily="2" charset="-122"/>
                </a:rPr>
                <a:t>接口</a:t>
              </a:r>
              <a:r>
                <a:rPr lang="en-US" altLang="zh-CN" sz="1800" b="1">
                  <a:latin typeface="宋体" pitchFamily="2" charset="-122"/>
                </a:rPr>
                <a:t>1</a:t>
              </a: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755575" y="5160365"/>
              <a:ext cx="7704857" cy="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2555776" y="5157192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5651500" y="5160367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6227763" y="5374680"/>
              <a:ext cx="577850" cy="4318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/>
                <a:t>…</a:t>
              </a:r>
            </a:p>
          </p:txBody>
        </p:sp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5075238" y="5808067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1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5651500" y="5662017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>
              <a:off x="7453313" y="5158780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27"/>
            <p:cNvSpPr txBox="1">
              <a:spLocks noChangeArrowheads="1"/>
            </p:cNvSpPr>
            <p:nvPr/>
          </p:nvSpPr>
          <p:spPr bwMode="auto">
            <a:xfrm>
              <a:off x="6877050" y="5374680"/>
              <a:ext cx="1583382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I/O</a:t>
              </a:r>
              <a:r>
                <a:rPr lang="zh-CN" altLang="en-US" sz="1800" b="1" dirty="0">
                  <a:latin typeface="宋体" pitchFamily="2" charset="-122"/>
                </a:rPr>
                <a:t>接口</a:t>
              </a:r>
              <a:r>
                <a:rPr lang="en-US" altLang="zh-CN" sz="1800" b="1" dirty="0" smtClean="0">
                  <a:latin typeface="宋体" pitchFamily="2" charset="-122"/>
                </a:rPr>
                <a:t>n(DMA)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16" name="Text Box 128"/>
            <p:cNvSpPr txBox="1">
              <a:spLocks noChangeArrowheads="1"/>
            </p:cNvSpPr>
            <p:nvPr/>
          </p:nvSpPr>
          <p:spPr bwMode="auto">
            <a:xfrm>
              <a:off x="6877050" y="5808067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n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17" name="Line 129"/>
            <p:cNvSpPr>
              <a:spLocks noChangeShapeType="1"/>
            </p:cNvSpPr>
            <p:nvPr/>
          </p:nvSpPr>
          <p:spPr bwMode="auto">
            <a:xfrm>
              <a:off x="7453313" y="5662017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36"/>
            <p:cNvSpPr txBox="1">
              <a:spLocks noChangeArrowheads="1"/>
            </p:cNvSpPr>
            <p:nvPr/>
          </p:nvSpPr>
          <p:spPr bwMode="auto">
            <a:xfrm>
              <a:off x="3348038" y="5374680"/>
              <a:ext cx="1439863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itchFamily="2" charset="-122"/>
                </a:rPr>
                <a:t>磁盘适配器</a:t>
              </a:r>
            </a:p>
          </p:txBody>
        </p:sp>
        <p:sp>
          <p:nvSpPr>
            <p:cNvPr id="19" name="Line 137"/>
            <p:cNvSpPr>
              <a:spLocks noChangeShapeType="1"/>
            </p:cNvSpPr>
            <p:nvPr/>
          </p:nvSpPr>
          <p:spPr bwMode="auto">
            <a:xfrm>
              <a:off x="4067175" y="5158780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38"/>
            <p:cNvSpPr txBox="1">
              <a:spLocks noChangeArrowheads="1"/>
            </p:cNvSpPr>
            <p:nvPr/>
          </p:nvSpPr>
          <p:spPr bwMode="auto">
            <a:xfrm>
              <a:off x="3348038" y="5806480"/>
              <a:ext cx="1439863" cy="28733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辅存</a:t>
              </a:r>
              <a:r>
                <a:rPr lang="en-US" altLang="zh-CN" sz="1800" b="1" dirty="0" smtClean="0">
                  <a:latin typeface="宋体" pitchFamily="2" charset="-122"/>
                </a:rPr>
                <a:t>(</a:t>
              </a:r>
              <a:r>
                <a:rPr lang="zh-CN" altLang="en-US" sz="1800" b="1" dirty="0" smtClean="0">
                  <a:latin typeface="宋体" pitchFamily="2" charset="-122"/>
                </a:rPr>
                <a:t>如</a:t>
              </a:r>
              <a:r>
                <a:rPr lang="en-US" altLang="zh-CN" sz="1800" b="1" dirty="0" smtClean="0">
                  <a:latin typeface="宋体" pitchFamily="2" charset="-122"/>
                </a:rPr>
                <a:t>HD)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21" name="Line 139"/>
            <p:cNvSpPr>
              <a:spLocks noChangeShapeType="1"/>
            </p:cNvSpPr>
            <p:nvPr/>
          </p:nvSpPr>
          <p:spPr bwMode="auto">
            <a:xfrm>
              <a:off x="4067175" y="566043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136"/>
            <p:cNvSpPr txBox="1">
              <a:spLocks noChangeArrowheads="1"/>
            </p:cNvSpPr>
            <p:nvPr/>
          </p:nvSpPr>
          <p:spPr bwMode="auto">
            <a:xfrm>
              <a:off x="1907555" y="5383336"/>
              <a:ext cx="1296293" cy="2770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主存控制器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23" name="Text Box 136"/>
            <p:cNvSpPr txBox="1">
              <a:spLocks noChangeArrowheads="1"/>
            </p:cNvSpPr>
            <p:nvPr/>
          </p:nvSpPr>
          <p:spPr bwMode="auto">
            <a:xfrm>
              <a:off x="766462" y="5400431"/>
              <a:ext cx="986416" cy="25614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BIU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 bwMode="auto">
            <a:xfrm>
              <a:off x="755576" y="5661248"/>
              <a:ext cx="100818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Line 139"/>
            <p:cNvSpPr>
              <a:spLocks noChangeShapeType="1"/>
            </p:cNvSpPr>
            <p:nvPr/>
          </p:nvSpPr>
          <p:spPr bwMode="auto">
            <a:xfrm>
              <a:off x="2555776" y="5661248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203849" y="4869160"/>
            <a:ext cx="4896543" cy="797789"/>
            <a:chOff x="1547665" y="3428999"/>
            <a:chExt cx="4896543" cy="797789"/>
          </a:xfrm>
        </p:grpSpPr>
        <p:sp>
          <p:nvSpPr>
            <p:cNvPr id="28" name="矩形 27"/>
            <p:cNvSpPr/>
            <p:nvPr/>
          </p:nvSpPr>
          <p:spPr bwMode="auto">
            <a:xfrm>
              <a:off x="1547665" y="3428999"/>
              <a:ext cx="4896543" cy="797789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9" name="Text Box 316"/>
            <p:cNvSpPr txBox="1">
              <a:spLocks noChangeArrowheads="1"/>
            </p:cNvSpPr>
            <p:nvPr/>
          </p:nvSpPr>
          <p:spPr bwMode="auto">
            <a:xfrm>
              <a:off x="4572000" y="3825915"/>
              <a:ext cx="1729185" cy="32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prstDash val="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PC</a:t>
              </a:r>
              <a:r>
                <a:rPr lang="zh-CN" altLang="en-US" sz="1800" b="1" dirty="0" smtClean="0">
                  <a:latin typeface="宋体" pitchFamily="2" charset="-122"/>
                </a:rPr>
                <a:t>←计算结果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30" name="Text Box 316"/>
            <p:cNvSpPr txBox="1">
              <a:spLocks noChangeArrowheads="1"/>
            </p:cNvSpPr>
            <p:nvPr/>
          </p:nvSpPr>
          <p:spPr bwMode="auto">
            <a:xfrm>
              <a:off x="4572000" y="3501008"/>
              <a:ext cx="1729185" cy="324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执行指令</a:t>
              </a:r>
            </a:p>
          </p:txBody>
        </p:sp>
        <p:cxnSp>
          <p:nvCxnSpPr>
            <p:cNvPr id="31" name="直接箭头连接符 30"/>
            <p:cNvCxnSpPr>
              <a:stCxn id="35" idx="3"/>
              <a:endCxn id="36" idx="1"/>
            </p:cNvCxnSpPr>
            <p:nvPr/>
          </p:nvCxnSpPr>
          <p:spPr bwMode="auto">
            <a:xfrm>
              <a:off x="2771800" y="3663008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直接箭头连接符 31"/>
            <p:cNvCxnSpPr>
              <a:stCxn id="36" idx="3"/>
              <a:endCxn id="30" idx="1"/>
            </p:cNvCxnSpPr>
            <p:nvPr/>
          </p:nvCxnSpPr>
          <p:spPr bwMode="auto">
            <a:xfrm>
              <a:off x="4211960" y="3663008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 Box 316"/>
            <p:cNvSpPr txBox="1">
              <a:spLocks noChangeArrowheads="1"/>
            </p:cNvSpPr>
            <p:nvPr/>
          </p:nvSpPr>
          <p:spPr bwMode="auto">
            <a:xfrm>
              <a:off x="2123728" y="3825915"/>
              <a:ext cx="1944216" cy="32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PC</a:t>
              </a:r>
              <a:r>
                <a:rPr lang="zh-CN" altLang="en-US" sz="1800" b="1" dirty="0" smtClean="0">
                  <a:latin typeface="宋体" pitchFamily="2" charset="-122"/>
                </a:rPr>
                <a:t>←</a:t>
              </a:r>
              <a:r>
                <a:rPr lang="en-US" altLang="zh-CN" sz="1800" b="1" dirty="0" smtClean="0">
                  <a:latin typeface="宋体" pitchFamily="2" charset="-122"/>
                </a:rPr>
                <a:t>(PC)</a:t>
              </a:r>
              <a:r>
                <a:rPr lang="zh-CN" altLang="en-US" sz="1800" b="1" dirty="0" smtClean="0">
                  <a:latin typeface="宋体" pitchFamily="2" charset="-122"/>
                </a:rPr>
                <a:t>＋</a:t>
              </a:r>
              <a:r>
                <a:rPr lang="en-US" altLang="zh-CN" sz="1800" dirty="0" smtClean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“</a:t>
              </a:r>
              <a:r>
                <a:rPr lang="en-US" altLang="zh-CN" sz="1800" b="1" dirty="0" smtClean="0">
                  <a:latin typeface="宋体" pitchFamily="2" charset="-122"/>
                </a:rPr>
                <a:t>1</a:t>
              </a:r>
              <a:r>
                <a:rPr lang="en-US" altLang="zh-CN" sz="1800" dirty="0" smtClean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”</a:t>
              </a:r>
              <a:endParaRPr lang="zh-CN" altLang="en-US" sz="18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34" name="直接箭头连接符 27"/>
            <p:cNvCxnSpPr>
              <a:stCxn id="30" idx="3"/>
              <a:endCxn id="35" idx="1"/>
            </p:cNvCxnSpPr>
            <p:nvPr/>
          </p:nvCxnSpPr>
          <p:spPr bwMode="auto">
            <a:xfrm flipH="1">
              <a:off x="1691682" y="3663008"/>
              <a:ext cx="4609503" cy="12700"/>
            </a:xfrm>
            <a:prstGeom prst="bentConnector5">
              <a:avLst>
                <a:gd name="adj1" fmla="val -4959"/>
                <a:gd name="adj2" fmla="val 5155591"/>
                <a:gd name="adj3" fmla="val 104959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" name="Text Box 311"/>
            <p:cNvSpPr txBox="1">
              <a:spLocks noChangeArrowheads="1"/>
            </p:cNvSpPr>
            <p:nvPr/>
          </p:nvSpPr>
          <p:spPr bwMode="auto">
            <a:xfrm>
              <a:off x="1691682" y="3501008"/>
              <a:ext cx="1080118" cy="32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取</a:t>
              </a:r>
              <a:r>
                <a:rPr lang="zh-CN" altLang="en-US" sz="1800" b="1" dirty="0" smtClean="0">
                  <a:latin typeface="宋体" pitchFamily="2" charset="-122"/>
                </a:rPr>
                <a:t>指令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36" name="Text Box 314"/>
            <p:cNvSpPr txBox="1">
              <a:spLocks noChangeArrowheads="1"/>
            </p:cNvSpPr>
            <p:nvPr/>
          </p:nvSpPr>
          <p:spPr bwMode="auto">
            <a:xfrm>
              <a:off x="3131840" y="3501008"/>
              <a:ext cx="1080120" cy="32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分析指令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223218" y="2662732"/>
            <a:ext cx="1813278" cy="1482201"/>
            <a:chOff x="2719332" y="4251055"/>
            <a:chExt cx="1813278" cy="1482201"/>
          </a:xfrm>
        </p:grpSpPr>
        <p:sp>
          <p:nvSpPr>
            <p:cNvPr id="60" name="Text Box 36"/>
            <p:cNvSpPr txBox="1">
              <a:spLocks noChangeArrowheads="1"/>
            </p:cNvSpPr>
            <p:nvPr/>
          </p:nvSpPr>
          <p:spPr bwMode="auto">
            <a:xfrm>
              <a:off x="3590044" y="4547669"/>
              <a:ext cx="942565" cy="1111639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55H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39H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…</a:t>
              </a:r>
            </a:p>
          </p:txBody>
        </p:sp>
        <p:cxnSp>
          <p:nvCxnSpPr>
            <p:cNvPr id="61" name="直接连接符 60"/>
            <p:cNvCxnSpPr/>
            <p:nvPr/>
          </p:nvCxnSpPr>
          <p:spPr bwMode="auto">
            <a:xfrm>
              <a:off x="3590044" y="4762539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/>
          </p:nvCxnSpPr>
          <p:spPr bwMode="auto">
            <a:xfrm>
              <a:off x="3590044" y="4466977"/>
              <a:ext cx="0" cy="1266279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/>
          </p:nvCxnSpPr>
          <p:spPr bwMode="auto">
            <a:xfrm flipH="1">
              <a:off x="4526148" y="4466977"/>
              <a:ext cx="6462" cy="1266279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/>
          </p:nvCxnSpPr>
          <p:spPr bwMode="auto">
            <a:xfrm>
              <a:off x="3590044" y="4547669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3590044" y="5212125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6" name="Text Box 36"/>
            <p:cNvSpPr txBox="1">
              <a:spLocks noChangeArrowheads="1"/>
            </p:cNvSpPr>
            <p:nvPr/>
          </p:nvSpPr>
          <p:spPr bwMode="auto">
            <a:xfrm>
              <a:off x="2987824" y="4547670"/>
              <a:ext cx="602220" cy="111163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…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21020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2105F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…</a:t>
              </a:r>
            </a:p>
          </p:txBody>
        </p:sp>
        <p:cxnSp>
          <p:nvCxnSpPr>
            <p:cNvPr id="67" name="直接连接符 66"/>
            <p:cNvCxnSpPr/>
            <p:nvPr/>
          </p:nvCxnSpPr>
          <p:spPr bwMode="auto">
            <a:xfrm>
              <a:off x="3590044" y="4992003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 bwMode="auto">
            <a:xfrm>
              <a:off x="3590044" y="5436770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>
              <a:off x="3590044" y="5659307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0" name="Text Box 36"/>
            <p:cNvSpPr txBox="1">
              <a:spLocks noChangeArrowheads="1"/>
            </p:cNvSpPr>
            <p:nvPr/>
          </p:nvSpPr>
          <p:spPr bwMode="auto">
            <a:xfrm>
              <a:off x="2719332" y="4251055"/>
              <a:ext cx="1806816" cy="25197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+mn-ea"/>
                </a:rPr>
                <a:t>    地址   </a:t>
              </a:r>
              <a:r>
                <a:rPr lang="zh-CN" altLang="en-US" sz="1800" b="1" dirty="0" smtClean="0">
                  <a:latin typeface="+mn-ea"/>
                </a:rPr>
                <a:t>主存</a:t>
              </a:r>
              <a:endParaRPr lang="en-US" altLang="zh-CN" sz="2000" b="1" dirty="0" smtClean="0">
                <a:latin typeface="+mn-ea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729251" y="2416741"/>
            <a:ext cx="1904825" cy="1732339"/>
            <a:chOff x="4323359" y="2849892"/>
            <a:chExt cx="1904825" cy="1732339"/>
          </a:xfrm>
        </p:grpSpPr>
        <p:sp>
          <p:nvSpPr>
            <p:cNvPr id="76" name="Text Box 36"/>
            <p:cNvSpPr txBox="1">
              <a:spLocks noChangeArrowheads="1"/>
            </p:cNvSpPr>
            <p:nvPr/>
          </p:nvSpPr>
          <p:spPr bwMode="auto">
            <a:xfrm>
              <a:off x="5285619" y="3153142"/>
              <a:ext cx="942565" cy="133176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02H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55H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39H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…</a:t>
              </a:r>
            </a:p>
          </p:txBody>
        </p:sp>
        <p:cxnSp>
          <p:nvCxnSpPr>
            <p:cNvPr id="77" name="直接连接符 76"/>
            <p:cNvCxnSpPr/>
            <p:nvPr/>
          </p:nvCxnSpPr>
          <p:spPr bwMode="auto">
            <a:xfrm>
              <a:off x="5285619" y="3368013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/>
          </p:nvCxnSpPr>
          <p:spPr bwMode="auto">
            <a:xfrm>
              <a:off x="5285619" y="3144458"/>
              <a:ext cx="3230" cy="143777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>
              <a:off x="6228184" y="3144458"/>
              <a:ext cx="0" cy="143777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直接连接符 79"/>
            <p:cNvCxnSpPr/>
            <p:nvPr/>
          </p:nvCxnSpPr>
          <p:spPr bwMode="auto">
            <a:xfrm>
              <a:off x="5285619" y="3153143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/>
            <p:cNvCxnSpPr/>
            <p:nvPr/>
          </p:nvCxnSpPr>
          <p:spPr bwMode="auto">
            <a:xfrm>
              <a:off x="5285619" y="3817599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2" name="Text Box 36"/>
            <p:cNvSpPr txBox="1">
              <a:spLocks noChangeArrowheads="1"/>
            </p:cNvSpPr>
            <p:nvPr/>
          </p:nvSpPr>
          <p:spPr bwMode="auto">
            <a:xfrm>
              <a:off x="4323359" y="3153144"/>
              <a:ext cx="962260" cy="133175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00000000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…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00401020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+mn-ea"/>
                  <a:ea typeface="+mn-ea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0040105F</a:t>
              </a:r>
              <a:endParaRPr lang="en-US" altLang="zh-CN" sz="16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</p:txBody>
        </p:sp>
        <p:cxnSp>
          <p:nvCxnSpPr>
            <p:cNvPr id="83" name="直接连接符 82"/>
            <p:cNvCxnSpPr/>
            <p:nvPr/>
          </p:nvCxnSpPr>
          <p:spPr bwMode="auto">
            <a:xfrm>
              <a:off x="5285619" y="3597477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" name="直接连接符 83"/>
            <p:cNvCxnSpPr/>
            <p:nvPr/>
          </p:nvCxnSpPr>
          <p:spPr bwMode="auto">
            <a:xfrm>
              <a:off x="5285619" y="4042244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5" name="直接连接符 84"/>
            <p:cNvCxnSpPr/>
            <p:nvPr/>
          </p:nvCxnSpPr>
          <p:spPr bwMode="auto">
            <a:xfrm>
              <a:off x="5285619" y="4484903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/>
          </p:nvCxnSpPr>
          <p:spPr bwMode="auto">
            <a:xfrm>
              <a:off x="5285619" y="4264781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7" name="Text Box 36"/>
            <p:cNvSpPr txBox="1">
              <a:spLocks noChangeArrowheads="1"/>
            </p:cNvSpPr>
            <p:nvPr/>
          </p:nvSpPr>
          <p:spPr bwMode="auto">
            <a:xfrm>
              <a:off x="4355976" y="2849892"/>
              <a:ext cx="1865747" cy="288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</a:rPr>
                <a:t>    </a:t>
              </a:r>
              <a:r>
                <a:rPr lang="zh-CN" altLang="en-US" sz="1600" b="1" dirty="0" smtClean="0">
                  <a:latin typeface="+mn-ea"/>
                </a:rPr>
                <a:t>地址</a:t>
              </a:r>
              <a:r>
                <a:rPr lang="zh-CN" altLang="en-US" sz="1800" b="1" dirty="0" smtClean="0">
                  <a:latin typeface="+mn-ea"/>
                </a:rPr>
                <a:t>   程序</a:t>
              </a:r>
              <a:endParaRPr lang="en-US" altLang="zh-CN" sz="2000" b="1" dirty="0" smtClean="0">
                <a:latin typeface="+mn-ea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6647000" y="3280837"/>
            <a:ext cx="851172" cy="451779"/>
            <a:chOff x="4421368" y="3501008"/>
            <a:chExt cx="851172" cy="451779"/>
          </a:xfrm>
        </p:grpSpPr>
        <p:cxnSp>
          <p:nvCxnSpPr>
            <p:cNvPr id="72" name="直接连接符 71"/>
            <p:cNvCxnSpPr/>
            <p:nvPr/>
          </p:nvCxnSpPr>
          <p:spPr bwMode="auto">
            <a:xfrm>
              <a:off x="4421368" y="3501008"/>
              <a:ext cx="85117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3" name="直接连接符 72"/>
            <p:cNvCxnSpPr/>
            <p:nvPr/>
          </p:nvCxnSpPr>
          <p:spPr bwMode="auto">
            <a:xfrm>
              <a:off x="4421368" y="3952787"/>
              <a:ext cx="85117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91" name="Text Box 36"/>
            <p:cNvSpPr txBox="1">
              <a:spLocks noChangeArrowheads="1"/>
            </p:cNvSpPr>
            <p:nvPr/>
          </p:nvSpPr>
          <p:spPr bwMode="auto">
            <a:xfrm>
              <a:off x="4565538" y="3638489"/>
              <a:ext cx="504056" cy="22255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itchFamily="2" charset="-122"/>
                </a:rPr>
                <a:t>装入</a:t>
              </a:r>
              <a:endParaRPr lang="en-US" altLang="zh-CN" sz="1800" b="1" dirty="0" smtClean="0">
                <a:solidFill>
                  <a:srgbClr val="FF3399"/>
                </a:solidFill>
                <a:latin typeface="+mn-ea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4814826" y="2416773"/>
            <a:ext cx="2912448" cy="503992"/>
            <a:chOff x="2752750" y="2420920"/>
            <a:chExt cx="2912448" cy="503992"/>
          </a:xfrm>
        </p:grpSpPr>
        <p:sp>
          <p:nvSpPr>
            <p:cNvPr id="103" name="Text Box 36"/>
            <p:cNvSpPr txBox="1">
              <a:spLocks noChangeArrowheads="1"/>
            </p:cNvSpPr>
            <p:nvPr/>
          </p:nvSpPr>
          <p:spPr bwMode="auto">
            <a:xfrm>
              <a:off x="5161142" y="2636912"/>
              <a:ext cx="504056" cy="288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lnSpc>
                  <a:spcPct val="95000"/>
                </a:lnSpc>
              </a:pPr>
              <a:r>
                <a:rPr lang="zh-CN" altLang="en-US" sz="1600" b="1" dirty="0" smtClean="0">
                  <a:solidFill>
                    <a:srgbClr val="C00000"/>
                  </a:solidFill>
                  <a:latin typeface="+mn-ea"/>
                </a:rPr>
                <a:t>物理</a:t>
              </a:r>
              <a:endParaRPr lang="en-US" altLang="zh-CN" sz="1600" b="1" dirty="0" smtClean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09" name="Text Box 36"/>
            <p:cNvSpPr txBox="1">
              <a:spLocks noChangeArrowheads="1"/>
            </p:cNvSpPr>
            <p:nvPr/>
          </p:nvSpPr>
          <p:spPr bwMode="auto">
            <a:xfrm>
              <a:off x="2752750" y="2420920"/>
              <a:ext cx="2484275" cy="288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+mn-ea"/>
                </a:rPr>
                <a:t>逻辑</a:t>
              </a:r>
              <a:r>
                <a:rPr lang="zh-CN" altLang="en-US" sz="1600" b="1" dirty="0" smtClean="0">
                  <a:latin typeface="+mn-ea"/>
                </a:rPr>
                <a:t>    </a:t>
              </a:r>
              <a:r>
                <a:rPr lang="zh-CN" altLang="en-US" sz="1800" b="1" dirty="0" smtClean="0">
                  <a:latin typeface="+mn-ea"/>
                </a:rPr>
                <a:t>       存储器</a:t>
              </a:r>
              <a:endParaRPr lang="en-US" altLang="zh-CN" sz="2000" b="1" dirty="0" smtClean="0">
                <a:latin typeface="+mn-ea"/>
              </a:endParaRPr>
            </a:p>
          </p:txBody>
        </p:sp>
      </p:grpSp>
      <p:cxnSp>
        <p:nvCxnSpPr>
          <p:cNvPr id="38" name="直接箭头连接符 37"/>
          <p:cNvCxnSpPr/>
          <p:nvPr/>
        </p:nvCxnSpPr>
        <p:spPr bwMode="auto">
          <a:xfrm flipH="1" flipV="1">
            <a:off x="2195736" y="3430193"/>
            <a:ext cx="1152130" cy="100691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sp>
        <p:nvSpPr>
          <p:cNvPr id="88" name="AutoShape 5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076057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9" name="Text Box 43"/>
          <p:cNvSpPr txBox="1">
            <a:spLocks noChangeArrowheads="1"/>
          </p:cNvSpPr>
          <p:nvPr/>
        </p:nvSpPr>
        <p:spPr bwMode="auto">
          <a:xfrm>
            <a:off x="1259632" y="6197242"/>
            <a:ext cx="3669522" cy="40011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FF3399"/>
                </a:solidFill>
                <a:latin typeface="宋体" pitchFamily="2" charset="-122"/>
              </a:rPr>
              <a:t>总体需求：</a:t>
            </a:r>
            <a:r>
              <a:rPr lang="zh-CN" altLang="en-US" sz="2000" b="1" dirty="0" smtClean="0">
                <a:latin typeface="宋体" pitchFamily="2" charset="-122"/>
              </a:rPr>
              <a:t>实现工作方式＋</a:t>
            </a:r>
            <a:r>
              <a:rPr lang="en-US" altLang="zh-CN" sz="2000" b="1" dirty="0" smtClean="0">
                <a:latin typeface="宋体" pitchFamily="2" charset="-122"/>
              </a:rPr>
              <a:t>ISA</a:t>
            </a:r>
            <a:endParaRPr lang="en-US" altLang="zh-CN" sz="2000" b="1" spc="-150" dirty="0" smtClean="0">
              <a:latin typeface="宋体" pitchFamily="2" charset="-122"/>
            </a:endParaRPr>
          </a:p>
        </p:txBody>
      </p:sp>
      <p:sp>
        <p:nvSpPr>
          <p:cNvPr id="74" name="AutoShape 62">
            <a:hlinkClick r:id="rId3" action="ppaction://hlinkpres?slideindex=39&amp;slidetitle=PowerPoint 演示文稿"/>
          </p:cNvPr>
          <p:cNvSpPr>
            <a:spLocks noChangeArrowheads="1"/>
          </p:cNvSpPr>
          <p:nvPr/>
        </p:nvSpPr>
        <p:spPr bwMode="auto">
          <a:xfrm>
            <a:off x="8316416" y="5895273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1-39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3926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7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7272808" cy="496546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 *运算器的组成：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任务：实现运算、暂存结果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部件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互连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运算部件的组织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数据表示：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运算方法：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部件组织：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存放部件的组织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63688" y="771669"/>
            <a:ext cx="7272808" cy="439351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运算部件</a:t>
            </a:r>
            <a:r>
              <a:rPr lang="en-US" altLang="zh-CN" sz="1800" b="1" dirty="0" smtClean="0">
                <a:latin typeface="宋体" pitchFamily="2" charset="-122"/>
              </a:rPr>
              <a:t>(ALU/FPU</a:t>
            </a:r>
            <a:r>
              <a:rPr lang="zh-CN" altLang="en-US" sz="1800" b="1" dirty="0" smtClean="0">
                <a:latin typeface="宋体" pitchFamily="2" charset="-122"/>
              </a:rPr>
              <a:t>等</a:t>
            </a:r>
            <a:r>
              <a:rPr lang="en-US" altLang="zh-CN" sz="1800" b="1" dirty="0" smtClean="0">
                <a:latin typeface="宋体" pitchFamily="2" charset="-122"/>
              </a:rPr>
              <a:t>)+</a:t>
            </a:r>
            <a:r>
              <a:rPr lang="zh-CN" altLang="en-US" sz="2000" b="1" dirty="0" smtClean="0">
                <a:latin typeface="宋体" pitchFamily="2" charset="-122"/>
              </a:rPr>
              <a:t>存放部件</a:t>
            </a:r>
            <a:r>
              <a:rPr lang="en-US" altLang="zh-CN" sz="1800" b="1" dirty="0" smtClean="0">
                <a:latin typeface="宋体" pitchFamily="2" charset="-122"/>
              </a:rPr>
              <a:t>(GPRs/PSR</a:t>
            </a:r>
            <a:r>
              <a:rPr lang="zh-CN" altLang="en-US" sz="1800" b="1" dirty="0" smtClean="0">
                <a:latin typeface="宋体" pitchFamily="2" charset="-122"/>
              </a:rPr>
              <a:t>等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总线结构、</a:t>
            </a:r>
            <a:r>
              <a:rPr lang="zh-CN" altLang="en-US" sz="2000" b="1" dirty="0">
                <a:latin typeface="宋体" pitchFamily="2" charset="-122"/>
              </a:rPr>
              <a:t>专用</a:t>
            </a:r>
            <a:r>
              <a:rPr lang="zh-CN" altLang="en-US" sz="2000" b="1" dirty="0" smtClean="0">
                <a:latin typeface="宋体" pitchFamily="2" charset="-122"/>
              </a:rPr>
              <a:t>结构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即专用结构</a:t>
            </a:r>
            <a:r>
              <a:rPr lang="en-US" altLang="zh-CN" sz="2000" b="1" dirty="0" smtClean="0">
                <a:latin typeface="宋体" pitchFamily="2" charset="-122"/>
              </a:rPr>
              <a:t>)     </a:t>
            </a:r>
            <a:r>
              <a:rPr lang="zh-CN" altLang="en-US" sz="1800" b="1" dirty="0" smtClean="0">
                <a:latin typeface="宋体" pitchFamily="2" charset="-122"/>
              </a:rPr>
              <a:t>←相关于</a:t>
            </a:r>
            <a:r>
              <a:rPr lang="en-US" altLang="zh-CN" sz="1800" b="1" dirty="0" smtClean="0">
                <a:latin typeface="宋体" pitchFamily="2" charset="-122"/>
              </a:rPr>
              <a:t>CPU</a:t>
            </a:r>
            <a:r>
              <a:rPr lang="zh-CN" altLang="en-US" sz="1800" b="1" dirty="0" smtClean="0">
                <a:latin typeface="宋体" pitchFamily="2" charset="-122"/>
              </a:rPr>
              <a:t>的数据通路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1500"/>
              </a:spcBef>
            </a:pPr>
            <a:r>
              <a:rPr lang="en-US" altLang="zh-CN" sz="2200" b="1" dirty="0" smtClean="0">
                <a:latin typeface="宋体" pitchFamily="2" charset="-122"/>
              </a:rPr>
              <a:t>        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基于</a:t>
            </a:r>
            <a:r>
              <a:rPr lang="en-US" altLang="zh-CN" sz="2000" b="1" dirty="0" smtClean="0">
                <a:latin typeface="宋体" pitchFamily="2" charset="-122"/>
              </a:rPr>
              <a:t>ISA)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    </a:t>
            </a:r>
            <a:r>
              <a:rPr lang="zh-CN" altLang="en-US" sz="2000" b="1" dirty="0" smtClean="0">
                <a:latin typeface="宋体" pitchFamily="2" charset="-122"/>
              </a:rPr>
              <a:t>进</a:t>
            </a:r>
            <a:r>
              <a:rPr lang="zh-CN" altLang="en-US" sz="2000" b="1" dirty="0">
                <a:latin typeface="宋体" pitchFamily="2" charset="-122"/>
              </a:rPr>
              <a:t>制</a:t>
            </a:r>
            <a:r>
              <a:rPr lang="en-US" altLang="zh-CN" sz="2000" b="1" dirty="0">
                <a:latin typeface="宋体" pitchFamily="2" charset="-122"/>
              </a:rPr>
              <a:t>/</a:t>
            </a:r>
            <a:r>
              <a:rPr lang="zh-CN" altLang="en-US" sz="2000" b="1" dirty="0">
                <a:latin typeface="宋体" pitchFamily="2" charset="-122"/>
              </a:rPr>
              <a:t>格式</a:t>
            </a:r>
            <a:r>
              <a:rPr lang="en-US" altLang="zh-CN" sz="2000" b="1" dirty="0">
                <a:latin typeface="宋体" pitchFamily="2" charset="-122"/>
              </a:rPr>
              <a:t>/</a:t>
            </a:r>
            <a:r>
              <a:rPr lang="zh-CN" altLang="en-US" sz="2000" b="1" dirty="0">
                <a:latin typeface="宋体" pitchFamily="2" charset="-122"/>
              </a:rPr>
              <a:t>编码</a:t>
            </a:r>
            <a:r>
              <a:rPr lang="en-US" altLang="zh-CN" sz="2000" b="1" dirty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长度，定点数、浮点数、逻辑数等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    </a:t>
            </a:r>
            <a:r>
              <a:rPr lang="zh-CN" altLang="en-US" sz="2000" b="1" dirty="0" smtClean="0">
                <a:latin typeface="宋体" pitchFamily="2" charset="-122"/>
              </a:rPr>
              <a:t>定点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算术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移位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、逻辑、关系、浮点运算等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  </a:t>
            </a:r>
            <a:r>
              <a:rPr lang="zh-CN" altLang="en-US" sz="2000" b="1" dirty="0" smtClean="0">
                <a:latin typeface="宋体" pitchFamily="2" charset="-122"/>
              </a:rPr>
              <a:t>尽量复用器件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如算逻运算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，并行的运算→不同部件</a:t>
            </a:r>
            <a:r>
              <a:rPr lang="en-US" altLang="zh-CN" sz="2200" b="1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latin typeface="宋体" pitchFamily="2" charset="-122"/>
              </a:rPr>
              <a:t>             (</a:t>
            </a:r>
            <a:r>
              <a:rPr lang="zh-CN" altLang="en-US" sz="2000" b="1" dirty="0" smtClean="0">
                <a:latin typeface="宋体" pitchFamily="2" charset="-122"/>
              </a:rPr>
              <a:t>基于</a:t>
            </a:r>
            <a:r>
              <a:rPr lang="en-US" altLang="zh-CN" sz="2000" b="1" dirty="0" smtClean="0">
                <a:latin typeface="宋体" pitchFamily="2" charset="-122"/>
              </a:rPr>
              <a:t>ISA)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1716199" y="1655493"/>
            <a:ext cx="7104273" cy="1341459"/>
            <a:chOff x="1259632" y="1795618"/>
            <a:chExt cx="7104273" cy="1341459"/>
          </a:xfrm>
        </p:grpSpPr>
        <p:sp>
          <p:nvSpPr>
            <p:cNvPr id="55" name="Text Box 256"/>
            <p:cNvSpPr txBox="1">
              <a:spLocks noChangeArrowheads="1"/>
            </p:cNvSpPr>
            <p:nvPr/>
          </p:nvSpPr>
          <p:spPr bwMode="auto">
            <a:xfrm>
              <a:off x="3683861" y="2204865"/>
              <a:ext cx="720080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锁存器</a:t>
              </a:r>
            </a:p>
          </p:txBody>
        </p:sp>
        <p:sp>
          <p:nvSpPr>
            <p:cNvPr id="56" name="Text Box 256"/>
            <p:cNvSpPr txBox="1">
              <a:spLocks noChangeArrowheads="1"/>
            </p:cNvSpPr>
            <p:nvPr/>
          </p:nvSpPr>
          <p:spPr bwMode="auto">
            <a:xfrm>
              <a:off x="4547957" y="2204864"/>
              <a:ext cx="719584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锁存器</a:t>
              </a:r>
            </a:p>
          </p:txBody>
        </p:sp>
        <p:sp>
          <p:nvSpPr>
            <p:cNvPr id="57" name="AutoShape 266"/>
            <p:cNvSpPr>
              <a:spLocks noChangeArrowheads="1"/>
            </p:cNvSpPr>
            <p:nvPr/>
          </p:nvSpPr>
          <p:spPr bwMode="auto">
            <a:xfrm>
              <a:off x="3900263" y="2636912"/>
              <a:ext cx="1151254" cy="353399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36000" tIns="18000" rIns="36000" bIns="18000" anchor="ctr">
              <a:noAutofit/>
            </a:bodyPr>
            <a:lstStyle/>
            <a:p>
              <a:pPr algn="ctr"/>
              <a:r>
                <a:rPr lang="en-US" altLang="zh-CN" sz="18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58" name="直接箭头连接符 57"/>
            <p:cNvCxnSpPr>
              <a:stCxn id="55" idx="2"/>
            </p:cNvCxnSpPr>
            <p:nvPr/>
          </p:nvCxnSpPr>
          <p:spPr bwMode="auto">
            <a:xfrm>
              <a:off x="4043901" y="2493790"/>
              <a:ext cx="0" cy="14312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9" name="直接箭头连接符 58"/>
            <p:cNvCxnSpPr>
              <a:stCxn id="56" idx="2"/>
            </p:cNvCxnSpPr>
            <p:nvPr/>
          </p:nvCxnSpPr>
          <p:spPr bwMode="auto">
            <a:xfrm>
              <a:off x="4907749" y="2493789"/>
              <a:ext cx="0" cy="14312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0" name="直接箭头连接符 12"/>
            <p:cNvCxnSpPr>
              <a:stCxn id="57" idx="1"/>
            </p:cNvCxnSpPr>
            <p:nvPr/>
          </p:nvCxnSpPr>
          <p:spPr bwMode="auto">
            <a:xfrm>
              <a:off x="4475890" y="2990311"/>
              <a:ext cx="1117501" cy="102344"/>
            </a:xfrm>
            <a:prstGeom prst="bentConnector3">
              <a:avLst>
                <a:gd name="adj1" fmla="val -118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>
              <a:off x="1259632" y="2076640"/>
              <a:ext cx="7104273" cy="0"/>
            </a:xfrm>
            <a:prstGeom prst="straightConnector1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>
              <a:off x="4043901" y="2083650"/>
              <a:ext cx="0" cy="12785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3" name="直接箭头连接符 62"/>
            <p:cNvCxnSpPr/>
            <p:nvPr/>
          </p:nvCxnSpPr>
          <p:spPr bwMode="auto">
            <a:xfrm>
              <a:off x="4907749" y="2083650"/>
              <a:ext cx="0" cy="12785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接箭头连接符 63"/>
            <p:cNvCxnSpPr>
              <a:stCxn id="67" idx="0"/>
            </p:cNvCxnSpPr>
            <p:nvPr/>
          </p:nvCxnSpPr>
          <p:spPr bwMode="auto">
            <a:xfrm flipH="1" flipV="1">
              <a:off x="5593390" y="2083650"/>
              <a:ext cx="1" cy="19322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5" name="Text Box 255"/>
            <p:cNvSpPr txBox="1">
              <a:spLocks noChangeArrowheads="1"/>
            </p:cNvSpPr>
            <p:nvPr/>
          </p:nvSpPr>
          <p:spPr bwMode="auto">
            <a:xfrm>
              <a:off x="7154171" y="2348880"/>
              <a:ext cx="801757" cy="576064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</a:rPr>
                <a:t>寄存器</a:t>
              </a:r>
              <a:endParaRPr lang="en-US" altLang="zh-CN" sz="1800" b="1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</a:rPr>
                <a:t>组</a:t>
              </a:r>
              <a:endParaRPr lang="en-US" altLang="zh-CN" sz="18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66" name="Text Box 255"/>
            <p:cNvSpPr txBox="1">
              <a:spLocks noChangeArrowheads="1"/>
            </p:cNvSpPr>
            <p:nvPr/>
          </p:nvSpPr>
          <p:spPr bwMode="auto">
            <a:xfrm>
              <a:off x="1791342" y="2204864"/>
              <a:ext cx="1224137" cy="36004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桶形移位器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7" name="等腰三角形 66"/>
            <p:cNvSpPr/>
            <p:nvPr/>
          </p:nvSpPr>
          <p:spPr bwMode="auto">
            <a:xfrm>
              <a:off x="5486318" y="2276872"/>
              <a:ext cx="214145" cy="151026"/>
            </a:xfrm>
            <a:prstGeom prst="triangl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cxnSp>
          <p:nvCxnSpPr>
            <p:cNvPr id="68" name="直接箭头连接符 12"/>
            <p:cNvCxnSpPr>
              <a:endCxn id="67" idx="3"/>
            </p:cNvCxnSpPr>
            <p:nvPr/>
          </p:nvCxnSpPr>
          <p:spPr bwMode="auto">
            <a:xfrm flipV="1">
              <a:off x="5593390" y="2427898"/>
              <a:ext cx="1" cy="66475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/>
            <p:cNvCxnSpPr>
              <a:endCxn id="66" idx="0"/>
            </p:cNvCxnSpPr>
            <p:nvPr/>
          </p:nvCxnSpPr>
          <p:spPr bwMode="auto">
            <a:xfrm>
              <a:off x="2403411" y="2083650"/>
              <a:ext cx="0" cy="12121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接箭头连接符 69"/>
            <p:cNvCxnSpPr/>
            <p:nvPr/>
          </p:nvCxnSpPr>
          <p:spPr bwMode="auto">
            <a:xfrm flipV="1">
              <a:off x="3203848" y="2083650"/>
              <a:ext cx="0" cy="19322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1" name="等腰三角形 70"/>
            <p:cNvSpPr/>
            <p:nvPr/>
          </p:nvSpPr>
          <p:spPr bwMode="auto">
            <a:xfrm>
              <a:off x="3093740" y="2276872"/>
              <a:ext cx="212266" cy="171614"/>
            </a:xfrm>
            <a:prstGeom prst="triangl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cxnSp>
          <p:nvCxnSpPr>
            <p:cNvPr id="72" name="直接箭头连接符 12"/>
            <p:cNvCxnSpPr/>
            <p:nvPr/>
          </p:nvCxnSpPr>
          <p:spPr bwMode="auto">
            <a:xfrm flipV="1">
              <a:off x="3203848" y="2448487"/>
              <a:ext cx="1" cy="688589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" name="直接箭头连接符 12"/>
            <p:cNvCxnSpPr>
              <a:stCxn id="93" idx="2"/>
            </p:cNvCxnSpPr>
            <p:nvPr/>
          </p:nvCxnSpPr>
          <p:spPr bwMode="auto">
            <a:xfrm rot="16200000" flipH="1">
              <a:off x="2734013" y="2667241"/>
              <a:ext cx="139232" cy="800439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" name="直接箭头连接符 73"/>
            <p:cNvCxnSpPr>
              <a:endCxn id="65" idx="0"/>
            </p:cNvCxnSpPr>
            <p:nvPr/>
          </p:nvCxnSpPr>
          <p:spPr bwMode="auto">
            <a:xfrm>
              <a:off x="7555050" y="2076640"/>
              <a:ext cx="0" cy="27224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直接箭头连接符 74"/>
            <p:cNvCxnSpPr/>
            <p:nvPr/>
          </p:nvCxnSpPr>
          <p:spPr bwMode="auto">
            <a:xfrm flipV="1">
              <a:off x="8172400" y="2083650"/>
              <a:ext cx="0" cy="17867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6" name="等腰三角形 75"/>
            <p:cNvSpPr/>
            <p:nvPr/>
          </p:nvSpPr>
          <p:spPr bwMode="auto">
            <a:xfrm>
              <a:off x="8069912" y="2262327"/>
              <a:ext cx="212266" cy="158561"/>
            </a:xfrm>
            <a:prstGeom prst="triangl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cxnSp>
          <p:nvCxnSpPr>
            <p:cNvPr id="77" name="直接箭头连接符 12"/>
            <p:cNvCxnSpPr/>
            <p:nvPr/>
          </p:nvCxnSpPr>
          <p:spPr bwMode="auto">
            <a:xfrm flipH="1" flipV="1">
              <a:off x="8172400" y="2420888"/>
              <a:ext cx="1385" cy="64657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8" name="直接箭头连接符 12"/>
            <p:cNvCxnSpPr>
              <a:stCxn id="65" idx="2"/>
            </p:cNvCxnSpPr>
            <p:nvPr/>
          </p:nvCxnSpPr>
          <p:spPr bwMode="auto">
            <a:xfrm rot="16200000" flipH="1">
              <a:off x="7792467" y="2687527"/>
              <a:ext cx="142518" cy="617352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9" name="直接箭头连接符 78"/>
            <p:cNvCxnSpPr>
              <a:endCxn id="55" idx="1"/>
            </p:cNvCxnSpPr>
            <p:nvPr/>
          </p:nvCxnSpPr>
          <p:spPr bwMode="auto">
            <a:xfrm flipV="1">
              <a:off x="3575849" y="2349328"/>
              <a:ext cx="108012" cy="1335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0" name="直接箭头连接符 79"/>
            <p:cNvCxnSpPr>
              <a:endCxn id="56" idx="3"/>
            </p:cNvCxnSpPr>
            <p:nvPr/>
          </p:nvCxnSpPr>
          <p:spPr bwMode="auto">
            <a:xfrm flipH="1" flipV="1">
              <a:off x="5267541" y="2349327"/>
              <a:ext cx="108260" cy="5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1" name="直接箭头连接符 80"/>
            <p:cNvCxnSpPr>
              <a:endCxn id="67" idx="5"/>
            </p:cNvCxnSpPr>
            <p:nvPr/>
          </p:nvCxnSpPr>
          <p:spPr bwMode="auto">
            <a:xfrm flipH="1">
              <a:off x="5646927" y="2352385"/>
              <a:ext cx="13478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>
              <a:off x="3900263" y="2852936"/>
              <a:ext cx="14401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1642902" y="2348879"/>
              <a:ext cx="143638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4" name="直接箭头连接符 83"/>
            <p:cNvCxnSpPr>
              <a:endCxn id="71" idx="5"/>
            </p:cNvCxnSpPr>
            <p:nvPr/>
          </p:nvCxnSpPr>
          <p:spPr bwMode="auto">
            <a:xfrm flipH="1">
              <a:off x="3252940" y="2362679"/>
              <a:ext cx="15931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5" name="直接箭头连接符 84"/>
            <p:cNvCxnSpPr/>
            <p:nvPr/>
          </p:nvCxnSpPr>
          <p:spPr bwMode="auto">
            <a:xfrm>
              <a:off x="7019825" y="2636912"/>
              <a:ext cx="13434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6" name="直接箭头连接符 85"/>
            <p:cNvCxnSpPr>
              <a:endCxn id="76" idx="5"/>
            </p:cNvCxnSpPr>
            <p:nvPr/>
          </p:nvCxnSpPr>
          <p:spPr bwMode="auto">
            <a:xfrm flipH="1">
              <a:off x="8229112" y="2330878"/>
              <a:ext cx="134793" cy="1073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87" name="Text Box 286"/>
            <p:cNvSpPr txBox="1">
              <a:spLocks noChangeArrowheads="1"/>
            </p:cNvSpPr>
            <p:nvPr/>
          </p:nvSpPr>
          <p:spPr bwMode="auto">
            <a:xfrm>
              <a:off x="3423827" y="2730232"/>
              <a:ext cx="440054" cy="19471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105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+mn-ea"/>
                  <a:ea typeface="+mn-ea"/>
                </a:rPr>
                <a:t>op1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88" name="Text Box 286"/>
            <p:cNvSpPr txBox="1">
              <a:spLocks noChangeArrowheads="1"/>
            </p:cNvSpPr>
            <p:nvPr/>
          </p:nvSpPr>
          <p:spPr bwMode="auto">
            <a:xfrm>
              <a:off x="1259632" y="2240868"/>
              <a:ext cx="383270" cy="18002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105000"/>
                </a:lnSpc>
              </a:pPr>
              <a:r>
                <a:rPr lang="en-US" altLang="zh-CN" sz="1600" b="1" dirty="0" smtClean="0">
                  <a:solidFill>
                    <a:srgbClr val="FF3399"/>
                  </a:solidFill>
                  <a:latin typeface="+mn-ea"/>
                  <a:ea typeface="+mn-ea"/>
                </a:rPr>
                <a:t>op2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89" name="Text Box 286"/>
            <p:cNvSpPr txBox="1">
              <a:spLocks noChangeArrowheads="1"/>
            </p:cNvSpPr>
            <p:nvPr/>
          </p:nvSpPr>
          <p:spPr bwMode="auto">
            <a:xfrm>
              <a:off x="6660232" y="2492896"/>
              <a:ext cx="359593" cy="25127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105000"/>
                </a:lnSpc>
              </a:pPr>
              <a:r>
                <a:rPr lang="en-US" altLang="zh-CN" sz="1600" dirty="0" err="1" smtClean="0">
                  <a:solidFill>
                    <a:srgbClr val="FF3399"/>
                  </a:solidFill>
                  <a:latin typeface="+mn-ea"/>
                  <a:ea typeface="+mn-ea"/>
                </a:rPr>
                <a:t>Wr</a:t>
              </a:r>
              <a:endParaRPr lang="zh-CN" altLang="en-US" sz="160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cxnSp>
          <p:nvCxnSpPr>
            <p:cNvPr id="90" name="直接箭头连接符 89"/>
            <p:cNvCxnSpPr/>
            <p:nvPr/>
          </p:nvCxnSpPr>
          <p:spPr bwMode="auto">
            <a:xfrm>
              <a:off x="7019825" y="2448486"/>
              <a:ext cx="134793" cy="296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 flipV="1">
              <a:off x="7379865" y="2924944"/>
              <a:ext cx="0" cy="167711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2" name="Text Box 286"/>
            <p:cNvSpPr txBox="1">
              <a:spLocks noChangeArrowheads="1"/>
            </p:cNvSpPr>
            <p:nvPr/>
          </p:nvSpPr>
          <p:spPr bwMode="auto">
            <a:xfrm>
              <a:off x="3419872" y="1795618"/>
              <a:ext cx="2227055" cy="2880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内部数据通路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总线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3" name="Text Box 256"/>
            <p:cNvSpPr txBox="1">
              <a:spLocks noChangeArrowheads="1"/>
            </p:cNvSpPr>
            <p:nvPr/>
          </p:nvSpPr>
          <p:spPr bwMode="auto">
            <a:xfrm>
              <a:off x="2043618" y="2708920"/>
              <a:ext cx="719584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Times New Roman" pitchFamily="18" charset="0"/>
                </a:rPr>
                <a:t>锁存器</a:t>
              </a:r>
            </a:p>
          </p:txBody>
        </p:sp>
        <p:cxnSp>
          <p:nvCxnSpPr>
            <p:cNvPr id="94" name="直接箭头连接符 12"/>
            <p:cNvCxnSpPr>
              <a:stCxn id="66" idx="2"/>
              <a:endCxn id="93" idx="0"/>
            </p:cNvCxnSpPr>
            <p:nvPr/>
          </p:nvCxnSpPr>
          <p:spPr bwMode="auto">
            <a:xfrm flipH="1">
              <a:off x="2403410" y="2564904"/>
              <a:ext cx="1" cy="14401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5" name="直接箭头连接符 94"/>
            <p:cNvCxnSpPr/>
            <p:nvPr/>
          </p:nvCxnSpPr>
          <p:spPr bwMode="auto">
            <a:xfrm>
              <a:off x="5714317" y="2636912"/>
              <a:ext cx="12828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96" name="Text Box 255"/>
            <p:cNvSpPr txBox="1">
              <a:spLocks noChangeArrowheads="1"/>
            </p:cNvSpPr>
            <p:nvPr/>
          </p:nvSpPr>
          <p:spPr bwMode="auto">
            <a:xfrm>
              <a:off x="5842597" y="2528900"/>
              <a:ext cx="821590" cy="54006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状态</a:t>
              </a:r>
              <a:endPara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chemeClr val="tx1"/>
                  </a:solidFill>
                  <a:latin typeface="+mn-ea"/>
                  <a:ea typeface="+mn-ea"/>
                </a:rPr>
                <a:t>寄存器</a:t>
              </a:r>
              <a:endPara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97" name="直接箭头连接符 96"/>
            <p:cNvCxnSpPr>
              <a:stCxn id="57" idx="0"/>
              <a:endCxn id="96" idx="1"/>
            </p:cNvCxnSpPr>
            <p:nvPr/>
          </p:nvCxnSpPr>
          <p:spPr bwMode="auto">
            <a:xfrm flipV="1">
              <a:off x="4938737" y="2798930"/>
              <a:ext cx="90386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8" name="直接箭头连接符 97"/>
            <p:cNvCxnSpPr>
              <a:endCxn id="100" idx="3"/>
            </p:cNvCxnSpPr>
            <p:nvPr/>
          </p:nvCxnSpPr>
          <p:spPr bwMode="auto">
            <a:xfrm flipV="1">
              <a:off x="6411219" y="2420888"/>
              <a:ext cx="1" cy="10801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99" name="直接箭头连接符 98"/>
            <p:cNvCxnSpPr>
              <a:stCxn id="100" idx="0"/>
            </p:cNvCxnSpPr>
            <p:nvPr/>
          </p:nvCxnSpPr>
          <p:spPr bwMode="auto">
            <a:xfrm flipH="1" flipV="1">
              <a:off x="6411219" y="2076640"/>
              <a:ext cx="1" cy="19322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0" name="等腰三角形 99"/>
            <p:cNvSpPr/>
            <p:nvPr/>
          </p:nvSpPr>
          <p:spPr bwMode="auto">
            <a:xfrm>
              <a:off x="6304147" y="2269862"/>
              <a:ext cx="214145" cy="151026"/>
            </a:xfrm>
            <a:prstGeom prst="triangl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itchFamily="2" charset="-122"/>
                <a:ea typeface="宋体" pitchFamily="2" charset="-122"/>
              </a:endParaRPr>
            </a:p>
          </p:txBody>
        </p:sp>
        <p:cxnSp>
          <p:nvCxnSpPr>
            <p:cNvPr id="101" name="直接箭头连接符 100"/>
            <p:cNvCxnSpPr>
              <a:endCxn id="100" idx="5"/>
            </p:cNvCxnSpPr>
            <p:nvPr/>
          </p:nvCxnSpPr>
          <p:spPr bwMode="auto">
            <a:xfrm flipH="1">
              <a:off x="6464756" y="2345375"/>
              <a:ext cx="13478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>
              <a:off x="6088123" y="2083650"/>
              <a:ext cx="0" cy="44525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481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7272808" cy="632480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 *存储系统的组成：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任务：存储信息、按地址访问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内部结构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baseline="-25000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主存的组成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组成：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</a:t>
            </a:r>
            <a:r>
              <a:rPr lang="en-US" altLang="zh-CN" sz="22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优化：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连接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(RAM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控制器组织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)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Cache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原理：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组成：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技术：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虚拟存储器的组成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原理：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组成：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itchFamily="2" charset="-122"/>
              </a:rPr>
              <a:t>技术：</a:t>
            </a:r>
            <a:endParaRPr lang="en-US" altLang="zh-CN" sz="2200" b="1" dirty="0" smtClean="0">
              <a:solidFill>
                <a:srgbClr val="990099"/>
              </a:solidFill>
              <a:latin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63688" y="771669"/>
            <a:ext cx="7200800" cy="5829801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 </a:t>
            </a: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baseline="-25000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 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基于</a:t>
            </a:r>
            <a:r>
              <a:rPr lang="en-US" altLang="zh-CN" sz="2000" b="1" dirty="0" smtClean="0">
                <a:latin typeface="宋体" pitchFamily="2" charset="-122"/>
              </a:rPr>
              <a:t>ISA/</a:t>
            </a:r>
            <a:r>
              <a:rPr lang="zh-CN" altLang="en-US" sz="2000" b="1" dirty="0" smtClean="0">
                <a:latin typeface="宋体" pitchFamily="2" charset="-122"/>
              </a:rPr>
              <a:t>用户等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 </a:t>
            </a:r>
            <a:r>
              <a:rPr lang="en-US" altLang="zh-CN" sz="2000" b="1" dirty="0" smtClean="0">
                <a:latin typeface="宋体" pitchFamily="2" charset="-122"/>
              </a:rPr>
              <a:t>ROM+SRAM/DRAM</a:t>
            </a:r>
            <a:r>
              <a:rPr lang="zh-CN" altLang="en-US" sz="2000" b="1" dirty="0" smtClean="0">
                <a:latin typeface="宋体" pitchFamily="2" charset="-122"/>
              </a:rPr>
              <a:t>，</a:t>
            </a:r>
            <a:r>
              <a:rPr lang="zh-CN" altLang="en-US" sz="2000" b="1" dirty="0">
                <a:latin typeface="宋体" pitchFamily="2" charset="-122"/>
              </a:rPr>
              <a:t>用</a:t>
            </a:r>
            <a:r>
              <a:rPr lang="zh-CN" altLang="en-US" sz="2000" b="1" dirty="0" smtClean="0">
                <a:latin typeface="宋体" pitchFamily="2" charset="-122"/>
              </a:rPr>
              <a:t>芯片进行扩展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字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位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字位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 </a:t>
            </a:r>
            <a:r>
              <a:rPr lang="en-US" altLang="zh-CN" sz="2000" b="1" dirty="0">
                <a:latin typeface="宋体" pitchFamily="2" charset="-122"/>
              </a:rPr>
              <a:t>SDRAM</a:t>
            </a:r>
            <a:r>
              <a:rPr lang="zh-CN" altLang="en-US" sz="2000" b="1" dirty="0">
                <a:latin typeface="宋体" pitchFamily="2" charset="-122"/>
              </a:rPr>
              <a:t>、多体交叉</a:t>
            </a:r>
            <a:r>
              <a:rPr lang="en-US" altLang="zh-CN" sz="2000" b="1" dirty="0">
                <a:latin typeface="宋体" pitchFamily="2" charset="-122"/>
              </a:rPr>
              <a:t>MEM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交叉访问</a:t>
            </a:r>
            <a:r>
              <a:rPr lang="en-US" altLang="zh-CN" sz="1800" b="1" dirty="0">
                <a:latin typeface="宋体" pitchFamily="2" charset="-122"/>
              </a:rPr>
              <a:t>/</a:t>
            </a:r>
            <a:r>
              <a:rPr lang="zh-CN" altLang="en-US" sz="1800" b="1" dirty="0">
                <a:latin typeface="宋体" pitchFamily="2" charset="-122"/>
              </a:rPr>
              <a:t>并行访问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sz="2000" b="1" dirty="0">
                <a:latin typeface="宋体" pitchFamily="2" charset="-122"/>
              </a:rPr>
              <a:t>、缓冲机制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</a:t>
            </a:r>
            <a:r>
              <a:rPr lang="zh-CN" altLang="en-US" sz="2200" b="1" dirty="0" smtClean="0">
                <a:latin typeface="宋体" pitchFamily="2" charset="-122"/>
              </a:rPr>
              <a:t>              </a:t>
            </a:r>
            <a:r>
              <a:rPr lang="zh-CN" altLang="en-US" sz="2000" b="1" dirty="0" smtClean="0">
                <a:latin typeface="宋体" pitchFamily="2" charset="-122"/>
              </a:rPr>
              <a:t>数据线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＝</a:t>
            </a:r>
            <a:r>
              <a:rPr lang="en-US" altLang="zh-CN" sz="1800" b="1" dirty="0" smtClean="0">
                <a:latin typeface="宋体" pitchFamily="2" charset="-122"/>
              </a:rPr>
              <a:t>CPU/</a:t>
            </a:r>
            <a:r>
              <a:rPr lang="zh-CN" altLang="en-US" sz="1800" b="1" dirty="0" smtClean="0">
                <a:latin typeface="宋体" pitchFamily="2" charset="-122"/>
              </a:rPr>
              <a:t>总线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、地址线、控制线</a:t>
            </a: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itchFamily="2" charset="-122"/>
              </a:rPr>
              <a:t>    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基于性能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成本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</a:t>
            </a:r>
            <a:r>
              <a:rPr lang="zh-CN" altLang="en-US" sz="2000" b="1" dirty="0" smtClean="0">
                <a:latin typeface="宋体" pitchFamily="2" charset="-122"/>
              </a:rPr>
              <a:t>存储空间管理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基于</a:t>
            </a:r>
            <a:r>
              <a:rPr lang="zh-CN" altLang="en-US" sz="1800" b="1" dirty="0" smtClean="0">
                <a:latin typeface="宋体" pitchFamily="2" charset="-122"/>
              </a:rPr>
              <a:t>块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、工作流程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地址变换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访问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写回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itchFamily="2" charset="-122"/>
              </a:rPr>
              <a:t>    </a:t>
            </a:r>
            <a:r>
              <a:rPr lang="zh-CN" altLang="en-US" sz="2000" b="1" dirty="0" smtClean="0">
                <a:latin typeface="宋体" pitchFamily="2" charset="-122"/>
              </a:rPr>
              <a:t>行数组</a:t>
            </a:r>
            <a:r>
              <a:rPr lang="en-US" altLang="zh-CN" sz="2000" b="1" dirty="0" smtClean="0">
                <a:latin typeface="宋体" pitchFamily="2" charset="-122"/>
              </a:rPr>
              <a:t>+</a:t>
            </a:r>
            <a:r>
              <a:rPr lang="zh-CN" altLang="en-US" sz="2000" b="1" dirty="0" smtClean="0">
                <a:latin typeface="宋体" pitchFamily="2" charset="-122"/>
              </a:rPr>
              <a:t>访问控制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</a:t>
            </a:r>
            <a:r>
              <a:rPr lang="zh-CN" altLang="en-US" sz="2000" b="1" dirty="0" smtClean="0">
                <a:latin typeface="宋体" pitchFamily="2" charset="-122"/>
              </a:rPr>
              <a:t>映射方式、替换算法、写策略，对应的硬件需求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 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</a:t>
            </a:r>
            <a:r>
              <a:rPr lang="en-US" altLang="zh-CN" sz="2000" b="1" dirty="0" smtClean="0">
                <a:latin typeface="宋体" pitchFamily="2" charset="-122"/>
              </a:rPr>
              <a:t>   (</a:t>
            </a:r>
            <a:r>
              <a:rPr lang="zh-CN" altLang="en-US" sz="2000" b="1" dirty="0" smtClean="0">
                <a:latin typeface="宋体" pitchFamily="2" charset="-122"/>
              </a:rPr>
              <a:t>基于</a:t>
            </a:r>
            <a:r>
              <a:rPr lang="en-US" altLang="zh-CN" sz="2000" b="1" dirty="0" smtClean="0">
                <a:latin typeface="宋体" pitchFamily="2" charset="-122"/>
              </a:rPr>
              <a:t>ISA)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itchFamily="2" charset="-122"/>
              </a:rPr>
              <a:t>    </a:t>
            </a:r>
            <a:r>
              <a:rPr lang="zh-CN" altLang="en-US" sz="2000" b="1" dirty="0" smtClean="0">
                <a:latin typeface="宋体" pitchFamily="2" charset="-122"/>
              </a:rPr>
              <a:t>程序装入方法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主存</a:t>
            </a:r>
            <a:r>
              <a:rPr lang="en-US" altLang="zh-CN" sz="1800" b="1" dirty="0" smtClean="0">
                <a:latin typeface="宋体" pitchFamily="2" charset="-122"/>
              </a:rPr>
              <a:t>+</a:t>
            </a:r>
            <a:r>
              <a:rPr lang="zh-CN" altLang="en-US" sz="1800" b="1" dirty="0">
                <a:latin typeface="宋体" pitchFamily="2" charset="-122"/>
              </a:rPr>
              <a:t>辅存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、工作过程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地址变换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访问主存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</a:t>
            </a:r>
            <a:r>
              <a:rPr lang="en-US" altLang="zh-CN" sz="2000" b="1" dirty="0" smtClean="0">
                <a:latin typeface="宋体" pitchFamily="2" charset="-122"/>
              </a:rPr>
              <a:t>MMU+</a:t>
            </a:r>
            <a:r>
              <a:rPr lang="zh-CN" altLang="en-US" sz="2000" b="1" dirty="0" smtClean="0">
                <a:latin typeface="宋体" pitchFamily="2" charset="-122"/>
              </a:rPr>
              <a:t>软件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处理缺失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itchFamily="2" charset="-122"/>
              </a:rPr>
              <a:t>    </a:t>
            </a:r>
            <a:r>
              <a:rPr lang="zh-CN" altLang="en-US" sz="2000" b="1" dirty="0" smtClean="0">
                <a:latin typeface="宋体" pitchFamily="2" charset="-122"/>
              </a:rPr>
              <a:t>存储管理方式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管理表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变换实现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、地址变换优化</a:t>
            </a:r>
            <a:r>
              <a:rPr lang="en-US" altLang="zh-CN" sz="1800" b="1" dirty="0" smtClean="0">
                <a:latin typeface="宋体" pitchFamily="2" charset="-122"/>
              </a:rPr>
              <a:t>(TLB)</a:t>
            </a:r>
            <a:endParaRPr lang="en-US" altLang="zh-CN" sz="2200" b="1" dirty="0" smtClean="0">
              <a:latin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44008" y="4077072"/>
            <a:ext cx="4176464" cy="288925"/>
            <a:chOff x="1908374" y="6020395"/>
            <a:chExt cx="4176464" cy="288925"/>
          </a:xfrm>
        </p:grpSpPr>
        <p:sp>
          <p:nvSpPr>
            <p:cNvPr id="35" name="Text Box 1364"/>
            <p:cNvSpPr txBox="1">
              <a:spLocks noChangeArrowheads="1"/>
            </p:cNvSpPr>
            <p:nvPr/>
          </p:nvSpPr>
          <p:spPr bwMode="auto">
            <a:xfrm>
              <a:off x="1908374" y="6020395"/>
              <a:ext cx="863427" cy="288925"/>
            </a:xfrm>
            <a:prstGeom prst="rect">
              <a:avLst/>
            </a:prstGeom>
            <a:noFill/>
            <a:ln w="1587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r"/>
              <a:r>
                <a:rPr lang="zh-CN" altLang="en-US" sz="1600" b="1" u="none" dirty="0" smtClean="0">
                  <a:latin typeface="宋体" pitchFamily="2" charset="-122"/>
                </a:rPr>
                <a:t>行组成：</a:t>
              </a:r>
              <a:endParaRPr lang="zh-CN" altLang="en-US" sz="1600" b="1" u="none" dirty="0">
                <a:latin typeface="宋体" pitchFamily="2" charset="-122"/>
              </a:endParaRPr>
            </a:p>
          </p:txBody>
        </p:sp>
        <p:sp>
          <p:nvSpPr>
            <p:cNvPr id="38" name="Text Box 1367"/>
            <p:cNvSpPr txBox="1">
              <a:spLocks noChangeArrowheads="1"/>
            </p:cNvSpPr>
            <p:nvPr/>
          </p:nvSpPr>
          <p:spPr bwMode="auto">
            <a:xfrm>
              <a:off x="2771800" y="6020395"/>
              <a:ext cx="863923" cy="28892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itchFamily="2" charset="-122"/>
                </a:rPr>
                <a:t>有效位</a:t>
              </a:r>
              <a:r>
                <a:rPr lang="en-US" altLang="zh-CN" sz="1600" b="1" u="none" dirty="0" smtClean="0">
                  <a:latin typeface="宋体" pitchFamily="2" charset="-122"/>
                </a:rPr>
                <a:t>V</a:t>
              </a:r>
              <a:endParaRPr lang="zh-CN" altLang="zh-CN" sz="1600" b="1" u="none" dirty="0">
                <a:latin typeface="宋体" pitchFamily="2" charset="-122"/>
              </a:endParaRPr>
            </a:p>
          </p:txBody>
        </p:sp>
        <p:sp>
          <p:nvSpPr>
            <p:cNvPr id="39" name="Text Box 1368"/>
            <p:cNvSpPr txBox="1">
              <a:spLocks noChangeArrowheads="1"/>
            </p:cNvSpPr>
            <p:nvPr/>
          </p:nvSpPr>
          <p:spPr bwMode="auto">
            <a:xfrm>
              <a:off x="3635723" y="6020395"/>
              <a:ext cx="864269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itchFamily="2" charset="-122"/>
                </a:rPr>
                <a:t>标记</a:t>
              </a:r>
              <a:r>
                <a:rPr lang="en-US" altLang="zh-CN" sz="1600" b="1" u="none" dirty="0" smtClean="0">
                  <a:latin typeface="宋体" pitchFamily="2" charset="-122"/>
                </a:rPr>
                <a:t>Tag</a:t>
              </a:r>
              <a:endParaRPr lang="zh-CN" altLang="zh-CN" sz="1600" b="1" u="none" dirty="0">
                <a:latin typeface="宋体" pitchFamily="2" charset="-122"/>
              </a:endParaRPr>
            </a:p>
          </p:txBody>
        </p:sp>
        <p:sp>
          <p:nvSpPr>
            <p:cNvPr id="40" name="Text Box 1369"/>
            <p:cNvSpPr txBox="1">
              <a:spLocks noChangeArrowheads="1"/>
            </p:cNvSpPr>
            <p:nvPr/>
          </p:nvSpPr>
          <p:spPr bwMode="auto">
            <a:xfrm>
              <a:off x="5148064" y="6020395"/>
              <a:ext cx="936774" cy="28892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 smtClean="0">
                  <a:latin typeface="宋体" pitchFamily="2" charset="-122"/>
                </a:rPr>
                <a:t>缓存块</a:t>
              </a:r>
              <a:endParaRPr lang="zh-CN" altLang="zh-CN" sz="1600" b="1" u="none" dirty="0">
                <a:latin typeface="宋体" pitchFamily="2" charset="-122"/>
              </a:endParaRPr>
            </a:p>
          </p:txBody>
        </p:sp>
        <p:sp>
          <p:nvSpPr>
            <p:cNvPr id="41" name="Text Box 1375"/>
            <p:cNvSpPr txBox="1">
              <a:spLocks noChangeArrowheads="1"/>
            </p:cNvSpPr>
            <p:nvPr/>
          </p:nvSpPr>
          <p:spPr bwMode="auto">
            <a:xfrm>
              <a:off x="4932040" y="6020395"/>
              <a:ext cx="216024" cy="28892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solidFill>
                    <a:srgbClr val="FF3399"/>
                  </a:solidFill>
                  <a:latin typeface="宋体" pitchFamily="2" charset="-122"/>
                </a:rPr>
                <a:t>M</a:t>
              </a:r>
              <a:endParaRPr lang="en-US" altLang="zh-CN" sz="1600" b="1" u="none" dirty="0">
                <a:solidFill>
                  <a:srgbClr val="FF3399"/>
                </a:solidFill>
                <a:latin typeface="宋体" pitchFamily="2" charset="-122"/>
              </a:endParaRPr>
            </a:p>
          </p:txBody>
        </p:sp>
        <p:sp>
          <p:nvSpPr>
            <p:cNvPr id="44" name="Text Box 1375"/>
            <p:cNvSpPr txBox="1">
              <a:spLocks noChangeArrowheads="1"/>
            </p:cNvSpPr>
            <p:nvPr/>
          </p:nvSpPr>
          <p:spPr bwMode="auto">
            <a:xfrm>
              <a:off x="4500662" y="6021288"/>
              <a:ext cx="431378" cy="28701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itchFamily="2" charset="-122"/>
                </a:rPr>
                <a:t>LRU</a:t>
              </a:r>
              <a:endParaRPr lang="en-US" altLang="zh-CN" sz="1600" b="1" u="none" dirty="0">
                <a:solidFill>
                  <a:srgbClr val="FF3399"/>
                </a:solidFill>
                <a:latin typeface="宋体" pitchFamily="2" charset="-122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3815917" y="1363628"/>
            <a:ext cx="3420379" cy="1053066"/>
            <a:chOff x="1655678" y="1937190"/>
            <a:chExt cx="3420379" cy="1053066"/>
          </a:xfrm>
        </p:grpSpPr>
        <p:cxnSp>
          <p:nvCxnSpPr>
            <p:cNvPr id="85" name="直接箭头连接符 84"/>
            <p:cNvCxnSpPr>
              <a:stCxn id="86" idx="0"/>
            </p:cNvCxnSpPr>
            <p:nvPr/>
          </p:nvCxnSpPr>
          <p:spPr bwMode="auto">
            <a:xfrm flipH="1" flipV="1">
              <a:off x="1655678" y="1937190"/>
              <a:ext cx="2520278" cy="26767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86" name="Text Box 451"/>
            <p:cNvSpPr txBox="1">
              <a:spLocks noChangeArrowheads="1"/>
            </p:cNvSpPr>
            <p:nvPr/>
          </p:nvSpPr>
          <p:spPr bwMode="auto">
            <a:xfrm>
              <a:off x="3275855" y="2204864"/>
              <a:ext cx="1800202" cy="252000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 algn="ctr"/>
              <a:r>
                <a:rPr lang="zh-CN" altLang="en-US" sz="1400" b="1" u="none" dirty="0" smtClean="0">
                  <a:latin typeface="宋体" pitchFamily="2" charset="-122"/>
                </a:rPr>
                <a:t>存储单元→机器字长</a:t>
              </a:r>
              <a:endParaRPr lang="zh-CN" altLang="en-US" sz="1400" b="1" u="none" dirty="0">
                <a:latin typeface="宋体" pitchFamily="2" charset="-122"/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 flipH="1" flipV="1">
              <a:off x="4021567" y="2456864"/>
              <a:ext cx="46378" cy="53339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ot"/>
              <a:round/>
              <a:headEnd type="none" w="med" len="med"/>
              <a:tailEnd type="arrow" w="sm" len="sm"/>
            </a:ln>
            <a:effectLst/>
          </p:spPr>
        </p:cxnSp>
      </p:grpSp>
      <p:grpSp>
        <p:nvGrpSpPr>
          <p:cNvPr id="99" name="组合 98"/>
          <p:cNvGrpSpPr/>
          <p:nvPr/>
        </p:nvGrpSpPr>
        <p:grpSpPr>
          <a:xfrm>
            <a:off x="2627784" y="821472"/>
            <a:ext cx="6408712" cy="576064"/>
            <a:chOff x="2123728" y="2310780"/>
            <a:chExt cx="6408712" cy="576064"/>
          </a:xfrm>
        </p:grpSpPr>
        <p:sp>
          <p:nvSpPr>
            <p:cNvPr id="100" name="Rectangle 141"/>
            <p:cNvSpPr>
              <a:spLocks noChangeArrowheads="1"/>
            </p:cNvSpPr>
            <p:nvPr/>
          </p:nvSpPr>
          <p:spPr bwMode="auto">
            <a:xfrm>
              <a:off x="3923928" y="2310780"/>
              <a:ext cx="4608512" cy="57606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Text Box 81"/>
            <p:cNvSpPr txBox="1">
              <a:spLocks noChangeArrowheads="1"/>
            </p:cNvSpPr>
            <p:nvPr/>
          </p:nvSpPr>
          <p:spPr bwMode="auto">
            <a:xfrm>
              <a:off x="3995936" y="2348880"/>
              <a:ext cx="714772" cy="504056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 smtClean="0">
                  <a:latin typeface="宋体" pitchFamily="2" charset="-122"/>
                </a:rPr>
                <a:t>Cache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  <p:sp>
          <p:nvSpPr>
            <p:cNvPr id="102" name="Text Box 82"/>
            <p:cNvSpPr txBox="1">
              <a:spLocks noChangeArrowheads="1"/>
            </p:cNvSpPr>
            <p:nvPr/>
          </p:nvSpPr>
          <p:spPr bwMode="auto">
            <a:xfrm>
              <a:off x="5868144" y="2348708"/>
              <a:ext cx="792088" cy="50447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2000" b="1" u="none" dirty="0" smtClean="0">
                  <a:latin typeface="宋体" pitchFamily="2" charset="-122"/>
                </a:rPr>
                <a:t> 主存</a:t>
              </a:r>
              <a:endParaRPr lang="zh-CN" altLang="en-US" sz="2000" b="1" u="none" dirty="0">
                <a:latin typeface="宋体" pitchFamily="2" charset="-122"/>
              </a:endParaRPr>
            </a:p>
          </p:txBody>
        </p:sp>
        <p:sp>
          <p:nvSpPr>
            <p:cNvPr id="103" name="Text Box 83"/>
            <p:cNvSpPr txBox="1">
              <a:spLocks noChangeArrowheads="1"/>
            </p:cNvSpPr>
            <p:nvPr/>
          </p:nvSpPr>
          <p:spPr bwMode="auto">
            <a:xfrm>
              <a:off x="2123728" y="2348880"/>
              <a:ext cx="864096" cy="504056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54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u="none" dirty="0" smtClean="0">
                  <a:latin typeface="宋体" pitchFamily="2" charset="-122"/>
                </a:rPr>
                <a:t>CPU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  <p:cxnSp>
          <p:nvCxnSpPr>
            <p:cNvPr id="104" name="直接连接符 103"/>
            <p:cNvCxnSpPr>
              <a:stCxn id="103" idx="3"/>
              <a:endCxn id="101" idx="1"/>
            </p:cNvCxnSpPr>
            <p:nvPr/>
          </p:nvCxnSpPr>
          <p:spPr bwMode="auto">
            <a:xfrm>
              <a:off x="2987824" y="2600908"/>
              <a:ext cx="1008112" cy="0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>
              <a:stCxn id="101" idx="3"/>
              <a:endCxn id="102" idx="1"/>
            </p:cNvCxnSpPr>
            <p:nvPr/>
          </p:nvCxnSpPr>
          <p:spPr bwMode="auto">
            <a:xfrm>
              <a:off x="4710708" y="2600908"/>
              <a:ext cx="1157436" cy="39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6" name="Text Box 82"/>
            <p:cNvSpPr txBox="1">
              <a:spLocks noChangeArrowheads="1"/>
            </p:cNvSpPr>
            <p:nvPr/>
          </p:nvSpPr>
          <p:spPr bwMode="auto">
            <a:xfrm>
              <a:off x="7668344" y="2348881"/>
              <a:ext cx="792088" cy="50430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2000" b="1" dirty="0" smtClean="0">
                  <a:latin typeface="宋体" pitchFamily="2" charset="-122"/>
                </a:rPr>
                <a:t> 辅</a:t>
              </a:r>
              <a:r>
                <a:rPr lang="zh-CN" altLang="en-US" sz="2000" b="1" dirty="0">
                  <a:latin typeface="宋体" pitchFamily="2" charset="-122"/>
                </a:rPr>
                <a:t>存</a:t>
              </a:r>
              <a:endParaRPr lang="zh-CN" altLang="en-US" sz="2000" b="1" u="none" dirty="0">
                <a:latin typeface="宋体" pitchFamily="2" charset="-122"/>
              </a:endParaRPr>
            </a:p>
          </p:txBody>
        </p:sp>
        <p:cxnSp>
          <p:nvCxnSpPr>
            <p:cNvPr id="107" name="直接连接符 106"/>
            <p:cNvCxnSpPr>
              <a:stCxn id="102" idx="3"/>
              <a:endCxn id="106" idx="1"/>
            </p:cNvCxnSpPr>
            <p:nvPr/>
          </p:nvCxnSpPr>
          <p:spPr bwMode="auto">
            <a:xfrm>
              <a:off x="6660232" y="2600947"/>
              <a:ext cx="1008112" cy="86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09" name="组合 108"/>
          <p:cNvGrpSpPr/>
          <p:nvPr/>
        </p:nvGrpSpPr>
        <p:grpSpPr>
          <a:xfrm>
            <a:off x="3563888" y="1113696"/>
            <a:ext cx="4536504" cy="299080"/>
            <a:chOff x="2699792" y="2603983"/>
            <a:chExt cx="4536504" cy="299080"/>
          </a:xfrm>
        </p:grpSpPr>
        <p:sp>
          <p:nvSpPr>
            <p:cNvPr id="110" name="Text Box 451"/>
            <p:cNvSpPr txBox="1">
              <a:spLocks noChangeArrowheads="1"/>
            </p:cNvSpPr>
            <p:nvPr/>
          </p:nvSpPr>
          <p:spPr bwMode="auto">
            <a:xfrm>
              <a:off x="2699792" y="2614138"/>
              <a:ext cx="812489" cy="288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itchFamily="2" charset="-122"/>
                </a:rPr>
                <a:t>(</a:t>
              </a:r>
              <a:r>
                <a:rPr lang="zh-CN" altLang="en-US" sz="1600" b="1" u="none" dirty="0" smtClean="0">
                  <a:latin typeface="宋体" pitchFamily="2" charset="-122"/>
                </a:rPr>
                <a:t>字</a:t>
              </a:r>
              <a:r>
                <a:rPr lang="en-US" altLang="zh-CN" sz="1600" b="1" u="none" dirty="0" smtClean="0">
                  <a:latin typeface="宋体" pitchFamily="2" charset="-122"/>
                </a:rPr>
                <a:t>/</a:t>
              </a:r>
              <a:r>
                <a:rPr lang="zh-CN" altLang="en-US" sz="1600" b="1" u="none" dirty="0" smtClean="0">
                  <a:latin typeface="宋体" pitchFamily="2" charset="-122"/>
                </a:rPr>
                <a:t>次</a:t>
              </a:r>
              <a:r>
                <a:rPr lang="en-US" altLang="zh-CN" sz="1600" b="1" u="none" dirty="0" smtClean="0">
                  <a:latin typeface="宋体" pitchFamily="2" charset="-122"/>
                </a:rPr>
                <a:t>)</a:t>
              </a:r>
              <a:endParaRPr lang="zh-CN" altLang="en-US" sz="1600" b="1" u="none" dirty="0">
                <a:latin typeface="宋体" pitchFamily="2" charset="-122"/>
              </a:endParaRPr>
            </a:p>
          </p:txBody>
        </p:sp>
        <p:sp>
          <p:nvSpPr>
            <p:cNvPr id="111" name="Text Box 451"/>
            <p:cNvSpPr txBox="1">
              <a:spLocks noChangeArrowheads="1"/>
            </p:cNvSpPr>
            <p:nvPr/>
          </p:nvSpPr>
          <p:spPr bwMode="auto">
            <a:xfrm>
              <a:off x="4499992" y="2607325"/>
              <a:ext cx="864096" cy="288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itchFamily="2" charset="-122"/>
                </a:rPr>
                <a:t>(</a:t>
              </a:r>
              <a:r>
                <a:rPr lang="zh-CN" altLang="en-US" sz="1600" b="1" u="none" dirty="0" smtClean="0">
                  <a:latin typeface="宋体" pitchFamily="2" charset="-122"/>
                </a:rPr>
                <a:t>块</a:t>
              </a:r>
              <a:r>
                <a:rPr lang="en-US" altLang="zh-CN" sz="1600" b="1" u="none" dirty="0" smtClean="0">
                  <a:latin typeface="宋体" pitchFamily="2" charset="-122"/>
                </a:rPr>
                <a:t>/</a:t>
              </a:r>
              <a:r>
                <a:rPr lang="zh-CN" altLang="en-US" sz="1600" b="1" u="none" dirty="0" smtClean="0">
                  <a:latin typeface="宋体" pitchFamily="2" charset="-122"/>
                </a:rPr>
                <a:t>次</a:t>
              </a:r>
              <a:r>
                <a:rPr lang="en-US" altLang="zh-CN" sz="1600" b="1" u="none" dirty="0" smtClean="0">
                  <a:latin typeface="宋体" pitchFamily="2" charset="-122"/>
                </a:rPr>
                <a:t>)</a:t>
              </a:r>
              <a:endParaRPr lang="zh-CN" altLang="en-US" sz="1600" b="1" u="none" dirty="0">
                <a:latin typeface="宋体" pitchFamily="2" charset="-122"/>
              </a:endParaRPr>
            </a:p>
          </p:txBody>
        </p:sp>
        <p:sp>
          <p:nvSpPr>
            <p:cNvPr id="112" name="Text Box 451"/>
            <p:cNvSpPr txBox="1">
              <a:spLocks noChangeArrowheads="1"/>
            </p:cNvSpPr>
            <p:nvPr/>
          </p:nvSpPr>
          <p:spPr bwMode="auto">
            <a:xfrm>
              <a:off x="6372200" y="2603983"/>
              <a:ext cx="864096" cy="288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 smtClean="0">
                  <a:latin typeface="宋体" pitchFamily="2" charset="-122"/>
                </a:rPr>
                <a:t>(</a:t>
              </a:r>
              <a:r>
                <a:rPr lang="zh-CN" altLang="en-US" sz="1600" b="1" u="none" dirty="0" smtClean="0">
                  <a:latin typeface="宋体" pitchFamily="2" charset="-122"/>
                </a:rPr>
                <a:t>页</a:t>
              </a:r>
              <a:r>
                <a:rPr lang="en-US" altLang="zh-CN" sz="1600" b="1" u="none" dirty="0" smtClean="0">
                  <a:latin typeface="宋体" pitchFamily="2" charset="-122"/>
                </a:rPr>
                <a:t>/</a:t>
              </a:r>
              <a:r>
                <a:rPr lang="zh-CN" altLang="en-US" sz="1600" b="1" u="none" dirty="0" smtClean="0">
                  <a:latin typeface="宋体" pitchFamily="2" charset="-122"/>
                </a:rPr>
                <a:t>次</a:t>
              </a:r>
              <a:r>
                <a:rPr lang="en-US" altLang="zh-CN" sz="1600" b="1" u="none" dirty="0" smtClean="0">
                  <a:latin typeface="宋体" pitchFamily="2" charset="-122"/>
                </a:rPr>
                <a:t>)</a:t>
              </a:r>
              <a:endParaRPr lang="zh-CN" altLang="en-US" sz="1600" b="1" u="none" dirty="0">
                <a:latin typeface="宋体" pitchFamily="2" charset="-122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3471479" y="858679"/>
            <a:ext cx="4880941" cy="504950"/>
            <a:chOff x="2967423" y="2347094"/>
            <a:chExt cx="4880941" cy="504950"/>
          </a:xfrm>
        </p:grpSpPr>
        <p:sp>
          <p:nvSpPr>
            <p:cNvPr id="114" name="Text Box 83"/>
            <p:cNvSpPr txBox="1">
              <a:spLocks noChangeArrowheads="1"/>
            </p:cNvSpPr>
            <p:nvPr/>
          </p:nvSpPr>
          <p:spPr bwMode="auto">
            <a:xfrm>
              <a:off x="5868144" y="2352362"/>
              <a:ext cx="180019" cy="49968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 smtClean="0">
                  <a:latin typeface="宋体" pitchFamily="2" charset="-122"/>
                </a:rPr>
                <a:t>控制器</a:t>
              </a:r>
              <a:endParaRPr lang="en-US" altLang="zh-CN" sz="1200" b="1" u="none" dirty="0">
                <a:latin typeface="宋体" pitchFamily="2" charset="-122"/>
              </a:endParaRPr>
            </a:p>
          </p:txBody>
        </p:sp>
        <p:sp>
          <p:nvSpPr>
            <p:cNvPr id="115" name="Text Box 83"/>
            <p:cNvSpPr txBox="1">
              <a:spLocks noChangeArrowheads="1"/>
            </p:cNvSpPr>
            <p:nvPr/>
          </p:nvSpPr>
          <p:spPr bwMode="auto">
            <a:xfrm>
              <a:off x="7668344" y="2348880"/>
              <a:ext cx="180020" cy="50316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 smtClean="0">
                  <a:latin typeface="宋体" pitchFamily="2" charset="-122"/>
                </a:rPr>
                <a:t>适配器</a:t>
              </a:r>
              <a:endParaRPr lang="en-US" altLang="zh-CN" sz="1200" b="1" u="none" dirty="0">
                <a:latin typeface="宋体" pitchFamily="2" charset="-122"/>
              </a:endParaRPr>
            </a:p>
          </p:txBody>
        </p:sp>
        <p:sp>
          <p:nvSpPr>
            <p:cNvPr id="116" name="Text Box 451"/>
            <p:cNvSpPr txBox="1">
              <a:spLocks noChangeArrowheads="1"/>
            </p:cNvSpPr>
            <p:nvPr/>
          </p:nvSpPr>
          <p:spPr bwMode="auto">
            <a:xfrm>
              <a:off x="2967423" y="2348880"/>
              <a:ext cx="956505" cy="253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itchFamily="2" charset="-122"/>
                </a:rPr>
                <a:t>CPU</a:t>
              </a:r>
              <a:r>
                <a:rPr lang="zh-CN" altLang="en-US" sz="1800" b="1" u="none" dirty="0" smtClean="0">
                  <a:latin typeface="宋体" pitchFamily="2" charset="-122"/>
                </a:rPr>
                <a:t>总线</a:t>
              </a:r>
              <a:endParaRPr lang="zh-CN" altLang="en-US" sz="1800" b="1" u="none" dirty="0">
                <a:latin typeface="宋体" pitchFamily="2" charset="-122"/>
              </a:endParaRPr>
            </a:p>
          </p:txBody>
        </p:sp>
        <p:sp>
          <p:nvSpPr>
            <p:cNvPr id="117" name="Text Box 451"/>
            <p:cNvSpPr txBox="1">
              <a:spLocks noChangeArrowheads="1"/>
            </p:cNvSpPr>
            <p:nvPr/>
          </p:nvSpPr>
          <p:spPr bwMode="auto">
            <a:xfrm>
              <a:off x="4710709" y="2347094"/>
              <a:ext cx="1157436" cy="250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itchFamily="2" charset="-122"/>
                </a:rPr>
                <a:t>HOST</a:t>
              </a:r>
              <a:r>
                <a:rPr lang="zh-CN" altLang="en-US" sz="1800" b="1" u="none" dirty="0" smtClean="0">
                  <a:latin typeface="宋体" pitchFamily="2" charset="-122"/>
                </a:rPr>
                <a:t>总线</a:t>
              </a:r>
              <a:endParaRPr lang="zh-CN" altLang="en-US" sz="1800" b="1" u="none" dirty="0">
                <a:latin typeface="宋体" pitchFamily="2" charset="-122"/>
              </a:endParaRPr>
            </a:p>
          </p:txBody>
        </p:sp>
        <p:sp>
          <p:nvSpPr>
            <p:cNvPr id="118" name="Text Box 451"/>
            <p:cNvSpPr txBox="1">
              <a:spLocks noChangeArrowheads="1"/>
            </p:cNvSpPr>
            <p:nvPr/>
          </p:nvSpPr>
          <p:spPr bwMode="auto">
            <a:xfrm>
              <a:off x="6660232" y="2348966"/>
              <a:ext cx="969539" cy="248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 smtClean="0">
                  <a:latin typeface="宋体" pitchFamily="2" charset="-122"/>
                </a:rPr>
                <a:t>I/O</a:t>
              </a:r>
              <a:r>
                <a:rPr lang="zh-CN" altLang="en-US" sz="1800" b="1" u="none" dirty="0" smtClean="0">
                  <a:latin typeface="宋体" pitchFamily="2" charset="-122"/>
                </a:rPr>
                <a:t>总线</a:t>
              </a:r>
              <a:endParaRPr lang="zh-CN" altLang="en-US" sz="1800" b="1" u="none" dirty="0">
                <a:latin typeface="宋体" pitchFamily="2" charset="-122"/>
              </a:endParaRPr>
            </a:p>
          </p:txBody>
        </p:sp>
      </p:grpSp>
      <p:sp>
        <p:nvSpPr>
          <p:cNvPr id="60" name="Text Box 83"/>
          <p:cNvSpPr txBox="1">
            <a:spLocks noChangeArrowheads="1"/>
          </p:cNvSpPr>
          <p:nvPr/>
        </p:nvSpPr>
        <p:spPr bwMode="auto">
          <a:xfrm>
            <a:off x="3131840" y="980728"/>
            <a:ext cx="360040" cy="288032"/>
          </a:xfrm>
          <a:prstGeom prst="rect">
            <a:avLst/>
          </a:prstGeom>
          <a:solidFill>
            <a:srgbClr val="CCFFFF">
              <a:alpha val="80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u="none" dirty="0" smtClean="0">
                <a:latin typeface="宋体" pitchFamily="2" charset="-122"/>
              </a:rPr>
              <a:t>MMU</a:t>
            </a:r>
            <a:endParaRPr lang="en-US" altLang="zh-CN" sz="1600" b="1" u="none" dirty="0">
              <a:latin typeface="宋体" pitchFamily="2" charset="-122"/>
            </a:endParaRPr>
          </a:p>
        </p:txBody>
      </p:sp>
      <p:sp>
        <p:nvSpPr>
          <p:cNvPr id="3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076404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 smtClean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158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225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7272808" cy="608115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 *指令系统的组成：</a:t>
            </a: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实质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指令功能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      指令格式与指令功能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操作码编码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OPD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的存放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寻址方式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</p:txBody>
      </p:sp>
      <p:sp>
        <p:nvSpPr>
          <p:cNvPr id="226" name="Text Box 5"/>
          <p:cNvSpPr txBox="1">
            <a:spLocks noChangeArrowheads="1"/>
          </p:cNvSpPr>
          <p:nvPr/>
        </p:nvSpPr>
        <p:spPr bwMode="auto">
          <a:xfrm>
            <a:off x="1763688" y="771669"/>
            <a:ext cx="7200800" cy="558614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机器指令的集合，指令功能通过指令格式来表示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约定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软件</a:t>
            </a:r>
            <a:r>
              <a:rPr lang="en-US" altLang="zh-CN" sz="2000" b="1" dirty="0" smtClean="0">
                <a:latin typeface="宋体" pitchFamily="2" charset="-122"/>
              </a:rPr>
              <a:t>-</a:t>
            </a:r>
            <a:r>
              <a:rPr lang="zh-CN" altLang="en-US" sz="2000" b="1" dirty="0" smtClean="0">
                <a:latin typeface="宋体" pitchFamily="2" charset="-122"/>
              </a:rPr>
              <a:t>硬件间的约定，如运算器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主存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寄存器组等的</a:t>
            </a:r>
            <a:r>
              <a:rPr lang="zh-CN" altLang="en-US" sz="2000" b="1" dirty="0">
                <a:latin typeface="宋体" pitchFamily="2" charset="-122"/>
              </a:rPr>
              <a:t>功能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  </a:t>
            </a:r>
            <a:r>
              <a:rPr lang="zh-CN" altLang="en-US" sz="2000" b="1" dirty="0" smtClean="0">
                <a:latin typeface="宋体" pitchFamily="2" charset="-122"/>
              </a:rPr>
              <a:t>数据操作</a:t>
            </a:r>
            <a:r>
              <a:rPr lang="en-US" altLang="zh-CN" sz="2000" b="1" dirty="0" smtClean="0">
                <a:latin typeface="宋体" pitchFamily="2" charset="-122"/>
              </a:rPr>
              <a:t>(OP+</a:t>
            </a:r>
            <a:r>
              <a:rPr lang="zh-CN" altLang="en-US" sz="2000" b="1" dirty="0" smtClean="0">
                <a:latin typeface="宋体" pitchFamily="2" charset="-122"/>
              </a:rPr>
              <a:t>存结果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、指令地址计算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        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约定方法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200" b="1" dirty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    </a:t>
            </a:r>
            <a:r>
              <a:rPr lang="zh-CN" altLang="en-US" sz="2000" b="1" dirty="0" smtClean="0">
                <a:latin typeface="宋体" pitchFamily="2" charset="-122"/>
              </a:rPr>
              <a:t>定长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扩展编码，无二义性</a:t>
            </a:r>
            <a:r>
              <a:rPr lang="en-US" altLang="zh-CN" sz="1800" b="1" spc="-50" dirty="0" smtClean="0">
                <a:latin typeface="+mn-ea"/>
                <a:ea typeface="+mn-ea"/>
              </a:rPr>
              <a:t>(</a:t>
            </a:r>
            <a:r>
              <a:rPr lang="zh-CN" altLang="en-US" sz="1800" b="1" spc="-50" dirty="0" smtClean="0">
                <a:latin typeface="+mn-ea"/>
                <a:ea typeface="+mn-ea"/>
              </a:rPr>
              <a:t>标识</a:t>
            </a:r>
            <a:r>
              <a:rPr lang="zh-CN" altLang="en-US" sz="1800" b="1" spc="-50" dirty="0">
                <a:latin typeface="+mn-ea"/>
                <a:ea typeface="+mn-ea"/>
              </a:rPr>
              <a:t>不同</a:t>
            </a:r>
            <a:r>
              <a:rPr lang="zh-CN" altLang="en-US" sz="1800" b="1" spc="-50" dirty="0" smtClean="0">
                <a:latin typeface="+mn-ea"/>
                <a:ea typeface="+mn-ea"/>
              </a:rPr>
              <a:t>指令、指明隐含信息</a:t>
            </a:r>
            <a:r>
              <a:rPr lang="en-US" altLang="zh-CN" sz="1800" b="1" spc="-50" dirty="0" smtClean="0">
                <a:latin typeface="+mn-ea"/>
                <a:ea typeface="+mn-ea"/>
              </a:rPr>
              <a:t>)</a:t>
            </a:r>
            <a:endParaRPr lang="en-US" altLang="zh-CN" sz="2000" b="1" spc="-50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  </a:t>
            </a:r>
            <a:r>
              <a:rPr lang="zh-CN" altLang="en-US" sz="2000" b="1" dirty="0" smtClean="0">
                <a:latin typeface="宋体" pitchFamily="2" charset="-122"/>
              </a:rPr>
              <a:t>寄存器</a:t>
            </a:r>
            <a:r>
              <a:rPr lang="en-US" altLang="zh-CN" sz="2000" b="1" dirty="0">
                <a:latin typeface="宋体" pitchFamily="2" charset="-122"/>
              </a:rPr>
              <a:t>/</a:t>
            </a:r>
            <a:r>
              <a:rPr lang="zh-CN" altLang="en-US" sz="2000" b="1" dirty="0">
                <a:latin typeface="宋体" pitchFamily="2" charset="-122"/>
              </a:rPr>
              <a:t>存储器</a:t>
            </a:r>
            <a:r>
              <a:rPr lang="en-US" altLang="zh-CN" sz="2000" b="1" dirty="0">
                <a:latin typeface="宋体" pitchFamily="2" charset="-122"/>
              </a:rPr>
              <a:t>/</a:t>
            </a:r>
            <a:r>
              <a:rPr lang="zh-CN" altLang="en-US" sz="2000" b="1" dirty="0">
                <a:latin typeface="宋体" pitchFamily="2" charset="-122"/>
              </a:rPr>
              <a:t>指令字</a:t>
            </a:r>
            <a:r>
              <a:rPr lang="zh-CN" altLang="en-US" sz="2000" b="1" dirty="0" smtClean="0">
                <a:latin typeface="宋体" pitchFamily="2" charset="-122"/>
              </a:rPr>
              <a:t>中的存放方式、地址表示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</a:t>
            </a:r>
            <a:r>
              <a:rPr lang="zh-CN" altLang="en-US" sz="2000" b="1" dirty="0" smtClean="0">
                <a:latin typeface="宋体" pitchFamily="2" charset="-122"/>
              </a:rPr>
              <a:t>指令寻址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数据寻址，立即</a:t>
            </a:r>
            <a:r>
              <a:rPr lang="en-US" altLang="zh-CN" sz="2000" b="1" dirty="0" smtClean="0">
                <a:latin typeface="宋体" pitchFamily="2" charset="-122"/>
              </a:rPr>
              <a:t>/REG/</a:t>
            </a:r>
            <a:r>
              <a:rPr lang="zh-CN" altLang="en-US" sz="2000" b="1" dirty="0" smtClean="0">
                <a:latin typeface="宋体" pitchFamily="2" charset="-122"/>
              </a:rPr>
              <a:t>直接</a:t>
            </a:r>
            <a:r>
              <a:rPr lang="en-US" altLang="zh-CN" sz="2000" b="1" dirty="0" smtClean="0">
                <a:latin typeface="宋体" pitchFamily="2" charset="-122"/>
              </a:rPr>
              <a:t>/REG</a:t>
            </a:r>
            <a:r>
              <a:rPr lang="zh-CN" altLang="en-US" sz="2000" b="1" dirty="0" smtClean="0">
                <a:latin typeface="宋体" pitchFamily="2" charset="-122"/>
              </a:rPr>
              <a:t>间接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相对</a:t>
            </a:r>
            <a:r>
              <a:rPr lang="en-US" altLang="zh-CN" sz="2000" b="1" dirty="0" smtClean="0">
                <a:latin typeface="宋体" pitchFamily="2" charset="-122"/>
              </a:rPr>
              <a:t>/…</a:t>
            </a:r>
            <a:endParaRPr lang="en-US" altLang="zh-CN" sz="2200" b="1" dirty="0" smtClean="0">
              <a:latin typeface="宋体" pitchFamily="2" charset="-122"/>
            </a:endParaRPr>
          </a:p>
        </p:txBody>
      </p:sp>
      <p:grpSp>
        <p:nvGrpSpPr>
          <p:cNvPr id="270" name="组合 269"/>
          <p:cNvGrpSpPr/>
          <p:nvPr/>
        </p:nvGrpSpPr>
        <p:grpSpPr>
          <a:xfrm>
            <a:off x="6289019" y="3284984"/>
            <a:ext cx="1235184" cy="823022"/>
            <a:chOff x="6073120" y="3966858"/>
            <a:chExt cx="1235184" cy="823022"/>
          </a:xfrm>
        </p:grpSpPr>
        <p:cxnSp>
          <p:nvCxnSpPr>
            <p:cNvPr id="271" name="直接箭头连接符 270"/>
            <p:cNvCxnSpPr/>
            <p:nvPr/>
          </p:nvCxnSpPr>
          <p:spPr>
            <a:xfrm>
              <a:off x="6588224" y="3966858"/>
              <a:ext cx="0" cy="823022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 Box 22"/>
            <p:cNvSpPr txBox="1">
              <a:spLocks noChangeArrowheads="1"/>
            </p:cNvSpPr>
            <p:nvPr/>
          </p:nvSpPr>
          <p:spPr bwMode="auto">
            <a:xfrm>
              <a:off x="6588223" y="4110874"/>
              <a:ext cx="720081" cy="43204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itchFamily="2" charset="-122"/>
                </a:rPr>
                <a:t>操作码</a:t>
              </a:r>
              <a:endParaRPr lang="en-US" altLang="zh-CN" sz="1600" b="1" dirty="0" smtClean="0">
                <a:solidFill>
                  <a:schemeClr val="accent2"/>
                </a:solidFill>
                <a:latin typeface="宋体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chemeClr val="accent2"/>
                  </a:solidFill>
                  <a:latin typeface="宋体" pitchFamily="2" charset="-122"/>
                </a:rPr>
                <a:t>编码</a:t>
              </a:r>
              <a:endParaRPr lang="zh-CN" altLang="en-US" sz="1400" b="1" dirty="0">
                <a:solidFill>
                  <a:schemeClr val="accent2"/>
                </a:solidFill>
                <a:latin typeface="宋体" pitchFamily="2" charset="-122"/>
              </a:endParaRPr>
            </a:p>
          </p:txBody>
        </p:sp>
        <p:cxnSp>
          <p:nvCxnSpPr>
            <p:cNvPr id="273" name="直接箭头连接符 272"/>
            <p:cNvCxnSpPr/>
            <p:nvPr/>
          </p:nvCxnSpPr>
          <p:spPr>
            <a:xfrm>
              <a:off x="6073120" y="3969060"/>
              <a:ext cx="515103" cy="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4" name="组合 273"/>
          <p:cNvGrpSpPr/>
          <p:nvPr/>
        </p:nvGrpSpPr>
        <p:grpSpPr>
          <a:xfrm>
            <a:off x="1403523" y="2492896"/>
            <a:ext cx="7560839" cy="1944219"/>
            <a:chOff x="827584" y="2204864"/>
            <a:chExt cx="7560839" cy="1944219"/>
          </a:xfrm>
        </p:grpSpPr>
        <p:sp>
          <p:nvSpPr>
            <p:cNvPr id="275" name="Text Box 22"/>
            <p:cNvSpPr txBox="1">
              <a:spLocks noChangeArrowheads="1"/>
            </p:cNvSpPr>
            <p:nvPr/>
          </p:nvSpPr>
          <p:spPr bwMode="auto">
            <a:xfrm>
              <a:off x="3419872" y="3609049"/>
              <a:ext cx="225025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宋体" pitchFamily="2" charset="-122"/>
                </a:rPr>
                <a:t>(</a:t>
              </a:r>
              <a:r>
                <a:rPr lang="zh-CN" altLang="en-US" sz="1400" b="1" dirty="0" smtClean="0">
                  <a:latin typeface="宋体" pitchFamily="2" charset="-122"/>
                </a:rPr>
                <a:t>地址码个数</a:t>
              </a:r>
              <a:r>
                <a:rPr lang="en-US" altLang="zh-CN" sz="1400" b="1" dirty="0" smtClean="0">
                  <a:latin typeface="宋体" pitchFamily="2" charset="-122"/>
                </a:rPr>
                <a:t>/</a:t>
              </a:r>
              <a:r>
                <a:rPr lang="zh-CN" altLang="en-US" sz="1400" b="1" dirty="0" smtClean="0">
                  <a:latin typeface="宋体" pitchFamily="2" charset="-122"/>
                </a:rPr>
                <a:t>目的</a:t>
              </a:r>
              <a:r>
                <a:rPr lang="en-US" altLang="zh-CN" sz="1400" b="1" dirty="0" smtClean="0">
                  <a:latin typeface="宋体" pitchFamily="2" charset="-122"/>
                </a:rPr>
                <a:t>OPD</a:t>
              </a:r>
              <a:r>
                <a:rPr lang="zh-CN" altLang="en-US" sz="1400" b="1" dirty="0" smtClean="0">
                  <a:latin typeface="宋体" pitchFamily="2" charset="-122"/>
                </a:rPr>
                <a:t>位置</a:t>
              </a:r>
              <a:r>
                <a:rPr lang="en-US" altLang="zh-CN" sz="1400" b="1" dirty="0" smtClean="0">
                  <a:latin typeface="宋体" pitchFamily="2" charset="-122"/>
                </a:rPr>
                <a:t>)</a:t>
              </a:r>
              <a:endParaRPr lang="zh-CN" altLang="en-US" sz="1400" b="1" dirty="0">
                <a:latin typeface="宋体" pitchFamily="2" charset="-122"/>
              </a:endParaRPr>
            </a:p>
          </p:txBody>
        </p:sp>
        <p:sp>
          <p:nvSpPr>
            <p:cNvPr id="276" name="Text Box 22"/>
            <p:cNvSpPr txBox="1">
              <a:spLocks noChangeArrowheads="1"/>
            </p:cNvSpPr>
            <p:nvPr/>
          </p:nvSpPr>
          <p:spPr bwMode="auto">
            <a:xfrm>
              <a:off x="1763688" y="2663200"/>
              <a:ext cx="504056" cy="7277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itchFamily="2" charset="-122"/>
                </a:rPr>
                <a:t>功能</a:t>
              </a:r>
              <a:r>
                <a:rPr lang="zh-CN" altLang="en-US" sz="1600" b="1" dirty="0" smtClean="0">
                  <a:latin typeface="宋体" pitchFamily="2" charset="-122"/>
                </a:rPr>
                <a:t>所含信息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277" name="Text Box 23"/>
            <p:cNvSpPr txBox="1">
              <a:spLocks noChangeArrowheads="1"/>
            </p:cNvSpPr>
            <p:nvPr/>
          </p:nvSpPr>
          <p:spPr bwMode="auto">
            <a:xfrm>
              <a:off x="6732240" y="3860758"/>
              <a:ext cx="1656183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地址码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278" name="直接连接符 277"/>
            <p:cNvCxnSpPr/>
            <p:nvPr/>
          </p:nvCxnSpPr>
          <p:spPr bwMode="auto">
            <a:xfrm>
              <a:off x="7164288" y="3861048"/>
              <a:ext cx="0" cy="28803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9" name="直接连接符 278"/>
            <p:cNvCxnSpPr/>
            <p:nvPr/>
          </p:nvCxnSpPr>
          <p:spPr bwMode="auto">
            <a:xfrm>
              <a:off x="7956376" y="3861048"/>
              <a:ext cx="0" cy="28742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0" name="Text Box 22"/>
            <p:cNvSpPr txBox="1">
              <a:spLocks noChangeArrowheads="1"/>
            </p:cNvSpPr>
            <p:nvPr/>
          </p:nvSpPr>
          <p:spPr bwMode="auto">
            <a:xfrm>
              <a:off x="971600" y="3861048"/>
              <a:ext cx="936104" cy="28803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指令格式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281" name="Text Box 22"/>
            <p:cNvSpPr txBox="1">
              <a:spLocks noChangeArrowheads="1"/>
            </p:cNvSpPr>
            <p:nvPr/>
          </p:nvSpPr>
          <p:spPr bwMode="auto">
            <a:xfrm>
              <a:off x="2555776" y="2564905"/>
              <a:ext cx="720080" cy="86409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指令</a:t>
              </a:r>
              <a:endParaRPr lang="en-US" altLang="zh-CN" sz="1600" b="1" dirty="0" smtClean="0">
                <a:latin typeface="宋体" pitchFamily="2" charset="-122"/>
              </a:endParaRPr>
            </a:p>
            <a:p>
              <a:pPr algn="ctr">
                <a:lnSpc>
                  <a:spcPct val="105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需约定</a:t>
              </a:r>
              <a:endParaRPr lang="en-US" altLang="zh-CN" sz="1600" b="1" dirty="0" smtClean="0">
                <a:latin typeface="宋体" pitchFamily="2" charset="-122"/>
              </a:endParaRPr>
            </a:p>
            <a:p>
              <a:pPr algn="ctr">
                <a:lnSpc>
                  <a:spcPct val="105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信息</a:t>
              </a:r>
              <a:endParaRPr lang="en-US" altLang="zh-CN" sz="1600" b="1" dirty="0" smtClean="0">
                <a:latin typeface="宋体" pitchFamily="2" charset="-122"/>
              </a:endParaRPr>
            </a:p>
          </p:txBody>
        </p:sp>
        <p:cxnSp>
          <p:nvCxnSpPr>
            <p:cNvPr id="282" name="直接箭头连接符 281"/>
            <p:cNvCxnSpPr/>
            <p:nvPr/>
          </p:nvCxnSpPr>
          <p:spPr>
            <a:xfrm>
              <a:off x="2267743" y="3032352"/>
              <a:ext cx="288033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/>
            <p:nvPr/>
          </p:nvCxnSpPr>
          <p:spPr>
            <a:xfrm flipV="1">
              <a:off x="1907704" y="4005062"/>
              <a:ext cx="3888432" cy="2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Text Box 22"/>
            <p:cNvSpPr txBox="1">
              <a:spLocks noChangeArrowheads="1"/>
            </p:cNvSpPr>
            <p:nvPr/>
          </p:nvSpPr>
          <p:spPr bwMode="auto">
            <a:xfrm>
              <a:off x="5868144" y="3861080"/>
              <a:ext cx="864097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操作码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285" name="Text Box 22"/>
            <p:cNvSpPr txBox="1">
              <a:spLocks noChangeArrowheads="1"/>
            </p:cNvSpPr>
            <p:nvPr/>
          </p:nvSpPr>
          <p:spPr bwMode="auto">
            <a:xfrm>
              <a:off x="2411758" y="3609048"/>
              <a:ext cx="1011909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格式信息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286" name="直接箭头连接符 285"/>
            <p:cNvCxnSpPr>
              <a:stCxn id="285" idx="0"/>
              <a:endCxn id="281" idx="2"/>
            </p:cNvCxnSpPr>
            <p:nvPr/>
          </p:nvCxnSpPr>
          <p:spPr>
            <a:xfrm flipH="1" flipV="1">
              <a:off x="2915816" y="3429001"/>
              <a:ext cx="1897" cy="180047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Text Box 22"/>
            <p:cNvSpPr txBox="1">
              <a:spLocks noChangeArrowheads="1"/>
            </p:cNvSpPr>
            <p:nvPr/>
          </p:nvSpPr>
          <p:spPr bwMode="auto">
            <a:xfrm>
              <a:off x="971600" y="2663200"/>
              <a:ext cx="504056" cy="7277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指令</a:t>
              </a:r>
              <a:r>
                <a:rPr lang="zh-CN" altLang="en-US" sz="1600" b="1" dirty="0">
                  <a:latin typeface="宋体" pitchFamily="2" charset="-122"/>
                </a:rPr>
                <a:t>功能</a:t>
              </a:r>
            </a:p>
          </p:txBody>
        </p:sp>
        <p:cxnSp>
          <p:nvCxnSpPr>
            <p:cNvPr id="288" name="直接箭头连接符 287"/>
            <p:cNvCxnSpPr/>
            <p:nvPr/>
          </p:nvCxnSpPr>
          <p:spPr>
            <a:xfrm>
              <a:off x="1475656" y="3032352"/>
              <a:ext cx="288032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箭头连接符 288"/>
            <p:cNvCxnSpPr/>
            <p:nvPr/>
          </p:nvCxnSpPr>
          <p:spPr>
            <a:xfrm flipV="1">
              <a:off x="2915816" y="3861048"/>
              <a:ext cx="0" cy="144016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箭头连接符 289"/>
            <p:cNvCxnSpPr/>
            <p:nvPr/>
          </p:nvCxnSpPr>
          <p:spPr>
            <a:xfrm>
              <a:off x="3419872" y="2469438"/>
              <a:ext cx="0" cy="180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Text Box 22"/>
            <p:cNvSpPr txBox="1">
              <a:spLocks noChangeArrowheads="1"/>
            </p:cNvSpPr>
            <p:nvPr/>
          </p:nvSpPr>
          <p:spPr bwMode="auto">
            <a:xfrm>
              <a:off x="2555776" y="2204864"/>
              <a:ext cx="2448271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信息表示方式</a:t>
              </a:r>
              <a:r>
                <a:rPr lang="en-US" altLang="zh-CN" sz="1600" b="1" dirty="0" smtClean="0">
                  <a:latin typeface="宋体" pitchFamily="2" charset="-122"/>
                </a:rPr>
                <a:t>(</a:t>
              </a:r>
              <a:r>
                <a:rPr lang="zh-CN" altLang="en-US" sz="1600" b="1" dirty="0" smtClean="0">
                  <a:latin typeface="宋体" pitchFamily="2" charset="-122"/>
                </a:rPr>
                <a:t>显式</a:t>
              </a:r>
              <a:r>
                <a:rPr lang="en-US" altLang="zh-CN" sz="1600" b="1" dirty="0" smtClean="0">
                  <a:latin typeface="宋体" pitchFamily="2" charset="-122"/>
                </a:rPr>
                <a:t>/</a:t>
              </a:r>
              <a:r>
                <a:rPr lang="zh-CN" altLang="en-US" sz="1600" b="1" dirty="0" smtClean="0">
                  <a:latin typeface="宋体" pitchFamily="2" charset="-122"/>
                </a:rPr>
                <a:t>隐式</a:t>
              </a:r>
              <a:r>
                <a:rPr lang="en-US" altLang="zh-CN" sz="1600" b="1" dirty="0" smtClean="0">
                  <a:latin typeface="宋体" pitchFamily="2" charset="-122"/>
                </a:rPr>
                <a:t>)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292" name="直接箭头连接符 291"/>
            <p:cNvCxnSpPr/>
            <p:nvPr/>
          </p:nvCxnSpPr>
          <p:spPr>
            <a:xfrm>
              <a:off x="827584" y="2348864"/>
              <a:ext cx="360041" cy="16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箭头连接符 37"/>
            <p:cNvCxnSpPr/>
            <p:nvPr/>
          </p:nvCxnSpPr>
          <p:spPr>
            <a:xfrm rot="16200000" flipV="1">
              <a:off x="71501" y="3104964"/>
              <a:ext cx="1656185" cy="144017"/>
            </a:xfrm>
            <a:prstGeom prst="bentConnector3">
              <a:avLst>
                <a:gd name="adj1" fmla="val 310"/>
              </a:avLst>
            </a:prstGeom>
            <a:ln w="12700">
              <a:solidFill>
                <a:srgbClr val="FF3399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/>
            <p:cNvCxnSpPr>
              <a:stCxn id="295" idx="3"/>
              <a:endCxn id="291" idx="1"/>
            </p:cNvCxnSpPr>
            <p:nvPr/>
          </p:nvCxnSpPr>
          <p:spPr>
            <a:xfrm flipV="1">
              <a:off x="2123728" y="2348880"/>
              <a:ext cx="432048" cy="7385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Text Box 22"/>
            <p:cNvSpPr txBox="1">
              <a:spLocks noChangeArrowheads="1"/>
            </p:cNvSpPr>
            <p:nvPr/>
          </p:nvSpPr>
          <p:spPr bwMode="auto">
            <a:xfrm>
              <a:off x="1187624" y="2230265"/>
              <a:ext cx="936104" cy="25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itchFamily="2" charset="-122"/>
                </a:rPr>
                <a:t>表示</a:t>
              </a:r>
              <a:r>
                <a:rPr lang="zh-CN" altLang="en-US" sz="1600" b="1" dirty="0" smtClean="0">
                  <a:latin typeface="宋体" pitchFamily="2" charset="-122"/>
                </a:rPr>
                <a:t>性能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</p:grpSp>
      <p:grpSp>
        <p:nvGrpSpPr>
          <p:cNvPr id="296" name="组合 295"/>
          <p:cNvGrpSpPr/>
          <p:nvPr/>
        </p:nvGrpSpPr>
        <p:grpSpPr>
          <a:xfrm>
            <a:off x="3851795" y="2816933"/>
            <a:ext cx="2736304" cy="864096"/>
            <a:chOff x="3275856" y="2528901"/>
            <a:chExt cx="2736304" cy="864096"/>
          </a:xfrm>
        </p:grpSpPr>
        <p:sp>
          <p:nvSpPr>
            <p:cNvPr id="297" name="Text Box 22"/>
            <p:cNvSpPr txBox="1">
              <a:spLocks noChangeArrowheads="1"/>
            </p:cNvSpPr>
            <p:nvPr/>
          </p:nvSpPr>
          <p:spPr bwMode="auto">
            <a:xfrm>
              <a:off x="3635896" y="2528901"/>
              <a:ext cx="2376264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itchFamily="2" charset="-122"/>
                </a:rPr>
                <a:t>显式的</a:t>
              </a:r>
              <a:r>
                <a:rPr lang="en-US" altLang="zh-CN" sz="1600" b="1" dirty="0" smtClean="0">
                  <a:latin typeface="宋体" pitchFamily="2" charset="-122"/>
                </a:rPr>
                <a:t>OPD</a:t>
              </a:r>
              <a:r>
                <a:rPr lang="en-US" altLang="zh-CN" sz="1600" b="1" dirty="0">
                  <a:latin typeface="宋体" pitchFamily="2" charset="-122"/>
                </a:rPr>
                <a:t>/</a:t>
              </a:r>
              <a:r>
                <a:rPr lang="zh-CN" altLang="en-US" sz="1600" b="1" dirty="0" smtClean="0">
                  <a:latin typeface="宋体" pitchFamily="2" charset="-122"/>
                </a:rPr>
                <a:t>指令地址信息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sp>
          <p:nvSpPr>
            <p:cNvPr id="298" name="Text Box 22"/>
            <p:cNvSpPr txBox="1">
              <a:spLocks noChangeArrowheads="1"/>
            </p:cNvSpPr>
            <p:nvPr/>
          </p:nvSpPr>
          <p:spPr bwMode="auto">
            <a:xfrm>
              <a:off x="3635896" y="2839793"/>
              <a:ext cx="2034226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itchFamily="2" charset="-122"/>
                </a:rPr>
                <a:t>显式的</a:t>
              </a:r>
              <a:r>
                <a:rPr lang="zh-CN" altLang="en-US" sz="1600" b="1" dirty="0" smtClean="0">
                  <a:latin typeface="宋体" pitchFamily="2" charset="-122"/>
                </a:rPr>
                <a:t>操作</a:t>
              </a:r>
              <a:r>
                <a:rPr lang="en-US" altLang="zh-CN" sz="1600" b="1" dirty="0" smtClean="0">
                  <a:latin typeface="宋体" pitchFamily="2" charset="-122"/>
                </a:rPr>
                <a:t>/</a:t>
              </a:r>
              <a:r>
                <a:rPr lang="zh-CN" altLang="en-US" sz="1600" b="1" dirty="0" smtClean="0">
                  <a:latin typeface="宋体" pitchFamily="2" charset="-122"/>
                </a:rPr>
                <a:t>格式信息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299" name="直接箭头连接符 298"/>
            <p:cNvCxnSpPr/>
            <p:nvPr/>
          </p:nvCxnSpPr>
          <p:spPr>
            <a:xfrm>
              <a:off x="3275857" y="2678441"/>
              <a:ext cx="36004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箭头连接符 299"/>
            <p:cNvCxnSpPr/>
            <p:nvPr/>
          </p:nvCxnSpPr>
          <p:spPr>
            <a:xfrm>
              <a:off x="3275857" y="2964377"/>
              <a:ext cx="36004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Text Box 22"/>
            <p:cNvSpPr txBox="1">
              <a:spLocks noChangeArrowheads="1"/>
            </p:cNvSpPr>
            <p:nvPr/>
          </p:nvSpPr>
          <p:spPr bwMode="auto">
            <a:xfrm>
              <a:off x="3635896" y="3140997"/>
              <a:ext cx="1152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itchFamily="2" charset="-122"/>
                </a:rPr>
                <a:t>隐式的</a:t>
              </a:r>
              <a:r>
                <a:rPr lang="zh-CN" altLang="en-US" sz="1600" b="1" dirty="0" smtClean="0">
                  <a:latin typeface="宋体" pitchFamily="2" charset="-122"/>
                </a:rPr>
                <a:t>信息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302" name="直接箭头连接符 301"/>
            <p:cNvCxnSpPr/>
            <p:nvPr/>
          </p:nvCxnSpPr>
          <p:spPr>
            <a:xfrm>
              <a:off x="3275856" y="3256601"/>
              <a:ext cx="36004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组合 302"/>
          <p:cNvGrpSpPr/>
          <p:nvPr/>
        </p:nvGrpSpPr>
        <p:grpSpPr>
          <a:xfrm>
            <a:off x="6372075" y="2492896"/>
            <a:ext cx="2592288" cy="575433"/>
            <a:chOff x="5796136" y="1377376"/>
            <a:chExt cx="2592288" cy="575433"/>
          </a:xfrm>
        </p:grpSpPr>
        <p:sp>
          <p:nvSpPr>
            <p:cNvPr id="304" name="Text Box 22"/>
            <p:cNvSpPr txBox="1">
              <a:spLocks noChangeArrowheads="1"/>
            </p:cNvSpPr>
            <p:nvPr/>
          </p:nvSpPr>
          <p:spPr bwMode="auto">
            <a:xfrm>
              <a:off x="6582561" y="1700809"/>
              <a:ext cx="1805863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itchFamily="2" charset="-122"/>
                </a:rPr>
                <a:t>OPD</a:t>
              </a:r>
              <a:r>
                <a:rPr lang="zh-CN" altLang="en-US" sz="1600" b="1" dirty="0" smtClean="0">
                  <a:latin typeface="宋体" pitchFamily="2" charset="-122"/>
                </a:rPr>
                <a:t>地址</a:t>
              </a:r>
              <a:r>
                <a:rPr lang="en-US" altLang="zh-CN" sz="1600" b="1" dirty="0" smtClean="0">
                  <a:latin typeface="宋体" pitchFamily="2" charset="-122"/>
                </a:rPr>
                <a:t>/</a:t>
              </a:r>
              <a:r>
                <a:rPr lang="zh-CN" altLang="en-US" sz="1600" b="1" dirty="0" smtClean="0">
                  <a:latin typeface="宋体" pitchFamily="2" charset="-122"/>
                </a:rPr>
                <a:t>指令地址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305" name="直接箭头连接符 304"/>
            <p:cNvCxnSpPr/>
            <p:nvPr/>
          </p:nvCxnSpPr>
          <p:spPr>
            <a:xfrm flipV="1">
              <a:off x="6012160" y="1843292"/>
              <a:ext cx="570401" cy="604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Text Box 22"/>
            <p:cNvSpPr txBox="1">
              <a:spLocks noChangeArrowheads="1"/>
            </p:cNvSpPr>
            <p:nvPr/>
          </p:nvSpPr>
          <p:spPr bwMode="auto">
            <a:xfrm>
              <a:off x="5796136" y="1377376"/>
              <a:ext cx="2592288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chemeClr val="accent2"/>
                  </a:solidFill>
                  <a:latin typeface="宋体" pitchFamily="2" charset="-122"/>
                </a:rPr>
                <a:t>OPD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itchFamily="2" charset="-122"/>
                </a:rPr>
                <a:t>的存放</a:t>
              </a:r>
              <a:r>
                <a:rPr lang="en-US" altLang="zh-CN" sz="1600" b="1" dirty="0" smtClean="0">
                  <a:latin typeface="宋体" pitchFamily="2" charset="-122"/>
                </a:rPr>
                <a:t>(GPRs/MEM/IR</a:t>
              </a:r>
              <a:r>
                <a:rPr lang="zh-CN" altLang="en-US" sz="1600" b="1" dirty="0" smtClean="0">
                  <a:latin typeface="宋体" pitchFamily="2" charset="-122"/>
                </a:rPr>
                <a:t>等</a:t>
              </a:r>
              <a:r>
                <a:rPr lang="en-US" altLang="zh-CN" sz="1600" b="1" dirty="0" smtClean="0">
                  <a:latin typeface="宋体" pitchFamily="2" charset="-122"/>
                </a:rPr>
                <a:t>)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  <p:cxnSp>
          <p:nvCxnSpPr>
            <p:cNvPr id="307" name="直接箭头连接符 306"/>
            <p:cNvCxnSpPr/>
            <p:nvPr/>
          </p:nvCxnSpPr>
          <p:spPr>
            <a:xfrm>
              <a:off x="6300192" y="1636406"/>
              <a:ext cx="0" cy="180000"/>
            </a:xfrm>
            <a:prstGeom prst="straightConnector1">
              <a:avLst/>
            </a:prstGeom>
            <a:ln w="12700">
              <a:solidFill>
                <a:schemeClr val="accent2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8" name="组合 307"/>
          <p:cNvGrpSpPr/>
          <p:nvPr/>
        </p:nvGrpSpPr>
        <p:grpSpPr>
          <a:xfrm>
            <a:off x="7812235" y="3140968"/>
            <a:ext cx="1152253" cy="962740"/>
            <a:chOff x="7236296" y="2025448"/>
            <a:chExt cx="1152253" cy="962740"/>
          </a:xfrm>
        </p:grpSpPr>
        <p:cxnSp>
          <p:nvCxnSpPr>
            <p:cNvPr id="309" name="直接箭头连接符 308"/>
            <p:cNvCxnSpPr/>
            <p:nvPr/>
          </p:nvCxnSpPr>
          <p:spPr>
            <a:xfrm>
              <a:off x="7236296" y="2025448"/>
              <a:ext cx="0" cy="96274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Text Box 22"/>
            <p:cNvSpPr txBox="1">
              <a:spLocks noChangeArrowheads="1"/>
            </p:cNvSpPr>
            <p:nvPr/>
          </p:nvSpPr>
          <p:spPr bwMode="auto">
            <a:xfrm>
              <a:off x="7236296" y="2276871"/>
              <a:ext cx="1152253" cy="46805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itchFamily="2" charset="-122"/>
                </a:rPr>
                <a:t>地址码编码</a:t>
              </a:r>
              <a:endParaRPr lang="en-US" altLang="zh-CN" sz="1600" b="1" dirty="0" smtClean="0">
                <a:latin typeface="宋体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itchFamily="2" charset="-122"/>
                </a:rPr>
                <a:t>(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itchFamily="2" charset="-122"/>
                </a:rPr>
                <a:t>寻址方式</a:t>
              </a:r>
              <a:r>
                <a:rPr lang="en-US" altLang="zh-CN" sz="1600" b="1" dirty="0" smtClean="0">
                  <a:latin typeface="宋体" pitchFamily="2" charset="-122"/>
                </a:rPr>
                <a:t>)</a:t>
              </a:r>
              <a:endParaRPr lang="zh-CN" altLang="en-US" sz="1600" b="1" dirty="0">
                <a:latin typeface="宋体" pitchFamily="2" charset="-122"/>
              </a:endParaRPr>
            </a:p>
          </p:txBody>
        </p:sp>
      </p:grpSp>
      <p:sp>
        <p:nvSpPr>
          <p:cNvPr id="311" name="Text Box 205"/>
          <p:cNvSpPr txBox="1">
            <a:spLocks noChangeArrowheads="1"/>
          </p:cNvSpPr>
          <p:nvPr/>
        </p:nvSpPr>
        <p:spPr bwMode="auto">
          <a:xfrm>
            <a:off x="1835571" y="4475786"/>
            <a:ext cx="6912768" cy="556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18000" tIns="10800" rIns="18000" bIns="1080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 dirty="0" smtClean="0">
                <a:latin typeface="+mn-ea"/>
              </a:rPr>
              <a:t>注：指令所含信息</a:t>
            </a:r>
            <a:r>
              <a:rPr lang="en-US" altLang="zh-CN" sz="1600" b="1" dirty="0" smtClean="0">
                <a:latin typeface="+mn-ea"/>
              </a:rPr>
              <a:t>—</a:t>
            </a:r>
            <a:r>
              <a:rPr lang="zh-CN" altLang="en-US" sz="1600" b="1" dirty="0" smtClean="0">
                <a:latin typeface="+mn-ea"/>
              </a:rPr>
              <a:t>操作类型</a:t>
            </a:r>
            <a:r>
              <a:rPr lang="en-US" altLang="zh-CN" sz="1600" b="1" dirty="0" smtClean="0">
                <a:latin typeface="+mn-ea"/>
              </a:rPr>
              <a:t>(</a:t>
            </a:r>
            <a:r>
              <a:rPr lang="zh-CN" altLang="en-US" sz="1600" b="1" dirty="0" smtClean="0">
                <a:latin typeface="+mn-ea"/>
              </a:rPr>
              <a:t>功能</a:t>
            </a:r>
            <a:r>
              <a:rPr lang="en-US" altLang="zh-CN" sz="1600" b="1" dirty="0" smtClean="0">
                <a:latin typeface="+mn-ea"/>
              </a:rPr>
              <a:t>+OPD</a:t>
            </a:r>
            <a:r>
              <a:rPr lang="zh-CN" altLang="en-US" sz="1600" b="1" dirty="0" smtClean="0">
                <a:latin typeface="+mn-ea"/>
              </a:rPr>
              <a:t>类型</a:t>
            </a:r>
            <a:r>
              <a:rPr lang="en-US" altLang="zh-CN" sz="1600" b="1" dirty="0" smtClean="0">
                <a:latin typeface="+mn-ea"/>
              </a:rPr>
              <a:t>)</a:t>
            </a:r>
            <a:r>
              <a:rPr lang="zh-CN" altLang="en-US" sz="1600" b="1" dirty="0" smtClean="0">
                <a:latin typeface="+mn-ea"/>
              </a:rPr>
              <a:t>、</a:t>
            </a:r>
            <a:r>
              <a:rPr lang="zh-CN" altLang="en-US" sz="1600" b="1" dirty="0">
                <a:latin typeface="+mn-ea"/>
              </a:rPr>
              <a:t>源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目的</a:t>
            </a:r>
            <a:r>
              <a:rPr lang="en-US" altLang="zh-CN" sz="1600" b="1" dirty="0">
                <a:latin typeface="+mn-ea"/>
              </a:rPr>
              <a:t>OPD</a:t>
            </a:r>
            <a:r>
              <a:rPr lang="zh-CN" altLang="en-US" sz="1600" b="1" dirty="0">
                <a:latin typeface="+mn-ea"/>
              </a:rPr>
              <a:t>、下条</a:t>
            </a:r>
            <a:r>
              <a:rPr lang="zh-CN" altLang="en-US" sz="1600" b="1" dirty="0" smtClean="0">
                <a:latin typeface="+mn-ea"/>
              </a:rPr>
              <a:t>指令地址</a:t>
            </a:r>
            <a:endParaRPr lang="en-US" altLang="zh-CN" sz="1600" b="1" dirty="0" smtClean="0">
              <a:latin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smtClean="0">
                <a:latin typeface="+mn-ea"/>
              </a:rPr>
              <a:t>   </a:t>
            </a:r>
            <a:r>
              <a:rPr lang="zh-CN" altLang="en-US" sz="1600" b="1" dirty="0" smtClean="0">
                <a:latin typeface="+mn-ea"/>
              </a:rPr>
              <a:t>隐含表示条件</a:t>
            </a:r>
            <a:r>
              <a:rPr lang="en-US" altLang="zh-CN" sz="1600" b="1" dirty="0" smtClean="0">
                <a:latin typeface="+mn-ea"/>
              </a:rPr>
              <a:t>—</a:t>
            </a:r>
            <a:r>
              <a:rPr lang="zh-CN" altLang="en-US" sz="1600" b="1" dirty="0" smtClean="0">
                <a:latin typeface="+mn-ea"/>
              </a:rPr>
              <a:t>当前指令中，信息的取值只有一种</a:t>
            </a:r>
            <a:endParaRPr lang="en-US" altLang="zh-CN" sz="1600" b="1" dirty="0" smtClean="0">
              <a:latin typeface="+mn-ea"/>
            </a:endParaRPr>
          </a:p>
        </p:txBody>
      </p:sp>
      <p:cxnSp>
        <p:nvCxnSpPr>
          <p:cNvPr id="312" name="直接箭头连接符 311"/>
          <p:cNvCxnSpPr/>
          <p:nvPr/>
        </p:nvCxnSpPr>
        <p:spPr>
          <a:xfrm>
            <a:off x="5394315" y="3591032"/>
            <a:ext cx="1121775" cy="630056"/>
          </a:xfrm>
          <a:prstGeom prst="straightConnector1">
            <a:avLst/>
          </a:prstGeom>
          <a:ln w="15875">
            <a:solidFill>
              <a:srgbClr val="C00000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4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  <p:sp>
        <p:nvSpPr>
          <p:cNvPr id="90" name="Text Box 5"/>
          <p:cNvSpPr txBox="1">
            <a:spLocks noChangeArrowheads="1"/>
          </p:cNvSpPr>
          <p:nvPr/>
        </p:nvSpPr>
        <p:spPr bwMode="auto">
          <a:xfrm>
            <a:off x="163622" y="332656"/>
            <a:ext cx="7432713" cy="581184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 *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CPU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的组成：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任务：按存储程序工作方式执行程序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功能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itchFamily="2" charset="-122"/>
              </a:rPr>
              <a:t>需求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)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基本组成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itchFamily="2" charset="-122"/>
              </a:rPr>
              <a:t>电路组成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)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      工作流程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chemeClr val="accent2"/>
                </a:solidFill>
                <a:latin typeface="宋体" pitchFamily="2" charset="-122"/>
              </a:rPr>
              <a:t>电路控制</a:t>
            </a:r>
            <a:r>
              <a:rPr lang="en-US" altLang="zh-CN" sz="2000" b="1" dirty="0" smtClean="0">
                <a:solidFill>
                  <a:schemeClr val="accent2"/>
                </a:solidFill>
                <a:latin typeface="宋体" pitchFamily="2" charset="-122"/>
              </a:rPr>
              <a:t>)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  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表示：</a:t>
            </a:r>
            <a:endParaRPr lang="en-US" altLang="zh-CN" sz="20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数据通路的组成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部件</a:t>
            </a:r>
            <a:r>
              <a:rPr lang="zh-CN" altLang="en-US" sz="2000" b="1" dirty="0">
                <a:solidFill>
                  <a:srgbClr val="990099"/>
                </a:solidFill>
                <a:latin typeface="宋体" pitchFamily="2" charset="-122"/>
              </a:rPr>
              <a:t>：</a:t>
            </a:r>
            <a:endParaRPr lang="en-US" altLang="zh-CN" sz="20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互连：</a:t>
            </a:r>
            <a:endParaRPr lang="en-US" altLang="zh-CN" sz="20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指令执行过程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控制需求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)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endParaRPr lang="en-US" altLang="zh-CN" sz="20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控制器的组成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基本结构：</a:t>
            </a:r>
            <a:endParaRPr lang="en-US" altLang="zh-CN" sz="20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时序信号形成电路：</a:t>
            </a:r>
            <a:endParaRPr lang="en-US" altLang="zh-CN" sz="20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        </a:t>
            </a:r>
            <a:r>
              <a:rPr lang="en-US" altLang="zh-CN" sz="2000" spc="-80" dirty="0" err="1">
                <a:solidFill>
                  <a:srgbClr val="990099"/>
                </a:solidFill>
              </a:rPr>
              <a:t>μ</a:t>
            </a:r>
            <a:r>
              <a:rPr lang="en-US" altLang="zh-CN" sz="2000" b="1" spc="-80" dirty="0" err="1">
                <a:solidFill>
                  <a:srgbClr val="990099"/>
                </a:solidFill>
                <a:latin typeface="宋体" pitchFamily="2" charset="-122"/>
              </a:rPr>
              <a:t>OP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控制信号形成电路：</a:t>
            </a:r>
            <a:endParaRPr lang="en-US" altLang="zh-CN" sz="2000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itchFamily="2" charset="-122"/>
              </a:rPr>
              <a:t>      中断机构的组成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63688" y="771669"/>
            <a:ext cx="7272808" cy="5393784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  </a:t>
            </a:r>
            <a:r>
              <a:rPr lang="zh-CN" altLang="en-US" sz="2000" b="1" dirty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操作类</a:t>
            </a:r>
            <a:r>
              <a:rPr lang="en-US" altLang="zh-CN" sz="2000" b="1" dirty="0" smtClean="0">
                <a:latin typeface="宋体" pitchFamily="2" charset="-122"/>
              </a:rPr>
              <a:t>3.5</a:t>
            </a:r>
            <a:r>
              <a:rPr lang="zh-CN" altLang="en-US" sz="2000" b="1" dirty="0" smtClean="0">
                <a:latin typeface="宋体" pitchFamily="2" charset="-122"/>
              </a:rPr>
              <a:t>个</a:t>
            </a:r>
            <a:r>
              <a:rPr lang="en-US" altLang="zh-CN" sz="1600" b="1" dirty="0">
                <a:latin typeface="宋体" pitchFamily="2" charset="-122"/>
              </a:rPr>
              <a:t>(</a:t>
            </a:r>
            <a:r>
              <a:rPr lang="zh-CN" altLang="en-US" sz="1600" b="1" dirty="0">
                <a:latin typeface="宋体" pitchFamily="2" charset="-122"/>
              </a:rPr>
              <a:t>计算机模型</a:t>
            </a:r>
            <a:r>
              <a:rPr lang="en-US" altLang="zh-CN" sz="1600" b="1" dirty="0">
                <a:latin typeface="宋体" pitchFamily="2" charset="-122"/>
              </a:rPr>
              <a:t>/ISA/</a:t>
            </a:r>
            <a:r>
              <a:rPr lang="zh-CN" altLang="en-US" sz="1600" b="1" dirty="0">
                <a:latin typeface="宋体" pitchFamily="2" charset="-122"/>
              </a:rPr>
              <a:t>中断处理</a:t>
            </a:r>
            <a:r>
              <a:rPr lang="en-US" altLang="zh-CN" sz="1600" b="1" dirty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，控制类</a:t>
            </a:r>
            <a:r>
              <a:rPr lang="en-US" altLang="zh-CN" sz="2000" b="1" dirty="0" smtClean="0">
                <a:latin typeface="宋体" pitchFamily="2" charset="-122"/>
              </a:rPr>
              <a:t>2.5</a:t>
            </a:r>
            <a:r>
              <a:rPr lang="zh-CN" altLang="en-US" sz="2000" b="1" dirty="0" smtClean="0">
                <a:latin typeface="宋体" pitchFamily="2" charset="-122"/>
              </a:rPr>
              <a:t>个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itchFamily="2" charset="-122"/>
              </a:rPr>
              <a:t>              </a:t>
            </a:r>
            <a:r>
              <a:rPr lang="zh-CN" altLang="en-US" sz="2000" b="1" u="sng" dirty="0" smtClean="0">
                <a:latin typeface="宋体" pitchFamily="2" charset="-122"/>
              </a:rPr>
              <a:t>运算器</a:t>
            </a:r>
            <a:r>
              <a:rPr lang="en-US" altLang="zh-CN" sz="2000" b="1" u="sng" dirty="0" smtClean="0">
                <a:latin typeface="宋体" pitchFamily="2" charset="-122"/>
              </a:rPr>
              <a:t>/BIU/MMU/</a:t>
            </a:r>
            <a:r>
              <a:rPr lang="zh-CN" altLang="en-US" sz="2000" b="1" u="sng" dirty="0" smtClean="0">
                <a:latin typeface="宋体" pitchFamily="2" charset="-122"/>
              </a:rPr>
              <a:t>指令</a:t>
            </a:r>
            <a:r>
              <a:rPr lang="zh-CN" altLang="en-US" sz="2000" b="1" dirty="0" smtClean="0">
                <a:latin typeface="+mn-lt"/>
              </a:rPr>
              <a:t> </a:t>
            </a:r>
            <a:r>
              <a:rPr lang="zh-CN" altLang="en-US" sz="2000" b="1" u="sng" dirty="0" smtClean="0">
                <a:latin typeface="宋体" pitchFamily="2" charset="-122"/>
              </a:rPr>
              <a:t>部件</a:t>
            </a:r>
            <a:r>
              <a:rPr lang="en-US" altLang="zh-CN" sz="2000" b="1" u="sng" dirty="0" smtClean="0">
                <a:latin typeface="宋体" pitchFamily="2" charset="-122"/>
              </a:rPr>
              <a:t>/CU/</a:t>
            </a:r>
            <a:r>
              <a:rPr lang="zh-CN" altLang="en-US" sz="2000" b="1" u="sng" dirty="0" smtClean="0">
                <a:latin typeface="宋体" pitchFamily="2" charset="-122"/>
              </a:rPr>
              <a:t>中断机构</a:t>
            </a:r>
            <a:r>
              <a:rPr lang="zh-CN" altLang="en-US" sz="2000" b="1" dirty="0" smtClean="0"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           </a:t>
            </a:r>
            <a:r>
              <a:rPr lang="zh-CN" altLang="en-US" sz="2000" b="1" dirty="0" smtClean="0">
                <a:latin typeface="宋体" pitchFamily="2" charset="-122"/>
              </a:rPr>
              <a:t>循环地</a:t>
            </a:r>
            <a:r>
              <a:rPr lang="zh-CN" altLang="en-US" sz="2000" b="1" dirty="0" smtClean="0">
                <a:latin typeface="+mn-lt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执行指令＋检测并响应中断</a:t>
            </a:r>
            <a:endParaRPr lang="en-US" altLang="zh-CN" sz="2200" b="1" dirty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itchFamily="2" charset="-122"/>
              </a:rPr>
              <a:t>   </a:t>
            </a:r>
            <a:r>
              <a:rPr lang="zh-CN" altLang="en-US" sz="2000" b="1" dirty="0" smtClean="0">
                <a:latin typeface="宋体" pitchFamily="2" charset="-122"/>
              </a:rPr>
              <a:t>循环的操作序列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～指令类型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中断类型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itchFamily="2" charset="-122"/>
              </a:rPr>
              <a:t>  </a:t>
            </a:r>
            <a:r>
              <a:rPr lang="zh-CN" altLang="en-US" sz="2000" b="1" dirty="0" smtClean="0">
                <a:latin typeface="宋体" pitchFamily="2" charset="-122"/>
              </a:rPr>
              <a:t>取指</a:t>
            </a:r>
            <a:r>
              <a:rPr lang="en-US" altLang="zh-CN" sz="1800" b="1" dirty="0" smtClean="0">
                <a:latin typeface="宋体" pitchFamily="2" charset="-122"/>
              </a:rPr>
              <a:t>(PC/IR</a:t>
            </a:r>
            <a:r>
              <a:rPr lang="zh-CN" altLang="en-US" sz="1800" b="1" dirty="0" smtClean="0">
                <a:latin typeface="宋体" pitchFamily="2" charset="-122"/>
              </a:rPr>
              <a:t>等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＋执行</a:t>
            </a:r>
            <a:r>
              <a:rPr lang="en-US" altLang="zh-CN" sz="1800" b="1" dirty="0" smtClean="0">
                <a:latin typeface="宋体" pitchFamily="2" charset="-122"/>
              </a:rPr>
              <a:t>(ALU/GPRs</a:t>
            </a:r>
            <a:r>
              <a:rPr lang="zh-CN" altLang="en-US" sz="1800" b="1" dirty="0" smtClean="0">
                <a:latin typeface="宋体" pitchFamily="2" charset="-122"/>
              </a:rPr>
              <a:t>等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 smtClean="0">
                <a:latin typeface="宋体" pitchFamily="2" charset="-122"/>
              </a:rPr>
              <a:t>  连</a:t>
            </a:r>
            <a:r>
              <a:rPr lang="zh-CN" altLang="en-US" sz="2000" b="1" dirty="0">
                <a:latin typeface="宋体" pitchFamily="2" charset="-122"/>
              </a:rPr>
              <a:t>线结构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总线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>
                <a:latin typeface="宋体" pitchFamily="2" charset="-122"/>
              </a:rPr>
              <a:t>专用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，端口连接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各操作序列的数据路径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200" b="1" dirty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solidFill>
                  <a:srgbClr val="C00000"/>
                </a:solidFill>
                <a:latin typeface="宋体" pitchFamily="2" charset="-122"/>
              </a:rPr>
              <a:t>             </a:t>
            </a:r>
            <a:r>
              <a:rPr lang="zh-CN" altLang="en-US" sz="2000" b="1" dirty="0">
                <a:latin typeface="宋体" pitchFamily="2" charset="-122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      各操作序列的组成与控制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spc="-50" dirty="0" smtClean="0">
                <a:latin typeface="+mn-ea"/>
                <a:ea typeface="+mn-ea"/>
              </a:rPr>
              <a:t>      CU</a:t>
            </a:r>
            <a:r>
              <a:rPr lang="en-US" altLang="zh-CN" sz="1800" b="1" spc="-50" dirty="0" smtClean="0">
                <a:latin typeface="+mn-ea"/>
                <a:ea typeface="+mn-ea"/>
              </a:rPr>
              <a:t>(ID/</a:t>
            </a:r>
            <a:r>
              <a:rPr lang="zh-CN" altLang="en-US" sz="1800" b="1" spc="-50" dirty="0" smtClean="0">
                <a:latin typeface="+mn-ea"/>
                <a:ea typeface="+mn-ea"/>
              </a:rPr>
              <a:t>时序电路</a:t>
            </a:r>
            <a:r>
              <a:rPr lang="en-US" altLang="zh-CN" sz="1800" b="1" spc="-50" dirty="0" smtClean="0">
                <a:latin typeface="+mn-ea"/>
                <a:ea typeface="+mn-ea"/>
              </a:rPr>
              <a:t>/</a:t>
            </a:r>
            <a:r>
              <a:rPr lang="zh-CN" altLang="en-US" sz="1800" b="1" spc="-50" dirty="0" smtClean="0">
                <a:latin typeface="+mn-ea"/>
                <a:ea typeface="+mn-ea"/>
              </a:rPr>
              <a:t>控制信号形成电路</a:t>
            </a:r>
            <a:r>
              <a:rPr lang="en-US" altLang="zh-CN" sz="1800" b="1" spc="-50" dirty="0" smtClean="0">
                <a:latin typeface="+mn-ea"/>
                <a:ea typeface="+mn-ea"/>
              </a:rPr>
              <a:t>)</a:t>
            </a:r>
            <a:r>
              <a:rPr lang="zh-CN" altLang="en-US" sz="2000" b="1" spc="-50" dirty="0" smtClean="0">
                <a:latin typeface="+mn-ea"/>
                <a:ea typeface="+mn-ea"/>
              </a:rPr>
              <a:t>，其余∈</a:t>
            </a:r>
            <a:r>
              <a:rPr lang="en-US" altLang="zh-CN" sz="2000" b="1" spc="-50" dirty="0" smtClean="0">
                <a:latin typeface="+mn-ea"/>
                <a:ea typeface="+mn-ea"/>
              </a:rPr>
              <a:t>DP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 smtClean="0">
                <a:latin typeface="宋体" pitchFamily="2" charset="-122"/>
              </a:rPr>
              <a:t>      </a:t>
            </a:r>
            <a:r>
              <a:rPr lang="en-US" altLang="zh-CN" sz="2000" b="1" dirty="0" smtClean="0">
                <a:latin typeface="宋体" pitchFamily="2" charset="-122"/>
              </a:rPr>
              <a:t>        </a:t>
            </a:r>
            <a:r>
              <a:rPr lang="zh-CN" altLang="en-US" sz="2000" b="1" dirty="0" smtClean="0">
                <a:latin typeface="宋体" pitchFamily="2" charset="-122"/>
              </a:rPr>
              <a:t>时序系统的组织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信号序列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、实现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定序</a:t>
            </a:r>
            <a:r>
              <a:rPr lang="en-US" altLang="zh-CN" sz="1800" b="1" dirty="0" smtClean="0">
                <a:latin typeface="宋体" pitchFamily="2" charset="-122"/>
              </a:rPr>
              <a:t>+</a:t>
            </a:r>
            <a:r>
              <a:rPr lang="zh-CN" altLang="en-US" sz="1800" b="1" dirty="0" smtClean="0">
                <a:latin typeface="宋体" pitchFamily="2" charset="-122"/>
              </a:rPr>
              <a:t>定时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 smtClean="0">
                <a:latin typeface="宋体" pitchFamily="2" charset="-122"/>
              </a:rPr>
              <a:t>                 </a:t>
            </a:r>
            <a:r>
              <a:rPr lang="zh-CN" altLang="en-US" sz="2000" b="1" dirty="0" smtClean="0">
                <a:latin typeface="宋体" pitchFamily="2" charset="-122"/>
              </a:rPr>
              <a:t>需求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基于时序系统的状态转换图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，实现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     </a:t>
            </a:r>
            <a:r>
              <a:rPr lang="zh-CN" altLang="en-US" sz="2000" b="1" dirty="0" smtClean="0">
                <a:latin typeface="宋体" pitchFamily="2" charset="-122"/>
              </a:rPr>
              <a:t>事件组织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含处理需求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sz="2000" b="1" dirty="0" smtClean="0">
                <a:latin typeface="宋体" pitchFamily="2" charset="-122"/>
              </a:rPr>
              <a:t>，处理过程，硬件组成</a:t>
            </a:r>
            <a:endParaRPr lang="en-US" altLang="zh-CN" sz="2200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414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  <p:sp>
        <p:nvSpPr>
          <p:cNvPr id="178" name="Text Box 5"/>
          <p:cNvSpPr txBox="1">
            <a:spLocks noChangeArrowheads="1"/>
          </p:cNvSpPr>
          <p:nvPr/>
        </p:nvSpPr>
        <p:spPr bwMode="auto">
          <a:xfrm>
            <a:off x="179511" y="332656"/>
            <a:ext cx="4608513" cy="515526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</a:rPr>
              <a:t>计算机组成总图</a:t>
            </a:r>
            <a:endParaRPr lang="en-US" altLang="zh-CN" sz="2200" b="1" dirty="0" smtClean="0">
              <a:solidFill>
                <a:srgbClr val="FF3399"/>
              </a:solidFill>
              <a:latin typeface="+mn-ea"/>
            </a:endParaRPr>
          </a:p>
        </p:txBody>
      </p:sp>
      <p:grpSp>
        <p:nvGrpSpPr>
          <p:cNvPr id="179" name="组合 178"/>
          <p:cNvGrpSpPr/>
          <p:nvPr/>
        </p:nvGrpSpPr>
        <p:grpSpPr>
          <a:xfrm>
            <a:off x="1691680" y="2494312"/>
            <a:ext cx="3960440" cy="1440120"/>
            <a:chOff x="1547664" y="1412808"/>
            <a:chExt cx="3960440" cy="1440120"/>
          </a:xfrm>
        </p:grpSpPr>
        <p:sp>
          <p:nvSpPr>
            <p:cNvPr id="180" name="Rectangle 274"/>
            <p:cNvSpPr>
              <a:spLocks noChangeArrowheads="1"/>
            </p:cNvSpPr>
            <p:nvPr/>
          </p:nvSpPr>
          <p:spPr bwMode="auto">
            <a:xfrm>
              <a:off x="2543132" y="1662616"/>
              <a:ext cx="504000" cy="43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1" name="Rectangle 274"/>
            <p:cNvSpPr>
              <a:spLocks noChangeArrowheads="1"/>
            </p:cNvSpPr>
            <p:nvPr/>
          </p:nvSpPr>
          <p:spPr bwMode="auto">
            <a:xfrm>
              <a:off x="3203904" y="1448904"/>
              <a:ext cx="1728000" cy="82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2" name="Rectangle 274"/>
            <p:cNvSpPr>
              <a:spLocks noChangeArrowheads="1"/>
            </p:cNvSpPr>
            <p:nvPr/>
          </p:nvSpPr>
          <p:spPr bwMode="auto">
            <a:xfrm>
              <a:off x="1619672" y="1484816"/>
              <a:ext cx="504000" cy="108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Rectangle 274"/>
            <p:cNvSpPr>
              <a:spLocks noChangeArrowheads="1"/>
            </p:cNvSpPr>
            <p:nvPr/>
          </p:nvSpPr>
          <p:spPr bwMode="auto">
            <a:xfrm>
              <a:off x="3275896" y="1480646"/>
              <a:ext cx="1368000" cy="75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" name="Text Box 227"/>
            <p:cNvSpPr txBox="1">
              <a:spLocks noChangeArrowheads="1"/>
            </p:cNvSpPr>
            <p:nvPr/>
          </p:nvSpPr>
          <p:spPr bwMode="auto">
            <a:xfrm>
              <a:off x="4716032" y="1556824"/>
              <a:ext cx="216000" cy="64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200" b="1" dirty="0">
                  <a:latin typeface="宋体" pitchFamily="2" charset="-122"/>
                </a:rPr>
                <a:t>中断机构</a:t>
              </a:r>
            </a:p>
          </p:txBody>
        </p:sp>
        <p:sp>
          <p:nvSpPr>
            <p:cNvPr id="185" name="Text Box 256"/>
            <p:cNvSpPr txBox="1">
              <a:spLocks noChangeArrowheads="1"/>
            </p:cNvSpPr>
            <p:nvPr/>
          </p:nvSpPr>
          <p:spPr bwMode="auto">
            <a:xfrm>
              <a:off x="3347904" y="1888310"/>
              <a:ext cx="216000" cy="2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ID</a:t>
              </a:r>
              <a:endParaRPr lang="en-US" altLang="zh-CN" sz="1200" b="1" dirty="0">
                <a:latin typeface="宋体" pitchFamily="2" charset="-122"/>
              </a:endParaRPr>
            </a:p>
          </p:txBody>
        </p:sp>
        <p:sp>
          <p:nvSpPr>
            <p:cNvPr id="186" name="Text Box 257"/>
            <p:cNvSpPr txBox="1">
              <a:spLocks noChangeArrowheads="1"/>
            </p:cNvSpPr>
            <p:nvPr/>
          </p:nvSpPr>
          <p:spPr bwMode="auto">
            <a:xfrm>
              <a:off x="3312040" y="1520728"/>
              <a:ext cx="1296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200" b="1" dirty="0" smtClean="0">
                  <a:latin typeface="宋体" pitchFamily="2" charset="-122"/>
                </a:rPr>
                <a:t>时序信号形成电路</a:t>
              </a:r>
              <a:endParaRPr lang="zh-CN" altLang="en-US" sz="1200" b="1" dirty="0">
                <a:latin typeface="宋体" pitchFamily="2" charset="-122"/>
              </a:endParaRPr>
            </a:p>
          </p:txBody>
        </p:sp>
        <p:sp>
          <p:nvSpPr>
            <p:cNvPr id="187" name="Text Box 258"/>
            <p:cNvSpPr txBox="1">
              <a:spLocks noChangeArrowheads="1"/>
            </p:cNvSpPr>
            <p:nvPr/>
          </p:nvSpPr>
          <p:spPr bwMode="auto">
            <a:xfrm>
              <a:off x="3707944" y="1844003"/>
              <a:ext cx="864000" cy="36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 err="1" smtClean="0"/>
                <a:t>μ</a:t>
              </a:r>
              <a:r>
                <a:rPr lang="en-US" altLang="zh-CN" sz="1200" b="1" dirty="0" err="1" smtClean="0">
                  <a:latin typeface="宋体" pitchFamily="2" charset="-122"/>
                </a:rPr>
                <a:t>OP</a:t>
              </a:r>
              <a:r>
                <a:rPr lang="zh-CN" altLang="en-US" sz="1200" b="1" dirty="0" smtClean="0">
                  <a:latin typeface="宋体" pitchFamily="2" charset="-122"/>
                </a:rPr>
                <a:t>控制信号</a:t>
              </a:r>
              <a:r>
                <a:rPr lang="zh-CN" altLang="en-US" sz="1200" b="1" dirty="0">
                  <a:latin typeface="宋体" pitchFamily="2" charset="-122"/>
                </a:rPr>
                <a:t>形成电路</a:t>
              </a:r>
            </a:p>
          </p:txBody>
        </p:sp>
        <p:sp>
          <p:nvSpPr>
            <p:cNvPr id="188" name="Text Box 271"/>
            <p:cNvSpPr txBox="1">
              <a:spLocks noChangeArrowheads="1"/>
            </p:cNvSpPr>
            <p:nvPr/>
          </p:nvSpPr>
          <p:spPr bwMode="auto">
            <a:xfrm>
              <a:off x="3960024" y="2250438"/>
              <a:ext cx="288000" cy="108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solidFill>
                    <a:srgbClr val="FF3399"/>
                  </a:solidFill>
                </a:rPr>
                <a:t>……</a:t>
              </a:r>
            </a:p>
          </p:txBody>
        </p:sp>
        <p:sp>
          <p:nvSpPr>
            <p:cNvPr id="189" name="Text Box 291"/>
            <p:cNvSpPr txBox="1">
              <a:spLocks noChangeArrowheads="1"/>
            </p:cNvSpPr>
            <p:nvPr/>
          </p:nvSpPr>
          <p:spPr bwMode="auto">
            <a:xfrm>
              <a:off x="3923928" y="2492928"/>
              <a:ext cx="648000" cy="360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latin typeface="宋体" pitchFamily="2" charset="-122"/>
                </a:rPr>
                <a:t>总线逻辑</a:t>
              </a:r>
              <a:endParaRPr lang="en-US" altLang="zh-CN" sz="1200" b="1" dirty="0">
                <a:latin typeface="宋体" pitchFamily="2" charset="-122"/>
              </a:endParaRPr>
            </a:p>
          </p:txBody>
        </p:sp>
        <p:sp>
          <p:nvSpPr>
            <p:cNvPr id="190" name="Rectangle 299"/>
            <p:cNvSpPr>
              <a:spLocks noChangeArrowheads="1"/>
            </p:cNvSpPr>
            <p:nvPr/>
          </p:nvSpPr>
          <p:spPr bwMode="auto">
            <a:xfrm>
              <a:off x="1547664" y="1412808"/>
              <a:ext cx="3384000" cy="144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Text Box 333"/>
            <p:cNvSpPr txBox="1">
              <a:spLocks noChangeArrowheads="1"/>
            </p:cNvSpPr>
            <p:nvPr/>
          </p:nvSpPr>
          <p:spPr bwMode="auto">
            <a:xfrm>
              <a:off x="2267744" y="1556824"/>
              <a:ext cx="144000" cy="126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latin typeface="宋体" pitchFamily="2" charset="-122"/>
                </a:rPr>
                <a:t>通路</a:t>
              </a:r>
              <a:r>
                <a:rPr lang="zh-CN" altLang="en-US" sz="1200" b="1" dirty="0">
                  <a:latin typeface="宋体" pitchFamily="2" charset="-122"/>
                </a:rPr>
                <a:t>结构</a:t>
              </a:r>
            </a:p>
          </p:txBody>
        </p:sp>
        <p:cxnSp>
          <p:nvCxnSpPr>
            <p:cNvPr id="192" name="直接箭头连接符 191"/>
            <p:cNvCxnSpPr/>
            <p:nvPr/>
          </p:nvCxnSpPr>
          <p:spPr bwMode="auto">
            <a:xfrm>
              <a:off x="2411760" y="2708952"/>
              <a:ext cx="216000" cy="6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3" name="直接箭头连接符 192"/>
            <p:cNvCxnSpPr/>
            <p:nvPr/>
          </p:nvCxnSpPr>
          <p:spPr bwMode="auto">
            <a:xfrm flipH="1" flipV="1">
              <a:off x="2411760" y="2780960"/>
              <a:ext cx="21600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4" name="直接箭头连接符 193"/>
            <p:cNvCxnSpPr/>
            <p:nvPr/>
          </p:nvCxnSpPr>
          <p:spPr bwMode="auto">
            <a:xfrm>
              <a:off x="2412613" y="2564920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5" name="直接箭头连接符 194"/>
            <p:cNvCxnSpPr/>
            <p:nvPr/>
          </p:nvCxnSpPr>
          <p:spPr bwMode="auto">
            <a:xfrm>
              <a:off x="2051800" y="1592840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6" name="直接箭头连接符 195"/>
            <p:cNvCxnSpPr/>
            <p:nvPr/>
          </p:nvCxnSpPr>
          <p:spPr bwMode="auto">
            <a:xfrm flipH="1" flipV="1">
              <a:off x="2051720" y="1766568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7" name="直接箭头连接符 196"/>
            <p:cNvCxnSpPr/>
            <p:nvPr/>
          </p:nvCxnSpPr>
          <p:spPr bwMode="auto">
            <a:xfrm>
              <a:off x="2051800" y="1664848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8" name="AutoShape 189"/>
            <p:cNvSpPr>
              <a:spLocks noChangeArrowheads="1"/>
            </p:cNvSpPr>
            <p:nvPr/>
          </p:nvSpPr>
          <p:spPr bwMode="auto">
            <a:xfrm>
              <a:off x="1691728" y="2024888"/>
              <a:ext cx="360000" cy="180000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+mn-ea"/>
                  <a:ea typeface="+mn-ea"/>
                </a:rPr>
                <a:t>ALU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cxnSp>
          <p:nvCxnSpPr>
            <p:cNvPr id="199" name="直接箭头连接符 97"/>
            <p:cNvCxnSpPr/>
            <p:nvPr/>
          </p:nvCxnSpPr>
          <p:spPr bwMode="auto">
            <a:xfrm rot="10800000" flipV="1">
              <a:off x="1763649" y="1880872"/>
              <a:ext cx="504000" cy="144000"/>
            </a:xfrm>
            <a:prstGeom prst="bentConnector3">
              <a:avLst>
                <a:gd name="adj1" fmla="val 100000"/>
              </a:avLst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0" name="直接箭头连接符 98"/>
            <p:cNvCxnSpPr/>
            <p:nvPr/>
          </p:nvCxnSpPr>
          <p:spPr bwMode="auto">
            <a:xfrm rot="10800000" flipV="1">
              <a:off x="1979697" y="1952887"/>
              <a:ext cx="288000" cy="72000"/>
            </a:xfrm>
            <a:prstGeom prst="bentConnector3">
              <a:avLst>
                <a:gd name="adj1" fmla="val 99598"/>
              </a:avLst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1" name="直接箭头连接符 98"/>
            <p:cNvCxnSpPr/>
            <p:nvPr/>
          </p:nvCxnSpPr>
          <p:spPr bwMode="auto">
            <a:xfrm>
              <a:off x="1907752" y="2204920"/>
              <a:ext cx="360000" cy="108000"/>
            </a:xfrm>
            <a:prstGeom prst="bentConnector3">
              <a:avLst>
                <a:gd name="adj1" fmla="val -460"/>
              </a:avLst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2" name="直接箭头连接符 201"/>
            <p:cNvCxnSpPr/>
            <p:nvPr/>
          </p:nvCxnSpPr>
          <p:spPr bwMode="auto">
            <a:xfrm flipH="1">
              <a:off x="2051808" y="2490277"/>
              <a:ext cx="21600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3" name="直接箭头连接符 202"/>
            <p:cNvCxnSpPr/>
            <p:nvPr/>
          </p:nvCxnSpPr>
          <p:spPr bwMode="auto">
            <a:xfrm>
              <a:off x="2051808" y="2418269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4" name="直接箭头连接符 203"/>
            <p:cNvCxnSpPr/>
            <p:nvPr/>
          </p:nvCxnSpPr>
          <p:spPr bwMode="auto">
            <a:xfrm>
              <a:off x="3563928" y="1916864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5" name="直接箭头连接符 204"/>
            <p:cNvCxnSpPr/>
            <p:nvPr/>
          </p:nvCxnSpPr>
          <p:spPr bwMode="auto">
            <a:xfrm>
              <a:off x="3563928" y="2059705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06" name="Text Box 271"/>
            <p:cNvSpPr txBox="1">
              <a:spLocks noChangeArrowheads="1"/>
            </p:cNvSpPr>
            <p:nvPr/>
          </p:nvSpPr>
          <p:spPr bwMode="auto">
            <a:xfrm rot="16200000">
              <a:off x="3527928" y="1951682"/>
              <a:ext cx="144000" cy="72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 smtClean="0"/>
                <a:t>…</a:t>
              </a:r>
              <a:endParaRPr lang="en-US" altLang="zh-CN" sz="1200" b="1" dirty="0"/>
            </a:p>
          </p:txBody>
        </p:sp>
        <p:cxnSp>
          <p:nvCxnSpPr>
            <p:cNvPr id="207" name="直接箭头连接符 117"/>
            <p:cNvCxnSpPr/>
            <p:nvPr/>
          </p:nvCxnSpPr>
          <p:spPr bwMode="auto">
            <a:xfrm>
              <a:off x="1836048" y="2528944"/>
              <a:ext cx="360000" cy="108000"/>
            </a:xfrm>
            <a:prstGeom prst="bentConnector3">
              <a:avLst>
                <a:gd name="adj1" fmla="val -1012"/>
              </a:avLst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>
              <a:off x="4248000" y="1709261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9" name="直接箭头连接符 208"/>
            <p:cNvCxnSpPr/>
            <p:nvPr/>
          </p:nvCxnSpPr>
          <p:spPr bwMode="auto">
            <a:xfrm>
              <a:off x="3959968" y="1700704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10" name="Text Box 271"/>
            <p:cNvSpPr txBox="1">
              <a:spLocks noChangeArrowheads="1"/>
            </p:cNvSpPr>
            <p:nvPr/>
          </p:nvSpPr>
          <p:spPr bwMode="auto">
            <a:xfrm>
              <a:off x="4031976" y="1674684"/>
              <a:ext cx="144000" cy="14477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 smtClean="0">
                  <a:solidFill>
                    <a:srgbClr val="C00000"/>
                  </a:solidFill>
                </a:rPr>
                <a:t>…</a:t>
              </a:r>
              <a:endParaRPr lang="en-US" altLang="zh-CN" sz="1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211" name="直接箭头连接符 210"/>
            <p:cNvCxnSpPr/>
            <p:nvPr/>
          </p:nvCxnSpPr>
          <p:spPr bwMode="auto">
            <a:xfrm flipH="1">
              <a:off x="4572064" y="206088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2" name="直接箭头连接符 211"/>
            <p:cNvCxnSpPr/>
            <p:nvPr/>
          </p:nvCxnSpPr>
          <p:spPr bwMode="auto">
            <a:xfrm>
              <a:off x="2987864" y="1988872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3" name="直接箭头连接符 212"/>
            <p:cNvCxnSpPr/>
            <p:nvPr/>
          </p:nvCxnSpPr>
          <p:spPr bwMode="auto">
            <a:xfrm flipH="1">
              <a:off x="4319968" y="2204912"/>
              <a:ext cx="322" cy="144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4" name="直接箭头连接符 213"/>
            <p:cNvCxnSpPr/>
            <p:nvPr/>
          </p:nvCxnSpPr>
          <p:spPr bwMode="auto">
            <a:xfrm>
              <a:off x="3887920" y="2203721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5" name="直接箭头连接符 214"/>
            <p:cNvCxnSpPr/>
            <p:nvPr/>
          </p:nvCxnSpPr>
          <p:spPr bwMode="auto">
            <a:xfrm flipH="1">
              <a:off x="4932080" y="180242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6" name="直接箭头连接符 215"/>
            <p:cNvCxnSpPr/>
            <p:nvPr/>
          </p:nvCxnSpPr>
          <p:spPr bwMode="auto">
            <a:xfrm>
              <a:off x="4932080" y="2079898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7" name="直接箭头连接符 216"/>
            <p:cNvCxnSpPr/>
            <p:nvPr/>
          </p:nvCxnSpPr>
          <p:spPr bwMode="auto">
            <a:xfrm>
              <a:off x="1835696" y="2204928"/>
              <a:ext cx="1240" cy="180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18" name="Text Box 392"/>
            <p:cNvSpPr txBox="1">
              <a:spLocks noChangeArrowheads="1"/>
            </p:cNvSpPr>
            <p:nvPr/>
          </p:nvSpPr>
          <p:spPr bwMode="auto">
            <a:xfrm>
              <a:off x="5148104" y="1772856"/>
              <a:ext cx="360000" cy="360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NMI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INTR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b="1" dirty="0">
                  <a:latin typeface="宋体" pitchFamily="2" charset="-122"/>
                </a:rPr>
                <a:t>INTA</a:t>
              </a:r>
              <a:endParaRPr lang="en-US" altLang="zh-CN" sz="1200" b="1" dirty="0" smtClean="0">
                <a:latin typeface="宋体" pitchFamily="2" charset="-122"/>
              </a:endParaRPr>
            </a:p>
          </p:txBody>
        </p:sp>
        <p:sp>
          <p:nvSpPr>
            <p:cNvPr id="219" name="Text Box 276"/>
            <p:cNvSpPr txBox="1">
              <a:spLocks noChangeArrowheads="1"/>
            </p:cNvSpPr>
            <p:nvPr/>
          </p:nvSpPr>
          <p:spPr bwMode="auto">
            <a:xfrm>
              <a:off x="1691672" y="2384928"/>
              <a:ext cx="360000" cy="14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PSR</a:t>
              </a:r>
            </a:p>
          </p:txBody>
        </p:sp>
        <p:sp>
          <p:nvSpPr>
            <p:cNvPr id="220" name="Text Box 314"/>
            <p:cNvSpPr txBox="1">
              <a:spLocks noChangeArrowheads="1"/>
            </p:cNvSpPr>
            <p:nvPr/>
          </p:nvSpPr>
          <p:spPr bwMode="auto">
            <a:xfrm>
              <a:off x="1691720" y="1520832"/>
              <a:ext cx="360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GPRs</a:t>
              </a:r>
              <a:endParaRPr lang="en-US" altLang="zh-CN" sz="1200" b="1" dirty="0">
                <a:latin typeface="宋体" pitchFamily="2" charset="-122"/>
              </a:endParaRPr>
            </a:p>
          </p:txBody>
        </p:sp>
        <p:cxnSp>
          <p:nvCxnSpPr>
            <p:cNvPr id="221" name="直接箭头连接符 220"/>
            <p:cNvCxnSpPr/>
            <p:nvPr/>
          </p:nvCxnSpPr>
          <p:spPr bwMode="auto">
            <a:xfrm>
              <a:off x="3491712" y="2453261"/>
              <a:ext cx="1368000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22" name="Text Box 276"/>
            <p:cNvSpPr txBox="1">
              <a:spLocks noChangeArrowheads="1"/>
            </p:cNvSpPr>
            <p:nvPr/>
          </p:nvSpPr>
          <p:spPr bwMode="auto">
            <a:xfrm>
              <a:off x="2627784" y="1700840"/>
              <a:ext cx="360000" cy="14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PC</a:t>
              </a:r>
            </a:p>
          </p:txBody>
        </p:sp>
        <p:sp>
          <p:nvSpPr>
            <p:cNvPr id="223" name="Text Box 276"/>
            <p:cNvSpPr txBox="1">
              <a:spLocks noChangeArrowheads="1"/>
            </p:cNvSpPr>
            <p:nvPr/>
          </p:nvSpPr>
          <p:spPr bwMode="auto">
            <a:xfrm>
              <a:off x="2627784" y="1916880"/>
              <a:ext cx="360000" cy="14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IR</a:t>
              </a:r>
            </a:p>
          </p:txBody>
        </p:sp>
        <p:cxnSp>
          <p:nvCxnSpPr>
            <p:cNvPr id="224" name="直接箭头连接符 223"/>
            <p:cNvCxnSpPr/>
            <p:nvPr/>
          </p:nvCxnSpPr>
          <p:spPr bwMode="auto">
            <a:xfrm>
              <a:off x="2411760" y="1742748"/>
              <a:ext cx="216000" cy="69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5" name="直接箭头连接符 224"/>
            <p:cNvCxnSpPr/>
            <p:nvPr/>
          </p:nvCxnSpPr>
          <p:spPr bwMode="auto">
            <a:xfrm flipH="1" flipV="1">
              <a:off x="2411760" y="1815451"/>
              <a:ext cx="216000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6" name="直接箭头连接符 225"/>
            <p:cNvCxnSpPr/>
            <p:nvPr/>
          </p:nvCxnSpPr>
          <p:spPr bwMode="auto">
            <a:xfrm>
              <a:off x="2411760" y="1988872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7" name="直接箭头连接符 117"/>
            <p:cNvCxnSpPr/>
            <p:nvPr/>
          </p:nvCxnSpPr>
          <p:spPr bwMode="auto">
            <a:xfrm>
              <a:off x="2555776" y="2151940"/>
              <a:ext cx="115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8" name="直接箭头连接符 227"/>
            <p:cNvCxnSpPr/>
            <p:nvPr/>
          </p:nvCxnSpPr>
          <p:spPr bwMode="auto">
            <a:xfrm flipH="1">
              <a:off x="3095864" y="1772848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9" name="直接箭头连接符 228"/>
            <p:cNvCxnSpPr/>
            <p:nvPr/>
          </p:nvCxnSpPr>
          <p:spPr bwMode="auto">
            <a:xfrm flipH="1">
              <a:off x="3095864" y="1808840"/>
              <a:ext cx="46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0" name="直接箭头连接符 229"/>
            <p:cNvCxnSpPr/>
            <p:nvPr/>
          </p:nvCxnSpPr>
          <p:spPr bwMode="auto">
            <a:xfrm flipV="1">
              <a:off x="2195800" y="2157266"/>
              <a:ext cx="360000" cy="486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33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31" name="Text Box 276"/>
            <p:cNvSpPr txBox="1">
              <a:spLocks noChangeArrowheads="1"/>
            </p:cNvSpPr>
            <p:nvPr/>
          </p:nvSpPr>
          <p:spPr bwMode="auto">
            <a:xfrm>
              <a:off x="2627784" y="2492928"/>
              <a:ext cx="360000" cy="14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MAR</a:t>
              </a:r>
            </a:p>
          </p:txBody>
        </p:sp>
        <p:sp>
          <p:nvSpPr>
            <p:cNvPr id="232" name="Text Box 276"/>
            <p:cNvSpPr txBox="1">
              <a:spLocks noChangeArrowheads="1"/>
            </p:cNvSpPr>
            <p:nvPr/>
          </p:nvSpPr>
          <p:spPr bwMode="auto">
            <a:xfrm>
              <a:off x="2627784" y="2680390"/>
              <a:ext cx="360000" cy="144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MDR</a:t>
              </a:r>
            </a:p>
          </p:txBody>
        </p:sp>
        <p:sp>
          <p:nvSpPr>
            <p:cNvPr id="233" name="Text Box 276"/>
            <p:cNvSpPr txBox="1">
              <a:spLocks noChangeArrowheads="1"/>
            </p:cNvSpPr>
            <p:nvPr/>
          </p:nvSpPr>
          <p:spPr bwMode="auto">
            <a:xfrm>
              <a:off x="3275856" y="2492928"/>
              <a:ext cx="360000" cy="14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MMU</a:t>
              </a:r>
            </a:p>
          </p:txBody>
        </p:sp>
        <p:cxnSp>
          <p:nvCxnSpPr>
            <p:cNvPr id="234" name="直接箭头连接符 233"/>
            <p:cNvCxnSpPr/>
            <p:nvPr/>
          </p:nvCxnSpPr>
          <p:spPr bwMode="auto">
            <a:xfrm>
              <a:off x="2987824" y="256493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5" name="直接箭头连接符 234"/>
            <p:cNvCxnSpPr/>
            <p:nvPr/>
          </p:nvCxnSpPr>
          <p:spPr bwMode="auto">
            <a:xfrm>
              <a:off x="3635896" y="256493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6" name="直接箭头连接符 235"/>
            <p:cNvCxnSpPr/>
            <p:nvPr/>
          </p:nvCxnSpPr>
          <p:spPr bwMode="auto">
            <a:xfrm>
              <a:off x="2987824" y="2708952"/>
              <a:ext cx="93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7" name="直接箭头连接符 236"/>
            <p:cNvCxnSpPr/>
            <p:nvPr/>
          </p:nvCxnSpPr>
          <p:spPr bwMode="auto">
            <a:xfrm flipH="1" flipV="1">
              <a:off x="2987824" y="2780960"/>
              <a:ext cx="93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8" name="直接箭头连接符 237"/>
            <p:cNvCxnSpPr/>
            <p:nvPr/>
          </p:nvCxnSpPr>
          <p:spPr bwMode="auto">
            <a:xfrm flipH="1" flipV="1">
              <a:off x="3491712" y="2453261"/>
              <a:ext cx="208" cy="396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33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39" name="直接箭头连接符 238"/>
            <p:cNvCxnSpPr/>
            <p:nvPr/>
          </p:nvCxnSpPr>
          <p:spPr bwMode="auto">
            <a:xfrm flipV="1">
              <a:off x="4788024" y="2204897"/>
              <a:ext cx="169" cy="180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240" name="Text Box 276"/>
            <p:cNvSpPr txBox="1">
              <a:spLocks noChangeArrowheads="1"/>
            </p:cNvSpPr>
            <p:nvPr/>
          </p:nvSpPr>
          <p:spPr bwMode="auto">
            <a:xfrm>
              <a:off x="2915840" y="2276872"/>
              <a:ext cx="216000" cy="144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900" b="1" dirty="0" smtClean="0">
                  <a:latin typeface="宋体" pitchFamily="2" charset="-122"/>
                </a:rPr>
                <a:t>≥</a:t>
              </a:r>
              <a:r>
                <a:rPr lang="en-US" altLang="zh-CN" sz="900" b="1" dirty="0" smtClean="0">
                  <a:latin typeface="宋体" pitchFamily="2" charset="-122"/>
                </a:rPr>
                <a:t>1</a:t>
              </a:r>
            </a:p>
          </p:txBody>
        </p:sp>
        <p:cxnSp>
          <p:nvCxnSpPr>
            <p:cNvPr id="241" name="直接箭头连接符 240"/>
            <p:cNvCxnSpPr/>
            <p:nvPr/>
          </p:nvCxnSpPr>
          <p:spPr bwMode="auto">
            <a:xfrm>
              <a:off x="3132032" y="2386980"/>
              <a:ext cx="1656000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2" name="直接箭头连接符 241"/>
            <p:cNvCxnSpPr/>
            <p:nvPr/>
          </p:nvCxnSpPr>
          <p:spPr bwMode="auto">
            <a:xfrm flipV="1">
              <a:off x="4859864" y="2204896"/>
              <a:ext cx="169" cy="25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243" name="直接箭头连接符 242"/>
            <p:cNvCxnSpPr/>
            <p:nvPr/>
          </p:nvCxnSpPr>
          <p:spPr bwMode="auto">
            <a:xfrm>
              <a:off x="2843816" y="2377441"/>
              <a:ext cx="72000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4" name="直接箭头连接符 243"/>
            <p:cNvCxnSpPr/>
            <p:nvPr/>
          </p:nvCxnSpPr>
          <p:spPr bwMode="auto">
            <a:xfrm>
              <a:off x="2843648" y="2305434"/>
              <a:ext cx="72000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5" name="直接箭头连接符 244"/>
            <p:cNvCxnSpPr/>
            <p:nvPr/>
          </p:nvCxnSpPr>
          <p:spPr bwMode="auto">
            <a:xfrm flipH="1" flipV="1">
              <a:off x="3491672" y="1700839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46" name="直接箭头连接符 245"/>
            <p:cNvCxnSpPr/>
            <p:nvPr/>
          </p:nvCxnSpPr>
          <p:spPr bwMode="auto">
            <a:xfrm flipH="1" flipV="1">
              <a:off x="3563888" y="170084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47" name="Text Box 392"/>
            <p:cNvSpPr txBox="1">
              <a:spLocks noChangeArrowheads="1"/>
            </p:cNvSpPr>
            <p:nvPr/>
          </p:nvSpPr>
          <p:spPr bwMode="auto">
            <a:xfrm>
              <a:off x="2555808" y="2276872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900" b="1" dirty="0" smtClean="0">
                  <a:solidFill>
                    <a:srgbClr val="FF0000"/>
                  </a:solidFill>
                  <a:latin typeface="宋体" pitchFamily="2" charset="-122"/>
                </a:rPr>
                <a:t>异常</a:t>
              </a:r>
              <a:endParaRPr lang="en-US" altLang="zh-CN" sz="900" b="1" dirty="0" smtClean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248" name="Text Box 392"/>
            <p:cNvSpPr txBox="1">
              <a:spLocks noChangeArrowheads="1"/>
            </p:cNvSpPr>
            <p:nvPr/>
          </p:nvSpPr>
          <p:spPr bwMode="auto">
            <a:xfrm>
              <a:off x="4644193" y="2461194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900" b="1" dirty="0">
                  <a:solidFill>
                    <a:srgbClr val="FF0000"/>
                  </a:solidFill>
                  <a:latin typeface="宋体" pitchFamily="2" charset="-122"/>
                </a:rPr>
                <a:t>异常</a:t>
              </a:r>
              <a:endParaRPr lang="en-US" altLang="zh-CN" sz="900" b="1" dirty="0" smtClean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cxnSp>
          <p:nvCxnSpPr>
            <p:cNvPr id="249" name="直接箭头连接符 248"/>
            <p:cNvCxnSpPr/>
            <p:nvPr/>
          </p:nvCxnSpPr>
          <p:spPr bwMode="auto">
            <a:xfrm flipH="1">
              <a:off x="4932040" y="1948582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50" name="直接箭头连接符 249"/>
            <p:cNvCxnSpPr/>
            <p:nvPr/>
          </p:nvCxnSpPr>
          <p:spPr bwMode="auto">
            <a:xfrm flipV="1">
              <a:off x="5192514" y="2022748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251" name="Text Box 18"/>
          <p:cNvSpPr txBox="1">
            <a:spLocks noChangeArrowheads="1"/>
          </p:cNvSpPr>
          <p:nvPr/>
        </p:nvSpPr>
        <p:spPr bwMode="auto">
          <a:xfrm>
            <a:off x="899592" y="3142384"/>
            <a:ext cx="720000" cy="792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400" b="1" dirty="0" smtClean="0">
                <a:latin typeface="+mn-ea"/>
                <a:ea typeface="+mn-ea"/>
              </a:rPr>
              <a:t>CPU</a:t>
            </a:r>
          </a:p>
          <a:p>
            <a:pPr algn="ctr">
              <a:lnSpc>
                <a:spcPct val="90000"/>
              </a:lnSpc>
            </a:pPr>
            <a:r>
              <a:rPr lang="en-US" altLang="zh-CN" sz="1100" b="1" dirty="0" smtClean="0">
                <a:latin typeface="+mn-ea"/>
              </a:rPr>
              <a:t>(</a:t>
            </a:r>
            <a:r>
              <a:rPr lang="zh-CN" altLang="en-US" sz="1100" b="1" dirty="0" smtClean="0">
                <a:latin typeface="+mn-ea"/>
              </a:rPr>
              <a:t>单</a:t>
            </a:r>
            <a:r>
              <a:rPr lang="en-US" altLang="zh-CN" sz="1100" b="1" dirty="0" smtClean="0">
                <a:latin typeface="+mn-ea"/>
              </a:rPr>
              <a:t>/</a:t>
            </a:r>
            <a:r>
              <a:rPr lang="zh-CN" altLang="en-US" sz="1100" b="1" dirty="0" smtClean="0">
                <a:latin typeface="+mn-ea"/>
              </a:rPr>
              <a:t>多</a:t>
            </a:r>
            <a:r>
              <a:rPr lang="en-US" altLang="zh-CN" sz="1100" b="1" dirty="0" smtClean="0">
                <a:latin typeface="+mn-ea"/>
              </a:rPr>
              <a:t>)</a:t>
            </a:r>
          </a:p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en-US" altLang="zh-CN" sz="1100" b="1" dirty="0" smtClean="0">
                <a:latin typeface="+mn-ea"/>
              </a:rPr>
              <a:t>(DP</a:t>
            </a:r>
            <a:r>
              <a:rPr lang="zh-CN" altLang="en-US" sz="1100" b="1" dirty="0" smtClean="0">
                <a:latin typeface="+mn-ea"/>
              </a:rPr>
              <a:t>总</a:t>
            </a:r>
            <a:r>
              <a:rPr lang="en-US" altLang="zh-CN" sz="1100" b="1" dirty="0" smtClean="0">
                <a:latin typeface="+mn-ea"/>
              </a:rPr>
              <a:t>/</a:t>
            </a:r>
            <a:r>
              <a:rPr lang="zh-CN" altLang="en-US" sz="1100" b="1" dirty="0">
                <a:latin typeface="+mn-ea"/>
              </a:rPr>
              <a:t>专</a:t>
            </a:r>
            <a:r>
              <a:rPr lang="en-US" altLang="zh-CN" sz="1100" b="1" dirty="0" smtClean="0">
                <a:latin typeface="+mn-ea"/>
              </a:rPr>
              <a:t>)</a:t>
            </a:r>
          </a:p>
          <a:p>
            <a:pPr algn="ctr">
              <a:lnSpc>
                <a:spcPct val="90000"/>
              </a:lnSpc>
            </a:pPr>
            <a:r>
              <a:rPr lang="en-US" altLang="zh-CN" sz="1100" b="1" dirty="0" smtClean="0">
                <a:latin typeface="+mn-ea"/>
              </a:rPr>
              <a:t>(CU</a:t>
            </a:r>
            <a:r>
              <a:rPr lang="zh-CN" altLang="en-US" sz="1100" b="1" dirty="0" smtClean="0">
                <a:latin typeface="+mn-ea"/>
              </a:rPr>
              <a:t>硬</a:t>
            </a:r>
            <a:r>
              <a:rPr lang="en-US" altLang="zh-CN" sz="1100" b="1" dirty="0" smtClean="0">
                <a:latin typeface="+mn-ea"/>
              </a:rPr>
              <a:t>/</a:t>
            </a:r>
            <a:r>
              <a:rPr lang="zh-CN" altLang="en-US" sz="1100" b="1" dirty="0" smtClean="0">
                <a:latin typeface="+mn-ea"/>
              </a:rPr>
              <a:t>微</a:t>
            </a:r>
            <a:r>
              <a:rPr lang="en-US" altLang="zh-CN" sz="1100" b="1" dirty="0" smtClean="0">
                <a:latin typeface="+mn-ea"/>
              </a:rPr>
              <a:t>)</a:t>
            </a:r>
            <a:endParaRPr lang="zh-CN" altLang="en-US" sz="1100" b="1" dirty="0">
              <a:latin typeface="+mn-ea"/>
            </a:endParaRPr>
          </a:p>
        </p:txBody>
      </p:sp>
      <p:grpSp>
        <p:nvGrpSpPr>
          <p:cNvPr id="252" name="组合 251"/>
          <p:cNvGrpSpPr/>
          <p:nvPr/>
        </p:nvGrpSpPr>
        <p:grpSpPr>
          <a:xfrm>
            <a:off x="5724128" y="2647592"/>
            <a:ext cx="1656152" cy="1070864"/>
            <a:chOff x="5580112" y="2142120"/>
            <a:chExt cx="1656152" cy="1070864"/>
          </a:xfrm>
        </p:grpSpPr>
        <p:sp>
          <p:nvSpPr>
            <p:cNvPr id="253" name="Text Box 291"/>
            <p:cNvSpPr txBox="1">
              <a:spLocks noChangeArrowheads="1"/>
            </p:cNvSpPr>
            <p:nvPr/>
          </p:nvSpPr>
          <p:spPr bwMode="auto">
            <a:xfrm>
              <a:off x="5580112" y="2168904"/>
              <a:ext cx="864000" cy="826889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latin typeface="宋体" pitchFamily="2" charset="-122"/>
                </a:rPr>
                <a:t>主存</a:t>
              </a:r>
              <a:endParaRPr lang="en-US" altLang="zh-CN" sz="1400" b="1" dirty="0" smtClean="0">
                <a:latin typeface="宋体" pitchFamily="2" charset="-122"/>
              </a:endParaRPr>
            </a:p>
            <a:p>
              <a:pPr algn="ctr"/>
              <a:r>
                <a:rPr lang="en-US" altLang="zh-CN" sz="1100" b="1" dirty="0" smtClean="0">
                  <a:latin typeface="宋体" pitchFamily="2" charset="-122"/>
                </a:rPr>
                <a:t>(</a:t>
              </a:r>
              <a:r>
                <a:rPr lang="zh-CN" altLang="en-US" sz="1100" b="1" dirty="0" smtClean="0">
                  <a:latin typeface="宋体" pitchFamily="2" charset="-122"/>
                </a:rPr>
                <a:t>可配置</a:t>
              </a:r>
              <a:r>
                <a:rPr lang="en-US" altLang="zh-CN" sz="1100" b="1" dirty="0" smtClean="0">
                  <a:latin typeface="宋体" pitchFamily="2" charset="-122"/>
                </a:rPr>
                <a:t>)</a:t>
              </a:r>
            </a:p>
            <a:p>
              <a:pPr algn="ctr">
                <a:spcBef>
                  <a:spcPts val="300"/>
                </a:spcBef>
              </a:pPr>
              <a:r>
                <a:rPr lang="en-US" altLang="zh-CN" sz="1100" b="1" dirty="0" smtClean="0">
                  <a:latin typeface="宋体" pitchFamily="2" charset="-122"/>
                </a:rPr>
                <a:t>(</a:t>
              </a:r>
              <a:r>
                <a:rPr lang="zh-CN" altLang="en-US" sz="1100" b="1" dirty="0" smtClean="0">
                  <a:latin typeface="宋体" pitchFamily="2" charset="-122"/>
                </a:rPr>
                <a:t>同步</a:t>
              </a:r>
              <a:r>
                <a:rPr lang="en-US" altLang="zh-CN" sz="1100" b="1" dirty="0" smtClean="0">
                  <a:latin typeface="宋体" pitchFamily="2" charset="-122"/>
                </a:rPr>
                <a:t>/</a:t>
              </a:r>
              <a:r>
                <a:rPr lang="zh-CN" altLang="en-US" sz="1100" b="1" dirty="0" smtClean="0">
                  <a:latin typeface="宋体" pitchFamily="2" charset="-122"/>
                </a:rPr>
                <a:t>异步</a:t>
              </a:r>
              <a:r>
                <a:rPr lang="en-US" altLang="zh-CN" sz="1100" b="1" dirty="0" smtClean="0">
                  <a:latin typeface="宋体" pitchFamily="2" charset="-122"/>
                </a:rPr>
                <a:t>)</a:t>
              </a:r>
            </a:p>
            <a:p>
              <a:pPr algn="ctr"/>
              <a:r>
                <a:rPr lang="en-US" altLang="zh-CN" sz="1100" b="1" dirty="0" smtClean="0">
                  <a:latin typeface="宋体" pitchFamily="2" charset="-122"/>
                </a:rPr>
                <a:t>(</a:t>
              </a:r>
              <a:r>
                <a:rPr lang="zh-CN" altLang="en-US" sz="1100" b="1" dirty="0" smtClean="0">
                  <a:latin typeface="宋体" pitchFamily="2" charset="-122"/>
                </a:rPr>
                <a:t>单体</a:t>
              </a:r>
              <a:r>
                <a:rPr lang="en-US" altLang="zh-CN" sz="1100" b="1" dirty="0" smtClean="0">
                  <a:latin typeface="宋体" pitchFamily="2" charset="-122"/>
                </a:rPr>
                <a:t>/</a:t>
              </a:r>
              <a:r>
                <a:rPr lang="zh-CN" altLang="en-US" sz="1100" b="1" dirty="0" smtClean="0">
                  <a:latin typeface="宋体" pitchFamily="2" charset="-122"/>
                </a:rPr>
                <a:t>交叉</a:t>
              </a:r>
              <a:r>
                <a:rPr lang="en-US" altLang="zh-CN" sz="1100" b="1" dirty="0" smtClean="0">
                  <a:latin typeface="宋体" pitchFamily="2" charset="-122"/>
                </a:rPr>
                <a:t>)</a:t>
              </a:r>
              <a:endParaRPr lang="en-US" altLang="zh-CN" sz="1200" b="1" dirty="0">
                <a:latin typeface="宋体" pitchFamily="2" charset="-122"/>
              </a:endParaRPr>
            </a:p>
          </p:txBody>
        </p:sp>
        <p:cxnSp>
          <p:nvCxnSpPr>
            <p:cNvPr id="254" name="直接箭头连接符 253"/>
            <p:cNvCxnSpPr/>
            <p:nvPr/>
          </p:nvCxnSpPr>
          <p:spPr bwMode="auto">
            <a:xfrm flipV="1">
              <a:off x="5940152" y="2996984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55" name="直接箭头连接符 254"/>
            <p:cNvCxnSpPr/>
            <p:nvPr/>
          </p:nvCxnSpPr>
          <p:spPr bwMode="auto">
            <a:xfrm flipV="1">
              <a:off x="6084168" y="2996984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56" name="直接箭头连接符 255"/>
            <p:cNvCxnSpPr/>
            <p:nvPr/>
          </p:nvCxnSpPr>
          <p:spPr bwMode="auto">
            <a:xfrm>
              <a:off x="6228184" y="2996984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57" name="Text Box 61"/>
            <p:cNvSpPr txBox="1">
              <a:spLocks noChangeArrowheads="1"/>
            </p:cNvSpPr>
            <p:nvPr/>
          </p:nvSpPr>
          <p:spPr bwMode="auto">
            <a:xfrm>
              <a:off x="6267533" y="2997000"/>
              <a:ext cx="144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8" name="直接连接符 257"/>
            <p:cNvCxnSpPr/>
            <p:nvPr/>
          </p:nvCxnSpPr>
          <p:spPr bwMode="auto">
            <a:xfrm>
              <a:off x="6196432" y="3073246"/>
              <a:ext cx="72008" cy="7200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直接连接符 258"/>
            <p:cNvCxnSpPr/>
            <p:nvPr/>
          </p:nvCxnSpPr>
          <p:spPr bwMode="auto">
            <a:xfrm>
              <a:off x="5899894" y="3056260"/>
              <a:ext cx="72008" cy="7200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0" name="Text Box 61"/>
            <p:cNvSpPr txBox="1">
              <a:spLocks noChangeArrowheads="1"/>
            </p:cNvSpPr>
            <p:nvPr/>
          </p:nvSpPr>
          <p:spPr bwMode="auto">
            <a:xfrm>
              <a:off x="5758052" y="2996952"/>
              <a:ext cx="144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1" name="Rectangle 274"/>
            <p:cNvSpPr>
              <a:spLocks noChangeArrowheads="1"/>
            </p:cNvSpPr>
            <p:nvPr/>
          </p:nvSpPr>
          <p:spPr bwMode="auto">
            <a:xfrm>
              <a:off x="6948264" y="2286264"/>
              <a:ext cx="288000" cy="864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62" name="直接箭头连接符 261"/>
            <p:cNvCxnSpPr/>
            <p:nvPr/>
          </p:nvCxnSpPr>
          <p:spPr bwMode="auto">
            <a:xfrm flipV="1">
              <a:off x="6948264" y="2430024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63" name="直接箭头连接符 262"/>
            <p:cNvCxnSpPr/>
            <p:nvPr/>
          </p:nvCxnSpPr>
          <p:spPr bwMode="auto">
            <a:xfrm flipV="1">
              <a:off x="6948264" y="300621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64" name="Text Box 392"/>
            <p:cNvSpPr txBox="1">
              <a:spLocks noChangeArrowheads="1"/>
            </p:cNvSpPr>
            <p:nvPr/>
          </p:nvSpPr>
          <p:spPr bwMode="auto">
            <a:xfrm>
              <a:off x="6948264" y="2142120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1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zh-CN" altLang="en-US" sz="1200" b="1" dirty="0" smtClean="0">
                  <a:latin typeface="宋体" pitchFamily="2" charset="-122"/>
                </a:rPr>
                <a:t>位</a:t>
              </a:r>
              <a:endParaRPr lang="en-US" altLang="zh-CN" sz="1200" b="1" dirty="0" smtClean="0">
                <a:latin typeface="宋体" pitchFamily="2" charset="-122"/>
              </a:endParaRPr>
            </a:p>
          </p:txBody>
        </p:sp>
        <p:sp>
          <p:nvSpPr>
            <p:cNvPr id="265" name="Text Box 392"/>
            <p:cNvSpPr txBox="1">
              <a:spLocks noChangeArrowheads="1"/>
            </p:cNvSpPr>
            <p:nvPr/>
          </p:nvSpPr>
          <p:spPr bwMode="auto">
            <a:xfrm>
              <a:off x="6660232" y="3006248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050" b="1" dirty="0" smtClean="0">
                  <a:solidFill>
                    <a:srgbClr val="C00000"/>
                  </a:solidFill>
                  <a:latin typeface="宋体" pitchFamily="2" charset="-122"/>
                </a:rPr>
                <a:t>2</a:t>
              </a:r>
              <a:r>
                <a:rPr lang="en-US" altLang="zh-CN" sz="1050" b="1" baseline="30000" dirty="0" smtClean="0">
                  <a:solidFill>
                    <a:srgbClr val="C00000"/>
                  </a:solidFill>
                  <a:latin typeface="宋体" pitchFamily="2" charset="-122"/>
                </a:rPr>
                <a:t>n</a:t>
              </a:r>
              <a:r>
                <a:rPr lang="en-US" altLang="zh-CN" sz="1050" b="1" dirty="0" smtClean="0">
                  <a:solidFill>
                    <a:srgbClr val="C00000"/>
                  </a:solidFill>
                  <a:latin typeface="宋体" pitchFamily="2" charset="-122"/>
                </a:rPr>
                <a:t>-1</a:t>
              </a:r>
            </a:p>
          </p:txBody>
        </p:sp>
        <p:sp>
          <p:nvSpPr>
            <p:cNvPr id="266" name="Text Box 392"/>
            <p:cNvSpPr txBox="1">
              <a:spLocks noChangeArrowheads="1"/>
            </p:cNvSpPr>
            <p:nvPr/>
          </p:nvSpPr>
          <p:spPr bwMode="auto">
            <a:xfrm>
              <a:off x="6660232" y="2286168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050" b="1" dirty="0" smtClean="0">
                  <a:solidFill>
                    <a:srgbClr val="C00000"/>
                  </a:solidFill>
                  <a:latin typeface="宋体" pitchFamily="2" charset="-122"/>
                </a:rPr>
                <a:t>0</a:t>
              </a:r>
            </a:p>
          </p:txBody>
        </p:sp>
        <p:cxnSp>
          <p:nvCxnSpPr>
            <p:cNvPr id="267" name="直接箭头连接符 266"/>
            <p:cNvCxnSpPr/>
            <p:nvPr/>
          </p:nvCxnSpPr>
          <p:spPr bwMode="auto">
            <a:xfrm flipH="1" flipV="1">
              <a:off x="6290353" y="2430184"/>
              <a:ext cx="792000" cy="7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</p:grpSp>
      <p:grpSp>
        <p:nvGrpSpPr>
          <p:cNvPr id="268" name="组合 267"/>
          <p:cNvGrpSpPr/>
          <p:nvPr/>
        </p:nvGrpSpPr>
        <p:grpSpPr>
          <a:xfrm>
            <a:off x="3347864" y="908720"/>
            <a:ext cx="3095919" cy="1224000"/>
            <a:chOff x="3347864" y="404664"/>
            <a:chExt cx="3095919" cy="1368056"/>
          </a:xfrm>
        </p:grpSpPr>
        <p:sp>
          <p:nvSpPr>
            <p:cNvPr id="269" name="Text Box 160"/>
            <p:cNvSpPr txBox="1">
              <a:spLocks noChangeArrowheads="1"/>
            </p:cNvSpPr>
            <p:nvPr/>
          </p:nvSpPr>
          <p:spPr bwMode="auto">
            <a:xfrm>
              <a:off x="3779783" y="404664"/>
              <a:ext cx="2664000" cy="1368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5000"/>
                </a:lnSpc>
              </a:pPr>
              <a:r>
                <a:rPr lang="zh-CN" altLang="en-US" sz="1400" b="1" dirty="0" smtClean="0">
                  <a:solidFill>
                    <a:srgbClr val="CC3300"/>
                  </a:solidFill>
                  <a:latin typeface="宋体" pitchFamily="2" charset="-122"/>
                </a:rPr>
                <a:t>硬件相关</a:t>
              </a:r>
              <a:r>
                <a:rPr lang="zh-CN" altLang="en-US" sz="1400" b="1" dirty="0">
                  <a:solidFill>
                    <a:srgbClr val="CC3300"/>
                  </a:solidFill>
                  <a:latin typeface="宋体" pitchFamily="2" charset="-122"/>
                </a:rPr>
                <a:t>性</a:t>
              </a:r>
              <a:r>
                <a:rPr lang="zh-CN" altLang="en-US" sz="1400" b="1" dirty="0" smtClean="0">
                  <a:solidFill>
                    <a:srgbClr val="CC3300"/>
                  </a:solidFill>
                  <a:latin typeface="宋体" pitchFamily="2" charset="-122"/>
                </a:rPr>
                <a:t>：</a:t>
              </a:r>
              <a:endParaRPr lang="en-US" altLang="zh-CN" sz="1400" b="1" dirty="0" smtClean="0">
                <a:solidFill>
                  <a:srgbClr val="CC3300"/>
                </a:solidFill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>
                  <a:latin typeface="宋体" pitchFamily="2" charset="-122"/>
                </a:rPr>
                <a:t> </a:t>
              </a:r>
              <a:r>
                <a:rPr lang="en-US" altLang="zh-CN" sz="1200" b="1" dirty="0" smtClean="0">
                  <a:latin typeface="宋体" pitchFamily="2" charset="-122"/>
                </a:rPr>
                <a:t> </a:t>
              </a:r>
              <a:r>
                <a:rPr lang="zh-CN" altLang="en-US" sz="1200" b="1" dirty="0" smtClean="0">
                  <a:latin typeface="宋体" pitchFamily="2" charset="-122"/>
                </a:rPr>
                <a:t>运算方法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  REG/MEM(</a:t>
              </a:r>
              <a:r>
                <a:rPr lang="zh-CN" altLang="en-US" sz="1200" b="1" dirty="0" smtClean="0">
                  <a:latin typeface="宋体" pitchFamily="2" charset="-122"/>
                </a:rPr>
                <a:t>含总线逻辑转换端序</a:t>
              </a:r>
              <a:r>
                <a:rPr lang="en-US" altLang="zh-CN" sz="1200" b="1" dirty="0" smtClean="0">
                  <a:latin typeface="宋体" pitchFamily="2" charset="-122"/>
                </a:rPr>
                <a:t>)</a:t>
              </a:r>
              <a:r>
                <a:rPr lang="zh-CN" altLang="en-US" sz="1200" b="1" dirty="0" smtClean="0">
                  <a:latin typeface="宋体" pitchFamily="2" charset="-122"/>
                </a:rPr>
                <a:t>组织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  </a:t>
              </a:r>
              <a:r>
                <a:rPr lang="zh-CN" altLang="en-US" sz="1200" b="1" dirty="0" smtClean="0">
                  <a:latin typeface="宋体" pitchFamily="2" charset="-122"/>
                </a:rPr>
                <a:t>运算部件</a:t>
              </a:r>
              <a:r>
                <a:rPr lang="zh-CN" altLang="en-US" sz="1200" b="1" dirty="0">
                  <a:latin typeface="宋体" pitchFamily="2" charset="-122"/>
                </a:rPr>
                <a:t>组织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>
                  <a:latin typeface="宋体" pitchFamily="2" charset="-122"/>
                </a:rPr>
                <a:t> </a:t>
              </a:r>
              <a:r>
                <a:rPr lang="en-US" altLang="zh-CN" sz="1200" b="1" dirty="0" smtClean="0">
                  <a:latin typeface="宋体" pitchFamily="2" charset="-122"/>
                </a:rPr>
                <a:t> </a:t>
              </a:r>
              <a:r>
                <a:rPr lang="zh-CN" altLang="en-US" sz="1200" b="1" dirty="0" smtClean="0">
                  <a:latin typeface="宋体" pitchFamily="2" charset="-122"/>
                </a:rPr>
                <a:t>运算部件</a:t>
              </a:r>
              <a:r>
                <a:rPr lang="en-US" altLang="zh-CN" sz="1200" b="1" dirty="0" smtClean="0">
                  <a:latin typeface="宋体" pitchFamily="2" charset="-122"/>
                </a:rPr>
                <a:t>/PSR/</a:t>
              </a:r>
              <a:r>
                <a:rPr lang="zh-CN" altLang="en-US" sz="1200" b="1" dirty="0" smtClean="0">
                  <a:latin typeface="宋体" pitchFamily="2" charset="-122"/>
                </a:rPr>
                <a:t>数据通路组织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>
                  <a:latin typeface="宋体" pitchFamily="2" charset="-122"/>
                </a:rPr>
                <a:t> </a:t>
              </a:r>
              <a:r>
                <a:rPr lang="en-US" altLang="zh-CN" sz="1200" b="1" dirty="0" smtClean="0">
                  <a:latin typeface="宋体" pitchFamily="2" charset="-122"/>
                </a:rPr>
                <a:t> ID</a:t>
              </a:r>
              <a:r>
                <a:rPr lang="zh-CN" altLang="en-US" sz="1200" b="1" dirty="0" smtClean="0">
                  <a:latin typeface="宋体" pitchFamily="2" charset="-122"/>
                </a:rPr>
                <a:t>组织</a:t>
              </a:r>
              <a:r>
                <a:rPr lang="en-US" altLang="zh-CN" sz="1200" b="1" dirty="0" smtClean="0">
                  <a:latin typeface="宋体" pitchFamily="2" charset="-122"/>
                </a:rPr>
                <a:t>/</a:t>
              </a:r>
              <a:r>
                <a:rPr lang="zh-CN" altLang="en-US" sz="1200" b="1" dirty="0" smtClean="0">
                  <a:latin typeface="宋体" pitchFamily="2" charset="-122"/>
                </a:rPr>
                <a:t>地址参数获取</a:t>
              </a:r>
              <a:endParaRPr lang="en-US" altLang="zh-CN" sz="1200" b="1" dirty="0" smtClean="0">
                <a:latin typeface="宋体" pitchFamily="2" charset="-122"/>
              </a:endParaRPr>
            </a:p>
          </p:txBody>
        </p:sp>
        <p:cxnSp>
          <p:nvCxnSpPr>
            <p:cNvPr id="270" name="直接箭头连接符 269"/>
            <p:cNvCxnSpPr/>
            <p:nvPr/>
          </p:nvCxnSpPr>
          <p:spPr bwMode="auto">
            <a:xfrm>
              <a:off x="3348176" y="775552"/>
              <a:ext cx="5758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1" name="直接箭头连接符 270"/>
            <p:cNvCxnSpPr/>
            <p:nvPr/>
          </p:nvCxnSpPr>
          <p:spPr bwMode="auto">
            <a:xfrm>
              <a:off x="3347864" y="991576"/>
              <a:ext cx="5758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2" name="直接箭头连接符 271"/>
            <p:cNvCxnSpPr/>
            <p:nvPr/>
          </p:nvCxnSpPr>
          <p:spPr bwMode="auto">
            <a:xfrm>
              <a:off x="3348176" y="1209492"/>
              <a:ext cx="5758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3" name="直接箭头连接符 272"/>
            <p:cNvCxnSpPr/>
            <p:nvPr/>
          </p:nvCxnSpPr>
          <p:spPr bwMode="auto">
            <a:xfrm>
              <a:off x="3347864" y="1423624"/>
              <a:ext cx="5758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4" name="直接箭头连接符 273"/>
            <p:cNvCxnSpPr/>
            <p:nvPr/>
          </p:nvCxnSpPr>
          <p:spPr bwMode="auto">
            <a:xfrm>
              <a:off x="3347864" y="1611906"/>
              <a:ext cx="57586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75" name="组合 274"/>
          <p:cNvGrpSpPr/>
          <p:nvPr/>
        </p:nvGrpSpPr>
        <p:grpSpPr>
          <a:xfrm>
            <a:off x="971600" y="2638328"/>
            <a:ext cx="3600400" cy="1654056"/>
            <a:chOff x="827584" y="2206984"/>
            <a:chExt cx="3600400" cy="1654056"/>
          </a:xfrm>
        </p:grpSpPr>
        <p:cxnSp>
          <p:nvCxnSpPr>
            <p:cNvPr id="276" name="直接箭头连接符 275"/>
            <p:cNvCxnSpPr/>
            <p:nvPr/>
          </p:nvCxnSpPr>
          <p:spPr bwMode="auto">
            <a:xfrm>
              <a:off x="4139952" y="3503128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7" name="直接箭头连接符 276"/>
            <p:cNvCxnSpPr/>
            <p:nvPr/>
          </p:nvCxnSpPr>
          <p:spPr bwMode="auto">
            <a:xfrm>
              <a:off x="4283968" y="3503128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8" name="直接箭头连接符 277"/>
            <p:cNvCxnSpPr/>
            <p:nvPr/>
          </p:nvCxnSpPr>
          <p:spPr bwMode="auto">
            <a:xfrm>
              <a:off x="4427984" y="350104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79" name="直接箭头连接符 278"/>
            <p:cNvCxnSpPr/>
            <p:nvPr/>
          </p:nvCxnSpPr>
          <p:spPr bwMode="auto">
            <a:xfrm>
              <a:off x="971600" y="3501008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0" name="直接箭头连接符 279"/>
            <p:cNvCxnSpPr/>
            <p:nvPr/>
          </p:nvCxnSpPr>
          <p:spPr bwMode="auto">
            <a:xfrm>
              <a:off x="1115616" y="3501008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1" name="直接箭头连接符 280"/>
            <p:cNvCxnSpPr/>
            <p:nvPr/>
          </p:nvCxnSpPr>
          <p:spPr bwMode="auto">
            <a:xfrm>
              <a:off x="1259632" y="3501008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82" name="Text Box 18"/>
            <p:cNvSpPr txBox="1">
              <a:spLocks noChangeArrowheads="1"/>
            </p:cNvSpPr>
            <p:nvPr/>
          </p:nvSpPr>
          <p:spPr bwMode="auto">
            <a:xfrm>
              <a:off x="827584" y="2206984"/>
              <a:ext cx="503678" cy="285912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latin typeface="+mn-ea"/>
                </a:rPr>
                <a:t>仲裁器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cxnSp>
          <p:nvCxnSpPr>
            <p:cNvPr id="283" name="直接箭头连接符 282"/>
            <p:cNvCxnSpPr/>
            <p:nvPr/>
          </p:nvCxnSpPr>
          <p:spPr bwMode="auto">
            <a:xfrm flipV="1">
              <a:off x="971520" y="2492944"/>
              <a:ext cx="80" cy="21597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4" name="直接箭头连接符 283"/>
            <p:cNvCxnSpPr/>
            <p:nvPr/>
          </p:nvCxnSpPr>
          <p:spPr bwMode="auto">
            <a:xfrm>
              <a:off x="1187624" y="249289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5" name="直接箭头连接符 284"/>
            <p:cNvCxnSpPr/>
            <p:nvPr/>
          </p:nvCxnSpPr>
          <p:spPr bwMode="auto">
            <a:xfrm flipH="1" flipV="1">
              <a:off x="1331640" y="2276872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6" name="直接箭头连接符 285"/>
            <p:cNvCxnSpPr/>
            <p:nvPr/>
          </p:nvCxnSpPr>
          <p:spPr bwMode="auto">
            <a:xfrm>
              <a:off x="1331640" y="2420888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sp>
        <p:nvSpPr>
          <p:cNvPr id="287" name="Text Box 61"/>
          <p:cNvSpPr txBox="1">
            <a:spLocks noChangeArrowheads="1"/>
          </p:cNvSpPr>
          <p:nvPr/>
        </p:nvSpPr>
        <p:spPr bwMode="auto">
          <a:xfrm>
            <a:off x="6012160" y="5302624"/>
            <a:ext cx="1800200" cy="72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r>
              <a:rPr lang="en-US" altLang="zh-CN" sz="1100" b="1" dirty="0" smtClean="0">
                <a:solidFill>
                  <a:srgbClr val="990099"/>
                </a:solidFill>
                <a:latin typeface="+mn-ea"/>
              </a:rPr>
              <a:t>I/O</a:t>
            </a:r>
            <a:r>
              <a:rPr lang="zh-CN" altLang="en-US" sz="1100" b="1" dirty="0" smtClean="0">
                <a:solidFill>
                  <a:srgbClr val="990099"/>
                </a:solidFill>
                <a:latin typeface="+mn-ea"/>
              </a:rPr>
              <a:t>组织：</a:t>
            </a:r>
            <a:endParaRPr lang="en-US" altLang="zh-CN" sz="1100" b="1" dirty="0" smtClean="0">
              <a:solidFill>
                <a:srgbClr val="990099"/>
              </a:solidFill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smtClean="0">
                <a:latin typeface="+mn-ea"/>
              </a:rPr>
              <a:t> </a:t>
            </a:r>
            <a:r>
              <a:rPr lang="zh-CN" altLang="en-US" sz="1100" b="1" dirty="0" smtClean="0">
                <a:latin typeface="+mn-ea"/>
              </a:rPr>
              <a:t>①外设与接口的联络</a:t>
            </a:r>
            <a:endParaRPr lang="en-US" altLang="zh-CN" sz="1100" b="1" dirty="0" smtClean="0">
              <a:latin typeface="+mn-ea"/>
            </a:endParaRPr>
          </a:p>
          <a:p>
            <a:r>
              <a:rPr lang="zh-CN" altLang="en-US" sz="1100" b="1" dirty="0" smtClean="0">
                <a:latin typeface="+mn-ea"/>
              </a:rPr>
              <a:t>  ②</a:t>
            </a:r>
            <a:r>
              <a:rPr lang="en-US" altLang="zh-CN" sz="1100" b="1" dirty="0" smtClean="0">
                <a:latin typeface="+mn-ea"/>
              </a:rPr>
              <a:t>I/O</a:t>
            </a:r>
            <a:r>
              <a:rPr lang="zh-CN" altLang="en-US" sz="1100" b="1" dirty="0" smtClean="0">
                <a:latin typeface="+mn-ea"/>
              </a:rPr>
              <a:t>方式</a:t>
            </a:r>
            <a:r>
              <a:rPr lang="zh-CN" altLang="en-US" sz="1100" b="1" dirty="0">
                <a:latin typeface="+mn-ea"/>
              </a:rPr>
              <a:t>与</a:t>
            </a:r>
            <a:r>
              <a:rPr lang="en-US" altLang="zh-CN" sz="1100" b="1" dirty="0">
                <a:latin typeface="+mn-ea"/>
              </a:rPr>
              <a:t>p</a:t>
            </a:r>
            <a:r>
              <a:rPr lang="zh-CN" altLang="en-US" sz="1100" b="1" dirty="0" smtClean="0">
                <a:latin typeface="+mn-ea"/>
              </a:rPr>
              <a:t>的关系</a:t>
            </a:r>
            <a:endParaRPr lang="en-US" altLang="zh-CN" sz="1100" b="1" dirty="0" smtClean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smtClean="0">
                <a:latin typeface="+mn-ea"/>
              </a:rPr>
              <a:t> </a:t>
            </a:r>
            <a:r>
              <a:rPr lang="zh-CN" altLang="en-US" sz="1100" b="1" dirty="0" smtClean="0">
                <a:latin typeface="+mn-ea"/>
              </a:rPr>
              <a:t>③</a:t>
            </a:r>
            <a:r>
              <a:rPr lang="en-US" altLang="zh-CN" sz="1100" b="1" dirty="0" smtClean="0">
                <a:latin typeface="+mn-ea"/>
              </a:rPr>
              <a:t>x</a:t>
            </a:r>
            <a:r>
              <a:rPr lang="zh-CN" altLang="en-US" sz="1100" b="1" dirty="0" smtClean="0">
                <a:latin typeface="+mn-ea"/>
              </a:rPr>
              <a:t>与</a:t>
            </a:r>
            <a:r>
              <a:rPr lang="en-US" altLang="zh-CN" sz="1100" b="1" dirty="0" smtClean="0">
                <a:latin typeface="+mn-ea"/>
              </a:rPr>
              <a:t>2</a:t>
            </a:r>
            <a:r>
              <a:rPr lang="en-US" altLang="zh-CN" sz="1100" b="1" baseline="30000" dirty="0" smtClean="0">
                <a:latin typeface="+mn-ea"/>
              </a:rPr>
              <a:t>n</a:t>
            </a:r>
            <a:r>
              <a:rPr lang="zh-CN" altLang="en-US" sz="1100" b="1" dirty="0" smtClean="0">
                <a:latin typeface="+mn-ea"/>
              </a:rPr>
              <a:t>及</a:t>
            </a:r>
            <a:r>
              <a:rPr lang="zh-CN" altLang="en-US" sz="1100" b="1" dirty="0">
                <a:latin typeface="+mn-ea"/>
              </a:rPr>
              <a:t>总线事务的关系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288" name="Text Box 61"/>
          <p:cNvSpPr txBox="1">
            <a:spLocks noChangeArrowheads="1"/>
          </p:cNvSpPr>
          <p:nvPr/>
        </p:nvSpPr>
        <p:spPr bwMode="auto">
          <a:xfrm>
            <a:off x="7524328" y="2602336"/>
            <a:ext cx="1152128" cy="5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r>
              <a:rPr lang="zh-CN" altLang="en-US" sz="1100" b="1" dirty="0" smtClean="0">
                <a:solidFill>
                  <a:srgbClr val="990099"/>
                </a:solidFill>
                <a:latin typeface="+mn-ea"/>
              </a:rPr>
              <a:t>主存组织：</a:t>
            </a:r>
            <a:endParaRPr lang="en-US" altLang="zh-CN" sz="1100" b="1" dirty="0" smtClean="0">
              <a:solidFill>
                <a:srgbClr val="990099"/>
              </a:solidFill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smtClean="0">
                <a:latin typeface="+mn-ea"/>
              </a:rPr>
              <a:t> </a:t>
            </a:r>
            <a:r>
              <a:rPr lang="zh-CN" altLang="en-US" sz="1100" b="1" dirty="0" smtClean="0">
                <a:latin typeface="+mn-ea"/>
              </a:rPr>
              <a:t>①</a:t>
            </a:r>
            <a:r>
              <a:rPr lang="en-US" altLang="zh-CN" sz="1100" b="1" dirty="0" smtClean="0">
                <a:latin typeface="+mn-ea"/>
              </a:rPr>
              <a:t>d</a:t>
            </a:r>
            <a:r>
              <a:rPr lang="zh-CN" altLang="en-US" sz="1100" b="1" dirty="0" smtClean="0">
                <a:latin typeface="+mn-ea"/>
              </a:rPr>
              <a:t>与</a:t>
            </a:r>
            <a:r>
              <a:rPr lang="en-US" altLang="zh-CN" sz="1100" b="1" dirty="0" smtClean="0">
                <a:latin typeface="+mn-ea"/>
              </a:rPr>
              <a:t>2</a:t>
            </a:r>
            <a:r>
              <a:rPr lang="en-US" altLang="zh-CN" sz="1100" b="1" baseline="30000" dirty="0" smtClean="0">
                <a:latin typeface="+mn-ea"/>
              </a:rPr>
              <a:t>n</a:t>
            </a:r>
            <a:r>
              <a:rPr lang="zh-CN" altLang="en-US" sz="1100" b="1" dirty="0" smtClean="0">
                <a:latin typeface="+mn-ea"/>
              </a:rPr>
              <a:t>的关系</a:t>
            </a:r>
            <a:endParaRPr lang="en-US" altLang="zh-CN" sz="1100" b="1" dirty="0" smtClean="0">
              <a:latin typeface="+mn-ea"/>
            </a:endParaRPr>
          </a:p>
          <a:p>
            <a:r>
              <a:rPr lang="zh-CN" altLang="en-US" sz="1100" b="1" dirty="0" smtClean="0">
                <a:latin typeface="+mn-ea"/>
              </a:rPr>
              <a:t>  ②</a:t>
            </a:r>
            <a:r>
              <a:rPr lang="en-US" altLang="zh-CN" sz="1100" b="1" dirty="0" smtClean="0">
                <a:latin typeface="+mn-ea"/>
              </a:rPr>
              <a:t>c</a:t>
            </a:r>
            <a:r>
              <a:rPr lang="zh-CN" altLang="en-US" sz="1100" b="1" dirty="0" smtClean="0">
                <a:latin typeface="+mn-ea"/>
              </a:rPr>
              <a:t>与</a:t>
            </a:r>
            <a:r>
              <a:rPr lang="en-US" altLang="zh-CN" sz="1100" b="1" dirty="0" smtClean="0">
                <a:latin typeface="+mn-ea"/>
              </a:rPr>
              <a:t>w</a:t>
            </a:r>
            <a:r>
              <a:rPr lang="zh-CN" altLang="en-US" sz="1100" b="1" dirty="0" smtClean="0">
                <a:latin typeface="+mn-ea"/>
              </a:rPr>
              <a:t>的关系</a:t>
            </a:r>
            <a:endParaRPr lang="en-US" altLang="zh-CN" sz="1100" b="1" dirty="0" smtClean="0">
              <a:latin typeface="+mn-ea"/>
            </a:endParaRPr>
          </a:p>
        </p:txBody>
      </p:sp>
      <p:grpSp>
        <p:nvGrpSpPr>
          <p:cNvPr id="289" name="组合 288"/>
          <p:cNvGrpSpPr/>
          <p:nvPr/>
        </p:nvGrpSpPr>
        <p:grpSpPr>
          <a:xfrm>
            <a:off x="971600" y="3973890"/>
            <a:ext cx="5904616" cy="464638"/>
            <a:chOff x="827584" y="3468418"/>
            <a:chExt cx="5904616" cy="464638"/>
          </a:xfrm>
        </p:grpSpPr>
        <p:cxnSp>
          <p:nvCxnSpPr>
            <p:cNvPr id="290" name="直接连接符 289"/>
            <p:cNvCxnSpPr/>
            <p:nvPr/>
          </p:nvCxnSpPr>
          <p:spPr bwMode="auto">
            <a:xfrm>
              <a:off x="827584" y="3638912"/>
              <a:ext cx="55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1" name="直接连接符 290"/>
            <p:cNvCxnSpPr/>
            <p:nvPr/>
          </p:nvCxnSpPr>
          <p:spPr bwMode="auto">
            <a:xfrm>
              <a:off x="827585" y="3710920"/>
              <a:ext cx="55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2" name="直接连接符 291"/>
            <p:cNvCxnSpPr/>
            <p:nvPr/>
          </p:nvCxnSpPr>
          <p:spPr bwMode="auto">
            <a:xfrm>
              <a:off x="827585" y="3782928"/>
              <a:ext cx="55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3" name="Text Box 392"/>
            <p:cNvSpPr txBox="1">
              <a:spLocks noChangeArrowheads="1"/>
            </p:cNvSpPr>
            <p:nvPr/>
          </p:nvSpPr>
          <p:spPr bwMode="auto">
            <a:xfrm>
              <a:off x="6372200" y="3494896"/>
              <a:ext cx="360000" cy="432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200" b="1" dirty="0" err="1" smtClean="0">
                  <a:latin typeface="宋体" pitchFamily="2" charset="-122"/>
                </a:rPr>
                <a:t>ABus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 err="1" smtClean="0">
                  <a:latin typeface="宋体" pitchFamily="2" charset="-122"/>
                </a:rPr>
                <a:t>CBus</a:t>
              </a:r>
              <a:endParaRPr lang="en-US" altLang="zh-CN" sz="1200" b="1" dirty="0">
                <a:latin typeface="宋体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200" b="1" dirty="0" err="1" smtClean="0">
                  <a:latin typeface="宋体" pitchFamily="2" charset="-122"/>
                </a:rPr>
                <a:t>DBus</a:t>
              </a:r>
              <a:endParaRPr lang="en-US" altLang="zh-CN" sz="1200" b="1" dirty="0" smtClean="0">
                <a:latin typeface="宋体" pitchFamily="2" charset="-122"/>
              </a:endParaRPr>
            </a:p>
          </p:txBody>
        </p:sp>
        <p:sp>
          <p:nvSpPr>
            <p:cNvPr id="294" name="Text Box 61"/>
            <p:cNvSpPr txBox="1">
              <a:spLocks noChangeArrowheads="1"/>
            </p:cNvSpPr>
            <p:nvPr/>
          </p:nvSpPr>
          <p:spPr bwMode="auto">
            <a:xfrm>
              <a:off x="4788040" y="3468418"/>
              <a:ext cx="144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95" name="直接连接符 294"/>
            <p:cNvCxnSpPr/>
            <p:nvPr/>
          </p:nvCxnSpPr>
          <p:spPr bwMode="auto">
            <a:xfrm>
              <a:off x="4620193" y="3744828"/>
              <a:ext cx="72008" cy="7200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6" name="直接连接符 295"/>
            <p:cNvCxnSpPr/>
            <p:nvPr/>
          </p:nvCxnSpPr>
          <p:spPr bwMode="auto">
            <a:xfrm>
              <a:off x="4762980" y="3607162"/>
              <a:ext cx="72008" cy="7200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7" name="Text Box 61"/>
            <p:cNvSpPr txBox="1">
              <a:spLocks noChangeArrowheads="1"/>
            </p:cNvSpPr>
            <p:nvPr/>
          </p:nvSpPr>
          <p:spPr bwMode="auto">
            <a:xfrm>
              <a:off x="4572016" y="3789056"/>
              <a:ext cx="144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8" name="组合 297"/>
          <p:cNvGrpSpPr/>
          <p:nvPr/>
        </p:nvGrpSpPr>
        <p:grpSpPr>
          <a:xfrm>
            <a:off x="5868216" y="3718448"/>
            <a:ext cx="648000" cy="576024"/>
            <a:chOff x="5724200" y="3212976"/>
            <a:chExt cx="648000" cy="576024"/>
          </a:xfrm>
        </p:grpSpPr>
        <p:sp>
          <p:nvSpPr>
            <p:cNvPr id="299" name="Text Box 291"/>
            <p:cNvSpPr txBox="1">
              <a:spLocks noChangeArrowheads="1"/>
            </p:cNvSpPr>
            <p:nvPr/>
          </p:nvSpPr>
          <p:spPr bwMode="auto">
            <a:xfrm>
              <a:off x="5724200" y="3212976"/>
              <a:ext cx="648000" cy="216000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latin typeface="宋体" pitchFamily="2" charset="-122"/>
                </a:rPr>
                <a:t>连接电路</a:t>
              </a:r>
              <a:endParaRPr lang="en-US" altLang="zh-CN" sz="1200" b="1" dirty="0">
                <a:latin typeface="宋体" pitchFamily="2" charset="-122"/>
              </a:endParaRPr>
            </a:p>
          </p:txBody>
        </p:sp>
        <p:cxnSp>
          <p:nvCxnSpPr>
            <p:cNvPr id="300" name="直接箭头连接符 299"/>
            <p:cNvCxnSpPr/>
            <p:nvPr/>
          </p:nvCxnSpPr>
          <p:spPr bwMode="auto">
            <a:xfrm flipV="1">
              <a:off x="5868144" y="3429016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1" name="直接箭头连接符 300"/>
            <p:cNvCxnSpPr/>
            <p:nvPr/>
          </p:nvCxnSpPr>
          <p:spPr bwMode="auto">
            <a:xfrm flipV="1">
              <a:off x="6012160" y="3429000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2" name="直接箭头连接符 301"/>
            <p:cNvCxnSpPr/>
            <p:nvPr/>
          </p:nvCxnSpPr>
          <p:spPr bwMode="auto">
            <a:xfrm>
              <a:off x="6156176" y="342900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grpSp>
        <p:nvGrpSpPr>
          <p:cNvPr id="303" name="组合 302"/>
          <p:cNvGrpSpPr/>
          <p:nvPr/>
        </p:nvGrpSpPr>
        <p:grpSpPr>
          <a:xfrm>
            <a:off x="2339752" y="4150544"/>
            <a:ext cx="4176464" cy="1878104"/>
            <a:chOff x="1403920" y="3645072"/>
            <a:chExt cx="4176464" cy="1878104"/>
          </a:xfrm>
        </p:grpSpPr>
        <p:sp>
          <p:nvSpPr>
            <p:cNvPr id="304" name="Text Box 18"/>
            <p:cNvSpPr txBox="1">
              <a:spLocks noChangeArrowheads="1"/>
            </p:cNvSpPr>
            <p:nvPr/>
          </p:nvSpPr>
          <p:spPr bwMode="auto">
            <a:xfrm>
              <a:off x="3275920" y="4076928"/>
              <a:ext cx="576000" cy="36000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 smtClean="0">
                  <a:latin typeface="+mn-ea"/>
                  <a:ea typeface="+mn-ea"/>
                </a:rPr>
                <a:t>I/O</a:t>
              </a:r>
              <a:r>
                <a:rPr lang="zh-CN" altLang="en-US" sz="1200" b="1" dirty="0" smtClean="0">
                  <a:latin typeface="+mn-ea"/>
                  <a:ea typeface="+mn-ea"/>
                </a:rPr>
                <a:t>端口</a:t>
              </a:r>
              <a:r>
                <a:rPr lang="en-US" altLang="zh-CN" sz="1050" b="1" dirty="0" smtClean="0">
                  <a:latin typeface="+mn-ea"/>
                  <a:ea typeface="+mn-ea"/>
                </a:rPr>
                <a:t>(</a:t>
              </a:r>
              <a:r>
                <a:rPr lang="en-US" altLang="zh-CN" sz="105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en-US" sz="1050" b="1" dirty="0" smtClean="0">
                  <a:latin typeface="+mn-ea"/>
                  <a:ea typeface="+mn-ea"/>
                </a:rPr>
                <a:t>个</a:t>
              </a:r>
              <a:r>
                <a:rPr lang="en-US" altLang="zh-CN" sz="1050" b="1" dirty="0" smtClean="0">
                  <a:latin typeface="+mn-ea"/>
                  <a:ea typeface="+mn-ea"/>
                </a:rPr>
                <a:t>)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05" name="Text Box 18"/>
            <p:cNvSpPr txBox="1">
              <a:spLocks noChangeArrowheads="1"/>
            </p:cNvSpPr>
            <p:nvPr/>
          </p:nvSpPr>
          <p:spPr bwMode="auto">
            <a:xfrm>
              <a:off x="1979712" y="4148976"/>
              <a:ext cx="360000" cy="360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latin typeface="+mn-ea"/>
                  <a:ea typeface="+mn-ea"/>
                </a:rPr>
                <a:t>设备</a:t>
              </a:r>
              <a:endParaRPr lang="en-US" altLang="zh-CN" sz="12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latin typeface="+mn-ea"/>
                </a:rPr>
                <a:t>选择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06" name="Text Box 18"/>
            <p:cNvSpPr txBox="1">
              <a:spLocks noChangeArrowheads="1"/>
            </p:cNvSpPr>
            <p:nvPr/>
          </p:nvSpPr>
          <p:spPr bwMode="auto">
            <a:xfrm>
              <a:off x="2483768" y="4076928"/>
              <a:ext cx="648000" cy="216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latin typeface="+mn-ea"/>
                  <a:ea typeface="+mn-ea"/>
                </a:rPr>
                <a:t>控制逻辑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07" name="Rectangle 299"/>
            <p:cNvSpPr>
              <a:spLocks noChangeArrowheads="1"/>
            </p:cNvSpPr>
            <p:nvPr/>
          </p:nvSpPr>
          <p:spPr bwMode="auto">
            <a:xfrm>
              <a:off x="1907704" y="4005064"/>
              <a:ext cx="1980000" cy="72187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" name="Text Box 18"/>
            <p:cNvSpPr txBox="1">
              <a:spLocks noChangeArrowheads="1"/>
            </p:cNvSpPr>
            <p:nvPr/>
          </p:nvSpPr>
          <p:spPr bwMode="auto">
            <a:xfrm>
              <a:off x="2771912" y="4545000"/>
              <a:ext cx="1008000" cy="180000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dirty="0" smtClean="0">
                  <a:latin typeface="+mn-ea"/>
                  <a:ea typeface="+mn-ea"/>
                </a:rPr>
                <a:t>信号转换逻辑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cxnSp>
          <p:nvCxnSpPr>
            <p:cNvPr id="309" name="直接箭头连接符 308"/>
            <p:cNvCxnSpPr/>
            <p:nvPr/>
          </p:nvCxnSpPr>
          <p:spPr bwMode="auto">
            <a:xfrm>
              <a:off x="3563912" y="4436968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0" name="直接箭头连接符 309"/>
            <p:cNvCxnSpPr/>
            <p:nvPr/>
          </p:nvCxnSpPr>
          <p:spPr bwMode="auto">
            <a:xfrm>
              <a:off x="3131856" y="44030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11" name="Text Box 18"/>
            <p:cNvSpPr txBox="1">
              <a:spLocks noChangeArrowheads="1"/>
            </p:cNvSpPr>
            <p:nvPr/>
          </p:nvSpPr>
          <p:spPr bwMode="auto">
            <a:xfrm>
              <a:off x="2555840" y="4328976"/>
              <a:ext cx="576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050" b="1" dirty="0" smtClean="0">
                  <a:latin typeface="+mn-ea"/>
                  <a:ea typeface="+mn-ea"/>
                </a:rPr>
                <a:t>端口选择</a:t>
              </a:r>
              <a:endParaRPr lang="zh-CN" altLang="en-US" sz="1050" b="1" dirty="0">
                <a:latin typeface="+mn-ea"/>
                <a:ea typeface="+mn-ea"/>
              </a:endParaRPr>
            </a:p>
          </p:txBody>
        </p:sp>
        <p:cxnSp>
          <p:nvCxnSpPr>
            <p:cNvPr id="312" name="直接箭头连接符 311"/>
            <p:cNvCxnSpPr/>
            <p:nvPr/>
          </p:nvCxnSpPr>
          <p:spPr bwMode="auto">
            <a:xfrm>
              <a:off x="3131840" y="4148936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3" name="直接箭头连接符 312"/>
            <p:cNvCxnSpPr/>
            <p:nvPr/>
          </p:nvCxnSpPr>
          <p:spPr bwMode="auto">
            <a:xfrm>
              <a:off x="2411760" y="4405218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4" name="直接箭头连接符 313"/>
            <p:cNvCxnSpPr/>
            <p:nvPr/>
          </p:nvCxnSpPr>
          <p:spPr bwMode="auto">
            <a:xfrm>
              <a:off x="2411760" y="4076928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15" name="直接箭头连接符 314"/>
            <p:cNvCxnSpPr/>
            <p:nvPr/>
          </p:nvCxnSpPr>
          <p:spPr bwMode="auto">
            <a:xfrm flipV="1">
              <a:off x="2195736" y="4076896"/>
              <a:ext cx="216024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16" name="Text Box 81"/>
            <p:cNvSpPr txBox="1">
              <a:spLocks noChangeArrowheads="1"/>
            </p:cNvSpPr>
            <p:nvPr/>
          </p:nvSpPr>
          <p:spPr bwMode="auto">
            <a:xfrm>
              <a:off x="1403920" y="5019176"/>
              <a:ext cx="2448000" cy="504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 smtClean="0">
                  <a:latin typeface="宋体" panose="02010600030101010101" pitchFamily="2" charset="-122"/>
                </a:rPr>
                <a:t>外设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1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100" b="1" dirty="0" smtClean="0">
                  <a:latin typeface="宋体" panose="02010600030101010101" pitchFamily="2" charset="-122"/>
                </a:rPr>
                <a:t>无条件</a:t>
              </a:r>
              <a:r>
                <a:rPr lang="en-US" altLang="zh-CN" sz="11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100" b="1" dirty="0" smtClean="0">
                  <a:latin typeface="宋体" panose="02010600030101010101" pitchFamily="2" charset="-122"/>
                </a:rPr>
                <a:t>条件、</a:t>
              </a:r>
              <a:r>
                <a:rPr lang="zh-CN" altLang="en-US" sz="1100" b="1" dirty="0" smtClean="0">
                  <a:latin typeface="宋体" panose="02010600030101010101" pitchFamily="2" charset="-122"/>
                </a:rPr>
                <a:t>字符</a:t>
              </a:r>
              <a:r>
                <a:rPr lang="en-US" altLang="zh-CN" sz="11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100" b="1" dirty="0" smtClean="0">
                  <a:latin typeface="宋体" panose="02010600030101010101" pitchFamily="2" charset="-122"/>
                </a:rPr>
                <a:t>块、</a:t>
              </a:r>
              <a:r>
                <a:rPr lang="zh-CN" altLang="en-US" sz="1100" b="1" dirty="0" smtClean="0">
                  <a:latin typeface="宋体" panose="02010600030101010101" pitchFamily="2" charset="-122"/>
                </a:rPr>
                <a:t>串行</a:t>
              </a:r>
              <a:r>
                <a:rPr lang="en-US" altLang="zh-CN" sz="11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100" b="1" dirty="0" smtClean="0">
                  <a:latin typeface="宋体" panose="02010600030101010101" pitchFamily="2" charset="-122"/>
                </a:rPr>
                <a:t>并行</a:t>
              </a:r>
              <a:r>
                <a:rPr lang="en-US" altLang="zh-CN" sz="1100" b="1" dirty="0" smtClean="0">
                  <a:latin typeface="宋体" panose="02010600030101010101" pitchFamily="2" charset="-122"/>
                </a:rPr>
                <a:t>)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17" name="直接连接符 316"/>
            <p:cNvCxnSpPr/>
            <p:nvPr/>
          </p:nvCxnSpPr>
          <p:spPr bwMode="auto">
            <a:xfrm>
              <a:off x="3012100" y="4725000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直接连接符 317"/>
            <p:cNvCxnSpPr/>
            <p:nvPr/>
          </p:nvCxnSpPr>
          <p:spPr bwMode="auto">
            <a:xfrm>
              <a:off x="3275856" y="4731176"/>
              <a:ext cx="0" cy="29279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319" name="直接连接符 318"/>
            <p:cNvCxnSpPr/>
            <p:nvPr/>
          </p:nvCxnSpPr>
          <p:spPr bwMode="auto">
            <a:xfrm flipV="1">
              <a:off x="3347864" y="4725000"/>
              <a:ext cx="0" cy="289446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320" name="直接连接符 319"/>
            <p:cNvCxnSpPr/>
            <p:nvPr/>
          </p:nvCxnSpPr>
          <p:spPr bwMode="auto">
            <a:xfrm>
              <a:off x="2983522" y="4869016"/>
              <a:ext cx="72008" cy="7200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1" name="Text Box 61"/>
            <p:cNvSpPr txBox="1">
              <a:spLocks noChangeArrowheads="1"/>
            </p:cNvSpPr>
            <p:nvPr/>
          </p:nvSpPr>
          <p:spPr bwMode="auto">
            <a:xfrm>
              <a:off x="3996016" y="4797064"/>
              <a:ext cx="720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100" b="1" dirty="0" smtClean="0">
                  <a:latin typeface="+mn-ea"/>
                </a:rPr>
                <a:t>①无</a:t>
              </a:r>
              <a:endParaRPr lang="en-US" altLang="zh-CN" sz="1100" b="1" dirty="0" smtClean="0">
                <a:latin typeface="+mn-ea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100" b="1" dirty="0" smtClean="0">
                  <a:latin typeface="+mn-ea"/>
                </a:rPr>
                <a:t>②</a:t>
              </a:r>
              <a:r>
                <a:rPr lang="en-US" altLang="zh-CN" sz="1100" b="1" dirty="0" err="1" smtClean="0">
                  <a:latin typeface="+mn-ea"/>
                </a:rPr>
                <a:t>Req</a:t>
              </a:r>
              <a:r>
                <a:rPr lang="en-US" altLang="zh-CN" sz="1100" b="1" dirty="0" smtClean="0">
                  <a:latin typeface="+mn-ea"/>
                </a:rPr>
                <a:t>/</a:t>
              </a:r>
              <a:r>
                <a:rPr lang="en-US" altLang="zh-CN" sz="1100" b="1" dirty="0" err="1" smtClean="0">
                  <a:latin typeface="+mn-ea"/>
                </a:rPr>
                <a:t>Ack</a:t>
              </a:r>
              <a:endParaRPr lang="en-US" altLang="zh-CN" sz="1100" b="1" dirty="0" smtClean="0">
                <a:latin typeface="+mn-ea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100" b="1" dirty="0" smtClean="0">
                  <a:latin typeface="+mn-ea"/>
                </a:rPr>
                <a:t>③</a:t>
              </a:r>
              <a:r>
                <a:rPr lang="en-US" altLang="zh-CN" sz="1100" b="1" dirty="0" smtClean="0">
                  <a:latin typeface="+mn-ea"/>
                </a:rPr>
                <a:t>CLK</a:t>
              </a:r>
              <a:endParaRPr lang="en-US" altLang="zh-CN" sz="1100" b="1" dirty="0">
                <a:latin typeface="+mn-ea"/>
              </a:endParaRPr>
            </a:p>
          </p:txBody>
        </p:sp>
        <p:cxnSp>
          <p:nvCxnSpPr>
            <p:cNvPr id="322" name="直接连接符 321"/>
            <p:cNvCxnSpPr/>
            <p:nvPr/>
          </p:nvCxnSpPr>
          <p:spPr bwMode="auto">
            <a:xfrm flipH="1" flipV="1">
              <a:off x="3419872" y="4875128"/>
              <a:ext cx="46783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323" name="Text Box 18"/>
            <p:cNvSpPr txBox="1">
              <a:spLocks noChangeArrowheads="1"/>
            </p:cNvSpPr>
            <p:nvPr/>
          </p:nvSpPr>
          <p:spPr bwMode="auto">
            <a:xfrm>
              <a:off x="4499694" y="4436095"/>
              <a:ext cx="1080690" cy="288925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b="1" dirty="0" smtClean="0">
                  <a:latin typeface="+mn-ea"/>
                  <a:ea typeface="+mn-ea"/>
                </a:rPr>
                <a:t>外设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sp>
          <p:nvSpPr>
            <p:cNvPr id="324" name="Text Box 20"/>
            <p:cNvSpPr txBox="1">
              <a:spLocks noChangeArrowheads="1"/>
            </p:cNvSpPr>
            <p:nvPr/>
          </p:nvSpPr>
          <p:spPr bwMode="auto">
            <a:xfrm>
              <a:off x="4499694" y="4005064"/>
              <a:ext cx="1080690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400" b="1" dirty="0" smtClean="0">
                  <a:latin typeface="+mn-ea"/>
                  <a:ea typeface="+mn-ea"/>
                </a:rPr>
                <a:t>I/O</a:t>
              </a:r>
              <a:r>
                <a:rPr lang="zh-CN" altLang="en-US" sz="1400" b="1" dirty="0" smtClean="0">
                  <a:latin typeface="+mn-ea"/>
                  <a:ea typeface="+mn-ea"/>
                </a:rPr>
                <a:t>接口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325" name="直接连接符 324"/>
            <p:cNvCxnSpPr/>
            <p:nvPr/>
          </p:nvCxnSpPr>
          <p:spPr bwMode="auto">
            <a:xfrm>
              <a:off x="5004320" y="4294658"/>
              <a:ext cx="0" cy="143693"/>
            </a:xfrm>
            <a:prstGeom prst="line">
              <a:avLst/>
            </a:prstGeom>
            <a:noFill/>
            <a:ln w="158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6" name="Text Box 61"/>
            <p:cNvSpPr txBox="1">
              <a:spLocks noChangeArrowheads="1"/>
            </p:cNvSpPr>
            <p:nvPr/>
          </p:nvSpPr>
          <p:spPr bwMode="auto">
            <a:xfrm>
              <a:off x="4044037" y="4256948"/>
              <a:ext cx="312211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+mn-ea"/>
                  <a:cs typeface="Times New Roman" panose="02020603050405020304" pitchFamily="18" charset="0"/>
                </a:rPr>
                <a:t>…</a:t>
              </a:r>
              <a:endParaRPr lang="en-US" altLang="zh-CN" sz="1400" b="1" dirty="0">
                <a:latin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27" name="直接箭头连接符 326"/>
            <p:cNvCxnSpPr/>
            <p:nvPr/>
          </p:nvCxnSpPr>
          <p:spPr bwMode="auto">
            <a:xfrm>
              <a:off x="2195736" y="3645072"/>
              <a:ext cx="0" cy="5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8" name="直接箭头连接符 327"/>
            <p:cNvCxnSpPr/>
            <p:nvPr/>
          </p:nvCxnSpPr>
          <p:spPr bwMode="auto">
            <a:xfrm>
              <a:off x="2843808" y="3717080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9" name="直接箭头连接符 328"/>
            <p:cNvCxnSpPr/>
            <p:nvPr/>
          </p:nvCxnSpPr>
          <p:spPr bwMode="auto">
            <a:xfrm>
              <a:off x="3563888" y="3789088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0" name="直接箭头连接符 329"/>
            <p:cNvCxnSpPr/>
            <p:nvPr/>
          </p:nvCxnSpPr>
          <p:spPr bwMode="auto">
            <a:xfrm>
              <a:off x="5076329" y="3717080"/>
              <a:ext cx="0" cy="28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1" name="直接箭头连接符 330"/>
            <p:cNvCxnSpPr/>
            <p:nvPr/>
          </p:nvCxnSpPr>
          <p:spPr bwMode="auto">
            <a:xfrm>
              <a:off x="4932313" y="3645072"/>
              <a:ext cx="0" cy="36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2" name="直接箭头连接符 331"/>
            <p:cNvCxnSpPr/>
            <p:nvPr/>
          </p:nvCxnSpPr>
          <p:spPr bwMode="auto">
            <a:xfrm>
              <a:off x="5220345" y="3789088"/>
              <a:ext cx="0" cy="216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grpSp>
        <p:nvGrpSpPr>
          <p:cNvPr id="333" name="组合 332"/>
          <p:cNvGrpSpPr/>
          <p:nvPr/>
        </p:nvGrpSpPr>
        <p:grpSpPr>
          <a:xfrm>
            <a:off x="6002322" y="4510472"/>
            <a:ext cx="1377958" cy="720144"/>
            <a:chOff x="5858306" y="4005000"/>
            <a:chExt cx="1377958" cy="720144"/>
          </a:xfrm>
        </p:grpSpPr>
        <p:sp>
          <p:nvSpPr>
            <p:cNvPr id="334" name="Rectangle 274"/>
            <p:cNvSpPr>
              <a:spLocks noChangeArrowheads="1"/>
            </p:cNvSpPr>
            <p:nvPr/>
          </p:nvSpPr>
          <p:spPr bwMode="auto">
            <a:xfrm>
              <a:off x="6948264" y="4149144"/>
              <a:ext cx="288000" cy="57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335" name="直接箭头连接符 334"/>
            <p:cNvCxnSpPr/>
            <p:nvPr/>
          </p:nvCxnSpPr>
          <p:spPr bwMode="auto">
            <a:xfrm flipV="1">
              <a:off x="6948264" y="4292904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6" name="直接箭头连接符 335"/>
            <p:cNvCxnSpPr/>
            <p:nvPr/>
          </p:nvCxnSpPr>
          <p:spPr bwMode="auto">
            <a:xfrm flipV="1">
              <a:off x="6948264" y="4581096"/>
              <a:ext cx="28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37" name="Text Box 392"/>
            <p:cNvSpPr txBox="1">
              <a:spLocks noChangeArrowheads="1"/>
            </p:cNvSpPr>
            <p:nvPr/>
          </p:nvSpPr>
          <p:spPr bwMode="auto">
            <a:xfrm>
              <a:off x="6948264" y="4005000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1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r>
                <a:rPr lang="zh-CN" altLang="en-US" sz="1200" b="1" dirty="0" smtClean="0">
                  <a:latin typeface="宋体" pitchFamily="2" charset="-122"/>
                </a:rPr>
                <a:t>位</a:t>
              </a:r>
              <a:endParaRPr lang="en-US" altLang="zh-CN" sz="1200" b="1" dirty="0" smtClean="0">
                <a:latin typeface="宋体" pitchFamily="2" charset="-122"/>
              </a:endParaRPr>
            </a:p>
          </p:txBody>
        </p:sp>
        <p:sp>
          <p:nvSpPr>
            <p:cNvPr id="338" name="Text Box 392"/>
            <p:cNvSpPr txBox="1">
              <a:spLocks noChangeArrowheads="1"/>
            </p:cNvSpPr>
            <p:nvPr/>
          </p:nvSpPr>
          <p:spPr bwMode="auto">
            <a:xfrm>
              <a:off x="6660232" y="4581096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050" b="1" dirty="0" smtClean="0">
                  <a:solidFill>
                    <a:srgbClr val="C00000"/>
                  </a:solidFill>
                  <a:latin typeface="宋体" pitchFamily="2" charset="-122"/>
                </a:rPr>
                <a:t>y</a:t>
              </a:r>
            </a:p>
          </p:txBody>
        </p:sp>
        <p:sp>
          <p:nvSpPr>
            <p:cNvPr id="339" name="Text Box 392"/>
            <p:cNvSpPr txBox="1">
              <a:spLocks noChangeArrowheads="1"/>
            </p:cNvSpPr>
            <p:nvPr/>
          </p:nvSpPr>
          <p:spPr bwMode="auto">
            <a:xfrm>
              <a:off x="6660232" y="4149048"/>
              <a:ext cx="288000" cy="1440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050" b="1" dirty="0" smtClean="0">
                  <a:solidFill>
                    <a:srgbClr val="C00000"/>
                  </a:solidFill>
                  <a:latin typeface="宋体" pitchFamily="2" charset="-122"/>
                </a:rPr>
                <a:t>x</a:t>
              </a:r>
            </a:p>
          </p:txBody>
        </p:sp>
        <p:cxnSp>
          <p:nvCxnSpPr>
            <p:cNvPr id="340" name="直接箭头连接符 339"/>
            <p:cNvCxnSpPr/>
            <p:nvPr/>
          </p:nvCxnSpPr>
          <p:spPr bwMode="auto">
            <a:xfrm flipH="1" flipV="1">
              <a:off x="5858306" y="4149081"/>
              <a:ext cx="1188000" cy="28806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</p:grpSp>
      <p:sp>
        <p:nvSpPr>
          <p:cNvPr id="341" name="Text Box 61"/>
          <p:cNvSpPr txBox="1">
            <a:spLocks noChangeArrowheads="1"/>
          </p:cNvSpPr>
          <p:nvPr/>
        </p:nvSpPr>
        <p:spPr bwMode="auto">
          <a:xfrm>
            <a:off x="7020272" y="3799752"/>
            <a:ext cx="1728000" cy="5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r>
              <a:rPr lang="zh-CN" altLang="en-US" sz="1100" b="1" dirty="0" smtClean="0">
                <a:solidFill>
                  <a:srgbClr val="990099"/>
                </a:solidFill>
                <a:latin typeface="+mn-ea"/>
              </a:rPr>
              <a:t>总线互连：</a:t>
            </a:r>
            <a:endParaRPr lang="en-US" altLang="zh-CN" sz="1100" b="1" dirty="0" smtClean="0">
              <a:solidFill>
                <a:srgbClr val="990099"/>
              </a:solidFill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smtClean="0">
                <a:latin typeface="+mn-ea"/>
              </a:rPr>
              <a:t> </a:t>
            </a:r>
            <a:r>
              <a:rPr lang="zh-CN" altLang="en-US" sz="1100" b="1" dirty="0" smtClean="0">
                <a:latin typeface="+mn-ea"/>
              </a:rPr>
              <a:t>①多个主设备的管理</a:t>
            </a:r>
            <a:endParaRPr lang="en-US" altLang="zh-CN" sz="1100" b="1" dirty="0" smtClean="0">
              <a:latin typeface="+mn-ea"/>
            </a:endParaRPr>
          </a:p>
          <a:p>
            <a:r>
              <a:rPr lang="zh-CN" altLang="en-US" sz="1100" b="1" dirty="0" smtClean="0">
                <a:latin typeface="+mn-ea"/>
              </a:rPr>
              <a:t>  ②总线事务的步骤</a:t>
            </a:r>
            <a:r>
              <a:rPr lang="en-US" altLang="zh-CN" sz="1100" b="1" dirty="0" smtClean="0">
                <a:latin typeface="+mn-ea"/>
              </a:rPr>
              <a:t>/</a:t>
            </a:r>
            <a:r>
              <a:rPr lang="zh-CN" altLang="en-US" sz="1100" b="1" dirty="0" smtClean="0">
                <a:latin typeface="+mn-ea"/>
              </a:rPr>
              <a:t>定时</a:t>
            </a:r>
            <a:endParaRPr lang="en-US" altLang="zh-CN" sz="1100" b="1" dirty="0" smtClean="0">
              <a:latin typeface="+mn-ea"/>
            </a:endParaRPr>
          </a:p>
        </p:txBody>
      </p:sp>
      <p:grpSp>
        <p:nvGrpSpPr>
          <p:cNvPr id="342" name="组合 341"/>
          <p:cNvGrpSpPr/>
          <p:nvPr/>
        </p:nvGrpSpPr>
        <p:grpSpPr>
          <a:xfrm>
            <a:off x="762730" y="919568"/>
            <a:ext cx="2729013" cy="1224000"/>
            <a:chOff x="546706" y="415512"/>
            <a:chExt cx="2729013" cy="1224000"/>
          </a:xfrm>
        </p:grpSpPr>
        <p:sp>
          <p:nvSpPr>
            <p:cNvPr id="343" name="Text Box 160"/>
            <p:cNvSpPr txBox="1">
              <a:spLocks noChangeArrowheads="1"/>
            </p:cNvSpPr>
            <p:nvPr/>
          </p:nvSpPr>
          <p:spPr bwMode="auto">
            <a:xfrm>
              <a:off x="2051719" y="415512"/>
              <a:ext cx="1224000" cy="122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105000"/>
                </a:lnSpc>
              </a:pPr>
              <a:r>
                <a:rPr lang="en-US" altLang="zh-CN" sz="1400" b="1" dirty="0" smtClean="0">
                  <a:solidFill>
                    <a:srgbClr val="CC3300"/>
                  </a:solidFill>
                  <a:latin typeface="宋体" pitchFamily="2" charset="-122"/>
                </a:rPr>
                <a:t>ISA</a:t>
              </a:r>
              <a:r>
                <a:rPr lang="zh-CN" altLang="en-US" sz="1400" b="1" dirty="0">
                  <a:solidFill>
                    <a:srgbClr val="C00000"/>
                  </a:solidFill>
                  <a:latin typeface="宋体" pitchFamily="2" charset="-122"/>
                </a:rPr>
                <a:t>约定</a:t>
              </a:r>
              <a:r>
                <a:rPr lang="zh-CN" altLang="en-US" sz="1400" b="1" dirty="0" smtClean="0">
                  <a:solidFill>
                    <a:srgbClr val="CC3300"/>
                  </a:solidFill>
                  <a:latin typeface="宋体" pitchFamily="2" charset="-122"/>
                </a:rPr>
                <a:t>：</a:t>
              </a:r>
              <a:endParaRPr lang="en-US" altLang="zh-CN" sz="1400" b="1" dirty="0" smtClean="0">
                <a:solidFill>
                  <a:srgbClr val="CC3300"/>
                </a:solidFill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  </a:t>
              </a:r>
              <a:r>
                <a:rPr lang="zh-CN" altLang="en-US" sz="1200" b="1" dirty="0" smtClean="0">
                  <a:latin typeface="宋体" pitchFamily="2" charset="-122"/>
                </a:rPr>
                <a:t>数据表示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 smtClean="0">
                  <a:latin typeface="宋体" pitchFamily="2" charset="-122"/>
                </a:rPr>
                <a:t>  OPD</a:t>
              </a:r>
              <a:r>
                <a:rPr lang="zh-CN" altLang="en-US" sz="1200" b="1" dirty="0" smtClean="0">
                  <a:latin typeface="宋体" pitchFamily="2" charset="-122"/>
                </a:rPr>
                <a:t>存放方式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1200" b="1" dirty="0" smtClean="0">
                  <a:latin typeface="宋体" pitchFamily="2" charset="-122"/>
                </a:rPr>
                <a:t>  寻址方式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200" b="1" dirty="0">
                  <a:latin typeface="宋体" pitchFamily="2" charset="-122"/>
                </a:rPr>
                <a:t> </a:t>
              </a:r>
              <a:r>
                <a:rPr lang="en-US" altLang="zh-CN" sz="1200" b="1" dirty="0" smtClean="0">
                  <a:latin typeface="宋体" pitchFamily="2" charset="-122"/>
                </a:rPr>
                <a:t> </a:t>
              </a:r>
              <a:r>
                <a:rPr lang="zh-CN" altLang="en-US" sz="1200" b="1" dirty="0" smtClean="0">
                  <a:latin typeface="宋体" pitchFamily="2" charset="-122"/>
                </a:rPr>
                <a:t>指令功能</a:t>
              </a:r>
              <a:endParaRPr lang="en-US" altLang="zh-CN" sz="1200" b="1" dirty="0" smtClean="0">
                <a:latin typeface="宋体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zh-CN" altLang="en-US" sz="1200" b="1" dirty="0" smtClean="0">
                  <a:latin typeface="宋体" pitchFamily="2" charset="-122"/>
                </a:rPr>
                <a:t>  指令格式</a:t>
              </a:r>
              <a:endParaRPr lang="en-US" altLang="zh-CN" sz="1200" b="1" dirty="0" smtClean="0">
                <a:latin typeface="宋体" pitchFamily="2" charset="-122"/>
              </a:endParaRPr>
            </a:p>
          </p:txBody>
        </p:sp>
        <p:grpSp>
          <p:nvGrpSpPr>
            <p:cNvPr id="344" name="组合 343"/>
            <p:cNvGrpSpPr/>
            <p:nvPr/>
          </p:nvGrpSpPr>
          <p:grpSpPr>
            <a:xfrm>
              <a:off x="611560" y="1268776"/>
              <a:ext cx="1224040" cy="360024"/>
              <a:chOff x="5652088" y="1196752"/>
              <a:chExt cx="1224040" cy="360024"/>
            </a:xfrm>
          </p:grpSpPr>
          <p:sp>
            <p:nvSpPr>
              <p:cNvPr id="346" name="Text Box 136"/>
              <p:cNvSpPr txBox="1">
                <a:spLocks noChangeArrowheads="1"/>
              </p:cNvSpPr>
              <p:nvPr/>
            </p:nvSpPr>
            <p:spPr bwMode="auto">
              <a:xfrm>
                <a:off x="5940184" y="1412776"/>
                <a:ext cx="180000" cy="144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100" b="1" dirty="0">
                    <a:latin typeface="宋体" pitchFamily="2" charset="-122"/>
                  </a:rPr>
                  <a:t>RD</a:t>
                </a:r>
              </a:p>
            </p:txBody>
          </p:sp>
          <p:sp>
            <p:nvSpPr>
              <p:cNvPr id="347" name="Text Box 137"/>
              <p:cNvSpPr txBox="1">
                <a:spLocks noChangeArrowheads="1"/>
              </p:cNvSpPr>
              <p:nvPr/>
            </p:nvSpPr>
            <p:spPr bwMode="auto">
              <a:xfrm>
                <a:off x="5652088" y="1412776"/>
                <a:ext cx="288000" cy="14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100" b="1" dirty="0">
                    <a:latin typeface="宋体" pitchFamily="2" charset="-122"/>
                  </a:rPr>
                  <a:t>o</a:t>
                </a:r>
                <a:r>
                  <a:rPr lang="en-US" altLang="zh-CN" sz="1100" b="1" dirty="0" smtClean="0">
                    <a:latin typeface="宋体" pitchFamily="2" charset="-122"/>
                  </a:rPr>
                  <a:t>p2</a:t>
                </a:r>
                <a:endParaRPr lang="en-US" altLang="zh-CN" sz="1100" b="1" dirty="0">
                  <a:latin typeface="宋体" pitchFamily="2" charset="-122"/>
                </a:endParaRPr>
              </a:p>
            </p:txBody>
          </p:sp>
          <p:sp>
            <p:nvSpPr>
              <p:cNvPr id="348" name="Text Box 151"/>
              <p:cNvSpPr txBox="1">
                <a:spLocks noChangeArrowheads="1"/>
              </p:cNvSpPr>
              <p:nvPr/>
            </p:nvSpPr>
            <p:spPr bwMode="auto">
              <a:xfrm>
                <a:off x="6300128" y="1412776"/>
                <a:ext cx="576000" cy="144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100" b="1" dirty="0">
                    <a:latin typeface="宋体" pitchFamily="2" charset="-122"/>
                  </a:rPr>
                  <a:t>A</a:t>
                </a:r>
              </a:p>
            </p:txBody>
          </p:sp>
          <p:sp>
            <p:nvSpPr>
              <p:cNvPr id="349" name="Text Box 136"/>
              <p:cNvSpPr txBox="1">
                <a:spLocks noChangeArrowheads="1"/>
              </p:cNvSpPr>
              <p:nvPr/>
            </p:nvSpPr>
            <p:spPr bwMode="auto">
              <a:xfrm>
                <a:off x="6120128" y="1412776"/>
                <a:ext cx="180000" cy="144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100" b="1" dirty="0" smtClean="0">
                    <a:latin typeface="宋体" pitchFamily="2" charset="-122"/>
                  </a:rPr>
                  <a:t>RS</a:t>
                </a:r>
                <a:endParaRPr lang="en-US" altLang="zh-CN" sz="1100" b="1" dirty="0">
                  <a:latin typeface="宋体" pitchFamily="2" charset="-122"/>
                </a:endParaRPr>
              </a:p>
            </p:txBody>
          </p:sp>
          <p:sp>
            <p:nvSpPr>
              <p:cNvPr id="350" name="Text Box 136"/>
              <p:cNvSpPr txBox="1">
                <a:spLocks noChangeArrowheads="1"/>
              </p:cNvSpPr>
              <p:nvPr/>
            </p:nvSpPr>
            <p:spPr bwMode="auto">
              <a:xfrm>
                <a:off x="5940152" y="1196752"/>
                <a:ext cx="180000" cy="144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100" b="1" dirty="0">
                    <a:latin typeface="宋体" pitchFamily="2" charset="-122"/>
                  </a:rPr>
                  <a:t>RD</a:t>
                </a:r>
              </a:p>
            </p:txBody>
          </p:sp>
          <p:sp>
            <p:nvSpPr>
              <p:cNvPr id="351" name="Text Box 137"/>
              <p:cNvSpPr txBox="1">
                <a:spLocks noChangeArrowheads="1"/>
              </p:cNvSpPr>
              <p:nvPr/>
            </p:nvSpPr>
            <p:spPr bwMode="auto">
              <a:xfrm>
                <a:off x="5652088" y="1196752"/>
                <a:ext cx="288000" cy="144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100" b="1" dirty="0" smtClean="0">
                    <a:latin typeface="宋体" pitchFamily="2" charset="-122"/>
                  </a:rPr>
                  <a:t>op1</a:t>
                </a:r>
                <a:endParaRPr lang="en-US" altLang="zh-CN" sz="1100" b="1" dirty="0">
                  <a:latin typeface="宋体" pitchFamily="2" charset="-122"/>
                </a:endParaRPr>
              </a:p>
            </p:txBody>
          </p:sp>
          <p:sp>
            <p:nvSpPr>
              <p:cNvPr id="352" name="Text Box 136"/>
              <p:cNvSpPr txBox="1">
                <a:spLocks noChangeArrowheads="1"/>
              </p:cNvSpPr>
              <p:nvPr/>
            </p:nvSpPr>
            <p:spPr bwMode="auto">
              <a:xfrm>
                <a:off x="6120096" y="1196752"/>
                <a:ext cx="180000" cy="144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100" b="1" dirty="0" smtClean="0">
                    <a:latin typeface="宋体" pitchFamily="2" charset="-122"/>
                  </a:rPr>
                  <a:t>RS</a:t>
                </a:r>
                <a:endParaRPr lang="en-US" altLang="zh-CN" sz="1100" b="1" dirty="0">
                  <a:latin typeface="宋体" pitchFamily="2" charset="-122"/>
                </a:endParaRPr>
              </a:p>
            </p:txBody>
          </p:sp>
        </p:grpSp>
        <p:sp>
          <p:nvSpPr>
            <p:cNvPr id="345" name="Text Box 61"/>
            <p:cNvSpPr txBox="1">
              <a:spLocks noChangeArrowheads="1"/>
            </p:cNvSpPr>
            <p:nvPr/>
          </p:nvSpPr>
          <p:spPr bwMode="auto">
            <a:xfrm>
              <a:off x="546706" y="847560"/>
              <a:ext cx="1440000" cy="3600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100" b="1" dirty="0" smtClean="0">
                  <a:latin typeface="+mn-ea"/>
                </a:rPr>
                <a:t>RD</a:t>
              </a:r>
              <a:r>
                <a:rPr lang="zh-CN" altLang="en-US" sz="1100" b="1" dirty="0" smtClean="0">
                  <a:latin typeface="+mn-ea"/>
                </a:rPr>
                <a:t>←</a:t>
              </a:r>
              <a:r>
                <a:rPr lang="en-US" altLang="zh-CN" sz="1100" b="1" dirty="0" smtClean="0">
                  <a:latin typeface="+mn-ea"/>
                </a:rPr>
                <a:t>(RD) oper1 (RS)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100" b="1" dirty="0">
                  <a:latin typeface="+mn-ea"/>
                </a:rPr>
                <a:t>RD</a:t>
              </a:r>
              <a:r>
                <a:rPr lang="zh-CN" altLang="en-US" sz="1100" b="1" dirty="0">
                  <a:latin typeface="+mn-ea"/>
                </a:rPr>
                <a:t>←</a:t>
              </a:r>
              <a:r>
                <a:rPr lang="en-US" altLang="zh-CN" sz="1100" b="1" dirty="0">
                  <a:latin typeface="+mn-ea"/>
                </a:rPr>
                <a:t>(RD) </a:t>
              </a:r>
              <a:r>
                <a:rPr lang="en-US" altLang="zh-CN" sz="1100" b="1" dirty="0" smtClean="0">
                  <a:latin typeface="+mn-ea"/>
                </a:rPr>
                <a:t>oper2  A</a:t>
              </a:r>
              <a:r>
                <a:rPr lang="zh-CN" altLang="en-US" sz="1100" b="1" dirty="0" smtClean="0">
                  <a:latin typeface="+mn-ea"/>
                </a:rPr>
                <a:t>等</a:t>
              </a:r>
              <a:endParaRPr lang="en-US" altLang="zh-CN" sz="1100" b="1" dirty="0">
                <a:latin typeface="+mn-ea"/>
              </a:endParaRPr>
            </a:p>
          </p:txBody>
        </p:sp>
      </p:grpSp>
      <p:sp>
        <p:nvSpPr>
          <p:cNvPr id="353" name="Text Box 61"/>
          <p:cNvSpPr txBox="1">
            <a:spLocks noChangeArrowheads="1"/>
          </p:cNvSpPr>
          <p:nvPr/>
        </p:nvSpPr>
        <p:spPr bwMode="auto">
          <a:xfrm>
            <a:off x="7524328" y="3151680"/>
            <a:ext cx="1152128" cy="5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r>
              <a:rPr lang="zh-CN" altLang="en-US" sz="1100" b="1" dirty="0" smtClean="0">
                <a:solidFill>
                  <a:srgbClr val="990099"/>
                </a:solidFill>
                <a:latin typeface="+mn-ea"/>
              </a:rPr>
              <a:t>主存连接：</a:t>
            </a:r>
            <a:endParaRPr lang="en-US" altLang="zh-CN" sz="1100" b="1" dirty="0" smtClean="0">
              <a:solidFill>
                <a:srgbClr val="990099"/>
              </a:solidFill>
              <a:latin typeface="+mn-ea"/>
            </a:endParaRPr>
          </a:p>
          <a:p>
            <a:r>
              <a:rPr lang="zh-CN" altLang="en-US" sz="1100" b="1" dirty="0" smtClean="0">
                <a:latin typeface="+mn-ea"/>
              </a:rPr>
              <a:t>  ①</a:t>
            </a:r>
            <a:r>
              <a:rPr lang="en-US" altLang="zh-CN" sz="1100" b="1" dirty="0">
                <a:latin typeface="+mn-ea"/>
              </a:rPr>
              <a:t>a</a:t>
            </a:r>
            <a:r>
              <a:rPr lang="zh-CN" altLang="en-US" sz="1100" b="1" dirty="0">
                <a:latin typeface="+mn-ea"/>
              </a:rPr>
              <a:t>与</a:t>
            </a:r>
            <a:r>
              <a:rPr lang="en-US" altLang="zh-CN" sz="1100" b="1" dirty="0" smtClean="0">
                <a:latin typeface="+mn-ea"/>
              </a:rPr>
              <a:t>d</a:t>
            </a:r>
            <a:r>
              <a:rPr lang="zh-CN" altLang="en-US" sz="1100" b="1" dirty="0" smtClean="0">
                <a:latin typeface="+mn-ea"/>
              </a:rPr>
              <a:t>的关系</a:t>
            </a:r>
            <a:endParaRPr lang="en-US" altLang="zh-CN" sz="1100" b="1" dirty="0" smtClean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</a:t>
            </a:r>
            <a:r>
              <a:rPr lang="zh-CN" altLang="en-US" sz="1100" b="1" dirty="0" smtClean="0">
                <a:latin typeface="+mn-ea"/>
              </a:rPr>
              <a:t> ②</a:t>
            </a:r>
            <a:r>
              <a:rPr lang="en-US" altLang="zh-CN" sz="1100" b="1" dirty="0" smtClean="0">
                <a:latin typeface="+mn-ea"/>
              </a:rPr>
              <a:t>b</a:t>
            </a:r>
            <a:r>
              <a:rPr lang="zh-CN" altLang="en-US" sz="1100" b="1" dirty="0" smtClean="0">
                <a:latin typeface="+mn-ea"/>
              </a:rPr>
              <a:t>与</a:t>
            </a:r>
            <a:r>
              <a:rPr lang="en-US" altLang="zh-CN" sz="1100" b="1" dirty="0" smtClean="0">
                <a:latin typeface="+mn-ea"/>
              </a:rPr>
              <a:t>c</a:t>
            </a:r>
            <a:r>
              <a:rPr lang="zh-CN" altLang="en-US" sz="1100" b="1" dirty="0" smtClean="0">
                <a:latin typeface="+mn-ea"/>
              </a:rPr>
              <a:t>的</a:t>
            </a:r>
            <a:r>
              <a:rPr lang="zh-CN" altLang="en-US" sz="1100" b="1" dirty="0">
                <a:latin typeface="+mn-ea"/>
              </a:rPr>
              <a:t>关系</a:t>
            </a:r>
            <a:endParaRPr lang="en-US" altLang="zh-CN" sz="1100" b="1" dirty="0" smtClean="0">
              <a:latin typeface="+mn-ea"/>
            </a:endParaRPr>
          </a:p>
        </p:txBody>
      </p:sp>
      <p:sp>
        <p:nvSpPr>
          <p:cNvPr id="354" name="Text Box 61"/>
          <p:cNvSpPr txBox="1">
            <a:spLocks noChangeArrowheads="1"/>
          </p:cNvSpPr>
          <p:nvPr/>
        </p:nvSpPr>
        <p:spPr bwMode="auto">
          <a:xfrm>
            <a:off x="539552" y="4375338"/>
            <a:ext cx="2196233" cy="1080598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r>
              <a:rPr lang="en-US" altLang="zh-CN" sz="1100" b="1" dirty="0" smtClean="0">
                <a:solidFill>
                  <a:srgbClr val="990099"/>
                </a:solidFill>
                <a:latin typeface="+mn-ea"/>
              </a:rPr>
              <a:t>CPU</a:t>
            </a:r>
            <a:r>
              <a:rPr lang="zh-CN" altLang="en-US" sz="1100" b="1" dirty="0" smtClean="0">
                <a:solidFill>
                  <a:srgbClr val="990099"/>
                </a:solidFill>
                <a:latin typeface="+mn-ea"/>
              </a:rPr>
              <a:t>组织</a:t>
            </a:r>
            <a:r>
              <a:rPr lang="zh-CN" altLang="en-US" sz="1100" b="1" dirty="0" smtClean="0">
                <a:solidFill>
                  <a:srgbClr val="990099"/>
                </a:solidFill>
                <a:latin typeface="+mn-ea"/>
              </a:rPr>
              <a:t>：</a:t>
            </a:r>
            <a:endParaRPr lang="en-US" altLang="zh-CN" sz="1100" b="1" dirty="0" smtClean="0">
              <a:solidFill>
                <a:srgbClr val="990099"/>
              </a:solidFill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smtClean="0">
                <a:latin typeface="+mn-ea"/>
              </a:rPr>
              <a:t> </a:t>
            </a:r>
            <a:r>
              <a:rPr lang="zh-CN" altLang="en-US" sz="1100" b="1" dirty="0" smtClean="0">
                <a:latin typeface="+mn-ea"/>
              </a:rPr>
              <a:t>①</a:t>
            </a:r>
            <a:r>
              <a:rPr lang="zh-CN" altLang="en-US" sz="1100" b="1" dirty="0" smtClean="0">
                <a:latin typeface="+mn-ea"/>
              </a:rPr>
              <a:t>工作流程与</a:t>
            </a:r>
            <a:r>
              <a:rPr lang="en-US" altLang="zh-CN" sz="1100" b="1" dirty="0" smtClean="0">
                <a:latin typeface="+mn-ea"/>
              </a:rPr>
              <a:t>ISA</a:t>
            </a:r>
            <a:r>
              <a:rPr lang="zh-CN" altLang="en-US" sz="1100" b="1" dirty="0" smtClean="0">
                <a:latin typeface="+mn-ea"/>
              </a:rPr>
              <a:t>、</a:t>
            </a:r>
            <a:r>
              <a:rPr lang="en-US" altLang="zh-CN" sz="1100" b="1" dirty="0" smtClean="0">
                <a:latin typeface="+mn-ea"/>
              </a:rPr>
              <a:t>DP/CU</a:t>
            </a:r>
            <a:r>
              <a:rPr lang="zh-CN" altLang="en-US" sz="1100" b="1" dirty="0" smtClean="0">
                <a:latin typeface="+mn-ea"/>
              </a:rPr>
              <a:t>的关系</a:t>
            </a:r>
            <a:endParaRPr lang="en-US" altLang="zh-CN" sz="1100" b="1" dirty="0" smtClean="0">
              <a:latin typeface="+mn-ea"/>
            </a:endParaRPr>
          </a:p>
          <a:p>
            <a:r>
              <a:rPr lang="zh-CN" altLang="en-US" sz="1100" b="1" dirty="0" smtClean="0">
                <a:latin typeface="+mn-ea"/>
              </a:rPr>
              <a:t>  </a:t>
            </a:r>
            <a:r>
              <a:rPr lang="zh-CN" altLang="en-US" sz="1100" b="1" dirty="0" smtClean="0">
                <a:latin typeface="+mn-ea"/>
              </a:rPr>
              <a:t>②</a:t>
            </a:r>
            <a:r>
              <a:rPr lang="en-US" altLang="zh-CN" sz="1100" b="1" dirty="0" smtClean="0">
                <a:latin typeface="+mn-ea"/>
              </a:rPr>
              <a:t>DP</a:t>
            </a:r>
            <a:r>
              <a:rPr lang="zh-CN" altLang="en-US" sz="1100" b="1" dirty="0" smtClean="0">
                <a:latin typeface="+mn-ea"/>
              </a:rPr>
              <a:t>部件</a:t>
            </a:r>
            <a:r>
              <a:rPr lang="en-US" altLang="zh-CN" sz="1100" b="1" dirty="0" smtClean="0">
                <a:latin typeface="+mn-ea"/>
              </a:rPr>
              <a:t>/</a:t>
            </a:r>
            <a:r>
              <a:rPr lang="zh-CN" altLang="en-US" sz="1100" b="1" dirty="0" smtClean="0">
                <a:latin typeface="+mn-ea"/>
              </a:rPr>
              <a:t>互连与</a:t>
            </a:r>
            <a:r>
              <a:rPr lang="en-US" altLang="zh-CN" sz="1100" b="1" dirty="0" smtClean="0">
                <a:latin typeface="+mn-ea"/>
              </a:rPr>
              <a:t>ISA</a:t>
            </a:r>
            <a:r>
              <a:rPr lang="zh-CN" altLang="en-US" sz="1100" b="1" dirty="0" smtClean="0">
                <a:latin typeface="+mn-ea"/>
              </a:rPr>
              <a:t>的</a:t>
            </a:r>
            <a:r>
              <a:rPr lang="zh-CN" altLang="en-US" sz="1100" b="1" dirty="0" smtClean="0">
                <a:latin typeface="+mn-ea"/>
              </a:rPr>
              <a:t>关系</a:t>
            </a:r>
            <a:endParaRPr lang="en-US" altLang="zh-CN" sz="1100" b="1" dirty="0" smtClean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smtClean="0">
                <a:latin typeface="+mn-ea"/>
              </a:rPr>
              <a:t> </a:t>
            </a:r>
            <a:r>
              <a:rPr lang="zh-CN" altLang="en-US" sz="1100" b="1" dirty="0" smtClean="0">
                <a:latin typeface="+mn-ea"/>
              </a:rPr>
              <a:t>③指令周期与</a:t>
            </a:r>
            <a:r>
              <a:rPr lang="en-US" altLang="zh-CN" sz="1100" b="1" dirty="0" smtClean="0">
                <a:latin typeface="+mn-ea"/>
              </a:rPr>
              <a:t>DP</a:t>
            </a:r>
            <a:r>
              <a:rPr lang="zh-CN" altLang="en-US" sz="1100" b="1" dirty="0" smtClean="0">
                <a:latin typeface="+mn-ea"/>
              </a:rPr>
              <a:t>的关系</a:t>
            </a:r>
            <a:endParaRPr lang="en-US" altLang="zh-CN" sz="1100" b="1" dirty="0" smtClean="0">
              <a:latin typeface="+mn-ea"/>
            </a:endParaRPr>
          </a:p>
          <a:p>
            <a:r>
              <a:rPr lang="zh-CN" altLang="en-US" sz="1100" b="1" dirty="0" smtClean="0">
                <a:latin typeface="+mn-ea"/>
              </a:rPr>
              <a:t>  ④</a:t>
            </a:r>
            <a:r>
              <a:rPr lang="en-US" altLang="zh-CN" sz="1100" b="1" dirty="0">
                <a:latin typeface="+mn-ea"/>
              </a:rPr>
              <a:t>CU</a:t>
            </a:r>
            <a:r>
              <a:rPr lang="zh-CN" altLang="en-US" sz="1100" b="1" dirty="0">
                <a:latin typeface="+mn-ea"/>
              </a:rPr>
              <a:t>与</a:t>
            </a:r>
            <a:r>
              <a:rPr lang="en-US" altLang="zh-CN" sz="1100" b="1" dirty="0">
                <a:latin typeface="+mn-ea"/>
              </a:rPr>
              <a:t>DP</a:t>
            </a:r>
            <a:r>
              <a:rPr lang="zh-CN" altLang="en-US" sz="1100" b="1" dirty="0">
                <a:latin typeface="+mn-ea"/>
              </a:rPr>
              <a:t>、性能指标的关系</a:t>
            </a:r>
            <a:endParaRPr lang="en-US" altLang="zh-CN" sz="1100" b="1" dirty="0" smtClean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 smtClean="0">
                <a:latin typeface="+mn-ea"/>
              </a:rPr>
              <a:t> </a:t>
            </a:r>
            <a:r>
              <a:rPr lang="zh-CN" altLang="en-US" sz="1100" b="1" dirty="0">
                <a:latin typeface="+mn-ea"/>
              </a:rPr>
              <a:t>⑤事件响应与软</a:t>
            </a:r>
            <a:r>
              <a:rPr lang="en-US" altLang="zh-CN" sz="1100" b="1" dirty="0">
                <a:latin typeface="+mn-ea"/>
              </a:rPr>
              <a:t>/</a:t>
            </a:r>
            <a:r>
              <a:rPr lang="zh-CN" altLang="en-US" sz="1100" b="1" dirty="0">
                <a:latin typeface="+mn-ea"/>
              </a:rPr>
              <a:t>硬件的关系</a:t>
            </a:r>
            <a:endParaRPr lang="en-US" altLang="zh-CN" sz="1100" b="1" dirty="0">
              <a:latin typeface="+mn-ea"/>
            </a:endParaRPr>
          </a:p>
        </p:txBody>
      </p:sp>
      <p:grpSp>
        <p:nvGrpSpPr>
          <p:cNvPr id="355" name="组合 354"/>
          <p:cNvGrpSpPr/>
          <p:nvPr/>
        </p:nvGrpSpPr>
        <p:grpSpPr>
          <a:xfrm>
            <a:off x="3563752" y="2215576"/>
            <a:ext cx="3456320" cy="288925"/>
            <a:chOff x="3347728" y="1844824"/>
            <a:chExt cx="3456320" cy="288925"/>
          </a:xfrm>
        </p:grpSpPr>
        <p:sp>
          <p:nvSpPr>
            <p:cNvPr id="356" name="Text Box 18"/>
            <p:cNvSpPr txBox="1">
              <a:spLocks noChangeArrowheads="1"/>
            </p:cNvSpPr>
            <p:nvPr/>
          </p:nvSpPr>
          <p:spPr bwMode="auto">
            <a:xfrm>
              <a:off x="5004048" y="1844824"/>
              <a:ext cx="180000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200" b="1" dirty="0" smtClean="0">
                  <a:latin typeface="+mn-ea"/>
                  <a:ea typeface="+mn-ea"/>
                </a:rPr>
                <a:t>软件</a:t>
              </a:r>
              <a:r>
                <a:rPr lang="en-US" altLang="zh-CN" sz="1200" b="1" dirty="0" smtClean="0">
                  <a:latin typeface="+mn-ea"/>
                  <a:ea typeface="+mn-ea"/>
                </a:rPr>
                <a:t>(</a:t>
              </a:r>
              <a:r>
                <a:rPr lang="zh-CN" altLang="en-US" sz="1200" b="1" dirty="0" smtClean="0">
                  <a:latin typeface="+mn-ea"/>
                  <a:ea typeface="+mn-ea"/>
                </a:rPr>
                <a:t>按逻辑地址访存</a:t>
              </a:r>
              <a:r>
                <a:rPr lang="en-US" altLang="zh-CN" sz="1200" b="1" dirty="0" smtClean="0">
                  <a:latin typeface="+mn-ea"/>
                  <a:ea typeface="+mn-ea"/>
                </a:rPr>
                <a:t>)</a:t>
              </a:r>
              <a:endParaRPr lang="zh-CN" altLang="en-US" sz="1200" b="1" dirty="0">
                <a:latin typeface="+mn-ea"/>
                <a:ea typeface="+mn-ea"/>
              </a:endParaRPr>
            </a:p>
          </p:txBody>
        </p:sp>
        <p:cxnSp>
          <p:nvCxnSpPr>
            <p:cNvPr id="357" name="直接箭头连接符 356"/>
            <p:cNvCxnSpPr/>
            <p:nvPr/>
          </p:nvCxnSpPr>
          <p:spPr bwMode="auto">
            <a:xfrm>
              <a:off x="3347728" y="1988856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8" name="直接箭头连接符 357"/>
            <p:cNvCxnSpPr/>
            <p:nvPr/>
          </p:nvCxnSpPr>
          <p:spPr bwMode="auto">
            <a:xfrm flipH="1" flipV="1">
              <a:off x="3348056" y="1988840"/>
              <a:ext cx="165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9937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1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88" grpId="0"/>
      <p:bldP spid="353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5344</Words>
  <Application>Microsoft Office PowerPoint</Application>
  <PresentationFormat>全屏显示(4:3)</PresentationFormat>
  <Paragraphs>826</Paragraphs>
  <Slides>30</Slides>
  <Notes>6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1" baseType="lpstr"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741</cp:revision>
</cp:coreProperties>
</file>