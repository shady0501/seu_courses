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8" r:id="rId3"/>
    <p:sldId id="1064" r:id="rId5"/>
    <p:sldId id="922" r:id="rId6"/>
    <p:sldId id="790" r:id="rId7"/>
    <p:sldId id="923" r:id="rId8"/>
    <p:sldId id="521" r:id="rId9"/>
    <p:sldId id="570" r:id="rId10"/>
    <p:sldId id="736" r:id="rId11"/>
    <p:sldId id="813" r:id="rId12"/>
    <p:sldId id="976" r:id="rId13"/>
    <p:sldId id="977" r:id="rId14"/>
    <p:sldId id="979" r:id="rId15"/>
    <p:sldId id="980" r:id="rId16"/>
    <p:sldId id="981" r:id="rId17"/>
    <p:sldId id="982" r:id="rId18"/>
    <p:sldId id="983" r:id="rId19"/>
    <p:sldId id="738" r:id="rId20"/>
    <p:sldId id="984" r:id="rId21"/>
    <p:sldId id="752" r:id="rId22"/>
    <p:sldId id="1033" r:id="rId23"/>
    <p:sldId id="775" r:id="rId24"/>
    <p:sldId id="824" r:id="rId25"/>
    <p:sldId id="832" r:id="rId26"/>
    <p:sldId id="833" r:id="rId27"/>
    <p:sldId id="834" r:id="rId28"/>
    <p:sldId id="835" r:id="rId29"/>
    <p:sldId id="828" r:id="rId30"/>
    <p:sldId id="829" r:id="rId31"/>
    <p:sldId id="1034" r:id="rId32"/>
    <p:sldId id="836" r:id="rId33"/>
    <p:sldId id="842" r:id="rId34"/>
    <p:sldId id="843" r:id="rId35"/>
    <p:sldId id="846" r:id="rId36"/>
    <p:sldId id="1038" r:id="rId37"/>
    <p:sldId id="847" r:id="rId38"/>
    <p:sldId id="1040" r:id="rId39"/>
    <p:sldId id="848" r:id="rId40"/>
    <p:sldId id="1065" r:id="rId41"/>
    <p:sldId id="1041" r:id="rId42"/>
    <p:sldId id="1042" r:id="rId43"/>
    <p:sldId id="849" r:id="rId44"/>
    <p:sldId id="1066" r:id="rId45"/>
    <p:sldId id="1067" r:id="rId46"/>
    <p:sldId id="1069" r:id="rId47"/>
  </p:sldIdLst>
  <p:sldSz cx="9144000" cy="6858000" type="screen4x3"/>
  <p:notesSz cx="6858000" cy="9144000"/>
  <p:custDataLst>
    <p:tags r:id="rId5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5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FF3399"/>
    <a:srgbClr val="FFCC99"/>
    <a:srgbClr val="FFCCFF"/>
    <a:srgbClr val="CCFFFF"/>
    <a:srgbClr val="CCECFF"/>
    <a:srgbClr val="CCCCFF"/>
    <a:srgbClr val="99CCFF"/>
    <a:srgbClr val="CC99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25" autoAdjust="0"/>
    <p:restoredTop sz="93631" autoAdjust="0"/>
  </p:normalViewPr>
  <p:slideViewPr>
    <p:cSldViewPr showGuides="1">
      <p:cViewPr>
        <p:scale>
          <a:sx n="70" d="100"/>
          <a:sy n="70" d="100"/>
        </p:scale>
        <p:origin x="-754" y="-178"/>
      </p:cViewPr>
      <p:guideLst>
        <p:guide orient="horz" pos="2205"/>
        <p:guide pos="25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gs" Target="tags/tag886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handoutMaster" Target="handoutMasters/handoutMaster1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91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91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B9C60E3C-46FB-46DC-BD8E-DECE327E31D9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064FB4F7-8A2D-4878-9281-C3C2BF0373C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学时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思考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②：程序具有局部性（很快会再访问），设置可以避免经常访问存储器，提高速度（存储器慢）；同机器字长（看硬件组成图），</a:t>
            </a:r>
            <a:r>
              <a:rPr lang="zh-CN" altLang="en-US">
                <a:sym typeface="+mn-ea"/>
              </a:rPr>
              <a:t>思考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④：存储器（</a:t>
            </a:r>
            <a:r>
              <a:rPr lang="zh-CN" altLang="en-US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存储程序工作方式所规定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思考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⑤：没有复用加法器的与、或、异或门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思考②：</a:t>
            </a:r>
            <a:r>
              <a:rPr lang="zh-CN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状态寄存器，供后续指令使用</a:t>
            </a:r>
            <a:r>
              <a:rPr lang="en-US" altLang="zh-CN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使用者</a:t>
            </a:r>
            <a:r>
              <a:rPr lang="en-US" altLang="zh-CN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CU)</a:t>
            </a:r>
            <a:endParaRPr lang="zh-CN" altLang="en-US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思考：调整结构元素次序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思考①：不会，不利于缩短地址码长度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思考：采用定长指令字结构时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思考：地址参数是</a:t>
            </a:r>
            <a:r>
              <a:rPr lang="en-US" altLang="zh-CN"/>
              <a:t>OPD</a:t>
            </a:r>
            <a:r>
              <a:rPr lang="zh-CN" altLang="en-US"/>
              <a:t>还是</a:t>
            </a:r>
            <a:r>
              <a:rPr lang="en-US" altLang="zh-CN"/>
              <a:t>OPD</a:t>
            </a:r>
            <a:r>
              <a:rPr lang="zh-CN" altLang="en-US"/>
              <a:t>的</a:t>
            </a:r>
            <a:r>
              <a:rPr lang="en-US" altLang="zh-CN"/>
              <a:t>EA</a:t>
            </a:r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indent="0" algn="l" eaLnBrk="1" latinLnBrk="0" hangingPunct="1">
              <a:lnSpc>
                <a:spcPct val="90000"/>
              </a:lnSpc>
            </a:pPr>
            <a:r>
              <a:rPr lang="zh-CN" altLang="en-US"/>
              <a:t>思考：变址</a:t>
            </a:r>
            <a:r>
              <a:rPr lang="en-US" altLang="zh-CN"/>
              <a:t>REG</a:t>
            </a:r>
            <a:r>
              <a:rPr lang="zh-CN" altLang="en-US"/>
              <a:t>自动</a:t>
            </a:r>
            <a:r>
              <a:rPr lang="en-US" altLang="zh-CN"/>
              <a:t>+1</a:t>
            </a:r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 smtClean="0">
                <a:sym typeface="+mn-ea"/>
              </a:rPr>
              <a:t>P23-</a:t>
            </a:r>
            <a:r>
              <a:rPr lang="zh-CN" altLang="en-US" dirty="0" smtClean="0">
                <a:sym typeface="+mn-ea"/>
              </a:rPr>
              <a:t>看指令寻址取指时</a:t>
            </a:r>
            <a:r>
              <a:rPr lang="en-US" altLang="zh-CN" dirty="0" smtClean="0">
                <a:sym typeface="+mn-ea"/>
              </a:rPr>
              <a:t>+1</a:t>
            </a:r>
            <a:endParaRPr lang="en-US" altLang="zh-CN" dirty="0" smtClean="0"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P26-</a:t>
            </a:r>
            <a:r>
              <a:rPr lang="zh-CN" altLang="en-US"/>
              <a:t>看基址</a:t>
            </a:r>
            <a:r>
              <a:rPr lang="en-US" altLang="zh-CN"/>
              <a:t>/</a:t>
            </a:r>
            <a:r>
              <a:rPr lang="zh-CN" altLang="en-US"/>
              <a:t>变址寻址，</a:t>
            </a:r>
            <a:r>
              <a:rPr lang="en-US" altLang="zh-CN"/>
              <a:t> P27-</a:t>
            </a:r>
            <a:r>
              <a:rPr lang="zh-CN" altLang="en-US"/>
              <a:t>看相对寻址</a:t>
            </a:r>
            <a:r>
              <a:rPr lang="en-US" altLang="zh-CN"/>
              <a:t>disp</a:t>
            </a:r>
            <a:r>
              <a:rPr lang="zh-CN" altLang="en-US"/>
              <a:t>位有符号数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 smtClean="0">
                <a:sym typeface="+mn-ea"/>
              </a:rPr>
              <a:t>P23-</a:t>
            </a:r>
            <a:r>
              <a:rPr lang="zh-CN" altLang="en-US" dirty="0" smtClean="0">
                <a:sym typeface="+mn-ea"/>
              </a:rPr>
              <a:t>看指令的寻址方式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</a:t>
            </a:r>
            <a:r>
              <a:rPr lang="zh-CN" altLang="en-US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理由：直接寻址的地址为</a:t>
            </a:r>
            <a:r>
              <a:rPr lang="en-US" altLang="zh-CN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位，</a:t>
            </a:r>
            <a:r>
              <a:rPr lang="en-US" altLang="zh-CN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GPR</a:t>
            </a:r>
            <a:r>
              <a:rPr lang="zh-CN" altLang="en-US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的长度为</a:t>
            </a:r>
            <a:r>
              <a:rPr lang="en-US" altLang="zh-CN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位，</a:t>
            </a:r>
            <a:r>
              <a:rPr lang="en-US" altLang="zh-CN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</a:t>
            </a:r>
            <a:r>
              <a:rPr lang="zh-CN" altLang="en-US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长度、机器字长为</a:t>
            </a:r>
            <a:r>
              <a:rPr lang="en-US" altLang="zh-CN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位。指令寻址指明</a:t>
            </a:r>
            <a:r>
              <a:rPr lang="en-US" altLang="zh-CN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en-US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变址单位为</a:t>
            </a:r>
            <a:r>
              <a:rPr lang="en-US" altLang="zh-CN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位。</a:t>
            </a:r>
            <a:endParaRPr lang="zh-CN" altLang="en-US" spc="-100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 smtClean="0">
                <a:sym typeface="+mn-ea"/>
              </a:rPr>
              <a:t>P36</a:t>
            </a:r>
            <a:r>
              <a:rPr lang="zh-CN" altLang="en-US" dirty="0" smtClean="0">
                <a:sym typeface="+mn-ea"/>
              </a:rPr>
              <a:t>、上页</a:t>
            </a:r>
            <a:r>
              <a:rPr lang="en-US" altLang="zh-CN" dirty="0" smtClean="0">
                <a:sym typeface="+mn-ea"/>
              </a:rPr>
              <a:t>-</a:t>
            </a:r>
            <a:r>
              <a:rPr lang="zh-CN" altLang="en-US" dirty="0" smtClean="0">
                <a:sym typeface="+mn-ea"/>
              </a:rPr>
              <a:t>看指令字格式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31B15-8AAE-400E-8B54-4B0535C6637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781408-89F6-4C5E-85F1-A62B1622164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38BAFD-D46A-4D98-B56B-A2E4045AF5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C8CD47-3CD7-456E-8447-171C2A0CD20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0AEF4E-52FA-41DE-B29C-0FAB10F79B5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660C4A-9F48-48BC-AC32-C625B5058F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6" name="灯片编号占位符 3"/>
          <p:cNvSpPr txBox="1"/>
          <p:nvPr userDrawn="1"/>
        </p:nvSpPr>
        <p:spPr bwMode="auto">
          <a:xfrm>
            <a:off x="2704" y="6453336"/>
            <a:ext cx="1184920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4B0925-ED3B-4093-8760-25E736EA3E4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8EA6A-C686-4D06-B2CF-B75658A6F9C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3F9708-0814-4B5F-8625-E1D4ECA0891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A93B77-EF59-460C-BD4F-964341D8BB3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13225536-7DD7-4159-B7E6-5CC8C732343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slide" Target="slide33.xml"/><Relationship Id="rId7" Type="http://schemas.openxmlformats.org/officeDocument/2006/relationships/tags" Target="../tags/tag5.xml"/><Relationship Id="rId6" Type="http://schemas.openxmlformats.org/officeDocument/2006/relationships/slide" Target="slide22.xml"/><Relationship Id="rId5" Type="http://schemas.openxmlformats.org/officeDocument/2006/relationships/tags" Target="../tags/tag4.xml"/><Relationship Id="rId4" Type="http://schemas.openxmlformats.org/officeDocument/2006/relationships/slide" Target="slide18.xml"/><Relationship Id="rId3" Type="http://schemas.openxmlformats.org/officeDocument/2006/relationships/tags" Target="../tags/tag3.xml"/><Relationship Id="rId2" Type="http://schemas.openxmlformats.org/officeDocument/2006/relationships/slide" Target="slide3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slide" Target="slide4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6" Type="http://schemas.openxmlformats.org/officeDocument/2006/relationships/slideLayout" Target="../slideLayouts/slideLayout7.xml"/><Relationship Id="rId75" Type="http://schemas.openxmlformats.org/officeDocument/2006/relationships/tags" Target="../tags/tag81.xml"/><Relationship Id="rId74" Type="http://schemas.openxmlformats.org/officeDocument/2006/relationships/slide" Target="slide8.xml"/><Relationship Id="rId73" Type="http://schemas.openxmlformats.org/officeDocument/2006/relationships/tags" Target="../tags/tag80.xml"/><Relationship Id="rId72" Type="http://schemas.openxmlformats.org/officeDocument/2006/relationships/slide" Target="slide5.xml"/><Relationship Id="rId71" Type="http://schemas.openxmlformats.org/officeDocument/2006/relationships/tags" Target="../tags/tag79.xml"/><Relationship Id="rId70" Type="http://schemas.openxmlformats.org/officeDocument/2006/relationships/tags" Target="../tags/tag78.xml"/><Relationship Id="rId7" Type="http://schemas.openxmlformats.org/officeDocument/2006/relationships/tags" Target="../tags/tag15.xml"/><Relationship Id="rId69" Type="http://schemas.openxmlformats.org/officeDocument/2006/relationships/tags" Target="../tags/tag77.xml"/><Relationship Id="rId68" Type="http://schemas.openxmlformats.org/officeDocument/2006/relationships/tags" Target="../tags/tag76.xml"/><Relationship Id="rId67" Type="http://schemas.openxmlformats.org/officeDocument/2006/relationships/tags" Target="../tags/tag75.xml"/><Relationship Id="rId66" Type="http://schemas.openxmlformats.org/officeDocument/2006/relationships/tags" Target="../tags/tag74.xml"/><Relationship Id="rId65" Type="http://schemas.openxmlformats.org/officeDocument/2006/relationships/tags" Target="../tags/tag73.xml"/><Relationship Id="rId64" Type="http://schemas.openxmlformats.org/officeDocument/2006/relationships/tags" Target="../tags/tag72.xml"/><Relationship Id="rId63" Type="http://schemas.openxmlformats.org/officeDocument/2006/relationships/tags" Target="../tags/tag71.xml"/><Relationship Id="rId62" Type="http://schemas.openxmlformats.org/officeDocument/2006/relationships/tags" Target="../tags/tag70.xml"/><Relationship Id="rId61" Type="http://schemas.openxmlformats.org/officeDocument/2006/relationships/tags" Target="../tags/tag69.xml"/><Relationship Id="rId60" Type="http://schemas.openxmlformats.org/officeDocument/2006/relationships/tags" Target="../tags/tag68.xml"/><Relationship Id="rId6" Type="http://schemas.openxmlformats.org/officeDocument/2006/relationships/tags" Target="../tags/tag14.xml"/><Relationship Id="rId59" Type="http://schemas.openxmlformats.org/officeDocument/2006/relationships/tags" Target="../tags/tag67.xml"/><Relationship Id="rId58" Type="http://schemas.openxmlformats.org/officeDocument/2006/relationships/tags" Target="../tags/tag66.xml"/><Relationship Id="rId57" Type="http://schemas.openxmlformats.org/officeDocument/2006/relationships/tags" Target="../tags/tag65.xml"/><Relationship Id="rId56" Type="http://schemas.openxmlformats.org/officeDocument/2006/relationships/tags" Target="../tags/tag64.xml"/><Relationship Id="rId55" Type="http://schemas.openxmlformats.org/officeDocument/2006/relationships/tags" Target="../tags/tag63.xml"/><Relationship Id="rId54" Type="http://schemas.openxmlformats.org/officeDocument/2006/relationships/tags" Target="../tags/tag62.xml"/><Relationship Id="rId53" Type="http://schemas.openxmlformats.org/officeDocument/2006/relationships/tags" Target="../tags/tag61.xml"/><Relationship Id="rId52" Type="http://schemas.openxmlformats.org/officeDocument/2006/relationships/tags" Target="../tags/tag60.xml"/><Relationship Id="rId51" Type="http://schemas.openxmlformats.org/officeDocument/2006/relationships/tags" Target="../tags/tag59.xml"/><Relationship Id="rId50" Type="http://schemas.openxmlformats.org/officeDocument/2006/relationships/tags" Target="../tags/tag58.xml"/><Relationship Id="rId5" Type="http://schemas.openxmlformats.org/officeDocument/2006/relationships/tags" Target="../tags/tag13.xml"/><Relationship Id="rId49" Type="http://schemas.openxmlformats.org/officeDocument/2006/relationships/tags" Target="../tags/tag57.xml"/><Relationship Id="rId48" Type="http://schemas.openxmlformats.org/officeDocument/2006/relationships/tags" Target="../tags/tag56.xml"/><Relationship Id="rId47" Type="http://schemas.openxmlformats.org/officeDocument/2006/relationships/tags" Target="../tags/tag55.xml"/><Relationship Id="rId46" Type="http://schemas.openxmlformats.org/officeDocument/2006/relationships/tags" Target="../tags/tag54.xml"/><Relationship Id="rId45" Type="http://schemas.openxmlformats.org/officeDocument/2006/relationships/tags" Target="../tags/tag53.xml"/><Relationship Id="rId44" Type="http://schemas.openxmlformats.org/officeDocument/2006/relationships/tags" Target="../tags/tag52.xml"/><Relationship Id="rId43" Type="http://schemas.openxmlformats.org/officeDocument/2006/relationships/tags" Target="../tags/tag51.xml"/><Relationship Id="rId42" Type="http://schemas.openxmlformats.org/officeDocument/2006/relationships/tags" Target="../tags/tag50.xml"/><Relationship Id="rId41" Type="http://schemas.openxmlformats.org/officeDocument/2006/relationships/tags" Target="../tags/tag49.xml"/><Relationship Id="rId40" Type="http://schemas.openxmlformats.org/officeDocument/2006/relationships/tags" Target="../tags/tag48.xml"/><Relationship Id="rId4" Type="http://schemas.openxmlformats.org/officeDocument/2006/relationships/tags" Target="../tags/tag12.xml"/><Relationship Id="rId39" Type="http://schemas.openxmlformats.org/officeDocument/2006/relationships/tags" Target="../tags/tag47.xml"/><Relationship Id="rId38" Type="http://schemas.openxmlformats.org/officeDocument/2006/relationships/tags" Target="../tags/tag46.xml"/><Relationship Id="rId37" Type="http://schemas.openxmlformats.org/officeDocument/2006/relationships/tags" Target="../tags/tag45.xml"/><Relationship Id="rId36" Type="http://schemas.openxmlformats.org/officeDocument/2006/relationships/tags" Target="../tags/tag44.xml"/><Relationship Id="rId35" Type="http://schemas.openxmlformats.org/officeDocument/2006/relationships/tags" Target="../tags/tag43.xml"/><Relationship Id="rId34" Type="http://schemas.openxmlformats.org/officeDocument/2006/relationships/tags" Target="../tags/tag42.xml"/><Relationship Id="rId33" Type="http://schemas.openxmlformats.org/officeDocument/2006/relationships/tags" Target="../tags/tag41.xml"/><Relationship Id="rId32" Type="http://schemas.openxmlformats.org/officeDocument/2006/relationships/tags" Target="../tags/tag40.xml"/><Relationship Id="rId31" Type="http://schemas.openxmlformats.org/officeDocument/2006/relationships/tags" Target="../tags/tag39.xml"/><Relationship Id="rId30" Type="http://schemas.openxmlformats.org/officeDocument/2006/relationships/tags" Target="../tags/tag38.xml"/><Relationship Id="rId3" Type="http://schemas.openxmlformats.org/officeDocument/2006/relationships/tags" Target="../tags/tag11.xml"/><Relationship Id="rId29" Type="http://schemas.openxmlformats.org/officeDocument/2006/relationships/tags" Target="../tags/tag37.xml"/><Relationship Id="rId28" Type="http://schemas.openxmlformats.org/officeDocument/2006/relationships/tags" Target="../tags/tag36.xml"/><Relationship Id="rId27" Type="http://schemas.openxmlformats.org/officeDocument/2006/relationships/tags" Target="../tags/tag35.xml"/><Relationship Id="rId26" Type="http://schemas.openxmlformats.org/officeDocument/2006/relationships/tags" Target="../tags/tag34.xml"/><Relationship Id="rId25" Type="http://schemas.openxmlformats.org/officeDocument/2006/relationships/tags" Target="../tags/tag33.xml"/><Relationship Id="rId24" Type="http://schemas.openxmlformats.org/officeDocument/2006/relationships/tags" Target="../tags/tag32.xml"/><Relationship Id="rId23" Type="http://schemas.openxmlformats.org/officeDocument/2006/relationships/tags" Target="../tags/tag31.xml"/><Relationship Id="rId22" Type="http://schemas.openxmlformats.org/officeDocument/2006/relationships/tags" Target="../tags/tag30.xml"/><Relationship Id="rId21" Type="http://schemas.openxmlformats.org/officeDocument/2006/relationships/tags" Target="../tags/tag29.xml"/><Relationship Id="rId20" Type="http://schemas.openxmlformats.org/officeDocument/2006/relationships/tags" Target="../tags/tag28.xml"/><Relationship Id="rId2" Type="http://schemas.openxmlformats.org/officeDocument/2006/relationships/tags" Target="../tags/tag10.xml"/><Relationship Id="rId19" Type="http://schemas.openxmlformats.org/officeDocument/2006/relationships/tags" Target="../tags/tag27.xml"/><Relationship Id="rId18" Type="http://schemas.openxmlformats.org/officeDocument/2006/relationships/tags" Target="../tags/tag26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slide" Target="slide3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7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" Target="slide3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15.xml"/><Relationship Id="rId1" Type="http://schemas.openxmlformats.org/officeDocument/2006/relationships/tags" Target="../tags/tag10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tags" Target="../tags/tag11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8" Type="http://schemas.openxmlformats.org/officeDocument/2006/relationships/slideLayout" Target="../slideLayouts/slideLayout7.xml"/><Relationship Id="rId47" Type="http://schemas.openxmlformats.org/officeDocument/2006/relationships/tags" Target="../tags/tag176.xml"/><Relationship Id="rId46" Type="http://schemas.openxmlformats.org/officeDocument/2006/relationships/tags" Target="../tags/tag175.xml"/><Relationship Id="rId45" Type="http://schemas.openxmlformats.org/officeDocument/2006/relationships/tags" Target="../tags/tag174.xml"/><Relationship Id="rId44" Type="http://schemas.openxmlformats.org/officeDocument/2006/relationships/tags" Target="../tags/tag173.xml"/><Relationship Id="rId43" Type="http://schemas.openxmlformats.org/officeDocument/2006/relationships/tags" Target="../tags/tag172.xml"/><Relationship Id="rId42" Type="http://schemas.openxmlformats.org/officeDocument/2006/relationships/tags" Target="../tags/tag171.xml"/><Relationship Id="rId41" Type="http://schemas.openxmlformats.org/officeDocument/2006/relationships/tags" Target="../tags/tag170.xml"/><Relationship Id="rId40" Type="http://schemas.openxmlformats.org/officeDocument/2006/relationships/tags" Target="../tags/tag169.xml"/><Relationship Id="rId4" Type="http://schemas.openxmlformats.org/officeDocument/2006/relationships/tags" Target="../tags/tag133.xml"/><Relationship Id="rId39" Type="http://schemas.openxmlformats.org/officeDocument/2006/relationships/tags" Target="../tags/tag168.xml"/><Relationship Id="rId38" Type="http://schemas.openxmlformats.org/officeDocument/2006/relationships/tags" Target="../tags/tag167.xml"/><Relationship Id="rId37" Type="http://schemas.openxmlformats.org/officeDocument/2006/relationships/tags" Target="../tags/tag166.xml"/><Relationship Id="rId36" Type="http://schemas.openxmlformats.org/officeDocument/2006/relationships/tags" Target="../tags/tag165.xml"/><Relationship Id="rId35" Type="http://schemas.openxmlformats.org/officeDocument/2006/relationships/tags" Target="../tags/tag164.xml"/><Relationship Id="rId34" Type="http://schemas.openxmlformats.org/officeDocument/2006/relationships/tags" Target="../tags/tag163.xml"/><Relationship Id="rId33" Type="http://schemas.openxmlformats.org/officeDocument/2006/relationships/tags" Target="../tags/tag162.xml"/><Relationship Id="rId32" Type="http://schemas.openxmlformats.org/officeDocument/2006/relationships/tags" Target="../tags/tag161.xml"/><Relationship Id="rId31" Type="http://schemas.openxmlformats.org/officeDocument/2006/relationships/tags" Target="../tags/tag160.xml"/><Relationship Id="rId30" Type="http://schemas.openxmlformats.org/officeDocument/2006/relationships/tags" Target="../tags/tag159.xml"/><Relationship Id="rId3" Type="http://schemas.openxmlformats.org/officeDocument/2006/relationships/tags" Target="../tags/tag132.xml"/><Relationship Id="rId29" Type="http://schemas.openxmlformats.org/officeDocument/2006/relationships/tags" Target="../tags/tag158.xml"/><Relationship Id="rId28" Type="http://schemas.openxmlformats.org/officeDocument/2006/relationships/tags" Target="../tags/tag157.xml"/><Relationship Id="rId27" Type="http://schemas.openxmlformats.org/officeDocument/2006/relationships/tags" Target="../tags/tag156.xml"/><Relationship Id="rId26" Type="http://schemas.openxmlformats.org/officeDocument/2006/relationships/tags" Target="../tags/tag155.xml"/><Relationship Id="rId25" Type="http://schemas.openxmlformats.org/officeDocument/2006/relationships/tags" Target="../tags/tag154.xml"/><Relationship Id="rId24" Type="http://schemas.openxmlformats.org/officeDocument/2006/relationships/tags" Target="../tags/tag153.xml"/><Relationship Id="rId23" Type="http://schemas.openxmlformats.org/officeDocument/2006/relationships/tags" Target="../tags/tag152.xml"/><Relationship Id="rId22" Type="http://schemas.openxmlformats.org/officeDocument/2006/relationships/tags" Target="../tags/tag151.xml"/><Relationship Id="rId21" Type="http://schemas.openxmlformats.org/officeDocument/2006/relationships/tags" Target="../tags/tag150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tags" Target="../tags/tag17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89.xml"/><Relationship Id="rId8" Type="http://schemas.openxmlformats.org/officeDocument/2006/relationships/tags" Target="../tags/tag188.xml"/><Relationship Id="rId79" Type="http://schemas.openxmlformats.org/officeDocument/2006/relationships/slideLayout" Target="../slideLayouts/slideLayout7.xml"/><Relationship Id="rId78" Type="http://schemas.openxmlformats.org/officeDocument/2006/relationships/tags" Target="../tags/tag258.xml"/><Relationship Id="rId77" Type="http://schemas.openxmlformats.org/officeDocument/2006/relationships/tags" Target="../tags/tag257.xml"/><Relationship Id="rId76" Type="http://schemas.openxmlformats.org/officeDocument/2006/relationships/tags" Target="../tags/tag256.xml"/><Relationship Id="rId75" Type="http://schemas.openxmlformats.org/officeDocument/2006/relationships/tags" Target="../tags/tag255.xml"/><Relationship Id="rId74" Type="http://schemas.openxmlformats.org/officeDocument/2006/relationships/tags" Target="../tags/tag254.xml"/><Relationship Id="rId73" Type="http://schemas.openxmlformats.org/officeDocument/2006/relationships/tags" Target="../tags/tag253.xml"/><Relationship Id="rId72" Type="http://schemas.openxmlformats.org/officeDocument/2006/relationships/tags" Target="../tags/tag252.xml"/><Relationship Id="rId71" Type="http://schemas.openxmlformats.org/officeDocument/2006/relationships/tags" Target="../tags/tag251.xml"/><Relationship Id="rId70" Type="http://schemas.openxmlformats.org/officeDocument/2006/relationships/tags" Target="../tags/tag250.xml"/><Relationship Id="rId7" Type="http://schemas.openxmlformats.org/officeDocument/2006/relationships/tags" Target="../tags/tag187.xml"/><Relationship Id="rId69" Type="http://schemas.openxmlformats.org/officeDocument/2006/relationships/tags" Target="../tags/tag249.xml"/><Relationship Id="rId68" Type="http://schemas.openxmlformats.org/officeDocument/2006/relationships/tags" Target="../tags/tag248.xml"/><Relationship Id="rId67" Type="http://schemas.openxmlformats.org/officeDocument/2006/relationships/tags" Target="../tags/tag247.xml"/><Relationship Id="rId66" Type="http://schemas.openxmlformats.org/officeDocument/2006/relationships/tags" Target="../tags/tag246.xml"/><Relationship Id="rId65" Type="http://schemas.openxmlformats.org/officeDocument/2006/relationships/tags" Target="../tags/tag245.xml"/><Relationship Id="rId64" Type="http://schemas.openxmlformats.org/officeDocument/2006/relationships/tags" Target="../tags/tag244.xml"/><Relationship Id="rId63" Type="http://schemas.openxmlformats.org/officeDocument/2006/relationships/tags" Target="../tags/tag243.xml"/><Relationship Id="rId62" Type="http://schemas.openxmlformats.org/officeDocument/2006/relationships/tags" Target="../tags/tag242.xml"/><Relationship Id="rId61" Type="http://schemas.openxmlformats.org/officeDocument/2006/relationships/tags" Target="../tags/tag241.xml"/><Relationship Id="rId60" Type="http://schemas.openxmlformats.org/officeDocument/2006/relationships/tags" Target="../tags/tag240.xml"/><Relationship Id="rId6" Type="http://schemas.openxmlformats.org/officeDocument/2006/relationships/tags" Target="../tags/tag186.xml"/><Relationship Id="rId59" Type="http://schemas.openxmlformats.org/officeDocument/2006/relationships/tags" Target="../tags/tag239.xml"/><Relationship Id="rId58" Type="http://schemas.openxmlformats.org/officeDocument/2006/relationships/tags" Target="../tags/tag238.xml"/><Relationship Id="rId57" Type="http://schemas.openxmlformats.org/officeDocument/2006/relationships/tags" Target="../tags/tag237.xml"/><Relationship Id="rId56" Type="http://schemas.openxmlformats.org/officeDocument/2006/relationships/tags" Target="../tags/tag236.xml"/><Relationship Id="rId55" Type="http://schemas.openxmlformats.org/officeDocument/2006/relationships/tags" Target="../tags/tag235.xml"/><Relationship Id="rId54" Type="http://schemas.openxmlformats.org/officeDocument/2006/relationships/tags" Target="../tags/tag234.xml"/><Relationship Id="rId53" Type="http://schemas.openxmlformats.org/officeDocument/2006/relationships/tags" Target="../tags/tag233.xml"/><Relationship Id="rId52" Type="http://schemas.openxmlformats.org/officeDocument/2006/relationships/tags" Target="../tags/tag232.xml"/><Relationship Id="rId51" Type="http://schemas.openxmlformats.org/officeDocument/2006/relationships/tags" Target="../tags/tag231.xml"/><Relationship Id="rId50" Type="http://schemas.openxmlformats.org/officeDocument/2006/relationships/tags" Target="../tags/tag230.xml"/><Relationship Id="rId5" Type="http://schemas.openxmlformats.org/officeDocument/2006/relationships/tags" Target="../tags/tag185.xml"/><Relationship Id="rId49" Type="http://schemas.openxmlformats.org/officeDocument/2006/relationships/tags" Target="../tags/tag229.xml"/><Relationship Id="rId48" Type="http://schemas.openxmlformats.org/officeDocument/2006/relationships/tags" Target="../tags/tag228.xml"/><Relationship Id="rId47" Type="http://schemas.openxmlformats.org/officeDocument/2006/relationships/tags" Target="../tags/tag227.xml"/><Relationship Id="rId46" Type="http://schemas.openxmlformats.org/officeDocument/2006/relationships/tags" Target="../tags/tag226.xml"/><Relationship Id="rId45" Type="http://schemas.openxmlformats.org/officeDocument/2006/relationships/tags" Target="../tags/tag225.xml"/><Relationship Id="rId44" Type="http://schemas.openxmlformats.org/officeDocument/2006/relationships/tags" Target="../tags/tag224.xml"/><Relationship Id="rId43" Type="http://schemas.openxmlformats.org/officeDocument/2006/relationships/tags" Target="../tags/tag223.xml"/><Relationship Id="rId42" Type="http://schemas.openxmlformats.org/officeDocument/2006/relationships/tags" Target="../tags/tag222.xml"/><Relationship Id="rId41" Type="http://schemas.openxmlformats.org/officeDocument/2006/relationships/tags" Target="../tags/tag221.xml"/><Relationship Id="rId40" Type="http://schemas.openxmlformats.org/officeDocument/2006/relationships/tags" Target="../tags/tag220.xml"/><Relationship Id="rId4" Type="http://schemas.openxmlformats.org/officeDocument/2006/relationships/tags" Target="../tags/tag184.xml"/><Relationship Id="rId39" Type="http://schemas.openxmlformats.org/officeDocument/2006/relationships/tags" Target="../tags/tag219.xml"/><Relationship Id="rId38" Type="http://schemas.openxmlformats.org/officeDocument/2006/relationships/tags" Target="../tags/tag218.xml"/><Relationship Id="rId37" Type="http://schemas.openxmlformats.org/officeDocument/2006/relationships/tags" Target="../tags/tag217.xml"/><Relationship Id="rId36" Type="http://schemas.openxmlformats.org/officeDocument/2006/relationships/tags" Target="../tags/tag216.xml"/><Relationship Id="rId35" Type="http://schemas.openxmlformats.org/officeDocument/2006/relationships/tags" Target="../tags/tag215.xml"/><Relationship Id="rId34" Type="http://schemas.openxmlformats.org/officeDocument/2006/relationships/tags" Target="../tags/tag214.xml"/><Relationship Id="rId33" Type="http://schemas.openxmlformats.org/officeDocument/2006/relationships/tags" Target="../tags/tag213.xml"/><Relationship Id="rId32" Type="http://schemas.openxmlformats.org/officeDocument/2006/relationships/tags" Target="../tags/tag212.xml"/><Relationship Id="rId31" Type="http://schemas.openxmlformats.org/officeDocument/2006/relationships/tags" Target="../tags/tag211.xml"/><Relationship Id="rId30" Type="http://schemas.openxmlformats.org/officeDocument/2006/relationships/tags" Target="../tags/tag210.xml"/><Relationship Id="rId3" Type="http://schemas.openxmlformats.org/officeDocument/2006/relationships/tags" Target="../tags/tag183.xml"/><Relationship Id="rId29" Type="http://schemas.openxmlformats.org/officeDocument/2006/relationships/tags" Target="../tags/tag209.xml"/><Relationship Id="rId28" Type="http://schemas.openxmlformats.org/officeDocument/2006/relationships/tags" Target="../tags/tag208.xml"/><Relationship Id="rId27" Type="http://schemas.openxmlformats.org/officeDocument/2006/relationships/tags" Target="../tags/tag207.xml"/><Relationship Id="rId26" Type="http://schemas.openxmlformats.org/officeDocument/2006/relationships/tags" Target="../tags/tag206.xml"/><Relationship Id="rId25" Type="http://schemas.openxmlformats.org/officeDocument/2006/relationships/tags" Target="../tags/tag205.xml"/><Relationship Id="rId24" Type="http://schemas.openxmlformats.org/officeDocument/2006/relationships/tags" Target="../tags/tag204.xml"/><Relationship Id="rId23" Type="http://schemas.openxmlformats.org/officeDocument/2006/relationships/tags" Target="../tags/tag203.xml"/><Relationship Id="rId22" Type="http://schemas.openxmlformats.org/officeDocument/2006/relationships/tags" Target="../tags/tag202.xml"/><Relationship Id="rId21" Type="http://schemas.openxmlformats.org/officeDocument/2006/relationships/tags" Target="../tags/tag201.xml"/><Relationship Id="rId20" Type="http://schemas.openxmlformats.org/officeDocument/2006/relationships/tags" Target="../tags/tag200.xml"/><Relationship Id="rId2" Type="http://schemas.openxmlformats.org/officeDocument/2006/relationships/tags" Target="../tags/tag182.xml"/><Relationship Id="rId19" Type="http://schemas.openxmlformats.org/officeDocument/2006/relationships/tags" Target="../tags/tag199.xml"/><Relationship Id="rId18" Type="http://schemas.openxmlformats.org/officeDocument/2006/relationships/tags" Target="../tags/tag198.xml"/><Relationship Id="rId17" Type="http://schemas.openxmlformats.org/officeDocument/2006/relationships/tags" Target="../tags/tag197.xml"/><Relationship Id="rId16" Type="http://schemas.openxmlformats.org/officeDocument/2006/relationships/tags" Target="../tags/tag196.xml"/><Relationship Id="rId15" Type="http://schemas.openxmlformats.org/officeDocument/2006/relationships/tags" Target="../tags/tag195.xml"/><Relationship Id="rId14" Type="http://schemas.openxmlformats.org/officeDocument/2006/relationships/tags" Target="../tags/tag194.xml"/><Relationship Id="rId13" Type="http://schemas.openxmlformats.org/officeDocument/2006/relationships/tags" Target="../tags/tag193.xml"/><Relationship Id="rId12" Type="http://schemas.openxmlformats.org/officeDocument/2006/relationships/tags" Target="../tags/tag192.xml"/><Relationship Id="rId11" Type="http://schemas.openxmlformats.org/officeDocument/2006/relationships/tags" Target="../tags/tag191.xml"/><Relationship Id="rId10" Type="http://schemas.openxmlformats.org/officeDocument/2006/relationships/tags" Target="../tags/tag190.xml"/><Relationship Id="rId1" Type="http://schemas.openxmlformats.org/officeDocument/2006/relationships/tags" Target="../tags/tag18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tags" Target="../tags/tag264.xml"/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271.xml"/><Relationship Id="rId12" Type="http://schemas.openxmlformats.org/officeDocument/2006/relationships/tags" Target="../tags/tag270.xml"/><Relationship Id="rId11" Type="http://schemas.openxmlformats.org/officeDocument/2006/relationships/tags" Target="../tags/tag269.xml"/><Relationship Id="rId10" Type="http://schemas.openxmlformats.org/officeDocument/2006/relationships/tags" Target="../tags/tag268.xml"/><Relationship Id="rId1" Type="http://schemas.openxmlformats.org/officeDocument/2006/relationships/tags" Target="../tags/tag25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80.xml"/><Relationship Id="rId8" Type="http://schemas.openxmlformats.org/officeDocument/2006/relationships/tags" Target="../tags/tag279.xml"/><Relationship Id="rId7" Type="http://schemas.openxmlformats.org/officeDocument/2006/relationships/tags" Target="../tags/tag278.xml"/><Relationship Id="rId6" Type="http://schemas.openxmlformats.org/officeDocument/2006/relationships/tags" Target="../tags/tag277.xml"/><Relationship Id="rId5" Type="http://schemas.openxmlformats.org/officeDocument/2006/relationships/tags" Target="../tags/tag276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298.xml"/><Relationship Id="rId26" Type="http://schemas.openxmlformats.org/officeDocument/2006/relationships/tags" Target="../tags/tag297.xml"/><Relationship Id="rId25" Type="http://schemas.openxmlformats.org/officeDocument/2006/relationships/tags" Target="../tags/tag296.xml"/><Relationship Id="rId24" Type="http://schemas.openxmlformats.org/officeDocument/2006/relationships/tags" Target="../tags/tag295.xml"/><Relationship Id="rId23" Type="http://schemas.openxmlformats.org/officeDocument/2006/relationships/tags" Target="../tags/tag294.xml"/><Relationship Id="rId22" Type="http://schemas.openxmlformats.org/officeDocument/2006/relationships/tags" Target="../tags/tag293.xml"/><Relationship Id="rId21" Type="http://schemas.openxmlformats.org/officeDocument/2006/relationships/tags" Target="../tags/tag292.xml"/><Relationship Id="rId20" Type="http://schemas.openxmlformats.org/officeDocument/2006/relationships/tags" Target="../tags/tag291.xml"/><Relationship Id="rId2" Type="http://schemas.openxmlformats.org/officeDocument/2006/relationships/tags" Target="../tags/tag273.xml"/><Relationship Id="rId19" Type="http://schemas.openxmlformats.org/officeDocument/2006/relationships/tags" Target="../tags/tag290.xml"/><Relationship Id="rId18" Type="http://schemas.openxmlformats.org/officeDocument/2006/relationships/tags" Target="../tags/tag289.xml"/><Relationship Id="rId17" Type="http://schemas.openxmlformats.org/officeDocument/2006/relationships/tags" Target="../tags/tag288.xml"/><Relationship Id="rId16" Type="http://schemas.openxmlformats.org/officeDocument/2006/relationships/tags" Target="../tags/tag287.xml"/><Relationship Id="rId15" Type="http://schemas.openxmlformats.org/officeDocument/2006/relationships/tags" Target="../tags/tag286.xml"/><Relationship Id="rId14" Type="http://schemas.openxmlformats.org/officeDocument/2006/relationships/tags" Target="../tags/tag285.xml"/><Relationship Id="rId13" Type="http://schemas.openxmlformats.org/officeDocument/2006/relationships/tags" Target="../tags/tag284.xml"/><Relationship Id="rId12" Type="http://schemas.openxmlformats.org/officeDocument/2006/relationships/tags" Target="../tags/tag283.xml"/><Relationship Id="rId11" Type="http://schemas.openxmlformats.org/officeDocument/2006/relationships/tags" Target="../tags/tag282.xml"/><Relationship Id="rId10" Type="http://schemas.openxmlformats.org/officeDocument/2006/relationships/tags" Target="../tags/tag281.xml"/><Relationship Id="rId1" Type="http://schemas.openxmlformats.org/officeDocument/2006/relationships/tags" Target="../tags/tag27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07.xml"/><Relationship Id="rId8" Type="http://schemas.openxmlformats.org/officeDocument/2006/relationships/tags" Target="../tags/tag306.xml"/><Relationship Id="rId7" Type="http://schemas.openxmlformats.org/officeDocument/2006/relationships/tags" Target="../tags/tag305.xml"/><Relationship Id="rId6" Type="http://schemas.openxmlformats.org/officeDocument/2006/relationships/tags" Target="../tags/tag304.xml"/><Relationship Id="rId5" Type="http://schemas.openxmlformats.org/officeDocument/2006/relationships/tags" Target="../tags/tag303.xml"/><Relationship Id="rId41" Type="http://schemas.openxmlformats.org/officeDocument/2006/relationships/notesSlide" Target="../notesSlides/notesSlide7.xml"/><Relationship Id="rId40" Type="http://schemas.openxmlformats.org/officeDocument/2006/relationships/slideLayout" Target="../slideLayouts/slideLayout7.xml"/><Relationship Id="rId4" Type="http://schemas.openxmlformats.org/officeDocument/2006/relationships/tags" Target="../tags/tag302.xml"/><Relationship Id="rId39" Type="http://schemas.openxmlformats.org/officeDocument/2006/relationships/tags" Target="../tags/tag337.xml"/><Relationship Id="rId38" Type="http://schemas.openxmlformats.org/officeDocument/2006/relationships/tags" Target="../tags/tag336.xml"/><Relationship Id="rId37" Type="http://schemas.openxmlformats.org/officeDocument/2006/relationships/tags" Target="../tags/tag335.xml"/><Relationship Id="rId36" Type="http://schemas.openxmlformats.org/officeDocument/2006/relationships/tags" Target="../tags/tag334.xml"/><Relationship Id="rId35" Type="http://schemas.openxmlformats.org/officeDocument/2006/relationships/tags" Target="../tags/tag333.xml"/><Relationship Id="rId34" Type="http://schemas.openxmlformats.org/officeDocument/2006/relationships/tags" Target="../tags/tag332.xml"/><Relationship Id="rId33" Type="http://schemas.openxmlformats.org/officeDocument/2006/relationships/tags" Target="../tags/tag331.xml"/><Relationship Id="rId32" Type="http://schemas.openxmlformats.org/officeDocument/2006/relationships/tags" Target="../tags/tag330.xml"/><Relationship Id="rId31" Type="http://schemas.openxmlformats.org/officeDocument/2006/relationships/tags" Target="../tags/tag329.xml"/><Relationship Id="rId30" Type="http://schemas.openxmlformats.org/officeDocument/2006/relationships/tags" Target="../tags/tag328.xml"/><Relationship Id="rId3" Type="http://schemas.openxmlformats.org/officeDocument/2006/relationships/tags" Target="../tags/tag301.xml"/><Relationship Id="rId29" Type="http://schemas.openxmlformats.org/officeDocument/2006/relationships/tags" Target="../tags/tag327.xml"/><Relationship Id="rId28" Type="http://schemas.openxmlformats.org/officeDocument/2006/relationships/tags" Target="../tags/tag326.xml"/><Relationship Id="rId27" Type="http://schemas.openxmlformats.org/officeDocument/2006/relationships/tags" Target="../tags/tag325.xml"/><Relationship Id="rId26" Type="http://schemas.openxmlformats.org/officeDocument/2006/relationships/tags" Target="../tags/tag324.xml"/><Relationship Id="rId25" Type="http://schemas.openxmlformats.org/officeDocument/2006/relationships/tags" Target="../tags/tag323.xml"/><Relationship Id="rId24" Type="http://schemas.openxmlformats.org/officeDocument/2006/relationships/tags" Target="../tags/tag322.xml"/><Relationship Id="rId23" Type="http://schemas.openxmlformats.org/officeDocument/2006/relationships/tags" Target="../tags/tag321.xml"/><Relationship Id="rId22" Type="http://schemas.openxmlformats.org/officeDocument/2006/relationships/tags" Target="../tags/tag320.xml"/><Relationship Id="rId21" Type="http://schemas.openxmlformats.org/officeDocument/2006/relationships/tags" Target="../tags/tag319.xml"/><Relationship Id="rId20" Type="http://schemas.openxmlformats.org/officeDocument/2006/relationships/tags" Target="../tags/tag318.xml"/><Relationship Id="rId2" Type="http://schemas.openxmlformats.org/officeDocument/2006/relationships/tags" Target="../tags/tag300.xml"/><Relationship Id="rId19" Type="http://schemas.openxmlformats.org/officeDocument/2006/relationships/tags" Target="../tags/tag317.xml"/><Relationship Id="rId18" Type="http://schemas.openxmlformats.org/officeDocument/2006/relationships/tags" Target="../tags/tag316.xml"/><Relationship Id="rId17" Type="http://schemas.openxmlformats.org/officeDocument/2006/relationships/tags" Target="../tags/tag315.xml"/><Relationship Id="rId16" Type="http://schemas.openxmlformats.org/officeDocument/2006/relationships/tags" Target="../tags/tag314.xml"/><Relationship Id="rId15" Type="http://schemas.openxmlformats.org/officeDocument/2006/relationships/tags" Target="../tags/tag313.xml"/><Relationship Id="rId14" Type="http://schemas.openxmlformats.org/officeDocument/2006/relationships/tags" Target="../tags/tag312.xml"/><Relationship Id="rId13" Type="http://schemas.openxmlformats.org/officeDocument/2006/relationships/tags" Target="../tags/tag311.xml"/><Relationship Id="rId12" Type="http://schemas.openxmlformats.org/officeDocument/2006/relationships/tags" Target="../tags/tag310.xml"/><Relationship Id="rId11" Type="http://schemas.openxmlformats.org/officeDocument/2006/relationships/tags" Target="../tags/tag309.xml"/><Relationship Id="rId10" Type="http://schemas.openxmlformats.org/officeDocument/2006/relationships/tags" Target="../tags/tag308.xml"/><Relationship Id="rId1" Type="http://schemas.openxmlformats.org/officeDocument/2006/relationships/tags" Target="../tags/tag29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46.xml"/><Relationship Id="rId8" Type="http://schemas.openxmlformats.org/officeDocument/2006/relationships/tags" Target="../tags/tag345.xml"/><Relationship Id="rId7" Type="http://schemas.openxmlformats.org/officeDocument/2006/relationships/tags" Target="../tags/tag344.xml"/><Relationship Id="rId6" Type="http://schemas.openxmlformats.org/officeDocument/2006/relationships/tags" Target="../tags/tag343.xml"/><Relationship Id="rId53" Type="http://schemas.openxmlformats.org/officeDocument/2006/relationships/slideLayout" Target="../slideLayouts/slideLayout7.xml"/><Relationship Id="rId52" Type="http://schemas.openxmlformats.org/officeDocument/2006/relationships/tags" Target="../tags/tag389.xml"/><Relationship Id="rId51" Type="http://schemas.openxmlformats.org/officeDocument/2006/relationships/tags" Target="../tags/tag388.xml"/><Relationship Id="rId50" Type="http://schemas.openxmlformats.org/officeDocument/2006/relationships/tags" Target="../tags/tag387.xml"/><Relationship Id="rId5" Type="http://schemas.openxmlformats.org/officeDocument/2006/relationships/tags" Target="../tags/tag342.xml"/><Relationship Id="rId49" Type="http://schemas.openxmlformats.org/officeDocument/2006/relationships/tags" Target="../tags/tag386.xml"/><Relationship Id="rId48" Type="http://schemas.openxmlformats.org/officeDocument/2006/relationships/tags" Target="../tags/tag385.xml"/><Relationship Id="rId47" Type="http://schemas.openxmlformats.org/officeDocument/2006/relationships/tags" Target="../tags/tag384.xml"/><Relationship Id="rId46" Type="http://schemas.openxmlformats.org/officeDocument/2006/relationships/tags" Target="../tags/tag383.xml"/><Relationship Id="rId45" Type="http://schemas.openxmlformats.org/officeDocument/2006/relationships/tags" Target="../tags/tag382.xml"/><Relationship Id="rId44" Type="http://schemas.openxmlformats.org/officeDocument/2006/relationships/tags" Target="../tags/tag381.xml"/><Relationship Id="rId43" Type="http://schemas.openxmlformats.org/officeDocument/2006/relationships/tags" Target="../tags/tag380.xml"/><Relationship Id="rId42" Type="http://schemas.openxmlformats.org/officeDocument/2006/relationships/tags" Target="../tags/tag379.xml"/><Relationship Id="rId41" Type="http://schemas.openxmlformats.org/officeDocument/2006/relationships/tags" Target="../tags/tag378.xml"/><Relationship Id="rId40" Type="http://schemas.openxmlformats.org/officeDocument/2006/relationships/tags" Target="../tags/tag377.xml"/><Relationship Id="rId4" Type="http://schemas.openxmlformats.org/officeDocument/2006/relationships/tags" Target="../tags/tag341.xml"/><Relationship Id="rId39" Type="http://schemas.openxmlformats.org/officeDocument/2006/relationships/tags" Target="../tags/tag376.xml"/><Relationship Id="rId38" Type="http://schemas.openxmlformats.org/officeDocument/2006/relationships/tags" Target="../tags/tag375.xml"/><Relationship Id="rId37" Type="http://schemas.openxmlformats.org/officeDocument/2006/relationships/tags" Target="../tags/tag374.xml"/><Relationship Id="rId36" Type="http://schemas.openxmlformats.org/officeDocument/2006/relationships/tags" Target="../tags/tag373.xml"/><Relationship Id="rId35" Type="http://schemas.openxmlformats.org/officeDocument/2006/relationships/tags" Target="../tags/tag372.xml"/><Relationship Id="rId34" Type="http://schemas.openxmlformats.org/officeDocument/2006/relationships/tags" Target="../tags/tag371.xml"/><Relationship Id="rId33" Type="http://schemas.openxmlformats.org/officeDocument/2006/relationships/tags" Target="../tags/tag370.xml"/><Relationship Id="rId32" Type="http://schemas.openxmlformats.org/officeDocument/2006/relationships/tags" Target="../tags/tag369.xml"/><Relationship Id="rId31" Type="http://schemas.openxmlformats.org/officeDocument/2006/relationships/tags" Target="../tags/tag368.xml"/><Relationship Id="rId30" Type="http://schemas.openxmlformats.org/officeDocument/2006/relationships/tags" Target="../tags/tag367.xml"/><Relationship Id="rId3" Type="http://schemas.openxmlformats.org/officeDocument/2006/relationships/tags" Target="../tags/tag340.xml"/><Relationship Id="rId29" Type="http://schemas.openxmlformats.org/officeDocument/2006/relationships/tags" Target="../tags/tag366.xml"/><Relationship Id="rId28" Type="http://schemas.openxmlformats.org/officeDocument/2006/relationships/tags" Target="../tags/tag365.xml"/><Relationship Id="rId27" Type="http://schemas.openxmlformats.org/officeDocument/2006/relationships/tags" Target="../tags/tag364.xml"/><Relationship Id="rId26" Type="http://schemas.openxmlformats.org/officeDocument/2006/relationships/tags" Target="../tags/tag363.xml"/><Relationship Id="rId25" Type="http://schemas.openxmlformats.org/officeDocument/2006/relationships/tags" Target="../tags/tag362.xml"/><Relationship Id="rId24" Type="http://schemas.openxmlformats.org/officeDocument/2006/relationships/tags" Target="../tags/tag361.xml"/><Relationship Id="rId23" Type="http://schemas.openxmlformats.org/officeDocument/2006/relationships/tags" Target="../tags/tag360.xml"/><Relationship Id="rId22" Type="http://schemas.openxmlformats.org/officeDocument/2006/relationships/tags" Target="../tags/tag359.xml"/><Relationship Id="rId21" Type="http://schemas.openxmlformats.org/officeDocument/2006/relationships/tags" Target="../tags/tag358.xml"/><Relationship Id="rId20" Type="http://schemas.openxmlformats.org/officeDocument/2006/relationships/tags" Target="../tags/tag357.xml"/><Relationship Id="rId2" Type="http://schemas.openxmlformats.org/officeDocument/2006/relationships/tags" Target="../tags/tag339.xml"/><Relationship Id="rId19" Type="http://schemas.openxmlformats.org/officeDocument/2006/relationships/tags" Target="../tags/tag356.xml"/><Relationship Id="rId18" Type="http://schemas.openxmlformats.org/officeDocument/2006/relationships/tags" Target="../tags/tag355.xml"/><Relationship Id="rId17" Type="http://schemas.openxmlformats.org/officeDocument/2006/relationships/tags" Target="../tags/tag354.xml"/><Relationship Id="rId16" Type="http://schemas.openxmlformats.org/officeDocument/2006/relationships/tags" Target="../tags/tag353.xml"/><Relationship Id="rId15" Type="http://schemas.openxmlformats.org/officeDocument/2006/relationships/tags" Target="../tags/tag352.xml"/><Relationship Id="rId14" Type="http://schemas.openxmlformats.org/officeDocument/2006/relationships/tags" Target="../tags/tag351.xml"/><Relationship Id="rId13" Type="http://schemas.openxmlformats.org/officeDocument/2006/relationships/tags" Target="../tags/tag350.xml"/><Relationship Id="rId12" Type="http://schemas.openxmlformats.org/officeDocument/2006/relationships/tags" Target="../tags/tag349.xml"/><Relationship Id="rId11" Type="http://schemas.openxmlformats.org/officeDocument/2006/relationships/tags" Target="../tags/tag348.xml"/><Relationship Id="rId10" Type="http://schemas.openxmlformats.org/officeDocument/2006/relationships/tags" Target="../tags/tag347.xml"/><Relationship Id="rId1" Type="http://schemas.openxmlformats.org/officeDocument/2006/relationships/tags" Target="../tags/tag338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98.xml"/><Relationship Id="rId8" Type="http://schemas.openxmlformats.org/officeDocument/2006/relationships/tags" Target="../tags/tag397.xml"/><Relationship Id="rId7" Type="http://schemas.openxmlformats.org/officeDocument/2006/relationships/tags" Target="../tags/tag396.xml"/><Relationship Id="rId65" Type="http://schemas.openxmlformats.org/officeDocument/2006/relationships/notesSlide" Target="../notesSlides/notesSlide8.xml"/><Relationship Id="rId64" Type="http://schemas.openxmlformats.org/officeDocument/2006/relationships/slideLayout" Target="../slideLayouts/slideLayout7.xml"/><Relationship Id="rId63" Type="http://schemas.openxmlformats.org/officeDocument/2006/relationships/tags" Target="../tags/tag452.xml"/><Relationship Id="rId62" Type="http://schemas.openxmlformats.org/officeDocument/2006/relationships/tags" Target="../tags/tag451.xml"/><Relationship Id="rId61" Type="http://schemas.openxmlformats.org/officeDocument/2006/relationships/tags" Target="../tags/tag450.xml"/><Relationship Id="rId60" Type="http://schemas.openxmlformats.org/officeDocument/2006/relationships/tags" Target="../tags/tag449.xml"/><Relationship Id="rId6" Type="http://schemas.openxmlformats.org/officeDocument/2006/relationships/tags" Target="../tags/tag395.xml"/><Relationship Id="rId59" Type="http://schemas.openxmlformats.org/officeDocument/2006/relationships/tags" Target="../tags/tag448.xml"/><Relationship Id="rId58" Type="http://schemas.openxmlformats.org/officeDocument/2006/relationships/tags" Target="../tags/tag447.xml"/><Relationship Id="rId57" Type="http://schemas.openxmlformats.org/officeDocument/2006/relationships/tags" Target="../tags/tag446.xml"/><Relationship Id="rId56" Type="http://schemas.openxmlformats.org/officeDocument/2006/relationships/tags" Target="../tags/tag445.xml"/><Relationship Id="rId55" Type="http://schemas.openxmlformats.org/officeDocument/2006/relationships/tags" Target="../tags/tag444.xml"/><Relationship Id="rId54" Type="http://schemas.openxmlformats.org/officeDocument/2006/relationships/tags" Target="../tags/tag443.xml"/><Relationship Id="rId53" Type="http://schemas.openxmlformats.org/officeDocument/2006/relationships/tags" Target="../tags/tag442.xml"/><Relationship Id="rId52" Type="http://schemas.openxmlformats.org/officeDocument/2006/relationships/tags" Target="../tags/tag441.xml"/><Relationship Id="rId51" Type="http://schemas.openxmlformats.org/officeDocument/2006/relationships/tags" Target="../tags/tag440.xml"/><Relationship Id="rId50" Type="http://schemas.openxmlformats.org/officeDocument/2006/relationships/tags" Target="../tags/tag439.xml"/><Relationship Id="rId5" Type="http://schemas.openxmlformats.org/officeDocument/2006/relationships/tags" Target="../tags/tag394.xml"/><Relationship Id="rId49" Type="http://schemas.openxmlformats.org/officeDocument/2006/relationships/tags" Target="../tags/tag438.xml"/><Relationship Id="rId48" Type="http://schemas.openxmlformats.org/officeDocument/2006/relationships/tags" Target="../tags/tag437.xml"/><Relationship Id="rId47" Type="http://schemas.openxmlformats.org/officeDocument/2006/relationships/tags" Target="../tags/tag436.xml"/><Relationship Id="rId46" Type="http://schemas.openxmlformats.org/officeDocument/2006/relationships/tags" Target="../tags/tag435.xml"/><Relationship Id="rId45" Type="http://schemas.openxmlformats.org/officeDocument/2006/relationships/tags" Target="../tags/tag434.xml"/><Relationship Id="rId44" Type="http://schemas.openxmlformats.org/officeDocument/2006/relationships/tags" Target="../tags/tag433.xml"/><Relationship Id="rId43" Type="http://schemas.openxmlformats.org/officeDocument/2006/relationships/tags" Target="../tags/tag432.xml"/><Relationship Id="rId42" Type="http://schemas.openxmlformats.org/officeDocument/2006/relationships/tags" Target="../tags/tag431.xml"/><Relationship Id="rId41" Type="http://schemas.openxmlformats.org/officeDocument/2006/relationships/tags" Target="../tags/tag430.xml"/><Relationship Id="rId40" Type="http://schemas.openxmlformats.org/officeDocument/2006/relationships/tags" Target="../tags/tag429.xml"/><Relationship Id="rId4" Type="http://schemas.openxmlformats.org/officeDocument/2006/relationships/tags" Target="../tags/tag393.xml"/><Relationship Id="rId39" Type="http://schemas.openxmlformats.org/officeDocument/2006/relationships/tags" Target="../tags/tag428.xml"/><Relationship Id="rId38" Type="http://schemas.openxmlformats.org/officeDocument/2006/relationships/tags" Target="../tags/tag427.xml"/><Relationship Id="rId37" Type="http://schemas.openxmlformats.org/officeDocument/2006/relationships/tags" Target="../tags/tag426.xml"/><Relationship Id="rId36" Type="http://schemas.openxmlformats.org/officeDocument/2006/relationships/tags" Target="../tags/tag425.xml"/><Relationship Id="rId35" Type="http://schemas.openxmlformats.org/officeDocument/2006/relationships/tags" Target="../tags/tag424.xml"/><Relationship Id="rId34" Type="http://schemas.openxmlformats.org/officeDocument/2006/relationships/tags" Target="../tags/tag423.xml"/><Relationship Id="rId33" Type="http://schemas.openxmlformats.org/officeDocument/2006/relationships/tags" Target="../tags/tag422.xml"/><Relationship Id="rId32" Type="http://schemas.openxmlformats.org/officeDocument/2006/relationships/tags" Target="../tags/tag421.xml"/><Relationship Id="rId31" Type="http://schemas.openxmlformats.org/officeDocument/2006/relationships/tags" Target="../tags/tag420.xml"/><Relationship Id="rId30" Type="http://schemas.openxmlformats.org/officeDocument/2006/relationships/tags" Target="../tags/tag419.xml"/><Relationship Id="rId3" Type="http://schemas.openxmlformats.org/officeDocument/2006/relationships/tags" Target="../tags/tag392.xml"/><Relationship Id="rId29" Type="http://schemas.openxmlformats.org/officeDocument/2006/relationships/tags" Target="../tags/tag418.xml"/><Relationship Id="rId28" Type="http://schemas.openxmlformats.org/officeDocument/2006/relationships/tags" Target="../tags/tag417.xml"/><Relationship Id="rId27" Type="http://schemas.openxmlformats.org/officeDocument/2006/relationships/tags" Target="../tags/tag416.xml"/><Relationship Id="rId26" Type="http://schemas.openxmlformats.org/officeDocument/2006/relationships/tags" Target="../tags/tag415.xml"/><Relationship Id="rId25" Type="http://schemas.openxmlformats.org/officeDocument/2006/relationships/tags" Target="../tags/tag414.xml"/><Relationship Id="rId24" Type="http://schemas.openxmlformats.org/officeDocument/2006/relationships/tags" Target="../tags/tag413.xml"/><Relationship Id="rId23" Type="http://schemas.openxmlformats.org/officeDocument/2006/relationships/tags" Target="../tags/tag412.xml"/><Relationship Id="rId22" Type="http://schemas.openxmlformats.org/officeDocument/2006/relationships/tags" Target="../tags/tag411.xml"/><Relationship Id="rId21" Type="http://schemas.openxmlformats.org/officeDocument/2006/relationships/tags" Target="../tags/tag410.xml"/><Relationship Id="rId20" Type="http://schemas.openxmlformats.org/officeDocument/2006/relationships/tags" Target="../tags/tag409.xml"/><Relationship Id="rId2" Type="http://schemas.openxmlformats.org/officeDocument/2006/relationships/tags" Target="../tags/tag391.xml"/><Relationship Id="rId19" Type="http://schemas.openxmlformats.org/officeDocument/2006/relationships/tags" Target="../tags/tag408.xml"/><Relationship Id="rId18" Type="http://schemas.openxmlformats.org/officeDocument/2006/relationships/tags" Target="../tags/tag407.xml"/><Relationship Id="rId17" Type="http://schemas.openxmlformats.org/officeDocument/2006/relationships/tags" Target="../tags/tag406.xml"/><Relationship Id="rId16" Type="http://schemas.openxmlformats.org/officeDocument/2006/relationships/tags" Target="../tags/tag405.xml"/><Relationship Id="rId15" Type="http://schemas.openxmlformats.org/officeDocument/2006/relationships/tags" Target="../tags/tag404.xml"/><Relationship Id="rId14" Type="http://schemas.openxmlformats.org/officeDocument/2006/relationships/tags" Target="../tags/tag403.xml"/><Relationship Id="rId13" Type="http://schemas.openxmlformats.org/officeDocument/2006/relationships/tags" Target="../tags/tag402.xml"/><Relationship Id="rId12" Type="http://schemas.openxmlformats.org/officeDocument/2006/relationships/tags" Target="../tags/tag401.xml"/><Relationship Id="rId11" Type="http://schemas.openxmlformats.org/officeDocument/2006/relationships/tags" Target="../tags/tag400.xml"/><Relationship Id="rId10" Type="http://schemas.openxmlformats.org/officeDocument/2006/relationships/tags" Target="../tags/tag399.xml"/><Relationship Id="rId1" Type="http://schemas.openxmlformats.org/officeDocument/2006/relationships/tags" Target="../tags/tag390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461.xml"/><Relationship Id="rId8" Type="http://schemas.openxmlformats.org/officeDocument/2006/relationships/tags" Target="../tags/tag460.xml"/><Relationship Id="rId7" Type="http://schemas.openxmlformats.org/officeDocument/2006/relationships/tags" Target="../tags/tag459.xml"/><Relationship Id="rId6" Type="http://schemas.openxmlformats.org/officeDocument/2006/relationships/tags" Target="../tags/tag458.xml"/><Relationship Id="rId5" Type="http://schemas.openxmlformats.org/officeDocument/2006/relationships/tags" Target="../tags/tag457.xml"/><Relationship Id="rId4" Type="http://schemas.openxmlformats.org/officeDocument/2006/relationships/tags" Target="../tags/tag456.xml"/><Relationship Id="rId3" Type="http://schemas.openxmlformats.org/officeDocument/2006/relationships/tags" Target="../tags/tag455.xml"/><Relationship Id="rId2" Type="http://schemas.openxmlformats.org/officeDocument/2006/relationships/tags" Target="../tags/tag454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466.xml"/><Relationship Id="rId13" Type="http://schemas.openxmlformats.org/officeDocument/2006/relationships/tags" Target="../tags/tag465.xml"/><Relationship Id="rId12" Type="http://schemas.openxmlformats.org/officeDocument/2006/relationships/tags" Target="../tags/tag464.xml"/><Relationship Id="rId11" Type="http://schemas.openxmlformats.org/officeDocument/2006/relationships/tags" Target="../tags/tag463.xml"/><Relationship Id="rId10" Type="http://schemas.openxmlformats.org/officeDocument/2006/relationships/tags" Target="../tags/tag462.xml"/><Relationship Id="rId1" Type="http://schemas.openxmlformats.org/officeDocument/2006/relationships/tags" Target="../tags/tag453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472.xml"/><Relationship Id="rId5" Type="http://schemas.openxmlformats.org/officeDocument/2006/relationships/tags" Target="../tags/tag471.xml"/><Relationship Id="rId4" Type="http://schemas.openxmlformats.org/officeDocument/2006/relationships/tags" Target="../tags/tag470.xml"/><Relationship Id="rId3" Type="http://schemas.openxmlformats.org/officeDocument/2006/relationships/tags" Target="../tags/tag469.xml"/><Relationship Id="rId2" Type="http://schemas.openxmlformats.org/officeDocument/2006/relationships/tags" Target="../tags/tag468.xml"/><Relationship Id="rId1" Type="http://schemas.openxmlformats.org/officeDocument/2006/relationships/tags" Target="../tags/tag467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477.xml"/><Relationship Id="rId4" Type="http://schemas.openxmlformats.org/officeDocument/2006/relationships/tags" Target="../tags/tag476.xml"/><Relationship Id="rId3" Type="http://schemas.openxmlformats.org/officeDocument/2006/relationships/tags" Target="../tags/tag475.xml"/><Relationship Id="rId2" Type="http://schemas.openxmlformats.org/officeDocument/2006/relationships/tags" Target="../tags/tag474.xml"/><Relationship Id="rId1" Type="http://schemas.openxmlformats.org/officeDocument/2006/relationships/tags" Target="../tags/tag473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486.xml"/><Relationship Id="rId8" Type="http://schemas.openxmlformats.org/officeDocument/2006/relationships/tags" Target="../tags/tag485.xml"/><Relationship Id="rId7" Type="http://schemas.openxmlformats.org/officeDocument/2006/relationships/tags" Target="../tags/tag484.xml"/><Relationship Id="rId6" Type="http://schemas.openxmlformats.org/officeDocument/2006/relationships/tags" Target="../tags/tag483.xml"/><Relationship Id="rId5" Type="http://schemas.openxmlformats.org/officeDocument/2006/relationships/tags" Target="../tags/tag482.xml"/><Relationship Id="rId4" Type="http://schemas.openxmlformats.org/officeDocument/2006/relationships/tags" Target="../tags/tag481.xml"/><Relationship Id="rId36" Type="http://schemas.openxmlformats.org/officeDocument/2006/relationships/notesSlide" Target="../notesSlides/notesSlide11.xml"/><Relationship Id="rId35" Type="http://schemas.openxmlformats.org/officeDocument/2006/relationships/slideLayout" Target="../slideLayouts/slideLayout7.xml"/><Relationship Id="rId34" Type="http://schemas.openxmlformats.org/officeDocument/2006/relationships/tags" Target="../tags/tag509.xml"/><Relationship Id="rId33" Type="http://schemas.openxmlformats.org/officeDocument/2006/relationships/slide" Target="slide28.xml"/><Relationship Id="rId32" Type="http://schemas.openxmlformats.org/officeDocument/2006/relationships/tags" Target="../tags/tag508.xml"/><Relationship Id="rId31" Type="http://schemas.openxmlformats.org/officeDocument/2006/relationships/slide" Target="slide30.xml"/><Relationship Id="rId30" Type="http://schemas.openxmlformats.org/officeDocument/2006/relationships/tags" Target="../tags/tag507.xml"/><Relationship Id="rId3" Type="http://schemas.openxmlformats.org/officeDocument/2006/relationships/tags" Target="../tags/tag480.xml"/><Relationship Id="rId29" Type="http://schemas.openxmlformats.org/officeDocument/2006/relationships/tags" Target="../tags/tag506.xml"/><Relationship Id="rId28" Type="http://schemas.openxmlformats.org/officeDocument/2006/relationships/tags" Target="../tags/tag505.xml"/><Relationship Id="rId27" Type="http://schemas.openxmlformats.org/officeDocument/2006/relationships/tags" Target="../tags/tag504.xml"/><Relationship Id="rId26" Type="http://schemas.openxmlformats.org/officeDocument/2006/relationships/tags" Target="../tags/tag503.xml"/><Relationship Id="rId25" Type="http://schemas.openxmlformats.org/officeDocument/2006/relationships/tags" Target="../tags/tag502.xml"/><Relationship Id="rId24" Type="http://schemas.openxmlformats.org/officeDocument/2006/relationships/tags" Target="../tags/tag501.xml"/><Relationship Id="rId23" Type="http://schemas.openxmlformats.org/officeDocument/2006/relationships/tags" Target="../tags/tag500.xml"/><Relationship Id="rId22" Type="http://schemas.openxmlformats.org/officeDocument/2006/relationships/tags" Target="../tags/tag499.xml"/><Relationship Id="rId21" Type="http://schemas.openxmlformats.org/officeDocument/2006/relationships/tags" Target="../tags/tag498.xml"/><Relationship Id="rId20" Type="http://schemas.openxmlformats.org/officeDocument/2006/relationships/tags" Target="../tags/tag497.xml"/><Relationship Id="rId2" Type="http://schemas.openxmlformats.org/officeDocument/2006/relationships/tags" Target="../tags/tag479.xml"/><Relationship Id="rId19" Type="http://schemas.openxmlformats.org/officeDocument/2006/relationships/tags" Target="../tags/tag496.xml"/><Relationship Id="rId18" Type="http://schemas.openxmlformats.org/officeDocument/2006/relationships/tags" Target="../tags/tag495.xml"/><Relationship Id="rId17" Type="http://schemas.openxmlformats.org/officeDocument/2006/relationships/tags" Target="../tags/tag494.xml"/><Relationship Id="rId16" Type="http://schemas.openxmlformats.org/officeDocument/2006/relationships/tags" Target="../tags/tag493.xml"/><Relationship Id="rId15" Type="http://schemas.openxmlformats.org/officeDocument/2006/relationships/tags" Target="../tags/tag492.xml"/><Relationship Id="rId14" Type="http://schemas.openxmlformats.org/officeDocument/2006/relationships/tags" Target="../tags/tag491.xml"/><Relationship Id="rId13" Type="http://schemas.openxmlformats.org/officeDocument/2006/relationships/tags" Target="../tags/tag490.xml"/><Relationship Id="rId12" Type="http://schemas.openxmlformats.org/officeDocument/2006/relationships/tags" Target="../tags/tag489.xml"/><Relationship Id="rId11" Type="http://schemas.openxmlformats.org/officeDocument/2006/relationships/tags" Target="../tags/tag488.xml"/><Relationship Id="rId10" Type="http://schemas.openxmlformats.org/officeDocument/2006/relationships/tags" Target="../tags/tag487.xml"/><Relationship Id="rId1" Type="http://schemas.openxmlformats.org/officeDocument/2006/relationships/tags" Target="../tags/tag478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518.xml"/><Relationship Id="rId8" Type="http://schemas.openxmlformats.org/officeDocument/2006/relationships/tags" Target="../tags/tag517.xml"/><Relationship Id="rId7" Type="http://schemas.openxmlformats.org/officeDocument/2006/relationships/tags" Target="../tags/tag516.xml"/><Relationship Id="rId6" Type="http://schemas.openxmlformats.org/officeDocument/2006/relationships/tags" Target="../tags/tag515.xml"/><Relationship Id="rId5" Type="http://schemas.openxmlformats.org/officeDocument/2006/relationships/tags" Target="../tags/tag514.xml"/><Relationship Id="rId4" Type="http://schemas.openxmlformats.org/officeDocument/2006/relationships/tags" Target="../tags/tag513.xml"/><Relationship Id="rId38" Type="http://schemas.openxmlformats.org/officeDocument/2006/relationships/slideLayout" Target="../slideLayouts/slideLayout7.xml"/><Relationship Id="rId37" Type="http://schemas.openxmlformats.org/officeDocument/2006/relationships/tags" Target="../tags/tag546.xml"/><Relationship Id="rId36" Type="http://schemas.openxmlformats.org/officeDocument/2006/relationships/tags" Target="../tags/tag545.xml"/><Relationship Id="rId35" Type="http://schemas.openxmlformats.org/officeDocument/2006/relationships/tags" Target="../tags/tag544.xml"/><Relationship Id="rId34" Type="http://schemas.openxmlformats.org/officeDocument/2006/relationships/tags" Target="../tags/tag543.xml"/><Relationship Id="rId33" Type="http://schemas.openxmlformats.org/officeDocument/2006/relationships/tags" Target="../tags/tag542.xml"/><Relationship Id="rId32" Type="http://schemas.openxmlformats.org/officeDocument/2006/relationships/tags" Target="../tags/tag541.xml"/><Relationship Id="rId31" Type="http://schemas.openxmlformats.org/officeDocument/2006/relationships/tags" Target="../tags/tag540.xml"/><Relationship Id="rId30" Type="http://schemas.openxmlformats.org/officeDocument/2006/relationships/tags" Target="../tags/tag539.xml"/><Relationship Id="rId3" Type="http://schemas.openxmlformats.org/officeDocument/2006/relationships/tags" Target="../tags/tag512.xml"/><Relationship Id="rId29" Type="http://schemas.openxmlformats.org/officeDocument/2006/relationships/tags" Target="../tags/tag538.xml"/><Relationship Id="rId28" Type="http://schemas.openxmlformats.org/officeDocument/2006/relationships/tags" Target="../tags/tag537.xml"/><Relationship Id="rId27" Type="http://schemas.openxmlformats.org/officeDocument/2006/relationships/tags" Target="../tags/tag536.xml"/><Relationship Id="rId26" Type="http://schemas.openxmlformats.org/officeDocument/2006/relationships/tags" Target="../tags/tag535.xml"/><Relationship Id="rId25" Type="http://schemas.openxmlformats.org/officeDocument/2006/relationships/tags" Target="../tags/tag534.xml"/><Relationship Id="rId24" Type="http://schemas.openxmlformats.org/officeDocument/2006/relationships/tags" Target="../tags/tag533.xml"/><Relationship Id="rId23" Type="http://schemas.openxmlformats.org/officeDocument/2006/relationships/tags" Target="../tags/tag532.xml"/><Relationship Id="rId22" Type="http://schemas.openxmlformats.org/officeDocument/2006/relationships/tags" Target="../tags/tag531.xml"/><Relationship Id="rId21" Type="http://schemas.openxmlformats.org/officeDocument/2006/relationships/tags" Target="../tags/tag530.xml"/><Relationship Id="rId20" Type="http://schemas.openxmlformats.org/officeDocument/2006/relationships/tags" Target="../tags/tag529.xml"/><Relationship Id="rId2" Type="http://schemas.openxmlformats.org/officeDocument/2006/relationships/tags" Target="../tags/tag511.xml"/><Relationship Id="rId19" Type="http://schemas.openxmlformats.org/officeDocument/2006/relationships/tags" Target="../tags/tag528.xml"/><Relationship Id="rId18" Type="http://schemas.openxmlformats.org/officeDocument/2006/relationships/tags" Target="../tags/tag527.xml"/><Relationship Id="rId17" Type="http://schemas.openxmlformats.org/officeDocument/2006/relationships/tags" Target="../tags/tag526.xml"/><Relationship Id="rId16" Type="http://schemas.openxmlformats.org/officeDocument/2006/relationships/tags" Target="../tags/tag525.xml"/><Relationship Id="rId15" Type="http://schemas.openxmlformats.org/officeDocument/2006/relationships/tags" Target="../tags/tag524.xml"/><Relationship Id="rId14" Type="http://schemas.openxmlformats.org/officeDocument/2006/relationships/tags" Target="../tags/tag523.xml"/><Relationship Id="rId13" Type="http://schemas.openxmlformats.org/officeDocument/2006/relationships/tags" Target="../tags/tag522.xml"/><Relationship Id="rId12" Type="http://schemas.openxmlformats.org/officeDocument/2006/relationships/tags" Target="../tags/tag521.xml"/><Relationship Id="rId11" Type="http://schemas.openxmlformats.org/officeDocument/2006/relationships/tags" Target="../tags/tag520.xml"/><Relationship Id="rId10" Type="http://schemas.openxmlformats.org/officeDocument/2006/relationships/tags" Target="../tags/tag519.xml"/><Relationship Id="rId1" Type="http://schemas.openxmlformats.org/officeDocument/2006/relationships/tags" Target="../tags/tag510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555.xml"/><Relationship Id="rId8" Type="http://schemas.openxmlformats.org/officeDocument/2006/relationships/tags" Target="../tags/tag554.xml"/><Relationship Id="rId7" Type="http://schemas.openxmlformats.org/officeDocument/2006/relationships/tags" Target="../tags/tag553.xml"/><Relationship Id="rId6" Type="http://schemas.openxmlformats.org/officeDocument/2006/relationships/tags" Target="../tags/tag552.xml"/><Relationship Id="rId56" Type="http://schemas.openxmlformats.org/officeDocument/2006/relationships/notesSlide" Target="../notesSlides/notesSlide12.xml"/><Relationship Id="rId55" Type="http://schemas.openxmlformats.org/officeDocument/2006/relationships/slideLayout" Target="../slideLayouts/slideLayout7.xml"/><Relationship Id="rId54" Type="http://schemas.openxmlformats.org/officeDocument/2006/relationships/tags" Target="../tags/tag600.xml"/><Relationship Id="rId53" Type="http://schemas.openxmlformats.org/officeDocument/2006/relationships/tags" Target="../tags/tag599.xml"/><Relationship Id="rId52" Type="http://schemas.openxmlformats.org/officeDocument/2006/relationships/tags" Target="../tags/tag598.xml"/><Relationship Id="rId51" Type="http://schemas.openxmlformats.org/officeDocument/2006/relationships/tags" Target="../tags/tag597.xml"/><Relationship Id="rId50" Type="http://schemas.openxmlformats.org/officeDocument/2006/relationships/tags" Target="../tags/tag596.xml"/><Relationship Id="rId5" Type="http://schemas.openxmlformats.org/officeDocument/2006/relationships/tags" Target="../tags/tag551.xml"/><Relationship Id="rId49" Type="http://schemas.openxmlformats.org/officeDocument/2006/relationships/tags" Target="../tags/tag595.xml"/><Relationship Id="rId48" Type="http://schemas.openxmlformats.org/officeDocument/2006/relationships/tags" Target="../tags/tag594.xml"/><Relationship Id="rId47" Type="http://schemas.openxmlformats.org/officeDocument/2006/relationships/tags" Target="../tags/tag593.xml"/><Relationship Id="rId46" Type="http://schemas.openxmlformats.org/officeDocument/2006/relationships/tags" Target="../tags/tag592.xml"/><Relationship Id="rId45" Type="http://schemas.openxmlformats.org/officeDocument/2006/relationships/tags" Target="../tags/tag591.xml"/><Relationship Id="rId44" Type="http://schemas.openxmlformats.org/officeDocument/2006/relationships/tags" Target="../tags/tag590.xml"/><Relationship Id="rId43" Type="http://schemas.openxmlformats.org/officeDocument/2006/relationships/tags" Target="../tags/tag589.xml"/><Relationship Id="rId42" Type="http://schemas.openxmlformats.org/officeDocument/2006/relationships/tags" Target="../tags/tag588.xml"/><Relationship Id="rId41" Type="http://schemas.openxmlformats.org/officeDocument/2006/relationships/tags" Target="../tags/tag587.xml"/><Relationship Id="rId40" Type="http://schemas.openxmlformats.org/officeDocument/2006/relationships/tags" Target="../tags/tag586.xml"/><Relationship Id="rId4" Type="http://schemas.openxmlformats.org/officeDocument/2006/relationships/tags" Target="../tags/tag550.xml"/><Relationship Id="rId39" Type="http://schemas.openxmlformats.org/officeDocument/2006/relationships/tags" Target="../tags/tag585.xml"/><Relationship Id="rId38" Type="http://schemas.openxmlformats.org/officeDocument/2006/relationships/tags" Target="../tags/tag584.xml"/><Relationship Id="rId37" Type="http://schemas.openxmlformats.org/officeDocument/2006/relationships/tags" Target="../tags/tag583.xml"/><Relationship Id="rId36" Type="http://schemas.openxmlformats.org/officeDocument/2006/relationships/tags" Target="../tags/tag582.xml"/><Relationship Id="rId35" Type="http://schemas.openxmlformats.org/officeDocument/2006/relationships/tags" Target="../tags/tag581.xml"/><Relationship Id="rId34" Type="http://schemas.openxmlformats.org/officeDocument/2006/relationships/tags" Target="../tags/tag580.xml"/><Relationship Id="rId33" Type="http://schemas.openxmlformats.org/officeDocument/2006/relationships/tags" Target="../tags/tag579.xml"/><Relationship Id="rId32" Type="http://schemas.openxmlformats.org/officeDocument/2006/relationships/tags" Target="../tags/tag578.xml"/><Relationship Id="rId31" Type="http://schemas.openxmlformats.org/officeDocument/2006/relationships/tags" Target="../tags/tag577.xml"/><Relationship Id="rId30" Type="http://schemas.openxmlformats.org/officeDocument/2006/relationships/tags" Target="../tags/tag576.xml"/><Relationship Id="rId3" Type="http://schemas.openxmlformats.org/officeDocument/2006/relationships/tags" Target="../tags/tag549.xml"/><Relationship Id="rId29" Type="http://schemas.openxmlformats.org/officeDocument/2006/relationships/tags" Target="../tags/tag575.xml"/><Relationship Id="rId28" Type="http://schemas.openxmlformats.org/officeDocument/2006/relationships/tags" Target="../tags/tag574.xml"/><Relationship Id="rId27" Type="http://schemas.openxmlformats.org/officeDocument/2006/relationships/tags" Target="../tags/tag573.xml"/><Relationship Id="rId26" Type="http://schemas.openxmlformats.org/officeDocument/2006/relationships/tags" Target="../tags/tag572.xml"/><Relationship Id="rId25" Type="http://schemas.openxmlformats.org/officeDocument/2006/relationships/tags" Target="../tags/tag571.xml"/><Relationship Id="rId24" Type="http://schemas.openxmlformats.org/officeDocument/2006/relationships/tags" Target="../tags/tag570.xml"/><Relationship Id="rId23" Type="http://schemas.openxmlformats.org/officeDocument/2006/relationships/tags" Target="../tags/tag569.xml"/><Relationship Id="rId22" Type="http://schemas.openxmlformats.org/officeDocument/2006/relationships/tags" Target="../tags/tag568.xml"/><Relationship Id="rId21" Type="http://schemas.openxmlformats.org/officeDocument/2006/relationships/tags" Target="../tags/tag567.xml"/><Relationship Id="rId20" Type="http://schemas.openxmlformats.org/officeDocument/2006/relationships/tags" Target="../tags/tag566.xml"/><Relationship Id="rId2" Type="http://schemas.openxmlformats.org/officeDocument/2006/relationships/tags" Target="../tags/tag548.xml"/><Relationship Id="rId19" Type="http://schemas.openxmlformats.org/officeDocument/2006/relationships/tags" Target="../tags/tag565.xml"/><Relationship Id="rId18" Type="http://schemas.openxmlformats.org/officeDocument/2006/relationships/tags" Target="../tags/tag564.xml"/><Relationship Id="rId17" Type="http://schemas.openxmlformats.org/officeDocument/2006/relationships/tags" Target="../tags/tag563.xml"/><Relationship Id="rId16" Type="http://schemas.openxmlformats.org/officeDocument/2006/relationships/tags" Target="../tags/tag562.xml"/><Relationship Id="rId15" Type="http://schemas.openxmlformats.org/officeDocument/2006/relationships/tags" Target="../tags/tag561.xml"/><Relationship Id="rId14" Type="http://schemas.openxmlformats.org/officeDocument/2006/relationships/tags" Target="../tags/tag560.xml"/><Relationship Id="rId13" Type="http://schemas.openxmlformats.org/officeDocument/2006/relationships/tags" Target="../tags/tag559.xml"/><Relationship Id="rId12" Type="http://schemas.openxmlformats.org/officeDocument/2006/relationships/tags" Target="../tags/tag558.xml"/><Relationship Id="rId11" Type="http://schemas.openxmlformats.org/officeDocument/2006/relationships/tags" Target="../tags/tag557.xml"/><Relationship Id="rId10" Type="http://schemas.openxmlformats.org/officeDocument/2006/relationships/tags" Target="../tags/tag556.xml"/><Relationship Id="rId1" Type="http://schemas.openxmlformats.org/officeDocument/2006/relationships/tags" Target="../tags/tag547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609.xml"/><Relationship Id="rId8" Type="http://schemas.openxmlformats.org/officeDocument/2006/relationships/tags" Target="../tags/tag608.xml"/><Relationship Id="rId7" Type="http://schemas.openxmlformats.org/officeDocument/2006/relationships/tags" Target="../tags/tag607.xml"/><Relationship Id="rId6" Type="http://schemas.openxmlformats.org/officeDocument/2006/relationships/tags" Target="../tags/tag606.xml"/><Relationship Id="rId59" Type="http://schemas.openxmlformats.org/officeDocument/2006/relationships/notesSlide" Target="../notesSlides/notesSlide13.xml"/><Relationship Id="rId58" Type="http://schemas.openxmlformats.org/officeDocument/2006/relationships/slideLayout" Target="../slideLayouts/slideLayout7.xml"/><Relationship Id="rId57" Type="http://schemas.openxmlformats.org/officeDocument/2006/relationships/tags" Target="../tags/tag656.xml"/><Relationship Id="rId56" Type="http://schemas.openxmlformats.org/officeDocument/2006/relationships/slide" Target="slide29.xml"/><Relationship Id="rId55" Type="http://schemas.openxmlformats.org/officeDocument/2006/relationships/tags" Target="../tags/tag655.xml"/><Relationship Id="rId54" Type="http://schemas.openxmlformats.org/officeDocument/2006/relationships/tags" Target="../tags/tag654.xml"/><Relationship Id="rId53" Type="http://schemas.openxmlformats.org/officeDocument/2006/relationships/tags" Target="../tags/tag653.xml"/><Relationship Id="rId52" Type="http://schemas.openxmlformats.org/officeDocument/2006/relationships/tags" Target="../tags/tag652.xml"/><Relationship Id="rId51" Type="http://schemas.openxmlformats.org/officeDocument/2006/relationships/tags" Target="../tags/tag651.xml"/><Relationship Id="rId50" Type="http://schemas.openxmlformats.org/officeDocument/2006/relationships/tags" Target="../tags/tag650.xml"/><Relationship Id="rId5" Type="http://schemas.openxmlformats.org/officeDocument/2006/relationships/tags" Target="../tags/tag605.xml"/><Relationship Id="rId49" Type="http://schemas.openxmlformats.org/officeDocument/2006/relationships/tags" Target="../tags/tag649.xml"/><Relationship Id="rId48" Type="http://schemas.openxmlformats.org/officeDocument/2006/relationships/tags" Target="../tags/tag648.xml"/><Relationship Id="rId47" Type="http://schemas.openxmlformats.org/officeDocument/2006/relationships/tags" Target="../tags/tag647.xml"/><Relationship Id="rId46" Type="http://schemas.openxmlformats.org/officeDocument/2006/relationships/tags" Target="../tags/tag646.xml"/><Relationship Id="rId45" Type="http://schemas.openxmlformats.org/officeDocument/2006/relationships/tags" Target="../tags/tag645.xml"/><Relationship Id="rId44" Type="http://schemas.openxmlformats.org/officeDocument/2006/relationships/tags" Target="../tags/tag644.xml"/><Relationship Id="rId43" Type="http://schemas.openxmlformats.org/officeDocument/2006/relationships/tags" Target="../tags/tag643.xml"/><Relationship Id="rId42" Type="http://schemas.openxmlformats.org/officeDocument/2006/relationships/tags" Target="../tags/tag642.xml"/><Relationship Id="rId41" Type="http://schemas.openxmlformats.org/officeDocument/2006/relationships/tags" Target="../tags/tag641.xml"/><Relationship Id="rId40" Type="http://schemas.openxmlformats.org/officeDocument/2006/relationships/tags" Target="../tags/tag640.xml"/><Relationship Id="rId4" Type="http://schemas.openxmlformats.org/officeDocument/2006/relationships/tags" Target="../tags/tag604.xml"/><Relationship Id="rId39" Type="http://schemas.openxmlformats.org/officeDocument/2006/relationships/tags" Target="../tags/tag639.xml"/><Relationship Id="rId38" Type="http://schemas.openxmlformats.org/officeDocument/2006/relationships/tags" Target="../tags/tag638.xml"/><Relationship Id="rId37" Type="http://schemas.openxmlformats.org/officeDocument/2006/relationships/tags" Target="../tags/tag637.xml"/><Relationship Id="rId36" Type="http://schemas.openxmlformats.org/officeDocument/2006/relationships/tags" Target="../tags/tag636.xml"/><Relationship Id="rId35" Type="http://schemas.openxmlformats.org/officeDocument/2006/relationships/tags" Target="../tags/tag635.xml"/><Relationship Id="rId34" Type="http://schemas.openxmlformats.org/officeDocument/2006/relationships/tags" Target="../tags/tag634.xml"/><Relationship Id="rId33" Type="http://schemas.openxmlformats.org/officeDocument/2006/relationships/tags" Target="../tags/tag633.xml"/><Relationship Id="rId32" Type="http://schemas.openxmlformats.org/officeDocument/2006/relationships/tags" Target="../tags/tag632.xml"/><Relationship Id="rId31" Type="http://schemas.openxmlformats.org/officeDocument/2006/relationships/tags" Target="../tags/tag631.xml"/><Relationship Id="rId30" Type="http://schemas.openxmlformats.org/officeDocument/2006/relationships/tags" Target="../tags/tag630.xml"/><Relationship Id="rId3" Type="http://schemas.openxmlformats.org/officeDocument/2006/relationships/tags" Target="../tags/tag603.xml"/><Relationship Id="rId29" Type="http://schemas.openxmlformats.org/officeDocument/2006/relationships/tags" Target="../tags/tag629.xml"/><Relationship Id="rId28" Type="http://schemas.openxmlformats.org/officeDocument/2006/relationships/tags" Target="../tags/tag628.xml"/><Relationship Id="rId27" Type="http://schemas.openxmlformats.org/officeDocument/2006/relationships/tags" Target="../tags/tag627.xml"/><Relationship Id="rId26" Type="http://schemas.openxmlformats.org/officeDocument/2006/relationships/tags" Target="../tags/tag626.xml"/><Relationship Id="rId25" Type="http://schemas.openxmlformats.org/officeDocument/2006/relationships/tags" Target="../tags/tag625.xml"/><Relationship Id="rId24" Type="http://schemas.openxmlformats.org/officeDocument/2006/relationships/tags" Target="../tags/tag624.xml"/><Relationship Id="rId23" Type="http://schemas.openxmlformats.org/officeDocument/2006/relationships/tags" Target="../tags/tag623.xml"/><Relationship Id="rId22" Type="http://schemas.openxmlformats.org/officeDocument/2006/relationships/tags" Target="../tags/tag622.xml"/><Relationship Id="rId21" Type="http://schemas.openxmlformats.org/officeDocument/2006/relationships/tags" Target="../tags/tag621.xml"/><Relationship Id="rId20" Type="http://schemas.openxmlformats.org/officeDocument/2006/relationships/tags" Target="../tags/tag620.xml"/><Relationship Id="rId2" Type="http://schemas.openxmlformats.org/officeDocument/2006/relationships/tags" Target="../tags/tag602.xml"/><Relationship Id="rId19" Type="http://schemas.openxmlformats.org/officeDocument/2006/relationships/tags" Target="../tags/tag619.xml"/><Relationship Id="rId18" Type="http://schemas.openxmlformats.org/officeDocument/2006/relationships/tags" Target="../tags/tag618.xml"/><Relationship Id="rId17" Type="http://schemas.openxmlformats.org/officeDocument/2006/relationships/tags" Target="../tags/tag617.xml"/><Relationship Id="rId16" Type="http://schemas.openxmlformats.org/officeDocument/2006/relationships/tags" Target="../tags/tag616.xml"/><Relationship Id="rId15" Type="http://schemas.openxmlformats.org/officeDocument/2006/relationships/tags" Target="../tags/tag615.xml"/><Relationship Id="rId14" Type="http://schemas.openxmlformats.org/officeDocument/2006/relationships/tags" Target="../tags/tag614.xml"/><Relationship Id="rId13" Type="http://schemas.openxmlformats.org/officeDocument/2006/relationships/tags" Target="../tags/tag613.xml"/><Relationship Id="rId12" Type="http://schemas.openxmlformats.org/officeDocument/2006/relationships/tags" Target="../tags/tag612.xml"/><Relationship Id="rId11" Type="http://schemas.openxmlformats.org/officeDocument/2006/relationships/tags" Target="../tags/tag611.xml"/><Relationship Id="rId10" Type="http://schemas.openxmlformats.org/officeDocument/2006/relationships/tags" Target="../tags/tag610.xml"/><Relationship Id="rId1" Type="http://schemas.openxmlformats.org/officeDocument/2006/relationships/tags" Target="../tags/tag601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665.xml"/><Relationship Id="rId8" Type="http://schemas.openxmlformats.org/officeDocument/2006/relationships/tags" Target="../tags/tag664.xml"/><Relationship Id="rId7" Type="http://schemas.openxmlformats.org/officeDocument/2006/relationships/tags" Target="../tags/tag663.xml"/><Relationship Id="rId6" Type="http://schemas.openxmlformats.org/officeDocument/2006/relationships/tags" Target="../tags/tag662.xml"/><Relationship Id="rId5" Type="http://schemas.openxmlformats.org/officeDocument/2006/relationships/tags" Target="../tags/tag661.xml"/><Relationship Id="rId4" Type="http://schemas.openxmlformats.org/officeDocument/2006/relationships/tags" Target="../tags/tag660.xml"/><Relationship Id="rId36" Type="http://schemas.openxmlformats.org/officeDocument/2006/relationships/slideLayout" Target="../slideLayouts/slideLayout7.xml"/><Relationship Id="rId35" Type="http://schemas.openxmlformats.org/officeDocument/2006/relationships/tags" Target="../tags/tag690.xml"/><Relationship Id="rId34" Type="http://schemas.openxmlformats.org/officeDocument/2006/relationships/slide" Target="slide29.xml"/><Relationship Id="rId33" Type="http://schemas.openxmlformats.org/officeDocument/2006/relationships/tags" Target="../tags/tag689.xml"/><Relationship Id="rId32" Type="http://schemas.openxmlformats.org/officeDocument/2006/relationships/tags" Target="../tags/tag688.xml"/><Relationship Id="rId31" Type="http://schemas.openxmlformats.org/officeDocument/2006/relationships/tags" Target="../tags/tag687.xml"/><Relationship Id="rId30" Type="http://schemas.openxmlformats.org/officeDocument/2006/relationships/tags" Target="../tags/tag686.xml"/><Relationship Id="rId3" Type="http://schemas.openxmlformats.org/officeDocument/2006/relationships/tags" Target="../tags/tag659.xml"/><Relationship Id="rId29" Type="http://schemas.openxmlformats.org/officeDocument/2006/relationships/tags" Target="../tags/tag685.xml"/><Relationship Id="rId28" Type="http://schemas.openxmlformats.org/officeDocument/2006/relationships/tags" Target="../tags/tag684.xml"/><Relationship Id="rId27" Type="http://schemas.openxmlformats.org/officeDocument/2006/relationships/tags" Target="../tags/tag683.xml"/><Relationship Id="rId26" Type="http://schemas.openxmlformats.org/officeDocument/2006/relationships/tags" Target="../tags/tag682.xml"/><Relationship Id="rId25" Type="http://schemas.openxmlformats.org/officeDocument/2006/relationships/tags" Target="../tags/tag681.xml"/><Relationship Id="rId24" Type="http://schemas.openxmlformats.org/officeDocument/2006/relationships/tags" Target="../tags/tag680.xml"/><Relationship Id="rId23" Type="http://schemas.openxmlformats.org/officeDocument/2006/relationships/tags" Target="../tags/tag679.xml"/><Relationship Id="rId22" Type="http://schemas.openxmlformats.org/officeDocument/2006/relationships/tags" Target="../tags/tag678.xml"/><Relationship Id="rId21" Type="http://schemas.openxmlformats.org/officeDocument/2006/relationships/tags" Target="../tags/tag677.xml"/><Relationship Id="rId20" Type="http://schemas.openxmlformats.org/officeDocument/2006/relationships/tags" Target="../tags/tag676.xml"/><Relationship Id="rId2" Type="http://schemas.openxmlformats.org/officeDocument/2006/relationships/tags" Target="../tags/tag658.xml"/><Relationship Id="rId19" Type="http://schemas.openxmlformats.org/officeDocument/2006/relationships/tags" Target="../tags/tag675.xml"/><Relationship Id="rId18" Type="http://schemas.openxmlformats.org/officeDocument/2006/relationships/tags" Target="../tags/tag674.xml"/><Relationship Id="rId17" Type="http://schemas.openxmlformats.org/officeDocument/2006/relationships/tags" Target="../tags/tag673.xml"/><Relationship Id="rId16" Type="http://schemas.openxmlformats.org/officeDocument/2006/relationships/tags" Target="../tags/tag672.xml"/><Relationship Id="rId15" Type="http://schemas.openxmlformats.org/officeDocument/2006/relationships/tags" Target="../tags/tag671.xml"/><Relationship Id="rId14" Type="http://schemas.openxmlformats.org/officeDocument/2006/relationships/tags" Target="../tags/tag670.xml"/><Relationship Id="rId13" Type="http://schemas.openxmlformats.org/officeDocument/2006/relationships/tags" Target="../tags/tag669.xml"/><Relationship Id="rId12" Type="http://schemas.openxmlformats.org/officeDocument/2006/relationships/tags" Target="../tags/tag668.xml"/><Relationship Id="rId11" Type="http://schemas.openxmlformats.org/officeDocument/2006/relationships/tags" Target="../tags/tag667.xml"/><Relationship Id="rId10" Type="http://schemas.openxmlformats.org/officeDocument/2006/relationships/tags" Target="../tags/tag666.xml"/><Relationship Id="rId1" Type="http://schemas.openxmlformats.org/officeDocument/2006/relationships/tags" Target="../tags/tag657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699.xml"/><Relationship Id="rId8" Type="http://schemas.openxmlformats.org/officeDocument/2006/relationships/tags" Target="../tags/tag698.xml"/><Relationship Id="rId7" Type="http://schemas.openxmlformats.org/officeDocument/2006/relationships/tags" Target="../tags/tag697.xml"/><Relationship Id="rId6" Type="http://schemas.openxmlformats.org/officeDocument/2006/relationships/tags" Target="../tags/tag696.xml"/><Relationship Id="rId5" Type="http://schemas.openxmlformats.org/officeDocument/2006/relationships/tags" Target="../tags/tag695.xml"/><Relationship Id="rId4" Type="http://schemas.openxmlformats.org/officeDocument/2006/relationships/tags" Target="../tags/tag694.xml"/><Relationship Id="rId3" Type="http://schemas.openxmlformats.org/officeDocument/2006/relationships/tags" Target="../tags/tag693.xml"/><Relationship Id="rId2" Type="http://schemas.openxmlformats.org/officeDocument/2006/relationships/tags" Target="../tags/tag692.xml"/><Relationship Id="rId16" Type="http://schemas.openxmlformats.org/officeDocument/2006/relationships/notesSlide" Target="../notesSlides/notesSlide14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703.xml"/><Relationship Id="rId13" Type="http://schemas.openxmlformats.org/officeDocument/2006/relationships/slide" Target="slide23.xml"/><Relationship Id="rId12" Type="http://schemas.openxmlformats.org/officeDocument/2006/relationships/tags" Target="../tags/tag702.xml"/><Relationship Id="rId11" Type="http://schemas.openxmlformats.org/officeDocument/2006/relationships/tags" Target="../tags/tag701.xml"/><Relationship Id="rId10" Type="http://schemas.openxmlformats.org/officeDocument/2006/relationships/tags" Target="../tags/tag700.xml"/><Relationship Id="rId1" Type="http://schemas.openxmlformats.org/officeDocument/2006/relationships/tags" Target="../tags/tag691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" Target="slide26.xml"/><Relationship Id="rId8" Type="http://schemas.openxmlformats.org/officeDocument/2006/relationships/tags" Target="../tags/tag711.xml"/><Relationship Id="rId7" Type="http://schemas.openxmlformats.org/officeDocument/2006/relationships/tags" Target="../tags/tag710.xml"/><Relationship Id="rId6" Type="http://schemas.openxmlformats.org/officeDocument/2006/relationships/tags" Target="../tags/tag709.xml"/><Relationship Id="rId5" Type="http://schemas.openxmlformats.org/officeDocument/2006/relationships/tags" Target="../tags/tag708.xml"/><Relationship Id="rId4" Type="http://schemas.openxmlformats.org/officeDocument/2006/relationships/tags" Target="../tags/tag707.xml"/><Relationship Id="rId3" Type="http://schemas.openxmlformats.org/officeDocument/2006/relationships/tags" Target="../tags/tag706.xml"/><Relationship Id="rId2" Type="http://schemas.openxmlformats.org/officeDocument/2006/relationships/tags" Target="../tags/tag705.xml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713.xml"/><Relationship Id="rId11" Type="http://schemas.openxmlformats.org/officeDocument/2006/relationships/slide" Target="slide27.xml"/><Relationship Id="rId10" Type="http://schemas.openxmlformats.org/officeDocument/2006/relationships/tags" Target="../tags/tag712.xml"/><Relationship Id="rId1" Type="http://schemas.openxmlformats.org/officeDocument/2006/relationships/tags" Target="../tags/tag704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716.xml"/><Relationship Id="rId3" Type="http://schemas.openxmlformats.org/officeDocument/2006/relationships/slide" Target="slide23.xml"/><Relationship Id="rId2" Type="http://schemas.openxmlformats.org/officeDocument/2006/relationships/tags" Target="../tags/tag715.xml"/><Relationship Id="rId1" Type="http://schemas.openxmlformats.org/officeDocument/2006/relationships/tags" Target="../tags/tag714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725.xml"/><Relationship Id="rId8" Type="http://schemas.openxmlformats.org/officeDocument/2006/relationships/tags" Target="../tags/tag724.xml"/><Relationship Id="rId7" Type="http://schemas.openxmlformats.org/officeDocument/2006/relationships/tags" Target="../tags/tag723.xml"/><Relationship Id="rId6" Type="http://schemas.openxmlformats.org/officeDocument/2006/relationships/tags" Target="../tags/tag722.xml"/><Relationship Id="rId5" Type="http://schemas.openxmlformats.org/officeDocument/2006/relationships/tags" Target="../tags/tag721.xml"/><Relationship Id="rId49" Type="http://schemas.openxmlformats.org/officeDocument/2006/relationships/notesSlide" Target="../notesSlides/notesSlide17.xml"/><Relationship Id="rId48" Type="http://schemas.openxmlformats.org/officeDocument/2006/relationships/slideLayout" Target="../slideLayouts/slideLayout7.xml"/><Relationship Id="rId47" Type="http://schemas.openxmlformats.org/officeDocument/2006/relationships/tags" Target="../tags/tag763.xml"/><Relationship Id="rId46" Type="http://schemas.openxmlformats.org/officeDocument/2006/relationships/tags" Target="../tags/tag762.xml"/><Relationship Id="rId45" Type="http://schemas.openxmlformats.org/officeDocument/2006/relationships/tags" Target="../tags/tag761.xml"/><Relationship Id="rId44" Type="http://schemas.openxmlformats.org/officeDocument/2006/relationships/tags" Target="../tags/tag760.xml"/><Relationship Id="rId43" Type="http://schemas.openxmlformats.org/officeDocument/2006/relationships/tags" Target="../tags/tag759.xml"/><Relationship Id="rId42" Type="http://schemas.openxmlformats.org/officeDocument/2006/relationships/tags" Target="../tags/tag758.xml"/><Relationship Id="rId41" Type="http://schemas.openxmlformats.org/officeDocument/2006/relationships/tags" Target="../tags/tag757.xml"/><Relationship Id="rId40" Type="http://schemas.openxmlformats.org/officeDocument/2006/relationships/tags" Target="../tags/tag756.xml"/><Relationship Id="rId4" Type="http://schemas.openxmlformats.org/officeDocument/2006/relationships/tags" Target="../tags/tag720.xml"/><Relationship Id="rId39" Type="http://schemas.openxmlformats.org/officeDocument/2006/relationships/tags" Target="../tags/tag755.xml"/><Relationship Id="rId38" Type="http://schemas.openxmlformats.org/officeDocument/2006/relationships/tags" Target="../tags/tag754.xml"/><Relationship Id="rId37" Type="http://schemas.openxmlformats.org/officeDocument/2006/relationships/tags" Target="../tags/tag753.xml"/><Relationship Id="rId36" Type="http://schemas.openxmlformats.org/officeDocument/2006/relationships/tags" Target="../tags/tag752.xml"/><Relationship Id="rId35" Type="http://schemas.openxmlformats.org/officeDocument/2006/relationships/tags" Target="../tags/tag751.xml"/><Relationship Id="rId34" Type="http://schemas.openxmlformats.org/officeDocument/2006/relationships/tags" Target="../tags/tag750.xml"/><Relationship Id="rId33" Type="http://schemas.openxmlformats.org/officeDocument/2006/relationships/tags" Target="../tags/tag749.xml"/><Relationship Id="rId32" Type="http://schemas.openxmlformats.org/officeDocument/2006/relationships/tags" Target="../tags/tag748.xml"/><Relationship Id="rId31" Type="http://schemas.openxmlformats.org/officeDocument/2006/relationships/tags" Target="../tags/tag747.xml"/><Relationship Id="rId30" Type="http://schemas.openxmlformats.org/officeDocument/2006/relationships/tags" Target="../tags/tag746.xml"/><Relationship Id="rId3" Type="http://schemas.openxmlformats.org/officeDocument/2006/relationships/tags" Target="../tags/tag719.xml"/><Relationship Id="rId29" Type="http://schemas.openxmlformats.org/officeDocument/2006/relationships/tags" Target="../tags/tag745.xml"/><Relationship Id="rId28" Type="http://schemas.openxmlformats.org/officeDocument/2006/relationships/tags" Target="../tags/tag744.xml"/><Relationship Id="rId27" Type="http://schemas.openxmlformats.org/officeDocument/2006/relationships/tags" Target="../tags/tag743.xml"/><Relationship Id="rId26" Type="http://schemas.openxmlformats.org/officeDocument/2006/relationships/tags" Target="../tags/tag742.xml"/><Relationship Id="rId25" Type="http://schemas.openxmlformats.org/officeDocument/2006/relationships/tags" Target="../tags/tag741.xml"/><Relationship Id="rId24" Type="http://schemas.openxmlformats.org/officeDocument/2006/relationships/tags" Target="../tags/tag740.xml"/><Relationship Id="rId23" Type="http://schemas.openxmlformats.org/officeDocument/2006/relationships/tags" Target="../tags/tag739.xml"/><Relationship Id="rId22" Type="http://schemas.openxmlformats.org/officeDocument/2006/relationships/tags" Target="../tags/tag738.xml"/><Relationship Id="rId21" Type="http://schemas.openxmlformats.org/officeDocument/2006/relationships/tags" Target="../tags/tag737.xml"/><Relationship Id="rId20" Type="http://schemas.openxmlformats.org/officeDocument/2006/relationships/tags" Target="../tags/tag736.xml"/><Relationship Id="rId2" Type="http://schemas.openxmlformats.org/officeDocument/2006/relationships/tags" Target="../tags/tag718.xml"/><Relationship Id="rId19" Type="http://schemas.openxmlformats.org/officeDocument/2006/relationships/tags" Target="../tags/tag735.xml"/><Relationship Id="rId18" Type="http://schemas.openxmlformats.org/officeDocument/2006/relationships/tags" Target="../tags/tag734.xml"/><Relationship Id="rId17" Type="http://schemas.openxmlformats.org/officeDocument/2006/relationships/tags" Target="../tags/tag733.xml"/><Relationship Id="rId16" Type="http://schemas.openxmlformats.org/officeDocument/2006/relationships/tags" Target="../tags/tag732.xml"/><Relationship Id="rId15" Type="http://schemas.openxmlformats.org/officeDocument/2006/relationships/tags" Target="../tags/tag731.xml"/><Relationship Id="rId14" Type="http://schemas.openxmlformats.org/officeDocument/2006/relationships/tags" Target="../tags/tag730.xml"/><Relationship Id="rId13" Type="http://schemas.openxmlformats.org/officeDocument/2006/relationships/tags" Target="../tags/tag729.xml"/><Relationship Id="rId12" Type="http://schemas.openxmlformats.org/officeDocument/2006/relationships/tags" Target="../tags/tag728.xml"/><Relationship Id="rId11" Type="http://schemas.openxmlformats.org/officeDocument/2006/relationships/tags" Target="../tags/tag727.xml"/><Relationship Id="rId10" Type="http://schemas.openxmlformats.org/officeDocument/2006/relationships/tags" Target="../tags/tag726.xml"/><Relationship Id="rId1" Type="http://schemas.openxmlformats.org/officeDocument/2006/relationships/tags" Target="../tags/tag7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65.xml"/><Relationship Id="rId1" Type="http://schemas.openxmlformats.org/officeDocument/2006/relationships/tags" Target="../tags/tag76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772.xml"/><Relationship Id="rId6" Type="http://schemas.openxmlformats.org/officeDocument/2006/relationships/tags" Target="../tags/tag771.xml"/><Relationship Id="rId5" Type="http://schemas.openxmlformats.org/officeDocument/2006/relationships/tags" Target="../tags/tag770.xml"/><Relationship Id="rId4" Type="http://schemas.openxmlformats.org/officeDocument/2006/relationships/tags" Target="../tags/tag769.xml"/><Relationship Id="rId3" Type="http://schemas.openxmlformats.org/officeDocument/2006/relationships/tags" Target="../tags/tag768.xml"/><Relationship Id="rId2" Type="http://schemas.openxmlformats.org/officeDocument/2006/relationships/tags" Target="../tags/tag767.xml"/><Relationship Id="rId1" Type="http://schemas.openxmlformats.org/officeDocument/2006/relationships/tags" Target="../tags/tag766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780.xml"/><Relationship Id="rId7" Type="http://schemas.openxmlformats.org/officeDocument/2006/relationships/tags" Target="../tags/tag779.xml"/><Relationship Id="rId6" Type="http://schemas.openxmlformats.org/officeDocument/2006/relationships/tags" Target="../tags/tag778.xml"/><Relationship Id="rId5" Type="http://schemas.openxmlformats.org/officeDocument/2006/relationships/tags" Target="../tags/tag777.xml"/><Relationship Id="rId4" Type="http://schemas.openxmlformats.org/officeDocument/2006/relationships/tags" Target="../tags/tag776.xml"/><Relationship Id="rId3" Type="http://schemas.openxmlformats.org/officeDocument/2006/relationships/tags" Target="../tags/tag775.xml"/><Relationship Id="rId2" Type="http://schemas.openxmlformats.org/officeDocument/2006/relationships/tags" Target="../tags/tag774.xml"/><Relationship Id="rId1" Type="http://schemas.openxmlformats.org/officeDocument/2006/relationships/tags" Target="../tags/tag773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83.xml"/><Relationship Id="rId3" Type="http://schemas.openxmlformats.org/officeDocument/2006/relationships/slide" Target="slide37.xml"/><Relationship Id="rId2" Type="http://schemas.openxmlformats.org/officeDocument/2006/relationships/tags" Target="../tags/tag782.xml"/><Relationship Id="rId1" Type="http://schemas.openxmlformats.org/officeDocument/2006/relationships/tags" Target="../tags/tag781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790.xml"/><Relationship Id="rId7" Type="http://schemas.openxmlformats.org/officeDocument/2006/relationships/slide" Target="slide38.xml"/><Relationship Id="rId6" Type="http://schemas.openxmlformats.org/officeDocument/2006/relationships/tags" Target="../tags/tag789.xml"/><Relationship Id="rId5" Type="http://schemas.openxmlformats.org/officeDocument/2006/relationships/tags" Target="../tags/tag788.xml"/><Relationship Id="rId4" Type="http://schemas.openxmlformats.org/officeDocument/2006/relationships/tags" Target="../tags/tag787.xml"/><Relationship Id="rId3" Type="http://schemas.openxmlformats.org/officeDocument/2006/relationships/tags" Target="../tags/tag786.xml"/><Relationship Id="rId2" Type="http://schemas.openxmlformats.org/officeDocument/2006/relationships/tags" Target="../tags/tag785.xml"/><Relationship Id="rId1" Type="http://schemas.openxmlformats.org/officeDocument/2006/relationships/tags" Target="../tags/tag784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796.xml"/><Relationship Id="rId7" Type="http://schemas.openxmlformats.org/officeDocument/2006/relationships/tags" Target="../tags/tag795.xml"/><Relationship Id="rId6" Type="http://schemas.openxmlformats.org/officeDocument/2006/relationships/slide" Target="slide1.xml"/><Relationship Id="rId5" Type="http://schemas.openxmlformats.org/officeDocument/2006/relationships/tags" Target="../tags/tag794.xml"/><Relationship Id="rId4" Type="http://schemas.openxmlformats.org/officeDocument/2006/relationships/slide" Target="slide35.xml"/><Relationship Id="rId3" Type="http://schemas.openxmlformats.org/officeDocument/2006/relationships/tags" Target="../tags/tag793.xml"/><Relationship Id="rId2" Type="http://schemas.openxmlformats.org/officeDocument/2006/relationships/tags" Target="../tags/tag792.xml"/><Relationship Id="rId1" Type="http://schemas.openxmlformats.org/officeDocument/2006/relationships/tags" Target="../tags/tag791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8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802.xml"/><Relationship Id="rId6" Type="http://schemas.openxmlformats.org/officeDocument/2006/relationships/tags" Target="../tags/tag801.xml"/><Relationship Id="rId5" Type="http://schemas.openxmlformats.org/officeDocument/2006/relationships/slide" Target="slide36.xml"/><Relationship Id="rId4" Type="http://schemas.openxmlformats.org/officeDocument/2006/relationships/tags" Target="../tags/tag800.xml"/><Relationship Id="rId3" Type="http://schemas.openxmlformats.org/officeDocument/2006/relationships/tags" Target="../tags/tag799.xml"/><Relationship Id="rId2" Type="http://schemas.openxmlformats.org/officeDocument/2006/relationships/tags" Target="../tags/tag798.xml"/><Relationship Id="rId1" Type="http://schemas.openxmlformats.org/officeDocument/2006/relationships/tags" Target="../tags/tag79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3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807.xml"/><Relationship Id="rId3" Type="http://schemas.openxmlformats.org/officeDocument/2006/relationships/tags" Target="../tags/tag806.xml"/><Relationship Id="rId2" Type="http://schemas.openxmlformats.org/officeDocument/2006/relationships/tags" Target="../tags/tag805.xml"/><Relationship Id="rId1" Type="http://schemas.openxmlformats.org/officeDocument/2006/relationships/tags" Target="../tags/tag804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816.xml"/><Relationship Id="rId8" Type="http://schemas.openxmlformats.org/officeDocument/2006/relationships/tags" Target="../tags/tag815.xml"/><Relationship Id="rId73" Type="http://schemas.openxmlformats.org/officeDocument/2006/relationships/notesSlide" Target="../notesSlides/notesSlide19.xml"/><Relationship Id="rId72" Type="http://schemas.openxmlformats.org/officeDocument/2006/relationships/slideLayout" Target="../slideLayouts/slideLayout7.xml"/><Relationship Id="rId71" Type="http://schemas.openxmlformats.org/officeDocument/2006/relationships/tags" Target="../tags/tag878.xml"/><Relationship Id="rId70" Type="http://schemas.openxmlformats.org/officeDocument/2006/relationships/tags" Target="../tags/tag877.xml"/><Relationship Id="rId7" Type="http://schemas.openxmlformats.org/officeDocument/2006/relationships/tags" Target="../tags/tag814.xml"/><Relationship Id="rId69" Type="http://schemas.openxmlformats.org/officeDocument/2006/relationships/tags" Target="../tags/tag876.xml"/><Relationship Id="rId68" Type="http://schemas.openxmlformats.org/officeDocument/2006/relationships/tags" Target="../tags/tag875.xml"/><Relationship Id="rId67" Type="http://schemas.openxmlformats.org/officeDocument/2006/relationships/tags" Target="../tags/tag874.xml"/><Relationship Id="rId66" Type="http://schemas.openxmlformats.org/officeDocument/2006/relationships/tags" Target="../tags/tag873.xml"/><Relationship Id="rId65" Type="http://schemas.openxmlformats.org/officeDocument/2006/relationships/tags" Target="../tags/tag872.xml"/><Relationship Id="rId64" Type="http://schemas.openxmlformats.org/officeDocument/2006/relationships/tags" Target="../tags/tag871.xml"/><Relationship Id="rId63" Type="http://schemas.openxmlformats.org/officeDocument/2006/relationships/tags" Target="../tags/tag870.xml"/><Relationship Id="rId62" Type="http://schemas.openxmlformats.org/officeDocument/2006/relationships/tags" Target="../tags/tag869.xml"/><Relationship Id="rId61" Type="http://schemas.openxmlformats.org/officeDocument/2006/relationships/tags" Target="../tags/tag868.xml"/><Relationship Id="rId60" Type="http://schemas.openxmlformats.org/officeDocument/2006/relationships/tags" Target="../tags/tag867.xml"/><Relationship Id="rId6" Type="http://schemas.openxmlformats.org/officeDocument/2006/relationships/tags" Target="../tags/tag813.xml"/><Relationship Id="rId59" Type="http://schemas.openxmlformats.org/officeDocument/2006/relationships/tags" Target="../tags/tag866.xml"/><Relationship Id="rId58" Type="http://schemas.openxmlformats.org/officeDocument/2006/relationships/tags" Target="../tags/tag865.xml"/><Relationship Id="rId57" Type="http://schemas.openxmlformats.org/officeDocument/2006/relationships/tags" Target="../tags/tag864.xml"/><Relationship Id="rId56" Type="http://schemas.openxmlformats.org/officeDocument/2006/relationships/tags" Target="../tags/tag863.xml"/><Relationship Id="rId55" Type="http://schemas.openxmlformats.org/officeDocument/2006/relationships/tags" Target="../tags/tag862.xml"/><Relationship Id="rId54" Type="http://schemas.openxmlformats.org/officeDocument/2006/relationships/tags" Target="../tags/tag861.xml"/><Relationship Id="rId53" Type="http://schemas.openxmlformats.org/officeDocument/2006/relationships/tags" Target="../tags/tag860.xml"/><Relationship Id="rId52" Type="http://schemas.openxmlformats.org/officeDocument/2006/relationships/tags" Target="../tags/tag859.xml"/><Relationship Id="rId51" Type="http://schemas.openxmlformats.org/officeDocument/2006/relationships/tags" Target="../tags/tag858.xml"/><Relationship Id="rId50" Type="http://schemas.openxmlformats.org/officeDocument/2006/relationships/tags" Target="../tags/tag857.xml"/><Relationship Id="rId5" Type="http://schemas.openxmlformats.org/officeDocument/2006/relationships/tags" Target="../tags/tag812.xml"/><Relationship Id="rId49" Type="http://schemas.openxmlformats.org/officeDocument/2006/relationships/tags" Target="../tags/tag856.xml"/><Relationship Id="rId48" Type="http://schemas.openxmlformats.org/officeDocument/2006/relationships/tags" Target="../tags/tag855.xml"/><Relationship Id="rId47" Type="http://schemas.openxmlformats.org/officeDocument/2006/relationships/tags" Target="../tags/tag854.xml"/><Relationship Id="rId46" Type="http://schemas.openxmlformats.org/officeDocument/2006/relationships/tags" Target="../tags/tag853.xml"/><Relationship Id="rId45" Type="http://schemas.openxmlformats.org/officeDocument/2006/relationships/tags" Target="../tags/tag852.xml"/><Relationship Id="rId44" Type="http://schemas.openxmlformats.org/officeDocument/2006/relationships/tags" Target="../tags/tag851.xml"/><Relationship Id="rId43" Type="http://schemas.openxmlformats.org/officeDocument/2006/relationships/tags" Target="../tags/tag850.xml"/><Relationship Id="rId42" Type="http://schemas.openxmlformats.org/officeDocument/2006/relationships/tags" Target="../tags/tag849.xml"/><Relationship Id="rId41" Type="http://schemas.openxmlformats.org/officeDocument/2006/relationships/tags" Target="../tags/tag848.xml"/><Relationship Id="rId40" Type="http://schemas.openxmlformats.org/officeDocument/2006/relationships/tags" Target="../tags/tag847.xml"/><Relationship Id="rId4" Type="http://schemas.openxmlformats.org/officeDocument/2006/relationships/tags" Target="../tags/tag811.xml"/><Relationship Id="rId39" Type="http://schemas.openxmlformats.org/officeDocument/2006/relationships/tags" Target="../tags/tag846.xml"/><Relationship Id="rId38" Type="http://schemas.openxmlformats.org/officeDocument/2006/relationships/tags" Target="../tags/tag845.xml"/><Relationship Id="rId37" Type="http://schemas.openxmlformats.org/officeDocument/2006/relationships/tags" Target="../tags/tag844.xml"/><Relationship Id="rId36" Type="http://schemas.openxmlformats.org/officeDocument/2006/relationships/tags" Target="../tags/tag843.xml"/><Relationship Id="rId35" Type="http://schemas.openxmlformats.org/officeDocument/2006/relationships/tags" Target="../tags/tag842.xml"/><Relationship Id="rId34" Type="http://schemas.openxmlformats.org/officeDocument/2006/relationships/tags" Target="../tags/tag841.xml"/><Relationship Id="rId33" Type="http://schemas.openxmlformats.org/officeDocument/2006/relationships/tags" Target="../tags/tag840.xml"/><Relationship Id="rId32" Type="http://schemas.openxmlformats.org/officeDocument/2006/relationships/tags" Target="../tags/tag839.xml"/><Relationship Id="rId31" Type="http://schemas.openxmlformats.org/officeDocument/2006/relationships/tags" Target="../tags/tag838.xml"/><Relationship Id="rId30" Type="http://schemas.openxmlformats.org/officeDocument/2006/relationships/tags" Target="../tags/tag837.xml"/><Relationship Id="rId3" Type="http://schemas.openxmlformats.org/officeDocument/2006/relationships/tags" Target="../tags/tag810.xml"/><Relationship Id="rId29" Type="http://schemas.openxmlformats.org/officeDocument/2006/relationships/tags" Target="../tags/tag836.xml"/><Relationship Id="rId28" Type="http://schemas.openxmlformats.org/officeDocument/2006/relationships/tags" Target="../tags/tag835.xml"/><Relationship Id="rId27" Type="http://schemas.openxmlformats.org/officeDocument/2006/relationships/tags" Target="../tags/tag834.xml"/><Relationship Id="rId26" Type="http://schemas.openxmlformats.org/officeDocument/2006/relationships/tags" Target="../tags/tag833.xml"/><Relationship Id="rId25" Type="http://schemas.openxmlformats.org/officeDocument/2006/relationships/tags" Target="../tags/tag832.xml"/><Relationship Id="rId24" Type="http://schemas.openxmlformats.org/officeDocument/2006/relationships/tags" Target="../tags/tag831.xml"/><Relationship Id="rId23" Type="http://schemas.openxmlformats.org/officeDocument/2006/relationships/tags" Target="../tags/tag830.xml"/><Relationship Id="rId22" Type="http://schemas.openxmlformats.org/officeDocument/2006/relationships/tags" Target="../tags/tag829.xml"/><Relationship Id="rId21" Type="http://schemas.openxmlformats.org/officeDocument/2006/relationships/tags" Target="../tags/tag828.xml"/><Relationship Id="rId20" Type="http://schemas.openxmlformats.org/officeDocument/2006/relationships/tags" Target="../tags/tag827.xml"/><Relationship Id="rId2" Type="http://schemas.openxmlformats.org/officeDocument/2006/relationships/tags" Target="../tags/tag809.xml"/><Relationship Id="rId19" Type="http://schemas.openxmlformats.org/officeDocument/2006/relationships/tags" Target="../tags/tag826.xml"/><Relationship Id="rId18" Type="http://schemas.openxmlformats.org/officeDocument/2006/relationships/tags" Target="../tags/tag825.xml"/><Relationship Id="rId17" Type="http://schemas.openxmlformats.org/officeDocument/2006/relationships/tags" Target="../tags/tag824.xml"/><Relationship Id="rId16" Type="http://schemas.openxmlformats.org/officeDocument/2006/relationships/tags" Target="../tags/tag823.xml"/><Relationship Id="rId15" Type="http://schemas.openxmlformats.org/officeDocument/2006/relationships/tags" Target="../tags/tag822.xml"/><Relationship Id="rId14" Type="http://schemas.openxmlformats.org/officeDocument/2006/relationships/tags" Target="../tags/tag821.xml"/><Relationship Id="rId13" Type="http://schemas.openxmlformats.org/officeDocument/2006/relationships/tags" Target="../tags/tag820.xml"/><Relationship Id="rId12" Type="http://schemas.openxmlformats.org/officeDocument/2006/relationships/tags" Target="../tags/tag819.xml"/><Relationship Id="rId11" Type="http://schemas.openxmlformats.org/officeDocument/2006/relationships/tags" Target="../tags/tag818.xml"/><Relationship Id="rId10" Type="http://schemas.openxmlformats.org/officeDocument/2006/relationships/tags" Target="../tags/tag817.xml"/><Relationship Id="rId1" Type="http://schemas.openxmlformats.org/officeDocument/2006/relationships/tags" Target="../tags/tag808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881.xml"/><Relationship Id="rId2" Type="http://schemas.openxmlformats.org/officeDocument/2006/relationships/tags" Target="../tags/tag880.xml"/><Relationship Id="rId1" Type="http://schemas.openxmlformats.org/officeDocument/2006/relationships/tags" Target="../tags/tag87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83.xml"/><Relationship Id="rId1" Type="http://schemas.openxmlformats.org/officeDocument/2006/relationships/tags" Target="../tags/tag88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85.xml"/><Relationship Id="rId1" Type="http://schemas.openxmlformats.org/officeDocument/2006/relationships/tags" Target="../tags/tag8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D137-C19B-469C-BA78-A0BD1EA0AC38}" type="slidenum">
              <a:rPr lang="en-US" altLang="zh-CN"/>
            </a:fld>
            <a:endParaRPr lang="en-US" altLang="zh-CN"/>
          </a:p>
        </p:txBody>
      </p:sp>
      <p:sp>
        <p:nvSpPr>
          <p:cNvPr id="2053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58888" y="2595562"/>
            <a:ext cx="6697662" cy="822341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p>
            <a:pPr algn="ctr">
              <a:lnSpc>
                <a:spcPct val="125000"/>
              </a:lnSpc>
            </a:pPr>
            <a:r>
              <a:rPr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第四章  指令系统 </a:t>
            </a:r>
            <a:endParaRPr lang="zh-CN" altLang="en-US" sz="4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0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2844" y="426869"/>
            <a:ext cx="8749636" cy="58623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b="1" u="none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主要内容</a:t>
            </a:r>
            <a:endParaRPr lang="en-US" altLang="zh-CN" b="1" u="none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⑴指令系统的组成         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指令的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表示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指令功能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，指令格式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组成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信息表示方法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操作码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编码，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指令字组成   </a:t>
            </a:r>
            <a:r>
              <a:rPr lang="en-US" altLang="zh-CN" sz="20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操作的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编码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[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表示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]</a:t>
            </a:r>
            <a:r>
              <a:rPr lang="en-US" altLang="zh-CN" sz="20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⑵操作数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(OPD)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的存放  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数据的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地址组成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OPD</a:t>
            </a:r>
            <a:r>
              <a:rPr lang="zh-CN" altLang="en-US" sz="2200" b="1" u="none" spc="-50" dirty="0" smtClean="0">
                <a:solidFill>
                  <a:schemeClr val="tx1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sz="2200" b="1" u="none" spc="-50" dirty="0" smtClean="0">
                <a:solidFill>
                  <a:schemeClr val="tx1"/>
                </a:solidFill>
                <a:latin typeface="宋体" panose="02010600030101010101" pitchFamily="2" charset="-122"/>
              </a:rPr>
              <a:t>REG</a:t>
            </a:r>
            <a:r>
              <a:rPr lang="zh-CN" altLang="en-US" sz="2200" b="1" u="none" spc="-50" dirty="0" smtClean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b="1" u="none" spc="-50" dirty="0" smtClean="0">
                <a:solidFill>
                  <a:schemeClr val="tx1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u="none" spc="-50" dirty="0" smtClean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b="1" u="none" spc="-50" dirty="0" smtClean="0">
                <a:solidFill>
                  <a:schemeClr val="tx1"/>
                </a:solidFill>
                <a:latin typeface="宋体" panose="02010600030101010101" pitchFamily="2" charset="-122"/>
              </a:rPr>
              <a:t>IR</a:t>
            </a:r>
            <a:r>
              <a:rPr lang="zh-CN" altLang="en-US" sz="2200" b="1" u="none" spc="-50" dirty="0" smtClean="0">
                <a:solidFill>
                  <a:schemeClr val="tx1"/>
                </a:solidFill>
                <a:latin typeface="宋体" panose="02010600030101010101" pitchFamily="2" charset="-122"/>
              </a:rPr>
              <a:t>中的存放方式、地址表示</a:t>
            </a:r>
            <a:endParaRPr lang="en-US" altLang="zh-CN" sz="2200" b="1" u="none" spc="-50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⑶寻址方式               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地址的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编码</a:t>
            </a:r>
            <a:r>
              <a:rPr lang="en-US" altLang="zh-CN" sz="2000" b="1" dirty="0">
                <a:latin typeface="宋体" panose="02010600030101010101" pitchFamily="2" charset="-122"/>
              </a:rPr>
              <a:t>[</a:t>
            </a:r>
            <a:r>
              <a:rPr lang="zh-CN" altLang="en-US" sz="2000" b="1" dirty="0">
                <a:latin typeface="宋体" panose="02010600030101010101" pitchFamily="2" charset="-122"/>
              </a:rPr>
              <a:t>表示</a:t>
            </a:r>
            <a:r>
              <a:rPr lang="en-US" altLang="zh-CN" sz="2000" b="1" dirty="0">
                <a:latin typeface="宋体" panose="02010600030101010101" pitchFamily="2" charset="-122"/>
              </a:rPr>
              <a:t>]</a:t>
            </a:r>
            <a:r>
              <a:rPr lang="en-US" altLang="zh-CN" sz="2000" b="1" u="none" dirty="0" smtClean="0">
                <a:latin typeface="宋体" panose="02010600030101010101" pitchFamily="2" charset="-122"/>
              </a:rPr>
              <a:t>)</a:t>
            </a:r>
            <a:endParaRPr lang="en-US" altLang="zh-CN" sz="2200" b="1" u="none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u="none" dirty="0" smtClean="0">
                <a:solidFill>
                  <a:schemeClr val="tx1"/>
                </a:solidFill>
              </a:rPr>
              <a:t>     </a:t>
            </a:r>
            <a:r>
              <a:rPr lang="en-US" altLang="zh-CN" sz="2200" b="1" u="none" dirty="0" smtClean="0">
                <a:solidFill>
                  <a:schemeClr val="tx1"/>
                </a:solidFill>
              </a:rPr>
              <a:t>     </a:t>
            </a:r>
            <a:r>
              <a:rPr lang="zh-CN" altLang="en-US" sz="2200" b="1" u="none" dirty="0" smtClean="0">
                <a:solidFill>
                  <a:schemeClr val="tx1"/>
                </a:solidFill>
              </a:rPr>
              <a:t>指令寻址方式，数据寻址方式，指令格式分析</a:t>
            </a:r>
            <a:r>
              <a:rPr lang="en-US" altLang="zh-CN" sz="2000" b="1" u="none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2000" b="1" u="none" dirty="0" smtClean="0">
                <a:latin typeface="+mn-ea"/>
                <a:ea typeface="+mn-ea"/>
              </a:rPr>
              <a:t>举例</a:t>
            </a:r>
            <a:r>
              <a:rPr lang="en-US" altLang="zh-CN" sz="2000" b="1" u="none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zh-CN" sz="2000" b="1" u="none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⑷指令系统举例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spc="-100" dirty="0"/>
              <a:t>△</a:t>
            </a:r>
            <a:r>
              <a:rPr lang="en-US" altLang="zh-CN" sz="2000" b="1" spc="-100" dirty="0">
                <a:latin typeface="+mn-ea"/>
              </a:rPr>
              <a:t>)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>
                <a:latin typeface="宋体" panose="02010600030101010101" pitchFamily="2" charset="-122"/>
              </a:rPr>
              <a:t>     ISA</a:t>
            </a:r>
            <a:r>
              <a:rPr lang="zh-CN" altLang="en-US" sz="2200" b="1" u="none" dirty="0" smtClean="0">
                <a:latin typeface="宋体" panose="02010600030101010101" pitchFamily="2" charset="-122"/>
              </a:rPr>
              <a:t>的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数据表示、</a:t>
            </a:r>
            <a:r>
              <a:rPr lang="en-US" altLang="zh-CN" sz="2200" b="1" u="none" spc="-50" dirty="0" smtClean="0">
                <a:latin typeface="宋体" panose="02010600030101010101" pitchFamily="2" charset="-122"/>
              </a:rPr>
              <a:t>OPD</a:t>
            </a:r>
            <a:r>
              <a:rPr lang="zh-CN" altLang="en-US" sz="2200" b="1" u="none" spc="-50" dirty="0" smtClean="0">
                <a:latin typeface="宋体" panose="02010600030101010101" pitchFamily="2" charset="-122"/>
              </a:rPr>
              <a:t>存放、寻址方式、指令格式、指令功能</a:t>
            </a:r>
            <a:endParaRPr lang="en-US" altLang="zh-CN" sz="2200" b="1" u="none" spc="-50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⑸指令系统的发展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spc="-100" dirty="0"/>
              <a:t>△</a:t>
            </a:r>
            <a:r>
              <a:rPr lang="en-US" altLang="zh-CN" sz="2000" b="1" spc="-100" dirty="0">
                <a:latin typeface="+mn-ea"/>
              </a:rPr>
              <a:t>)</a:t>
            </a:r>
            <a:endParaRPr lang="en-US" altLang="zh-CN" sz="2200" b="1" u="none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CISC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宋体" panose="02010600030101010101" pitchFamily="2" charset="-122"/>
              </a:rPr>
              <a:t>RISC</a:t>
            </a:r>
            <a:endParaRPr lang="en-US" altLang="zh-CN" sz="2200" b="1" u="none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总体要求：</a:t>
            </a:r>
            <a:r>
              <a:rPr lang="zh-CN" altLang="en-US" sz="2200" b="1" u="sng" dirty="0">
                <a:solidFill>
                  <a:schemeClr val="accent2"/>
                </a:solidFill>
              </a:rPr>
              <a:t>理解</a:t>
            </a:r>
            <a:r>
              <a:rPr lang="zh-CN" altLang="en-US" sz="2200" b="1" dirty="0" smtClean="0"/>
              <a:t>指令所含信息</a:t>
            </a:r>
            <a:r>
              <a:rPr lang="zh-CN" altLang="en-US" sz="2200" b="1" dirty="0"/>
              <a:t>的表示方法，</a:t>
            </a:r>
            <a:r>
              <a:rPr lang="zh-CN" altLang="en-US" sz="2200" b="1" u="sng" dirty="0" smtClean="0">
                <a:solidFill>
                  <a:schemeClr val="accent2"/>
                </a:solidFill>
              </a:rPr>
              <a:t>能</a:t>
            </a:r>
            <a:r>
              <a:rPr lang="zh-CN" altLang="en-US" sz="2200" b="1" dirty="0" smtClean="0"/>
              <a:t>按给定</a:t>
            </a:r>
            <a:r>
              <a:rPr lang="en-US" altLang="zh-CN" sz="2200" b="1" dirty="0" smtClean="0">
                <a:latin typeface="+mn-ea"/>
                <a:ea typeface="+mn-ea"/>
              </a:rPr>
              <a:t>ISA</a:t>
            </a:r>
            <a:r>
              <a:rPr lang="zh-CN" altLang="en-US" sz="2200" b="1" u="sng" dirty="0" smtClean="0">
                <a:solidFill>
                  <a:schemeClr val="accent2"/>
                </a:solidFill>
                <a:latin typeface="+mn-ea"/>
              </a:rPr>
              <a:t>编程</a:t>
            </a:r>
            <a:endParaRPr lang="en-US" altLang="zh-CN" sz="2200" b="1" u="sng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AutoShape 452">
            <a:hlinkClick r:id="rId2" action="ppaction://hlinksldjump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0800000">
            <a:off x="7739528" y="981423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5" name="AutoShape 452">
            <a:hlinkClick r:id="rId4" tooltip="" action="ppaction://hlinksldjump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7738834" y="234888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6" name="AutoShape 452">
            <a:hlinkClick r:id="rId6" tooltip="" action="ppaction://hlinksldjump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>
            <a:off x="7739528" y="3212975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7" name="AutoShape 452">
            <a:hlinkClick r:id="rId8" tooltip="" action="ppaction://hlinksldjump" highlightClick="1"/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rot="10800000">
            <a:off x="7738834" y="4076377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8" name="AutoShape 452">
            <a:hlinkClick r:id="rId10" tooltip="" action="ppaction://hlinksldjump" highlightClick="1"/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 rot="10800000">
            <a:off x="7738835" y="4941862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9" name="弧形 8"/>
          <p:cNvSpPr/>
          <p:nvPr>
            <p:custDataLst>
              <p:tags r:id="rId12"/>
            </p:custDataLst>
          </p:nvPr>
        </p:nvSpPr>
        <p:spPr bwMode="auto">
          <a:xfrm>
            <a:off x="6552000" y="2520000"/>
            <a:ext cx="504056" cy="864000"/>
          </a:xfrm>
          <a:prstGeom prst="arc">
            <a:avLst>
              <a:gd name="adj1" fmla="val 16200000"/>
              <a:gd name="adj2" fmla="val 5472397"/>
            </a:avLst>
          </a:prstGeom>
          <a:noFill/>
          <a:ln w="15875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60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332656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§4.1 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指令系统组成</a:t>
            </a:r>
            <a:endParaRPr lang="zh-CN" altLang="en-US" sz="2800" b="1" dirty="0" smtClean="0">
              <a:latin typeface="宋体" panose="02010600030101010101" pitchFamily="2" charset="-122"/>
            </a:endParaRPr>
          </a:p>
        </p:txBody>
      </p:sp>
      <p:sp>
        <p:nvSpPr>
          <p:cNvPr id="63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836965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>
              <a:lnSpc>
                <a:spcPct val="125000"/>
              </a:lnSpc>
            </a:pP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指令功能，指令格式，操作码编码，指令字</a:t>
            </a:r>
            <a:endParaRPr lang="zh-CN" altLang="en-US" sz="2000" b="1" dirty="0" smtClean="0">
              <a:latin typeface="宋体" panose="02010600030101010101" pitchFamily="2" charset="-122"/>
            </a:endParaRPr>
          </a:p>
        </p:txBody>
      </p:sp>
      <p:sp>
        <p:nvSpPr>
          <p:cNvPr id="64" name="Text Box 13"/>
          <p:cNvSpPr txBox="1">
            <a:spLocks noChangeArrowheads="1"/>
          </p:cNvSpPr>
          <p:nvPr/>
        </p:nvSpPr>
        <p:spPr bwMode="auto">
          <a:xfrm>
            <a:off x="152400" y="1289685"/>
            <a:ext cx="7435215" cy="51390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*计算机系统组成回顾：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硬件组成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     CPU+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主存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+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外设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软件组成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148205" indent="-2148205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sz="2200" b="1" dirty="0" smtClean="0">
                <a:latin typeface="宋体" panose="02010600030101010101" pitchFamily="2" charset="-122"/>
                <a:sym typeface="+mn-ea"/>
              </a:rPr>
              <a:t>程序由</a:t>
            </a:r>
            <a:r>
              <a:rPr lang="zh-CN" sz="2200" b="1" u="sng" dirty="0" smtClean="0">
                <a:latin typeface="宋体" panose="02010600030101010101" pitchFamily="2" charset="-122"/>
                <a:sym typeface="+mn-ea"/>
              </a:rPr>
              <a:t>指令序列</a:t>
            </a:r>
            <a:r>
              <a:rPr lang="zh-CN" sz="2200" b="1" dirty="0" smtClean="0">
                <a:latin typeface="宋体" panose="02010600030101010101" pitchFamily="2" charset="-122"/>
                <a:sym typeface="+mn-ea"/>
              </a:rPr>
              <a:t>组成；</a:t>
            </a:r>
            <a:endParaRPr lang="zh-CN" sz="2200" b="1" dirty="0" smtClean="0">
              <a:latin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sz="2200" b="1" dirty="0" smtClean="0">
                <a:latin typeface="宋体" panose="02010600030101010101" pitchFamily="2" charset="-122"/>
                <a:sym typeface="+mn-ea"/>
              </a:rPr>
              <a:t>指令由</a:t>
            </a:r>
            <a:r>
              <a:rPr lang="zh-CN" sz="2200" b="1" u="sng" dirty="0" smtClean="0">
                <a:latin typeface="宋体" panose="02010600030101010101" pitchFamily="2" charset="-122"/>
                <a:sym typeface="+mn-ea"/>
              </a:rPr>
              <a:t>操作码</a:t>
            </a:r>
            <a:r>
              <a:rPr lang="en-US" altLang="zh-CN" sz="2200" b="1" u="sng" dirty="0" smtClean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地址码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组成、用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二进制编码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表示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工作方式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软件的执行方式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循环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的指令执行过程；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指令执行过程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包括：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取指令、分析指令、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执行指令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、计算指令地址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00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</a:t>
            </a:r>
            <a:r>
              <a:rPr lang="en-US" altLang="zh-CN" sz="1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操作数、操作、写结果</a:t>
            </a:r>
            <a:endParaRPr lang="zh-CN" altLang="en-US" sz="18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软硬件接口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交界面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7" name="Text Box 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80105" y="5447030"/>
            <a:ext cx="5629275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148205" indent="-214820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sz="2200" b="1" u="sng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指令系统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约定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硬件具备的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所有功能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    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即所有指令的功能→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┘</a:t>
            </a:r>
            <a:endParaRPr lang="zh-CN" altLang="en-US" sz="1600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6984245" y="3563020"/>
            <a:ext cx="1906765" cy="1341202"/>
            <a:chOff x="7878398" y="3628092"/>
            <a:chExt cx="1906765" cy="1341202"/>
          </a:xfrm>
        </p:grpSpPr>
        <p:sp>
          <p:nvSpPr>
            <p:cNvPr id="66" name="Text Box 3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8273163" y="3628092"/>
              <a:ext cx="1512000" cy="133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36195" tIns="10800" rIns="36195" bIns="10800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R[1]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M[</a:t>
              </a:r>
              <a:r>
                <a:rPr lang="en-US" altLang="zh-CN" sz="1600" b="1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204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]+2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R[1]=0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时</a:t>
              </a:r>
              <a:r>
                <a:rPr lang="zh-CN" sz="1600" b="1" dirty="0" smtClean="0">
                  <a:latin typeface="宋体" panose="02010600030101010101" pitchFamily="2" charset="-122"/>
                </a:rPr>
                <a:t>转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203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M[</a:t>
              </a:r>
              <a:r>
                <a:rPr lang="en-US" altLang="zh-CN" sz="1600" b="1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2005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]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8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停机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转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800)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x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flag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7" name="Text Box 3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878398" y="3637294"/>
              <a:ext cx="396000" cy="133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17780" tIns="10795" rIns="17780" bIns="10795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200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201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202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203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204</a:t>
              </a:r>
              <a:endParaRPr lang="en-US" altLang="zh-CN" sz="1600" b="1" dirty="0" smtClean="0">
                <a:solidFill>
                  <a:srgbClr val="0070C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205</a:t>
              </a:r>
              <a:endParaRPr lang="en-US" altLang="zh-CN" sz="1600" b="1" dirty="0" smtClean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8" name="直接连接符 67"/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8273163" y="3844092"/>
              <a:ext cx="1512000" cy="1424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/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8273163" y="4060092"/>
              <a:ext cx="1512000" cy="1424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8273163" y="4276092"/>
              <a:ext cx="1512000" cy="1424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9"/>
              </p:custDataLst>
            </p:nvPr>
          </p:nvCxnSpPr>
          <p:spPr bwMode="auto">
            <a:xfrm>
              <a:off x="8273163" y="4528092"/>
              <a:ext cx="1512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10"/>
              </p:custDataLst>
            </p:nvPr>
          </p:nvCxnSpPr>
          <p:spPr bwMode="auto">
            <a:xfrm>
              <a:off x="8273163" y="4744092"/>
              <a:ext cx="1512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6" name="组合 85"/>
          <p:cNvGrpSpPr/>
          <p:nvPr/>
        </p:nvGrpSpPr>
        <p:grpSpPr>
          <a:xfrm>
            <a:off x="7236296" y="5049714"/>
            <a:ext cx="1656120" cy="252000"/>
            <a:chOff x="2447892" y="4509120"/>
            <a:chExt cx="1656120" cy="252000"/>
          </a:xfrm>
        </p:grpSpPr>
        <p:sp>
          <p:nvSpPr>
            <p:cNvPr id="75" name="Text Box 65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447892" y="4509120"/>
              <a:ext cx="576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8" name="Text Box 65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023940" y="4509120"/>
              <a:ext cx="43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6" name="Text Box 65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456012" y="4509120"/>
              <a:ext cx="64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A2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955415" y="1665605"/>
            <a:ext cx="4824095" cy="1692275"/>
            <a:chOff x="4082" y="7143"/>
            <a:chExt cx="7597" cy="2665"/>
          </a:xfrm>
        </p:grpSpPr>
        <p:sp>
          <p:nvSpPr>
            <p:cNvPr id="5" name="Rectangle 90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082" y="7143"/>
              <a:ext cx="5499" cy="2665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1" name="Rectangle 184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803" y="7710"/>
              <a:ext cx="1644" cy="1814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rgbClr val="000000"/>
              </a:solidFill>
              <a:prstDash val="solid"/>
              <a:miter lim="800000"/>
            </a:ln>
          </p:spPr>
          <p:txBody>
            <a:bodyPr vert="eaVert" lIns="0" tIns="0" rIns="0" bIns="0"/>
            <a:p>
              <a:pPr algn="ctr"/>
              <a:endParaRPr lang="zh-CN" altLang="en-US" sz="2000" b="1"/>
            </a:p>
            <a:p>
              <a:pPr algn="ctr"/>
              <a:endParaRPr lang="zh-CN" altLang="en-US" sz="1800" b="1"/>
            </a:p>
          </p:txBody>
        </p:sp>
        <p:sp>
          <p:nvSpPr>
            <p:cNvPr id="62" name="Rectangle 184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195" y="7200"/>
              <a:ext cx="2098" cy="2551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000000"/>
              </a:solidFill>
              <a:prstDash val="solid"/>
              <a:miter lim="800000"/>
            </a:ln>
          </p:spPr>
          <p:txBody>
            <a:bodyPr vert="eaVert" lIns="0" tIns="0" rIns="0" bIns="0"/>
            <a:p>
              <a:pPr algn="ctr"/>
              <a:endParaRPr lang="zh-CN" altLang="en-US" sz="2000" b="1"/>
            </a:p>
            <a:p>
              <a:pPr algn="ctr"/>
              <a:endParaRPr lang="zh-CN" altLang="en-US" sz="1800" b="1"/>
            </a:p>
          </p:txBody>
        </p:sp>
        <p:cxnSp>
          <p:nvCxnSpPr>
            <p:cNvPr id="92" name="直接连接符 91"/>
            <p:cNvCxnSpPr/>
            <p:nvPr>
              <p:custDataLst>
                <p:tags r:id="rId17"/>
              </p:custDataLst>
            </p:nvPr>
          </p:nvCxnSpPr>
          <p:spPr>
            <a:xfrm flipH="1">
              <a:off x="5754" y="8844"/>
              <a:ext cx="65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5" name="直接连接符 94"/>
            <p:cNvCxnSpPr/>
            <p:nvPr>
              <p:custDataLst>
                <p:tags r:id="rId18"/>
              </p:custDataLst>
            </p:nvPr>
          </p:nvCxnSpPr>
          <p:spPr>
            <a:xfrm flipH="1">
              <a:off x="5329" y="7257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1" name="直接连接符 100"/>
            <p:cNvCxnSpPr/>
            <p:nvPr>
              <p:custDataLst>
                <p:tags r:id="rId19"/>
              </p:custDataLst>
            </p:nvPr>
          </p:nvCxnSpPr>
          <p:spPr>
            <a:xfrm flipV="1">
              <a:off x="5329" y="7257"/>
              <a:ext cx="3855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直接连接符 122"/>
            <p:cNvCxnSpPr/>
            <p:nvPr>
              <p:custDataLst>
                <p:tags r:id="rId20"/>
              </p:custDataLst>
            </p:nvPr>
          </p:nvCxnSpPr>
          <p:spPr>
            <a:xfrm>
              <a:off x="9581" y="9298"/>
              <a:ext cx="1531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7" name="Text Box 10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9638" y="8901"/>
              <a:ext cx="79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地址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28" name="直接连接符 127"/>
            <p:cNvCxnSpPr/>
            <p:nvPr>
              <p:custDataLst>
                <p:tags r:id="rId22"/>
              </p:custDataLst>
            </p:nvPr>
          </p:nvCxnSpPr>
          <p:spPr>
            <a:xfrm>
              <a:off x="9581" y="7989"/>
              <a:ext cx="153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9" name="Text Box 10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9638" y="7563"/>
              <a:ext cx="79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数据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30" name="直接连接符 129"/>
            <p:cNvCxnSpPr/>
            <p:nvPr>
              <p:custDataLst>
                <p:tags r:id="rId24"/>
              </p:custDataLst>
            </p:nvPr>
          </p:nvCxnSpPr>
          <p:spPr>
            <a:xfrm>
              <a:off x="8277" y="8731"/>
              <a:ext cx="2835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4" name="Text Box 10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9638" y="8220"/>
              <a:ext cx="79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控制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39" name="Text Box 9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8334" y="7313"/>
              <a:ext cx="68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C00000"/>
                  </a:solidFill>
                  <a:latin typeface="+mn-ea"/>
                  <a:ea typeface="+mn-ea"/>
                </a:rPr>
                <a:t>CPU</a:t>
              </a:r>
              <a:endParaRPr lang="en-US" altLang="zh-CN" sz="1800" b="1" dirty="0">
                <a:solidFill>
                  <a:srgbClr val="C0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140" name="直接连接符 139"/>
            <p:cNvCxnSpPr/>
            <p:nvPr>
              <p:custDataLst>
                <p:tags r:id="rId27"/>
              </p:custDataLst>
            </p:nvPr>
          </p:nvCxnSpPr>
          <p:spPr>
            <a:xfrm flipH="1">
              <a:off x="8277" y="8617"/>
              <a:ext cx="2835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" name="AutoShape 189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762" y="8561"/>
              <a:ext cx="1134" cy="454"/>
            </a:xfrm>
            <a:custGeom>
              <a:avLst/>
              <a:gdLst>
                <a:gd name="G0" fmla="+- 4060 0 0"/>
                <a:gd name="G1" fmla="+- 21600 0 4060"/>
                <a:gd name="G2" fmla="*/ 4060 1 2"/>
                <a:gd name="G3" fmla="+- 21600 0 G2"/>
                <a:gd name="G4" fmla="+/ 4060 21600 2"/>
                <a:gd name="G5" fmla="+/ G1 0 2"/>
                <a:gd name="G6" fmla="*/ 21600 21600 4060"/>
                <a:gd name="G7" fmla="*/ G6 1 2"/>
                <a:gd name="G8" fmla="+- 21600 0 G7"/>
                <a:gd name="G9" fmla="*/ 21600 1 2"/>
                <a:gd name="G10" fmla="+- 4060 0 G9"/>
                <a:gd name="G11" fmla="?: G10 G8 0"/>
                <a:gd name="G12" fmla="?: G10 G7 21600"/>
                <a:gd name="T0" fmla="*/ 19570 w 21600"/>
                <a:gd name="T1" fmla="*/ 10800 h 21600"/>
                <a:gd name="T2" fmla="*/ 10800 w 21600"/>
                <a:gd name="T3" fmla="*/ 21600 h 21600"/>
                <a:gd name="T4" fmla="*/ 2030 w 21600"/>
                <a:gd name="T5" fmla="*/ 10800 h 21600"/>
                <a:gd name="T6" fmla="*/ 10800 w 21600"/>
                <a:gd name="T7" fmla="*/ 0 h 21600"/>
                <a:gd name="T8" fmla="*/ 3830 w 21600"/>
                <a:gd name="T9" fmla="*/ 3830 h 21600"/>
                <a:gd name="T10" fmla="*/ 17770 w 21600"/>
                <a:gd name="T11" fmla="*/ 177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060" y="21600"/>
                  </a:lnTo>
                  <a:lnTo>
                    <a:pt x="175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36000" tIns="18000" rIns="36000" bIns="18000" anchor="ctr"/>
            <a:p>
              <a:pPr lvl="0"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ALU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7" name="Text Box 19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762" y="7483"/>
              <a:ext cx="1134" cy="73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寄存器组</a:t>
              </a:r>
              <a:endParaRPr lang="zh-CN" altLang="en-US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30"/>
              </p:custDataLst>
            </p:nvPr>
          </p:nvCxnSpPr>
          <p:spPr>
            <a:xfrm flipH="1">
              <a:off x="5046" y="8220"/>
              <a:ext cx="0" cy="34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" name="直接连接符 10"/>
            <p:cNvCxnSpPr/>
            <p:nvPr>
              <p:custDataLst>
                <p:tags r:id="rId31"/>
              </p:custDataLst>
            </p:nvPr>
          </p:nvCxnSpPr>
          <p:spPr>
            <a:xfrm flipH="1">
              <a:off x="5613" y="8220"/>
              <a:ext cx="0" cy="34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" name="直接连接符 12"/>
            <p:cNvCxnSpPr/>
            <p:nvPr>
              <p:custDataLst>
                <p:tags r:id="rId32"/>
              </p:custDataLst>
            </p:nvPr>
          </p:nvCxnSpPr>
          <p:spPr>
            <a:xfrm flipH="1">
              <a:off x="5216" y="9012"/>
              <a:ext cx="0" cy="34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" name="直接连接符 13"/>
            <p:cNvCxnSpPr/>
            <p:nvPr>
              <p:custDataLst>
                <p:tags r:id="rId33"/>
              </p:custDataLst>
            </p:nvPr>
          </p:nvCxnSpPr>
          <p:spPr>
            <a:xfrm flipH="1">
              <a:off x="5386" y="9012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" name="直接连接符 2"/>
            <p:cNvCxnSpPr/>
            <p:nvPr>
              <p:custDataLst>
                <p:tags r:id="rId34"/>
              </p:custDataLst>
            </p:nvPr>
          </p:nvCxnSpPr>
          <p:spPr>
            <a:xfrm flipV="1">
              <a:off x="5386" y="9241"/>
              <a:ext cx="737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直接连接符 16"/>
            <p:cNvCxnSpPr/>
            <p:nvPr>
              <p:custDataLst>
                <p:tags r:id="rId35"/>
              </p:custDataLst>
            </p:nvPr>
          </p:nvCxnSpPr>
          <p:spPr>
            <a:xfrm flipH="1">
              <a:off x="6123" y="7257"/>
              <a:ext cx="0" cy="1984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sp>
          <p:nvSpPr>
            <p:cNvPr id="21" name="Text Box 19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4309" y="9352"/>
              <a:ext cx="181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状态寄存器</a:t>
              </a:r>
              <a:endParaRPr lang="zh-CN" altLang="en-US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0" name="直接连接符 29"/>
            <p:cNvCxnSpPr/>
            <p:nvPr>
              <p:custDataLst>
                <p:tags r:id="rId37"/>
              </p:custDataLst>
            </p:nvPr>
          </p:nvCxnSpPr>
          <p:spPr>
            <a:xfrm flipV="1">
              <a:off x="6690" y="9298"/>
              <a:ext cx="624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" name="直接连接符 35"/>
            <p:cNvCxnSpPr/>
            <p:nvPr>
              <p:custDataLst>
                <p:tags r:id="rId38"/>
              </p:custDataLst>
            </p:nvPr>
          </p:nvCxnSpPr>
          <p:spPr>
            <a:xfrm flipH="1">
              <a:off x="5896" y="7597"/>
              <a:ext cx="2098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0" name="Text Box 191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8788" y="9128"/>
              <a:ext cx="79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MAR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2" name="直接连接符 111"/>
            <p:cNvCxnSpPr/>
            <p:nvPr>
              <p:custDataLst>
                <p:tags r:id="rId40"/>
              </p:custDataLst>
            </p:nvPr>
          </p:nvCxnSpPr>
          <p:spPr>
            <a:xfrm>
              <a:off x="8221" y="9298"/>
              <a:ext cx="567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" name="Text Box 191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7314" y="9128"/>
              <a:ext cx="907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PC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" name="Text Box 191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6917" y="8504"/>
              <a:ext cx="1361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控制部件</a:t>
              </a:r>
              <a:endParaRPr lang="zh-CN" altLang="en-US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6" name="直接连接符 25"/>
            <p:cNvCxnSpPr/>
            <p:nvPr>
              <p:custDataLst>
                <p:tags r:id="rId43"/>
              </p:custDataLst>
            </p:nvPr>
          </p:nvCxnSpPr>
          <p:spPr>
            <a:xfrm flipH="1">
              <a:off x="7538" y="884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" name="直接连接符 14"/>
            <p:cNvCxnSpPr/>
            <p:nvPr>
              <p:custDataLst>
                <p:tags r:id="rId44"/>
              </p:custDataLst>
            </p:nvPr>
          </p:nvCxnSpPr>
          <p:spPr>
            <a:xfrm flipH="1">
              <a:off x="7540" y="8164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" name="直接连接符 30"/>
            <p:cNvCxnSpPr/>
            <p:nvPr>
              <p:custDataLst>
                <p:tags r:id="rId45"/>
              </p:custDataLst>
            </p:nvPr>
          </p:nvCxnSpPr>
          <p:spPr>
            <a:xfrm flipH="1">
              <a:off x="9184" y="7257"/>
              <a:ext cx="0" cy="56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" name="直接连接符 31"/>
            <p:cNvCxnSpPr/>
            <p:nvPr>
              <p:custDataLst>
                <p:tags r:id="rId46"/>
              </p:custDataLst>
            </p:nvPr>
          </p:nvCxnSpPr>
          <p:spPr>
            <a:xfrm>
              <a:off x="8561" y="8334"/>
              <a:ext cx="2" cy="964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1" name="Text Box 191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8788" y="7824"/>
              <a:ext cx="79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MDR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3" name="直接连接符 112"/>
            <p:cNvCxnSpPr/>
            <p:nvPr>
              <p:custDataLst>
                <p:tags r:id="rId48"/>
              </p:custDataLst>
            </p:nvPr>
          </p:nvCxnSpPr>
          <p:spPr>
            <a:xfrm flipH="1">
              <a:off x="8221" y="7994"/>
              <a:ext cx="567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4" name="Text Box 191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7314" y="7824"/>
              <a:ext cx="907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IR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4" name="直接连接符 33"/>
            <p:cNvCxnSpPr/>
            <p:nvPr>
              <p:custDataLst>
                <p:tags r:id="rId50"/>
              </p:custDataLst>
            </p:nvPr>
          </p:nvCxnSpPr>
          <p:spPr>
            <a:xfrm flipH="1">
              <a:off x="7993" y="8164"/>
              <a:ext cx="0" cy="17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直接连接符 34"/>
            <p:cNvCxnSpPr/>
            <p:nvPr>
              <p:custDataLst>
                <p:tags r:id="rId51"/>
              </p:custDataLst>
            </p:nvPr>
          </p:nvCxnSpPr>
          <p:spPr>
            <a:xfrm flipV="1">
              <a:off x="7994" y="8334"/>
              <a:ext cx="567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直接连接符 36"/>
            <p:cNvCxnSpPr/>
            <p:nvPr>
              <p:custDataLst>
                <p:tags r:id="rId52"/>
              </p:custDataLst>
            </p:nvPr>
          </p:nvCxnSpPr>
          <p:spPr>
            <a:xfrm flipH="1">
              <a:off x="7993" y="7597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直接连接符 37"/>
            <p:cNvCxnSpPr/>
            <p:nvPr>
              <p:custDataLst>
                <p:tags r:id="rId53"/>
              </p:custDataLst>
            </p:nvPr>
          </p:nvCxnSpPr>
          <p:spPr>
            <a:xfrm flipH="1" flipV="1">
              <a:off x="7087" y="8844"/>
              <a:ext cx="0" cy="737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9" name="直接连接符 38"/>
            <p:cNvCxnSpPr/>
            <p:nvPr>
              <p:custDataLst>
                <p:tags r:id="rId54"/>
              </p:custDataLst>
            </p:nvPr>
          </p:nvCxnSpPr>
          <p:spPr>
            <a:xfrm flipV="1">
              <a:off x="6123" y="9581"/>
              <a:ext cx="964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直接连接符 39"/>
            <p:cNvCxnSpPr/>
            <p:nvPr>
              <p:custDataLst>
                <p:tags r:id="rId55"/>
              </p:custDataLst>
            </p:nvPr>
          </p:nvCxnSpPr>
          <p:spPr>
            <a:xfrm flipH="1">
              <a:off x="6690" y="7257"/>
              <a:ext cx="0" cy="2041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cxnSp>
          <p:nvCxnSpPr>
            <p:cNvPr id="41" name="直接连接符 40"/>
            <p:cNvCxnSpPr/>
            <p:nvPr>
              <p:custDataLst>
                <p:tags r:id="rId56"/>
              </p:custDataLst>
            </p:nvPr>
          </p:nvCxnSpPr>
          <p:spPr>
            <a:xfrm flipH="1">
              <a:off x="6406" y="8674"/>
              <a:ext cx="0" cy="17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直接连接符 41"/>
            <p:cNvCxnSpPr/>
            <p:nvPr>
              <p:custDataLst>
                <p:tags r:id="rId57"/>
              </p:custDataLst>
            </p:nvPr>
          </p:nvCxnSpPr>
          <p:spPr>
            <a:xfrm flipH="1">
              <a:off x="6406" y="8674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直接连接符 42"/>
            <p:cNvCxnSpPr/>
            <p:nvPr>
              <p:custDataLst>
                <p:tags r:id="rId58"/>
              </p:custDataLst>
            </p:nvPr>
          </p:nvCxnSpPr>
          <p:spPr>
            <a:xfrm flipH="1">
              <a:off x="5896" y="7994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" name="直接连接符 43"/>
            <p:cNvCxnSpPr/>
            <p:nvPr>
              <p:custDataLst>
                <p:tags r:id="rId59"/>
              </p:custDataLst>
            </p:nvPr>
          </p:nvCxnSpPr>
          <p:spPr>
            <a:xfrm flipH="1">
              <a:off x="6406" y="7994"/>
              <a:ext cx="0" cy="56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直接连接符 44"/>
            <p:cNvCxnSpPr/>
            <p:nvPr>
              <p:custDataLst>
                <p:tags r:id="rId60"/>
              </p:custDataLst>
            </p:nvPr>
          </p:nvCxnSpPr>
          <p:spPr>
            <a:xfrm flipH="1">
              <a:off x="6406" y="8561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直接连接符 45"/>
            <p:cNvCxnSpPr/>
            <p:nvPr>
              <p:custDataLst>
                <p:tags r:id="rId61"/>
              </p:custDataLst>
            </p:nvPr>
          </p:nvCxnSpPr>
          <p:spPr>
            <a:xfrm flipH="1">
              <a:off x="6520" y="8787"/>
              <a:ext cx="397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直接连接符 46"/>
            <p:cNvCxnSpPr/>
            <p:nvPr>
              <p:custDataLst>
                <p:tags r:id="rId62"/>
              </p:custDataLst>
            </p:nvPr>
          </p:nvCxnSpPr>
          <p:spPr>
            <a:xfrm flipH="1">
              <a:off x="6520" y="8787"/>
              <a:ext cx="0" cy="68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直接连接符 47"/>
            <p:cNvCxnSpPr/>
            <p:nvPr>
              <p:custDataLst>
                <p:tags r:id="rId63"/>
              </p:custDataLst>
            </p:nvPr>
          </p:nvCxnSpPr>
          <p:spPr>
            <a:xfrm flipH="1">
              <a:off x="6123" y="9468"/>
              <a:ext cx="397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1" name="Text Box 191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1112" y="7823"/>
              <a:ext cx="567" cy="164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vert="eaVert"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主存储器</a:t>
              </a:r>
              <a:endParaRPr lang="zh-CN" altLang="en-US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2" name="Text Box 191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10318" y="7143"/>
              <a:ext cx="1361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外部设备</a:t>
              </a:r>
              <a:endParaRPr lang="zh-CN" altLang="en-US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3" name="直接连接符 52"/>
            <p:cNvCxnSpPr/>
            <p:nvPr>
              <p:custDataLst>
                <p:tags r:id="rId66"/>
              </p:custDataLst>
            </p:nvPr>
          </p:nvCxnSpPr>
          <p:spPr>
            <a:xfrm flipV="1">
              <a:off x="10884" y="7483"/>
              <a:ext cx="0" cy="1814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med"/>
            </a:ln>
          </p:spPr>
        </p:cxnSp>
        <p:cxnSp>
          <p:nvCxnSpPr>
            <p:cNvPr id="54" name="直接连接符 53"/>
            <p:cNvCxnSpPr/>
            <p:nvPr>
              <p:custDataLst>
                <p:tags r:id="rId67"/>
              </p:custDataLst>
            </p:nvPr>
          </p:nvCxnSpPr>
          <p:spPr>
            <a:xfrm flipV="1">
              <a:off x="10715" y="7483"/>
              <a:ext cx="0" cy="124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 w="med" len="med"/>
            </a:ln>
          </p:spPr>
        </p:cxnSp>
        <p:cxnSp>
          <p:nvCxnSpPr>
            <p:cNvPr id="55" name="直接连接符 54"/>
            <p:cNvCxnSpPr/>
            <p:nvPr>
              <p:custDataLst>
                <p:tags r:id="rId68"/>
              </p:custDataLst>
            </p:nvPr>
          </p:nvCxnSpPr>
          <p:spPr>
            <a:xfrm flipH="1">
              <a:off x="10602" y="7483"/>
              <a:ext cx="0" cy="1134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6" name="直接连接符 55"/>
            <p:cNvCxnSpPr/>
            <p:nvPr>
              <p:custDataLst>
                <p:tags r:id="rId69"/>
              </p:custDataLst>
            </p:nvPr>
          </p:nvCxnSpPr>
          <p:spPr>
            <a:xfrm flipH="1">
              <a:off x="10431" y="7483"/>
              <a:ext cx="0" cy="51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8" name="Text Box 191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7200" y="8164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4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cxnSp>
        <p:nvCxnSpPr>
          <p:cNvPr id="80" name="直接连接符 79"/>
          <p:cNvCxnSpPr/>
          <p:nvPr/>
        </p:nvCxnSpPr>
        <p:spPr>
          <a:xfrm flipH="1">
            <a:off x="5580000" y="3852000"/>
            <a:ext cx="144000" cy="1296000"/>
          </a:xfrm>
          <a:prstGeom prst="line">
            <a:avLst/>
          </a:prstGeom>
          <a:noFill/>
          <a:ln w="12700" cap="flat" cmpd="sng" algn="ctr">
            <a:solidFill>
              <a:srgbClr val="C00000"/>
            </a:solidFill>
            <a:prstDash val="sysDash"/>
            <a:round/>
            <a:headEnd type="triangle" w="med" len="med"/>
            <a:tailEnd type="triangle" w="med" len="med"/>
          </a:ln>
        </p:spPr>
      </p:cxnSp>
      <p:sp>
        <p:nvSpPr>
          <p:cNvPr id="86471" name="AutoShape 45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71"/>
            </p:custDataLst>
          </p:nvPr>
        </p:nvSpPr>
        <p:spPr bwMode="auto">
          <a:xfrm rot="10800000">
            <a:off x="2772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243806" name="AutoShape 94">
            <a:hlinkClick r:id="rId72" action="ppaction://hlinksldjump" highlightClick="1"/>
          </p:cNvPr>
          <p:cNvSpPr>
            <a:spLocks noChangeArrowheads="1"/>
          </p:cNvSpPr>
          <p:nvPr>
            <p:custDataLst>
              <p:tags r:id="rId73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4" name="AutoShape 94">
            <a:hlinkClick r:id="rId74" action="ppaction://hlinksldjump" highlightClick="1"/>
          </p:cNvPr>
          <p:cNvSpPr>
            <a:spLocks noChangeArrowheads="1"/>
          </p:cNvSpPr>
          <p:nvPr>
            <p:custDataLst>
              <p:tags r:id="rId75"/>
            </p:custDataLst>
          </p:nvPr>
        </p:nvSpPr>
        <p:spPr bwMode="auto">
          <a:xfrm rot="10800000">
            <a:off x="5220000" y="650779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52400" y="360000"/>
            <a:ext cx="5464175" cy="41998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*指令系统：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又称指令集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dirty="0" smtClean="0">
                <a:latin typeface="+mn-lt"/>
                <a:sym typeface="+mn-ea"/>
              </a:rPr>
              <a:t>Instruction Set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ISA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目标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内容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评价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设计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结果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风格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83690" y="828040"/>
            <a:ext cx="7252970" cy="42138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148205" indent="-2148205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约定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所有指令的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指令功能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及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指令格式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表示格式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marL="540385" indent="-54038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包括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数据表示、操作数存放方式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、寻址方式、指令功能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、指令格式等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u="sng" dirty="0" smtClean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代码效率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指令字长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指令条数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 smtClean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执行速度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译码时间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执行时间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基于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评测程序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，采用</a:t>
            </a:r>
            <a:r>
              <a:rPr lang="zh-CN" altLang="en-US" sz="2200" b="1" u="sng" dirty="0" smtClean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频带分析法</a:t>
            </a:r>
            <a:r>
              <a:rPr lang="zh-CN" altLang="en-US" sz="2200" b="1" dirty="0" smtClean="0">
                <a:solidFill>
                  <a:schemeClr val="tx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，进行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统计</a:t>
            </a:r>
            <a:r>
              <a:rPr lang="en-US" altLang="zh-CN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选择</a:t>
            </a:r>
            <a:r>
              <a:rPr lang="en-US" altLang="zh-CN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设计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用户提供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        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无量化标准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        (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计算机系统结构的任务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仅支持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高频使用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及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无法替代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的数据类型、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操作类型等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    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←考虑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硬件性能、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性</a:t>
            </a: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价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，其余功能可通过软件</a:t>
            </a:r>
            <a:r>
              <a:rPr lang="zh-CN" altLang="en-US" sz="1600" b="1" u="sng" dirty="0" smtClean="0">
                <a:latin typeface="宋体" panose="02010600030101010101" pitchFamily="2" charset="-122"/>
                <a:sym typeface="+mn-ea"/>
              </a:rPr>
              <a:t>转换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CISC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RISC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两种，</a:t>
            </a:r>
            <a:r>
              <a:rPr 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目前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RISC</a:t>
            </a:r>
            <a:r>
              <a:rPr 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是主流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适于并行处理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│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执行速度快</a:t>
            </a:r>
            <a:endParaRPr lang="zh-CN" altLang="en-US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代码效率高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3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5400000">
            <a:off x="277200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16" name="Text Box 32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75740" y="5230740"/>
            <a:ext cx="6480000" cy="360000"/>
          </a:xfrm>
          <a:prstGeom prst="rect">
            <a:avLst/>
          </a:prstGeom>
          <a:solidFill>
            <a:srgbClr val="CCFFFF">
              <a:alpha val="80000"/>
            </a:srgbClr>
          </a:solidFill>
          <a:ln w="12700">
            <a:solidFill>
              <a:schemeClr val="tx1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p>
            <a:pPr algn="ctr"/>
            <a:r>
              <a:rPr lang="zh-CN" altLang="en-US" sz="20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本课程的要求：</a:t>
            </a:r>
            <a:r>
              <a:rPr lang="zh-CN" altLang="en-US" sz="2000" b="1" u="sng" dirty="0" smtClean="0">
                <a:solidFill>
                  <a:srgbClr val="CC3300"/>
                </a:solidFill>
                <a:latin typeface="宋体" panose="02010600030101010101" pitchFamily="2" charset="-122"/>
              </a:rPr>
              <a:t>认知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指令系统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本章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、</a:t>
            </a:r>
            <a:r>
              <a:rPr lang="zh-CN" altLang="en-US" sz="2000" b="1" u="sng" dirty="0" smtClean="0">
                <a:solidFill>
                  <a:srgbClr val="CC3300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2000" b="1" u="none" dirty="0" smtClean="0">
                <a:latin typeface="宋体" panose="02010600030101010101" pitchFamily="2" charset="-122"/>
              </a:rPr>
              <a:t>指令系统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下章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)</a:t>
            </a:r>
            <a:endParaRPr lang="en-US" altLang="zh-CN" sz="16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4755515" y="4559935"/>
            <a:ext cx="3600000" cy="504000"/>
          </a:xfrm>
          <a:prstGeom prst="rect">
            <a:avLst/>
          </a:prstGeom>
          <a:noFill/>
          <a:ln w="9525">
            <a:solidFill>
              <a:srgbClr val="990099"/>
            </a:solidFill>
            <a:prstDash val="dashDot"/>
            <a:miter lim="800000"/>
          </a:ln>
        </p:spPr>
        <p:txBody>
          <a:bodyPr wrap="square" lIns="36195" tIns="17780" rIns="36195" bIns="0" anchor="ctr" anchorCtr="0">
            <a:noAutofit/>
          </a:bodyPr>
          <a:p>
            <a:pPr>
              <a:lnSpc>
                <a:spcPct val="100000"/>
              </a:lnSpc>
            </a:pPr>
            <a:r>
              <a:rPr lang="en-US" altLang="zh-CN" sz="1600" b="1" dirty="0" smtClean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CISC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600" dirty="0" smtClean="0">
                <a:latin typeface="+mn-lt"/>
                <a:sym typeface="+mn-ea"/>
              </a:rPr>
              <a:t>Complex </a:t>
            </a:r>
            <a:r>
              <a:rPr lang="en-US" altLang="zh-CN" sz="1600" dirty="0">
                <a:latin typeface="+mn-lt"/>
                <a:sym typeface="+mn-ea"/>
              </a:rPr>
              <a:t>Instruction Set Computer</a:t>
            </a:r>
            <a:endParaRPr lang="zh-CN" altLang="en-US" sz="1600" dirty="0">
              <a:latin typeface="+mn-lt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RISC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600" dirty="0" smtClean="0">
                <a:latin typeface="+mn-lt"/>
                <a:ea typeface="+mn-ea"/>
                <a:sym typeface="+mn-ea"/>
              </a:rPr>
              <a:t>Reduced </a:t>
            </a:r>
            <a:r>
              <a:rPr lang="en-US" altLang="zh-CN" sz="1600" dirty="0">
                <a:latin typeface="+mn-lt"/>
                <a:ea typeface="+mn-ea"/>
                <a:sym typeface="+mn-ea"/>
              </a:rPr>
              <a:t>Instruction Set Computer</a:t>
            </a:r>
            <a:endParaRPr lang="en-US" altLang="zh-CN" sz="1600" b="1" dirty="0" smtClean="0">
              <a:solidFill>
                <a:srgbClr val="FF3399"/>
              </a:solidFill>
              <a:latin typeface="+mn-lt"/>
              <a:ea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24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79070" y="1836000"/>
            <a:ext cx="4806315" cy="35077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、指令的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操作数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 err="1" smtClean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Operand</a:t>
            </a:r>
            <a:r>
              <a:rPr lang="en-US" altLang="zh-CN" sz="18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,OPD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*硬件支持的数据类型：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称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为数据表示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*OPD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数据类型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    └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←指运算类指令的数据</a:t>
            </a: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的存放部件：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具体器件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数据地址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18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33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792000"/>
            <a:ext cx="8802370" cy="11372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包括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数据操作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取操作数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写结果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含标志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])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指令地址计算</a:t>
            </a:r>
            <a:endParaRPr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数据操作例：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目的操作数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源操作数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源操作数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  </a:t>
            </a:r>
            <a:endParaRPr lang="en-US" altLang="zh-CN" sz="18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指令地址计算例：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转移目标地址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17625" y="2267755"/>
            <a:ext cx="7735570" cy="30689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148205" indent="-2148205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高频使用的数据类型，有</a:t>
            </a:r>
            <a:r>
              <a:rPr 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多种长度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存储效率高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148205" indent="-214820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   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例：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RISC-V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支持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8/16/32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位整数，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32/64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位浮点数，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64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位</a:t>
            </a:r>
            <a:r>
              <a:rPr lang="en-US" sz="1800" b="1" dirty="0" smtClean="0">
                <a:latin typeface="宋体" panose="02010600030101010101" pitchFamily="2" charset="-122"/>
                <a:sym typeface="+mn-ea"/>
              </a:rPr>
              <a:t>SIMD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数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数据表示的子集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可简化运算部件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   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寄存器</a:t>
            </a:r>
            <a:r>
              <a:rPr lang="en-US" sz="2200" b="1" u="sng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寄存器组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存储器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、外设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u="sng" dirty="0" smtClean="0">
                <a:latin typeface="宋体" panose="02010600030101010101" pitchFamily="2" charset="-122"/>
                <a:sym typeface="+mn-ea"/>
              </a:rPr>
              <a:t>IR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等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              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寄存器中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存储单元中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地址码中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立即数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寄存器编号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存储单元地址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无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08000" y="6155755"/>
            <a:ext cx="306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p>
            <a:pPr marL="671195" indent="-671195"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思考④：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指令的存放部件是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7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08000" y="5759755"/>
            <a:ext cx="349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p>
            <a:pPr marL="671195" indent="-671195"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立即数与常数的区别是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Text Box 20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607560" y="5759755"/>
            <a:ext cx="437388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p>
            <a:pPr>
              <a:lnSpc>
                <a:spcPct val="10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指令中是否需编码表示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</a:t>
            </a:r>
            <a:r>
              <a:rPr 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x=x+6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i++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中的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008000" y="3132000"/>
            <a:ext cx="6264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p>
            <a:pPr marL="671195" indent="-671195"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思考①：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RISC-V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加减法器的位数是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？存储器单元的长度是？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 Box 20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382850" y="3132000"/>
            <a:ext cx="1008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100000"/>
              </a:lnSpc>
            </a:pPr>
            <a:r>
              <a:rPr 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32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位，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</a:t>
            </a:r>
            <a:endParaRPr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007745" y="5364480"/>
            <a:ext cx="6408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p>
            <a:pPr marL="671195" indent="-671195"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中设置寄存器组的好处是？数据寄存器的长度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是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AutoShape 62">
            <a:hlinkClick r:id="rId8" action="ppaction://hlinksldjump"/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rot="16200000">
            <a:off x="3992741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" name="Text Box 200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160520" y="6155755"/>
            <a:ext cx="3168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p>
            <a:pPr>
              <a:lnSpc>
                <a:spcPct val="100000"/>
              </a:lnSpc>
            </a:pP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存储器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存储程序工作方式所规定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26308" name="Text Box 4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79388" y="360645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p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一、指令功能</a:t>
            </a:r>
            <a:endParaRPr lang="zh-CN" altLang="en-US" b="1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2" grpId="0" bldLvl="0" animBg="1"/>
      <p:bldP spid="97" grpId="0" bldLvl="0" animBg="1"/>
      <p:bldP spid="5" grpId="0" bldLvl="0" animBg="1"/>
      <p:bldP spid="3" grpId="0" bldLvl="0" animBg="1"/>
      <p:bldP spid="6" grpId="0" bldLvl="0" animBg="1"/>
      <p:bldP spid="8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99" name="Text Box 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4390390" cy="59931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72000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、指令的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操作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dirty="0" err="1" smtClean="0">
                <a:solidFill>
                  <a:schemeClr val="tx1"/>
                </a:solidFill>
                <a:latin typeface="+mn-lt"/>
              </a:rPr>
              <a:t>Operation</a:t>
            </a:r>
            <a:r>
              <a:rPr lang="en-US" altLang="zh-CN" sz="18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,OP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指令功能的描述：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有多种方法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数据操作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OPD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指令地址计算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*常见指令类型：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</p:txBody>
      </p:sp>
      <p:sp>
        <p:nvSpPr>
          <p:cNvPr id="104" name="Text Box 8"/>
          <p:cNvSpPr txBox="1">
            <a:spLocks noChangeArrowheads="1"/>
          </p:cNvSpPr>
          <p:nvPr/>
        </p:nvSpPr>
        <p:spPr bwMode="auto">
          <a:xfrm>
            <a:off x="2016125" y="1188085"/>
            <a:ext cx="7014845" cy="5146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72000">
            <a:spAutoFit/>
          </a:bodyPr>
          <a:p>
            <a:pPr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①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功能为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目的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sym typeface="+mn-ea"/>
              </a:rPr>
              <a:t>←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sym typeface="+mn-ea"/>
              </a:rPr>
              <a:t>源</a:t>
            </a:r>
            <a:r>
              <a:rPr lang="en-US" altLang="zh-CN" sz="2000" b="1" dirty="0">
                <a:solidFill>
                  <a:srgbClr val="990099"/>
                </a:solidFill>
                <a:latin typeface="+mn-ea"/>
                <a:sym typeface="+mn-ea"/>
              </a:rPr>
              <a:t>OPD1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sym typeface="+mn-ea"/>
              </a:rPr>
              <a:t> </a:t>
            </a:r>
            <a:r>
              <a:rPr lang="en-US" altLang="zh-CN" sz="2000" b="1" dirty="0">
                <a:solidFill>
                  <a:srgbClr val="FF3399"/>
                </a:solidFill>
                <a:latin typeface="+mn-ea"/>
                <a:sym typeface="+mn-ea"/>
              </a:rPr>
              <a:t>OP</a:t>
            </a:r>
            <a:r>
              <a:rPr lang="en-US" altLang="zh-CN" sz="2000" b="1" dirty="0">
                <a:solidFill>
                  <a:srgbClr val="990099"/>
                </a:solidFill>
                <a:latin typeface="+mn-ea"/>
                <a:sym typeface="+mn-ea"/>
              </a:rPr>
              <a:t> </a:t>
            </a:r>
            <a:r>
              <a:rPr lang="zh-CN" altLang="en-US" sz="2000" b="1" dirty="0">
                <a:solidFill>
                  <a:srgbClr val="990099"/>
                </a:solidFill>
                <a:latin typeface="+mn-ea"/>
                <a:sym typeface="+mn-ea"/>
              </a:rPr>
              <a:t>源</a:t>
            </a: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sym typeface="+mn-ea"/>
              </a:rPr>
              <a:t>OPD2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000" b="1" dirty="0">
                <a:latin typeface="+mn-ea"/>
                <a:sym typeface="+mn-ea"/>
              </a:rPr>
              <a:t>，</a:t>
            </a:r>
            <a:r>
              <a:rPr lang="en-US" altLang="zh-CN" sz="2000" b="1" dirty="0">
                <a:latin typeface="+mn-ea"/>
                <a:sym typeface="+mn-ea"/>
              </a:rPr>
              <a:t>   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←直观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不规范</a:t>
            </a:r>
            <a:endParaRPr lang="en-US" altLang="zh-CN" sz="20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+mn-ea"/>
                <a:sym typeface="+mn-ea"/>
              </a:rPr>
              <a:t>  </a:t>
            </a:r>
            <a:r>
              <a:rPr lang="zh-CN" altLang="en-US" sz="2000" b="1" spc="-150" dirty="0">
                <a:latin typeface="宋体" panose="02010600030101010101" pitchFamily="2" charset="-122"/>
                <a:sym typeface="+mn-ea"/>
              </a:rPr>
              <a:t>源</a:t>
            </a:r>
            <a:r>
              <a:rPr lang="en-US" altLang="zh-CN" sz="2000" b="1" spc="-150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000" b="1" spc="-150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000" b="1" u="sng" spc="-150" dirty="0" smtClean="0">
                <a:latin typeface="宋体" panose="02010600030101010101" pitchFamily="2" charset="-122"/>
                <a:sym typeface="+mn-ea"/>
              </a:rPr>
              <a:t>部件中</a:t>
            </a:r>
            <a:r>
              <a:rPr lang="zh-CN" altLang="en-US" sz="2000" b="1" u="sng" spc="-15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内容</a:t>
            </a:r>
            <a:r>
              <a:rPr lang="zh-CN" altLang="en-US" sz="2000" b="1" spc="-150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spc="-150" dirty="0">
                <a:latin typeface="宋体" panose="02010600030101010101" pitchFamily="2" charset="-122"/>
                <a:sym typeface="+mn-ea"/>
              </a:rPr>
              <a:t>目的</a:t>
            </a:r>
            <a:r>
              <a:rPr lang="en-US" altLang="zh-CN" sz="2000" b="1" spc="-150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000" b="1" spc="-150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000" b="1" u="sng" spc="-150" dirty="0" smtClean="0">
                <a:latin typeface="宋体" panose="02010600030101010101" pitchFamily="2" charset="-122"/>
                <a:sym typeface="+mn-ea"/>
              </a:rPr>
              <a:t>部件</a:t>
            </a:r>
            <a:r>
              <a:rPr lang="zh-CN" altLang="en-US" sz="2000" b="1" u="sng" spc="-15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地址</a:t>
            </a:r>
            <a:r>
              <a:rPr lang="zh-CN" altLang="en-US" sz="2000" b="1" spc="-150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0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语言</a:t>
            </a:r>
            <a:r>
              <a:rPr lang="zh-CN" altLang="en-US" sz="20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运算符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sz="2000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汇编语言指令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格式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  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←规范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不直观</a:t>
            </a:r>
            <a:endParaRPr lang="zh-CN" altLang="en-US" sz="2000" b="1" spc="-150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>
              <a:lnSpc>
                <a:spcPct val="125000"/>
              </a:lnSpc>
            </a:pPr>
            <a:endParaRPr lang="zh-CN" altLang="en-US" sz="20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顺序型指令隐含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PC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PC)+</a:t>
            </a:r>
            <a:r>
              <a:rPr lang="zh-CN" altLang="en-US" sz="2000" b="1" dirty="0" smtClean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000" b="1" dirty="0" smtClean="0">
                <a:latin typeface="+mn-ea"/>
                <a:ea typeface="+mn-ea"/>
                <a:sym typeface="+mn-ea"/>
              </a:rPr>
              <a:t>1</a:t>
            </a:r>
            <a:r>
              <a:rPr lang="zh-CN" altLang="en-US" sz="2000" b="1" dirty="0" smtClean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1</a:t>
            </a:r>
            <a:r>
              <a:rPr lang="zh-CN" altLang="en-US" sz="1600" b="1" dirty="0" smtClean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zh-CN" sz="1600" b="1" dirty="0" smtClean="0">
                <a:latin typeface="宋体" panose="02010600030101010101" pitchFamily="2" charset="-122"/>
                <a:sym typeface="+mn-ea"/>
              </a:rPr>
              <a:t>指所占存储单元个数</a:t>
            </a:r>
            <a:endParaRPr lang="zh-CN" altLang="en-US" sz="20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转移型指令描述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PC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←表达式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与数据操作合并</a:t>
            </a:r>
            <a:endParaRPr lang="en-US" altLang="zh-CN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如：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(R0)=0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时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PC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PC+40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，否则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PC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PC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1600" b="1" dirty="0" smtClean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1</a:t>
            </a:r>
            <a:r>
              <a:rPr lang="zh-CN" altLang="en-US" sz="1600" b="1" dirty="0" smtClean="0">
                <a:latin typeface="+mn-ea"/>
                <a:ea typeface="+mn-ea"/>
                <a:sym typeface="Symbol" panose="05050102010706020507"/>
              </a:rPr>
              <a:t></a:t>
            </a:r>
            <a:endParaRPr lang="zh-CN" altLang="en-US" sz="1600" b="1" dirty="0" smtClean="0">
              <a:latin typeface="+mn-ea"/>
              <a:ea typeface="+mn-ea"/>
              <a:sym typeface="Symbol" panose="05050102010706020507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传送、算逻运算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、转移控制等   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←均高频使用</a:t>
            </a:r>
            <a:endParaRPr lang="zh-CN" altLang="en-US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86471" name="AutoShape 45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2772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73" name="Text Box 1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94970" y="3120390"/>
            <a:ext cx="3933190" cy="16624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36195" rIns="36195" bIns="36195">
            <a:spAutoFit/>
          </a:bodyPr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示例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18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R0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(R1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或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R[0]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R[1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lang="en-US" altLang="zh-CN" sz="18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R0</a:t>
            </a:r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M[0100H]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R[0]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M[0100H]</a:t>
            </a:r>
            <a:endParaRPr lang="en-US" altLang="zh-CN" sz="18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M[0100H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]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(R2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M[0100H]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R[2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endParaRPr lang="zh-CN" altLang="en-US" sz="18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R0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R2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en-US" altLang="zh-CN" sz="1800" b="1" dirty="0" smtClean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R[0]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R[2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endParaRPr lang="en-US" altLang="zh-CN" sz="1800" b="1" spc="-1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4" name="Text Box 1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208145" y="3120390"/>
            <a:ext cx="4705985" cy="16624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36195" rIns="36195" bIns="36195">
            <a:spAutoFit/>
          </a:bodyPr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rgbClr val="CC33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源</a:t>
            </a:r>
            <a:r>
              <a:rPr lang="en-US" altLang="zh-CN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</a:t>
            </a:r>
            <a:r>
              <a:rPr lang="zh-CN" altLang="en-US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en-US" altLang="zh-CN" sz="1800" b="1" dirty="0" smtClean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#REG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中，</a:t>
            </a:r>
            <a:r>
              <a:rPr lang="zh-CN" altLang="en-US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目的</a:t>
            </a:r>
            <a:r>
              <a:rPr lang="en-US" altLang="zh-CN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</a:t>
            </a:r>
            <a:r>
              <a:rPr lang="zh-CN" altLang="en-US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0#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lang="en-US" altLang="zh-CN" sz="18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源</a:t>
            </a:r>
            <a:r>
              <a:rPr lang="en-US" altLang="zh-CN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</a:t>
            </a:r>
            <a:r>
              <a:rPr lang="zh-CN" altLang="en-US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0100H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存储单元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中，</a:t>
            </a:r>
            <a:r>
              <a:rPr lang="zh-CN" altLang="en-US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目的</a:t>
            </a:r>
            <a:r>
              <a:rPr lang="en-US" altLang="zh-CN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</a:t>
            </a:r>
            <a:r>
              <a:rPr lang="zh-CN" altLang="en-US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0#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endParaRPr lang="en-US" altLang="zh-CN" sz="18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源</a:t>
            </a:r>
            <a:r>
              <a:rPr lang="en-US" altLang="zh-CN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</a:t>
            </a:r>
            <a:r>
              <a:rPr lang="zh-CN" altLang="en-US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en-US" altLang="zh-CN" sz="1800" b="1" dirty="0" smtClean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#REG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中，</a:t>
            </a:r>
            <a:r>
              <a:rPr lang="zh-CN" altLang="en-US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目的</a:t>
            </a:r>
            <a:r>
              <a:rPr lang="en-US" altLang="zh-CN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</a:t>
            </a:r>
            <a:r>
              <a:rPr lang="zh-CN" altLang="en-US" sz="1800" b="1" spc="-1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0100H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存储单元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</a:t>
            </a:r>
            <a:endParaRPr lang="en-US" altLang="zh-CN" sz="18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933950" indent="-4933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源</a:t>
            </a:r>
            <a:r>
              <a:rPr lang="en-US" altLang="zh-CN" sz="18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OPD</a:t>
            </a:r>
            <a:r>
              <a:rPr lang="zh-CN" altLang="en-US" sz="18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1800" b="1" spc="-100" dirty="0" smtClean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b="1" spc="-100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#REG</a:t>
            </a:r>
            <a:r>
              <a:rPr lang="zh-CN" altLang="en-US" sz="1800" b="1" spc="-100" dirty="0">
                <a:latin typeface="宋体" panose="02010600030101010101" pitchFamily="2" charset="-122"/>
                <a:cs typeface="宋体" panose="02010600030101010101" pitchFamily="2" charset="-122"/>
              </a:rPr>
              <a:t>及</a:t>
            </a:r>
            <a:r>
              <a:rPr lang="en-US" altLang="zh-CN" sz="1800" b="1" spc="-1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IR</a:t>
            </a:r>
            <a:r>
              <a:rPr lang="zh-CN" altLang="en-US" sz="18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中，目的</a:t>
            </a:r>
            <a:r>
              <a:rPr lang="en-US" altLang="zh-CN" sz="18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OPD</a:t>
            </a:r>
            <a:r>
              <a:rPr lang="zh-CN" altLang="en-US" sz="18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1800" b="1" spc="-100" dirty="0" smtClean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0#</a:t>
            </a:r>
            <a:r>
              <a:rPr lang="en-US" altLang="zh-CN" sz="1800" b="1" spc="-100" dirty="0">
                <a:solidFill>
                  <a:srgbClr val="CC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</a:t>
            </a:r>
            <a:endParaRPr lang="en-US" altLang="zh-CN" sz="1800" b="1" spc="-1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75" name="表格 74"/>
          <p:cNvGraphicFramePr/>
          <p:nvPr>
            <p:custDataLst>
              <p:tags r:id="rId5"/>
            </p:custDataLst>
          </p:nvPr>
        </p:nvGraphicFramePr>
        <p:xfrm>
          <a:off x="1532255" y="2496185"/>
          <a:ext cx="5792470" cy="876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1265555"/>
                <a:gridCol w="1518920"/>
                <a:gridCol w="856615"/>
                <a:gridCol w="1046480"/>
              </a:tblGrid>
              <a:tr h="292100"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a#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b#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存储器单元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立即数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外设端口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</a:tr>
              <a:tr h="292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地址描述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Ra 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或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R[a]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M[b]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以后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再说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内容描述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(Ra)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R[a]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M[b]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真值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10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10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10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Text Box 1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2813050" cy="53619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数据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传送指令：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数据操作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指令地址计算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626870" y="763270"/>
            <a:ext cx="7264400" cy="1414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spc="-50" dirty="0">
                <a:latin typeface="宋体" panose="02010600030101010101" pitchFamily="2" charset="-122"/>
                <a:sym typeface="+mn-ea"/>
              </a:rPr>
              <a:t>    REG</a:t>
            </a:r>
            <a:r>
              <a:rPr lang="zh-CN" altLang="en-US" sz="2200" b="1" spc="-50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spc="-50" dirty="0" smtClean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spc="-50" dirty="0" smtClean="0">
                <a:latin typeface="宋体" panose="02010600030101010101" pitchFamily="2" charset="-122"/>
                <a:sym typeface="+mn-ea"/>
              </a:rPr>
              <a:t>、外设间的数据传送</a:t>
            </a:r>
            <a:r>
              <a:rPr lang="en-US" altLang="zh-CN" sz="1800" b="1" spc="-50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spc="-50" dirty="0" smtClean="0">
                <a:latin typeface="宋体" panose="02010600030101010101" pitchFamily="2" charset="-122"/>
                <a:sym typeface="+mn-ea"/>
              </a:rPr>
              <a:t>源</a:t>
            </a:r>
            <a:r>
              <a:rPr lang="en-US" altLang="zh-CN" sz="1800" b="1" spc="-50" dirty="0" smtClean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1800" b="1" spc="-50" dirty="0" smtClean="0">
                <a:latin typeface="宋体" panose="02010600030101010101" pitchFamily="2" charset="-122"/>
                <a:sym typeface="+mn-ea"/>
              </a:rPr>
              <a:t>、目的</a:t>
            </a:r>
            <a:r>
              <a:rPr lang="en-US" altLang="zh-CN" sz="1800" b="1" spc="-50" dirty="0" smtClean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1800" b="1" u="sng" spc="-50" dirty="0" smtClean="0">
                <a:latin typeface="宋体" panose="02010600030101010101" pitchFamily="2" charset="-122"/>
                <a:sym typeface="+mn-ea"/>
              </a:rPr>
              <a:t>各</a:t>
            </a:r>
            <a:r>
              <a:rPr lang="en-US" altLang="zh-CN" sz="1800" b="1" u="sng" spc="-50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u="sng" spc="-50" dirty="0" smtClean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800" b="1" spc="-50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spc="-50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如：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R0←(R1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         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sym typeface="+mn-ea"/>
              </a:rPr>
              <a:t>1#REG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的内容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传送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到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sym typeface="+mn-ea"/>
              </a:rPr>
              <a:t>0#</a:t>
            </a:r>
            <a:r>
              <a:rPr lang="en-US" altLang="zh-CN" sz="1800" b="1" dirty="0">
                <a:solidFill>
                  <a:srgbClr val="CC3300"/>
                </a:solidFill>
                <a:sym typeface="+mn-ea"/>
              </a:rPr>
              <a:t> 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中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R0←M[0100H]     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0100H#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存储单元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的内容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传送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到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sym typeface="+mn-ea"/>
              </a:rPr>
              <a:t>0#REG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中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M[0100H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]←(R2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   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  <a:sym typeface="+mn-ea"/>
              </a:rPr>
              <a:t>2#REG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的内容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传送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到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0100H#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存储单元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中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7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5400000">
            <a:off x="277200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graphicFrame>
        <p:nvGraphicFramePr>
          <p:cNvPr id="19" name="表格 18"/>
          <p:cNvGraphicFramePr/>
          <p:nvPr>
            <p:custDataLst>
              <p:tags r:id="rId3"/>
            </p:custDataLst>
          </p:nvPr>
        </p:nvGraphicFramePr>
        <p:xfrm>
          <a:off x="1387475" y="2201545"/>
          <a:ext cx="7057390" cy="2192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270"/>
                <a:gridCol w="1263015"/>
                <a:gridCol w="1221740"/>
                <a:gridCol w="1256030"/>
                <a:gridCol w="1134745"/>
                <a:gridCol w="1164590"/>
              </a:tblGrid>
              <a:tr h="566420"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寄存器传送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(REG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REG)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取数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(REG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←MEM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)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存数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(MEM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←</a:t>
                      </a: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REG)</a:t>
                      </a:r>
                      <a:endParaRPr 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输入</a:t>
                      </a:r>
                      <a:endParaRPr lang="zh-CN" altLang="en-US" sz="18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REG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←IO)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输出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sym typeface="+mn-ea"/>
                      </a:endParaRPr>
                    </a:p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(IO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←REG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)</a:t>
                      </a:r>
                      <a:endParaRPr lang="en-US" altLang="zh-CN" sz="18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</a:tr>
              <a:tr h="292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源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m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zh-CN" altLang="en-US" sz="1800" b="1" baseline="30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①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zh-CN" altLang="en-US" sz="1800" b="1" baseline="30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③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或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zh-CN" altLang="en-US" sz="1800" b="1" baseline="30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m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zh-CN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位或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zh-CN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目的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r>
                        <a:rPr lang="zh-CN" altLang="en-US" sz="1800" b="1" baseline="30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②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或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zh-CN" altLang="en-US" sz="1800" b="1" baseline="30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位或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zh-CN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zh-CN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结果标志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800" b="1" baseline="30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④</a:t>
                      </a:r>
                      <a:endParaRPr lang="zh-CN" altLang="en-US" sz="1800" b="1" baseline="30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49300">
                <a:tc gridSpan="6"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注：①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MEM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中数据长度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</a:t>
                      </a:r>
                      <a:r>
                        <a:rPr lang="zh-CN" altLang="en-US" sz="1600" b="1" u="sng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有多种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可提高存储效率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marL="665480" indent="-665480" algn="l">
                        <a:buNone/>
                      </a:pPr>
                      <a:r>
                        <a:rPr 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 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②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REG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长度＝机器字长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en-US" altLang="zh-CN" sz="1600" b="1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RISC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n(</a:t>
                      </a:r>
                      <a:r>
                        <a:rPr 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简化硬件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r>
                        <a:rPr 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、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＜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时先进行</a:t>
                      </a:r>
                      <a:r>
                        <a:rPr lang="zh-CN" altLang="en-US" sz="1600" b="1" u="sng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位扩展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  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③</a:t>
                      </a:r>
                      <a:r>
                        <a:rPr lang="en-US" altLang="zh-CN" sz="1600" b="1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RISC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为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、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＜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时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先进行</a:t>
                      </a:r>
                      <a:r>
                        <a:rPr lang="zh-CN" altLang="en-US" sz="1600" b="1" u="sng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位截断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    ④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无运算所致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Text Box 32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936875" y="504000"/>
            <a:ext cx="5508000" cy="288000"/>
          </a:xfrm>
          <a:prstGeom prst="rect">
            <a:avLst/>
          </a:prstGeom>
          <a:solidFill>
            <a:srgbClr val="CCFFFF">
              <a:alpha val="80000"/>
            </a:srgbClr>
          </a:solidFill>
          <a:ln w="12700">
            <a:solidFill>
              <a:schemeClr val="tx1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PPT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约定：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寄存器记为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REG(</a:t>
            </a:r>
            <a:r>
              <a:rPr lang="en-US" altLang="zh-CN" sz="1400" u="none" dirty="0" smtClean="0">
                <a:cs typeface="Times New Roman" panose="02020603050405020304" pitchFamily="18" charset="0"/>
              </a:rPr>
              <a:t>Register</a:t>
            </a:r>
            <a:r>
              <a:rPr lang="en-US" altLang="zh-CN" sz="1400" b="1" u="none" dirty="0" smtClean="0">
                <a:latin typeface="宋体" panose="02010600030101010101" pitchFamily="2" charset="-122"/>
              </a:rPr>
              <a:t>)</a:t>
            </a:r>
            <a:r>
              <a:rPr lang="zh-CN" altLang="en-US" sz="1600" b="1" u="none" dirty="0" smtClean="0">
                <a:latin typeface="宋体" panose="02010600030101010101" pitchFamily="2" charset="-122"/>
              </a:rPr>
              <a:t>，存储器记为</a:t>
            </a:r>
            <a:r>
              <a:rPr lang="en-US" altLang="zh-CN" sz="1600" b="1" u="none" dirty="0" smtClean="0">
                <a:latin typeface="宋体" panose="02010600030101010101" pitchFamily="2" charset="-122"/>
              </a:rPr>
              <a:t>MEM(</a:t>
            </a:r>
            <a:r>
              <a:rPr lang="en-US" altLang="zh-CN" sz="1400" u="none" dirty="0" smtClean="0">
                <a:cs typeface="Times New Roman" panose="02020603050405020304" pitchFamily="18" charset="0"/>
              </a:rPr>
              <a:t>Memory</a:t>
            </a:r>
            <a:r>
              <a:rPr lang="en-US" altLang="zh-CN" sz="1400" b="1" u="none" dirty="0" smtClean="0">
                <a:latin typeface="宋体" panose="02010600030101010101" pitchFamily="2" charset="-122"/>
              </a:rPr>
              <a:t>)</a:t>
            </a:r>
            <a:endParaRPr lang="en-US" altLang="zh-CN" sz="1400" b="1" u="none" dirty="0" smtClean="0">
              <a:latin typeface="宋体" panose="02010600030101010101" pitchFamily="2" charset="-122"/>
            </a:endParaRP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2762885" y="5147945"/>
            <a:ext cx="612838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PC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←</a:t>
            </a: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(PC)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＋</a:t>
            </a:r>
            <a:r>
              <a:rPr lang="zh-CN" altLang="en-US" sz="2200" b="1" dirty="0" smtClean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1</a:t>
            </a:r>
            <a:r>
              <a:rPr lang="zh-CN" altLang="en-US" sz="2200" b="1" dirty="0" smtClean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="1" dirty="0" smtClean="0">
                <a:latin typeface="+mn-ea"/>
                <a:ea typeface="+mn-ea"/>
                <a:sym typeface="Symbol" panose="05050102010706020507"/>
              </a:rPr>
              <a:t>       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sz="1600" b="1" dirty="0" smtClean="0">
                <a:latin typeface="+mn-ea"/>
                <a:ea typeface="+mn-ea"/>
                <a:sym typeface="Symbol" panose="05050102010706020507"/>
              </a:rPr>
              <a:t>顺序型指令均隐含表示</a:t>
            </a:r>
            <a:endParaRPr lang="zh-CN" altLang="zh-CN" sz="1600" b="1" dirty="0" smtClean="0">
              <a:solidFill>
                <a:schemeClr val="accent2"/>
              </a:solidFill>
              <a:latin typeface="+mn-ea"/>
              <a:ea typeface="+mn-ea"/>
              <a:sym typeface="Symbol" panose="05050102010706020507"/>
            </a:endParaRPr>
          </a:p>
        </p:txBody>
      </p:sp>
      <p:sp>
        <p:nvSpPr>
          <p:cNvPr id="97" name="Text Box 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294765" y="4539615"/>
            <a:ext cx="742061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p>
            <a:pPr marL="671195" indent="-671195"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若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长度为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16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位、存储单元长度为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位，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R0←M[0100H]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传送的是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Text Box 200"/>
          <p:cNvSpPr txBox="1">
            <a:spLocks noChangeArrowheads="1"/>
          </p:cNvSpPr>
          <p:nvPr/>
        </p:nvSpPr>
        <p:spPr bwMode="auto">
          <a:xfrm>
            <a:off x="1339215" y="4897470"/>
            <a:ext cx="7344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p>
            <a:pPr>
              <a:lnSpc>
                <a:spcPct val="100000"/>
              </a:lnSpc>
            </a:pPr>
            <a:r>
              <a:rPr 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[0100H]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M[0101H](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长数据连续存放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，仅传送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个字节时为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R0←ZExt(M[0100H])</a:t>
            </a:r>
            <a:endParaRPr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bldLvl="0" animBg="1"/>
      <p:bldP spid="15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Text Box 1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3141345" cy="60159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算术逻辑运算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数据操作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指令地址计算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移位运算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数据操作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3048000" indent="-3048000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3048000" indent="-3048000">
              <a:lnSpc>
                <a:spcPct val="125000"/>
              </a:lnSpc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3048000" indent="-3048000">
              <a:lnSpc>
                <a:spcPct val="125000"/>
              </a:lnSpc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3048000" indent="-304800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指令地址计算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9" name="Text Box 103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20520" y="3456305"/>
            <a:ext cx="7308215" cy="28803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3048000" indent="-3048000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latin typeface="+mn-ea"/>
                <a:ea typeface="+mn-ea"/>
              </a:rPr>
              <a:t>       PC</a:t>
            </a:r>
            <a:r>
              <a:rPr lang="zh-CN" altLang="en-US" sz="2200" b="1" dirty="0">
                <a:latin typeface="+mn-ea"/>
                <a:ea typeface="+mn-ea"/>
              </a:rPr>
              <a:t>←</a:t>
            </a:r>
            <a:r>
              <a:rPr lang="en-US" altLang="zh-CN" sz="2200" b="1" dirty="0">
                <a:latin typeface="+mn-ea"/>
                <a:ea typeface="+mn-ea"/>
              </a:rPr>
              <a:t>(PC)</a:t>
            </a:r>
            <a:r>
              <a:rPr lang="zh-CN" altLang="en-US" sz="2200" b="1" dirty="0">
                <a:latin typeface="+mn-ea"/>
                <a:ea typeface="+mn-ea"/>
              </a:rPr>
              <a:t>＋</a:t>
            </a:r>
            <a:r>
              <a:rPr lang="zh-CN" altLang="en-US" sz="2200" b="1" dirty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="1" dirty="0">
                <a:latin typeface="+mn-ea"/>
                <a:ea typeface="+mn-ea"/>
              </a:rPr>
              <a:t>1</a:t>
            </a:r>
            <a:r>
              <a:rPr lang="zh-CN" altLang="en-US" sz="2200" b="1" dirty="0">
                <a:latin typeface="+mn-ea"/>
                <a:ea typeface="+mn-ea"/>
                <a:sym typeface="Symbol" panose="05050102010706020507"/>
              </a:rPr>
              <a:t></a:t>
            </a:r>
            <a:endParaRPr lang="zh-CN" altLang="en-US" sz="2200" b="1" dirty="0">
              <a:latin typeface="+mn-ea"/>
              <a:ea typeface="+mn-ea"/>
              <a:sym typeface="Symbol" panose="05050102010706020507"/>
            </a:endParaRPr>
          </a:p>
          <a:p>
            <a:pPr marL="3048000" indent="-3048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+mn-ea"/>
              <a:ea typeface="+mn-ea"/>
            </a:endParaRPr>
          </a:p>
          <a:p>
            <a:pPr marL="3048000" indent="-3048000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逻辑左移、逻辑右移、算术右移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等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marL="3048000" indent="-3048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如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R0←(R0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)&lt;&lt;</a:t>
            </a:r>
            <a:r>
              <a:rPr lang="en-US" altLang="zh-CN" sz="1800" b="1" baseline="-16000" dirty="0" smtClean="0">
                <a:latin typeface="+mn-lt"/>
                <a:sym typeface="+mn-ea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R1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←(R1)&gt;&gt;</a:t>
            </a:r>
            <a:r>
              <a:rPr lang="en-US" altLang="zh-CN" sz="1800" b="1" baseline="-16000" dirty="0" smtClean="0">
                <a:latin typeface="宋体" panose="02010600030101010101" pitchFamily="2" charset="-122"/>
                <a:sym typeface="+mn-ea"/>
              </a:rPr>
              <a:t>L</a:t>
            </a:r>
            <a:r>
              <a:rPr lang="en-US" altLang="zh-CN" sz="1800" b="1" baseline="-16000" dirty="0" smtClean="0">
                <a:latin typeface="+mn-lt"/>
                <a:sym typeface="+mn-ea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R1←(R1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)&gt;&gt;</a:t>
            </a:r>
            <a:r>
              <a:rPr lang="en-US" altLang="zh-CN" sz="1800" b="1" baseline="-16000" dirty="0" smtClean="0">
                <a:latin typeface="宋体" panose="02010600030101010101" pitchFamily="2" charset="-122"/>
                <a:sym typeface="+mn-ea"/>
              </a:rPr>
              <a:t>A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(R2)</a:t>
            </a: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3048000" indent="-3048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源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数据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log</a:t>
            </a:r>
            <a:r>
              <a:rPr lang="en-US" altLang="zh-CN" sz="2200" b="1" baseline="-25000" dirty="0" smtClean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移动位数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marL="3048000" indent="-3048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结果标志为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CF/OF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</a:t>
            </a: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PC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←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(PC)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＋</a:t>
            </a:r>
            <a:r>
              <a:rPr lang="zh-CN" altLang="en-US" sz="2200" b="1" dirty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1</a:t>
            </a:r>
            <a:r>
              <a:rPr lang="zh-CN" altLang="en-US" sz="2200" b="1" dirty="0">
                <a:latin typeface="+mn-ea"/>
                <a:ea typeface="+mn-ea"/>
                <a:sym typeface="Symbol" panose="05050102010706020507"/>
              </a:rPr>
              <a:t></a:t>
            </a:r>
            <a:endParaRPr lang="zh-CN" altLang="en-US" sz="2200" b="1" dirty="0">
              <a:latin typeface="+mn-ea"/>
              <a:ea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1424940" y="1635125"/>
          <a:ext cx="6812915" cy="146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160"/>
                <a:gridCol w="1470025"/>
                <a:gridCol w="1298575"/>
                <a:gridCol w="1475105"/>
                <a:gridCol w="1543050"/>
              </a:tblGrid>
              <a:tr h="292100"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×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÷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++/--/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求补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按位的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&amp;/|/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</a:tr>
              <a:tr h="292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源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个，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zh-CN" altLang="en-US" sz="1800" b="1" baseline="30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①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个，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/1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个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lang="zh-CN" altLang="en-US" sz="1800" b="1" baseline="30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目的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800" b="1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或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2n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zh-CN" altLang="en-US" sz="1800" b="1" baseline="30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n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位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结果标志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ZF/CF/OF/SF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CF/OF</a:t>
                      </a:r>
                      <a:endParaRPr lang="zh-CN" altLang="en-US" sz="1800" b="1" baseline="30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ZF/CF/OF/SF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ZF</a:t>
                      </a:r>
                      <a:endParaRPr lang="en-US" altLang="zh-CN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 gridSpan="5"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注：①</a:t>
                      </a:r>
                      <a:r>
                        <a:rPr lang="en-US" altLang="zh-CN" b="1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RISC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lang="zh-CN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机器字长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b="1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CISC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有多种长度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</a:t>
                      </a:r>
                      <a:endParaRPr lang="zh-CN" altLang="en-US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 Box 1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26870" y="763270"/>
            <a:ext cx="7282180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3048000" indent="-3048000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OPD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为整数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有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无符号、位串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，需保存结果标志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marL="3048000" indent="-3048000">
              <a:lnSpc>
                <a:spcPct val="125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如：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R0←(R1)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M[0100H]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R2←(R2)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；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R0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←(R0)&amp;(R1)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R0←</a:t>
            </a:r>
            <a:r>
              <a:rPr lang="en-US" altLang="zh-CN" sz="1800" b="1" dirty="0">
                <a:latin typeface="+mn-lt"/>
                <a:ea typeface="Arial Unicode MS" panose="020B0604020202020204" charset="-122"/>
                <a:cs typeface="Arial Unicode MS" panose="020B0604020202020204" charset="-122"/>
                <a:sym typeface="+mn-ea"/>
              </a:rPr>
              <a:t>~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(R0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52760" y="3561550"/>
            <a:ext cx="306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p>
            <a:pPr marL="671195" indent="-671195"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思考②：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标志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的存放部件是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74750" y="3186430"/>
            <a:ext cx="3636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p>
            <a:pPr marL="671195" indent="-671195"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思考①：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ALU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如何支持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位运算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 Box 200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860000" y="3186265"/>
            <a:ext cx="4068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100000"/>
              </a:lnSpc>
            </a:pPr>
            <a:r>
              <a:rPr 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结果在低位，标志按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位产生</a:t>
            </a:r>
            <a:r>
              <a:rPr lang="en-US" altLang="zh-CN" sz="14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4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有多种控制信号</a:t>
            </a:r>
            <a:r>
              <a:rPr lang="en-US" altLang="zh-CN" sz="14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6" name="AutoShape 29"/>
          <p:cNvSpPr/>
          <p:nvPr>
            <p:custDataLst>
              <p:tags r:id="rId8"/>
            </p:custDataLst>
          </p:nvPr>
        </p:nvSpPr>
        <p:spPr bwMode="auto">
          <a:xfrm>
            <a:off x="3361430" y="4082530"/>
            <a:ext cx="1728000" cy="252000"/>
          </a:xfrm>
          <a:prstGeom prst="borderCallout2">
            <a:avLst>
              <a:gd name="adj1" fmla="val 47015"/>
              <a:gd name="adj2" fmla="val -338"/>
              <a:gd name="adj3" fmla="val 44303"/>
              <a:gd name="adj4" fmla="val -12699"/>
              <a:gd name="adj5" fmla="val 136025"/>
              <a:gd name="adj6" fmla="val -28615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p>
            <a:pPr algn="ctr">
              <a:lnSpc>
                <a:spcPct val="110000"/>
              </a:lnSpc>
            </a:pP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算术左移指令！</a:t>
            </a:r>
            <a:endParaRPr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AutoShape 62">
            <a:hlinkClick r:id="rId9" action="ppaction://hlinksldjump"/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 rot="16200000">
            <a:off x="5220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4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4" grpId="0" bldLvl="0" animBg="1"/>
      <p:bldP spid="3" grpId="0" bldLvl="0" animBg="1"/>
      <p:bldP spid="106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103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5400000">
            <a:off x="299206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108" name="Text Box 12"/>
          <p:cNvSpPr txBox="1">
            <a:spLocks noChangeArrowheads="1"/>
          </p:cNvSpPr>
          <p:nvPr/>
        </p:nvSpPr>
        <p:spPr bwMode="auto">
          <a:xfrm>
            <a:off x="179705" y="360045"/>
            <a:ext cx="3141345" cy="4577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转移控制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转移类型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数据操作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                </a:t>
            </a:r>
            <a:r>
              <a:rPr lang="en-US" altLang="zh-CN" sz="1800" dirty="0" smtClean="0">
                <a:latin typeface="宋体" panose="02010600030101010101" pitchFamily="2" charset="-122"/>
                <a:sym typeface="+mn-ea"/>
              </a:rPr>
              <a:t>│</a:t>
            </a: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指令地址计算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下条指令</a:t>
            </a:r>
            <a:r>
              <a:rPr 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地址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altLang="zh-CN" sz="16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地址源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09" name="Text Box 12"/>
          <p:cNvSpPr txBox="1">
            <a:spLocks noChangeArrowheads="1"/>
          </p:cNvSpPr>
          <p:nvPr/>
        </p:nvSpPr>
        <p:spPr bwMode="auto">
          <a:xfrm>
            <a:off x="2200910" y="763270"/>
            <a:ext cx="6687185" cy="41770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336800" indent="-2336800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跳转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无条件转移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、分支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条件转移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、调用、返回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产生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数据状态、</a:t>
            </a:r>
            <a:r>
              <a:rPr lang="zh-CN" sz="2200" b="1" u="sng" dirty="0" smtClean="0">
                <a:latin typeface="宋体" panose="02010600030101010101" pitchFamily="2" charset="-122"/>
                <a:sym typeface="+mn-ea"/>
              </a:rPr>
              <a:t>判断</a:t>
            </a:r>
            <a:r>
              <a:rPr lang="zh-CN" sz="2200" b="1" dirty="0" smtClean="0">
                <a:latin typeface="宋体" panose="02010600030101010101" pitchFamily="2" charset="-122"/>
                <a:sym typeface="+mn-ea"/>
              </a:rPr>
              <a:t>是否转移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仅分支需要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00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18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←基于</a:t>
            </a:r>
            <a:r>
              <a:rPr lang="zh-CN" altLang="en-US" sz="1800" b="1" u="sng" dirty="0" smtClean="0">
                <a:latin typeface="宋体" panose="02010600030101010101" pitchFamily="2" charset="-122"/>
                <a:sym typeface="+mn-ea"/>
              </a:rPr>
              <a:t>转移条件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如＞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/≥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等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，方法有多种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00000"/>
              </a:lnSpc>
            </a:pPr>
            <a:r>
              <a:rPr lang="en-US" altLang="zh-CN" sz="14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8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源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1800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800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个数据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或</a:t>
            </a:r>
            <a:r>
              <a:rPr lang="zh-CN" altLang="en-US" sz="1800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标志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，操作为</a:t>
            </a:r>
            <a:r>
              <a:rPr lang="zh-CN" altLang="en-US" sz="1800" b="1" u="sng" dirty="0" smtClean="0">
                <a:latin typeface="宋体" panose="02010600030101010101" pitchFamily="2" charset="-122"/>
                <a:sym typeface="+mn-ea"/>
              </a:rPr>
              <a:t>减法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或</a:t>
            </a:r>
            <a:r>
              <a:rPr lang="zh-CN" altLang="en-US" sz="1800" b="1" u="sng" dirty="0" smtClean="0">
                <a:latin typeface="宋体" panose="02010600030101010101" pitchFamily="2" charset="-122"/>
                <a:sym typeface="+mn-ea"/>
              </a:rPr>
              <a:t>无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00000"/>
              </a:lnSpc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RISC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采用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600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1600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CISC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采用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计算结果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或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指令寻址方式中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讨论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仅分支有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2336800" indent="-2336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转移目标地址，或相对偏移量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(PC)+disp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583055" y="1264285"/>
            <a:ext cx="7129145" cy="863600"/>
            <a:chOff x="2154" y="3912"/>
            <a:chExt cx="11227" cy="1360"/>
          </a:xfrm>
        </p:grpSpPr>
        <p:sp>
          <p:nvSpPr>
            <p:cNvPr id="5" name="Text Box 26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957" y="3912"/>
              <a:ext cx="1645" cy="102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JMP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2010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R0←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(R1)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" name="Text Box 27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154" y="3912"/>
              <a:ext cx="793" cy="1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8000" rIns="18000" bIns="1080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2000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2010</a:t>
              </a:r>
              <a:endPara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" name="Text Box 17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609" y="3912"/>
              <a:ext cx="1645" cy="102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JZ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2010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1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819" y="3912"/>
              <a:ext cx="793" cy="1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8000" rIns="18000" bIns="1080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2000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200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" name="Text Box 4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1737" y="3912"/>
              <a:ext cx="1645" cy="136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CALL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2010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 …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  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RET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" name="Text Box 49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0942" y="3912"/>
              <a:ext cx="793" cy="136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8000" rIns="18000" bIns="1080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2000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2001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2020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" name="Text Box 1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274" y="3912"/>
              <a:ext cx="2441" cy="102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(R0)=0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时转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2010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" name="Text Box 18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483" y="3912"/>
              <a:ext cx="793" cy="1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8000" rIns="18000" bIns="1080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2000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200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3" name="Text Box 4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174750" y="4980305"/>
            <a:ext cx="6876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p>
            <a:pPr marL="671195" indent="-671195"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思考①：</a:t>
            </a:r>
            <a:r>
              <a:rPr 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CALL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RET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指令的返回地址如何表示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？如何支持嵌套调用？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 Box 200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582765" y="5363510"/>
            <a:ext cx="4068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100000"/>
              </a:lnSpc>
            </a:pPr>
            <a:r>
              <a:rPr 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隐含表示，保存在栈中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Text Box 2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2204720"/>
            <a:ext cx="2763520" cy="287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3048000" indent="-304800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指令功能小结：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功能组成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操作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00000"/>
              </a:lnSpc>
              <a:spcAft>
                <a:spcPts val="0"/>
              </a:spcAft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指令地址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计算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13" name="Text Box 2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263" y="360000"/>
            <a:ext cx="8785225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marL="3048000" indent="-3048000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其他指令：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浮点运算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sz="2200" b="1" dirty="0" smtClean="0">
                <a:latin typeface="宋体" panose="02010600030101010101" pitchFamily="2" charset="-122"/>
              </a:rPr>
              <a:t>浮点算术运算指令</a:t>
            </a:r>
            <a:r>
              <a:rPr lang="zh-CN" altLang="en-US" sz="2200" b="1" dirty="0">
                <a:latin typeface="宋体" panose="02010600030101010101" pitchFamily="2" charset="-122"/>
              </a:rPr>
              <a:t>等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十进制运算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加法校正、减法校正等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←硬件为二进制运算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CPU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控制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标志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如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CF/ZF)</a:t>
            </a:r>
            <a:r>
              <a:rPr lang="zh-CN" altLang="en-US" sz="2200" b="1" dirty="0">
                <a:latin typeface="宋体" panose="02010600030101010101" pitchFamily="2" charset="-122"/>
              </a:rPr>
              <a:t>置位、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标志复位、程序结束等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24" name="Text Box 2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99005" y="2640965"/>
            <a:ext cx="6686550" cy="287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3048000" indent="-3048000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数据操作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OPD+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写结果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含标志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])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、指令地址计算</a:t>
            </a: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048000" indent="-3048000">
              <a:lnSpc>
                <a:spcPct val="125000"/>
              </a:lnSpc>
            </a:pPr>
            <a:r>
              <a:rPr lang="en-US" altLang="zh-CN" sz="2200" b="1" u="sng" dirty="0">
                <a:latin typeface="宋体" panose="02010600030101010101" pitchFamily="2" charset="-122"/>
              </a:rPr>
              <a:t>OPD</a:t>
            </a:r>
            <a:r>
              <a:rPr lang="zh-CN" altLang="en-US" sz="2200" b="1" u="sng" dirty="0">
                <a:latin typeface="宋体" panose="02010600030101010101" pitchFamily="2" charset="-122"/>
              </a:rPr>
              <a:t>存放部件</a:t>
            </a:r>
            <a:r>
              <a:rPr lang="zh-CN" altLang="en-US" sz="2200" b="1" dirty="0">
                <a:latin typeface="宋体" panose="02010600030101010101" pitchFamily="2" charset="-122"/>
              </a:rPr>
              <a:t>有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多种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REG/MEM/IR</a:t>
            </a:r>
            <a:r>
              <a:rPr lang="zh-CN" altLang="en-US" sz="1600" b="1" dirty="0">
                <a:latin typeface="宋体" panose="02010600030101010101" pitchFamily="2" charset="-122"/>
              </a:rPr>
              <a:t>等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、常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按地址</a:t>
            </a:r>
            <a:r>
              <a:rPr lang="zh-CN" altLang="en-US" sz="2200" b="1" dirty="0">
                <a:latin typeface="宋体" panose="02010600030101010101" pitchFamily="2" charset="-122"/>
              </a:rPr>
              <a:t>访问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zh-CN" altLang="en-US" sz="2200" b="1" u="sng" dirty="0" smtClean="0">
                <a:latin typeface="宋体" panose="02010600030101010101" pitchFamily="2" charset="-122"/>
              </a:rPr>
              <a:t>操作类型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有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多种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区分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类型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源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个数不同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zh-CN" altLang="en-US" sz="2200" b="1" u="sng" dirty="0" smtClean="0">
                <a:latin typeface="宋体" panose="02010600030101010101" pitchFamily="2" charset="-122"/>
                <a:ea typeface="+mn-ea"/>
              </a:rPr>
              <a:t>所存目的</a:t>
            </a:r>
            <a:r>
              <a:rPr lang="en-US" altLang="zh-CN" sz="2200" b="1" u="sng" dirty="0" smtClean="0">
                <a:latin typeface="宋体" panose="02010600030101010101" pitchFamily="2" charset="-122"/>
                <a:ea typeface="+mn-ea"/>
              </a:rPr>
              <a:t>OPD</a:t>
            </a:r>
            <a:r>
              <a:rPr lang="zh-CN" altLang="en-US" sz="2200" b="1" dirty="0" smtClean="0">
                <a:latin typeface="宋体" panose="02010600030101010101" pitchFamily="2" charset="-122"/>
                <a:ea typeface="+mn-ea"/>
              </a:rPr>
              <a:t>相关于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ea typeface="+mn-ea"/>
              </a:rPr>
              <a:t>应用</a:t>
            </a:r>
            <a:r>
              <a:rPr lang="zh-CN" altLang="en-US" sz="2200" b="1" dirty="0" smtClean="0">
                <a:latin typeface="宋体" panose="02010600030101010101" pitchFamily="2" charset="-122"/>
                <a:ea typeface="+mn-ea"/>
              </a:rPr>
              <a:t>、</a:t>
            </a:r>
            <a:r>
              <a:rPr lang="zh-CN" altLang="en-US" sz="2200" b="1" u="sng" dirty="0" smtClean="0">
                <a:latin typeface="宋体" panose="02010600030101010101" pitchFamily="2" charset="-122"/>
                <a:ea typeface="+mn-ea"/>
              </a:rPr>
              <a:t>所存标志</a:t>
            </a:r>
            <a:r>
              <a:rPr lang="zh-CN" altLang="en-US" sz="2200" b="1" dirty="0" smtClean="0">
                <a:latin typeface="宋体" panose="02010600030101010101" pitchFamily="2" charset="-122"/>
                <a:ea typeface="+mn-ea"/>
              </a:rPr>
              <a:t>取决于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ea typeface="+mn-ea"/>
              </a:rPr>
              <a:t>操作类型</a:t>
            </a:r>
            <a:endParaRPr lang="zh-CN" altLang="en-US" sz="2200" b="1" dirty="0" smtClean="0">
              <a:latin typeface="宋体" panose="02010600030101010101" pitchFamily="2" charset="-122"/>
              <a:ea typeface="+mn-ea"/>
            </a:endParaRPr>
          </a:p>
          <a:p>
            <a:pPr marL="3048000" indent="-3048000">
              <a:lnSpc>
                <a:spcPct val="10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  <a:ea typeface="+mn-ea"/>
              </a:rPr>
              <a:t>                 (</a:t>
            </a:r>
            <a:r>
              <a:rPr lang="zh-CN" altLang="en-US" sz="1600" b="1" dirty="0" smtClean="0">
                <a:latin typeface="宋体" panose="02010600030101010101" pitchFamily="2" charset="-122"/>
                <a:ea typeface="+mn-ea"/>
              </a:rPr>
              <a:t>如</a:t>
            </a:r>
            <a:r>
              <a:rPr lang="en-US" altLang="zh-CN" sz="1600" b="1" dirty="0" smtClean="0">
                <a:latin typeface="宋体" panose="02010600030101010101" pitchFamily="2" charset="-122"/>
                <a:ea typeface="+mn-ea"/>
              </a:rPr>
              <a:t>n</a:t>
            </a:r>
            <a:r>
              <a:rPr lang="zh-CN" altLang="en-US" sz="1600" b="1" dirty="0" smtClean="0">
                <a:latin typeface="宋体" panose="02010600030101010101" pitchFamily="2" charset="-122"/>
                <a:ea typeface="+mn-ea"/>
              </a:rPr>
              <a:t>位乘积</a:t>
            </a:r>
            <a:r>
              <a:rPr lang="en-US" altLang="zh-CN" sz="1600" b="1" dirty="0" smtClean="0">
                <a:latin typeface="宋体" panose="02010600030101010101" pitchFamily="2" charset="-122"/>
                <a:ea typeface="+mn-ea"/>
              </a:rPr>
              <a:t>)               (</a:t>
            </a:r>
            <a:r>
              <a:rPr lang="zh-CN" altLang="en-US" sz="1600" b="1" dirty="0" smtClean="0">
                <a:latin typeface="宋体" panose="02010600030101010101" pitchFamily="2" charset="-122"/>
                <a:ea typeface="+mn-ea"/>
              </a:rPr>
              <a:t>如传送不产生标志</a:t>
            </a:r>
            <a:r>
              <a:rPr lang="en-US" altLang="zh-CN" sz="1600" b="1" dirty="0" smtClean="0">
                <a:latin typeface="宋体" panose="02010600030101010101" pitchFamily="2" charset="-122"/>
                <a:ea typeface="+mn-ea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  <a:ea typeface="+mn-ea"/>
            </a:endParaRPr>
          </a:p>
          <a:p>
            <a:pPr marL="3048000" indent="-3048000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    顺序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型指令：</a:t>
            </a:r>
            <a:r>
              <a:rPr lang="en-US" altLang="zh-CN" sz="2200" b="1" dirty="0" err="1">
                <a:latin typeface="+mn-ea"/>
                <a:ea typeface="+mn-ea"/>
              </a:rPr>
              <a:t>NextPC</a:t>
            </a:r>
            <a:r>
              <a:rPr lang="zh-CN" altLang="en-US" sz="2200" b="1" dirty="0">
                <a:latin typeface="+mn-ea"/>
                <a:ea typeface="+mn-ea"/>
              </a:rPr>
              <a:t>＝</a:t>
            </a:r>
            <a:r>
              <a:rPr lang="en-US" altLang="zh-CN" sz="2200" b="1" dirty="0">
                <a:latin typeface="+mn-ea"/>
                <a:ea typeface="+mn-ea"/>
              </a:rPr>
              <a:t>(PC)</a:t>
            </a:r>
            <a:r>
              <a:rPr lang="zh-CN" altLang="en-US" sz="2200" b="1" dirty="0">
                <a:latin typeface="+mn-ea"/>
                <a:ea typeface="+mn-ea"/>
              </a:rPr>
              <a:t>＋</a:t>
            </a:r>
            <a:r>
              <a:rPr lang="zh-CN" altLang="en-US" sz="2200" b="1" dirty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200" b="1" dirty="0">
                <a:latin typeface="+mn-ea"/>
                <a:ea typeface="+mn-ea"/>
              </a:rPr>
              <a:t>1</a:t>
            </a:r>
            <a:r>
              <a:rPr lang="zh-CN" altLang="en-US" sz="2200" b="1" dirty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zh-CN" altLang="en-US" sz="2200" dirty="0">
                <a:latin typeface="+mn-ea"/>
                <a:ea typeface="+mn-ea"/>
                <a:cs typeface="Arial Unicode MS" panose="020B0604020202020204" charset="-122"/>
              </a:rPr>
              <a:t> </a:t>
            </a:r>
            <a:endParaRPr lang="en-US" altLang="zh-CN" sz="2200" dirty="0">
              <a:latin typeface="+mn-ea"/>
              <a:ea typeface="+mn-ea"/>
              <a:cs typeface="Arial Unicode MS" panose="020B0604020202020204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    转移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型指令：</a:t>
            </a:r>
            <a:r>
              <a:rPr lang="en-US" altLang="zh-CN" sz="2200" b="1" dirty="0" err="1">
                <a:latin typeface="+mn-ea"/>
                <a:ea typeface="+mn-ea"/>
              </a:rPr>
              <a:t>NextPC</a:t>
            </a:r>
            <a:r>
              <a:rPr lang="zh-CN" altLang="en-US" sz="2200" b="1" dirty="0">
                <a:latin typeface="+mn-ea"/>
                <a:ea typeface="+mn-ea"/>
              </a:rPr>
              <a:t>＝运算</a:t>
            </a:r>
            <a:r>
              <a:rPr lang="zh-CN" altLang="en-US" sz="2200" b="1" dirty="0" smtClean="0">
                <a:latin typeface="+mn-ea"/>
                <a:ea typeface="+mn-ea"/>
              </a:rPr>
              <a:t>结果</a:t>
            </a:r>
            <a:endParaRPr lang="en-US" altLang="zh-CN" sz="22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179705" y="1260000"/>
            <a:ext cx="3329940" cy="39382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3048000" indent="-3048000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指令格式的组成：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不同指令的标识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操作码表示的信息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地址码表示的信息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指令中信息的表示：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性能指标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3048000" indent="-304800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表示方法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333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828000"/>
            <a:ext cx="880237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用编码表示指令功能所含信息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操作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类型、源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OPD/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目的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、下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条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指令地址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3240000" y="1449800"/>
            <a:ext cx="2880000" cy="252000"/>
            <a:chOff x="3177131" y="1872379"/>
            <a:chExt cx="2880000" cy="283500"/>
          </a:xfrm>
        </p:grpSpPr>
        <p:sp>
          <p:nvSpPr>
            <p:cNvPr id="141" name="Text Box 22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177131" y="1872379"/>
              <a:ext cx="1080000" cy="2835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操作码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2" name="Text Box 23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257131" y="1872379"/>
              <a:ext cx="1800000" cy="2835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地址码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3" name="直接连接符 142"/>
            <p:cNvCxnSpPr/>
            <p:nvPr>
              <p:custDataLst>
                <p:tags r:id="rId4"/>
              </p:custDataLst>
            </p:nvPr>
          </p:nvCxnSpPr>
          <p:spPr bwMode="auto">
            <a:xfrm>
              <a:off x="4725131" y="1872379"/>
              <a:ext cx="0" cy="2835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直接连接符 143"/>
            <p:cNvCxnSpPr/>
            <p:nvPr>
              <p:custDataLst>
                <p:tags r:id="rId5"/>
              </p:custDataLst>
            </p:nvPr>
          </p:nvCxnSpPr>
          <p:spPr bwMode="auto">
            <a:xfrm>
              <a:off x="5733131" y="1872379"/>
              <a:ext cx="0" cy="2835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5" name="Text Box 20"/>
          <p:cNvSpPr txBox="1">
            <a:spLocks noChangeArrowheads="1"/>
          </p:cNvSpPr>
          <p:nvPr/>
        </p:nvSpPr>
        <p:spPr bwMode="auto">
          <a:xfrm>
            <a:off x="3023870" y="1692000"/>
            <a:ext cx="5956300" cy="220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用操作码实现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要求编码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无二义性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操作类型、格式参数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地址码个数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+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目的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OPD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位置</a:t>
            </a:r>
            <a:r>
              <a: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等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源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目的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地址、下条指令地址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113" name="Text Box 29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356000" y="2663755"/>
            <a:ext cx="2520000" cy="61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p>
            <a:r>
              <a:rPr lang="en-US" altLang="zh-CN" sz="1800" b="1" dirty="0" smtClean="0">
                <a:latin typeface="宋体" panose="02010600030101010101" pitchFamily="2" charset="-122"/>
              </a:rPr>
              <a:t>i: A</a:t>
            </a:r>
            <a:r>
              <a:rPr lang="en-US" altLang="zh-CN" sz="1800" b="1" baseline="-18000" dirty="0" smtClean="0">
                <a:latin typeface="宋体" panose="02010600030101010101" pitchFamily="2" charset="-122"/>
              </a:rPr>
              <a:t>D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A</a:t>
            </a:r>
            <a:r>
              <a:rPr lang="en-US" altLang="zh-CN" sz="1800" b="1" baseline="-18000" dirty="0" smtClean="0">
                <a:latin typeface="宋体" panose="02010600030101010101" pitchFamily="2" charset="-122"/>
              </a:rPr>
              <a:t>1</a:t>
            </a:r>
            <a:r>
              <a:rPr lang="en-US" altLang="zh-CN" sz="1800" b="1" dirty="0" smtClean="0"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 OPER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A</a:t>
            </a:r>
            <a:r>
              <a:rPr lang="en-US" altLang="zh-CN" sz="1800" b="1" baseline="-18000" dirty="0" smtClean="0">
                <a:latin typeface="宋体" panose="02010600030101010101" pitchFamily="2" charset="-122"/>
              </a:rPr>
              <a:t>2</a:t>
            </a:r>
            <a:r>
              <a:rPr lang="en-US" altLang="zh-CN" sz="1800" b="1" dirty="0" smtClean="0">
                <a:latin typeface="宋体" panose="02010600030101010101" pitchFamily="2" charset="-122"/>
                <a:sym typeface="Symbol" panose="05050102010706020507"/>
              </a:rPr>
              <a:t>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spcBef>
                <a:spcPts val="30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j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: …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grpSp>
        <p:nvGrpSpPr>
          <p:cNvPr id="115" name="组合 114"/>
          <p:cNvGrpSpPr/>
          <p:nvPr/>
        </p:nvGrpSpPr>
        <p:grpSpPr>
          <a:xfrm>
            <a:off x="1548000" y="2735755"/>
            <a:ext cx="2700264" cy="504000"/>
            <a:chOff x="1223608" y="2996307"/>
            <a:chExt cx="2700264" cy="504000"/>
          </a:xfrm>
        </p:grpSpPr>
        <p:sp>
          <p:nvSpPr>
            <p:cNvPr id="116" name="Text Box 2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583608" y="2996307"/>
              <a:ext cx="648000" cy="252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OP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7" name="Text Box 2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231608" y="2996307"/>
              <a:ext cx="612000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2000" b="1" baseline="-18000" dirty="0">
                  <a:latin typeface="宋体" panose="02010600030101010101" pitchFamily="2" charset="-122"/>
                </a:rPr>
                <a:t>1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18" name="Text Box 28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843608" y="2996307"/>
              <a:ext cx="431353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2000" b="1" baseline="-18000" dirty="0">
                  <a:latin typeface="宋体" panose="02010600030101010101" pitchFamily="2" charset="-122"/>
                </a:rPr>
                <a:t>2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19" name="AutoShape 3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419872" y="3068315"/>
              <a:ext cx="504000" cy="144000"/>
            </a:xfrm>
            <a:prstGeom prst="leftRightArrow">
              <a:avLst>
                <a:gd name="adj1" fmla="val 49925"/>
                <a:gd name="adj2" fmla="val 81809"/>
              </a:avLst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20" name="Text Box 29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223608" y="3284307"/>
              <a:ext cx="205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例：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0 0 1 </a:t>
              </a:r>
              <a:r>
                <a:rPr lang="en-US" altLang="zh-CN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0 0 1 1 0</a:t>
              </a:r>
              <a:endPara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426775" y="2555510"/>
            <a:ext cx="1297591" cy="180000"/>
            <a:chOff x="4570285" y="2771534"/>
            <a:chExt cx="1297591" cy="180000"/>
          </a:xfrm>
        </p:grpSpPr>
        <p:cxnSp>
          <p:nvCxnSpPr>
            <p:cNvPr id="70" name="直接箭头连接符 69"/>
            <p:cNvCxnSpPr/>
            <p:nvPr>
              <p:custDataLst>
                <p:tags r:id="rId12"/>
              </p:custDataLst>
            </p:nvPr>
          </p:nvCxnSpPr>
          <p:spPr bwMode="auto">
            <a:xfrm>
              <a:off x="4571876" y="2771534"/>
              <a:ext cx="129600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直接箭头连接符 72"/>
            <p:cNvCxnSpPr/>
            <p:nvPr>
              <p:custDataLst>
                <p:tags r:id="rId13"/>
              </p:custDataLst>
            </p:nvPr>
          </p:nvCxnSpPr>
          <p:spPr bwMode="auto">
            <a:xfrm>
              <a:off x="4570285" y="2771534"/>
              <a:ext cx="75600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4" name="组合 3"/>
          <p:cNvGrpSpPr/>
          <p:nvPr/>
        </p:nvGrpSpPr>
        <p:grpSpPr>
          <a:xfrm>
            <a:off x="2843530" y="2555240"/>
            <a:ext cx="2160905" cy="828040"/>
            <a:chOff x="4478" y="3798"/>
            <a:chExt cx="3403" cy="1304"/>
          </a:xfrm>
        </p:grpSpPr>
        <p:cxnSp>
          <p:nvCxnSpPr>
            <p:cNvPr id="96" name="直接箭头连接符 95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4478" y="4876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1" name="直接箭头连接符 110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5329" y="4876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7" name="直接箭头连接符 146"/>
            <p:cNvCxnSpPr/>
            <p:nvPr>
              <p:custDataLst>
                <p:tags r:id="rId16"/>
              </p:custDataLst>
            </p:nvPr>
          </p:nvCxnSpPr>
          <p:spPr bwMode="auto">
            <a:xfrm flipH="1">
              <a:off x="4478" y="5102"/>
              <a:ext cx="113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149" name="直接箭头连接符 148"/>
            <p:cNvCxnSpPr/>
            <p:nvPr>
              <p:custDataLst>
                <p:tags r:id="rId17"/>
              </p:custDataLst>
            </p:nvPr>
          </p:nvCxnSpPr>
          <p:spPr bwMode="auto">
            <a:xfrm flipH="1">
              <a:off x="5613" y="3798"/>
              <a:ext cx="2268" cy="130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3" name="直接箭头连接符 2"/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7654" y="3798"/>
              <a:ext cx="227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45" name="组合 44"/>
          <p:cNvGrpSpPr/>
          <p:nvPr/>
        </p:nvGrpSpPr>
        <p:grpSpPr>
          <a:xfrm>
            <a:off x="4644000" y="2951510"/>
            <a:ext cx="1836000" cy="540000"/>
            <a:chOff x="5148036" y="3314742"/>
            <a:chExt cx="1836000" cy="540000"/>
          </a:xfrm>
        </p:grpSpPr>
        <p:cxnSp>
          <p:nvCxnSpPr>
            <p:cNvPr id="83" name="直接箭头连接符 82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5292427" y="3314742"/>
              <a:ext cx="36000" cy="54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86" name="直接箭头连接符 85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5292036" y="3314742"/>
              <a:ext cx="540000" cy="54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0" name="直接箭头连接符 89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5292036" y="3314742"/>
              <a:ext cx="1692000" cy="54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92" name="直接箭头连接符 91"/>
            <p:cNvCxnSpPr/>
            <p:nvPr>
              <p:custDataLst>
                <p:tags r:id="rId22"/>
              </p:custDataLst>
            </p:nvPr>
          </p:nvCxnSpPr>
          <p:spPr bwMode="auto">
            <a:xfrm flipH="1" flipV="1">
              <a:off x="5148036" y="3638742"/>
              <a:ext cx="1584000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</p:grpSp>
      <p:sp>
        <p:nvSpPr>
          <p:cNvPr id="106" name="AutoShape 29"/>
          <p:cNvSpPr/>
          <p:nvPr>
            <p:custDataLst>
              <p:tags r:id="rId23"/>
            </p:custDataLst>
          </p:nvPr>
        </p:nvSpPr>
        <p:spPr bwMode="auto">
          <a:xfrm>
            <a:off x="7056495" y="2844000"/>
            <a:ext cx="1728000" cy="540000"/>
          </a:xfrm>
          <a:prstGeom prst="borderCallout2">
            <a:avLst>
              <a:gd name="adj1" fmla="val -3196"/>
              <a:gd name="adj2" fmla="val 58921"/>
              <a:gd name="adj3" fmla="val -35534"/>
              <a:gd name="adj4" fmla="val 58811"/>
              <a:gd name="adj5" fmla="val -57759"/>
              <a:gd name="adj6" fmla="val 7200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p>
            <a:pPr algn="ctr">
              <a:lnSpc>
                <a:spcPct val="11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有些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ISA</a:t>
            </a:r>
            <a:r>
              <a: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含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OPD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部件类型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寻址方式</a:t>
            </a:r>
            <a:endParaRPr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4" name="Text Box 44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2192020" y="4212000"/>
            <a:ext cx="6741795" cy="1430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336800" indent="-2336800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平均码长、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规整性 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影响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存储空间、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译码</a:t>
            </a:r>
            <a:r>
              <a:rPr lang="zh-CN" altLang="en-US" sz="1600" b="1" dirty="0">
                <a:latin typeface="宋体" panose="02010600030101010101" pitchFamily="2" charset="-122"/>
              </a:rPr>
              <a:t>时间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2336800" indent="-2336800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显</a:t>
            </a:r>
            <a:r>
              <a:rPr lang="zh-CN" altLang="en-US" sz="2200" b="1" dirty="0">
                <a:latin typeface="宋体" panose="02010600030101010101" pitchFamily="2" charset="-122"/>
              </a:rPr>
              <a:t>式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编码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、隐式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约定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2336800" indent="-2336800">
              <a:lnSpc>
                <a:spcPct val="10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                </a:t>
            </a:r>
            <a:r>
              <a:rPr lang="zh-CN" altLang="en-US" sz="1600" b="1" dirty="0">
                <a:latin typeface="宋体" panose="02010600030101010101" pitchFamily="2" charset="-122"/>
              </a:rPr>
              <a:t>↑</a:t>
            </a:r>
            <a:endParaRPr lang="zh-CN" altLang="en-US" sz="1600" b="1" dirty="0">
              <a:latin typeface="宋体" panose="02010600030101010101" pitchFamily="2" charset="-122"/>
            </a:endParaRPr>
          </a:p>
          <a:p>
            <a:pPr marL="2336800" indent="-2336800">
              <a:lnSpc>
                <a:spcPct val="10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  </a:t>
            </a:r>
            <a:r>
              <a:rPr lang="en-US" altLang="zh-CN" sz="1600" b="1" dirty="0">
                <a:latin typeface="宋体" panose="02010600030101010101" pitchFamily="2" charset="-122"/>
              </a:rPr>
              <a:t>     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6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操作码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可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指明</a:t>
            </a:r>
            <a:endParaRPr lang="zh-CN" altLang="en-US" sz="1600" dirty="0" smtClean="0">
              <a:latin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252720" y="4824000"/>
            <a:ext cx="1511935" cy="1080135"/>
            <a:chOff x="6690" y="4989"/>
            <a:chExt cx="2381" cy="1701"/>
          </a:xfrm>
        </p:grpSpPr>
        <p:sp>
          <p:nvSpPr>
            <p:cNvPr id="66" name="Text Box 50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6690" y="5443"/>
              <a:ext cx="907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3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67" name="Text Box 5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597" y="5443"/>
              <a:ext cx="51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69" name="Text Box 5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8107" y="5443"/>
              <a:ext cx="737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2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1" name="Text Box 50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690" y="5896"/>
              <a:ext cx="1701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4-8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2" name="Text Box 5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8391" y="5896"/>
              <a:ext cx="567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4" name="Text Box 50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690" y="6350"/>
              <a:ext cx="907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9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8" name="Text Box 5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7597" y="6350"/>
              <a:ext cx="51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1" name="Text Box 5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8107" y="6350"/>
              <a:ext cx="964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2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3" name="Text Box 50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690" y="4989"/>
              <a:ext cx="907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1-2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94" name="Text Box 5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7597" y="4989"/>
              <a:ext cx="51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836410" y="4824000"/>
            <a:ext cx="1943100" cy="1080135"/>
            <a:chOff x="9184" y="4989"/>
            <a:chExt cx="3060" cy="1701"/>
          </a:xfrm>
        </p:grpSpPr>
        <p:sp>
          <p:nvSpPr>
            <p:cNvPr id="6" name="Text Box 50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9863" y="5443"/>
              <a:ext cx="907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3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8" name="Text Box 5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0770" y="5443"/>
              <a:ext cx="51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" name="Text Box 5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1280" y="5443"/>
              <a:ext cx="85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2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0" name="Text Box 50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9863" y="5896"/>
              <a:ext cx="907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4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1" name="Text Box 51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0770" y="5896"/>
              <a:ext cx="51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" name="Text Box 50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9863" y="6350"/>
              <a:ext cx="907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9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" name="Text Box 51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0770" y="6350"/>
              <a:ext cx="51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" name="Text Box 51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1280" y="6350"/>
              <a:ext cx="964" cy="340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prstDash val="sysDash"/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2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5" name="Text Box 50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9863" y="4989"/>
              <a:ext cx="907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1-2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51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10770" y="4989"/>
              <a:ext cx="51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7" name="Text Box 50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1280" y="5896"/>
              <a:ext cx="850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18000" bIns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4-8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Symbol" panose="05050102010706020507"/>
                </a:rPr>
                <a:t></a:t>
              </a:r>
              <a:endParaRPr lang="en-US" altLang="zh-CN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9" name="右箭头 28"/>
            <p:cNvSpPr/>
            <p:nvPr>
              <p:custDataLst>
                <p:tags r:id="rId46"/>
              </p:custDataLst>
            </p:nvPr>
          </p:nvSpPr>
          <p:spPr>
            <a:xfrm>
              <a:off x="9184" y="5613"/>
              <a:ext cx="567" cy="453"/>
            </a:xfrm>
            <a:prstGeom prst="rightArrow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1" name="Text Box 19"/>
          <p:cNvSpPr txBox="1"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179388" y="36129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b" anchorCtr="0">
            <a:spAutoFit/>
          </a:bodyPr>
          <a:lstStyle>
            <a:defPPr>
              <a:defRPr lang="zh-CN"/>
            </a:defPPr>
            <a:lvl1pPr>
              <a:defRPr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二、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指令格式      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--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指令功能的表示</a:t>
            </a:r>
            <a:endParaRPr lang="zh-CN" altLang="en-US" sz="180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230404" name="Text Box 4"/>
          <p:cNvSpPr txBox="1">
            <a:spLocks noChangeArrowheads="1"/>
          </p:cNvSpPr>
          <p:nvPr/>
        </p:nvSpPr>
        <p:spPr bwMode="auto">
          <a:xfrm>
            <a:off x="179705" y="360045"/>
            <a:ext cx="2994025" cy="47193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、操作码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需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表示的信息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*需显式表示的信息：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隐式表示的条件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操作码的编码方法：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定长编码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变长编码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操作码的特性：</a:t>
            </a:r>
            <a:endParaRPr lang="zh-CN" altLang="en-US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2160270" y="791845"/>
            <a:ext cx="6774180" cy="47834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操作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类型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功能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+OPD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类型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、格式参数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个数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位置等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操作</a:t>
            </a:r>
            <a:r>
              <a:rPr lang="zh-CN" altLang="en-US" sz="2200" b="1" u="sng" dirty="0">
                <a:latin typeface="宋体" panose="02010600030101010101" pitchFamily="2" charset="-122"/>
              </a:rPr>
              <a:t>功能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须</a:t>
            </a:r>
            <a:r>
              <a:rPr lang="zh-CN" altLang="en-US" sz="2200" b="1" dirty="0">
                <a:latin typeface="宋体" panose="02010600030101010101" pitchFamily="2" charset="-122"/>
              </a:rPr>
              <a:t>显式表示，</a:t>
            </a:r>
            <a:r>
              <a:rPr lang="zh-CN" altLang="en-US" sz="2200" b="1" u="sng" dirty="0">
                <a:latin typeface="宋体" panose="02010600030101010101" pitchFamily="2" charset="-122"/>
              </a:rPr>
              <a:t>其余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可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隐式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表示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同一指令中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某信息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仅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种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取值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时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       </a:t>
            </a:r>
            <a:r>
              <a: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如：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指令的</a:t>
            </a:r>
            <a:r>
              <a:rPr lang="en-US" altLang="zh-CN" sz="1600" b="1" u="sng" dirty="0" smtClean="0">
                <a:latin typeface="宋体" panose="02010600030101010101" pitchFamily="2" charset="-122"/>
              </a:rPr>
              <a:t>OPD</a:t>
            </a:r>
            <a:r>
              <a:rPr lang="zh-CN" altLang="en-US" sz="1600" b="1" u="sng" dirty="0" smtClean="0">
                <a:latin typeface="宋体" panose="02010600030101010101" pitchFamily="2" charset="-122"/>
              </a:rPr>
              <a:t>类型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仅为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32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位无符号整数时，</a:t>
            </a:r>
            <a:endParaRPr lang="zh-CN" altLang="en-US" sz="1600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        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指令的</a:t>
            </a:r>
            <a:r>
              <a:rPr lang="zh-CN" altLang="en-US" sz="1600" b="1" u="sng" dirty="0" smtClean="0">
                <a:latin typeface="宋体" panose="02010600030101010101" pitchFamily="2" charset="-122"/>
              </a:rPr>
              <a:t>地址码个数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仅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个时</a:t>
            </a:r>
            <a:endParaRPr lang="zh-CN" altLang="en-US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</a:rPr>
              <a:t>         (</a:t>
            </a:r>
            <a:r>
              <a:rPr lang="zh-CN" altLang="en-US" sz="1800" b="1" dirty="0">
                <a:latin typeface="宋体" panose="02010600030101010101" pitchFamily="2" charset="-122"/>
              </a:rPr>
              <a:t>面向</a:t>
            </a:r>
            <a:r>
              <a:rPr lang="zh-CN" altLang="en-US" sz="1800" b="1" u="sng" dirty="0">
                <a:latin typeface="宋体" panose="02010600030101010101" pitchFamily="2" charset="-122"/>
              </a:rPr>
              <a:t>所有指令</a:t>
            </a:r>
            <a:r>
              <a:rPr lang="zh-CN" altLang="en-US" sz="1800" b="1" dirty="0">
                <a:latin typeface="宋体" panose="02010600030101010101" pitchFamily="2" charset="-122"/>
              </a:rPr>
              <a:t>，尽量规整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相同属性约定相同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按序编码，长度＝</a:t>
            </a:r>
            <a:r>
              <a:rPr lang="zh-CN" altLang="en-US" sz="2200" dirty="0" smtClean="0">
                <a:latin typeface="宋体" panose="02010600030101010101" pitchFamily="2" charset="-122"/>
                <a:sym typeface="Symbol" panose="05050102010706020507"/>
              </a:rPr>
              <a:t>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log</a:t>
            </a:r>
            <a:r>
              <a:rPr lang="en-US" altLang="zh-CN" sz="2200" b="1" baseline="-28000" dirty="0" smtClean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显式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表示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信息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的种类数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dirty="0" smtClean="0">
                <a:latin typeface="宋体" panose="02010600030101010101" pitchFamily="2" charset="-122"/>
                <a:sym typeface="Symbol" panose="05050102010706020507"/>
              </a:rPr>
              <a:t>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带权编码，如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扩展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编码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基于</a:t>
            </a:r>
            <a:r>
              <a:rPr lang="zh-CN" altLang="en-US" sz="1800" b="1" u="sng" dirty="0" smtClean="0">
                <a:latin typeface="宋体" panose="02010600030101010101" pitchFamily="2" charset="-122"/>
                <a:sym typeface="+mn-ea"/>
              </a:rPr>
              <a:t>哈夫曼编码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                            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叉哈夫曼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树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定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长编码、哈夫曼编码、扩展编码示例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下页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不同指令的编码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无二义性</a:t>
            </a:r>
            <a:endParaRPr lang="zh-CN" altLang="en-US" sz="2200" b="1" u="sng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              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←区分不同指令的</a:t>
            </a:r>
            <a:r>
              <a:rPr lang="zh-CN" altLang="en-US" sz="1600" b="1" u="sng" dirty="0" smtClean="0">
                <a:latin typeface="宋体" panose="02010600030101010101" pitchFamily="2" charset="-122"/>
                <a:sym typeface="+mn-ea"/>
              </a:rPr>
              <a:t>操作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1600" b="1" u="sng" dirty="0" smtClean="0">
                <a:latin typeface="宋体" panose="02010600030101010101" pitchFamily="2" charset="-122"/>
                <a:sym typeface="+mn-ea"/>
              </a:rPr>
              <a:t>隐含表示的信息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             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操作类型、源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目的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、指令地址计算方法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u="sng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20" name="Text Box 25"/>
          <p:cNvSpPr txBox="1">
            <a:spLocks noChangeArrowheads="1"/>
          </p:cNvSpPr>
          <p:nvPr/>
        </p:nvSpPr>
        <p:spPr bwMode="auto">
          <a:xfrm>
            <a:off x="2844000" y="3852000"/>
            <a:ext cx="3456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p>
            <a:pPr algn="ctr"/>
            <a:r>
              <a:rPr lang="en-US" altLang="zh-CN" sz="1600" b="1" dirty="0">
                <a:latin typeface="宋体" panose="02010600030101010101" pitchFamily="2" charset="-122"/>
              </a:rPr>
              <a:t>k</a:t>
            </a:r>
            <a:r>
              <a:rPr lang="zh-CN" altLang="en-US" sz="1600" b="1" dirty="0">
                <a:latin typeface="宋体" panose="02010600030101010101" pitchFamily="2" charset="-122"/>
              </a:rPr>
              <a:t>叉哈夫曼树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1600" dirty="0">
                <a:solidFill>
                  <a:srgbClr val="990099"/>
                </a:solidFill>
                <a:latin typeface="宋体" panose="02010600030101010101" pitchFamily="2" charset="-122"/>
              </a:rPr>
              <a:t>┴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提高规整性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←</a:t>
            </a:r>
            <a:r>
              <a:rPr lang="zh-CN" altLang="en-US" sz="1600" dirty="0">
                <a:solidFill>
                  <a:srgbClr val="990099"/>
                </a:solidFill>
                <a:latin typeface="宋体" panose="02010600030101010101" pitchFamily="2" charset="-122"/>
              </a:rPr>
              <a:t>┘</a:t>
            </a:r>
            <a:endParaRPr lang="zh-CN" altLang="en-US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1517880" y="5077470"/>
            <a:ext cx="2088000" cy="252000"/>
            <a:chOff x="3177131" y="1872379"/>
            <a:chExt cx="2088000" cy="283500"/>
          </a:xfrm>
        </p:grpSpPr>
        <p:sp>
          <p:nvSpPr>
            <p:cNvPr id="141" name="Text Box 22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177131" y="1872379"/>
              <a:ext cx="864000" cy="2835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abcdef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2" name="Text Box 23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041131" y="1872379"/>
              <a:ext cx="1224000" cy="2835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****  ***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3" name="直接连接符 142"/>
            <p:cNvCxnSpPr/>
            <p:nvPr>
              <p:custDataLst>
                <p:tags r:id="rId3"/>
              </p:custDataLst>
            </p:nvPr>
          </p:nvCxnSpPr>
          <p:spPr bwMode="auto">
            <a:xfrm>
              <a:off x="4725131" y="1872379"/>
              <a:ext cx="0" cy="2835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19" name="AutoShape 121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6200000">
            <a:off x="298782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0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30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75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" name="Group 12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81797" y="1331510"/>
          <a:ext cx="4481943" cy="2519680"/>
        </p:xfrm>
        <a:graphic>
          <a:graphicData uri="http://schemas.openxmlformats.org/drawingml/2006/table">
            <a:tbl>
              <a:tblPr/>
              <a:tblGrid>
                <a:gridCol w="900430"/>
                <a:gridCol w="881493"/>
                <a:gridCol w="844550"/>
                <a:gridCol w="1022350"/>
                <a:gridCol w="833120"/>
              </a:tblGrid>
              <a:tr h="268605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800" b="1" i="0" u="none" strike="noStrike" cap="none" normalizeH="0" baseline="-16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频率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800" b="1" i="0" u="none" strike="noStrike" cap="none" normalizeH="0" baseline="-16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定长码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哈夫曼码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扩展码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1688465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I3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I5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I7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0.40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0.26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0.15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0.06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0.05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 gridSpan="2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平均码长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(∑</a:t>
                      </a:r>
                      <a:r>
                        <a:rPr kumimoji="1" lang="en-US" altLang="zh-CN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600" b="1" i="0" u="none" strike="noStrike" cap="none" normalizeH="0" baseline="-16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600" b="1" i="0" u="none" strike="noStrike" cap="none" normalizeH="0" baseline="-16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3.00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290">
                <a:tc gridSpan="2"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规整性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码长种类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 hMerge="1"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83" name="组合 82"/>
          <p:cNvGrpSpPr/>
          <p:nvPr/>
        </p:nvGrpSpPr>
        <p:grpSpPr>
          <a:xfrm>
            <a:off x="4462145" y="1619250"/>
            <a:ext cx="288290" cy="1620520"/>
            <a:chOff x="6236" y="2324"/>
            <a:chExt cx="454" cy="2552"/>
          </a:xfrm>
        </p:grpSpPr>
        <p:sp>
          <p:nvSpPr>
            <p:cNvPr id="81" name="矩形 80"/>
            <p:cNvSpPr/>
            <p:nvPr/>
          </p:nvSpPr>
          <p:spPr>
            <a:xfrm>
              <a:off x="6236" y="2324"/>
              <a:ext cx="454" cy="1077"/>
            </a:xfrm>
            <a:prstGeom prst="rect">
              <a:avLst/>
            </a:prstGeom>
            <a:solidFill>
              <a:srgbClr val="CCECFF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36195" tIns="0" rIns="36195" bIns="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" name="矩形 81"/>
            <p:cNvSpPr/>
            <p:nvPr>
              <p:custDataLst>
                <p:tags r:id="rId2"/>
              </p:custDataLst>
            </p:nvPr>
          </p:nvSpPr>
          <p:spPr>
            <a:xfrm>
              <a:off x="6236" y="3402"/>
              <a:ext cx="454" cy="1474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36195" tIns="0" rIns="36195" bIns="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1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00000" y="396000"/>
            <a:ext cx="7992000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609600" indent="-609600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000" b="1" dirty="0" smtClean="0">
                <a:solidFill>
                  <a:srgbClr val="990099"/>
                </a:solidFill>
                <a:latin typeface="Times New Roman" panose="02020603050405020304"/>
              </a:rPr>
              <a:t>：</a:t>
            </a:r>
            <a:r>
              <a:rPr lang="en-US" altLang="zh-CN" sz="2000" b="1" dirty="0" smtClean="0">
                <a:latin typeface="+mn-ea"/>
              </a:rPr>
              <a:t>7</a:t>
            </a:r>
            <a:r>
              <a:rPr lang="zh-CN" altLang="en-US" sz="2000" b="1" dirty="0">
                <a:latin typeface="Times New Roman" panose="02020603050405020304"/>
              </a:rPr>
              <a:t>种</a:t>
            </a:r>
            <a:r>
              <a:rPr lang="zh-CN" altLang="en-US" sz="2000" b="1" dirty="0">
                <a:latin typeface="宋体" panose="02010600030101010101" pitchFamily="2" charset="-122"/>
              </a:rPr>
              <a:t>操作的使用频率分别为</a:t>
            </a:r>
            <a:r>
              <a:rPr lang="en-US" altLang="zh-CN" sz="2000" b="1" spc="-50" dirty="0">
                <a:latin typeface="宋体" panose="02010600030101010101" pitchFamily="2" charset="-122"/>
              </a:rPr>
              <a:t>0.4</a:t>
            </a:r>
            <a:r>
              <a:rPr lang="zh-CN" altLang="en-US" sz="2000" b="1" spc="-50" dirty="0">
                <a:latin typeface="宋体" panose="02010600030101010101" pitchFamily="2" charset="-122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</a:rPr>
              <a:t>0.26</a:t>
            </a:r>
            <a:r>
              <a:rPr lang="zh-CN" altLang="en-US" sz="2000" b="1" spc="-50" dirty="0">
                <a:latin typeface="宋体" panose="02010600030101010101" pitchFamily="2" charset="-122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</a:rPr>
              <a:t>0.15</a:t>
            </a:r>
            <a:r>
              <a:rPr lang="zh-CN" altLang="en-US" sz="2000" b="1" spc="-50" dirty="0">
                <a:latin typeface="宋体" panose="02010600030101010101" pitchFamily="2" charset="-122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</a:rPr>
              <a:t>0.06</a:t>
            </a:r>
            <a:r>
              <a:rPr lang="zh-CN" altLang="en-US" sz="2000" b="1" spc="-50" dirty="0">
                <a:latin typeface="宋体" panose="02010600030101010101" pitchFamily="2" charset="-122"/>
              </a:rPr>
              <a:t>、</a:t>
            </a:r>
            <a:r>
              <a:rPr lang="en-US" altLang="zh-CN" sz="2000" b="1" spc="-50" dirty="0">
                <a:latin typeface="宋体" panose="02010600030101010101" pitchFamily="2" charset="-122"/>
              </a:rPr>
              <a:t>0.05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0.04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0.04</a:t>
            </a:r>
            <a:r>
              <a:rPr lang="zh-CN" altLang="en-US" sz="2000" b="1" dirty="0">
                <a:latin typeface="宋体" panose="02010600030101010101" pitchFamily="2" charset="-122"/>
              </a:rPr>
              <a:t>，分别按定长、哈夫曼、扩展</a:t>
            </a:r>
            <a:r>
              <a:rPr lang="en-US" altLang="zh-CN" sz="2000" b="1" dirty="0">
                <a:latin typeface="宋体" panose="02010600030101010101" pitchFamily="2" charset="-122"/>
              </a:rPr>
              <a:t>(2</a:t>
            </a:r>
            <a:r>
              <a:rPr lang="zh-CN" altLang="en-US" sz="2000" b="1" dirty="0">
                <a:latin typeface="宋体" panose="02010600030101010101" pitchFamily="2" charset="-122"/>
              </a:rPr>
              <a:t>种长度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格式进行编码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graphicFrame>
        <p:nvGraphicFramePr>
          <p:cNvPr id="8" name="Group 124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354710" y="1331510"/>
          <a:ext cx="800735" cy="2519680"/>
        </p:xfrm>
        <a:graphic>
          <a:graphicData uri="http://schemas.openxmlformats.org/drawingml/2006/table">
            <a:tbl>
              <a:tblPr/>
              <a:tblGrid>
                <a:gridCol w="800735"/>
              </a:tblGrid>
              <a:tr h="257284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18000" marR="18000" marT="18000" marB="18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86932">
                <a:tc>
                  <a:txBody>
                    <a:bodyPr/>
                    <a:p>
                      <a:pPr marL="7810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7810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7810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7810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7810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7810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7810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144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2.38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32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Group 123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3416195" y="1331510"/>
          <a:ext cx="819150" cy="2519680"/>
        </p:xfrm>
        <a:graphic>
          <a:graphicData uri="http://schemas.openxmlformats.org/drawingml/2006/table">
            <a:tbl>
              <a:tblPr/>
              <a:tblGrid>
                <a:gridCol w="819150"/>
              </a:tblGrid>
              <a:tr h="255785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88431">
                <a:tc>
                  <a:txBody>
                    <a:bodyPr/>
                    <a:p>
                      <a:pPr marL="8572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8572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8572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8572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8572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8572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85725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11111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45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32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95" name="组合 94"/>
          <p:cNvGrpSpPr/>
          <p:nvPr/>
        </p:nvGrpSpPr>
        <p:grpSpPr>
          <a:xfrm>
            <a:off x="5434965" y="3118485"/>
            <a:ext cx="3239770" cy="985520"/>
            <a:chOff x="8220" y="5250"/>
            <a:chExt cx="5102" cy="1552"/>
          </a:xfrm>
        </p:grpSpPr>
        <p:sp>
          <p:nvSpPr>
            <p:cNvPr id="12" name="Text Box 43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772" y="5896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0.15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" name="Text Box 43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1566" y="5896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0.26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" name="Text Box 43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2360" y="5896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0.40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9"/>
              </p:custDataLst>
            </p:nvPr>
          </p:nvCxnSpPr>
          <p:spPr bwMode="auto">
            <a:xfrm>
              <a:off x="11622" y="5556"/>
              <a:ext cx="283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>
              <p:custDataLst>
                <p:tags r:id="rId10"/>
              </p:custDataLst>
            </p:nvPr>
          </p:nvCxnSpPr>
          <p:spPr bwMode="auto">
            <a:xfrm>
              <a:off x="11735" y="5556"/>
              <a:ext cx="907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Text Box 25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1452" y="6350"/>
              <a:ext cx="187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4</a:t>
              </a: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叉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哈夫曼树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8" name="Text Box 25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435" y="5250"/>
              <a:ext cx="221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 smtClean="0">
                  <a:solidFill>
                    <a:srgbClr val="C00000"/>
                  </a:solidFill>
                  <a:effectLst/>
                  <a:latin typeface="宋体" panose="02010600030101010101" pitchFamily="2" charset="-122"/>
                </a:rPr>
                <a:t>2</a:t>
              </a:r>
              <a:r>
                <a:rPr lang="zh-CN" altLang="en-US" sz="1600" b="1" dirty="0" smtClean="0">
                  <a:solidFill>
                    <a:srgbClr val="C00000"/>
                  </a:solidFill>
                  <a:effectLst/>
                  <a:latin typeface="宋体" panose="02010600030101010101" pitchFamily="2" charset="-122"/>
                </a:rPr>
                <a:t>层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有叶结点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9" name="直接连接符 18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11112" y="5556"/>
              <a:ext cx="34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" name="Text Box 43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1169" y="5272"/>
              <a:ext cx="680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1.00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1" name="Text Box 4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9468" y="5896"/>
              <a:ext cx="680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0.19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2" name="Text Box 43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220" y="6520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0.04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3" name="Text Box 43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014" y="6520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0.04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4" name="Text Box 43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808" y="6520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0.05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5" name="Text Box 43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0602" y="6520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0.06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6" name="直接连接符 25"/>
            <p:cNvCxnSpPr/>
            <p:nvPr>
              <p:custDataLst>
                <p:tags r:id="rId20"/>
              </p:custDataLst>
            </p:nvPr>
          </p:nvCxnSpPr>
          <p:spPr bwMode="auto">
            <a:xfrm flipH="1">
              <a:off x="8673" y="6180"/>
              <a:ext cx="907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9411" y="6180"/>
              <a:ext cx="34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>
              <p:custDataLst>
                <p:tags r:id="rId22"/>
              </p:custDataLst>
            </p:nvPr>
          </p:nvCxnSpPr>
          <p:spPr bwMode="auto">
            <a:xfrm>
              <a:off x="9865" y="6180"/>
              <a:ext cx="283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/>
            <p:cNvCxnSpPr/>
            <p:nvPr>
              <p:custDataLst>
                <p:tags r:id="rId23"/>
              </p:custDataLst>
            </p:nvPr>
          </p:nvCxnSpPr>
          <p:spPr bwMode="auto">
            <a:xfrm>
              <a:off x="10091" y="6180"/>
              <a:ext cx="85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直接连接符 29"/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9921" y="5556"/>
              <a:ext cx="1361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" name="Text Box 3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2472" y="5613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00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2" name="Text Box 3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1792" y="5613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01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3" name="Text Box 3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0885" y="5613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10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4" name="Text Box 3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9865" y="5613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11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5" name="Text Box 3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0715" y="6236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00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6" name="Text Box 3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0035" y="6236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01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7" name="Text Box 3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9241" y="6236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10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" name="Text Box 3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8561" y="6236"/>
              <a:ext cx="34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11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5328920" y="1304290"/>
            <a:ext cx="3239770" cy="1655445"/>
            <a:chOff x="1247" y="6066"/>
            <a:chExt cx="5102" cy="2607"/>
          </a:xfrm>
        </p:grpSpPr>
        <p:sp>
          <p:nvSpPr>
            <p:cNvPr id="40" name="Text Box 43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025" y="6520"/>
              <a:ext cx="680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latin typeface="宋体" panose="02010600030101010101" pitchFamily="2" charset="-122"/>
                </a:rPr>
                <a:t>0.60</a:t>
              </a:r>
              <a:endParaRPr lang="en-US" altLang="zh-CN" sz="1400" dirty="0">
                <a:latin typeface="宋体" panose="02010600030101010101" pitchFamily="2" charset="-122"/>
              </a:endParaRPr>
            </a:p>
          </p:txBody>
        </p:sp>
        <p:sp>
          <p:nvSpPr>
            <p:cNvPr id="41" name="Text Box 43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819" y="6066"/>
              <a:ext cx="680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1.00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2" name="Text Box 43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231" y="6973"/>
              <a:ext cx="680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0.34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3" name="Text Box 43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438" y="7427"/>
              <a:ext cx="680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0.19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5" name="Text Box 43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644" y="7880"/>
              <a:ext cx="680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0.08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6" name="Text Box 43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231" y="7880"/>
              <a:ext cx="680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0.11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7" name="Text Box 43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247" y="8391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0.04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8" name="Text Box 43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2041" y="8391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0.04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9" name="Text Box 43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835" y="8391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0.05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0" name="Text Box 43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628" y="8391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0.06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1" name="Text Box 43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4025" y="7427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0.15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2" name="Text Box 43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4876" y="6973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0.26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3" name="Text Box 43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5669" y="6520"/>
              <a:ext cx="680" cy="28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0.40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55" name="直接连接符 54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1587" y="8164"/>
              <a:ext cx="283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47"/>
              </p:custDataLst>
            </p:nvPr>
          </p:nvCxnSpPr>
          <p:spPr bwMode="auto">
            <a:xfrm>
              <a:off x="2098" y="8164"/>
              <a:ext cx="283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" name="Text Box 31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1474" y="8164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6" name="Text Box 31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2324" y="8164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7" name="Text Box 31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3061" y="8164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8" name="Text Box 31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3912" y="8164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9" name="Text Box 31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2211" y="7597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0" name="Text Box 31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3175" y="7597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1" name="Text Box 31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2948" y="7143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2" name="Text Box 31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4082" y="7143"/>
              <a:ext cx="170" cy="227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3" name="Text Box 3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742" y="6690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4" name="Text Box 31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4819" y="6690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5" name="Text Box 31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4535" y="6236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6" name="Text Box 31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5613" y="6236"/>
              <a:ext cx="170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400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7" name="Text Box 25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4479" y="7937"/>
              <a:ext cx="187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2</a:t>
              </a: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叉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哈夫曼树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8" name="Text Box 25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1587" y="6236"/>
              <a:ext cx="221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en-US" altLang="zh-CN" sz="1600" b="1" dirty="0" smtClean="0">
                  <a:solidFill>
                    <a:srgbClr val="C00000"/>
                  </a:solidFill>
                  <a:effectLst/>
                  <a:latin typeface="宋体" panose="02010600030101010101" pitchFamily="2" charset="-122"/>
                  <a:cs typeface="宋体" panose="02010600030101010101" pitchFamily="2" charset="-122"/>
                </a:rPr>
                <a:t>4</a:t>
              </a:r>
              <a:r>
                <a:rPr lang="zh-CN" altLang="en-US" sz="1600" b="1" dirty="0" smtClean="0">
                  <a:solidFill>
                    <a:srgbClr val="C00000"/>
                  </a:solidFill>
                  <a:effectLst/>
                  <a:latin typeface="宋体" panose="02010600030101010101" pitchFamily="2" charset="-122"/>
                  <a:cs typeface="宋体" panose="02010600030101010101" pitchFamily="2" charset="-122"/>
                </a:rPr>
                <a:t>层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有叶结点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84" name="直接连接符 83"/>
            <p:cNvCxnSpPr/>
            <p:nvPr>
              <p:custDataLst>
                <p:tags r:id="rId62"/>
              </p:custDataLst>
            </p:nvPr>
          </p:nvCxnSpPr>
          <p:spPr bwMode="auto">
            <a:xfrm flipH="1">
              <a:off x="3175" y="8164"/>
              <a:ext cx="283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直接连接符 84"/>
            <p:cNvCxnSpPr/>
            <p:nvPr>
              <p:custDataLst>
                <p:tags r:id="rId63"/>
              </p:custDataLst>
            </p:nvPr>
          </p:nvCxnSpPr>
          <p:spPr bwMode="auto">
            <a:xfrm>
              <a:off x="3685" y="8164"/>
              <a:ext cx="283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/>
            <p:cNvCxnSpPr/>
            <p:nvPr>
              <p:custDataLst>
                <p:tags r:id="rId64"/>
              </p:custDataLst>
            </p:nvPr>
          </p:nvCxnSpPr>
          <p:spPr bwMode="auto">
            <a:xfrm flipH="1">
              <a:off x="2126" y="7710"/>
              <a:ext cx="567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直接连接符 86"/>
            <p:cNvCxnSpPr/>
            <p:nvPr>
              <p:custDataLst>
                <p:tags r:id="rId65"/>
              </p:custDataLst>
            </p:nvPr>
          </p:nvCxnSpPr>
          <p:spPr bwMode="auto">
            <a:xfrm>
              <a:off x="2891" y="7710"/>
              <a:ext cx="567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直接连接符 87"/>
            <p:cNvCxnSpPr/>
            <p:nvPr>
              <p:custDataLst>
                <p:tags r:id="rId66"/>
              </p:custDataLst>
            </p:nvPr>
          </p:nvCxnSpPr>
          <p:spPr bwMode="auto">
            <a:xfrm flipH="1">
              <a:off x="2891" y="7257"/>
              <a:ext cx="567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直接连接符 88"/>
            <p:cNvCxnSpPr/>
            <p:nvPr>
              <p:custDataLst>
                <p:tags r:id="rId67"/>
              </p:custDataLst>
            </p:nvPr>
          </p:nvCxnSpPr>
          <p:spPr bwMode="auto">
            <a:xfrm>
              <a:off x="3742" y="7257"/>
              <a:ext cx="567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0" name="直接连接符 89"/>
            <p:cNvCxnSpPr/>
            <p:nvPr>
              <p:custDataLst>
                <p:tags r:id="rId68"/>
              </p:custDataLst>
            </p:nvPr>
          </p:nvCxnSpPr>
          <p:spPr bwMode="auto">
            <a:xfrm flipH="1">
              <a:off x="3628" y="6803"/>
              <a:ext cx="567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" name="直接连接符 90"/>
            <p:cNvCxnSpPr/>
            <p:nvPr>
              <p:custDataLst>
                <p:tags r:id="rId69"/>
              </p:custDataLst>
            </p:nvPr>
          </p:nvCxnSpPr>
          <p:spPr bwMode="auto">
            <a:xfrm>
              <a:off x="4535" y="6803"/>
              <a:ext cx="567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" name="直接连接符 91"/>
            <p:cNvCxnSpPr/>
            <p:nvPr>
              <p:custDataLst>
                <p:tags r:id="rId70"/>
              </p:custDataLst>
            </p:nvPr>
          </p:nvCxnSpPr>
          <p:spPr bwMode="auto">
            <a:xfrm flipH="1">
              <a:off x="4422" y="6350"/>
              <a:ext cx="567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接连接符 92"/>
            <p:cNvCxnSpPr/>
            <p:nvPr>
              <p:custDataLst>
                <p:tags r:id="rId71"/>
              </p:custDataLst>
            </p:nvPr>
          </p:nvCxnSpPr>
          <p:spPr bwMode="auto">
            <a:xfrm>
              <a:off x="5329" y="6350"/>
              <a:ext cx="567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96" name="Text Box 12"/>
          <p:cNvSpPr txBox="1">
            <a:spLocks noChangeArrowheads="1"/>
          </p:cNvSpPr>
          <p:nvPr>
            <p:custDataLst>
              <p:tags r:id="rId72"/>
            </p:custDataLst>
          </p:nvPr>
        </p:nvSpPr>
        <p:spPr bwMode="auto">
          <a:xfrm>
            <a:off x="1040765" y="4152900"/>
            <a:ext cx="7745730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扩展编码的要求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u="sng" dirty="0" smtClean="0">
                <a:latin typeface="宋体" panose="02010600030101010101" pitchFamily="2" charset="-122"/>
              </a:rPr>
              <a:t>扩展标志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与</a:t>
            </a:r>
            <a:r>
              <a:rPr lang="zh-CN" altLang="en-US" sz="2000" b="1" u="sng" dirty="0" smtClean="0">
                <a:latin typeface="宋体" panose="02010600030101010101" pitchFamily="2" charset="-122"/>
              </a:rPr>
              <a:t>短编码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间</a:t>
            </a:r>
            <a:r>
              <a:rPr lang="zh-CN" altLang="en-US" sz="20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无二义性</a:t>
            </a:r>
            <a:endParaRPr lang="en-US" altLang="zh-CN" sz="20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反例：有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2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个人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王二、王二宁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，</a:t>
            </a:r>
            <a:r>
              <a:rPr lang="zh-CN" altLang="en-US" sz="1800" b="1" dirty="0" smtClean="0">
                <a:latin typeface="+mn-lt"/>
              </a:rPr>
              <a:t>“王二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宁静一会儿”的目标是谁？</a:t>
            </a:r>
            <a:endParaRPr lang="zh-CN" altLang="en-US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129" name="Text Box 12"/>
          <p:cNvSpPr txBox="1">
            <a:spLocks noChangeArrowheads="1"/>
          </p:cNvSpPr>
          <p:nvPr>
            <p:custDataLst>
              <p:tags r:id="rId73"/>
            </p:custDataLst>
          </p:nvPr>
        </p:nvSpPr>
        <p:spPr bwMode="auto">
          <a:xfrm>
            <a:off x="1043608" y="4997838"/>
            <a:ext cx="4248000" cy="576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p>
            <a:pPr marL="689610" indent="-689610" defTabSz="0">
              <a:lnSpc>
                <a:spcPct val="100000"/>
              </a:lnSpc>
              <a:tabLst>
                <a:tab pos="716280" algn="l"/>
              </a:tabLs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写出</a:t>
            </a:r>
            <a:r>
              <a:rPr lang="en-US" altLang="zh-CN" sz="1800" b="1" dirty="0" smtClean="0">
                <a:latin typeface="+mn-ea"/>
                <a:ea typeface="+mn-ea"/>
              </a:rPr>
              <a:t>23</a:t>
            </a:r>
            <a:r>
              <a:rPr lang="zh-CN" altLang="en-US" sz="1800" b="1" dirty="0" smtClean="0">
                <a:latin typeface="+mn-ea"/>
                <a:ea typeface="+mn-ea"/>
              </a:rPr>
              <a:t>种操作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(7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个频率较高、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16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个频率较低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的扩展编码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(2</a:t>
            </a:r>
            <a:r>
              <a:rPr lang="zh-CN" altLang="en-US" sz="1800" b="1" dirty="0">
                <a:latin typeface="宋体" panose="02010600030101010101" pitchFamily="2" charset="-122"/>
              </a:rPr>
              <a:t>种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长度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grpSp>
        <p:nvGrpSpPr>
          <p:cNvPr id="141" name="组合 140"/>
          <p:cNvGrpSpPr/>
          <p:nvPr/>
        </p:nvGrpSpPr>
        <p:grpSpPr>
          <a:xfrm>
            <a:off x="5472000" y="5039755"/>
            <a:ext cx="3024000" cy="504000"/>
            <a:chOff x="2269596" y="4293096"/>
            <a:chExt cx="3024000" cy="504000"/>
          </a:xfrm>
        </p:grpSpPr>
        <p:sp>
          <p:nvSpPr>
            <p:cNvPr id="142" name="Text Box 43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3356248" y="4293096"/>
              <a:ext cx="86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000</a:t>
              </a:r>
              <a:r>
                <a:rPr lang="en-US" altLang="zh-CN" sz="1600" b="1" dirty="0" smtClean="0">
                  <a:latin typeface="+mn-lt"/>
                  <a:ea typeface="+mn-ea"/>
                </a:rPr>
                <a:t>~</a:t>
              </a:r>
              <a:r>
                <a:rPr lang="en-US" altLang="zh-CN" sz="1600" b="1" dirty="0" smtClean="0">
                  <a:latin typeface="+mn-ea"/>
                  <a:ea typeface="+mn-ea"/>
                </a:rPr>
                <a:t>110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143" name="Text Box 43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3356248" y="4581096"/>
              <a:ext cx="86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+mn-ea"/>
                  <a:ea typeface="+mn-ea"/>
                </a:rPr>
                <a:t>111</a:t>
              </a:r>
              <a:endParaRPr lang="en-US" altLang="zh-CN" sz="1600" b="1" dirty="0" smtClean="0">
                <a:solidFill>
                  <a:srgbClr val="990099"/>
                </a:solidFill>
                <a:latin typeface="+mn-ea"/>
                <a:ea typeface="+mn-ea"/>
              </a:endParaRPr>
            </a:p>
          </p:txBody>
        </p:sp>
        <p:sp>
          <p:nvSpPr>
            <p:cNvPr id="144" name="Text Box 43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4213596" y="4581096"/>
              <a:ext cx="108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0000</a:t>
              </a:r>
              <a:r>
                <a:rPr lang="en-US" altLang="zh-CN" sz="1600" b="1" dirty="0" smtClean="0">
                  <a:latin typeface="+mn-lt"/>
                  <a:ea typeface="+mn-ea"/>
                </a:rPr>
                <a:t>~</a:t>
              </a:r>
              <a:r>
                <a:rPr lang="en-US" altLang="zh-CN" sz="1600" b="1" dirty="0" smtClean="0">
                  <a:latin typeface="+mn-ea"/>
                  <a:ea typeface="+mn-ea"/>
                </a:rPr>
                <a:t>1111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145" name="Text Box 31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2269596" y="4293096"/>
              <a:ext cx="1078268" cy="50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zh-CN" altLang="en-US" sz="1600" b="1" dirty="0" smtClean="0">
                  <a:latin typeface="+mn-ea"/>
                  <a:ea typeface="+mn-ea"/>
                </a:rPr>
                <a:t>高频操作</a:t>
              </a:r>
              <a:r>
                <a:rPr lang="en-US" altLang="zh-CN" sz="1600" b="1" dirty="0" smtClean="0">
                  <a:latin typeface="+mn-ea"/>
                  <a:ea typeface="+mn-ea"/>
                </a:rPr>
                <a:t>: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zh-CN" altLang="en-US" sz="1600" b="1" dirty="0" smtClean="0">
                  <a:latin typeface="+mn-ea"/>
                  <a:ea typeface="+mn-ea"/>
                </a:rPr>
                <a:t>低频操作</a:t>
              </a:r>
              <a:r>
                <a:rPr lang="en-US" altLang="zh-CN" sz="1600" b="1" dirty="0" smtClean="0">
                  <a:latin typeface="+mn-ea"/>
                  <a:ea typeface="+mn-ea"/>
                </a:rPr>
                <a:t>: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</p:grpSp>
      <p:sp>
        <p:nvSpPr>
          <p:cNvPr id="147" name="AutoShape 59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78"/>
            </p:custDataLst>
          </p:nvPr>
        </p:nvSpPr>
        <p:spPr bwMode="auto">
          <a:xfrm>
            <a:off x="2987824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230404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2994025" cy="54698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、地址码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需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表示的信息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*需显式表示的信息：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altLang="zh-CN" sz="16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</a:pPr>
            <a:endParaRPr lang="en-US" altLang="zh-CN" sz="16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地址码的编码方法：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地址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码的特性：</a:t>
            </a:r>
            <a:endParaRPr lang="zh-CN" altLang="en-US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725170" y="791845"/>
            <a:ext cx="8205470" cy="5339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源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地址、目的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地址，下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条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指令地址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          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均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可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隐式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表示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操作码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可指明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         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  </a:t>
            </a:r>
            <a:r>
              <a: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如：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加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指令的</a:t>
            </a:r>
            <a:r>
              <a:rPr lang="en-US" altLang="zh-CN" sz="16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隐含表示，</a:t>
            </a:r>
            <a:endParaRPr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                   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RET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指令的</a:t>
            </a:r>
            <a:r>
              <a:rPr lang="zh-CN" altLang="en-US" sz="1600" b="1" u="sng" dirty="0" smtClean="0">
                <a:latin typeface="宋体" panose="02010600030101010101" pitchFamily="2" charset="-122"/>
                <a:sym typeface="+mn-ea"/>
              </a:rPr>
              <a:t>转移目标地址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隐含表示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面向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一条指令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，尽量有共性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相同属性约定相同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各地址的形成参数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一个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sz="16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数据寻址方式</a:t>
            </a:r>
            <a:r>
              <a:rPr 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讨论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02335" indent="-90233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例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假设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寄存器组有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8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个寄存器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长度为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16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，存储器有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256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个存储单元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按字节编址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，分析下列指令的地址码、下条指令地址</a:t>
            </a:r>
            <a:endParaRPr lang="en-US" altLang="zh-CN" sz="18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                        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地址长度：</a:t>
            </a:r>
            <a:endParaRPr lang="zh-CN" altLang="en-US" sz="18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                       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地址码：</a:t>
            </a:r>
            <a:endParaRPr lang="zh-CN" altLang="en-US" sz="18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Aft>
                <a:spcPts val="0"/>
              </a:spcAft>
            </a:pPr>
            <a:endParaRPr lang="zh-CN" altLang="en-US" sz="18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                       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下条指令地址：</a:t>
            </a:r>
            <a:endParaRPr lang="zh-CN" altLang="en-US" sz="18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                       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操作码：</a:t>
            </a:r>
            <a:endParaRPr lang="en-US" altLang="zh-CN" sz="18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仅表示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当前指令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en-US" altLang="zh-CN" sz="22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OPD</a:t>
            </a: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不同指令可能不同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如上例的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①③的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地址码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u="sng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333500" y="3813810"/>
            <a:ext cx="3067050" cy="1365885"/>
            <a:chOff x="2778" y="5441"/>
            <a:chExt cx="4830" cy="2151"/>
          </a:xfrm>
        </p:grpSpPr>
        <p:grpSp>
          <p:nvGrpSpPr>
            <p:cNvPr id="12" name="组合 11"/>
            <p:cNvGrpSpPr/>
            <p:nvPr/>
          </p:nvGrpSpPr>
          <p:grpSpPr>
            <a:xfrm rot="0">
              <a:off x="2778" y="5838"/>
              <a:ext cx="1871" cy="1701"/>
              <a:chOff x="7987457" y="3627982"/>
              <a:chExt cx="1188266" cy="1080102"/>
            </a:xfrm>
          </p:grpSpPr>
          <p:sp>
            <p:nvSpPr>
              <p:cNvPr id="13" name="Text Box 36"/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275723" y="3628092"/>
                <a:ext cx="900000" cy="1079983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36195" tIns="10800" rIns="36195" bIns="10800">
                <a:noAutofit/>
              </a:bodyPr>
              <a:p>
                <a:pPr>
                  <a:lnSpc>
                    <a:spcPct val="90000"/>
                  </a:lnSpc>
                </a:pPr>
                <a:r>
                  <a:rPr lang="en-US" sz="1600" b="1" dirty="0" smtClean="0">
                    <a:solidFill>
                      <a:srgbClr val="FF3399"/>
                    </a:solidFill>
                    <a:highlight>
                      <a:srgbClr val="FFFF00"/>
                    </a:highlight>
                    <a:latin typeface="宋体" panose="02010600030101010101" pitchFamily="2" charset="-122"/>
                  </a:rPr>
                  <a:t>00100</a:t>
                </a:r>
                <a:r>
                  <a:rPr lang="en-US" sz="1600" b="1" dirty="0" smtClean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010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6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00</a:t>
                </a:r>
                <a:r>
                  <a:rPr lang="en-US" sz="16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  <a:sym typeface="+mn-ea"/>
                  </a:rPr>
                  <a:t>1</a:t>
                </a:r>
                <a:r>
                  <a:rPr lang="en-US" sz="16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</a:t>
                </a:r>
                <a:r>
                  <a:rPr lang="en-US" sz="16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  <a:sym typeface="+mn-ea"/>
                  </a:rPr>
                  <a:t>1</a:t>
                </a:r>
                <a:r>
                  <a:rPr lang="en-US" sz="16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000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600" b="1" dirty="0" smtClean="0">
                    <a:solidFill>
                      <a:srgbClr val="FF3399"/>
                    </a:solidFill>
                    <a:highlight>
                      <a:srgbClr val="FFFF00"/>
                    </a:highlight>
                    <a:latin typeface="宋体" panose="02010600030101010101" pitchFamily="2" charset="-122"/>
                  </a:rPr>
                  <a:t>01000</a:t>
                </a:r>
                <a:r>
                  <a:rPr lang="en-US" sz="1600" b="1" dirty="0" smtClean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010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600" b="1" dirty="0" smtClean="0">
                    <a:solidFill>
                      <a:srgbClr val="FF3399"/>
                    </a:solidFill>
                    <a:highlight>
                      <a:srgbClr val="FFFF00"/>
                    </a:highlight>
                    <a:latin typeface="宋体" panose="02010600030101010101" pitchFamily="2" charset="-122"/>
                  </a:rPr>
                  <a:t>00111</a:t>
                </a:r>
                <a:r>
                  <a:rPr lang="en-US" sz="1600" b="1" dirty="0" smtClean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010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1600" b="1" dirty="0" smtClean="0">
                    <a:solidFill>
                      <a:srgbClr val="C00000"/>
                    </a:solidFill>
                    <a:latin typeface="宋体" panose="02010600030101010101" pitchFamily="2" charset="-122"/>
                    <a:sym typeface="+mn-ea"/>
                  </a:rPr>
                  <a:t>001</a:t>
                </a:r>
                <a:r>
                  <a:rPr lang="en-US" sz="16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  <a:sym typeface="+mn-ea"/>
                  </a:rPr>
                  <a:t>0</a:t>
                </a:r>
                <a:r>
                  <a:rPr lang="en-US" sz="16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  <a:sym typeface="+mn-ea"/>
                  </a:rPr>
                  <a:t>0</a:t>
                </a:r>
                <a:r>
                  <a:rPr lang="en-US" sz="16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  <a:sym typeface="+mn-ea"/>
                  </a:rPr>
                  <a:t>1</a:t>
                </a:r>
                <a:r>
                  <a:rPr lang="en-US" sz="16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  <a:sym typeface="+mn-ea"/>
                  </a:rPr>
                  <a:t>1</a:t>
                </a:r>
                <a:r>
                  <a:rPr lang="en-US" sz="1600" b="1" dirty="0" smtClean="0">
                    <a:solidFill>
                      <a:schemeClr val="accent2"/>
                    </a:solidFill>
                    <a:latin typeface="宋体" panose="02010600030101010101" pitchFamily="2" charset="-122"/>
                    <a:sym typeface="+mn-ea"/>
                  </a:rPr>
                  <a:t>0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4" name="Text Box 36"/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7987457" y="3627982"/>
                <a:ext cx="288000" cy="1080102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17780" tIns="0" rIns="17780" bIns="0">
                <a:noAutofit/>
              </a:bodyPr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latin typeface="宋体" panose="02010600030101010101" pitchFamily="2" charset="-122"/>
                  </a:rPr>
                  <a:t>20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latin typeface="宋体" panose="02010600030101010101" pitchFamily="2" charset="-122"/>
                  </a:rPr>
                  <a:t>21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latin typeface="宋体" panose="02010600030101010101" pitchFamily="2" charset="-122"/>
                  </a:rPr>
                  <a:t>22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latin typeface="宋体" panose="02010600030101010101" pitchFamily="2" charset="-122"/>
                  </a:rPr>
                  <a:t>23</a:t>
                </a:r>
                <a:endParaRPr lang="en-US" altLang="zh-CN" sz="1600" b="1" dirty="0" smtClean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24</a:t>
                </a:r>
                <a:endParaRPr lang="en-US" altLang="zh-CN" sz="1600" b="1" dirty="0" smtClean="0">
                  <a:solidFill>
                    <a:srgbClr val="0070C0"/>
                  </a:solidFill>
                  <a:latin typeface="宋体" panose="02010600030101010101" pitchFamily="2" charset="-122"/>
                </a:endParaRPr>
              </a:p>
            </p:txBody>
          </p:sp>
          <p:cxnSp>
            <p:nvCxnSpPr>
              <p:cNvPr id="16" name="直接连接符 15"/>
              <p:cNvCxnSpPr/>
              <p:nvPr>
                <p:custDataLst>
                  <p:tags r:id="rId4"/>
                </p:custDataLst>
              </p:nvPr>
            </p:nvCxnSpPr>
            <p:spPr bwMode="auto">
              <a:xfrm flipV="1">
                <a:off x="8275723" y="3844092"/>
                <a:ext cx="900000" cy="1424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直接连接符 18"/>
              <p:cNvCxnSpPr/>
              <p:nvPr>
                <p:custDataLst>
                  <p:tags r:id="rId5"/>
                </p:custDataLst>
              </p:nvPr>
            </p:nvCxnSpPr>
            <p:spPr bwMode="auto">
              <a:xfrm flipV="1">
                <a:off x="8275723" y="4060092"/>
                <a:ext cx="900000" cy="1424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直接连接符 20"/>
              <p:cNvCxnSpPr/>
              <p:nvPr>
                <p:custDataLst>
                  <p:tags r:id="rId6"/>
                </p:custDataLst>
              </p:nvPr>
            </p:nvCxnSpPr>
            <p:spPr bwMode="auto">
              <a:xfrm flipV="1">
                <a:off x="8275723" y="4276092"/>
                <a:ext cx="900000" cy="1424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" name="直接连接符 21"/>
              <p:cNvCxnSpPr/>
              <p:nvPr>
                <p:custDataLst>
                  <p:tags r:id="rId7"/>
                </p:custDataLst>
              </p:nvPr>
            </p:nvCxnSpPr>
            <p:spPr bwMode="auto">
              <a:xfrm>
                <a:off x="8275723" y="4492088"/>
                <a:ext cx="900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3" name="右大括号 22"/>
            <p:cNvSpPr/>
            <p:nvPr>
              <p:custDataLst>
                <p:tags r:id="rId8"/>
              </p:custDataLst>
            </p:nvPr>
          </p:nvSpPr>
          <p:spPr>
            <a:xfrm>
              <a:off x="4704" y="5879"/>
              <a:ext cx="113" cy="567"/>
            </a:xfrm>
            <a:prstGeom prst="rightBrace">
              <a:avLst>
                <a:gd name="adj1" fmla="val 17902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右大括号 23"/>
            <p:cNvSpPr/>
            <p:nvPr>
              <p:custDataLst>
                <p:tags r:id="rId9"/>
              </p:custDataLst>
            </p:nvPr>
          </p:nvSpPr>
          <p:spPr>
            <a:xfrm>
              <a:off x="4704" y="6930"/>
              <a:ext cx="113" cy="567"/>
            </a:xfrm>
            <a:prstGeom prst="rightBrace">
              <a:avLst>
                <a:gd name="adj1" fmla="val 17902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右大括号 24"/>
            <p:cNvSpPr/>
            <p:nvPr>
              <p:custDataLst>
                <p:tags r:id="rId10"/>
              </p:custDataLst>
            </p:nvPr>
          </p:nvSpPr>
          <p:spPr>
            <a:xfrm>
              <a:off x="4704" y="6533"/>
              <a:ext cx="113" cy="283"/>
            </a:xfrm>
            <a:prstGeom prst="rightBrace">
              <a:avLst>
                <a:gd name="adj1" fmla="val 17902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Text Box 3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888" y="5836"/>
              <a:ext cx="2721" cy="175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17780" tIns="10795" rIns="17780" bIns="10795">
              <a:noAutofit/>
            </a:bodyPr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取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8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位数据，</a:t>
              </a:r>
              <a:endParaRPr lang="zh-CN" altLang="en-US" sz="1600" b="1" dirty="0" smtClean="0"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R2</a:t>
              </a: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ZExt(M[28H])</a:t>
              </a:r>
              <a:endParaRPr lang="en-US" altLang="zh-CN" sz="1600" b="1" dirty="0" smtClean="0"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R2</a:t>
              </a: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(R2)</a:t>
              </a: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+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1</a:t>
              </a:r>
              <a:endParaRPr lang="en-US" altLang="zh-CN" sz="1600" b="1" dirty="0" smtClean="0"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存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16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位数据，</a:t>
              </a:r>
              <a:endParaRPr lang="en-US" altLang="zh-CN" sz="1600" b="1" dirty="0" smtClean="0"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M[(R1)+6]</a:t>
              </a: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  <a:sym typeface="+mn-ea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(R2)</a:t>
              </a:r>
              <a:endPara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90000"/>
                </a:lnSpc>
              </a:pPr>
              <a:endPara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27" name="Text Box 3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572" y="5441"/>
              <a:ext cx="7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17780" tIns="10795" rIns="17780" bIns="10795">
              <a:noAutofit/>
            </a:bodyPr>
            <a:p>
              <a:pPr algn="l">
                <a:lnSpc>
                  <a:spcPct val="90000"/>
                </a:lnSpc>
              </a:pPr>
              <a:r>
                <a:rPr lang="zh-CN" sz="1600" b="1" dirty="0" smtClean="0">
                  <a:latin typeface="宋体" panose="02010600030101010101" pitchFamily="2" charset="-122"/>
                  <a:sym typeface="+mn-ea"/>
                </a:rPr>
                <a:t>主存</a:t>
              </a:r>
              <a:endParaRPr lang="zh-CN" sz="16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28" name="Text Box 36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397" y="5441"/>
              <a:ext cx="147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17780" tIns="10795" rIns="17780" bIns="10795">
              <a:noAutofit/>
            </a:bodyPr>
            <a:p>
              <a:pPr algn="ctr">
                <a:lnSpc>
                  <a:spcPct val="90000"/>
                </a:lnSpc>
              </a:pPr>
              <a:r>
                <a:rPr lang="zh-CN" sz="1600" b="1" dirty="0" smtClean="0">
                  <a:latin typeface="宋体" panose="02010600030101010101" pitchFamily="2" charset="-122"/>
                  <a:sym typeface="+mn-ea"/>
                </a:rPr>
                <a:t>指令功能</a:t>
              </a:r>
              <a:endParaRPr lang="zh-CN" sz="16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5" name="Text Box 36"/>
          <p:cNvSpPr txBox="1">
            <a:spLocks noChangeArrowheads="1"/>
          </p:cNvSpPr>
          <p:nvPr/>
        </p:nvSpPr>
        <p:spPr bwMode="auto">
          <a:xfrm>
            <a:off x="5400040" y="3778885"/>
            <a:ext cx="3636000" cy="151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17780" tIns="10795" rIns="17780" bIns="10795" anchor="t" anchorCtr="0">
            <a:no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REG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地址为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位，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地址为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8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位</a:t>
            </a:r>
            <a:endParaRPr lang="zh-CN" altLang="en-US" sz="18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为直接表示，常数为隐含表示，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为直接或基址表示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(PC)+2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(PC)+1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(PC)+2</a:t>
            </a:r>
            <a:endParaRPr lang="zh-CN" altLang="en-US" sz="18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①③的后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位为取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存、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8/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位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10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10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1000"/>
                                        <p:tgtEl>
                                          <p:spTgt spid="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230404" name="Text Box 4"/>
          <p:cNvSpPr txBox="1">
            <a:spLocks noChangeArrowheads="1"/>
          </p:cNvSpPr>
          <p:nvPr/>
        </p:nvSpPr>
        <p:spPr bwMode="auto">
          <a:xfrm>
            <a:off x="179705" y="360045"/>
            <a:ext cx="2994025" cy="40151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、指令字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*指令字长：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要求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术语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指令集结构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定长指令字结构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变长指令字结构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756285" y="791845"/>
            <a:ext cx="8173720" cy="35928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46800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即指令格式的实例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编码固定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←仅包含</a:t>
            </a:r>
            <a:r>
              <a:rPr lang="zh-CN" altLang="en-US" sz="1600" b="1" u="sng" dirty="0" smtClean="0">
                <a:latin typeface="宋体" panose="02010600030101010101" pitchFamily="2" charset="-122"/>
                <a:sym typeface="+mn-ea"/>
              </a:rPr>
              <a:t>显式表示信息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的编码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指令对应指令格式的位数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spc="-80" dirty="0" smtClean="0"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2200" b="1" spc="-80" dirty="0">
                <a:latin typeface="宋体" panose="02010600030101010101" pitchFamily="2" charset="-122"/>
                <a:sym typeface="+mn-ea"/>
              </a:rPr>
              <a:t>字长＝</a:t>
            </a:r>
            <a:r>
              <a:rPr lang="en-US" altLang="zh-CN" sz="2200" b="1" spc="-80" dirty="0">
                <a:latin typeface="宋体" panose="02010600030101010101" pitchFamily="2" charset="-122"/>
                <a:sym typeface="+mn-ea"/>
              </a:rPr>
              <a:t>n</a:t>
            </a:r>
            <a:r>
              <a:rPr lang="en-US" altLang="zh-CN" sz="2200" b="1" spc="-80" dirty="0" smtClean="0">
                <a:latin typeface="宋体" panose="02010600030101010101" pitchFamily="2" charset="-122"/>
                <a:sym typeface="+mn-ea"/>
              </a:rPr>
              <a:t>×</a:t>
            </a:r>
            <a:r>
              <a:rPr lang="zh-CN" altLang="en-US" sz="2200" b="1" spc="-80" dirty="0" smtClean="0">
                <a:latin typeface="宋体" panose="02010600030101010101" pitchFamily="2" charset="-122"/>
                <a:sym typeface="+mn-ea"/>
              </a:rPr>
              <a:t>主存单元长度</a:t>
            </a:r>
            <a:r>
              <a:rPr lang="en-US" altLang="zh-CN" sz="2200" b="1" spc="-80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spc="-80" dirty="0" smtClean="0">
                <a:latin typeface="宋体" panose="02010600030101010101" pitchFamily="2" charset="-122"/>
                <a:sym typeface="+mn-ea"/>
              </a:rPr>
              <a:t>机器</a:t>
            </a:r>
            <a:r>
              <a:rPr lang="zh-CN" altLang="en-US" sz="1600" b="1" spc="-80" dirty="0">
                <a:latin typeface="宋体" panose="02010600030101010101" pitchFamily="2" charset="-122"/>
                <a:sym typeface="+mn-ea"/>
              </a:rPr>
              <a:t>字长＝</a:t>
            </a:r>
            <a:r>
              <a:rPr lang="en-US" altLang="zh-CN" sz="1600" b="1" spc="-80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1600" b="1" spc="-80" dirty="0" smtClean="0">
                <a:latin typeface="宋体" panose="02010600030101010101" pitchFamily="2" charset="-122"/>
                <a:sym typeface="+mn-ea"/>
              </a:rPr>
              <a:t>×</a:t>
            </a:r>
            <a:r>
              <a:rPr lang="zh-CN" altLang="en-US" sz="1600" b="1" spc="-80" dirty="0" smtClean="0">
                <a:latin typeface="宋体" panose="02010600030101010101" pitchFamily="2" charset="-122"/>
                <a:sym typeface="+mn-ea"/>
              </a:rPr>
              <a:t>主存单元长度，</a:t>
            </a:r>
            <a:r>
              <a:rPr lang="en-US" altLang="zh-CN" sz="1600" b="1" spc="-80" dirty="0" smtClean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600" b="1" spc="-80" dirty="0" smtClean="0">
                <a:latin typeface="宋体" panose="02010600030101010101" pitchFamily="2" charset="-122"/>
                <a:sym typeface="+mn-ea"/>
              </a:rPr>
              <a:t>为常数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单地址指令、双地址指令、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零地址指令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←指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地址个数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单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字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长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、双字长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、半字长指令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←字长指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机器字长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     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所有指令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的指令字长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完全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相同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(n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为常数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所有指令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的指令字长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不尽相同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(n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可变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u="sng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30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30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04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56"/>
          <p:cNvSpPr txBox="1">
            <a:spLocks noChangeArrowheads="1"/>
          </p:cNvSpPr>
          <p:nvPr/>
        </p:nvSpPr>
        <p:spPr bwMode="auto">
          <a:xfrm>
            <a:off x="900000" y="396000"/>
            <a:ext cx="7740000" cy="4784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marL="657860" indent="-65786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000" b="1" dirty="0">
                <a:latin typeface="宋体" panose="02010600030101010101" pitchFamily="2" charset="-122"/>
              </a:rPr>
              <a:t>设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指令长度为</a:t>
            </a:r>
            <a:r>
              <a:rPr lang="en-US" altLang="zh-CN" sz="2000" b="1" dirty="0">
                <a:latin typeface="宋体" panose="02010600030101010101" pitchFamily="2" charset="-122"/>
              </a:rPr>
              <a:t>16</a:t>
            </a:r>
            <a:r>
              <a:rPr lang="zh-CN" altLang="en-US" sz="2000" b="1" dirty="0">
                <a:latin typeface="宋体" panose="02010600030101010101" pitchFamily="2" charset="-122"/>
              </a:rPr>
              <a:t>位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，有零地址指令、单地址指令、</a:t>
            </a:r>
            <a:r>
              <a:rPr lang="zh-CN" altLang="en-US" sz="2000" b="1" dirty="0">
                <a:latin typeface="宋体" panose="02010600030101010101" pitchFamily="2" charset="-122"/>
              </a:rPr>
              <a:t>双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地址指令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3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种</a:t>
            </a:r>
            <a:r>
              <a:rPr lang="zh-CN" altLang="en-US" sz="2000" b="1" dirty="0">
                <a:latin typeface="宋体" panose="02010600030101010101" pitchFamily="2" charset="-122"/>
              </a:rPr>
              <a:t>指令格式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，每个地址码</a:t>
            </a:r>
            <a:r>
              <a:rPr lang="zh-CN" altLang="en-US" sz="2000" b="1" dirty="0">
                <a:latin typeface="宋体" panose="02010600030101010101" pitchFamily="2" charset="-122"/>
              </a:rPr>
              <a:t>均为</a:t>
            </a:r>
            <a:r>
              <a:rPr lang="en-US" altLang="zh-CN" sz="2000" b="1" dirty="0">
                <a:latin typeface="宋体" panose="02010600030101010101" pitchFamily="2" charset="-122"/>
              </a:rPr>
              <a:t>6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位。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marL="499110" indent="-49911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</a:rPr>
              <a:t> 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⑴操作码采用</a:t>
            </a:r>
            <a:r>
              <a:rPr lang="zh-CN" altLang="en-US" sz="2000" b="1" u="sng" dirty="0">
                <a:latin typeface="宋体" panose="02010600030101010101" pitchFamily="2" charset="-122"/>
              </a:rPr>
              <a:t>定</a:t>
            </a:r>
            <a:r>
              <a:rPr lang="zh-CN" altLang="en-US" sz="2000" b="1" u="sng" dirty="0" smtClean="0">
                <a:latin typeface="宋体" panose="02010600030101010101" pitchFamily="2" charset="-122"/>
              </a:rPr>
              <a:t>长编码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方式时</a:t>
            </a:r>
            <a:r>
              <a:rPr lang="zh-CN" altLang="en-US" sz="2000" b="1" dirty="0">
                <a:latin typeface="宋体" panose="02010600030101010101" pitchFamily="2" charset="-122"/>
              </a:rPr>
              <a:t>，若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零地址指令、</a:t>
            </a:r>
            <a:r>
              <a:rPr lang="zh-CN" altLang="en-US" sz="2000" b="1" dirty="0">
                <a:latin typeface="宋体" panose="02010600030101010101" pitchFamily="2" charset="-122"/>
              </a:rPr>
              <a:t>单地址指令分别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为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4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条和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5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条，则双</a:t>
            </a:r>
            <a:r>
              <a:rPr lang="zh-CN" altLang="en-US" sz="2000" b="1" dirty="0">
                <a:latin typeface="宋体" panose="02010600030101010101" pitchFamily="2" charset="-122"/>
              </a:rPr>
              <a:t>地址指令</a:t>
            </a:r>
            <a:r>
              <a:rPr lang="zh-CN" altLang="en-US" sz="2000" b="1" u="sng" dirty="0" smtClean="0">
                <a:latin typeface="宋体" panose="02010600030101010101" pitchFamily="2" charset="-122"/>
              </a:rPr>
              <a:t>最多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可定义多少条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(N)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？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marL="499110" indent="-49911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</a:rPr>
              <a:t> 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⑵操作码采用</a:t>
            </a:r>
            <a:r>
              <a:rPr lang="zh-CN" altLang="en-US" sz="2000" b="1" u="sng" dirty="0" smtClean="0">
                <a:latin typeface="宋体" panose="02010600030101010101" pitchFamily="2" charset="-122"/>
              </a:rPr>
              <a:t>扩展编码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方式时</a:t>
            </a:r>
            <a:r>
              <a:rPr lang="zh-CN" altLang="en-US" sz="2000" b="1" dirty="0">
                <a:latin typeface="宋体" panose="02010600030101010101" pitchFamily="2" charset="-122"/>
              </a:rPr>
              <a:t>，若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零地址指令、</a:t>
            </a:r>
            <a:r>
              <a:rPr lang="zh-CN" altLang="en-US" sz="2000" b="1" dirty="0">
                <a:latin typeface="宋体" panose="02010600030101010101" pitchFamily="2" charset="-122"/>
              </a:rPr>
              <a:t>双地址指令分别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为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8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*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63</a:t>
            </a:r>
            <a:r>
              <a:rPr lang="zh-CN" altLang="en-US" sz="2000" b="1" dirty="0">
                <a:latin typeface="宋体" panose="02010600030101010101" pitchFamily="2" charset="-122"/>
              </a:rPr>
              <a:t>*</a:t>
            </a:r>
            <a:r>
              <a:rPr lang="en-US" altLang="zh-CN" sz="2000" b="1" dirty="0">
                <a:latin typeface="宋体" panose="02010600030101010101" pitchFamily="2" charset="-122"/>
              </a:rPr>
              <a:t>64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条和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4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条，</a:t>
            </a:r>
            <a:r>
              <a:rPr lang="zh-CN" altLang="en-US" sz="2000" b="1" dirty="0">
                <a:latin typeface="宋体" panose="02010600030101010101" pitchFamily="2" charset="-122"/>
              </a:rPr>
              <a:t>单地址指令</a:t>
            </a:r>
            <a:r>
              <a:rPr lang="zh-CN" altLang="en-US" sz="2000" b="1" u="sng" dirty="0" smtClean="0">
                <a:latin typeface="宋体" panose="02010600030101010101" pitchFamily="2" charset="-122"/>
              </a:rPr>
              <a:t>最多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可定义多少条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(M)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？</a:t>
            </a:r>
            <a:endParaRPr lang="zh-CN" altLang="en-US" sz="2000" b="1" dirty="0" smtClean="0">
              <a:latin typeface="宋体" panose="02010600030101010101" pitchFamily="2" charset="-122"/>
            </a:endParaRPr>
          </a:p>
          <a:p>
            <a:pPr marL="499110" indent="-49911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 smtClean="0">
              <a:latin typeface="宋体" panose="02010600030101010101" pitchFamily="2" charset="-122"/>
            </a:endParaRPr>
          </a:p>
          <a:p>
            <a:pPr marL="499110" indent="-49911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</a:rPr>
              <a:t>解：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⑴</a:t>
            </a:r>
            <a:endParaRPr lang="zh-CN" altLang="en-US" sz="2000" b="1" dirty="0" smtClean="0">
              <a:latin typeface="宋体" panose="02010600030101010101" pitchFamily="2" charset="-122"/>
              <a:sym typeface="+mn-ea"/>
            </a:endParaRPr>
          </a:p>
          <a:p>
            <a:pPr marL="499110" indent="-49911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 smtClean="0">
              <a:latin typeface="宋体" panose="02010600030101010101" pitchFamily="2" charset="-122"/>
            </a:endParaRPr>
          </a:p>
          <a:p>
            <a:pPr marL="499110" indent="-49911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 smtClean="0">
              <a:latin typeface="宋体" panose="02010600030101010101" pitchFamily="2" charset="-122"/>
            </a:endParaRPr>
          </a:p>
          <a:p>
            <a:pPr marL="499110" indent="-49911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 smtClean="0">
              <a:latin typeface="宋体" panose="02010600030101010101" pitchFamily="2" charset="-122"/>
            </a:endParaRPr>
          </a:p>
          <a:p>
            <a:pPr marL="499110" indent="-49911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⑵</a:t>
            </a:r>
            <a:endParaRPr lang="en-US" altLang="zh-CN" sz="2000" b="1" dirty="0" smtClean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60855" y="2997200"/>
            <a:ext cx="687895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操作码长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度＝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16-6-6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4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N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≤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2</a:t>
            </a:r>
            <a:r>
              <a:rPr lang="en-US" altLang="zh-CN" sz="2000" b="1" baseline="30000" dirty="0" smtClean="0">
                <a:latin typeface="宋体" panose="02010600030101010101" pitchFamily="2" charset="-122"/>
              </a:rPr>
              <a:t>4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-(4+5)</a:t>
            </a:r>
            <a:endParaRPr lang="zh-CN" altLang="en-US" sz="2000" b="1" dirty="0" smtClean="0">
              <a:latin typeface="宋体" panose="02010600030101010101" pitchFamily="2" charset="-122"/>
            </a:endParaRPr>
          </a:p>
        </p:txBody>
      </p:sp>
      <p:sp>
        <p:nvSpPr>
          <p:cNvPr id="5" name="Text Box 5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89305" y="4680000"/>
            <a:ext cx="6775450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</a:rPr>
              <a:t>双、</a:t>
            </a:r>
            <a:r>
              <a:rPr lang="zh-CN" altLang="en-US" sz="2000" b="1" dirty="0">
                <a:latin typeface="宋体" panose="02010600030101010101" pitchFamily="2" charset="-122"/>
              </a:rPr>
              <a:t>单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、零地址指令</a:t>
            </a:r>
            <a:r>
              <a:rPr lang="zh-CN" altLang="en-US" sz="2000" b="1" dirty="0">
                <a:latin typeface="宋体" panose="02010600030101010101" pitchFamily="2" charset="-122"/>
              </a:rPr>
              <a:t>操作码长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度分别≤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4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10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16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</a:rPr>
              <a:t>有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M+</a:t>
            </a:r>
            <a:r>
              <a:rPr lang="zh-CN" altLang="en-US" sz="2000" b="1" dirty="0" smtClean="0">
                <a:latin typeface="宋体" panose="02010600030101010101" pitchFamily="2" charset="-122"/>
                <a:sym typeface="Symbol" panose="05050102010706020507"/>
              </a:rPr>
              <a:t>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8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*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63</a:t>
            </a:r>
            <a:r>
              <a:rPr lang="zh-CN" altLang="en-US" sz="2000" b="1" dirty="0">
                <a:latin typeface="宋体" panose="02010600030101010101" pitchFamily="2" charset="-122"/>
              </a:rPr>
              <a:t>*</a:t>
            </a:r>
            <a:r>
              <a:rPr lang="en-US" altLang="zh-CN" sz="2000" b="1" dirty="0">
                <a:latin typeface="宋体" panose="02010600030101010101" pitchFamily="2" charset="-122"/>
              </a:rPr>
              <a:t>64/2</a:t>
            </a:r>
            <a:r>
              <a:rPr lang="en-US" altLang="zh-CN" sz="2000" b="1" baseline="30000" dirty="0" smtClean="0">
                <a:latin typeface="宋体" panose="02010600030101010101" pitchFamily="2" charset="-122"/>
              </a:rPr>
              <a:t>6</a:t>
            </a:r>
            <a:r>
              <a:rPr lang="en-US" altLang="zh-CN" sz="2000" b="1" dirty="0">
                <a:latin typeface="宋体" panose="02010600030101010101" pitchFamily="2" charset="-122"/>
                <a:sym typeface="Symbol" panose="05050102010706020507"/>
              </a:rPr>
              <a:t>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≤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(2</a:t>
            </a:r>
            <a:r>
              <a:rPr lang="en-US" altLang="zh-CN" sz="2000" b="1" baseline="30000" dirty="0" smtClean="0">
                <a:latin typeface="宋体" panose="02010600030101010101" pitchFamily="2" charset="-122"/>
              </a:rPr>
              <a:t>4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-4)×2</a:t>
            </a:r>
            <a:r>
              <a:rPr lang="en-US" altLang="zh-CN" sz="2000" b="1" baseline="30000" dirty="0" smtClean="0">
                <a:latin typeface="宋体" panose="02010600030101010101" pitchFamily="2" charset="-122"/>
              </a:rPr>
              <a:t>6</a:t>
            </a:r>
            <a:r>
              <a:rPr lang="zh-CN" altLang="en-US" sz="2000" b="1" dirty="0" smtClean="0">
                <a:latin typeface="宋体" panose="02010600030101010101" pitchFamily="2" charset="-122"/>
                <a:sym typeface="Symbol" panose="05050102010706020507"/>
              </a:rPr>
              <a:t>，即</a:t>
            </a:r>
            <a:r>
              <a:rPr lang="en-US" altLang="zh-CN" sz="2000" b="1" dirty="0" smtClean="0">
                <a:latin typeface="宋体" panose="02010600030101010101" pitchFamily="2" charset="-122"/>
                <a:sym typeface="Symbol" panose="05050102010706020507"/>
              </a:rPr>
              <a:t>M</a:t>
            </a:r>
            <a:r>
              <a:rPr lang="zh-CN" altLang="en-US" sz="2000" b="1" dirty="0" smtClean="0">
                <a:latin typeface="宋体" panose="02010600030101010101" pitchFamily="2" charset="-122"/>
                <a:sym typeface="Symbol" panose="05050102010706020507"/>
              </a:rPr>
              <a:t>≤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12×2</a:t>
            </a:r>
            <a:r>
              <a:rPr lang="en-US" altLang="zh-CN" sz="2000" b="1" baseline="30000" dirty="0" smtClean="0">
                <a:latin typeface="宋体" panose="02010600030101010101" pitchFamily="2" charset="-122"/>
              </a:rPr>
              <a:t>6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-</a:t>
            </a:r>
            <a:r>
              <a:rPr lang="en-US" altLang="zh-CN" sz="2000" b="1" dirty="0" smtClean="0">
                <a:latin typeface="宋体" panose="02010600030101010101" pitchFamily="2" charset="-122"/>
                <a:sym typeface="Symbol" panose="05050102010706020507"/>
              </a:rPr>
              <a:t>8</a:t>
            </a:r>
            <a:r>
              <a:rPr lang="zh-CN" altLang="en-US" sz="2000" b="1" dirty="0" smtClean="0">
                <a:latin typeface="宋体" panose="02010600030101010101" pitchFamily="2" charset="-122"/>
                <a:sym typeface="Symbol" panose="05050102010706020507"/>
              </a:rPr>
              <a:t>*</a:t>
            </a:r>
            <a:r>
              <a:rPr lang="en-US" altLang="zh-CN" sz="2000" b="1" dirty="0" smtClean="0">
                <a:latin typeface="宋体" panose="02010600030101010101" pitchFamily="2" charset="-122"/>
                <a:sym typeface="Symbol" panose="05050102010706020507"/>
              </a:rPr>
              <a:t>63</a:t>
            </a:r>
            <a:endParaRPr lang="en-US" altLang="zh-CN" sz="2000" b="1" dirty="0" smtClean="0">
              <a:latin typeface="宋体" panose="02010600030101010101" pitchFamily="2" charset="-122"/>
              <a:sym typeface="Symbol" panose="05050102010706020507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048510" y="3745230"/>
            <a:ext cx="2088515" cy="899160"/>
            <a:chOff x="1644" y="6350"/>
            <a:chExt cx="3289" cy="1416"/>
          </a:xfrm>
        </p:grpSpPr>
        <p:sp>
          <p:nvSpPr>
            <p:cNvPr id="15" name="Text Box 94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665" y="7370"/>
              <a:ext cx="113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>
                  <a:latin typeface="宋体" panose="02010600030101010101" pitchFamily="2" charset="-122"/>
                </a:rPr>
                <a:t>1</a:t>
              </a:r>
              <a:endParaRPr lang="en-US" altLang="zh-CN" sz="1600" b="1" baseline="-18000">
                <a:latin typeface="宋体" panose="02010600030101010101" pitchFamily="2" charset="-122"/>
              </a:endParaRPr>
            </a:p>
          </p:txBody>
        </p:sp>
        <p:sp>
          <p:nvSpPr>
            <p:cNvPr id="16" name="Text Box 9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798" y="7370"/>
              <a:ext cx="113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>
                  <a:latin typeface="宋体" panose="02010600030101010101" pitchFamily="2" charset="-122"/>
                </a:rPr>
                <a:t>2</a:t>
              </a:r>
              <a:endParaRPr lang="en-US" altLang="zh-CN" sz="1600" b="1" baseline="-18000">
                <a:latin typeface="宋体" panose="02010600030101010101" pitchFamily="2" charset="-122"/>
              </a:endParaRPr>
            </a:p>
          </p:txBody>
        </p:sp>
        <p:sp>
          <p:nvSpPr>
            <p:cNvPr id="17" name="Text Box 9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798" y="6860"/>
              <a:ext cx="113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  <a:endParaRPr lang="en-US" altLang="zh-CN" sz="1600" b="1" baseline="-18000">
                <a:latin typeface="宋体" panose="02010600030101010101" pitchFamily="2" charset="-122"/>
              </a:endParaRPr>
            </a:p>
          </p:txBody>
        </p:sp>
        <p:sp>
          <p:nvSpPr>
            <p:cNvPr id="10" name="Text Box 9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644" y="7370"/>
              <a:ext cx="1020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?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条</a:t>
              </a:r>
              <a:endParaRPr lang="zh-CN" altLang="en-US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1" name="Text Box 99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644" y="6860"/>
              <a:ext cx="1020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5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条</a:t>
              </a:r>
              <a:endParaRPr lang="zh-CN" altLang="en-US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" name="Text Box 10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644" y="6350"/>
              <a:ext cx="1020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4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条</a:t>
              </a:r>
              <a:endParaRPr lang="zh-CN" altLang="en-US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" name="Text Box 10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665" y="6860"/>
              <a:ext cx="113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>
                  <a:latin typeface="宋体" panose="02010600030101010101" pitchFamily="2" charset="-122"/>
                </a:rPr>
                <a:t>空闲</a:t>
              </a:r>
              <a:endParaRPr lang="zh-CN" altLang="en-US" sz="1600" b="1" baseline="-18000">
                <a:latin typeface="宋体" panose="02010600030101010101" pitchFamily="2" charset="-122"/>
              </a:endParaRPr>
            </a:p>
          </p:txBody>
        </p:sp>
        <p:sp>
          <p:nvSpPr>
            <p:cNvPr id="14" name="Text Box 10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665" y="6350"/>
              <a:ext cx="2268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空闲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42" name="AutoShape 38"/>
          <p:cNvSpPr/>
          <p:nvPr>
            <p:custDataLst>
              <p:tags r:id="rId11"/>
            </p:custDataLst>
          </p:nvPr>
        </p:nvSpPr>
        <p:spPr bwMode="auto">
          <a:xfrm>
            <a:off x="5725562" y="2772000"/>
            <a:ext cx="1944000" cy="252000"/>
          </a:xfrm>
          <a:prstGeom prst="borderCallout2">
            <a:avLst>
              <a:gd name="adj1" fmla="val 46059"/>
              <a:gd name="adj2" fmla="val -586"/>
              <a:gd name="adj3" fmla="val 47823"/>
              <a:gd name="adj4" fmla="val -9910"/>
              <a:gd name="adj5" fmla="val -27807"/>
              <a:gd name="adj6" fmla="val -1635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 smtClean="0">
                <a:latin typeface="宋体" panose="02010600030101010101" pitchFamily="2" charset="-122"/>
              </a:rPr>
              <a:t>操作码占满空闲位时</a:t>
            </a:r>
            <a:endParaRPr lang="zh-CN" altLang="en-US" sz="1600" b="1" dirty="0" smtClean="0">
              <a:latin typeface="宋体" panose="02010600030101010101" pitchFamily="2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5035550" y="3743325"/>
            <a:ext cx="2087880" cy="901700"/>
            <a:chOff x="6800" y="5669"/>
            <a:chExt cx="3288" cy="1420"/>
          </a:xfrm>
        </p:grpSpPr>
        <p:sp>
          <p:nvSpPr>
            <p:cNvPr id="40" name="Text Box 94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821" y="6692"/>
              <a:ext cx="113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>
                  <a:latin typeface="宋体" panose="02010600030101010101" pitchFamily="2" charset="-122"/>
                </a:rPr>
                <a:t>1</a:t>
              </a:r>
              <a:endParaRPr lang="en-US" altLang="zh-CN" sz="1600" b="1" baseline="-18000">
                <a:latin typeface="宋体" panose="02010600030101010101" pitchFamily="2" charset="-122"/>
              </a:endParaRPr>
            </a:p>
          </p:txBody>
        </p:sp>
        <p:sp>
          <p:nvSpPr>
            <p:cNvPr id="41" name="Text Box 95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954" y="6692"/>
              <a:ext cx="113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>
                  <a:latin typeface="宋体" panose="02010600030101010101" pitchFamily="2" charset="-122"/>
                </a:rPr>
                <a:t>2</a:t>
              </a:r>
              <a:endParaRPr lang="en-US" altLang="zh-CN" sz="1600" b="1" baseline="-18000">
                <a:latin typeface="宋体" panose="02010600030101010101" pitchFamily="2" charset="-122"/>
              </a:endParaRPr>
            </a:p>
          </p:txBody>
        </p:sp>
        <p:sp>
          <p:nvSpPr>
            <p:cNvPr id="43" name="Text Box 96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8954" y="6182"/>
              <a:ext cx="113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  <a:endParaRPr lang="en-US" altLang="zh-CN" sz="1600" b="1" baseline="-18000">
                <a:latin typeface="宋体" panose="02010600030101010101" pitchFamily="2" charset="-122"/>
              </a:endParaRPr>
            </a:p>
          </p:txBody>
        </p:sp>
        <p:sp>
          <p:nvSpPr>
            <p:cNvPr id="44" name="Text Box 9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800" y="6692"/>
              <a:ext cx="1020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4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条</a:t>
              </a:r>
              <a:endParaRPr lang="zh-CN" altLang="en-US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5" name="Text Box 99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800" y="6182"/>
              <a:ext cx="2154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条</a:t>
              </a:r>
              <a:endParaRPr lang="zh-CN" altLang="en-US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6" name="Text Box 100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800" y="5672"/>
              <a:ext cx="3288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8*63*64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条</a:t>
              </a:r>
              <a:endParaRPr lang="zh-CN" altLang="en-US" sz="1600" b="1" baseline="-18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8"/>
              </p:custDataLst>
            </p:nvPr>
          </p:nvCxnSpPr>
          <p:spPr bwMode="auto">
            <a:xfrm>
              <a:off x="7824" y="6180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连接符 50"/>
            <p:cNvCxnSpPr/>
            <p:nvPr>
              <p:custDataLst>
                <p:tags r:id="rId19"/>
              </p:custDataLst>
            </p:nvPr>
          </p:nvCxnSpPr>
          <p:spPr bwMode="auto">
            <a:xfrm>
              <a:off x="8957" y="5669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5" name="组合 54"/>
          <p:cNvGrpSpPr/>
          <p:nvPr/>
        </p:nvGrpSpPr>
        <p:grpSpPr>
          <a:xfrm>
            <a:off x="4461510" y="3455670"/>
            <a:ext cx="1499235" cy="675640"/>
            <a:chOff x="5896" y="5216"/>
            <a:chExt cx="2361" cy="1064"/>
          </a:xfrm>
        </p:grpSpPr>
        <p:sp>
          <p:nvSpPr>
            <p:cNvPr id="35" name="Text Box 115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5896" y="5216"/>
              <a:ext cx="2268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≤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(2</a:t>
              </a:r>
              <a:r>
                <a:rPr lang="en-US" altLang="zh-CN" sz="1600" b="1" baseline="300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4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-4)×2</a:t>
              </a:r>
              <a:r>
                <a:rPr lang="en-US" altLang="zh-CN" sz="1600" b="1" baseline="300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6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条</a:t>
              </a:r>
              <a:endPara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3" name="直接连接符 52"/>
            <p:cNvCxnSpPr/>
            <p:nvPr>
              <p:custDataLst>
                <p:tags r:id="rId21"/>
              </p:custDataLst>
            </p:nvPr>
          </p:nvCxnSpPr>
          <p:spPr bwMode="auto">
            <a:xfrm flipH="1" flipV="1">
              <a:off x="6463" y="5613"/>
              <a:ext cx="0" cy="5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" name="直接连接符 53"/>
            <p:cNvCxnSpPr/>
            <p:nvPr>
              <p:custDataLst>
                <p:tags r:id="rId22"/>
              </p:custDataLst>
            </p:nvPr>
          </p:nvCxnSpPr>
          <p:spPr bwMode="auto">
            <a:xfrm flipH="1" flipV="1">
              <a:off x="6463" y="6120"/>
              <a:ext cx="907" cy="1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6" name="Oval 123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351" y="5940"/>
              <a:ext cx="907" cy="3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rgbClr val="990099"/>
              </a:solidFill>
              <a:prstDash val="sysDash"/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5433695" y="3455670"/>
            <a:ext cx="2303145" cy="400050"/>
            <a:chOff x="7427" y="5216"/>
            <a:chExt cx="3627" cy="630"/>
          </a:xfrm>
        </p:grpSpPr>
        <p:sp>
          <p:nvSpPr>
            <p:cNvPr id="31" name="Oval 120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7427" y="5728"/>
              <a:ext cx="1135" cy="11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2" name="Text Box 12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8504" y="5216"/>
              <a:ext cx="255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  <a:sym typeface="Symbol" panose="05050102010706020507"/>
                </a:rPr>
                <a:t></a:t>
              </a:r>
              <a:r>
                <a:rPr lang="en-US" altLang="zh-CN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8</a:t>
              </a: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*</a:t>
              </a:r>
              <a:r>
                <a:rPr lang="en-US" altLang="zh-CN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63</a:t>
              </a: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*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64/2</a:t>
              </a:r>
              <a:r>
                <a:rPr lang="en-US" altLang="zh-CN" sz="1600" b="1" baseline="30000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6</a:t>
              </a:r>
              <a:r>
                <a:rPr lang="en-US" altLang="zh-CN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  <a:sym typeface="Symbol" panose="05050102010706020507"/>
                </a:rPr>
                <a:t></a:t>
              </a: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条</a:t>
              </a:r>
              <a:endParaRPr lang="zh-CN" altLang="en-US" sz="1600" b="1" baseline="-20000" dirty="0" smtClean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6" name="直接连接符 55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8133" y="5499"/>
              <a:ext cx="680" cy="22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58" name="AutoShape 38"/>
          <p:cNvSpPr/>
          <p:nvPr>
            <p:custDataLst>
              <p:tags r:id="rId27"/>
            </p:custDataLst>
          </p:nvPr>
        </p:nvSpPr>
        <p:spPr bwMode="auto">
          <a:xfrm>
            <a:off x="2278782" y="2772000"/>
            <a:ext cx="2088000" cy="252000"/>
          </a:xfrm>
          <a:prstGeom prst="borderCallout2">
            <a:avLst>
              <a:gd name="adj1" fmla="val 47823"/>
              <a:gd name="adj2" fmla="val 100431"/>
              <a:gd name="adj3" fmla="val 46059"/>
              <a:gd name="adj4" fmla="val 110010"/>
              <a:gd name="adj5" fmla="val -330188"/>
              <a:gd name="adj6" fmla="val 12193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 smtClean="0">
                <a:latin typeface="宋体" panose="02010600030101010101" pitchFamily="2" charset="-122"/>
              </a:rPr>
              <a:t>每条指令占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个操作码</a:t>
            </a:r>
            <a:endParaRPr lang="zh-CN" altLang="en-US" sz="1600" b="1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2" grpId="0" bldLvl="0" animBg="1"/>
      <p:bldP spid="58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0476" y="360000"/>
            <a:ext cx="8801124" cy="93726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※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指令格式小结：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指令格式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指令功能的关系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  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指令所含信息的表示方法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Text Box 205"/>
          <p:cNvSpPr txBox="1">
            <a:spLocks noChangeArrowheads="1"/>
          </p:cNvSpPr>
          <p:nvPr/>
        </p:nvSpPr>
        <p:spPr bwMode="auto">
          <a:xfrm>
            <a:off x="179388" y="4292590"/>
            <a:ext cx="4248596" cy="2030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指令格式与指令的关系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一条指令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6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指令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字长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指令集结构：</a:t>
            </a:r>
            <a:endParaRPr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5" name="Text Box 205"/>
          <p:cNvSpPr txBox="1">
            <a:spLocks noChangeArrowheads="1"/>
          </p:cNvSpPr>
          <p:nvPr/>
        </p:nvSpPr>
        <p:spPr bwMode="auto">
          <a:xfrm>
            <a:off x="1043102" y="3291421"/>
            <a:ext cx="7560000" cy="6718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rIns="36195">
            <a:spAutoFit/>
          </a:bodyPr>
          <a:p>
            <a:pPr>
              <a:lnSpc>
                <a:spcPct val="10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注：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指令所含信息</a:t>
            </a:r>
            <a:r>
              <a:rPr lang="en-US" altLang="zh-CN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操作类型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功能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+OPD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类型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目的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OPD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、下条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指令地址</a:t>
            </a:r>
            <a:endParaRPr lang="en-US" altLang="zh-CN" sz="18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操作码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的编码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无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二义性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标识不同指令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可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指明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指令中的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隐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</a:rPr>
              <a:t>式信息</a:t>
            </a:r>
            <a:endParaRPr lang="en-US" altLang="zh-CN" sz="18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3" name="Text Box 20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12519" y="4684907"/>
            <a:ext cx="6336828" cy="1619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u="sng" dirty="0" smtClean="0">
                <a:latin typeface="宋体" panose="02010600030101010101" pitchFamily="2" charset="-122"/>
              </a:rPr>
              <a:t>操作码相同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指令，多条指令可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共用一种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格式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b="1" dirty="0" smtClean="0">
                <a:latin typeface="+mn-ea"/>
              </a:rPr>
              <a:t>  </a:t>
            </a:r>
            <a:r>
              <a:rPr lang="zh-CN" altLang="en-US" sz="1600" dirty="0" smtClean="0">
                <a:latin typeface="+mn-ea"/>
              </a:rPr>
              <a:t>└</a:t>
            </a:r>
            <a:r>
              <a:rPr lang="zh-CN" altLang="en-US" sz="1600" b="1" dirty="0" smtClean="0">
                <a:latin typeface="+mn-ea"/>
              </a:rPr>
              <a:t>←</a:t>
            </a:r>
            <a:r>
              <a:rPr lang="zh-CN" altLang="en-US" sz="1600" b="1" dirty="0" smtClean="0">
                <a:solidFill>
                  <a:srgbClr val="0070C0"/>
                </a:solidFill>
                <a:latin typeface="+mn-ea"/>
              </a:rPr>
              <a:t>理论上</a:t>
            </a:r>
            <a:r>
              <a:rPr lang="zh-CN" altLang="en-US" sz="1600" b="1" dirty="0" smtClean="0">
                <a:latin typeface="+mn-ea"/>
              </a:rPr>
              <a:t>为操作类型，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部分</a:t>
            </a:r>
            <a:r>
              <a:rPr lang="en-US" altLang="zh-CN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ISA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操作码包含寻址方式</a:t>
            </a:r>
            <a:endParaRPr lang="en-US" altLang="zh-CN" sz="1600" b="1" dirty="0" smtClean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+mn-ea"/>
              </a:rPr>
              <a:t>＝对应指令格式</a:t>
            </a:r>
            <a:r>
              <a:rPr lang="zh-CN" altLang="en-US" sz="2200" b="1" dirty="0">
                <a:latin typeface="+mn-ea"/>
              </a:rPr>
              <a:t>长度</a:t>
            </a:r>
            <a:r>
              <a:rPr lang="zh-CN" altLang="en-US" sz="2200" b="1" dirty="0" smtClean="0">
                <a:latin typeface="+mn-ea"/>
              </a:rPr>
              <a:t>＝</a:t>
            </a:r>
            <a:r>
              <a:rPr lang="en-US" altLang="zh-CN" sz="2200" b="1" dirty="0">
                <a:latin typeface="+mn-ea"/>
              </a:rPr>
              <a:t>n×</a:t>
            </a:r>
            <a:r>
              <a:rPr lang="zh-CN" altLang="en-US" sz="2200" b="1" dirty="0">
                <a:latin typeface="+mn-ea"/>
              </a:rPr>
              <a:t>主存单元</a:t>
            </a:r>
            <a:r>
              <a:rPr lang="zh-CN" altLang="en-US" sz="2200" b="1" dirty="0" smtClean="0">
                <a:latin typeface="+mn-ea"/>
              </a:rPr>
              <a:t>长度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+mn-ea"/>
              </a:rPr>
              <a:t>  所有指令字长的类</a:t>
            </a:r>
            <a:r>
              <a:rPr lang="zh-CN" altLang="en-US" sz="2200" b="1" dirty="0">
                <a:latin typeface="+mn-ea"/>
              </a:rPr>
              <a:t>型</a:t>
            </a:r>
            <a:r>
              <a:rPr lang="en-US" altLang="zh-CN" sz="1600" b="1" dirty="0" smtClean="0">
                <a:latin typeface="+mn-ea"/>
              </a:rPr>
              <a:t>(</a:t>
            </a:r>
            <a:r>
              <a:rPr lang="zh-CN" altLang="en-US" sz="1600" b="1" dirty="0" smtClean="0">
                <a:latin typeface="+mn-ea"/>
              </a:rPr>
              <a:t>定长</a:t>
            </a:r>
            <a:r>
              <a:rPr lang="en-US" altLang="zh-CN" sz="1600" b="1" dirty="0" smtClean="0">
                <a:latin typeface="+mn-ea"/>
              </a:rPr>
              <a:t>/</a:t>
            </a:r>
            <a:r>
              <a:rPr lang="zh-CN" altLang="en-US" sz="1600" b="1" dirty="0" smtClean="0">
                <a:latin typeface="+mn-ea"/>
              </a:rPr>
              <a:t>变长</a:t>
            </a:r>
            <a:r>
              <a:rPr lang="en-US" altLang="zh-CN" sz="1600" b="1" dirty="0" smtClean="0">
                <a:latin typeface="+mn-ea"/>
              </a:rPr>
              <a:t>)</a:t>
            </a:r>
            <a:endParaRPr lang="en-US" altLang="zh-CN" sz="1600" b="1" dirty="0" smtClean="0">
              <a:latin typeface="+mn-ea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939646" y="2105988"/>
            <a:ext cx="1296160" cy="864000"/>
            <a:chOff x="5796136" y="5085184"/>
            <a:chExt cx="1296160" cy="864000"/>
          </a:xfrm>
        </p:grpSpPr>
        <p:cxnSp>
          <p:nvCxnSpPr>
            <p:cNvPr id="24" name="直接箭头连接符 23"/>
            <p:cNvCxnSpPr/>
            <p:nvPr>
              <p:custDataLst>
                <p:tags r:id="rId3"/>
              </p:custDataLst>
            </p:nvPr>
          </p:nvCxnSpPr>
          <p:spPr>
            <a:xfrm>
              <a:off x="6516215" y="5085184"/>
              <a:ext cx="1" cy="864000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 Box 22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516296" y="5157240"/>
              <a:ext cx="576000" cy="43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操作</a:t>
              </a:r>
              <a:endParaRPr lang="en-US" altLang="zh-CN" sz="1600" b="1" dirty="0" smtClean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编码</a:t>
              </a:r>
              <a:endParaRPr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6" name="直接箭头连接符 25"/>
            <p:cNvCxnSpPr/>
            <p:nvPr>
              <p:custDataLst>
                <p:tags r:id="rId5"/>
              </p:custDataLst>
            </p:nvPr>
          </p:nvCxnSpPr>
          <p:spPr>
            <a:xfrm>
              <a:off x="5796136" y="5085184"/>
              <a:ext cx="720000" cy="0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>
              <p:custDataLst>
                <p:tags r:id="rId6"/>
              </p:custDataLst>
            </p:nvPr>
          </p:nvCxnSpPr>
          <p:spPr>
            <a:xfrm>
              <a:off x="5796136" y="5373216"/>
              <a:ext cx="504000" cy="575742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/>
          <p:cNvGrpSpPr/>
          <p:nvPr/>
        </p:nvGrpSpPr>
        <p:grpSpPr>
          <a:xfrm>
            <a:off x="6011654" y="1313900"/>
            <a:ext cx="2592288" cy="612040"/>
            <a:chOff x="6084168" y="4365104"/>
            <a:chExt cx="2592288" cy="612040"/>
          </a:xfrm>
        </p:grpSpPr>
        <p:sp>
          <p:nvSpPr>
            <p:cNvPr id="29" name="Text Box 22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876256" y="4725144"/>
              <a:ext cx="1800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指令地址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/OPD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地址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0" name="直接箭头连接符 29"/>
            <p:cNvCxnSpPr/>
            <p:nvPr>
              <p:custDataLst>
                <p:tags r:id="rId8"/>
              </p:custDataLst>
            </p:nvPr>
          </p:nvCxnSpPr>
          <p:spPr>
            <a:xfrm>
              <a:off x="6300192" y="4869160"/>
              <a:ext cx="576000" cy="0"/>
            </a:xfrm>
            <a:prstGeom prst="straightConnector1">
              <a:avLst/>
            </a:prstGeom>
            <a:ln w="19050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 Box 2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084168" y="4365104"/>
              <a:ext cx="2592288" cy="288032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的存放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(GPRs/MEM/IR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等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2" name="直接箭头连接符 31"/>
            <p:cNvCxnSpPr/>
            <p:nvPr>
              <p:custDataLst>
                <p:tags r:id="rId10"/>
              </p:custDataLst>
            </p:nvPr>
          </p:nvCxnSpPr>
          <p:spPr>
            <a:xfrm>
              <a:off x="6516216" y="4622690"/>
              <a:ext cx="0" cy="252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/>
        </p:nvGrpSpPr>
        <p:grpSpPr>
          <a:xfrm>
            <a:off x="3491374" y="1673940"/>
            <a:ext cx="2736041" cy="864096"/>
            <a:chOff x="3347864" y="4653136"/>
            <a:chExt cx="2736041" cy="864096"/>
          </a:xfrm>
        </p:grpSpPr>
        <p:sp>
          <p:nvSpPr>
            <p:cNvPr id="34" name="Text Box 2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707905" y="4653136"/>
              <a:ext cx="2376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显式的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指令地址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信息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5" name="Text Box 2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707905" y="4960218"/>
              <a:ext cx="208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显式的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操作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格式信息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6" name="直接箭头连接符 35"/>
            <p:cNvCxnSpPr/>
            <p:nvPr>
              <p:custDataLst>
                <p:tags r:id="rId13"/>
              </p:custDataLst>
            </p:nvPr>
          </p:nvCxnSpPr>
          <p:spPr>
            <a:xfrm>
              <a:off x="3347866" y="4797152"/>
              <a:ext cx="360040" cy="0"/>
            </a:xfrm>
            <a:prstGeom prst="straightConnector1">
              <a:avLst/>
            </a:prstGeom>
            <a:ln w="19050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>
              <p:custDataLst>
                <p:tags r:id="rId14"/>
              </p:custDataLst>
            </p:nvPr>
          </p:nvCxnSpPr>
          <p:spPr>
            <a:xfrm>
              <a:off x="3347866" y="5085184"/>
              <a:ext cx="360040" cy="0"/>
            </a:xfrm>
            <a:prstGeom prst="straightConnector1">
              <a:avLst/>
            </a:prstGeom>
            <a:ln w="19050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 Box 22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707904" y="5265232"/>
              <a:ext cx="208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隐式的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信息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显式之外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9" name="直接箭头连接符 38"/>
            <p:cNvCxnSpPr/>
            <p:nvPr>
              <p:custDataLst>
                <p:tags r:id="rId16"/>
              </p:custDataLst>
            </p:nvPr>
          </p:nvCxnSpPr>
          <p:spPr>
            <a:xfrm>
              <a:off x="3347864" y="5373216"/>
              <a:ext cx="360040" cy="0"/>
            </a:xfrm>
            <a:prstGeom prst="straightConnector1">
              <a:avLst/>
            </a:prstGeom>
            <a:ln w="19050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/>
        </p:nvGrpSpPr>
        <p:grpSpPr>
          <a:xfrm>
            <a:off x="3203345" y="1313900"/>
            <a:ext cx="2088000" cy="1080088"/>
            <a:chOff x="3059835" y="4293096"/>
            <a:chExt cx="2088000" cy="1080088"/>
          </a:xfrm>
        </p:grpSpPr>
        <p:cxnSp>
          <p:nvCxnSpPr>
            <p:cNvPr id="41" name="直接箭头连接符 40"/>
            <p:cNvCxnSpPr/>
            <p:nvPr>
              <p:custDataLst>
                <p:tags r:id="rId17"/>
              </p:custDataLst>
            </p:nvPr>
          </p:nvCxnSpPr>
          <p:spPr>
            <a:xfrm>
              <a:off x="3491882" y="4578925"/>
              <a:ext cx="0" cy="216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 Box 22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059835" y="4293096"/>
              <a:ext cx="2088000" cy="288032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表示方式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显式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隐式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3" name="直接箭头连接符 42"/>
            <p:cNvCxnSpPr/>
            <p:nvPr>
              <p:custDataLst>
                <p:tags r:id="rId19"/>
              </p:custDataLst>
            </p:nvPr>
          </p:nvCxnSpPr>
          <p:spPr>
            <a:xfrm>
              <a:off x="3491880" y="4797152"/>
              <a:ext cx="0" cy="288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>
              <p:custDataLst>
                <p:tags r:id="rId20"/>
              </p:custDataLst>
            </p:nvPr>
          </p:nvCxnSpPr>
          <p:spPr>
            <a:xfrm>
              <a:off x="3491880" y="5085184"/>
              <a:ext cx="0" cy="288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Box 12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116122" y="3930848"/>
            <a:ext cx="7500988" cy="3683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>
            <a:spAutoFit/>
          </a:bodyPr>
          <a:p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信息隐式表示的条件？必须显式表示的信息？隐式信息如何识别？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7523822" y="1959770"/>
            <a:ext cx="1224000" cy="972000"/>
            <a:chOff x="7596211" y="4578926"/>
            <a:chExt cx="1224000" cy="972000"/>
          </a:xfrm>
        </p:grpSpPr>
        <p:cxnSp>
          <p:nvCxnSpPr>
            <p:cNvPr id="47" name="直接箭头连接符 46"/>
            <p:cNvCxnSpPr/>
            <p:nvPr>
              <p:custDataLst>
                <p:tags r:id="rId22"/>
              </p:custDataLst>
            </p:nvPr>
          </p:nvCxnSpPr>
          <p:spPr>
            <a:xfrm>
              <a:off x="7596336" y="4578926"/>
              <a:ext cx="0" cy="972000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 Box 22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596211" y="4797152"/>
              <a:ext cx="1224000" cy="46805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地址编码</a:t>
              </a:r>
              <a:endParaRPr lang="en-US" altLang="zh-CN" sz="1600" b="1" dirty="0" smtClean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 smtClean="0">
                  <a:cs typeface="Times New Roman" panose="02020603050405020304" pitchFamily="18" charset="0"/>
                </a:rPr>
                <a:t>~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寻址方式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1043102" y="1727210"/>
            <a:ext cx="7560840" cy="1494874"/>
            <a:chOff x="899592" y="4238382"/>
            <a:chExt cx="7560840" cy="1494874"/>
          </a:xfrm>
        </p:grpSpPr>
        <p:sp>
          <p:nvSpPr>
            <p:cNvPr id="82" name="Text Box 22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347864" y="5157248"/>
              <a:ext cx="2520280" cy="252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地址码个数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目的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OPD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位置等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)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85" name="Text Box 22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763744" y="4238382"/>
              <a:ext cx="50400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功能所含信息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6" name="Text Box 23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948432" y="5480934"/>
              <a:ext cx="151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地址码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7" name="直接连接符 86"/>
            <p:cNvCxnSpPr/>
            <p:nvPr>
              <p:custDataLst>
                <p:tags r:id="rId27"/>
              </p:custDataLst>
            </p:nvPr>
          </p:nvCxnSpPr>
          <p:spPr bwMode="auto">
            <a:xfrm>
              <a:off x="7380480" y="5480934"/>
              <a:ext cx="0" cy="25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直接连接符 95"/>
            <p:cNvCxnSpPr/>
            <p:nvPr>
              <p:custDataLst>
                <p:tags r:id="rId28"/>
              </p:custDataLst>
            </p:nvPr>
          </p:nvCxnSpPr>
          <p:spPr bwMode="auto">
            <a:xfrm>
              <a:off x="8100560" y="5480934"/>
              <a:ext cx="0" cy="25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7" name="Text Box 22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899592" y="5481256"/>
              <a:ext cx="1008112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指令格式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8" name="Text Box 22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627864" y="4257216"/>
              <a:ext cx="72000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需约定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表示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的信息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9" name="直接箭头连接符 98"/>
            <p:cNvCxnSpPr/>
            <p:nvPr>
              <p:custDataLst>
                <p:tags r:id="rId31"/>
              </p:custDataLst>
            </p:nvPr>
          </p:nvCxnSpPr>
          <p:spPr>
            <a:xfrm>
              <a:off x="2267744" y="4617160"/>
              <a:ext cx="36004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/>
            <p:nvPr>
              <p:custDataLst>
                <p:tags r:id="rId32"/>
              </p:custDataLst>
            </p:nvPr>
          </p:nvCxnSpPr>
          <p:spPr>
            <a:xfrm>
              <a:off x="1907704" y="5625272"/>
              <a:ext cx="424800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 Box 22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156432" y="5481256"/>
              <a:ext cx="792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操作码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2" name="Text Box 22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2411864" y="5157248"/>
              <a:ext cx="936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格式参数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03" name="直接箭头连接符 102"/>
            <p:cNvCxnSpPr/>
            <p:nvPr>
              <p:custDataLst>
                <p:tags r:id="rId35"/>
              </p:custDataLst>
            </p:nvPr>
          </p:nvCxnSpPr>
          <p:spPr>
            <a:xfrm flipV="1">
              <a:off x="2987824" y="4977200"/>
              <a:ext cx="0" cy="180000"/>
            </a:xfrm>
            <a:prstGeom prst="straightConnector1">
              <a:avLst/>
            </a:prstGeom>
            <a:ln w="15875">
              <a:solidFill>
                <a:srgbClr val="990099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 Box 22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899648" y="4337746"/>
              <a:ext cx="504000" cy="57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指令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功能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05" name="直接箭头连接符 104"/>
            <p:cNvCxnSpPr/>
            <p:nvPr>
              <p:custDataLst>
                <p:tags r:id="rId37"/>
              </p:custDataLst>
            </p:nvPr>
          </p:nvCxnSpPr>
          <p:spPr>
            <a:xfrm>
              <a:off x="1403648" y="4614958"/>
              <a:ext cx="360040" cy="2202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/>
            <p:cNvCxnSpPr/>
            <p:nvPr>
              <p:custDataLst>
                <p:tags r:id="rId38"/>
              </p:custDataLst>
            </p:nvPr>
          </p:nvCxnSpPr>
          <p:spPr>
            <a:xfrm flipV="1">
              <a:off x="2987824" y="5411317"/>
              <a:ext cx="0" cy="144000"/>
            </a:xfrm>
            <a:prstGeom prst="straightConnector1">
              <a:avLst/>
            </a:prstGeom>
            <a:ln w="15875">
              <a:solidFill>
                <a:srgbClr val="990099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/>
            <p:cNvCxnSpPr/>
            <p:nvPr>
              <p:custDataLst>
                <p:tags r:id="rId39"/>
              </p:custDataLst>
            </p:nvPr>
          </p:nvCxnSpPr>
          <p:spPr>
            <a:xfrm flipH="1">
              <a:off x="2982733" y="5561648"/>
              <a:ext cx="3168000" cy="1"/>
            </a:xfrm>
            <a:prstGeom prst="straightConnector1">
              <a:avLst/>
            </a:prstGeom>
            <a:ln w="15875">
              <a:solidFill>
                <a:srgbClr val="990099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60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332656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§4.2 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操作数的存放</a:t>
            </a:r>
            <a:endParaRPr lang="zh-CN" altLang="en-US" sz="2800" b="1" dirty="0" smtClean="0">
              <a:latin typeface="宋体" panose="02010600030101010101" pitchFamily="2" charset="-122"/>
            </a:endParaRPr>
          </a:p>
        </p:txBody>
      </p:sp>
      <p:sp>
        <p:nvSpPr>
          <p:cNvPr id="63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836965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>
              <a:lnSpc>
                <a:spcPct val="125000"/>
              </a:lnSpc>
            </a:pP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数据</a:t>
            </a:r>
            <a:r>
              <a:rPr lang="zh-CN" sz="2000" b="1" dirty="0" smtClean="0">
                <a:latin typeface="宋体" panose="02010600030101010101" pitchFamily="2" charset="-122"/>
                <a:sym typeface="+mn-ea"/>
              </a:rPr>
              <a:t>在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REG</a:t>
            </a:r>
            <a:r>
              <a:rPr lang="zh-CN" sz="20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MEM</a:t>
            </a:r>
            <a:r>
              <a:rPr lang="zh-CN" sz="20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IR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中的存放方式、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长度及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地址表示</a:t>
            </a:r>
            <a:endParaRPr lang="zh-CN" altLang="en-US" sz="2000" b="1" dirty="0" smtClean="0">
              <a:latin typeface="宋体" panose="02010600030101010101" pitchFamily="2" charset="-122"/>
            </a:endParaRPr>
          </a:p>
        </p:txBody>
      </p:sp>
      <p:sp>
        <p:nvSpPr>
          <p:cNvPr id="190590" name="Text Box 126"/>
          <p:cNvSpPr txBox="1">
            <a:spLocks noChangeArrowheads="1"/>
          </p:cNvSpPr>
          <p:nvPr/>
        </p:nvSpPr>
        <p:spPr bwMode="auto">
          <a:xfrm>
            <a:off x="179705" y="1268730"/>
            <a:ext cx="8785860" cy="899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、数据在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REG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中的存放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以定点数为例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背景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数据有</a:t>
            </a:r>
            <a:r>
              <a:rPr lang="zh-CN" altLang="en-US" sz="20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多种类型</a:t>
            </a:r>
            <a:r>
              <a:rPr lang="en-US" altLang="zh-CN" sz="20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0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长度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如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8/16/32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位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ALU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支持</a:t>
            </a:r>
            <a:r>
              <a:rPr lang="zh-CN" altLang="en-US" sz="20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少量长度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16/32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 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Text Box 126"/>
          <p:cNvSpPr txBox="1">
            <a:spLocks noChangeArrowheads="1"/>
          </p:cNvSpPr>
          <p:nvPr/>
        </p:nvSpPr>
        <p:spPr bwMode="auto">
          <a:xfrm>
            <a:off x="179705" y="2058035"/>
            <a:ext cx="4965700" cy="4233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需求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*REG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的组织：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zh-CN" altLang="en-US" sz="20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zh-CN" altLang="en-US" sz="16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zh-CN" altLang="en-US" sz="16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存放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方式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7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长度及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地址的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表示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数据长度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         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数据地址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83" name="Text Box 205"/>
          <p:cNvSpPr txBox="1">
            <a:spLocks noChangeArrowheads="1"/>
          </p:cNvSpPr>
          <p:nvPr/>
        </p:nvSpPr>
        <p:spPr bwMode="auto">
          <a:xfrm>
            <a:off x="1441450" y="2056130"/>
            <a:ext cx="7609840" cy="42278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存放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与</a:t>
            </a:r>
            <a:r>
              <a:rPr lang="en-US" altLang="zh-CN" sz="2000" b="1" u="sng" dirty="0" smtClean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等长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的数据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sz="1600" b="1" dirty="0" smtClean="0"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16/32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 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←便于</a:t>
            </a:r>
            <a:r>
              <a:rPr lang="zh-CN" altLang="en-US" sz="1600" b="1" u="sng" dirty="0" smtClean="0">
                <a:latin typeface="宋体" panose="02010600030101010101" pitchFamily="2" charset="-122"/>
                <a:sym typeface="+mn-ea"/>
              </a:rPr>
              <a:t>直接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读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写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每类有</a:t>
            </a:r>
            <a:r>
              <a:rPr lang="en-US" altLang="zh-CN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映射</a:t>
            </a:r>
            <a:r>
              <a:rPr 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zh-CN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</a:t>
            </a:r>
            <a:r>
              <a:rPr lang="en-US" altLang="zh-CN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</a:t>
            </a:r>
            <a:r>
              <a:rPr lang="zh-CN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空间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←多个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</a:t>
            </a:r>
            <a:r>
              <a:rPr lang="zh-CN" altLang="en-US" sz="16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成本高</a:t>
            </a: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</a:t>
            </a:r>
            <a:r>
              <a:rPr lang="zh-CN" altLang="en-US" sz="16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别名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方式→</a:t>
            </a:r>
            <a:r>
              <a:rPr lang="zh-CN" altLang="en-US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←各空间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16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个数相同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地址长度相同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u="sng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占用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某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组空间的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的全部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部分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要求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en-US" sz="16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分段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读写</a:t>
            </a: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860800" indent="-3860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如：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使用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R0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R1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marL="3860800" indent="-3860800">
              <a:lnSpc>
                <a:spcPct val="114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                                 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使用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R3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低端和高端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spc="-100" dirty="0" smtClean="0">
                <a:latin typeface="宋体" panose="02010600030101010101" pitchFamily="2" charset="-122"/>
                <a:sym typeface="+mn-ea"/>
              </a:rPr>
              <a:t>                       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由</a:t>
            </a:r>
            <a:r>
              <a:rPr lang="zh-CN" altLang="en-US" sz="2200" b="1" spc="-10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操作码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指明</a:t>
            </a:r>
            <a:r>
              <a:rPr lang="en-US" altLang="zh-CN" sz="2200" b="1" spc="-100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spc="-100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600" b="1" spc="-100" dirty="0" smtClean="0">
                <a:latin typeface="宋体" panose="02010600030101010101" pitchFamily="2" charset="-122"/>
                <a:sym typeface="+mn-ea"/>
              </a:rPr>
              <a:t>←长度∈数据表示</a:t>
            </a:r>
            <a:endParaRPr lang="zh-CN" altLang="en-US" sz="2200" b="1" spc="-100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spc="-100" dirty="0" smtClean="0">
                <a:latin typeface="宋体" panose="02010600030101010101" pitchFamily="2" charset="-122"/>
                <a:sym typeface="+mn-ea"/>
              </a:rPr>
              <a:t>                       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某</a:t>
            </a:r>
            <a:r>
              <a:rPr lang="en-US" altLang="zh-CN" sz="2200" b="1" spc="-100" dirty="0" smtClean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组空间</a:t>
            </a:r>
            <a:r>
              <a:rPr lang="en-US" altLang="zh-CN" sz="1600" b="1" spc="-100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sz="1600" b="1" spc="-100" dirty="0" smtClean="0">
                <a:latin typeface="宋体" panose="02010600030101010101" pitchFamily="2" charset="-122"/>
                <a:sym typeface="+mn-ea"/>
              </a:rPr>
              <a:t>与数据长度</a:t>
            </a:r>
            <a:r>
              <a:rPr lang="zh-CN" altLang="en-US" sz="1600" b="1" spc="-100" dirty="0" smtClean="0">
                <a:latin typeface="宋体" panose="02010600030101010101" pitchFamily="2" charset="-122"/>
                <a:sym typeface="+mn-ea"/>
              </a:rPr>
              <a:t>相对应</a:t>
            </a:r>
            <a:r>
              <a:rPr lang="en-US" altLang="zh-CN" sz="1600" b="1" spc="-100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的地址</a:t>
            </a:r>
            <a:endParaRPr lang="zh-CN" altLang="en-US" sz="1600" b="1" spc="-100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232000" y="3240000"/>
            <a:ext cx="1872925" cy="1044989"/>
            <a:chOff x="2698899" y="3284091"/>
            <a:chExt cx="1872925" cy="1044989"/>
          </a:xfrm>
        </p:grpSpPr>
        <p:sp>
          <p:nvSpPr>
            <p:cNvPr id="19" name="Text Box 222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698899" y="3284984"/>
              <a:ext cx="288925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400" b="1" dirty="0">
                  <a:latin typeface="宋体" panose="02010600030101010101" pitchFamily="2" charset="-122"/>
                </a:rPr>
                <a:t>R0</a:t>
              </a:r>
              <a:endParaRPr lang="en-US" altLang="zh-CN" sz="14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0" name="Text Box 230" descr="宽上对角线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987824" y="3284091"/>
              <a:ext cx="1584000" cy="180000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chemeClr val="bg1"/>
              </a:bgClr>
            </a:patt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地址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=000</a:t>
              </a:r>
              <a:endParaRPr lang="zh-CN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21" name="Text Box 233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04000" y="3429000"/>
              <a:ext cx="1188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en-US" altLang="zh-CN" sz="1600" b="1" dirty="0" smtClean="0">
                  <a:latin typeface="Times New Roman" panose="02020603050405020304"/>
                </a:rPr>
                <a:t>…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   </a:t>
              </a:r>
              <a:r>
                <a:rPr lang="en-US" altLang="zh-CN" sz="1600" b="1" dirty="0" smtClean="0">
                  <a:latin typeface="Times New Roman" panose="02020603050405020304"/>
                </a:rPr>
                <a:t>…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2" name="Text Box 222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698899" y="3609040"/>
              <a:ext cx="288925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400" b="1" dirty="0" smtClean="0">
                  <a:latin typeface="宋体" panose="02010600030101010101" pitchFamily="2" charset="-122"/>
                </a:rPr>
                <a:t>R3</a:t>
              </a:r>
              <a:endParaRPr lang="en-US" altLang="zh-CN" sz="14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3" name="Text Box 230" descr="宽上对角线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986534" y="3609040"/>
              <a:ext cx="1584000" cy="180000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chemeClr val="bg1"/>
              </a:bgClr>
            </a:patt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地址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=011</a:t>
              </a:r>
              <a:endParaRPr lang="zh-CN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24" name="Text Box 222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698899" y="3825064"/>
              <a:ext cx="288925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400" b="1" dirty="0" smtClean="0">
                  <a:latin typeface="宋体" panose="02010600030101010101" pitchFamily="2" charset="-122"/>
                </a:rPr>
                <a:t>R4</a:t>
              </a:r>
              <a:endParaRPr lang="en-US" altLang="zh-CN" sz="14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5" name="Text Box 230" descr="宽上对角线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987824" y="3825064"/>
              <a:ext cx="1584000" cy="180000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chemeClr val="bg1"/>
              </a:bgClr>
            </a:patt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地址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=100</a:t>
              </a:r>
              <a:endParaRPr lang="zh-CN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26" name="Text Box 23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204000" y="3967601"/>
              <a:ext cx="1188000" cy="17713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en-US" altLang="zh-CN" sz="1600" b="1" dirty="0" smtClean="0">
                  <a:latin typeface="Times New Roman" panose="02020603050405020304"/>
                </a:rPr>
                <a:t>…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   </a:t>
              </a:r>
              <a:r>
                <a:rPr lang="en-US" altLang="zh-CN" sz="1600" b="1" dirty="0" smtClean="0">
                  <a:latin typeface="Times New Roman" panose="02020603050405020304"/>
                </a:rPr>
                <a:t>…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7" name="Text Box 22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698899" y="4149080"/>
              <a:ext cx="288925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400" b="1" dirty="0" smtClean="0">
                  <a:latin typeface="宋体" panose="02010600030101010101" pitchFamily="2" charset="-122"/>
                </a:rPr>
                <a:t>R7</a:t>
              </a:r>
              <a:endParaRPr lang="en-US" altLang="zh-CN" sz="14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8" name="Text Box 230" descr="宽上对角线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986534" y="4149080"/>
              <a:ext cx="1584000" cy="180000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chemeClr val="bg1"/>
              </a:bgClr>
            </a:patt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地址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=111</a:t>
              </a:r>
              <a:endParaRPr lang="zh-CN" altLang="zh-CN" sz="1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536000" y="3240000"/>
            <a:ext cx="4177898" cy="1044989"/>
            <a:chOff x="4786590" y="3717925"/>
            <a:chExt cx="4177898" cy="1044989"/>
          </a:xfrm>
        </p:grpSpPr>
        <p:grpSp>
          <p:nvGrpSpPr>
            <p:cNvPr id="29" name="组合 28"/>
            <p:cNvGrpSpPr/>
            <p:nvPr/>
          </p:nvGrpSpPr>
          <p:grpSpPr>
            <a:xfrm>
              <a:off x="4786590" y="3717925"/>
              <a:ext cx="1872925" cy="1044989"/>
              <a:chOff x="4715299" y="3284984"/>
              <a:chExt cx="1872925" cy="1044989"/>
            </a:xfrm>
          </p:grpSpPr>
          <p:sp>
            <p:nvSpPr>
              <p:cNvPr id="30" name="Text Box 222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4715299" y="3285877"/>
                <a:ext cx="288925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/>
                <a:r>
                  <a:rPr lang="en-US" altLang="zh-CN" sz="1400" b="1" dirty="0">
                    <a:latin typeface="宋体" panose="02010600030101010101" pitchFamily="2" charset="-122"/>
                  </a:rPr>
                  <a:t>R0</a:t>
                </a:r>
                <a:endParaRPr lang="en-US" altLang="zh-CN" sz="14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1" name="Text Box 230" descr="宽上对角线"/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5004224" y="3284984"/>
                <a:ext cx="1584000" cy="180000"/>
              </a:xfrm>
              <a:prstGeom prst="rect">
                <a:avLst/>
              </a:prstGeom>
              <a:pattFill prst="wdUpDiag">
                <a:fgClr>
                  <a:srgbClr val="99CCFF"/>
                </a:fgClr>
                <a:bgClr>
                  <a:schemeClr val="bg1"/>
                </a:bgClr>
              </a:patt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>
                  <a:lnSpc>
                    <a:spcPct val="60000"/>
                  </a:lnSpc>
                </a:pPr>
                <a:endParaRPr lang="zh-CN" altLang="zh-CN" sz="18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2" name="Text Box 233"/>
              <p:cNvSpPr txBox="1"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5220400" y="3429893"/>
                <a:ext cx="1188000" cy="14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p>
                <a:pPr>
                  <a:lnSpc>
                    <a:spcPct val="80000"/>
                  </a:lnSpc>
                </a:pPr>
                <a:r>
                  <a:rPr lang="en-US" altLang="zh-CN" sz="1600" b="1" dirty="0" smtClean="0">
                    <a:latin typeface="Times New Roman" panose="02020603050405020304"/>
                  </a:rPr>
                  <a:t>…</a:t>
                </a:r>
                <a:r>
                  <a:rPr lang="en-US" altLang="zh-CN" sz="1600" b="1" dirty="0" smtClean="0">
                    <a:latin typeface="宋体" panose="02010600030101010101" pitchFamily="2" charset="-122"/>
                  </a:rPr>
                  <a:t>      </a:t>
                </a:r>
                <a:r>
                  <a:rPr lang="en-US" altLang="zh-CN" sz="1600" b="1" dirty="0" smtClean="0">
                    <a:latin typeface="Times New Roman" panose="02020603050405020304"/>
                  </a:rPr>
                  <a:t>…</a:t>
                </a:r>
                <a:endParaRPr lang="en-US" altLang="zh-CN" sz="16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3" name="Text Box 222"/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4715299" y="3609933"/>
                <a:ext cx="288925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/>
                <a:r>
                  <a:rPr lang="en-US" altLang="zh-CN" sz="1400" b="1" dirty="0" smtClean="0">
                    <a:latin typeface="宋体" panose="02010600030101010101" pitchFamily="2" charset="-122"/>
                  </a:rPr>
                  <a:t>R3</a:t>
                </a:r>
                <a:endParaRPr lang="en-US" altLang="zh-CN" sz="14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4" name="Text Box 230" descr="宽上对角线"/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5002934" y="3609933"/>
                <a:ext cx="1584000" cy="180000"/>
              </a:xfrm>
              <a:prstGeom prst="rect">
                <a:avLst/>
              </a:prstGeom>
              <a:pattFill prst="wdUpDiag">
                <a:fgClr>
                  <a:srgbClr val="99CCFF"/>
                </a:fgClr>
                <a:bgClr>
                  <a:schemeClr val="bg1"/>
                </a:bgClr>
              </a:patt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>
                  <a:lnSpc>
                    <a:spcPct val="60000"/>
                  </a:lnSpc>
                </a:pPr>
                <a:endParaRPr lang="zh-CN" altLang="zh-CN" sz="18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5" name="Text Box 222"/>
              <p:cNvSpPr txBox="1"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715299" y="3825957"/>
                <a:ext cx="288925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/>
                <a:r>
                  <a:rPr lang="en-US" altLang="zh-CN" sz="1400" b="1" dirty="0" smtClean="0">
                    <a:latin typeface="宋体" panose="02010600030101010101" pitchFamily="2" charset="-122"/>
                  </a:rPr>
                  <a:t>R4</a:t>
                </a:r>
                <a:endParaRPr lang="en-US" altLang="zh-CN" sz="14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6" name="Text Box 230" descr="宽上对角线"/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5004224" y="3825957"/>
                <a:ext cx="1584000" cy="180000"/>
              </a:xfrm>
              <a:prstGeom prst="rect">
                <a:avLst/>
              </a:prstGeom>
              <a:pattFill prst="wdUpDiag">
                <a:fgClr>
                  <a:srgbClr val="99CCFF"/>
                </a:fgClr>
                <a:bgClr>
                  <a:schemeClr val="bg1"/>
                </a:bgClr>
              </a:patt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>
                  <a:lnSpc>
                    <a:spcPct val="60000"/>
                  </a:lnSpc>
                </a:pPr>
                <a:endParaRPr lang="zh-CN" altLang="zh-CN" sz="16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7" name="Text Box 233"/>
              <p:cNvSpPr txBox="1"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5220400" y="3968494"/>
                <a:ext cx="1188000" cy="17713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p>
                <a:pPr>
                  <a:lnSpc>
                    <a:spcPct val="80000"/>
                  </a:lnSpc>
                </a:pPr>
                <a:r>
                  <a:rPr lang="en-US" altLang="zh-CN" sz="1600" b="1" dirty="0" smtClean="0">
                    <a:latin typeface="Times New Roman" panose="02020603050405020304"/>
                  </a:rPr>
                  <a:t>…</a:t>
                </a:r>
                <a:r>
                  <a:rPr lang="en-US" altLang="zh-CN" sz="1600" b="1" dirty="0" smtClean="0">
                    <a:latin typeface="宋体" panose="02010600030101010101" pitchFamily="2" charset="-122"/>
                  </a:rPr>
                  <a:t>      </a:t>
                </a:r>
                <a:r>
                  <a:rPr lang="en-US" altLang="zh-CN" sz="1600" b="1" dirty="0" smtClean="0">
                    <a:latin typeface="Times New Roman" panose="02020603050405020304"/>
                  </a:rPr>
                  <a:t>…</a:t>
                </a:r>
                <a:endParaRPr lang="en-US" altLang="zh-CN" sz="16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8" name="Text Box 222"/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4715299" y="4149973"/>
                <a:ext cx="288925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/>
                <a:r>
                  <a:rPr lang="en-US" altLang="zh-CN" sz="1400" b="1" dirty="0" smtClean="0">
                    <a:latin typeface="宋体" panose="02010600030101010101" pitchFamily="2" charset="-122"/>
                  </a:rPr>
                  <a:t>R7</a:t>
                </a:r>
                <a:endParaRPr lang="en-US" altLang="zh-CN" sz="14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9" name="Text Box 230" descr="宽上对角线"/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5002934" y="4149973"/>
                <a:ext cx="1584000" cy="180000"/>
              </a:xfrm>
              <a:prstGeom prst="rect">
                <a:avLst/>
              </a:prstGeom>
              <a:pattFill prst="wdUpDiag">
                <a:fgClr>
                  <a:srgbClr val="99CCFF"/>
                </a:fgClr>
                <a:bgClr>
                  <a:schemeClr val="bg1"/>
                </a:bgClr>
              </a:patt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>
                  <a:lnSpc>
                    <a:spcPct val="60000"/>
                  </a:lnSpc>
                </a:pPr>
                <a:endParaRPr lang="zh-CN" altLang="zh-CN" sz="18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0" name="Text Box 213"/>
              <p:cNvSpPr txBox="1"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5796224" y="4149080"/>
                <a:ext cx="792000" cy="180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 smtClean="0">
                    <a:latin typeface="宋体" panose="02010600030101010101" pitchFamily="2" charset="-122"/>
                  </a:rPr>
                  <a:t>地址</a:t>
                </a:r>
                <a:r>
                  <a:rPr lang="en-US" altLang="zh-CN" sz="1400" b="1" dirty="0" smtClean="0">
                    <a:latin typeface="宋体" panose="02010600030101010101" pitchFamily="2" charset="-122"/>
                  </a:rPr>
                  <a:t>=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111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1" name="Text Box 213"/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5796224" y="3825064"/>
                <a:ext cx="792000" cy="180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 smtClean="0">
                    <a:latin typeface="宋体" panose="02010600030101010101" pitchFamily="2" charset="-122"/>
                  </a:rPr>
                  <a:t>地址</a:t>
                </a:r>
                <a:r>
                  <a:rPr lang="en-US" altLang="zh-CN" sz="1400" b="1" dirty="0" smtClean="0">
                    <a:latin typeface="宋体" panose="02010600030101010101" pitchFamily="2" charset="-122"/>
                  </a:rPr>
                  <a:t>=100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2" name="Text Box 213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5796224" y="3284984"/>
                <a:ext cx="792000" cy="180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 smtClean="0">
                    <a:latin typeface="宋体" panose="02010600030101010101" pitchFamily="2" charset="-122"/>
                  </a:rPr>
                  <a:t>地址</a:t>
                </a:r>
                <a:r>
                  <a:rPr lang="en-US" altLang="zh-CN" sz="1400" b="1" dirty="0" smtClean="0">
                    <a:latin typeface="宋体" panose="02010600030101010101" pitchFamily="2" charset="-122"/>
                  </a:rPr>
                  <a:t>=00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0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3" name="Text Box 213"/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5796224" y="3609040"/>
                <a:ext cx="792000" cy="180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 smtClean="0">
                    <a:latin typeface="宋体" panose="02010600030101010101" pitchFamily="2" charset="-122"/>
                  </a:rPr>
                  <a:t>地址</a:t>
                </a:r>
                <a:r>
                  <a:rPr lang="en-US" altLang="zh-CN" sz="1400" b="1" dirty="0" smtClean="0">
                    <a:latin typeface="宋体" panose="02010600030101010101" pitchFamily="2" charset="-122"/>
                  </a:rPr>
                  <a:t>=011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7091563" y="3717925"/>
              <a:ext cx="1872925" cy="1044989"/>
              <a:chOff x="6732240" y="3284984"/>
              <a:chExt cx="1872925" cy="1044989"/>
            </a:xfrm>
          </p:grpSpPr>
          <p:sp>
            <p:nvSpPr>
              <p:cNvPr id="45" name="Text Box 222"/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6732240" y="3285877"/>
                <a:ext cx="288925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/>
                <a:r>
                  <a:rPr lang="en-US" altLang="zh-CN" sz="1400" b="1" dirty="0">
                    <a:latin typeface="宋体" panose="02010600030101010101" pitchFamily="2" charset="-122"/>
                  </a:rPr>
                  <a:t>R0</a:t>
                </a:r>
                <a:endParaRPr lang="en-US" altLang="zh-CN" sz="14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6" name="Text Box 230" descr="宽上对角线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7021165" y="3284984"/>
                <a:ext cx="1584000" cy="180000"/>
              </a:xfrm>
              <a:prstGeom prst="rect">
                <a:avLst/>
              </a:prstGeom>
              <a:pattFill prst="wdUpDiag">
                <a:fgClr>
                  <a:srgbClr val="99CCFF"/>
                </a:fgClr>
                <a:bgClr>
                  <a:schemeClr val="bg1"/>
                </a:bgClr>
              </a:patt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>
                  <a:lnSpc>
                    <a:spcPct val="60000"/>
                  </a:lnSpc>
                </a:pPr>
                <a:endParaRPr lang="zh-CN" altLang="zh-CN" sz="18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7" name="Text Box 233"/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7237341" y="3429893"/>
                <a:ext cx="1188000" cy="14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p>
                <a:pPr>
                  <a:lnSpc>
                    <a:spcPct val="80000"/>
                  </a:lnSpc>
                </a:pPr>
                <a:r>
                  <a:rPr lang="en-US" altLang="zh-CN" sz="1600" b="1" dirty="0" smtClean="0">
                    <a:latin typeface="Times New Roman" panose="02020603050405020304"/>
                  </a:rPr>
                  <a:t>…</a:t>
                </a:r>
                <a:r>
                  <a:rPr lang="en-US" altLang="zh-CN" sz="1600" b="1" dirty="0" smtClean="0">
                    <a:latin typeface="宋体" panose="02010600030101010101" pitchFamily="2" charset="-122"/>
                  </a:rPr>
                  <a:t>      </a:t>
                </a:r>
                <a:r>
                  <a:rPr lang="en-US" altLang="zh-CN" sz="1600" b="1" dirty="0" smtClean="0">
                    <a:latin typeface="Times New Roman" panose="02020603050405020304"/>
                  </a:rPr>
                  <a:t>…</a:t>
                </a:r>
                <a:endParaRPr lang="en-US" altLang="zh-CN" sz="16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8" name="Text Box 222"/>
              <p:cNvSpPr txBox="1"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6732240" y="3609933"/>
                <a:ext cx="288925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/>
                <a:r>
                  <a:rPr lang="en-US" altLang="zh-CN" sz="1400" b="1" dirty="0" smtClean="0">
                    <a:latin typeface="宋体" panose="02010600030101010101" pitchFamily="2" charset="-122"/>
                  </a:rPr>
                  <a:t>R3</a:t>
                </a:r>
                <a:endParaRPr lang="en-US" altLang="zh-CN" sz="14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9" name="Text Box 230" descr="宽上对角线"/>
              <p:cNvSpPr txBox="1"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7019875" y="3609933"/>
                <a:ext cx="1584000" cy="180000"/>
              </a:xfrm>
              <a:prstGeom prst="rect">
                <a:avLst/>
              </a:prstGeom>
              <a:pattFill prst="wdUpDiag">
                <a:fgClr>
                  <a:srgbClr val="99CCFF"/>
                </a:fgClr>
                <a:bgClr>
                  <a:schemeClr val="bg1"/>
                </a:bgClr>
              </a:patt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>
                  <a:lnSpc>
                    <a:spcPct val="60000"/>
                  </a:lnSpc>
                </a:pPr>
                <a:endParaRPr lang="zh-CN" altLang="zh-CN" sz="18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0" name="Text Box 222"/>
              <p:cNvSpPr txBox="1"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6732240" y="3825957"/>
                <a:ext cx="288925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/>
                <a:r>
                  <a:rPr lang="en-US" altLang="zh-CN" sz="1400" b="1" dirty="0" smtClean="0">
                    <a:latin typeface="宋体" panose="02010600030101010101" pitchFamily="2" charset="-122"/>
                  </a:rPr>
                  <a:t>R4</a:t>
                </a:r>
                <a:endParaRPr lang="en-US" altLang="zh-CN" sz="14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1" name="Text Box 230" descr="宽上对角线"/>
              <p:cNvSpPr txBox="1"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7021165" y="3825957"/>
                <a:ext cx="1584000" cy="180000"/>
              </a:xfrm>
              <a:prstGeom prst="rect">
                <a:avLst/>
              </a:prstGeom>
              <a:pattFill prst="wdUpDiag">
                <a:fgClr>
                  <a:srgbClr val="99CCFF"/>
                </a:fgClr>
                <a:bgClr>
                  <a:schemeClr val="bg1"/>
                </a:bgClr>
              </a:patt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>
                  <a:lnSpc>
                    <a:spcPct val="60000"/>
                  </a:lnSpc>
                </a:pPr>
                <a:endParaRPr lang="zh-CN" altLang="zh-CN" sz="16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2" name="Text Box 233"/>
              <p:cNvSpPr txBox="1"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7237341" y="3968494"/>
                <a:ext cx="1188000" cy="17713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p>
                <a:pPr>
                  <a:lnSpc>
                    <a:spcPct val="80000"/>
                  </a:lnSpc>
                </a:pPr>
                <a:r>
                  <a:rPr lang="en-US" altLang="zh-CN" sz="1600" b="1" dirty="0" smtClean="0">
                    <a:latin typeface="Times New Roman" panose="02020603050405020304"/>
                  </a:rPr>
                  <a:t>…</a:t>
                </a:r>
                <a:r>
                  <a:rPr lang="en-US" altLang="zh-CN" sz="1600" b="1" dirty="0" smtClean="0">
                    <a:latin typeface="宋体" panose="02010600030101010101" pitchFamily="2" charset="-122"/>
                  </a:rPr>
                  <a:t>      </a:t>
                </a:r>
                <a:r>
                  <a:rPr lang="en-US" altLang="zh-CN" sz="1600" b="1" dirty="0" smtClean="0">
                    <a:latin typeface="Times New Roman" panose="02020603050405020304"/>
                  </a:rPr>
                  <a:t>…</a:t>
                </a:r>
                <a:endParaRPr lang="en-US" altLang="zh-CN" sz="16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3" name="Text Box 222"/>
              <p:cNvSpPr txBox="1"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6732240" y="4149973"/>
                <a:ext cx="288925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/>
                <a:r>
                  <a:rPr lang="en-US" altLang="zh-CN" sz="1400" b="1" dirty="0" smtClean="0">
                    <a:latin typeface="宋体" panose="02010600030101010101" pitchFamily="2" charset="-122"/>
                  </a:rPr>
                  <a:t>R7</a:t>
                </a:r>
                <a:endParaRPr lang="en-US" altLang="zh-CN" sz="14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4" name="Text Box 230" descr="宽上对角线"/>
              <p:cNvSpPr txBox="1"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7019875" y="4149973"/>
                <a:ext cx="1584000" cy="180000"/>
              </a:xfrm>
              <a:prstGeom prst="rect">
                <a:avLst/>
              </a:prstGeom>
              <a:pattFill prst="wdUpDiag">
                <a:fgClr>
                  <a:srgbClr val="99CCFF"/>
                </a:fgClr>
                <a:bgClr>
                  <a:schemeClr val="bg1"/>
                </a:bgClr>
              </a:patt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>
                  <a:lnSpc>
                    <a:spcPct val="60000"/>
                  </a:lnSpc>
                </a:pPr>
                <a:endParaRPr lang="zh-CN" altLang="zh-CN" sz="1800" b="1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5" name="Text Box 213"/>
              <p:cNvSpPr txBox="1"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7020360" y="3609040"/>
                <a:ext cx="792000" cy="180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 smtClean="0">
                    <a:latin typeface="宋体" panose="02010600030101010101" pitchFamily="2" charset="-122"/>
                  </a:rPr>
                  <a:t>地址</a:t>
                </a:r>
                <a:r>
                  <a:rPr lang="en-US" altLang="zh-CN" sz="1400" b="1" dirty="0" smtClean="0">
                    <a:latin typeface="宋体" panose="02010600030101010101" pitchFamily="2" charset="-122"/>
                  </a:rPr>
                  <a:t>=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111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6" name="Text Box 213"/>
              <p:cNvSpPr txBox="1"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7813165" y="3609040"/>
                <a:ext cx="792000" cy="180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 smtClean="0">
                    <a:latin typeface="宋体" panose="02010600030101010101" pitchFamily="2" charset="-122"/>
                  </a:rPr>
                  <a:t>地址</a:t>
                </a:r>
                <a:r>
                  <a:rPr lang="en-US" altLang="zh-CN" sz="1400" b="1" dirty="0" smtClean="0">
                    <a:latin typeface="宋体" panose="02010600030101010101" pitchFamily="2" charset="-122"/>
                  </a:rPr>
                  <a:t>=110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7" name="Text Box 213"/>
              <p:cNvSpPr txBox="1"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7813165" y="3284984"/>
                <a:ext cx="792000" cy="180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 smtClean="0">
                    <a:latin typeface="宋体" panose="02010600030101010101" pitchFamily="2" charset="-122"/>
                  </a:rPr>
                  <a:t>地址</a:t>
                </a:r>
                <a:r>
                  <a:rPr lang="en-US" altLang="zh-CN" sz="1400" b="1" dirty="0" smtClean="0">
                    <a:latin typeface="宋体" panose="02010600030101010101" pitchFamily="2" charset="-122"/>
                  </a:rPr>
                  <a:t>=00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0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8" name="Text Box 213"/>
              <p:cNvSpPr txBox="1"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7020360" y="3284984"/>
                <a:ext cx="792000" cy="180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 smtClean="0">
                    <a:latin typeface="宋体" panose="02010600030101010101" pitchFamily="2" charset="-122"/>
                  </a:rPr>
                  <a:t>地址</a:t>
                </a:r>
                <a:r>
                  <a:rPr lang="en-US" altLang="zh-CN" sz="1400" b="1" dirty="0" smtClean="0">
                    <a:latin typeface="宋体" panose="02010600030101010101" pitchFamily="2" charset="-122"/>
                  </a:rPr>
                  <a:t>=001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59" name="Text Box 222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6732239" y="4103448"/>
              <a:ext cx="324000" cy="26165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或</a:t>
              </a:r>
              <a:endParaRPr lang="en-US" altLang="zh-CN" sz="1800" b="1" baseline="-20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773586" y="4792712"/>
            <a:ext cx="2953171" cy="504032"/>
            <a:chOff x="395536" y="5315409"/>
            <a:chExt cx="2953171" cy="504032"/>
          </a:xfrm>
        </p:grpSpPr>
        <p:sp>
          <p:nvSpPr>
            <p:cNvPr id="114" name="Text Box 278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043657" y="5315409"/>
              <a:ext cx="1296988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0010(32b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加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5" name="Text Box 280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2340644" y="5315409"/>
              <a:ext cx="1008063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000  001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" name="直接连接符 6"/>
            <p:cNvCxnSpPr/>
            <p:nvPr>
              <p:custDataLst>
                <p:tags r:id="rId44"/>
              </p:custDataLst>
            </p:nvPr>
          </p:nvCxnSpPr>
          <p:spPr bwMode="auto">
            <a:xfrm>
              <a:off x="2843808" y="5315409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6" name="Text Box 278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043608" y="5603441"/>
              <a:ext cx="1296988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0111(16b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减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7" name="Text Box 280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2340595" y="5603441"/>
              <a:ext cx="1008063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110  111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8" name="直接连接符 117"/>
            <p:cNvCxnSpPr/>
            <p:nvPr>
              <p:custDataLst>
                <p:tags r:id="rId47"/>
              </p:custDataLst>
            </p:nvPr>
          </p:nvCxnSpPr>
          <p:spPr bwMode="auto">
            <a:xfrm>
              <a:off x="2843759" y="5603441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9" name="Text Box 222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395536" y="5318780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i: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0" name="Text Box 222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395536" y="5589264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j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: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752321" y="5877855"/>
            <a:ext cx="2161100" cy="468000"/>
            <a:chOff x="2436416" y="2003413"/>
            <a:chExt cx="2161100" cy="468000"/>
          </a:xfrm>
        </p:grpSpPr>
        <p:sp>
          <p:nvSpPr>
            <p:cNvPr id="86" name="Text Box 278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2436416" y="2003413"/>
              <a:ext cx="1296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OPi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含</a:t>
              </a:r>
              <a:r>
                <a:rPr lang="en-US" altLang="zh-CN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w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8" name="Text Box 280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3732860" y="2003413"/>
              <a:ext cx="864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xxx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4" name="Text Box 287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2437516" y="2255413"/>
              <a:ext cx="21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w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表示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长度，可隐含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</p:grpSp>
      <p:cxnSp>
        <p:nvCxnSpPr>
          <p:cNvPr id="4" name="直接连接符 3"/>
          <p:cNvCxnSpPr/>
          <p:nvPr/>
        </p:nvCxnSpPr>
        <p:spPr bwMode="auto">
          <a:xfrm flipH="1">
            <a:off x="3744000" y="2420915"/>
            <a:ext cx="1368425" cy="1447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0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590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6592" name="Text Box 4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070" y="360045"/>
            <a:ext cx="8732520" cy="899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、数据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中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的存放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背景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数据有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多种长度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单元长度＝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最短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数据长度</a:t>
            </a:r>
            <a:endParaRPr lang="zh-CN" sz="16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190590" name="Text Box 126"/>
          <p:cNvSpPr txBox="1">
            <a:spLocks noChangeArrowheads="1"/>
          </p:cNvSpPr>
          <p:nvPr/>
        </p:nvSpPr>
        <p:spPr bwMode="auto">
          <a:xfrm>
            <a:off x="179705" y="1196975"/>
            <a:ext cx="4523105" cy="390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存放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方式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长度及地址的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表示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数据长度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         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数据地址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存放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方式的属性：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端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对齐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83" name="Text Box 205"/>
          <p:cNvSpPr txBox="1">
            <a:spLocks noChangeArrowheads="1"/>
          </p:cNvSpPr>
          <p:nvPr/>
        </p:nvSpPr>
        <p:spPr bwMode="auto">
          <a:xfrm>
            <a:off x="1620000" y="1195070"/>
            <a:ext cx="7300595" cy="41617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存放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在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连续的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存储单元中</a:t>
            </a:r>
            <a:endParaRPr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spc="-100" dirty="0" smtClean="0">
                <a:latin typeface="宋体" panose="02010600030101010101" pitchFamily="2" charset="-122"/>
                <a:sym typeface="+mn-ea"/>
              </a:rPr>
              <a:t>                      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由</a:t>
            </a:r>
            <a:r>
              <a:rPr lang="zh-CN" altLang="en-US" sz="2200" b="1" spc="-10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操作码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指明</a:t>
            </a:r>
            <a:r>
              <a:rPr lang="en-US" sz="1800" b="1" spc="-100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  <a:sym typeface="+mn-ea"/>
              </a:rPr>
              <a:t>同</a:t>
            </a:r>
            <a:r>
              <a:rPr lang="en-US" altLang="zh-CN" sz="1800" b="1" spc="-100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1800" b="1" spc="-100" dirty="0">
                <a:latin typeface="宋体" panose="02010600030101010101" pitchFamily="2" charset="-122"/>
                <a:sym typeface="+mn-ea"/>
              </a:rPr>
              <a:t>数据长度</a:t>
            </a:r>
            <a:r>
              <a:rPr lang="en-US" sz="1800" b="1" spc="-100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spc="-100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spc="-100" dirty="0" smtClean="0">
                <a:latin typeface="宋体" panose="02010600030101010101" pitchFamily="2" charset="-122"/>
                <a:sym typeface="+mn-ea"/>
              </a:rPr>
              <a:t>                  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最小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单元地址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(N)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表示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包括端序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dirty="0" smtClean="0">
                <a:latin typeface="+mn-lt"/>
                <a:sym typeface="+mn-ea"/>
              </a:rPr>
              <a:t>Endian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、对齐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dirty="0" smtClean="0">
                <a:latin typeface="+mn-lt"/>
                <a:sym typeface="+mn-ea"/>
              </a:rPr>
              <a:t>Alignment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存放时的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字节顺序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即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中内容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，有大端、小端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种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                                   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(</a:t>
            </a:r>
            <a:r>
              <a:rPr lang="zh-CN" sz="16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任选一种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spc="-100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spc="-100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存放时的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位置限制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即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的取值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 smtClean="0">
                <a:sym typeface="+mn-ea"/>
              </a:rPr>
              <a:t>有</a:t>
            </a:r>
            <a:r>
              <a:rPr lang="zh-CN" altLang="en-US" sz="2200" b="1" dirty="0">
                <a:sym typeface="+mn-ea"/>
              </a:rPr>
              <a:t>不</a:t>
            </a:r>
            <a:r>
              <a:rPr lang="zh-CN" altLang="en-US" sz="2200" b="1" dirty="0" smtClean="0">
                <a:sym typeface="+mn-ea"/>
              </a:rPr>
              <a:t>对齐、对齐</a:t>
            </a: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2</a:t>
            </a:r>
            <a:r>
              <a:rPr lang="zh-CN" altLang="en-US" sz="2200" b="1" dirty="0" smtClean="0">
                <a:sym typeface="+mn-ea"/>
              </a:rPr>
              <a:t>种</a:t>
            </a:r>
            <a:endParaRPr lang="zh-CN" altLang="en-US" sz="2200" b="1" dirty="0" smtClean="0"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        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类型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有</a:t>
            </a:r>
            <a:r>
              <a:rPr lang="zh-CN" altLang="en-US" sz="1600" b="1" u="sng" dirty="0">
                <a:latin typeface="宋体" panose="02010600030101010101" pitchFamily="2" charset="-122"/>
                <a:sym typeface="+mn-ea"/>
              </a:rPr>
              <a:t>边界对齐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600" b="1" u="sng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sz="1600" b="1" u="sng" dirty="0">
                <a:latin typeface="宋体" panose="02010600030101010101" pitchFamily="2" charset="-122"/>
                <a:sym typeface="+mn-ea"/>
              </a:rPr>
              <a:t>字节对齐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等←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目前均为对齐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600" b="1" spc="-100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162800" y="690245"/>
            <a:ext cx="1367790" cy="1007110"/>
            <a:chOff x="5329" y="6463"/>
            <a:chExt cx="2154" cy="1586"/>
          </a:xfrm>
        </p:grpSpPr>
        <p:sp>
          <p:nvSpPr>
            <p:cNvPr id="19" name="Text Box 174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896" y="6576"/>
              <a:ext cx="1020" cy="1361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1080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" name="AutoShape 179"/>
            <p:cNvSpPr/>
            <p:nvPr>
              <p:custDataLst>
                <p:tags r:id="rId3"/>
              </p:custDataLst>
            </p:nvPr>
          </p:nvSpPr>
          <p:spPr bwMode="auto">
            <a:xfrm>
              <a:off x="6945" y="6576"/>
              <a:ext cx="142" cy="1361"/>
            </a:xfrm>
            <a:prstGeom prst="rightBrace">
              <a:avLst>
                <a:gd name="adj1" fmla="val 20578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25" name="Text Box 180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143" y="6576"/>
              <a:ext cx="340" cy="136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/>
            <a:p>
              <a:pPr algn="ctr"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数据长度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cxnSp>
          <p:nvCxnSpPr>
            <p:cNvPr id="54" name="直接连接符 53"/>
            <p:cNvCxnSpPr/>
            <p:nvPr>
              <p:custDataLst>
                <p:tags r:id="rId5"/>
              </p:custDataLst>
            </p:nvPr>
          </p:nvCxnSpPr>
          <p:spPr bwMode="auto">
            <a:xfrm flipH="1">
              <a:off x="5896" y="6463"/>
              <a:ext cx="0" cy="158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" name="直接连接符 2"/>
            <p:cNvCxnSpPr/>
            <p:nvPr>
              <p:custDataLst>
                <p:tags r:id="rId6"/>
              </p:custDataLst>
            </p:nvPr>
          </p:nvCxnSpPr>
          <p:spPr bwMode="auto">
            <a:xfrm flipH="1">
              <a:off x="6917" y="6463"/>
              <a:ext cx="0" cy="158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" name="直接连接符 3"/>
            <p:cNvCxnSpPr/>
            <p:nvPr>
              <p:custDataLst>
                <p:tags r:id="rId7"/>
              </p:custDataLst>
            </p:nvPr>
          </p:nvCxnSpPr>
          <p:spPr bwMode="auto">
            <a:xfrm>
              <a:off x="5896" y="6917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直接连接符 4"/>
            <p:cNvCxnSpPr/>
            <p:nvPr>
              <p:custDataLst>
                <p:tags r:id="rId8"/>
              </p:custDataLst>
            </p:nvPr>
          </p:nvCxnSpPr>
          <p:spPr bwMode="auto">
            <a:xfrm>
              <a:off x="5896" y="7257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直接连接符 5"/>
            <p:cNvCxnSpPr/>
            <p:nvPr>
              <p:custDataLst>
                <p:tags r:id="rId9"/>
              </p:custDataLst>
            </p:nvPr>
          </p:nvCxnSpPr>
          <p:spPr bwMode="auto">
            <a:xfrm>
              <a:off x="5896" y="7597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Text Box 17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329" y="6576"/>
              <a:ext cx="567" cy="136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795" rIns="18000" bIns="1080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N</a:t>
              </a:r>
              <a:endParaRPr lang="en-US" altLang="zh-CN" sz="1600" b="1" baseline="-18000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N+1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N+2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N+3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259905" y="3348000"/>
            <a:ext cx="2988320" cy="1233905"/>
            <a:chOff x="7653" y="7767"/>
            <a:chExt cx="4706" cy="1943"/>
          </a:xfrm>
        </p:grpSpPr>
        <p:sp>
          <p:nvSpPr>
            <p:cNvPr id="12" name="Text Box 174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8617" y="7880"/>
              <a:ext cx="1020" cy="1361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1080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baseline="-25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3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baseline="-25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2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baseline="-25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baseline="-25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600" b="1" baseline="-25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8617" y="7767"/>
              <a:ext cx="0" cy="158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9638" y="7767"/>
              <a:ext cx="0" cy="158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14"/>
              </p:custDataLst>
            </p:nvPr>
          </p:nvCxnSpPr>
          <p:spPr bwMode="auto">
            <a:xfrm>
              <a:off x="8617" y="8221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>
              <p:custDataLst>
                <p:tags r:id="rId15"/>
              </p:custDataLst>
            </p:nvPr>
          </p:nvCxnSpPr>
          <p:spPr bwMode="auto">
            <a:xfrm>
              <a:off x="8617" y="8561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/>
            <p:cNvCxnSpPr/>
            <p:nvPr>
              <p:custDataLst>
                <p:tags r:id="rId16"/>
              </p:custDataLst>
            </p:nvPr>
          </p:nvCxnSpPr>
          <p:spPr bwMode="auto">
            <a:xfrm>
              <a:off x="8617" y="8901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Text Box 174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050" y="7880"/>
              <a:ext cx="567" cy="136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795" rIns="18000" bIns="1080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N</a:t>
              </a:r>
              <a:endParaRPr lang="en-US" altLang="zh-CN" sz="1600" b="1" baseline="-18000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N+1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N+2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N+3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" name="Text Box 133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653" y="9370"/>
              <a:ext cx="272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大端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方式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(N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～</a:t>
              </a:r>
              <a:r>
                <a:rPr lang="en-US" altLang="zh-CN" sz="1600" b="1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MSB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2" name="Text Box 133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0885" y="7880"/>
              <a:ext cx="147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数据地址</a:t>
              </a:r>
              <a:endParaRPr 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20"/>
              </p:custDataLst>
            </p:nvPr>
          </p:nvCxnSpPr>
          <p:spPr bwMode="auto">
            <a:xfrm flipH="1">
              <a:off x="9695" y="8050"/>
              <a:ext cx="113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35" name="组合 34"/>
          <p:cNvGrpSpPr/>
          <p:nvPr/>
        </p:nvGrpSpPr>
        <p:grpSpPr>
          <a:xfrm>
            <a:off x="4247900" y="3348000"/>
            <a:ext cx="2160270" cy="1233805"/>
            <a:chOff x="6948" y="7767"/>
            <a:chExt cx="3402" cy="1943"/>
          </a:xfrm>
        </p:grpSpPr>
        <p:sp>
          <p:nvSpPr>
            <p:cNvPr id="36" name="Text Box 174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8617" y="7880"/>
              <a:ext cx="1020" cy="1361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0" rIns="18000" bIns="1080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baseline="-25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baseline="-25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baseline="-25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2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baseline="-25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3</a:t>
              </a:r>
              <a:endParaRPr lang="en-US" altLang="zh-CN" sz="1600" b="1" baseline="-25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7" name="直接连接符 36"/>
            <p:cNvCxnSpPr/>
            <p:nvPr>
              <p:custDataLst>
                <p:tags r:id="rId22"/>
              </p:custDataLst>
            </p:nvPr>
          </p:nvCxnSpPr>
          <p:spPr bwMode="auto">
            <a:xfrm flipH="1">
              <a:off x="8617" y="7767"/>
              <a:ext cx="0" cy="158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9638" y="7767"/>
              <a:ext cx="0" cy="158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连接符 38"/>
            <p:cNvCxnSpPr/>
            <p:nvPr>
              <p:custDataLst>
                <p:tags r:id="rId24"/>
              </p:custDataLst>
            </p:nvPr>
          </p:nvCxnSpPr>
          <p:spPr bwMode="auto">
            <a:xfrm>
              <a:off x="8617" y="8221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>
              <p:custDataLst>
                <p:tags r:id="rId25"/>
              </p:custDataLst>
            </p:nvPr>
          </p:nvCxnSpPr>
          <p:spPr bwMode="auto">
            <a:xfrm>
              <a:off x="8617" y="8561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接连接符 40"/>
            <p:cNvCxnSpPr/>
            <p:nvPr>
              <p:custDataLst>
                <p:tags r:id="rId26"/>
              </p:custDataLst>
            </p:nvPr>
          </p:nvCxnSpPr>
          <p:spPr bwMode="auto">
            <a:xfrm>
              <a:off x="8617" y="8901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Text Box 174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8050" y="7880"/>
              <a:ext cx="567" cy="136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795" rIns="18000" bIns="1080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N</a:t>
              </a:r>
              <a:endParaRPr lang="en-US" altLang="zh-CN" sz="1600" b="1" baseline="-18000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N+1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N+2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N+3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3" name="Text Box 133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7629" y="9370"/>
              <a:ext cx="272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小端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方式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(N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～</a:t>
              </a:r>
              <a:r>
                <a:rPr lang="en-US" altLang="zh-CN" sz="1600" b="1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L</a:t>
              </a:r>
              <a:r>
                <a:rPr lang="en-US" altLang="zh-CN" sz="1600" b="1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SB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45" name="直接连接符 44"/>
            <p:cNvCxnSpPr/>
            <p:nvPr>
              <p:custDataLst>
                <p:tags r:id="rId29"/>
              </p:custDataLst>
            </p:nvPr>
          </p:nvCxnSpPr>
          <p:spPr bwMode="auto">
            <a:xfrm>
              <a:off x="6948" y="8050"/>
              <a:ext cx="102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51" name="Text Box 145"/>
          <p:cNvSpPr txBox="1">
            <a:spLocks noChangeArrowheads="1"/>
          </p:cNvSpPr>
          <p:nvPr/>
        </p:nvSpPr>
        <p:spPr bwMode="auto">
          <a:xfrm>
            <a:off x="6300470" y="3724910"/>
            <a:ext cx="2448000" cy="504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36195" tIns="10800" rIns="18000" bIns="10800" anchor="ctr"/>
          <a:p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MSB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600" dirty="0" smtClean="0">
                <a:solidFill>
                  <a:schemeClr val="tx1"/>
                </a:solidFill>
                <a:latin typeface="+mn-lt"/>
              </a:rPr>
              <a:t>Most Significant B</a:t>
            </a:r>
            <a:r>
              <a:rPr lang="en-US" altLang="zh-CN" sz="1600" dirty="0" smtClean="0">
                <a:latin typeface="+mn-lt"/>
              </a:rPr>
              <a:t>yte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LSB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600" dirty="0" smtClean="0">
                <a:solidFill>
                  <a:schemeClr val="tx1"/>
                </a:solidFill>
                <a:latin typeface="+mn-lt"/>
              </a:rPr>
              <a:t>Least </a:t>
            </a:r>
            <a:r>
              <a:rPr lang="en-US" altLang="zh-CN" sz="1600" dirty="0">
                <a:solidFill>
                  <a:schemeClr val="tx1"/>
                </a:solidFill>
                <a:latin typeface="+mn-lt"/>
              </a:rPr>
              <a:t>Significant By</a:t>
            </a:r>
            <a:r>
              <a:rPr lang="en-US" altLang="zh-CN" sz="1600" dirty="0">
                <a:latin typeface="+mn-lt"/>
              </a:rPr>
              <a:t>te</a:t>
            </a:r>
            <a:endParaRPr lang="en-US" altLang="zh-CN" sz="1600" b="1" dirty="0" smtClean="0">
              <a:latin typeface="+mn-lt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2739390" y="3822065"/>
            <a:ext cx="1800860" cy="467995"/>
            <a:chOff x="6461" y="8731"/>
            <a:chExt cx="2836" cy="737"/>
          </a:xfrm>
        </p:grpSpPr>
        <p:sp>
          <p:nvSpPr>
            <p:cNvPr id="49" name="Text Box 142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461" y="8731"/>
              <a:ext cx="1020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>
                  <a:latin typeface="宋体" panose="02010600030101010101" pitchFamily="2" charset="-122"/>
                </a:rPr>
                <a:t>数据：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0" name="Text Box 144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7483" y="8731"/>
              <a:ext cx="1814" cy="397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B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B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B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0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57" name="直接连接符 56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7937" y="8731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直接连接符 57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8391" y="8731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直接连接符 58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8844" y="8731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0" name="Text Box 142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7483" y="9128"/>
              <a:ext cx="181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dist"/>
              <a:r>
                <a:rPr lang="en-US" altLang="zh-CN" sz="14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MSB      LSB</a:t>
              </a:r>
              <a:endParaRPr lang="en-US" altLang="zh-CN" sz="1400" b="1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1" name="直接连接符 60"/>
            <p:cNvCxnSpPr/>
            <p:nvPr>
              <p:custDataLst>
                <p:tags r:id="rId36"/>
              </p:custDataLst>
            </p:nvPr>
          </p:nvCxnSpPr>
          <p:spPr bwMode="auto">
            <a:xfrm>
              <a:off x="8050" y="9298"/>
              <a:ext cx="73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63" name="组合 62"/>
          <p:cNvGrpSpPr/>
          <p:nvPr/>
        </p:nvGrpSpPr>
        <p:grpSpPr>
          <a:xfrm>
            <a:off x="1404000" y="5292000"/>
            <a:ext cx="3456000" cy="1116171"/>
            <a:chOff x="-57" y="7143"/>
            <a:chExt cx="5443" cy="1758"/>
          </a:xfrm>
        </p:grpSpPr>
        <p:sp>
          <p:nvSpPr>
            <p:cNvPr id="64" name="Text Box 6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871" y="7143"/>
              <a:ext cx="24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多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体交叉存储器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5" name="Text Box 7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-57" y="7200"/>
              <a:ext cx="907" cy="170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dirty="0">
                  <a:latin typeface="+mn-lt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0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7</a:t>
              </a:r>
              <a:r>
                <a:rPr lang="en-US" altLang="zh-CN" sz="1600" b="1" dirty="0">
                  <a:latin typeface="+mn-lt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4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11</a:t>
              </a:r>
              <a:r>
                <a:rPr lang="en-US" altLang="zh-CN" sz="1600" b="1" dirty="0">
                  <a:latin typeface="+mn-lt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8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15</a:t>
              </a:r>
              <a:r>
                <a:rPr lang="en-US" altLang="zh-CN" sz="1600" b="1" dirty="0">
                  <a:latin typeface="+mn-lt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12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6" name="Text Box 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850" y="7540"/>
              <a:ext cx="113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C(N=3)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7" name="Text Box 9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252" y="7540"/>
              <a:ext cx="1134" cy="3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A(N=0)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8" name="Text Box 10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984" y="7540"/>
              <a:ext cx="2268" cy="3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latin typeface="宋体" panose="02010600030101010101" pitchFamily="2" charset="-122"/>
                </a:rPr>
                <a:t>B(N=1)</a:t>
              </a:r>
              <a:endParaRPr lang="en-US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99" name="Text Box 11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984" y="7880"/>
              <a:ext cx="3402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续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00" name="Text Box 12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850" y="7880"/>
              <a:ext cx="113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D(N=7)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01" name="Text Box 13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4252" y="8220"/>
              <a:ext cx="113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D(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续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02" name="Text Box 14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3118" y="8220"/>
              <a:ext cx="1134" cy="3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E(N=9)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03" name="Text Box 15" descr="宽上对角线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850" y="8561"/>
              <a:ext cx="1134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104" name="Text Box 16" descr="宽上对角线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3118" y="8561"/>
              <a:ext cx="1134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105" name="Text Box 17" descr="宽上对角线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1984" y="8561"/>
              <a:ext cx="1134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106" name="Text Box 18" descr="宽上对角线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4252" y="8561"/>
              <a:ext cx="1134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107" name="Text Box 19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850" y="8220"/>
              <a:ext cx="2268" cy="3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F(N=10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5076000" y="5292000"/>
            <a:ext cx="3456000" cy="1116171"/>
            <a:chOff x="-57" y="7143"/>
            <a:chExt cx="5443" cy="1758"/>
          </a:xfrm>
        </p:grpSpPr>
        <p:sp>
          <p:nvSpPr>
            <p:cNvPr id="67" name="Text Box 6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1871" y="7143"/>
              <a:ext cx="24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多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体交叉存储器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68" name="Text Box 7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-57" y="7200"/>
              <a:ext cx="907" cy="170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3</a:t>
              </a:r>
              <a:r>
                <a:rPr lang="en-US" altLang="zh-CN" sz="1600" b="1" dirty="0">
                  <a:latin typeface="+mn-lt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0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7</a:t>
              </a:r>
              <a:r>
                <a:rPr lang="en-US" altLang="zh-CN" sz="1600" b="1" dirty="0">
                  <a:latin typeface="+mn-lt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4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11</a:t>
              </a:r>
              <a:r>
                <a:rPr lang="en-US" altLang="zh-CN" sz="1600" b="1" dirty="0">
                  <a:latin typeface="+mn-lt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8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15</a:t>
              </a:r>
              <a:r>
                <a:rPr lang="en-US" altLang="zh-CN" sz="1600" b="1" dirty="0">
                  <a:latin typeface="+mn-lt"/>
                </a:rPr>
                <a:t>~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12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9" name="Text Box 9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4252" y="7540"/>
              <a:ext cx="1134" cy="3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A(N=0)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70" name="Text Box 10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850" y="7540"/>
              <a:ext cx="2268" cy="3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latin typeface="宋体" panose="02010600030101010101" pitchFamily="2" charset="-122"/>
                </a:rPr>
                <a:t>B(N=2)</a:t>
              </a:r>
              <a:endParaRPr lang="en-US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71" name="Text Box 11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850" y="7880"/>
              <a:ext cx="4536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C(N=4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73" name="Text Box 13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118" y="8220"/>
              <a:ext cx="2268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D(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续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74" name="Text Box 14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1984" y="8220"/>
              <a:ext cx="1134" cy="3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spc="-5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E(N=10)</a:t>
              </a:r>
              <a:endParaRPr lang="en-US" altLang="zh-CN" sz="1600" b="1" spc="-50" baseline="-20000" dirty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5" name="Text Box 15" descr="宽上对角线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850" y="8561"/>
              <a:ext cx="1134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76" name="Text Box 16" descr="宽上对角线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850" y="8220"/>
              <a:ext cx="1134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77" name="Text Box 17" descr="宽上对角线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1984" y="8561"/>
              <a:ext cx="1134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78" name="Text Box 18" descr="宽上对角线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3118" y="7540"/>
              <a:ext cx="1134" cy="34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zh-CN" sz="1600" b="1" baseline="-20000">
                <a:latin typeface="宋体" panose="02010600030101010101" pitchFamily="2" charset="-122"/>
              </a:endParaRPr>
            </a:p>
          </p:txBody>
        </p:sp>
        <p:sp>
          <p:nvSpPr>
            <p:cNvPr id="79" name="Text Box 19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3118" y="8561"/>
              <a:ext cx="2268" cy="3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F(N=12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63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0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0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0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05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90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05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238625" name="Text Box 33"/>
          <p:cNvSpPr txBox="1">
            <a:spLocks noChangeArrowheads="1"/>
          </p:cNvSpPr>
          <p:nvPr/>
        </p:nvSpPr>
        <p:spPr bwMode="auto">
          <a:xfrm>
            <a:off x="179512" y="360000"/>
            <a:ext cx="8785100" cy="1706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4216400" indent="-4216400" eaLnBrk="1" latinLnBrk="0" hangingPunct="1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边界对齐方式：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N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k</a:t>
            </a:r>
            <a:r>
              <a:rPr lang="en-US" altLang="zh-CN" sz="22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sz="2200" b="1" dirty="0">
                <a:latin typeface="宋体" panose="02010600030101010101" pitchFamily="2" charset="-122"/>
              </a:rPr>
              <a:t>数据长度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所占单元数</a:t>
            </a:r>
            <a:r>
              <a:rPr lang="en-US" altLang="zh-CN" sz="1600" b="1" dirty="0">
                <a:latin typeface="宋体" panose="02010600030101010101" pitchFamily="2" charset="-122"/>
              </a:rPr>
              <a:t>S)</a:t>
            </a: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1600" b="1" dirty="0">
                <a:latin typeface="宋体" panose="02010600030101010101" pitchFamily="2" charset="-122"/>
              </a:rPr>
              <a:t>←即</a:t>
            </a:r>
            <a:r>
              <a:rPr lang="en-US" altLang="zh-CN" sz="1600" b="1" dirty="0">
                <a:latin typeface="宋体" panose="02010600030101010101" pitchFamily="2" charset="-122"/>
              </a:rPr>
              <a:t>N</a:t>
            </a:r>
            <a:r>
              <a:rPr lang="zh-CN" altLang="en-US" sz="1600" b="1" dirty="0">
                <a:latin typeface="宋体" panose="02010600030101010101" pitchFamily="2" charset="-122"/>
              </a:rPr>
              <a:t>的低</a:t>
            </a:r>
            <a:r>
              <a:rPr lang="en-US" altLang="zh-CN" sz="1600" b="1" dirty="0">
                <a:latin typeface="宋体" panose="02010600030101010101" pitchFamily="2" charset="-122"/>
              </a:rPr>
              <a:t>log</a:t>
            </a:r>
            <a:r>
              <a:rPr lang="en-US" altLang="zh-CN" sz="1600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sz="1600" b="1" dirty="0">
                <a:latin typeface="宋体" panose="02010600030101010101" pitchFamily="2" charset="-122"/>
              </a:rPr>
              <a:t>S</a:t>
            </a:r>
            <a:r>
              <a:rPr lang="zh-CN" altLang="en-US" sz="1600" b="1" dirty="0">
                <a:latin typeface="宋体" panose="02010600030101010101" pitchFamily="2" charset="-122"/>
              </a:rPr>
              <a:t>位</a:t>
            </a:r>
            <a:r>
              <a:rPr lang="en-US" altLang="zh-CN" sz="1600" b="1" dirty="0">
                <a:latin typeface="宋体" panose="02010600030101010101" pitchFamily="2" charset="-122"/>
              </a:rPr>
              <a:t>=0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4216400" indent="-4216400" eaLnBrk="1" latinLnBrk="0" hangingPunct="1">
              <a:lnSpc>
                <a:spcPct val="125000"/>
              </a:lnSpc>
            </a:pP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4216400" indent="-4216400" eaLnBrk="1" latinLnBrk="0" hangingPunct="1">
              <a:lnSpc>
                <a:spcPct val="125000"/>
              </a:lnSpc>
            </a:pPr>
            <a:endParaRPr lang="en-US" altLang="zh-CN" sz="18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4216400" indent="-4216400" eaLnBrk="1" latinLnBrk="0" hangingPunct="1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4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字节对齐方式：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≤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字节的边界对齐方式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Text Box 56"/>
          <p:cNvSpPr txBox="1">
            <a:spLocks noChangeArrowheads="1"/>
          </p:cNvSpPr>
          <p:nvPr/>
        </p:nvSpPr>
        <p:spPr bwMode="auto">
          <a:xfrm>
            <a:off x="720090" y="3204735"/>
            <a:ext cx="8244205" cy="26917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647065" indent="-64706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例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32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位计算机的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按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字节编址、数据</a:t>
            </a:r>
            <a:r>
              <a:rPr lang="zh-CN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采用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大</a:t>
            </a:r>
            <a:r>
              <a:rPr lang="zh-CN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端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、边界对齐方式</a:t>
            </a:r>
            <a:r>
              <a:rPr lang="zh-CN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存放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。对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语言结构数组：</a:t>
            </a:r>
            <a:r>
              <a:rPr lang="en-US" altLang="zh-CN" sz="18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struct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ST{ char </a:t>
            </a:r>
            <a:r>
              <a:rPr lang="en-US" altLang="zh-CN" sz="18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a;int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b;short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c;} </a:t>
            </a:r>
            <a:r>
              <a:rPr lang="en-US" altLang="zh-CN" sz="18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ss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[20];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若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ss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中的起始地址为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200H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，则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ss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[1].b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的地址是多少</a:t>
            </a:r>
            <a:r>
              <a:rPr lang="zh-CN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zh-CN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解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ss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存放效果如右图，则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 sz="20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为使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ss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各元素都能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边界对齐，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则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sizeof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(ST)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＝常数＝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故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k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 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 Box 56"/>
          <p:cNvSpPr txBox="1">
            <a:spLocks noChangeArrowheads="1"/>
          </p:cNvSpPr>
          <p:nvPr/>
        </p:nvSpPr>
        <p:spPr bwMode="auto">
          <a:xfrm>
            <a:off x="720000" y="2052735"/>
            <a:ext cx="7866380" cy="1183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640715" indent="-64071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若</a:t>
            </a:r>
            <a:r>
              <a:rPr lang="en-US" altLang="zh-CN" sz="2000" b="1" dirty="0" smtClean="0">
                <a:latin typeface="+mn-ea"/>
                <a:ea typeface="+mn-ea"/>
              </a:rPr>
              <a:t>MEM</a:t>
            </a:r>
            <a:r>
              <a:rPr lang="zh-CN" altLang="zh-CN" sz="2000" b="1" dirty="0" smtClean="0">
                <a:latin typeface="+mn-ea"/>
                <a:ea typeface="+mn-ea"/>
              </a:rPr>
              <a:t>按</a:t>
            </a:r>
            <a:r>
              <a:rPr lang="zh-CN" altLang="zh-CN" sz="2000" b="1" dirty="0">
                <a:latin typeface="+mn-ea"/>
                <a:ea typeface="+mn-ea"/>
              </a:rPr>
              <a:t>字节编址，数据</a:t>
            </a:r>
            <a:r>
              <a:rPr lang="zh-CN" altLang="zh-CN" sz="2000" b="1" dirty="0" smtClean="0">
                <a:latin typeface="+mn-ea"/>
                <a:ea typeface="+mn-ea"/>
              </a:rPr>
              <a:t>在</a:t>
            </a:r>
            <a:r>
              <a:rPr lang="en-US" altLang="zh-CN" sz="2000" b="1" dirty="0" smtClean="0">
                <a:latin typeface="+mn-ea"/>
                <a:ea typeface="+mn-ea"/>
              </a:rPr>
              <a:t>MEM</a:t>
            </a:r>
            <a:r>
              <a:rPr lang="zh-CN" altLang="zh-CN" sz="2000" b="1" dirty="0" smtClean="0">
                <a:latin typeface="+mn-ea"/>
                <a:ea typeface="+mn-ea"/>
              </a:rPr>
              <a:t>中</a:t>
            </a:r>
            <a:r>
              <a:rPr lang="zh-CN" altLang="zh-CN" sz="2000" b="1" dirty="0">
                <a:latin typeface="+mn-ea"/>
                <a:ea typeface="+mn-ea"/>
              </a:rPr>
              <a:t>采用小端、边界对齐方式存放，</a:t>
            </a:r>
            <a:r>
              <a:rPr lang="zh-CN" altLang="zh-CN" sz="2000" b="1" dirty="0" smtClean="0">
                <a:latin typeface="+mn-ea"/>
                <a:ea typeface="+mn-ea"/>
              </a:rPr>
              <a:t>则</a:t>
            </a:r>
            <a:r>
              <a:rPr lang="en-US" altLang="zh-CN" sz="2000" b="1" dirty="0" smtClean="0">
                <a:latin typeface="+mn-ea"/>
                <a:ea typeface="+mn-ea"/>
              </a:rPr>
              <a:t>2005H#</a:t>
            </a:r>
            <a:r>
              <a:rPr lang="zh-CN" altLang="zh-CN" sz="2000" b="1" dirty="0" smtClean="0">
                <a:latin typeface="+mn-ea"/>
                <a:ea typeface="+mn-ea"/>
              </a:rPr>
              <a:t>单元可存放机器</a:t>
            </a:r>
            <a:r>
              <a:rPr lang="zh-CN" altLang="zh-CN" sz="2000" b="1" dirty="0">
                <a:latin typeface="+mn-ea"/>
                <a:ea typeface="+mn-ea"/>
              </a:rPr>
              <a:t>数</a:t>
            </a:r>
            <a:r>
              <a:rPr lang="en-US" altLang="zh-CN" sz="2000" b="1" dirty="0">
                <a:latin typeface="+mn-ea"/>
                <a:ea typeface="+mn-ea"/>
              </a:rPr>
              <a:t>12345678H</a:t>
            </a:r>
            <a:r>
              <a:rPr lang="zh-CN" altLang="zh-CN" sz="2000" b="1" dirty="0" smtClean="0">
                <a:latin typeface="+mn-ea"/>
                <a:ea typeface="+mn-ea"/>
              </a:rPr>
              <a:t>中哪个</a:t>
            </a:r>
            <a:r>
              <a:rPr lang="zh-CN" altLang="zh-CN" sz="2000" b="1" dirty="0">
                <a:latin typeface="+mn-ea"/>
                <a:ea typeface="+mn-ea"/>
              </a:rPr>
              <a:t>字节</a:t>
            </a:r>
            <a:r>
              <a:rPr lang="zh-CN" altLang="zh-CN" sz="2000" b="1" dirty="0" smtClean="0">
                <a:latin typeface="+mn-ea"/>
                <a:ea typeface="+mn-ea"/>
              </a:rPr>
              <a:t>？</a:t>
            </a:r>
            <a:endParaRPr lang="zh-CN" altLang="zh-CN" sz="20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解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：地址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2005H#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单元存放的是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395220" y="2736735"/>
            <a:ext cx="570801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000" dirty="0" smtClean="0">
                <a:latin typeface="宋体" panose="02010600030101010101" pitchFamily="2" charset="-122"/>
                <a:sym typeface="Symbol" panose="05050102010706020507"/>
              </a:rPr>
              <a:t>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2005H/4</a:t>
            </a:r>
            <a:r>
              <a:rPr lang="en-US" altLang="zh-CN" sz="2000" dirty="0" smtClean="0">
                <a:latin typeface="宋体" panose="02010600030101010101" pitchFamily="2" charset="-122"/>
                <a:sym typeface="Symbol" panose="05050102010706020507"/>
              </a:rPr>
              <a:t></a:t>
            </a:r>
            <a:r>
              <a:rPr lang="zh-CN" altLang="en-US" sz="2000" b="1" dirty="0" smtClean="0">
                <a:latin typeface="宋体" panose="02010600030101010101" pitchFamily="2" charset="-122"/>
                <a:sym typeface="Symbol" panose="05050102010706020507"/>
              </a:rPr>
              <a:t>*</a:t>
            </a:r>
            <a:r>
              <a:rPr lang="en-US" altLang="zh-CN" sz="2000" b="1" dirty="0" smtClean="0">
                <a:latin typeface="宋体" panose="02010600030101010101" pitchFamily="2" charset="-122"/>
                <a:sym typeface="Symbol" panose="05050102010706020507"/>
              </a:rPr>
              <a:t>4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2004H                     56H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908165" y="4562475"/>
            <a:ext cx="1943100" cy="1295400"/>
            <a:chOff x="9071" y="2778"/>
            <a:chExt cx="3060" cy="2040"/>
          </a:xfrm>
        </p:grpSpPr>
        <p:sp>
          <p:nvSpPr>
            <p:cNvPr id="16" name="Text Box 174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9809" y="2778"/>
              <a:ext cx="1304" cy="2041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795" rIns="18000" bIns="1080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ss[0].a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ss[0].b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ss[0].c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ss[1].a</a:t>
              </a:r>
              <a:endParaRPr lang="en-US" altLang="zh-CN" sz="1600" b="1" dirty="0">
                <a:latin typeface="宋体" panose="02010600030101010101" pitchFamily="2" charset="-122"/>
                <a:sym typeface="+mn-ea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ss[1].b</a:t>
              </a:r>
              <a:endParaRPr lang="en-US" altLang="zh-CN" sz="1600" b="1" dirty="0">
                <a:latin typeface="宋体" panose="02010600030101010101" pitchFamily="2" charset="-122"/>
                <a:sym typeface="+mn-ea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ss[1].c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" name="AutoShape 179"/>
            <p:cNvSpPr/>
            <p:nvPr>
              <p:custDataLst>
                <p:tags r:id="rId3"/>
              </p:custDataLst>
            </p:nvPr>
          </p:nvSpPr>
          <p:spPr bwMode="auto">
            <a:xfrm>
              <a:off x="12019" y="2948"/>
              <a:ext cx="113" cy="737"/>
            </a:xfrm>
            <a:prstGeom prst="rightBrace">
              <a:avLst>
                <a:gd name="adj1" fmla="val 20578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63" name="直接连接符 62"/>
            <p:cNvCxnSpPr/>
            <p:nvPr>
              <p:custDataLst>
                <p:tags r:id="rId4"/>
              </p:custDataLst>
            </p:nvPr>
          </p:nvCxnSpPr>
          <p:spPr bwMode="auto">
            <a:xfrm>
              <a:off x="9809" y="3119"/>
              <a:ext cx="130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5"/>
              </p:custDataLst>
            </p:nvPr>
          </p:nvCxnSpPr>
          <p:spPr bwMode="auto">
            <a:xfrm>
              <a:off x="9809" y="3459"/>
              <a:ext cx="130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6"/>
              </p:custDataLst>
            </p:nvPr>
          </p:nvCxnSpPr>
          <p:spPr bwMode="auto">
            <a:xfrm>
              <a:off x="9809" y="3799"/>
              <a:ext cx="130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6" name="Text Box 174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071" y="2778"/>
              <a:ext cx="737" cy="204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795" rIns="18000" bIns="1080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200H</a:t>
              </a:r>
              <a:endPara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p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q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k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x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y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7" name="直接连接符 66"/>
            <p:cNvCxnSpPr/>
            <p:nvPr>
              <p:custDataLst>
                <p:tags r:id="rId8"/>
              </p:custDataLst>
            </p:nvPr>
          </p:nvCxnSpPr>
          <p:spPr bwMode="auto">
            <a:xfrm>
              <a:off x="9808" y="4139"/>
              <a:ext cx="130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9"/>
              </p:custDataLst>
            </p:nvPr>
          </p:nvCxnSpPr>
          <p:spPr bwMode="auto">
            <a:xfrm>
              <a:off x="9808" y="4503"/>
              <a:ext cx="130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9" name="Text Box 17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1169" y="2778"/>
              <a:ext cx="907" cy="204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795" rIns="18000" bIns="1080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char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int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short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char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int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short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0" name="AutoShape 179"/>
            <p:cNvSpPr/>
            <p:nvPr>
              <p:custDataLst>
                <p:tags r:id="rId11"/>
              </p:custDataLst>
            </p:nvPr>
          </p:nvSpPr>
          <p:spPr bwMode="auto">
            <a:xfrm>
              <a:off x="12019" y="3969"/>
              <a:ext cx="113" cy="737"/>
            </a:xfrm>
            <a:prstGeom prst="rightBrace">
              <a:avLst>
                <a:gd name="adj1" fmla="val 20578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</p:grp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2160000" y="4248735"/>
            <a:ext cx="4502150" cy="16300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           204H      208H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m×sizeof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int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208H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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/4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×4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20CH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baseline="-25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210H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Text Box 12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693704" y="5868735"/>
            <a:ext cx="536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为减小所占存储空间，编译程序应如何优化？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555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graphicFrame>
        <p:nvGraphicFramePr>
          <p:cNvPr id="21" name="表格 20"/>
          <p:cNvGraphicFramePr/>
          <p:nvPr>
            <p:custDataLst>
              <p:tags r:id="rId14"/>
            </p:custDataLst>
          </p:nvPr>
        </p:nvGraphicFramePr>
        <p:xfrm>
          <a:off x="1273810" y="864980"/>
          <a:ext cx="7589520" cy="657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950"/>
                <a:gridCol w="348677"/>
                <a:gridCol w="348676"/>
                <a:gridCol w="348676"/>
                <a:gridCol w="348675"/>
                <a:gridCol w="348676"/>
                <a:gridCol w="348676"/>
                <a:gridCol w="348675"/>
                <a:gridCol w="348675"/>
                <a:gridCol w="348676"/>
                <a:gridCol w="348676"/>
                <a:gridCol w="348676"/>
                <a:gridCol w="348676"/>
                <a:gridCol w="348676"/>
                <a:gridCol w="348676"/>
                <a:gridCol w="348674"/>
                <a:gridCol w="348675"/>
                <a:gridCol w="348675"/>
                <a:gridCol w="348676"/>
                <a:gridCol w="348675"/>
                <a:gridCol w="348674"/>
              </a:tblGrid>
              <a:tr h="219075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600" b="1">
                        <a:solidFill>
                          <a:srgbClr val="FF33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600" b="1">
                        <a:solidFill>
                          <a:srgbClr val="FF33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1600" b="1">
                        <a:solidFill>
                          <a:srgbClr val="FF33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19075">
                <a:tc rowSpan="2"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单元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16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16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r>
                        <a:rPr lang="en-US" altLang="zh-CN" sz="16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r>
                        <a:rPr lang="en-US" altLang="zh-CN" sz="16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r>
                        <a:rPr lang="en-US" altLang="zh-CN" sz="16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</a:t>
                      </a:r>
                      <a:r>
                        <a:rPr lang="en-US" altLang="zh-CN" sz="16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3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4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5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6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</a:t>
                      </a:r>
                      <a:r>
                        <a:rPr lang="en-US" altLang="zh-CN" sz="16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7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E</a:t>
                      </a:r>
                      <a:r>
                        <a:rPr lang="en-US" altLang="zh-CN" sz="16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E</a:t>
                      </a:r>
                      <a:r>
                        <a:rPr lang="en-US" altLang="zh-CN" sz="1600" b="1" baseline="-25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</a:tr>
              <a:tr h="219075">
                <a:tc vMerge="1">
                  <a:tcPr marL="0" marR="0" marT="0" marB="0"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 baseline="-250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>
                      <a:solidFill>
                        <a:schemeClr val="tx1"/>
                      </a:solidFill>
                      <a:prstDash val="sysDash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8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56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9225" y="360045"/>
            <a:ext cx="3783330" cy="33997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数据在其他部件中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的存放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*数据在</a:t>
            </a:r>
            <a:r>
              <a:rPr 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IR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中的存放：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背景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存放方式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数据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在堆栈中的存放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背景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存放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6" name="Text Box 35"/>
          <p:cNvSpPr txBox="1">
            <a:spLocks noChangeArrowheads="1"/>
          </p:cNvSpPr>
          <p:nvPr/>
        </p:nvSpPr>
        <p:spPr bwMode="auto">
          <a:xfrm>
            <a:off x="1440000" y="1205865"/>
            <a:ext cx="7557135" cy="2799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数据有</a:t>
            </a:r>
            <a:r>
              <a:rPr lang="zh-CN" altLang="en-US" sz="2000" b="1" u="sng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多种长度</a:t>
            </a: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，常</a:t>
            </a:r>
            <a:r>
              <a:rPr lang="zh-CN" altLang="en-US" sz="20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≤</a:t>
            </a:r>
            <a:r>
              <a:rPr lang="en-US" altLang="zh-CN" sz="20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长度</a:t>
            </a:r>
            <a:r>
              <a:rPr lang="en-US" altLang="zh-CN" sz="20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      </a:t>
            </a:r>
            <a:r>
              <a:rPr lang="zh-CN" altLang="en-US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←便于缩短指令字长</a:t>
            </a:r>
            <a:endParaRPr lang="zh-CN" altLang="en-US" sz="2200" b="1" dirty="0" smtClean="0">
              <a:solidFill>
                <a:schemeClr val="tx1"/>
              </a:solidFill>
              <a:uFillTx/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     </a:t>
            </a:r>
            <a:r>
              <a:rPr lang="zh-CN" altLang="en-US" sz="2200" b="1" u="sng" dirty="0" smtClean="0">
                <a:uFillTx/>
                <a:latin typeface="宋体" panose="02010600030101010101" pitchFamily="2" charset="-122"/>
                <a:sym typeface="+mn-ea"/>
              </a:rPr>
              <a:t>按约定格式</a:t>
            </a:r>
            <a:r>
              <a:rPr lang="zh-CN" altLang="en-US" sz="2200" b="1" dirty="0" smtClean="0">
                <a:uFillTx/>
                <a:latin typeface="宋体" panose="02010600030101010101" pitchFamily="2" charset="-122"/>
                <a:sym typeface="+mn-ea"/>
              </a:rPr>
              <a:t>存放，或</a:t>
            </a:r>
            <a:r>
              <a:rPr lang="zh-CN" altLang="en-US" sz="2200" b="1" u="sng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连续存放</a:t>
            </a:r>
            <a:r>
              <a:rPr lang="en-US" altLang="zh-CN" sz="18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端序同</a:t>
            </a:r>
            <a:r>
              <a:rPr lang="en-US" altLang="zh-CN" sz="18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MEM</a:t>
            </a:r>
            <a:r>
              <a:rPr lang="zh-CN" altLang="en-US" sz="18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、不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对齐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)</a:t>
            </a:r>
            <a:endParaRPr lang="zh-CN" altLang="en-US" sz="2200" b="1" dirty="0" smtClean="0">
              <a:solidFill>
                <a:schemeClr val="tx1"/>
              </a:solidFill>
              <a:uFillTx/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    </a:t>
            </a:r>
            <a:r>
              <a:rPr lang="zh-CN" altLang="en-US" sz="2200" b="1" u="sng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无</a:t>
            </a:r>
            <a:r>
              <a:rPr lang="zh-CN" altLang="en-US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地址</a:t>
            </a:r>
            <a:r>
              <a:rPr lang="en-US" altLang="zh-CN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                  </a:t>
            </a:r>
            <a:r>
              <a:rPr lang="en-US" altLang="zh-CN" sz="20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    </a:t>
            </a:r>
            <a:r>
              <a:rPr lang="zh-CN" altLang="en-US" sz="1600" b="1" dirty="0" smtClean="0">
                <a:latin typeface="+mn-ea"/>
                <a:sym typeface="+mn-ea"/>
              </a:rPr>
              <a:t>←</a:t>
            </a:r>
            <a:r>
              <a:rPr lang="zh-CN" altLang="en-US" sz="1600" b="1" u="sng" dirty="0" smtClean="0">
                <a:uFillTx/>
                <a:latin typeface="宋体" panose="02010600030101010101" pitchFamily="2" charset="-122"/>
                <a:sym typeface="+mn-ea"/>
              </a:rPr>
              <a:t>指令格式已约定</a:t>
            </a:r>
            <a:r>
              <a:rPr lang="zh-CN" altLang="en-US" sz="1600" b="1" dirty="0" smtClean="0">
                <a:uFillTx/>
                <a:latin typeface="宋体" panose="02010600030101010101" pitchFamily="2" charset="-122"/>
                <a:sym typeface="+mn-ea"/>
              </a:rPr>
              <a:t>位置</a:t>
            </a:r>
            <a:endParaRPr lang="zh-CN" altLang="en-US" sz="1600" b="1" dirty="0" smtClean="0">
              <a:solidFill>
                <a:schemeClr val="tx1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chemeClr val="tx1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数据仅</a:t>
            </a:r>
            <a:r>
              <a:rPr lang="zh-CN" altLang="en-US" sz="2000" b="1" u="sng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一种长度</a:t>
            </a: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，常</a:t>
            </a:r>
            <a:r>
              <a:rPr lang="zh-CN" altLang="en-US" sz="20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＝</a:t>
            </a:r>
            <a:r>
              <a:rPr lang="zh-CN" sz="20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机器字长</a:t>
            </a:r>
            <a:r>
              <a:rPr lang="en-US" altLang="zh-CN" sz="20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←应用需求如此，可简化实现</a:t>
            </a:r>
            <a:endParaRPr lang="zh-CN" altLang="en-US" sz="2000" b="1" dirty="0" smtClean="0">
              <a:solidFill>
                <a:schemeClr val="tx1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u="sng" dirty="0" smtClean="0">
                <a:uFillTx/>
                <a:latin typeface="宋体" panose="02010600030101010101" pitchFamily="2" charset="-122"/>
                <a:sym typeface="+mn-ea"/>
              </a:rPr>
              <a:t>连续存放</a:t>
            </a:r>
            <a:r>
              <a:rPr lang="en-US" altLang="zh-CN" sz="1800" b="1" dirty="0" smtClean="0">
                <a:uFillTx/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端序同</a:t>
            </a:r>
            <a:r>
              <a:rPr lang="en-US" altLang="zh-CN" sz="18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对齐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无</a:t>
            </a:r>
            <a:r>
              <a:rPr lang="zh-CN" altLang="en-US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1600" b="1" dirty="0" smtClean="0">
                <a:uFillTx/>
                <a:latin typeface="宋体" panose="02010600030101010101" pitchFamily="2" charset="-122"/>
                <a:sym typeface="+mn-ea"/>
              </a:rPr>
              <a:t>←便于统一处理</a:t>
            </a:r>
            <a:endParaRPr lang="zh-CN" altLang="en-US" sz="1600" b="1" dirty="0" smtClean="0">
              <a:uFillTx/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                                     </a:t>
            </a:r>
            <a:r>
              <a:rPr lang="zh-CN" altLang="en-US" sz="1600" dirty="0" smtClean="0">
                <a:latin typeface="+mn-ea"/>
                <a:sym typeface="+mn-ea"/>
              </a:rPr>
              <a:t>└</a:t>
            </a:r>
            <a:r>
              <a:rPr lang="zh-CN" altLang="en-US" sz="1600" b="1" dirty="0" smtClean="0">
                <a:latin typeface="+mn-ea"/>
                <a:sym typeface="+mn-ea"/>
              </a:rPr>
              <a:t>←</a:t>
            </a:r>
            <a:r>
              <a:rPr lang="zh-CN" altLang="en-US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操作码控制</a:t>
            </a:r>
            <a:r>
              <a:rPr lang="zh-CN" altLang="en-US" sz="1600" b="1" u="sng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栈顶指针</a:t>
            </a:r>
            <a:r>
              <a:rPr lang="zh-CN" altLang="en-US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变化</a:t>
            </a:r>
            <a:endParaRPr lang="zh-CN" altLang="en-US" sz="1600" dirty="0" smtClean="0">
              <a:solidFill>
                <a:schemeClr val="tx1"/>
              </a:solidFill>
              <a:uFillTx/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005044" y="981168"/>
            <a:ext cx="2268227" cy="216000"/>
            <a:chOff x="5112036" y="-315416"/>
            <a:chExt cx="2268227" cy="287339"/>
          </a:xfrm>
        </p:grpSpPr>
        <p:sp>
          <p:nvSpPr>
            <p:cNvPr id="10" name="Text Box 278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112036" y="-315415"/>
              <a:ext cx="756108" cy="287338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OPi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11" name="Text Box 280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868145" y="-315416"/>
              <a:ext cx="504055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" name="Text Box 280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372200" y="-315416"/>
              <a:ext cx="1008063" cy="287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Imme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</p:grpSp>
      <p:sp>
        <p:nvSpPr>
          <p:cNvPr id="7" name="Text Box 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90476" y="3929767"/>
            <a:ext cx="8702129" cy="51435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※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数据存放方式小结：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决定了</a:t>
            </a:r>
            <a:r>
              <a:rPr lang="zh-CN" altLang="en-US" sz="1800" b="1" dirty="0" smtClean="0">
                <a:latin typeface="+mn-ea"/>
                <a:sym typeface="+mn-ea"/>
              </a:rPr>
              <a:t>数据</a:t>
            </a:r>
            <a:r>
              <a:rPr lang="zh-CN" altLang="en-US" sz="1800" b="1" dirty="0" smtClean="0">
                <a:latin typeface="+mn-ea"/>
                <a:sym typeface="+mn-ea"/>
              </a:rPr>
              <a:t>的</a:t>
            </a:r>
            <a:r>
              <a:rPr lang="zh-CN" altLang="en-US" sz="1800" b="1" u="sng" dirty="0">
                <a:solidFill>
                  <a:srgbClr val="990099"/>
                </a:solidFill>
                <a:latin typeface="+mn-ea"/>
                <a:sym typeface="+mn-ea"/>
              </a:rPr>
              <a:t>地址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+mn-ea"/>
                <a:sym typeface="+mn-ea"/>
              </a:rPr>
              <a:t>组成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+mn-ea"/>
                <a:sym typeface="+mn-ea"/>
              </a:rPr>
              <a:t>存取组织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800" b="1" u="sng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971550" y="4463265"/>
          <a:ext cx="6585585" cy="146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750"/>
                <a:gridCol w="1443355"/>
                <a:gridCol w="1378585"/>
                <a:gridCol w="1489710"/>
                <a:gridCol w="1226185"/>
              </a:tblGrid>
              <a:tr h="292100">
                <a:tc>
                  <a:txBody>
                    <a:bodyPr/>
                    <a:p>
                      <a:pPr indent="0" algn="ctr" fontAlgn="auto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存放部件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p>
                      <a:pPr indent="0" algn="ctr" fontAlgn="auto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存放方式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hMerge="1"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indent="0" algn="ctr" fontAlgn="auto"/>
                      <a:r>
                        <a:rPr lang="zh-CN" altLang="en-US" sz="1800" b="1" dirty="0" smtClean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数据地址</a:t>
                      </a:r>
                      <a:endParaRPr lang="zh-CN" altLang="en-US" sz="1800" b="1" dirty="0" smtClean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长度表示</a:t>
                      </a:r>
                      <a:endParaRPr lang="zh-CN" altLang="en-US" sz="1800" b="1" dirty="0" smtClean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292100">
                <a:tc>
                  <a:txBody>
                    <a:bodyPr/>
                    <a:p>
                      <a:pPr indent="0" algn="ctr" fontAlgn="auto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indent="0" fontAlgn="auto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占用全部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部分空间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编号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p>
                      <a:pPr marR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操作码指明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2100">
                <a:tc>
                  <a:txBody>
                    <a:bodyPr/>
                    <a:p>
                      <a:pPr indent="0" algn="ctr" fontAlgn="auto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indent="0" algn="ctr" fontAlgn="auto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端序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大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小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indent="0" fontAlgn="auto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对齐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目前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最小单元地址</a:t>
                      </a:r>
                      <a:endParaRPr lang="en-US" altLang="zh-CN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vMerge="1"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  <a:tr h="292100">
                <a:tc>
                  <a:txBody>
                    <a:bodyPr/>
                    <a:p>
                      <a:pPr indent="0" algn="ctr" fontAlgn="auto"/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IR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端序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同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MEM)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fontAlgn="auto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不对齐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fontAlgn="auto"/>
                      <a:endParaRPr lang="zh-CN" altLang="en-US" sz="1800" dirty="0"/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vMerge="1"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292100">
                <a:tc>
                  <a:txBody>
                    <a:bodyPr/>
                    <a:p>
                      <a:pPr indent="0" algn="ctr" fontAlgn="auto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堆栈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端序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同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MEM)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fontAlgn="auto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对齐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fontAlgn="auto"/>
                      <a:endParaRPr lang="zh-CN" altLang="en-US" sz="1800" dirty="0"/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机器字长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72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332656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§4.3 </a:t>
            </a:r>
            <a:r>
              <a:rPr lang="zh-CN" altLang="en-US" sz="2800" b="1" dirty="0">
                <a:latin typeface="宋体" panose="02010600030101010101" pitchFamily="2" charset="-122"/>
              </a:rPr>
              <a:t>寻址方式</a:t>
            </a:r>
            <a:endParaRPr lang="zh-CN" altLang="en-US" sz="2800" b="1" dirty="0" smtClean="0">
              <a:latin typeface="宋体" panose="02010600030101010101" pitchFamily="2" charset="-122"/>
            </a:endParaRPr>
          </a:p>
        </p:txBody>
      </p:sp>
      <p:sp>
        <p:nvSpPr>
          <p:cNvPr id="73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836965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>
              <a:lnSpc>
                <a:spcPct val="125000"/>
              </a:lnSpc>
            </a:pP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2000" b="1" dirty="0" smtClean="0">
                <a:sym typeface="+mn-ea"/>
              </a:rPr>
              <a:t>寻址方式，数据寻址方式，指令格式分析</a:t>
            </a:r>
            <a:endParaRPr lang="zh-CN" altLang="en-US" sz="2000" b="1" dirty="0" smtClean="0">
              <a:latin typeface="宋体" panose="02010600030101010101" pitchFamily="2" charset="-122"/>
            </a:endParaRPr>
          </a:p>
        </p:txBody>
      </p:sp>
      <p:sp>
        <p:nvSpPr>
          <p:cNvPr id="74" name="Text Box 5"/>
          <p:cNvSpPr txBox="1">
            <a:spLocks noChangeArrowheads="1"/>
          </p:cNvSpPr>
          <p:nvPr/>
        </p:nvSpPr>
        <p:spPr bwMode="auto">
          <a:xfrm>
            <a:off x="179705" y="1304290"/>
            <a:ext cx="4142105" cy="50698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寻址方式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目标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*OPD/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指令地址的类型回顾：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OPD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指令地址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OPD/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指令地址的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软硬件</a:t>
            </a:r>
            <a:r>
              <a:rPr 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关联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REG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MEM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有效地址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(EA)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0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物理地址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(PA)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0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80" name="Text Box 5"/>
          <p:cNvSpPr txBox="1">
            <a:spLocks noChangeArrowheads="1"/>
          </p:cNvSpPr>
          <p:nvPr/>
        </p:nvSpPr>
        <p:spPr bwMode="auto">
          <a:xfrm>
            <a:off x="1614805" y="1304290"/>
            <a:ext cx="7350125" cy="50698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根据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地址码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形成</a:t>
            </a:r>
            <a:r>
              <a:rPr lang="en-US" altLang="zh-CN" sz="2200" b="1" u="sng" dirty="0" smtClean="0">
                <a:latin typeface="宋体" panose="02010600030101010101" pitchFamily="2" charset="-122"/>
              </a:rPr>
              <a:t>OPD/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指令地址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的方法，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即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地址＝</a:t>
            </a:r>
            <a:r>
              <a:rPr lang="en-US" altLang="zh-CN" sz="2000" b="1" i="1" dirty="0">
                <a:sym typeface="+mn-ea"/>
              </a:rPr>
              <a:t>f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地址码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编码时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缩短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地址</a:t>
            </a:r>
            <a:r>
              <a:rPr lang="zh-CN" altLang="en-US" sz="2200" b="1" dirty="0">
                <a:latin typeface="宋体" panose="02010600030101010101" pitchFamily="2" charset="-122"/>
              </a:rPr>
              <a:t>码</a:t>
            </a:r>
            <a:r>
              <a:rPr lang="zh-CN" altLang="en-US" sz="2200" b="1" u="sng" dirty="0">
                <a:latin typeface="宋体" panose="02010600030101010101" pitchFamily="2" charset="-122"/>
              </a:rPr>
              <a:t>长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度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，执行时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方便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地址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形成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←函数</a:t>
            </a:r>
            <a:r>
              <a:rPr lang="en-US" altLang="zh-CN" sz="1600" b="1" i="1" dirty="0">
                <a:sym typeface="+mn-ea"/>
              </a:rPr>
              <a:t>f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简单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REG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地址、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地址、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IO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端口地址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立即数、栈中数据无地址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  </a:t>
            </a:r>
            <a:r>
              <a:rPr lang="en-US" altLang="zh-CN" sz="14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←存储程序工作方式要求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(IO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端口地址以后再讨论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位数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相同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与软件需求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无关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，硬件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直接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使用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实现简单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位数</a:t>
            </a:r>
            <a:r>
              <a:rPr lang="zh-CN" altLang="en-US" sz="2200" b="1" u="sng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不同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软件要求</a:t>
            </a:r>
            <a:r>
              <a:rPr lang="zh-CN" altLang="en-US" sz="1600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很大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硬件考虑成本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ISA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需约定大小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 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软件中的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逻辑地址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虚拟地址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，根据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地址码</a:t>
            </a:r>
            <a:r>
              <a:rPr lang="zh-CN" altLang="en-US" sz="2000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形成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硬件中的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地址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82" name="Text Box 1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224000" y="5076000"/>
            <a:ext cx="464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软硬件大小不一致，程序如何执行？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83" name="Text Box 1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940000" y="5040000"/>
            <a:ext cx="2988000" cy="50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u="sng" dirty="0" smtClean="0">
                <a:latin typeface="宋体" panose="02010600030101010101" pitchFamily="2" charset="-122"/>
              </a:rPr>
              <a:t>每次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装入</a:t>
            </a:r>
            <a:r>
              <a:rPr lang="zh-CN" altLang="en-US" sz="1600" b="1" u="sng" dirty="0" smtClean="0">
                <a:latin typeface="宋体" panose="02010600030101010101" pitchFamily="2" charset="-122"/>
              </a:rPr>
              <a:t>部分程序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串行执行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，</a:t>
            </a:r>
            <a:endParaRPr lang="zh-CN" altLang="en-US" sz="1600" b="1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 smtClean="0">
                <a:latin typeface="宋体" panose="02010600030101010101" pitchFamily="2" charset="-122"/>
              </a:rPr>
              <a:t>访问时</a:t>
            </a:r>
            <a:r>
              <a:rPr lang="zh-CN" altLang="en-US" sz="1600" b="1" u="sng" dirty="0" smtClean="0">
                <a:latin typeface="宋体" panose="02010600030101010101" pitchFamily="2" charset="-122"/>
              </a:rPr>
              <a:t>先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进行</a:t>
            </a:r>
            <a:r>
              <a:rPr lang="zh-CN" altLang="en-US" sz="1600" b="1" u="sng" dirty="0" smtClean="0">
                <a:latin typeface="宋体" panose="02010600030101010101" pitchFamily="2" charset="-122"/>
              </a:rPr>
              <a:t>地址变换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没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办法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86" name="Text Box 1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139905" y="2340000"/>
            <a:ext cx="442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REG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地址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与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MEM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地址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位数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相同吗？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6304280" y="4248000"/>
            <a:ext cx="2679700" cy="760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t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硬件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变换后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使用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        └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←基于装入位置</a:t>
            </a:r>
            <a:endParaRPr lang="zh-CN" altLang="en-US" sz="1600" b="1" dirty="0" smtClean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8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83" grpId="0" bldLvl="0" animBg="1"/>
      <p:bldP spid="86" grpId="0" bldLvl="0" animBg="1"/>
      <p:bldP spid="8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14" name="Text Box 10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15265" y="360045"/>
            <a:ext cx="4430395" cy="22453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、指令寻址方式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指令类型与下条指令地址：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顺序型指令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转移型指令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*指令的寻址方式：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Text Box 107"/>
          <p:cNvSpPr txBox="1">
            <a:spLocks noChangeArrowheads="1"/>
          </p:cNvSpPr>
          <p:nvPr/>
        </p:nvSpPr>
        <p:spPr bwMode="auto">
          <a:xfrm>
            <a:off x="2483485" y="1197610"/>
            <a:ext cx="6465570" cy="13989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EA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(PC</a:t>
            </a:r>
            <a:r>
              <a:rPr lang="en-US" altLang="zh-CN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200" b="1" u="sng" dirty="0" smtClean="0">
                <a:solidFill>
                  <a:srgbClr val="9900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均隐式</a:t>
            </a:r>
            <a:r>
              <a:rPr lang="zh-CN" altLang="en-US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表示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EA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与指令内容</a:t>
            </a:r>
            <a:r>
              <a:rPr lang="zh-CN" altLang="en-US" sz="16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无关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EA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i="1" dirty="0" smtClean="0">
                <a:latin typeface="+mn-lt"/>
                <a:sym typeface="+mn-ea"/>
              </a:rPr>
              <a:t>f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地址码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常显式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表示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EA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与指令内容</a:t>
            </a:r>
            <a:r>
              <a:rPr lang="zh-CN" altLang="en-US" sz="16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有关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2200" b="1" dirty="0" smtClean="0">
              <a:latin typeface="+mn-ea"/>
              <a:cs typeface="Arial Unicode MS" panose="020B0604020202020204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有隐含、直接、相对等  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←数据寻址中一并讨论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3" name="Text Box 107"/>
          <p:cNvSpPr txBox="1">
            <a:spLocks noChangeArrowheads="1"/>
          </p:cNvSpPr>
          <p:nvPr/>
        </p:nvSpPr>
        <p:spPr bwMode="auto">
          <a:xfrm>
            <a:off x="179705" y="2520000"/>
            <a:ext cx="8769350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下条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指令地址的形成：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寻址方式的识别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 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分析指令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时，根据</a:t>
            </a:r>
            <a:r>
              <a:rPr lang="zh-CN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操作码</a:t>
            </a:r>
            <a:r>
              <a:rPr lang="zh-CN" sz="2200" b="1" dirty="0" smtClean="0">
                <a:latin typeface="宋体" panose="02010600030101010101" pitchFamily="2" charset="-122"/>
                <a:sym typeface="+mn-ea"/>
              </a:rPr>
              <a:t>判断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(CISC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常需</a:t>
            </a:r>
            <a:r>
              <a:rPr lang="zh-CN" altLang="en-US" sz="1600" b="1" u="sng" dirty="0" smtClean="0">
                <a:latin typeface="宋体" panose="02010600030101010101" pitchFamily="2" charset="-122"/>
                <a:sym typeface="+mn-ea"/>
              </a:rPr>
              <a:t>地址码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参与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下条指令地址的形成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u="sng" dirty="0" smtClean="0">
                <a:solidFill>
                  <a:srgbClr val="990099"/>
                </a:solidFill>
                <a:uFillTx/>
                <a:latin typeface="宋体" panose="02010600030101010101" pitchFamily="2" charset="-122"/>
                <a:sym typeface="+mn-ea"/>
              </a:rPr>
              <a:t>取</a:t>
            </a:r>
            <a:r>
              <a:rPr lang="zh-CN" altLang="en-US" sz="2200" b="1" u="sng" dirty="0" smtClean="0">
                <a:solidFill>
                  <a:srgbClr val="990099"/>
                </a:solidFill>
                <a:uFillTx/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时，可实现</a:t>
            </a:r>
            <a:r>
              <a:rPr lang="zh-CN" altLang="en-US" sz="2200" b="1" u="sng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顺序寻址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EA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</a:t>
            </a:r>
            <a:r>
              <a:rPr lang="en-US" altLang="zh-CN" sz="18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←可用计数器实现</a:t>
            </a:r>
            <a:endParaRPr lang="en-US" altLang="zh-CN" sz="2200" b="1" dirty="0">
              <a:solidFill>
                <a:schemeClr val="tx1"/>
              </a:solidFill>
              <a:uFillTx/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u="sng" dirty="0">
                <a:solidFill>
                  <a:srgbClr val="990099"/>
                </a:solidFill>
                <a:uFillTx/>
                <a:latin typeface="宋体" panose="02010600030101010101" pitchFamily="2" charset="-122"/>
                <a:sym typeface="+mn-ea"/>
              </a:rPr>
              <a:t>执行指令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时，实现</a:t>
            </a:r>
            <a:r>
              <a:rPr lang="zh-CN" altLang="en-US" sz="2200" b="1" u="sng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跳跃寻址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EA</a:t>
            </a:r>
            <a:r>
              <a:rPr lang="zh-CN" altLang="en-US" sz="18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i="1" dirty="0" smtClean="0">
                <a:solidFill>
                  <a:schemeClr val="tx1"/>
                </a:solidFill>
                <a:uFillTx/>
                <a:latin typeface="+mn-lt"/>
                <a:sym typeface="+mn-ea"/>
              </a:rPr>
              <a:t>f</a:t>
            </a:r>
            <a:r>
              <a:rPr lang="en-US" altLang="zh-CN" sz="18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地址码</a:t>
            </a:r>
            <a:r>
              <a:rPr lang="en-US" altLang="zh-CN" sz="18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8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←需等待转移判断</a:t>
            </a:r>
            <a:endParaRPr lang="zh-CN" altLang="en-US" sz="1600" b="1" dirty="0" smtClean="0">
              <a:solidFill>
                <a:schemeClr val="tx1"/>
              </a:solidFill>
              <a:uFillTx/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3744245" y="2772000"/>
            <a:ext cx="4752340" cy="612140"/>
            <a:chOff x="6066" y="5159"/>
            <a:chExt cx="7484" cy="964"/>
          </a:xfrm>
        </p:grpSpPr>
        <p:sp>
          <p:nvSpPr>
            <p:cNvPr id="36" name="矩形 35"/>
            <p:cNvSpPr/>
            <p:nvPr>
              <p:custDataLst>
                <p:tags r:id="rId2"/>
              </p:custDataLst>
            </p:nvPr>
          </p:nvSpPr>
          <p:spPr bwMode="auto">
            <a:xfrm>
              <a:off x="6179" y="5159"/>
              <a:ext cx="7257" cy="454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Text Box 31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349" y="5216"/>
              <a:ext cx="96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dirty="0">
                  <a:latin typeface="宋体" panose="02010600030101010101" pitchFamily="2" charset="-122"/>
                </a:rPr>
                <a:t>取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指令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38" name="Text Box 314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53" y="5216"/>
              <a:ext cx="124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dirty="0">
                  <a:latin typeface="宋体" panose="02010600030101010101" pitchFamily="2" charset="-122"/>
                </a:rPr>
                <a:t>分析指令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39" name="Text Box 31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240" y="5216"/>
              <a:ext cx="1871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dirty="0">
                  <a:latin typeface="宋体" panose="02010600030101010101" pitchFamily="2" charset="-122"/>
                </a:rPr>
                <a:t>执行指令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0" name="直接箭头连接符 39"/>
            <p:cNvCxnSpPr/>
            <p:nvPr>
              <p:custDataLst>
                <p:tags r:id="rId6"/>
              </p:custDataLst>
            </p:nvPr>
          </p:nvCxnSpPr>
          <p:spPr bwMode="auto">
            <a:xfrm>
              <a:off x="7313" y="5386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7"/>
              </p:custDataLst>
            </p:nvPr>
          </p:nvCxnSpPr>
          <p:spPr bwMode="auto">
            <a:xfrm>
              <a:off x="8900" y="5386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5" name="Text Box 316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1452" y="5216"/>
              <a:ext cx="1870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dirty="0">
                  <a:latin typeface="宋体" panose="02010600030101010101" pitchFamily="2" charset="-122"/>
                </a:rPr>
                <a:t>计算指令地址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6" name="直接箭头连接符 45"/>
            <p:cNvCxnSpPr/>
            <p:nvPr>
              <p:custDataLst>
                <p:tags r:id="rId9"/>
              </p:custDataLst>
            </p:nvPr>
          </p:nvCxnSpPr>
          <p:spPr bwMode="auto">
            <a:xfrm>
              <a:off x="11112" y="5387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" name="直接箭头连接符 46"/>
            <p:cNvCxnSpPr/>
            <p:nvPr>
              <p:custDataLst>
                <p:tags r:id="rId10"/>
              </p:custDataLst>
            </p:nvPr>
          </p:nvCxnSpPr>
          <p:spPr bwMode="auto">
            <a:xfrm>
              <a:off x="13323" y="5386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8" name="直接箭头连接符 47"/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13549" y="5386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9" name="直接箭头连接符 48"/>
            <p:cNvCxnSpPr/>
            <p:nvPr>
              <p:custDataLst>
                <p:tags r:id="rId12"/>
              </p:custDataLst>
            </p:nvPr>
          </p:nvCxnSpPr>
          <p:spPr bwMode="auto">
            <a:xfrm>
              <a:off x="6066" y="5386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1" name="直接箭头连接符 50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6066" y="5386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2" name="直接箭头连接符 51"/>
            <p:cNvCxnSpPr/>
            <p:nvPr>
              <p:custDataLst>
                <p:tags r:id="rId14"/>
              </p:custDataLst>
            </p:nvPr>
          </p:nvCxnSpPr>
          <p:spPr bwMode="auto">
            <a:xfrm>
              <a:off x="6066" y="5726"/>
              <a:ext cx="74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4" name="Text Box 314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824" y="5783"/>
              <a:ext cx="3742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指令执行过程的</a:t>
              </a: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理论方案</a:t>
              </a:r>
              <a:endPara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1980000" y="5221470"/>
            <a:ext cx="3351530" cy="863600"/>
            <a:chOff x="5556" y="8901"/>
            <a:chExt cx="5278" cy="1360"/>
          </a:xfrm>
        </p:grpSpPr>
        <p:sp>
          <p:nvSpPr>
            <p:cNvPr id="57" name="矩形 56"/>
            <p:cNvSpPr/>
            <p:nvPr>
              <p:custDataLst>
                <p:tags r:id="rId16"/>
              </p:custDataLst>
            </p:nvPr>
          </p:nvSpPr>
          <p:spPr bwMode="auto">
            <a:xfrm>
              <a:off x="5669" y="8901"/>
              <a:ext cx="5046" cy="85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" name="Text Box 31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839" y="8958"/>
              <a:ext cx="96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dirty="0">
                  <a:latin typeface="宋体" panose="02010600030101010101" pitchFamily="2" charset="-122"/>
                </a:rPr>
                <a:t>取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指令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59" name="Text Box 314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143" y="8958"/>
              <a:ext cx="124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dirty="0">
                  <a:latin typeface="宋体" panose="02010600030101010101" pitchFamily="2" charset="-122"/>
                </a:rPr>
                <a:t>分析指令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60" name="Text Box 316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730" y="8958"/>
              <a:ext cx="1871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dirty="0">
                  <a:latin typeface="宋体" panose="02010600030101010101" pitchFamily="2" charset="-122"/>
                </a:rPr>
                <a:t>执行指令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1" name="直接箭头连接符 60"/>
            <p:cNvCxnSpPr/>
            <p:nvPr>
              <p:custDataLst>
                <p:tags r:id="rId20"/>
              </p:custDataLst>
            </p:nvPr>
          </p:nvCxnSpPr>
          <p:spPr bwMode="auto">
            <a:xfrm>
              <a:off x="6803" y="912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21"/>
              </p:custDataLst>
            </p:nvPr>
          </p:nvCxnSpPr>
          <p:spPr bwMode="auto">
            <a:xfrm>
              <a:off x="8390" y="9128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接箭头连接符 64"/>
            <p:cNvCxnSpPr/>
            <p:nvPr>
              <p:custDataLst>
                <p:tags r:id="rId22"/>
              </p:custDataLst>
            </p:nvPr>
          </p:nvCxnSpPr>
          <p:spPr bwMode="auto">
            <a:xfrm>
              <a:off x="10607" y="9128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6" name="直接箭头连接符 65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10833" y="9128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7" name="直接箭头连接符 66"/>
            <p:cNvCxnSpPr/>
            <p:nvPr>
              <p:custDataLst>
                <p:tags r:id="rId24"/>
              </p:custDataLst>
            </p:nvPr>
          </p:nvCxnSpPr>
          <p:spPr bwMode="auto">
            <a:xfrm>
              <a:off x="5556" y="9128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8" name="直接箭头连接符 67"/>
            <p:cNvCxnSpPr/>
            <p:nvPr>
              <p:custDataLst>
                <p:tags r:id="rId25"/>
              </p:custDataLst>
            </p:nvPr>
          </p:nvCxnSpPr>
          <p:spPr bwMode="auto">
            <a:xfrm flipH="1">
              <a:off x="5556" y="9128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9" name="直接箭头连接符 68"/>
            <p:cNvCxnSpPr/>
            <p:nvPr>
              <p:custDataLst>
                <p:tags r:id="rId26"/>
              </p:custDataLst>
            </p:nvPr>
          </p:nvCxnSpPr>
          <p:spPr bwMode="auto">
            <a:xfrm>
              <a:off x="5556" y="9865"/>
              <a:ext cx="5272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0" name="Text Box 314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520" y="9921"/>
              <a:ext cx="3742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指令执行过程的</a:t>
              </a: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实际方案</a:t>
              </a:r>
              <a:endPara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1" name="Text Box 316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839" y="9354"/>
              <a:ext cx="1984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FF3399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4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r>
                <a:rPr lang="zh-CN" altLang="en-US" sz="14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←</a:t>
              </a:r>
              <a:r>
                <a:rPr lang="en-US" altLang="zh-CN" sz="14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(PC)</a:t>
              </a:r>
              <a:r>
                <a:rPr lang="zh-CN" altLang="en-US" sz="14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zh-CN" altLang="en-US" sz="14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4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4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endParaRPr lang="zh-CN" altLang="en-US" sz="1400" dirty="0">
                <a:latin typeface="Arial Unicode MS" panose="020B0604020202020204" charset="-122"/>
                <a:cs typeface="宋体" panose="02010600030101010101" pitchFamily="2" charset="-122"/>
              </a:endParaRPr>
            </a:p>
          </p:txBody>
        </p:sp>
        <p:sp>
          <p:nvSpPr>
            <p:cNvPr id="72" name="Text Box 316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8731" y="9354"/>
              <a:ext cx="1870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400" b="1" dirty="0" smtClean="0">
                  <a:latin typeface="宋体" panose="02010600030101010101" pitchFamily="2" charset="-122"/>
                </a:rPr>
                <a:t>PC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←计算结果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82" name="Text Box 12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652135" y="5257800"/>
            <a:ext cx="3024000" cy="576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678180" indent="-6781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什么情况下，取指令时可实现顺序寻址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75" name="AutoShape 455">
            <a:hlinkClick r:id="rId31" action="ppaction://hlinksldjump" highlightClick="1"/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 rot="10800000">
            <a:off x="3996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76" name="AutoShape 455">
            <a:hlinkClick r:id="rId33" action="ppaction://hlinksldjump" highlightClick="1"/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 rot="10800000">
            <a:off x="5184000" y="650719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3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388" y="360000"/>
            <a:ext cx="8785225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、数据寻址方式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*寻址方式的识别：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指令译码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时，通过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操作码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地址码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区分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(CISC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为后者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*地址码的组成： 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572000" y="1692000"/>
            <a:ext cx="3855447" cy="504735"/>
            <a:chOff x="5313409" y="5801524"/>
            <a:chExt cx="3855447" cy="504735"/>
          </a:xfrm>
        </p:grpSpPr>
        <p:sp>
          <p:nvSpPr>
            <p:cNvPr id="13" name="Text Box 139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8085164" y="5802259"/>
              <a:ext cx="430213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RD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0" name="Text Box 140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8517163" y="5802259"/>
              <a:ext cx="651693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3975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 RS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" name="Text Box 163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509164" y="5802259"/>
              <a:ext cx="574675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</a:t>
              </a:r>
              <a:r>
                <a:rPr lang="en-US" altLang="zh-CN" sz="1800" b="1" dirty="0"/>
                <a:t>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r>
                <a:rPr lang="en-US" altLang="zh-CN" sz="1800" b="1" dirty="0"/>
                <a:t>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0</a:t>
              </a:r>
              <a:endPara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" name="Text Box 16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085164" y="6089524"/>
              <a:ext cx="430213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RD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7" name="Text Box 16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517163" y="6089524"/>
              <a:ext cx="651693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3975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 RS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8" name="Text Box 16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509164" y="6089524"/>
              <a:ext cx="574675" cy="2159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0</a:t>
              </a:r>
              <a:r>
                <a:rPr lang="en-US" altLang="zh-CN" sz="1800" b="1"/>
                <a:t> </a:t>
              </a:r>
              <a:r>
                <a:rPr lang="en-US" altLang="zh-CN" sz="1800" b="1">
                  <a:latin typeface="宋体" panose="02010600030101010101" pitchFamily="2" charset="-122"/>
                </a:rPr>
                <a:t>1</a:t>
              </a:r>
              <a:r>
                <a:rPr lang="en-US" altLang="zh-CN" sz="1800" b="1"/>
                <a:t> </a:t>
              </a:r>
              <a:r>
                <a:rPr lang="en-US" altLang="zh-CN" sz="1800" b="1">
                  <a:latin typeface="宋体" panose="02010600030101010101" pitchFamily="2" charset="-122"/>
                </a:rPr>
                <a:t>0</a:t>
              </a:r>
              <a:endParaRPr lang="en-US" altLang="zh-CN" sz="1800" b="1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" name="Text Box 16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313409" y="5802259"/>
              <a:ext cx="2160000" cy="50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105000"/>
                </a:lnSpc>
              </a:pP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例：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RD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←(RD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   RD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←(RD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</a:t>
              </a:r>
              <a:r>
                <a:rPr lang="en-US" altLang="zh-CN" sz="1600" b="1" spc="-300" dirty="0" smtClean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</a:t>
              </a:r>
              <a:r>
                <a:rPr lang="en-US" altLang="zh-CN" sz="1600" b="1" spc="-200" dirty="0" smtClean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]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0" name="直接连接符 19"/>
            <p:cNvCxnSpPr/>
            <p:nvPr>
              <p:custDataLst>
                <p:tags r:id="rId10"/>
              </p:custDataLst>
            </p:nvPr>
          </p:nvCxnSpPr>
          <p:spPr bwMode="auto">
            <a:xfrm>
              <a:off x="8733164" y="6089524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21"/>
            <p:cNvCxnSpPr/>
            <p:nvPr>
              <p:custDataLst>
                <p:tags r:id="rId11"/>
              </p:custDataLst>
            </p:nvPr>
          </p:nvCxnSpPr>
          <p:spPr bwMode="auto">
            <a:xfrm>
              <a:off x="8733164" y="5801524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组合 24"/>
          <p:cNvGrpSpPr/>
          <p:nvPr/>
        </p:nvGrpSpPr>
        <p:grpSpPr>
          <a:xfrm>
            <a:off x="1009015" y="1764030"/>
            <a:ext cx="3203575" cy="503555"/>
            <a:chOff x="2041" y="2778"/>
            <a:chExt cx="5045" cy="793"/>
          </a:xfrm>
        </p:grpSpPr>
        <p:sp>
          <p:nvSpPr>
            <p:cNvPr id="5" name="Text Box 9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402" y="2778"/>
              <a:ext cx="3685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10800" rIns="18000" bIns="10800" anchor="ctr"/>
            <a:p>
              <a:r>
                <a:rPr lang="zh-CN" altLang="en-US" sz="1600" b="1" dirty="0">
                  <a:latin typeface="宋体" panose="02010600030101010101" pitchFamily="2" charset="-122"/>
                </a:rPr>
                <a:t>寻址方式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位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F</a:t>
              </a:r>
              <a:r>
                <a:rPr lang="en-US" altLang="zh-CN" sz="1200" b="1" dirty="0" smtClean="0">
                  <a:latin typeface="宋体" panose="02010600030101010101" pitchFamily="2" charset="-122"/>
                </a:rPr>
                <a:t> 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地址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参数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" name="Text Box 27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041" y="3231"/>
              <a:ext cx="3742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或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EA＝</a:t>
              </a:r>
              <a:r>
                <a:rPr lang="en-US" altLang="zh-CN" sz="1600" b="1" dirty="0" smtClean="0">
                  <a:latin typeface="+mn-lt"/>
                  <a:ea typeface="+mj-ea"/>
                </a:rPr>
                <a:t> </a:t>
              </a:r>
              <a:r>
                <a:rPr lang="en-US" altLang="zh-CN" sz="1600" b="1" i="1" dirty="0" smtClean="0">
                  <a:latin typeface="+mn-lt"/>
                </a:rPr>
                <a:t>f</a:t>
              </a:r>
              <a:r>
                <a:rPr lang="en-US" altLang="zh-CN" sz="1600" b="1" i="1" baseline="-25000" dirty="0" smtClean="0">
                  <a:latin typeface="+mn-lt"/>
                </a:rPr>
                <a:t>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(F,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地址参数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" name="Text Box 2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041" y="2778"/>
              <a:ext cx="130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地址码：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4" name="直接箭头连接符 23"/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5329" y="2792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6" name="AutoShape 38"/>
          <p:cNvSpPr/>
          <p:nvPr>
            <p:custDataLst>
              <p:tags r:id="rId16"/>
            </p:custDataLst>
          </p:nvPr>
        </p:nvSpPr>
        <p:spPr bwMode="auto">
          <a:xfrm>
            <a:off x="3347487" y="2345280"/>
            <a:ext cx="5328000" cy="252000"/>
          </a:xfrm>
          <a:prstGeom prst="borderCallout2">
            <a:avLst>
              <a:gd name="adj1" fmla="val 46023"/>
              <a:gd name="adj2" fmla="val -102"/>
              <a:gd name="adj3" fmla="val 47787"/>
              <a:gd name="adj4" fmla="val -4095"/>
              <a:gd name="adj5" fmla="val -160099"/>
              <a:gd name="adj6" fmla="val -7229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 smtClean="0">
                <a:latin typeface="+mn-ea"/>
                <a:sym typeface="+mn-ea"/>
              </a:rPr>
              <a:t>同一指令的同</a:t>
            </a:r>
            <a:r>
              <a:rPr lang="zh-CN" altLang="en-US" sz="1600" b="1" dirty="0">
                <a:latin typeface="+mn-ea"/>
                <a:sym typeface="+mn-ea"/>
              </a:rPr>
              <a:t>一</a:t>
            </a:r>
            <a:r>
              <a:rPr lang="en-US" altLang="zh-CN" sz="1600" b="1" dirty="0">
                <a:latin typeface="+mn-ea"/>
                <a:sym typeface="+mn-ea"/>
              </a:rPr>
              <a:t>OPD</a:t>
            </a:r>
            <a:r>
              <a:rPr lang="zh-CN" altLang="en-US" sz="1600" b="1" dirty="0">
                <a:latin typeface="+mn-ea"/>
                <a:sym typeface="+mn-ea"/>
              </a:rPr>
              <a:t>可以</a:t>
            </a:r>
            <a:r>
              <a:rPr lang="zh-CN" altLang="en-US" sz="1600" b="1" u="sng" dirty="0">
                <a:latin typeface="+mn-ea"/>
                <a:sym typeface="+mn-ea"/>
              </a:rPr>
              <a:t>有多种</a:t>
            </a:r>
            <a:r>
              <a:rPr lang="zh-CN" altLang="en-US" sz="1600" b="1" dirty="0">
                <a:latin typeface="+mn-ea"/>
                <a:sym typeface="+mn-ea"/>
              </a:rPr>
              <a:t>寻址方式</a:t>
            </a:r>
            <a:r>
              <a:rPr lang="en-US" altLang="zh-CN" sz="1600" b="1" dirty="0">
                <a:latin typeface="+mn-ea"/>
                <a:sym typeface="+mn-ea"/>
              </a:rPr>
              <a:t>(</a:t>
            </a:r>
            <a:r>
              <a:rPr lang="zh-CN" altLang="en-US" sz="1600" b="1" dirty="0">
                <a:latin typeface="+mn-ea"/>
                <a:sym typeface="+mn-ea"/>
              </a:rPr>
              <a:t>仅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r>
              <a:rPr lang="zh-CN" altLang="en-US" sz="1600" b="1" dirty="0">
                <a:latin typeface="+mn-ea"/>
                <a:sym typeface="+mn-ea"/>
              </a:rPr>
              <a:t>种时</a:t>
            </a:r>
            <a:r>
              <a:rPr lang="en-US" altLang="zh-CN" sz="1600" b="1" dirty="0">
                <a:latin typeface="+mn-ea"/>
                <a:sym typeface="+mn-ea"/>
              </a:rPr>
              <a:t>F</a:t>
            </a:r>
            <a:r>
              <a:rPr lang="zh-CN" altLang="en-US" sz="1600" b="1" dirty="0">
                <a:latin typeface="+mn-ea"/>
                <a:sym typeface="+mn-ea"/>
              </a:rPr>
              <a:t>可缺省</a:t>
            </a:r>
            <a:r>
              <a:rPr lang="en-US" altLang="zh-CN" sz="1600" b="1" dirty="0">
                <a:latin typeface="+mn-ea"/>
                <a:sym typeface="+mn-ea"/>
              </a:rPr>
              <a:t>)</a:t>
            </a:r>
            <a:endParaRPr lang="en-US" altLang="zh-CN" sz="1600" b="1" dirty="0" smtClean="0">
              <a:latin typeface="+mn-ea"/>
              <a:sym typeface="+mn-ea"/>
            </a:endParaRPr>
          </a:p>
        </p:txBody>
      </p:sp>
      <p:sp>
        <p:nvSpPr>
          <p:cNvPr id="195613" name="Text Box 29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179705" y="2573020"/>
            <a:ext cx="878522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0" indent="0" eaLnBrk="1" latinLnBrk="0" hangingPunct="1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立即寻址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dirty="0" smtClean="0">
                <a:solidFill>
                  <a:schemeClr val="tx1"/>
                </a:solidFill>
                <a:latin typeface="+mn-lt"/>
                <a:sym typeface="+mn-ea"/>
              </a:rPr>
              <a:t>Immediate Addressing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方式：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OPD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放在</a:t>
            </a:r>
            <a:r>
              <a:rPr 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IR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中，地址参数为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OPD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本身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不是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OPD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地址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1296035" y="3492500"/>
            <a:ext cx="2447925" cy="539750"/>
            <a:chOff x="2041" y="5048"/>
            <a:chExt cx="3855" cy="850"/>
          </a:xfrm>
        </p:grpSpPr>
        <p:sp>
          <p:nvSpPr>
            <p:cNvPr id="195617" name="Text Box 33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628" y="5048"/>
              <a:ext cx="2268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p>
              <a:r>
                <a:rPr lang="en-US" altLang="zh-CN" sz="1600" b="1" dirty="0">
                  <a:latin typeface="宋体" panose="02010600030101010101" pitchFamily="2" charset="-122"/>
                </a:rPr>
                <a:t>F1    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Imm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195615" name="Text Box 3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041" y="5048"/>
              <a:ext cx="1588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err="1" smtClean="0">
                  <a:latin typeface="宋体" panose="02010600030101010101" pitchFamily="2" charset="-122"/>
                </a:rPr>
                <a:t>OPx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195618" name="Text Box 34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041" y="5445"/>
              <a:ext cx="1758" cy="45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OPD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 err="1" smtClean="0">
                  <a:latin typeface="宋体" panose="02010600030101010101" pitchFamily="2" charset="-122"/>
                </a:rPr>
                <a:t>Imm</a:t>
              </a:r>
              <a:endParaRPr lang="en-US" altLang="zh-CN" sz="18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195665" name="AutoShape 81"/>
            <p:cNvSpPr/>
            <p:nvPr>
              <p:custDataLst>
                <p:tags r:id="rId21"/>
              </p:custDataLst>
            </p:nvPr>
          </p:nvSpPr>
          <p:spPr bwMode="auto">
            <a:xfrm rot="5400000">
              <a:off x="4961" y="4595"/>
              <a:ext cx="112" cy="1758"/>
            </a:xfrm>
            <a:prstGeom prst="rightBrace">
              <a:avLst>
                <a:gd name="adj1" fmla="val 3111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95666" name="Text Box 82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478" y="5558"/>
              <a:ext cx="1135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操作数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8" name="直接箭头连接符 27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4139" y="5048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9" name="AutoShape 38"/>
          <p:cNvSpPr/>
          <p:nvPr>
            <p:custDataLst>
              <p:tags r:id="rId24"/>
            </p:custDataLst>
          </p:nvPr>
        </p:nvSpPr>
        <p:spPr bwMode="auto">
          <a:xfrm>
            <a:off x="4205372" y="3646395"/>
            <a:ext cx="3168000" cy="252000"/>
          </a:xfrm>
          <a:prstGeom prst="borderCallout2">
            <a:avLst>
              <a:gd name="adj1" fmla="val 46023"/>
              <a:gd name="adj2" fmla="val -102"/>
              <a:gd name="adj3" fmla="val 47787"/>
              <a:gd name="adj4" fmla="val -4095"/>
              <a:gd name="adj5" fmla="val -1097"/>
              <a:gd name="adj6" fmla="val -1358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>
                <a:sym typeface="+mn-ea"/>
              </a:rPr>
              <a:t>为便于理解，均以</a:t>
            </a:r>
            <a:r>
              <a:rPr lang="zh-CN" altLang="en-US" sz="1600" b="1" dirty="0">
                <a:solidFill>
                  <a:srgbClr val="990099"/>
                </a:solidFill>
                <a:sym typeface="+mn-ea"/>
              </a:rPr>
              <a:t>单地址指令</a:t>
            </a:r>
            <a:r>
              <a:rPr lang="zh-CN" altLang="en-US" sz="1600" b="1" dirty="0">
                <a:sym typeface="+mn-ea"/>
              </a:rPr>
              <a:t>为例</a:t>
            </a:r>
            <a:endParaRPr lang="en-US" altLang="zh-CN" sz="1600" b="1" dirty="0" smtClean="0">
              <a:latin typeface="+mn-ea"/>
              <a:sym typeface="+mn-ea"/>
            </a:endParaRPr>
          </a:p>
        </p:txBody>
      </p:sp>
      <p:sp>
        <p:nvSpPr>
          <p:cNvPr id="195634" name="Text Box 50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179388" y="4014053"/>
            <a:ext cx="878522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寄存器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寻址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dirty="0" smtClean="0">
                <a:solidFill>
                  <a:schemeClr val="tx1"/>
                </a:solidFill>
                <a:latin typeface="+mn-lt"/>
                <a:sym typeface="+mn-ea"/>
              </a:rPr>
              <a:t>Register A</a:t>
            </a:r>
            <a:r>
              <a:rPr lang="en-US" altLang="zh-CN" sz="1600" dirty="0" smtClean="0">
                <a:solidFill>
                  <a:schemeClr val="tx1"/>
                </a:solidFill>
                <a:sym typeface="+mn-ea"/>
              </a:rPr>
              <a:t>ddressing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方式：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OPD</a:t>
            </a:r>
            <a:r>
              <a:rPr lang="zh-CN" altLang="en-US" sz="2200" b="1" dirty="0">
                <a:latin typeface="宋体" panose="02010600030101010101" pitchFamily="2" charset="-122"/>
              </a:rPr>
              <a:t>放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在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数据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</a:rPr>
              <a:t>中，地址参数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为数据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REG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号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1296000" y="4931410"/>
            <a:ext cx="4248000" cy="899855"/>
            <a:chOff x="2041" y="7427"/>
            <a:chExt cx="6690" cy="1417"/>
          </a:xfrm>
        </p:grpSpPr>
        <p:sp>
          <p:nvSpPr>
            <p:cNvPr id="108" name="Text Box 6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628" y="7537"/>
              <a:ext cx="124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p>
              <a:r>
                <a:rPr lang="en-US" altLang="zh-CN" sz="1600" b="1" dirty="0">
                  <a:latin typeface="宋体" panose="02010600030101010101" pitchFamily="2" charset="-122"/>
                </a:rPr>
                <a:t>F2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   </a:t>
              </a: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9" name="Text Box 52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350" y="7824"/>
              <a:ext cx="1928" cy="102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操作数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0" name="Text Box 53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350" y="7427"/>
              <a:ext cx="1928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数据</a:t>
              </a:r>
              <a:r>
                <a:rPr lang="en-US" altLang="zh-CN" sz="1600" b="1" dirty="0" smtClean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 smtClean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R*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14" name="Text Box 58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592" y="7937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号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5" name="Text Box 59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041" y="7537"/>
              <a:ext cx="1588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err="1" smtClean="0">
                  <a:latin typeface="宋体" panose="02010600030101010101" pitchFamily="2" charset="-122"/>
                </a:rPr>
                <a:t>OPx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117" name="Text Box 62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2041" y="7937"/>
              <a:ext cx="1814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OPD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800" b="1" dirty="0" err="1" smtClean="0">
                  <a:latin typeface="宋体" panose="02010600030101010101" pitchFamily="2" charset="-122"/>
                </a:rPr>
                <a:t>Ri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19" name="Text Box 58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8277" y="8164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err="1" smtClean="0">
                  <a:latin typeface="宋体" panose="02010600030101010101" pitchFamily="2" charset="-122"/>
                </a:rPr>
                <a:t>Ri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121" name="直接箭头连接符 120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4139" y="7540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2" name="直接箭头连接符 121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4479" y="7880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35"/>
              </p:custDataLst>
            </p:nvPr>
          </p:nvCxnSpPr>
          <p:spPr bwMode="auto">
            <a:xfrm>
              <a:off x="4479" y="8334"/>
              <a:ext cx="1871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4" name="直接箭头连接符 123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6352" y="8164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5" name="直接箭头连接符 124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6350" y="8504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9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195613" grpId="0" bldLvl="0" animBg="1"/>
      <p:bldP spid="29" grpId="0" bldLvl="0" animBg="1"/>
      <p:bldP spid="195634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555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43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365760"/>
            <a:ext cx="6268085" cy="8997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直接寻址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600" dirty="0" smtClean="0">
                <a:solidFill>
                  <a:schemeClr val="tx1"/>
                </a:solidFill>
                <a:latin typeface="+mn-lt"/>
              </a:rPr>
              <a:t>Direct</a:t>
            </a:r>
            <a:r>
              <a:rPr lang="en-US" altLang="zh-CN" sz="1600" dirty="0">
                <a:solidFill>
                  <a:schemeClr val="tx1"/>
                </a:solidFill>
                <a:latin typeface="+mn-lt"/>
              </a:rPr>
              <a:t> Addressing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方式：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OPD</a:t>
            </a:r>
            <a:r>
              <a:rPr lang="zh-CN" altLang="en-US" sz="2200" b="1" dirty="0">
                <a:latin typeface="宋体" panose="02010600030101010101" pitchFamily="2" charset="-122"/>
              </a:rPr>
              <a:t>放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在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中，</a:t>
            </a:r>
            <a:r>
              <a:rPr lang="zh-CN" altLang="en-US" sz="2200" b="1" dirty="0">
                <a:latin typeface="宋体" panose="02010600030101010101" pitchFamily="2" charset="-122"/>
              </a:rPr>
              <a:t>地址参数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为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OPD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EA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44" name="Text Box 3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705" y="2569210"/>
            <a:ext cx="6268085" cy="8997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间接寻址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600" dirty="0" smtClean="0">
                <a:solidFill>
                  <a:schemeClr val="tx1"/>
                </a:solidFill>
                <a:latin typeface="+mn-lt"/>
              </a:rPr>
              <a:t>Indirect</a:t>
            </a:r>
            <a:r>
              <a:rPr lang="en-US" altLang="zh-CN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Addressing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方式：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OPD</a:t>
            </a:r>
            <a:r>
              <a:rPr lang="zh-CN" altLang="en-US" sz="2200" b="1" dirty="0">
                <a:latin typeface="宋体" panose="02010600030101010101" pitchFamily="2" charset="-122"/>
              </a:rPr>
              <a:t>放在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中，地址参数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为存放</a:t>
            </a:r>
            <a:r>
              <a:rPr lang="en-US" altLang="zh-CN" sz="2200" b="1" u="sng" dirty="0" smtClean="0">
                <a:latin typeface="宋体" panose="02010600030101010101" pitchFamily="2" charset="-122"/>
              </a:rPr>
              <a:t>OPD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的</a:t>
            </a:r>
            <a:r>
              <a:rPr lang="en-US" altLang="zh-CN" sz="2200" b="1" u="sng" dirty="0" smtClean="0">
                <a:latin typeface="宋体" panose="02010600030101010101" pitchFamily="2" charset="-122"/>
              </a:rPr>
              <a:t>EA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EA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64" name="Text Box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368580" y="2268000"/>
            <a:ext cx="378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anchor="ctr" anchorCtr="0">
            <a:noAutofit/>
          </a:bodyPr>
          <a:p>
            <a:pPr marL="805180" indent="-80518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直接寻址与立即寻址的区别？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296035" y="1259840"/>
            <a:ext cx="5869305" cy="903605"/>
            <a:chOff x="2041" y="1984"/>
            <a:chExt cx="9243" cy="1423"/>
          </a:xfrm>
        </p:grpSpPr>
        <p:sp>
          <p:nvSpPr>
            <p:cNvPr id="77" name="Text Box 6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628" y="2098"/>
              <a:ext cx="249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p>
              <a:r>
                <a:rPr lang="en-US" altLang="zh-CN" sz="1600" b="1" dirty="0">
                  <a:latin typeface="宋体" panose="02010600030101010101" pitchFamily="2" charset="-122"/>
                </a:rPr>
                <a:t>F3      A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5" name="Text Box 64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041" y="2098"/>
              <a:ext cx="1588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err="1" smtClean="0">
                  <a:latin typeface="宋体" panose="02010600030101010101" pitchFamily="2" charset="-122"/>
                </a:rPr>
                <a:t>OPx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78" name="Text Box 6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041" y="2494"/>
              <a:ext cx="2978" cy="91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OPD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的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EA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A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OPD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M[EA]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8" name="直接箭头连接符 27"/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4139" y="2098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65" name="Text Box 1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903" y="2721"/>
              <a:ext cx="238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数据段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或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程序段</a:t>
              </a:r>
              <a:endPara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3" name="AutoShape 27"/>
            <p:cNvSpPr/>
            <p:nvPr>
              <p:custDataLst>
                <p:tags r:id="rId10"/>
              </p:custDataLst>
            </p:nvPr>
          </p:nvSpPr>
          <p:spPr bwMode="auto">
            <a:xfrm>
              <a:off x="8790" y="2381"/>
              <a:ext cx="113" cy="1020"/>
            </a:xfrm>
            <a:prstGeom prst="rightBrace">
              <a:avLst>
                <a:gd name="adj1" fmla="val 27343"/>
                <a:gd name="adj2" fmla="val 50000"/>
              </a:avLst>
            </a:prstGeom>
            <a:noFill/>
            <a:ln w="9525">
              <a:solidFill>
                <a:srgbClr val="990099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14" name="Text Box 5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556" y="2513"/>
              <a:ext cx="141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sz="1600" b="1" dirty="0">
                  <a:latin typeface="宋体" panose="02010600030101010101" pitchFamily="2" charset="-122"/>
                </a:rPr>
                <a:t>有效地址</a:t>
              </a:r>
              <a:endParaRPr 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2" name="直接箭头连接符 121"/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5500" y="2438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13"/>
              </p:custDataLst>
            </p:nvPr>
          </p:nvCxnSpPr>
          <p:spPr bwMode="auto">
            <a:xfrm>
              <a:off x="5500" y="2891"/>
              <a:ext cx="175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9" name="Text Box 52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258" y="2381"/>
              <a:ext cx="1474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操作数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0" name="Text Box 5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258" y="1984"/>
              <a:ext cx="147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存储器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24" name="直接箭头连接符 123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7258" y="2721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5" name="直接箭头连接符 124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7258" y="3061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1" name="组合 30"/>
          <p:cNvGrpSpPr/>
          <p:nvPr/>
        </p:nvGrpSpPr>
        <p:grpSpPr>
          <a:xfrm>
            <a:off x="1296035" y="3418840"/>
            <a:ext cx="4428255" cy="899795"/>
            <a:chOff x="2041" y="4706"/>
            <a:chExt cx="6974" cy="1417"/>
          </a:xfrm>
        </p:grpSpPr>
        <p:sp>
          <p:nvSpPr>
            <p:cNvPr id="7" name="Text Box 66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628" y="4820"/>
              <a:ext cx="249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p>
              <a:r>
                <a:rPr lang="en-US" altLang="zh-CN" sz="1600" b="1" dirty="0">
                  <a:latin typeface="宋体" panose="02010600030101010101" pitchFamily="2" charset="-122"/>
                </a:rPr>
                <a:t>F4      A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" name="Text Box 64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041" y="4820"/>
              <a:ext cx="1588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err="1" smtClean="0">
                  <a:latin typeface="宋体" panose="02010600030101010101" pitchFamily="2" charset="-122"/>
                </a:rPr>
                <a:t>OPx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11" name="Text Box 6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041" y="5216"/>
              <a:ext cx="3288" cy="90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OPD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的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EA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 smtClean="0">
                  <a:latin typeface="宋体" panose="02010600030101010101" pitchFamily="2" charset="-122"/>
                  <a:sym typeface="+mn-ea"/>
                </a:rPr>
                <a:t>M[EA]</a:t>
              </a:r>
              <a:r>
                <a:rPr lang="zh-CN" altLang="en-US" sz="1800" b="1" dirty="0" smtClean="0"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800" b="1" dirty="0" smtClean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800" b="1" dirty="0" smtClean="0">
                  <a:sym typeface="Symbol" panose="05050102010706020507"/>
                </a:rPr>
                <a:t>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OPD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M[EA]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" name="直接箭头连接符 11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4139" y="4820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13" name="Text Box 58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556" y="5235"/>
              <a:ext cx="141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sz="1600" b="1" dirty="0">
                  <a:latin typeface="宋体" panose="02010600030101010101" pitchFamily="2" charset="-122"/>
                </a:rPr>
                <a:t>有效地址</a:t>
              </a:r>
              <a:endParaRPr 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" name="直接箭头连接符 13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5500" y="5160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" name="直接箭头连接符 14"/>
            <p:cNvCxnSpPr/>
            <p:nvPr>
              <p:custDataLst>
                <p:tags r:id="rId24"/>
              </p:custDataLst>
            </p:nvPr>
          </p:nvCxnSpPr>
          <p:spPr bwMode="auto">
            <a:xfrm>
              <a:off x="5500" y="5613"/>
              <a:ext cx="175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" name="Text Box 52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7258" y="5103"/>
              <a:ext cx="1474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操作数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600" b="1" dirty="0" smtClean="0">
                  <a:sym typeface="Symbol" panose="05050102010706020507"/>
                </a:rPr>
                <a:t>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7" name="Text Box 53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258" y="4706"/>
              <a:ext cx="147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存储器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8" name="直接箭头连接符 17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7258" y="5443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" name="直接箭头连接符 18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7258" y="5783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" name="直接箭头连接符 19"/>
            <p:cNvCxnSpPr/>
            <p:nvPr>
              <p:custDataLst>
                <p:tags r:id="rId29"/>
              </p:custDataLst>
            </p:nvPr>
          </p:nvCxnSpPr>
          <p:spPr bwMode="auto">
            <a:xfrm>
              <a:off x="8561" y="5954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none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9014" y="5272"/>
              <a:ext cx="0" cy="68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31"/>
              </p:custDataLst>
            </p:nvPr>
          </p:nvCxnSpPr>
          <p:spPr bwMode="auto">
            <a:xfrm flipH="1" flipV="1">
              <a:off x="8561" y="5272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32" name="AutoShape 38"/>
          <p:cNvSpPr/>
          <p:nvPr>
            <p:custDataLst>
              <p:tags r:id="rId32"/>
            </p:custDataLst>
          </p:nvPr>
        </p:nvSpPr>
        <p:spPr bwMode="auto">
          <a:xfrm>
            <a:off x="7020000" y="2057625"/>
            <a:ext cx="1584000" cy="252000"/>
          </a:xfrm>
          <a:prstGeom prst="borderCallout2">
            <a:avLst>
              <a:gd name="adj1" fmla="val 48795"/>
              <a:gd name="adj2" fmla="val 527"/>
              <a:gd name="adj3" fmla="val 46275"/>
              <a:gd name="adj4" fmla="val -12407"/>
              <a:gd name="adj5" fmla="val -41414"/>
              <a:gd name="adj6" fmla="val -19462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可用于指令寻址</a:t>
            </a:r>
            <a:endParaRPr lang="en-US" altLang="zh-CN" sz="1600" b="1" dirty="0" smtClean="0">
              <a:latin typeface="+mn-ea"/>
              <a:sym typeface="+mn-ea"/>
            </a:endParaRPr>
          </a:p>
        </p:txBody>
      </p:sp>
      <p:sp>
        <p:nvSpPr>
          <p:cNvPr id="33" name="AutoShape 38"/>
          <p:cNvSpPr/>
          <p:nvPr>
            <p:custDataLst>
              <p:tags r:id="rId33"/>
            </p:custDataLst>
          </p:nvPr>
        </p:nvSpPr>
        <p:spPr bwMode="auto">
          <a:xfrm>
            <a:off x="6517407" y="3570195"/>
            <a:ext cx="1800000" cy="504000"/>
          </a:xfrm>
          <a:prstGeom prst="borderCallout2">
            <a:avLst>
              <a:gd name="adj1" fmla="val 48795"/>
              <a:gd name="adj2" fmla="val 527"/>
              <a:gd name="adj3" fmla="val 46275"/>
              <a:gd name="adj4" fmla="val -12407"/>
              <a:gd name="adj5" fmla="val -35196"/>
              <a:gd name="adj6" fmla="val -31948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因需要访存，很少使用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适用于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**p)</a:t>
            </a:r>
            <a:endParaRPr lang="en-US" altLang="zh-CN" sz="1600" b="1" dirty="0" smtClean="0">
              <a:latin typeface="+mn-ea"/>
              <a:sym typeface="+mn-ea"/>
            </a:endParaRPr>
          </a:p>
        </p:txBody>
      </p:sp>
      <p:sp>
        <p:nvSpPr>
          <p:cNvPr id="63" name="Text Box 80"/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179705" y="4326255"/>
            <a:ext cx="7418705" cy="8997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寄存器间接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dirty="0" smtClean="0">
                <a:latin typeface="+mn-lt"/>
                <a:sym typeface="+mn-ea"/>
              </a:rPr>
              <a:t>Register Indirect</a:t>
            </a:r>
            <a:r>
              <a:rPr lang="en-US" altLang="zh-CN" sz="1600" dirty="0">
                <a:latin typeface="+mn-lt"/>
                <a:sym typeface="+mn-ea"/>
              </a:rPr>
              <a:t> </a:t>
            </a:r>
            <a:r>
              <a:rPr lang="en-US" altLang="zh-CN" sz="1600" dirty="0">
                <a:sym typeface="+mn-ea"/>
              </a:rPr>
              <a:t>Addressing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寻址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方式：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OPD</a:t>
            </a:r>
            <a:r>
              <a:rPr lang="zh-CN" altLang="en-US" sz="2200" b="1" dirty="0">
                <a:latin typeface="宋体" panose="02010600030101010101" pitchFamily="2" charset="-122"/>
              </a:rPr>
              <a:t>放在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中，地址参数为存放</a:t>
            </a:r>
            <a:r>
              <a:rPr lang="en-US" altLang="zh-CN" sz="2200" b="1" u="sng" dirty="0" smtClean="0">
                <a:latin typeface="宋体" panose="02010600030101010101" pitchFamily="2" charset="-122"/>
              </a:rPr>
              <a:t>OPD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的</a:t>
            </a:r>
            <a:r>
              <a:rPr lang="en-US" altLang="zh-CN" sz="2200" b="1" u="sng" dirty="0" smtClean="0">
                <a:latin typeface="宋体" panose="02010600030101010101" pitchFamily="2" charset="-122"/>
              </a:rPr>
              <a:t>EA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的地址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REG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号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1296035" y="5182235"/>
            <a:ext cx="7560945" cy="899795"/>
            <a:chOff x="2041" y="7483"/>
            <a:chExt cx="11907" cy="1417"/>
          </a:xfrm>
        </p:grpSpPr>
        <p:sp>
          <p:nvSpPr>
            <p:cNvPr id="108" name="Text Box 6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628" y="7593"/>
              <a:ext cx="124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p>
              <a:r>
                <a:rPr lang="en-US" altLang="zh-CN" sz="1600" b="1" dirty="0">
                  <a:latin typeface="宋体" panose="02010600030101010101" pitchFamily="2" charset="-122"/>
                </a:rPr>
                <a:t>F5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   </a:t>
              </a: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5" name="Text Box 52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6350" y="7880"/>
              <a:ext cx="1928" cy="102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A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6" name="Text Box 53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350" y="7483"/>
              <a:ext cx="1928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地址</a:t>
              </a:r>
              <a:r>
                <a:rPr lang="en-US" altLang="zh-CN" sz="1600" b="1" dirty="0" smtClean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 smtClean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R*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7" name="Text Box 58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4592" y="7993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>
                  <a:latin typeface="宋体" panose="02010600030101010101" pitchFamily="2" charset="-122"/>
                </a:rPr>
                <a:t>地址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号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5" name="Text Box 59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2041" y="7593"/>
              <a:ext cx="1588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err="1" smtClean="0">
                  <a:latin typeface="宋体" panose="02010600030101010101" pitchFamily="2" charset="-122"/>
                </a:rPr>
                <a:t>OPx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117" name="Text Box 62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2041" y="7993"/>
              <a:ext cx="1814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OPD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800" b="1" dirty="0" err="1" smtClean="0">
                  <a:latin typeface="宋体" panose="02010600030101010101" pitchFamily="2" charset="-122"/>
                </a:rPr>
                <a:t>Ri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8" name="Text Box 58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8334" y="8050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err="1" smtClean="0">
                  <a:latin typeface="宋体" panose="02010600030101010101" pitchFamily="2" charset="-122"/>
                </a:rPr>
                <a:t>有效地址</a:t>
              </a:r>
              <a:endParaRPr lang="zh-CN" altLang="en-US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121" name="直接箭头连接符 120"/>
            <p:cNvCxnSpPr/>
            <p:nvPr>
              <p:custDataLst>
                <p:tags r:id="rId42"/>
              </p:custDataLst>
            </p:nvPr>
          </p:nvCxnSpPr>
          <p:spPr bwMode="auto">
            <a:xfrm flipH="1">
              <a:off x="4139" y="7596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43"/>
              </p:custDataLst>
            </p:nvPr>
          </p:nvCxnSpPr>
          <p:spPr bwMode="auto">
            <a:xfrm flipH="1">
              <a:off x="4479" y="7936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44"/>
              </p:custDataLst>
            </p:nvPr>
          </p:nvCxnSpPr>
          <p:spPr bwMode="auto">
            <a:xfrm>
              <a:off x="4479" y="8390"/>
              <a:ext cx="1871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6352" y="8220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" name="直接箭头连接符 41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6350" y="8560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5" name="Text Box 11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11510" y="8220"/>
              <a:ext cx="2438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数据段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或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程序段</a:t>
              </a:r>
              <a:endPara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9" name="AutoShape 27"/>
            <p:cNvSpPr/>
            <p:nvPr>
              <p:custDataLst>
                <p:tags r:id="rId48"/>
              </p:custDataLst>
            </p:nvPr>
          </p:nvSpPr>
          <p:spPr bwMode="auto">
            <a:xfrm>
              <a:off x="11397" y="7880"/>
              <a:ext cx="113" cy="1020"/>
            </a:xfrm>
            <a:prstGeom prst="rightBrace">
              <a:avLst>
                <a:gd name="adj1" fmla="val 27343"/>
                <a:gd name="adj2" fmla="val 50000"/>
              </a:avLst>
            </a:prstGeom>
            <a:noFill/>
            <a:ln w="9525">
              <a:solidFill>
                <a:srgbClr val="990099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82" name="直接箭头连接符 81"/>
            <p:cNvCxnSpPr/>
            <p:nvPr>
              <p:custDataLst>
                <p:tags r:id="rId49"/>
              </p:custDataLst>
            </p:nvPr>
          </p:nvCxnSpPr>
          <p:spPr bwMode="auto">
            <a:xfrm>
              <a:off x="8107" y="8390"/>
              <a:ext cx="175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triangle"/>
            </a:ln>
            <a:effectLst/>
          </p:spPr>
        </p:cxnSp>
        <p:sp>
          <p:nvSpPr>
            <p:cNvPr id="99" name="Text Box 52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9865" y="7880"/>
              <a:ext cx="1474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操作数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2" name="Text Box 53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9865" y="7483"/>
              <a:ext cx="147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存储器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03" name="直接箭头连接符 102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9865" y="8220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4" name="直接箭头连接符 103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9865" y="8560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86471" name="AutoShape 45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 rot="10800000">
            <a:off x="2772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ldLvl="0" animBg="1"/>
      <p:bldP spid="64" grpId="0" bldLvl="0" animBg="1"/>
      <p:bldP spid="33" grpId="0" bldLvl="0" animBg="1"/>
      <p:bldP spid="63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51"/>
          <p:cNvSpPr txBox="1">
            <a:spLocks noChangeArrowheads="1"/>
          </p:cNvSpPr>
          <p:nvPr/>
        </p:nvSpPr>
        <p:spPr bwMode="auto">
          <a:xfrm>
            <a:off x="179705" y="360045"/>
            <a:ext cx="8551545" cy="25533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变址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寻址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600" dirty="0" smtClean="0">
                <a:solidFill>
                  <a:schemeClr val="tx1"/>
                </a:solidFill>
                <a:latin typeface="+mn-lt"/>
              </a:rPr>
              <a:t>Indexing </a:t>
            </a:r>
            <a:r>
              <a:rPr lang="en-US" altLang="zh-CN" sz="1600" dirty="0">
                <a:solidFill>
                  <a:schemeClr val="tx1"/>
                </a:solidFill>
              </a:rPr>
              <a:t>Addressing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方式：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dirty="0">
                <a:latin typeface="宋体" panose="02010600030101010101" pitchFamily="2" charset="-122"/>
              </a:rPr>
              <a:t> </a:t>
            </a:r>
            <a:r>
              <a:rPr lang="zh-CN" altLang="en-US" sz="2200" dirty="0" smtClean="0">
                <a:latin typeface="宋体" panose="02010600030101010101" pitchFamily="2" charset="-122"/>
              </a:rPr>
              <a:t>  </a:t>
            </a:r>
            <a:r>
              <a:rPr lang="en-US" altLang="zh-CN" sz="2200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OPD</a:t>
            </a:r>
            <a:r>
              <a:rPr lang="zh-CN" altLang="en-US" sz="2200" b="1" dirty="0">
                <a:latin typeface="宋体" panose="02010600030101010101" pitchFamily="2" charset="-122"/>
              </a:rPr>
              <a:t>放在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中，地址参数为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变址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REG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号及形式地址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基准地址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特点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常用于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数据块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访问，变址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的值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自动改变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每次使用时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828040" y="1296000"/>
            <a:ext cx="7559675" cy="1188085"/>
            <a:chOff x="1304" y="5272"/>
            <a:chExt cx="11905" cy="1871"/>
          </a:xfrm>
        </p:grpSpPr>
        <p:sp>
          <p:nvSpPr>
            <p:cNvPr id="18" name="Text Box 6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628" y="5439"/>
              <a:ext cx="238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p>
              <a:r>
                <a:rPr lang="en-US" altLang="zh-CN" sz="1600" b="1" dirty="0">
                  <a:latin typeface="宋体" panose="02010600030101010101" pitchFamily="2" charset="-122"/>
                </a:rPr>
                <a:t>F6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   </a:t>
              </a: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j     A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5" name="Text Box 52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6350" y="5726"/>
              <a:ext cx="1928" cy="102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变址值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6" name="Text Box 53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350" y="5329"/>
              <a:ext cx="1928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变址</a:t>
              </a:r>
              <a:r>
                <a:rPr lang="en-US" altLang="zh-CN" sz="1600" b="1" dirty="0" smtClean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 smtClean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I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*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7" name="Text Box 5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592" y="5839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>
                  <a:latin typeface="宋体" panose="02010600030101010101" pitchFamily="2" charset="-122"/>
                </a:rPr>
                <a:t>变址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号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" name="Text Box 59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041" y="5439"/>
              <a:ext cx="1588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err="1" smtClean="0">
                  <a:latin typeface="宋体" panose="02010600030101010101" pitchFamily="2" charset="-122"/>
                </a:rPr>
                <a:t>OPx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20" name="Text Box 62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304" y="5839"/>
              <a:ext cx="3061" cy="130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OPD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的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EA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800" b="1" dirty="0" smtClean="0">
                  <a:latin typeface="宋体" panose="02010600030101010101" pitchFamily="2" charset="-122"/>
                  <a:sym typeface="+mn-ea"/>
                </a:rPr>
                <a:t>(</a:t>
              </a:r>
              <a:r>
                <a:rPr lang="en-US" altLang="zh-CN" sz="1800" b="1" dirty="0" err="1" smtClean="0">
                  <a:latin typeface="宋体" panose="02010600030101010101" pitchFamily="2" charset="-122"/>
                  <a:sym typeface="+mn-ea"/>
                </a:rPr>
                <a:t>Ij</a:t>
              </a:r>
              <a:r>
                <a:rPr lang="en-US" altLang="zh-CN" sz="1800" b="1" dirty="0" smtClean="0">
                  <a:latin typeface="宋体" panose="02010600030101010101" pitchFamily="2" charset="-122"/>
                  <a:sym typeface="+mn-ea"/>
                </a:rPr>
                <a:t>)</a:t>
              </a:r>
              <a:r>
                <a:rPr lang="zh-CN" altLang="en-US" sz="1800" b="1" dirty="0" smtClean="0">
                  <a:latin typeface="宋体" panose="02010600030101010101" pitchFamily="2" charset="-122"/>
                  <a:sym typeface="+mn-ea"/>
                </a:rPr>
                <a:t>＋</a:t>
              </a:r>
              <a:r>
                <a:rPr lang="en-US" altLang="zh-CN" sz="1800" b="1" dirty="0" smtClean="0">
                  <a:latin typeface="宋体" panose="02010600030101010101" pitchFamily="2" charset="-122"/>
                  <a:sym typeface="+mn-ea"/>
                </a:rPr>
                <a:t>A</a:t>
              </a:r>
              <a:endParaRPr lang="en-US" altLang="zh-CN" sz="1800" b="1" dirty="0" smtClean="0">
                <a:latin typeface="宋体" panose="02010600030101010101" pitchFamily="2" charset="-122"/>
                <a:sym typeface="+mn-ea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800" b="1" dirty="0" smtClean="0">
                  <a:latin typeface="宋体" panose="02010600030101010101" pitchFamily="2" charset="-122"/>
                  <a:sym typeface="+mn-ea"/>
                </a:rPr>
                <a:t>   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OPD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M[EA</a:t>
              </a:r>
              <a:r>
                <a:rPr lang="en-US" altLang="zh-CN" sz="1800" b="1" dirty="0" smtClean="0">
                  <a:latin typeface="宋体" panose="02010600030101010101" pitchFamily="2" charset="-122"/>
                  <a:sym typeface="+mn-ea"/>
                </a:rPr>
                <a:t>]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 smtClean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     </a:t>
              </a:r>
              <a:r>
                <a:rPr lang="en-US" altLang="zh-CN" sz="1800" b="1" dirty="0" err="1" smtClean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Ij</a:t>
              </a:r>
              <a:r>
                <a:rPr lang="zh-CN" altLang="en-US" sz="1800" b="1" dirty="0" smtClean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←</a:t>
              </a:r>
              <a:r>
                <a:rPr lang="en-US" altLang="zh-CN" sz="1800" b="1" dirty="0" smtClean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(</a:t>
              </a:r>
              <a:r>
                <a:rPr lang="en-US" altLang="zh-CN" sz="1800" b="1" dirty="0" err="1" smtClean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Ij</a:t>
              </a:r>
              <a:r>
                <a:rPr lang="en-US" altLang="zh-CN" sz="1800" b="1" dirty="0" smtClean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)</a:t>
              </a:r>
              <a:r>
                <a:rPr lang="zh-CN" altLang="en-US" sz="1800" b="1" dirty="0" smtClean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＋</a:t>
              </a:r>
              <a:r>
                <a:rPr lang="en-US" altLang="zh-CN" sz="1800" b="1" dirty="0" smtClean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1</a:t>
              </a:r>
              <a:endPara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38" name="Text Box 5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1849" y="5613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err="1" smtClean="0">
                  <a:latin typeface="宋体" panose="02010600030101010101" pitchFamily="2" charset="-122"/>
                </a:rPr>
                <a:t>块首址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A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21" name="直接箭头连接符 20"/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4139" y="5442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4479" y="5782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10"/>
              </p:custDataLst>
            </p:nvPr>
          </p:nvCxnSpPr>
          <p:spPr bwMode="auto">
            <a:xfrm>
              <a:off x="4479" y="6236"/>
              <a:ext cx="1871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6352" y="6066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2" name="直接箭头连接符 41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6350" y="6406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13"/>
              </p:custDataLst>
            </p:nvPr>
          </p:nvCxnSpPr>
          <p:spPr bwMode="auto">
            <a:xfrm>
              <a:off x="8107" y="6236"/>
              <a:ext cx="62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triangle"/>
            </a:ln>
            <a:effectLst/>
          </p:spPr>
        </p:cxnSp>
        <p:sp>
          <p:nvSpPr>
            <p:cNvPr id="45" name="Text Box 1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1226" y="6066"/>
              <a:ext cx="113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数据段</a:t>
              </a:r>
              <a:endParaRPr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9" name="AutoShape 27"/>
            <p:cNvSpPr/>
            <p:nvPr>
              <p:custDataLst>
                <p:tags r:id="rId15"/>
              </p:custDataLst>
            </p:nvPr>
          </p:nvSpPr>
          <p:spPr bwMode="auto">
            <a:xfrm>
              <a:off x="11113" y="5726"/>
              <a:ext cx="113" cy="1020"/>
            </a:xfrm>
            <a:prstGeom prst="rightBrace">
              <a:avLst>
                <a:gd name="adj1" fmla="val 27343"/>
                <a:gd name="adj2" fmla="val 50000"/>
              </a:avLst>
            </a:prstGeom>
            <a:noFill/>
            <a:ln w="9525">
              <a:solidFill>
                <a:srgbClr val="990099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23" name="Text Box 52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9581" y="5726"/>
              <a:ext cx="1474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操作数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" name="Text Box 53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581" y="5329"/>
              <a:ext cx="147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存储器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5" name="直接箭头连接符 24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9581" y="6066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" name="直接箭头连接符 25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9581" y="6406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" name="直接箭头连接符 26"/>
            <p:cNvCxnSpPr/>
            <p:nvPr>
              <p:custDataLst>
                <p:tags r:id="rId20"/>
              </p:custDataLst>
            </p:nvPr>
          </p:nvCxnSpPr>
          <p:spPr bwMode="auto">
            <a:xfrm flipH="1">
              <a:off x="4876" y="5436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30" name="Oval 89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8731" y="6066"/>
              <a:ext cx="340" cy="3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 anchor="ctr"/>
            <a:p>
              <a:pPr algn="ctr"/>
              <a:r>
                <a:rPr lang="zh-CN" altLang="en-US" sz="1600" b="1"/>
                <a:t>＋</a:t>
              </a:r>
              <a:endParaRPr lang="zh-CN" altLang="en-US" sz="1600" b="1"/>
            </a:p>
          </p:txBody>
        </p:sp>
        <p:cxnSp>
          <p:nvCxnSpPr>
            <p:cNvPr id="32" name="直接箭头连接符 31"/>
            <p:cNvCxnSpPr/>
            <p:nvPr>
              <p:custDataLst>
                <p:tags r:id="rId22"/>
              </p:custDataLst>
            </p:nvPr>
          </p:nvCxnSpPr>
          <p:spPr bwMode="auto">
            <a:xfrm>
              <a:off x="8901" y="5272"/>
              <a:ext cx="0" cy="794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5443" y="5272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4" name="直接箭头连接符 33"/>
            <p:cNvCxnSpPr/>
            <p:nvPr>
              <p:custDataLst>
                <p:tags r:id="rId24"/>
              </p:custDataLst>
            </p:nvPr>
          </p:nvCxnSpPr>
          <p:spPr bwMode="auto">
            <a:xfrm>
              <a:off x="5443" y="5272"/>
              <a:ext cx="345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25"/>
              </p:custDataLst>
            </p:nvPr>
          </p:nvCxnSpPr>
          <p:spPr bwMode="auto">
            <a:xfrm>
              <a:off x="9071" y="6236"/>
              <a:ext cx="51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6" name="直接箭头连接符 45"/>
            <p:cNvCxnSpPr/>
            <p:nvPr>
              <p:custDataLst>
                <p:tags r:id="rId26"/>
              </p:custDataLst>
            </p:nvPr>
          </p:nvCxnSpPr>
          <p:spPr bwMode="auto">
            <a:xfrm flipH="1">
              <a:off x="11225" y="5783"/>
              <a:ext cx="62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8" name="Text Box 51"/>
          <p:cNvSpPr txBox="1">
            <a:spLocks noChangeArrowheads="1"/>
          </p:cNvSpPr>
          <p:nvPr/>
        </p:nvSpPr>
        <p:spPr bwMode="auto">
          <a:xfrm>
            <a:off x="180000" y="2783205"/>
            <a:ext cx="8551545" cy="30562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基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址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寻址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600" dirty="0" smtClean="0">
                <a:solidFill>
                  <a:schemeClr val="tx1"/>
                </a:solidFill>
                <a:latin typeface="+mn-lt"/>
              </a:rPr>
              <a:t>Base</a:t>
            </a:r>
            <a:r>
              <a:rPr lang="en-US" altLang="zh-CN" sz="1600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Addressing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方式：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dirty="0">
                <a:latin typeface="宋体" panose="02010600030101010101" pitchFamily="2" charset="-122"/>
              </a:rPr>
              <a:t> </a:t>
            </a:r>
            <a:r>
              <a:rPr lang="zh-CN" altLang="en-US" sz="2200" dirty="0" smtClean="0">
                <a:latin typeface="宋体" panose="02010600030101010101" pitchFamily="2" charset="-122"/>
              </a:rPr>
              <a:t>  </a:t>
            </a:r>
            <a:r>
              <a:rPr lang="en-US" altLang="zh-CN" sz="2200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OPD</a:t>
            </a:r>
            <a:r>
              <a:rPr lang="zh-CN" altLang="en-US" sz="2200" b="1" dirty="0">
                <a:latin typeface="宋体" panose="02010600030101010101" pitchFamily="2" charset="-122"/>
              </a:rPr>
              <a:t>放在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中，地址参数为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基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址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REG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号及形式地址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偏移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地址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特点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常用于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段式存储管理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说明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基址</a:t>
            </a:r>
            <a:r>
              <a:rPr lang="en-US" altLang="zh-CN" sz="2200" b="1" spc="-100" dirty="0" smtClean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组</a:t>
            </a:r>
            <a:r>
              <a:rPr lang="en-US" altLang="zh-CN" sz="2200" b="1" spc="-100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变址</a:t>
            </a:r>
            <a:r>
              <a:rPr lang="en-US" altLang="zh-CN" sz="2200" b="1" spc="-100" dirty="0" smtClean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组仅含</a:t>
            </a:r>
            <a:r>
              <a:rPr lang="en-US" altLang="zh-CN" sz="2200" b="1" u="sng" spc="-100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spc="-100" dirty="0" smtClean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spc="-100" dirty="0" smtClean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时，</a:t>
            </a:r>
            <a:r>
              <a:rPr lang="en-US" altLang="zh-CN" sz="2200" b="1" spc="-100" dirty="0" smtClean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号</a:t>
            </a:r>
            <a:r>
              <a:rPr lang="en-US" altLang="zh-CN" sz="2200" b="1" spc="-100" dirty="0" smtClean="0">
                <a:latin typeface="宋体" panose="02010600030101010101" pitchFamily="2" charset="-122"/>
                <a:sym typeface="+mn-ea"/>
              </a:rPr>
              <a:t>j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需</a:t>
            </a:r>
            <a:r>
              <a:rPr lang="zh-CN" altLang="en-US" sz="2200" b="1" u="sng" spc="-100" dirty="0" smtClean="0">
                <a:latin typeface="宋体" panose="02010600030101010101" pitchFamily="2" charset="-122"/>
                <a:sym typeface="+mn-ea"/>
              </a:rPr>
              <a:t>隐式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表示</a:t>
            </a:r>
            <a:endParaRPr lang="en-US" altLang="zh-CN" sz="2200" b="1" spc="-100" dirty="0" smtClean="0">
              <a:latin typeface="宋体" panose="02010600030101010101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600" b="1" spc="-100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spc="-100" dirty="0" smtClean="0">
                <a:latin typeface="宋体" panose="02010600030101010101" pitchFamily="2" charset="-122"/>
                <a:sym typeface="+mn-ea"/>
              </a:rPr>
              <a:t>                                                  </a:t>
            </a:r>
            <a:r>
              <a:rPr lang="zh-CN" altLang="en-US" sz="1600" spc="-100" dirty="0" smtClean="0">
                <a:latin typeface="宋体" panose="02010600030101010101" pitchFamily="2" charset="-122"/>
                <a:sym typeface="+mn-ea"/>
              </a:rPr>
              <a:t>└─</a:t>
            </a:r>
            <a:r>
              <a:rPr lang="zh-CN" altLang="en-US" sz="1600" spc="-100" dirty="0" smtClean="0">
                <a:latin typeface="宋体" panose="02010600030101010101" pitchFamily="2" charset="-122"/>
                <a:sym typeface="+mn-ea"/>
              </a:rPr>
              <a:t>─</a:t>
            </a:r>
            <a:r>
              <a:rPr lang="zh-CN" altLang="en-US" sz="1600" b="1" spc="-100" dirty="0" smtClean="0">
                <a:latin typeface="宋体" panose="02010600030101010101" pitchFamily="2" charset="-122"/>
                <a:sym typeface="+mn-ea"/>
              </a:rPr>
              <a:t>→ 编码恒为</a:t>
            </a:r>
            <a:r>
              <a:rPr lang="en-US" altLang="zh-CN" sz="1600" b="1" spc="-100" dirty="0" smtClean="0">
                <a:latin typeface="宋体" panose="02010600030101010101" pitchFamily="2" charset="-122"/>
                <a:sym typeface="+mn-ea"/>
              </a:rPr>
              <a:t>0 </a:t>
            </a:r>
            <a:r>
              <a:rPr lang="zh-CN" altLang="en-US" sz="1600" b="1" spc="-100" dirty="0" smtClean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600" spc="-100" dirty="0" smtClean="0">
                <a:latin typeface="宋体" panose="02010600030101010101" pitchFamily="2" charset="-122"/>
                <a:sym typeface="+mn-ea"/>
              </a:rPr>
              <a:t>─</a:t>
            </a:r>
            <a:r>
              <a:rPr lang="zh-CN" altLang="en-US" sz="1600" spc="-100" dirty="0" smtClean="0">
                <a:latin typeface="宋体" panose="02010600030101010101" pitchFamily="2" charset="-122"/>
                <a:sym typeface="+mn-ea"/>
              </a:rPr>
              <a:t>─</a:t>
            </a:r>
            <a:r>
              <a:rPr lang="zh-CN" altLang="en-US" sz="1600" spc="-100" dirty="0" smtClean="0"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spc="-100" dirty="0" smtClean="0">
                <a:latin typeface="宋体" panose="02010600030101010101" pitchFamily="2" charset="-122"/>
                <a:sym typeface="+mn-ea"/>
              </a:rPr>
              <a:t>    </a:t>
            </a:r>
            <a:endParaRPr lang="en-US" altLang="zh-CN" sz="1600" b="1" spc="-100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28000" y="3708000"/>
            <a:ext cx="7812405" cy="935990"/>
            <a:chOff x="1304" y="5272"/>
            <a:chExt cx="12303" cy="1474"/>
          </a:xfrm>
        </p:grpSpPr>
        <p:sp>
          <p:nvSpPr>
            <p:cNvPr id="50" name="Text Box 6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628" y="5439"/>
              <a:ext cx="238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p>
              <a:r>
                <a:rPr lang="en-US" altLang="zh-CN" sz="1600" b="1" dirty="0">
                  <a:latin typeface="宋体" panose="02010600030101010101" pitchFamily="2" charset="-122"/>
                </a:rPr>
                <a:t>F7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   </a:t>
              </a: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j     A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" name="Text Box 52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350" y="5726"/>
              <a:ext cx="1928" cy="102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基地址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A</a:t>
              </a:r>
              <a:r>
                <a:rPr lang="en-US" altLang="zh-CN" sz="1600" b="1" dirty="0" smtClean="0">
                  <a:sym typeface="Symbol" panose="05050102010706020507"/>
                </a:rPr>
                <a:t>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2" name="Text Box 53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350" y="5329"/>
              <a:ext cx="1928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基址</a:t>
              </a:r>
              <a:r>
                <a:rPr lang="en-US" altLang="zh-CN" sz="1600" b="1" dirty="0" smtClean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 smtClean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B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*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3" name="Text Box 5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592" y="5839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>
                  <a:latin typeface="宋体" panose="02010600030101010101" pitchFamily="2" charset="-122"/>
                </a:rPr>
                <a:t>基址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号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4" name="Text Box 59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2041" y="5439"/>
              <a:ext cx="1588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err="1" smtClean="0">
                  <a:latin typeface="宋体" panose="02010600030101010101" pitchFamily="2" charset="-122"/>
                </a:rPr>
                <a:t>OPx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55" name="Text Box 62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304" y="5839"/>
              <a:ext cx="3061" cy="8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OPD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的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EA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800" b="1" dirty="0" smtClean="0">
                  <a:latin typeface="宋体" panose="02010600030101010101" pitchFamily="2" charset="-122"/>
                  <a:sym typeface="+mn-ea"/>
                </a:rPr>
                <a:t>(</a:t>
              </a:r>
              <a:r>
                <a:rPr lang="en-US" altLang="zh-CN" sz="1800" b="1" dirty="0" err="1" smtClean="0">
                  <a:latin typeface="宋体" panose="02010600030101010101" pitchFamily="2" charset="-122"/>
                  <a:sym typeface="+mn-ea"/>
                </a:rPr>
                <a:t>B</a:t>
              </a:r>
              <a:r>
                <a:rPr lang="en-US" altLang="zh-CN" sz="1800" b="1" dirty="0" err="1" smtClean="0">
                  <a:latin typeface="宋体" panose="02010600030101010101" pitchFamily="2" charset="-122"/>
                  <a:sym typeface="+mn-ea"/>
                </a:rPr>
                <a:t>j</a:t>
              </a:r>
              <a:r>
                <a:rPr lang="en-US" altLang="zh-CN" sz="1800" b="1" dirty="0" smtClean="0">
                  <a:latin typeface="宋体" panose="02010600030101010101" pitchFamily="2" charset="-122"/>
                  <a:sym typeface="+mn-ea"/>
                </a:rPr>
                <a:t>)</a:t>
              </a:r>
              <a:r>
                <a:rPr lang="zh-CN" altLang="en-US" sz="1800" b="1" dirty="0" smtClean="0">
                  <a:latin typeface="宋体" panose="02010600030101010101" pitchFamily="2" charset="-122"/>
                  <a:sym typeface="+mn-ea"/>
                </a:rPr>
                <a:t>＋</a:t>
              </a:r>
              <a:r>
                <a:rPr lang="en-US" altLang="zh-CN" sz="1800" b="1" dirty="0" smtClean="0">
                  <a:latin typeface="宋体" panose="02010600030101010101" pitchFamily="2" charset="-122"/>
                  <a:sym typeface="+mn-ea"/>
                </a:rPr>
                <a:t>A</a:t>
              </a:r>
              <a:endParaRPr lang="en-US" altLang="zh-CN" sz="1800" b="1" dirty="0" smtClean="0">
                <a:latin typeface="宋体" panose="02010600030101010101" pitchFamily="2" charset="-122"/>
                <a:sym typeface="+mn-ea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800" b="1" dirty="0" smtClean="0">
                  <a:latin typeface="宋体" panose="02010600030101010101" pitchFamily="2" charset="-122"/>
                  <a:sym typeface="+mn-ea"/>
                </a:rPr>
                <a:t>   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OPD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  <a:sym typeface="+mn-ea"/>
                </a:rPr>
                <a:t>M[EA</a:t>
              </a:r>
              <a:r>
                <a:rPr lang="en-US" altLang="zh-CN" sz="1800" b="1" dirty="0" smtClean="0">
                  <a:latin typeface="宋体" panose="02010600030101010101" pitchFamily="2" charset="-122"/>
                  <a:sym typeface="+mn-ea"/>
                </a:rPr>
                <a:t>]</a:t>
              </a:r>
              <a:endPara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56" name="Text Box 58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1849" y="5613"/>
              <a:ext cx="141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err="1" smtClean="0">
                  <a:latin typeface="宋体" panose="02010600030101010101" pitchFamily="2" charset="-122"/>
                </a:rPr>
                <a:t>段基址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dirty="0" smtClean="0">
                  <a:sym typeface="Symbol" panose="05050102010706020507"/>
                </a:rPr>
                <a:t>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57" name="直接箭头连接符 56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4139" y="5442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58" name="直接箭头连接符 57"/>
            <p:cNvCxnSpPr/>
            <p:nvPr>
              <p:custDataLst>
                <p:tags r:id="rId35"/>
              </p:custDataLst>
            </p:nvPr>
          </p:nvCxnSpPr>
          <p:spPr bwMode="auto">
            <a:xfrm flipH="1">
              <a:off x="4479" y="5782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0" name="直接箭头连接符 59"/>
            <p:cNvCxnSpPr/>
            <p:nvPr>
              <p:custDataLst>
                <p:tags r:id="rId36"/>
              </p:custDataLst>
            </p:nvPr>
          </p:nvCxnSpPr>
          <p:spPr bwMode="auto">
            <a:xfrm>
              <a:off x="4479" y="6236"/>
              <a:ext cx="1871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6352" y="6066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6350" y="6406"/>
              <a:ext cx="192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3" name="直接箭头连接符 62"/>
            <p:cNvCxnSpPr/>
            <p:nvPr>
              <p:custDataLst>
                <p:tags r:id="rId39"/>
              </p:custDataLst>
            </p:nvPr>
          </p:nvCxnSpPr>
          <p:spPr bwMode="auto">
            <a:xfrm>
              <a:off x="8107" y="6236"/>
              <a:ext cx="62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triangle"/>
            </a:ln>
            <a:effectLst/>
          </p:spPr>
        </p:cxnSp>
        <p:sp>
          <p:nvSpPr>
            <p:cNvPr id="64" name="Text Box 11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1226" y="6066"/>
              <a:ext cx="238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数据段或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程序段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5" name="AutoShape 27"/>
            <p:cNvSpPr/>
            <p:nvPr>
              <p:custDataLst>
                <p:tags r:id="rId41"/>
              </p:custDataLst>
            </p:nvPr>
          </p:nvSpPr>
          <p:spPr bwMode="auto">
            <a:xfrm>
              <a:off x="11113" y="5726"/>
              <a:ext cx="113" cy="1020"/>
            </a:xfrm>
            <a:prstGeom prst="rightBrace">
              <a:avLst>
                <a:gd name="adj1" fmla="val 27343"/>
                <a:gd name="adj2" fmla="val 50000"/>
              </a:avLst>
            </a:prstGeom>
            <a:noFill/>
            <a:ln w="9525">
              <a:solidFill>
                <a:srgbClr val="990099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6" name="Text Box 52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9581" y="5726"/>
              <a:ext cx="1474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操作数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7" name="Text Box 53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9581" y="5329"/>
              <a:ext cx="147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存储器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68" name="直接箭头连接符 67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9581" y="6066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9" name="直接箭头连接符 68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9581" y="6406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0" name="直接箭头连接符 69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4876" y="5436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71" name="Oval 89"/>
            <p:cNvSpPr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8731" y="6066"/>
              <a:ext cx="340" cy="3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 anchor="ctr"/>
            <a:p>
              <a:pPr algn="ctr"/>
              <a:r>
                <a:rPr lang="zh-CN" altLang="en-US" sz="1600" b="1"/>
                <a:t>＋</a:t>
              </a:r>
              <a:endParaRPr lang="zh-CN" altLang="en-US" sz="1600" b="1"/>
            </a:p>
          </p:txBody>
        </p:sp>
        <p:cxnSp>
          <p:nvCxnSpPr>
            <p:cNvPr id="72" name="直接箭头连接符 71"/>
            <p:cNvCxnSpPr/>
            <p:nvPr>
              <p:custDataLst>
                <p:tags r:id="rId48"/>
              </p:custDataLst>
            </p:nvPr>
          </p:nvCxnSpPr>
          <p:spPr bwMode="auto">
            <a:xfrm>
              <a:off x="8901" y="5272"/>
              <a:ext cx="0" cy="794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直接箭头连接符 72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5443" y="5272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4" name="直接箭头连接符 73"/>
            <p:cNvCxnSpPr/>
            <p:nvPr>
              <p:custDataLst>
                <p:tags r:id="rId50"/>
              </p:custDataLst>
            </p:nvPr>
          </p:nvCxnSpPr>
          <p:spPr bwMode="auto">
            <a:xfrm>
              <a:off x="5443" y="5272"/>
              <a:ext cx="345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5" name="直接箭头连接符 74"/>
            <p:cNvCxnSpPr/>
            <p:nvPr>
              <p:custDataLst>
                <p:tags r:id="rId51"/>
              </p:custDataLst>
            </p:nvPr>
          </p:nvCxnSpPr>
          <p:spPr bwMode="auto">
            <a:xfrm>
              <a:off x="9071" y="6236"/>
              <a:ext cx="51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6" name="直接箭头连接符 75"/>
            <p:cNvCxnSpPr/>
            <p:nvPr>
              <p:custDataLst>
                <p:tags r:id="rId52"/>
              </p:custDataLst>
            </p:nvPr>
          </p:nvCxnSpPr>
          <p:spPr bwMode="auto">
            <a:xfrm flipH="1">
              <a:off x="11225" y="5783"/>
              <a:ext cx="62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77" name="Text Box 8"/>
          <p:cNvSpPr txBox="1"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1368580" y="5832000"/>
            <a:ext cx="428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anchor="ctr" anchorCtr="0">
            <a:noAutofit/>
          </a:bodyPr>
          <a:p>
            <a:pPr marL="805180" indent="-80518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变址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寻址与基址寻址的根本区别？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78" name="AutoShape 38"/>
          <p:cNvSpPr/>
          <p:nvPr>
            <p:custDataLst>
              <p:tags r:id="rId54"/>
            </p:custDataLst>
          </p:nvPr>
        </p:nvSpPr>
        <p:spPr bwMode="auto">
          <a:xfrm>
            <a:off x="5220410" y="2996790"/>
            <a:ext cx="1548000" cy="252000"/>
          </a:xfrm>
          <a:prstGeom prst="borderCallout2">
            <a:avLst>
              <a:gd name="adj1" fmla="val 48795"/>
              <a:gd name="adj2" fmla="val 527"/>
              <a:gd name="adj3" fmla="val 46275"/>
              <a:gd name="adj4" fmla="val -12407"/>
              <a:gd name="adj5" fmla="val 137746"/>
              <a:gd name="adj6" fmla="val -26299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(Bj)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为基准地址</a:t>
            </a:r>
            <a:endParaRPr lang="zh-CN" altLang="en-US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9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 rot="5400000">
            <a:off x="277200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243806" name="AutoShape 94">
            <a:hlinkClick r:id="rId56" tooltip="" action="ppaction://hlinksldjump" highlightClick="1"/>
          </p:cNvPr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bldLvl="0" animBg="1"/>
      <p:bldP spid="78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组合 9"/>
          <p:cNvGrpSpPr/>
          <p:nvPr/>
        </p:nvGrpSpPr>
        <p:grpSpPr>
          <a:xfrm>
            <a:off x="3204845" y="1980565"/>
            <a:ext cx="4572000" cy="864235"/>
            <a:chOff x="5386" y="3458"/>
            <a:chExt cx="7200" cy="1361"/>
          </a:xfrm>
        </p:grpSpPr>
        <p:sp>
          <p:nvSpPr>
            <p:cNvPr id="49" name="矩形 48"/>
            <p:cNvSpPr/>
            <p:nvPr>
              <p:custDataLst>
                <p:tags r:id="rId1"/>
              </p:custDataLst>
            </p:nvPr>
          </p:nvSpPr>
          <p:spPr bwMode="auto">
            <a:xfrm>
              <a:off x="5386" y="3458"/>
              <a:ext cx="7200" cy="1361"/>
            </a:xfrm>
            <a:prstGeom prst="rect">
              <a:avLst/>
            </a:prstGeom>
            <a:solidFill>
              <a:srgbClr val="CCCCFF">
                <a:alpha val="70000"/>
              </a:srgbClr>
            </a:solidFill>
            <a:ln w="12700" cap="flat" cmpd="sng" algn="ctr">
              <a:noFill/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矩形 54"/>
            <p:cNvSpPr/>
            <p:nvPr>
              <p:custDataLst>
                <p:tags r:id="rId2"/>
              </p:custDataLst>
            </p:nvPr>
          </p:nvSpPr>
          <p:spPr bwMode="auto">
            <a:xfrm>
              <a:off x="5498" y="4139"/>
              <a:ext cx="1247" cy="68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矩形 56"/>
            <p:cNvSpPr/>
            <p:nvPr>
              <p:custDataLst>
                <p:tags r:id="rId3"/>
              </p:custDataLst>
            </p:nvPr>
          </p:nvSpPr>
          <p:spPr bwMode="auto">
            <a:xfrm>
              <a:off x="7370" y="3458"/>
              <a:ext cx="1247" cy="68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51" name="Text Box 260"/>
          <p:cNvSpPr txBox="1">
            <a:spLocks noChangeArrowheads="1"/>
          </p:cNvSpPr>
          <p:nvPr/>
        </p:nvSpPr>
        <p:spPr bwMode="auto">
          <a:xfrm>
            <a:off x="179388" y="338897"/>
            <a:ext cx="8785100" cy="16071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寄存器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常见组织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理论上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数据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REG/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地址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REG/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基址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REG/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变址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REG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间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无关联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①</a:t>
            </a:r>
            <a:r>
              <a:rPr lang="zh-CN" altLang="en-US" sz="2200" b="1" dirty="0">
                <a:latin typeface="宋体" panose="02010600030101010101" pitchFamily="2" charset="-122"/>
              </a:rPr>
              <a:t>基址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REG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、变址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REG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常为</a:t>
            </a:r>
            <a:r>
              <a:rPr lang="zh-CN" altLang="en-US" sz="2200" b="1" u="sng" dirty="0">
                <a:latin typeface="宋体" panose="02010600030101010101" pitchFamily="2" charset="-122"/>
              </a:rPr>
              <a:t>地址</a:t>
            </a:r>
            <a:r>
              <a:rPr lang="en-US" altLang="zh-CN" sz="2200" b="1" u="sng" dirty="0">
                <a:latin typeface="宋体" panose="02010600030101010101" pitchFamily="2" charset="-122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子集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←降低成本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                                       </a:t>
            </a:r>
            <a:r>
              <a:rPr lang="zh-CN" altLang="en-US" sz="1600" dirty="0" smtClean="0">
                <a:latin typeface="宋体" panose="02010600030101010101" pitchFamily="2" charset="-122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具有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变址功能，指令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指明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是否变址</a:t>
            </a:r>
            <a:endParaRPr lang="en-US" altLang="zh-CN" sz="1600" b="1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 ②</a:t>
            </a:r>
            <a:r>
              <a:rPr lang="zh-CN" altLang="en-US" sz="2200" b="1" dirty="0">
                <a:latin typeface="宋体" panose="02010600030101010101" pitchFamily="2" charset="-122"/>
              </a:rPr>
              <a:t>数据</a:t>
            </a:r>
            <a:r>
              <a:rPr lang="en-US" altLang="zh-CN" sz="2200" b="1" dirty="0">
                <a:latin typeface="宋体" panose="02010600030101010101" pitchFamily="2" charset="-122"/>
              </a:rPr>
              <a:t>REG</a:t>
            </a:r>
            <a:r>
              <a:rPr lang="zh-CN" altLang="en-US" sz="2200" b="1" dirty="0">
                <a:latin typeface="宋体" panose="02010600030101010101" pitchFamily="2" charset="-122"/>
              </a:rPr>
              <a:t>与地址</a:t>
            </a:r>
            <a:r>
              <a:rPr lang="en-US" altLang="zh-CN" sz="2200" b="1" dirty="0">
                <a:latin typeface="宋体" panose="02010600030101010101" pitchFamily="2" charset="-122"/>
              </a:rPr>
              <a:t>REG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常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混用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称为</a:t>
            </a:r>
            <a:r>
              <a:rPr lang="zh-CN" altLang="en-US" sz="1600" b="1" u="sng" dirty="0" smtClean="0">
                <a:latin typeface="宋体" panose="02010600030101010101" pitchFamily="2" charset="-122"/>
              </a:rPr>
              <a:t>通用寄存器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GPR)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降低成本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392930" y="2376805"/>
            <a:ext cx="3312160" cy="431800"/>
            <a:chOff x="7257" y="4082"/>
            <a:chExt cx="5216" cy="680"/>
          </a:xfrm>
        </p:grpSpPr>
        <p:sp>
          <p:nvSpPr>
            <p:cNvPr id="53" name="矩形 52"/>
            <p:cNvSpPr/>
            <p:nvPr>
              <p:custDataLst>
                <p:tags r:id="rId4"/>
              </p:custDataLst>
            </p:nvPr>
          </p:nvSpPr>
          <p:spPr bwMode="auto">
            <a:xfrm>
              <a:off x="7257" y="4082"/>
              <a:ext cx="5216" cy="680"/>
            </a:xfrm>
            <a:prstGeom prst="rect">
              <a:avLst/>
            </a:prstGeom>
            <a:solidFill>
              <a:srgbClr val="99CCFF"/>
            </a:solidFill>
            <a:ln w="12700" cap="flat" cmpd="sng" algn="ctr">
              <a:noFill/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" name="矩形 90"/>
            <p:cNvSpPr/>
            <p:nvPr>
              <p:custDataLst>
                <p:tags r:id="rId5"/>
              </p:custDataLst>
            </p:nvPr>
          </p:nvSpPr>
          <p:spPr bwMode="auto">
            <a:xfrm>
              <a:off x="9242" y="4422"/>
              <a:ext cx="1247" cy="34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" name="矩形 91"/>
            <p:cNvSpPr/>
            <p:nvPr>
              <p:custDataLst>
                <p:tags r:id="rId6"/>
              </p:custDataLst>
            </p:nvPr>
          </p:nvSpPr>
          <p:spPr bwMode="auto">
            <a:xfrm>
              <a:off x="11112" y="4082"/>
              <a:ext cx="1247" cy="34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872615" y="1980565"/>
            <a:ext cx="5904230" cy="1151890"/>
            <a:chOff x="3288" y="3458"/>
            <a:chExt cx="9298" cy="1814"/>
          </a:xfrm>
        </p:grpSpPr>
        <p:sp>
          <p:nvSpPr>
            <p:cNvPr id="54" name="Text Box 9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498" y="3458"/>
              <a:ext cx="1247" cy="68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11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个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6" name="Text Box 9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912" y="3458"/>
              <a:ext cx="1247" cy="175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endParaRPr lang="zh-CN" altLang="en-US" sz="20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可见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REG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endParaRPr lang="en-US" altLang="zh-CN" sz="20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9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专用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REG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8" name="直接箭头连接符 57"/>
            <p:cNvCxnSpPr/>
            <p:nvPr>
              <p:custDataLst>
                <p:tags r:id="rId9"/>
              </p:custDataLst>
            </p:nvPr>
          </p:nvCxnSpPr>
          <p:spPr bwMode="auto">
            <a:xfrm>
              <a:off x="3912" y="4819"/>
              <a:ext cx="124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0" name="Text Box 98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370" y="4082"/>
              <a:ext cx="1247" cy="68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11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N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个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3" name="左大括号 92"/>
            <p:cNvSpPr/>
            <p:nvPr>
              <p:custDataLst>
                <p:tags r:id="rId11"/>
              </p:custDataLst>
            </p:nvPr>
          </p:nvSpPr>
          <p:spPr bwMode="auto">
            <a:xfrm>
              <a:off x="3685" y="3515"/>
              <a:ext cx="170" cy="1644"/>
            </a:xfrm>
            <a:prstGeom prst="leftBrace">
              <a:avLst>
                <a:gd name="adj1" fmla="val 17409"/>
                <a:gd name="adj2" fmla="val 50000"/>
              </a:avLst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" name="Text Box 2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88" y="3458"/>
              <a:ext cx="340" cy="175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t" anchorCtr="0"/>
            <a:p>
              <a:pPr algn="ctr">
                <a:lnSpc>
                  <a:spcPct val="8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所有寄存器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6" name="Text Box 2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386" y="4932"/>
              <a:ext cx="720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数据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组  </a:t>
              </a:r>
              <a:r>
                <a:rPr lang="en-US" altLang="zh-CN" sz="1600" b="1" baseline="-25000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地址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组  </a:t>
              </a:r>
              <a:r>
                <a:rPr lang="zh-CN" altLang="en-US" sz="1600" b="1" baseline="-25000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基址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组 </a:t>
              </a:r>
              <a:r>
                <a:rPr lang="zh-CN" altLang="en-US" sz="1600" b="1" baseline="-25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baseline="-25000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变址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组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61" name="Text Box 98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9242" y="4082"/>
              <a:ext cx="1247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11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个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6" name="Text Box 9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1112" y="4422"/>
              <a:ext cx="1247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11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Q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个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</p:grpSp>
      <p:sp>
        <p:nvSpPr>
          <p:cNvPr id="199708" name="Text Box 28"/>
          <p:cNvSpPr txBox="1">
            <a:spLocks noChangeArrowheads="1"/>
          </p:cNvSpPr>
          <p:nvPr/>
        </p:nvSpPr>
        <p:spPr bwMode="auto">
          <a:xfrm>
            <a:off x="179388" y="3151268"/>
            <a:ext cx="8785225" cy="23539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相对寻址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dirty="0" smtClean="0">
                <a:solidFill>
                  <a:schemeClr val="tx1"/>
                </a:solidFill>
                <a:latin typeface="+mn-lt"/>
                <a:sym typeface="+mn-ea"/>
              </a:rPr>
              <a:t>Relative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 Addressing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方式：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1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指令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放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中，地址参数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为形式</a:t>
            </a:r>
            <a:r>
              <a:rPr lang="zh-CN" altLang="en-US" sz="2200" b="1" dirty="0">
                <a:latin typeface="宋体" panose="02010600030101010101" pitchFamily="2" charset="-122"/>
              </a:rPr>
              <a:t>地址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偏移量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15000"/>
              </a:lnSpc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15000"/>
              </a:lnSpc>
            </a:pP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15000"/>
              </a:lnSpc>
            </a:pP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说明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spc="-50" dirty="0" smtClean="0">
                <a:latin typeface="宋体" panose="02010600030101010101" pitchFamily="2" charset="-122"/>
                <a:sym typeface="+mn-ea"/>
              </a:rPr>
              <a:t>相对寻址的</a:t>
            </a:r>
            <a:r>
              <a:rPr lang="en-US" altLang="zh-CN" sz="2200" b="1" spc="-50" dirty="0" smtClean="0">
                <a:latin typeface="宋体" panose="02010600030101010101" pitchFamily="2" charset="-122"/>
                <a:sym typeface="+mn-ea"/>
              </a:rPr>
              <a:t>A</a:t>
            </a:r>
            <a:r>
              <a:rPr lang="zh-CN" altLang="en-US" sz="2200" b="1" spc="-50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spc="-5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有</a:t>
            </a:r>
            <a:r>
              <a:rPr lang="zh-CN" altLang="en-US" sz="2200" b="1" spc="-5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符号</a:t>
            </a:r>
            <a:r>
              <a:rPr lang="zh-CN" altLang="en-US" sz="2200" b="1" spc="-5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数</a:t>
            </a:r>
            <a:r>
              <a:rPr lang="zh-CN" altLang="en-US" sz="2200" b="1" spc="-50" dirty="0" smtClean="0">
                <a:latin typeface="宋体" panose="02010600030101010101" pitchFamily="2" charset="-122"/>
                <a:sym typeface="+mn-ea"/>
              </a:rPr>
              <a:t>！变址</a:t>
            </a:r>
            <a:r>
              <a:rPr lang="en-US" altLang="zh-CN" sz="2200" b="1" spc="-50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spc="-50" dirty="0" smtClean="0">
                <a:latin typeface="宋体" panose="02010600030101010101" pitchFamily="2" charset="-122"/>
                <a:sym typeface="+mn-ea"/>
              </a:rPr>
              <a:t>基址寻址的</a:t>
            </a:r>
            <a:r>
              <a:rPr lang="en-US" altLang="zh-CN" sz="2200" b="1" spc="-50" dirty="0" smtClean="0">
                <a:latin typeface="宋体" panose="02010600030101010101" pitchFamily="2" charset="-122"/>
                <a:sym typeface="+mn-ea"/>
              </a:rPr>
              <a:t>A</a:t>
            </a:r>
            <a:r>
              <a:rPr lang="zh-CN" altLang="en-US" sz="2200" b="1" spc="-5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常</a:t>
            </a:r>
            <a:r>
              <a:rPr lang="zh-CN" altLang="en-US" sz="2200" b="1" spc="-50" dirty="0" smtClean="0">
                <a:latin typeface="宋体" panose="02010600030101010101" pitchFamily="2" charset="-122"/>
                <a:sym typeface="+mn-ea"/>
              </a:rPr>
              <a:t>为无符号数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296035" y="4065270"/>
            <a:ext cx="5869940" cy="935990"/>
            <a:chOff x="2041" y="5159"/>
            <a:chExt cx="9244" cy="1474"/>
          </a:xfrm>
        </p:grpSpPr>
        <p:sp>
          <p:nvSpPr>
            <p:cNvPr id="39" name="Text Box 6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628" y="5326"/>
              <a:ext cx="170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4000" tIns="10800" rIns="18000" bIns="10800" anchor="ctr"/>
            <a:p>
              <a:r>
                <a:rPr lang="en-US" altLang="zh-CN" sz="1600" b="1" dirty="0">
                  <a:latin typeface="宋体" panose="02010600030101010101" pitchFamily="2" charset="-122"/>
                </a:rPr>
                <a:t>F8</a:t>
              </a: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4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0" name="Text Box 52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384" y="5967"/>
              <a:ext cx="1928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>
                  <a:latin typeface="宋体" panose="02010600030101010101" pitchFamily="2" charset="-122"/>
                </a:rPr>
                <a:t>XX</a:t>
              </a:r>
              <a:endParaRPr 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2" name="Text Box 5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556" y="5617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sz="1600" b="1" dirty="0">
                  <a:latin typeface="宋体" panose="02010600030101010101" pitchFamily="2" charset="-122"/>
                </a:rPr>
                <a:t>寄存器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3" name="Text Box 59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041" y="5326"/>
              <a:ext cx="1588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err="1" smtClean="0">
                  <a:latin typeface="宋体" panose="02010600030101010101" pitchFamily="2" charset="-122"/>
                </a:rPr>
                <a:t>OPx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44" name="Text Box 62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041" y="5726"/>
              <a:ext cx="3231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指令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的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EA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＝</a:t>
              </a:r>
              <a:r>
                <a:rPr lang="en-US" altLang="zh-CN" sz="1800" b="1" dirty="0" smtClean="0">
                  <a:latin typeface="宋体" panose="02010600030101010101" pitchFamily="2" charset="-122"/>
                  <a:sym typeface="+mn-ea"/>
                </a:rPr>
                <a:t>(</a:t>
              </a:r>
              <a:r>
                <a:rPr lang="en-US" altLang="zh-CN" sz="1800" b="1" dirty="0" err="1" smtClean="0">
                  <a:latin typeface="宋体" panose="02010600030101010101" pitchFamily="2" charset="-122"/>
                  <a:sym typeface="+mn-ea"/>
                </a:rPr>
                <a:t>PC</a:t>
              </a:r>
              <a:r>
                <a:rPr lang="en-US" altLang="zh-CN" sz="1800" b="1" dirty="0" smtClean="0">
                  <a:latin typeface="宋体" panose="02010600030101010101" pitchFamily="2" charset="-122"/>
                  <a:sym typeface="+mn-ea"/>
                </a:rPr>
                <a:t>)</a:t>
              </a:r>
              <a:r>
                <a:rPr lang="zh-CN" altLang="en-US" sz="1800" b="1" dirty="0" smtClean="0">
                  <a:latin typeface="宋体" panose="02010600030101010101" pitchFamily="2" charset="-122"/>
                  <a:sym typeface="+mn-ea"/>
                </a:rPr>
                <a:t>＋</a:t>
              </a:r>
              <a:r>
                <a:rPr lang="en-US" altLang="zh-CN" sz="1800" b="1" dirty="0" smtClean="0">
                  <a:latin typeface="宋体" panose="02010600030101010101" pitchFamily="2" charset="-122"/>
                  <a:sym typeface="+mn-ea"/>
                </a:rPr>
                <a:t>A</a:t>
              </a:r>
              <a:endPara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46" name="直接箭头连接符 45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4139" y="5329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99" name="直接箭头连接符 98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4765" y="5159"/>
              <a:ext cx="0" cy="17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0" name="直接箭头连接符 99"/>
            <p:cNvCxnSpPr/>
            <p:nvPr>
              <p:custDataLst>
                <p:tags r:id="rId23"/>
              </p:custDataLst>
            </p:nvPr>
          </p:nvCxnSpPr>
          <p:spPr bwMode="auto">
            <a:xfrm>
              <a:off x="4765" y="5159"/>
              <a:ext cx="31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8" name="直接箭头连接符 87"/>
            <p:cNvCxnSpPr/>
            <p:nvPr>
              <p:custDataLst>
                <p:tags r:id="rId24"/>
              </p:custDataLst>
            </p:nvPr>
          </p:nvCxnSpPr>
          <p:spPr bwMode="auto">
            <a:xfrm>
              <a:off x="7090" y="6123"/>
              <a:ext cx="62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oval" w="med" len="med"/>
              <a:tailEnd type="triangle"/>
            </a:ln>
            <a:effectLst/>
          </p:spPr>
        </p:cxnSp>
        <p:sp>
          <p:nvSpPr>
            <p:cNvPr id="89" name="Text Box 1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0209" y="5953"/>
              <a:ext cx="107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程序段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" name="AutoShape 27"/>
            <p:cNvSpPr/>
            <p:nvPr>
              <p:custDataLst>
                <p:tags r:id="rId26"/>
              </p:custDataLst>
            </p:nvPr>
          </p:nvSpPr>
          <p:spPr bwMode="auto">
            <a:xfrm>
              <a:off x="10096" y="5613"/>
              <a:ext cx="113" cy="1020"/>
            </a:xfrm>
            <a:prstGeom prst="rightBrace">
              <a:avLst>
                <a:gd name="adj1" fmla="val 27343"/>
                <a:gd name="adj2" fmla="val 50000"/>
              </a:avLst>
            </a:prstGeom>
            <a:noFill/>
            <a:ln w="9525">
              <a:solidFill>
                <a:srgbClr val="990099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3" name="Text Box 52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8564" y="5613"/>
              <a:ext cx="1474" cy="102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53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8564" y="5216"/>
              <a:ext cx="147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存储器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5" name="直接箭头连接符 14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8564" y="5953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5" name="直接箭头连接符 94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8564" y="6293"/>
              <a:ext cx="14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" name="Oval 89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7714" y="5953"/>
              <a:ext cx="340" cy="3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lIns="0" tIns="0" rIns="0" bIns="0" anchor="ctr"/>
            <a:p>
              <a:pPr algn="ctr"/>
              <a:r>
                <a:rPr lang="zh-CN" altLang="en-US" sz="1600" b="1"/>
                <a:t>＋</a:t>
              </a:r>
              <a:endParaRPr lang="zh-CN" altLang="en-US" sz="1600" b="1"/>
            </a:p>
          </p:txBody>
        </p:sp>
        <p:cxnSp>
          <p:nvCxnSpPr>
            <p:cNvPr id="98" name="直接箭头连接符 97"/>
            <p:cNvCxnSpPr/>
            <p:nvPr>
              <p:custDataLst>
                <p:tags r:id="rId32"/>
              </p:custDataLst>
            </p:nvPr>
          </p:nvCxnSpPr>
          <p:spPr bwMode="auto">
            <a:xfrm>
              <a:off x="7884" y="5159"/>
              <a:ext cx="0" cy="794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1" name="直接箭头连接符 100"/>
            <p:cNvCxnSpPr/>
            <p:nvPr>
              <p:custDataLst>
                <p:tags r:id="rId33"/>
              </p:custDataLst>
            </p:nvPr>
          </p:nvCxnSpPr>
          <p:spPr bwMode="auto">
            <a:xfrm>
              <a:off x="8054" y="6123"/>
              <a:ext cx="51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76" name="AutoShape 455">
            <a:hlinkClick r:id="rId34" tooltip="" action="ppaction://hlinksldjump" highlightClick="1"/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 rot="10800000">
            <a:off x="5184000" y="650719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9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99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99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243716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8712000" cy="2399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268730" indent="-126873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例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某计算机的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按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字节编址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，相对寻址跳转指令格式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如下图所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示，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偏移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量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用补码表示。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取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指令时自动完成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PC←(PC)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zh-CN" altLang="en-US" sz="2000" b="1" spc="-7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spc="-7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。某相对寻址的跳转指令存放在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0100H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起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endParaRPr lang="zh-CN" altLang="en-US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68730" indent="-126873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存储单元中。</a:t>
            </a:r>
            <a:r>
              <a:rPr lang="zh-CN" altLang="en-US" sz="2000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000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⑴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若该指令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的转移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目标地址为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0120H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则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M[0101H]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＝？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⑵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若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M[0101H]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EEH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，则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该指令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的转移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目标地址为多少？</a:t>
            </a:r>
            <a:endParaRPr lang="zh-CN" altLang="en-US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3750" name="Text Box 38"/>
          <p:cNvSpPr txBox="1">
            <a:spLocks noChangeArrowheads="1"/>
          </p:cNvSpPr>
          <p:nvPr/>
        </p:nvSpPr>
        <p:spPr bwMode="auto">
          <a:xfrm>
            <a:off x="969010" y="2663190"/>
            <a:ext cx="8001635" cy="31076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解：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⑴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取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指令时，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(PC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0100H</a:t>
            </a:r>
            <a:r>
              <a:rPr lang="zh-CN" altLang="en-US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0102H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指令执行过程实际方案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执行时，转移目标地址＝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disp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[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disp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0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0120H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－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0102H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001EH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故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M[0101H]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Cut(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disp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0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1EH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⑵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指令时，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0102H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执行指令时，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disp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</a:t>
            </a:r>
            <a:r>
              <a:rPr lang="zh-CN" altLang="en-US" sz="2000" b="1" baseline="-18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err="1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SExt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EEH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FFEEH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转移目标地址＝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disp</a:t>
            </a:r>
            <a:endParaRPr lang="en-US" altLang="zh-CN" sz="2000" b="1" dirty="0" err="1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0102H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FFEEH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00F0H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6047740" y="1368425"/>
            <a:ext cx="2448560" cy="431800"/>
            <a:chOff x="9411" y="2381"/>
            <a:chExt cx="3856" cy="680"/>
          </a:xfrm>
        </p:grpSpPr>
        <p:sp>
          <p:nvSpPr>
            <p:cNvPr id="107" name="Text Box 13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9411" y="2721"/>
              <a:ext cx="1928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8" name="Text Box 15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1339" y="2721"/>
              <a:ext cx="1928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09" name="Text Box 3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9754" y="2381"/>
              <a:ext cx="124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第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字节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0" name="直接箭头连接符 109"/>
            <p:cNvCxnSpPr/>
            <p:nvPr>
              <p:custDataLst>
                <p:tags r:id="rId5"/>
              </p:custDataLst>
            </p:nvPr>
          </p:nvCxnSpPr>
          <p:spPr bwMode="auto">
            <a:xfrm flipH="1">
              <a:off x="9411" y="2381"/>
              <a:ext cx="0" cy="34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1" name="直接箭头连接符 110"/>
            <p:cNvCxnSpPr/>
            <p:nvPr>
              <p:custDataLst>
                <p:tags r:id="rId6"/>
              </p:custDataLst>
            </p:nvPr>
          </p:nvCxnSpPr>
          <p:spPr bwMode="auto">
            <a:xfrm flipH="1" flipV="1">
              <a:off x="9411" y="2551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2" name="直接箭头连接符 111"/>
            <p:cNvCxnSpPr/>
            <p:nvPr>
              <p:custDataLst>
                <p:tags r:id="rId7"/>
              </p:custDataLst>
            </p:nvPr>
          </p:nvCxnSpPr>
          <p:spPr bwMode="auto">
            <a:xfrm>
              <a:off x="10998" y="2551"/>
              <a:ext cx="341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3" name="直接箭头连接符 112"/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11339" y="2381"/>
              <a:ext cx="0" cy="34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4" name="Text Box 3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1679" y="2381"/>
              <a:ext cx="124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第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字节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5" name="直接箭头连接符 114"/>
            <p:cNvCxnSpPr/>
            <p:nvPr>
              <p:custDataLst>
                <p:tags r:id="rId10"/>
              </p:custDataLst>
            </p:nvPr>
          </p:nvCxnSpPr>
          <p:spPr bwMode="auto">
            <a:xfrm flipH="1" flipV="1">
              <a:off x="11339" y="2551"/>
              <a:ext cx="34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6" name="直接箭头连接符 115"/>
            <p:cNvCxnSpPr/>
            <p:nvPr>
              <p:custDataLst>
                <p:tags r:id="rId11"/>
              </p:custDataLst>
            </p:nvPr>
          </p:nvCxnSpPr>
          <p:spPr bwMode="auto">
            <a:xfrm>
              <a:off x="12926" y="2551"/>
              <a:ext cx="341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7" name="直接箭头连接符 116"/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13266" y="2381"/>
              <a:ext cx="0" cy="34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18" name="AutoShape 62">
            <a:hlinkClick r:id="rId13" action="ppaction://hlinksldjump"/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 rot="16200000">
            <a:off x="5184000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23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37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3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37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37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437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37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437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21" name="Text Box 1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96939" y="3058775"/>
            <a:ext cx="5904779" cy="23069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解：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⑴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4428H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0100</a:t>
            </a:r>
            <a:r>
              <a:rPr lang="en-US" altLang="zh-CN" sz="2000" b="1" dirty="0" smtClean="0"/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01</a:t>
            </a:r>
            <a:r>
              <a:rPr lang="en-US" altLang="zh-CN" sz="20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00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0010</a:t>
            </a:r>
            <a:r>
              <a:rPr lang="en-US" altLang="zh-CN" sz="2000" b="1" dirty="0"/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1000B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⑵</a:t>
            </a:r>
            <a:r>
              <a:rPr lang="en-US" altLang="zh-CN" sz="2000" b="1" dirty="0">
                <a:latin typeface="宋体" panose="02010600030101010101" pitchFamily="2" charset="-122"/>
              </a:rPr>
              <a:t>2244H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0010</a:t>
            </a:r>
            <a:r>
              <a:rPr lang="en-US" altLang="zh-CN" sz="2000" b="1" dirty="0">
                <a:solidFill>
                  <a:schemeClr val="accent2"/>
                </a:solidFill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00</a:t>
            </a:r>
            <a:r>
              <a:rPr lang="en-US" altLang="zh-CN" sz="20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10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0100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0100B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⑶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1330H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0001</a:t>
            </a:r>
            <a:r>
              <a:rPr lang="en-US" altLang="zh-CN" sz="2000" b="1" dirty="0">
                <a:solidFill>
                  <a:schemeClr val="accent2"/>
                </a:solidFill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00</a:t>
            </a:r>
            <a:r>
              <a:rPr lang="en-US" altLang="zh-CN" sz="20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11</a:t>
            </a:r>
            <a:r>
              <a:rPr lang="en-US" altLang="zh-CN" sz="2000" b="1" dirty="0"/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0011</a:t>
            </a:r>
            <a:r>
              <a:rPr lang="en-US" altLang="zh-CN" sz="2000" b="1" dirty="0" smtClean="0"/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0000B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⑷</a:t>
            </a:r>
            <a:r>
              <a:rPr lang="en-US" altLang="zh-CN" sz="2000" b="1" dirty="0">
                <a:latin typeface="宋体" panose="02010600030101010101" pitchFamily="2" charset="-122"/>
              </a:rPr>
              <a:t>3592H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0011</a:t>
            </a:r>
            <a:r>
              <a:rPr lang="en-US" altLang="zh-CN" sz="2000" b="1" dirty="0">
                <a:solidFill>
                  <a:schemeClr val="accent2"/>
                </a:solidFill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01</a:t>
            </a:r>
            <a:r>
              <a:rPr lang="en-US" altLang="zh-CN" sz="20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01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1001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0010B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169994" name="Text Box 1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360045"/>
            <a:ext cx="8689340" cy="278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268730" indent="-126873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例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某计算机主存按字节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编址，有符号整数用补码表示，单地址指令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格式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如下，基址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和变址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各有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记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RB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RI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。设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(RB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)=8000H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RI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)=0007H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(PC)=1234H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取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指令时自动完成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PC←(PC)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zh-CN" altLang="en-US" sz="2000" b="1" spc="-7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spc="-7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请计算下列</a:t>
            </a:r>
            <a:endParaRPr lang="zh-CN" altLang="en-US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68730" indent="-126873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指令字的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OPD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OPD/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指令的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EA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68730" indent="-126873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⑴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4428H  ⑵2244H 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268730" indent="-126873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⑶1330H  ⑷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3592H</a:t>
            </a:r>
            <a:endParaRPr lang="zh-CN" altLang="en-US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Text Box 2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05000" y="3058775"/>
            <a:ext cx="6620510" cy="3046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</a:rPr>
              <a:t>                          [</a:t>
            </a:r>
            <a:r>
              <a:rPr lang="en-US" altLang="zh-CN" sz="2000" b="1" dirty="0">
                <a:latin typeface="宋体" panose="02010600030101010101" pitchFamily="2" charset="-122"/>
              </a:rPr>
              <a:t>OPD]</a:t>
            </a:r>
            <a:r>
              <a:rPr lang="zh-CN" altLang="en-US" sz="2000" b="1" baseline="-18000" dirty="0">
                <a:latin typeface="宋体" panose="02010600030101010101" pitchFamily="2" charset="-122"/>
              </a:rPr>
              <a:t>补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28H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</a:rPr>
              <a:t>                          基址</a:t>
            </a:r>
            <a:r>
              <a:rPr lang="zh-CN" altLang="en-US" sz="2000" b="1" dirty="0">
                <a:latin typeface="宋体" panose="02010600030101010101" pitchFamily="2" charset="-122"/>
              </a:rPr>
              <a:t>寻址</a:t>
            </a:r>
            <a:r>
              <a:rPr lang="en-US" altLang="zh-CN" sz="2000" b="1" dirty="0">
                <a:latin typeface="宋体" panose="02010600030101010101" pitchFamily="2" charset="-122"/>
              </a:rPr>
              <a:t>(A=44H)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</a:rPr>
              <a:t>OPD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的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EA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(RB)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＋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A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8000H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＋</a:t>
            </a: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00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44H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8044H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                         变址</a:t>
            </a:r>
            <a:r>
              <a:rPr lang="zh-CN" altLang="en-US" sz="2000" b="1" dirty="0">
                <a:latin typeface="宋体" panose="02010600030101010101" pitchFamily="2" charset="-122"/>
              </a:rPr>
              <a:t>寻址</a:t>
            </a:r>
            <a:r>
              <a:rPr lang="en-US" altLang="zh-CN" sz="2000" b="1" dirty="0">
                <a:latin typeface="宋体" panose="02010600030101010101" pitchFamily="2" charset="-122"/>
              </a:rPr>
              <a:t>(A=30H)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</a:rPr>
              <a:t>OPD</a:t>
            </a:r>
            <a:r>
              <a:rPr lang="zh-CN" altLang="en-US" sz="2000" b="1" dirty="0">
                <a:latin typeface="宋体" panose="02010600030101010101" pitchFamily="2" charset="-122"/>
              </a:rPr>
              <a:t>的</a:t>
            </a:r>
            <a:r>
              <a:rPr lang="en-US" altLang="zh-CN" sz="2000" b="1" dirty="0">
                <a:latin typeface="宋体" panose="02010600030101010101" pitchFamily="2" charset="-122"/>
              </a:rPr>
              <a:t>EA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(RI)</a:t>
            </a:r>
            <a:r>
              <a:rPr lang="zh-CN" altLang="en-US" sz="2000" b="1" dirty="0">
                <a:latin typeface="宋体" panose="02010600030101010101" pitchFamily="2" charset="-122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</a:rPr>
              <a:t>A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0007H</a:t>
            </a:r>
            <a:r>
              <a:rPr lang="zh-CN" altLang="en-US" sz="2000" b="1" dirty="0">
                <a:latin typeface="宋体" panose="02010600030101010101" pitchFamily="2" charset="-122"/>
              </a:rPr>
              <a:t>＋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00</a:t>
            </a:r>
            <a:r>
              <a:rPr lang="en-US" altLang="zh-CN" sz="2000" b="1" dirty="0">
                <a:latin typeface="宋体" panose="02010600030101010101" pitchFamily="2" charset="-122"/>
              </a:rPr>
              <a:t>30H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0037H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                         相对寻址</a:t>
            </a:r>
            <a:r>
              <a:rPr lang="en-US" altLang="zh-CN" sz="2000" b="1" dirty="0">
                <a:latin typeface="宋体" panose="02010600030101010101" pitchFamily="2" charset="-122"/>
              </a:rPr>
              <a:t>(A=92H)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disp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]</a:t>
            </a:r>
            <a:r>
              <a:rPr lang="zh-CN" altLang="en-US" sz="2000" b="1" baseline="-18000" dirty="0">
                <a:latin typeface="宋体" panose="02010600030101010101" pitchFamily="2" charset="-122"/>
                <a:cs typeface="宋体" panose="02010600030101010101" pitchFamily="2" charset="-122"/>
              </a:rPr>
              <a:t>补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err="1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SExt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92H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FF92H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转移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目标地址＝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disp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(1234H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2)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FF92H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11C8H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578475" y="1659255"/>
            <a:ext cx="3024505" cy="935990"/>
            <a:chOff x="8333" y="3969"/>
            <a:chExt cx="4763" cy="1474"/>
          </a:xfrm>
        </p:grpSpPr>
        <p:sp>
          <p:nvSpPr>
            <p:cNvPr id="3" name="Text Box 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8333" y="4254"/>
              <a:ext cx="2041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" name="Text Box 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0374" y="4254"/>
              <a:ext cx="2608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10800" rIns="18000" bIns="10800" anchor="ctr"/>
            <a:p>
              <a:r>
                <a:rPr lang="en-US" altLang="zh-CN" sz="1600" b="1" dirty="0">
                  <a:latin typeface="宋体" panose="02010600030101010101" pitchFamily="2" charset="-122"/>
                </a:rPr>
                <a:t> F       A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" name="Text Box 9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333" y="3969"/>
              <a:ext cx="4762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15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    10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9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8 7        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334" y="4649"/>
              <a:ext cx="4762" cy="79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36195" tIns="10800" rIns="18000" bIns="10800" anchor="ctr"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F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＝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00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为立即寻址，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为相对寻址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10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为基址寻址，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为变址寻址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" name="直接箭头连接符 12"/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10997" y="4252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6" name="AutoShape 62">
            <a:hlinkClick r:id="rId9" tooltip="" action="ppaction://hlinksldjump"/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 rot="16200000">
            <a:off x="3996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26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7" name="AutoShape 62">
            <a:hlinkClick r:id="rId11" tooltip="" action="ppaction://hlinksldjump"/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 rot="16200000">
            <a:off x="5184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27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193548" name="Text Box 12"/>
          <p:cNvSpPr txBox="1">
            <a:spLocks noChangeArrowheads="1"/>
          </p:cNvSpPr>
          <p:nvPr/>
        </p:nvSpPr>
        <p:spPr bwMode="auto">
          <a:xfrm>
            <a:off x="179705" y="360045"/>
            <a:ext cx="8702040" cy="21348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隐含寻址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sz="1600" dirty="0" smtClean="0">
                <a:solidFill>
                  <a:schemeClr val="tx1"/>
                </a:solidFill>
                <a:latin typeface="+mn-lt"/>
                <a:ea typeface="+mn-ea"/>
              </a:rPr>
              <a:t>Implied</a:t>
            </a:r>
            <a:r>
              <a:rPr lang="en-US" altLang="zh-CN" sz="1600" dirty="0">
                <a:solidFill>
                  <a:schemeClr val="tx1"/>
                </a:solidFill>
              </a:rPr>
              <a:t> Addressing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方式：</a:t>
            </a:r>
            <a:endParaRPr lang="zh-CN" altLang="en-US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无地址码，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地址形成方法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由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操作码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隐含指明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           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16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└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地址</a:t>
            </a:r>
            <a:r>
              <a:rPr lang="zh-CN" altLang="en-US" sz="1600" b="1" dirty="0">
                <a:latin typeface="宋体" panose="02010600030101010101" pitchFamily="2" charset="-122"/>
              </a:rPr>
              <a:t>参数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固定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仅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种取值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示例</a:t>
            </a:r>
            <a:r>
              <a:rPr 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en-US" altLang="zh-CN" sz="1800" b="1" dirty="0" smtClean="0">
                <a:latin typeface="宋体" panose="02010600030101010101" pitchFamily="2" charset="-122"/>
                <a:sym typeface="Wingdings" panose="05000000000000000000" pitchFamily="2" charset="2"/>
              </a:rPr>
              <a:t>(a)OPD</a:t>
            </a:r>
            <a:r>
              <a:rPr lang="zh-CN" altLang="en-US" sz="1800" b="1" dirty="0" smtClean="0">
                <a:latin typeface="宋体" panose="02010600030101010101" pitchFamily="2" charset="-122"/>
                <a:sym typeface="Wingdings" panose="05000000000000000000" pitchFamily="2" charset="2"/>
              </a:rPr>
              <a:t>为恒定值，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Ra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(Ra)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中的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；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                      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←立即数不能隐含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采用立即寻址方式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(b)</a:t>
            </a:r>
            <a:r>
              <a:rPr lang="en-US" altLang="zh-CN" sz="1800" b="1" dirty="0" smtClean="0">
                <a:latin typeface="宋体" panose="02010600030101010101" pitchFamily="2" charset="-122"/>
                <a:sym typeface="Wingdings" panose="05000000000000000000" pitchFamily="2" charset="2"/>
              </a:rPr>
              <a:t>OPD</a:t>
            </a:r>
            <a:r>
              <a:rPr lang="zh-CN" altLang="en-US" sz="1800" b="1" dirty="0" smtClean="0">
                <a:latin typeface="宋体" panose="02010600030101010101" pitchFamily="2" charset="-122"/>
                <a:sym typeface="Wingdings" panose="05000000000000000000" pitchFamily="2" charset="2"/>
              </a:rPr>
              <a:t>在栈顶或固定的</a:t>
            </a:r>
            <a:r>
              <a:rPr lang="en-US" altLang="zh-CN" sz="1800" b="1" dirty="0" smtClean="0">
                <a:latin typeface="宋体" panose="02010600030101010101" pitchFamily="2" charset="-122"/>
                <a:sym typeface="Wingdings" panose="05000000000000000000" pitchFamily="2" charset="2"/>
              </a:rPr>
              <a:t>REG</a:t>
            </a:r>
            <a:r>
              <a:rPr lang="zh-CN" altLang="en-US" sz="1800" b="1" dirty="0" smtClean="0">
                <a:latin typeface="宋体" panose="02010600030101010101" pitchFamily="2" charset="-122"/>
                <a:sym typeface="Wingdings" panose="05000000000000000000" pitchFamily="2" charset="2"/>
              </a:rPr>
              <a:t>中</a:t>
            </a:r>
            <a:r>
              <a:rPr lang="zh-CN" altLang="en-US" sz="1800" b="1" dirty="0">
                <a:latin typeface="宋体" panose="02010600030101010101" pitchFamily="2" charset="-122"/>
                <a:sym typeface="Wingdings" panose="05000000000000000000" pitchFamily="2" charset="2"/>
              </a:rPr>
              <a:t>，如返回</a:t>
            </a:r>
            <a:r>
              <a:rPr lang="zh-CN" altLang="en-US" sz="1800" b="1" dirty="0" smtClean="0">
                <a:latin typeface="宋体" panose="02010600030101010101" pitchFamily="2" charset="-122"/>
                <a:sym typeface="Wingdings" panose="05000000000000000000" pitchFamily="2" charset="2"/>
              </a:rPr>
              <a:t>指令、顺序寻址</a:t>
            </a:r>
            <a:endParaRPr lang="en-US" altLang="zh-CN" sz="1800" b="1" dirty="0" smtClean="0">
              <a:latin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90500" y="2493645"/>
            <a:ext cx="8705850" cy="136080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寻址方式小结：</a:t>
            </a:r>
            <a:endParaRPr lang="en-US" altLang="zh-CN" sz="2200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latin typeface="+mn-ea"/>
                <a:ea typeface="+mn-ea"/>
              </a:rPr>
              <a:t>   </a:t>
            </a:r>
            <a:r>
              <a:rPr lang="zh-CN" altLang="en-US" sz="2200" b="1" dirty="0" smtClean="0">
                <a:latin typeface="+mn-ea"/>
                <a:ea typeface="+mn-ea"/>
              </a:rPr>
              <a:t>①寻址方式与编码方式互逆，</a:t>
            </a:r>
            <a:r>
              <a:rPr lang="en-US" altLang="zh-CN" sz="2200" b="1" dirty="0" smtClean="0">
                <a:latin typeface="+mn-ea"/>
                <a:ea typeface="+mn-ea"/>
              </a:rPr>
              <a:t>EA</a:t>
            </a:r>
            <a:r>
              <a:rPr lang="zh-CN" altLang="en-US" sz="2200" b="1" dirty="0" smtClean="0">
                <a:latin typeface="+mn-ea"/>
                <a:ea typeface="+mn-ea"/>
              </a:rPr>
              <a:t>＝</a:t>
            </a:r>
            <a:r>
              <a:rPr lang="en-US" altLang="zh-CN" sz="2200" b="1" i="1" dirty="0" smtClean="0">
                <a:latin typeface="+mn-lt"/>
                <a:ea typeface="+mn-ea"/>
              </a:rPr>
              <a:t>f</a:t>
            </a:r>
            <a:r>
              <a:rPr lang="en-US" altLang="zh-CN" sz="2200" b="1" dirty="0" smtClean="0">
                <a:latin typeface="+mn-ea"/>
                <a:ea typeface="+mn-ea"/>
              </a:rPr>
              <a:t>(</a:t>
            </a:r>
            <a:r>
              <a:rPr lang="zh-CN" altLang="en-US" sz="2000" b="1" dirty="0" smtClean="0">
                <a:latin typeface="+mn-ea"/>
                <a:ea typeface="+mn-ea"/>
              </a:rPr>
              <a:t>方式位</a:t>
            </a:r>
            <a:r>
              <a:rPr lang="en-US" altLang="zh-CN" sz="2000" b="1" dirty="0" smtClean="0">
                <a:latin typeface="+mn-ea"/>
                <a:ea typeface="+mn-ea"/>
              </a:rPr>
              <a:t>,</a:t>
            </a:r>
            <a:r>
              <a:rPr lang="zh-CN" altLang="en-US" sz="2000" b="1" dirty="0" smtClean="0">
                <a:latin typeface="+mn-ea"/>
                <a:ea typeface="+mn-ea"/>
              </a:rPr>
              <a:t>地址参数</a:t>
            </a:r>
            <a:r>
              <a:rPr lang="en-US" altLang="zh-CN" sz="2200" b="1" dirty="0" smtClean="0">
                <a:latin typeface="+mn-ea"/>
                <a:ea typeface="+mn-ea"/>
              </a:rPr>
              <a:t>)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</a:rPr>
              <a:t>    </a:t>
            </a:r>
            <a:r>
              <a:rPr lang="zh-CN" altLang="en-US" sz="2200" b="1" dirty="0" smtClean="0">
                <a:latin typeface="+mn-ea"/>
                <a:ea typeface="+mn-ea"/>
              </a:rPr>
              <a:t>②数据寻址中的部分</a:t>
            </a:r>
            <a:r>
              <a:rPr lang="en-US" altLang="zh-CN" sz="2200" b="1" dirty="0" smtClean="0">
                <a:latin typeface="+mn-ea"/>
                <a:ea typeface="+mn-ea"/>
              </a:rPr>
              <a:t>MEM</a:t>
            </a:r>
            <a:r>
              <a:rPr lang="zh-CN" altLang="en-US" sz="2200" b="1" dirty="0" smtClean="0">
                <a:latin typeface="+mn-ea"/>
                <a:ea typeface="+mn-ea"/>
              </a:rPr>
              <a:t>寻址方式，可用于指令寻址</a:t>
            </a:r>
            <a:endParaRPr lang="zh-CN" altLang="en-US" sz="2200" b="1" dirty="0" smtClean="0">
              <a:latin typeface="+mn-ea"/>
              <a:ea typeface="+mn-ea"/>
            </a:endParaRPr>
          </a:p>
        </p:txBody>
      </p:sp>
      <p:graphicFrame>
        <p:nvGraphicFramePr>
          <p:cNvPr id="16" name="Group 3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547495" y="3861435"/>
          <a:ext cx="5669280" cy="876300"/>
        </p:xfrm>
        <a:graphic>
          <a:graphicData uri="http://schemas.openxmlformats.org/drawingml/2006/table">
            <a:tbl>
              <a:tblPr/>
              <a:tblGrid>
                <a:gridCol w="1142365"/>
                <a:gridCol w="4526915"/>
              </a:tblGrid>
              <a:tr h="0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常用寻址方式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数据寻址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除相对寻址外，其余均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可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使用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指令寻址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常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使用直接、相对、寄存器间接、隐含方式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" name="Text Box 2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25500" y="4798060"/>
            <a:ext cx="7893685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注意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不同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ISA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寻址方式命名</a:t>
            </a:r>
            <a:r>
              <a:rPr lang="zh-CN" altLang="en-US" sz="2200" b="1" dirty="0">
                <a:latin typeface="宋体" panose="02010600030101010101" pitchFamily="2" charset="-122"/>
              </a:rPr>
              <a:t>可能不同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如变址</a:t>
            </a:r>
            <a:r>
              <a:rPr lang="zh-CN" altLang="en-US" sz="1800" b="1" dirty="0">
                <a:latin typeface="宋体" panose="02010600030101010101" pitchFamily="2" charset="-122"/>
              </a:rPr>
              <a:t>寻址、基址寻址、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相对寻址可统称</a:t>
            </a:r>
            <a:r>
              <a:rPr lang="zh-CN" altLang="en-US" sz="1800" b="1" dirty="0">
                <a:latin typeface="宋体" panose="02010600030101010101" pitchFamily="2" charset="-122"/>
              </a:rPr>
              <a:t>为</a:t>
            </a:r>
            <a:r>
              <a:rPr lang="zh-CN" altLang="en-US" sz="1800" b="1" u="sng" dirty="0">
                <a:latin typeface="宋体" panose="02010600030101010101" pitchFamily="2" charset="-122"/>
              </a:rPr>
              <a:t>偏移寻址</a:t>
            </a:r>
            <a:endParaRPr lang="zh-CN" altLang="en-US" sz="1800" b="1" u="sng" dirty="0">
              <a:latin typeface="宋体" panose="02010600030101010101" pitchFamily="2" charset="-122"/>
            </a:endParaRPr>
          </a:p>
        </p:txBody>
      </p:sp>
      <p:sp>
        <p:nvSpPr>
          <p:cNvPr id="21" name="AutoShape 62">
            <a:hlinkClick r:id="rId3" tooltip="" action="ppaction://hlinksldjump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6200000">
            <a:off x="3996000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23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3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3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35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86471" name="AutoShape 45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0800000">
            <a:off x="2772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5" name="Text Box 1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388" y="360000"/>
            <a:ext cx="878522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>
              <a:lnSpc>
                <a:spcPct val="125000"/>
              </a:lnSpc>
            </a:pPr>
            <a:r>
              <a:rPr 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、指令格式分析及其应用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*指令系统</a:t>
            </a:r>
            <a:r>
              <a:rPr 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分析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sz="2200" b="1" dirty="0" smtClean="0">
                <a:latin typeface="宋体" panose="02010600030101010101" pitchFamily="2" charset="-122"/>
              </a:rPr>
              <a:t>数据表示仅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种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定点整数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，寄存器为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GPR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通用寄存器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99" name="Text Box 50"/>
          <p:cNvSpPr txBox="1">
            <a:spLocks noChangeArrowheads="1"/>
          </p:cNvSpPr>
          <p:nvPr/>
        </p:nvSpPr>
        <p:spPr bwMode="auto">
          <a:xfrm>
            <a:off x="179705" y="4643755"/>
            <a:ext cx="8959215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数据的表示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长度为</a:t>
            </a:r>
            <a:r>
              <a:rPr lang="en-US" altLang="zh-CN" sz="2000" b="1" u="sng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位，机器字长为</a:t>
            </a:r>
            <a:r>
              <a:rPr lang="en-US" altLang="zh-CN" sz="2000" b="1" u="sng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位</a:t>
            </a:r>
            <a:endParaRPr lang="zh-CN" altLang="en-US" sz="20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数据的存放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有</a:t>
            </a:r>
            <a:r>
              <a:rPr lang="en-US" altLang="zh-CN" sz="2000" b="1" u="sng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个、长度为</a:t>
            </a:r>
            <a:r>
              <a:rPr lang="en-US" altLang="zh-CN" sz="2000" b="1" u="sng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位，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MEM</a:t>
            </a:r>
            <a:r>
              <a:rPr lang="zh-CN" sz="2000" b="1" dirty="0" smtClean="0">
                <a:latin typeface="宋体" panose="02010600030101010101" pitchFamily="2" charset="-122"/>
                <a:sym typeface="+mn-ea"/>
              </a:rPr>
              <a:t>编址单位为</a:t>
            </a:r>
            <a:r>
              <a:rPr lang="en-US" altLang="zh-CN" sz="2000" b="1" u="sng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位、地址为</a:t>
            </a:r>
            <a:r>
              <a:rPr lang="en-US" altLang="zh-CN" sz="2000" b="1" u="sng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位</a:t>
            </a:r>
            <a:endParaRPr lang="zh-CN" altLang="en-US" sz="20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操作码编码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采用</a:t>
            </a:r>
            <a:r>
              <a:rPr lang="en-US" altLang="zh-CN" sz="2000" b="1" u="sng" dirty="0" smtClean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编码方式，格式信息用</a:t>
            </a:r>
            <a:r>
              <a:rPr lang="en-US" altLang="zh-CN" sz="2000" b="1" u="sng" dirty="0" smtClean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方式表示</a:t>
            </a:r>
            <a:endParaRPr lang="zh-CN" altLang="en-US" sz="20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地址码编码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spc="-6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数据寻址有</a:t>
            </a:r>
            <a:r>
              <a:rPr lang="en-US" altLang="zh-CN" sz="2000" b="1" u="sng" spc="-6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                   </a:t>
            </a:r>
            <a:r>
              <a:rPr lang="zh-CN" altLang="en-US" sz="2000" b="1" spc="-6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方式，</a:t>
            </a:r>
            <a:r>
              <a:rPr lang="en-US" altLang="zh-CN" sz="2000" b="1" u="sng" spc="-6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000" b="1" spc="-6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指令方式位显式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指令字特征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包含</a:t>
            </a:r>
            <a:r>
              <a:rPr lang="en-US" altLang="zh-CN" sz="2000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地址指令</a:t>
            </a:r>
            <a:r>
              <a:rPr lang="zh-CN" sz="2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0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字长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指令，采用</a:t>
            </a:r>
            <a:r>
              <a:rPr lang="en-US" altLang="zh-CN" sz="20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指令字结构</a:t>
            </a: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02" name="Text Box 5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282190" y="4644000"/>
            <a:ext cx="6120000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8               8</a:t>
            </a:r>
            <a:endParaRPr lang="en-US" altLang="zh-CN" sz="20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4           8                  8           8</a:t>
            </a:r>
            <a:endParaRPr lang="zh-CN" sz="20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扩展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    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隐式</a:t>
            </a:r>
            <a:endParaRPr lang="en-US" altLang="zh-CN" sz="20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立即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REG/REG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间接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隐含</a:t>
            </a:r>
            <a:r>
              <a:rPr lang="en-US" altLang="zh-CN" sz="14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sz="14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ADD/JNZ</a:t>
            </a:r>
            <a:endParaRPr lang="en-US" altLang="zh-CN" sz="20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单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双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单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双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变长</a:t>
            </a:r>
            <a:endParaRPr lang="zh-CN" altLang="en-US" sz="20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897890" y="1262380"/>
            <a:ext cx="8028940" cy="3383970"/>
            <a:chOff x="849" y="3118"/>
            <a:chExt cx="12644" cy="5329"/>
          </a:xfrm>
        </p:grpSpPr>
        <p:cxnSp>
          <p:nvCxnSpPr>
            <p:cNvPr id="122" name="直接箭头连接符 121"/>
            <p:cNvCxnSpPr/>
            <p:nvPr>
              <p:custDataLst>
                <p:tags r:id="rId4"/>
              </p:custDataLst>
            </p:nvPr>
          </p:nvCxnSpPr>
          <p:spPr bwMode="auto">
            <a:xfrm flipH="1">
              <a:off x="5387" y="8107"/>
              <a:ext cx="0" cy="28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3" name="Text Box 135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844" y="3118"/>
              <a:ext cx="4649" cy="532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105000"/>
                </a:lnSpc>
              </a:pP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 指令寻址方式</a:t>
              </a:r>
              <a:endPara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2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EA=(PC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直接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EA=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Addr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或隐含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2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相对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或隐含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4" name="Text Box 136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236" y="3628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5" name="Text Box 13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387" y="3628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0000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6" name="Text Box 13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236" y="4535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7" name="Text Box 139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236" y="4989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8" name="Text Box 140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690" y="4989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9" name="Text Box 14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236" y="6350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RD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130" name="Text Box 14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556" y="8085"/>
              <a:ext cx="300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4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位 </a:t>
              </a:r>
              <a:r>
                <a:rPr lang="zh-CN" altLang="en-US" sz="12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zh-CN" sz="12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4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位  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   8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位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1" name="Text Box 149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690" y="6350"/>
              <a:ext cx="454" cy="340"/>
            </a:xfrm>
            <a:prstGeom prst="rect">
              <a:avLst/>
            </a:prstGeom>
            <a:solidFill>
              <a:schemeClr val="hlink">
                <a:alpha val="89999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00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2" name="Text Box 150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236" y="408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RD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143" name="Text Box 15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143" y="3629"/>
              <a:ext cx="1701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Imm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144" name="Text Box 152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690" y="408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RS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145" name="Text Box 153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690" y="4535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6" name="Text Box 154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690" y="3628"/>
              <a:ext cx="454" cy="340"/>
            </a:xfrm>
            <a:prstGeom prst="rect">
              <a:avLst/>
            </a:prstGeom>
            <a:solidFill>
              <a:schemeClr val="hlink">
                <a:alpha val="89999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00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7" name="Text Box 155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143" y="7257"/>
              <a:ext cx="170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Addr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148" name="Text Box 156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6236" y="7257"/>
              <a:ext cx="907" cy="340"/>
            </a:xfrm>
            <a:prstGeom prst="rect">
              <a:avLst/>
            </a:prstGeom>
            <a:solidFill>
              <a:schemeClr val="hlink">
                <a:alpha val="89999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0000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9" name="Text Box 157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236" y="6803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0" name="Text Box 158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690" y="6803"/>
              <a:ext cx="454" cy="340"/>
            </a:xfrm>
            <a:prstGeom prst="rect">
              <a:avLst/>
            </a:prstGeom>
            <a:solidFill>
              <a:schemeClr val="hlink">
                <a:alpha val="89999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00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51" name="Text Box 159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499" y="3118"/>
              <a:ext cx="2606" cy="4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105000"/>
                </a:lnSpc>
              </a:pP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指令字格式</a:t>
              </a:r>
              <a:endPara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2" name="Text Box 16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387" y="4082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0010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153" name="Text Box 162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387" y="4535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0011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4" name="Text Box 163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387" y="4989"/>
              <a:ext cx="62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5" name="Text Box 164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387" y="6350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1000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6" name="Text Box 165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387" y="6803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1001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7" name="Text Box 166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5387" y="7257"/>
              <a:ext cx="62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110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8" name="Text Box 167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236" y="5443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9" name="Text Box 168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690" y="5443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RS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160" name="Text Box 169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387" y="5443"/>
              <a:ext cx="62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010</a:t>
              </a:r>
              <a:endParaRPr lang="en-US" altLang="zh-CN" sz="1600" b="1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1" name="Text Box 170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236" y="7710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162" name="Text Box 17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5387" y="7710"/>
              <a:ext cx="62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110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3" name="Text Box 172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6009" y="7710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1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164" name="Text Box 173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6009" y="7257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5" name="Text Box 174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009" y="5443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6" name="Text Box 175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009" y="4989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7" name="Text Box 141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236" y="5896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8" name="Text Box 149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690" y="5896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69" name="Text Box 164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386" y="5896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0110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72" name="直接箭头连接符 171"/>
            <p:cNvCxnSpPr/>
            <p:nvPr>
              <p:custDataLst>
                <p:tags r:id="rId42"/>
              </p:custDataLst>
            </p:nvPr>
          </p:nvCxnSpPr>
          <p:spPr bwMode="auto">
            <a:xfrm flipH="1">
              <a:off x="7143" y="8222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3" name="直接箭头连接符 172"/>
            <p:cNvCxnSpPr/>
            <p:nvPr>
              <p:custDataLst>
                <p:tags r:id="rId43"/>
              </p:custDataLst>
            </p:nvPr>
          </p:nvCxnSpPr>
          <p:spPr bwMode="auto">
            <a:xfrm>
              <a:off x="8277" y="8222"/>
              <a:ext cx="56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4" name="直接箭头连接符 173"/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6236" y="8107"/>
              <a:ext cx="0" cy="28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5" name="直接箭头连接符 174"/>
            <p:cNvCxnSpPr/>
            <p:nvPr>
              <p:custDataLst>
                <p:tags r:id="rId45"/>
              </p:custDataLst>
            </p:nvPr>
          </p:nvCxnSpPr>
          <p:spPr bwMode="auto">
            <a:xfrm flipH="1">
              <a:off x="7143" y="8107"/>
              <a:ext cx="0" cy="28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6" name="直接箭头连接符 175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8844" y="8107"/>
              <a:ext cx="0" cy="28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7" name="Text Box 160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849" y="3118"/>
              <a:ext cx="4541" cy="493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105000"/>
                </a:lnSpc>
              </a:pPr>
              <a:r>
                <a:rPr lang="en-US" altLang="zh-CN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指令功能</a:t>
              </a:r>
              <a:endPara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赋值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(MOV): 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RD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←Imm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(LD) : RD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←M</a:t>
              </a:r>
              <a:r>
                <a:rPr lang="en-US" altLang="zh-CN" sz="1600" b="1" spc="-200" dirty="0" smtClean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r>
                <a:rPr lang="en-US" altLang="zh-CN" sz="1600" b="1" spc="-200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存数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(ST) :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(RS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]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←(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RD)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加法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(ADD): RD←(RD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或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   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RD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←(RD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</a:t>
              </a:r>
              <a:r>
                <a:rPr lang="en-US" altLang="zh-CN" sz="1600" b="1" spc="-300" dirty="0" smtClean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</a:t>
              </a:r>
              <a:r>
                <a:rPr lang="en-US" altLang="zh-CN" sz="1600" b="1" spc="-200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减法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(SUB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): RD←(RD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－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自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增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(INC): RD←(RD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自减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(DEC): RD←(RD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－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分支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JNZ):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ZF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＝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0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时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Addr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         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或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  <a:endParaRPr lang="en-US" altLang="zh-CN" sz="1600" b="1" dirty="0" err="1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106" name="Text Box 4"/>
          <p:cNvSpPr txBox="1">
            <a:spLocks noChangeArrowheads="1"/>
          </p:cNvSpPr>
          <p:nvPr/>
        </p:nvSpPr>
        <p:spPr bwMode="auto">
          <a:xfrm>
            <a:off x="179388" y="788266"/>
            <a:ext cx="8785225" cy="3784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134745" indent="-1134745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例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若上页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指令系统中，有符号整数用补码表示，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取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指令时自动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完成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PC←(PC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zh-CN" altLang="en-US" sz="2000" b="1" spc="-7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 spc="-70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     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⑴说明指令字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84H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的功能。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     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⑵写出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x=x+3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的指令序列，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x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的地址放在寄存器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R0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中。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     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⑶若操作码只可放在高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4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位，最多还可定义多少条指令？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解：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⑴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84H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10000100B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，指令功能为</a:t>
            </a: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⑵指令序列为</a:t>
            </a:r>
            <a:r>
              <a:rPr lang="zh-CN" altLang="en-US" sz="2000" b="1" spc="200" dirty="0" smtClean="0">
                <a:latin typeface="宋体" panose="02010600030101010101" pitchFamily="2" charset="-122"/>
                <a:sym typeface="+mn-ea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en-US" altLang="zh-CN" sz="2000" b="1" spc="-40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// R1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03H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                                     // R1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(R1)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[(R0)]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                                     // M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[(R0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)]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R1) 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</a:t>
            </a:r>
            <a:endParaRPr lang="zh-CN" altLang="en-US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⑶高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位已使用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10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个编码，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最多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还可定义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baseline="30000" dirty="0">
                <a:latin typeface="宋体" panose="02010600030101010101" pitchFamily="2" charset="-122"/>
                <a:sym typeface="+mn-ea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－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10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6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条指令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111" name="Text Box 141"/>
          <p:cNvSpPr txBox="1">
            <a:spLocks noChangeArrowheads="1"/>
          </p:cNvSpPr>
          <p:nvPr/>
        </p:nvSpPr>
        <p:spPr bwMode="auto">
          <a:xfrm>
            <a:off x="3168000" y="2700000"/>
            <a:ext cx="3534410" cy="140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         R1←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R1)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1</a:t>
            </a: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0000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01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00 00000011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010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01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00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0011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01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00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   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193548" name="Text Box 1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870204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指令系统应用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1800" b="1" dirty="0" smtClean="0">
              <a:latin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79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5400000">
            <a:off x="277200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72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76808" y="332656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§4.4 </a:t>
            </a:r>
            <a:r>
              <a:rPr lang="zh-CN" altLang="en-US" sz="2800" b="1" dirty="0">
                <a:latin typeface="宋体" panose="02010600030101010101" pitchFamily="2" charset="-122"/>
              </a:rPr>
              <a:t>指令系统举例</a:t>
            </a:r>
            <a:endParaRPr lang="zh-CN" altLang="en-US" sz="2800" b="1" dirty="0" smtClean="0">
              <a:latin typeface="宋体" panose="02010600030101010101" pitchFamily="2" charset="-122"/>
            </a:endParaRPr>
          </a:p>
        </p:txBody>
      </p:sp>
      <p:sp>
        <p:nvSpPr>
          <p:cNvPr id="73" name="Text Box 2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836965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>
              <a:lnSpc>
                <a:spcPct val="125000"/>
              </a:lnSpc>
            </a:pP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主要内容：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MIPS32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IA32</a:t>
            </a:r>
            <a:endParaRPr lang="zh-CN" altLang="en-US" sz="2000" b="1" dirty="0" smtClean="0">
              <a:latin typeface="宋体" panose="02010600030101010101" pitchFamily="2" charset="-122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9420" y="1413035"/>
            <a:ext cx="352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p>
            <a:pPr marL="805180" indent="-80518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指令系统主要包含的内容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068000" y="1412875"/>
            <a:ext cx="4932000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p>
            <a:pPr marL="805180" indent="-80518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 smtClean="0">
                <a:latin typeface="宋体" panose="02010600030101010101" pitchFamily="2" charset="-122"/>
              </a:rPr>
              <a:t>数据表示、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OPD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存放、寻址方式、指令功能、指令格式</a:t>
            </a:r>
            <a:endParaRPr lang="zh-CN" altLang="en-US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179705" y="1723390"/>
            <a:ext cx="2811780" cy="347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MIPS32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指令系统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*数据表示：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整数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浮点数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*OPD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存放：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存储器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IR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寄存器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3" name="Text Box 42"/>
          <p:cNvSpPr txBox="1">
            <a:spLocks noChangeArrowheads="1"/>
          </p:cNvSpPr>
          <p:nvPr/>
        </p:nvSpPr>
        <p:spPr bwMode="auto">
          <a:xfrm>
            <a:off x="1332230" y="2565400"/>
            <a:ext cx="7644130" cy="3784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二进制、定点格式、无符号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编码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&amp;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补码，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8/16/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32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位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IEEE 754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格式，</a:t>
            </a:r>
            <a:r>
              <a:rPr lang="en-US" altLang="zh-CN" sz="2200" b="1" dirty="0">
                <a:latin typeface="宋体" panose="02010600030101010101" pitchFamily="2" charset="-122"/>
              </a:rPr>
              <a:t>32/64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位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单精度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双精度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spc="-100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按</a:t>
            </a:r>
            <a:r>
              <a:rPr lang="zh-CN" altLang="en-US" sz="2200" b="1" u="sng" spc="-100" dirty="0" smtClean="0">
                <a:latin typeface="宋体" panose="02010600030101010101" pitchFamily="2" charset="-122"/>
                <a:sym typeface="+mn-ea"/>
              </a:rPr>
              <a:t>字节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编址、</a:t>
            </a:r>
            <a:r>
              <a:rPr lang="en-US" altLang="zh-CN" sz="2200" b="1" u="sng" spc="-100" dirty="0"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2200" b="1" u="sng" spc="-100" dirty="0">
                <a:latin typeface="宋体" panose="02010600030101010101" pitchFamily="2" charset="-122"/>
                <a:sym typeface="+mn-ea"/>
              </a:rPr>
              <a:t>位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地址，大端、对齐方式</a:t>
            </a:r>
            <a:endParaRPr lang="en-US" altLang="zh-CN" sz="2200" b="1" spc="-100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只存放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16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位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立即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数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，按约定格式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    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×32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位，只存放</a:t>
            </a: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OPD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存取时先转换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类型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约定：</a:t>
            </a:r>
            <a:r>
              <a:rPr lang="en-US" altLang="zh-CN" sz="1600" b="1" dirty="0" smtClean="0">
                <a:ln>
                  <a:noFill/>
                </a:ln>
                <a:effectLst/>
                <a:latin typeface="宋体" panose="02010600030101010101" pitchFamily="2" charset="-122"/>
                <a:sym typeface="+mn-ea"/>
              </a:rPr>
              <a:t>R0≡0</a:t>
            </a:r>
            <a:r>
              <a:rPr lang="zh-CN" altLang="en-US" sz="1600" b="1" dirty="0" smtClean="0">
                <a:ln>
                  <a:noFill/>
                </a:ln>
                <a:effectLst/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600" b="1" dirty="0" smtClean="0">
                <a:ln>
                  <a:noFill/>
                </a:ln>
                <a:effectLst/>
                <a:latin typeface="宋体" panose="02010600030101010101" pitchFamily="2" charset="-122"/>
                <a:sym typeface="+mn-ea"/>
              </a:rPr>
              <a:t>R31</a:t>
            </a:r>
            <a:r>
              <a:rPr lang="zh-CN" altLang="en-US" sz="1600" b="1" dirty="0" smtClean="0">
                <a:ln>
                  <a:noFill/>
                </a:ln>
                <a:effectLst/>
                <a:latin typeface="宋体" panose="02010600030101010101" pitchFamily="2" charset="-122"/>
                <a:sym typeface="+mn-ea"/>
              </a:rPr>
              <a:t>过程调用返回地址，</a:t>
            </a:r>
            <a:r>
              <a:rPr lang="en-US" altLang="zh-CN" sz="1600" b="1" dirty="0" smtClean="0">
                <a:ln>
                  <a:noFill/>
                </a:ln>
                <a:effectLst/>
                <a:latin typeface="宋体" panose="02010600030101010101" pitchFamily="2" charset="-122"/>
                <a:sym typeface="+mn-ea"/>
              </a:rPr>
              <a:t>R29</a:t>
            </a:r>
            <a:r>
              <a:rPr lang="zh-CN" altLang="en-US" sz="1600" b="1" dirty="0" smtClean="0">
                <a:ln>
                  <a:noFill/>
                </a:ln>
                <a:effectLst/>
                <a:latin typeface="宋体" panose="02010600030101010101" pitchFamily="2" charset="-122"/>
                <a:sym typeface="+mn-ea"/>
              </a:rPr>
              <a:t>栈指针，…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×32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位，双精度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占用相邻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FPR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不保存结果标志</a:t>
            </a:r>
            <a:endParaRPr lang="zh-CN" altLang="en-US" sz="2200" b="1" dirty="0" smtClean="0">
              <a:latin typeface="宋体" panose="02010600030101010101" pitchFamily="2" charset="-122"/>
            </a:endParaRPr>
          </a:p>
        </p:txBody>
      </p:sp>
      <p:cxnSp>
        <p:nvCxnSpPr>
          <p:cNvPr id="18" name="直接箭头连接符 17"/>
          <p:cNvCxnSpPr/>
          <p:nvPr>
            <p:custDataLst>
              <p:tags r:id="rId5"/>
            </p:custDataLst>
          </p:nvPr>
        </p:nvCxnSpPr>
        <p:spPr bwMode="auto">
          <a:xfrm flipH="1" flipV="1">
            <a:off x="2627785" y="4284000"/>
            <a:ext cx="2880000" cy="504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arrow" w="med" len="med"/>
            <a:tailEnd type="arrow"/>
          </a:ln>
          <a:effectLst/>
        </p:spPr>
      </p:cxnSp>
      <p:sp>
        <p:nvSpPr>
          <p:cNvPr id="78" name="AutoShape 38"/>
          <p:cNvSpPr/>
          <p:nvPr>
            <p:custDataLst>
              <p:tags r:id="rId6"/>
            </p:custDataLst>
          </p:nvPr>
        </p:nvSpPr>
        <p:spPr bwMode="auto">
          <a:xfrm>
            <a:off x="6809180" y="4436970"/>
            <a:ext cx="1512000" cy="252000"/>
          </a:xfrm>
          <a:prstGeom prst="borderCallout2">
            <a:avLst>
              <a:gd name="adj1" fmla="val 48795"/>
              <a:gd name="adj2" fmla="val 527"/>
              <a:gd name="adj3" fmla="val 47283"/>
              <a:gd name="adj4" fmla="val -17727"/>
              <a:gd name="adj5" fmla="val 136990"/>
              <a:gd name="adj6" fmla="val -4435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ALU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仅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32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位运算</a:t>
            </a:r>
            <a:endParaRPr lang="zh-CN" altLang="en-US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6" name="Text Box 12"/>
          <p:cNvSpPr txBox="1">
            <a:spLocks noChangeArrowheads="1"/>
          </p:cNvSpPr>
          <p:nvPr/>
        </p:nvSpPr>
        <p:spPr bwMode="auto">
          <a:xfrm>
            <a:off x="1901825" y="4665345"/>
            <a:ext cx="1368000" cy="166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GPRs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16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FPRs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状态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86471" name="AutoShape 455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>
            <a:off x="2772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78" grpId="0" bldLvl="0" animBg="1"/>
      <p:bldP spid="26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2811780" cy="43999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*寻址方式：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数据寻址方式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0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指令寻址方式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5" name="Group 14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114425" y="916305"/>
          <a:ext cx="7472680" cy="2044700"/>
        </p:xfrm>
        <a:graphic>
          <a:graphicData uri="http://schemas.openxmlformats.org/drawingml/2006/table">
            <a:tbl>
              <a:tblPr/>
              <a:tblGrid>
                <a:gridCol w="1306830"/>
                <a:gridCol w="2519680"/>
                <a:gridCol w="3646170"/>
              </a:tblGrid>
              <a:tr h="292100">
                <a:tc>
                  <a:txBody>
                    <a:bodyPr/>
                    <a:p>
                      <a:pPr marL="0" marR="0" lvl="0" indent="0" algn="ctr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寻址方式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地址形成方法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注释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292100">
                <a:tc>
                  <a:txBody>
                    <a:bodyPr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立即寻址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mm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位立即数</a:t>
                      </a: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kumimoji="1" lang="zh-CN" altLang="en-US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有符号</a:t>
                      </a: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92100">
                <a:tc>
                  <a:txBody>
                    <a:bodyPr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寄存器寻址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rx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rx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GPRs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编号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92100">
                <a:tc>
                  <a:txBody>
                    <a:bodyPr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基址寻址</a:t>
                      </a:r>
                      <a:endParaRPr kumimoji="1" lang="zh-CN" altLang="en-US" sz="1800" b="1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rx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mm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rowSpan="2">
                  <a:txBody>
                    <a:bodyPr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相加时先位扩展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292100">
                <a:tc>
                  <a:txBody>
                    <a:bodyPr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PC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相对寻址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(PC)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mm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&lt;&lt;2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99FF">
                        <a:alpha val="5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伪直接寻址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(PC)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zh-CN" altLang="en-US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lang="en-US" altLang="zh-CN" sz="1800" b="1" dirty="0" smtClean="0">
                          <a:latin typeface="宋体" panose="02010600030101010101" pitchFamily="2" charset="-122"/>
                        </a:rPr>
                        <a:t>‖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addr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&lt;&lt;2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 err="1" smtClean="0">
                          <a:latin typeface="宋体" panose="02010600030101010101" pitchFamily="2" charset="-122"/>
                        </a:rPr>
                        <a:t>Addr</a:t>
                      </a:r>
                      <a:r>
                        <a:rPr lang="zh-CN" altLang="en-US" sz="1800" b="1" dirty="0" smtClean="0">
                          <a:latin typeface="宋体" panose="02010600030101010101" pitchFamily="2" charset="-122"/>
                        </a:rPr>
                        <a:t>为</a:t>
                      </a:r>
                      <a:r>
                        <a:rPr lang="en-US" altLang="zh-CN" sz="1800" b="1" dirty="0" smtClean="0">
                          <a:latin typeface="宋体" panose="02010600030101010101" pitchFamily="2" charset="-122"/>
                        </a:rPr>
                        <a:t>26</a:t>
                      </a:r>
                      <a:r>
                        <a:rPr lang="zh-CN" altLang="en-US" sz="1800" b="1" dirty="0" smtClean="0">
                          <a:latin typeface="宋体" panose="02010600030101010101" pitchFamily="2" charset="-122"/>
                        </a:rPr>
                        <a:t>位地址，</a:t>
                      </a:r>
                      <a:r>
                        <a:rPr lang="en-US" altLang="zh-CN" sz="1800" b="1" dirty="0" smtClean="0">
                          <a:latin typeface="宋体" panose="02010600030101010101" pitchFamily="2" charset="-122"/>
                        </a:rPr>
                        <a:t>‖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表示内容拼接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292100">
                <a:tc gridSpan="3">
                  <a:txBody>
                    <a:bodyPr/>
                    <a:p>
                      <a:pPr marL="812800" marR="0" lvl="0" indent="-812800" algn="l" defTabSz="914400" rtl="0" fontAlgn="base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说明：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GPRs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R0≡0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R29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栈指针，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R30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帧指针，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R31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过程调用返回地址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 Box 42"/>
          <p:cNvSpPr txBox="1">
            <a:spLocks noChangeArrowheads="1"/>
          </p:cNvSpPr>
          <p:nvPr/>
        </p:nvSpPr>
        <p:spPr bwMode="auto">
          <a:xfrm>
            <a:off x="2765425" y="3432175"/>
            <a:ext cx="6135370" cy="13220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立即、寄存器、基址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PC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相对、伪直接，隐含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(EA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(PC)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＋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4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等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14" name="Text Box 4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258873" y="3924980"/>
            <a:ext cx="522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dirty="0">
                <a:latin typeface="宋体" panose="02010600030101010101" pitchFamily="2" charset="-122"/>
              </a:rPr>
              <a:t>数据的直接寻址、</a:t>
            </a:r>
            <a:r>
              <a:rPr lang="en-US" altLang="zh-CN" sz="1800" b="1" dirty="0">
                <a:latin typeface="宋体" panose="02010600030101010101" pitchFamily="2" charset="-122"/>
              </a:rPr>
              <a:t>REG</a:t>
            </a:r>
            <a:r>
              <a:rPr lang="zh-CN" altLang="en-US" sz="1800" b="1" dirty="0">
                <a:latin typeface="宋体" panose="02010600030101010101" pitchFamily="2" charset="-122"/>
              </a:rPr>
              <a:t>间接寻址如何实现？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16" name="Text Box 189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587465" y="3924980"/>
            <a:ext cx="1728000" cy="288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8000" tIns="10800" rIns="18000" bIns="10800" anchor="ctr" anchorCtr="0">
            <a:noAutofit/>
          </a:bodyPr>
          <a:p>
            <a:r>
              <a:rPr lang="en-US" altLang="zh-CN" sz="1800" b="1" dirty="0" smtClean="0">
                <a:latin typeface="宋体" panose="02010600030101010101" pitchFamily="2" charset="-122"/>
              </a:rPr>
              <a:t>$0+disp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rx+0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8" name="Text Box 18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219566" y="4726489"/>
            <a:ext cx="3600000" cy="61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8000" tIns="10800" rIns="18000" bIns="10800">
            <a:noAutofit/>
          </a:bodyPr>
          <a:p>
            <a:pPr>
              <a:lnSpc>
                <a:spcPct val="100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指令字</a:t>
            </a:r>
            <a:r>
              <a:rPr lang="en-US" altLang="zh-CN" sz="1800" b="1" dirty="0">
                <a:latin typeface="宋体" panose="02010600030101010101" pitchFamily="2" charset="-122"/>
              </a:rPr>
              <a:t>4B</a:t>
            </a:r>
            <a:r>
              <a:rPr lang="zh-CN" altLang="en-US" sz="1800" b="1" dirty="0">
                <a:latin typeface="宋体" panose="02010600030101010101" pitchFamily="2" charset="-122"/>
              </a:rPr>
              <a:t>对齐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,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寻址范围</a:t>
            </a:r>
            <a:r>
              <a:rPr lang="zh-CN" sz="1800" b="1" dirty="0">
                <a:latin typeface="宋体" panose="02010600030101010101" pitchFamily="2" charset="-122"/>
              </a:rPr>
              <a:t>可扩大</a:t>
            </a:r>
            <a:r>
              <a:rPr lang="en-US" altLang="zh-CN" sz="1800" b="1" dirty="0">
                <a:latin typeface="宋体" panose="02010600030101010101" pitchFamily="2" charset="-122"/>
              </a:rPr>
              <a:t>4</a:t>
            </a:r>
            <a:r>
              <a:rPr lang="zh-CN" altLang="en-US" sz="1800" b="1" dirty="0">
                <a:latin typeface="宋体" panose="02010600030101010101" pitchFamily="2" charset="-122"/>
              </a:rPr>
              <a:t>倍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800" b="1" dirty="0">
                <a:latin typeface="宋体" panose="02010600030101010101" pitchFamily="2" charset="-122"/>
              </a:rPr>
              <a:t>短数据</a:t>
            </a:r>
            <a:r>
              <a:rPr lang="zh-CN" altLang="en-US" sz="1800" b="1" dirty="0">
                <a:latin typeface="宋体" panose="02010600030101010101" pitchFamily="2" charset="-122"/>
              </a:rPr>
              <a:t>为</a:t>
            </a:r>
            <a:r>
              <a:rPr lang="en-US" altLang="zh-CN" sz="1800" b="1" dirty="0">
                <a:latin typeface="宋体" panose="02010600030101010101" pitchFamily="2" charset="-122"/>
              </a:rPr>
              <a:t>8</a:t>
            </a:r>
            <a:r>
              <a:rPr lang="zh-CN" altLang="en-US" sz="1800" b="1" dirty="0">
                <a:latin typeface="宋体" panose="02010600030101010101" pitchFamily="2" charset="-122"/>
              </a:rPr>
              <a:t>位，按</a:t>
            </a:r>
            <a:r>
              <a:rPr lang="en-US" altLang="zh-CN" sz="1800" b="1" dirty="0">
                <a:latin typeface="宋体" panose="02010600030101010101" pitchFamily="2" charset="-122"/>
              </a:rPr>
              <a:t>1B</a:t>
            </a:r>
            <a:r>
              <a:rPr lang="zh-CN" altLang="en-US" sz="1800" b="1" dirty="0">
                <a:latin typeface="宋体" panose="02010600030101010101" pitchFamily="2" charset="-122"/>
              </a:rPr>
              <a:t>边界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对齐存放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15" name="Text Box 4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87118" y="4726489"/>
            <a:ext cx="3888000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p>
            <a:pPr>
              <a:lnSpc>
                <a:spcPct val="10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思考②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1800" b="1" dirty="0">
                <a:latin typeface="宋体" panose="02010600030101010101" pitchFamily="2" charset="-122"/>
              </a:rPr>
              <a:t>为何相对寻址中</a:t>
            </a:r>
            <a:r>
              <a:rPr lang="en-US" altLang="zh-CN" sz="1800" b="1" dirty="0" err="1">
                <a:latin typeface="宋体" panose="02010600030101010101" pitchFamily="2" charset="-122"/>
              </a:rPr>
              <a:t>disp</a:t>
            </a:r>
            <a:r>
              <a:rPr lang="zh-CN" altLang="en-US" sz="1800" b="1" dirty="0">
                <a:latin typeface="宋体" panose="02010600030101010101" pitchFamily="2" charset="-122"/>
              </a:rPr>
              <a:t>要</a:t>
            </a:r>
            <a:r>
              <a:rPr lang="en-US" altLang="zh-CN" sz="1800" b="1" dirty="0">
                <a:latin typeface="宋体" panose="02010600030101010101" pitchFamily="2" charset="-122"/>
              </a:rPr>
              <a:t>&lt;&lt;2</a:t>
            </a:r>
            <a:r>
              <a:rPr lang="zh-CN" altLang="en-US" sz="1800" b="1" dirty="0">
                <a:latin typeface="宋体" panose="02010600030101010101" pitchFamily="2" charset="-122"/>
              </a:rPr>
              <a:t>？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     </a:t>
            </a:r>
            <a:r>
              <a:rPr lang="zh-CN" altLang="en-US" sz="1800" b="1" dirty="0">
                <a:latin typeface="宋体" panose="02010600030101010101" pitchFamily="2" charset="-122"/>
              </a:rPr>
              <a:t>为何基址寻址中</a:t>
            </a:r>
            <a:r>
              <a:rPr lang="en-US" altLang="zh-CN" sz="1800" b="1" dirty="0" err="1">
                <a:latin typeface="宋体" panose="02010600030101010101" pitchFamily="2" charset="-122"/>
              </a:rPr>
              <a:t>disp</a:t>
            </a:r>
            <a:r>
              <a:rPr lang="zh-CN" altLang="en-US" sz="1800" b="1" dirty="0">
                <a:latin typeface="宋体" panose="02010600030101010101" pitchFamily="2" charset="-122"/>
              </a:rPr>
              <a:t>不</a:t>
            </a:r>
            <a:r>
              <a:rPr lang="en-US" altLang="zh-CN" sz="1800" b="1" dirty="0">
                <a:latin typeface="宋体" panose="02010600030101010101" pitchFamily="2" charset="-122"/>
              </a:rPr>
              <a:t>&lt;&lt;2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78" name="AutoShape 38"/>
          <p:cNvSpPr/>
          <p:nvPr>
            <p:custDataLst>
              <p:tags r:id="rId7"/>
            </p:custDataLst>
          </p:nvPr>
        </p:nvSpPr>
        <p:spPr bwMode="auto">
          <a:xfrm>
            <a:off x="2277745" y="3060700"/>
            <a:ext cx="3058795" cy="242570"/>
          </a:xfrm>
          <a:prstGeom prst="borderCallout2">
            <a:avLst>
              <a:gd name="adj1" fmla="val 48795"/>
              <a:gd name="adj2" fmla="val 527"/>
              <a:gd name="adj3" fmla="val 46275"/>
              <a:gd name="adj4" fmla="val -12407"/>
              <a:gd name="adj5" fmla="val -199738"/>
              <a:gd name="adj6" fmla="val -27610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zh-CN" sz="1600" b="1" dirty="0" smtClean="0">
                <a:latin typeface="+mn-ea"/>
                <a:ea typeface="+mn-ea"/>
                <a:sym typeface="+mn-ea"/>
              </a:rPr>
              <a:t>指令字长为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32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位，地址码仅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26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位</a:t>
            </a:r>
            <a:endParaRPr lang="zh-CN" altLang="en-US" sz="1600" b="1" dirty="0" smtClean="0"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AutoShape 117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5400000">
            <a:off x="2772000" y="6524450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 autoUpdateAnimBg="0"/>
      <p:bldP spid="15" grpId="0" bldLvl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9705" y="360045"/>
            <a:ext cx="8721725" cy="4930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指令格式：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有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3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种，采用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定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长指令字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结构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(32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位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功能：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常用指令有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31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条，包括数据传送、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ALU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运算、转移控制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R-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型指令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算术、逻辑、移位，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小于置位、过程返回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sz="1600" b="1" dirty="0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不保存</a:t>
            </a:r>
            <a:r>
              <a:rPr lang="zh-CN" sz="1600" b="1" dirty="0" smtClean="0">
                <a:latin typeface="+mn-ea"/>
                <a:ea typeface="+mn-ea"/>
                <a:sym typeface="+mn-ea"/>
              </a:rPr>
              <a:t>结果标志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</a:t>
            </a:r>
            <a:r>
              <a:rPr lang="en-US" altLang="zh-CN" sz="1600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比较结果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(0/1)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保存到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GPR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I-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型指令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加法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、逻辑、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赋值，存取，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小于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置位、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分支</a:t>
            </a:r>
            <a:endParaRPr lang="en-US" altLang="zh-CN" sz="2200" b="1" dirty="0" smtClean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                                      </a:t>
            </a:r>
            <a:r>
              <a:rPr lang="zh-CN" sz="1600" b="1" dirty="0" smtClean="0">
                <a:latin typeface="宋体" panose="02010600030101010101" pitchFamily="2" charset="-122"/>
                <a:sym typeface="+mn-ea"/>
              </a:rPr>
              <a:t>判段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GPR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值是否为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0→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┘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J-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型指令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跳转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过程调用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7" name="Group 14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42085" y="896620"/>
          <a:ext cx="6639560" cy="1673860"/>
        </p:xfrm>
        <a:graphic>
          <a:graphicData uri="http://schemas.openxmlformats.org/drawingml/2006/table">
            <a:tbl>
              <a:tblPr/>
              <a:tblGrid>
                <a:gridCol w="648335"/>
                <a:gridCol w="1035050"/>
                <a:gridCol w="986155"/>
                <a:gridCol w="978535"/>
                <a:gridCol w="970915"/>
                <a:gridCol w="1024890"/>
                <a:gridCol w="995680"/>
              </a:tblGrid>
              <a:tr h="292100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31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26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(6b)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(5b)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(5b)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(5b)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(5b)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(6b)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100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R-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</a:t>
                      </a:r>
                      <a:endParaRPr kumimoji="1" lang="en-US" altLang="zh-CN" sz="1800" b="1" i="0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rt</a:t>
                      </a:r>
                      <a:endParaRPr kumimoji="1" lang="en-US" altLang="zh-CN" sz="1800" b="1" i="0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800" b="1" i="0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shamt</a:t>
                      </a:r>
                      <a:endParaRPr kumimoji="1" lang="en-US" altLang="zh-CN" sz="1800" b="1" i="0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func</a:t>
                      </a:r>
                      <a:endParaRPr kumimoji="1" lang="en-US" altLang="zh-CN" sz="1800" b="1" i="0" u="none" strike="noStrike" cap="none" normalizeH="0" baseline="0" dirty="0" err="1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</a:tr>
              <a:tr h="292100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I-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</a:t>
                      </a:r>
                      <a:endParaRPr kumimoji="1" lang="en-US" altLang="zh-CN" sz="1800" b="1" i="0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rt</a:t>
                      </a:r>
                      <a:endParaRPr kumimoji="1" lang="en-US" altLang="zh-CN" sz="1800" b="1" i="0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 gridSpan="3"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100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J-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gridSpan="5">
                  <a:txBody>
                    <a:bodyPr/>
                    <a:p>
                      <a:pPr marR="0" lvl="0" indent="0" algn="ctr" defTabSz="914400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addr</a:t>
                      </a:r>
                      <a:endParaRPr kumimoji="1" lang="en-US" altLang="zh-CN" sz="1800" b="1" i="0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5460">
                <a:tc gridSpan="7">
                  <a:txBody>
                    <a:bodyPr/>
                    <a:p>
                      <a:pPr algn="just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lang="en-US" altLang="zh-CN" sz="1600" b="1" dirty="0" smtClean="0">
                          <a:latin typeface="+mn-ea"/>
                          <a:sym typeface="+mn-ea"/>
                        </a:rPr>
                        <a:t>  </a:t>
                      </a:r>
                      <a:r>
                        <a:rPr lang="zh-CN" altLang="en-US" sz="1600" b="1" dirty="0" smtClean="0">
                          <a:latin typeface="+mn-ea"/>
                          <a:sym typeface="+mn-ea"/>
                        </a:rPr>
                        <a:t>注：</a:t>
                      </a:r>
                      <a:r>
                        <a:rPr lang="en-US" altLang="zh-CN" sz="1600" b="1" dirty="0" smtClean="0">
                          <a:latin typeface="+mn-ea"/>
                          <a:sym typeface="+mn-ea"/>
                        </a:rPr>
                        <a:t>op</a:t>
                      </a:r>
                      <a:r>
                        <a:rPr lang="zh-CN" altLang="en-US" sz="1600" b="1" dirty="0" smtClean="0">
                          <a:latin typeface="+mn-ea"/>
                          <a:sym typeface="+mn-ea"/>
                        </a:rPr>
                        <a:t>及</a:t>
                      </a:r>
                      <a:r>
                        <a:rPr lang="en-US" altLang="zh-CN" sz="1600" b="1" dirty="0" err="1" smtClean="0">
                          <a:latin typeface="+mn-ea"/>
                          <a:sym typeface="+mn-ea"/>
                        </a:rPr>
                        <a:t>func</a:t>
                      </a:r>
                      <a:r>
                        <a:rPr lang="en-US" altLang="zh-CN" sz="1600" b="1" dirty="0" smtClean="0">
                          <a:latin typeface="+mn-ea"/>
                          <a:sym typeface="+mn-ea"/>
                        </a:rPr>
                        <a:t>—</a:t>
                      </a:r>
                      <a:r>
                        <a:rPr lang="zh-CN" altLang="en-US" sz="1600" b="1" dirty="0" smtClean="0">
                          <a:latin typeface="+mn-ea"/>
                          <a:sym typeface="+mn-ea"/>
                        </a:rPr>
                        <a:t>操作码，</a:t>
                      </a:r>
                      <a:r>
                        <a:rPr lang="en-US" altLang="zh-CN" sz="1600" b="1" dirty="0" err="1" smtClean="0">
                          <a:latin typeface="+mn-ea"/>
                          <a:sym typeface="+mn-ea"/>
                        </a:rPr>
                        <a:t>rs</a:t>
                      </a:r>
                      <a:r>
                        <a:rPr lang="zh-CN" altLang="en-US" sz="1600" b="1" dirty="0" smtClean="0"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600" b="1" dirty="0" err="1" smtClean="0">
                          <a:latin typeface="+mn-ea"/>
                          <a:sym typeface="+mn-ea"/>
                        </a:rPr>
                        <a:t>rt</a:t>
                      </a:r>
                      <a:r>
                        <a:rPr lang="zh-CN" altLang="en-US" sz="1600" b="1" dirty="0" smtClean="0">
                          <a:latin typeface="+mn-ea"/>
                          <a:sym typeface="+mn-ea"/>
                        </a:rPr>
                        <a:t>及</a:t>
                      </a:r>
                      <a:r>
                        <a:rPr lang="en-US" altLang="zh-CN" sz="1600" b="1" dirty="0" err="1" smtClean="0">
                          <a:latin typeface="+mn-ea"/>
                          <a:sym typeface="+mn-ea"/>
                        </a:rPr>
                        <a:t>rd</a:t>
                      </a:r>
                      <a:r>
                        <a:rPr lang="en-US" altLang="zh-CN" sz="1600" b="1" dirty="0" smtClean="0">
                          <a:latin typeface="+mn-ea"/>
                          <a:sym typeface="+mn-ea"/>
                        </a:rPr>
                        <a:t>—</a:t>
                      </a:r>
                      <a:r>
                        <a:rPr lang="zh-CN" altLang="en-US" sz="1600" b="1" dirty="0" smtClean="0">
                          <a:latin typeface="+mn-ea"/>
                          <a:sym typeface="+mn-ea"/>
                        </a:rPr>
                        <a:t>寄存器号</a:t>
                      </a:r>
                      <a:r>
                        <a:rPr lang="en-US" altLang="zh-CN" sz="1600" b="1" dirty="0" smtClean="0">
                          <a:latin typeface="+mn-ea"/>
                          <a:sym typeface="+mn-ea"/>
                        </a:rPr>
                        <a:t>(</a:t>
                      </a:r>
                      <a:r>
                        <a:rPr lang="zh-CN" altLang="en-US" sz="1600" b="1" dirty="0" smtClean="0">
                          <a:latin typeface="+mn-ea"/>
                          <a:sym typeface="+mn-ea"/>
                        </a:rPr>
                        <a:t>源及目的</a:t>
                      </a:r>
                      <a:r>
                        <a:rPr lang="en-US" altLang="zh-CN" sz="1600" b="1" dirty="0" smtClean="0">
                          <a:latin typeface="+mn-ea"/>
                          <a:sym typeface="+mn-ea"/>
                        </a:rPr>
                        <a:t>OPD)</a:t>
                      </a:r>
                      <a:r>
                        <a:rPr lang="zh-CN" altLang="en-US" sz="1600" b="1" dirty="0" smtClean="0">
                          <a:latin typeface="+mn-ea"/>
                          <a:sym typeface="+mn-ea"/>
                        </a:rPr>
                        <a:t>，</a:t>
                      </a:r>
                      <a:endParaRPr kumimoji="0" lang="en-US" altLang="zh-CN" sz="1600" b="1" dirty="0" smtClean="0">
                        <a:latin typeface="+mn-ea"/>
                        <a:ea typeface="+mn-ea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600" b="1" dirty="0" smtClean="0">
                          <a:latin typeface="+mn-ea"/>
                          <a:sym typeface="+mn-ea"/>
                        </a:rPr>
                        <a:t>      </a:t>
                      </a:r>
                      <a:r>
                        <a:rPr lang="en-US" altLang="zh-CN" sz="1600" b="1" dirty="0" err="1" smtClean="0">
                          <a:latin typeface="+mn-ea"/>
                          <a:sym typeface="+mn-ea"/>
                        </a:rPr>
                        <a:t>shamt</a:t>
                      </a:r>
                      <a:r>
                        <a:rPr lang="en-US" altLang="zh-CN" sz="1600" b="1" dirty="0" smtClean="0">
                          <a:latin typeface="+mn-ea"/>
                          <a:sym typeface="+mn-ea"/>
                        </a:rPr>
                        <a:t>—</a:t>
                      </a:r>
                      <a:r>
                        <a:rPr lang="zh-CN" altLang="en-US" sz="1600" b="1" dirty="0" smtClean="0">
                          <a:latin typeface="+mn-ea"/>
                          <a:sym typeface="+mn-ea"/>
                        </a:rPr>
                        <a:t>移位位数，</a:t>
                      </a:r>
                      <a:r>
                        <a:rPr lang="en-US" altLang="zh-CN" sz="1600" b="1" dirty="0" err="1" smtClean="0">
                          <a:latin typeface="+mn-ea"/>
                          <a:sym typeface="+mn-ea"/>
                        </a:rPr>
                        <a:t>imm</a:t>
                      </a:r>
                      <a:r>
                        <a:rPr lang="en-US" altLang="zh-CN" sz="1600" b="1" dirty="0" smtClean="0">
                          <a:latin typeface="+mn-ea"/>
                          <a:sym typeface="+mn-ea"/>
                        </a:rPr>
                        <a:t>—</a:t>
                      </a:r>
                      <a:r>
                        <a:rPr lang="zh-CN" altLang="en-US" sz="1600" b="1" dirty="0">
                          <a:latin typeface="+mn-ea"/>
                          <a:sym typeface="+mn-ea"/>
                        </a:rPr>
                        <a:t>立即</a:t>
                      </a:r>
                      <a:r>
                        <a:rPr lang="zh-CN" altLang="en-US" sz="1600" b="1" dirty="0" smtClean="0">
                          <a:latin typeface="+mn-ea"/>
                          <a:sym typeface="+mn-ea"/>
                        </a:rPr>
                        <a:t>数或偏移量，</a:t>
                      </a:r>
                      <a:r>
                        <a:rPr lang="en-US" altLang="zh-CN" sz="1600" b="1" dirty="0" err="1" smtClean="0">
                          <a:latin typeface="+mn-ea"/>
                          <a:sym typeface="+mn-ea"/>
                        </a:rPr>
                        <a:t>addr</a:t>
                      </a:r>
                      <a:r>
                        <a:rPr lang="en-US" altLang="zh-CN" sz="1600" b="1" dirty="0" smtClean="0">
                          <a:latin typeface="+mn-ea"/>
                          <a:sym typeface="+mn-ea"/>
                        </a:rPr>
                        <a:t>—</a:t>
                      </a:r>
                      <a:r>
                        <a:rPr lang="zh-CN" altLang="en-US" sz="1600" b="1" dirty="0" smtClean="0">
                          <a:latin typeface="+mn-ea"/>
                          <a:sym typeface="+mn-ea"/>
                        </a:rPr>
                        <a:t>形式地址</a:t>
                      </a:r>
                      <a:endParaRPr kumimoji="1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18000" marR="18000" marT="1800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18000" marB="0" anchor="ctr" horzOverflow="overflow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18000" marB="0" anchor="ctr" horzOverflow="overflow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55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wrap="none" anchor="ctr"/>
          <a:p>
            <a:endParaRPr lang="zh-CN" altLang="en-US"/>
          </a:p>
        </p:txBody>
      </p:sp>
      <p:sp>
        <p:nvSpPr>
          <p:cNvPr id="21" name="AutoShape 62">
            <a:hlinkClick r:id="rId3" action="ppaction://hlinksldjump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6200000">
            <a:off x="5256000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vert270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37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3555" y="504000"/>
          <a:ext cx="8037830" cy="5029200"/>
        </p:xfrm>
        <a:graphic>
          <a:graphicData uri="http://schemas.openxmlformats.org/drawingml/2006/table">
            <a:tbl>
              <a:tblPr/>
              <a:tblGrid>
                <a:gridCol w="1924050"/>
                <a:gridCol w="2164080"/>
                <a:gridCol w="704850"/>
                <a:gridCol w="635000"/>
                <a:gridCol w="622300"/>
                <a:gridCol w="647700"/>
                <a:gridCol w="615950"/>
                <a:gridCol w="723900"/>
              </a:tblGrid>
              <a:tr h="279400"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名称</a:t>
                      </a:r>
                      <a:endParaRPr lang="zh-CN" altLang="en-US" sz="1600" b="1" kern="100" dirty="0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9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功能</a:t>
                      </a:r>
                      <a:endParaRPr lang="zh-CN" altLang="en-US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9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op</a:t>
                      </a:r>
                      <a:endParaRPr lang="en-US" altLang="zh-CN" sz="1600" b="1" kern="100" dirty="0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shamt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func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有符号加</a:t>
                      </a:r>
                      <a:r>
                        <a:rPr lang="en-US" sz="1600" b="1" kern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add</a:t>
                      </a:r>
                      <a:endParaRPr lang="zh-CN" sz="1600" b="1" kern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无符号加</a:t>
                      </a:r>
                      <a:r>
                        <a:rPr lang="en-US" sz="1600" b="1" kern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addu</a:t>
                      </a:r>
                      <a:endParaRPr lang="zh-CN" sz="1600" b="1" kern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100001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有符号减</a:t>
                      </a:r>
                      <a:r>
                        <a:rPr lang="en-US" sz="1600" b="1" kern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sub</a:t>
                      </a:r>
                      <a:endParaRPr lang="zh-CN" sz="1600" b="1" kern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100010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无符号减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subu</a:t>
                      </a:r>
                      <a:endParaRPr 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100011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and</a:t>
                      </a:r>
                      <a:endParaRPr 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)&amp; 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or</a:t>
                      </a:r>
                      <a:endParaRPr 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)| 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100101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异或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xor</a:t>
                      </a:r>
                      <a:endParaRPr 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100110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或非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nor</a:t>
                      </a:r>
                      <a:endParaRPr 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)|(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100111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spc="-5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小于置位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slt</a:t>
                      </a:r>
                      <a:endParaRPr 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b="1" kern="0" spc="-3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spc="-30" baseline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spc="-3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0" spc="-3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＜</a:t>
                      </a:r>
                      <a:r>
                        <a:rPr lang="zh-CN" sz="1600" b="1" kern="0" spc="-30" baseline="-250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有</a:t>
                      </a:r>
                      <a:r>
                        <a:rPr lang="en-US" altLang="zh-CN" sz="1600" b="1" kern="0" spc="-3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spc="-30" baseline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spc="-3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)? 1:0</a:t>
                      </a:r>
                      <a:endParaRPr lang="zh-CN" sz="1600" b="1" kern="0" spc="-30" baseline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101010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spc="-5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无符号小于置位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sltu</a:t>
                      </a:r>
                      <a:endParaRPr 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spc="-30" baseline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b="1" kern="0" spc="-3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spc="-30" baseline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spc="-3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0" spc="-3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＜</a:t>
                      </a:r>
                      <a:r>
                        <a:rPr lang="zh-CN" sz="1600" b="1" kern="0" spc="-30" baseline="-25000" dirty="0" smtClean="0">
                          <a:solidFill>
                            <a:srgbClr val="000000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无</a:t>
                      </a:r>
                      <a:r>
                        <a:rPr lang="en-US" altLang="zh-CN" sz="1600" b="1" kern="0" spc="-3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spc="-30" baseline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spc="-3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)? 1:0</a:t>
                      </a:r>
                      <a:endParaRPr lang="zh-CN" sz="1600" b="1" kern="0" spc="-30" baseline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101011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逻辑左移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sll</a:t>
                      </a:r>
                      <a:endParaRPr 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)&lt;&lt;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shamt</a:t>
                      </a:r>
                      <a:endParaRPr 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shamt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逻辑右移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srl</a:t>
                      </a:r>
                      <a:endParaRPr 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)&gt;&gt;</a:t>
                      </a:r>
                      <a:r>
                        <a:rPr lang="en-US" altLang="zh-CN" sz="1600" b="1" kern="0" baseline="-180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 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shamt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shamt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000010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算术右移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sra</a:t>
                      </a:r>
                      <a:endParaRPr 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)&gt;&gt;</a:t>
                      </a:r>
                      <a:r>
                        <a:rPr lang="en-US" altLang="zh-CN" sz="1600" b="1" kern="0" baseline="-180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shamt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shamt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000011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逻辑左移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sllv</a:t>
                      </a:r>
                      <a:endParaRPr 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)&lt;&lt;(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000100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逻辑右移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srlv</a:t>
                      </a:r>
                      <a:endParaRPr 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)&gt;&gt;</a:t>
                      </a:r>
                      <a:r>
                        <a:rPr lang="en-US" altLang="zh-CN" sz="1600" b="1" kern="0" baseline="-180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000110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算术右移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srav</a:t>
                      </a:r>
                      <a:endParaRPr 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)&gt;&gt;</a:t>
                      </a:r>
                      <a:r>
                        <a:rPr lang="en-US" altLang="zh-CN" sz="1600" b="1" kern="0" baseline="-180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000111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过程返回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jr</a:t>
                      </a:r>
                      <a:endParaRPr 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err="1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altLang="zh-CN" sz="1600" b="1" kern="100" dirty="0" err="1" smtClean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 Box 4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92000" y="6084979"/>
            <a:ext cx="518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为何没有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&lt;&lt;</a:t>
            </a:r>
            <a:r>
              <a:rPr lang="en-US" altLang="zh-CN" sz="1800" b="1" baseline="-18000" dirty="0" smtClean="0">
                <a:latin typeface="宋体" panose="02010600030101010101" pitchFamily="2" charset="-122"/>
              </a:rPr>
              <a:t>A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指令？逻辑非功能如何</a:t>
            </a:r>
            <a:r>
              <a:rPr lang="zh-CN" altLang="en-US" sz="1800" b="1" dirty="0">
                <a:latin typeface="宋体" panose="02010600030101010101" pitchFamily="2" charset="-122"/>
              </a:rPr>
              <a:t>实现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18" name="Text Box 18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084725" y="6084979"/>
            <a:ext cx="2448000" cy="288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8000" tIns="10800" rIns="18000" bIns="10800" anchor="ctr" anchorCtr="0">
            <a:noAutofit/>
          </a:bodyPr>
          <a:p>
            <a:r>
              <a:rPr lang="zh-CN" altLang="en-US" sz="1600" b="1" dirty="0" smtClean="0">
                <a:latin typeface="宋体" panose="02010600030101010101" pitchFamily="2" charset="-122"/>
              </a:rPr>
              <a:t>同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&lt;&lt;</a:t>
            </a:r>
            <a:r>
              <a:rPr lang="en-US" altLang="zh-CN" sz="1600" b="1" baseline="-18000" dirty="0" smtClean="0">
                <a:latin typeface="宋体" panose="02010600030101010101" pitchFamily="2" charset="-122"/>
              </a:rPr>
              <a:t>L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指令，使用</a:t>
            </a:r>
            <a:r>
              <a:rPr lang="en-US" altLang="zh-CN" sz="1600" b="1" dirty="0"/>
              <a:t>~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b="1" dirty="0" err="1">
                <a:latin typeface="宋体" panose="02010600030101010101" pitchFamily="2" charset="-122"/>
              </a:rPr>
              <a:t>rt</a:t>
            </a:r>
            <a:r>
              <a:rPr lang="en-US" altLang="zh-CN" sz="1600" b="1" dirty="0">
                <a:latin typeface="宋体" panose="02010600030101010101" pitchFamily="2" charset="-122"/>
              </a:rPr>
              <a:t>|</a:t>
            </a:r>
            <a:r>
              <a:rPr lang="en-US" altLang="zh-CN" sz="1600" b="1" dirty="0">
                <a:latin typeface="+mn-ea"/>
              </a:rPr>
              <a:t>$0</a:t>
            </a:r>
            <a:r>
              <a:rPr lang="en-US" altLang="zh-CN" sz="1600" b="1" dirty="0" smtClean="0">
                <a:latin typeface="+mn-ea"/>
              </a:rPr>
              <a:t>)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</a:t>
            </a:r>
            <a:endParaRPr lang="en-US" altLang="zh-CN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17" name="Text Box 4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92000" y="5661027"/>
            <a:ext cx="388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①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为何要区分有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无符号运算？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21" name="Text Box 18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788783" y="5661027"/>
            <a:ext cx="3780000" cy="288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8000" tIns="10800" rIns="18000" bIns="10800" anchor="ctr" anchorCtr="0">
            <a:noAutofit/>
          </a:bodyPr>
          <a:p>
            <a:r>
              <a:rPr lang="zh-CN" sz="1600" b="1" dirty="0" smtClean="0">
                <a:latin typeface="宋体" panose="02010600030101010101" pitchFamily="2" charset="-122"/>
              </a:rPr>
              <a:t>无结果标志，便于判断溢出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有符号运算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wrap="none" anchor="ctr"/>
          <a:p>
            <a:endParaRPr lang="zh-CN" altLang="en-US"/>
          </a:p>
        </p:txBody>
      </p:sp>
      <p:sp>
        <p:nvSpPr>
          <p:cNvPr id="11" name="AutoShape 455">
            <a:hlinkClick r:id="rId7" tooltip="" action="ppaction://hlinksldjump" highlightClick="1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10800000">
            <a:off x="2772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 autoUpdateAnimBg="0"/>
      <p:bldP spid="17" grpId="0" bldLvl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9090" y="504000"/>
          <a:ext cx="7935595" cy="4885690"/>
        </p:xfrm>
        <a:graphic>
          <a:graphicData uri="http://schemas.openxmlformats.org/drawingml/2006/table">
            <a:tbl>
              <a:tblPr/>
              <a:tblGrid>
                <a:gridCol w="2069465"/>
                <a:gridCol w="3002915"/>
                <a:gridCol w="705485"/>
                <a:gridCol w="655955"/>
                <a:gridCol w="620395"/>
                <a:gridCol w="881380"/>
              </a:tblGrid>
              <a:tr h="252730"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名称</a:t>
                      </a:r>
                      <a:endParaRPr lang="zh-CN" altLang="en-US" sz="1600" b="1" kern="100" dirty="0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9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功能</a:t>
                      </a:r>
                      <a:endParaRPr lang="zh-CN" altLang="en-US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9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op</a:t>
                      </a:r>
                      <a:endParaRPr lang="en-US" altLang="zh-CN" sz="1600" b="1" kern="100" dirty="0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Imme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有符号加</a:t>
                      </a: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addi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mm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en-US" altLang="en-US" sz="1600" b="1" kern="0" dirty="0" err="1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无符号加</a:t>
                      </a: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addiu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001001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andi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)&amp; 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ZExt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001100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ori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)| 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ZExt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001101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异或</a:t>
                      </a: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xori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ZExt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001110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高位取立即数</a:t>
                      </a: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lui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mm</a:t>
                      </a: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&lt;&lt;16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001111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取字</a:t>
                      </a: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lw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M[(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endParaRPr lang="en-US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100011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en-US" altLang="en-US" sz="1600" b="1" kern="0" dirty="0" err="1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存字</a:t>
                      </a: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sw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M[(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101011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取字节</a:t>
                      </a: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lb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(M[(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)])</a:t>
                      </a:r>
                      <a:endParaRPr lang="en-US" alt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100000</a:t>
                      </a:r>
                      <a:endParaRPr lang="en-US" altLang="zh-CN" sz="1600" b="1" kern="100" dirty="0" smtClean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取无符号字节</a:t>
                      </a: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lbu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ZExt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(M[(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)])</a:t>
                      </a:r>
                      <a:endParaRPr lang="en-US" alt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100100</a:t>
                      </a:r>
                      <a:endParaRPr lang="en-US" altLang="zh-CN" sz="1600" b="1" kern="100" dirty="0" smtClean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存字节</a:t>
                      </a: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sb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M[(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)]</a:t>
                      </a:r>
                      <a:r>
                        <a:rPr lang="zh-CN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altLang="zh-CN" sz="1600" b="1" kern="1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altLang="zh-CN" sz="1600" b="1" kern="100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1600" b="1" kern="1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600" b="1" kern="100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101000</a:t>
                      </a:r>
                      <a:endParaRPr lang="en-US" altLang="zh-CN" sz="1600" b="1" kern="100" dirty="0" smtClean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小于置位</a:t>
                      </a: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slti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＜</a:t>
                      </a:r>
                      <a:r>
                        <a:rPr lang="zh-CN" sz="1600" b="1" kern="0" spc="-30" baseline="-25000" dirty="0" smtClean="0">
                          <a:solidFill>
                            <a:srgbClr val="000000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有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mm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)? 1:0</a:t>
                      </a:r>
                      <a:endParaRPr lang="en-US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001010</a:t>
                      </a:r>
                      <a:endParaRPr lang="en-US" sz="1600" b="1" ker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65"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无符号小于置位</a:t>
                      </a: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slti</a:t>
                      </a:r>
                      <a:r>
                        <a:rPr lang="en-US" altLang="zh-CN" sz="1600" b="1" kern="100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u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zh-CN" sz="1600" b="1" kern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＜</a:t>
                      </a:r>
                      <a:r>
                        <a:rPr lang="zh-CN" sz="1600" b="1" kern="0" spc="-30" baseline="-25000" dirty="0" smtClean="0">
                          <a:solidFill>
                            <a:srgbClr val="000000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无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ZExt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i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cs typeface="Times New Roman" panose="02020603050405020304" pitchFamily="18" charset="0"/>
                          <a:sym typeface="+mn-ea"/>
                        </a:rPr>
                        <a:t>mm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)? 1:0</a:t>
                      </a:r>
                      <a:endParaRPr lang="en-US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768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相等转移</a:t>
                      </a: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beq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))</a:t>
                      </a:r>
                      <a:r>
                        <a:rPr lang="en-US" sz="1600" b="1" kern="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US" sz="1600" b="1" kern="0" baseline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PC</a:t>
                      </a:r>
                      <a:r>
                        <a:rPr lang="zh-CN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(PC)</a:t>
                      </a: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)&lt;&lt;2</a:t>
                      </a:r>
                      <a:endParaRPr lang="en-US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000100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imm</a:t>
                      </a:r>
                      <a:endParaRPr lang="en-US" sz="1600" b="1" kern="0" dirty="0" err="1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768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不等转移</a:t>
                      </a: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bne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if((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≠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))</a:t>
                      </a:r>
                      <a:r>
                        <a:rPr lang="en-US" altLang="zh-CN" sz="1600" b="1" kern="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zh-CN" sz="1600" b="1" kern="0" baseline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b="1" kern="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PC</a:t>
                      </a:r>
                      <a:r>
                        <a:rPr lang="zh-CN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(PC)</a:t>
                      </a: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＋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SExt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)&lt;&lt;2</a:t>
                      </a:r>
                      <a:endParaRPr lang="en-US" alt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0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000101</a:t>
                      </a:r>
                      <a:endParaRPr lang="en-US" sz="1600" b="1" kern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rs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b="1" kern="0" dirty="0" err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imm</a:t>
                      </a:r>
                      <a:endParaRPr lang="en-US" altLang="zh-CN" sz="1600" b="1" kern="0" dirty="0" err="1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31461" marR="31461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75120" y="5544000"/>
          <a:ext cx="7954010" cy="487680"/>
        </p:xfrm>
        <a:graphic>
          <a:graphicData uri="http://schemas.openxmlformats.org/drawingml/2006/table">
            <a:tbl>
              <a:tblPr/>
              <a:tblGrid>
                <a:gridCol w="1261110"/>
                <a:gridCol w="3774440"/>
                <a:gridCol w="701040"/>
                <a:gridCol w="2217420"/>
              </a:tblGrid>
              <a:tr h="24384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跳转</a:t>
                      </a:r>
                      <a:r>
                        <a:rPr lang="en-US" altLang="zh-CN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j</a:t>
                      </a:r>
                      <a:endParaRPr lang="en-US" altLang="zh-CN" sz="1600" b="1" kern="100" dirty="0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PC)</a:t>
                      </a:r>
                      <a:r>
                        <a:rPr lang="zh-CN" altLang="en-US" sz="1600" b="1" kern="0" baseline="-180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高</a:t>
                      </a:r>
                      <a:r>
                        <a:rPr lang="en-US" altLang="zh-CN" sz="1600" b="1" kern="0" baseline="-180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altLang="en-US" sz="1600" b="1" kern="0" baseline="-180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位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‖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Addr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&lt;&lt;2</a:t>
                      </a:r>
                      <a:endParaRPr lang="en-US" alt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000010</a:t>
                      </a:r>
                      <a:endParaRPr lang="en-US" sz="1600" b="1" kern="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err="1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addr</a:t>
                      </a:r>
                      <a:endParaRPr lang="en-US" altLang="zh-CN" sz="1600" b="1" kern="100" dirty="0" err="1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过程调用</a:t>
                      </a:r>
                      <a:r>
                        <a:rPr lang="en-US" altLang="zh-CN" sz="1600" b="1" kern="100" dirty="0" err="1" smtClean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jal</a:t>
                      </a:r>
                      <a:endParaRPr lang="en-US" altLang="zh-CN" sz="1600" b="1" kern="100" dirty="0" err="1" smtClean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$31</a:t>
                      </a:r>
                      <a:r>
                        <a:rPr 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PC)</a:t>
                      </a:r>
                      <a:r>
                        <a:rPr lang="zh-CN" altLang="en-US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lang="zh-CN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←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(PC)</a:t>
                      </a:r>
                      <a:r>
                        <a:rPr lang="zh-CN" altLang="en-US" sz="1600" b="1" kern="0" baseline="-180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高</a:t>
                      </a:r>
                      <a:r>
                        <a:rPr lang="en-US" altLang="zh-CN" sz="1600" b="1" kern="0" baseline="-180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altLang="en-US" sz="1600" b="1" kern="0" baseline="-180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位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‖</a:t>
                      </a:r>
                      <a:r>
                        <a:rPr lang="en-US" altLang="zh-CN" sz="1600" b="1" kern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Addr</a:t>
                      </a:r>
                      <a:r>
                        <a:rPr lang="en-US" altLang="zh-CN" sz="1600" b="1" kern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&lt;&lt;2</a:t>
                      </a:r>
                      <a:endParaRPr lang="en-US" altLang="zh-CN" sz="1600" b="1" kern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000011</a:t>
                      </a:r>
                      <a:endParaRPr lang="en-US" sz="1600" b="1" kern="0" dirty="0" smtClean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 err="1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addr</a:t>
                      </a:r>
                      <a:endParaRPr lang="en-US" altLang="zh-CN" sz="1600" b="1" kern="100" dirty="0" err="1" smtClean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195" marR="36195" marT="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Text Box 4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92000" y="5040000"/>
            <a:ext cx="525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en-US" altLang="zh-CN" sz="1800" b="1" dirty="0">
                <a:latin typeface="宋体" panose="02010600030101010101" pitchFamily="2" charset="-122"/>
              </a:rPr>
              <a:t>if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($4&lt;$5)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if ($4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≥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$5)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功能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如何实现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20" name="Text Box 18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56000" y="4968000"/>
            <a:ext cx="1656000" cy="5040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8000" tIns="10800" rIns="18000" bIns="10800" anchor="ctr" anchorCtr="0">
            <a:noAutofit/>
          </a:bodyPr>
          <a:p>
            <a:r>
              <a:rPr lang="en-US" altLang="zh-CN" sz="1600" b="1" dirty="0" err="1">
                <a:latin typeface="宋体" panose="02010600030101010101" pitchFamily="2" charset="-122"/>
              </a:rPr>
              <a:t>slt</a:t>
            </a:r>
            <a:r>
              <a:rPr lang="en-US" altLang="zh-CN" sz="1600" b="1" dirty="0">
                <a:latin typeface="宋体" panose="02010600030101010101" pitchFamily="2" charset="-122"/>
              </a:rPr>
              <a:t> $6, $4, $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5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r>
              <a:rPr lang="en-US" altLang="zh-CN" sz="1600" b="1" dirty="0" err="1">
                <a:latin typeface="宋体" panose="02010600030101010101" pitchFamily="2" charset="-122"/>
              </a:rPr>
              <a:t>bne</a:t>
            </a:r>
            <a:r>
              <a:rPr lang="en-US" altLang="zh-CN" sz="1600" b="1" dirty="0">
                <a:latin typeface="宋体" panose="02010600030101010101" pitchFamily="2" charset="-122"/>
              </a:rPr>
              <a:t> $6, $0, LL1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243806" name="AutoShape 94">
            <a:hlinkClick r:id="rId4" action="ppaction://hlinksldjump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5256000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wrap="none" anchor="ctr"/>
          <a:p>
            <a:endParaRPr lang="zh-CN" altLang="en-US"/>
          </a:p>
        </p:txBody>
      </p:sp>
      <p:sp>
        <p:nvSpPr>
          <p:cNvPr id="11" name="AutoShape 455">
            <a:hlinkClick r:id="rId6" action="ppaction://hlinksldjump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0800000">
            <a:off x="2772000" y="6523705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3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20000" y="2132603"/>
            <a:ext cx="8136000" cy="18281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marL="624205" indent="-624205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2—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若</a:t>
            </a:r>
            <a:r>
              <a:rPr lang="zh-CN" altLang="en-US" sz="2000" b="1" dirty="0">
                <a:latin typeface="宋体" panose="02010600030101010101" pitchFamily="2" charset="-122"/>
              </a:rPr>
              <a:t>整型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数组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A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的首址放在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$10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中，</a:t>
            </a:r>
            <a:r>
              <a:rPr lang="en-US" altLang="zh-CN" sz="2000" kern="0" dirty="0" err="1" smtClean="0">
                <a:solidFill>
                  <a:srgbClr val="000000"/>
                </a:solidFill>
                <a:cs typeface="Times New Roman" panose="02020603050405020304" pitchFamily="18" charset="0"/>
              </a:rPr>
              <a:t>sizeof</a:t>
            </a:r>
            <a:r>
              <a:rPr lang="en-US" altLang="zh-CN" sz="2000" kern="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kern="0" dirty="0" err="1" smtClean="0">
                <a:solidFill>
                  <a:srgbClr val="000000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2000" kern="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000" b="1" kern="0" dirty="0" smtClean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＝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+mn-ea"/>
                <a:ea typeface="+mn-ea"/>
                <a:cs typeface="Times New Roman" panose="02020603050405020304" pitchFamily="18" charset="0"/>
              </a:rPr>
              <a:t>4B</a:t>
            </a:r>
            <a:r>
              <a:rPr lang="zh-CN" altLang="en-US" sz="2000" kern="0" dirty="0" smtClean="0">
                <a:solidFill>
                  <a:srgbClr val="000000"/>
                </a:solidFill>
                <a:cs typeface="Times New Roman" panose="02020603050405020304" pitchFamily="18" charset="0"/>
              </a:rPr>
              <a:t>，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说明下列代码序列的功能：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     00000020H</a:t>
            </a:r>
            <a:r>
              <a:rPr lang="zh-CN" altLang="en-US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100011 01010 01011 00000 00000 001000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      00000024H</a:t>
            </a:r>
            <a:r>
              <a:rPr lang="zh-CN" altLang="en-US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001000 01011 01100 00000 </a:t>
            </a:r>
            <a:r>
              <a:rPr lang="en-US" altLang="zh-CN" sz="2000" b="1" dirty="0">
                <a:latin typeface="宋体" panose="02010600030101010101" pitchFamily="2" charset="-122"/>
              </a:rPr>
              <a:t>00000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001000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     00000028H</a:t>
            </a:r>
            <a:r>
              <a:rPr lang="zh-CN" altLang="en-US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101011 </a:t>
            </a:r>
            <a:r>
              <a:rPr lang="en-US" altLang="zh-CN" sz="2000" b="1" dirty="0">
                <a:latin typeface="宋体" panose="02010600030101010101" pitchFamily="2" charset="-122"/>
              </a:rPr>
              <a:t>01010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01100 </a:t>
            </a:r>
            <a:r>
              <a:rPr lang="en-US" altLang="zh-CN" sz="2000" b="1" dirty="0">
                <a:latin typeface="宋体" panose="02010600030101010101" pitchFamily="2" charset="-122"/>
              </a:rPr>
              <a:t>00000 00000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001000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4" name="Text Box 20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20000" y="3861301"/>
            <a:ext cx="8136000" cy="16300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指令功能分别为：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kern="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$11</a:t>
            </a:r>
            <a:r>
              <a:rPr lang="zh-CN" altLang="zh-CN" sz="2000" b="1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←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M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[($10)</a:t>
            </a:r>
            <a:r>
              <a:rPr lang="zh-CN" altLang="en-US" sz="2000" b="1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＋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8]</a:t>
            </a:r>
            <a:r>
              <a:rPr lang="zh-CN" altLang="en-US" sz="2000" b="1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$12</a:t>
            </a:r>
            <a:r>
              <a:rPr lang="zh-CN" altLang="zh-CN" sz="2000" b="1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←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($11)</a:t>
            </a:r>
            <a:r>
              <a:rPr lang="zh-CN" altLang="en-US" sz="2000" b="1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＋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8</a:t>
            </a:r>
            <a:r>
              <a:rPr lang="zh-CN" altLang="en-US" sz="2000" b="1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，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M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[($10)</a:t>
            </a:r>
            <a:r>
              <a:rPr lang="zh-CN" altLang="en-US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＋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8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]</a:t>
            </a:r>
            <a:r>
              <a:rPr lang="zh-CN" altLang="zh-CN" sz="2000" b="1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←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($12)</a:t>
            </a:r>
            <a:endParaRPr lang="en-US" altLang="zh-CN" sz="2000" b="1" kern="0" dirty="0" smtClean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000" dirty="0">
                <a:latin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</a:rPr>
              <a:t>  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因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($10)</a:t>
            </a:r>
            <a:r>
              <a:rPr lang="zh-CN" altLang="en-US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＋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8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&amp;A[0</a:t>
            </a:r>
            <a:r>
              <a:rPr lang="zh-CN" altLang="en-US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＋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8/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sizeof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kern="0" dirty="0" err="1">
                <a:solidFill>
                  <a:srgbClr val="000000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latin typeface="宋体" panose="02010600030101010101" pitchFamily="2" charset="-122"/>
              </a:rPr>
              <a:t>]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&amp;A[2]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    故代码功能为</a:t>
            </a:r>
            <a:r>
              <a:rPr lang="en-US" altLang="zh-CN" sz="2000" b="1" dirty="0">
                <a:latin typeface="宋体" panose="02010600030101010101" pitchFamily="2" charset="-122"/>
              </a:rPr>
              <a:t>A[2]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A[2]</a:t>
            </a:r>
            <a:r>
              <a:rPr lang="zh-CN" altLang="en-US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＋</a:t>
            </a:r>
            <a:r>
              <a:rPr lang="en-US" altLang="zh-CN" sz="2000" b="1" kern="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8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33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20000" y="432000"/>
            <a:ext cx="8136000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marL="648335" indent="-648335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1—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分别写出实现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$1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($2)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＋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($3)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$1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($2)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－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2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功能的指令字，其中运算均为有符号运算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35" name="Text Box 20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20000" y="1260956"/>
            <a:ext cx="8136000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指令字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为：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000000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00010 00011 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00001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00000 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100000</a:t>
            </a:r>
            <a:endParaRPr lang="en-US" altLang="zh-CN" sz="20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dirty="0">
                <a:latin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</a:rPr>
              <a:t>  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指令字</a:t>
            </a:r>
            <a:r>
              <a:rPr lang="en-US" altLang="zh-CN" sz="2000" b="1" dirty="0">
                <a:latin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</a:rPr>
              <a:t>为：</a:t>
            </a: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001000</a:t>
            </a:r>
            <a:r>
              <a:rPr lang="en-US" altLang="zh-CN" sz="2000" b="1" dirty="0">
                <a:latin typeface="宋体" panose="02010600030101010101" pitchFamily="2" charset="-122"/>
              </a:rPr>
              <a:t> 00010 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00001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11111 11111 111110</a:t>
            </a:r>
            <a:endParaRPr lang="zh-CN" altLang="en-US" sz="2000" b="1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AutoShape 62">
            <a:hlinkClick r:id="rId5" tooltip="" action="ppaction://hlinksldjump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6200000">
            <a:off x="2772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36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55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11" name="Text Box 1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00"/>
            <a:ext cx="2811780" cy="3300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IA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32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指令系统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*数据表示：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lang="en-US" altLang="zh-CN" sz="16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*OPD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存放：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存储器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IR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寄存器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3" name="Text Box 42"/>
          <p:cNvSpPr txBox="1">
            <a:spLocks noChangeArrowheads="1"/>
          </p:cNvSpPr>
          <p:nvPr/>
        </p:nvSpPr>
        <p:spPr bwMode="auto">
          <a:xfrm>
            <a:off x="471170" y="1202055"/>
            <a:ext cx="8486775" cy="3300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有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整数、浮点数、指针、压缩</a:t>
            </a:r>
            <a:r>
              <a:rPr lang="en-US" altLang="zh-CN" sz="2200" b="1" spc="-100" dirty="0" smtClean="0">
                <a:latin typeface="宋体" panose="02010600030101010101" pitchFamily="2" charset="-122"/>
                <a:sym typeface="+mn-ea"/>
              </a:rPr>
              <a:t>SIMD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数、</a:t>
            </a:r>
            <a:r>
              <a:rPr lang="en-US" altLang="zh-CN" sz="2200" b="1" spc="-100" dirty="0" smtClean="0">
                <a:latin typeface="宋体" panose="02010600030101010101" pitchFamily="2" charset="-122"/>
                <a:sym typeface="+mn-ea"/>
              </a:rPr>
              <a:t>BCD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数、位域</a:t>
            </a:r>
            <a:endParaRPr lang="zh-CN" altLang="en-US" sz="2200" b="1" spc="-10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同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MIPS)     (32/38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    (64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       (8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   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组合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spc="-100" dirty="0" smtClean="0">
                <a:latin typeface="宋体" panose="02010600030101010101" pitchFamily="2" charset="-122"/>
                <a:sym typeface="+mn-ea"/>
              </a:rPr>
              <a:t>           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按</a:t>
            </a:r>
            <a:r>
              <a:rPr lang="zh-CN" altLang="en-US" sz="2200" b="1" u="sng" spc="-100" dirty="0" smtClean="0">
                <a:latin typeface="宋体" panose="02010600030101010101" pitchFamily="2" charset="-122"/>
                <a:sym typeface="+mn-ea"/>
              </a:rPr>
              <a:t>字节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编址、</a:t>
            </a:r>
            <a:r>
              <a:rPr lang="en-US" altLang="zh-CN" sz="2200" b="1" u="sng" spc="-100" dirty="0"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2200" b="1" u="sng" spc="-100" dirty="0">
                <a:latin typeface="宋体" panose="02010600030101010101" pitchFamily="2" charset="-122"/>
                <a:sym typeface="+mn-ea"/>
              </a:rPr>
              <a:t>位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地址，</a:t>
            </a:r>
            <a:r>
              <a:rPr lang="zh-CN" altLang="en-US" sz="2200" b="1" spc="-100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小端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、对齐方式</a:t>
            </a:r>
            <a:endParaRPr lang="en-US" altLang="zh-CN" sz="2200" b="1" spc="-100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可存放</a:t>
            </a: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8/16/32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位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立即数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小端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、不对齐方式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   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GPRs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为</a:t>
            </a: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8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×32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位，可存放</a:t>
            </a: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8/16/32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FPRs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8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×32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位，双精度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占用相邻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FPR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状态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有</a:t>
            </a: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EFLAG</a:t>
            </a:r>
            <a:r>
              <a:rPr 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含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ZF/CF/SF/OF/AF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等标志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1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2811780" cy="5092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*寻址方式：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0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zh-CN" altLang="en-US" sz="20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数据寻址方式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指令寻址方式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4" name="Group 8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043305" y="871220"/>
          <a:ext cx="6824980" cy="3482340"/>
        </p:xfrm>
        <a:graphic>
          <a:graphicData uri="http://schemas.openxmlformats.org/drawingml/2006/table">
            <a:tbl>
              <a:tblPr/>
              <a:tblGrid>
                <a:gridCol w="2954655"/>
                <a:gridCol w="2267585"/>
                <a:gridCol w="1602740"/>
              </a:tblGrid>
              <a:tr h="264160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寻址方式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地址形成方法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存放部件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160"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立即寻址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＝指令中的常数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指令寄存器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寄存器寻址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OPD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(R)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直接寻址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rowSpan="7"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存储器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寄存器间接寻址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(B)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(I)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cPr/>
                </a:tc>
              </a:tr>
              <a:tr h="264160"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寄存器相对寻址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基址寻址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(B)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(I)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cPr/>
                </a:tc>
              </a:tr>
              <a:tr h="264160"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基址加变址寻址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(B)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(I)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cPr/>
                </a:tc>
              </a:tr>
              <a:tr h="264160"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相对基址加变址寻址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(B)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(I)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cPr/>
                </a:tc>
              </a:tr>
              <a:tr h="264160"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比例变址寻址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(B)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(I)×S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cPr/>
                </a:tc>
              </a:tr>
              <a:tr h="0"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相对寻址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R="0" lvl="0" indent="0" algn="l" defTabSz="914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(EIP)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1755" marR="36000" marT="1800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cPr/>
                </a:tc>
              </a:tr>
              <a:tr h="840740">
                <a:tc gridSpan="3">
                  <a:txBody>
                    <a:bodyPr/>
                    <a:p>
                      <a:pPr marL="812800" marR="0" lvl="0" indent="-8128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说明：通用寄存器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R—EAX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EBX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ECX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EDX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ESP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EBP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ESI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EDI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812800" marR="0" lvl="0" indent="-8128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基址寄存器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B—EBX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EBP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，变址寄存器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I—ESI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EDI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812800" marR="0" lvl="0" indent="-8128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A—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偏移量，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EIP—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程序计数器，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S—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比例因子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Box 4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694940" y="4500490"/>
            <a:ext cx="510984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除相对寻址外的寻址方式，隐含方式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直接、寄存器间接、相对等，隐含方式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3" name="AutoShape 9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Text Box 1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1610" y="800055"/>
            <a:ext cx="2811780" cy="35153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指令前缀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指令本身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79705" y="360045"/>
            <a:ext cx="872172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指令格式：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有多种，采用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变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长指令字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结构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en-US" sz="1600" b="1" dirty="0" smtClean="0">
                <a:latin typeface="宋体" panose="02010600030101010101" pitchFamily="2" charset="-122"/>
              </a:rPr>
              <a:t>1B-16B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   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指令前缀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+]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本身       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[ ]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表示</a:t>
            </a:r>
            <a:r>
              <a:rPr lang="zh-CN" altLang="en-US" sz="1600" b="1" dirty="0" smtClean="0">
                <a:sym typeface="+mn-ea"/>
              </a:rPr>
              <a:t>可以缺省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25" name="Group 141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320165" y="1216660"/>
          <a:ext cx="5467350" cy="501015"/>
        </p:xfrm>
        <a:graphic>
          <a:graphicData uri="http://schemas.openxmlformats.org/drawingml/2006/table">
            <a:tbl>
              <a:tblPr/>
              <a:tblGrid>
                <a:gridCol w="958850"/>
                <a:gridCol w="1012190"/>
                <a:gridCol w="1056640"/>
                <a:gridCol w="1123950"/>
                <a:gridCol w="1315720"/>
              </a:tblGrid>
              <a:tr h="238125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905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0B</a:t>
                      </a: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1B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9050" marR="19050" marT="1905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0B</a:t>
                      </a: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1B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9050" marR="19050" marT="1905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0B</a:t>
                      </a: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1B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9050" marR="19050" marT="1905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0B</a:t>
                      </a: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1B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9050" marR="19050" marT="19050" marB="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89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指令前缀</a:t>
                      </a:r>
                      <a:endParaRPr kumimoji="1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905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功能前缀</a:t>
                      </a:r>
                      <a:endParaRPr kumimoji="1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905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段前缀</a:t>
                      </a:r>
                      <a:endParaRPr kumimoji="1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905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操作数长度</a:t>
                      </a:r>
                      <a:endParaRPr kumimoji="1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905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地址长度前缀</a:t>
                      </a:r>
                      <a:endParaRPr kumimoji="1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905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Group 14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74140" y="1837715"/>
          <a:ext cx="6607810" cy="539115"/>
        </p:xfrm>
        <a:graphic>
          <a:graphicData uri="http://schemas.openxmlformats.org/drawingml/2006/table">
            <a:tbl>
              <a:tblPr/>
              <a:tblGrid>
                <a:gridCol w="904875"/>
                <a:gridCol w="802640"/>
                <a:gridCol w="1238885"/>
                <a:gridCol w="1322705"/>
                <a:gridCol w="1136650"/>
                <a:gridCol w="1202055"/>
              </a:tblGrid>
              <a:tr h="257175"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9050" marB="1905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1B</a:t>
                      </a: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2B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0B</a:t>
                      </a: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1B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0B</a:t>
                      </a: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1B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0B</a:t>
                      </a: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1/2/4B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base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0B</a:t>
                      </a: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1/2/4B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940"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指令本身</a:t>
                      </a:r>
                      <a:endParaRPr kumimoji="1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9050" marB="1905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操作码</a:t>
                      </a:r>
                      <a:endParaRPr kumimoji="1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地址码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R_R/M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变参数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SIB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偏移量</a:t>
                      </a: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立即数</a:t>
                      </a:r>
                      <a:r>
                        <a:rPr kumimoji="1" lang="en-US" altLang="zh-CN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Imme</a:t>
                      </a:r>
                      <a:endParaRPr kumimoji="1" lang="en-US" altLang="zh-CN" sz="1600" b="1" i="0" u="none" strike="noStrike" cap="none" normalizeH="0" baseline="0" dirty="0" err="1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9050" marR="19050" marT="19050" marB="190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2447290" y="2376805"/>
            <a:ext cx="3673475" cy="576580"/>
            <a:chOff x="3628" y="4534"/>
            <a:chExt cx="5785" cy="908"/>
          </a:xfrm>
        </p:grpSpPr>
        <p:sp>
          <p:nvSpPr>
            <p:cNvPr id="117907" name="Text Box 147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629" y="4762"/>
              <a:ext cx="680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MOD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7908" name="Text Box 14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309" y="4762"/>
              <a:ext cx="1135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REG/OP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7909" name="Text Box 149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446" y="4762"/>
              <a:ext cx="1020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R/M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7915" name="Text Box 155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799" y="5160"/>
              <a:ext cx="2438" cy="283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600" dirty="0">
                  <a:latin typeface="宋体" panose="02010600030101010101" pitchFamily="2" charset="-122"/>
                </a:rPr>
                <a:t>2b  </a:t>
              </a:r>
              <a:r>
                <a:rPr lang="en-US" altLang="zh-CN" sz="16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dirty="0">
                  <a:latin typeface="宋体" panose="02010600030101010101" pitchFamily="2" charset="-122"/>
                </a:rPr>
                <a:t>3b  </a:t>
              </a:r>
              <a:r>
                <a:rPr lang="en-US" altLang="zh-CN" sz="1600" dirty="0" smtClean="0">
                  <a:latin typeface="宋体" panose="02010600030101010101" pitchFamily="2" charset="-122"/>
                </a:rPr>
                <a:t>   </a:t>
              </a:r>
              <a:r>
                <a:rPr lang="en-US" altLang="zh-CN" sz="1600" dirty="0" err="1">
                  <a:latin typeface="宋体" panose="02010600030101010101" pitchFamily="2" charset="-122"/>
                </a:rPr>
                <a:t>3b</a:t>
              </a:r>
              <a:endParaRPr lang="en-US" altLang="zh-CN" sz="1600" dirty="0" err="1">
                <a:latin typeface="宋体" panose="02010600030101010101" pitchFamily="2" charset="-122"/>
              </a:endParaRPr>
            </a:p>
          </p:txBody>
        </p:sp>
        <p:sp>
          <p:nvSpPr>
            <p:cNvPr id="117916" name="Text Box 156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690" y="4762"/>
              <a:ext cx="680" cy="340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SS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7917" name="Text Box 15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370" y="4762"/>
              <a:ext cx="102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INDEX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7918" name="Text Box 158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393" y="4762"/>
              <a:ext cx="102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>
                  <a:latin typeface="宋体" panose="02010600030101010101" pitchFamily="2" charset="-122"/>
                </a:rPr>
                <a:t>BASE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117921" name="Text Box 16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860" y="5160"/>
              <a:ext cx="2380" cy="283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600" dirty="0">
                  <a:latin typeface="宋体" panose="02010600030101010101" pitchFamily="2" charset="-122"/>
                </a:rPr>
                <a:t>2b  </a:t>
              </a:r>
              <a:r>
                <a:rPr lang="en-US" altLang="zh-CN" sz="1600" dirty="0" smtClean="0">
                  <a:latin typeface="宋体" panose="02010600030101010101" pitchFamily="2" charset="-122"/>
                </a:rPr>
                <a:t>  </a:t>
              </a:r>
              <a:r>
                <a:rPr lang="en-US" altLang="zh-CN" sz="1600" dirty="0">
                  <a:latin typeface="宋体" panose="02010600030101010101" pitchFamily="2" charset="-122"/>
                </a:rPr>
                <a:t>3b </a:t>
              </a:r>
              <a:r>
                <a:rPr lang="en-US" altLang="zh-CN" sz="16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200" dirty="0" smtClean="0">
                  <a:latin typeface="宋体" panose="02010600030101010101" pitchFamily="2" charset="-122"/>
                </a:rPr>
                <a:t>  </a:t>
              </a:r>
              <a:r>
                <a:rPr lang="en-US" altLang="zh-CN" sz="1600" dirty="0" err="1">
                  <a:latin typeface="宋体" panose="02010600030101010101" pitchFamily="2" charset="-122"/>
                </a:rPr>
                <a:t>3b</a:t>
              </a:r>
              <a:endParaRPr lang="en-US" altLang="zh-CN" sz="1600" dirty="0" err="1">
                <a:latin typeface="宋体" panose="02010600030101010101" pitchFamily="2" charset="-122"/>
              </a:endParaRPr>
            </a:p>
          </p:txBody>
        </p:sp>
        <p:cxnSp>
          <p:nvCxnSpPr>
            <p:cNvPr id="99" name="直接箭头连接符 98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3628" y="4534"/>
              <a:ext cx="1020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" name="直接箭头连接符 11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6463" y="4535"/>
              <a:ext cx="113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" name="直接箭头连接符 12"/>
            <p:cNvCxnSpPr/>
            <p:nvPr>
              <p:custDataLst>
                <p:tags r:id="rId14"/>
              </p:custDataLst>
            </p:nvPr>
          </p:nvCxnSpPr>
          <p:spPr bwMode="auto">
            <a:xfrm flipH="1" flipV="1">
              <a:off x="6576" y="4535"/>
              <a:ext cx="113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" name="直接箭头连接符 13"/>
            <p:cNvCxnSpPr/>
            <p:nvPr>
              <p:custDataLst>
                <p:tags r:id="rId15"/>
              </p:custDataLst>
            </p:nvPr>
          </p:nvCxnSpPr>
          <p:spPr bwMode="auto">
            <a:xfrm flipH="1" flipV="1">
              <a:off x="8674" y="4534"/>
              <a:ext cx="737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7" name="Text Box 42"/>
          <p:cNvSpPr txBox="1">
            <a:spLocks noChangeArrowheads="1"/>
          </p:cNvSpPr>
          <p:nvPr/>
        </p:nvSpPr>
        <p:spPr bwMode="auto">
          <a:xfrm>
            <a:off x="2192655" y="2926715"/>
            <a:ext cx="6767830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编码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与指令本身无二义性，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sz="1600" b="1" u="sng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保持软件兼容性</a:t>
            </a:r>
            <a:r>
              <a:rPr 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常见做法</a:t>
            </a:r>
            <a:endParaRPr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可缺省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当前指令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与上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条指令相同时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←前缀保存到</a:t>
            </a:r>
            <a:r>
              <a:rPr lang="zh-CN" altLang="en-US" sz="16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系统</a:t>
            </a:r>
            <a:r>
              <a:rPr lang="zh-CN" altLang="en-US" sz="16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寄存器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</a:t>
            </a:r>
            <a:endParaRPr lang="zh-CN" altLang="en-US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操作码采用扩展编码，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←不含寻址方式位</a:t>
            </a: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地址码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要求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≤2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个、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型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≤1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组合有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种</a:t>
            </a: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3780000" y="5436000"/>
            <a:ext cx="4716145" cy="791845"/>
            <a:chOff x="4024" y="8164"/>
            <a:chExt cx="7427" cy="1247"/>
          </a:xfrm>
        </p:grpSpPr>
        <p:sp>
          <p:nvSpPr>
            <p:cNvPr id="86" name="Text Box 6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576" y="8164"/>
              <a:ext cx="56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MOD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7" name="Text Box 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143" y="8164"/>
              <a:ext cx="79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8" name="Text Box 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937" y="8164"/>
              <a:ext cx="79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R/M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9" name="Text Box 9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731" y="8164"/>
              <a:ext cx="1361" cy="340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0" name="Text Box 1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6576" y="8617"/>
              <a:ext cx="56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>
                  <a:latin typeface="宋体" panose="02010600030101010101" pitchFamily="2" charset="-122"/>
                </a:rPr>
                <a:t>MOD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42" name="Text Box 12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143" y="8617"/>
              <a:ext cx="794" cy="34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Symbol" panose="05050102010706020507"/>
                </a:rPr>
                <a:t></a:t>
              </a:r>
              <a:endParaRPr lang="en-US" altLang="zh-CN" sz="1600" b="1" dirty="0" smtClean="0">
                <a:latin typeface="宋体" panose="02010600030101010101" pitchFamily="2" charset="-122"/>
                <a:sym typeface="Symbol" panose="05050102010706020507"/>
              </a:endParaRPr>
            </a:p>
          </p:txBody>
        </p:sp>
        <p:sp>
          <p:nvSpPr>
            <p:cNvPr id="92" name="Text Box 1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937" y="8617"/>
              <a:ext cx="79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>
                  <a:latin typeface="宋体" panose="02010600030101010101" pitchFamily="2" charset="-122"/>
                </a:rPr>
                <a:t>R/M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93" name="Text Box 14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8731" y="8617"/>
              <a:ext cx="1361" cy="340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4" name="Text Box 16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0091" y="8617"/>
              <a:ext cx="1361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IMME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5" name="Text Box 17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6576" y="9071"/>
              <a:ext cx="56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>
                  <a:latin typeface="宋体" panose="02010600030101010101" pitchFamily="2" charset="-122"/>
                </a:rPr>
                <a:t>MOD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96" name="Text Box 1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143" y="9071"/>
              <a:ext cx="794" cy="34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Symbol" panose="05050102010706020507"/>
                </a:rPr>
                <a:t></a:t>
              </a:r>
              <a:endParaRPr lang="en-US" altLang="zh-CN" sz="1600" b="1" dirty="0" smtClean="0">
                <a:latin typeface="宋体" panose="02010600030101010101" pitchFamily="2" charset="-122"/>
                <a:sym typeface="Symbol" panose="05050102010706020507"/>
              </a:endParaRPr>
            </a:p>
          </p:txBody>
        </p:sp>
        <p:sp>
          <p:nvSpPr>
            <p:cNvPr id="97" name="Text Box 19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7937" y="9071"/>
              <a:ext cx="79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>
                  <a:latin typeface="宋体" panose="02010600030101010101" pitchFamily="2" charset="-122"/>
                </a:rPr>
                <a:t>R/M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98" name="Text Box 20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8731" y="9071"/>
              <a:ext cx="1361" cy="340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3" name="Text Box 10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024" y="8164"/>
              <a:ext cx="2551" cy="340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8000" tIns="10800" rIns="18000" bIns="10800" anchor="ctr"/>
            <a:p>
              <a:pPr algn="r"/>
              <a:r>
                <a:rPr lang="en-US" altLang="zh-CN" sz="1600" b="1" dirty="0">
                  <a:latin typeface="宋体" panose="02010600030101010101" pitchFamily="2" charset="-122"/>
                </a:rPr>
                <a:t>REG-REG/MEM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型：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0" name="Text Box 15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024" y="8617"/>
              <a:ext cx="2551" cy="340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8000" tIns="10800" rIns="18000" bIns="10800" anchor="ctr"/>
            <a:p>
              <a:pPr algn="r"/>
              <a:r>
                <a:rPr lang="en-US" altLang="zh-CN" sz="1600" b="1" dirty="0">
                  <a:latin typeface="宋体" panose="02010600030101010101" pitchFamily="2" charset="-122"/>
                </a:rPr>
                <a:t>IMME-REG/MEM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型：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1" name="Text Box 2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024" y="9071"/>
              <a:ext cx="2551" cy="340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8000" tIns="10800" rIns="18000" bIns="10800" anchor="ctr"/>
            <a:p>
              <a:pPr algn="r"/>
              <a:r>
                <a:rPr lang="en-US" altLang="zh-CN" sz="1600" b="1" dirty="0">
                  <a:latin typeface="宋体" panose="02010600030101010101" pitchFamily="2" charset="-122"/>
                </a:rPr>
                <a:t>REG/MEM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型：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540000" y="4752000"/>
            <a:ext cx="2952115" cy="1296035"/>
            <a:chOff x="3118" y="2891"/>
            <a:chExt cx="4649" cy="2041"/>
          </a:xfrm>
        </p:grpSpPr>
        <p:sp>
          <p:nvSpPr>
            <p:cNvPr id="124" name="Text Box 1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402" y="3231"/>
              <a:ext cx="1474" cy="34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err="1" smtClean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4000" dirty="0" err="1" smtClean="0">
                  <a:latin typeface="宋体" panose="02010600030101010101" pitchFamily="2" charset="-122"/>
                </a:rPr>
                <a:t>i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5" name="Text Box 12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402" y="4139"/>
              <a:ext cx="1474" cy="34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err="1" smtClean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4000" dirty="0" err="1" smtClean="0">
                  <a:latin typeface="宋体" panose="02010600030101010101" pitchFamily="2" charset="-122"/>
                </a:rPr>
                <a:t>k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</p:txBody>
        </p:sp>
        <p:sp>
          <p:nvSpPr>
            <p:cNvPr id="126" name="Text Box 18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3402" y="3685"/>
              <a:ext cx="1191" cy="34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err="1" smtClean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4000" dirty="0" err="1" smtClean="0">
                  <a:latin typeface="宋体" panose="02010600030101010101" pitchFamily="2" charset="-122"/>
                </a:rPr>
                <a:t>j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</p:txBody>
        </p:sp>
        <p:sp>
          <p:nvSpPr>
            <p:cNvPr id="127" name="Text Box 34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798" y="2891"/>
              <a:ext cx="2948" cy="283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36195" tIns="10800" rIns="36195" bIns="10800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1B/2B        1B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8" name="Text Box 73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5159" y="4139"/>
              <a:ext cx="567" cy="3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MOD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9" name="Text Box 74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520" y="4139"/>
              <a:ext cx="737" cy="3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R/M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0" name="Text Box 75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726" y="4139"/>
              <a:ext cx="794" cy="34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err="1" smtClean="0">
                  <a:latin typeface="宋体" panose="02010600030101010101" pitchFamily="2" charset="-122"/>
                  <a:cs typeface="宋体" panose="02010600030101010101" pitchFamily="2" charset="-122"/>
                </a:rPr>
                <a:t>OP</a:t>
              </a:r>
              <a:r>
                <a:rPr lang="en-US" altLang="zh-CN" sz="1600" b="1" baseline="-14000" dirty="0" err="1" smtClean="0">
                  <a:latin typeface="宋体" panose="02010600030101010101" pitchFamily="2" charset="-122"/>
                  <a:cs typeface="宋体" panose="02010600030101010101" pitchFamily="2" charset="-122"/>
                </a:rPr>
                <a:t>k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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1" name="Text Box 76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4876" y="3231"/>
              <a:ext cx="283" cy="34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W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0" name="Text Box 76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592" y="3685"/>
              <a:ext cx="567" cy="340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zh-CN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141" name="Text Box 73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159" y="3231"/>
              <a:ext cx="567" cy="3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MOD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2" name="Text Box 74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6520" y="3231"/>
              <a:ext cx="794" cy="3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zh-CN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143" name="Text Box 75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5726" y="3231"/>
              <a:ext cx="794" cy="34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4" name="Text Box 34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3118" y="4592"/>
              <a:ext cx="4649" cy="34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36195" tIns="10800" rIns="36195" bIns="10800" anchor="ctr" anchorCtr="0"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W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—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长度，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D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位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—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目的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位置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5" name="Text Box 76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4876" y="4139"/>
              <a:ext cx="283" cy="34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72" name="直接箭头连接符 171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3402" y="3061"/>
              <a:ext cx="454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3" name="直接箭头连接符 172"/>
            <p:cNvCxnSpPr/>
            <p:nvPr>
              <p:custDataLst>
                <p:tags r:id="rId47"/>
              </p:custDataLst>
            </p:nvPr>
          </p:nvCxnSpPr>
          <p:spPr bwMode="auto">
            <a:xfrm>
              <a:off x="4706" y="3061"/>
              <a:ext cx="454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5" name="直接箭头连接符 174"/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3402" y="2891"/>
              <a:ext cx="0" cy="28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6" name="直接箭头连接符 175"/>
            <p:cNvCxnSpPr/>
            <p:nvPr>
              <p:custDataLst>
                <p:tags r:id="rId49"/>
              </p:custDataLst>
            </p:nvPr>
          </p:nvCxnSpPr>
          <p:spPr bwMode="auto">
            <a:xfrm flipH="1">
              <a:off x="5159" y="2891"/>
              <a:ext cx="0" cy="28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6" name="直接箭头连接符 145"/>
            <p:cNvCxnSpPr/>
            <p:nvPr>
              <p:custDataLst>
                <p:tags r:id="rId50"/>
              </p:custDataLst>
            </p:nvPr>
          </p:nvCxnSpPr>
          <p:spPr bwMode="auto">
            <a:xfrm flipH="1">
              <a:off x="5159" y="3061"/>
              <a:ext cx="73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7" name="直接箭头连接符 146"/>
            <p:cNvCxnSpPr/>
            <p:nvPr>
              <p:custDataLst>
                <p:tags r:id="rId51"/>
              </p:custDataLst>
            </p:nvPr>
          </p:nvCxnSpPr>
          <p:spPr bwMode="auto">
            <a:xfrm>
              <a:off x="6406" y="3061"/>
              <a:ext cx="90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8" name="直接箭头连接符 147"/>
            <p:cNvCxnSpPr/>
            <p:nvPr>
              <p:custDataLst>
                <p:tags r:id="rId52"/>
              </p:custDataLst>
            </p:nvPr>
          </p:nvCxnSpPr>
          <p:spPr bwMode="auto">
            <a:xfrm flipH="1">
              <a:off x="7313" y="2891"/>
              <a:ext cx="0" cy="28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49" name="组合 148"/>
          <p:cNvGrpSpPr/>
          <p:nvPr/>
        </p:nvGrpSpPr>
        <p:grpSpPr>
          <a:xfrm>
            <a:off x="3736340" y="4752000"/>
            <a:ext cx="5148580" cy="503555"/>
            <a:chOff x="2833" y="7369"/>
            <a:chExt cx="8108" cy="793"/>
          </a:xfrm>
        </p:grpSpPr>
        <p:sp>
          <p:nvSpPr>
            <p:cNvPr id="150" name="Text Box 7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2833" y="7369"/>
              <a:ext cx="73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REG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1" name="Text Box 8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3570" y="7369"/>
              <a:ext cx="73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REG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2" name="Text Box 7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2833" y="7822"/>
              <a:ext cx="73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REG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3" name="Text Box 8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570" y="7822"/>
              <a:ext cx="73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MEM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4" name="Text Box 7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4479" y="7369"/>
              <a:ext cx="73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IMME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5" name="Text Box 8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5216" y="7369"/>
              <a:ext cx="73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REG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6" name="Text Box 7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4479" y="7822"/>
              <a:ext cx="73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IMME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7" name="Text Box 8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5216" y="7822"/>
              <a:ext cx="73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MEM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8" name="Text Box 8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6123" y="7369"/>
              <a:ext cx="73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REG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9" name="Text Box 8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6123" y="7822"/>
              <a:ext cx="73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MEM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0" name="右箭头 159"/>
            <p:cNvSpPr/>
            <p:nvPr>
              <p:custDataLst>
                <p:tags r:id="rId63"/>
              </p:custDataLst>
            </p:nvPr>
          </p:nvSpPr>
          <p:spPr bwMode="auto">
            <a:xfrm>
              <a:off x="7937" y="7482"/>
              <a:ext cx="454" cy="340"/>
            </a:xfrm>
            <a:prstGeom prst="rightArrow">
              <a:avLst>
                <a:gd name="adj1" fmla="val 50000"/>
                <a:gd name="adj2" fmla="val 51745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1" name="Text Box 7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8561" y="7369"/>
              <a:ext cx="73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REG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2" name="Text Box 8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9298" y="7369"/>
              <a:ext cx="73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R/M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3" name="Text Box 7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8561" y="7822"/>
              <a:ext cx="73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IMME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4" name="Text Box 8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9298" y="7822"/>
              <a:ext cx="73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R/M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5" name="Text Box 7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10205" y="7822"/>
              <a:ext cx="73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IMME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6" name="Text Box 8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10205" y="7369"/>
              <a:ext cx="73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R/M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7" name="Text Box 7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7030" y="7822"/>
              <a:ext cx="73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IMME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555" name="AutoShape 452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71"/>
            </p:custDataLst>
          </p:nvPr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87"/>
          <p:cNvSpPr txBox="1">
            <a:spLocks noChangeArrowheads="1"/>
          </p:cNvSpPr>
          <p:nvPr/>
        </p:nvSpPr>
        <p:spPr bwMode="auto">
          <a:xfrm>
            <a:off x="179705" y="1332230"/>
            <a:ext cx="4126865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*系统性能对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指令系统的要求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240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减少</a:t>
            </a:r>
            <a:r>
              <a:rPr lang="en-US" altLang="zh-CN" sz="2200" b="1" i="1" spc="240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I</a:t>
            </a:r>
            <a:r>
              <a:rPr lang="en-US" altLang="zh-CN" sz="2200" b="1" i="1" spc="240" baseline="-18000" dirty="0">
                <a:solidFill>
                  <a:schemeClr val="accent2"/>
                </a:solidFill>
                <a:uFillTx/>
                <a:latin typeface="宋体" panose="02010600030101010101" pitchFamily="2" charset="-122"/>
                <a:sym typeface="+mn-ea"/>
              </a:rPr>
              <a:t>N</a:t>
            </a:r>
            <a:r>
              <a:rPr lang="en-US" altLang="zh-CN" sz="2200" b="1" i="1" spc="240" baseline="-18000" dirty="0">
                <a:solidFill>
                  <a:schemeClr val="accent2"/>
                </a:solidFill>
                <a:uFillTx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减少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CPI—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指令系统的发展：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面向软件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面向硬件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8267" name="Text Box 7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38200" y="395953"/>
            <a:ext cx="746760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</a:t>
            </a:r>
            <a:r>
              <a:rPr lang="en-US" altLang="zh-CN" sz="2800" b="1" dirty="0" smtClean="0">
                <a:latin typeface="宋体" panose="02010600030101010101" pitchFamily="2" charset="-122"/>
              </a:rPr>
              <a:t>4.5  </a:t>
            </a:r>
            <a:r>
              <a:rPr lang="zh-CN" altLang="en-US" sz="2800" b="1" dirty="0">
                <a:latin typeface="宋体" panose="02010600030101010101" pitchFamily="2" charset="-122"/>
              </a:rPr>
              <a:t>指令系统的发展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8279" name="Text Box 87"/>
          <p:cNvSpPr txBox="1">
            <a:spLocks noChangeArrowheads="1"/>
          </p:cNvSpPr>
          <p:nvPr/>
        </p:nvSpPr>
        <p:spPr bwMode="auto">
          <a:xfrm>
            <a:off x="2016125" y="1332230"/>
            <a:ext cx="7011035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     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CPU</a:t>
            </a:r>
            <a:r>
              <a:rPr lang="en-US" altLang="zh-CN" sz="2200" b="1" dirty="0">
                <a:latin typeface="宋体" panose="02010600030101010101" pitchFamily="2" charset="-122"/>
              </a:rPr>
              <a:t>=</a:t>
            </a:r>
            <a:r>
              <a:rPr lang="en-US" altLang="zh-CN" sz="2200" b="1" i="1" dirty="0">
                <a:latin typeface="宋体" panose="02010600030101010101" pitchFamily="2" charset="-122"/>
              </a:rPr>
              <a:t>I</a:t>
            </a:r>
            <a:r>
              <a:rPr lang="en-US" altLang="zh-CN" sz="2200" b="1" i="1" baseline="-18000" dirty="0">
                <a:latin typeface="宋体" panose="02010600030101010101" pitchFamily="2" charset="-122"/>
              </a:rPr>
              <a:t>N</a:t>
            </a:r>
            <a:r>
              <a:rPr lang="en-US" altLang="zh-CN" sz="2200" b="1" dirty="0">
                <a:latin typeface="宋体" panose="02010600030101010101" pitchFamily="2" charset="-122"/>
              </a:rPr>
              <a:t>×CPI×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应增加</a:t>
            </a:r>
            <a:r>
              <a:rPr lang="zh-CN" altLang="en-US" sz="2200" b="1" dirty="0">
                <a:latin typeface="宋体" panose="02010600030101010101" pitchFamily="2" charset="-122"/>
              </a:rPr>
              <a:t>指令的功能及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种类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应减少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</a:t>
            </a:r>
            <a:r>
              <a:rPr lang="zh-CN" altLang="en-US" sz="2200" b="1" dirty="0">
                <a:latin typeface="宋体" panose="02010600030101010101" pitchFamily="2" charset="-122"/>
              </a:rPr>
              <a:t>的功能及种类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强化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的功能及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种类 </a:t>
            </a:r>
            <a:r>
              <a:rPr lang="zh-CN" altLang="en-US" sz="1800" dirty="0" smtClean="0">
                <a:latin typeface="宋体" panose="02010600030101010101" pitchFamily="2" charset="-122"/>
                <a:sym typeface="+mn-ea"/>
              </a:rPr>
              <a:t>→</a:t>
            </a:r>
            <a:r>
              <a:rPr lang="en-US" altLang="zh-CN" sz="1800" b="1" dirty="0" smtClean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CISC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(</a:t>
            </a:r>
            <a:r>
              <a:rPr lang="en-US" altLang="zh-CN" sz="1600" dirty="0" smtClean="0">
                <a:latin typeface="+mn-lt"/>
                <a:sym typeface="+mn-ea"/>
              </a:rPr>
              <a:t>Complex </a:t>
            </a:r>
            <a:r>
              <a:rPr lang="en-US" altLang="zh-CN" sz="1600" dirty="0">
                <a:latin typeface="+mn-lt"/>
                <a:sym typeface="+mn-ea"/>
              </a:rPr>
              <a:t>Instruction Set Computer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)</a:t>
            </a:r>
            <a:endParaRPr lang="en-US" altLang="zh-CN" sz="1800" b="1" dirty="0" smtClean="0">
              <a:latin typeface="+mn-ea"/>
              <a:ea typeface="+mn-ea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简化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的功能及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种类 </a:t>
            </a:r>
            <a:r>
              <a:rPr lang="zh-CN" altLang="en-US" sz="1800" dirty="0" smtClean="0">
                <a:latin typeface="宋体" panose="02010600030101010101" pitchFamily="2" charset="-122"/>
                <a:sym typeface="+mn-ea"/>
              </a:rPr>
              <a:t>→</a:t>
            </a:r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RISC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(</a:t>
            </a:r>
            <a:r>
              <a:rPr lang="en-US" altLang="zh-CN" sz="1600" dirty="0" smtClean="0">
                <a:latin typeface="+mn-lt"/>
                <a:ea typeface="+mn-ea"/>
                <a:sym typeface="+mn-ea"/>
              </a:rPr>
              <a:t>Reduced </a:t>
            </a:r>
            <a:r>
              <a:rPr lang="en-US" altLang="zh-CN" sz="1600" dirty="0">
                <a:latin typeface="+mn-lt"/>
                <a:ea typeface="+mn-ea"/>
                <a:sym typeface="+mn-ea"/>
              </a:rPr>
              <a:t>Instruction Set Computer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9" name="Text Box 52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908720"/>
            <a:ext cx="8785225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en-US" altLang="zh-CN" sz="2000" b="1" dirty="0" smtClean="0">
                <a:solidFill>
                  <a:srgbClr val="C00000"/>
                </a:solidFill>
                <a:latin typeface="+mn-ea"/>
                <a:ea typeface="+mn-ea"/>
              </a:rPr>
              <a:t>※</a:t>
            </a:r>
            <a:r>
              <a:rPr lang="zh-CN" altLang="en-US" sz="2000" b="1" dirty="0" smtClean="0">
                <a:solidFill>
                  <a:srgbClr val="C00000"/>
                </a:solidFill>
                <a:latin typeface="+mn-ea"/>
                <a:ea typeface="+mn-ea"/>
              </a:rPr>
              <a:t>主要内容：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CISC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RISC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的特征</a:t>
            </a:r>
            <a:endParaRPr lang="zh-CN" altLang="en-US" sz="2000" b="1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36235" y="1988820"/>
            <a:ext cx="1332230" cy="504190"/>
            <a:chOff x="8561" y="3132"/>
            <a:chExt cx="2098" cy="794"/>
          </a:xfrm>
        </p:grpSpPr>
        <p:sp>
          <p:nvSpPr>
            <p:cNvPr id="4" name="右大括号 3"/>
            <p:cNvSpPr/>
            <p:nvPr/>
          </p:nvSpPr>
          <p:spPr>
            <a:xfrm>
              <a:off x="8561" y="3132"/>
              <a:ext cx="113" cy="794"/>
            </a:xfrm>
            <a:prstGeom prst="rightBrac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Text Box 10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8731" y="3132"/>
              <a:ext cx="1928" cy="794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00000"/>
                </a:lnSpc>
              </a:pPr>
              <a:r>
                <a:rPr 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要求矛盾</a:t>
              </a:r>
              <a:endParaRPr lang="zh-CN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10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sz="1600" b="1" dirty="0">
                  <a:latin typeface="宋体" panose="02010600030101010101" pitchFamily="2" charset="-122"/>
                </a:rPr>
                <a:t>无法调和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2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2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259247" name="Text Box 17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0000" y="360000"/>
            <a:ext cx="2402840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CISC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指令系统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目标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示例：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特征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4" name="Text Box 17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0000" y="3348000"/>
            <a:ext cx="2402840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R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ISC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指令系统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目标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示例：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特征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5" name="Text Box 175"/>
          <p:cNvSpPr txBox="1">
            <a:spLocks noChangeArrowheads="1"/>
          </p:cNvSpPr>
          <p:nvPr/>
        </p:nvSpPr>
        <p:spPr bwMode="auto">
          <a:xfrm>
            <a:off x="1296000" y="3780155"/>
            <a:ext cx="7543800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侧重</a:t>
            </a:r>
            <a:r>
              <a:rPr lang="zh-CN" altLang="en-US" sz="2200" b="1" dirty="0">
                <a:solidFill>
                  <a:srgbClr val="990099"/>
                </a:solidFill>
                <a:sym typeface="+mn-ea"/>
              </a:rPr>
              <a:t>简化</a:t>
            </a:r>
            <a:r>
              <a:rPr lang="zh-CN" altLang="en-US" sz="2200" b="1" dirty="0" smtClean="0">
                <a:solidFill>
                  <a:srgbClr val="990099"/>
                </a:solidFill>
                <a:sym typeface="+mn-ea"/>
              </a:rPr>
              <a:t>指令功能</a:t>
            </a:r>
            <a:r>
              <a:rPr lang="zh-CN" altLang="en-US" sz="2200" b="1" dirty="0" smtClean="0">
                <a:sym typeface="+mn-ea"/>
              </a:rPr>
              <a:t>，以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提高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指令执行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速度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(CPI)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spc="-50" dirty="0" smtClean="0">
                <a:latin typeface="+mn-ea"/>
                <a:ea typeface="+mn-ea"/>
                <a:sym typeface="+mn-ea"/>
              </a:rPr>
              <a:t>MIPS32</a:t>
            </a:r>
            <a:r>
              <a:rPr lang="zh-CN" altLang="en-US" sz="2200" b="1" spc="-50" dirty="0" smtClean="0">
                <a:latin typeface="+mn-ea"/>
                <a:ea typeface="+mn-ea"/>
                <a:sym typeface="+mn-ea"/>
              </a:rPr>
              <a:t>有</a:t>
            </a:r>
            <a:r>
              <a:rPr lang="en-US" altLang="zh-CN" sz="2200" b="1" spc="-50" dirty="0" smtClean="0">
                <a:latin typeface="+mn-ea"/>
                <a:ea typeface="+mn-ea"/>
                <a:sym typeface="+mn-ea"/>
              </a:rPr>
              <a:t>31</a:t>
            </a:r>
            <a:r>
              <a:rPr lang="zh-CN" altLang="en-US" sz="2200" b="1" spc="-50" dirty="0" smtClean="0">
                <a:latin typeface="+mn-ea"/>
                <a:ea typeface="+mn-ea"/>
                <a:sym typeface="+mn-ea"/>
              </a:rPr>
              <a:t>条常用指令、</a:t>
            </a:r>
            <a:r>
              <a:rPr lang="en-US" altLang="zh-CN" sz="2200" b="1" spc="-50" dirty="0" smtClean="0">
                <a:latin typeface="+mn-ea"/>
                <a:ea typeface="+mn-ea"/>
                <a:sym typeface="+mn-ea"/>
              </a:rPr>
              <a:t>32</a:t>
            </a:r>
            <a:r>
              <a:rPr lang="zh-CN" altLang="en-US" sz="2200" b="1" spc="-50" dirty="0" smtClean="0">
                <a:latin typeface="+mn-ea"/>
                <a:ea typeface="+mn-ea"/>
                <a:sym typeface="+mn-ea"/>
              </a:rPr>
              <a:t>个</a:t>
            </a:r>
            <a:r>
              <a:rPr lang="en-US" altLang="zh-CN" sz="2200" b="1" spc="-50" dirty="0" smtClean="0">
                <a:latin typeface="+mn-ea"/>
                <a:ea typeface="+mn-ea"/>
                <a:sym typeface="+mn-ea"/>
              </a:rPr>
              <a:t>GPR</a:t>
            </a:r>
            <a:endParaRPr lang="zh-CN" altLang="en-US" sz="2200" b="1" spc="-50" dirty="0" smtClean="0">
              <a:latin typeface="+mn-ea"/>
              <a:ea typeface="+mn-ea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·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定长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指令字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结构，指令种类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少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、格式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简单、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寻址方式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少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·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除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Load/Store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外，均为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REG-REG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型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指令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执行速度快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[=1T</a:t>
            </a:r>
            <a:r>
              <a:rPr lang="en-US" altLang="zh-CN" sz="1800" b="1" baseline="-18000" dirty="0" smtClean="0">
                <a:latin typeface="宋体" panose="02010600030101010101" pitchFamily="2" charset="-122"/>
                <a:sym typeface="+mn-ea"/>
              </a:rPr>
              <a:t>C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])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·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使用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大量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寄存器，便于编译优化、过程调用的快速实现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·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执行控制简单，有利于流水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并行处理技术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6" name="Text Box 175"/>
          <p:cNvSpPr txBox="1">
            <a:spLocks noChangeArrowheads="1"/>
          </p:cNvSpPr>
          <p:nvPr/>
        </p:nvSpPr>
        <p:spPr bwMode="auto">
          <a:xfrm>
            <a:off x="1296000" y="806450"/>
            <a:ext cx="7539990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侧重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增强指令功能</a:t>
            </a:r>
            <a:r>
              <a:rPr lang="zh-CN" altLang="en-US" sz="2200" b="1" dirty="0">
                <a:latin typeface="宋体" panose="02010600030101010101" pitchFamily="2" charset="-122"/>
              </a:rPr>
              <a:t>，以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减少程序中的指令数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200" b="1" dirty="0">
                <a:latin typeface="宋体" panose="02010600030101010101" pitchFamily="2" charset="-122"/>
              </a:rPr>
              <a:t>I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N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spc="-50" dirty="0">
                <a:latin typeface="宋体" panose="02010600030101010101" pitchFamily="2" charset="-122"/>
                <a:sym typeface="+mn-ea"/>
              </a:rPr>
              <a:t>IA32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有</a:t>
            </a:r>
            <a:r>
              <a:rPr lang="en-US" altLang="zh-CN" sz="2200" b="1" spc="-50" dirty="0">
                <a:latin typeface="宋体" panose="02010600030101010101" pitchFamily="2" charset="-122"/>
                <a:sym typeface="+mn-ea"/>
              </a:rPr>
              <a:t>200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多条标量</a:t>
            </a:r>
            <a:r>
              <a:rPr lang="zh-CN" altLang="en-US" sz="2200" b="1" spc="-50" dirty="0" smtClean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200" b="1" spc="-50" dirty="0" smtClean="0">
                <a:latin typeface="宋体" panose="02010600030101010101" pitchFamily="2" charset="-122"/>
                <a:sym typeface="+mn-ea"/>
              </a:rPr>
              <a:t>300</a:t>
            </a:r>
            <a:r>
              <a:rPr lang="zh-CN" altLang="en-US" sz="2200" b="1" spc="-50" dirty="0" smtClean="0">
                <a:latin typeface="宋体" panose="02010600030101010101" pitchFamily="2" charset="-122"/>
                <a:sym typeface="+mn-ea"/>
              </a:rPr>
              <a:t>多</a:t>
            </a:r>
            <a:r>
              <a:rPr lang="en-US" altLang="zh-CN" sz="2200" b="1" spc="-50" dirty="0" smtClean="0">
                <a:latin typeface="宋体" panose="02010600030101010101" pitchFamily="2" charset="-122"/>
                <a:sym typeface="+mn-ea"/>
              </a:rPr>
              <a:t>SSE</a:t>
            </a:r>
            <a:r>
              <a:rPr lang="zh-CN" sz="2200" b="1" spc="-50" dirty="0" smtClean="0">
                <a:latin typeface="宋体" panose="02010600030101010101" pitchFamily="2" charset="-122"/>
                <a:sym typeface="+mn-ea"/>
              </a:rPr>
              <a:t>指令，</a:t>
            </a:r>
            <a:r>
              <a:rPr lang="en-US" altLang="zh-CN" sz="2200" b="1" spc="-50" dirty="0" smtClean="0">
                <a:latin typeface="宋体" panose="02010600030101010101" pitchFamily="2" charset="-122"/>
                <a:sym typeface="+mn-ea"/>
              </a:rPr>
              <a:t>8</a:t>
            </a:r>
            <a:r>
              <a:rPr lang="zh-CN" altLang="en-US" sz="2200" b="1" spc="-50" dirty="0" smtClean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2200" b="1" spc="-50" dirty="0" smtClean="0">
                <a:latin typeface="宋体" panose="02010600030101010101" pitchFamily="2" charset="-122"/>
                <a:sym typeface="+mn-ea"/>
              </a:rPr>
              <a:t>GPR</a:t>
            </a:r>
            <a:endParaRPr lang="zh-CN" altLang="en-US" sz="2200" b="1" spc="-5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·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变长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指令字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结构，指令种类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多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、格式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复杂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、寻址方式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多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·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大多为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REG-MEM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型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指令，执行时间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较长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几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个～几十个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baseline="-18000" dirty="0">
                <a:latin typeface="宋体" panose="02010600030101010101" pitchFamily="2" charset="-122"/>
                <a:sym typeface="+mn-ea"/>
              </a:rPr>
              <a:t>C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719455" indent="-71945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·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指令功能不均衡，编译程序复杂，执行控制复杂，不利于流水等技术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167945" name="Text Box 9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3526155" cy="43078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CISC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与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RISC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的发展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CISC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RISC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的比较</a:t>
            </a:r>
            <a:r>
              <a:rPr lang="zh-CN" altLang="en-US" sz="22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硬件方面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软件方面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性</a:t>
            </a:r>
            <a:r>
              <a:rPr lang="en-US" altLang="zh-CN" sz="2200" b="1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/</a:t>
            </a:r>
            <a:r>
              <a:rPr lang="zh-CN" altLang="en-US" sz="2200" b="1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价方面</a:t>
            </a:r>
            <a:r>
              <a:rPr lang="en-US" altLang="zh-CN" sz="2200" b="1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uFillTx/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CISC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与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RISC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自身的发展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RISC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CISC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1586230" y="1188085"/>
            <a:ext cx="7258050" cy="3667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RISC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较好，得益于流水、并行技术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速度</a:t>
            </a:r>
            <a:r>
              <a:rPr lang="zh-CN" altLang="en-US" sz="1800" b="1" dirty="0">
                <a:latin typeface="宋体" panose="02010600030101010101" pitchFamily="2" charset="-122"/>
              </a:rPr>
              <a:t>、成本、功耗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等方面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CISC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较好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得益于已有软件、软件兼容性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开发成本、代码效率、兼容性等</a:t>
            </a:r>
            <a:r>
              <a:rPr lang="zh-CN" altLang="en-US" sz="1800" b="1" dirty="0">
                <a:latin typeface="宋体" panose="02010600030101010101" pitchFamily="2" charset="-122"/>
              </a:rPr>
              <a:t>方面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相当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CISC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成本低、更新快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市场份额大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200" b="1" dirty="0" smtClean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技术交融、和平共处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spc="170" dirty="0" smtClean="0">
                <a:latin typeface="宋体" panose="02010600030101010101" pitchFamily="2" charset="-122"/>
                <a:sym typeface="+mn-ea"/>
              </a:rPr>
              <a:t>ISA</a:t>
            </a:r>
            <a:r>
              <a:rPr lang="zh-CN" altLang="en-US" sz="2200" b="1" spc="170" dirty="0" smtClean="0">
                <a:latin typeface="宋体" panose="02010600030101010101" pitchFamily="2" charset="-122"/>
                <a:sym typeface="+mn-ea"/>
              </a:rPr>
              <a:t>日趋</a:t>
            </a:r>
            <a:r>
              <a:rPr lang="zh-CN" altLang="en-US" sz="2200" b="1" spc="170" dirty="0">
                <a:latin typeface="宋体" panose="02010600030101010101" pitchFamily="2" charset="-122"/>
                <a:sym typeface="+mn-ea"/>
              </a:rPr>
              <a:t>复杂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，纯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RISC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类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RISC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；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嵌入式方向</a:t>
            </a:r>
            <a:endParaRPr lang="zh-CN" altLang="en-US" sz="2200" b="1" u="sng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 smtClean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18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应用领域扩大、为保持性能</a:t>
            </a:r>
            <a:endParaRPr lang="zh-CN" altLang="en-US" sz="18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汲取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RISC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技术，纯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CISC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RISC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内核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；台式机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服务器方向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               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:Intel 80486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起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167954" name="Text Box 1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71477" y="5775647"/>
            <a:ext cx="3168000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zh-CN" altLang="en-US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4-2</a:t>
            </a:r>
            <a:r>
              <a:rPr lang="zh-CN" altLang="en-US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P166—8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9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11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6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54" grpId="0" bldLvl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TABLE_ENDDRAG_ORIGIN_RECT" val="503*24"/>
  <p:tag name="TABLE_ENDDRAG_RECT" val="108*225*503*24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TABLE_ENDDRAG_ORIGIN_RECT" val="555*136"/>
  <p:tag name="TABLE_ENDDRAG_RECT" val="109*99*555*136"/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TABLE_ENDDRAG_ORIGIN_RECT" val="495*48"/>
  <p:tag name="TABLE_ENDDRAG_RECT" val="112*100*495*48"/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TABLE_ENDDRAG_ORIGIN_RECT" val="620*69"/>
  <p:tag name="TABLE_ENDDRAG_RECT" val="82*252*620*69"/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  <p:tag name="TABLE_ENDDRAG_ORIGIN_RECT" val="618*5"/>
  <p:tag name="TABLE_ENDDRAG_RECT" val="76*337*618*6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BEAUTIFY_FLAG" val="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KSO_WM_BEAUTIFY_FLAG" val=""/>
</p:tagLst>
</file>

<file path=ppt/tags/tag617.xml><?xml version="1.0" encoding="utf-8"?>
<p:tagLst xmlns:p="http://schemas.openxmlformats.org/presentationml/2006/main">
  <p:tag name="KSO_WM_BEAUTIFY_FLAG" val=""/>
</p:tagLst>
</file>

<file path=ppt/tags/tag618.xml><?xml version="1.0" encoding="utf-8"?>
<p:tagLst xmlns:p="http://schemas.openxmlformats.org/presentationml/2006/main">
  <p:tag name="KSO_WM_BEAUTIFY_FLAG" val=""/>
</p:tagLst>
</file>

<file path=ppt/tags/tag619.xml><?xml version="1.0" encoding="utf-8"?>
<p:tagLst xmlns:p="http://schemas.openxmlformats.org/presentationml/2006/main">
  <p:tag name="KSO_WM_BEAUTIFY_FLAG" val=""/>
</p:tagLst>
</file>

<file path=ppt/tags/tag620.xml><?xml version="1.0" encoding="utf-8"?>
<p:tagLst xmlns:p="http://schemas.openxmlformats.org/presentationml/2006/main">
  <p:tag name="KSO_WM_BEAUTIFY_FLAG" val=""/>
</p:tagLst>
</file>

<file path=ppt/tags/tag621.xml><?xml version="1.0" encoding="utf-8"?>
<p:tagLst xmlns:p="http://schemas.openxmlformats.org/presentationml/2006/main">
  <p:tag name="KSO_WM_BEAUTIFY_FLAG" val=""/>
</p:tagLst>
</file>

<file path=ppt/tags/tag622.xml><?xml version="1.0" encoding="utf-8"?>
<p:tagLst xmlns:p="http://schemas.openxmlformats.org/presentationml/2006/main">
  <p:tag name="KSO_WM_BEAUTIFY_FLAG" val=""/>
</p:tagLst>
</file>

<file path=ppt/tags/tag623.xml><?xml version="1.0" encoding="utf-8"?>
<p:tagLst xmlns:p="http://schemas.openxmlformats.org/presentationml/2006/main">
  <p:tag name="KSO_WM_BEAUTIFY_FLAG" val=""/>
</p:tagLst>
</file>

<file path=ppt/tags/tag624.xml><?xml version="1.0" encoding="utf-8"?>
<p:tagLst xmlns:p="http://schemas.openxmlformats.org/presentationml/2006/main">
  <p:tag name="KSO_WM_BEAUTIFY_FLAG" val=""/>
</p:tagLst>
</file>

<file path=ppt/tags/tag625.xml><?xml version="1.0" encoding="utf-8"?>
<p:tagLst xmlns:p="http://schemas.openxmlformats.org/presentationml/2006/main">
  <p:tag name="KSO_WM_BEAUTIFY_FLAG" val=""/>
</p:tagLst>
</file>

<file path=ppt/tags/tag626.xml><?xml version="1.0" encoding="utf-8"?>
<p:tagLst xmlns:p="http://schemas.openxmlformats.org/presentationml/2006/main">
  <p:tag name="KSO_WM_BEAUTIFY_FLAG" val=""/>
</p:tagLst>
</file>

<file path=ppt/tags/tag627.xml><?xml version="1.0" encoding="utf-8"?>
<p:tagLst xmlns:p="http://schemas.openxmlformats.org/presentationml/2006/main">
  <p:tag name="KSO_WM_BEAUTIFY_FLAG" val=""/>
</p:tagLst>
</file>

<file path=ppt/tags/tag628.xml><?xml version="1.0" encoding="utf-8"?>
<p:tagLst xmlns:p="http://schemas.openxmlformats.org/presentationml/2006/main">
  <p:tag name="KSO_WM_BEAUTIFY_FLAG" val=""/>
</p:tagLst>
</file>

<file path=ppt/tags/tag629.xml><?xml version="1.0" encoding="utf-8"?>
<p:tagLst xmlns:p="http://schemas.openxmlformats.org/presentationml/2006/main">
  <p:tag name="KSO_WM_BEAUTIFY_FLAG" val=""/>
</p:tagLst>
</file>

<file path=ppt/tags/tag630.xml><?xml version="1.0" encoding="utf-8"?>
<p:tagLst xmlns:p="http://schemas.openxmlformats.org/presentationml/2006/main">
  <p:tag name="KSO_WM_BEAUTIFY_FLAG" val=""/>
</p:tagLst>
</file>

<file path=ppt/tags/tag631.xml><?xml version="1.0" encoding="utf-8"?>
<p:tagLst xmlns:p="http://schemas.openxmlformats.org/presentationml/2006/main">
  <p:tag name="KSO_WM_BEAUTIFY_FLAG" val=""/>
</p:tagLst>
</file>

<file path=ppt/tags/tag632.xml><?xml version="1.0" encoding="utf-8"?>
<p:tagLst xmlns:p="http://schemas.openxmlformats.org/presentationml/2006/main">
  <p:tag name="KSO_WM_BEAUTIFY_FLAG" val=""/>
</p:tagLst>
</file>

<file path=ppt/tags/tag633.xml><?xml version="1.0" encoding="utf-8"?>
<p:tagLst xmlns:p="http://schemas.openxmlformats.org/presentationml/2006/main">
  <p:tag name="KSO_WM_BEAUTIFY_FLAG" val=""/>
</p:tagLst>
</file>

<file path=ppt/tags/tag634.xml><?xml version="1.0" encoding="utf-8"?>
<p:tagLst xmlns:p="http://schemas.openxmlformats.org/presentationml/2006/main">
  <p:tag name="KSO_WM_BEAUTIFY_FLAG" val=""/>
</p:tagLst>
</file>

<file path=ppt/tags/tag635.xml><?xml version="1.0" encoding="utf-8"?>
<p:tagLst xmlns:p="http://schemas.openxmlformats.org/presentationml/2006/main">
  <p:tag name="KSO_WM_BEAUTIFY_FLAG" val=""/>
</p:tagLst>
</file>

<file path=ppt/tags/tag636.xml><?xml version="1.0" encoding="utf-8"?>
<p:tagLst xmlns:p="http://schemas.openxmlformats.org/presentationml/2006/main">
  <p:tag name="KSO_WM_BEAUTIFY_FLAG" val=""/>
</p:tagLst>
</file>

<file path=ppt/tags/tag637.xml><?xml version="1.0" encoding="utf-8"?>
<p:tagLst xmlns:p="http://schemas.openxmlformats.org/presentationml/2006/main">
  <p:tag name="KSO_WM_BEAUTIFY_FLAG" val=""/>
</p:tagLst>
</file>

<file path=ppt/tags/tag638.xml><?xml version="1.0" encoding="utf-8"?>
<p:tagLst xmlns:p="http://schemas.openxmlformats.org/presentationml/2006/main">
  <p:tag name="KSO_WM_BEAUTIFY_FLAG" val=""/>
</p:tagLst>
</file>

<file path=ppt/tags/tag639.xml><?xml version="1.0" encoding="utf-8"?>
<p:tagLst xmlns:p="http://schemas.openxmlformats.org/presentationml/2006/main">
  <p:tag name="KSO_WM_BEAUTIFY_FLAG" val=""/>
</p:tagLst>
</file>

<file path=ppt/tags/tag640.xml><?xml version="1.0" encoding="utf-8"?>
<p:tagLst xmlns:p="http://schemas.openxmlformats.org/presentationml/2006/main">
  <p:tag name="KSO_WM_BEAUTIFY_FLAG" val=""/>
</p:tagLst>
</file>

<file path=ppt/tags/tag641.xml><?xml version="1.0" encoding="utf-8"?>
<p:tagLst xmlns:p="http://schemas.openxmlformats.org/presentationml/2006/main">
  <p:tag name="KSO_WM_BEAUTIFY_FLAG" val=""/>
</p:tagLst>
</file>

<file path=ppt/tags/tag642.xml><?xml version="1.0" encoding="utf-8"?>
<p:tagLst xmlns:p="http://schemas.openxmlformats.org/presentationml/2006/main">
  <p:tag name="KSO_WM_BEAUTIFY_FLAG" val=""/>
</p:tagLst>
</file>

<file path=ppt/tags/tag643.xml><?xml version="1.0" encoding="utf-8"?>
<p:tagLst xmlns:p="http://schemas.openxmlformats.org/presentationml/2006/main">
  <p:tag name="KSO_WM_BEAUTIFY_FLAG" val=""/>
</p:tagLst>
</file>

<file path=ppt/tags/tag644.xml><?xml version="1.0" encoding="utf-8"?>
<p:tagLst xmlns:p="http://schemas.openxmlformats.org/presentationml/2006/main">
  <p:tag name="KSO_WM_BEAUTIFY_FLAG" val=""/>
</p:tagLst>
</file>

<file path=ppt/tags/tag645.xml><?xml version="1.0" encoding="utf-8"?>
<p:tagLst xmlns:p="http://schemas.openxmlformats.org/presentationml/2006/main">
  <p:tag name="KSO_WM_BEAUTIFY_FLAG" val=""/>
</p:tagLst>
</file>

<file path=ppt/tags/tag646.xml><?xml version="1.0" encoding="utf-8"?>
<p:tagLst xmlns:p="http://schemas.openxmlformats.org/presentationml/2006/main">
  <p:tag name="KSO_WM_BEAUTIFY_FLAG" val=""/>
</p:tagLst>
</file>

<file path=ppt/tags/tag647.xml><?xml version="1.0" encoding="utf-8"?>
<p:tagLst xmlns:p="http://schemas.openxmlformats.org/presentationml/2006/main">
  <p:tag name="KSO_WM_BEAUTIFY_FLAG" val=""/>
</p:tagLst>
</file>

<file path=ppt/tags/tag648.xml><?xml version="1.0" encoding="utf-8"?>
<p:tagLst xmlns:p="http://schemas.openxmlformats.org/presentationml/2006/main">
  <p:tag name="KSO_WM_BEAUTIFY_FLAG" val=""/>
</p:tagLst>
</file>

<file path=ppt/tags/tag649.xml><?xml version="1.0" encoding="utf-8"?>
<p:tagLst xmlns:p="http://schemas.openxmlformats.org/presentationml/2006/main">
  <p:tag name="KSO_WM_BEAUTIFY_FLAG" val=""/>
</p:tagLst>
</file>

<file path=ppt/tags/tag650.xml><?xml version="1.0" encoding="utf-8"?>
<p:tagLst xmlns:p="http://schemas.openxmlformats.org/presentationml/2006/main">
  <p:tag name="KSO_WM_BEAUTIFY_FLAG" val=""/>
</p:tagLst>
</file>

<file path=ppt/tags/tag651.xml><?xml version="1.0" encoding="utf-8"?>
<p:tagLst xmlns:p="http://schemas.openxmlformats.org/presentationml/2006/main">
  <p:tag name="KSO_WM_BEAUTIFY_FLAG" val=""/>
</p:tagLst>
</file>

<file path=ppt/tags/tag652.xml><?xml version="1.0" encoding="utf-8"?>
<p:tagLst xmlns:p="http://schemas.openxmlformats.org/presentationml/2006/main">
  <p:tag name="KSO_WM_BEAUTIFY_FLAG" val=""/>
</p:tagLst>
</file>

<file path=ppt/tags/tag653.xml><?xml version="1.0" encoding="utf-8"?>
<p:tagLst xmlns:p="http://schemas.openxmlformats.org/presentationml/2006/main">
  <p:tag name="KSO_WM_BEAUTIFY_FLAG" val=""/>
</p:tagLst>
</file>

<file path=ppt/tags/tag654.xml><?xml version="1.0" encoding="utf-8"?>
<p:tagLst xmlns:p="http://schemas.openxmlformats.org/presentationml/2006/main">
  <p:tag name="KSO_WM_BEAUTIFY_FLAG" val=""/>
</p:tagLst>
</file>

<file path=ppt/tags/tag655.xml><?xml version="1.0" encoding="utf-8"?>
<p:tagLst xmlns:p="http://schemas.openxmlformats.org/presentationml/2006/main">
  <p:tag name="KSO_WM_BEAUTIFY_FLAG" val=""/>
</p:tagLst>
</file>

<file path=ppt/tags/tag656.xml><?xml version="1.0" encoding="utf-8"?>
<p:tagLst xmlns:p="http://schemas.openxmlformats.org/presentationml/2006/main">
  <p:tag name="KSO_WM_BEAUTIFY_FLAG" val=""/>
</p:tagLst>
</file>

<file path=ppt/tags/tag657.xml><?xml version="1.0" encoding="utf-8"?>
<p:tagLst xmlns:p="http://schemas.openxmlformats.org/presentationml/2006/main">
  <p:tag name="KSO_WM_BEAUTIFY_FLAG" val=""/>
</p:tagLst>
</file>

<file path=ppt/tags/tag658.xml><?xml version="1.0" encoding="utf-8"?>
<p:tagLst xmlns:p="http://schemas.openxmlformats.org/presentationml/2006/main">
  <p:tag name="KSO_WM_BEAUTIFY_FLAG" val=""/>
</p:tagLst>
</file>

<file path=ppt/tags/tag659.xml><?xml version="1.0" encoding="utf-8"?>
<p:tagLst xmlns:p="http://schemas.openxmlformats.org/presentationml/2006/main">
  <p:tag name="KSO_WM_BEAUTIFY_FLAG" val=""/>
</p:tagLst>
</file>

<file path=ppt/tags/tag660.xml><?xml version="1.0" encoding="utf-8"?>
<p:tagLst xmlns:p="http://schemas.openxmlformats.org/presentationml/2006/main">
  <p:tag name="KSO_WM_BEAUTIFY_FLAG" val=""/>
</p:tagLst>
</file>

<file path=ppt/tags/tag661.xml><?xml version="1.0" encoding="utf-8"?>
<p:tagLst xmlns:p="http://schemas.openxmlformats.org/presentationml/2006/main">
  <p:tag name="KSO_WM_BEAUTIFY_FLAG" val=""/>
</p:tagLst>
</file>

<file path=ppt/tags/tag662.xml><?xml version="1.0" encoding="utf-8"?>
<p:tagLst xmlns:p="http://schemas.openxmlformats.org/presentationml/2006/main">
  <p:tag name="KSO_WM_BEAUTIFY_FLAG" val=""/>
</p:tagLst>
</file>

<file path=ppt/tags/tag663.xml><?xml version="1.0" encoding="utf-8"?>
<p:tagLst xmlns:p="http://schemas.openxmlformats.org/presentationml/2006/main">
  <p:tag name="KSO_WM_BEAUTIFY_FLAG" val=""/>
</p:tagLst>
</file>

<file path=ppt/tags/tag664.xml><?xml version="1.0" encoding="utf-8"?>
<p:tagLst xmlns:p="http://schemas.openxmlformats.org/presentationml/2006/main">
  <p:tag name="KSO_WM_BEAUTIFY_FLAG" val=""/>
</p:tagLst>
</file>

<file path=ppt/tags/tag665.xml><?xml version="1.0" encoding="utf-8"?>
<p:tagLst xmlns:p="http://schemas.openxmlformats.org/presentationml/2006/main">
  <p:tag name="KSO_WM_BEAUTIFY_FLAG" val=""/>
</p:tagLst>
</file>

<file path=ppt/tags/tag666.xml><?xml version="1.0" encoding="utf-8"?>
<p:tagLst xmlns:p="http://schemas.openxmlformats.org/presentationml/2006/main">
  <p:tag name="KSO_WM_BEAUTIFY_FLAG" val=""/>
</p:tagLst>
</file>

<file path=ppt/tags/tag667.xml><?xml version="1.0" encoding="utf-8"?>
<p:tagLst xmlns:p="http://schemas.openxmlformats.org/presentationml/2006/main">
  <p:tag name="KSO_WM_BEAUTIFY_FLAG" val=""/>
</p:tagLst>
</file>

<file path=ppt/tags/tag668.xml><?xml version="1.0" encoding="utf-8"?>
<p:tagLst xmlns:p="http://schemas.openxmlformats.org/presentationml/2006/main">
  <p:tag name="KSO_WM_BEAUTIFY_FLAG" val=""/>
</p:tagLst>
</file>

<file path=ppt/tags/tag669.xml><?xml version="1.0" encoding="utf-8"?>
<p:tagLst xmlns:p="http://schemas.openxmlformats.org/presentationml/2006/main">
  <p:tag name="KSO_WM_BEAUTIFY_FLAG" val=""/>
</p:tagLst>
</file>

<file path=ppt/tags/tag670.xml><?xml version="1.0" encoding="utf-8"?>
<p:tagLst xmlns:p="http://schemas.openxmlformats.org/presentationml/2006/main">
  <p:tag name="KSO_WM_BEAUTIFY_FLAG" val=""/>
</p:tagLst>
</file>

<file path=ppt/tags/tag671.xml><?xml version="1.0" encoding="utf-8"?>
<p:tagLst xmlns:p="http://schemas.openxmlformats.org/presentationml/2006/main">
  <p:tag name="KSO_WM_BEAUTIFY_FLAG" val=""/>
</p:tagLst>
</file>

<file path=ppt/tags/tag672.xml><?xml version="1.0" encoding="utf-8"?>
<p:tagLst xmlns:p="http://schemas.openxmlformats.org/presentationml/2006/main">
  <p:tag name="KSO_WM_BEAUTIFY_FLAG" val=""/>
</p:tagLst>
</file>

<file path=ppt/tags/tag673.xml><?xml version="1.0" encoding="utf-8"?>
<p:tagLst xmlns:p="http://schemas.openxmlformats.org/presentationml/2006/main">
  <p:tag name="KSO_WM_BEAUTIFY_FLAG" val=""/>
</p:tagLst>
</file>

<file path=ppt/tags/tag674.xml><?xml version="1.0" encoding="utf-8"?>
<p:tagLst xmlns:p="http://schemas.openxmlformats.org/presentationml/2006/main">
  <p:tag name="KSO_WM_BEAUTIFY_FLAG" val=""/>
</p:tagLst>
</file>

<file path=ppt/tags/tag675.xml><?xml version="1.0" encoding="utf-8"?>
<p:tagLst xmlns:p="http://schemas.openxmlformats.org/presentationml/2006/main">
  <p:tag name="KSO_WM_BEAUTIFY_FLAG" val=""/>
</p:tagLst>
</file>

<file path=ppt/tags/tag676.xml><?xml version="1.0" encoding="utf-8"?>
<p:tagLst xmlns:p="http://schemas.openxmlformats.org/presentationml/2006/main">
  <p:tag name="KSO_WM_BEAUTIFY_FLAG" val=""/>
</p:tagLst>
</file>

<file path=ppt/tags/tag677.xml><?xml version="1.0" encoding="utf-8"?>
<p:tagLst xmlns:p="http://schemas.openxmlformats.org/presentationml/2006/main">
  <p:tag name="KSO_WM_BEAUTIFY_FLAG" val=""/>
</p:tagLst>
</file>

<file path=ppt/tags/tag678.xml><?xml version="1.0" encoding="utf-8"?>
<p:tagLst xmlns:p="http://schemas.openxmlformats.org/presentationml/2006/main">
  <p:tag name="KSO_WM_BEAUTIFY_FLAG" val=""/>
</p:tagLst>
</file>

<file path=ppt/tags/tag679.xml><?xml version="1.0" encoding="utf-8"?>
<p:tagLst xmlns:p="http://schemas.openxmlformats.org/presentationml/2006/main">
  <p:tag name="KSO_WM_BEAUTIFY_FLAG" val=""/>
</p:tagLst>
</file>

<file path=ppt/tags/tag680.xml><?xml version="1.0" encoding="utf-8"?>
<p:tagLst xmlns:p="http://schemas.openxmlformats.org/presentationml/2006/main">
  <p:tag name="KSO_WM_BEAUTIFY_FLAG" val=""/>
</p:tagLst>
</file>

<file path=ppt/tags/tag681.xml><?xml version="1.0" encoding="utf-8"?>
<p:tagLst xmlns:p="http://schemas.openxmlformats.org/presentationml/2006/main">
  <p:tag name="KSO_WM_BEAUTIFY_FLAG" val=""/>
</p:tagLst>
</file>

<file path=ppt/tags/tag682.xml><?xml version="1.0" encoding="utf-8"?>
<p:tagLst xmlns:p="http://schemas.openxmlformats.org/presentationml/2006/main">
  <p:tag name="KSO_WM_BEAUTIFY_FLAG" val=""/>
</p:tagLst>
</file>

<file path=ppt/tags/tag683.xml><?xml version="1.0" encoding="utf-8"?>
<p:tagLst xmlns:p="http://schemas.openxmlformats.org/presentationml/2006/main">
  <p:tag name="KSO_WM_BEAUTIFY_FLAG" val=""/>
</p:tagLst>
</file>

<file path=ppt/tags/tag684.xml><?xml version="1.0" encoding="utf-8"?>
<p:tagLst xmlns:p="http://schemas.openxmlformats.org/presentationml/2006/main">
  <p:tag name="KSO_WM_BEAUTIFY_FLAG" val=""/>
</p:tagLst>
</file>

<file path=ppt/tags/tag685.xml><?xml version="1.0" encoding="utf-8"?>
<p:tagLst xmlns:p="http://schemas.openxmlformats.org/presentationml/2006/main">
  <p:tag name="KSO_WM_BEAUTIFY_FLAG" val=""/>
</p:tagLst>
</file>

<file path=ppt/tags/tag686.xml><?xml version="1.0" encoding="utf-8"?>
<p:tagLst xmlns:p="http://schemas.openxmlformats.org/presentationml/2006/main">
  <p:tag name="KSO_WM_BEAUTIFY_FLAG" val=""/>
</p:tagLst>
</file>

<file path=ppt/tags/tag687.xml><?xml version="1.0" encoding="utf-8"?>
<p:tagLst xmlns:p="http://schemas.openxmlformats.org/presentationml/2006/main">
  <p:tag name="KSO_WM_BEAUTIFY_FLAG" val=""/>
</p:tagLst>
</file>

<file path=ppt/tags/tag688.xml><?xml version="1.0" encoding="utf-8"?>
<p:tagLst xmlns:p="http://schemas.openxmlformats.org/presentationml/2006/main">
  <p:tag name="KSO_WM_BEAUTIFY_FLAG" val=""/>
</p:tagLst>
</file>

<file path=ppt/tags/tag689.xml><?xml version="1.0" encoding="utf-8"?>
<p:tagLst xmlns:p="http://schemas.openxmlformats.org/presentationml/2006/main">
  <p:tag name="KSO_WM_BEAUTIFY_FLAG" val=""/>
</p:tagLst>
</file>

<file path=ppt/tags/tag690.xml><?xml version="1.0" encoding="utf-8"?>
<p:tagLst xmlns:p="http://schemas.openxmlformats.org/presentationml/2006/main">
  <p:tag name="KSO_WM_BEAUTIFY_FLAG" val=""/>
</p:tagLst>
</file>

<file path=ppt/tags/tag691.xml><?xml version="1.0" encoding="utf-8"?>
<p:tagLst xmlns:p="http://schemas.openxmlformats.org/presentationml/2006/main">
  <p:tag name="KSO_WM_BEAUTIFY_FLAG" val=""/>
</p:tagLst>
</file>

<file path=ppt/tags/tag692.xml><?xml version="1.0" encoding="utf-8"?>
<p:tagLst xmlns:p="http://schemas.openxmlformats.org/presentationml/2006/main">
  <p:tag name="KSO_WM_BEAUTIFY_FLAG" val=""/>
</p:tagLst>
</file>

<file path=ppt/tags/tag693.xml><?xml version="1.0" encoding="utf-8"?>
<p:tagLst xmlns:p="http://schemas.openxmlformats.org/presentationml/2006/main">
  <p:tag name="KSO_WM_BEAUTIFY_FLAG" val=""/>
</p:tagLst>
</file>

<file path=ppt/tags/tag694.xml><?xml version="1.0" encoding="utf-8"?>
<p:tagLst xmlns:p="http://schemas.openxmlformats.org/presentationml/2006/main">
  <p:tag name="KSO_WM_BEAUTIFY_FLAG" val=""/>
</p:tagLst>
</file>

<file path=ppt/tags/tag695.xml><?xml version="1.0" encoding="utf-8"?>
<p:tagLst xmlns:p="http://schemas.openxmlformats.org/presentationml/2006/main">
  <p:tag name="KSO_WM_BEAUTIFY_FLAG" val=""/>
</p:tagLst>
</file>

<file path=ppt/tags/tag696.xml><?xml version="1.0" encoding="utf-8"?>
<p:tagLst xmlns:p="http://schemas.openxmlformats.org/presentationml/2006/main">
  <p:tag name="KSO_WM_BEAUTIFY_FLAG" val=""/>
</p:tagLst>
</file>

<file path=ppt/tags/tag697.xml><?xml version="1.0" encoding="utf-8"?>
<p:tagLst xmlns:p="http://schemas.openxmlformats.org/presentationml/2006/main">
  <p:tag name="KSO_WM_BEAUTIFY_FLAG" val=""/>
</p:tagLst>
</file>

<file path=ppt/tags/tag698.xml><?xml version="1.0" encoding="utf-8"?>
<p:tagLst xmlns:p="http://schemas.openxmlformats.org/presentationml/2006/main">
  <p:tag name="KSO_WM_BEAUTIFY_FLAG" val=""/>
</p:tagLst>
</file>

<file path=ppt/tags/tag699.xml><?xml version="1.0" encoding="utf-8"?>
<p:tagLst xmlns:p="http://schemas.openxmlformats.org/presentationml/2006/main">
  <p:tag name="KSO_WM_BEAUTIFY_FLAG" val=""/>
</p:tagLst>
</file>

<file path=ppt/tags/tag700.xml><?xml version="1.0" encoding="utf-8"?>
<p:tagLst xmlns:p="http://schemas.openxmlformats.org/presentationml/2006/main">
  <p:tag name="KSO_WM_BEAUTIFY_FLAG" val=""/>
</p:tagLst>
</file>

<file path=ppt/tags/tag701.xml><?xml version="1.0" encoding="utf-8"?>
<p:tagLst xmlns:p="http://schemas.openxmlformats.org/presentationml/2006/main">
  <p:tag name="KSO_WM_BEAUTIFY_FLAG" val=""/>
</p:tagLst>
</file>

<file path=ppt/tags/tag702.xml><?xml version="1.0" encoding="utf-8"?>
<p:tagLst xmlns:p="http://schemas.openxmlformats.org/presentationml/2006/main">
  <p:tag name="KSO_WM_BEAUTIFY_FLAG" val=""/>
</p:tagLst>
</file>

<file path=ppt/tags/tag703.xml><?xml version="1.0" encoding="utf-8"?>
<p:tagLst xmlns:p="http://schemas.openxmlformats.org/presentationml/2006/main">
  <p:tag name="KSO_WM_BEAUTIFY_FLAG" val=""/>
</p:tagLst>
</file>

<file path=ppt/tags/tag704.xml><?xml version="1.0" encoding="utf-8"?>
<p:tagLst xmlns:p="http://schemas.openxmlformats.org/presentationml/2006/main">
  <p:tag name="KSO_WM_BEAUTIFY_FLAG" val=""/>
</p:tagLst>
</file>

<file path=ppt/tags/tag705.xml><?xml version="1.0" encoding="utf-8"?>
<p:tagLst xmlns:p="http://schemas.openxmlformats.org/presentationml/2006/main">
  <p:tag name="KSO_WM_BEAUTIFY_FLAG" val=""/>
</p:tagLst>
</file>

<file path=ppt/tags/tag706.xml><?xml version="1.0" encoding="utf-8"?>
<p:tagLst xmlns:p="http://schemas.openxmlformats.org/presentationml/2006/main">
  <p:tag name="KSO_WM_BEAUTIFY_FLAG" val=""/>
</p:tagLst>
</file>

<file path=ppt/tags/tag707.xml><?xml version="1.0" encoding="utf-8"?>
<p:tagLst xmlns:p="http://schemas.openxmlformats.org/presentationml/2006/main">
  <p:tag name="KSO_WM_BEAUTIFY_FLAG" val=""/>
</p:tagLst>
</file>

<file path=ppt/tags/tag708.xml><?xml version="1.0" encoding="utf-8"?>
<p:tagLst xmlns:p="http://schemas.openxmlformats.org/presentationml/2006/main">
  <p:tag name="KSO_WM_BEAUTIFY_FLAG" val=""/>
</p:tagLst>
</file>

<file path=ppt/tags/tag709.xml><?xml version="1.0" encoding="utf-8"?>
<p:tagLst xmlns:p="http://schemas.openxmlformats.org/presentationml/2006/main">
  <p:tag name="KSO_WM_BEAUTIFY_FLAG" val=""/>
</p:tagLst>
</file>

<file path=ppt/tags/tag710.xml><?xml version="1.0" encoding="utf-8"?>
<p:tagLst xmlns:p="http://schemas.openxmlformats.org/presentationml/2006/main">
  <p:tag name="KSO_WM_BEAUTIFY_FLAG" val=""/>
</p:tagLst>
</file>

<file path=ppt/tags/tag711.xml><?xml version="1.0" encoding="utf-8"?>
<p:tagLst xmlns:p="http://schemas.openxmlformats.org/presentationml/2006/main">
  <p:tag name="KSO_WM_BEAUTIFY_FLAG" val=""/>
</p:tagLst>
</file>

<file path=ppt/tags/tag712.xml><?xml version="1.0" encoding="utf-8"?>
<p:tagLst xmlns:p="http://schemas.openxmlformats.org/presentationml/2006/main">
  <p:tag name="KSO_WM_BEAUTIFY_FLAG" val=""/>
</p:tagLst>
</file>

<file path=ppt/tags/tag713.xml><?xml version="1.0" encoding="utf-8"?>
<p:tagLst xmlns:p="http://schemas.openxmlformats.org/presentationml/2006/main">
  <p:tag name="KSO_WM_BEAUTIFY_FLAG" val=""/>
</p:tagLst>
</file>

<file path=ppt/tags/tag714.xml><?xml version="1.0" encoding="utf-8"?>
<p:tagLst xmlns:p="http://schemas.openxmlformats.org/presentationml/2006/main">
  <p:tag name="KSO_WM_BEAUTIFY_FLAG" val=""/>
  <p:tag name="TABLE_ENDDRAG_ORIGIN_RECT" val="510*5"/>
  <p:tag name="TABLE_ENDDRAG_RECT" val="121*304*510*6"/>
</p:tagLst>
</file>

<file path=ppt/tags/tag715.xml><?xml version="1.0" encoding="utf-8"?>
<p:tagLst xmlns:p="http://schemas.openxmlformats.org/presentationml/2006/main">
  <p:tag name="KSO_WM_BEAUTIFY_FLAG" val=""/>
</p:tagLst>
</file>

<file path=ppt/tags/tag716.xml><?xml version="1.0" encoding="utf-8"?>
<p:tagLst xmlns:p="http://schemas.openxmlformats.org/presentationml/2006/main">
  <p:tag name="KSO_WM_BEAUTIFY_FLAG" val=""/>
</p:tagLst>
</file>

<file path=ppt/tags/tag717.xml><?xml version="1.0" encoding="utf-8"?>
<p:tagLst xmlns:p="http://schemas.openxmlformats.org/presentationml/2006/main">
  <p:tag name="KSO_WM_BEAUTIFY_FLAG" val=""/>
</p:tagLst>
</file>

<file path=ppt/tags/tag718.xml><?xml version="1.0" encoding="utf-8"?>
<p:tagLst xmlns:p="http://schemas.openxmlformats.org/presentationml/2006/main">
  <p:tag name="KSO_WM_BEAUTIFY_FLAG" val=""/>
</p:tagLst>
</file>

<file path=ppt/tags/tag719.xml><?xml version="1.0" encoding="utf-8"?>
<p:tagLst xmlns:p="http://schemas.openxmlformats.org/presentationml/2006/main">
  <p:tag name="KSO_WM_BEAUTIFY_FLAG" val=""/>
</p:tagLst>
</file>

<file path=ppt/tags/tag720.xml><?xml version="1.0" encoding="utf-8"?>
<p:tagLst xmlns:p="http://schemas.openxmlformats.org/presentationml/2006/main">
  <p:tag name="KSO_WM_BEAUTIFY_FLAG" val=""/>
</p:tagLst>
</file>

<file path=ppt/tags/tag721.xml><?xml version="1.0" encoding="utf-8"?>
<p:tagLst xmlns:p="http://schemas.openxmlformats.org/presentationml/2006/main">
  <p:tag name="KSO_WM_BEAUTIFY_FLAG" val=""/>
</p:tagLst>
</file>

<file path=ppt/tags/tag722.xml><?xml version="1.0" encoding="utf-8"?>
<p:tagLst xmlns:p="http://schemas.openxmlformats.org/presentationml/2006/main">
  <p:tag name="KSO_WM_BEAUTIFY_FLAG" val=""/>
</p:tagLst>
</file>

<file path=ppt/tags/tag723.xml><?xml version="1.0" encoding="utf-8"?>
<p:tagLst xmlns:p="http://schemas.openxmlformats.org/presentationml/2006/main">
  <p:tag name="KSO_WM_BEAUTIFY_FLAG" val=""/>
</p:tagLst>
</file>

<file path=ppt/tags/tag724.xml><?xml version="1.0" encoding="utf-8"?>
<p:tagLst xmlns:p="http://schemas.openxmlformats.org/presentationml/2006/main">
  <p:tag name="KSO_WM_BEAUTIFY_FLAG" val=""/>
</p:tagLst>
</file>

<file path=ppt/tags/tag725.xml><?xml version="1.0" encoding="utf-8"?>
<p:tagLst xmlns:p="http://schemas.openxmlformats.org/presentationml/2006/main">
  <p:tag name="KSO_WM_BEAUTIFY_FLAG" val=""/>
</p:tagLst>
</file>

<file path=ppt/tags/tag726.xml><?xml version="1.0" encoding="utf-8"?>
<p:tagLst xmlns:p="http://schemas.openxmlformats.org/presentationml/2006/main">
  <p:tag name="KSO_WM_BEAUTIFY_FLAG" val=""/>
</p:tagLst>
</file>

<file path=ppt/tags/tag727.xml><?xml version="1.0" encoding="utf-8"?>
<p:tagLst xmlns:p="http://schemas.openxmlformats.org/presentationml/2006/main">
  <p:tag name="KSO_WM_BEAUTIFY_FLAG" val=""/>
</p:tagLst>
</file>

<file path=ppt/tags/tag728.xml><?xml version="1.0" encoding="utf-8"?>
<p:tagLst xmlns:p="http://schemas.openxmlformats.org/presentationml/2006/main">
  <p:tag name="KSO_WM_BEAUTIFY_FLAG" val=""/>
</p:tagLst>
</file>

<file path=ppt/tags/tag729.xml><?xml version="1.0" encoding="utf-8"?>
<p:tagLst xmlns:p="http://schemas.openxmlformats.org/presentationml/2006/main">
  <p:tag name="KSO_WM_BEAUTIFY_FLAG" val=""/>
</p:tagLst>
</file>

<file path=ppt/tags/tag730.xml><?xml version="1.0" encoding="utf-8"?>
<p:tagLst xmlns:p="http://schemas.openxmlformats.org/presentationml/2006/main">
  <p:tag name="KSO_WM_BEAUTIFY_FLAG" val=""/>
</p:tagLst>
</file>

<file path=ppt/tags/tag731.xml><?xml version="1.0" encoding="utf-8"?>
<p:tagLst xmlns:p="http://schemas.openxmlformats.org/presentationml/2006/main">
  <p:tag name="KSO_WM_BEAUTIFY_FLAG" val=""/>
</p:tagLst>
</file>

<file path=ppt/tags/tag732.xml><?xml version="1.0" encoding="utf-8"?>
<p:tagLst xmlns:p="http://schemas.openxmlformats.org/presentationml/2006/main">
  <p:tag name="KSO_WM_BEAUTIFY_FLAG" val=""/>
</p:tagLst>
</file>

<file path=ppt/tags/tag733.xml><?xml version="1.0" encoding="utf-8"?>
<p:tagLst xmlns:p="http://schemas.openxmlformats.org/presentationml/2006/main">
  <p:tag name="KSO_WM_BEAUTIFY_FLAG" val=""/>
</p:tagLst>
</file>

<file path=ppt/tags/tag734.xml><?xml version="1.0" encoding="utf-8"?>
<p:tagLst xmlns:p="http://schemas.openxmlformats.org/presentationml/2006/main">
  <p:tag name="KSO_WM_BEAUTIFY_FLAG" val=""/>
</p:tagLst>
</file>

<file path=ppt/tags/tag735.xml><?xml version="1.0" encoding="utf-8"?>
<p:tagLst xmlns:p="http://schemas.openxmlformats.org/presentationml/2006/main">
  <p:tag name="KSO_WM_BEAUTIFY_FLAG" val=""/>
</p:tagLst>
</file>

<file path=ppt/tags/tag736.xml><?xml version="1.0" encoding="utf-8"?>
<p:tagLst xmlns:p="http://schemas.openxmlformats.org/presentationml/2006/main">
  <p:tag name="KSO_WM_BEAUTIFY_FLAG" val=""/>
</p:tagLst>
</file>

<file path=ppt/tags/tag737.xml><?xml version="1.0" encoding="utf-8"?>
<p:tagLst xmlns:p="http://schemas.openxmlformats.org/presentationml/2006/main">
  <p:tag name="KSO_WM_BEAUTIFY_FLAG" val=""/>
</p:tagLst>
</file>

<file path=ppt/tags/tag738.xml><?xml version="1.0" encoding="utf-8"?>
<p:tagLst xmlns:p="http://schemas.openxmlformats.org/presentationml/2006/main">
  <p:tag name="KSO_WM_BEAUTIFY_FLAG" val=""/>
</p:tagLst>
</file>

<file path=ppt/tags/tag739.xml><?xml version="1.0" encoding="utf-8"?>
<p:tagLst xmlns:p="http://schemas.openxmlformats.org/presentationml/2006/main">
  <p:tag name="KSO_WM_BEAUTIFY_FLAG" val=""/>
</p:tagLst>
</file>

<file path=ppt/tags/tag740.xml><?xml version="1.0" encoding="utf-8"?>
<p:tagLst xmlns:p="http://schemas.openxmlformats.org/presentationml/2006/main">
  <p:tag name="KSO_WM_BEAUTIFY_FLAG" val=""/>
</p:tagLst>
</file>

<file path=ppt/tags/tag741.xml><?xml version="1.0" encoding="utf-8"?>
<p:tagLst xmlns:p="http://schemas.openxmlformats.org/presentationml/2006/main">
  <p:tag name="KSO_WM_BEAUTIFY_FLAG" val=""/>
</p:tagLst>
</file>

<file path=ppt/tags/tag742.xml><?xml version="1.0" encoding="utf-8"?>
<p:tagLst xmlns:p="http://schemas.openxmlformats.org/presentationml/2006/main">
  <p:tag name="KSO_WM_BEAUTIFY_FLAG" val=""/>
</p:tagLst>
</file>

<file path=ppt/tags/tag743.xml><?xml version="1.0" encoding="utf-8"?>
<p:tagLst xmlns:p="http://schemas.openxmlformats.org/presentationml/2006/main">
  <p:tag name="KSO_WM_BEAUTIFY_FLAG" val=""/>
</p:tagLst>
</file>

<file path=ppt/tags/tag744.xml><?xml version="1.0" encoding="utf-8"?>
<p:tagLst xmlns:p="http://schemas.openxmlformats.org/presentationml/2006/main">
  <p:tag name="KSO_WM_BEAUTIFY_FLAG" val=""/>
</p:tagLst>
</file>

<file path=ppt/tags/tag745.xml><?xml version="1.0" encoding="utf-8"?>
<p:tagLst xmlns:p="http://schemas.openxmlformats.org/presentationml/2006/main">
  <p:tag name="KSO_WM_BEAUTIFY_FLAG" val=""/>
</p:tagLst>
</file>

<file path=ppt/tags/tag746.xml><?xml version="1.0" encoding="utf-8"?>
<p:tagLst xmlns:p="http://schemas.openxmlformats.org/presentationml/2006/main">
  <p:tag name="KSO_WM_BEAUTIFY_FLAG" val=""/>
</p:tagLst>
</file>

<file path=ppt/tags/tag747.xml><?xml version="1.0" encoding="utf-8"?>
<p:tagLst xmlns:p="http://schemas.openxmlformats.org/presentationml/2006/main">
  <p:tag name="KSO_WM_BEAUTIFY_FLAG" val=""/>
</p:tagLst>
</file>

<file path=ppt/tags/tag748.xml><?xml version="1.0" encoding="utf-8"?>
<p:tagLst xmlns:p="http://schemas.openxmlformats.org/presentationml/2006/main">
  <p:tag name="KSO_WM_BEAUTIFY_FLAG" val=""/>
</p:tagLst>
</file>

<file path=ppt/tags/tag749.xml><?xml version="1.0" encoding="utf-8"?>
<p:tagLst xmlns:p="http://schemas.openxmlformats.org/presentationml/2006/main">
  <p:tag name="KSO_WM_BEAUTIFY_FLAG" val=""/>
</p:tagLst>
</file>

<file path=ppt/tags/tag750.xml><?xml version="1.0" encoding="utf-8"?>
<p:tagLst xmlns:p="http://schemas.openxmlformats.org/presentationml/2006/main">
  <p:tag name="KSO_WM_BEAUTIFY_FLAG" val=""/>
</p:tagLst>
</file>

<file path=ppt/tags/tag751.xml><?xml version="1.0" encoding="utf-8"?>
<p:tagLst xmlns:p="http://schemas.openxmlformats.org/presentationml/2006/main">
  <p:tag name="KSO_WM_BEAUTIFY_FLAG" val=""/>
</p:tagLst>
</file>

<file path=ppt/tags/tag752.xml><?xml version="1.0" encoding="utf-8"?>
<p:tagLst xmlns:p="http://schemas.openxmlformats.org/presentationml/2006/main">
  <p:tag name="KSO_WM_BEAUTIFY_FLAG" val=""/>
</p:tagLst>
</file>

<file path=ppt/tags/tag753.xml><?xml version="1.0" encoding="utf-8"?>
<p:tagLst xmlns:p="http://schemas.openxmlformats.org/presentationml/2006/main">
  <p:tag name="KSO_WM_BEAUTIFY_FLAG" val=""/>
</p:tagLst>
</file>

<file path=ppt/tags/tag754.xml><?xml version="1.0" encoding="utf-8"?>
<p:tagLst xmlns:p="http://schemas.openxmlformats.org/presentationml/2006/main">
  <p:tag name="KSO_WM_BEAUTIFY_FLAG" val=""/>
</p:tagLst>
</file>

<file path=ppt/tags/tag755.xml><?xml version="1.0" encoding="utf-8"?>
<p:tagLst xmlns:p="http://schemas.openxmlformats.org/presentationml/2006/main">
  <p:tag name="KSO_WM_BEAUTIFY_FLAG" val=""/>
</p:tagLst>
</file>

<file path=ppt/tags/tag756.xml><?xml version="1.0" encoding="utf-8"?>
<p:tagLst xmlns:p="http://schemas.openxmlformats.org/presentationml/2006/main">
  <p:tag name="KSO_WM_BEAUTIFY_FLAG" val=""/>
</p:tagLst>
</file>

<file path=ppt/tags/tag757.xml><?xml version="1.0" encoding="utf-8"?>
<p:tagLst xmlns:p="http://schemas.openxmlformats.org/presentationml/2006/main">
  <p:tag name="KSO_WM_BEAUTIFY_FLAG" val=""/>
</p:tagLst>
</file>

<file path=ppt/tags/tag758.xml><?xml version="1.0" encoding="utf-8"?>
<p:tagLst xmlns:p="http://schemas.openxmlformats.org/presentationml/2006/main">
  <p:tag name="KSO_WM_BEAUTIFY_FLAG" val=""/>
</p:tagLst>
</file>

<file path=ppt/tags/tag759.xml><?xml version="1.0" encoding="utf-8"?>
<p:tagLst xmlns:p="http://schemas.openxmlformats.org/presentationml/2006/main">
  <p:tag name="KSO_WM_BEAUTIFY_FLAG" val=""/>
</p:tagLst>
</file>

<file path=ppt/tags/tag760.xml><?xml version="1.0" encoding="utf-8"?>
<p:tagLst xmlns:p="http://schemas.openxmlformats.org/presentationml/2006/main">
  <p:tag name="KSO_WM_BEAUTIFY_FLAG" val=""/>
</p:tagLst>
</file>

<file path=ppt/tags/tag761.xml><?xml version="1.0" encoding="utf-8"?>
<p:tagLst xmlns:p="http://schemas.openxmlformats.org/presentationml/2006/main">
  <p:tag name="KSO_WM_BEAUTIFY_FLAG" val=""/>
</p:tagLst>
</file>

<file path=ppt/tags/tag762.xml><?xml version="1.0" encoding="utf-8"?>
<p:tagLst xmlns:p="http://schemas.openxmlformats.org/presentationml/2006/main">
  <p:tag name="KSO_WM_BEAUTIFY_FLAG" val=""/>
</p:tagLst>
</file>

<file path=ppt/tags/tag763.xml><?xml version="1.0" encoding="utf-8"?>
<p:tagLst xmlns:p="http://schemas.openxmlformats.org/presentationml/2006/main">
  <p:tag name="KSO_WM_BEAUTIFY_FLAG" val=""/>
</p:tagLst>
</file>

<file path=ppt/tags/tag764.xml><?xml version="1.0" encoding="utf-8"?>
<p:tagLst xmlns:p="http://schemas.openxmlformats.org/presentationml/2006/main">
  <p:tag name="KSO_WM_BEAUTIFY_FLAG" val=""/>
</p:tagLst>
</file>

<file path=ppt/tags/tag765.xml><?xml version="1.0" encoding="utf-8"?>
<p:tagLst xmlns:p="http://schemas.openxmlformats.org/presentationml/2006/main">
  <p:tag name="KSO_WM_BEAUTIFY_FLAG" val=""/>
</p:tagLst>
</file>

<file path=ppt/tags/tag766.xml><?xml version="1.0" encoding="utf-8"?>
<p:tagLst xmlns:p="http://schemas.openxmlformats.org/presentationml/2006/main">
  <p:tag name="KSO_WM_BEAUTIFY_FLAG" val=""/>
</p:tagLst>
</file>

<file path=ppt/tags/tag767.xml><?xml version="1.0" encoding="utf-8"?>
<p:tagLst xmlns:p="http://schemas.openxmlformats.org/presentationml/2006/main">
  <p:tag name="KSO_WM_BEAUTIFY_FLAG" val=""/>
</p:tagLst>
</file>

<file path=ppt/tags/tag768.xml><?xml version="1.0" encoding="utf-8"?>
<p:tagLst xmlns:p="http://schemas.openxmlformats.org/presentationml/2006/main">
  <p:tag name="KSO_WM_BEAUTIFY_FLAG" val=""/>
</p:tagLst>
</file>

<file path=ppt/tags/tag769.xml><?xml version="1.0" encoding="utf-8"?>
<p:tagLst xmlns:p="http://schemas.openxmlformats.org/presentationml/2006/main">
  <p:tag name="KSO_WM_BEAUTIFY_FLAG" val=""/>
</p:tagLst>
</file>

<file path=ppt/tags/tag770.xml><?xml version="1.0" encoding="utf-8"?>
<p:tagLst xmlns:p="http://schemas.openxmlformats.org/presentationml/2006/main">
  <p:tag name="KSO_WM_BEAUTIFY_FLAG" val=""/>
</p:tagLst>
</file>

<file path=ppt/tags/tag771.xml><?xml version="1.0" encoding="utf-8"?>
<p:tagLst xmlns:p="http://schemas.openxmlformats.org/presentationml/2006/main">
  <p:tag name="KSO_WM_BEAUTIFY_FLAG" val=""/>
</p:tagLst>
</file>

<file path=ppt/tags/tag772.xml><?xml version="1.0" encoding="utf-8"?>
<p:tagLst xmlns:p="http://schemas.openxmlformats.org/presentationml/2006/main">
  <p:tag name="KSO_WM_BEAUTIFY_FLAG" val=""/>
</p:tagLst>
</file>

<file path=ppt/tags/tag773.xml><?xml version="1.0" encoding="utf-8"?>
<p:tagLst xmlns:p="http://schemas.openxmlformats.org/presentationml/2006/main">
  <p:tag name="KSO_WM_BEAUTIFY_FLAG" val=""/>
</p:tagLst>
</file>

<file path=ppt/tags/tag774.xml><?xml version="1.0" encoding="utf-8"?>
<p:tagLst xmlns:p="http://schemas.openxmlformats.org/presentationml/2006/main">
  <p:tag name="KSO_WM_BEAUTIFY_FLAG" val=""/>
  <p:tag name="TABLE_ENDDRAG_ORIGIN_RECT" val="588*117"/>
  <p:tag name="TABLE_ENDDRAG_RECT" val="87*72*588*117"/>
</p:tagLst>
</file>

<file path=ppt/tags/tag775.xml><?xml version="1.0" encoding="utf-8"?>
<p:tagLst xmlns:p="http://schemas.openxmlformats.org/presentationml/2006/main">
  <p:tag name="KSO_WM_BEAUTIFY_FLAG" val=""/>
</p:tagLst>
</file>

<file path=ppt/tags/tag776.xml><?xml version="1.0" encoding="utf-8"?>
<p:tagLst xmlns:p="http://schemas.openxmlformats.org/presentationml/2006/main">
  <p:tag name="KSO_WM_BEAUTIFY_FLAG" val=""/>
</p:tagLst>
</file>

<file path=ppt/tags/tag777.xml><?xml version="1.0" encoding="utf-8"?>
<p:tagLst xmlns:p="http://schemas.openxmlformats.org/presentationml/2006/main">
  <p:tag name="KSO_WM_BEAUTIFY_FLAG" val=""/>
</p:tagLst>
</file>

<file path=ppt/tags/tag778.xml><?xml version="1.0" encoding="utf-8"?>
<p:tagLst xmlns:p="http://schemas.openxmlformats.org/presentationml/2006/main">
  <p:tag name="KSO_WM_BEAUTIFY_FLAG" val=""/>
</p:tagLst>
</file>

<file path=ppt/tags/tag779.xml><?xml version="1.0" encoding="utf-8"?>
<p:tagLst xmlns:p="http://schemas.openxmlformats.org/presentationml/2006/main">
  <p:tag name="KSO_WM_BEAUTIFY_FLAG" val=""/>
</p:tagLst>
</file>

<file path=ppt/tags/tag780.xml><?xml version="1.0" encoding="utf-8"?>
<p:tagLst xmlns:p="http://schemas.openxmlformats.org/presentationml/2006/main">
  <p:tag name="KSO_WM_BEAUTIFY_FLAG" val=""/>
</p:tagLst>
</file>

<file path=ppt/tags/tag781.xml><?xml version="1.0" encoding="utf-8"?>
<p:tagLst xmlns:p="http://schemas.openxmlformats.org/presentationml/2006/main">
  <p:tag name="KSO_WM_BEAUTIFY_FLAG" val=""/>
  <p:tag name="TABLE_ENDDRAG_ORIGIN_RECT" val="522*114"/>
  <p:tag name="TABLE_ENDDRAG_RECT" val="113*70*522*114"/>
</p:tagLst>
</file>

<file path=ppt/tags/tag782.xml><?xml version="1.0" encoding="utf-8"?>
<p:tagLst xmlns:p="http://schemas.openxmlformats.org/presentationml/2006/main">
  <p:tag name="KSO_WM_BEAUTIFY_FLAG" val=""/>
</p:tagLst>
</file>

<file path=ppt/tags/tag783.xml><?xml version="1.0" encoding="utf-8"?>
<p:tagLst xmlns:p="http://schemas.openxmlformats.org/presentationml/2006/main">
  <p:tag name="KSO_WM_BEAUTIFY_FLAG" val=""/>
</p:tagLst>
</file>

<file path=ppt/tags/tag784.xml><?xml version="1.0" encoding="utf-8"?>
<p:tagLst xmlns:p="http://schemas.openxmlformats.org/presentationml/2006/main">
  <p:tag name="KSO_WM_BEAUTIFY_FLAG" val=""/>
  <p:tag name="TABLE_ENDDRAG_ORIGIN_RECT" val="632*290"/>
  <p:tag name="TABLE_ENDDRAG_RECT" val="39*34*632*290"/>
</p:tagLst>
</file>

<file path=ppt/tags/tag785.xml><?xml version="1.0" encoding="utf-8"?>
<p:tagLst xmlns:p="http://schemas.openxmlformats.org/presentationml/2006/main">
  <p:tag name="KSO_WM_BEAUTIFY_FLAG" val=""/>
</p:tagLst>
</file>

<file path=ppt/tags/tag786.xml><?xml version="1.0" encoding="utf-8"?>
<p:tagLst xmlns:p="http://schemas.openxmlformats.org/presentationml/2006/main">
  <p:tag name="KSO_WM_BEAUTIFY_FLAG" val=""/>
</p:tagLst>
</file>

<file path=ppt/tags/tag787.xml><?xml version="1.0" encoding="utf-8"?>
<p:tagLst xmlns:p="http://schemas.openxmlformats.org/presentationml/2006/main">
  <p:tag name="KSO_WM_BEAUTIFY_FLAG" val=""/>
</p:tagLst>
</file>

<file path=ppt/tags/tag788.xml><?xml version="1.0" encoding="utf-8"?>
<p:tagLst xmlns:p="http://schemas.openxmlformats.org/presentationml/2006/main">
  <p:tag name="KSO_WM_BEAUTIFY_FLAG" val=""/>
</p:tagLst>
</file>

<file path=ppt/tags/tag789.xml><?xml version="1.0" encoding="utf-8"?>
<p:tagLst xmlns:p="http://schemas.openxmlformats.org/presentationml/2006/main">
  <p:tag name="KSO_WM_BEAUTIFY_FLAG" val=""/>
</p:tagLst>
</file>

<file path=ppt/tags/tag790.xml><?xml version="1.0" encoding="utf-8"?>
<p:tagLst xmlns:p="http://schemas.openxmlformats.org/presentationml/2006/main">
  <p:tag name="KSO_WM_BEAUTIFY_FLAG" val=""/>
</p:tagLst>
</file>

<file path=ppt/tags/tag791.xml><?xml version="1.0" encoding="utf-8"?>
<p:tagLst xmlns:p="http://schemas.openxmlformats.org/presentationml/2006/main">
  <p:tag name="KSO_WM_BEAUTIFY_FLAG" val=""/>
  <p:tag name="TABLE_ENDDRAG_ORIGIN_RECT" val="631*32"/>
  <p:tag name="TABLE_ENDDRAG_RECT" val="25*445*631*33"/>
</p:tagLst>
</file>

<file path=ppt/tags/tag792.xml><?xml version="1.0" encoding="utf-8"?>
<p:tagLst xmlns:p="http://schemas.openxmlformats.org/presentationml/2006/main">
  <p:tag name="KSO_WM_BEAUTIFY_FLAG" val=""/>
</p:tagLst>
</file>

<file path=ppt/tags/tag793.xml><?xml version="1.0" encoding="utf-8"?>
<p:tagLst xmlns:p="http://schemas.openxmlformats.org/presentationml/2006/main">
  <p:tag name="KSO_WM_BEAUTIFY_FLAG" val=""/>
</p:tagLst>
</file>

<file path=ppt/tags/tag794.xml><?xml version="1.0" encoding="utf-8"?>
<p:tagLst xmlns:p="http://schemas.openxmlformats.org/presentationml/2006/main">
  <p:tag name="KSO_WM_BEAUTIFY_FLAG" val=""/>
</p:tagLst>
</file>

<file path=ppt/tags/tag795.xml><?xml version="1.0" encoding="utf-8"?>
<p:tagLst xmlns:p="http://schemas.openxmlformats.org/presentationml/2006/main">
  <p:tag name="KSO_WM_BEAUTIFY_FLAG" val=""/>
</p:tagLst>
</file>

<file path=ppt/tags/tag796.xml><?xml version="1.0" encoding="utf-8"?>
<p:tagLst xmlns:p="http://schemas.openxmlformats.org/presentationml/2006/main">
  <p:tag name="KSO_WM_BEAUTIFY_FLAG" val=""/>
</p:tagLst>
</file>

<file path=ppt/tags/tag797.xml><?xml version="1.0" encoding="utf-8"?>
<p:tagLst xmlns:p="http://schemas.openxmlformats.org/presentationml/2006/main">
  <p:tag name="KSO_WM_BEAUTIFY_FLAG" val=""/>
</p:tagLst>
</file>

<file path=ppt/tags/tag798.xml><?xml version="1.0" encoding="utf-8"?>
<p:tagLst xmlns:p="http://schemas.openxmlformats.org/presentationml/2006/main">
  <p:tag name="KSO_WM_BEAUTIFY_FLAG" val=""/>
</p:tagLst>
</file>

<file path=ppt/tags/tag799.xml><?xml version="1.0" encoding="utf-8"?>
<p:tagLst xmlns:p="http://schemas.openxmlformats.org/presentationml/2006/main">
  <p:tag name="KSO_WM_BEAUTIFY_FLAG" val=""/>
</p:tagLst>
</file>

<file path=ppt/tags/tag800.xml><?xml version="1.0" encoding="utf-8"?>
<p:tagLst xmlns:p="http://schemas.openxmlformats.org/presentationml/2006/main">
  <p:tag name="KSO_WM_BEAUTIFY_FLAG" val=""/>
</p:tagLst>
</file>

<file path=ppt/tags/tag801.xml><?xml version="1.0" encoding="utf-8"?>
<p:tagLst xmlns:p="http://schemas.openxmlformats.org/presentationml/2006/main">
  <p:tag name="KSO_WM_BEAUTIFY_FLAG" val=""/>
</p:tagLst>
</file>

<file path=ppt/tags/tag802.xml><?xml version="1.0" encoding="utf-8"?>
<p:tagLst xmlns:p="http://schemas.openxmlformats.org/presentationml/2006/main">
  <p:tag name="KSO_WM_BEAUTIFY_FLAG" val=""/>
</p:tagLst>
</file>

<file path=ppt/tags/tag803.xml><?xml version="1.0" encoding="utf-8"?>
<p:tagLst xmlns:p="http://schemas.openxmlformats.org/presentationml/2006/main">
  <p:tag name="KSO_WM_BEAUTIFY_FLAG" val=""/>
</p:tagLst>
</file>

<file path=ppt/tags/tag804.xml><?xml version="1.0" encoding="utf-8"?>
<p:tagLst xmlns:p="http://schemas.openxmlformats.org/presentationml/2006/main">
  <p:tag name="KSO_WM_BEAUTIFY_FLAG" val=""/>
</p:tagLst>
</file>

<file path=ppt/tags/tag805.xml><?xml version="1.0" encoding="utf-8"?>
<p:tagLst xmlns:p="http://schemas.openxmlformats.org/presentationml/2006/main">
  <p:tag name="KSO_WM_BEAUTIFY_FLAG" val=""/>
  <p:tag name="TABLE_ENDDRAG_ORIGIN_RECT" val="537*167"/>
  <p:tag name="TABLE_ENDDRAG_RECT" val="82*68*537*167"/>
</p:tagLst>
</file>

<file path=ppt/tags/tag806.xml><?xml version="1.0" encoding="utf-8"?>
<p:tagLst xmlns:p="http://schemas.openxmlformats.org/presentationml/2006/main">
  <p:tag name="KSO_WM_BEAUTIFY_FLAG" val=""/>
</p:tagLst>
</file>

<file path=ppt/tags/tag807.xml><?xml version="1.0" encoding="utf-8"?>
<p:tagLst xmlns:p="http://schemas.openxmlformats.org/presentationml/2006/main">
  <p:tag name="KSO_WM_BEAUTIFY_FLAG" val=""/>
</p:tagLst>
</file>

<file path=ppt/tags/tag808.xml><?xml version="1.0" encoding="utf-8"?>
<p:tagLst xmlns:p="http://schemas.openxmlformats.org/presentationml/2006/main">
  <p:tag name="KSO_WM_BEAUTIFY_FLAG" val=""/>
</p:tagLst>
</file>

<file path=ppt/tags/tag809.xml><?xml version="1.0" encoding="utf-8"?>
<p:tagLst xmlns:p="http://schemas.openxmlformats.org/presentationml/2006/main">
  <p:tag name="KSO_WM_BEAUTIFY_FLAG" val=""/>
  <p:tag name="TABLE_ENDDRAG_ORIGIN_RECT" val="430*21"/>
  <p:tag name="TABLE_ENDDRAG_RECT" val="92*135*430*21"/>
</p:tagLst>
</file>

<file path=ppt/tags/tag810.xml><?xml version="1.0" encoding="utf-8"?>
<p:tagLst xmlns:p="http://schemas.openxmlformats.org/presentationml/2006/main">
  <p:tag name="KSO_WM_BEAUTIFY_FLAG" val=""/>
</p:tagLst>
</file>

<file path=ppt/tags/tag811.xml><?xml version="1.0" encoding="utf-8"?>
<p:tagLst xmlns:p="http://schemas.openxmlformats.org/presentationml/2006/main">
  <p:tag name="KSO_WM_BEAUTIFY_FLAG" val=""/>
</p:tagLst>
</file>

<file path=ppt/tags/tag812.xml><?xml version="1.0" encoding="utf-8"?>
<p:tagLst xmlns:p="http://schemas.openxmlformats.org/presentationml/2006/main">
  <p:tag name="KSO_WM_BEAUTIFY_FLAG" val=""/>
</p:tagLst>
</file>

<file path=ppt/tags/tag813.xml><?xml version="1.0" encoding="utf-8"?>
<p:tagLst xmlns:p="http://schemas.openxmlformats.org/presentationml/2006/main">
  <p:tag name="KSO_WM_BEAUTIFY_FLAG" val=""/>
</p:tagLst>
</file>

<file path=ppt/tags/tag814.xml><?xml version="1.0" encoding="utf-8"?>
<p:tagLst xmlns:p="http://schemas.openxmlformats.org/presentationml/2006/main">
  <p:tag name="KSO_WM_BEAUTIFY_FLAG" val=""/>
</p:tagLst>
</file>

<file path=ppt/tags/tag815.xml><?xml version="1.0" encoding="utf-8"?>
<p:tagLst xmlns:p="http://schemas.openxmlformats.org/presentationml/2006/main">
  <p:tag name="KSO_WM_BEAUTIFY_FLAG" val=""/>
</p:tagLst>
</file>

<file path=ppt/tags/tag816.xml><?xml version="1.0" encoding="utf-8"?>
<p:tagLst xmlns:p="http://schemas.openxmlformats.org/presentationml/2006/main">
  <p:tag name="KSO_WM_BEAUTIFY_FLAG" val=""/>
</p:tagLst>
</file>

<file path=ppt/tags/tag817.xml><?xml version="1.0" encoding="utf-8"?>
<p:tagLst xmlns:p="http://schemas.openxmlformats.org/presentationml/2006/main">
  <p:tag name="KSO_WM_BEAUTIFY_FLAG" val=""/>
</p:tagLst>
</file>

<file path=ppt/tags/tag818.xml><?xml version="1.0" encoding="utf-8"?>
<p:tagLst xmlns:p="http://schemas.openxmlformats.org/presentationml/2006/main">
  <p:tag name="KSO_WM_BEAUTIFY_FLAG" val=""/>
</p:tagLst>
</file>

<file path=ppt/tags/tag819.xml><?xml version="1.0" encoding="utf-8"?>
<p:tagLst xmlns:p="http://schemas.openxmlformats.org/presentationml/2006/main">
  <p:tag name="KSO_WM_BEAUTIFY_FLAG" val=""/>
</p:tagLst>
</file>

<file path=ppt/tags/tag820.xml><?xml version="1.0" encoding="utf-8"?>
<p:tagLst xmlns:p="http://schemas.openxmlformats.org/presentationml/2006/main">
  <p:tag name="KSO_WM_BEAUTIFY_FLAG" val=""/>
</p:tagLst>
</file>

<file path=ppt/tags/tag821.xml><?xml version="1.0" encoding="utf-8"?>
<p:tagLst xmlns:p="http://schemas.openxmlformats.org/presentationml/2006/main">
  <p:tag name="KSO_WM_BEAUTIFY_FLAG" val=""/>
</p:tagLst>
</file>

<file path=ppt/tags/tag822.xml><?xml version="1.0" encoding="utf-8"?>
<p:tagLst xmlns:p="http://schemas.openxmlformats.org/presentationml/2006/main">
  <p:tag name="KSO_WM_BEAUTIFY_FLAG" val=""/>
</p:tagLst>
</file>

<file path=ppt/tags/tag823.xml><?xml version="1.0" encoding="utf-8"?>
<p:tagLst xmlns:p="http://schemas.openxmlformats.org/presentationml/2006/main">
  <p:tag name="KSO_WM_BEAUTIFY_FLAG" val=""/>
</p:tagLst>
</file>

<file path=ppt/tags/tag824.xml><?xml version="1.0" encoding="utf-8"?>
<p:tagLst xmlns:p="http://schemas.openxmlformats.org/presentationml/2006/main">
  <p:tag name="KSO_WM_BEAUTIFY_FLAG" val=""/>
</p:tagLst>
</file>

<file path=ppt/tags/tag825.xml><?xml version="1.0" encoding="utf-8"?>
<p:tagLst xmlns:p="http://schemas.openxmlformats.org/presentationml/2006/main">
  <p:tag name="KSO_WM_BEAUTIFY_FLAG" val=""/>
</p:tagLst>
</file>

<file path=ppt/tags/tag826.xml><?xml version="1.0" encoding="utf-8"?>
<p:tagLst xmlns:p="http://schemas.openxmlformats.org/presentationml/2006/main">
  <p:tag name="KSO_WM_BEAUTIFY_FLAG" val=""/>
</p:tagLst>
</file>

<file path=ppt/tags/tag827.xml><?xml version="1.0" encoding="utf-8"?>
<p:tagLst xmlns:p="http://schemas.openxmlformats.org/presentationml/2006/main">
  <p:tag name="KSO_WM_BEAUTIFY_FLAG" val=""/>
</p:tagLst>
</file>

<file path=ppt/tags/tag828.xml><?xml version="1.0" encoding="utf-8"?>
<p:tagLst xmlns:p="http://schemas.openxmlformats.org/presentationml/2006/main">
  <p:tag name="KSO_WM_BEAUTIFY_FLAG" val=""/>
</p:tagLst>
</file>

<file path=ppt/tags/tag829.xml><?xml version="1.0" encoding="utf-8"?>
<p:tagLst xmlns:p="http://schemas.openxmlformats.org/presentationml/2006/main">
  <p:tag name="KSO_WM_BEAUTIFY_FLAG" val=""/>
</p:tagLst>
</file>

<file path=ppt/tags/tag830.xml><?xml version="1.0" encoding="utf-8"?>
<p:tagLst xmlns:p="http://schemas.openxmlformats.org/presentationml/2006/main">
  <p:tag name="KSO_WM_BEAUTIFY_FLAG" val=""/>
</p:tagLst>
</file>

<file path=ppt/tags/tag831.xml><?xml version="1.0" encoding="utf-8"?>
<p:tagLst xmlns:p="http://schemas.openxmlformats.org/presentationml/2006/main">
  <p:tag name="KSO_WM_BEAUTIFY_FLAG" val=""/>
</p:tagLst>
</file>

<file path=ppt/tags/tag832.xml><?xml version="1.0" encoding="utf-8"?>
<p:tagLst xmlns:p="http://schemas.openxmlformats.org/presentationml/2006/main">
  <p:tag name="KSO_WM_BEAUTIFY_FLAG" val=""/>
</p:tagLst>
</file>

<file path=ppt/tags/tag833.xml><?xml version="1.0" encoding="utf-8"?>
<p:tagLst xmlns:p="http://schemas.openxmlformats.org/presentationml/2006/main">
  <p:tag name="KSO_WM_BEAUTIFY_FLAG" val=""/>
</p:tagLst>
</file>

<file path=ppt/tags/tag834.xml><?xml version="1.0" encoding="utf-8"?>
<p:tagLst xmlns:p="http://schemas.openxmlformats.org/presentationml/2006/main">
  <p:tag name="KSO_WM_BEAUTIFY_FLAG" val=""/>
</p:tagLst>
</file>

<file path=ppt/tags/tag835.xml><?xml version="1.0" encoding="utf-8"?>
<p:tagLst xmlns:p="http://schemas.openxmlformats.org/presentationml/2006/main">
  <p:tag name="KSO_WM_BEAUTIFY_FLAG" val=""/>
</p:tagLst>
</file>

<file path=ppt/tags/tag836.xml><?xml version="1.0" encoding="utf-8"?>
<p:tagLst xmlns:p="http://schemas.openxmlformats.org/presentationml/2006/main">
  <p:tag name="KSO_WM_BEAUTIFY_FLAG" val=""/>
</p:tagLst>
</file>

<file path=ppt/tags/tag837.xml><?xml version="1.0" encoding="utf-8"?>
<p:tagLst xmlns:p="http://schemas.openxmlformats.org/presentationml/2006/main">
  <p:tag name="KSO_WM_BEAUTIFY_FLAG" val=""/>
</p:tagLst>
</file>

<file path=ppt/tags/tag838.xml><?xml version="1.0" encoding="utf-8"?>
<p:tagLst xmlns:p="http://schemas.openxmlformats.org/presentationml/2006/main">
  <p:tag name="KSO_WM_BEAUTIFY_FLAG" val=""/>
</p:tagLst>
</file>

<file path=ppt/tags/tag839.xml><?xml version="1.0" encoding="utf-8"?>
<p:tagLst xmlns:p="http://schemas.openxmlformats.org/presentationml/2006/main">
  <p:tag name="KSO_WM_BEAUTIFY_FLAG" val=""/>
</p:tagLst>
</file>

<file path=ppt/tags/tag840.xml><?xml version="1.0" encoding="utf-8"?>
<p:tagLst xmlns:p="http://schemas.openxmlformats.org/presentationml/2006/main">
  <p:tag name="KSO_WM_BEAUTIFY_FLAG" val=""/>
</p:tagLst>
</file>

<file path=ppt/tags/tag841.xml><?xml version="1.0" encoding="utf-8"?>
<p:tagLst xmlns:p="http://schemas.openxmlformats.org/presentationml/2006/main">
  <p:tag name="KSO_WM_BEAUTIFY_FLAG" val=""/>
</p:tagLst>
</file>

<file path=ppt/tags/tag842.xml><?xml version="1.0" encoding="utf-8"?>
<p:tagLst xmlns:p="http://schemas.openxmlformats.org/presentationml/2006/main">
  <p:tag name="KSO_WM_BEAUTIFY_FLAG" val=""/>
</p:tagLst>
</file>

<file path=ppt/tags/tag843.xml><?xml version="1.0" encoding="utf-8"?>
<p:tagLst xmlns:p="http://schemas.openxmlformats.org/presentationml/2006/main">
  <p:tag name="KSO_WM_BEAUTIFY_FLAG" val=""/>
</p:tagLst>
</file>

<file path=ppt/tags/tag844.xml><?xml version="1.0" encoding="utf-8"?>
<p:tagLst xmlns:p="http://schemas.openxmlformats.org/presentationml/2006/main">
  <p:tag name="KSO_WM_BEAUTIFY_FLAG" val=""/>
</p:tagLst>
</file>

<file path=ppt/tags/tag845.xml><?xml version="1.0" encoding="utf-8"?>
<p:tagLst xmlns:p="http://schemas.openxmlformats.org/presentationml/2006/main">
  <p:tag name="KSO_WM_BEAUTIFY_FLAG" val=""/>
</p:tagLst>
</file>

<file path=ppt/tags/tag846.xml><?xml version="1.0" encoding="utf-8"?>
<p:tagLst xmlns:p="http://schemas.openxmlformats.org/presentationml/2006/main">
  <p:tag name="KSO_WM_BEAUTIFY_FLAG" val=""/>
</p:tagLst>
</file>

<file path=ppt/tags/tag847.xml><?xml version="1.0" encoding="utf-8"?>
<p:tagLst xmlns:p="http://schemas.openxmlformats.org/presentationml/2006/main">
  <p:tag name="KSO_WM_BEAUTIFY_FLAG" val=""/>
</p:tagLst>
</file>

<file path=ppt/tags/tag848.xml><?xml version="1.0" encoding="utf-8"?>
<p:tagLst xmlns:p="http://schemas.openxmlformats.org/presentationml/2006/main">
  <p:tag name="KSO_WM_BEAUTIFY_FLAG" val=""/>
</p:tagLst>
</file>

<file path=ppt/tags/tag849.xml><?xml version="1.0" encoding="utf-8"?>
<p:tagLst xmlns:p="http://schemas.openxmlformats.org/presentationml/2006/main">
  <p:tag name="KSO_WM_BEAUTIFY_FLAG" val=""/>
</p:tagLst>
</file>

<file path=ppt/tags/tag850.xml><?xml version="1.0" encoding="utf-8"?>
<p:tagLst xmlns:p="http://schemas.openxmlformats.org/presentationml/2006/main">
  <p:tag name="KSO_WM_BEAUTIFY_FLAG" val=""/>
</p:tagLst>
</file>

<file path=ppt/tags/tag851.xml><?xml version="1.0" encoding="utf-8"?>
<p:tagLst xmlns:p="http://schemas.openxmlformats.org/presentationml/2006/main">
  <p:tag name="KSO_WM_BEAUTIFY_FLAG" val=""/>
</p:tagLst>
</file>

<file path=ppt/tags/tag852.xml><?xml version="1.0" encoding="utf-8"?>
<p:tagLst xmlns:p="http://schemas.openxmlformats.org/presentationml/2006/main">
  <p:tag name="KSO_WM_BEAUTIFY_FLAG" val=""/>
</p:tagLst>
</file>

<file path=ppt/tags/tag853.xml><?xml version="1.0" encoding="utf-8"?>
<p:tagLst xmlns:p="http://schemas.openxmlformats.org/presentationml/2006/main">
  <p:tag name="KSO_WM_BEAUTIFY_FLAG" val=""/>
</p:tagLst>
</file>

<file path=ppt/tags/tag854.xml><?xml version="1.0" encoding="utf-8"?>
<p:tagLst xmlns:p="http://schemas.openxmlformats.org/presentationml/2006/main">
  <p:tag name="KSO_WM_BEAUTIFY_FLAG" val=""/>
</p:tagLst>
</file>

<file path=ppt/tags/tag855.xml><?xml version="1.0" encoding="utf-8"?>
<p:tagLst xmlns:p="http://schemas.openxmlformats.org/presentationml/2006/main">
  <p:tag name="KSO_WM_BEAUTIFY_FLAG" val=""/>
</p:tagLst>
</file>

<file path=ppt/tags/tag856.xml><?xml version="1.0" encoding="utf-8"?>
<p:tagLst xmlns:p="http://schemas.openxmlformats.org/presentationml/2006/main">
  <p:tag name="KSO_WM_BEAUTIFY_FLAG" val=""/>
</p:tagLst>
</file>

<file path=ppt/tags/tag857.xml><?xml version="1.0" encoding="utf-8"?>
<p:tagLst xmlns:p="http://schemas.openxmlformats.org/presentationml/2006/main">
  <p:tag name="KSO_WM_BEAUTIFY_FLAG" val=""/>
</p:tagLst>
</file>

<file path=ppt/tags/tag858.xml><?xml version="1.0" encoding="utf-8"?>
<p:tagLst xmlns:p="http://schemas.openxmlformats.org/presentationml/2006/main">
  <p:tag name="KSO_WM_BEAUTIFY_FLAG" val=""/>
</p:tagLst>
</file>

<file path=ppt/tags/tag859.xml><?xml version="1.0" encoding="utf-8"?>
<p:tagLst xmlns:p="http://schemas.openxmlformats.org/presentationml/2006/main">
  <p:tag name="KSO_WM_BEAUTIFY_FLAG" val=""/>
</p:tagLst>
</file>

<file path=ppt/tags/tag860.xml><?xml version="1.0" encoding="utf-8"?>
<p:tagLst xmlns:p="http://schemas.openxmlformats.org/presentationml/2006/main">
  <p:tag name="KSO_WM_BEAUTIFY_FLAG" val=""/>
</p:tagLst>
</file>

<file path=ppt/tags/tag861.xml><?xml version="1.0" encoding="utf-8"?>
<p:tagLst xmlns:p="http://schemas.openxmlformats.org/presentationml/2006/main">
  <p:tag name="KSO_WM_BEAUTIFY_FLAG" val=""/>
</p:tagLst>
</file>

<file path=ppt/tags/tag862.xml><?xml version="1.0" encoding="utf-8"?>
<p:tagLst xmlns:p="http://schemas.openxmlformats.org/presentationml/2006/main">
  <p:tag name="KSO_WM_BEAUTIFY_FLAG" val=""/>
</p:tagLst>
</file>

<file path=ppt/tags/tag863.xml><?xml version="1.0" encoding="utf-8"?>
<p:tagLst xmlns:p="http://schemas.openxmlformats.org/presentationml/2006/main">
  <p:tag name="KSO_WM_BEAUTIFY_FLAG" val=""/>
</p:tagLst>
</file>

<file path=ppt/tags/tag864.xml><?xml version="1.0" encoding="utf-8"?>
<p:tagLst xmlns:p="http://schemas.openxmlformats.org/presentationml/2006/main">
  <p:tag name="KSO_WM_BEAUTIFY_FLAG" val=""/>
</p:tagLst>
</file>

<file path=ppt/tags/tag865.xml><?xml version="1.0" encoding="utf-8"?>
<p:tagLst xmlns:p="http://schemas.openxmlformats.org/presentationml/2006/main">
  <p:tag name="KSO_WM_BEAUTIFY_FLAG" val=""/>
</p:tagLst>
</file>

<file path=ppt/tags/tag866.xml><?xml version="1.0" encoding="utf-8"?>
<p:tagLst xmlns:p="http://schemas.openxmlformats.org/presentationml/2006/main">
  <p:tag name="KSO_WM_BEAUTIFY_FLAG" val=""/>
</p:tagLst>
</file>

<file path=ppt/tags/tag867.xml><?xml version="1.0" encoding="utf-8"?>
<p:tagLst xmlns:p="http://schemas.openxmlformats.org/presentationml/2006/main">
  <p:tag name="KSO_WM_BEAUTIFY_FLAG" val=""/>
</p:tagLst>
</file>

<file path=ppt/tags/tag868.xml><?xml version="1.0" encoding="utf-8"?>
<p:tagLst xmlns:p="http://schemas.openxmlformats.org/presentationml/2006/main">
  <p:tag name="KSO_WM_BEAUTIFY_FLAG" val=""/>
</p:tagLst>
</file>

<file path=ppt/tags/tag869.xml><?xml version="1.0" encoding="utf-8"?>
<p:tagLst xmlns:p="http://schemas.openxmlformats.org/presentationml/2006/main">
  <p:tag name="KSO_WM_BEAUTIFY_FLAG" val=""/>
</p:tagLst>
</file>

<file path=ppt/tags/tag870.xml><?xml version="1.0" encoding="utf-8"?>
<p:tagLst xmlns:p="http://schemas.openxmlformats.org/presentationml/2006/main">
  <p:tag name="KSO_WM_BEAUTIFY_FLAG" val=""/>
</p:tagLst>
</file>

<file path=ppt/tags/tag871.xml><?xml version="1.0" encoding="utf-8"?>
<p:tagLst xmlns:p="http://schemas.openxmlformats.org/presentationml/2006/main">
  <p:tag name="KSO_WM_BEAUTIFY_FLAG" val=""/>
</p:tagLst>
</file>

<file path=ppt/tags/tag872.xml><?xml version="1.0" encoding="utf-8"?>
<p:tagLst xmlns:p="http://schemas.openxmlformats.org/presentationml/2006/main">
  <p:tag name="KSO_WM_BEAUTIFY_FLAG" val=""/>
</p:tagLst>
</file>

<file path=ppt/tags/tag873.xml><?xml version="1.0" encoding="utf-8"?>
<p:tagLst xmlns:p="http://schemas.openxmlformats.org/presentationml/2006/main">
  <p:tag name="KSO_WM_BEAUTIFY_FLAG" val=""/>
</p:tagLst>
</file>

<file path=ppt/tags/tag874.xml><?xml version="1.0" encoding="utf-8"?>
<p:tagLst xmlns:p="http://schemas.openxmlformats.org/presentationml/2006/main">
  <p:tag name="KSO_WM_BEAUTIFY_FLAG" val=""/>
</p:tagLst>
</file>

<file path=ppt/tags/tag875.xml><?xml version="1.0" encoding="utf-8"?>
<p:tagLst xmlns:p="http://schemas.openxmlformats.org/presentationml/2006/main">
  <p:tag name="KSO_WM_BEAUTIFY_FLAG" val=""/>
</p:tagLst>
</file>

<file path=ppt/tags/tag876.xml><?xml version="1.0" encoding="utf-8"?>
<p:tagLst xmlns:p="http://schemas.openxmlformats.org/presentationml/2006/main">
  <p:tag name="KSO_WM_BEAUTIFY_FLAG" val=""/>
</p:tagLst>
</file>

<file path=ppt/tags/tag877.xml><?xml version="1.0" encoding="utf-8"?>
<p:tagLst xmlns:p="http://schemas.openxmlformats.org/presentationml/2006/main">
  <p:tag name="KSO_WM_BEAUTIFY_FLAG" val=""/>
</p:tagLst>
</file>

<file path=ppt/tags/tag878.xml><?xml version="1.0" encoding="utf-8"?>
<p:tagLst xmlns:p="http://schemas.openxmlformats.org/presentationml/2006/main">
  <p:tag name="KSO_WM_BEAUTIFY_FLAG" val=""/>
</p:tagLst>
</file>

<file path=ppt/tags/tag879.xml><?xml version="1.0" encoding="utf-8"?>
<p:tagLst xmlns:p="http://schemas.openxmlformats.org/presentationml/2006/main">
  <p:tag name="KSO_WM_BEAUTIFY_FLAG" val=""/>
</p:tagLst>
</file>

<file path=ppt/tags/tag880.xml><?xml version="1.0" encoding="utf-8"?>
<p:tagLst xmlns:p="http://schemas.openxmlformats.org/presentationml/2006/main">
  <p:tag name="KSO_WM_BEAUTIFY_FLAG" val=""/>
</p:tagLst>
</file>

<file path=ppt/tags/tag881.xml><?xml version="1.0" encoding="utf-8"?>
<p:tagLst xmlns:p="http://schemas.openxmlformats.org/presentationml/2006/main">
  <p:tag name="KSO_WM_BEAUTIFY_FLAG" val=""/>
</p:tagLst>
</file>

<file path=ppt/tags/tag882.xml><?xml version="1.0" encoding="utf-8"?>
<p:tagLst xmlns:p="http://schemas.openxmlformats.org/presentationml/2006/main">
  <p:tag name="KSO_WM_BEAUTIFY_FLAG" val=""/>
</p:tagLst>
</file>

<file path=ppt/tags/tag883.xml><?xml version="1.0" encoding="utf-8"?>
<p:tagLst xmlns:p="http://schemas.openxmlformats.org/presentationml/2006/main">
  <p:tag name="KSO_WM_BEAUTIFY_FLAG" val=""/>
</p:tagLst>
</file>

<file path=ppt/tags/tag884.xml><?xml version="1.0" encoding="utf-8"?>
<p:tagLst xmlns:p="http://schemas.openxmlformats.org/presentationml/2006/main">
  <p:tag name="KSO_WM_BEAUTIFY_FLAG" val=""/>
</p:tagLst>
</file>

<file path=ppt/tags/tag885.xml><?xml version="1.0" encoding="utf-8"?>
<p:tagLst xmlns:p="http://schemas.openxmlformats.org/presentationml/2006/main">
  <p:tag name="KSO_WM_BEAUTIFY_FLAG" val=""/>
</p:tagLst>
</file>

<file path=ppt/tags/tag886.xml><?xml version="1.0" encoding="utf-8"?>
<p:tagLst xmlns:p="http://schemas.openxmlformats.org/presentationml/2006/main">
  <p:tag name="KSO_WPP_MARK_KEY" val="52b5e824-ef97-4852-b711-217f15a3a636"/>
  <p:tag name="COMMONDATA" val="eyJoZGlkIjoiY2ZiYjY4MjU5YzBkYmJmZjUyNGJiOWY1ZTc3NzM1MGY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  <a:txDef>
      <a:spPr>
        <a:noFill/>
        <a:ln w="9525">
          <a:noFill/>
          <a:miter lim="800000"/>
        </a:ln>
      </a:spPr>
      <a:bodyPr wrap="square">
        <a:spAutoFit/>
      </a:bodyPr>
      <a:lstStyle>
        <a:defPPr>
          <a:lnSpc>
            <a:spcPct val="125000"/>
          </a:lnSpc>
          <a:spcBef>
            <a:spcPts val="0"/>
          </a:spcBef>
          <a:spcAft>
            <a:spcPts val="0"/>
          </a:spcAft>
          <a:defRPr lang="en-US" altLang="zh-CN" sz="2200" b="1" dirty="0" smtClean="0">
            <a:solidFill>
              <a:srgbClr val="FF3399"/>
            </a:solidFill>
            <a:latin typeface="宋体" panose="02010600030101010101" pitchFamily="2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22434</Words>
  <Application>WPS 演示</Application>
  <PresentationFormat>全屏显示(4:3)</PresentationFormat>
  <Paragraphs>3084</Paragraphs>
  <Slides>44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6" baseType="lpstr">
      <vt:lpstr>Arial</vt:lpstr>
      <vt:lpstr>宋体</vt:lpstr>
      <vt:lpstr>Wingdings</vt:lpstr>
      <vt:lpstr>Times New Roman</vt:lpstr>
      <vt:lpstr>MS Gothic</vt:lpstr>
      <vt:lpstr>黑体</vt:lpstr>
      <vt:lpstr>Symbol</vt:lpstr>
      <vt:lpstr>Arial Unicode MS</vt:lpstr>
      <vt:lpstr>微软雅黑</vt:lpstr>
      <vt:lpstr>Times New Roman</vt:lpstr>
      <vt:lpstr>华文行楷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演示文稿</dc:title>
  <cp:revision>1735</cp:revision>
</cp:coreProperties>
</file>

<file path=docProps/custom.xml><?xml version="1.0" encoding="utf-8"?>
<Properties xmlns="http://schemas.openxmlformats.org/officeDocument/2006/custom-properties"/>
</file>