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.xml" ContentType="application/vnd.openxmlformats-officedocument.presentationml.tags+xml"/>
  <Override PartName="/ppt/tags/tag1580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2.xml" ContentType="application/vnd.openxmlformats-officedocument.presentationml.tags+xml"/>
  <Override PartName="/ppt/tags/tag1603.xml" ContentType="application/vnd.openxmlformats-officedocument.presentationml.tag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09.xml" ContentType="application/vnd.openxmlformats-officedocument.presentationml.tags+xml"/>
  <Override PartName="/ppt/tags/tag161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5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.xml" ContentType="application/vnd.openxmlformats-officedocument.presentationml.tags+xml"/>
  <Override PartName="/ppt/tags/tag1620.xml" ContentType="application/vnd.openxmlformats-officedocument.presentationml.tags+xml"/>
  <Override PartName="/ppt/tags/tag1621.xml" ContentType="application/vnd.openxmlformats-officedocument.presentationml.tags+xml"/>
  <Override PartName="/ppt/tags/tag1622.xml" ContentType="application/vnd.openxmlformats-officedocument.presentationml.tag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7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tags/tag163.xml" ContentType="application/vnd.openxmlformats-officedocument.presentationml.tags+xml"/>
  <Override PartName="/ppt/tags/tag1630.xml" ContentType="application/vnd.openxmlformats-officedocument.presentationml.tags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tags/tag1633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6.xml" ContentType="application/vnd.openxmlformats-officedocument.presentationml.tags+xml"/>
  <Override PartName="/ppt/tags/tag1637.xml" ContentType="application/vnd.openxmlformats-officedocument.presentationml.tags+xml"/>
  <Override PartName="/ppt/tags/tag1638.xml" ContentType="application/vnd.openxmlformats-officedocument.presentationml.tags+xml"/>
  <Override PartName="/ppt/tags/tag1639.xml" ContentType="application/vnd.openxmlformats-officedocument.presentationml.tags+xml"/>
  <Override PartName="/ppt/tags/tag164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tags/tag1644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49.xml" ContentType="application/vnd.openxmlformats-officedocument.presentationml.tags+xml"/>
  <Override PartName="/ppt/tags/tag165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tags/tag1655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tags/tag1659.xml" ContentType="application/vnd.openxmlformats-officedocument.presentationml.tags+xml"/>
  <Override PartName="/ppt/tags/tag166.xml" ContentType="application/vnd.openxmlformats-officedocument.presentationml.tags+xml"/>
  <Override PartName="/ppt/tags/tag1660.xml" ContentType="application/vnd.openxmlformats-officedocument.presentationml.tags+xml"/>
  <Override PartName="/ppt/tags/tag1661.xml" ContentType="application/vnd.openxmlformats-officedocument.presentationml.tags+xml"/>
  <Override PartName="/ppt/tags/tag1662.xml" ContentType="application/vnd.openxmlformats-officedocument.presentationml.tags+xml"/>
  <Override PartName="/ppt/tags/tag1663.xml" ContentType="application/vnd.openxmlformats-officedocument.presentationml.tags+xml"/>
  <Override PartName="/ppt/tags/tag1664.xml" ContentType="application/vnd.openxmlformats-officedocument.presentationml.tags+xml"/>
  <Override PartName="/ppt/tags/tag1665.xml" ContentType="application/vnd.openxmlformats-officedocument.presentationml.tags+xml"/>
  <Override PartName="/ppt/tags/tag1666.xml" ContentType="application/vnd.openxmlformats-officedocument.presentationml.tags+xml"/>
  <Override PartName="/ppt/tags/tag1667.xml" ContentType="application/vnd.openxmlformats-officedocument.presentationml.tags+xml"/>
  <Override PartName="/ppt/tags/tag1668.xml" ContentType="application/vnd.openxmlformats-officedocument.presentationml.tags+xml"/>
  <Override PartName="/ppt/tags/tag1669.xml" ContentType="application/vnd.openxmlformats-officedocument.presentationml.tags+xml"/>
  <Override PartName="/ppt/tags/tag167.xml" ContentType="application/vnd.openxmlformats-officedocument.presentationml.tags+xml"/>
  <Override PartName="/ppt/tags/tag1670.xml" ContentType="application/vnd.openxmlformats-officedocument.presentationml.tags+xml"/>
  <Override PartName="/ppt/tags/tag1671.xml" ContentType="application/vnd.openxmlformats-officedocument.presentationml.tags+xml"/>
  <Override PartName="/ppt/tags/tag1672.xml" ContentType="application/vnd.openxmlformats-officedocument.presentationml.tags+xml"/>
  <Override PartName="/ppt/tags/tag1673.xml" ContentType="application/vnd.openxmlformats-officedocument.presentationml.tags+xml"/>
  <Override PartName="/ppt/tags/tag1674.xml" ContentType="application/vnd.openxmlformats-officedocument.presentationml.tags+xml"/>
  <Override PartName="/ppt/tags/tag1675.xml" ContentType="application/vnd.openxmlformats-officedocument.presentationml.tags+xml"/>
  <Override PartName="/ppt/tags/tag1676.xml" ContentType="application/vnd.openxmlformats-officedocument.presentationml.tags+xml"/>
  <Override PartName="/ppt/tags/tag1677.xml" ContentType="application/vnd.openxmlformats-officedocument.presentationml.tags+xml"/>
  <Override PartName="/ppt/tags/tag1678.xml" ContentType="application/vnd.openxmlformats-officedocument.presentationml.tags+xml"/>
  <Override PartName="/ppt/tags/tag1679.xml" ContentType="application/vnd.openxmlformats-officedocument.presentationml.tags+xml"/>
  <Override PartName="/ppt/tags/tag168.xml" ContentType="application/vnd.openxmlformats-officedocument.presentationml.tags+xml"/>
  <Override PartName="/ppt/tags/tag1680.xml" ContentType="application/vnd.openxmlformats-officedocument.presentationml.tags+xml"/>
  <Override PartName="/ppt/tags/tag1681.xml" ContentType="application/vnd.openxmlformats-officedocument.presentationml.tags+xml"/>
  <Override PartName="/ppt/tags/tag1682.xml" ContentType="application/vnd.openxmlformats-officedocument.presentationml.tags+xml"/>
  <Override PartName="/ppt/tags/tag1683.xml" ContentType="application/vnd.openxmlformats-officedocument.presentationml.tags+xml"/>
  <Override PartName="/ppt/tags/tag1684.xml" ContentType="application/vnd.openxmlformats-officedocument.presentationml.tags+xml"/>
  <Override PartName="/ppt/tags/tag1685.xml" ContentType="application/vnd.openxmlformats-officedocument.presentationml.tags+xml"/>
  <Override PartName="/ppt/tags/tag1686.xml" ContentType="application/vnd.openxmlformats-officedocument.presentationml.tags+xml"/>
  <Override PartName="/ppt/tags/tag1687.xml" ContentType="application/vnd.openxmlformats-officedocument.presentationml.tags+xml"/>
  <Override PartName="/ppt/tags/tag1688.xml" ContentType="application/vnd.openxmlformats-officedocument.presentationml.tags+xml"/>
  <Override PartName="/ppt/tags/tag1689.xml" ContentType="application/vnd.openxmlformats-officedocument.presentationml.tags+xml"/>
  <Override PartName="/ppt/tags/tag169.xml" ContentType="application/vnd.openxmlformats-officedocument.presentationml.tags+xml"/>
  <Override PartName="/ppt/tags/tag1690.xml" ContentType="application/vnd.openxmlformats-officedocument.presentationml.tags+xml"/>
  <Override PartName="/ppt/tags/tag1691.xml" ContentType="application/vnd.openxmlformats-officedocument.presentationml.tags+xml"/>
  <Override PartName="/ppt/tags/tag1692.xml" ContentType="application/vnd.openxmlformats-officedocument.presentationml.tags+xml"/>
  <Override PartName="/ppt/tags/tag1693.xml" ContentType="application/vnd.openxmlformats-officedocument.presentationml.tags+xml"/>
  <Override PartName="/ppt/tags/tag1694.xml" ContentType="application/vnd.openxmlformats-officedocument.presentationml.tags+xml"/>
  <Override PartName="/ppt/tags/tag1695.xml" ContentType="application/vnd.openxmlformats-officedocument.presentationml.tags+xml"/>
  <Override PartName="/ppt/tags/tag1696.xml" ContentType="application/vnd.openxmlformats-officedocument.presentationml.tags+xml"/>
  <Override PartName="/ppt/tags/tag1697.xml" ContentType="application/vnd.openxmlformats-officedocument.presentationml.tags+xml"/>
  <Override PartName="/ppt/tags/tag1698.xml" ContentType="application/vnd.openxmlformats-officedocument.presentationml.tags+xml"/>
  <Override PartName="/ppt/tags/tag169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00.xml" ContentType="application/vnd.openxmlformats-officedocument.presentationml.tags+xml"/>
  <Override PartName="/ppt/tags/tag1701.xml" ContentType="application/vnd.openxmlformats-officedocument.presentationml.tags+xml"/>
  <Override PartName="/ppt/tags/tag1702.xml" ContentType="application/vnd.openxmlformats-officedocument.presentationml.tags+xml"/>
  <Override PartName="/ppt/tags/tag1703.xml" ContentType="application/vnd.openxmlformats-officedocument.presentationml.tags+xml"/>
  <Override PartName="/ppt/tags/tag1704.xml" ContentType="application/vnd.openxmlformats-officedocument.presentationml.tags+xml"/>
  <Override PartName="/ppt/tags/tag1705.xml" ContentType="application/vnd.openxmlformats-officedocument.presentationml.tags+xml"/>
  <Override PartName="/ppt/tags/tag1706.xml" ContentType="application/vnd.openxmlformats-officedocument.presentationml.tags+xml"/>
  <Override PartName="/ppt/tags/tag1707.xml" ContentType="application/vnd.openxmlformats-officedocument.presentationml.tags+xml"/>
  <Override PartName="/ppt/tags/tag1708.xml" ContentType="application/vnd.openxmlformats-officedocument.presentationml.tags+xml"/>
  <Override PartName="/ppt/tags/tag1709.xml" ContentType="application/vnd.openxmlformats-officedocument.presentationml.tags+xml"/>
  <Override PartName="/ppt/tags/tag171.xml" ContentType="application/vnd.openxmlformats-officedocument.presentationml.tags+xml"/>
  <Override PartName="/ppt/tags/tag1710.xml" ContentType="application/vnd.openxmlformats-officedocument.presentationml.tags+xml"/>
  <Override PartName="/ppt/tags/tag1711.xml" ContentType="application/vnd.openxmlformats-officedocument.presentationml.tags+xml"/>
  <Override PartName="/ppt/tags/tag1712.xml" ContentType="application/vnd.openxmlformats-officedocument.presentationml.tags+xml"/>
  <Override PartName="/ppt/tags/tag1713.xml" ContentType="application/vnd.openxmlformats-officedocument.presentationml.tags+xml"/>
  <Override PartName="/ppt/tags/tag1714.xml" ContentType="application/vnd.openxmlformats-officedocument.presentationml.tags+xml"/>
  <Override PartName="/ppt/tags/tag1715.xml" ContentType="application/vnd.openxmlformats-officedocument.presentationml.tags+xml"/>
  <Override PartName="/ppt/tags/tag1716.xml" ContentType="application/vnd.openxmlformats-officedocument.presentationml.tags+xml"/>
  <Override PartName="/ppt/tags/tag1717.xml" ContentType="application/vnd.openxmlformats-officedocument.presentationml.tags+xml"/>
  <Override PartName="/ppt/tags/tag1718.xml" ContentType="application/vnd.openxmlformats-officedocument.presentationml.tags+xml"/>
  <Override PartName="/ppt/tags/tag1719.xml" ContentType="application/vnd.openxmlformats-officedocument.presentationml.tags+xml"/>
  <Override PartName="/ppt/tags/tag172.xml" ContentType="application/vnd.openxmlformats-officedocument.presentationml.tags+xml"/>
  <Override PartName="/ppt/tags/tag1720.xml" ContentType="application/vnd.openxmlformats-officedocument.presentationml.tags+xml"/>
  <Override PartName="/ppt/tags/tag1721.xml" ContentType="application/vnd.openxmlformats-officedocument.presentationml.tags+xml"/>
  <Override PartName="/ppt/tags/tag1722.xml" ContentType="application/vnd.openxmlformats-officedocument.presentationml.tags+xml"/>
  <Override PartName="/ppt/tags/tag1723.xml" ContentType="application/vnd.openxmlformats-officedocument.presentationml.tags+xml"/>
  <Override PartName="/ppt/tags/tag1724.xml" ContentType="application/vnd.openxmlformats-officedocument.presentationml.tags+xml"/>
  <Override PartName="/ppt/tags/tag1725.xml" ContentType="application/vnd.openxmlformats-officedocument.presentationml.tags+xml"/>
  <Override PartName="/ppt/tags/tag1726.xml" ContentType="application/vnd.openxmlformats-officedocument.presentationml.tags+xml"/>
  <Override PartName="/ppt/tags/tag1727.xml" ContentType="application/vnd.openxmlformats-officedocument.presentationml.tags+xml"/>
  <Override PartName="/ppt/tags/tag1728.xml" ContentType="application/vnd.openxmlformats-officedocument.presentationml.tags+xml"/>
  <Override PartName="/ppt/tags/tag1729.xml" ContentType="application/vnd.openxmlformats-officedocument.presentationml.tags+xml"/>
  <Override PartName="/ppt/tags/tag173.xml" ContentType="application/vnd.openxmlformats-officedocument.presentationml.tags+xml"/>
  <Override PartName="/ppt/tags/tag1730.xml" ContentType="application/vnd.openxmlformats-officedocument.presentationml.tags+xml"/>
  <Override PartName="/ppt/tags/tag1731.xml" ContentType="application/vnd.openxmlformats-officedocument.presentationml.tags+xml"/>
  <Override PartName="/ppt/tags/tag1732.xml" ContentType="application/vnd.openxmlformats-officedocument.presentationml.tags+xml"/>
  <Override PartName="/ppt/tags/tag1733.xml" ContentType="application/vnd.openxmlformats-officedocument.presentationml.tags+xml"/>
  <Override PartName="/ppt/tags/tag1734.xml" ContentType="application/vnd.openxmlformats-officedocument.presentationml.tags+xml"/>
  <Override PartName="/ppt/tags/tag1735.xml" ContentType="application/vnd.openxmlformats-officedocument.presentationml.tags+xml"/>
  <Override PartName="/ppt/tags/tag1736.xml" ContentType="application/vnd.openxmlformats-officedocument.presentationml.tags+xml"/>
  <Override PartName="/ppt/tags/tag1737.xml" ContentType="application/vnd.openxmlformats-officedocument.presentationml.tags+xml"/>
  <Override PartName="/ppt/tags/tag1738.xml" ContentType="application/vnd.openxmlformats-officedocument.presentationml.tags+xml"/>
  <Override PartName="/ppt/tags/tag1739.xml" ContentType="application/vnd.openxmlformats-officedocument.presentationml.tags+xml"/>
  <Override PartName="/ppt/tags/tag174.xml" ContentType="application/vnd.openxmlformats-officedocument.presentationml.tags+xml"/>
  <Override PartName="/ppt/tags/tag1740.xml" ContentType="application/vnd.openxmlformats-officedocument.presentationml.tags+xml"/>
  <Override PartName="/ppt/tags/tag1741.xml" ContentType="application/vnd.openxmlformats-officedocument.presentationml.tags+xml"/>
  <Override PartName="/ppt/tags/tag1742.xml" ContentType="application/vnd.openxmlformats-officedocument.presentationml.tags+xml"/>
  <Override PartName="/ppt/tags/tag1743.xml" ContentType="application/vnd.openxmlformats-officedocument.presentationml.tags+xml"/>
  <Override PartName="/ppt/tags/tag1744.xml" ContentType="application/vnd.openxmlformats-officedocument.presentationml.tags+xml"/>
  <Override PartName="/ppt/tags/tag1745.xml" ContentType="application/vnd.openxmlformats-officedocument.presentationml.tags+xml"/>
  <Override PartName="/ppt/tags/tag1746.xml" ContentType="application/vnd.openxmlformats-officedocument.presentationml.tags+xml"/>
  <Override PartName="/ppt/tags/tag1747.xml" ContentType="application/vnd.openxmlformats-officedocument.presentationml.tags+xml"/>
  <Override PartName="/ppt/tags/tag1748.xml" ContentType="application/vnd.openxmlformats-officedocument.presentationml.tags+xml"/>
  <Override PartName="/ppt/tags/tag1749.xml" ContentType="application/vnd.openxmlformats-officedocument.presentationml.tags+xml"/>
  <Override PartName="/ppt/tags/tag175.xml" ContentType="application/vnd.openxmlformats-officedocument.presentationml.tags+xml"/>
  <Override PartName="/ppt/tags/tag1750.xml" ContentType="application/vnd.openxmlformats-officedocument.presentationml.tags+xml"/>
  <Override PartName="/ppt/tags/tag1751.xml" ContentType="application/vnd.openxmlformats-officedocument.presentationml.tags+xml"/>
  <Override PartName="/ppt/tags/tag1752.xml" ContentType="application/vnd.openxmlformats-officedocument.presentationml.tags+xml"/>
  <Override PartName="/ppt/tags/tag1753.xml" ContentType="application/vnd.openxmlformats-officedocument.presentationml.tags+xml"/>
  <Override PartName="/ppt/tags/tag1754.xml" ContentType="application/vnd.openxmlformats-officedocument.presentationml.tags+xml"/>
  <Override PartName="/ppt/tags/tag1755.xml" ContentType="application/vnd.openxmlformats-officedocument.presentationml.tags+xml"/>
  <Override PartName="/ppt/tags/tag1756.xml" ContentType="application/vnd.openxmlformats-officedocument.presentationml.tags+xml"/>
  <Override PartName="/ppt/tags/tag1757.xml" ContentType="application/vnd.openxmlformats-officedocument.presentationml.tags+xml"/>
  <Override PartName="/ppt/tags/tag1758.xml" ContentType="application/vnd.openxmlformats-officedocument.presentationml.tags+xml"/>
  <Override PartName="/ppt/tags/tag1759.xml" ContentType="application/vnd.openxmlformats-officedocument.presentationml.tags+xml"/>
  <Override PartName="/ppt/tags/tag176.xml" ContentType="application/vnd.openxmlformats-officedocument.presentationml.tags+xml"/>
  <Override PartName="/ppt/tags/tag1760.xml" ContentType="application/vnd.openxmlformats-officedocument.presentationml.tags+xml"/>
  <Override PartName="/ppt/tags/tag1761.xml" ContentType="application/vnd.openxmlformats-officedocument.presentationml.tags+xml"/>
  <Override PartName="/ppt/tags/tag1762.xml" ContentType="application/vnd.openxmlformats-officedocument.presentationml.tags+xml"/>
  <Override PartName="/ppt/tags/tag1763.xml" ContentType="application/vnd.openxmlformats-officedocument.presentationml.tags+xml"/>
  <Override PartName="/ppt/tags/tag1764.xml" ContentType="application/vnd.openxmlformats-officedocument.presentationml.tags+xml"/>
  <Override PartName="/ppt/tags/tag1765.xml" ContentType="application/vnd.openxmlformats-officedocument.presentationml.tags+xml"/>
  <Override PartName="/ppt/tags/tag1766.xml" ContentType="application/vnd.openxmlformats-officedocument.presentationml.tags+xml"/>
  <Override PartName="/ppt/tags/tag1767.xml" ContentType="application/vnd.openxmlformats-officedocument.presentationml.tags+xml"/>
  <Override PartName="/ppt/tags/tag1768.xml" ContentType="application/vnd.openxmlformats-officedocument.presentationml.tags+xml"/>
  <Override PartName="/ppt/tags/tag1769.xml" ContentType="application/vnd.openxmlformats-officedocument.presentationml.tags+xml"/>
  <Override PartName="/ppt/tags/tag177.xml" ContentType="application/vnd.openxmlformats-officedocument.presentationml.tags+xml"/>
  <Override PartName="/ppt/tags/tag1770.xml" ContentType="application/vnd.openxmlformats-officedocument.presentationml.tags+xml"/>
  <Override PartName="/ppt/tags/tag1771.xml" ContentType="application/vnd.openxmlformats-officedocument.presentationml.tags+xml"/>
  <Override PartName="/ppt/tags/tag1772.xml" ContentType="application/vnd.openxmlformats-officedocument.presentationml.tags+xml"/>
  <Override PartName="/ppt/tags/tag1773.xml" ContentType="application/vnd.openxmlformats-officedocument.presentationml.tags+xml"/>
  <Override PartName="/ppt/tags/tag1774.xml" ContentType="application/vnd.openxmlformats-officedocument.presentationml.tags+xml"/>
  <Override PartName="/ppt/tags/tag1775.xml" ContentType="application/vnd.openxmlformats-officedocument.presentationml.tags+xml"/>
  <Override PartName="/ppt/tags/tag1776.xml" ContentType="application/vnd.openxmlformats-officedocument.presentationml.tags+xml"/>
  <Override PartName="/ppt/tags/tag1777.xml" ContentType="application/vnd.openxmlformats-officedocument.presentationml.tags+xml"/>
  <Override PartName="/ppt/tags/tag1778.xml" ContentType="application/vnd.openxmlformats-officedocument.presentationml.tags+xml"/>
  <Override PartName="/ppt/tags/tag1779.xml" ContentType="application/vnd.openxmlformats-officedocument.presentationml.tags+xml"/>
  <Override PartName="/ppt/tags/tag178.xml" ContentType="application/vnd.openxmlformats-officedocument.presentationml.tags+xml"/>
  <Override PartName="/ppt/tags/tag1780.xml" ContentType="application/vnd.openxmlformats-officedocument.presentationml.tags+xml"/>
  <Override PartName="/ppt/tags/tag1781.xml" ContentType="application/vnd.openxmlformats-officedocument.presentationml.tags+xml"/>
  <Override PartName="/ppt/tags/tag1782.xml" ContentType="application/vnd.openxmlformats-officedocument.presentationml.tags+xml"/>
  <Override PartName="/ppt/tags/tag1783.xml" ContentType="application/vnd.openxmlformats-officedocument.presentationml.tags+xml"/>
  <Override PartName="/ppt/tags/tag1784.xml" ContentType="application/vnd.openxmlformats-officedocument.presentationml.tags+xml"/>
  <Override PartName="/ppt/tags/tag1785.xml" ContentType="application/vnd.openxmlformats-officedocument.presentationml.tags+xml"/>
  <Override PartName="/ppt/tags/tag1786.xml" ContentType="application/vnd.openxmlformats-officedocument.presentationml.tags+xml"/>
  <Override PartName="/ppt/tags/tag1787.xml" ContentType="application/vnd.openxmlformats-officedocument.presentationml.tags+xml"/>
  <Override PartName="/ppt/tags/tag1788.xml" ContentType="application/vnd.openxmlformats-officedocument.presentationml.tags+xml"/>
  <Override PartName="/ppt/tags/tag1789.xml" ContentType="application/vnd.openxmlformats-officedocument.presentationml.tags+xml"/>
  <Override PartName="/ppt/tags/tag179.xml" ContentType="application/vnd.openxmlformats-officedocument.presentationml.tags+xml"/>
  <Override PartName="/ppt/tags/tag1790.xml" ContentType="application/vnd.openxmlformats-officedocument.presentationml.tags+xml"/>
  <Override PartName="/ppt/tags/tag1791.xml" ContentType="application/vnd.openxmlformats-officedocument.presentationml.tags+xml"/>
  <Override PartName="/ppt/tags/tag1792.xml" ContentType="application/vnd.openxmlformats-officedocument.presentationml.tags+xml"/>
  <Override PartName="/ppt/tags/tag1793.xml" ContentType="application/vnd.openxmlformats-officedocument.presentationml.tags+xml"/>
  <Override PartName="/ppt/tags/tag1794.xml" ContentType="application/vnd.openxmlformats-officedocument.presentationml.tags+xml"/>
  <Override PartName="/ppt/tags/tag1795.xml" ContentType="application/vnd.openxmlformats-officedocument.presentationml.tags+xml"/>
  <Override PartName="/ppt/tags/tag1796.xml" ContentType="application/vnd.openxmlformats-officedocument.presentationml.tags+xml"/>
  <Override PartName="/ppt/tags/tag1797.xml" ContentType="application/vnd.openxmlformats-officedocument.presentationml.tags+xml"/>
  <Override PartName="/ppt/tags/tag1798.xml" ContentType="application/vnd.openxmlformats-officedocument.presentationml.tags+xml"/>
  <Override PartName="/ppt/tags/tag179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00.xml" ContentType="application/vnd.openxmlformats-officedocument.presentationml.tags+xml"/>
  <Override PartName="/ppt/tags/tag1801.xml" ContentType="application/vnd.openxmlformats-officedocument.presentationml.tags+xml"/>
  <Override PartName="/ppt/tags/tag1802.xml" ContentType="application/vnd.openxmlformats-officedocument.presentationml.tags+xml"/>
  <Override PartName="/ppt/tags/tag1803.xml" ContentType="application/vnd.openxmlformats-officedocument.presentationml.tags+xml"/>
  <Override PartName="/ppt/tags/tag1804.xml" ContentType="application/vnd.openxmlformats-officedocument.presentationml.tags+xml"/>
  <Override PartName="/ppt/tags/tag1805.xml" ContentType="application/vnd.openxmlformats-officedocument.presentationml.tags+xml"/>
  <Override PartName="/ppt/tags/tag1806.xml" ContentType="application/vnd.openxmlformats-officedocument.presentationml.tags+xml"/>
  <Override PartName="/ppt/tags/tag1807.xml" ContentType="application/vnd.openxmlformats-officedocument.presentationml.tags+xml"/>
  <Override PartName="/ppt/tags/tag1808.xml" ContentType="application/vnd.openxmlformats-officedocument.presentationml.tags+xml"/>
  <Override PartName="/ppt/tags/tag1809.xml" ContentType="application/vnd.openxmlformats-officedocument.presentationml.tags+xml"/>
  <Override PartName="/ppt/tags/tag181.xml" ContentType="application/vnd.openxmlformats-officedocument.presentationml.tags+xml"/>
  <Override PartName="/ppt/tags/tag1810.xml" ContentType="application/vnd.openxmlformats-officedocument.presentationml.tags+xml"/>
  <Override PartName="/ppt/tags/tag1811.xml" ContentType="application/vnd.openxmlformats-officedocument.presentationml.tags+xml"/>
  <Override PartName="/ppt/tags/tag1812.xml" ContentType="application/vnd.openxmlformats-officedocument.presentationml.tags+xml"/>
  <Override PartName="/ppt/tags/tag1813.xml" ContentType="application/vnd.openxmlformats-officedocument.presentationml.tags+xml"/>
  <Override PartName="/ppt/tags/tag1814.xml" ContentType="application/vnd.openxmlformats-officedocument.presentationml.tags+xml"/>
  <Override PartName="/ppt/tags/tag1815.xml" ContentType="application/vnd.openxmlformats-officedocument.presentationml.tags+xml"/>
  <Override PartName="/ppt/tags/tag1816.xml" ContentType="application/vnd.openxmlformats-officedocument.presentationml.tags+xml"/>
  <Override PartName="/ppt/tags/tag1817.xml" ContentType="application/vnd.openxmlformats-officedocument.presentationml.tags+xml"/>
  <Override PartName="/ppt/tags/tag1818.xml" ContentType="application/vnd.openxmlformats-officedocument.presentationml.tags+xml"/>
  <Override PartName="/ppt/tags/tag1819.xml" ContentType="application/vnd.openxmlformats-officedocument.presentationml.tags+xml"/>
  <Override PartName="/ppt/tags/tag182.xml" ContentType="application/vnd.openxmlformats-officedocument.presentationml.tags+xml"/>
  <Override PartName="/ppt/tags/tag1820.xml" ContentType="application/vnd.openxmlformats-officedocument.presentationml.tags+xml"/>
  <Override PartName="/ppt/tags/tag1821.xml" ContentType="application/vnd.openxmlformats-officedocument.presentationml.tags+xml"/>
  <Override PartName="/ppt/tags/tag1822.xml" ContentType="application/vnd.openxmlformats-officedocument.presentationml.tags+xml"/>
  <Override PartName="/ppt/tags/tag1823.xml" ContentType="application/vnd.openxmlformats-officedocument.presentationml.tags+xml"/>
  <Override PartName="/ppt/tags/tag1824.xml" ContentType="application/vnd.openxmlformats-officedocument.presentationml.tags+xml"/>
  <Override PartName="/ppt/tags/tag1825.xml" ContentType="application/vnd.openxmlformats-officedocument.presentationml.tags+xml"/>
  <Override PartName="/ppt/tags/tag1826.xml" ContentType="application/vnd.openxmlformats-officedocument.presentationml.tags+xml"/>
  <Override PartName="/ppt/tags/tag1827.xml" ContentType="application/vnd.openxmlformats-officedocument.presentationml.tags+xml"/>
  <Override PartName="/ppt/tags/tag1828.xml" ContentType="application/vnd.openxmlformats-officedocument.presentationml.tags+xml"/>
  <Override PartName="/ppt/tags/tag1829.xml" ContentType="application/vnd.openxmlformats-officedocument.presentationml.tags+xml"/>
  <Override PartName="/ppt/tags/tag183.xml" ContentType="application/vnd.openxmlformats-officedocument.presentationml.tags+xml"/>
  <Override PartName="/ppt/tags/tag1830.xml" ContentType="application/vnd.openxmlformats-officedocument.presentationml.tags+xml"/>
  <Override PartName="/ppt/tags/tag1831.xml" ContentType="application/vnd.openxmlformats-officedocument.presentationml.tags+xml"/>
  <Override PartName="/ppt/tags/tag1832.xml" ContentType="application/vnd.openxmlformats-officedocument.presentationml.tags+xml"/>
  <Override PartName="/ppt/tags/tag1833.xml" ContentType="application/vnd.openxmlformats-officedocument.presentationml.tags+xml"/>
  <Override PartName="/ppt/tags/tag1834.xml" ContentType="application/vnd.openxmlformats-officedocument.presentationml.tags+xml"/>
  <Override PartName="/ppt/tags/tag1835.xml" ContentType="application/vnd.openxmlformats-officedocument.presentationml.tags+xml"/>
  <Override PartName="/ppt/tags/tag1836.xml" ContentType="application/vnd.openxmlformats-officedocument.presentationml.tags+xml"/>
  <Override PartName="/ppt/tags/tag1837.xml" ContentType="application/vnd.openxmlformats-officedocument.presentationml.tags+xml"/>
  <Override PartName="/ppt/tags/tag1838.xml" ContentType="application/vnd.openxmlformats-officedocument.presentationml.tags+xml"/>
  <Override PartName="/ppt/tags/tag1839.xml" ContentType="application/vnd.openxmlformats-officedocument.presentationml.tags+xml"/>
  <Override PartName="/ppt/tags/tag184.xml" ContentType="application/vnd.openxmlformats-officedocument.presentationml.tags+xml"/>
  <Override PartName="/ppt/tags/tag1840.xml" ContentType="application/vnd.openxmlformats-officedocument.presentationml.tags+xml"/>
  <Override PartName="/ppt/tags/tag1841.xml" ContentType="application/vnd.openxmlformats-officedocument.presentationml.tags+xml"/>
  <Override PartName="/ppt/tags/tag1842.xml" ContentType="application/vnd.openxmlformats-officedocument.presentationml.tags+xml"/>
  <Override PartName="/ppt/tags/tag1843.xml" ContentType="application/vnd.openxmlformats-officedocument.presentationml.tags+xml"/>
  <Override PartName="/ppt/tags/tag1844.xml" ContentType="application/vnd.openxmlformats-officedocument.presentationml.tags+xml"/>
  <Override PartName="/ppt/tags/tag1845.xml" ContentType="application/vnd.openxmlformats-officedocument.presentationml.tags+xml"/>
  <Override PartName="/ppt/tags/tag1846.xml" ContentType="application/vnd.openxmlformats-officedocument.presentationml.tags+xml"/>
  <Override PartName="/ppt/tags/tag1847.xml" ContentType="application/vnd.openxmlformats-officedocument.presentationml.tags+xml"/>
  <Override PartName="/ppt/tags/tag1848.xml" ContentType="application/vnd.openxmlformats-officedocument.presentationml.tags+xml"/>
  <Override PartName="/ppt/tags/tag1849.xml" ContentType="application/vnd.openxmlformats-officedocument.presentationml.tags+xml"/>
  <Override PartName="/ppt/tags/tag185.xml" ContentType="application/vnd.openxmlformats-officedocument.presentationml.tags+xml"/>
  <Override PartName="/ppt/tags/tag1850.xml" ContentType="application/vnd.openxmlformats-officedocument.presentationml.tags+xml"/>
  <Override PartName="/ppt/tags/tag1851.xml" ContentType="application/vnd.openxmlformats-officedocument.presentationml.tags+xml"/>
  <Override PartName="/ppt/tags/tag1852.xml" ContentType="application/vnd.openxmlformats-officedocument.presentationml.tags+xml"/>
  <Override PartName="/ppt/tags/tag1853.xml" ContentType="application/vnd.openxmlformats-officedocument.presentationml.tags+xml"/>
  <Override PartName="/ppt/tags/tag1854.xml" ContentType="application/vnd.openxmlformats-officedocument.presentationml.tags+xml"/>
  <Override PartName="/ppt/tags/tag1855.xml" ContentType="application/vnd.openxmlformats-officedocument.presentationml.tags+xml"/>
  <Override PartName="/ppt/tags/tag1856.xml" ContentType="application/vnd.openxmlformats-officedocument.presentationml.tags+xml"/>
  <Override PartName="/ppt/tags/tag1857.xml" ContentType="application/vnd.openxmlformats-officedocument.presentationml.tags+xml"/>
  <Override PartName="/ppt/tags/tag1858.xml" ContentType="application/vnd.openxmlformats-officedocument.presentationml.tags+xml"/>
  <Override PartName="/ppt/tags/tag1859.xml" ContentType="application/vnd.openxmlformats-officedocument.presentationml.tags+xml"/>
  <Override PartName="/ppt/tags/tag186.xml" ContentType="application/vnd.openxmlformats-officedocument.presentationml.tags+xml"/>
  <Override PartName="/ppt/tags/tag1860.xml" ContentType="application/vnd.openxmlformats-officedocument.presentationml.tags+xml"/>
  <Override PartName="/ppt/tags/tag1861.xml" ContentType="application/vnd.openxmlformats-officedocument.presentationml.tags+xml"/>
  <Override PartName="/ppt/tags/tag1862.xml" ContentType="application/vnd.openxmlformats-officedocument.presentationml.tags+xml"/>
  <Override PartName="/ppt/tags/tag1863.xml" ContentType="application/vnd.openxmlformats-officedocument.presentationml.tags+xml"/>
  <Override PartName="/ppt/tags/tag1864.xml" ContentType="application/vnd.openxmlformats-officedocument.presentationml.tags+xml"/>
  <Override PartName="/ppt/tags/tag1865.xml" ContentType="application/vnd.openxmlformats-officedocument.presentationml.tags+xml"/>
  <Override PartName="/ppt/tags/tag1866.xml" ContentType="application/vnd.openxmlformats-officedocument.presentationml.tags+xml"/>
  <Override PartName="/ppt/tags/tag1867.xml" ContentType="application/vnd.openxmlformats-officedocument.presentationml.tags+xml"/>
  <Override PartName="/ppt/tags/tag1868.xml" ContentType="application/vnd.openxmlformats-officedocument.presentationml.tags+xml"/>
  <Override PartName="/ppt/tags/tag1869.xml" ContentType="application/vnd.openxmlformats-officedocument.presentationml.tags+xml"/>
  <Override PartName="/ppt/tags/tag187.xml" ContentType="application/vnd.openxmlformats-officedocument.presentationml.tags+xml"/>
  <Override PartName="/ppt/tags/tag1870.xml" ContentType="application/vnd.openxmlformats-officedocument.presentationml.tags+xml"/>
  <Override PartName="/ppt/tags/tag1871.xml" ContentType="application/vnd.openxmlformats-officedocument.presentationml.tags+xml"/>
  <Override PartName="/ppt/tags/tag1872.xml" ContentType="application/vnd.openxmlformats-officedocument.presentationml.tags+xml"/>
  <Override PartName="/ppt/tags/tag1873.xml" ContentType="application/vnd.openxmlformats-officedocument.presentationml.tags+xml"/>
  <Override PartName="/ppt/tags/tag1874.xml" ContentType="application/vnd.openxmlformats-officedocument.presentationml.tags+xml"/>
  <Override PartName="/ppt/tags/tag1875.xml" ContentType="application/vnd.openxmlformats-officedocument.presentationml.tags+xml"/>
  <Override PartName="/ppt/tags/tag1876.xml" ContentType="application/vnd.openxmlformats-officedocument.presentationml.tags+xml"/>
  <Override PartName="/ppt/tags/tag1877.xml" ContentType="application/vnd.openxmlformats-officedocument.presentationml.tags+xml"/>
  <Override PartName="/ppt/tags/tag1878.xml" ContentType="application/vnd.openxmlformats-officedocument.presentationml.tags+xml"/>
  <Override PartName="/ppt/tags/tag1879.xml" ContentType="application/vnd.openxmlformats-officedocument.presentationml.tags+xml"/>
  <Override PartName="/ppt/tags/tag188.xml" ContentType="application/vnd.openxmlformats-officedocument.presentationml.tags+xml"/>
  <Override PartName="/ppt/tags/tag1880.xml" ContentType="application/vnd.openxmlformats-officedocument.presentationml.tags+xml"/>
  <Override PartName="/ppt/tags/tag1881.xml" ContentType="application/vnd.openxmlformats-officedocument.presentationml.tags+xml"/>
  <Override PartName="/ppt/tags/tag1882.xml" ContentType="application/vnd.openxmlformats-officedocument.presentationml.tags+xml"/>
  <Override PartName="/ppt/tags/tag1883.xml" ContentType="application/vnd.openxmlformats-officedocument.presentationml.tags+xml"/>
  <Override PartName="/ppt/tags/tag1884.xml" ContentType="application/vnd.openxmlformats-officedocument.presentationml.tags+xml"/>
  <Override PartName="/ppt/tags/tag1885.xml" ContentType="application/vnd.openxmlformats-officedocument.presentationml.tags+xml"/>
  <Override PartName="/ppt/tags/tag1886.xml" ContentType="application/vnd.openxmlformats-officedocument.presentationml.tags+xml"/>
  <Override PartName="/ppt/tags/tag1887.xml" ContentType="application/vnd.openxmlformats-officedocument.presentationml.tags+xml"/>
  <Override PartName="/ppt/tags/tag1888.xml" ContentType="application/vnd.openxmlformats-officedocument.presentationml.tags+xml"/>
  <Override PartName="/ppt/tags/tag1889.xml" ContentType="application/vnd.openxmlformats-officedocument.presentationml.tags+xml"/>
  <Override PartName="/ppt/tags/tag189.xml" ContentType="application/vnd.openxmlformats-officedocument.presentationml.tags+xml"/>
  <Override PartName="/ppt/tags/tag1890.xml" ContentType="application/vnd.openxmlformats-officedocument.presentationml.tags+xml"/>
  <Override PartName="/ppt/tags/tag1891.xml" ContentType="application/vnd.openxmlformats-officedocument.presentationml.tags+xml"/>
  <Override PartName="/ppt/tags/tag1892.xml" ContentType="application/vnd.openxmlformats-officedocument.presentationml.tags+xml"/>
  <Override PartName="/ppt/tags/tag1893.xml" ContentType="application/vnd.openxmlformats-officedocument.presentationml.tags+xml"/>
  <Override PartName="/ppt/tags/tag1894.xml" ContentType="application/vnd.openxmlformats-officedocument.presentationml.tags+xml"/>
  <Override PartName="/ppt/tags/tag1895.xml" ContentType="application/vnd.openxmlformats-officedocument.presentationml.tags+xml"/>
  <Override PartName="/ppt/tags/tag1896.xml" ContentType="application/vnd.openxmlformats-officedocument.presentationml.tags+xml"/>
  <Override PartName="/ppt/tags/tag1897.xml" ContentType="application/vnd.openxmlformats-officedocument.presentationml.tags+xml"/>
  <Override PartName="/ppt/tags/tag1898.xml" ContentType="application/vnd.openxmlformats-officedocument.presentationml.tags+xml"/>
  <Override PartName="/ppt/tags/tag189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00.xml" ContentType="application/vnd.openxmlformats-officedocument.presentationml.tags+xml"/>
  <Override PartName="/ppt/tags/tag1901.xml" ContentType="application/vnd.openxmlformats-officedocument.presentationml.tags+xml"/>
  <Override PartName="/ppt/tags/tag1902.xml" ContentType="application/vnd.openxmlformats-officedocument.presentationml.tags+xml"/>
  <Override PartName="/ppt/tags/tag1903.xml" ContentType="application/vnd.openxmlformats-officedocument.presentationml.tags+xml"/>
  <Override PartName="/ppt/tags/tag1904.xml" ContentType="application/vnd.openxmlformats-officedocument.presentationml.tags+xml"/>
  <Override PartName="/ppt/tags/tag1905.xml" ContentType="application/vnd.openxmlformats-officedocument.presentationml.tags+xml"/>
  <Override PartName="/ppt/tags/tag1906.xml" ContentType="application/vnd.openxmlformats-officedocument.presentationml.tags+xml"/>
  <Override PartName="/ppt/tags/tag1907.xml" ContentType="application/vnd.openxmlformats-officedocument.presentationml.tags+xml"/>
  <Override PartName="/ppt/tags/tag1908.xml" ContentType="application/vnd.openxmlformats-officedocument.presentationml.tags+xml"/>
  <Override PartName="/ppt/tags/tag1909.xml" ContentType="application/vnd.openxmlformats-officedocument.presentationml.tags+xml"/>
  <Override PartName="/ppt/tags/tag191.xml" ContentType="application/vnd.openxmlformats-officedocument.presentationml.tags+xml"/>
  <Override PartName="/ppt/tags/tag1910.xml" ContentType="application/vnd.openxmlformats-officedocument.presentationml.tags+xml"/>
  <Override PartName="/ppt/tags/tag1911.xml" ContentType="application/vnd.openxmlformats-officedocument.presentationml.tags+xml"/>
  <Override PartName="/ppt/tags/tag1912.xml" ContentType="application/vnd.openxmlformats-officedocument.presentationml.tags+xml"/>
  <Override PartName="/ppt/tags/tag1913.xml" ContentType="application/vnd.openxmlformats-officedocument.presentationml.tags+xml"/>
  <Override PartName="/ppt/tags/tag1914.xml" ContentType="application/vnd.openxmlformats-officedocument.presentationml.tags+xml"/>
  <Override PartName="/ppt/tags/tag1915.xml" ContentType="application/vnd.openxmlformats-officedocument.presentationml.tags+xml"/>
  <Override PartName="/ppt/tags/tag1916.xml" ContentType="application/vnd.openxmlformats-officedocument.presentationml.tags+xml"/>
  <Override PartName="/ppt/tags/tag1917.xml" ContentType="application/vnd.openxmlformats-officedocument.presentationml.tags+xml"/>
  <Override PartName="/ppt/tags/tag1918.xml" ContentType="application/vnd.openxmlformats-officedocument.presentationml.tags+xml"/>
  <Override PartName="/ppt/tags/tag1919.xml" ContentType="application/vnd.openxmlformats-officedocument.presentationml.tags+xml"/>
  <Override PartName="/ppt/tags/tag192.xml" ContentType="application/vnd.openxmlformats-officedocument.presentationml.tags+xml"/>
  <Override PartName="/ppt/tags/tag1920.xml" ContentType="application/vnd.openxmlformats-officedocument.presentationml.tags+xml"/>
  <Override PartName="/ppt/tags/tag1921.xml" ContentType="application/vnd.openxmlformats-officedocument.presentationml.tags+xml"/>
  <Override PartName="/ppt/tags/tag1922.xml" ContentType="application/vnd.openxmlformats-officedocument.presentationml.tags+xml"/>
  <Override PartName="/ppt/tags/tag1923.xml" ContentType="application/vnd.openxmlformats-officedocument.presentationml.tags+xml"/>
  <Override PartName="/ppt/tags/tag1924.xml" ContentType="application/vnd.openxmlformats-officedocument.presentationml.tags+xml"/>
  <Override PartName="/ppt/tags/tag1925.xml" ContentType="application/vnd.openxmlformats-officedocument.presentationml.tags+xml"/>
  <Override PartName="/ppt/tags/tag1926.xml" ContentType="application/vnd.openxmlformats-officedocument.presentationml.tags+xml"/>
  <Override PartName="/ppt/tags/tag1927.xml" ContentType="application/vnd.openxmlformats-officedocument.presentationml.tags+xml"/>
  <Override PartName="/ppt/tags/tag1928.xml" ContentType="application/vnd.openxmlformats-officedocument.presentationml.tags+xml"/>
  <Override PartName="/ppt/tags/tag1929.xml" ContentType="application/vnd.openxmlformats-officedocument.presentationml.tags+xml"/>
  <Override PartName="/ppt/tags/tag193.xml" ContentType="application/vnd.openxmlformats-officedocument.presentationml.tags+xml"/>
  <Override PartName="/ppt/tags/tag1930.xml" ContentType="application/vnd.openxmlformats-officedocument.presentationml.tags+xml"/>
  <Override PartName="/ppt/tags/tag1931.xml" ContentType="application/vnd.openxmlformats-officedocument.presentationml.tags+xml"/>
  <Override PartName="/ppt/tags/tag1932.xml" ContentType="application/vnd.openxmlformats-officedocument.presentationml.tags+xml"/>
  <Override PartName="/ppt/tags/tag1933.xml" ContentType="application/vnd.openxmlformats-officedocument.presentationml.tags+xml"/>
  <Override PartName="/ppt/tags/tag1934.xml" ContentType="application/vnd.openxmlformats-officedocument.presentationml.tags+xml"/>
  <Override PartName="/ppt/tags/tag1935.xml" ContentType="application/vnd.openxmlformats-officedocument.presentationml.tags+xml"/>
  <Override PartName="/ppt/tags/tag1936.xml" ContentType="application/vnd.openxmlformats-officedocument.presentationml.tags+xml"/>
  <Override PartName="/ppt/tags/tag1937.xml" ContentType="application/vnd.openxmlformats-officedocument.presentationml.tags+xml"/>
  <Override PartName="/ppt/tags/tag1938.xml" ContentType="application/vnd.openxmlformats-officedocument.presentationml.tags+xml"/>
  <Override PartName="/ppt/tags/tag1939.xml" ContentType="application/vnd.openxmlformats-officedocument.presentationml.tags+xml"/>
  <Override PartName="/ppt/tags/tag194.xml" ContentType="application/vnd.openxmlformats-officedocument.presentationml.tags+xml"/>
  <Override PartName="/ppt/tags/tag1940.xml" ContentType="application/vnd.openxmlformats-officedocument.presentationml.tags+xml"/>
  <Override PartName="/ppt/tags/tag1941.xml" ContentType="application/vnd.openxmlformats-officedocument.presentationml.tags+xml"/>
  <Override PartName="/ppt/tags/tag1942.xml" ContentType="application/vnd.openxmlformats-officedocument.presentationml.tags+xml"/>
  <Override PartName="/ppt/tags/tag1943.xml" ContentType="application/vnd.openxmlformats-officedocument.presentationml.tags+xml"/>
  <Override PartName="/ppt/tags/tag1944.xml" ContentType="application/vnd.openxmlformats-officedocument.presentationml.tags+xml"/>
  <Override PartName="/ppt/tags/tag1945.xml" ContentType="application/vnd.openxmlformats-officedocument.presentationml.tags+xml"/>
  <Override PartName="/ppt/tags/tag1946.xml" ContentType="application/vnd.openxmlformats-officedocument.presentationml.tags+xml"/>
  <Override PartName="/ppt/tags/tag1947.xml" ContentType="application/vnd.openxmlformats-officedocument.presentationml.tags+xml"/>
  <Override PartName="/ppt/tags/tag1948.xml" ContentType="application/vnd.openxmlformats-officedocument.presentationml.tags+xml"/>
  <Override PartName="/ppt/tags/tag1949.xml" ContentType="application/vnd.openxmlformats-officedocument.presentationml.tags+xml"/>
  <Override PartName="/ppt/tags/tag195.xml" ContentType="application/vnd.openxmlformats-officedocument.presentationml.tags+xml"/>
  <Override PartName="/ppt/tags/tag1950.xml" ContentType="application/vnd.openxmlformats-officedocument.presentationml.tags+xml"/>
  <Override PartName="/ppt/tags/tag1951.xml" ContentType="application/vnd.openxmlformats-officedocument.presentationml.tags+xml"/>
  <Override PartName="/ppt/tags/tag1952.xml" ContentType="application/vnd.openxmlformats-officedocument.presentationml.tags+xml"/>
  <Override PartName="/ppt/tags/tag1953.xml" ContentType="application/vnd.openxmlformats-officedocument.presentationml.tags+xml"/>
  <Override PartName="/ppt/tags/tag1954.xml" ContentType="application/vnd.openxmlformats-officedocument.presentationml.tags+xml"/>
  <Override PartName="/ppt/tags/tag1955.xml" ContentType="application/vnd.openxmlformats-officedocument.presentationml.tags+xml"/>
  <Override PartName="/ppt/tags/tag1956.xml" ContentType="application/vnd.openxmlformats-officedocument.presentationml.tags+xml"/>
  <Override PartName="/ppt/tags/tag1957.xml" ContentType="application/vnd.openxmlformats-officedocument.presentationml.tags+xml"/>
  <Override PartName="/ppt/tags/tag1958.xml" ContentType="application/vnd.openxmlformats-officedocument.presentationml.tags+xml"/>
  <Override PartName="/ppt/tags/tag1959.xml" ContentType="application/vnd.openxmlformats-officedocument.presentationml.tags+xml"/>
  <Override PartName="/ppt/tags/tag196.xml" ContentType="application/vnd.openxmlformats-officedocument.presentationml.tags+xml"/>
  <Override PartName="/ppt/tags/tag1960.xml" ContentType="application/vnd.openxmlformats-officedocument.presentationml.tags+xml"/>
  <Override PartName="/ppt/tags/tag1961.xml" ContentType="application/vnd.openxmlformats-officedocument.presentationml.tags+xml"/>
  <Override PartName="/ppt/tags/tag1962.xml" ContentType="application/vnd.openxmlformats-officedocument.presentationml.tags+xml"/>
  <Override PartName="/ppt/tags/tag1963.xml" ContentType="application/vnd.openxmlformats-officedocument.presentationml.tags+xml"/>
  <Override PartName="/ppt/tags/tag1964.xml" ContentType="application/vnd.openxmlformats-officedocument.presentationml.tags+xml"/>
  <Override PartName="/ppt/tags/tag1965.xml" ContentType="application/vnd.openxmlformats-officedocument.presentationml.tags+xml"/>
  <Override PartName="/ppt/tags/tag1966.xml" ContentType="application/vnd.openxmlformats-officedocument.presentationml.tags+xml"/>
  <Override PartName="/ppt/tags/tag1967.xml" ContentType="application/vnd.openxmlformats-officedocument.presentationml.tags+xml"/>
  <Override PartName="/ppt/tags/tag1968.xml" ContentType="application/vnd.openxmlformats-officedocument.presentationml.tags+xml"/>
  <Override PartName="/ppt/tags/tag1969.xml" ContentType="application/vnd.openxmlformats-officedocument.presentationml.tags+xml"/>
  <Override PartName="/ppt/tags/tag197.xml" ContentType="application/vnd.openxmlformats-officedocument.presentationml.tags+xml"/>
  <Override PartName="/ppt/tags/tag1970.xml" ContentType="application/vnd.openxmlformats-officedocument.presentationml.tags+xml"/>
  <Override PartName="/ppt/tags/tag1971.xml" ContentType="application/vnd.openxmlformats-officedocument.presentationml.tags+xml"/>
  <Override PartName="/ppt/tags/tag1972.xml" ContentType="application/vnd.openxmlformats-officedocument.presentationml.tags+xml"/>
  <Override PartName="/ppt/tags/tag1973.xml" ContentType="application/vnd.openxmlformats-officedocument.presentationml.tags+xml"/>
  <Override PartName="/ppt/tags/tag1974.xml" ContentType="application/vnd.openxmlformats-officedocument.presentationml.tags+xml"/>
  <Override PartName="/ppt/tags/tag1975.xml" ContentType="application/vnd.openxmlformats-officedocument.presentationml.tags+xml"/>
  <Override PartName="/ppt/tags/tag1976.xml" ContentType="application/vnd.openxmlformats-officedocument.presentationml.tags+xml"/>
  <Override PartName="/ppt/tags/tag1977.xml" ContentType="application/vnd.openxmlformats-officedocument.presentationml.tags+xml"/>
  <Override PartName="/ppt/tags/tag1978.xml" ContentType="application/vnd.openxmlformats-officedocument.presentationml.tags+xml"/>
  <Override PartName="/ppt/tags/tag1979.xml" ContentType="application/vnd.openxmlformats-officedocument.presentationml.tags+xml"/>
  <Override PartName="/ppt/tags/tag198.xml" ContentType="application/vnd.openxmlformats-officedocument.presentationml.tags+xml"/>
  <Override PartName="/ppt/tags/tag1980.xml" ContentType="application/vnd.openxmlformats-officedocument.presentationml.tags+xml"/>
  <Override PartName="/ppt/tags/tag1981.xml" ContentType="application/vnd.openxmlformats-officedocument.presentationml.tags+xml"/>
  <Override PartName="/ppt/tags/tag1982.xml" ContentType="application/vnd.openxmlformats-officedocument.presentationml.tags+xml"/>
  <Override PartName="/ppt/tags/tag1983.xml" ContentType="application/vnd.openxmlformats-officedocument.presentationml.tags+xml"/>
  <Override PartName="/ppt/tags/tag1984.xml" ContentType="application/vnd.openxmlformats-officedocument.presentationml.tags+xml"/>
  <Override PartName="/ppt/tags/tag1985.xml" ContentType="application/vnd.openxmlformats-officedocument.presentationml.tags+xml"/>
  <Override PartName="/ppt/tags/tag1986.xml" ContentType="application/vnd.openxmlformats-officedocument.presentationml.tags+xml"/>
  <Override PartName="/ppt/tags/tag1987.xml" ContentType="application/vnd.openxmlformats-officedocument.presentationml.tags+xml"/>
  <Override PartName="/ppt/tags/tag1988.xml" ContentType="application/vnd.openxmlformats-officedocument.presentationml.tags+xml"/>
  <Override PartName="/ppt/tags/tag1989.xml" ContentType="application/vnd.openxmlformats-officedocument.presentationml.tags+xml"/>
  <Override PartName="/ppt/tags/tag199.xml" ContentType="application/vnd.openxmlformats-officedocument.presentationml.tags+xml"/>
  <Override PartName="/ppt/tags/tag1990.xml" ContentType="application/vnd.openxmlformats-officedocument.presentationml.tags+xml"/>
  <Override PartName="/ppt/tags/tag1991.xml" ContentType="application/vnd.openxmlformats-officedocument.presentationml.tags+xml"/>
  <Override PartName="/ppt/tags/tag1992.xml" ContentType="application/vnd.openxmlformats-officedocument.presentationml.tags+xml"/>
  <Override PartName="/ppt/tags/tag1993.xml" ContentType="application/vnd.openxmlformats-officedocument.presentationml.tags+xml"/>
  <Override PartName="/ppt/tags/tag1994.xml" ContentType="application/vnd.openxmlformats-officedocument.presentationml.tags+xml"/>
  <Override PartName="/ppt/tags/tag1995.xml" ContentType="application/vnd.openxmlformats-officedocument.presentationml.tags+xml"/>
  <Override PartName="/ppt/tags/tag1996.xml" ContentType="application/vnd.openxmlformats-officedocument.presentationml.tags+xml"/>
  <Override PartName="/ppt/tags/tag1997.xml" ContentType="application/vnd.openxmlformats-officedocument.presentationml.tags+xml"/>
  <Override PartName="/ppt/tags/tag1998.xml" ContentType="application/vnd.openxmlformats-officedocument.presentationml.tags+xml"/>
  <Override PartName="/ppt/tags/tag19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00.xml" ContentType="application/vnd.openxmlformats-officedocument.presentationml.tags+xml"/>
  <Override PartName="/ppt/tags/tag2001.xml" ContentType="application/vnd.openxmlformats-officedocument.presentationml.tags+xml"/>
  <Override PartName="/ppt/tags/tag2002.xml" ContentType="application/vnd.openxmlformats-officedocument.presentationml.tags+xml"/>
  <Override PartName="/ppt/tags/tag2003.xml" ContentType="application/vnd.openxmlformats-officedocument.presentationml.tags+xml"/>
  <Override PartName="/ppt/tags/tag2004.xml" ContentType="application/vnd.openxmlformats-officedocument.presentationml.tags+xml"/>
  <Override PartName="/ppt/tags/tag2005.xml" ContentType="application/vnd.openxmlformats-officedocument.presentationml.tags+xml"/>
  <Override PartName="/ppt/tags/tag2006.xml" ContentType="application/vnd.openxmlformats-officedocument.presentationml.tags+xml"/>
  <Override PartName="/ppt/tags/tag2007.xml" ContentType="application/vnd.openxmlformats-officedocument.presentationml.tags+xml"/>
  <Override PartName="/ppt/tags/tag2008.xml" ContentType="application/vnd.openxmlformats-officedocument.presentationml.tags+xml"/>
  <Override PartName="/ppt/tags/tag2009.xml" ContentType="application/vnd.openxmlformats-officedocument.presentationml.tags+xml"/>
  <Override PartName="/ppt/tags/tag201.xml" ContentType="application/vnd.openxmlformats-officedocument.presentationml.tags+xml"/>
  <Override PartName="/ppt/tags/tag2010.xml" ContentType="application/vnd.openxmlformats-officedocument.presentationml.tags+xml"/>
  <Override PartName="/ppt/tags/tag2011.xml" ContentType="application/vnd.openxmlformats-officedocument.presentationml.tags+xml"/>
  <Override PartName="/ppt/tags/tag2012.xml" ContentType="application/vnd.openxmlformats-officedocument.presentationml.tags+xml"/>
  <Override PartName="/ppt/tags/tag2013.xml" ContentType="application/vnd.openxmlformats-officedocument.presentationml.tags+xml"/>
  <Override PartName="/ppt/tags/tag2014.xml" ContentType="application/vnd.openxmlformats-officedocument.presentationml.tags+xml"/>
  <Override PartName="/ppt/tags/tag2015.xml" ContentType="application/vnd.openxmlformats-officedocument.presentationml.tags+xml"/>
  <Override PartName="/ppt/tags/tag2016.xml" ContentType="application/vnd.openxmlformats-officedocument.presentationml.tags+xml"/>
  <Override PartName="/ppt/tags/tag2017.xml" ContentType="application/vnd.openxmlformats-officedocument.presentationml.tags+xml"/>
  <Override PartName="/ppt/tags/tag2018.xml" ContentType="application/vnd.openxmlformats-officedocument.presentationml.tags+xml"/>
  <Override PartName="/ppt/tags/tag2019.xml" ContentType="application/vnd.openxmlformats-officedocument.presentationml.tags+xml"/>
  <Override PartName="/ppt/tags/tag202.xml" ContentType="application/vnd.openxmlformats-officedocument.presentationml.tags+xml"/>
  <Override PartName="/ppt/tags/tag2020.xml" ContentType="application/vnd.openxmlformats-officedocument.presentationml.tags+xml"/>
  <Override PartName="/ppt/tags/tag2021.xml" ContentType="application/vnd.openxmlformats-officedocument.presentationml.tags+xml"/>
  <Override PartName="/ppt/tags/tag2022.xml" ContentType="application/vnd.openxmlformats-officedocument.presentationml.tags+xml"/>
  <Override PartName="/ppt/tags/tag2023.xml" ContentType="application/vnd.openxmlformats-officedocument.presentationml.tags+xml"/>
  <Override PartName="/ppt/tags/tag2024.xml" ContentType="application/vnd.openxmlformats-officedocument.presentationml.tags+xml"/>
  <Override PartName="/ppt/tags/tag2025.xml" ContentType="application/vnd.openxmlformats-officedocument.presentationml.tags+xml"/>
  <Override PartName="/ppt/tags/tag2026.xml" ContentType="application/vnd.openxmlformats-officedocument.presentationml.tags+xml"/>
  <Override PartName="/ppt/tags/tag2027.xml" ContentType="application/vnd.openxmlformats-officedocument.presentationml.tags+xml"/>
  <Override PartName="/ppt/tags/tag2028.xml" ContentType="application/vnd.openxmlformats-officedocument.presentationml.tags+xml"/>
  <Override PartName="/ppt/tags/tag2029.xml" ContentType="application/vnd.openxmlformats-officedocument.presentationml.tags+xml"/>
  <Override PartName="/ppt/tags/tag203.xml" ContentType="application/vnd.openxmlformats-officedocument.presentationml.tags+xml"/>
  <Override PartName="/ppt/tags/tag2030.xml" ContentType="application/vnd.openxmlformats-officedocument.presentationml.tags+xml"/>
  <Override PartName="/ppt/tags/tag2031.xml" ContentType="application/vnd.openxmlformats-officedocument.presentationml.tags+xml"/>
  <Override PartName="/ppt/tags/tag2032.xml" ContentType="application/vnd.openxmlformats-officedocument.presentationml.tags+xml"/>
  <Override PartName="/ppt/tags/tag2033.xml" ContentType="application/vnd.openxmlformats-officedocument.presentationml.tags+xml"/>
  <Override PartName="/ppt/tags/tag2034.xml" ContentType="application/vnd.openxmlformats-officedocument.presentationml.tags+xml"/>
  <Override PartName="/ppt/tags/tag2035.xml" ContentType="application/vnd.openxmlformats-officedocument.presentationml.tags+xml"/>
  <Override PartName="/ppt/tags/tag2036.xml" ContentType="application/vnd.openxmlformats-officedocument.presentationml.tags+xml"/>
  <Override PartName="/ppt/tags/tag2037.xml" ContentType="application/vnd.openxmlformats-officedocument.presentationml.tags+xml"/>
  <Override PartName="/ppt/tags/tag2038.xml" ContentType="application/vnd.openxmlformats-officedocument.presentationml.tags+xml"/>
  <Override PartName="/ppt/tags/tag2039.xml" ContentType="application/vnd.openxmlformats-officedocument.presentationml.tags+xml"/>
  <Override PartName="/ppt/tags/tag204.xml" ContentType="application/vnd.openxmlformats-officedocument.presentationml.tags+xml"/>
  <Override PartName="/ppt/tags/tag2040.xml" ContentType="application/vnd.openxmlformats-officedocument.presentationml.tags+xml"/>
  <Override PartName="/ppt/tags/tag2041.xml" ContentType="application/vnd.openxmlformats-officedocument.presentationml.tags+xml"/>
  <Override PartName="/ppt/tags/tag2042.xml" ContentType="application/vnd.openxmlformats-officedocument.presentationml.tags+xml"/>
  <Override PartName="/ppt/tags/tag2043.xml" ContentType="application/vnd.openxmlformats-officedocument.presentationml.tags+xml"/>
  <Override PartName="/ppt/tags/tag2044.xml" ContentType="application/vnd.openxmlformats-officedocument.presentationml.tags+xml"/>
  <Override PartName="/ppt/tags/tag2045.xml" ContentType="application/vnd.openxmlformats-officedocument.presentationml.tags+xml"/>
  <Override PartName="/ppt/tags/tag2046.xml" ContentType="application/vnd.openxmlformats-officedocument.presentationml.tags+xml"/>
  <Override PartName="/ppt/tags/tag2047.xml" ContentType="application/vnd.openxmlformats-officedocument.presentationml.tags+xml"/>
  <Override PartName="/ppt/tags/tag2048.xml" ContentType="application/vnd.openxmlformats-officedocument.presentationml.tags+xml"/>
  <Override PartName="/ppt/tags/tag2049.xml" ContentType="application/vnd.openxmlformats-officedocument.presentationml.tags+xml"/>
  <Override PartName="/ppt/tags/tag205.xml" ContentType="application/vnd.openxmlformats-officedocument.presentationml.tags+xml"/>
  <Override PartName="/ppt/tags/tag2050.xml" ContentType="application/vnd.openxmlformats-officedocument.presentationml.tags+xml"/>
  <Override PartName="/ppt/tags/tag2051.xml" ContentType="application/vnd.openxmlformats-officedocument.presentationml.tags+xml"/>
  <Override PartName="/ppt/tags/tag2052.xml" ContentType="application/vnd.openxmlformats-officedocument.presentationml.tags+xml"/>
  <Override PartName="/ppt/tags/tag2053.xml" ContentType="application/vnd.openxmlformats-officedocument.presentationml.tags+xml"/>
  <Override PartName="/ppt/tags/tag2054.xml" ContentType="application/vnd.openxmlformats-officedocument.presentationml.tags+xml"/>
  <Override PartName="/ppt/tags/tag2055.xml" ContentType="application/vnd.openxmlformats-officedocument.presentationml.tags+xml"/>
  <Override PartName="/ppt/tags/tag2056.xml" ContentType="application/vnd.openxmlformats-officedocument.presentationml.tags+xml"/>
  <Override PartName="/ppt/tags/tag2057.xml" ContentType="application/vnd.openxmlformats-officedocument.presentationml.tags+xml"/>
  <Override PartName="/ppt/tags/tag2058.xml" ContentType="application/vnd.openxmlformats-officedocument.presentationml.tags+xml"/>
  <Override PartName="/ppt/tags/tag2059.xml" ContentType="application/vnd.openxmlformats-officedocument.presentationml.tags+xml"/>
  <Override PartName="/ppt/tags/tag206.xml" ContentType="application/vnd.openxmlformats-officedocument.presentationml.tags+xml"/>
  <Override PartName="/ppt/tags/tag2060.xml" ContentType="application/vnd.openxmlformats-officedocument.presentationml.tags+xml"/>
  <Override PartName="/ppt/tags/tag2061.xml" ContentType="application/vnd.openxmlformats-officedocument.presentationml.tags+xml"/>
  <Override PartName="/ppt/tags/tag2062.xml" ContentType="application/vnd.openxmlformats-officedocument.presentationml.tags+xml"/>
  <Override PartName="/ppt/tags/tag2063.xml" ContentType="application/vnd.openxmlformats-officedocument.presentationml.tags+xml"/>
  <Override PartName="/ppt/tags/tag2064.xml" ContentType="application/vnd.openxmlformats-officedocument.presentationml.tags+xml"/>
  <Override PartName="/ppt/tags/tag2065.xml" ContentType="application/vnd.openxmlformats-officedocument.presentationml.tags+xml"/>
  <Override PartName="/ppt/tags/tag2066.xml" ContentType="application/vnd.openxmlformats-officedocument.presentationml.tags+xml"/>
  <Override PartName="/ppt/tags/tag2067.xml" ContentType="application/vnd.openxmlformats-officedocument.presentationml.tags+xml"/>
  <Override PartName="/ppt/tags/tag2068.xml" ContentType="application/vnd.openxmlformats-officedocument.presentationml.tags+xml"/>
  <Override PartName="/ppt/tags/tag2069.xml" ContentType="application/vnd.openxmlformats-officedocument.presentationml.tags+xml"/>
  <Override PartName="/ppt/tags/tag207.xml" ContentType="application/vnd.openxmlformats-officedocument.presentationml.tags+xml"/>
  <Override PartName="/ppt/tags/tag2070.xml" ContentType="application/vnd.openxmlformats-officedocument.presentationml.tags+xml"/>
  <Override PartName="/ppt/tags/tag2071.xml" ContentType="application/vnd.openxmlformats-officedocument.presentationml.tags+xml"/>
  <Override PartName="/ppt/tags/tag2072.xml" ContentType="application/vnd.openxmlformats-officedocument.presentationml.tags+xml"/>
  <Override PartName="/ppt/tags/tag2073.xml" ContentType="application/vnd.openxmlformats-officedocument.presentationml.tags+xml"/>
  <Override PartName="/ppt/tags/tag2074.xml" ContentType="application/vnd.openxmlformats-officedocument.presentationml.tags+xml"/>
  <Override PartName="/ppt/tags/tag2075.xml" ContentType="application/vnd.openxmlformats-officedocument.presentationml.tags+xml"/>
  <Override PartName="/ppt/tags/tag2076.xml" ContentType="application/vnd.openxmlformats-officedocument.presentationml.tags+xml"/>
  <Override PartName="/ppt/tags/tag2077.xml" ContentType="application/vnd.openxmlformats-officedocument.presentationml.tags+xml"/>
  <Override PartName="/ppt/tags/tag2078.xml" ContentType="application/vnd.openxmlformats-officedocument.presentationml.tags+xml"/>
  <Override PartName="/ppt/tags/tag2079.xml" ContentType="application/vnd.openxmlformats-officedocument.presentationml.tags+xml"/>
  <Override PartName="/ppt/tags/tag208.xml" ContentType="application/vnd.openxmlformats-officedocument.presentationml.tags+xml"/>
  <Override PartName="/ppt/tags/tag2080.xml" ContentType="application/vnd.openxmlformats-officedocument.presentationml.tags+xml"/>
  <Override PartName="/ppt/tags/tag2081.xml" ContentType="application/vnd.openxmlformats-officedocument.presentationml.tags+xml"/>
  <Override PartName="/ppt/tags/tag2082.xml" ContentType="application/vnd.openxmlformats-officedocument.presentationml.tags+xml"/>
  <Override PartName="/ppt/tags/tag2083.xml" ContentType="application/vnd.openxmlformats-officedocument.presentationml.tags+xml"/>
  <Override PartName="/ppt/tags/tag2084.xml" ContentType="application/vnd.openxmlformats-officedocument.presentationml.tags+xml"/>
  <Override PartName="/ppt/tags/tag2085.xml" ContentType="application/vnd.openxmlformats-officedocument.presentationml.tags+xml"/>
  <Override PartName="/ppt/tags/tag2086.xml" ContentType="application/vnd.openxmlformats-officedocument.presentationml.tags+xml"/>
  <Override PartName="/ppt/tags/tag2087.xml" ContentType="application/vnd.openxmlformats-officedocument.presentationml.tags+xml"/>
  <Override PartName="/ppt/tags/tag2088.xml" ContentType="application/vnd.openxmlformats-officedocument.presentationml.tags+xml"/>
  <Override PartName="/ppt/tags/tag2089.xml" ContentType="application/vnd.openxmlformats-officedocument.presentationml.tags+xml"/>
  <Override PartName="/ppt/tags/tag209.xml" ContentType="application/vnd.openxmlformats-officedocument.presentationml.tags+xml"/>
  <Override PartName="/ppt/tags/tag2090.xml" ContentType="application/vnd.openxmlformats-officedocument.presentationml.tags+xml"/>
  <Override PartName="/ppt/tags/tag2091.xml" ContentType="application/vnd.openxmlformats-officedocument.presentationml.tags+xml"/>
  <Override PartName="/ppt/tags/tag2092.xml" ContentType="application/vnd.openxmlformats-officedocument.presentationml.tags+xml"/>
  <Override PartName="/ppt/tags/tag2093.xml" ContentType="application/vnd.openxmlformats-officedocument.presentationml.tags+xml"/>
  <Override PartName="/ppt/tags/tag2094.xml" ContentType="application/vnd.openxmlformats-officedocument.presentationml.tags+xml"/>
  <Override PartName="/ppt/tags/tag2095.xml" ContentType="application/vnd.openxmlformats-officedocument.presentationml.tags+xml"/>
  <Override PartName="/ppt/tags/tag2096.xml" ContentType="application/vnd.openxmlformats-officedocument.presentationml.tags+xml"/>
  <Override PartName="/ppt/tags/tag2097.xml" ContentType="application/vnd.openxmlformats-officedocument.presentationml.tags+xml"/>
  <Override PartName="/ppt/tags/tag2098.xml" ContentType="application/vnd.openxmlformats-officedocument.presentationml.tags+xml"/>
  <Override PartName="/ppt/tags/tag209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00.xml" ContentType="application/vnd.openxmlformats-officedocument.presentationml.tags+xml"/>
  <Override PartName="/ppt/tags/tag2101.xml" ContentType="application/vnd.openxmlformats-officedocument.presentationml.tags+xml"/>
  <Override PartName="/ppt/tags/tag2102.xml" ContentType="application/vnd.openxmlformats-officedocument.presentationml.tags+xml"/>
  <Override PartName="/ppt/tags/tag2103.xml" ContentType="application/vnd.openxmlformats-officedocument.presentationml.tags+xml"/>
  <Override PartName="/ppt/tags/tag2104.xml" ContentType="application/vnd.openxmlformats-officedocument.presentationml.tags+xml"/>
  <Override PartName="/ppt/tags/tag2105.xml" ContentType="application/vnd.openxmlformats-officedocument.presentationml.tags+xml"/>
  <Override PartName="/ppt/tags/tag2106.xml" ContentType="application/vnd.openxmlformats-officedocument.presentationml.tags+xml"/>
  <Override PartName="/ppt/tags/tag2107.xml" ContentType="application/vnd.openxmlformats-officedocument.presentationml.tags+xml"/>
  <Override PartName="/ppt/tags/tag2108.xml" ContentType="application/vnd.openxmlformats-officedocument.presentationml.tags+xml"/>
  <Override PartName="/ppt/tags/tag2109.xml" ContentType="application/vnd.openxmlformats-officedocument.presentationml.tags+xml"/>
  <Override PartName="/ppt/tags/tag211.xml" ContentType="application/vnd.openxmlformats-officedocument.presentationml.tags+xml"/>
  <Override PartName="/ppt/tags/tag2110.xml" ContentType="application/vnd.openxmlformats-officedocument.presentationml.tags+xml"/>
  <Override PartName="/ppt/tags/tag2111.xml" ContentType="application/vnd.openxmlformats-officedocument.presentationml.tags+xml"/>
  <Override PartName="/ppt/tags/tag2112.xml" ContentType="application/vnd.openxmlformats-officedocument.presentationml.tags+xml"/>
  <Override PartName="/ppt/tags/tag2113.xml" ContentType="application/vnd.openxmlformats-officedocument.presentationml.tags+xml"/>
  <Override PartName="/ppt/tags/tag2114.xml" ContentType="application/vnd.openxmlformats-officedocument.presentationml.tags+xml"/>
  <Override PartName="/ppt/tags/tag2115.xml" ContentType="application/vnd.openxmlformats-officedocument.presentationml.tags+xml"/>
  <Override PartName="/ppt/tags/tag2116.xml" ContentType="application/vnd.openxmlformats-officedocument.presentationml.tags+xml"/>
  <Override PartName="/ppt/tags/tag2117.xml" ContentType="application/vnd.openxmlformats-officedocument.presentationml.tags+xml"/>
  <Override PartName="/ppt/tags/tag2118.xml" ContentType="application/vnd.openxmlformats-officedocument.presentationml.tags+xml"/>
  <Override PartName="/ppt/tags/tag2119.xml" ContentType="application/vnd.openxmlformats-officedocument.presentationml.tags+xml"/>
  <Override PartName="/ppt/tags/tag212.xml" ContentType="application/vnd.openxmlformats-officedocument.presentationml.tags+xml"/>
  <Override PartName="/ppt/tags/tag2120.xml" ContentType="application/vnd.openxmlformats-officedocument.presentationml.tags+xml"/>
  <Override PartName="/ppt/tags/tag2121.xml" ContentType="application/vnd.openxmlformats-officedocument.presentationml.tags+xml"/>
  <Override PartName="/ppt/tags/tag2122.xml" ContentType="application/vnd.openxmlformats-officedocument.presentationml.tags+xml"/>
  <Override PartName="/ppt/tags/tag2123.xml" ContentType="application/vnd.openxmlformats-officedocument.presentationml.tags+xml"/>
  <Override PartName="/ppt/tags/tag2124.xml" ContentType="application/vnd.openxmlformats-officedocument.presentationml.tags+xml"/>
  <Override PartName="/ppt/tags/tag2125.xml" ContentType="application/vnd.openxmlformats-officedocument.presentationml.tags+xml"/>
  <Override PartName="/ppt/tags/tag2126.xml" ContentType="application/vnd.openxmlformats-officedocument.presentationml.tags+xml"/>
  <Override PartName="/ppt/tags/tag2127.xml" ContentType="application/vnd.openxmlformats-officedocument.presentationml.tags+xml"/>
  <Override PartName="/ppt/tags/tag2128.xml" ContentType="application/vnd.openxmlformats-officedocument.presentationml.tags+xml"/>
  <Override PartName="/ppt/tags/tag2129.xml" ContentType="application/vnd.openxmlformats-officedocument.presentationml.tags+xml"/>
  <Override PartName="/ppt/tags/tag213.xml" ContentType="application/vnd.openxmlformats-officedocument.presentationml.tags+xml"/>
  <Override PartName="/ppt/tags/tag2130.xml" ContentType="application/vnd.openxmlformats-officedocument.presentationml.tags+xml"/>
  <Override PartName="/ppt/tags/tag2131.xml" ContentType="application/vnd.openxmlformats-officedocument.presentationml.tags+xml"/>
  <Override PartName="/ppt/tags/tag2132.xml" ContentType="application/vnd.openxmlformats-officedocument.presentationml.tags+xml"/>
  <Override PartName="/ppt/tags/tag2133.xml" ContentType="application/vnd.openxmlformats-officedocument.presentationml.tags+xml"/>
  <Override PartName="/ppt/tags/tag2134.xml" ContentType="application/vnd.openxmlformats-officedocument.presentationml.tags+xml"/>
  <Override PartName="/ppt/tags/tag2135.xml" ContentType="application/vnd.openxmlformats-officedocument.presentationml.tags+xml"/>
  <Override PartName="/ppt/tags/tag2136.xml" ContentType="application/vnd.openxmlformats-officedocument.presentationml.tags+xml"/>
  <Override PartName="/ppt/tags/tag2137.xml" ContentType="application/vnd.openxmlformats-officedocument.presentationml.tags+xml"/>
  <Override PartName="/ppt/tags/tag2138.xml" ContentType="application/vnd.openxmlformats-officedocument.presentationml.tags+xml"/>
  <Override PartName="/ppt/tags/tag2139.xml" ContentType="application/vnd.openxmlformats-officedocument.presentationml.tags+xml"/>
  <Override PartName="/ppt/tags/tag214.xml" ContentType="application/vnd.openxmlformats-officedocument.presentationml.tags+xml"/>
  <Override PartName="/ppt/tags/tag2140.xml" ContentType="application/vnd.openxmlformats-officedocument.presentationml.tags+xml"/>
  <Override PartName="/ppt/tags/tag2141.xml" ContentType="application/vnd.openxmlformats-officedocument.presentationml.tags+xml"/>
  <Override PartName="/ppt/tags/tag2142.xml" ContentType="application/vnd.openxmlformats-officedocument.presentationml.tags+xml"/>
  <Override PartName="/ppt/tags/tag2143.xml" ContentType="application/vnd.openxmlformats-officedocument.presentationml.tags+xml"/>
  <Override PartName="/ppt/tags/tag2144.xml" ContentType="application/vnd.openxmlformats-officedocument.presentationml.tags+xml"/>
  <Override PartName="/ppt/tags/tag2145.xml" ContentType="application/vnd.openxmlformats-officedocument.presentationml.tags+xml"/>
  <Override PartName="/ppt/tags/tag2146.xml" ContentType="application/vnd.openxmlformats-officedocument.presentationml.tags+xml"/>
  <Override PartName="/ppt/tags/tag2147.xml" ContentType="application/vnd.openxmlformats-officedocument.presentationml.tags+xml"/>
  <Override PartName="/ppt/tags/tag2148.xml" ContentType="application/vnd.openxmlformats-officedocument.presentationml.tags+xml"/>
  <Override PartName="/ppt/tags/tag2149.xml" ContentType="application/vnd.openxmlformats-officedocument.presentationml.tags+xml"/>
  <Override PartName="/ppt/tags/tag215.xml" ContentType="application/vnd.openxmlformats-officedocument.presentationml.tags+xml"/>
  <Override PartName="/ppt/tags/tag2150.xml" ContentType="application/vnd.openxmlformats-officedocument.presentationml.tags+xml"/>
  <Override PartName="/ppt/tags/tag2151.xml" ContentType="application/vnd.openxmlformats-officedocument.presentationml.tags+xml"/>
  <Override PartName="/ppt/tags/tag2152.xml" ContentType="application/vnd.openxmlformats-officedocument.presentationml.tags+xml"/>
  <Override PartName="/ppt/tags/tag2153.xml" ContentType="application/vnd.openxmlformats-officedocument.presentationml.tags+xml"/>
  <Override PartName="/ppt/tags/tag2154.xml" ContentType="application/vnd.openxmlformats-officedocument.presentationml.tags+xml"/>
  <Override PartName="/ppt/tags/tag2155.xml" ContentType="application/vnd.openxmlformats-officedocument.presentationml.tags+xml"/>
  <Override PartName="/ppt/tags/tag2156.xml" ContentType="application/vnd.openxmlformats-officedocument.presentationml.tags+xml"/>
  <Override PartName="/ppt/tags/tag2157.xml" ContentType="application/vnd.openxmlformats-officedocument.presentationml.tags+xml"/>
  <Override PartName="/ppt/tags/tag2158.xml" ContentType="application/vnd.openxmlformats-officedocument.presentationml.tags+xml"/>
  <Override PartName="/ppt/tags/tag2159.xml" ContentType="application/vnd.openxmlformats-officedocument.presentationml.tags+xml"/>
  <Override PartName="/ppt/tags/tag216.xml" ContentType="application/vnd.openxmlformats-officedocument.presentationml.tags+xml"/>
  <Override PartName="/ppt/tags/tag2160.xml" ContentType="application/vnd.openxmlformats-officedocument.presentationml.tags+xml"/>
  <Override PartName="/ppt/tags/tag2161.xml" ContentType="application/vnd.openxmlformats-officedocument.presentationml.tags+xml"/>
  <Override PartName="/ppt/tags/tag2162.xml" ContentType="application/vnd.openxmlformats-officedocument.presentationml.tags+xml"/>
  <Override PartName="/ppt/tags/tag2163.xml" ContentType="application/vnd.openxmlformats-officedocument.presentationml.tags+xml"/>
  <Override PartName="/ppt/tags/tag2164.xml" ContentType="application/vnd.openxmlformats-officedocument.presentationml.tags+xml"/>
  <Override PartName="/ppt/tags/tag2165.xml" ContentType="application/vnd.openxmlformats-officedocument.presentationml.tags+xml"/>
  <Override PartName="/ppt/tags/tag2166.xml" ContentType="application/vnd.openxmlformats-officedocument.presentationml.tags+xml"/>
  <Override PartName="/ppt/tags/tag2167.xml" ContentType="application/vnd.openxmlformats-officedocument.presentationml.tags+xml"/>
  <Override PartName="/ppt/tags/tag2168.xml" ContentType="application/vnd.openxmlformats-officedocument.presentationml.tags+xml"/>
  <Override PartName="/ppt/tags/tag2169.xml" ContentType="application/vnd.openxmlformats-officedocument.presentationml.tags+xml"/>
  <Override PartName="/ppt/tags/tag217.xml" ContentType="application/vnd.openxmlformats-officedocument.presentationml.tags+xml"/>
  <Override PartName="/ppt/tags/tag2170.xml" ContentType="application/vnd.openxmlformats-officedocument.presentationml.tags+xml"/>
  <Override PartName="/ppt/tags/tag2171.xml" ContentType="application/vnd.openxmlformats-officedocument.presentationml.tags+xml"/>
  <Override PartName="/ppt/tags/tag2172.xml" ContentType="application/vnd.openxmlformats-officedocument.presentationml.tags+xml"/>
  <Override PartName="/ppt/tags/tag2173.xml" ContentType="application/vnd.openxmlformats-officedocument.presentationml.tags+xml"/>
  <Override PartName="/ppt/tags/tag2174.xml" ContentType="application/vnd.openxmlformats-officedocument.presentationml.tags+xml"/>
  <Override PartName="/ppt/tags/tag2175.xml" ContentType="application/vnd.openxmlformats-officedocument.presentationml.tags+xml"/>
  <Override PartName="/ppt/tags/tag2176.xml" ContentType="application/vnd.openxmlformats-officedocument.presentationml.tags+xml"/>
  <Override PartName="/ppt/tags/tag2177.xml" ContentType="application/vnd.openxmlformats-officedocument.presentationml.tags+xml"/>
  <Override PartName="/ppt/tags/tag2178.xml" ContentType="application/vnd.openxmlformats-officedocument.presentationml.tags+xml"/>
  <Override PartName="/ppt/tags/tag2179.xml" ContentType="application/vnd.openxmlformats-officedocument.presentationml.tags+xml"/>
  <Override PartName="/ppt/tags/tag218.xml" ContentType="application/vnd.openxmlformats-officedocument.presentationml.tags+xml"/>
  <Override PartName="/ppt/tags/tag2180.xml" ContentType="application/vnd.openxmlformats-officedocument.presentationml.tags+xml"/>
  <Override PartName="/ppt/tags/tag2181.xml" ContentType="application/vnd.openxmlformats-officedocument.presentationml.tags+xml"/>
  <Override PartName="/ppt/tags/tag2182.xml" ContentType="application/vnd.openxmlformats-officedocument.presentationml.tags+xml"/>
  <Override PartName="/ppt/tags/tag2183.xml" ContentType="application/vnd.openxmlformats-officedocument.presentationml.tags+xml"/>
  <Override PartName="/ppt/tags/tag2184.xml" ContentType="application/vnd.openxmlformats-officedocument.presentationml.tags+xml"/>
  <Override PartName="/ppt/tags/tag2185.xml" ContentType="application/vnd.openxmlformats-officedocument.presentationml.tags+xml"/>
  <Override PartName="/ppt/tags/tag2186.xml" ContentType="application/vnd.openxmlformats-officedocument.presentationml.tags+xml"/>
  <Override PartName="/ppt/tags/tag2187.xml" ContentType="application/vnd.openxmlformats-officedocument.presentationml.tags+xml"/>
  <Override PartName="/ppt/tags/tag2188.xml" ContentType="application/vnd.openxmlformats-officedocument.presentationml.tags+xml"/>
  <Override PartName="/ppt/tags/tag2189.xml" ContentType="application/vnd.openxmlformats-officedocument.presentationml.tags+xml"/>
  <Override PartName="/ppt/tags/tag219.xml" ContentType="application/vnd.openxmlformats-officedocument.presentationml.tags+xml"/>
  <Override PartName="/ppt/tags/tag2190.xml" ContentType="application/vnd.openxmlformats-officedocument.presentationml.tags+xml"/>
  <Override PartName="/ppt/tags/tag2191.xml" ContentType="application/vnd.openxmlformats-officedocument.presentationml.tags+xml"/>
  <Override PartName="/ppt/tags/tag2192.xml" ContentType="application/vnd.openxmlformats-officedocument.presentationml.tags+xml"/>
  <Override PartName="/ppt/tags/tag2193.xml" ContentType="application/vnd.openxmlformats-officedocument.presentationml.tags+xml"/>
  <Override PartName="/ppt/tags/tag2194.xml" ContentType="application/vnd.openxmlformats-officedocument.presentationml.tags+xml"/>
  <Override PartName="/ppt/tags/tag2195.xml" ContentType="application/vnd.openxmlformats-officedocument.presentationml.tags+xml"/>
  <Override PartName="/ppt/tags/tag2196.xml" ContentType="application/vnd.openxmlformats-officedocument.presentationml.tags+xml"/>
  <Override PartName="/ppt/tags/tag2197.xml" ContentType="application/vnd.openxmlformats-officedocument.presentationml.tags+xml"/>
  <Override PartName="/ppt/tags/tag2198.xml" ContentType="application/vnd.openxmlformats-officedocument.presentationml.tags+xml"/>
  <Override PartName="/ppt/tags/tag219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00.xml" ContentType="application/vnd.openxmlformats-officedocument.presentationml.tags+xml"/>
  <Override PartName="/ppt/tags/tag2201.xml" ContentType="application/vnd.openxmlformats-officedocument.presentationml.tags+xml"/>
  <Override PartName="/ppt/tags/tag2202.xml" ContentType="application/vnd.openxmlformats-officedocument.presentationml.tags+xml"/>
  <Override PartName="/ppt/tags/tag2203.xml" ContentType="application/vnd.openxmlformats-officedocument.presentationml.tags+xml"/>
  <Override PartName="/ppt/tags/tag2204.xml" ContentType="application/vnd.openxmlformats-officedocument.presentationml.tags+xml"/>
  <Override PartName="/ppt/tags/tag2205.xml" ContentType="application/vnd.openxmlformats-officedocument.presentationml.tags+xml"/>
  <Override PartName="/ppt/tags/tag2206.xml" ContentType="application/vnd.openxmlformats-officedocument.presentationml.tags+xml"/>
  <Override PartName="/ppt/tags/tag2207.xml" ContentType="application/vnd.openxmlformats-officedocument.presentationml.tags+xml"/>
  <Override PartName="/ppt/tags/tag2208.xml" ContentType="application/vnd.openxmlformats-officedocument.presentationml.tags+xml"/>
  <Override PartName="/ppt/tags/tag2209.xml" ContentType="application/vnd.openxmlformats-officedocument.presentationml.tags+xml"/>
  <Override PartName="/ppt/tags/tag221.xml" ContentType="application/vnd.openxmlformats-officedocument.presentationml.tags+xml"/>
  <Override PartName="/ppt/tags/tag2210.xml" ContentType="application/vnd.openxmlformats-officedocument.presentationml.tags+xml"/>
  <Override PartName="/ppt/tags/tag2211.xml" ContentType="application/vnd.openxmlformats-officedocument.presentationml.tags+xml"/>
  <Override PartName="/ppt/tags/tag2212.xml" ContentType="application/vnd.openxmlformats-officedocument.presentationml.tags+xml"/>
  <Override PartName="/ppt/tags/tag2213.xml" ContentType="application/vnd.openxmlformats-officedocument.presentationml.tags+xml"/>
  <Override PartName="/ppt/tags/tag2214.xml" ContentType="application/vnd.openxmlformats-officedocument.presentationml.tags+xml"/>
  <Override PartName="/ppt/tags/tag2215.xml" ContentType="application/vnd.openxmlformats-officedocument.presentationml.tags+xml"/>
  <Override PartName="/ppt/tags/tag2216.xml" ContentType="application/vnd.openxmlformats-officedocument.presentationml.tags+xml"/>
  <Override PartName="/ppt/tags/tag2217.xml" ContentType="application/vnd.openxmlformats-officedocument.presentationml.tags+xml"/>
  <Override PartName="/ppt/tags/tag2218.xml" ContentType="application/vnd.openxmlformats-officedocument.presentationml.tags+xml"/>
  <Override PartName="/ppt/tags/tag2219.xml" ContentType="application/vnd.openxmlformats-officedocument.presentationml.tags+xml"/>
  <Override PartName="/ppt/tags/tag222.xml" ContentType="application/vnd.openxmlformats-officedocument.presentationml.tags+xml"/>
  <Override PartName="/ppt/tags/tag2220.xml" ContentType="application/vnd.openxmlformats-officedocument.presentationml.tags+xml"/>
  <Override PartName="/ppt/tags/tag2221.xml" ContentType="application/vnd.openxmlformats-officedocument.presentationml.tags+xml"/>
  <Override PartName="/ppt/tags/tag2222.xml" ContentType="application/vnd.openxmlformats-officedocument.presentationml.tags+xml"/>
  <Override PartName="/ppt/tags/tag2223.xml" ContentType="application/vnd.openxmlformats-officedocument.presentationml.tags+xml"/>
  <Override PartName="/ppt/tags/tag2224.xml" ContentType="application/vnd.openxmlformats-officedocument.presentationml.tags+xml"/>
  <Override PartName="/ppt/tags/tag2225.xml" ContentType="application/vnd.openxmlformats-officedocument.presentationml.tags+xml"/>
  <Override PartName="/ppt/tags/tag2226.xml" ContentType="application/vnd.openxmlformats-officedocument.presentationml.tags+xml"/>
  <Override PartName="/ppt/tags/tag2227.xml" ContentType="application/vnd.openxmlformats-officedocument.presentationml.tags+xml"/>
  <Override PartName="/ppt/tags/tag2228.xml" ContentType="application/vnd.openxmlformats-officedocument.presentationml.tags+xml"/>
  <Override PartName="/ppt/tags/tag2229.xml" ContentType="application/vnd.openxmlformats-officedocument.presentationml.tags+xml"/>
  <Override PartName="/ppt/tags/tag223.xml" ContentType="application/vnd.openxmlformats-officedocument.presentationml.tags+xml"/>
  <Override PartName="/ppt/tags/tag2230.xml" ContentType="application/vnd.openxmlformats-officedocument.presentationml.tags+xml"/>
  <Override PartName="/ppt/tags/tag2231.xml" ContentType="application/vnd.openxmlformats-officedocument.presentationml.tags+xml"/>
  <Override PartName="/ppt/tags/tag2232.xml" ContentType="application/vnd.openxmlformats-officedocument.presentationml.tags+xml"/>
  <Override PartName="/ppt/tags/tag2233.xml" ContentType="application/vnd.openxmlformats-officedocument.presentationml.tags+xml"/>
  <Override PartName="/ppt/tags/tag2234.xml" ContentType="application/vnd.openxmlformats-officedocument.presentationml.tags+xml"/>
  <Override PartName="/ppt/tags/tag2235.xml" ContentType="application/vnd.openxmlformats-officedocument.presentationml.tags+xml"/>
  <Override PartName="/ppt/tags/tag2236.xml" ContentType="application/vnd.openxmlformats-officedocument.presentationml.tags+xml"/>
  <Override PartName="/ppt/tags/tag2237.xml" ContentType="application/vnd.openxmlformats-officedocument.presentationml.tags+xml"/>
  <Override PartName="/ppt/tags/tag2238.xml" ContentType="application/vnd.openxmlformats-officedocument.presentationml.tags+xml"/>
  <Override PartName="/ppt/tags/tag2239.xml" ContentType="application/vnd.openxmlformats-officedocument.presentationml.tags+xml"/>
  <Override PartName="/ppt/tags/tag224.xml" ContentType="application/vnd.openxmlformats-officedocument.presentationml.tags+xml"/>
  <Override PartName="/ppt/tags/tag2240.xml" ContentType="application/vnd.openxmlformats-officedocument.presentationml.tags+xml"/>
  <Override PartName="/ppt/tags/tag2241.xml" ContentType="application/vnd.openxmlformats-officedocument.presentationml.tags+xml"/>
  <Override PartName="/ppt/tags/tag2242.xml" ContentType="application/vnd.openxmlformats-officedocument.presentationml.tags+xml"/>
  <Override PartName="/ppt/tags/tag2243.xml" ContentType="application/vnd.openxmlformats-officedocument.presentationml.tags+xml"/>
  <Override PartName="/ppt/tags/tag2244.xml" ContentType="application/vnd.openxmlformats-officedocument.presentationml.tags+xml"/>
  <Override PartName="/ppt/tags/tag2245.xml" ContentType="application/vnd.openxmlformats-officedocument.presentationml.tags+xml"/>
  <Override PartName="/ppt/tags/tag2246.xml" ContentType="application/vnd.openxmlformats-officedocument.presentationml.tags+xml"/>
  <Override PartName="/ppt/tags/tag2247.xml" ContentType="application/vnd.openxmlformats-officedocument.presentationml.tags+xml"/>
  <Override PartName="/ppt/tags/tag2248.xml" ContentType="application/vnd.openxmlformats-officedocument.presentationml.tags+xml"/>
  <Override PartName="/ppt/tags/tag2249.xml" ContentType="application/vnd.openxmlformats-officedocument.presentationml.tags+xml"/>
  <Override PartName="/ppt/tags/tag225.xml" ContentType="application/vnd.openxmlformats-officedocument.presentationml.tags+xml"/>
  <Override PartName="/ppt/tags/tag2250.xml" ContentType="application/vnd.openxmlformats-officedocument.presentationml.tags+xml"/>
  <Override PartName="/ppt/tags/tag2251.xml" ContentType="application/vnd.openxmlformats-officedocument.presentationml.tags+xml"/>
  <Override PartName="/ppt/tags/tag2252.xml" ContentType="application/vnd.openxmlformats-officedocument.presentationml.tags+xml"/>
  <Override PartName="/ppt/tags/tag2253.xml" ContentType="application/vnd.openxmlformats-officedocument.presentationml.tags+xml"/>
  <Override PartName="/ppt/tags/tag2254.xml" ContentType="application/vnd.openxmlformats-officedocument.presentationml.tags+xml"/>
  <Override PartName="/ppt/tags/tag2255.xml" ContentType="application/vnd.openxmlformats-officedocument.presentationml.tags+xml"/>
  <Override PartName="/ppt/tags/tag2256.xml" ContentType="application/vnd.openxmlformats-officedocument.presentationml.tags+xml"/>
  <Override PartName="/ppt/tags/tag2257.xml" ContentType="application/vnd.openxmlformats-officedocument.presentationml.tags+xml"/>
  <Override PartName="/ppt/tags/tag2258.xml" ContentType="application/vnd.openxmlformats-officedocument.presentationml.tags+xml"/>
  <Override PartName="/ppt/tags/tag2259.xml" ContentType="application/vnd.openxmlformats-officedocument.presentationml.tags+xml"/>
  <Override PartName="/ppt/tags/tag226.xml" ContentType="application/vnd.openxmlformats-officedocument.presentationml.tags+xml"/>
  <Override PartName="/ppt/tags/tag2260.xml" ContentType="application/vnd.openxmlformats-officedocument.presentationml.tags+xml"/>
  <Override PartName="/ppt/tags/tag2261.xml" ContentType="application/vnd.openxmlformats-officedocument.presentationml.tags+xml"/>
  <Override PartName="/ppt/tags/tag2262.xml" ContentType="application/vnd.openxmlformats-officedocument.presentationml.tags+xml"/>
  <Override PartName="/ppt/tags/tag2263.xml" ContentType="application/vnd.openxmlformats-officedocument.presentationml.tags+xml"/>
  <Override PartName="/ppt/tags/tag2264.xml" ContentType="application/vnd.openxmlformats-officedocument.presentationml.tags+xml"/>
  <Override PartName="/ppt/tags/tag2265.xml" ContentType="application/vnd.openxmlformats-officedocument.presentationml.tags+xml"/>
  <Override PartName="/ppt/tags/tag2266.xml" ContentType="application/vnd.openxmlformats-officedocument.presentationml.tags+xml"/>
  <Override PartName="/ppt/tags/tag2267.xml" ContentType="application/vnd.openxmlformats-officedocument.presentationml.tags+xml"/>
  <Override PartName="/ppt/tags/tag2268.xml" ContentType="application/vnd.openxmlformats-officedocument.presentationml.tags+xml"/>
  <Override PartName="/ppt/tags/tag2269.xml" ContentType="application/vnd.openxmlformats-officedocument.presentationml.tags+xml"/>
  <Override PartName="/ppt/tags/tag227.xml" ContentType="application/vnd.openxmlformats-officedocument.presentationml.tags+xml"/>
  <Override PartName="/ppt/tags/tag2270.xml" ContentType="application/vnd.openxmlformats-officedocument.presentationml.tags+xml"/>
  <Override PartName="/ppt/tags/tag2271.xml" ContentType="application/vnd.openxmlformats-officedocument.presentationml.tags+xml"/>
  <Override PartName="/ppt/tags/tag2272.xml" ContentType="application/vnd.openxmlformats-officedocument.presentationml.tags+xml"/>
  <Override PartName="/ppt/tags/tag2273.xml" ContentType="application/vnd.openxmlformats-officedocument.presentationml.tags+xml"/>
  <Override PartName="/ppt/tags/tag2274.xml" ContentType="application/vnd.openxmlformats-officedocument.presentationml.tags+xml"/>
  <Override PartName="/ppt/tags/tag2275.xml" ContentType="application/vnd.openxmlformats-officedocument.presentationml.tags+xml"/>
  <Override PartName="/ppt/tags/tag2276.xml" ContentType="application/vnd.openxmlformats-officedocument.presentationml.tags+xml"/>
  <Override PartName="/ppt/tags/tag2277.xml" ContentType="application/vnd.openxmlformats-officedocument.presentationml.tags+xml"/>
  <Override PartName="/ppt/tags/tag2278.xml" ContentType="application/vnd.openxmlformats-officedocument.presentationml.tags+xml"/>
  <Override PartName="/ppt/tags/tag2279.xml" ContentType="application/vnd.openxmlformats-officedocument.presentationml.tags+xml"/>
  <Override PartName="/ppt/tags/tag228.xml" ContentType="application/vnd.openxmlformats-officedocument.presentationml.tags+xml"/>
  <Override PartName="/ppt/tags/tag2280.xml" ContentType="application/vnd.openxmlformats-officedocument.presentationml.tags+xml"/>
  <Override PartName="/ppt/tags/tag2281.xml" ContentType="application/vnd.openxmlformats-officedocument.presentationml.tags+xml"/>
  <Override PartName="/ppt/tags/tag2282.xml" ContentType="application/vnd.openxmlformats-officedocument.presentationml.tags+xml"/>
  <Override PartName="/ppt/tags/tag2283.xml" ContentType="application/vnd.openxmlformats-officedocument.presentationml.tags+xml"/>
  <Override PartName="/ppt/tags/tag2284.xml" ContentType="application/vnd.openxmlformats-officedocument.presentationml.tags+xml"/>
  <Override PartName="/ppt/tags/tag2285.xml" ContentType="application/vnd.openxmlformats-officedocument.presentationml.tags+xml"/>
  <Override PartName="/ppt/tags/tag2286.xml" ContentType="application/vnd.openxmlformats-officedocument.presentationml.tags+xml"/>
  <Override PartName="/ppt/tags/tag2287.xml" ContentType="application/vnd.openxmlformats-officedocument.presentationml.tags+xml"/>
  <Override PartName="/ppt/tags/tag2288.xml" ContentType="application/vnd.openxmlformats-officedocument.presentationml.tags+xml"/>
  <Override PartName="/ppt/tags/tag2289.xml" ContentType="application/vnd.openxmlformats-officedocument.presentationml.tags+xml"/>
  <Override PartName="/ppt/tags/tag229.xml" ContentType="application/vnd.openxmlformats-officedocument.presentationml.tags+xml"/>
  <Override PartName="/ppt/tags/tag2290.xml" ContentType="application/vnd.openxmlformats-officedocument.presentationml.tags+xml"/>
  <Override PartName="/ppt/tags/tag2291.xml" ContentType="application/vnd.openxmlformats-officedocument.presentationml.tags+xml"/>
  <Override PartName="/ppt/tags/tag2292.xml" ContentType="application/vnd.openxmlformats-officedocument.presentationml.tags+xml"/>
  <Override PartName="/ppt/tags/tag2293.xml" ContentType="application/vnd.openxmlformats-officedocument.presentationml.tags+xml"/>
  <Override PartName="/ppt/tags/tag2294.xml" ContentType="application/vnd.openxmlformats-officedocument.presentationml.tags+xml"/>
  <Override PartName="/ppt/tags/tag2295.xml" ContentType="application/vnd.openxmlformats-officedocument.presentationml.tags+xml"/>
  <Override PartName="/ppt/tags/tag2296.xml" ContentType="application/vnd.openxmlformats-officedocument.presentationml.tags+xml"/>
  <Override PartName="/ppt/tags/tag2297.xml" ContentType="application/vnd.openxmlformats-officedocument.presentationml.tags+xml"/>
  <Override PartName="/ppt/tags/tag2298.xml" ContentType="application/vnd.openxmlformats-officedocument.presentationml.tags+xml"/>
  <Override PartName="/ppt/tags/tag229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00.xml" ContentType="application/vnd.openxmlformats-officedocument.presentationml.tags+xml"/>
  <Override PartName="/ppt/tags/tag2301.xml" ContentType="application/vnd.openxmlformats-officedocument.presentationml.tags+xml"/>
  <Override PartName="/ppt/tags/tag2302.xml" ContentType="application/vnd.openxmlformats-officedocument.presentationml.tags+xml"/>
  <Override PartName="/ppt/tags/tag2303.xml" ContentType="application/vnd.openxmlformats-officedocument.presentationml.tags+xml"/>
  <Override PartName="/ppt/tags/tag2304.xml" ContentType="application/vnd.openxmlformats-officedocument.presentationml.tags+xml"/>
  <Override PartName="/ppt/tags/tag2305.xml" ContentType="application/vnd.openxmlformats-officedocument.presentationml.tags+xml"/>
  <Override PartName="/ppt/tags/tag2306.xml" ContentType="application/vnd.openxmlformats-officedocument.presentationml.tags+xml"/>
  <Override PartName="/ppt/tags/tag2307.xml" ContentType="application/vnd.openxmlformats-officedocument.presentationml.tags+xml"/>
  <Override PartName="/ppt/tags/tag2308.xml" ContentType="application/vnd.openxmlformats-officedocument.presentationml.tags+xml"/>
  <Override PartName="/ppt/tags/tag2309.xml" ContentType="application/vnd.openxmlformats-officedocument.presentationml.tags+xml"/>
  <Override PartName="/ppt/tags/tag231.xml" ContentType="application/vnd.openxmlformats-officedocument.presentationml.tags+xml"/>
  <Override PartName="/ppt/tags/tag2310.xml" ContentType="application/vnd.openxmlformats-officedocument.presentationml.tags+xml"/>
  <Override PartName="/ppt/tags/tag2311.xml" ContentType="application/vnd.openxmlformats-officedocument.presentationml.tags+xml"/>
  <Override PartName="/ppt/tags/tag2312.xml" ContentType="application/vnd.openxmlformats-officedocument.presentationml.tags+xml"/>
  <Override PartName="/ppt/tags/tag2313.xml" ContentType="application/vnd.openxmlformats-officedocument.presentationml.tags+xml"/>
  <Override PartName="/ppt/tags/tag2314.xml" ContentType="application/vnd.openxmlformats-officedocument.presentationml.tags+xml"/>
  <Override PartName="/ppt/tags/tag2315.xml" ContentType="application/vnd.openxmlformats-officedocument.presentationml.tags+xml"/>
  <Override PartName="/ppt/tags/tag2316.xml" ContentType="application/vnd.openxmlformats-officedocument.presentationml.tags+xml"/>
  <Override PartName="/ppt/tags/tag2317.xml" ContentType="application/vnd.openxmlformats-officedocument.presentationml.tags+xml"/>
  <Override PartName="/ppt/tags/tag2318.xml" ContentType="application/vnd.openxmlformats-officedocument.presentationml.tags+xml"/>
  <Override PartName="/ppt/tags/tag2319.xml" ContentType="application/vnd.openxmlformats-officedocument.presentationml.tags+xml"/>
  <Override PartName="/ppt/tags/tag232.xml" ContentType="application/vnd.openxmlformats-officedocument.presentationml.tags+xml"/>
  <Override PartName="/ppt/tags/tag2320.xml" ContentType="application/vnd.openxmlformats-officedocument.presentationml.tags+xml"/>
  <Override PartName="/ppt/tags/tag2321.xml" ContentType="application/vnd.openxmlformats-officedocument.presentationml.tags+xml"/>
  <Override PartName="/ppt/tags/tag2322.xml" ContentType="application/vnd.openxmlformats-officedocument.presentationml.tags+xml"/>
  <Override PartName="/ppt/tags/tag2323.xml" ContentType="application/vnd.openxmlformats-officedocument.presentationml.tags+xml"/>
  <Override PartName="/ppt/tags/tag2324.xml" ContentType="application/vnd.openxmlformats-officedocument.presentationml.tags+xml"/>
  <Override PartName="/ppt/tags/tag2325.xml" ContentType="application/vnd.openxmlformats-officedocument.presentationml.tags+xml"/>
  <Override PartName="/ppt/tags/tag2326.xml" ContentType="application/vnd.openxmlformats-officedocument.presentationml.tags+xml"/>
  <Override PartName="/ppt/tags/tag2327.xml" ContentType="application/vnd.openxmlformats-officedocument.presentationml.tags+xml"/>
  <Override PartName="/ppt/tags/tag2328.xml" ContentType="application/vnd.openxmlformats-officedocument.presentationml.tags+xml"/>
  <Override PartName="/ppt/tags/tag2329.xml" ContentType="application/vnd.openxmlformats-officedocument.presentationml.tags+xml"/>
  <Override PartName="/ppt/tags/tag233.xml" ContentType="application/vnd.openxmlformats-officedocument.presentationml.tags+xml"/>
  <Override PartName="/ppt/tags/tag2330.xml" ContentType="application/vnd.openxmlformats-officedocument.presentationml.tags+xml"/>
  <Override PartName="/ppt/tags/tag2331.xml" ContentType="application/vnd.openxmlformats-officedocument.presentationml.tags+xml"/>
  <Override PartName="/ppt/tags/tag2332.xml" ContentType="application/vnd.openxmlformats-officedocument.presentationml.tags+xml"/>
  <Override PartName="/ppt/tags/tag2333.xml" ContentType="application/vnd.openxmlformats-officedocument.presentationml.tags+xml"/>
  <Override PartName="/ppt/tags/tag2334.xml" ContentType="application/vnd.openxmlformats-officedocument.presentationml.tags+xml"/>
  <Override PartName="/ppt/tags/tag2335.xml" ContentType="application/vnd.openxmlformats-officedocument.presentationml.tags+xml"/>
  <Override PartName="/ppt/tags/tag2336.xml" ContentType="application/vnd.openxmlformats-officedocument.presentationml.tags+xml"/>
  <Override PartName="/ppt/tags/tag2337.xml" ContentType="application/vnd.openxmlformats-officedocument.presentationml.tags+xml"/>
  <Override PartName="/ppt/tags/tag2338.xml" ContentType="application/vnd.openxmlformats-officedocument.presentationml.tags+xml"/>
  <Override PartName="/ppt/tags/tag2339.xml" ContentType="application/vnd.openxmlformats-officedocument.presentationml.tags+xml"/>
  <Override PartName="/ppt/tags/tag234.xml" ContentType="application/vnd.openxmlformats-officedocument.presentationml.tags+xml"/>
  <Override PartName="/ppt/tags/tag2340.xml" ContentType="application/vnd.openxmlformats-officedocument.presentationml.tags+xml"/>
  <Override PartName="/ppt/tags/tag2341.xml" ContentType="application/vnd.openxmlformats-officedocument.presentationml.tags+xml"/>
  <Override PartName="/ppt/tags/tag2342.xml" ContentType="application/vnd.openxmlformats-officedocument.presentationml.tags+xml"/>
  <Override PartName="/ppt/tags/tag2343.xml" ContentType="application/vnd.openxmlformats-officedocument.presentationml.tags+xml"/>
  <Override PartName="/ppt/tags/tag2344.xml" ContentType="application/vnd.openxmlformats-officedocument.presentationml.tags+xml"/>
  <Override PartName="/ppt/tags/tag2345.xml" ContentType="application/vnd.openxmlformats-officedocument.presentationml.tags+xml"/>
  <Override PartName="/ppt/tags/tag2346.xml" ContentType="application/vnd.openxmlformats-officedocument.presentationml.tags+xml"/>
  <Override PartName="/ppt/tags/tag2347.xml" ContentType="application/vnd.openxmlformats-officedocument.presentationml.tags+xml"/>
  <Override PartName="/ppt/tags/tag2348.xml" ContentType="application/vnd.openxmlformats-officedocument.presentationml.tags+xml"/>
  <Override PartName="/ppt/tags/tag2349.xml" ContentType="application/vnd.openxmlformats-officedocument.presentationml.tags+xml"/>
  <Override PartName="/ppt/tags/tag235.xml" ContentType="application/vnd.openxmlformats-officedocument.presentationml.tags+xml"/>
  <Override PartName="/ppt/tags/tag2350.xml" ContentType="application/vnd.openxmlformats-officedocument.presentationml.tags+xml"/>
  <Override PartName="/ppt/tags/tag2351.xml" ContentType="application/vnd.openxmlformats-officedocument.presentationml.tags+xml"/>
  <Override PartName="/ppt/tags/tag2352.xml" ContentType="application/vnd.openxmlformats-officedocument.presentationml.tags+xml"/>
  <Override PartName="/ppt/tags/tag2353.xml" ContentType="application/vnd.openxmlformats-officedocument.presentationml.tags+xml"/>
  <Override PartName="/ppt/tags/tag2354.xml" ContentType="application/vnd.openxmlformats-officedocument.presentationml.tags+xml"/>
  <Override PartName="/ppt/tags/tag2355.xml" ContentType="application/vnd.openxmlformats-officedocument.presentationml.tags+xml"/>
  <Override PartName="/ppt/tags/tag2356.xml" ContentType="application/vnd.openxmlformats-officedocument.presentationml.tags+xml"/>
  <Override PartName="/ppt/tags/tag2357.xml" ContentType="application/vnd.openxmlformats-officedocument.presentationml.tags+xml"/>
  <Override PartName="/ppt/tags/tag2358.xml" ContentType="application/vnd.openxmlformats-officedocument.presentationml.tags+xml"/>
  <Override PartName="/ppt/tags/tag2359.xml" ContentType="application/vnd.openxmlformats-officedocument.presentationml.tags+xml"/>
  <Override PartName="/ppt/tags/tag236.xml" ContentType="application/vnd.openxmlformats-officedocument.presentationml.tags+xml"/>
  <Override PartName="/ppt/tags/tag2360.xml" ContentType="application/vnd.openxmlformats-officedocument.presentationml.tags+xml"/>
  <Override PartName="/ppt/tags/tag2361.xml" ContentType="application/vnd.openxmlformats-officedocument.presentationml.tags+xml"/>
  <Override PartName="/ppt/tags/tag2362.xml" ContentType="application/vnd.openxmlformats-officedocument.presentationml.tags+xml"/>
  <Override PartName="/ppt/tags/tag2363.xml" ContentType="application/vnd.openxmlformats-officedocument.presentationml.tags+xml"/>
  <Override PartName="/ppt/tags/tag2364.xml" ContentType="application/vnd.openxmlformats-officedocument.presentationml.tags+xml"/>
  <Override PartName="/ppt/tags/tag2365.xml" ContentType="application/vnd.openxmlformats-officedocument.presentationml.tags+xml"/>
  <Override PartName="/ppt/tags/tag2366.xml" ContentType="application/vnd.openxmlformats-officedocument.presentationml.tags+xml"/>
  <Override PartName="/ppt/tags/tag2367.xml" ContentType="application/vnd.openxmlformats-officedocument.presentationml.tags+xml"/>
  <Override PartName="/ppt/tags/tag2368.xml" ContentType="application/vnd.openxmlformats-officedocument.presentationml.tags+xml"/>
  <Override PartName="/ppt/tags/tag2369.xml" ContentType="application/vnd.openxmlformats-officedocument.presentationml.tags+xml"/>
  <Override PartName="/ppt/tags/tag237.xml" ContentType="application/vnd.openxmlformats-officedocument.presentationml.tags+xml"/>
  <Override PartName="/ppt/tags/tag2370.xml" ContentType="application/vnd.openxmlformats-officedocument.presentationml.tags+xml"/>
  <Override PartName="/ppt/tags/tag2371.xml" ContentType="application/vnd.openxmlformats-officedocument.presentationml.tags+xml"/>
  <Override PartName="/ppt/tags/tag2372.xml" ContentType="application/vnd.openxmlformats-officedocument.presentationml.tags+xml"/>
  <Override PartName="/ppt/tags/tag2373.xml" ContentType="application/vnd.openxmlformats-officedocument.presentationml.tags+xml"/>
  <Override PartName="/ppt/tags/tag2374.xml" ContentType="application/vnd.openxmlformats-officedocument.presentationml.tags+xml"/>
  <Override PartName="/ppt/tags/tag2375.xml" ContentType="application/vnd.openxmlformats-officedocument.presentationml.tags+xml"/>
  <Override PartName="/ppt/tags/tag2376.xml" ContentType="application/vnd.openxmlformats-officedocument.presentationml.tags+xml"/>
  <Override PartName="/ppt/tags/tag2377.xml" ContentType="application/vnd.openxmlformats-officedocument.presentationml.tags+xml"/>
  <Override PartName="/ppt/tags/tag2378.xml" ContentType="application/vnd.openxmlformats-officedocument.presentationml.tags+xml"/>
  <Override PartName="/ppt/tags/tag2379.xml" ContentType="application/vnd.openxmlformats-officedocument.presentationml.tags+xml"/>
  <Override PartName="/ppt/tags/tag238.xml" ContentType="application/vnd.openxmlformats-officedocument.presentationml.tags+xml"/>
  <Override PartName="/ppt/tags/tag2380.xml" ContentType="application/vnd.openxmlformats-officedocument.presentationml.tags+xml"/>
  <Override PartName="/ppt/tags/tag2381.xml" ContentType="application/vnd.openxmlformats-officedocument.presentationml.tags+xml"/>
  <Override PartName="/ppt/tags/tag2382.xml" ContentType="application/vnd.openxmlformats-officedocument.presentationml.tags+xml"/>
  <Override PartName="/ppt/tags/tag2383.xml" ContentType="application/vnd.openxmlformats-officedocument.presentationml.tags+xml"/>
  <Override PartName="/ppt/tags/tag2384.xml" ContentType="application/vnd.openxmlformats-officedocument.presentationml.tags+xml"/>
  <Override PartName="/ppt/tags/tag2385.xml" ContentType="application/vnd.openxmlformats-officedocument.presentationml.tags+xml"/>
  <Override PartName="/ppt/tags/tag2386.xml" ContentType="application/vnd.openxmlformats-officedocument.presentationml.tags+xml"/>
  <Override PartName="/ppt/tags/tag2387.xml" ContentType="application/vnd.openxmlformats-officedocument.presentationml.tags+xml"/>
  <Override PartName="/ppt/tags/tag2388.xml" ContentType="application/vnd.openxmlformats-officedocument.presentationml.tags+xml"/>
  <Override PartName="/ppt/tags/tag2389.xml" ContentType="application/vnd.openxmlformats-officedocument.presentationml.tags+xml"/>
  <Override PartName="/ppt/tags/tag239.xml" ContentType="application/vnd.openxmlformats-officedocument.presentationml.tags+xml"/>
  <Override PartName="/ppt/tags/tag2390.xml" ContentType="application/vnd.openxmlformats-officedocument.presentationml.tags+xml"/>
  <Override PartName="/ppt/tags/tag2391.xml" ContentType="application/vnd.openxmlformats-officedocument.presentationml.tags+xml"/>
  <Override PartName="/ppt/tags/tag2392.xml" ContentType="application/vnd.openxmlformats-officedocument.presentationml.tags+xml"/>
  <Override PartName="/ppt/tags/tag2393.xml" ContentType="application/vnd.openxmlformats-officedocument.presentationml.tags+xml"/>
  <Override PartName="/ppt/tags/tag2394.xml" ContentType="application/vnd.openxmlformats-officedocument.presentationml.tags+xml"/>
  <Override PartName="/ppt/tags/tag2395.xml" ContentType="application/vnd.openxmlformats-officedocument.presentationml.tags+xml"/>
  <Override PartName="/ppt/tags/tag2396.xml" ContentType="application/vnd.openxmlformats-officedocument.presentationml.tags+xml"/>
  <Override PartName="/ppt/tags/tag2397.xml" ContentType="application/vnd.openxmlformats-officedocument.presentationml.tags+xml"/>
  <Override PartName="/ppt/tags/tag2398.xml" ContentType="application/vnd.openxmlformats-officedocument.presentationml.tags+xml"/>
  <Override PartName="/ppt/tags/tag239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00.xml" ContentType="application/vnd.openxmlformats-officedocument.presentationml.tags+xml"/>
  <Override PartName="/ppt/tags/tag2401.xml" ContentType="application/vnd.openxmlformats-officedocument.presentationml.tags+xml"/>
  <Override PartName="/ppt/tags/tag2402.xml" ContentType="application/vnd.openxmlformats-officedocument.presentationml.tags+xml"/>
  <Override PartName="/ppt/tags/tag2403.xml" ContentType="application/vnd.openxmlformats-officedocument.presentationml.tags+xml"/>
  <Override PartName="/ppt/tags/tag2404.xml" ContentType="application/vnd.openxmlformats-officedocument.presentationml.tags+xml"/>
  <Override PartName="/ppt/tags/tag2405.xml" ContentType="application/vnd.openxmlformats-officedocument.presentationml.tags+xml"/>
  <Override PartName="/ppt/tags/tag2406.xml" ContentType="application/vnd.openxmlformats-officedocument.presentationml.tags+xml"/>
  <Override PartName="/ppt/tags/tag2407.xml" ContentType="application/vnd.openxmlformats-officedocument.presentationml.tags+xml"/>
  <Override PartName="/ppt/tags/tag2408.xml" ContentType="application/vnd.openxmlformats-officedocument.presentationml.tags+xml"/>
  <Override PartName="/ppt/tags/tag2409.xml" ContentType="application/vnd.openxmlformats-officedocument.presentationml.tags+xml"/>
  <Override PartName="/ppt/tags/tag241.xml" ContentType="application/vnd.openxmlformats-officedocument.presentationml.tags+xml"/>
  <Override PartName="/ppt/tags/tag2410.xml" ContentType="application/vnd.openxmlformats-officedocument.presentationml.tags+xml"/>
  <Override PartName="/ppt/tags/tag2411.xml" ContentType="application/vnd.openxmlformats-officedocument.presentationml.tags+xml"/>
  <Override PartName="/ppt/tags/tag2412.xml" ContentType="application/vnd.openxmlformats-officedocument.presentationml.tags+xml"/>
  <Override PartName="/ppt/tags/tag2413.xml" ContentType="application/vnd.openxmlformats-officedocument.presentationml.tags+xml"/>
  <Override PartName="/ppt/tags/tag2414.xml" ContentType="application/vnd.openxmlformats-officedocument.presentationml.tags+xml"/>
  <Override PartName="/ppt/tags/tag2415.xml" ContentType="application/vnd.openxmlformats-officedocument.presentationml.tags+xml"/>
  <Override PartName="/ppt/tags/tag2416.xml" ContentType="application/vnd.openxmlformats-officedocument.presentationml.tags+xml"/>
  <Override PartName="/ppt/tags/tag2417.xml" ContentType="application/vnd.openxmlformats-officedocument.presentationml.tags+xml"/>
  <Override PartName="/ppt/tags/tag2418.xml" ContentType="application/vnd.openxmlformats-officedocument.presentationml.tags+xml"/>
  <Override PartName="/ppt/tags/tag2419.xml" ContentType="application/vnd.openxmlformats-officedocument.presentationml.tags+xml"/>
  <Override PartName="/ppt/tags/tag242.xml" ContentType="application/vnd.openxmlformats-officedocument.presentationml.tags+xml"/>
  <Override PartName="/ppt/tags/tag2420.xml" ContentType="application/vnd.openxmlformats-officedocument.presentationml.tags+xml"/>
  <Override PartName="/ppt/tags/tag2421.xml" ContentType="application/vnd.openxmlformats-officedocument.presentationml.tags+xml"/>
  <Override PartName="/ppt/tags/tag2422.xml" ContentType="application/vnd.openxmlformats-officedocument.presentationml.tags+xml"/>
  <Override PartName="/ppt/tags/tag2423.xml" ContentType="application/vnd.openxmlformats-officedocument.presentationml.tags+xml"/>
  <Override PartName="/ppt/tags/tag2424.xml" ContentType="application/vnd.openxmlformats-officedocument.presentationml.tags+xml"/>
  <Override PartName="/ppt/tags/tag2425.xml" ContentType="application/vnd.openxmlformats-officedocument.presentationml.tags+xml"/>
  <Override PartName="/ppt/tags/tag2426.xml" ContentType="application/vnd.openxmlformats-officedocument.presentationml.tags+xml"/>
  <Override PartName="/ppt/tags/tag2427.xml" ContentType="application/vnd.openxmlformats-officedocument.presentationml.tags+xml"/>
  <Override PartName="/ppt/tags/tag2428.xml" ContentType="application/vnd.openxmlformats-officedocument.presentationml.tags+xml"/>
  <Override PartName="/ppt/tags/tag2429.xml" ContentType="application/vnd.openxmlformats-officedocument.presentationml.tags+xml"/>
  <Override PartName="/ppt/tags/tag243.xml" ContentType="application/vnd.openxmlformats-officedocument.presentationml.tags+xml"/>
  <Override PartName="/ppt/tags/tag2430.xml" ContentType="application/vnd.openxmlformats-officedocument.presentationml.tags+xml"/>
  <Override PartName="/ppt/tags/tag2431.xml" ContentType="application/vnd.openxmlformats-officedocument.presentationml.tags+xml"/>
  <Override PartName="/ppt/tags/tag2432.xml" ContentType="application/vnd.openxmlformats-officedocument.presentationml.tags+xml"/>
  <Override PartName="/ppt/tags/tag2433.xml" ContentType="application/vnd.openxmlformats-officedocument.presentationml.tags+xml"/>
  <Override PartName="/ppt/tags/tag2434.xml" ContentType="application/vnd.openxmlformats-officedocument.presentationml.tags+xml"/>
  <Override PartName="/ppt/tags/tag2435.xml" ContentType="application/vnd.openxmlformats-officedocument.presentationml.tags+xml"/>
  <Override PartName="/ppt/tags/tag2436.xml" ContentType="application/vnd.openxmlformats-officedocument.presentationml.tags+xml"/>
  <Override PartName="/ppt/tags/tag2437.xml" ContentType="application/vnd.openxmlformats-officedocument.presentationml.tags+xml"/>
  <Override PartName="/ppt/tags/tag2438.xml" ContentType="application/vnd.openxmlformats-officedocument.presentationml.tags+xml"/>
  <Override PartName="/ppt/tags/tag2439.xml" ContentType="application/vnd.openxmlformats-officedocument.presentationml.tags+xml"/>
  <Override PartName="/ppt/tags/tag244.xml" ContentType="application/vnd.openxmlformats-officedocument.presentationml.tags+xml"/>
  <Override PartName="/ppt/tags/tag2440.xml" ContentType="application/vnd.openxmlformats-officedocument.presentationml.tags+xml"/>
  <Override PartName="/ppt/tags/tag2441.xml" ContentType="application/vnd.openxmlformats-officedocument.presentationml.tags+xml"/>
  <Override PartName="/ppt/tags/tag2442.xml" ContentType="application/vnd.openxmlformats-officedocument.presentationml.tags+xml"/>
  <Override PartName="/ppt/tags/tag2443.xml" ContentType="application/vnd.openxmlformats-officedocument.presentationml.tags+xml"/>
  <Override PartName="/ppt/tags/tag2444.xml" ContentType="application/vnd.openxmlformats-officedocument.presentationml.tags+xml"/>
  <Override PartName="/ppt/tags/tag2445.xml" ContentType="application/vnd.openxmlformats-officedocument.presentationml.tags+xml"/>
  <Override PartName="/ppt/tags/tag2446.xml" ContentType="application/vnd.openxmlformats-officedocument.presentationml.tags+xml"/>
  <Override PartName="/ppt/tags/tag2447.xml" ContentType="application/vnd.openxmlformats-officedocument.presentationml.tags+xml"/>
  <Override PartName="/ppt/tags/tag2448.xml" ContentType="application/vnd.openxmlformats-officedocument.presentationml.tags+xml"/>
  <Override PartName="/ppt/tags/tag2449.xml" ContentType="application/vnd.openxmlformats-officedocument.presentationml.tags+xml"/>
  <Override PartName="/ppt/tags/tag245.xml" ContentType="application/vnd.openxmlformats-officedocument.presentationml.tags+xml"/>
  <Override PartName="/ppt/tags/tag2450.xml" ContentType="application/vnd.openxmlformats-officedocument.presentationml.tags+xml"/>
  <Override PartName="/ppt/tags/tag2451.xml" ContentType="application/vnd.openxmlformats-officedocument.presentationml.tags+xml"/>
  <Override PartName="/ppt/tags/tag2452.xml" ContentType="application/vnd.openxmlformats-officedocument.presentationml.tags+xml"/>
  <Override PartName="/ppt/tags/tag2453.xml" ContentType="application/vnd.openxmlformats-officedocument.presentationml.tags+xml"/>
  <Override PartName="/ppt/tags/tag2454.xml" ContentType="application/vnd.openxmlformats-officedocument.presentationml.tags+xml"/>
  <Override PartName="/ppt/tags/tag2455.xml" ContentType="application/vnd.openxmlformats-officedocument.presentationml.tags+xml"/>
  <Override PartName="/ppt/tags/tag2456.xml" ContentType="application/vnd.openxmlformats-officedocument.presentationml.tags+xml"/>
  <Override PartName="/ppt/tags/tag2457.xml" ContentType="application/vnd.openxmlformats-officedocument.presentationml.tags+xml"/>
  <Override PartName="/ppt/tags/tag2458.xml" ContentType="application/vnd.openxmlformats-officedocument.presentationml.tags+xml"/>
  <Override PartName="/ppt/tags/tag2459.xml" ContentType="application/vnd.openxmlformats-officedocument.presentationml.tags+xml"/>
  <Override PartName="/ppt/tags/tag246.xml" ContentType="application/vnd.openxmlformats-officedocument.presentationml.tags+xml"/>
  <Override PartName="/ppt/tags/tag2460.xml" ContentType="application/vnd.openxmlformats-officedocument.presentationml.tags+xml"/>
  <Override PartName="/ppt/tags/tag2461.xml" ContentType="application/vnd.openxmlformats-officedocument.presentationml.tags+xml"/>
  <Override PartName="/ppt/tags/tag2462.xml" ContentType="application/vnd.openxmlformats-officedocument.presentationml.tags+xml"/>
  <Override PartName="/ppt/tags/tag2463.xml" ContentType="application/vnd.openxmlformats-officedocument.presentationml.tags+xml"/>
  <Override PartName="/ppt/tags/tag2464.xml" ContentType="application/vnd.openxmlformats-officedocument.presentationml.tags+xml"/>
  <Override PartName="/ppt/tags/tag2465.xml" ContentType="application/vnd.openxmlformats-officedocument.presentationml.tags+xml"/>
  <Override PartName="/ppt/tags/tag2466.xml" ContentType="application/vnd.openxmlformats-officedocument.presentationml.tags+xml"/>
  <Override PartName="/ppt/tags/tag2467.xml" ContentType="application/vnd.openxmlformats-officedocument.presentationml.tags+xml"/>
  <Override PartName="/ppt/tags/tag2468.xml" ContentType="application/vnd.openxmlformats-officedocument.presentationml.tags+xml"/>
  <Override PartName="/ppt/tags/tag2469.xml" ContentType="application/vnd.openxmlformats-officedocument.presentationml.tags+xml"/>
  <Override PartName="/ppt/tags/tag247.xml" ContentType="application/vnd.openxmlformats-officedocument.presentationml.tags+xml"/>
  <Override PartName="/ppt/tags/tag2470.xml" ContentType="application/vnd.openxmlformats-officedocument.presentationml.tags+xml"/>
  <Override PartName="/ppt/tags/tag2471.xml" ContentType="application/vnd.openxmlformats-officedocument.presentationml.tags+xml"/>
  <Override PartName="/ppt/tags/tag2472.xml" ContentType="application/vnd.openxmlformats-officedocument.presentationml.tags+xml"/>
  <Override PartName="/ppt/tags/tag2473.xml" ContentType="application/vnd.openxmlformats-officedocument.presentationml.tags+xml"/>
  <Override PartName="/ppt/tags/tag2474.xml" ContentType="application/vnd.openxmlformats-officedocument.presentationml.tags+xml"/>
  <Override PartName="/ppt/tags/tag2475.xml" ContentType="application/vnd.openxmlformats-officedocument.presentationml.tags+xml"/>
  <Override PartName="/ppt/tags/tag2476.xml" ContentType="application/vnd.openxmlformats-officedocument.presentationml.tags+xml"/>
  <Override PartName="/ppt/tags/tag2477.xml" ContentType="application/vnd.openxmlformats-officedocument.presentationml.tags+xml"/>
  <Override PartName="/ppt/tags/tag2478.xml" ContentType="application/vnd.openxmlformats-officedocument.presentationml.tags+xml"/>
  <Override PartName="/ppt/tags/tag2479.xml" ContentType="application/vnd.openxmlformats-officedocument.presentationml.tags+xml"/>
  <Override PartName="/ppt/tags/tag248.xml" ContentType="application/vnd.openxmlformats-officedocument.presentationml.tags+xml"/>
  <Override PartName="/ppt/tags/tag2480.xml" ContentType="application/vnd.openxmlformats-officedocument.presentationml.tags+xml"/>
  <Override PartName="/ppt/tags/tag2481.xml" ContentType="application/vnd.openxmlformats-officedocument.presentationml.tags+xml"/>
  <Override PartName="/ppt/tags/tag2482.xml" ContentType="application/vnd.openxmlformats-officedocument.presentationml.tags+xml"/>
  <Override PartName="/ppt/tags/tag2483.xml" ContentType="application/vnd.openxmlformats-officedocument.presentationml.tags+xml"/>
  <Override PartName="/ppt/tags/tag2484.xml" ContentType="application/vnd.openxmlformats-officedocument.presentationml.tags+xml"/>
  <Override PartName="/ppt/tags/tag2485.xml" ContentType="application/vnd.openxmlformats-officedocument.presentationml.tags+xml"/>
  <Override PartName="/ppt/tags/tag2486.xml" ContentType="application/vnd.openxmlformats-officedocument.presentationml.tags+xml"/>
  <Override PartName="/ppt/tags/tag2487.xml" ContentType="application/vnd.openxmlformats-officedocument.presentationml.tags+xml"/>
  <Override PartName="/ppt/tags/tag2488.xml" ContentType="application/vnd.openxmlformats-officedocument.presentationml.tags+xml"/>
  <Override PartName="/ppt/tags/tag2489.xml" ContentType="application/vnd.openxmlformats-officedocument.presentationml.tags+xml"/>
  <Override PartName="/ppt/tags/tag249.xml" ContentType="application/vnd.openxmlformats-officedocument.presentationml.tags+xml"/>
  <Override PartName="/ppt/tags/tag2490.xml" ContentType="application/vnd.openxmlformats-officedocument.presentationml.tags+xml"/>
  <Override PartName="/ppt/tags/tag2491.xml" ContentType="application/vnd.openxmlformats-officedocument.presentationml.tags+xml"/>
  <Override PartName="/ppt/tags/tag2492.xml" ContentType="application/vnd.openxmlformats-officedocument.presentationml.tags+xml"/>
  <Override PartName="/ppt/tags/tag2493.xml" ContentType="application/vnd.openxmlformats-officedocument.presentationml.tags+xml"/>
  <Override PartName="/ppt/tags/tag2494.xml" ContentType="application/vnd.openxmlformats-officedocument.presentationml.tags+xml"/>
  <Override PartName="/ppt/tags/tag2495.xml" ContentType="application/vnd.openxmlformats-officedocument.presentationml.tags+xml"/>
  <Override PartName="/ppt/tags/tag2496.xml" ContentType="application/vnd.openxmlformats-officedocument.presentationml.tags+xml"/>
  <Override PartName="/ppt/tags/tag2497.xml" ContentType="application/vnd.openxmlformats-officedocument.presentationml.tags+xml"/>
  <Override PartName="/ppt/tags/tag2498.xml" ContentType="application/vnd.openxmlformats-officedocument.presentationml.tags+xml"/>
  <Override PartName="/ppt/tags/tag249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00.xml" ContentType="application/vnd.openxmlformats-officedocument.presentationml.tags+xml"/>
  <Override PartName="/ppt/tags/tag2501.xml" ContentType="application/vnd.openxmlformats-officedocument.presentationml.tags+xml"/>
  <Override PartName="/ppt/tags/tag2502.xml" ContentType="application/vnd.openxmlformats-officedocument.presentationml.tags+xml"/>
  <Override PartName="/ppt/tags/tag2503.xml" ContentType="application/vnd.openxmlformats-officedocument.presentationml.tags+xml"/>
  <Override PartName="/ppt/tags/tag2504.xml" ContentType="application/vnd.openxmlformats-officedocument.presentationml.tags+xml"/>
  <Override PartName="/ppt/tags/tag2505.xml" ContentType="application/vnd.openxmlformats-officedocument.presentationml.tags+xml"/>
  <Override PartName="/ppt/tags/tag2506.xml" ContentType="application/vnd.openxmlformats-officedocument.presentationml.tags+xml"/>
  <Override PartName="/ppt/tags/tag2507.xml" ContentType="application/vnd.openxmlformats-officedocument.presentationml.tags+xml"/>
  <Override PartName="/ppt/tags/tag2508.xml" ContentType="application/vnd.openxmlformats-officedocument.presentationml.tags+xml"/>
  <Override PartName="/ppt/tags/tag2509.xml" ContentType="application/vnd.openxmlformats-officedocument.presentationml.tags+xml"/>
  <Override PartName="/ppt/tags/tag251.xml" ContentType="application/vnd.openxmlformats-officedocument.presentationml.tags+xml"/>
  <Override PartName="/ppt/tags/tag2510.xml" ContentType="application/vnd.openxmlformats-officedocument.presentationml.tags+xml"/>
  <Override PartName="/ppt/tags/tag2511.xml" ContentType="application/vnd.openxmlformats-officedocument.presentationml.tags+xml"/>
  <Override PartName="/ppt/tags/tag2512.xml" ContentType="application/vnd.openxmlformats-officedocument.presentationml.tags+xml"/>
  <Override PartName="/ppt/tags/tag2513.xml" ContentType="application/vnd.openxmlformats-officedocument.presentationml.tags+xml"/>
  <Override PartName="/ppt/tags/tag2514.xml" ContentType="application/vnd.openxmlformats-officedocument.presentationml.tags+xml"/>
  <Override PartName="/ppt/tags/tag2515.xml" ContentType="application/vnd.openxmlformats-officedocument.presentationml.tags+xml"/>
  <Override PartName="/ppt/tags/tag2516.xml" ContentType="application/vnd.openxmlformats-officedocument.presentationml.tags+xml"/>
  <Override PartName="/ppt/tags/tag2517.xml" ContentType="application/vnd.openxmlformats-officedocument.presentationml.tags+xml"/>
  <Override PartName="/ppt/tags/tag2518.xml" ContentType="application/vnd.openxmlformats-officedocument.presentationml.tags+xml"/>
  <Override PartName="/ppt/tags/tag2519.xml" ContentType="application/vnd.openxmlformats-officedocument.presentationml.tags+xml"/>
  <Override PartName="/ppt/tags/tag252.xml" ContentType="application/vnd.openxmlformats-officedocument.presentationml.tags+xml"/>
  <Override PartName="/ppt/tags/tag2520.xml" ContentType="application/vnd.openxmlformats-officedocument.presentationml.tags+xml"/>
  <Override PartName="/ppt/tags/tag2521.xml" ContentType="application/vnd.openxmlformats-officedocument.presentationml.tags+xml"/>
  <Override PartName="/ppt/tags/tag2522.xml" ContentType="application/vnd.openxmlformats-officedocument.presentationml.tags+xml"/>
  <Override PartName="/ppt/tags/tag2523.xml" ContentType="application/vnd.openxmlformats-officedocument.presentationml.tags+xml"/>
  <Override PartName="/ppt/tags/tag2524.xml" ContentType="application/vnd.openxmlformats-officedocument.presentationml.tags+xml"/>
  <Override PartName="/ppt/tags/tag2525.xml" ContentType="application/vnd.openxmlformats-officedocument.presentationml.tags+xml"/>
  <Override PartName="/ppt/tags/tag2526.xml" ContentType="application/vnd.openxmlformats-officedocument.presentationml.tags+xml"/>
  <Override PartName="/ppt/tags/tag2527.xml" ContentType="application/vnd.openxmlformats-officedocument.presentationml.tags+xml"/>
  <Override PartName="/ppt/tags/tag2528.xml" ContentType="application/vnd.openxmlformats-officedocument.presentationml.tags+xml"/>
  <Override PartName="/ppt/tags/tag2529.xml" ContentType="application/vnd.openxmlformats-officedocument.presentationml.tags+xml"/>
  <Override PartName="/ppt/tags/tag253.xml" ContentType="application/vnd.openxmlformats-officedocument.presentationml.tags+xml"/>
  <Override PartName="/ppt/tags/tag2530.xml" ContentType="application/vnd.openxmlformats-officedocument.presentationml.tags+xml"/>
  <Override PartName="/ppt/tags/tag2531.xml" ContentType="application/vnd.openxmlformats-officedocument.presentationml.tags+xml"/>
  <Override PartName="/ppt/tags/tag2532.xml" ContentType="application/vnd.openxmlformats-officedocument.presentationml.tags+xml"/>
  <Override PartName="/ppt/tags/tag2533.xml" ContentType="application/vnd.openxmlformats-officedocument.presentationml.tags+xml"/>
  <Override PartName="/ppt/tags/tag2534.xml" ContentType="application/vnd.openxmlformats-officedocument.presentationml.tags+xml"/>
  <Override PartName="/ppt/tags/tag2535.xml" ContentType="application/vnd.openxmlformats-officedocument.presentationml.tags+xml"/>
  <Override PartName="/ppt/tags/tag2536.xml" ContentType="application/vnd.openxmlformats-officedocument.presentationml.tags+xml"/>
  <Override PartName="/ppt/tags/tag2537.xml" ContentType="application/vnd.openxmlformats-officedocument.presentationml.tags+xml"/>
  <Override PartName="/ppt/tags/tag2538.xml" ContentType="application/vnd.openxmlformats-officedocument.presentationml.tags+xml"/>
  <Override PartName="/ppt/tags/tag2539.xml" ContentType="application/vnd.openxmlformats-officedocument.presentationml.tags+xml"/>
  <Override PartName="/ppt/tags/tag254.xml" ContentType="application/vnd.openxmlformats-officedocument.presentationml.tags+xml"/>
  <Override PartName="/ppt/tags/tag2540.xml" ContentType="application/vnd.openxmlformats-officedocument.presentationml.tags+xml"/>
  <Override PartName="/ppt/tags/tag2541.xml" ContentType="application/vnd.openxmlformats-officedocument.presentationml.tags+xml"/>
  <Override PartName="/ppt/tags/tag2542.xml" ContentType="application/vnd.openxmlformats-officedocument.presentationml.tags+xml"/>
  <Override PartName="/ppt/tags/tag2543.xml" ContentType="application/vnd.openxmlformats-officedocument.presentationml.tags+xml"/>
  <Override PartName="/ppt/tags/tag2544.xml" ContentType="application/vnd.openxmlformats-officedocument.presentationml.tags+xml"/>
  <Override PartName="/ppt/tags/tag2545.xml" ContentType="application/vnd.openxmlformats-officedocument.presentationml.tags+xml"/>
  <Override PartName="/ppt/tags/tag2546.xml" ContentType="application/vnd.openxmlformats-officedocument.presentationml.tags+xml"/>
  <Override PartName="/ppt/tags/tag2547.xml" ContentType="application/vnd.openxmlformats-officedocument.presentationml.tags+xml"/>
  <Override PartName="/ppt/tags/tag2548.xml" ContentType="application/vnd.openxmlformats-officedocument.presentationml.tags+xml"/>
  <Override PartName="/ppt/tags/tag2549.xml" ContentType="application/vnd.openxmlformats-officedocument.presentationml.tags+xml"/>
  <Override PartName="/ppt/tags/tag255.xml" ContentType="application/vnd.openxmlformats-officedocument.presentationml.tags+xml"/>
  <Override PartName="/ppt/tags/tag2550.xml" ContentType="application/vnd.openxmlformats-officedocument.presentationml.tags+xml"/>
  <Override PartName="/ppt/tags/tag2551.xml" ContentType="application/vnd.openxmlformats-officedocument.presentationml.tags+xml"/>
  <Override PartName="/ppt/tags/tag2552.xml" ContentType="application/vnd.openxmlformats-officedocument.presentationml.tags+xml"/>
  <Override PartName="/ppt/tags/tag2553.xml" ContentType="application/vnd.openxmlformats-officedocument.presentationml.tags+xml"/>
  <Override PartName="/ppt/tags/tag2554.xml" ContentType="application/vnd.openxmlformats-officedocument.presentationml.tags+xml"/>
  <Override PartName="/ppt/tags/tag2555.xml" ContentType="application/vnd.openxmlformats-officedocument.presentationml.tags+xml"/>
  <Override PartName="/ppt/tags/tag2556.xml" ContentType="application/vnd.openxmlformats-officedocument.presentationml.tags+xml"/>
  <Override PartName="/ppt/tags/tag2557.xml" ContentType="application/vnd.openxmlformats-officedocument.presentationml.tags+xml"/>
  <Override PartName="/ppt/tags/tag2558.xml" ContentType="application/vnd.openxmlformats-officedocument.presentationml.tags+xml"/>
  <Override PartName="/ppt/tags/tag2559.xml" ContentType="application/vnd.openxmlformats-officedocument.presentationml.tags+xml"/>
  <Override PartName="/ppt/tags/tag256.xml" ContentType="application/vnd.openxmlformats-officedocument.presentationml.tags+xml"/>
  <Override PartName="/ppt/tags/tag2560.xml" ContentType="application/vnd.openxmlformats-officedocument.presentationml.tags+xml"/>
  <Override PartName="/ppt/tags/tag2561.xml" ContentType="application/vnd.openxmlformats-officedocument.presentationml.tags+xml"/>
  <Override PartName="/ppt/tags/tag2562.xml" ContentType="application/vnd.openxmlformats-officedocument.presentationml.tags+xml"/>
  <Override PartName="/ppt/tags/tag2563.xml" ContentType="application/vnd.openxmlformats-officedocument.presentationml.tags+xml"/>
  <Override PartName="/ppt/tags/tag2564.xml" ContentType="application/vnd.openxmlformats-officedocument.presentationml.tags+xml"/>
  <Override PartName="/ppt/tags/tag2565.xml" ContentType="application/vnd.openxmlformats-officedocument.presentationml.tags+xml"/>
  <Override PartName="/ppt/tags/tag2566.xml" ContentType="application/vnd.openxmlformats-officedocument.presentationml.tags+xml"/>
  <Override PartName="/ppt/tags/tag2567.xml" ContentType="application/vnd.openxmlformats-officedocument.presentationml.tags+xml"/>
  <Override PartName="/ppt/tags/tag2568.xml" ContentType="application/vnd.openxmlformats-officedocument.presentationml.tags+xml"/>
  <Override PartName="/ppt/tags/tag2569.xml" ContentType="application/vnd.openxmlformats-officedocument.presentationml.tags+xml"/>
  <Override PartName="/ppt/tags/tag257.xml" ContentType="application/vnd.openxmlformats-officedocument.presentationml.tags+xml"/>
  <Override PartName="/ppt/tags/tag2570.xml" ContentType="application/vnd.openxmlformats-officedocument.presentationml.tags+xml"/>
  <Override PartName="/ppt/tags/tag2571.xml" ContentType="application/vnd.openxmlformats-officedocument.presentationml.tags+xml"/>
  <Override PartName="/ppt/tags/tag2572.xml" ContentType="application/vnd.openxmlformats-officedocument.presentationml.tags+xml"/>
  <Override PartName="/ppt/tags/tag2573.xml" ContentType="application/vnd.openxmlformats-officedocument.presentationml.tags+xml"/>
  <Override PartName="/ppt/tags/tag2574.xml" ContentType="application/vnd.openxmlformats-officedocument.presentationml.tags+xml"/>
  <Override PartName="/ppt/tags/tag2575.xml" ContentType="application/vnd.openxmlformats-officedocument.presentationml.tags+xml"/>
  <Override PartName="/ppt/tags/tag2576.xml" ContentType="application/vnd.openxmlformats-officedocument.presentationml.tags+xml"/>
  <Override PartName="/ppt/tags/tag2577.xml" ContentType="application/vnd.openxmlformats-officedocument.presentationml.tags+xml"/>
  <Override PartName="/ppt/tags/tag2578.xml" ContentType="application/vnd.openxmlformats-officedocument.presentationml.tags+xml"/>
  <Override PartName="/ppt/tags/tag2579.xml" ContentType="application/vnd.openxmlformats-officedocument.presentationml.tags+xml"/>
  <Override PartName="/ppt/tags/tag258.xml" ContentType="application/vnd.openxmlformats-officedocument.presentationml.tags+xml"/>
  <Override PartName="/ppt/tags/tag2580.xml" ContentType="application/vnd.openxmlformats-officedocument.presentationml.tags+xml"/>
  <Override PartName="/ppt/tags/tag2581.xml" ContentType="application/vnd.openxmlformats-officedocument.presentationml.tags+xml"/>
  <Override PartName="/ppt/tags/tag2582.xml" ContentType="application/vnd.openxmlformats-officedocument.presentationml.tags+xml"/>
  <Override PartName="/ppt/tags/tag2583.xml" ContentType="application/vnd.openxmlformats-officedocument.presentationml.tags+xml"/>
  <Override PartName="/ppt/tags/tag2584.xml" ContentType="application/vnd.openxmlformats-officedocument.presentationml.tags+xml"/>
  <Override PartName="/ppt/tags/tag2585.xml" ContentType="application/vnd.openxmlformats-officedocument.presentationml.tags+xml"/>
  <Override PartName="/ppt/tags/tag2586.xml" ContentType="application/vnd.openxmlformats-officedocument.presentationml.tags+xml"/>
  <Override PartName="/ppt/tags/tag2587.xml" ContentType="application/vnd.openxmlformats-officedocument.presentationml.tags+xml"/>
  <Override PartName="/ppt/tags/tag2588.xml" ContentType="application/vnd.openxmlformats-officedocument.presentationml.tags+xml"/>
  <Override PartName="/ppt/tags/tag2589.xml" ContentType="application/vnd.openxmlformats-officedocument.presentationml.tags+xml"/>
  <Override PartName="/ppt/tags/tag259.xml" ContentType="application/vnd.openxmlformats-officedocument.presentationml.tags+xml"/>
  <Override PartName="/ppt/tags/tag2590.xml" ContentType="application/vnd.openxmlformats-officedocument.presentationml.tags+xml"/>
  <Override PartName="/ppt/tags/tag2591.xml" ContentType="application/vnd.openxmlformats-officedocument.presentationml.tags+xml"/>
  <Override PartName="/ppt/tags/tag2592.xml" ContentType="application/vnd.openxmlformats-officedocument.presentationml.tags+xml"/>
  <Override PartName="/ppt/tags/tag2593.xml" ContentType="application/vnd.openxmlformats-officedocument.presentationml.tags+xml"/>
  <Override PartName="/ppt/tags/tag2594.xml" ContentType="application/vnd.openxmlformats-officedocument.presentationml.tags+xml"/>
  <Override PartName="/ppt/tags/tag2595.xml" ContentType="application/vnd.openxmlformats-officedocument.presentationml.tags+xml"/>
  <Override PartName="/ppt/tags/tag2596.xml" ContentType="application/vnd.openxmlformats-officedocument.presentationml.tags+xml"/>
  <Override PartName="/ppt/tags/tag2597.xml" ContentType="application/vnd.openxmlformats-officedocument.presentationml.tags+xml"/>
  <Override PartName="/ppt/tags/tag2598.xml" ContentType="application/vnd.openxmlformats-officedocument.presentationml.tags+xml"/>
  <Override PartName="/ppt/tags/tag259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00.xml" ContentType="application/vnd.openxmlformats-officedocument.presentationml.tags+xml"/>
  <Override PartName="/ppt/tags/tag2601.xml" ContentType="application/vnd.openxmlformats-officedocument.presentationml.tags+xml"/>
  <Override PartName="/ppt/tags/tag2602.xml" ContentType="application/vnd.openxmlformats-officedocument.presentationml.tags+xml"/>
  <Override PartName="/ppt/tags/tag2603.xml" ContentType="application/vnd.openxmlformats-officedocument.presentationml.tags+xml"/>
  <Override PartName="/ppt/tags/tag2604.xml" ContentType="application/vnd.openxmlformats-officedocument.presentationml.tags+xml"/>
  <Override PartName="/ppt/tags/tag2605.xml" ContentType="application/vnd.openxmlformats-officedocument.presentationml.tags+xml"/>
  <Override PartName="/ppt/tags/tag2606.xml" ContentType="application/vnd.openxmlformats-officedocument.presentationml.tags+xml"/>
  <Override PartName="/ppt/tags/tag2607.xml" ContentType="application/vnd.openxmlformats-officedocument.presentationml.tags+xml"/>
  <Override PartName="/ppt/tags/tag2608.xml" ContentType="application/vnd.openxmlformats-officedocument.presentationml.tags+xml"/>
  <Override PartName="/ppt/tags/tag2609.xml" ContentType="application/vnd.openxmlformats-officedocument.presentationml.tags+xml"/>
  <Override PartName="/ppt/tags/tag261.xml" ContentType="application/vnd.openxmlformats-officedocument.presentationml.tags+xml"/>
  <Override PartName="/ppt/tags/tag2610.xml" ContentType="application/vnd.openxmlformats-officedocument.presentationml.tags+xml"/>
  <Override PartName="/ppt/tags/tag2611.xml" ContentType="application/vnd.openxmlformats-officedocument.presentationml.tags+xml"/>
  <Override PartName="/ppt/tags/tag2612.xml" ContentType="application/vnd.openxmlformats-officedocument.presentationml.tags+xml"/>
  <Override PartName="/ppt/tags/tag2613.xml" ContentType="application/vnd.openxmlformats-officedocument.presentationml.tags+xml"/>
  <Override PartName="/ppt/tags/tag2614.xml" ContentType="application/vnd.openxmlformats-officedocument.presentationml.tags+xml"/>
  <Override PartName="/ppt/tags/tag2615.xml" ContentType="application/vnd.openxmlformats-officedocument.presentationml.tags+xml"/>
  <Override PartName="/ppt/tags/tag2616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89"/>
  </p:handoutMasterIdLst>
  <p:sldIdLst>
    <p:sldId id="256" r:id="rId3"/>
    <p:sldId id="798" r:id="rId5"/>
    <p:sldId id="603" r:id="rId6"/>
    <p:sldId id="257" r:id="rId7"/>
    <p:sldId id="259" r:id="rId8"/>
    <p:sldId id="325" r:id="rId9"/>
    <p:sldId id="454" r:id="rId10"/>
    <p:sldId id="653" r:id="rId11"/>
    <p:sldId id="457" r:id="rId12"/>
    <p:sldId id="307" r:id="rId13"/>
    <p:sldId id="443" r:id="rId14"/>
    <p:sldId id="311" r:id="rId15"/>
    <p:sldId id="464" r:id="rId16"/>
    <p:sldId id="604" r:id="rId17"/>
    <p:sldId id="605" r:id="rId18"/>
    <p:sldId id="651" r:id="rId19"/>
    <p:sldId id="264" r:id="rId20"/>
    <p:sldId id="606" r:id="rId21"/>
    <p:sldId id="466" r:id="rId22"/>
    <p:sldId id="468" r:id="rId23"/>
    <p:sldId id="599" r:id="rId24"/>
    <p:sldId id="607" r:id="rId25"/>
    <p:sldId id="608" r:id="rId26"/>
    <p:sldId id="654" r:id="rId27"/>
    <p:sldId id="610" r:id="rId28"/>
    <p:sldId id="542" r:id="rId29"/>
    <p:sldId id="650" r:id="rId30"/>
    <p:sldId id="545" r:id="rId31"/>
    <p:sldId id="547" r:id="rId32"/>
    <p:sldId id="548" r:id="rId33"/>
    <p:sldId id="329" r:id="rId34"/>
    <p:sldId id="549" r:id="rId35"/>
    <p:sldId id="551" r:id="rId36"/>
    <p:sldId id="550" r:id="rId37"/>
    <p:sldId id="480" r:id="rId38"/>
    <p:sldId id="479" r:id="rId39"/>
    <p:sldId id="552" r:id="rId40"/>
    <p:sldId id="490" r:id="rId41"/>
    <p:sldId id="553" r:id="rId42"/>
    <p:sldId id="555" r:id="rId43"/>
    <p:sldId id="556" r:id="rId44"/>
    <p:sldId id="648" r:id="rId45"/>
    <p:sldId id="615" r:id="rId46"/>
    <p:sldId id="616" r:id="rId47"/>
    <p:sldId id="612" r:id="rId48"/>
    <p:sldId id="617" r:id="rId49"/>
    <p:sldId id="759" r:id="rId50"/>
    <p:sldId id="384" r:id="rId51"/>
    <p:sldId id="760" r:id="rId52"/>
    <p:sldId id="761" r:id="rId53"/>
    <p:sldId id="763" r:id="rId54"/>
    <p:sldId id="764" r:id="rId55"/>
    <p:sldId id="563" r:id="rId56"/>
    <p:sldId id="765" r:id="rId57"/>
    <p:sldId id="619" r:id="rId58"/>
    <p:sldId id="356" r:id="rId59"/>
    <p:sldId id="565" r:id="rId60"/>
    <p:sldId id="589" r:id="rId61"/>
    <p:sldId id="513" r:id="rId62"/>
    <p:sldId id="591" r:id="rId63"/>
    <p:sldId id="512" r:id="rId64"/>
    <p:sldId id="402" r:id="rId65"/>
    <p:sldId id="645" r:id="rId66"/>
    <p:sldId id="768" r:id="rId67"/>
    <p:sldId id="769" r:id="rId68"/>
    <p:sldId id="770" r:id="rId69"/>
    <p:sldId id="771" r:id="rId70"/>
    <p:sldId id="627" r:id="rId71"/>
    <p:sldId id="578" r:id="rId72"/>
    <p:sldId id="655" r:id="rId73"/>
    <p:sldId id="628" r:id="rId74"/>
    <p:sldId id="773" r:id="rId75"/>
    <p:sldId id="631" r:id="rId76"/>
    <p:sldId id="523" r:id="rId77"/>
    <p:sldId id="522" r:id="rId78"/>
    <p:sldId id="632" r:id="rId79"/>
    <p:sldId id="633" r:id="rId80"/>
    <p:sldId id="634" r:id="rId81"/>
    <p:sldId id="635" r:id="rId82"/>
    <p:sldId id="636" r:id="rId83"/>
    <p:sldId id="637" r:id="rId84"/>
    <p:sldId id="638" r:id="rId85"/>
    <p:sldId id="642" r:id="rId86"/>
    <p:sldId id="774" r:id="rId87"/>
    <p:sldId id="775" r:id="rId88"/>
  </p:sldIdLst>
  <p:sldSz cx="9144000" cy="6858000" type="screen4x3"/>
  <p:notesSz cx="6858000" cy="9144000"/>
  <p:custDataLst>
    <p:tags r:id="rId9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u="sng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  <a:srgbClr val="FF3399"/>
    <a:srgbClr val="CCFFFF"/>
    <a:srgbClr val="CCECFF"/>
    <a:srgbClr val="CCCCFF"/>
    <a:srgbClr val="99CCFF"/>
    <a:srgbClr val="FFCC99"/>
    <a:srgbClr val="FFCCFF"/>
    <a:srgbClr val="FFCCCC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7" autoAdjust="0"/>
    <p:restoredTop sz="92994" autoAdjust="0"/>
  </p:normalViewPr>
  <p:slideViewPr>
    <p:cSldViewPr showGuides="1">
      <p:cViewPr>
        <p:scale>
          <a:sx n="80" d="100"/>
          <a:sy n="80" d="100"/>
        </p:scale>
        <p:origin x="-394" y="53"/>
      </p:cViewPr>
      <p:guideLst>
        <p:guide orient="horz" pos="224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5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3" Type="http://schemas.openxmlformats.org/officeDocument/2006/relationships/tags" Target="tags/tag2616.xml"/><Relationship Id="rId92" Type="http://schemas.openxmlformats.org/officeDocument/2006/relationships/tableStyles" Target="tableStyles.xml"/><Relationship Id="rId91" Type="http://schemas.openxmlformats.org/officeDocument/2006/relationships/viewProps" Target="viewProps.xml"/><Relationship Id="rId90" Type="http://schemas.openxmlformats.org/officeDocument/2006/relationships/presProps" Target="presProps.xml"/><Relationship Id="rId9" Type="http://schemas.openxmlformats.org/officeDocument/2006/relationships/slide" Target="slides/slide6.xml"/><Relationship Id="rId89" Type="http://schemas.openxmlformats.org/officeDocument/2006/relationships/handoutMaster" Target="handoutMasters/handoutMaster1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u="none"/>
            </a:lvl1pPr>
          </a:lstStyle>
          <a:p>
            <a:endParaRPr lang="en-US" altLang="zh-CN"/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u="none"/>
            </a:lvl1pPr>
          </a:lstStyle>
          <a:p>
            <a:endParaRPr lang="en-US" altLang="zh-CN"/>
          </a:p>
        </p:txBody>
      </p:sp>
      <p:sp>
        <p:nvSpPr>
          <p:cNvPr id="270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u="none"/>
            </a:lvl1pPr>
          </a:lstStyle>
          <a:p>
            <a:endParaRPr lang="en-US" altLang="zh-CN"/>
          </a:p>
        </p:txBody>
      </p:sp>
      <p:sp>
        <p:nvSpPr>
          <p:cNvPr id="270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u="none"/>
            </a:lvl1pPr>
          </a:lstStyle>
          <a:p>
            <a:fld id="{58A3C207-0F0C-4AEF-9AE8-D10CB4FF5C86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u="none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u="none"/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u="none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u="none"/>
            </a:lvl1pPr>
          </a:lstStyle>
          <a:p>
            <a:fld id="{6DB63DE6-9781-4737-8BEC-0D66A11158C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层次结构及</a:t>
            </a:r>
            <a:r>
              <a:rPr lang="en-US" altLang="zh-CN" dirty="0" smtClean="0"/>
              <a:t>RAM</a:t>
            </a:r>
            <a:r>
              <a:rPr lang="zh-CN" altLang="en-US" dirty="0" smtClean="0"/>
              <a:t>需</a:t>
            </a:r>
            <a:r>
              <a:rPr lang="en-US" altLang="zh-CN" dirty="0" smtClean="0"/>
              <a:t>4</a:t>
            </a:r>
            <a:r>
              <a:rPr lang="zh-CN" altLang="en-US" dirty="0" smtClean="0"/>
              <a:t>学时，主存需</a:t>
            </a:r>
            <a:r>
              <a:rPr lang="en-US" altLang="zh-CN" dirty="0" smtClean="0"/>
              <a:t>4</a:t>
            </a:r>
            <a:r>
              <a:rPr lang="zh-CN" altLang="en-US" dirty="0" smtClean="0"/>
              <a:t>学时，</a:t>
            </a:r>
            <a:r>
              <a:rPr lang="en-US" altLang="zh-CN" dirty="0" smtClean="0"/>
              <a:t>Cache</a:t>
            </a:r>
            <a:r>
              <a:rPr lang="zh-CN" altLang="en-US" dirty="0" smtClean="0"/>
              <a:t>需</a:t>
            </a:r>
            <a:r>
              <a:rPr lang="en-US" altLang="zh-CN" dirty="0" smtClean="0"/>
              <a:t>3</a:t>
            </a:r>
            <a:r>
              <a:rPr lang="zh-CN" altLang="en-US" dirty="0" smtClean="0"/>
              <a:t>学时，虚存需</a:t>
            </a:r>
            <a:r>
              <a:rPr lang="en-US" altLang="zh-CN" dirty="0" smtClean="0"/>
              <a:t>1</a:t>
            </a:r>
            <a:r>
              <a:rPr lang="zh-CN" altLang="en-US" dirty="0" smtClean="0"/>
              <a:t>学时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8D55E0B-BF1B-41A7-8AB9-C61D7E92EAFD}" type="slidenum">
              <a:rPr lang="en-US" altLang="zh-CN"/>
            </a:fld>
            <a:endParaRPr lang="en-US" altLang="zh-CN"/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6997C67-28B3-489C-B100-03A18CEFEE48}" type="slidenum">
              <a:rPr lang="en-US" altLang="zh-CN"/>
            </a:fld>
            <a:endParaRPr lang="en-US" altLang="zh-CN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40D89BF-6764-403C-ACA2-CF6E227807A3}" type="slidenum">
              <a:rPr lang="en-US" altLang="zh-CN"/>
            </a:fld>
            <a:endParaRPr lang="en-US" altLang="zh-CN"/>
          </a:p>
        </p:txBody>
      </p:sp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前方：靠近</a:t>
            </a:r>
            <a:r>
              <a:rPr lang="en-US" altLang="zh-CN" dirty="0" smtClean="0"/>
              <a:t>CPU</a:t>
            </a:r>
            <a:r>
              <a:rPr lang="zh-CN" altLang="en-US" dirty="0" smtClean="0"/>
              <a:t>。</a:t>
            </a:r>
            <a:endParaRPr lang="zh-CN" alt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思考：触发器、电容</a:t>
            </a:r>
            <a:endParaRPr lang="en-US" altLang="zh-CN" dirty="0" smtClean="0"/>
          </a:p>
          <a:p>
            <a:r>
              <a:rPr lang="en-US" altLang="zh-CN" dirty="0" smtClean="0"/>
              <a:t>MOS</a:t>
            </a:r>
            <a:r>
              <a:rPr lang="zh-CN" altLang="en-US" dirty="0" smtClean="0"/>
              <a:t>管不带垫底电极时，</a:t>
            </a:r>
            <a:r>
              <a:rPr lang="en-US" altLang="zh-CN" dirty="0" smtClean="0"/>
              <a:t>D-S</a:t>
            </a:r>
            <a:r>
              <a:rPr lang="zh-CN" altLang="en-US" dirty="0" smtClean="0"/>
              <a:t>间用一条线表示；带垫底电极时，用三段线表示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24E6DF1-88EF-4720-8ED6-783FF6199A10}" type="slidenum">
              <a:rPr lang="en-US" altLang="zh-CN"/>
            </a:fld>
            <a:endParaRPr lang="en-US" altLang="zh-CN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注：</a:t>
            </a:r>
            <a:r>
              <a:rPr lang="en-US" altLang="zh-CN" dirty="0"/>
              <a:t>W</a:t>
            </a:r>
            <a:r>
              <a:rPr lang="zh-CN" altLang="en-US" dirty="0"/>
              <a:t>的高</a:t>
            </a:r>
            <a:r>
              <a:rPr lang="en-US" altLang="zh-CN" dirty="0"/>
              <a:t>=3.6V</a:t>
            </a:r>
            <a:r>
              <a:rPr lang="zh-CN" altLang="en-US" dirty="0"/>
              <a:t>、低</a:t>
            </a:r>
            <a:r>
              <a:rPr lang="en-US" altLang="zh-CN" dirty="0"/>
              <a:t>=0.4V</a:t>
            </a:r>
            <a:r>
              <a:rPr lang="zh-CN" altLang="en-US" dirty="0"/>
              <a:t>，</a:t>
            </a:r>
            <a:r>
              <a:rPr lang="en-US" altLang="zh-CN" dirty="0"/>
              <a:t>D</a:t>
            </a:r>
            <a:r>
              <a:rPr lang="zh-CN" altLang="en-US" dirty="0"/>
              <a:t>的高电位</a:t>
            </a:r>
            <a:r>
              <a:rPr lang="en-US" altLang="zh-CN" dirty="0"/>
              <a:t>=4.2V</a:t>
            </a:r>
            <a:r>
              <a:rPr lang="zh-CN" altLang="en-US" dirty="0"/>
              <a:t>、中间电位</a:t>
            </a:r>
            <a:r>
              <a:rPr lang="en-US" altLang="zh-CN" dirty="0"/>
              <a:t>=1.4V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3EB9AE3-ACA4-40D6-8CA9-BEE0175F83F1}" type="slidenum">
              <a:rPr lang="en-US" altLang="zh-CN"/>
            </a:fld>
            <a:endParaRPr lang="en-US" altLang="zh-CN"/>
          </a:p>
        </p:txBody>
      </p:sp>
      <p:sp>
        <p:nvSpPr>
          <p:cNvPr id="293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085E65F-D318-465D-A7AF-C4E2367D811F}" type="slidenum">
              <a:rPr lang="en-US" altLang="zh-CN"/>
            </a:fld>
            <a:endParaRPr lang="en-US" altLang="zh-CN"/>
          </a:p>
        </p:txBody>
      </p:sp>
      <p:sp>
        <p:nvSpPr>
          <p:cNvPr id="43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思考①：</a:t>
            </a:r>
            <a:r>
              <a:rPr lang="en-US" altLang="zh-CN" dirty="0" smtClean="0"/>
              <a:t>AN=log</a:t>
            </a:r>
            <a:r>
              <a:rPr lang="en-US" altLang="zh-CN" baseline="-18000" dirty="0" smtClean="0"/>
              <a:t>2</a:t>
            </a:r>
            <a:r>
              <a:rPr lang="en-US" altLang="zh-CN" dirty="0" smtClean="0"/>
              <a:t>(4Kb/8</a:t>
            </a:r>
            <a:r>
              <a:rPr lang="en-US" altLang="zh-CN" dirty="0"/>
              <a:t>)=9</a:t>
            </a:r>
            <a:r>
              <a:rPr lang="zh-CN" altLang="en-US" dirty="0" smtClean="0"/>
              <a:t>根，</a:t>
            </a:r>
            <a:r>
              <a:rPr lang="en-US" altLang="zh-CN" dirty="0" smtClean="0"/>
              <a:t>AN=7</a:t>
            </a:r>
            <a:r>
              <a:rPr lang="zh-CN" altLang="en-US" dirty="0" smtClean="0"/>
              <a:t>根  思考②：容量</a:t>
            </a:r>
            <a:r>
              <a:rPr lang="en-US" altLang="zh-CN" dirty="0" smtClean="0"/>
              <a:t>=2</a:t>
            </a:r>
            <a:r>
              <a:rPr lang="en-US" altLang="zh-CN" baseline="30000" dirty="0" smtClean="0"/>
              <a:t>8</a:t>
            </a:r>
            <a:r>
              <a:rPr lang="en-US" altLang="zh-CN" dirty="0" smtClean="0"/>
              <a:t>*(8/2)=1Kb=128B   </a:t>
            </a:r>
            <a:r>
              <a:rPr lang="zh-CN" altLang="en-US" dirty="0" smtClean="0"/>
              <a:t>思考③：≥地址</a:t>
            </a:r>
            <a:r>
              <a:rPr lang="en-US" altLang="zh-CN" dirty="0" smtClean="0"/>
              <a:t>10+</a:t>
            </a:r>
            <a:r>
              <a:rPr lang="zh-CN" altLang="en-US" dirty="0" smtClean="0"/>
              <a:t>数据</a:t>
            </a:r>
            <a:r>
              <a:rPr lang="en-US" altLang="zh-CN" dirty="0" smtClean="0"/>
              <a:t>4+</a:t>
            </a:r>
            <a:r>
              <a:rPr lang="zh-CN" altLang="en-US" dirty="0" smtClean="0"/>
              <a:t>控制</a:t>
            </a:r>
            <a:r>
              <a:rPr lang="en-US" altLang="zh-CN" dirty="0" smtClean="0"/>
              <a:t>2</a:t>
            </a:r>
            <a:r>
              <a:rPr lang="zh-CN" altLang="en-US" dirty="0" smtClean="0"/>
              <a:t>＝</a:t>
            </a:r>
            <a:r>
              <a:rPr lang="en-US" altLang="zh-CN" dirty="0" smtClean="0"/>
              <a:t>16</a:t>
            </a:r>
            <a:r>
              <a:rPr lang="zh-CN" altLang="en-US" dirty="0" smtClean="0"/>
              <a:t>根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看控制引脚（→响应操作的标志）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看都周期信号时序要求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P13-</a:t>
            </a:r>
            <a:r>
              <a:rPr lang="zh-CN" altLang="en-US" dirty="0" smtClean="0"/>
              <a:t>看芯片的内部组成，上页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看信号时序要求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451651B-D61F-49CD-BAC1-086898E421B5}" type="slidenum">
              <a:rPr lang="en-US" altLang="zh-CN"/>
            </a:fld>
            <a:endParaRPr lang="en-US" altLang="zh-CN"/>
          </a:p>
        </p:txBody>
      </p:sp>
      <p:sp>
        <p:nvSpPr>
          <p:cNvPr id="283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P10-</a:t>
            </a:r>
            <a:r>
              <a:rPr lang="zh-CN" altLang="en-US" dirty="0" smtClean="0"/>
              <a:t>看静态存储元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读出再生放大电路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先给其中的</a:t>
            </a:r>
            <a:r>
              <a:rPr lang="en-US" altLang="zh-CN" dirty="0" smtClean="0"/>
              <a:t>C</a:t>
            </a:r>
            <a:r>
              <a:rPr lang="en-US" altLang="zh-CN" baseline="-25000" dirty="0" smtClean="0"/>
              <a:t>D</a:t>
            </a:r>
            <a:r>
              <a:rPr lang="zh-CN" altLang="en-US" dirty="0" smtClean="0"/>
              <a:t>充电，</a:t>
            </a:r>
            <a:r>
              <a:rPr lang="en-US" altLang="zh-CN" dirty="0" smtClean="0"/>
              <a:t>D</a:t>
            </a:r>
            <a:r>
              <a:rPr lang="zh-CN" altLang="en-US" dirty="0" smtClean="0"/>
              <a:t>线→差分放大器┬→</a:t>
            </a:r>
            <a:r>
              <a:rPr lang="en-US" altLang="zh-CN" dirty="0" smtClean="0"/>
              <a:t>IO</a:t>
            </a:r>
            <a:r>
              <a:rPr lang="zh-CN" altLang="en-US" dirty="0" smtClean="0"/>
              <a:t>电路→读完成</a:t>
            </a:r>
            <a:endParaRPr lang="en-US" altLang="zh-CN" dirty="0" smtClean="0"/>
          </a:p>
          <a:p>
            <a:r>
              <a:rPr lang="en-US" altLang="zh-CN" baseline="0" dirty="0" smtClean="0"/>
              <a:t>                                                   </a:t>
            </a:r>
            <a:r>
              <a:rPr lang="zh-CN" altLang="en-US" baseline="0" dirty="0" smtClean="0"/>
              <a:t>└→</a:t>
            </a:r>
            <a:r>
              <a:rPr lang="en-US" altLang="zh-CN" baseline="0" dirty="0" smtClean="0"/>
              <a:t>D</a:t>
            </a:r>
            <a:r>
              <a:rPr lang="zh-CN" altLang="en-US" baseline="0" dirty="0" smtClean="0"/>
              <a:t>线 </a:t>
            </a:r>
            <a:r>
              <a:rPr lang="en-US" altLang="zh-CN" baseline="0" dirty="0" smtClean="0"/>
              <a:t>―</a:t>
            </a:r>
            <a:r>
              <a:rPr lang="zh-CN" altLang="en-US" baseline="0" dirty="0" smtClean="0"/>
              <a:t>→再生</a:t>
            </a:r>
            <a:r>
              <a:rPr lang="zh-CN" altLang="en-US" dirty="0" smtClean="0"/>
              <a:t>完成</a:t>
            </a:r>
            <a:endParaRPr lang="en-US" altLang="zh-CN" dirty="0" smtClean="0"/>
          </a:p>
          <a:p>
            <a:r>
              <a:rPr lang="zh-CN" altLang="en-US" dirty="0" smtClean="0"/>
              <a:t>时序控制电路</a:t>
            </a:r>
            <a:r>
              <a:rPr lang="en-US" altLang="zh-CN" dirty="0" smtClean="0"/>
              <a:t>—</a:t>
            </a:r>
            <a:r>
              <a:rPr lang="zh-CN" altLang="en-US" dirty="0" smtClean="0"/>
              <a:t>“</a:t>
            </a:r>
            <a:r>
              <a:rPr lang="en-US" altLang="zh-CN" dirty="0" smtClean="0"/>
              <a:t>CS#</a:t>
            </a:r>
            <a:r>
              <a:rPr lang="zh-CN" altLang="en-US" dirty="0" smtClean="0"/>
              <a:t>→命令”次序（</a:t>
            </a:r>
            <a:r>
              <a:rPr lang="en-US" altLang="zh-CN" dirty="0" smtClean="0"/>
              <a:t>SRAM</a:t>
            </a:r>
            <a:r>
              <a:rPr lang="zh-CN" altLang="en-US" dirty="0" smtClean="0"/>
              <a:t>）→“</a:t>
            </a:r>
            <a:r>
              <a:rPr lang="en-US" altLang="zh-CN" dirty="0" smtClean="0"/>
              <a:t>RAS#</a:t>
            </a:r>
            <a:r>
              <a:rPr lang="zh-CN" altLang="en-US" dirty="0" smtClean="0"/>
              <a:t>→</a:t>
            </a:r>
            <a:r>
              <a:rPr lang="en-US" altLang="zh-CN" dirty="0" smtClean="0"/>
              <a:t>CAS#</a:t>
            </a:r>
            <a:r>
              <a:rPr lang="zh-CN" altLang="en-US" dirty="0" smtClean="0"/>
              <a:t>→命令”次序（</a:t>
            </a:r>
            <a:r>
              <a:rPr lang="en-US" altLang="zh-CN" dirty="0" smtClean="0"/>
              <a:t>DRAM</a:t>
            </a:r>
            <a:r>
              <a:rPr lang="zh-CN" altLang="en-US" dirty="0" smtClean="0"/>
              <a:t>）→信号</a:t>
            </a:r>
            <a:r>
              <a:rPr lang="en-US" altLang="zh-CN" dirty="0" smtClean="0"/>
              <a:t>+</a:t>
            </a:r>
            <a:r>
              <a:rPr lang="zh-CN" altLang="en-US" dirty="0" smtClean="0"/>
              <a:t>时钟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看读写时序差别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P22-</a:t>
            </a:r>
            <a:r>
              <a:rPr lang="zh-CN" altLang="en-US" dirty="0" smtClean="0"/>
              <a:t>列译码器无效，</a:t>
            </a:r>
            <a:r>
              <a:rPr lang="en-US" altLang="zh-CN" dirty="0" smtClean="0"/>
              <a:t>P23-</a:t>
            </a:r>
            <a:r>
              <a:rPr lang="zh-CN" altLang="en-US" dirty="0" smtClean="0"/>
              <a:t>看时钟发生器</a:t>
            </a:r>
            <a:r>
              <a:rPr lang="zh-CN" altLang="en-US" u="none" dirty="0" smtClean="0"/>
              <a:t>串联</a:t>
            </a:r>
            <a:endParaRPr lang="zh-CN" altLang="en-US" u="non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练习：</a:t>
            </a:r>
            <a:r>
              <a:rPr lang="en-US" altLang="zh-CN" dirty="0" smtClean="0"/>
              <a:t>1C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3D</a:t>
            </a:r>
            <a:r>
              <a:rPr lang="zh-CN" altLang="en-US" dirty="0" smtClean="0"/>
              <a:t>，</a:t>
            </a:r>
            <a:r>
              <a:rPr lang="en-US" altLang="zh-CN" smtClean="0"/>
              <a:t>4A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D9652AC-BC39-4CC6-A538-9C39A06C7D26}" type="slidenum">
              <a:rPr lang="en-US" altLang="zh-CN"/>
            </a:fld>
            <a:endParaRPr lang="en-US" altLang="zh-CN"/>
          </a:p>
        </p:txBody>
      </p:sp>
      <p:sp>
        <p:nvSpPr>
          <p:cNvPr id="503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3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地址空间</a:t>
            </a:r>
            <a:r>
              <a:rPr lang="en-US" altLang="zh-CN" dirty="0"/>
              <a:t>—</a:t>
            </a:r>
            <a:r>
              <a:rPr lang="zh-CN" altLang="en-US" dirty="0"/>
              <a:t>是一个非负整数地址的有序集合；</a:t>
            </a:r>
            <a:endParaRPr lang="zh-CN" altLang="en-US" dirty="0"/>
          </a:p>
          <a:p>
            <a:r>
              <a:rPr lang="zh-CN" altLang="en-US" dirty="0"/>
              <a:t>线性地址空间</a:t>
            </a:r>
            <a:r>
              <a:rPr lang="en-US" altLang="zh-CN" dirty="0"/>
              <a:t>—</a:t>
            </a:r>
            <a:r>
              <a:rPr lang="zh-CN" altLang="en-US" dirty="0"/>
              <a:t>整数是连续的地址空间；</a:t>
            </a:r>
            <a:endParaRPr lang="zh-CN" altLang="en-US" dirty="0"/>
          </a:p>
          <a:p>
            <a:r>
              <a:rPr lang="zh-CN" altLang="en-US" dirty="0"/>
              <a:t>地址空间大小</a:t>
            </a:r>
            <a:r>
              <a:rPr lang="en-US" altLang="zh-CN" dirty="0"/>
              <a:t>—</a:t>
            </a:r>
            <a:r>
              <a:rPr lang="zh-CN" altLang="en-US" dirty="0"/>
              <a:t>表示最大地址所需的位数，或地址的个数。</a:t>
            </a:r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思考：每次访问涉及的芯片不同</a:t>
            </a:r>
            <a:endParaRPr lang="en-US" altLang="zh-CN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用</a:t>
            </a:r>
            <a:r>
              <a:rPr lang="en-US" altLang="zh-CN" dirty="0" smtClean="0"/>
              <a:t>CS#</a:t>
            </a:r>
            <a:r>
              <a:rPr lang="zh-CN" altLang="en-US" dirty="0" smtClean="0"/>
              <a:t>选择芯片时，</a:t>
            </a:r>
            <a:r>
              <a:rPr lang="en-US" altLang="zh-CN" dirty="0" smtClean="0"/>
              <a:t>WE#</a:t>
            </a:r>
            <a:r>
              <a:rPr lang="zh-CN" altLang="en-US" dirty="0" smtClean="0"/>
              <a:t>可直连。</a:t>
            </a:r>
            <a:endParaRPr lang="en-US" altLang="zh-CN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练习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：用</a:t>
            </a:r>
            <a:r>
              <a:rPr lang="en-US" altLang="zh-CN" dirty="0" smtClean="0"/>
              <a:t>4</a:t>
            </a:r>
            <a:r>
              <a:rPr lang="zh-CN" altLang="en-US" dirty="0" smtClean="0"/>
              <a:t>片</a:t>
            </a:r>
            <a:r>
              <a:rPr lang="en-US" altLang="zh-CN" dirty="0" smtClean="0"/>
              <a:t>SRAM</a:t>
            </a:r>
            <a:r>
              <a:rPr lang="zh-CN" altLang="en-US" dirty="0" smtClean="0"/>
              <a:t>字扩展，用</a:t>
            </a:r>
            <a:r>
              <a:rPr lang="en-US" altLang="zh-CN" dirty="0" smtClean="0"/>
              <a:t>2:4</a:t>
            </a:r>
            <a:r>
              <a:rPr lang="zh-CN" altLang="en-US" dirty="0" smtClean="0"/>
              <a:t>译码器实现片选信号连接。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各芯片</a:t>
            </a:r>
            <a:r>
              <a:rPr lang="en-US" altLang="zh-CN" dirty="0" smtClean="0"/>
              <a:t>CS#</a:t>
            </a:r>
            <a:r>
              <a:rPr lang="zh-CN" altLang="en-US" dirty="0" smtClean="0"/>
              <a:t>不同时有效时，无需再区分</a:t>
            </a:r>
            <a:r>
              <a:rPr lang="en-US" altLang="zh-CN" dirty="0" smtClean="0"/>
              <a:t>WE#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练习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：用</a:t>
            </a:r>
            <a:r>
              <a:rPr lang="en-US" altLang="zh-CN" dirty="0" smtClean="0"/>
              <a:t>8</a:t>
            </a:r>
            <a:r>
              <a:rPr lang="zh-CN" altLang="en-US" dirty="0" smtClean="0"/>
              <a:t>片</a:t>
            </a:r>
            <a:r>
              <a:rPr lang="en-US" altLang="zh-CN" dirty="0" smtClean="0"/>
              <a:t>SRAM</a:t>
            </a:r>
            <a:r>
              <a:rPr lang="zh-CN" altLang="en-US" dirty="0" smtClean="0"/>
              <a:t>先位扩展、后字扩展，用</a:t>
            </a:r>
            <a:r>
              <a:rPr lang="en-US" altLang="zh-CN" dirty="0" smtClean="0"/>
              <a:t>2:4</a:t>
            </a:r>
            <a:r>
              <a:rPr lang="zh-CN" altLang="en-US" dirty="0" smtClean="0"/>
              <a:t>译码器实现片选信号连接。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P32-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DRAM</a:t>
            </a:r>
            <a:r>
              <a:rPr lang="zh-CN" altLang="en-US" dirty="0" smtClean="0"/>
              <a:t>字扩展方法</a:t>
            </a:r>
            <a:r>
              <a:rPr lang="en-US" altLang="zh-CN" dirty="0" smtClean="0"/>
              <a:t>   P25-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DRAMC</a:t>
            </a:r>
            <a:r>
              <a:rPr lang="zh-CN" altLang="en-US" dirty="0" smtClean="0"/>
              <a:t>的外部引脚。两个</a:t>
            </a:r>
            <a:r>
              <a:rPr lang="en-US" altLang="zh-CN" dirty="0" smtClean="0"/>
              <a:t>CAS#</a:t>
            </a:r>
            <a:r>
              <a:rPr lang="zh-CN" altLang="en-US" dirty="0" smtClean="0"/>
              <a:t>的好处时可以部分隐藏刷新时间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P35-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8088 CPU</a:t>
            </a:r>
            <a:r>
              <a:rPr lang="zh-CN" altLang="en-US" dirty="0" smtClean="0"/>
              <a:t>的存储器接口</a:t>
            </a:r>
            <a:endParaRPr lang="en-US" altLang="zh-CN" dirty="0" smtClean="0"/>
          </a:p>
          <a:p>
            <a:r>
              <a:rPr lang="zh-CN" altLang="en-US" dirty="0" smtClean="0"/>
              <a:t>思考：</a:t>
            </a:r>
            <a:r>
              <a:rPr lang="en-US" altLang="zh-CN" dirty="0" smtClean="0"/>
              <a:t>A</a:t>
            </a:r>
            <a:r>
              <a:rPr lang="en-US" altLang="zh-CN" baseline="-18000" dirty="0" smtClean="0"/>
              <a:t>19</a:t>
            </a:r>
            <a:r>
              <a:rPr lang="en-US" altLang="zh-CN" dirty="0" smtClean="0"/>
              <a:t>=1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思考①：不可以，</a:t>
            </a:r>
            <a:r>
              <a:rPr lang="en-US" altLang="zh-CN" dirty="0" smtClean="0"/>
              <a:t>ROM</a:t>
            </a:r>
            <a:r>
              <a:rPr lang="zh-CN" altLang="en-US" dirty="0" smtClean="0"/>
              <a:t>可能都无效，右图二选一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思考：没什么差别，均基于主设备的</a:t>
            </a:r>
            <a:r>
              <a:rPr lang="en-US" altLang="zh-CN" dirty="0" smtClean="0"/>
              <a:t>MEM</a:t>
            </a:r>
            <a:r>
              <a:rPr lang="zh-CN" altLang="en-US" dirty="0" smtClean="0"/>
              <a:t>接口。   </a:t>
            </a:r>
            <a:r>
              <a:rPr lang="en-US" altLang="zh-CN" dirty="0" smtClean="0"/>
              <a:t>P38-</a:t>
            </a:r>
            <a:r>
              <a:rPr lang="zh-CN" altLang="en-US" dirty="0" smtClean="0"/>
              <a:t>看本例中</a:t>
            </a:r>
            <a:r>
              <a:rPr lang="en-US" altLang="zh-CN" dirty="0" smtClean="0"/>
              <a:t>CPU</a:t>
            </a:r>
            <a:r>
              <a:rPr lang="zh-CN" altLang="en-US" dirty="0" smtClean="0"/>
              <a:t>的存储器接口，</a:t>
            </a:r>
            <a:r>
              <a:rPr lang="en-US" altLang="zh-CN" dirty="0" smtClean="0"/>
              <a:t>37-</a:t>
            </a:r>
            <a:r>
              <a:rPr lang="zh-CN" altLang="en-US" dirty="0" smtClean="0"/>
              <a:t>看控制线的连接方法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P5-</a:t>
            </a:r>
            <a:r>
              <a:rPr lang="zh-CN" altLang="en-US" dirty="0" smtClean="0"/>
              <a:t>看带宽概念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思考①：</a:t>
            </a:r>
            <a:r>
              <a:rPr lang="en-US" altLang="zh-CN" dirty="0" smtClean="0"/>
              <a:t>DRAM</a:t>
            </a:r>
            <a:r>
              <a:rPr lang="zh-CN" altLang="en-US" dirty="0" smtClean="0"/>
              <a:t>同一行的所有列同时工作，数据传输间隔≥选择不同列</a:t>
            </a:r>
            <a:r>
              <a:rPr lang="en-US" altLang="zh-CN" dirty="0" smtClean="0"/>
              <a:t>+</a:t>
            </a:r>
            <a:r>
              <a:rPr lang="zh-CN" altLang="en-US" dirty="0" smtClean="0"/>
              <a:t>信号稳定的时延即可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思考：存储矩阵</a:t>
            </a:r>
            <a:r>
              <a:rPr lang="en-US" altLang="zh-CN">
                <a:sym typeface="+mn-ea"/>
              </a:rPr>
              <a:t>=2^(n-3)*8w</a:t>
            </a:r>
            <a:r>
              <a:rPr lang="zh-CN" altLang="en-US">
                <a:sym typeface="+mn-ea"/>
              </a:rPr>
              <a:t>，工作频率</a:t>
            </a:r>
            <a:r>
              <a:rPr lang="en-US" altLang="zh-CN">
                <a:sym typeface="+mn-ea"/>
              </a:rPr>
              <a:t>=</a:t>
            </a:r>
            <a:r>
              <a:rPr lang="zh-CN" altLang="en-US">
                <a:sym typeface="+mn-ea"/>
              </a:rPr>
              <a:t>核心频率</a:t>
            </a:r>
            <a:r>
              <a:rPr lang="en-US" altLang="zh-CN">
                <a:sym typeface="+mn-ea"/>
              </a:rPr>
              <a:t>*4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思考：地址低位连接片选线       </a:t>
            </a:r>
            <a:r>
              <a:rPr lang="en-US" altLang="zh-CN" dirty="0" smtClean="0"/>
              <a:t>P41-</a:t>
            </a:r>
            <a:r>
              <a:rPr lang="zh-CN" altLang="en-US" dirty="0" smtClean="0"/>
              <a:t>看优化方法</a:t>
            </a:r>
            <a:r>
              <a:rPr lang="en-US" altLang="zh-CN" dirty="0" smtClean="0"/>
              <a:t>2</a:t>
            </a:r>
            <a:r>
              <a:rPr lang="zh-CN" altLang="en-US" dirty="0" smtClean="0"/>
              <a:t>   </a:t>
            </a:r>
            <a:r>
              <a:rPr lang="en-US" altLang="zh-CN" dirty="0" smtClean="0"/>
              <a:t>P31-</a:t>
            </a:r>
            <a:r>
              <a:rPr lang="zh-CN" altLang="en-US" dirty="0" smtClean="0"/>
              <a:t>看顺序编址的实现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思考：同</a:t>
            </a:r>
            <a:r>
              <a:rPr lang="en-US" altLang="zh-CN">
                <a:sym typeface="+mn-ea"/>
              </a:rPr>
              <a:t>SDRAM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P41-</a:t>
            </a:r>
            <a:r>
              <a:rPr lang="zh-CN" altLang="en-US" dirty="0" smtClean="0"/>
              <a:t>看优化方法的类型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示例：</a:t>
            </a:r>
            <a:r>
              <a:rPr lang="en-US" altLang="zh-CN"/>
              <a:t>Cache</a:t>
            </a:r>
            <a:r>
              <a:rPr lang="zh-CN" altLang="en-US"/>
              <a:t>有</a:t>
            </a:r>
            <a:r>
              <a:rPr lang="en-US" altLang="zh-CN"/>
              <a:t>512</a:t>
            </a:r>
            <a:r>
              <a:rPr lang="zh-CN" altLang="en-US"/>
              <a:t>行，行号</a:t>
            </a:r>
            <a:r>
              <a:rPr lang="en-US" altLang="zh-CN"/>
              <a:t>9</a:t>
            </a:r>
            <a:r>
              <a:rPr lang="zh-CN" altLang="en-US"/>
              <a:t>位，块内地址</a:t>
            </a:r>
            <a:r>
              <a:rPr lang="en-US" altLang="zh-CN"/>
              <a:t>4</a:t>
            </a:r>
            <a:r>
              <a:rPr lang="zh-CN" altLang="en-US"/>
              <a:t>位。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048000" indent="-3048000">
              <a:lnSpc>
                <a:spcPct val="125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P53-</a:t>
            </a:r>
            <a:r>
              <a:rPr lang="zh-CN" altLang="en-US" dirty="0"/>
              <a:t>看映射含查找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看地址划分的目的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看标志组成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看直接映射的查找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思考：</a:t>
            </a:r>
            <a:r>
              <a:rPr lang="en-US" altLang="zh-CN" dirty="0" smtClean="0"/>
              <a:t>log</a:t>
            </a:r>
            <a:r>
              <a:rPr lang="en-US" altLang="zh-CN" baseline="-18000" dirty="0" smtClean="0"/>
              <a:t>2</a:t>
            </a:r>
            <a:r>
              <a:rPr lang="en-US" altLang="zh-CN" dirty="0" smtClean="0"/>
              <a:t>n</a:t>
            </a:r>
            <a:r>
              <a:rPr lang="zh-CN" altLang="en-US" dirty="0" smtClean="0"/>
              <a:t>位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看标志的组成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思考：层次结构，级联传递信息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思考：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</a:t>
            </a:r>
            <a:r>
              <a:rPr lang="en-US" altLang="zh-CN" dirty="0" smtClean="0"/>
              <a:t>=</a:t>
            </a:r>
            <a:r>
              <a:rPr lang="zh-CN" altLang="en-US" dirty="0" smtClean="0"/>
              <a:t>相联度          </a:t>
            </a:r>
            <a:r>
              <a:rPr lang="en-US" altLang="zh-CN" dirty="0" smtClean="0"/>
              <a:t>P56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58</a:t>
            </a:r>
            <a:r>
              <a:rPr lang="zh-CN" altLang="en-US" dirty="0" smtClean="0"/>
              <a:t>、</a:t>
            </a:r>
            <a:r>
              <a:rPr lang="en-US" altLang="zh-CN" dirty="0" smtClean="0"/>
              <a:t>60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看三种映射方式图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dirty="0" smtClean="0">
                <a:sym typeface="+mn-ea"/>
              </a:rPr>
              <a:t>P53-</a:t>
            </a:r>
            <a:r>
              <a:rPr lang="zh-CN" altLang="en-US" dirty="0" smtClean="0">
                <a:sym typeface="+mn-ea"/>
              </a:rPr>
              <a:t>看写策略的任务</a:t>
            </a:r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进程：可并发执行的程序在一个数据集合上的运行过程</a:t>
            </a:r>
            <a:r>
              <a:rPr lang="en-US" altLang="zh-CN" dirty="0" smtClean="0">
                <a:sym typeface="+mn-ea"/>
              </a:rPr>
              <a:t>     </a:t>
            </a:r>
            <a:r>
              <a:rPr lang="zh-CN" altLang="en-US"/>
              <a:t>思考</a:t>
            </a:r>
            <a:r>
              <a:rPr lang="zh-CN" altLang="en-US" dirty="0" smtClean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②：操作系统</a:t>
            </a:r>
            <a:endParaRPr lang="zh-CN" altLang="en-US" dirty="0" smtClean="0">
              <a:solidFill>
                <a:srgbClr val="990099"/>
              </a:solidFill>
              <a:latin typeface="+mn-ea"/>
              <a:ea typeface="+mn-ea"/>
              <a:sym typeface="+mn-ea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看程序全部装入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思考①：硬件速度快</a:t>
            </a:r>
            <a:r>
              <a:rPr lang="zh-CN" altLang="en-US" baseline="0" dirty="0" smtClean="0"/>
              <a:t>   思考</a:t>
            </a:r>
            <a:r>
              <a:rPr lang="zh-CN" altLang="en-US" dirty="0" smtClean="0"/>
              <a:t>②：从文件区装入后再处理    </a:t>
            </a:r>
            <a:r>
              <a:rPr lang="en-US" altLang="zh-CN" dirty="0" smtClean="0"/>
              <a:t>P8-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MMU</a:t>
            </a:r>
            <a:r>
              <a:rPr lang="zh-CN" altLang="en-US" dirty="0" smtClean="0"/>
              <a:t>位置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思考：</a:t>
            </a:r>
            <a:r>
              <a:rPr lang="en-US" altLang="zh-CN" dirty="0" smtClean="0"/>
              <a:t>32MB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看段表的字段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看页表存放、索引问题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P75-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VM</a:t>
            </a:r>
            <a:r>
              <a:rPr lang="zh-CN" altLang="en-US" dirty="0" smtClean="0"/>
              <a:t>相关空间</a:t>
            </a:r>
            <a:endParaRPr lang="zh-CN" altLang="en-US" dirty="0" smtClean="0"/>
          </a:p>
          <a:p>
            <a:r>
              <a:rPr lang="en-US" altLang="zh-CN" dirty="0" smtClean="0"/>
              <a:t>Exe</a:t>
            </a:r>
            <a:r>
              <a:rPr lang="zh-CN" altLang="en-US" dirty="0" smtClean="0"/>
              <a:t>文件中程序头表为结构数组，结构体中包含段类型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p_type</a:t>
            </a:r>
            <a:r>
              <a:rPr lang="en-US" altLang="zh-CN" dirty="0" smtClean="0"/>
              <a:t>)</a:t>
            </a:r>
            <a:r>
              <a:rPr lang="zh-CN" altLang="en-US" dirty="0" smtClean="0"/>
              <a:t>、段首在文件中偏移地址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p_offset</a:t>
            </a:r>
            <a:r>
              <a:rPr lang="en-US" altLang="zh-CN" dirty="0" smtClean="0"/>
              <a:t>)</a:t>
            </a:r>
            <a:r>
              <a:rPr lang="zh-CN" altLang="en-US" dirty="0" smtClean="0"/>
              <a:t>、段首的虚拟地址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p_vaddr</a:t>
            </a:r>
            <a:r>
              <a:rPr lang="en-US" altLang="zh-CN" dirty="0" smtClean="0"/>
              <a:t>)</a:t>
            </a:r>
            <a:r>
              <a:rPr lang="zh-CN" altLang="en-US" dirty="0" smtClean="0"/>
              <a:t>、段在文件中长度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p_filesz</a:t>
            </a:r>
            <a:r>
              <a:rPr lang="en-US" altLang="zh-CN" dirty="0" smtClean="0"/>
              <a:t>)</a:t>
            </a:r>
            <a:r>
              <a:rPr lang="zh-CN" altLang="en-US" dirty="0" smtClean="0"/>
              <a:t>、段在</a:t>
            </a:r>
            <a:r>
              <a:rPr lang="en-US" altLang="zh-CN" dirty="0" smtClean="0"/>
              <a:t>MEM</a:t>
            </a:r>
            <a:r>
              <a:rPr lang="zh-CN" altLang="en-US" dirty="0" smtClean="0"/>
              <a:t>中长度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p_memsz</a:t>
            </a:r>
            <a:r>
              <a:rPr lang="en-US" altLang="zh-CN" dirty="0" smtClean="0"/>
              <a:t>)</a:t>
            </a:r>
            <a:r>
              <a:rPr lang="zh-CN" altLang="en-US" dirty="0" smtClean="0"/>
              <a:t>等；</a:t>
            </a:r>
            <a:endParaRPr lang="en-US" altLang="zh-CN" dirty="0" smtClean="0"/>
          </a:p>
          <a:p>
            <a:r>
              <a:rPr lang="zh-CN" altLang="en-US" dirty="0" smtClean="0"/>
              <a:t>文件分配表</a:t>
            </a:r>
            <a:r>
              <a:rPr lang="en-US" altLang="zh-CN" dirty="0" smtClean="0"/>
              <a:t>(FAT)</a:t>
            </a:r>
            <a:r>
              <a:rPr lang="zh-CN" altLang="en-US" dirty="0" smtClean="0"/>
              <a:t> 管理所有文件，每个文件占一个目录项；文件内容、设备空间按物理块</a:t>
            </a:r>
            <a:r>
              <a:rPr lang="en-US" altLang="zh-CN" dirty="0" smtClean="0"/>
              <a:t>(</a:t>
            </a:r>
            <a:r>
              <a:rPr lang="zh-CN" altLang="en-US" dirty="0" smtClean="0"/>
              <a:t>如扇区</a:t>
            </a:r>
            <a:r>
              <a:rPr lang="en-US" altLang="zh-CN" dirty="0" smtClean="0"/>
              <a:t>)</a:t>
            </a:r>
            <a:r>
              <a:rPr lang="zh-CN" altLang="en-US" dirty="0" smtClean="0"/>
              <a:t>进行管理，内容索引表实现文件内容到设备的映射管理。目录项中包含文件名称、类型、存取权限、内容索引表</a:t>
            </a:r>
            <a:r>
              <a:rPr lang="en-US" altLang="zh-CN" dirty="0" smtClean="0"/>
              <a:t>(</a:t>
            </a:r>
            <a:r>
              <a:rPr lang="zh-CN" altLang="en-US" dirty="0" smtClean="0"/>
              <a:t>占≥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个物理块</a:t>
            </a:r>
            <a:r>
              <a:rPr lang="en-US" altLang="zh-CN" dirty="0" smtClean="0"/>
              <a:t>)</a:t>
            </a:r>
            <a:r>
              <a:rPr lang="zh-CN" altLang="en-US" dirty="0" smtClean="0"/>
              <a:t>第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个物理块的设备地址</a:t>
            </a:r>
            <a:r>
              <a:rPr lang="en-US" altLang="zh-CN" dirty="0" smtClean="0"/>
              <a:t>(</a:t>
            </a:r>
            <a:r>
              <a:rPr lang="zh-CN" altLang="en-US" dirty="0" smtClean="0"/>
              <a:t>磁盘地址</a:t>
            </a:r>
            <a:r>
              <a:rPr lang="en-US" altLang="zh-CN" dirty="0" smtClean="0"/>
              <a:t>)</a:t>
            </a:r>
            <a:r>
              <a:rPr lang="zh-CN" altLang="en-US" dirty="0" smtClean="0"/>
              <a:t>、创建时间等。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P78-</a:t>
            </a:r>
            <a:r>
              <a:rPr lang="zh-CN" altLang="en-US" dirty="0" smtClean="0"/>
              <a:t>看地址变换内容， </a:t>
            </a:r>
            <a:r>
              <a:rPr lang="en-US" altLang="zh-CN" dirty="0" smtClean="0"/>
              <a:t>P79-</a:t>
            </a:r>
            <a:r>
              <a:rPr lang="zh-CN" altLang="en-US" dirty="0" smtClean="0"/>
              <a:t>看段页式变换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思考：虚页号</a:t>
            </a:r>
            <a:r>
              <a:rPr lang="en-US" altLang="zh-CN">
                <a:sym typeface="+mn-ea"/>
              </a:rPr>
              <a:t>=48-log2(4KB/1B)=36</a:t>
            </a:r>
            <a:r>
              <a:rPr lang="zh-CN" altLang="en-US">
                <a:sym typeface="+mn-ea"/>
              </a:rPr>
              <a:t>位，</a:t>
            </a:r>
            <a:r>
              <a:rPr lang="en-US" altLang="zh-CN">
                <a:sym typeface="+mn-ea"/>
              </a:rPr>
              <a:t>TLB</a:t>
            </a:r>
            <a:r>
              <a:rPr lang="zh-CN" altLang="en-US">
                <a:sym typeface="+mn-ea"/>
              </a:rPr>
              <a:t>组号</a:t>
            </a:r>
            <a:r>
              <a:rPr lang="en-US" altLang="zh-CN">
                <a:sym typeface="+mn-ea"/>
              </a:rPr>
              <a:t>=log2(64/4)=4</a:t>
            </a:r>
            <a:r>
              <a:rPr lang="zh-CN" altLang="en-US">
                <a:sym typeface="+mn-ea"/>
              </a:rPr>
              <a:t>位，</a:t>
            </a:r>
            <a:r>
              <a:rPr lang="en-US" altLang="zh-CN">
                <a:sym typeface="+mn-ea"/>
              </a:rPr>
              <a:t>Tag=36-4=32</a:t>
            </a:r>
            <a:r>
              <a:rPr lang="zh-CN" altLang="en-US">
                <a:sym typeface="+mn-ea"/>
              </a:rPr>
              <a:t>位</a:t>
            </a:r>
            <a:endParaRPr lang="zh-CN" altLang="en-US"/>
          </a:p>
          <a:p>
            <a:r>
              <a:rPr lang="en-US" altLang="zh-CN" dirty="0" smtClean="0"/>
              <a:t>TLB</a:t>
            </a:r>
            <a:r>
              <a:rPr lang="zh-CN" altLang="en-US" dirty="0" smtClean="0"/>
              <a:t>注：</a:t>
            </a:r>
            <a:r>
              <a:rPr lang="en-US" altLang="zh-CN" dirty="0" smtClean="0"/>
              <a:t>1</a:t>
            </a:r>
            <a:r>
              <a:rPr lang="zh-CN" altLang="en-US" dirty="0" smtClean="0"/>
              <a:t>、段页式管理时，标记取自段号</a:t>
            </a:r>
            <a:r>
              <a:rPr lang="en-US" altLang="zh-CN" dirty="0" smtClean="0"/>
              <a:t>+</a:t>
            </a:r>
            <a:r>
              <a:rPr lang="zh-CN" altLang="en-US" dirty="0" smtClean="0"/>
              <a:t>虚页号，不存在段表项条目；</a:t>
            </a:r>
            <a:endParaRPr lang="en-US" altLang="zh-CN" dirty="0" smtClean="0"/>
          </a:p>
          <a:p>
            <a:r>
              <a:rPr lang="en-US" altLang="zh-CN" dirty="0" smtClean="0"/>
              <a:t>       2</a:t>
            </a:r>
            <a:r>
              <a:rPr lang="zh-CN" altLang="en-US" dirty="0" smtClean="0"/>
              <a:t>、修改位、引用位需与页表保持一致性（首次修改时更新页表项）；</a:t>
            </a:r>
            <a:endParaRPr lang="en-US" altLang="zh-CN" dirty="0" smtClean="0"/>
          </a:p>
          <a:p>
            <a:r>
              <a:rPr lang="en-US" altLang="zh-CN" dirty="0" smtClean="0"/>
              <a:t>       3</a:t>
            </a:r>
            <a:r>
              <a:rPr lang="zh-CN" altLang="en-US" dirty="0" smtClean="0"/>
              <a:t>、应包含</a:t>
            </a:r>
            <a:r>
              <a:rPr lang="en-US" altLang="zh-CN" dirty="0" smtClean="0"/>
              <a:t>PID</a:t>
            </a:r>
            <a:r>
              <a:rPr lang="zh-CN" altLang="en-US" dirty="0" smtClean="0"/>
              <a:t>字段（多个进程共用</a:t>
            </a:r>
            <a:r>
              <a:rPr lang="en-US" altLang="zh-CN" dirty="0" smtClean="0"/>
              <a:t>TLB</a:t>
            </a:r>
            <a:r>
              <a:rPr lang="zh-CN" altLang="en-US" dirty="0" smtClean="0"/>
              <a:t>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63DE6-9781-4737-8BEC-0D66A11158C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思考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①：需页号</a:t>
            </a:r>
            <a:r>
              <a:rPr lang="en-US" altLang="zh-CN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=48b-log</a:t>
            </a:r>
            <a:r>
              <a:rPr lang="en-US" altLang="zh-CN" baseline="-2500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(4KB/1B)=36b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ITLB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索引</a:t>
            </a:r>
            <a:r>
              <a:rPr lang="en-US" altLang="zh-CN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=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组号</a:t>
            </a:r>
            <a:r>
              <a:rPr lang="en-US" altLang="zh-CN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=log</a:t>
            </a:r>
            <a:r>
              <a:rPr lang="en-US" altLang="zh-CN" baseline="-2500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(128/4)=5b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，标记</a:t>
            </a:r>
            <a:r>
              <a:rPr lang="en-US" altLang="zh-CN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=36-5=31b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；主存块号</a:t>
            </a:r>
            <a:r>
              <a:rPr lang="en-US" altLang="zh-CN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=52b-log</a:t>
            </a:r>
            <a:r>
              <a:rPr lang="en-US" altLang="zh-CN" baseline="-2500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(64B/1B)=46b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L2$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索引</a:t>
            </a:r>
            <a:r>
              <a:rPr lang="en-US" altLang="zh-CN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=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组号</a:t>
            </a:r>
            <a:r>
              <a:rPr lang="en-US" altLang="zh-CN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=log</a:t>
            </a:r>
            <a:r>
              <a:rPr lang="en-US" altLang="zh-CN" baseline="-2500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(256KB/64B/8)=9b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，标记</a:t>
            </a:r>
            <a:r>
              <a:rPr lang="en-US" altLang="zh-CN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=46-9=37b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F6768F-A6D7-4A0D-9879-1EDC05C58D1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5C9574-2E69-4938-937D-7BE7A9013EB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D9B4D-86FB-4ECF-AAA3-684F5B00CB1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3CECF8-72BB-4143-AE17-43DB8ED7CA0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0C3756-239D-42F7-BABE-9930AF0A5F2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115FBB-FD6D-4679-8578-780354EAD0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 lIns="18000" tIns="10800" rIns="18000" bIns="10800" anchor="ctr" anchorCtr="0"/>
          <a:lstStyle>
            <a:lvl1pPr algn="ctr">
              <a:defRPr sz="1600"/>
            </a:lvl1pPr>
          </a:lstStyle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灯片编号占位符 3"/>
          <p:cNvSpPr txBox="1"/>
          <p:nvPr userDrawn="1"/>
        </p:nvSpPr>
        <p:spPr bwMode="auto">
          <a:xfrm>
            <a:off x="2704" y="6453336"/>
            <a:ext cx="1184920" cy="36004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 vert="horz" wrap="square" lIns="18000" tIns="10800" rIns="18000" bIns="10800" numCol="1" anchor="ctr" anchorCtr="0" compatLnSpc="1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1600" u="none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u="sng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u="sng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u="sng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u="sng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u="sng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u="sng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u="sng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u="sng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SEU.CSE.RGL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CBB5E4-C697-43A7-8135-FB31C4E5B16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F99711-8ADF-4444-BB2B-AD4FE42A7A8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0596AA-ADD8-495C-9502-1995ED2D2CD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AE5B36-082F-466F-A27F-FD170CA41E8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u="none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u="none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u="none"/>
            </a:lvl1pPr>
          </a:lstStyle>
          <a:p>
            <a:fld id="{56743B6A-F0BE-4ECC-820C-5678D61F99D3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3" Type="http://schemas.openxmlformats.org/officeDocument/2006/relationships/slideLayout" Target="../slideLayouts/slideLayout7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slide" Target="slide71.xml"/><Relationship Id="rId4" Type="http://schemas.openxmlformats.org/officeDocument/2006/relationships/slide" Target="slide50.xml"/><Relationship Id="rId3" Type="http://schemas.openxmlformats.org/officeDocument/2006/relationships/slide" Target="slide28.xml"/><Relationship Id="rId2" Type="http://schemas.openxmlformats.org/officeDocument/2006/relationships/slide" Target="slide9.xml"/><Relationship Id="rId1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slide" Target="slide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1" Type="http://schemas.openxmlformats.org/officeDocument/2006/relationships/slideLayout" Target="../slideLayouts/slideLayout7.xml"/><Relationship Id="rId50" Type="http://schemas.openxmlformats.org/officeDocument/2006/relationships/tags" Target="../tags/tag81.xml"/><Relationship Id="rId5" Type="http://schemas.openxmlformats.org/officeDocument/2006/relationships/tags" Target="../tags/tag37.xml"/><Relationship Id="rId49" Type="http://schemas.openxmlformats.org/officeDocument/2006/relationships/slide" Target="slide3.xml"/><Relationship Id="rId48" Type="http://schemas.openxmlformats.org/officeDocument/2006/relationships/tags" Target="../tags/tag80.xml"/><Relationship Id="rId47" Type="http://schemas.openxmlformats.org/officeDocument/2006/relationships/tags" Target="../tags/tag79.xml"/><Relationship Id="rId46" Type="http://schemas.openxmlformats.org/officeDocument/2006/relationships/tags" Target="../tags/tag78.xml"/><Relationship Id="rId45" Type="http://schemas.openxmlformats.org/officeDocument/2006/relationships/tags" Target="../tags/tag77.xml"/><Relationship Id="rId44" Type="http://schemas.openxmlformats.org/officeDocument/2006/relationships/tags" Target="../tags/tag76.xml"/><Relationship Id="rId43" Type="http://schemas.openxmlformats.org/officeDocument/2006/relationships/tags" Target="../tags/tag75.xml"/><Relationship Id="rId42" Type="http://schemas.openxmlformats.org/officeDocument/2006/relationships/tags" Target="../tags/tag74.xml"/><Relationship Id="rId41" Type="http://schemas.openxmlformats.org/officeDocument/2006/relationships/tags" Target="../tags/tag73.xml"/><Relationship Id="rId40" Type="http://schemas.openxmlformats.org/officeDocument/2006/relationships/tags" Target="../tags/tag72.xml"/><Relationship Id="rId4" Type="http://schemas.openxmlformats.org/officeDocument/2006/relationships/tags" Target="../tags/tag36.xml"/><Relationship Id="rId39" Type="http://schemas.openxmlformats.org/officeDocument/2006/relationships/tags" Target="../tags/tag71.xml"/><Relationship Id="rId38" Type="http://schemas.openxmlformats.org/officeDocument/2006/relationships/tags" Target="../tags/tag70.xml"/><Relationship Id="rId37" Type="http://schemas.openxmlformats.org/officeDocument/2006/relationships/tags" Target="../tags/tag69.xml"/><Relationship Id="rId36" Type="http://schemas.openxmlformats.org/officeDocument/2006/relationships/tags" Target="../tags/tag68.xml"/><Relationship Id="rId35" Type="http://schemas.openxmlformats.org/officeDocument/2006/relationships/tags" Target="../tags/tag67.xml"/><Relationship Id="rId34" Type="http://schemas.openxmlformats.org/officeDocument/2006/relationships/tags" Target="../tags/tag66.xml"/><Relationship Id="rId33" Type="http://schemas.openxmlformats.org/officeDocument/2006/relationships/tags" Target="../tags/tag65.xml"/><Relationship Id="rId32" Type="http://schemas.openxmlformats.org/officeDocument/2006/relationships/tags" Target="../tags/tag64.xml"/><Relationship Id="rId31" Type="http://schemas.openxmlformats.org/officeDocument/2006/relationships/tags" Target="../tags/tag63.xml"/><Relationship Id="rId30" Type="http://schemas.openxmlformats.org/officeDocument/2006/relationships/tags" Target="../tags/tag62.xml"/><Relationship Id="rId3" Type="http://schemas.openxmlformats.org/officeDocument/2006/relationships/tags" Target="../tags/tag35.xml"/><Relationship Id="rId29" Type="http://schemas.openxmlformats.org/officeDocument/2006/relationships/tags" Target="../tags/tag61.xml"/><Relationship Id="rId28" Type="http://schemas.openxmlformats.org/officeDocument/2006/relationships/tags" Target="../tags/tag60.xml"/><Relationship Id="rId27" Type="http://schemas.openxmlformats.org/officeDocument/2006/relationships/tags" Target="../tags/tag59.xml"/><Relationship Id="rId26" Type="http://schemas.openxmlformats.org/officeDocument/2006/relationships/tags" Target="../tags/tag58.xml"/><Relationship Id="rId25" Type="http://schemas.openxmlformats.org/officeDocument/2006/relationships/tags" Target="../tags/tag57.xml"/><Relationship Id="rId24" Type="http://schemas.openxmlformats.org/officeDocument/2006/relationships/tags" Target="../tags/tag56.xml"/><Relationship Id="rId23" Type="http://schemas.openxmlformats.org/officeDocument/2006/relationships/tags" Target="../tags/tag55.xml"/><Relationship Id="rId22" Type="http://schemas.openxmlformats.org/officeDocument/2006/relationships/tags" Target="../tags/tag54.xml"/><Relationship Id="rId21" Type="http://schemas.openxmlformats.org/officeDocument/2006/relationships/tags" Target="../tags/tag53.xml"/><Relationship Id="rId20" Type="http://schemas.openxmlformats.org/officeDocument/2006/relationships/tags" Target="../tags/tag52.xml"/><Relationship Id="rId2" Type="http://schemas.openxmlformats.org/officeDocument/2006/relationships/tags" Target="../tags/tag34.xml"/><Relationship Id="rId19" Type="http://schemas.openxmlformats.org/officeDocument/2006/relationships/tags" Target="../tags/tag51.xml"/><Relationship Id="rId18" Type="http://schemas.openxmlformats.org/officeDocument/2006/relationships/tags" Target="../tags/tag50.xml"/><Relationship Id="rId17" Type="http://schemas.openxmlformats.org/officeDocument/2006/relationships/tags" Target="../tags/tag49.xml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tags" Target="../tags/tag3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slide" Target="slide17.xml"/></Relationships>
</file>

<file path=ppt/slides/_rels/slide11.xml.rels><?xml version="1.0" encoding="UTF-8" standalone="yes"?>
<Relationships xmlns="http://schemas.openxmlformats.org/package/2006/relationships"><Relationship Id="rId99" Type="http://schemas.openxmlformats.org/officeDocument/2006/relationships/tags" Target="../tags/tag180.xml"/><Relationship Id="rId98" Type="http://schemas.openxmlformats.org/officeDocument/2006/relationships/tags" Target="../tags/tag179.xml"/><Relationship Id="rId97" Type="http://schemas.openxmlformats.org/officeDocument/2006/relationships/tags" Target="../tags/tag178.xml"/><Relationship Id="rId96" Type="http://schemas.openxmlformats.org/officeDocument/2006/relationships/tags" Target="../tags/tag177.xml"/><Relationship Id="rId95" Type="http://schemas.openxmlformats.org/officeDocument/2006/relationships/tags" Target="../tags/tag176.xml"/><Relationship Id="rId94" Type="http://schemas.openxmlformats.org/officeDocument/2006/relationships/tags" Target="../tags/tag175.xml"/><Relationship Id="rId93" Type="http://schemas.openxmlformats.org/officeDocument/2006/relationships/tags" Target="../tags/tag174.xml"/><Relationship Id="rId92" Type="http://schemas.openxmlformats.org/officeDocument/2006/relationships/tags" Target="../tags/tag173.xml"/><Relationship Id="rId91" Type="http://schemas.openxmlformats.org/officeDocument/2006/relationships/tags" Target="../tags/tag172.xml"/><Relationship Id="rId90" Type="http://schemas.openxmlformats.org/officeDocument/2006/relationships/tags" Target="../tags/tag171.xml"/><Relationship Id="rId9" Type="http://schemas.openxmlformats.org/officeDocument/2006/relationships/tags" Target="../tags/tag90.xml"/><Relationship Id="rId89" Type="http://schemas.openxmlformats.org/officeDocument/2006/relationships/tags" Target="../tags/tag170.xml"/><Relationship Id="rId88" Type="http://schemas.openxmlformats.org/officeDocument/2006/relationships/tags" Target="../tags/tag169.xml"/><Relationship Id="rId87" Type="http://schemas.openxmlformats.org/officeDocument/2006/relationships/tags" Target="../tags/tag168.xml"/><Relationship Id="rId86" Type="http://schemas.openxmlformats.org/officeDocument/2006/relationships/tags" Target="../tags/tag167.xml"/><Relationship Id="rId85" Type="http://schemas.openxmlformats.org/officeDocument/2006/relationships/tags" Target="../tags/tag166.xml"/><Relationship Id="rId84" Type="http://schemas.openxmlformats.org/officeDocument/2006/relationships/tags" Target="../tags/tag165.xml"/><Relationship Id="rId83" Type="http://schemas.openxmlformats.org/officeDocument/2006/relationships/tags" Target="../tags/tag164.xml"/><Relationship Id="rId82" Type="http://schemas.openxmlformats.org/officeDocument/2006/relationships/tags" Target="../tags/tag163.xml"/><Relationship Id="rId81" Type="http://schemas.openxmlformats.org/officeDocument/2006/relationships/tags" Target="../tags/tag162.xml"/><Relationship Id="rId80" Type="http://schemas.openxmlformats.org/officeDocument/2006/relationships/tags" Target="../tags/tag161.xml"/><Relationship Id="rId8" Type="http://schemas.openxmlformats.org/officeDocument/2006/relationships/tags" Target="../tags/tag89.xml"/><Relationship Id="rId79" Type="http://schemas.openxmlformats.org/officeDocument/2006/relationships/tags" Target="../tags/tag160.xml"/><Relationship Id="rId78" Type="http://schemas.openxmlformats.org/officeDocument/2006/relationships/tags" Target="../tags/tag159.xml"/><Relationship Id="rId77" Type="http://schemas.openxmlformats.org/officeDocument/2006/relationships/tags" Target="../tags/tag158.xml"/><Relationship Id="rId76" Type="http://schemas.openxmlformats.org/officeDocument/2006/relationships/tags" Target="../tags/tag157.xml"/><Relationship Id="rId75" Type="http://schemas.openxmlformats.org/officeDocument/2006/relationships/tags" Target="../tags/tag156.xml"/><Relationship Id="rId74" Type="http://schemas.openxmlformats.org/officeDocument/2006/relationships/tags" Target="../tags/tag155.xml"/><Relationship Id="rId73" Type="http://schemas.openxmlformats.org/officeDocument/2006/relationships/tags" Target="../tags/tag154.xml"/><Relationship Id="rId72" Type="http://schemas.openxmlformats.org/officeDocument/2006/relationships/tags" Target="../tags/tag153.xml"/><Relationship Id="rId71" Type="http://schemas.openxmlformats.org/officeDocument/2006/relationships/tags" Target="../tags/tag152.xml"/><Relationship Id="rId70" Type="http://schemas.openxmlformats.org/officeDocument/2006/relationships/tags" Target="../tags/tag151.xml"/><Relationship Id="rId7" Type="http://schemas.openxmlformats.org/officeDocument/2006/relationships/tags" Target="../tags/tag88.xml"/><Relationship Id="rId69" Type="http://schemas.openxmlformats.org/officeDocument/2006/relationships/tags" Target="../tags/tag150.xml"/><Relationship Id="rId68" Type="http://schemas.openxmlformats.org/officeDocument/2006/relationships/tags" Target="../tags/tag149.xml"/><Relationship Id="rId67" Type="http://schemas.openxmlformats.org/officeDocument/2006/relationships/tags" Target="../tags/tag148.xml"/><Relationship Id="rId66" Type="http://schemas.openxmlformats.org/officeDocument/2006/relationships/tags" Target="../tags/tag147.xml"/><Relationship Id="rId65" Type="http://schemas.openxmlformats.org/officeDocument/2006/relationships/tags" Target="../tags/tag146.xml"/><Relationship Id="rId64" Type="http://schemas.openxmlformats.org/officeDocument/2006/relationships/tags" Target="../tags/tag145.xml"/><Relationship Id="rId63" Type="http://schemas.openxmlformats.org/officeDocument/2006/relationships/tags" Target="../tags/tag144.xml"/><Relationship Id="rId62" Type="http://schemas.openxmlformats.org/officeDocument/2006/relationships/tags" Target="../tags/tag143.xml"/><Relationship Id="rId61" Type="http://schemas.openxmlformats.org/officeDocument/2006/relationships/tags" Target="../tags/tag142.xml"/><Relationship Id="rId60" Type="http://schemas.openxmlformats.org/officeDocument/2006/relationships/tags" Target="../tags/tag141.xml"/><Relationship Id="rId6" Type="http://schemas.openxmlformats.org/officeDocument/2006/relationships/tags" Target="../tags/tag87.xml"/><Relationship Id="rId59" Type="http://schemas.openxmlformats.org/officeDocument/2006/relationships/tags" Target="../tags/tag140.xml"/><Relationship Id="rId58" Type="http://schemas.openxmlformats.org/officeDocument/2006/relationships/tags" Target="../tags/tag139.xml"/><Relationship Id="rId57" Type="http://schemas.openxmlformats.org/officeDocument/2006/relationships/tags" Target="../tags/tag138.xml"/><Relationship Id="rId56" Type="http://schemas.openxmlformats.org/officeDocument/2006/relationships/tags" Target="../tags/tag137.xml"/><Relationship Id="rId55" Type="http://schemas.openxmlformats.org/officeDocument/2006/relationships/tags" Target="../tags/tag136.xml"/><Relationship Id="rId54" Type="http://schemas.openxmlformats.org/officeDocument/2006/relationships/tags" Target="../tags/tag135.xml"/><Relationship Id="rId53" Type="http://schemas.openxmlformats.org/officeDocument/2006/relationships/tags" Target="../tags/tag134.xml"/><Relationship Id="rId52" Type="http://schemas.openxmlformats.org/officeDocument/2006/relationships/tags" Target="../tags/tag133.xml"/><Relationship Id="rId51" Type="http://schemas.openxmlformats.org/officeDocument/2006/relationships/tags" Target="../tags/tag132.xml"/><Relationship Id="rId50" Type="http://schemas.openxmlformats.org/officeDocument/2006/relationships/tags" Target="../tags/tag131.xml"/><Relationship Id="rId5" Type="http://schemas.openxmlformats.org/officeDocument/2006/relationships/tags" Target="../tags/tag86.xml"/><Relationship Id="rId49" Type="http://schemas.openxmlformats.org/officeDocument/2006/relationships/tags" Target="../tags/tag130.xml"/><Relationship Id="rId48" Type="http://schemas.openxmlformats.org/officeDocument/2006/relationships/tags" Target="../tags/tag129.xml"/><Relationship Id="rId47" Type="http://schemas.openxmlformats.org/officeDocument/2006/relationships/tags" Target="../tags/tag128.xml"/><Relationship Id="rId46" Type="http://schemas.openxmlformats.org/officeDocument/2006/relationships/tags" Target="../tags/tag127.xml"/><Relationship Id="rId45" Type="http://schemas.openxmlformats.org/officeDocument/2006/relationships/tags" Target="../tags/tag126.xml"/><Relationship Id="rId44" Type="http://schemas.openxmlformats.org/officeDocument/2006/relationships/tags" Target="../tags/tag125.xml"/><Relationship Id="rId43" Type="http://schemas.openxmlformats.org/officeDocument/2006/relationships/tags" Target="../tags/tag124.xml"/><Relationship Id="rId42" Type="http://schemas.openxmlformats.org/officeDocument/2006/relationships/tags" Target="../tags/tag123.xml"/><Relationship Id="rId41" Type="http://schemas.openxmlformats.org/officeDocument/2006/relationships/tags" Target="../tags/tag122.xml"/><Relationship Id="rId40" Type="http://schemas.openxmlformats.org/officeDocument/2006/relationships/tags" Target="../tags/tag121.xml"/><Relationship Id="rId4" Type="http://schemas.openxmlformats.org/officeDocument/2006/relationships/tags" Target="../tags/tag85.xml"/><Relationship Id="rId39" Type="http://schemas.openxmlformats.org/officeDocument/2006/relationships/tags" Target="../tags/tag120.xml"/><Relationship Id="rId38" Type="http://schemas.openxmlformats.org/officeDocument/2006/relationships/tags" Target="../tags/tag119.xml"/><Relationship Id="rId37" Type="http://schemas.openxmlformats.org/officeDocument/2006/relationships/tags" Target="../tags/tag118.xml"/><Relationship Id="rId36" Type="http://schemas.openxmlformats.org/officeDocument/2006/relationships/tags" Target="../tags/tag117.xml"/><Relationship Id="rId35" Type="http://schemas.openxmlformats.org/officeDocument/2006/relationships/tags" Target="../tags/tag116.xml"/><Relationship Id="rId34" Type="http://schemas.openxmlformats.org/officeDocument/2006/relationships/tags" Target="../tags/tag115.xml"/><Relationship Id="rId33" Type="http://schemas.openxmlformats.org/officeDocument/2006/relationships/tags" Target="../tags/tag114.xml"/><Relationship Id="rId32" Type="http://schemas.openxmlformats.org/officeDocument/2006/relationships/tags" Target="../tags/tag113.xml"/><Relationship Id="rId31" Type="http://schemas.openxmlformats.org/officeDocument/2006/relationships/tags" Target="../tags/tag112.xml"/><Relationship Id="rId30" Type="http://schemas.openxmlformats.org/officeDocument/2006/relationships/tags" Target="../tags/tag111.xml"/><Relationship Id="rId3" Type="http://schemas.openxmlformats.org/officeDocument/2006/relationships/tags" Target="../tags/tag84.xml"/><Relationship Id="rId29" Type="http://schemas.openxmlformats.org/officeDocument/2006/relationships/tags" Target="../tags/tag110.xml"/><Relationship Id="rId28" Type="http://schemas.openxmlformats.org/officeDocument/2006/relationships/tags" Target="../tags/tag109.xml"/><Relationship Id="rId27" Type="http://schemas.openxmlformats.org/officeDocument/2006/relationships/tags" Target="../tags/tag108.xml"/><Relationship Id="rId26" Type="http://schemas.openxmlformats.org/officeDocument/2006/relationships/tags" Target="../tags/tag107.xml"/><Relationship Id="rId25" Type="http://schemas.openxmlformats.org/officeDocument/2006/relationships/tags" Target="../tags/tag106.xml"/><Relationship Id="rId24" Type="http://schemas.openxmlformats.org/officeDocument/2006/relationships/tags" Target="../tags/tag105.xml"/><Relationship Id="rId23" Type="http://schemas.openxmlformats.org/officeDocument/2006/relationships/tags" Target="../tags/tag104.xml"/><Relationship Id="rId22" Type="http://schemas.openxmlformats.org/officeDocument/2006/relationships/tags" Target="../tags/tag103.xml"/><Relationship Id="rId21" Type="http://schemas.openxmlformats.org/officeDocument/2006/relationships/tags" Target="../tags/tag102.xml"/><Relationship Id="rId20" Type="http://schemas.openxmlformats.org/officeDocument/2006/relationships/tags" Target="../tags/tag101.xml"/><Relationship Id="rId2" Type="http://schemas.openxmlformats.org/officeDocument/2006/relationships/tags" Target="../tags/tag83.xml"/><Relationship Id="rId19" Type="http://schemas.openxmlformats.org/officeDocument/2006/relationships/tags" Target="../tags/tag100.xml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6" Type="http://schemas.openxmlformats.org/officeDocument/2006/relationships/notesSlide" Target="../notesSlides/notesSlide9.xml"/><Relationship Id="rId135" Type="http://schemas.openxmlformats.org/officeDocument/2006/relationships/slideLayout" Target="../slideLayouts/slideLayout7.xml"/><Relationship Id="rId134" Type="http://schemas.openxmlformats.org/officeDocument/2006/relationships/image" Target="../media/image3.png"/><Relationship Id="rId133" Type="http://schemas.openxmlformats.org/officeDocument/2006/relationships/tags" Target="../tags/tag213.xml"/><Relationship Id="rId132" Type="http://schemas.openxmlformats.org/officeDocument/2006/relationships/tags" Target="../tags/tag212.xml"/><Relationship Id="rId131" Type="http://schemas.openxmlformats.org/officeDocument/2006/relationships/image" Target="../media/image2.png"/><Relationship Id="rId130" Type="http://schemas.openxmlformats.org/officeDocument/2006/relationships/tags" Target="../tags/tag211.xml"/><Relationship Id="rId13" Type="http://schemas.openxmlformats.org/officeDocument/2006/relationships/tags" Target="../tags/tag94.xml"/><Relationship Id="rId129" Type="http://schemas.openxmlformats.org/officeDocument/2006/relationships/tags" Target="../tags/tag210.xml"/><Relationship Id="rId128" Type="http://schemas.openxmlformats.org/officeDocument/2006/relationships/tags" Target="../tags/tag209.xml"/><Relationship Id="rId127" Type="http://schemas.openxmlformats.org/officeDocument/2006/relationships/tags" Target="../tags/tag208.xml"/><Relationship Id="rId126" Type="http://schemas.openxmlformats.org/officeDocument/2006/relationships/tags" Target="../tags/tag207.xml"/><Relationship Id="rId125" Type="http://schemas.openxmlformats.org/officeDocument/2006/relationships/tags" Target="../tags/tag206.xml"/><Relationship Id="rId124" Type="http://schemas.openxmlformats.org/officeDocument/2006/relationships/tags" Target="../tags/tag205.xml"/><Relationship Id="rId123" Type="http://schemas.openxmlformats.org/officeDocument/2006/relationships/tags" Target="../tags/tag204.xml"/><Relationship Id="rId122" Type="http://schemas.openxmlformats.org/officeDocument/2006/relationships/tags" Target="../tags/tag203.xml"/><Relationship Id="rId121" Type="http://schemas.openxmlformats.org/officeDocument/2006/relationships/tags" Target="../tags/tag202.xml"/><Relationship Id="rId120" Type="http://schemas.openxmlformats.org/officeDocument/2006/relationships/tags" Target="../tags/tag201.xml"/><Relationship Id="rId12" Type="http://schemas.openxmlformats.org/officeDocument/2006/relationships/tags" Target="../tags/tag93.xml"/><Relationship Id="rId119" Type="http://schemas.openxmlformats.org/officeDocument/2006/relationships/tags" Target="../tags/tag200.xml"/><Relationship Id="rId118" Type="http://schemas.openxmlformats.org/officeDocument/2006/relationships/tags" Target="../tags/tag199.xml"/><Relationship Id="rId117" Type="http://schemas.openxmlformats.org/officeDocument/2006/relationships/tags" Target="../tags/tag198.xml"/><Relationship Id="rId116" Type="http://schemas.openxmlformats.org/officeDocument/2006/relationships/tags" Target="../tags/tag197.xml"/><Relationship Id="rId115" Type="http://schemas.openxmlformats.org/officeDocument/2006/relationships/tags" Target="../tags/tag196.xml"/><Relationship Id="rId114" Type="http://schemas.openxmlformats.org/officeDocument/2006/relationships/tags" Target="../tags/tag195.xml"/><Relationship Id="rId113" Type="http://schemas.openxmlformats.org/officeDocument/2006/relationships/tags" Target="../tags/tag194.xml"/><Relationship Id="rId112" Type="http://schemas.openxmlformats.org/officeDocument/2006/relationships/tags" Target="../tags/tag193.xml"/><Relationship Id="rId111" Type="http://schemas.openxmlformats.org/officeDocument/2006/relationships/tags" Target="../tags/tag192.xml"/><Relationship Id="rId110" Type="http://schemas.openxmlformats.org/officeDocument/2006/relationships/tags" Target="../tags/tag191.xml"/><Relationship Id="rId11" Type="http://schemas.openxmlformats.org/officeDocument/2006/relationships/tags" Target="../tags/tag92.xml"/><Relationship Id="rId109" Type="http://schemas.openxmlformats.org/officeDocument/2006/relationships/tags" Target="../tags/tag190.xml"/><Relationship Id="rId108" Type="http://schemas.openxmlformats.org/officeDocument/2006/relationships/tags" Target="../tags/tag189.xml"/><Relationship Id="rId107" Type="http://schemas.openxmlformats.org/officeDocument/2006/relationships/tags" Target="../tags/tag188.xml"/><Relationship Id="rId106" Type="http://schemas.openxmlformats.org/officeDocument/2006/relationships/tags" Target="../tags/tag187.xml"/><Relationship Id="rId105" Type="http://schemas.openxmlformats.org/officeDocument/2006/relationships/tags" Target="../tags/tag186.xml"/><Relationship Id="rId104" Type="http://schemas.openxmlformats.org/officeDocument/2006/relationships/tags" Target="../tags/tag185.xml"/><Relationship Id="rId103" Type="http://schemas.openxmlformats.org/officeDocument/2006/relationships/tags" Target="../tags/tag184.xml"/><Relationship Id="rId102" Type="http://schemas.openxmlformats.org/officeDocument/2006/relationships/tags" Target="../tags/tag183.xml"/><Relationship Id="rId101" Type="http://schemas.openxmlformats.org/officeDocument/2006/relationships/tags" Target="../tags/tag182.xml"/><Relationship Id="rId100" Type="http://schemas.openxmlformats.org/officeDocument/2006/relationships/tags" Target="../tags/tag181.xml"/><Relationship Id="rId10" Type="http://schemas.openxmlformats.org/officeDocument/2006/relationships/tags" Target="../tags/tag91.xml"/><Relationship Id="rId1" Type="http://schemas.openxmlformats.org/officeDocument/2006/relationships/tags" Target="../tags/tag8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slide" Target="slide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217.xml"/><Relationship Id="rId4" Type="http://schemas.openxmlformats.org/officeDocument/2006/relationships/image" Target="../media/image4.png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" Type="http://schemas.openxmlformats.org/officeDocument/2006/relationships/tags" Target="../tags/tag2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slide" Target="slid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slide" Target="slide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slide" Target="slide2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slide" Target="slide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slide" Target="slide19.xml"/><Relationship Id="rId1" Type="http://schemas.openxmlformats.org/officeDocument/2006/relationships/slide" Target="slide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3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8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tags" Target="../tags/tag226.xml"/><Relationship Id="rId7" Type="http://schemas.openxmlformats.org/officeDocument/2006/relationships/tags" Target="../tags/tag225.xml"/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6" Type="http://schemas.openxmlformats.org/officeDocument/2006/relationships/notesSlide" Target="../notesSlides/notesSlide23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242.xml"/><Relationship Id="rId23" Type="http://schemas.openxmlformats.org/officeDocument/2006/relationships/tags" Target="../tags/tag241.xml"/><Relationship Id="rId22" Type="http://schemas.openxmlformats.org/officeDocument/2006/relationships/tags" Target="../tags/tag240.xml"/><Relationship Id="rId21" Type="http://schemas.openxmlformats.org/officeDocument/2006/relationships/tags" Target="../tags/tag239.xml"/><Relationship Id="rId20" Type="http://schemas.openxmlformats.org/officeDocument/2006/relationships/tags" Target="../tags/tag238.xml"/><Relationship Id="rId2" Type="http://schemas.openxmlformats.org/officeDocument/2006/relationships/tags" Target="../tags/tag220.xml"/><Relationship Id="rId19" Type="http://schemas.openxmlformats.org/officeDocument/2006/relationships/tags" Target="../tags/tag237.xml"/><Relationship Id="rId18" Type="http://schemas.openxmlformats.org/officeDocument/2006/relationships/tags" Target="../tags/tag236.xml"/><Relationship Id="rId17" Type="http://schemas.openxmlformats.org/officeDocument/2006/relationships/tags" Target="../tags/tag235.xml"/><Relationship Id="rId16" Type="http://schemas.openxmlformats.org/officeDocument/2006/relationships/tags" Target="../tags/tag234.xml"/><Relationship Id="rId15" Type="http://schemas.openxmlformats.org/officeDocument/2006/relationships/tags" Target="../tags/tag233.xml"/><Relationship Id="rId14" Type="http://schemas.openxmlformats.org/officeDocument/2006/relationships/tags" Target="../tags/tag232.xml"/><Relationship Id="rId13" Type="http://schemas.openxmlformats.org/officeDocument/2006/relationships/tags" Target="../tags/tag231.xml"/><Relationship Id="rId12" Type="http://schemas.openxmlformats.org/officeDocument/2006/relationships/tags" Target="../tags/tag230.xml"/><Relationship Id="rId11" Type="http://schemas.openxmlformats.org/officeDocument/2006/relationships/tags" Target="../tags/tag229.xml"/><Relationship Id="rId10" Type="http://schemas.openxmlformats.org/officeDocument/2006/relationships/tags" Target="../tags/tag228.xml"/><Relationship Id="rId1" Type="http://schemas.openxmlformats.org/officeDocument/2006/relationships/tags" Target="../tags/tag2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slide" Target="slide4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slide" Target="slide3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37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7.xml"/><Relationship Id="rId2" Type="http://schemas.openxmlformats.org/officeDocument/2006/relationships/slide" Target="slide25.xml"/><Relationship Id="rId1" Type="http://schemas.openxmlformats.org/officeDocument/2006/relationships/slide" Target="slide32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7.xml"/><Relationship Id="rId2" Type="http://schemas.openxmlformats.org/officeDocument/2006/relationships/slide" Target="slide35.xml"/><Relationship Id="rId1" Type="http://schemas.openxmlformats.org/officeDocument/2006/relationships/slide" Target="slide4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4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7.xml"/><Relationship Id="rId2" Type="http://schemas.openxmlformats.org/officeDocument/2006/relationships/slide" Target="slide37.xml"/><Relationship Id="rId1" Type="http://schemas.openxmlformats.org/officeDocument/2006/relationships/slide" Target="slide38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7.xml"/><Relationship Id="rId2" Type="http://schemas.openxmlformats.org/officeDocument/2006/relationships/slide" Target="slide48.xml"/><Relationship Id="rId1" Type="http://schemas.openxmlformats.org/officeDocument/2006/relationships/slide" Target="slide4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slide" Target="slide5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251.xml"/><Relationship Id="rId8" Type="http://schemas.openxmlformats.org/officeDocument/2006/relationships/tags" Target="../tags/tag250.xml"/><Relationship Id="rId7" Type="http://schemas.openxmlformats.org/officeDocument/2006/relationships/tags" Target="../tags/tag249.xml"/><Relationship Id="rId6" Type="http://schemas.openxmlformats.org/officeDocument/2006/relationships/tags" Target="../tags/tag248.xml"/><Relationship Id="rId5" Type="http://schemas.openxmlformats.org/officeDocument/2006/relationships/tags" Target="../tags/tag247.xml"/><Relationship Id="rId4" Type="http://schemas.openxmlformats.org/officeDocument/2006/relationships/tags" Target="../tags/tag246.xml"/><Relationship Id="rId38" Type="http://schemas.openxmlformats.org/officeDocument/2006/relationships/notesSlide" Target="../notesSlides/notesSlide35.xml"/><Relationship Id="rId37" Type="http://schemas.openxmlformats.org/officeDocument/2006/relationships/slideLayout" Target="../slideLayouts/slideLayout7.xml"/><Relationship Id="rId36" Type="http://schemas.openxmlformats.org/officeDocument/2006/relationships/tags" Target="../tags/tag278.xml"/><Relationship Id="rId35" Type="http://schemas.openxmlformats.org/officeDocument/2006/relationships/tags" Target="../tags/tag277.xml"/><Relationship Id="rId34" Type="http://schemas.openxmlformats.org/officeDocument/2006/relationships/tags" Target="../tags/tag276.xml"/><Relationship Id="rId33" Type="http://schemas.openxmlformats.org/officeDocument/2006/relationships/tags" Target="../tags/tag275.xml"/><Relationship Id="rId32" Type="http://schemas.openxmlformats.org/officeDocument/2006/relationships/tags" Target="../tags/tag274.xml"/><Relationship Id="rId31" Type="http://schemas.openxmlformats.org/officeDocument/2006/relationships/tags" Target="../tags/tag273.xml"/><Relationship Id="rId30" Type="http://schemas.openxmlformats.org/officeDocument/2006/relationships/tags" Target="../tags/tag272.xml"/><Relationship Id="rId3" Type="http://schemas.openxmlformats.org/officeDocument/2006/relationships/tags" Target="../tags/tag245.xml"/><Relationship Id="rId29" Type="http://schemas.openxmlformats.org/officeDocument/2006/relationships/tags" Target="../tags/tag271.xml"/><Relationship Id="rId28" Type="http://schemas.openxmlformats.org/officeDocument/2006/relationships/tags" Target="../tags/tag270.xml"/><Relationship Id="rId27" Type="http://schemas.openxmlformats.org/officeDocument/2006/relationships/tags" Target="../tags/tag269.xml"/><Relationship Id="rId26" Type="http://schemas.openxmlformats.org/officeDocument/2006/relationships/tags" Target="../tags/tag268.xml"/><Relationship Id="rId25" Type="http://schemas.openxmlformats.org/officeDocument/2006/relationships/tags" Target="../tags/tag267.xml"/><Relationship Id="rId24" Type="http://schemas.openxmlformats.org/officeDocument/2006/relationships/tags" Target="../tags/tag266.xml"/><Relationship Id="rId23" Type="http://schemas.openxmlformats.org/officeDocument/2006/relationships/tags" Target="../tags/tag265.xml"/><Relationship Id="rId22" Type="http://schemas.openxmlformats.org/officeDocument/2006/relationships/tags" Target="../tags/tag264.xml"/><Relationship Id="rId21" Type="http://schemas.openxmlformats.org/officeDocument/2006/relationships/tags" Target="../tags/tag263.xml"/><Relationship Id="rId20" Type="http://schemas.openxmlformats.org/officeDocument/2006/relationships/tags" Target="../tags/tag262.xml"/><Relationship Id="rId2" Type="http://schemas.openxmlformats.org/officeDocument/2006/relationships/tags" Target="../tags/tag244.xml"/><Relationship Id="rId19" Type="http://schemas.openxmlformats.org/officeDocument/2006/relationships/tags" Target="../tags/tag261.xml"/><Relationship Id="rId18" Type="http://schemas.openxmlformats.org/officeDocument/2006/relationships/tags" Target="../tags/tag260.xml"/><Relationship Id="rId17" Type="http://schemas.openxmlformats.org/officeDocument/2006/relationships/tags" Target="../tags/tag259.xml"/><Relationship Id="rId16" Type="http://schemas.openxmlformats.org/officeDocument/2006/relationships/tags" Target="../tags/tag258.xml"/><Relationship Id="rId15" Type="http://schemas.openxmlformats.org/officeDocument/2006/relationships/tags" Target="../tags/tag257.xml"/><Relationship Id="rId14" Type="http://schemas.openxmlformats.org/officeDocument/2006/relationships/tags" Target="../tags/tag256.xml"/><Relationship Id="rId13" Type="http://schemas.openxmlformats.org/officeDocument/2006/relationships/tags" Target="../tags/tag255.xml"/><Relationship Id="rId12" Type="http://schemas.openxmlformats.org/officeDocument/2006/relationships/tags" Target="../tags/tag254.xml"/><Relationship Id="rId11" Type="http://schemas.openxmlformats.org/officeDocument/2006/relationships/tags" Target="../tags/tag253.xml"/><Relationship Id="rId10" Type="http://schemas.openxmlformats.org/officeDocument/2006/relationships/tags" Target="../tags/tag252.xml"/><Relationship Id="rId1" Type="http://schemas.openxmlformats.org/officeDocument/2006/relationships/tags" Target="../tags/tag2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9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tags" Target="../tags/tag286.xml"/><Relationship Id="rId8" Type="http://schemas.openxmlformats.org/officeDocument/2006/relationships/tags" Target="../tags/tag285.xml"/><Relationship Id="rId7" Type="http://schemas.openxmlformats.org/officeDocument/2006/relationships/tags" Target="../tags/tag284.xml"/><Relationship Id="rId6" Type="http://schemas.openxmlformats.org/officeDocument/2006/relationships/tags" Target="../tags/tag283.xml"/><Relationship Id="rId53" Type="http://schemas.openxmlformats.org/officeDocument/2006/relationships/notesSlide" Target="../notesSlides/notesSlide37.xml"/><Relationship Id="rId52" Type="http://schemas.openxmlformats.org/officeDocument/2006/relationships/slideLayout" Target="../slideLayouts/slideLayout7.xml"/><Relationship Id="rId51" Type="http://schemas.openxmlformats.org/officeDocument/2006/relationships/tags" Target="../tags/tag328.xml"/><Relationship Id="rId50" Type="http://schemas.openxmlformats.org/officeDocument/2006/relationships/tags" Target="../tags/tag327.xml"/><Relationship Id="rId5" Type="http://schemas.openxmlformats.org/officeDocument/2006/relationships/tags" Target="../tags/tag282.xml"/><Relationship Id="rId49" Type="http://schemas.openxmlformats.org/officeDocument/2006/relationships/tags" Target="../tags/tag326.xml"/><Relationship Id="rId48" Type="http://schemas.openxmlformats.org/officeDocument/2006/relationships/tags" Target="../tags/tag325.xml"/><Relationship Id="rId47" Type="http://schemas.openxmlformats.org/officeDocument/2006/relationships/tags" Target="../tags/tag324.xml"/><Relationship Id="rId46" Type="http://schemas.openxmlformats.org/officeDocument/2006/relationships/tags" Target="../tags/tag323.xml"/><Relationship Id="rId45" Type="http://schemas.openxmlformats.org/officeDocument/2006/relationships/tags" Target="../tags/tag322.xml"/><Relationship Id="rId44" Type="http://schemas.openxmlformats.org/officeDocument/2006/relationships/tags" Target="../tags/tag321.xml"/><Relationship Id="rId43" Type="http://schemas.openxmlformats.org/officeDocument/2006/relationships/tags" Target="../tags/tag320.xml"/><Relationship Id="rId42" Type="http://schemas.openxmlformats.org/officeDocument/2006/relationships/tags" Target="../tags/tag319.xml"/><Relationship Id="rId41" Type="http://schemas.openxmlformats.org/officeDocument/2006/relationships/tags" Target="../tags/tag318.xml"/><Relationship Id="rId40" Type="http://schemas.openxmlformats.org/officeDocument/2006/relationships/tags" Target="../tags/tag317.xml"/><Relationship Id="rId4" Type="http://schemas.openxmlformats.org/officeDocument/2006/relationships/tags" Target="../tags/tag281.xml"/><Relationship Id="rId39" Type="http://schemas.openxmlformats.org/officeDocument/2006/relationships/tags" Target="../tags/tag316.xml"/><Relationship Id="rId38" Type="http://schemas.openxmlformats.org/officeDocument/2006/relationships/tags" Target="../tags/tag315.xml"/><Relationship Id="rId37" Type="http://schemas.openxmlformats.org/officeDocument/2006/relationships/tags" Target="../tags/tag314.xml"/><Relationship Id="rId36" Type="http://schemas.openxmlformats.org/officeDocument/2006/relationships/tags" Target="../tags/tag313.xml"/><Relationship Id="rId35" Type="http://schemas.openxmlformats.org/officeDocument/2006/relationships/tags" Target="../tags/tag312.xml"/><Relationship Id="rId34" Type="http://schemas.openxmlformats.org/officeDocument/2006/relationships/tags" Target="../tags/tag311.xml"/><Relationship Id="rId33" Type="http://schemas.openxmlformats.org/officeDocument/2006/relationships/tags" Target="../tags/tag310.xml"/><Relationship Id="rId32" Type="http://schemas.openxmlformats.org/officeDocument/2006/relationships/tags" Target="../tags/tag309.xml"/><Relationship Id="rId31" Type="http://schemas.openxmlformats.org/officeDocument/2006/relationships/tags" Target="../tags/tag308.xml"/><Relationship Id="rId30" Type="http://schemas.openxmlformats.org/officeDocument/2006/relationships/tags" Target="../tags/tag307.xml"/><Relationship Id="rId3" Type="http://schemas.openxmlformats.org/officeDocument/2006/relationships/tags" Target="../tags/tag280.xml"/><Relationship Id="rId29" Type="http://schemas.openxmlformats.org/officeDocument/2006/relationships/tags" Target="../tags/tag306.xml"/><Relationship Id="rId28" Type="http://schemas.openxmlformats.org/officeDocument/2006/relationships/tags" Target="../tags/tag305.xml"/><Relationship Id="rId27" Type="http://schemas.openxmlformats.org/officeDocument/2006/relationships/tags" Target="../tags/tag304.xml"/><Relationship Id="rId26" Type="http://schemas.openxmlformats.org/officeDocument/2006/relationships/tags" Target="../tags/tag303.xml"/><Relationship Id="rId25" Type="http://schemas.openxmlformats.org/officeDocument/2006/relationships/tags" Target="../tags/tag302.xml"/><Relationship Id="rId24" Type="http://schemas.openxmlformats.org/officeDocument/2006/relationships/tags" Target="../tags/tag301.xml"/><Relationship Id="rId23" Type="http://schemas.openxmlformats.org/officeDocument/2006/relationships/tags" Target="../tags/tag300.xml"/><Relationship Id="rId22" Type="http://schemas.openxmlformats.org/officeDocument/2006/relationships/tags" Target="../tags/tag299.xml"/><Relationship Id="rId21" Type="http://schemas.openxmlformats.org/officeDocument/2006/relationships/tags" Target="../tags/tag298.xml"/><Relationship Id="rId20" Type="http://schemas.openxmlformats.org/officeDocument/2006/relationships/tags" Target="../tags/tag297.xml"/><Relationship Id="rId2" Type="http://schemas.openxmlformats.org/officeDocument/2006/relationships/slide" Target="slide41.xml"/><Relationship Id="rId19" Type="http://schemas.openxmlformats.org/officeDocument/2006/relationships/tags" Target="../tags/tag296.xml"/><Relationship Id="rId18" Type="http://schemas.openxmlformats.org/officeDocument/2006/relationships/tags" Target="../tags/tag295.xml"/><Relationship Id="rId17" Type="http://schemas.openxmlformats.org/officeDocument/2006/relationships/tags" Target="../tags/tag294.xml"/><Relationship Id="rId16" Type="http://schemas.openxmlformats.org/officeDocument/2006/relationships/tags" Target="../tags/tag293.xml"/><Relationship Id="rId15" Type="http://schemas.openxmlformats.org/officeDocument/2006/relationships/tags" Target="../tags/tag292.xml"/><Relationship Id="rId14" Type="http://schemas.openxmlformats.org/officeDocument/2006/relationships/tags" Target="../tags/tag291.xml"/><Relationship Id="rId13" Type="http://schemas.openxmlformats.org/officeDocument/2006/relationships/tags" Target="../tags/tag290.xml"/><Relationship Id="rId12" Type="http://schemas.openxmlformats.org/officeDocument/2006/relationships/tags" Target="../tags/tag289.xml"/><Relationship Id="rId11" Type="http://schemas.openxmlformats.org/officeDocument/2006/relationships/tags" Target="../tags/tag288.xml"/><Relationship Id="rId10" Type="http://schemas.openxmlformats.org/officeDocument/2006/relationships/tags" Target="../tags/tag287.xml"/><Relationship Id="rId1" Type="http://schemas.openxmlformats.org/officeDocument/2006/relationships/slide" Target="slide31.xml"/></Relationships>
</file>

<file path=ppt/slides/_rels/slide46.xml.rels><?xml version="1.0" encoding="UTF-8" standalone="yes"?>
<Relationships xmlns="http://schemas.openxmlformats.org/package/2006/relationships"><Relationship Id="rId99" Type="http://schemas.openxmlformats.org/officeDocument/2006/relationships/tags" Target="../tags/tag427.xml"/><Relationship Id="rId98" Type="http://schemas.openxmlformats.org/officeDocument/2006/relationships/tags" Target="../tags/tag426.xml"/><Relationship Id="rId97" Type="http://schemas.openxmlformats.org/officeDocument/2006/relationships/tags" Target="../tags/tag425.xml"/><Relationship Id="rId96" Type="http://schemas.openxmlformats.org/officeDocument/2006/relationships/tags" Target="../tags/tag424.xml"/><Relationship Id="rId95" Type="http://schemas.openxmlformats.org/officeDocument/2006/relationships/tags" Target="../tags/tag423.xml"/><Relationship Id="rId94" Type="http://schemas.openxmlformats.org/officeDocument/2006/relationships/tags" Target="../tags/tag422.xml"/><Relationship Id="rId93" Type="http://schemas.openxmlformats.org/officeDocument/2006/relationships/tags" Target="../tags/tag421.xml"/><Relationship Id="rId92" Type="http://schemas.openxmlformats.org/officeDocument/2006/relationships/tags" Target="../tags/tag420.xml"/><Relationship Id="rId91" Type="http://schemas.openxmlformats.org/officeDocument/2006/relationships/tags" Target="../tags/tag419.xml"/><Relationship Id="rId90" Type="http://schemas.openxmlformats.org/officeDocument/2006/relationships/tags" Target="../tags/tag418.xml"/><Relationship Id="rId9" Type="http://schemas.openxmlformats.org/officeDocument/2006/relationships/tags" Target="../tags/tag337.xml"/><Relationship Id="rId89" Type="http://schemas.openxmlformats.org/officeDocument/2006/relationships/tags" Target="../tags/tag417.xml"/><Relationship Id="rId88" Type="http://schemas.openxmlformats.org/officeDocument/2006/relationships/tags" Target="../tags/tag416.xml"/><Relationship Id="rId87" Type="http://schemas.openxmlformats.org/officeDocument/2006/relationships/tags" Target="../tags/tag415.xml"/><Relationship Id="rId86" Type="http://schemas.openxmlformats.org/officeDocument/2006/relationships/tags" Target="../tags/tag414.xml"/><Relationship Id="rId85" Type="http://schemas.openxmlformats.org/officeDocument/2006/relationships/tags" Target="../tags/tag413.xml"/><Relationship Id="rId84" Type="http://schemas.openxmlformats.org/officeDocument/2006/relationships/tags" Target="../tags/tag412.xml"/><Relationship Id="rId83" Type="http://schemas.openxmlformats.org/officeDocument/2006/relationships/tags" Target="../tags/tag411.xml"/><Relationship Id="rId82" Type="http://schemas.openxmlformats.org/officeDocument/2006/relationships/tags" Target="../tags/tag410.xml"/><Relationship Id="rId81" Type="http://schemas.openxmlformats.org/officeDocument/2006/relationships/tags" Target="../tags/tag409.xml"/><Relationship Id="rId80" Type="http://schemas.openxmlformats.org/officeDocument/2006/relationships/tags" Target="../tags/tag408.xml"/><Relationship Id="rId8" Type="http://schemas.openxmlformats.org/officeDocument/2006/relationships/tags" Target="../tags/tag336.xml"/><Relationship Id="rId79" Type="http://schemas.openxmlformats.org/officeDocument/2006/relationships/tags" Target="../tags/tag407.xml"/><Relationship Id="rId78" Type="http://schemas.openxmlformats.org/officeDocument/2006/relationships/tags" Target="../tags/tag406.xml"/><Relationship Id="rId77" Type="http://schemas.openxmlformats.org/officeDocument/2006/relationships/tags" Target="../tags/tag405.xml"/><Relationship Id="rId76" Type="http://schemas.openxmlformats.org/officeDocument/2006/relationships/tags" Target="../tags/tag404.xml"/><Relationship Id="rId75" Type="http://schemas.openxmlformats.org/officeDocument/2006/relationships/tags" Target="../tags/tag403.xml"/><Relationship Id="rId74" Type="http://schemas.openxmlformats.org/officeDocument/2006/relationships/tags" Target="../tags/tag402.xml"/><Relationship Id="rId73" Type="http://schemas.openxmlformats.org/officeDocument/2006/relationships/tags" Target="../tags/tag401.xml"/><Relationship Id="rId72" Type="http://schemas.openxmlformats.org/officeDocument/2006/relationships/tags" Target="../tags/tag400.xml"/><Relationship Id="rId71" Type="http://schemas.openxmlformats.org/officeDocument/2006/relationships/tags" Target="../tags/tag399.xml"/><Relationship Id="rId70" Type="http://schemas.openxmlformats.org/officeDocument/2006/relationships/tags" Target="../tags/tag398.xml"/><Relationship Id="rId7" Type="http://schemas.openxmlformats.org/officeDocument/2006/relationships/tags" Target="../tags/tag335.xml"/><Relationship Id="rId69" Type="http://schemas.openxmlformats.org/officeDocument/2006/relationships/tags" Target="../tags/tag397.xml"/><Relationship Id="rId68" Type="http://schemas.openxmlformats.org/officeDocument/2006/relationships/tags" Target="../tags/tag396.xml"/><Relationship Id="rId67" Type="http://schemas.openxmlformats.org/officeDocument/2006/relationships/tags" Target="../tags/tag395.xml"/><Relationship Id="rId66" Type="http://schemas.openxmlformats.org/officeDocument/2006/relationships/tags" Target="../tags/tag394.xml"/><Relationship Id="rId65" Type="http://schemas.openxmlformats.org/officeDocument/2006/relationships/tags" Target="../tags/tag393.xml"/><Relationship Id="rId64" Type="http://schemas.openxmlformats.org/officeDocument/2006/relationships/tags" Target="../tags/tag392.xml"/><Relationship Id="rId63" Type="http://schemas.openxmlformats.org/officeDocument/2006/relationships/tags" Target="../tags/tag391.xml"/><Relationship Id="rId62" Type="http://schemas.openxmlformats.org/officeDocument/2006/relationships/tags" Target="../tags/tag390.xml"/><Relationship Id="rId61" Type="http://schemas.openxmlformats.org/officeDocument/2006/relationships/tags" Target="../tags/tag389.xml"/><Relationship Id="rId60" Type="http://schemas.openxmlformats.org/officeDocument/2006/relationships/tags" Target="../tags/tag388.xml"/><Relationship Id="rId6" Type="http://schemas.openxmlformats.org/officeDocument/2006/relationships/tags" Target="../tags/tag334.xml"/><Relationship Id="rId59" Type="http://schemas.openxmlformats.org/officeDocument/2006/relationships/tags" Target="../tags/tag387.xml"/><Relationship Id="rId58" Type="http://schemas.openxmlformats.org/officeDocument/2006/relationships/tags" Target="../tags/tag386.xml"/><Relationship Id="rId57" Type="http://schemas.openxmlformats.org/officeDocument/2006/relationships/tags" Target="../tags/tag385.xml"/><Relationship Id="rId56" Type="http://schemas.openxmlformats.org/officeDocument/2006/relationships/tags" Target="../tags/tag384.xml"/><Relationship Id="rId55" Type="http://schemas.openxmlformats.org/officeDocument/2006/relationships/tags" Target="../tags/tag383.xml"/><Relationship Id="rId54" Type="http://schemas.openxmlformats.org/officeDocument/2006/relationships/tags" Target="../tags/tag382.xml"/><Relationship Id="rId53" Type="http://schemas.openxmlformats.org/officeDocument/2006/relationships/tags" Target="../tags/tag381.xml"/><Relationship Id="rId52" Type="http://schemas.openxmlformats.org/officeDocument/2006/relationships/tags" Target="../tags/tag380.xml"/><Relationship Id="rId51" Type="http://schemas.openxmlformats.org/officeDocument/2006/relationships/tags" Target="../tags/tag379.xml"/><Relationship Id="rId50" Type="http://schemas.openxmlformats.org/officeDocument/2006/relationships/tags" Target="../tags/tag378.xml"/><Relationship Id="rId5" Type="http://schemas.openxmlformats.org/officeDocument/2006/relationships/tags" Target="../tags/tag333.xml"/><Relationship Id="rId49" Type="http://schemas.openxmlformats.org/officeDocument/2006/relationships/tags" Target="../tags/tag377.xml"/><Relationship Id="rId48" Type="http://schemas.openxmlformats.org/officeDocument/2006/relationships/tags" Target="../tags/tag376.xml"/><Relationship Id="rId47" Type="http://schemas.openxmlformats.org/officeDocument/2006/relationships/tags" Target="../tags/tag375.xml"/><Relationship Id="rId46" Type="http://schemas.openxmlformats.org/officeDocument/2006/relationships/tags" Target="../tags/tag374.xml"/><Relationship Id="rId45" Type="http://schemas.openxmlformats.org/officeDocument/2006/relationships/tags" Target="../tags/tag373.xml"/><Relationship Id="rId44" Type="http://schemas.openxmlformats.org/officeDocument/2006/relationships/tags" Target="../tags/tag372.xml"/><Relationship Id="rId43" Type="http://schemas.openxmlformats.org/officeDocument/2006/relationships/tags" Target="../tags/tag371.xml"/><Relationship Id="rId42" Type="http://schemas.openxmlformats.org/officeDocument/2006/relationships/tags" Target="../tags/tag370.xml"/><Relationship Id="rId41" Type="http://schemas.openxmlformats.org/officeDocument/2006/relationships/tags" Target="../tags/tag369.xml"/><Relationship Id="rId40" Type="http://schemas.openxmlformats.org/officeDocument/2006/relationships/tags" Target="../tags/tag368.xml"/><Relationship Id="rId4" Type="http://schemas.openxmlformats.org/officeDocument/2006/relationships/tags" Target="../tags/tag332.xml"/><Relationship Id="rId39" Type="http://schemas.openxmlformats.org/officeDocument/2006/relationships/tags" Target="../tags/tag367.xml"/><Relationship Id="rId38" Type="http://schemas.openxmlformats.org/officeDocument/2006/relationships/tags" Target="../tags/tag366.xml"/><Relationship Id="rId37" Type="http://schemas.openxmlformats.org/officeDocument/2006/relationships/tags" Target="../tags/tag365.xml"/><Relationship Id="rId36" Type="http://schemas.openxmlformats.org/officeDocument/2006/relationships/tags" Target="../tags/tag364.xml"/><Relationship Id="rId35" Type="http://schemas.openxmlformats.org/officeDocument/2006/relationships/tags" Target="../tags/tag363.xml"/><Relationship Id="rId34" Type="http://schemas.openxmlformats.org/officeDocument/2006/relationships/tags" Target="../tags/tag362.xml"/><Relationship Id="rId33" Type="http://schemas.openxmlformats.org/officeDocument/2006/relationships/tags" Target="../tags/tag361.xml"/><Relationship Id="rId32" Type="http://schemas.openxmlformats.org/officeDocument/2006/relationships/tags" Target="../tags/tag360.xml"/><Relationship Id="rId31" Type="http://schemas.openxmlformats.org/officeDocument/2006/relationships/tags" Target="../tags/tag359.xml"/><Relationship Id="rId30" Type="http://schemas.openxmlformats.org/officeDocument/2006/relationships/tags" Target="../tags/tag358.xml"/><Relationship Id="rId3" Type="http://schemas.openxmlformats.org/officeDocument/2006/relationships/tags" Target="../tags/tag331.xml"/><Relationship Id="rId29" Type="http://schemas.openxmlformats.org/officeDocument/2006/relationships/tags" Target="../tags/tag357.xml"/><Relationship Id="rId28" Type="http://schemas.openxmlformats.org/officeDocument/2006/relationships/tags" Target="../tags/tag356.xml"/><Relationship Id="rId27" Type="http://schemas.openxmlformats.org/officeDocument/2006/relationships/tags" Target="../tags/tag355.xml"/><Relationship Id="rId26" Type="http://schemas.openxmlformats.org/officeDocument/2006/relationships/tags" Target="../tags/tag354.xml"/><Relationship Id="rId25" Type="http://schemas.openxmlformats.org/officeDocument/2006/relationships/tags" Target="../tags/tag353.xml"/><Relationship Id="rId24" Type="http://schemas.openxmlformats.org/officeDocument/2006/relationships/tags" Target="../tags/tag352.xml"/><Relationship Id="rId23" Type="http://schemas.openxmlformats.org/officeDocument/2006/relationships/tags" Target="../tags/tag351.xml"/><Relationship Id="rId22" Type="http://schemas.openxmlformats.org/officeDocument/2006/relationships/tags" Target="../tags/tag350.xml"/><Relationship Id="rId21" Type="http://schemas.openxmlformats.org/officeDocument/2006/relationships/tags" Target="../tags/tag349.xml"/><Relationship Id="rId20" Type="http://schemas.openxmlformats.org/officeDocument/2006/relationships/tags" Target="../tags/tag348.xml"/><Relationship Id="rId2" Type="http://schemas.openxmlformats.org/officeDocument/2006/relationships/tags" Target="../tags/tag330.xml"/><Relationship Id="rId19" Type="http://schemas.openxmlformats.org/officeDocument/2006/relationships/tags" Target="../tags/tag347.xml"/><Relationship Id="rId18" Type="http://schemas.openxmlformats.org/officeDocument/2006/relationships/tags" Target="../tags/tag346.xml"/><Relationship Id="rId178" Type="http://schemas.openxmlformats.org/officeDocument/2006/relationships/notesSlide" Target="../notesSlides/notesSlide38.xml"/><Relationship Id="rId177" Type="http://schemas.openxmlformats.org/officeDocument/2006/relationships/slideLayout" Target="../slideLayouts/slideLayout7.xml"/><Relationship Id="rId176" Type="http://schemas.openxmlformats.org/officeDocument/2006/relationships/tags" Target="../tags/tag504.xml"/><Relationship Id="rId175" Type="http://schemas.openxmlformats.org/officeDocument/2006/relationships/tags" Target="../tags/tag503.xml"/><Relationship Id="rId174" Type="http://schemas.openxmlformats.org/officeDocument/2006/relationships/tags" Target="../tags/tag502.xml"/><Relationship Id="rId173" Type="http://schemas.openxmlformats.org/officeDocument/2006/relationships/tags" Target="../tags/tag501.xml"/><Relationship Id="rId172" Type="http://schemas.openxmlformats.org/officeDocument/2006/relationships/tags" Target="../tags/tag500.xml"/><Relationship Id="rId171" Type="http://schemas.openxmlformats.org/officeDocument/2006/relationships/tags" Target="../tags/tag499.xml"/><Relationship Id="rId170" Type="http://schemas.openxmlformats.org/officeDocument/2006/relationships/tags" Target="../tags/tag498.xml"/><Relationship Id="rId17" Type="http://schemas.openxmlformats.org/officeDocument/2006/relationships/tags" Target="../tags/tag345.xml"/><Relationship Id="rId169" Type="http://schemas.openxmlformats.org/officeDocument/2006/relationships/tags" Target="../tags/tag497.xml"/><Relationship Id="rId168" Type="http://schemas.openxmlformats.org/officeDocument/2006/relationships/tags" Target="../tags/tag496.xml"/><Relationship Id="rId167" Type="http://schemas.openxmlformats.org/officeDocument/2006/relationships/tags" Target="../tags/tag495.xml"/><Relationship Id="rId166" Type="http://schemas.openxmlformats.org/officeDocument/2006/relationships/tags" Target="../tags/tag494.xml"/><Relationship Id="rId165" Type="http://schemas.openxmlformats.org/officeDocument/2006/relationships/tags" Target="../tags/tag493.xml"/><Relationship Id="rId164" Type="http://schemas.openxmlformats.org/officeDocument/2006/relationships/tags" Target="../tags/tag492.xml"/><Relationship Id="rId163" Type="http://schemas.openxmlformats.org/officeDocument/2006/relationships/tags" Target="../tags/tag491.xml"/><Relationship Id="rId162" Type="http://schemas.openxmlformats.org/officeDocument/2006/relationships/tags" Target="../tags/tag490.xml"/><Relationship Id="rId161" Type="http://schemas.openxmlformats.org/officeDocument/2006/relationships/tags" Target="../tags/tag489.xml"/><Relationship Id="rId160" Type="http://schemas.openxmlformats.org/officeDocument/2006/relationships/tags" Target="../tags/tag488.xml"/><Relationship Id="rId16" Type="http://schemas.openxmlformats.org/officeDocument/2006/relationships/tags" Target="../tags/tag344.xml"/><Relationship Id="rId159" Type="http://schemas.openxmlformats.org/officeDocument/2006/relationships/tags" Target="../tags/tag487.xml"/><Relationship Id="rId158" Type="http://schemas.openxmlformats.org/officeDocument/2006/relationships/tags" Target="../tags/tag486.xml"/><Relationship Id="rId157" Type="http://schemas.openxmlformats.org/officeDocument/2006/relationships/tags" Target="../tags/tag485.xml"/><Relationship Id="rId156" Type="http://schemas.openxmlformats.org/officeDocument/2006/relationships/tags" Target="../tags/tag484.xml"/><Relationship Id="rId155" Type="http://schemas.openxmlformats.org/officeDocument/2006/relationships/tags" Target="../tags/tag483.xml"/><Relationship Id="rId154" Type="http://schemas.openxmlformats.org/officeDocument/2006/relationships/tags" Target="../tags/tag482.xml"/><Relationship Id="rId153" Type="http://schemas.openxmlformats.org/officeDocument/2006/relationships/tags" Target="../tags/tag481.xml"/><Relationship Id="rId152" Type="http://schemas.openxmlformats.org/officeDocument/2006/relationships/tags" Target="../tags/tag480.xml"/><Relationship Id="rId151" Type="http://schemas.openxmlformats.org/officeDocument/2006/relationships/tags" Target="../tags/tag479.xml"/><Relationship Id="rId150" Type="http://schemas.openxmlformats.org/officeDocument/2006/relationships/tags" Target="../tags/tag478.xml"/><Relationship Id="rId15" Type="http://schemas.openxmlformats.org/officeDocument/2006/relationships/tags" Target="../tags/tag343.xml"/><Relationship Id="rId149" Type="http://schemas.openxmlformats.org/officeDocument/2006/relationships/tags" Target="../tags/tag477.xml"/><Relationship Id="rId148" Type="http://schemas.openxmlformats.org/officeDocument/2006/relationships/tags" Target="../tags/tag476.xml"/><Relationship Id="rId147" Type="http://schemas.openxmlformats.org/officeDocument/2006/relationships/tags" Target="../tags/tag475.xml"/><Relationship Id="rId146" Type="http://schemas.openxmlformats.org/officeDocument/2006/relationships/tags" Target="../tags/tag474.xml"/><Relationship Id="rId145" Type="http://schemas.openxmlformats.org/officeDocument/2006/relationships/tags" Target="../tags/tag473.xml"/><Relationship Id="rId144" Type="http://schemas.openxmlformats.org/officeDocument/2006/relationships/tags" Target="../tags/tag472.xml"/><Relationship Id="rId143" Type="http://schemas.openxmlformats.org/officeDocument/2006/relationships/tags" Target="../tags/tag471.xml"/><Relationship Id="rId142" Type="http://schemas.openxmlformats.org/officeDocument/2006/relationships/tags" Target="../tags/tag470.xml"/><Relationship Id="rId141" Type="http://schemas.openxmlformats.org/officeDocument/2006/relationships/tags" Target="../tags/tag469.xml"/><Relationship Id="rId140" Type="http://schemas.openxmlformats.org/officeDocument/2006/relationships/tags" Target="../tags/tag468.xml"/><Relationship Id="rId14" Type="http://schemas.openxmlformats.org/officeDocument/2006/relationships/tags" Target="../tags/tag342.xml"/><Relationship Id="rId139" Type="http://schemas.openxmlformats.org/officeDocument/2006/relationships/tags" Target="../tags/tag467.xml"/><Relationship Id="rId138" Type="http://schemas.openxmlformats.org/officeDocument/2006/relationships/tags" Target="../tags/tag466.xml"/><Relationship Id="rId137" Type="http://schemas.openxmlformats.org/officeDocument/2006/relationships/tags" Target="../tags/tag465.xml"/><Relationship Id="rId136" Type="http://schemas.openxmlformats.org/officeDocument/2006/relationships/tags" Target="../tags/tag464.xml"/><Relationship Id="rId135" Type="http://schemas.openxmlformats.org/officeDocument/2006/relationships/tags" Target="../tags/tag463.xml"/><Relationship Id="rId134" Type="http://schemas.openxmlformats.org/officeDocument/2006/relationships/tags" Target="../tags/tag462.xml"/><Relationship Id="rId133" Type="http://schemas.openxmlformats.org/officeDocument/2006/relationships/tags" Target="../tags/tag461.xml"/><Relationship Id="rId132" Type="http://schemas.openxmlformats.org/officeDocument/2006/relationships/tags" Target="../tags/tag460.xml"/><Relationship Id="rId131" Type="http://schemas.openxmlformats.org/officeDocument/2006/relationships/tags" Target="../tags/tag459.xml"/><Relationship Id="rId130" Type="http://schemas.openxmlformats.org/officeDocument/2006/relationships/tags" Target="../tags/tag458.xml"/><Relationship Id="rId13" Type="http://schemas.openxmlformats.org/officeDocument/2006/relationships/tags" Target="../tags/tag341.xml"/><Relationship Id="rId129" Type="http://schemas.openxmlformats.org/officeDocument/2006/relationships/tags" Target="../tags/tag457.xml"/><Relationship Id="rId128" Type="http://schemas.openxmlformats.org/officeDocument/2006/relationships/tags" Target="../tags/tag456.xml"/><Relationship Id="rId127" Type="http://schemas.openxmlformats.org/officeDocument/2006/relationships/tags" Target="../tags/tag455.xml"/><Relationship Id="rId126" Type="http://schemas.openxmlformats.org/officeDocument/2006/relationships/tags" Target="../tags/tag454.xml"/><Relationship Id="rId125" Type="http://schemas.openxmlformats.org/officeDocument/2006/relationships/tags" Target="../tags/tag453.xml"/><Relationship Id="rId124" Type="http://schemas.openxmlformats.org/officeDocument/2006/relationships/tags" Target="../tags/tag452.xml"/><Relationship Id="rId123" Type="http://schemas.openxmlformats.org/officeDocument/2006/relationships/tags" Target="../tags/tag451.xml"/><Relationship Id="rId122" Type="http://schemas.openxmlformats.org/officeDocument/2006/relationships/tags" Target="../tags/tag450.xml"/><Relationship Id="rId121" Type="http://schemas.openxmlformats.org/officeDocument/2006/relationships/tags" Target="../tags/tag449.xml"/><Relationship Id="rId120" Type="http://schemas.openxmlformats.org/officeDocument/2006/relationships/tags" Target="../tags/tag448.xml"/><Relationship Id="rId12" Type="http://schemas.openxmlformats.org/officeDocument/2006/relationships/tags" Target="../tags/tag340.xml"/><Relationship Id="rId119" Type="http://schemas.openxmlformats.org/officeDocument/2006/relationships/tags" Target="../tags/tag447.xml"/><Relationship Id="rId118" Type="http://schemas.openxmlformats.org/officeDocument/2006/relationships/tags" Target="../tags/tag446.xml"/><Relationship Id="rId117" Type="http://schemas.openxmlformats.org/officeDocument/2006/relationships/tags" Target="../tags/tag445.xml"/><Relationship Id="rId116" Type="http://schemas.openxmlformats.org/officeDocument/2006/relationships/tags" Target="../tags/tag444.xml"/><Relationship Id="rId115" Type="http://schemas.openxmlformats.org/officeDocument/2006/relationships/tags" Target="../tags/tag443.xml"/><Relationship Id="rId114" Type="http://schemas.openxmlformats.org/officeDocument/2006/relationships/tags" Target="../tags/tag442.xml"/><Relationship Id="rId113" Type="http://schemas.openxmlformats.org/officeDocument/2006/relationships/tags" Target="../tags/tag441.xml"/><Relationship Id="rId112" Type="http://schemas.openxmlformats.org/officeDocument/2006/relationships/tags" Target="../tags/tag440.xml"/><Relationship Id="rId111" Type="http://schemas.openxmlformats.org/officeDocument/2006/relationships/tags" Target="../tags/tag439.xml"/><Relationship Id="rId110" Type="http://schemas.openxmlformats.org/officeDocument/2006/relationships/tags" Target="../tags/tag438.xml"/><Relationship Id="rId11" Type="http://schemas.openxmlformats.org/officeDocument/2006/relationships/tags" Target="../tags/tag339.xml"/><Relationship Id="rId109" Type="http://schemas.openxmlformats.org/officeDocument/2006/relationships/tags" Target="../tags/tag437.xml"/><Relationship Id="rId108" Type="http://schemas.openxmlformats.org/officeDocument/2006/relationships/tags" Target="../tags/tag436.xml"/><Relationship Id="rId107" Type="http://schemas.openxmlformats.org/officeDocument/2006/relationships/tags" Target="../tags/tag435.xml"/><Relationship Id="rId106" Type="http://schemas.openxmlformats.org/officeDocument/2006/relationships/tags" Target="../tags/tag434.xml"/><Relationship Id="rId105" Type="http://schemas.openxmlformats.org/officeDocument/2006/relationships/tags" Target="../tags/tag433.xml"/><Relationship Id="rId104" Type="http://schemas.openxmlformats.org/officeDocument/2006/relationships/tags" Target="../tags/tag432.xml"/><Relationship Id="rId103" Type="http://schemas.openxmlformats.org/officeDocument/2006/relationships/tags" Target="../tags/tag431.xml"/><Relationship Id="rId102" Type="http://schemas.openxmlformats.org/officeDocument/2006/relationships/tags" Target="../tags/tag430.xml"/><Relationship Id="rId101" Type="http://schemas.openxmlformats.org/officeDocument/2006/relationships/tags" Target="../tags/tag429.xml"/><Relationship Id="rId100" Type="http://schemas.openxmlformats.org/officeDocument/2006/relationships/tags" Target="../tags/tag428.xml"/><Relationship Id="rId10" Type="http://schemas.openxmlformats.org/officeDocument/2006/relationships/tags" Target="../tags/tag338.xml"/><Relationship Id="rId1" Type="http://schemas.openxmlformats.org/officeDocument/2006/relationships/tags" Target="../tags/tag329.xml"/></Relationships>
</file>

<file path=ppt/slides/_rels/slide47.xml.rels><?xml version="1.0" encoding="UTF-8" standalone="yes"?>
<Relationships xmlns="http://schemas.openxmlformats.org/package/2006/relationships"><Relationship Id="rId99" Type="http://schemas.openxmlformats.org/officeDocument/2006/relationships/tags" Target="../tags/tag603.xml"/><Relationship Id="rId98" Type="http://schemas.openxmlformats.org/officeDocument/2006/relationships/tags" Target="../tags/tag602.xml"/><Relationship Id="rId97" Type="http://schemas.openxmlformats.org/officeDocument/2006/relationships/tags" Target="../tags/tag601.xml"/><Relationship Id="rId96" Type="http://schemas.openxmlformats.org/officeDocument/2006/relationships/tags" Target="../tags/tag600.xml"/><Relationship Id="rId95" Type="http://schemas.openxmlformats.org/officeDocument/2006/relationships/tags" Target="../tags/tag599.xml"/><Relationship Id="rId94" Type="http://schemas.openxmlformats.org/officeDocument/2006/relationships/tags" Target="../tags/tag598.xml"/><Relationship Id="rId93" Type="http://schemas.openxmlformats.org/officeDocument/2006/relationships/tags" Target="../tags/tag597.xml"/><Relationship Id="rId92" Type="http://schemas.openxmlformats.org/officeDocument/2006/relationships/tags" Target="../tags/tag596.xml"/><Relationship Id="rId91" Type="http://schemas.openxmlformats.org/officeDocument/2006/relationships/tags" Target="../tags/tag595.xml"/><Relationship Id="rId90" Type="http://schemas.openxmlformats.org/officeDocument/2006/relationships/tags" Target="../tags/tag594.xml"/><Relationship Id="rId9" Type="http://schemas.openxmlformats.org/officeDocument/2006/relationships/tags" Target="../tags/tag513.xml"/><Relationship Id="rId89" Type="http://schemas.openxmlformats.org/officeDocument/2006/relationships/tags" Target="../tags/tag593.xml"/><Relationship Id="rId88" Type="http://schemas.openxmlformats.org/officeDocument/2006/relationships/tags" Target="../tags/tag592.xml"/><Relationship Id="rId87" Type="http://schemas.openxmlformats.org/officeDocument/2006/relationships/tags" Target="../tags/tag591.xml"/><Relationship Id="rId86" Type="http://schemas.openxmlformats.org/officeDocument/2006/relationships/tags" Target="../tags/tag590.xml"/><Relationship Id="rId85" Type="http://schemas.openxmlformats.org/officeDocument/2006/relationships/tags" Target="../tags/tag589.xml"/><Relationship Id="rId84" Type="http://schemas.openxmlformats.org/officeDocument/2006/relationships/tags" Target="../tags/tag588.xml"/><Relationship Id="rId83" Type="http://schemas.openxmlformats.org/officeDocument/2006/relationships/tags" Target="../tags/tag587.xml"/><Relationship Id="rId82" Type="http://schemas.openxmlformats.org/officeDocument/2006/relationships/tags" Target="../tags/tag586.xml"/><Relationship Id="rId81" Type="http://schemas.openxmlformats.org/officeDocument/2006/relationships/tags" Target="../tags/tag585.xml"/><Relationship Id="rId80" Type="http://schemas.openxmlformats.org/officeDocument/2006/relationships/tags" Target="../tags/tag584.xml"/><Relationship Id="rId8" Type="http://schemas.openxmlformats.org/officeDocument/2006/relationships/tags" Target="../tags/tag512.xml"/><Relationship Id="rId79" Type="http://schemas.openxmlformats.org/officeDocument/2006/relationships/tags" Target="../tags/tag583.xml"/><Relationship Id="rId78" Type="http://schemas.openxmlformats.org/officeDocument/2006/relationships/tags" Target="../tags/tag582.xml"/><Relationship Id="rId77" Type="http://schemas.openxmlformats.org/officeDocument/2006/relationships/tags" Target="../tags/tag581.xml"/><Relationship Id="rId76" Type="http://schemas.openxmlformats.org/officeDocument/2006/relationships/tags" Target="../tags/tag580.xml"/><Relationship Id="rId75" Type="http://schemas.openxmlformats.org/officeDocument/2006/relationships/tags" Target="../tags/tag579.xml"/><Relationship Id="rId74" Type="http://schemas.openxmlformats.org/officeDocument/2006/relationships/tags" Target="../tags/tag578.xml"/><Relationship Id="rId73" Type="http://schemas.openxmlformats.org/officeDocument/2006/relationships/tags" Target="../tags/tag577.xml"/><Relationship Id="rId72" Type="http://schemas.openxmlformats.org/officeDocument/2006/relationships/tags" Target="../tags/tag576.xml"/><Relationship Id="rId71" Type="http://schemas.openxmlformats.org/officeDocument/2006/relationships/tags" Target="../tags/tag575.xml"/><Relationship Id="rId70" Type="http://schemas.openxmlformats.org/officeDocument/2006/relationships/tags" Target="../tags/tag574.xml"/><Relationship Id="rId7" Type="http://schemas.openxmlformats.org/officeDocument/2006/relationships/tags" Target="../tags/tag511.xml"/><Relationship Id="rId69" Type="http://schemas.openxmlformats.org/officeDocument/2006/relationships/tags" Target="../tags/tag573.xml"/><Relationship Id="rId68" Type="http://schemas.openxmlformats.org/officeDocument/2006/relationships/tags" Target="../tags/tag572.xml"/><Relationship Id="rId67" Type="http://schemas.openxmlformats.org/officeDocument/2006/relationships/tags" Target="../tags/tag571.xml"/><Relationship Id="rId66" Type="http://schemas.openxmlformats.org/officeDocument/2006/relationships/tags" Target="../tags/tag570.xml"/><Relationship Id="rId65" Type="http://schemas.openxmlformats.org/officeDocument/2006/relationships/tags" Target="../tags/tag569.xml"/><Relationship Id="rId64" Type="http://schemas.openxmlformats.org/officeDocument/2006/relationships/tags" Target="../tags/tag568.xml"/><Relationship Id="rId63" Type="http://schemas.openxmlformats.org/officeDocument/2006/relationships/tags" Target="../tags/tag567.xml"/><Relationship Id="rId62" Type="http://schemas.openxmlformats.org/officeDocument/2006/relationships/tags" Target="../tags/tag566.xml"/><Relationship Id="rId61" Type="http://schemas.openxmlformats.org/officeDocument/2006/relationships/tags" Target="../tags/tag565.xml"/><Relationship Id="rId60" Type="http://schemas.openxmlformats.org/officeDocument/2006/relationships/tags" Target="../tags/tag564.xml"/><Relationship Id="rId6" Type="http://schemas.openxmlformats.org/officeDocument/2006/relationships/tags" Target="../tags/tag510.xml"/><Relationship Id="rId59" Type="http://schemas.openxmlformats.org/officeDocument/2006/relationships/tags" Target="../tags/tag563.xml"/><Relationship Id="rId58" Type="http://schemas.openxmlformats.org/officeDocument/2006/relationships/tags" Target="../tags/tag562.xml"/><Relationship Id="rId57" Type="http://schemas.openxmlformats.org/officeDocument/2006/relationships/tags" Target="../tags/tag561.xml"/><Relationship Id="rId56" Type="http://schemas.openxmlformats.org/officeDocument/2006/relationships/tags" Target="../tags/tag560.xml"/><Relationship Id="rId55" Type="http://schemas.openxmlformats.org/officeDocument/2006/relationships/tags" Target="../tags/tag559.xml"/><Relationship Id="rId54" Type="http://schemas.openxmlformats.org/officeDocument/2006/relationships/tags" Target="../tags/tag558.xml"/><Relationship Id="rId53" Type="http://schemas.openxmlformats.org/officeDocument/2006/relationships/tags" Target="../tags/tag557.xml"/><Relationship Id="rId52" Type="http://schemas.openxmlformats.org/officeDocument/2006/relationships/tags" Target="../tags/tag556.xml"/><Relationship Id="rId51" Type="http://schemas.openxmlformats.org/officeDocument/2006/relationships/tags" Target="../tags/tag555.xml"/><Relationship Id="rId50" Type="http://schemas.openxmlformats.org/officeDocument/2006/relationships/tags" Target="../tags/tag554.xml"/><Relationship Id="rId5" Type="http://schemas.openxmlformats.org/officeDocument/2006/relationships/tags" Target="../tags/tag509.xml"/><Relationship Id="rId49" Type="http://schemas.openxmlformats.org/officeDocument/2006/relationships/tags" Target="../tags/tag553.xml"/><Relationship Id="rId48" Type="http://schemas.openxmlformats.org/officeDocument/2006/relationships/tags" Target="../tags/tag552.xml"/><Relationship Id="rId47" Type="http://schemas.openxmlformats.org/officeDocument/2006/relationships/tags" Target="../tags/tag551.xml"/><Relationship Id="rId46" Type="http://schemas.openxmlformats.org/officeDocument/2006/relationships/tags" Target="../tags/tag550.xml"/><Relationship Id="rId45" Type="http://schemas.openxmlformats.org/officeDocument/2006/relationships/tags" Target="../tags/tag549.xml"/><Relationship Id="rId44" Type="http://schemas.openxmlformats.org/officeDocument/2006/relationships/tags" Target="../tags/tag548.xml"/><Relationship Id="rId43" Type="http://schemas.openxmlformats.org/officeDocument/2006/relationships/tags" Target="../tags/tag547.xml"/><Relationship Id="rId42" Type="http://schemas.openxmlformats.org/officeDocument/2006/relationships/tags" Target="../tags/tag546.xml"/><Relationship Id="rId41" Type="http://schemas.openxmlformats.org/officeDocument/2006/relationships/tags" Target="../tags/tag545.xml"/><Relationship Id="rId40" Type="http://schemas.openxmlformats.org/officeDocument/2006/relationships/tags" Target="../tags/tag544.xml"/><Relationship Id="rId4" Type="http://schemas.openxmlformats.org/officeDocument/2006/relationships/tags" Target="../tags/tag508.xml"/><Relationship Id="rId39" Type="http://schemas.openxmlformats.org/officeDocument/2006/relationships/tags" Target="../tags/tag543.xml"/><Relationship Id="rId38" Type="http://schemas.openxmlformats.org/officeDocument/2006/relationships/tags" Target="../tags/tag542.xml"/><Relationship Id="rId37" Type="http://schemas.openxmlformats.org/officeDocument/2006/relationships/tags" Target="../tags/tag541.xml"/><Relationship Id="rId36" Type="http://schemas.openxmlformats.org/officeDocument/2006/relationships/tags" Target="../tags/tag540.xml"/><Relationship Id="rId35" Type="http://schemas.openxmlformats.org/officeDocument/2006/relationships/tags" Target="../tags/tag539.xml"/><Relationship Id="rId34" Type="http://schemas.openxmlformats.org/officeDocument/2006/relationships/tags" Target="../tags/tag538.xml"/><Relationship Id="rId33" Type="http://schemas.openxmlformats.org/officeDocument/2006/relationships/tags" Target="../tags/tag537.xml"/><Relationship Id="rId32" Type="http://schemas.openxmlformats.org/officeDocument/2006/relationships/tags" Target="../tags/tag536.xml"/><Relationship Id="rId31" Type="http://schemas.openxmlformats.org/officeDocument/2006/relationships/tags" Target="../tags/tag535.xml"/><Relationship Id="rId30" Type="http://schemas.openxmlformats.org/officeDocument/2006/relationships/tags" Target="../tags/tag534.xml"/><Relationship Id="rId3" Type="http://schemas.openxmlformats.org/officeDocument/2006/relationships/tags" Target="../tags/tag507.xml"/><Relationship Id="rId29" Type="http://schemas.openxmlformats.org/officeDocument/2006/relationships/tags" Target="../tags/tag533.xml"/><Relationship Id="rId28" Type="http://schemas.openxmlformats.org/officeDocument/2006/relationships/tags" Target="../tags/tag532.xml"/><Relationship Id="rId27" Type="http://schemas.openxmlformats.org/officeDocument/2006/relationships/tags" Target="../tags/tag531.xml"/><Relationship Id="rId26" Type="http://schemas.openxmlformats.org/officeDocument/2006/relationships/tags" Target="../tags/tag530.xml"/><Relationship Id="rId25" Type="http://schemas.openxmlformats.org/officeDocument/2006/relationships/tags" Target="../tags/tag529.xml"/><Relationship Id="rId24" Type="http://schemas.openxmlformats.org/officeDocument/2006/relationships/tags" Target="../tags/tag528.xml"/><Relationship Id="rId23" Type="http://schemas.openxmlformats.org/officeDocument/2006/relationships/tags" Target="../tags/tag527.xml"/><Relationship Id="rId22" Type="http://schemas.openxmlformats.org/officeDocument/2006/relationships/tags" Target="../tags/tag526.xml"/><Relationship Id="rId21" Type="http://schemas.openxmlformats.org/officeDocument/2006/relationships/tags" Target="../tags/tag525.xml"/><Relationship Id="rId20" Type="http://schemas.openxmlformats.org/officeDocument/2006/relationships/tags" Target="../tags/tag524.xml"/><Relationship Id="rId2" Type="http://schemas.openxmlformats.org/officeDocument/2006/relationships/tags" Target="../tags/tag506.xml"/><Relationship Id="rId19" Type="http://schemas.openxmlformats.org/officeDocument/2006/relationships/tags" Target="../tags/tag523.xml"/><Relationship Id="rId18" Type="http://schemas.openxmlformats.org/officeDocument/2006/relationships/tags" Target="../tags/tag522.xml"/><Relationship Id="rId17" Type="http://schemas.openxmlformats.org/officeDocument/2006/relationships/tags" Target="../tags/tag521.xml"/><Relationship Id="rId16" Type="http://schemas.openxmlformats.org/officeDocument/2006/relationships/tags" Target="../tags/tag520.xml"/><Relationship Id="rId15" Type="http://schemas.openxmlformats.org/officeDocument/2006/relationships/tags" Target="../tags/tag519.xml"/><Relationship Id="rId142" Type="http://schemas.openxmlformats.org/officeDocument/2006/relationships/slideLayout" Target="../slideLayouts/slideLayout7.xml"/><Relationship Id="rId141" Type="http://schemas.openxmlformats.org/officeDocument/2006/relationships/tags" Target="../tags/tag645.xml"/><Relationship Id="rId140" Type="http://schemas.openxmlformats.org/officeDocument/2006/relationships/tags" Target="../tags/tag644.xml"/><Relationship Id="rId14" Type="http://schemas.openxmlformats.org/officeDocument/2006/relationships/tags" Target="../tags/tag518.xml"/><Relationship Id="rId139" Type="http://schemas.openxmlformats.org/officeDocument/2006/relationships/tags" Target="../tags/tag643.xml"/><Relationship Id="rId138" Type="http://schemas.openxmlformats.org/officeDocument/2006/relationships/tags" Target="../tags/tag642.xml"/><Relationship Id="rId137" Type="http://schemas.openxmlformats.org/officeDocument/2006/relationships/tags" Target="../tags/tag641.xml"/><Relationship Id="rId136" Type="http://schemas.openxmlformats.org/officeDocument/2006/relationships/tags" Target="../tags/tag640.xml"/><Relationship Id="rId135" Type="http://schemas.openxmlformats.org/officeDocument/2006/relationships/tags" Target="../tags/tag639.xml"/><Relationship Id="rId134" Type="http://schemas.openxmlformats.org/officeDocument/2006/relationships/tags" Target="../tags/tag638.xml"/><Relationship Id="rId133" Type="http://schemas.openxmlformats.org/officeDocument/2006/relationships/tags" Target="../tags/tag637.xml"/><Relationship Id="rId132" Type="http://schemas.openxmlformats.org/officeDocument/2006/relationships/tags" Target="../tags/tag636.xml"/><Relationship Id="rId131" Type="http://schemas.openxmlformats.org/officeDocument/2006/relationships/tags" Target="../tags/tag635.xml"/><Relationship Id="rId130" Type="http://schemas.openxmlformats.org/officeDocument/2006/relationships/tags" Target="../tags/tag634.xml"/><Relationship Id="rId13" Type="http://schemas.openxmlformats.org/officeDocument/2006/relationships/tags" Target="../tags/tag517.xml"/><Relationship Id="rId129" Type="http://schemas.openxmlformats.org/officeDocument/2006/relationships/tags" Target="../tags/tag633.xml"/><Relationship Id="rId128" Type="http://schemas.openxmlformats.org/officeDocument/2006/relationships/tags" Target="../tags/tag632.xml"/><Relationship Id="rId127" Type="http://schemas.openxmlformats.org/officeDocument/2006/relationships/tags" Target="../tags/tag631.xml"/><Relationship Id="rId126" Type="http://schemas.openxmlformats.org/officeDocument/2006/relationships/tags" Target="../tags/tag630.xml"/><Relationship Id="rId125" Type="http://schemas.openxmlformats.org/officeDocument/2006/relationships/tags" Target="../tags/tag629.xml"/><Relationship Id="rId124" Type="http://schemas.openxmlformats.org/officeDocument/2006/relationships/tags" Target="../tags/tag628.xml"/><Relationship Id="rId123" Type="http://schemas.openxmlformats.org/officeDocument/2006/relationships/tags" Target="../tags/tag627.xml"/><Relationship Id="rId122" Type="http://schemas.openxmlformats.org/officeDocument/2006/relationships/tags" Target="../tags/tag626.xml"/><Relationship Id="rId121" Type="http://schemas.openxmlformats.org/officeDocument/2006/relationships/tags" Target="../tags/tag625.xml"/><Relationship Id="rId120" Type="http://schemas.openxmlformats.org/officeDocument/2006/relationships/tags" Target="../tags/tag624.xml"/><Relationship Id="rId12" Type="http://schemas.openxmlformats.org/officeDocument/2006/relationships/tags" Target="../tags/tag516.xml"/><Relationship Id="rId119" Type="http://schemas.openxmlformats.org/officeDocument/2006/relationships/tags" Target="../tags/tag623.xml"/><Relationship Id="rId118" Type="http://schemas.openxmlformats.org/officeDocument/2006/relationships/tags" Target="../tags/tag622.xml"/><Relationship Id="rId117" Type="http://schemas.openxmlformats.org/officeDocument/2006/relationships/tags" Target="../tags/tag621.xml"/><Relationship Id="rId116" Type="http://schemas.openxmlformats.org/officeDocument/2006/relationships/tags" Target="../tags/tag620.xml"/><Relationship Id="rId115" Type="http://schemas.openxmlformats.org/officeDocument/2006/relationships/tags" Target="../tags/tag619.xml"/><Relationship Id="rId114" Type="http://schemas.openxmlformats.org/officeDocument/2006/relationships/tags" Target="../tags/tag618.xml"/><Relationship Id="rId113" Type="http://schemas.openxmlformats.org/officeDocument/2006/relationships/tags" Target="../tags/tag617.xml"/><Relationship Id="rId112" Type="http://schemas.openxmlformats.org/officeDocument/2006/relationships/tags" Target="../tags/tag616.xml"/><Relationship Id="rId111" Type="http://schemas.openxmlformats.org/officeDocument/2006/relationships/tags" Target="../tags/tag615.xml"/><Relationship Id="rId110" Type="http://schemas.openxmlformats.org/officeDocument/2006/relationships/tags" Target="../tags/tag614.xml"/><Relationship Id="rId11" Type="http://schemas.openxmlformats.org/officeDocument/2006/relationships/tags" Target="../tags/tag515.xml"/><Relationship Id="rId109" Type="http://schemas.openxmlformats.org/officeDocument/2006/relationships/tags" Target="../tags/tag613.xml"/><Relationship Id="rId108" Type="http://schemas.openxmlformats.org/officeDocument/2006/relationships/tags" Target="../tags/tag612.xml"/><Relationship Id="rId107" Type="http://schemas.openxmlformats.org/officeDocument/2006/relationships/tags" Target="../tags/tag611.xml"/><Relationship Id="rId106" Type="http://schemas.openxmlformats.org/officeDocument/2006/relationships/tags" Target="../tags/tag610.xml"/><Relationship Id="rId105" Type="http://schemas.openxmlformats.org/officeDocument/2006/relationships/tags" Target="../tags/tag609.xml"/><Relationship Id="rId104" Type="http://schemas.openxmlformats.org/officeDocument/2006/relationships/tags" Target="../tags/tag608.xml"/><Relationship Id="rId103" Type="http://schemas.openxmlformats.org/officeDocument/2006/relationships/tags" Target="../tags/tag607.xml"/><Relationship Id="rId102" Type="http://schemas.openxmlformats.org/officeDocument/2006/relationships/tags" Target="../tags/tag606.xml"/><Relationship Id="rId101" Type="http://schemas.openxmlformats.org/officeDocument/2006/relationships/tags" Target="../tags/tag605.xml"/><Relationship Id="rId100" Type="http://schemas.openxmlformats.org/officeDocument/2006/relationships/tags" Target="../tags/tag604.xml"/><Relationship Id="rId10" Type="http://schemas.openxmlformats.org/officeDocument/2006/relationships/tags" Target="../tags/tag514.xml"/><Relationship Id="rId1" Type="http://schemas.openxmlformats.org/officeDocument/2006/relationships/tags" Target="../tags/tag505.xml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tags" Target="../tags/tag652.xml"/><Relationship Id="rId82" Type="http://schemas.openxmlformats.org/officeDocument/2006/relationships/notesSlide" Target="../notesSlides/notesSlide39.xml"/><Relationship Id="rId81" Type="http://schemas.openxmlformats.org/officeDocument/2006/relationships/slideLayout" Target="../slideLayouts/slideLayout7.xml"/><Relationship Id="rId80" Type="http://schemas.openxmlformats.org/officeDocument/2006/relationships/tags" Target="../tags/tag723.xml"/><Relationship Id="rId8" Type="http://schemas.openxmlformats.org/officeDocument/2006/relationships/tags" Target="../tags/tag651.xml"/><Relationship Id="rId79" Type="http://schemas.openxmlformats.org/officeDocument/2006/relationships/tags" Target="../tags/tag722.xml"/><Relationship Id="rId78" Type="http://schemas.openxmlformats.org/officeDocument/2006/relationships/tags" Target="../tags/tag721.xml"/><Relationship Id="rId77" Type="http://schemas.openxmlformats.org/officeDocument/2006/relationships/tags" Target="../tags/tag720.xml"/><Relationship Id="rId76" Type="http://schemas.openxmlformats.org/officeDocument/2006/relationships/tags" Target="../tags/tag719.xml"/><Relationship Id="rId75" Type="http://schemas.openxmlformats.org/officeDocument/2006/relationships/tags" Target="../tags/tag718.xml"/><Relationship Id="rId74" Type="http://schemas.openxmlformats.org/officeDocument/2006/relationships/tags" Target="../tags/tag717.xml"/><Relationship Id="rId73" Type="http://schemas.openxmlformats.org/officeDocument/2006/relationships/tags" Target="../tags/tag716.xml"/><Relationship Id="rId72" Type="http://schemas.openxmlformats.org/officeDocument/2006/relationships/tags" Target="../tags/tag715.xml"/><Relationship Id="rId71" Type="http://schemas.openxmlformats.org/officeDocument/2006/relationships/tags" Target="../tags/tag714.xml"/><Relationship Id="rId70" Type="http://schemas.openxmlformats.org/officeDocument/2006/relationships/tags" Target="../tags/tag713.xml"/><Relationship Id="rId7" Type="http://schemas.openxmlformats.org/officeDocument/2006/relationships/tags" Target="../tags/tag650.xml"/><Relationship Id="rId69" Type="http://schemas.openxmlformats.org/officeDocument/2006/relationships/tags" Target="../tags/tag712.xml"/><Relationship Id="rId68" Type="http://schemas.openxmlformats.org/officeDocument/2006/relationships/tags" Target="../tags/tag711.xml"/><Relationship Id="rId67" Type="http://schemas.openxmlformats.org/officeDocument/2006/relationships/tags" Target="../tags/tag710.xml"/><Relationship Id="rId66" Type="http://schemas.openxmlformats.org/officeDocument/2006/relationships/tags" Target="../tags/tag709.xml"/><Relationship Id="rId65" Type="http://schemas.openxmlformats.org/officeDocument/2006/relationships/tags" Target="../tags/tag708.xml"/><Relationship Id="rId64" Type="http://schemas.openxmlformats.org/officeDocument/2006/relationships/tags" Target="../tags/tag707.xml"/><Relationship Id="rId63" Type="http://schemas.openxmlformats.org/officeDocument/2006/relationships/tags" Target="../tags/tag706.xml"/><Relationship Id="rId62" Type="http://schemas.openxmlformats.org/officeDocument/2006/relationships/tags" Target="../tags/tag705.xml"/><Relationship Id="rId61" Type="http://schemas.openxmlformats.org/officeDocument/2006/relationships/tags" Target="../tags/tag704.xml"/><Relationship Id="rId60" Type="http://schemas.openxmlformats.org/officeDocument/2006/relationships/tags" Target="../tags/tag703.xml"/><Relationship Id="rId6" Type="http://schemas.openxmlformats.org/officeDocument/2006/relationships/tags" Target="../tags/tag649.xml"/><Relationship Id="rId59" Type="http://schemas.openxmlformats.org/officeDocument/2006/relationships/tags" Target="../tags/tag702.xml"/><Relationship Id="rId58" Type="http://schemas.openxmlformats.org/officeDocument/2006/relationships/tags" Target="../tags/tag701.xml"/><Relationship Id="rId57" Type="http://schemas.openxmlformats.org/officeDocument/2006/relationships/tags" Target="../tags/tag700.xml"/><Relationship Id="rId56" Type="http://schemas.openxmlformats.org/officeDocument/2006/relationships/tags" Target="../tags/tag699.xml"/><Relationship Id="rId55" Type="http://schemas.openxmlformats.org/officeDocument/2006/relationships/tags" Target="../tags/tag698.xml"/><Relationship Id="rId54" Type="http://schemas.openxmlformats.org/officeDocument/2006/relationships/tags" Target="../tags/tag697.xml"/><Relationship Id="rId53" Type="http://schemas.openxmlformats.org/officeDocument/2006/relationships/tags" Target="../tags/tag696.xml"/><Relationship Id="rId52" Type="http://schemas.openxmlformats.org/officeDocument/2006/relationships/tags" Target="../tags/tag695.xml"/><Relationship Id="rId51" Type="http://schemas.openxmlformats.org/officeDocument/2006/relationships/tags" Target="../tags/tag694.xml"/><Relationship Id="rId50" Type="http://schemas.openxmlformats.org/officeDocument/2006/relationships/tags" Target="../tags/tag693.xml"/><Relationship Id="rId5" Type="http://schemas.openxmlformats.org/officeDocument/2006/relationships/tags" Target="../tags/tag648.xml"/><Relationship Id="rId49" Type="http://schemas.openxmlformats.org/officeDocument/2006/relationships/tags" Target="../tags/tag692.xml"/><Relationship Id="rId48" Type="http://schemas.openxmlformats.org/officeDocument/2006/relationships/tags" Target="../tags/tag691.xml"/><Relationship Id="rId47" Type="http://schemas.openxmlformats.org/officeDocument/2006/relationships/tags" Target="../tags/tag690.xml"/><Relationship Id="rId46" Type="http://schemas.openxmlformats.org/officeDocument/2006/relationships/tags" Target="../tags/tag689.xml"/><Relationship Id="rId45" Type="http://schemas.openxmlformats.org/officeDocument/2006/relationships/tags" Target="../tags/tag688.xml"/><Relationship Id="rId44" Type="http://schemas.openxmlformats.org/officeDocument/2006/relationships/tags" Target="../tags/tag687.xml"/><Relationship Id="rId43" Type="http://schemas.openxmlformats.org/officeDocument/2006/relationships/tags" Target="../tags/tag686.xml"/><Relationship Id="rId42" Type="http://schemas.openxmlformats.org/officeDocument/2006/relationships/tags" Target="../tags/tag685.xml"/><Relationship Id="rId41" Type="http://schemas.openxmlformats.org/officeDocument/2006/relationships/tags" Target="../tags/tag684.xml"/><Relationship Id="rId40" Type="http://schemas.openxmlformats.org/officeDocument/2006/relationships/tags" Target="../tags/tag683.xml"/><Relationship Id="rId4" Type="http://schemas.openxmlformats.org/officeDocument/2006/relationships/tags" Target="../tags/tag647.xml"/><Relationship Id="rId39" Type="http://schemas.openxmlformats.org/officeDocument/2006/relationships/tags" Target="../tags/tag682.xml"/><Relationship Id="rId38" Type="http://schemas.openxmlformats.org/officeDocument/2006/relationships/tags" Target="../tags/tag681.xml"/><Relationship Id="rId37" Type="http://schemas.openxmlformats.org/officeDocument/2006/relationships/tags" Target="../tags/tag680.xml"/><Relationship Id="rId36" Type="http://schemas.openxmlformats.org/officeDocument/2006/relationships/tags" Target="../tags/tag679.xml"/><Relationship Id="rId35" Type="http://schemas.openxmlformats.org/officeDocument/2006/relationships/tags" Target="../tags/tag678.xml"/><Relationship Id="rId34" Type="http://schemas.openxmlformats.org/officeDocument/2006/relationships/tags" Target="../tags/tag677.xml"/><Relationship Id="rId33" Type="http://schemas.openxmlformats.org/officeDocument/2006/relationships/tags" Target="../tags/tag676.xml"/><Relationship Id="rId32" Type="http://schemas.openxmlformats.org/officeDocument/2006/relationships/tags" Target="../tags/tag675.xml"/><Relationship Id="rId31" Type="http://schemas.openxmlformats.org/officeDocument/2006/relationships/tags" Target="../tags/tag674.xml"/><Relationship Id="rId30" Type="http://schemas.openxmlformats.org/officeDocument/2006/relationships/tags" Target="../tags/tag673.xml"/><Relationship Id="rId3" Type="http://schemas.openxmlformats.org/officeDocument/2006/relationships/tags" Target="../tags/tag646.xml"/><Relationship Id="rId29" Type="http://schemas.openxmlformats.org/officeDocument/2006/relationships/tags" Target="../tags/tag672.xml"/><Relationship Id="rId28" Type="http://schemas.openxmlformats.org/officeDocument/2006/relationships/tags" Target="../tags/tag671.xml"/><Relationship Id="rId27" Type="http://schemas.openxmlformats.org/officeDocument/2006/relationships/tags" Target="../tags/tag670.xml"/><Relationship Id="rId26" Type="http://schemas.openxmlformats.org/officeDocument/2006/relationships/tags" Target="../tags/tag669.xml"/><Relationship Id="rId25" Type="http://schemas.openxmlformats.org/officeDocument/2006/relationships/tags" Target="../tags/tag668.xml"/><Relationship Id="rId24" Type="http://schemas.openxmlformats.org/officeDocument/2006/relationships/tags" Target="../tags/tag667.xml"/><Relationship Id="rId23" Type="http://schemas.openxmlformats.org/officeDocument/2006/relationships/tags" Target="../tags/tag666.xml"/><Relationship Id="rId22" Type="http://schemas.openxmlformats.org/officeDocument/2006/relationships/tags" Target="../tags/tag665.xml"/><Relationship Id="rId21" Type="http://schemas.openxmlformats.org/officeDocument/2006/relationships/tags" Target="../tags/tag664.xml"/><Relationship Id="rId20" Type="http://schemas.openxmlformats.org/officeDocument/2006/relationships/tags" Target="../tags/tag663.xml"/><Relationship Id="rId2" Type="http://schemas.openxmlformats.org/officeDocument/2006/relationships/slide" Target="slide3.xml"/><Relationship Id="rId19" Type="http://schemas.openxmlformats.org/officeDocument/2006/relationships/tags" Target="../tags/tag662.xml"/><Relationship Id="rId18" Type="http://schemas.openxmlformats.org/officeDocument/2006/relationships/tags" Target="../tags/tag661.xml"/><Relationship Id="rId17" Type="http://schemas.openxmlformats.org/officeDocument/2006/relationships/tags" Target="../tags/tag660.xml"/><Relationship Id="rId16" Type="http://schemas.openxmlformats.org/officeDocument/2006/relationships/tags" Target="../tags/tag659.xml"/><Relationship Id="rId15" Type="http://schemas.openxmlformats.org/officeDocument/2006/relationships/tags" Target="../tags/tag658.xml"/><Relationship Id="rId14" Type="http://schemas.openxmlformats.org/officeDocument/2006/relationships/tags" Target="../tags/tag657.xml"/><Relationship Id="rId13" Type="http://schemas.openxmlformats.org/officeDocument/2006/relationships/tags" Target="../tags/tag656.xml"/><Relationship Id="rId12" Type="http://schemas.openxmlformats.org/officeDocument/2006/relationships/tags" Target="../tags/tag655.xml"/><Relationship Id="rId11" Type="http://schemas.openxmlformats.org/officeDocument/2006/relationships/tags" Target="../tags/tag654.xml"/><Relationship Id="rId10" Type="http://schemas.openxmlformats.org/officeDocument/2006/relationships/tags" Target="../tags/tag653.xml"/><Relationship Id="rId1" Type="http://schemas.openxmlformats.org/officeDocument/2006/relationships/slide" Target="slide41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tags" Target="../tags/tag732.xml"/><Relationship Id="rId8" Type="http://schemas.openxmlformats.org/officeDocument/2006/relationships/tags" Target="../tags/tag731.xml"/><Relationship Id="rId70" Type="http://schemas.openxmlformats.org/officeDocument/2006/relationships/slideLayout" Target="../slideLayouts/slideLayout7.xml"/><Relationship Id="rId7" Type="http://schemas.openxmlformats.org/officeDocument/2006/relationships/tags" Target="../tags/tag730.xml"/><Relationship Id="rId69" Type="http://schemas.openxmlformats.org/officeDocument/2006/relationships/tags" Target="../tags/tag790.xml"/><Relationship Id="rId68" Type="http://schemas.openxmlformats.org/officeDocument/2006/relationships/tags" Target="../tags/tag789.xml"/><Relationship Id="rId67" Type="http://schemas.openxmlformats.org/officeDocument/2006/relationships/tags" Target="../tags/tag788.xml"/><Relationship Id="rId66" Type="http://schemas.openxmlformats.org/officeDocument/2006/relationships/image" Target="../media/image6.jpeg"/><Relationship Id="rId65" Type="http://schemas.openxmlformats.org/officeDocument/2006/relationships/tags" Target="../tags/tag787.xml"/><Relationship Id="rId64" Type="http://schemas.openxmlformats.org/officeDocument/2006/relationships/image" Target="../media/image5.jpeg"/><Relationship Id="rId63" Type="http://schemas.openxmlformats.org/officeDocument/2006/relationships/tags" Target="../tags/tag786.xml"/><Relationship Id="rId62" Type="http://schemas.openxmlformats.org/officeDocument/2006/relationships/tags" Target="../tags/tag785.xml"/><Relationship Id="rId61" Type="http://schemas.openxmlformats.org/officeDocument/2006/relationships/tags" Target="../tags/tag784.xml"/><Relationship Id="rId60" Type="http://schemas.openxmlformats.org/officeDocument/2006/relationships/tags" Target="../tags/tag783.xml"/><Relationship Id="rId6" Type="http://schemas.openxmlformats.org/officeDocument/2006/relationships/tags" Target="../tags/tag729.xml"/><Relationship Id="rId59" Type="http://schemas.openxmlformats.org/officeDocument/2006/relationships/tags" Target="../tags/tag782.xml"/><Relationship Id="rId58" Type="http://schemas.openxmlformats.org/officeDocument/2006/relationships/tags" Target="../tags/tag781.xml"/><Relationship Id="rId57" Type="http://schemas.openxmlformats.org/officeDocument/2006/relationships/tags" Target="../tags/tag780.xml"/><Relationship Id="rId56" Type="http://schemas.openxmlformats.org/officeDocument/2006/relationships/tags" Target="../tags/tag779.xml"/><Relationship Id="rId55" Type="http://schemas.openxmlformats.org/officeDocument/2006/relationships/tags" Target="../tags/tag778.xml"/><Relationship Id="rId54" Type="http://schemas.openxmlformats.org/officeDocument/2006/relationships/tags" Target="../tags/tag777.xml"/><Relationship Id="rId53" Type="http://schemas.openxmlformats.org/officeDocument/2006/relationships/tags" Target="../tags/tag776.xml"/><Relationship Id="rId52" Type="http://schemas.openxmlformats.org/officeDocument/2006/relationships/tags" Target="../tags/tag775.xml"/><Relationship Id="rId51" Type="http://schemas.openxmlformats.org/officeDocument/2006/relationships/tags" Target="../tags/tag774.xml"/><Relationship Id="rId50" Type="http://schemas.openxmlformats.org/officeDocument/2006/relationships/tags" Target="../tags/tag773.xml"/><Relationship Id="rId5" Type="http://schemas.openxmlformats.org/officeDocument/2006/relationships/tags" Target="../tags/tag728.xml"/><Relationship Id="rId49" Type="http://schemas.openxmlformats.org/officeDocument/2006/relationships/tags" Target="../tags/tag772.xml"/><Relationship Id="rId48" Type="http://schemas.openxmlformats.org/officeDocument/2006/relationships/tags" Target="../tags/tag771.xml"/><Relationship Id="rId47" Type="http://schemas.openxmlformats.org/officeDocument/2006/relationships/tags" Target="../tags/tag770.xml"/><Relationship Id="rId46" Type="http://schemas.openxmlformats.org/officeDocument/2006/relationships/tags" Target="../tags/tag769.xml"/><Relationship Id="rId45" Type="http://schemas.openxmlformats.org/officeDocument/2006/relationships/tags" Target="../tags/tag768.xml"/><Relationship Id="rId44" Type="http://schemas.openxmlformats.org/officeDocument/2006/relationships/tags" Target="../tags/tag767.xml"/><Relationship Id="rId43" Type="http://schemas.openxmlformats.org/officeDocument/2006/relationships/tags" Target="../tags/tag766.xml"/><Relationship Id="rId42" Type="http://schemas.openxmlformats.org/officeDocument/2006/relationships/tags" Target="../tags/tag765.xml"/><Relationship Id="rId41" Type="http://schemas.openxmlformats.org/officeDocument/2006/relationships/tags" Target="../tags/tag764.xml"/><Relationship Id="rId40" Type="http://schemas.openxmlformats.org/officeDocument/2006/relationships/tags" Target="../tags/tag763.xml"/><Relationship Id="rId4" Type="http://schemas.openxmlformats.org/officeDocument/2006/relationships/tags" Target="../tags/tag727.xml"/><Relationship Id="rId39" Type="http://schemas.openxmlformats.org/officeDocument/2006/relationships/tags" Target="../tags/tag762.xml"/><Relationship Id="rId38" Type="http://schemas.openxmlformats.org/officeDocument/2006/relationships/tags" Target="../tags/tag761.xml"/><Relationship Id="rId37" Type="http://schemas.openxmlformats.org/officeDocument/2006/relationships/tags" Target="../tags/tag760.xml"/><Relationship Id="rId36" Type="http://schemas.openxmlformats.org/officeDocument/2006/relationships/tags" Target="../tags/tag759.xml"/><Relationship Id="rId35" Type="http://schemas.openxmlformats.org/officeDocument/2006/relationships/tags" Target="../tags/tag758.xml"/><Relationship Id="rId34" Type="http://schemas.openxmlformats.org/officeDocument/2006/relationships/tags" Target="../tags/tag757.xml"/><Relationship Id="rId33" Type="http://schemas.openxmlformats.org/officeDocument/2006/relationships/tags" Target="../tags/tag756.xml"/><Relationship Id="rId32" Type="http://schemas.openxmlformats.org/officeDocument/2006/relationships/tags" Target="../tags/tag755.xml"/><Relationship Id="rId31" Type="http://schemas.openxmlformats.org/officeDocument/2006/relationships/tags" Target="../tags/tag754.xml"/><Relationship Id="rId30" Type="http://schemas.openxmlformats.org/officeDocument/2006/relationships/tags" Target="../tags/tag753.xml"/><Relationship Id="rId3" Type="http://schemas.openxmlformats.org/officeDocument/2006/relationships/tags" Target="../tags/tag726.xml"/><Relationship Id="rId29" Type="http://schemas.openxmlformats.org/officeDocument/2006/relationships/tags" Target="../tags/tag752.xml"/><Relationship Id="rId28" Type="http://schemas.openxmlformats.org/officeDocument/2006/relationships/tags" Target="../tags/tag751.xml"/><Relationship Id="rId27" Type="http://schemas.openxmlformats.org/officeDocument/2006/relationships/tags" Target="../tags/tag750.xml"/><Relationship Id="rId26" Type="http://schemas.openxmlformats.org/officeDocument/2006/relationships/tags" Target="../tags/tag749.xml"/><Relationship Id="rId25" Type="http://schemas.openxmlformats.org/officeDocument/2006/relationships/tags" Target="../tags/tag748.xml"/><Relationship Id="rId24" Type="http://schemas.openxmlformats.org/officeDocument/2006/relationships/tags" Target="../tags/tag747.xml"/><Relationship Id="rId23" Type="http://schemas.openxmlformats.org/officeDocument/2006/relationships/tags" Target="../tags/tag746.xml"/><Relationship Id="rId22" Type="http://schemas.openxmlformats.org/officeDocument/2006/relationships/tags" Target="../tags/tag745.xml"/><Relationship Id="rId21" Type="http://schemas.openxmlformats.org/officeDocument/2006/relationships/tags" Target="../tags/tag744.xml"/><Relationship Id="rId20" Type="http://schemas.openxmlformats.org/officeDocument/2006/relationships/tags" Target="../tags/tag743.xml"/><Relationship Id="rId2" Type="http://schemas.openxmlformats.org/officeDocument/2006/relationships/tags" Target="../tags/tag725.xml"/><Relationship Id="rId19" Type="http://schemas.openxmlformats.org/officeDocument/2006/relationships/tags" Target="../tags/tag742.xml"/><Relationship Id="rId18" Type="http://schemas.openxmlformats.org/officeDocument/2006/relationships/tags" Target="../tags/tag741.xml"/><Relationship Id="rId17" Type="http://schemas.openxmlformats.org/officeDocument/2006/relationships/tags" Target="../tags/tag740.xml"/><Relationship Id="rId16" Type="http://schemas.openxmlformats.org/officeDocument/2006/relationships/tags" Target="../tags/tag739.xml"/><Relationship Id="rId15" Type="http://schemas.openxmlformats.org/officeDocument/2006/relationships/tags" Target="../tags/tag738.xml"/><Relationship Id="rId14" Type="http://schemas.openxmlformats.org/officeDocument/2006/relationships/tags" Target="../tags/tag737.xml"/><Relationship Id="rId13" Type="http://schemas.openxmlformats.org/officeDocument/2006/relationships/tags" Target="../tags/tag736.xml"/><Relationship Id="rId12" Type="http://schemas.openxmlformats.org/officeDocument/2006/relationships/tags" Target="../tags/tag735.xml"/><Relationship Id="rId11" Type="http://schemas.openxmlformats.org/officeDocument/2006/relationships/tags" Target="../tags/tag734.xml"/><Relationship Id="rId10" Type="http://schemas.openxmlformats.org/officeDocument/2006/relationships/tags" Target="../tags/tag733.xml"/><Relationship Id="rId1" Type="http://schemas.openxmlformats.org/officeDocument/2006/relationships/tags" Target="../tags/tag724.xml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tags" Target="../tags/tag799.xml"/><Relationship Id="rId8" Type="http://schemas.openxmlformats.org/officeDocument/2006/relationships/tags" Target="../tags/tag798.xml"/><Relationship Id="rId7" Type="http://schemas.openxmlformats.org/officeDocument/2006/relationships/tags" Target="../tags/tag797.xml"/><Relationship Id="rId6" Type="http://schemas.openxmlformats.org/officeDocument/2006/relationships/tags" Target="../tags/tag796.xml"/><Relationship Id="rId5" Type="http://schemas.openxmlformats.org/officeDocument/2006/relationships/tags" Target="../tags/tag795.xml"/><Relationship Id="rId4" Type="http://schemas.openxmlformats.org/officeDocument/2006/relationships/tags" Target="../tags/tag794.xml"/><Relationship Id="rId33" Type="http://schemas.openxmlformats.org/officeDocument/2006/relationships/slideLayout" Target="../slideLayouts/slideLayout7.xml"/><Relationship Id="rId32" Type="http://schemas.openxmlformats.org/officeDocument/2006/relationships/tags" Target="../tags/tag822.xml"/><Relationship Id="rId31" Type="http://schemas.openxmlformats.org/officeDocument/2006/relationships/tags" Target="../tags/tag821.xml"/><Relationship Id="rId30" Type="http://schemas.openxmlformats.org/officeDocument/2006/relationships/tags" Target="../tags/tag820.xml"/><Relationship Id="rId3" Type="http://schemas.openxmlformats.org/officeDocument/2006/relationships/tags" Target="../tags/tag793.xml"/><Relationship Id="rId29" Type="http://schemas.openxmlformats.org/officeDocument/2006/relationships/tags" Target="../tags/tag819.xml"/><Relationship Id="rId28" Type="http://schemas.openxmlformats.org/officeDocument/2006/relationships/tags" Target="../tags/tag818.xml"/><Relationship Id="rId27" Type="http://schemas.openxmlformats.org/officeDocument/2006/relationships/tags" Target="../tags/tag817.xml"/><Relationship Id="rId26" Type="http://schemas.openxmlformats.org/officeDocument/2006/relationships/tags" Target="../tags/tag816.xml"/><Relationship Id="rId25" Type="http://schemas.openxmlformats.org/officeDocument/2006/relationships/tags" Target="../tags/tag815.xml"/><Relationship Id="rId24" Type="http://schemas.openxmlformats.org/officeDocument/2006/relationships/tags" Target="../tags/tag814.xml"/><Relationship Id="rId23" Type="http://schemas.openxmlformats.org/officeDocument/2006/relationships/tags" Target="../tags/tag813.xml"/><Relationship Id="rId22" Type="http://schemas.openxmlformats.org/officeDocument/2006/relationships/tags" Target="../tags/tag812.xml"/><Relationship Id="rId21" Type="http://schemas.openxmlformats.org/officeDocument/2006/relationships/tags" Target="../tags/tag811.xml"/><Relationship Id="rId20" Type="http://schemas.openxmlformats.org/officeDocument/2006/relationships/tags" Target="../tags/tag810.xml"/><Relationship Id="rId2" Type="http://schemas.openxmlformats.org/officeDocument/2006/relationships/tags" Target="../tags/tag792.xml"/><Relationship Id="rId19" Type="http://schemas.openxmlformats.org/officeDocument/2006/relationships/tags" Target="../tags/tag809.xml"/><Relationship Id="rId18" Type="http://schemas.openxmlformats.org/officeDocument/2006/relationships/tags" Target="../tags/tag808.xml"/><Relationship Id="rId17" Type="http://schemas.openxmlformats.org/officeDocument/2006/relationships/tags" Target="../tags/tag807.xml"/><Relationship Id="rId16" Type="http://schemas.openxmlformats.org/officeDocument/2006/relationships/tags" Target="../tags/tag806.xml"/><Relationship Id="rId15" Type="http://schemas.openxmlformats.org/officeDocument/2006/relationships/tags" Target="../tags/tag805.xml"/><Relationship Id="rId14" Type="http://schemas.openxmlformats.org/officeDocument/2006/relationships/tags" Target="../tags/tag804.xml"/><Relationship Id="rId13" Type="http://schemas.openxmlformats.org/officeDocument/2006/relationships/tags" Target="../tags/tag803.xml"/><Relationship Id="rId12" Type="http://schemas.openxmlformats.org/officeDocument/2006/relationships/tags" Target="../tags/tag802.xml"/><Relationship Id="rId11" Type="http://schemas.openxmlformats.org/officeDocument/2006/relationships/tags" Target="../tags/tag801.xml"/><Relationship Id="rId10" Type="http://schemas.openxmlformats.org/officeDocument/2006/relationships/tags" Target="../tags/tag800.xml"/><Relationship Id="rId1" Type="http://schemas.openxmlformats.org/officeDocument/2006/relationships/tags" Target="../tags/tag791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tags" Target="../tags/tag831.xml"/><Relationship Id="rId8" Type="http://schemas.openxmlformats.org/officeDocument/2006/relationships/tags" Target="../tags/tag830.xml"/><Relationship Id="rId7" Type="http://schemas.openxmlformats.org/officeDocument/2006/relationships/tags" Target="../tags/tag829.xml"/><Relationship Id="rId65" Type="http://schemas.openxmlformats.org/officeDocument/2006/relationships/slideLayout" Target="../slideLayouts/slideLayout7.xml"/><Relationship Id="rId64" Type="http://schemas.openxmlformats.org/officeDocument/2006/relationships/tags" Target="../tags/tag886.xml"/><Relationship Id="rId63" Type="http://schemas.openxmlformats.org/officeDocument/2006/relationships/tags" Target="../tags/tag885.xml"/><Relationship Id="rId62" Type="http://schemas.openxmlformats.org/officeDocument/2006/relationships/tags" Target="../tags/tag884.xml"/><Relationship Id="rId61" Type="http://schemas.openxmlformats.org/officeDocument/2006/relationships/tags" Target="../tags/tag883.xml"/><Relationship Id="rId60" Type="http://schemas.openxmlformats.org/officeDocument/2006/relationships/tags" Target="../tags/tag882.xml"/><Relationship Id="rId6" Type="http://schemas.openxmlformats.org/officeDocument/2006/relationships/tags" Target="../tags/tag828.xml"/><Relationship Id="rId59" Type="http://schemas.openxmlformats.org/officeDocument/2006/relationships/tags" Target="../tags/tag881.xml"/><Relationship Id="rId58" Type="http://schemas.openxmlformats.org/officeDocument/2006/relationships/tags" Target="../tags/tag880.xml"/><Relationship Id="rId57" Type="http://schemas.openxmlformats.org/officeDocument/2006/relationships/tags" Target="../tags/tag879.xml"/><Relationship Id="rId56" Type="http://schemas.openxmlformats.org/officeDocument/2006/relationships/tags" Target="../tags/tag878.xml"/><Relationship Id="rId55" Type="http://schemas.openxmlformats.org/officeDocument/2006/relationships/tags" Target="../tags/tag877.xml"/><Relationship Id="rId54" Type="http://schemas.openxmlformats.org/officeDocument/2006/relationships/tags" Target="../tags/tag876.xml"/><Relationship Id="rId53" Type="http://schemas.openxmlformats.org/officeDocument/2006/relationships/tags" Target="../tags/tag875.xml"/><Relationship Id="rId52" Type="http://schemas.openxmlformats.org/officeDocument/2006/relationships/tags" Target="../tags/tag874.xml"/><Relationship Id="rId51" Type="http://schemas.openxmlformats.org/officeDocument/2006/relationships/tags" Target="../tags/tag873.xml"/><Relationship Id="rId50" Type="http://schemas.openxmlformats.org/officeDocument/2006/relationships/tags" Target="../tags/tag872.xml"/><Relationship Id="rId5" Type="http://schemas.openxmlformats.org/officeDocument/2006/relationships/tags" Target="../tags/tag827.xml"/><Relationship Id="rId49" Type="http://schemas.openxmlformats.org/officeDocument/2006/relationships/tags" Target="../tags/tag871.xml"/><Relationship Id="rId48" Type="http://schemas.openxmlformats.org/officeDocument/2006/relationships/tags" Target="../tags/tag870.xml"/><Relationship Id="rId47" Type="http://schemas.openxmlformats.org/officeDocument/2006/relationships/tags" Target="../tags/tag869.xml"/><Relationship Id="rId46" Type="http://schemas.openxmlformats.org/officeDocument/2006/relationships/tags" Target="../tags/tag868.xml"/><Relationship Id="rId45" Type="http://schemas.openxmlformats.org/officeDocument/2006/relationships/tags" Target="../tags/tag867.xml"/><Relationship Id="rId44" Type="http://schemas.openxmlformats.org/officeDocument/2006/relationships/tags" Target="../tags/tag866.xml"/><Relationship Id="rId43" Type="http://schemas.openxmlformats.org/officeDocument/2006/relationships/tags" Target="../tags/tag865.xml"/><Relationship Id="rId42" Type="http://schemas.openxmlformats.org/officeDocument/2006/relationships/tags" Target="../tags/tag864.xml"/><Relationship Id="rId41" Type="http://schemas.openxmlformats.org/officeDocument/2006/relationships/tags" Target="../tags/tag863.xml"/><Relationship Id="rId40" Type="http://schemas.openxmlformats.org/officeDocument/2006/relationships/tags" Target="../tags/tag862.xml"/><Relationship Id="rId4" Type="http://schemas.openxmlformats.org/officeDocument/2006/relationships/tags" Target="../tags/tag826.xml"/><Relationship Id="rId39" Type="http://schemas.openxmlformats.org/officeDocument/2006/relationships/tags" Target="../tags/tag861.xml"/><Relationship Id="rId38" Type="http://schemas.openxmlformats.org/officeDocument/2006/relationships/tags" Target="../tags/tag860.xml"/><Relationship Id="rId37" Type="http://schemas.openxmlformats.org/officeDocument/2006/relationships/tags" Target="../tags/tag859.xml"/><Relationship Id="rId36" Type="http://schemas.openxmlformats.org/officeDocument/2006/relationships/tags" Target="../tags/tag858.xml"/><Relationship Id="rId35" Type="http://schemas.openxmlformats.org/officeDocument/2006/relationships/tags" Target="../tags/tag857.xml"/><Relationship Id="rId34" Type="http://schemas.openxmlformats.org/officeDocument/2006/relationships/tags" Target="../tags/tag856.xml"/><Relationship Id="rId33" Type="http://schemas.openxmlformats.org/officeDocument/2006/relationships/tags" Target="../tags/tag855.xml"/><Relationship Id="rId32" Type="http://schemas.openxmlformats.org/officeDocument/2006/relationships/tags" Target="../tags/tag854.xml"/><Relationship Id="rId31" Type="http://schemas.openxmlformats.org/officeDocument/2006/relationships/tags" Target="../tags/tag853.xml"/><Relationship Id="rId30" Type="http://schemas.openxmlformats.org/officeDocument/2006/relationships/tags" Target="../tags/tag852.xml"/><Relationship Id="rId3" Type="http://schemas.openxmlformats.org/officeDocument/2006/relationships/tags" Target="../tags/tag825.xml"/><Relationship Id="rId29" Type="http://schemas.openxmlformats.org/officeDocument/2006/relationships/tags" Target="../tags/tag851.xml"/><Relationship Id="rId28" Type="http://schemas.openxmlformats.org/officeDocument/2006/relationships/tags" Target="../tags/tag850.xml"/><Relationship Id="rId27" Type="http://schemas.openxmlformats.org/officeDocument/2006/relationships/tags" Target="../tags/tag849.xml"/><Relationship Id="rId26" Type="http://schemas.openxmlformats.org/officeDocument/2006/relationships/tags" Target="../tags/tag848.xml"/><Relationship Id="rId25" Type="http://schemas.openxmlformats.org/officeDocument/2006/relationships/tags" Target="../tags/tag847.xml"/><Relationship Id="rId24" Type="http://schemas.openxmlformats.org/officeDocument/2006/relationships/tags" Target="../tags/tag846.xml"/><Relationship Id="rId23" Type="http://schemas.openxmlformats.org/officeDocument/2006/relationships/tags" Target="../tags/tag845.xml"/><Relationship Id="rId22" Type="http://schemas.openxmlformats.org/officeDocument/2006/relationships/tags" Target="../tags/tag844.xml"/><Relationship Id="rId21" Type="http://schemas.openxmlformats.org/officeDocument/2006/relationships/tags" Target="../tags/tag843.xml"/><Relationship Id="rId20" Type="http://schemas.openxmlformats.org/officeDocument/2006/relationships/tags" Target="../tags/tag842.xml"/><Relationship Id="rId2" Type="http://schemas.openxmlformats.org/officeDocument/2006/relationships/tags" Target="../tags/tag824.xml"/><Relationship Id="rId19" Type="http://schemas.openxmlformats.org/officeDocument/2006/relationships/tags" Target="../tags/tag841.xml"/><Relationship Id="rId18" Type="http://schemas.openxmlformats.org/officeDocument/2006/relationships/tags" Target="../tags/tag840.xml"/><Relationship Id="rId17" Type="http://schemas.openxmlformats.org/officeDocument/2006/relationships/tags" Target="../tags/tag839.xml"/><Relationship Id="rId16" Type="http://schemas.openxmlformats.org/officeDocument/2006/relationships/tags" Target="../tags/tag838.xml"/><Relationship Id="rId15" Type="http://schemas.openxmlformats.org/officeDocument/2006/relationships/tags" Target="../tags/tag837.xml"/><Relationship Id="rId14" Type="http://schemas.openxmlformats.org/officeDocument/2006/relationships/tags" Target="../tags/tag836.xml"/><Relationship Id="rId13" Type="http://schemas.openxmlformats.org/officeDocument/2006/relationships/tags" Target="../tags/tag835.xml"/><Relationship Id="rId12" Type="http://schemas.openxmlformats.org/officeDocument/2006/relationships/tags" Target="../tags/tag834.xml"/><Relationship Id="rId11" Type="http://schemas.openxmlformats.org/officeDocument/2006/relationships/tags" Target="../tags/tag833.xml"/><Relationship Id="rId10" Type="http://schemas.openxmlformats.org/officeDocument/2006/relationships/tags" Target="../tags/tag832.xml"/><Relationship Id="rId1" Type="http://schemas.openxmlformats.org/officeDocument/2006/relationships/tags" Target="../tags/tag823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tags" Target="../tags/tag895.xml"/><Relationship Id="rId8" Type="http://schemas.openxmlformats.org/officeDocument/2006/relationships/tags" Target="../tags/tag894.xml"/><Relationship Id="rId7" Type="http://schemas.openxmlformats.org/officeDocument/2006/relationships/tags" Target="../tags/tag893.xml"/><Relationship Id="rId6" Type="http://schemas.openxmlformats.org/officeDocument/2006/relationships/tags" Target="../tags/tag892.xml"/><Relationship Id="rId5" Type="http://schemas.openxmlformats.org/officeDocument/2006/relationships/tags" Target="../tags/tag891.xml"/><Relationship Id="rId4" Type="http://schemas.openxmlformats.org/officeDocument/2006/relationships/tags" Target="../tags/tag890.xml"/><Relationship Id="rId31" Type="http://schemas.openxmlformats.org/officeDocument/2006/relationships/notesSlide" Target="../notesSlides/notesSlide40.xml"/><Relationship Id="rId30" Type="http://schemas.openxmlformats.org/officeDocument/2006/relationships/slideLayout" Target="../slideLayouts/slideLayout7.xml"/><Relationship Id="rId3" Type="http://schemas.openxmlformats.org/officeDocument/2006/relationships/tags" Target="../tags/tag889.xml"/><Relationship Id="rId29" Type="http://schemas.openxmlformats.org/officeDocument/2006/relationships/tags" Target="../tags/tag915.xml"/><Relationship Id="rId28" Type="http://schemas.openxmlformats.org/officeDocument/2006/relationships/tags" Target="../tags/tag914.xml"/><Relationship Id="rId27" Type="http://schemas.openxmlformats.org/officeDocument/2006/relationships/tags" Target="../tags/tag913.xml"/><Relationship Id="rId26" Type="http://schemas.openxmlformats.org/officeDocument/2006/relationships/tags" Target="../tags/tag912.xml"/><Relationship Id="rId25" Type="http://schemas.openxmlformats.org/officeDocument/2006/relationships/tags" Target="../tags/tag911.xml"/><Relationship Id="rId24" Type="http://schemas.openxmlformats.org/officeDocument/2006/relationships/tags" Target="../tags/tag910.xml"/><Relationship Id="rId23" Type="http://schemas.openxmlformats.org/officeDocument/2006/relationships/tags" Target="../tags/tag909.xml"/><Relationship Id="rId22" Type="http://schemas.openxmlformats.org/officeDocument/2006/relationships/tags" Target="../tags/tag908.xml"/><Relationship Id="rId21" Type="http://schemas.openxmlformats.org/officeDocument/2006/relationships/tags" Target="../tags/tag907.xml"/><Relationship Id="rId20" Type="http://schemas.openxmlformats.org/officeDocument/2006/relationships/tags" Target="../tags/tag906.xml"/><Relationship Id="rId2" Type="http://schemas.openxmlformats.org/officeDocument/2006/relationships/tags" Target="../tags/tag888.xml"/><Relationship Id="rId19" Type="http://schemas.openxmlformats.org/officeDocument/2006/relationships/tags" Target="../tags/tag905.xml"/><Relationship Id="rId18" Type="http://schemas.openxmlformats.org/officeDocument/2006/relationships/tags" Target="../tags/tag904.xml"/><Relationship Id="rId17" Type="http://schemas.openxmlformats.org/officeDocument/2006/relationships/tags" Target="../tags/tag903.xml"/><Relationship Id="rId16" Type="http://schemas.openxmlformats.org/officeDocument/2006/relationships/tags" Target="../tags/tag902.xml"/><Relationship Id="rId15" Type="http://schemas.openxmlformats.org/officeDocument/2006/relationships/tags" Target="../tags/tag901.xml"/><Relationship Id="rId14" Type="http://schemas.openxmlformats.org/officeDocument/2006/relationships/tags" Target="../tags/tag900.xml"/><Relationship Id="rId13" Type="http://schemas.openxmlformats.org/officeDocument/2006/relationships/tags" Target="../tags/tag899.xml"/><Relationship Id="rId12" Type="http://schemas.openxmlformats.org/officeDocument/2006/relationships/tags" Target="../tags/tag898.xml"/><Relationship Id="rId11" Type="http://schemas.openxmlformats.org/officeDocument/2006/relationships/tags" Target="../tags/tag897.xml"/><Relationship Id="rId10" Type="http://schemas.openxmlformats.org/officeDocument/2006/relationships/tags" Target="../tags/tag896.xml"/><Relationship Id="rId1" Type="http://schemas.openxmlformats.org/officeDocument/2006/relationships/tags" Target="../tags/tag887.xml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tags" Target="../tags/tag923.xml"/><Relationship Id="rId80" Type="http://schemas.openxmlformats.org/officeDocument/2006/relationships/notesSlide" Target="../notesSlides/notesSlide41.xml"/><Relationship Id="rId8" Type="http://schemas.openxmlformats.org/officeDocument/2006/relationships/tags" Target="../tags/tag922.xml"/><Relationship Id="rId79" Type="http://schemas.openxmlformats.org/officeDocument/2006/relationships/slideLayout" Target="../slideLayouts/slideLayout7.xml"/><Relationship Id="rId78" Type="http://schemas.openxmlformats.org/officeDocument/2006/relationships/tags" Target="../tags/tag991.xml"/><Relationship Id="rId77" Type="http://schemas.openxmlformats.org/officeDocument/2006/relationships/slide" Target="slide55.xml"/><Relationship Id="rId76" Type="http://schemas.openxmlformats.org/officeDocument/2006/relationships/tags" Target="../tags/tag990.xml"/><Relationship Id="rId75" Type="http://schemas.openxmlformats.org/officeDocument/2006/relationships/tags" Target="../tags/tag989.xml"/><Relationship Id="rId74" Type="http://schemas.openxmlformats.org/officeDocument/2006/relationships/tags" Target="../tags/tag988.xml"/><Relationship Id="rId73" Type="http://schemas.openxmlformats.org/officeDocument/2006/relationships/tags" Target="../tags/tag987.xml"/><Relationship Id="rId72" Type="http://schemas.openxmlformats.org/officeDocument/2006/relationships/tags" Target="../tags/tag986.xml"/><Relationship Id="rId71" Type="http://schemas.openxmlformats.org/officeDocument/2006/relationships/tags" Target="../tags/tag985.xml"/><Relationship Id="rId70" Type="http://schemas.openxmlformats.org/officeDocument/2006/relationships/tags" Target="../tags/tag984.xml"/><Relationship Id="rId7" Type="http://schemas.openxmlformats.org/officeDocument/2006/relationships/tags" Target="../tags/tag921.xml"/><Relationship Id="rId69" Type="http://schemas.openxmlformats.org/officeDocument/2006/relationships/tags" Target="../tags/tag983.xml"/><Relationship Id="rId68" Type="http://schemas.openxmlformats.org/officeDocument/2006/relationships/tags" Target="../tags/tag982.xml"/><Relationship Id="rId67" Type="http://schemas.openxmlformats.org/officeDocument/2006/relationships/tags" Target="../tags/tag981.xml"/><Relationship Id="rId66" Type="http://schemas.openxmlformats.org/officeDocument/2006/relationships/tags" Target="../tags/tag980.xml"/><Relationship Id="rId65" Type="http://schemas.openxmlformats.org/officeDocument/2006/relationships/tags" Target="../tags/tag979.xml"/><Relationship Id="rId64" Type="http://schemas.openxmlformats.org/officeDocument/2006/relationships/tags" Target="../tags/tag978.xml"/><Relationship Id="rId63" Type="http://schemas.openxmlformats.org/officeDocument/2006/relationships/tags" Target="../tags/tag977.xml"/><Relationship Id="rId62" Type="http://schemas.openxmlformats.org/officeDocument/2006/relationships/tags" Target="../tags/tag976.xml"/><Relationship Id="rId61" Type="http://schemas.openxmlformats.org/officeDocument/2006/relationships/tags" Target="../tags/tag975.xml"/><Relationship Id="rId60" Type="http://schemas.openxmlformats.org/officeDocument/2006/relationships/tags" Target="../tags/tag974.xml"/><Relationship Id="rId6" Type="http://schemas.openxmlformats.org/officeDocument/2006/relationships/tags" Target="../tags/tag920.xml"/><Relationship Id="rId59" Type="http://schemas.openxmlformats.org/officeDocument/2006/relationships/tags" Target="../tags/tag973.xml"/><Relationship Id="rId58" Type="http://schemas.openxmlformats.org/officeDocument/2006/relationships/tags" Target="../tags/tag972.xml"/><Relationship Id="rId57" Type="http://schemas.openxmlformats.org/officeDocument/2006/relationships/tags" Target="../tags/tag971.xml"/><Relationship Id="rId56" Type="http://schemas.openxmlformats.org/officeDocument/2006/relationships/tags" Target="../tags/tag970.xml"/><Relationship Id="rId55" Type="http://schemas.openxmlformats.org/officeDocument/2006/relationships/tags" Target="../tags/tag969.xml"/><Relationship Id="rId54" Type="http://schemas.openxmlformats.org/officeDocument/2006/relationships/tags" Target="../tags/tag968.xml"/><Relationship Id="rId53" Type="http://schemas.openxmlformats.org/officeDocument/2006/relationships/tags" Target="../tags/tag967.xml"/><Relationship Id="rId52" Type="http://schemas.openxmlformats.org/officeDocument/2006/relationships/tags" Target="../tags/tag966.xml"/><Relationship Id="rId51" Type="http://schemas.openxmlformats.org/officeDocument/2006/relationships/tags" Target="../tags/tag965.xml"/><Relationship Id="rId50" Type="http://schemas.openxmlformats.org/officeDocument/2006/relationships/tags" Target="../tags/tag964.xml"/><Relationship Id="rId5" Type="http://schemas.openxmlformats.org/officeDocument/2006/relationships/tags" Target="../tags/tag919.xml"/><Relationship Id="rId49" Type="http://schemas.openxmlformats.org/officeDocument/2006/relationships/tags" Target="../tags/tag963.xml"/><Relationship Id="rId48" Type="http://schemas.openxmlformats.org/officeDocument/2006/relationships/tags" Target="../tags/tag962.xml"/><Relationship Id="rId47" Type="http://schemas.openxmlformats.org/officeDocument/2006/relationships/tags" Target="../tags/tag961.xml"/><Relationship Id="rId46" Type="http://schemas.openxmlformats.org/officeDocument/2006/relationships/tags" Target="../tags/tag960.xml"/><Relationship Id="rId45" Type="http://schemas.openxmlformats.org/officeDocument/2006/relationships/tags" Target="../tags/tag959.xml"/><Relationship Id="rId44" Type="http://schemas.openxmlformats.org/officeDocument/2006/relationships/tags" Target="../tags/tag958.xml"/><Relationship Id="rId43" Type="http://schemas.openxmlformats.org/officeDocument/2006/relationships/tags" Target="../tags/tag957.xml"/><Relationship Id="rId42" Type="http://schemas.openxmlformats.org/officeDocument/2006/relationships/tags" Target="../tags/tag956.xml"/><Relationship Id="rId41" Type="http://schemas.openxmlformats.org/officeDocument/2006/relationships/tags" Target="../tags/tag955.xml"/><Relationship Id="rId40" Type="http://schemas.openxmlformats.org/officeDocument/2006/relationships/tags" Target="../tags/tag954.xml"/><Relationship Id="rId4" Type="http://schemas.openxmlformats.org/officeDocument/2006/relationships/tags" Target="../tags/tag918.xml"/><Relationship Id="rId39" Type="http://schemas.openxmlformats.org/officeDocument/2006/relationships/tags" Target="../tags/tag953.xml"/><Relationship Id="rId38" Type="http://schemas.openxmlformats.org/officeDocument/2006/relationships/tags" Target="../tags/tag952.xml"/><Relationship Id="rId37" Type="http://schemas.openxmlformats.org/officeDocument/2006/relationships/tags" Target="../tags/tag951.xml"/><Relationship Id="rId36" Type="http://schemas.openxmlformats.org/officeDocument/2006/relationships/tags" Target="../tags/tag950.xml"/><Relationship Id="rId35" Type="http://schemas.openxmlformats.org/officeDocument/2006/relationships/tags" Target="../tags/tag949.xml"/><Relationship Id="rId34" Type="http://schemas.openxmlformats.org/officeDocument/2006/relationships/tags" Target="../tags/tag948.xml"/><Relationship Id="rId33" Type="http://schemas.openxmlformats.org/officeDocument/2006/relationships/tags" Target="../tags/tag947.xml"/><Relationship Id="rId32" Type="http://schemas.openxmlformats.org/officeDocument/2006/relationships/tags" Target="../tags/tag946.xml"/><Relationship Id="rId31" Type="http://schemas.openxmlformats.org/officeDocument/2006/relationships/tags" Target="../tags/tag945.xml"/><Relationship Id="rId30" Type="http://schemas.openxmlformats.org/officeDocument/2006/relationships/tags" Target="../tags/tag944.xml"/><Relationship Id="rId3" Type="http://schemas.openxmlformats.org/officeDocument/2006/relationships/tags" Target="../tags/tag917.xml"/><Relationship Id="rId29" Type="http://schemas.openxmlformats.org/officeDocument/2006/relationships/tags" Target="../tags/tag943.xml"/><Relationship Id="rId28" Type="http://schemas.openxmlformats.org/officeDocument/2006/relationships/tags" Target="../tags/tag942.xml"/><Relationship Id="rId27" Type="http://schemas.openxmlformats.org/officeDocument/2006/relationships/tags" Target="../tags/tag941.xml"/><Relationship Id="rId26" Type="http://schemas.openxmlformats.org/officeDocument/2006/relationships/tags" Target="../tags/tag940.xml"/><Relationship Id="rId25" Type="http://schemas.openxmlformats.org/officeDocument/2006/relationships/tags" Target="../tags/tag939.xml"/><Relationship Id="rId24" Type="http://schemas.openxmlformats.org/officeDocument/2006/relationships/tags" Target="../tags/tag938.xml"/><Relationship Id="rId23" Type="http://schemas.openxmlformats.org/officeDocument/2006/relationships/tags" Target="../tags/tag937.xml"/><Relationship Id="rId22" Type="http://schemas.openxmlformats.org/officeDocument/2006/relationships/tags" Target="../tags/tag936.xml"/><Relationship Id="rId21" Type="http://schemas.openxmlformats.org/officeDocument/2006/relationships/tags" Target="../tags/tag935.xml"/><Relationship Id="rId20" Type="http://schemas.openxmlformats.org/officeDocument/2006/relationships/tags" Target="../tags/tag934.xml"/><Relationship Id="rId2" Type="http://schemas.openxmlformats.org/officeDocument/2006/relationships/tags" Target="../tags/tag916.xml"/><Relationship Id="rId19" Type="http://schemas.openxmlformats.org/officeDocument/2006/relationships/tags" Target="../tags/tag933.xml"/><Relationship Id="rId18" Type="http://schemas.openxmlformats.org/officeDocument/2006/relationships/tags" Target="../tags/tag932.xml"/><Relationship Id="rId17" Type="http://schemas.openxmlformats.org/officeDocument/2006/relationships/tags" Target="../tags/tag931.xml"/><Relationship Id="rId16" Type="http://schemas.openxmlformats.org/officeDocument/2006/relationships/tags" Target="../tags/tag930.xml"/><Relationship Id="rId15" Type="http://schemas.openxmlformats.org/officeDocument/2006/relationships/tags" Target="../tags/tag929.xml"/><Relationship Id="rId14" Type="http://schemas.openxmlformats.org/officeDocument/2006/relationships/tags" Target="../tags/tag928.xml"/><Relationship Id="rId13" Type="http://schemas.openxmlformats.org/officeDocument/2006/relationships/tags" Target="../tags/tag927.xml"/><Relationship Id="rId12" Type="http://schemas.openxmlformats.org/officeDocument/2006/relationships/tags" Target="../tags/tag926.xml"/><Relationship Id="rId11" Type="http://schemas.openxmlformats.org/officeDocument/2006/relationships/tags" Target="../tags/tag925.xml"/><Relationship Id="rId10" Type="http://schemas.openxmlformats.org/officeDocument/2006/relationships/tags" Target="../tags/tag924.xml"/><Relationship Id="rId1" Type="http://schemas.openxmlformats.org/officeDocument/2006/relationships/slide" Target="slide1.xml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tags" Target="../tags/tag1000.xml"/><Relationship Id="rId8" Type="http://schemas.openxmlformats.org/officeDocument/2006/relationships/tags" Target="../tags/tag999.xml"/><Relationship Id="rId7" Type="http://schemas.openxmlformats.org/officeDocument/2006/relationships/tags" Target="../tags/tag998.xml"/><Relationship Id="rId6" Type="http://schemas.openxmlformats.org/officeDocument/2006/relationships/tags" Target="../tags/tag997.xml"/><Relationship Id="rId57" Type="http://schemas.openxmlformats.org/officeDocument/2006/relationships/slideLayout" Target="../slideLayouts/slideLayout7.xml"/><Relationship Id="rId56" Type="http://schemas.openxmlformats.org/officeDocument/2006/relationships/tags" Target="../tags/tag1047.xml"/><Relationship Id="rId55" Type="http://schemas.openxmlformats.org/officeDocument/2006/relationships/tags" Target="../tags/tag1046.xml"/><Relationship Id="rId54" Type="http://schemas.openxmlformats.org/officeDocument/2006/relationships/tags" Target="../tags/tag1045.xml"/><Relationship Id="rId53" Type="http://schemas.openxmlformats.org/officeDocument/2006/relationships/tags" Target="../tags/tag1044.xml"/><Relationship Id="rId52" Type="http://schemas.openxmlformats.org/officeDocument/2006/relationships/tags" Target="../tags/tag1043.xml"/><Relationship Id="rId51" Type="http://schemas.openxmlformats.org/officeDocument/2006/relationships/tags" Target="../tags/tag1042.xml"/><Relationship Id="rId50" Type="http://schemas.openxmlformats.org/officeDocument/2006/relationships/tags" Target="../tags/tag1041.xml"/><Relationship Id="rId5" Type="http://schemas.openxmlformats.org/officeDocument/2006/relationships/tags" Target="../tags/tag996.xml"/><Relationship Id="rId49" Type="http://schemas.openxmlformats.org/officeDocument/2006/relationships/tags" Target="../tags/tag1040.xml"/><Relationship Id="rId48" Type="http://schemas.openxmlformats.org/officeDocument/2006/relationships/tags" Target="../tags/tag1039.xml"/><Relationship Id="rId47" Type="http://schemas.openxmlformats.org/officeDocument/2006/relationships/tags" Target="../tags/tag1038.xml"/><Relationship Id="rId46" Type="http://schemas.openxmlformats.org/officeDocument/2006/relationships/tags" Target="../tags/tag1037.xml"/><Relationship Id="rId45" Type="http://schemas.openxmlformats.org/officeDocument/2006/relationships/tags" Target="../tags/tag1036.xml"/><Relationship Id="rId44" Type="http://schemas.openxmlformats.org/officeDocument/2006/relationships/tags" Target="../tags/tag1035.xml"/><Relationship Id="rId43" Type="http://schemas.openxmlformats.org/officeDocument/2006/relationships/tags" Target="../tags/tag1034.xml"/><Relationship Id="rId42" Type="http://schemas.openxmlformats.org/officeDocument/2006/relationships/tags" Target="../tags/tag1033.xml"/><Relationship Id="rId41" Type="http://schemas.openxmlformats.org/officeDocument/2006/relationships/tags" Target="../tags/tag1032.xml"/><Relationship Id="rId40" Type="http://schemas.openxmlformats.org/officeDocument/2006/relationships/tags" Target="../tags/tag1031.xml"/><Relationship Id="rId4" Type="http://schemas.openxmlformats.org/officeDocument/2006/relationships/tags" Target="../tags/tag995.xml"/><Relationship Id="rId39" Type="http://schemas.openxmlformats.org/officeDocument/2006/relationships/tags" Target="../tags/tag1030.xml"/><Relationship Id="rId38" Type="http://schemas.openxmlformats.org/officeDocument/2006/relationships/tags" Target="../tags/tag1029.xml"/><Relationship Id="rId37" Type="http://schemas.openxmlformats.org/officeDocument/2006/relationships/tags" Target="../tags/tag1028.xml"/><Relationship Id="rId36" Type="http://schemas.openxmlformats.org/officeDocument/2006/relationships/tags" Target="../tags/tag1027.xml"/><Relationship Id="rId35" Type="http://schemas.openxmlformats.org/officeDocument/2006/relationships/tags" Target="../tags/tag1026.xml"/><Relationship Id="rId34" Type="http://schemas.openxmlformats.org/officeDocument/2006/relationships/tags" Target="../tags/tag1025.xml"/><Relationship Id="rId33" Type="http://schemas.openxmlformats.org/officeDocument/2006/relationships/tags" Target="../tags/tag1024.xml"/><Relationship Id="rId32" Type="http://schemas.openxmlformats.org/officeDocument/2006/relationships/tags" Target="../tags/tag1023.xml"/><Relationship Id="rId31" Type="http://schemas.openxmlformats.org/officeDocument/2006/relationships/tags" Target="../tags/tag1022.xml"/><Relationship Id="rId30" Type="http://schemas.openxmlformats.org/officeDocument/2006/relationships/tags" Target="../tags/tag1021.xml"/><Relationship Id="rId3" Type="http://schemas.openxmlformats.org/officeDocument/2006/relationships/tags" Target="../tags/tag994.xml"/><Relationship Id="rId29" Type="http://schemas.openxmlformats.org/officeDocument/2006/relationships/tags" Target="../tags/tag1020.xml"/><Relationship Id="rId28" Type="http://schemas.openxmlformats.org/officeDocument/2006/relationships/tags" Target="../tags/tag1019.xml"/><Relationship Id="rId27" Type="http://schemas.openxmlformats.org/officeDocument/2006/relationships/tags" Target="../tags/tag1018.xml"/><Relationship Id="rId26" Type="http://schemas.openxmlformats.org/officeDocument/2006/relationships/tags" Target="../tags/tag1017.xml"/><Relationship Id="rId25" Type="http://schemas.openxmlformats.org/officeDocument/2006/relationships/tags" Target="../tags/tag1016.xml"/><Relationship Id="rId24" Type="http://schemas.openxmlformats.org/officeDocument/2006/relationships/tags" Target="../tags/tag1015.xml"/><Relationship Id="rId23" Type="http://schemas.openxmlformats.org/officeDocument/2006/relationships/tags" Target="../tags/tag1014.xml"/><Relationship Id="rId22" Type="http://schemas.openxmlformats.org/officeDocument/2006/relationships/tags" Target="../tags/tag1013.xml"/><Relationship Id="rId21" Type="http://schemas.openxmlformats.org/officeDocument/2006/relationships/tags" Target="../tags/tag1012.xml"/><Relationship Id="rId20" Type="http://schemas.openxmlformats.org/officeDocument/2006/relationships/tags" Target="../tags/tag1011.xml"/><Relationship Id="rId2" Type="http://schemas.openxmlformats.org/officeDocument/2006/relationships/tags" Target="../tags/tag993.xml"/><Relationship Id="rId19" Type="http://schemas.openxmlformats.org/officeDocument/2006/relationships/tags" Target="../tags/tag1010.xml"/><Relationship Id="rId18" Type="http://schemas.openxmlformats.org/officeDocument/2006/relationships/tags" Target="../tags/tag1009.xml"/><Relationship Id="rId17" Type="http://schemas.openxmlformats.org/officeDocument/2006/relationships/tags" Target="../tags/tag1008.xml"/><Relationship Id="rId16" Type="http://schemas.openxmlformats.org/officeDocument/2006/relationships/tags" Target="../tags/tag1007.xml"/><Relationship Id="rId15" Type="http://schemas.openxmlformats.org/officeDocument/2006/relationships/tags" Target="../tags/tag1006.xml"/><Relationship Id="rId14" Type="http://schemas.openxmlformats.org/officeDocument/2006/relationships/tags" Target="../tags/tag1005.xml"/><Relationship Id="rId13" Type="http://schemas.openxmlformats.org/officeDocument/2006/relationships/tags" Target="../tags/tag1004.xml"/><Relationship Id="rId12" Type="http://schemas.openxmlformats.org/officeDocument/2006/relationships/tags" Target="../tags/tag1003.xml"/><Relationship Id="rId11" Type="http://schemas.openxmlformats.org/officeDocument/2006/relationships/tags" Target="../tags/tag1002.xml"/><Relationship Id="rId10" Type="http://schemas.openxmlformats.org/officeDocument/2006/relationships/tags" Target="../tags/tag1001.xml"/><Relationship Id="rId1" Type="http://schemas.openxmlformats.org/officeDocument/2006/relationships/tags" Target="../tags/tag992.xml"/></Relationships>
</file>

<file path=ppt/slides/_rels/slide55.xml.rels><?xml version="1.0" encoding="UTF-8" standalone="yes"?>
<Relationships xmlns="http://schemas.openxmlformats.org/package/2006/relationships"><Relationship Id="rId99" Type="http://schemas.openxmlformats.org/officeDocument/2006/relationships/slide" Target="slide53.xml"/><Relationship Id="rId98" Type="http://schemas.openxmlformats.org/officeDocument/2006/relationships/tags" Target="../tags/tag1145.xml"/><Relationship Id="rId97" Type="http://schemas.openxmlformats.org/officeDocument/2006/relationships/tags" Target="../tags/tag1144.xml"/><Relationship Id="rId96" Type="http://schemas.openxmlformats.org/officeDocument/2006/relationships/tags" Target="../tags/tag1143.xml"/><Relationship Id="rId95" Type="http://schemas.openxmlformats.org/officeDocument/2006/relationships/tags" Target="../tags/tag1142.xml"/><Relationship Id="rId94" Type="http://schemas.openxmlformats.org/officeDocument/2006/relationships/tags" Target="../tags/tag1141.xml"/><Relationship Id="rId93" Type="http://schemas.openxmlformats.org/officeDocument/2006/relationships/tags" Target="../tags/tag1140.xml"/><Relationship Id="rId92" Type="http://schemas.openxmlformats.org/officeDocument/2006/relationships/tags" Target="../tags/tag1139.xml"/><Relationship Id="rId91" Type="http://schemas.openxmlformats.org/officeDocument/2006/relationships/tags" Target="../tags/tag1138.xml"/><Relationship Id="rId90" Type="http://schemas.openxmlformats.org/officeDocument/2006/relationships/tags" Target="../tags/tag1137.xml"/><Relationship Id="rId9" Type="http://schemas.openxmlformats.org/officeDocument/2006/relationships/tags" Target="../tags/tag1056.xml"/><Relationship Id="rId89" Type="http://schemas.openxmlformats.org/officeDocument/2006/relationships/tags" Target="../tags/tag1136.xml"/><Relationship Id="rId88" Type="http://schemas.openxmlformats.org/officeDocument/2006/relationships/tags" Target="../tags/tag1135.xml"/><Relationship Id="rId87" Type="http://schemas.openxmlformats.org/officeDocument/2006/relationships/tags" Target="../tags/tag1134.xml"/><Relationship Id="rId86" Type="http://schemas.openxmlformats.org/officeDocument/2006/relationships/tags" Target="../tags/tag1133.xml"/><Relationship Id="rId85" Type="http://schemas.openxmlformats.org/officeDocument/2006/relationships/tags" Target="../tags/tag1132.xml"/><Relationship Id="rId84" Type="http://schemas.openxmlformats.org/officeDocument/2006/relationships/tags" Target="../tags/tag1131.xml"/><Relationship Id="rId83" Type="http://schemas.openxmlformats.org/officeDocument/2006/relationships/tags" Target="../tags/tag1130.xml"/><Relationship Id="rId82" Type="http://schemas.openxmlformats.org/officeDocument/2006/relationships/tags" Target="../tags/tag1129.xml"/><Relationship Id="rId81" Type="http://schemas.openxmlformats.org/officeDocument/2006/relationships/tags" Target="../tags/tag1128.xml"/><Relationship Id="rId80" Type="http://schemas.openxmlformats.org/officeDocument/2006/relationships/tags" Target="../tags/tag1127.xml"/><Relationship Id="rId8" Type="http://schemas.openxmlformats.org/officeDocument/2006/relationships/tags" Target="../tags/tag1055.xml"/><Relationship Id="rId79" Type="http://schemas.openxmlformats.org/officeDocument/2006/relationships/tags" Target="../tags/tag1126.xml"/><Relationship Id="rId78" Type="http://schemas.openxmlformats.org/officeDocument/2006/relationships/tags" Target="../tags/tag1125.xml"/><Relationship Id="rId77" Type="http://schemas.openxmlformats.org/officeDocument/2006/relationships/tags" Target="../tags/tag1124.xml"/><Relationship Id="rId76" Type="http://schemas.openxmlformats.org/officeDocument/2006/relationships/tags" Target="../tags/tag1123.xml"/><Relationship Id="rId75" Type="http://schemas.openxmlformats.org/officeDocument/2006/relationships/tags" Target="../tags/tag1122.xml"/><Relationship Id="rId74" Type="http://schemas.openxmlformats.org/officeDocument/2006/relationships/tags" Target="../tags/tag1121.xml"/><Relationship Id="rId73" Type="http://schemas.openxmlformats.org/officeDocument/2006/relationships/tags" Target="../tags/tag1120.xml"/><Relationship Id="rId72" Type="http://schemas.openxmlformats.org/officeDocument/2006/relationships/tags" Target="../tags/tag1119.xml"/><Relationship Id="rId71" Type="http://schemas.openxmlformats.org/officeDocument/2006/relationships/tags" Target="../tags/tag1118.xml"/><Relationship Id="rId70" Type="http://schemas.openxmlformats.org/officeDocument/2006/relationships/tags" Target="../tags/tag1117.xml"/><Relationship Id="rId7" Type="http://schemas.openxmlformats.org/officeDocument/2006/relationships/tags" Target="../tags/tag1054.xml"/><Relationship Id="rId69" Type="http://schemas.openxmlformats.org/officeDocument/2006/relationships/tags" Target="../tags/tag1116.xml"/><Relationship Id="rId68" Type="http://schemas.openxmlformats.org/officeDocument/2006/relationships/tags" Target="../tags/tag1115.xml"/><Relationship Id="rId67" Type="http://schemas.openxmlformats.org/officeDocument/2006/relationships/tags" Target="../tags/tag1114.xml"/><Relationship Id="rId66" Type="http://schemas.openxmlformats.org/officeDocument/2006/relationships/tags" Target="../tags/tag1113.xml"/><Relationship Id="rId65" Type="http://schemas.openxmlformats.org/officeDocument/2006/relationships/tags" Target="../tags/tag1112.xml"/><Relationship Id="rId64" Type="http://schemas.openxmlformats.org/officeDocument/2006/relationships/tags" Target="../tags/tag1111.xml"/><Relationship Id="rId63" Type="http://schemas.openxmlformats.org/officeDocument/2006/relationships/tags" Target="../tags/tag1110.xml"/><Relationship Id="rId62" Type="http://schemas.openxmlformats.org/officeDocument/2006/relationships/tags" Target="../tags/tag1109.xml"/><Relationship Id="rId61" Type="http://schemas.openxmlformats.org/officeDocument/2006/relationships/tags" Target="../tags/tag1108.xml"/><Relationship Id="rId60" Type="http://schemas.openxmlformats.org/officeDocument/2006/relationships/tags" Target="../tags/tag1107.xml"/><Relationship Id="rId6" Type="http://schemas.openxmlformats.org/officeDocument/2006/relationships/tags" Target="../tags/tag1053.xml"/><Relationship Id="rId59" Type="http://schemas.openxmlformats.org/officeDocument/2006/relationships/tags" Target="../tags/tag1106.xml"/><Relationship Id="rId58" Type="http://schemas.openxmlformats.org/officeDocument/2006/relationships/tags" Target="../tags/tag1105.xml"/><Relationship Id="rId57" Type="http://schemas.openxmlformats.org/officeDocument/2006/relationships/tags" Target="../tags/tag1104.xml"/><Relationship Id="rId56" Type="http://schemas.openxmlformats.org/officeDocument/2006/relationships/tags" Target="../tags/tag1103.xml"/><Relationship Id="rId55" Type="http://schemas.openxmlformats.org/officeDocument/2006/relationships/tags" Target="../tags/tag1102.xml"/><Relationship Id="rId54" Type="http://schemas.openxmlformats.org/officeDocument/2006/relationships/tags" Target="../tags/tag1101.xml"/><Relationship Id="rId53" Type="http://schemas.openxmlformats.org/officeDocument/2006/relationships/tags" Target="../tags/tag1100.xml"/><Relationship Id="rId52" Type="http://schemas.openxmlformats.org/officeDocument/2006/relationships/tags" Target="../tags/tag1099.xml"/><Relationship Id="rId51" Type="http://schemas.openxmlformats.org/officeDocument/2006/relationships/tags" Target="../tags/tag1098.xml"/><Relationship Id="rId50" Type="http://schemas.openxmlformats.org/officeDocument/2006/relationships/tags" Target="../tags/tag1097.xml"/><Relationship Id="rId5" Type="http://schemas.openxmlformats.org/officeDocument/2006/relationships/tags" Target="../tags/tag1052.xml"/><Relationship Id="rId49" Type="http://schemas.openxmlformats.org/officeDocument/2006/relationships/tags" Target="../tags/tag1096.xml"/><Relationship Id="rId48" Type="http://schemas.openxmlformats.org/officeDocument/2006/relationships/tags" Target="../tags/tag1095.xml"/><Relationship Id="rId47" Type="http://schemas.openxmlformats.org/officeDocument/2006/relationships/tags" Target="../tags/tag1094.xml"/><Relationship Id="rId46" Type="http://schemas.openxmlformats.org/officeDocument/2006/relationships/tags" Target="../tags/tag1093.xml"/><Relationship Id="rId45" Type="http://schemas.openxmlformats.org/officeDocument/2006/relationships/tags" Target="../tags/tag1092.xml"/><Relationship Id="rId44" Type="http://schemas.openxmlformats.org/officeDocument/2006/relationships/tags" Target="../tags/tag1091.xml"/><Relationship Id="rId43" Type="http://schemas.openxmlformats.org/officeDocument/2006/relationships/tags" Target="../tags/tag1090.xml"/><Relationship Id="rId42" Type="http://schemas.openxmlformats.org/officeDocument/2006/relationships/tags" Target="../tags/tag1089.xml"/><Relationship Id="rId41" Type="http://schemas.openxmlformats.org/officeDocument/2006/relationships/tags" Target="../tags/tag1088.xml"/><Relationship Id="rId40" Type="http://schemas.openxmlformats.org/officeDocument/2006/relationships/tags" Target="../tags/tag1087.xml"/><Relationship Id="rId4" Type="http://schemas.openxmlformats.org/officeDocument/2006/relationships/tags" Target="../tags/tag1051.xml"/><Relationship Id="rId39" Type="http://schemas.openxmlformats.org/officeDocument/2006/relationships/tags" Target="../tags/tag1086.xml"/><Relationship Id="rId38" Type="http://schemas.openxmlformats.org/officeDocument/2006/relationships/tags" Target="../tags/tag1085.xml"/><Relationship Id="rId37" Type="http://schemas.openxmlformats.org/officeDocument/2006/relationships/tags" Target="../tags/tag1084.xml"/><Relationship Id="rId36" Type="http://schemas.openxmlformats.org/officeDocument/2006/relationships/tags" Target="../tags/tag1083.xml"/><Relationship Id="rId35" Type="http://schemas.openxmlformats.org/officeDocument/2006/relationships/tags" Target="../tags/tag1082.xml"/><Relationship Id="rId34" Type="http://schemas.openxmlformats.org/officeDocument/2006/relationships/tags" Target="../tags/tag1081.xml"/><Relationship Id="rId33" Type="http://schemas.openxmlformats.org/officeDocument/2006/relationships/tags" Target="../tags/tag1080.xml"/><Relationship Id="rId32" Type="http://schemas.openxmlformats.org/officeDocument/2006/relationships/tags" Target="../tags/tag1079.xml"/><Relationship Id="rId31" Type="http://schemas.openxmlformats.org/officeDocument/2006/relationships/tags" Target="../tags/tag1078.xml"/><Relationship Id="rId30" Type="http://schemas.openxmlformats.org/officeDocument/2006/relationships/tags" Target="../tags/tag1077.xml"/><Relationship Id="rId3" Type="http://schemas.openxmlformats.org/officeDocument/2006/relationships/tags" Target="../tags/tag1050.xml"/><Relationship Id="rId29" Type="http://schemas.openxmlformats.org/officeDocument/2006/relationships/tags" Target="../tags/tag1076.xml"/><Relationship Id="rId28" Type="http://schemas.openxmlformats.org/officeDocument/2006/relationships/tags" Target="../tags/tag1075.xml"/><Relationship Id="rId27" Type="http://schemas.openxmlformats.org/officeDocument/2006/relationships/tags" Target="../tags/tag1074.xml"/><Relationship Id="rId26" Type="http://schemas.openxmlformats.org/officeDocument/2006/relationships/tags" Target="../tags/tag1073.xml"/><Relationship Id="rId25" Type="http://schemas.openxmlformats.org/officeDocument/2006/relationships/tags" Target="../tags/tag1072.xml"/><Relationship Id="rId24" Type="http://schemas.openxmlformats.org/officeDocument/2006/relationships/tags" Target="../tags/tag1071.xml"/><Relationship Id="rId23" Type="http://schemas.openxmlformats.org/officeDocument/2006/relationships/tags" Target="../tags/tag1070.xml"/><Relationship Id="rId22" Type="http://schemas.openxmlformats.org/officeDocument/2006/relationships/tags" Target="../tags/tag1069.xml"/><Relationship Id="rId21" Type="http://schemas.openxmlformats.org/officeDocument/2006/relationships/tags" Target="../tags/tag1068.xml"/><Relationship Id="rId20" Type="http://schemas.openxmlformats.org/officeDocument/2006/relationships/tags" Target="../tags/tag1067.xml"/><Relationship Id="rId2" Type="http://schemas.openxmlformats.org/officeDocument/2006/relationships/tags" Target="../tags/tag1049.xml"/><Relationship Id="rId19" Type="http://schemas.openxmlformats.org/officeDocument/2006/relationships/tags" Target="../tags/tag1066.xml"/><Relationship Id="rId18" Type="http://schemas.openxmlformats.org/officeDocument/2006/relationships/tags" Target="../tags/tag1065.xml"/><Relationship Id="rId17" Type="http://schemas.openxmlformats.org/officeDocument/2006/relationships/tags" Target="../tags/tag1064.xml"/><Relationship Id="rId16" Type="http://schemas.openxmlformats.org/officeDocument/2006/relationships/tags" Target="../tags/tag1063.xml"/><Relationship Id="rId15" Type="http://schemas.openxmlformats.org/officeDocument/2006/relationships/tags" Target="../tags/tag1062.xml"/><Relationship Id="rId14" Type="http://schemas.openxmlformats.org/officeDocument/2006/relationships/tags" Target="../tags/tag1061.xml"/><Relationship Id="rId13" Type="http://schemas.openxmlformats.org/officeDocument/2006/relationships/tags" Target="../tags/tag1060.xml"/><Relationship Id="rId12" Type="http://schemas.openxmlformats.org/officeDocument/2006/relationships/tags" Target="../tags/tag1059.xml"/><Relationship Id="rId11" Type="http://schemas.openxmlformats.org/officeDocument/2006/relationships/tags" Target="../tags/tag1058.xml"/><Relationship Id="rId103" Type="http://schemas.openxmlformats.org/officeDocument/2006/relationships/notesSlide" Target="../notesSlides/notesSlide42.xml"/><Relationship Id="rId102" Type="http://schemas.openxmlformats.org/officeDocument/2006/relationships/slideLayout" Target="../slideLayouts/slideLayout7.xml"/><Relationship Id="rId101" Type="http://schemas.openxmlformats.org/officeDocument/2006/relationships/tags" Target="../tags/tag1147.xml"/><Relationship Id="rId100" Type="http://schemas.openxmlformats.org/officeDocument/2006/relationships/tags" Target="../tags/tag1146.xml"/><Relationship Id="rId10" Type="http://schemas.openxmlformats.org/officeDocument/2006/relationships/tags" Target="../tags/tag1057.xml"/><Relationship Id="rId1" Type="http://schemas.openxmlformats.org/officeDocument/2006/relationships/tags" Target="../tags/tag1048.xml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tags" Target="../tags/tag1155.xml"/><Relationship Id="rId8" Type="http://schemas.openxmlformats.org/officeDocument/2006/relationships/tags" Target="../tags/tag1154.xml"/><Relationship Id="rId7" Type="http://schemas.openxmlformats.org/officeDocument/2006/relationships/tags" Target="../tags/tag1153.xml"/><Relationship Id="rId6" Type="http://schemas.openxmlformats.org/officeDocument/2006/relationships/tags" Target="../tags/tag1152.xml"/><Relationship Id="rId51" Type="http://schemas.openxmlformats.org/officeDocument/2006/relationships/notesSlide" Target="../notesSlides/notesSlide43.xml"/><Relationship Id="rId50" Type="http://schemas.openxmlformats.org/officeDocument/2006/relationships/slideLayout" Target="../slideLayouts/slideLayout7.xml"/><Relationship Id="rId5" Type="http://schemas.openxmlformats.org/officeDocument/2006/relationships/tags" Target="../tags/tag1151.xml"/><Relationship Id="rId49" Type="http://schemas.openxmlformats.org/officeDocument/2006/relationships/tags" Target="../tags/tag1195.xml"/><Relationship Id="rId48" Type="http://schemas.openxmlformats.org/officeDocument/2006/relationships/tags" Target="../tags/tag1194.xml"/><Relationship Id="rId47" Type="http://schemas.openxmlformats.org/officeDocument/2006/relationships/tags" Target="../tags/tag1193.xml"/><Relationship Id="rId46" Type="http://schemas.openxmlformats.org/officeDocument/2006/relationships/tags" Target="../tags/tag1192.xml"/><Relationship Id="rId45" Type="http://schemas.openxmlformats.org/officeDocument/2006/relationships/tags" Target="../tags/tag1191.xml"/><Relationship Id="rId44" Type="http://schemas.openxmlformats.org/officeDocument/2006/relationships/tags" Target="../tags/tag1190.xml"/><Relationship Id="rId43" Type="http://schemas.openxmlformats.org/officeDocument/2006/relationships/tags" Target="../tags/tag1189.xml"/><Relationship Id="rId42" Type="http://schemas.openxmlformats.org/officeDocument/2006/relationships/tags" Target="../tags/tag1188.xml"/><Relationship Id="rId41" Type="http://schemas.openxmlformats.org/officeDocument/2006/relationships/tags" Target="../tags/tag1187.xml"/><Relationship Id="rId40" Type="http://schemas.openxmlformats.org/officeDocument/2006/relationships/tags" Target="../tags/tag1186.xml"/><Relationship Id="rId4" Type="http://schemas.openxmlformats.org/officeDocument/2006/relationships/tags" Target="../tags/tag1150.xml"/><Relationship Id="rId39" Type="http://schemas.openxmlformats.org/officeDocument/2006/relationships/tags" Target="../tags/tag1185.xml"/><Relationship Id="rId38" Type="http://schemas.openxmlformats.org/officeDocument/2006/relationships/tags" Target="../tags/tag1184.xml"/><Relationship Id="rId37" Type="http://schemas.openxmlformats.org/officeDocument/2006/relationships/tags" Target="../tags/tag1183.xml"/><Relationship Id="rId36" Type="http://schemas.openxmlformats.org/officeDocument/2006/relationships/tags" Target="../tags/tag1182.xml"/><Relationship Id="rId35" Type="http://schemas.openxmlformats.org/officeDocument/2006/relationships/tags" Target="../tags/tag1181.xml"/><Relationship Id="rId34" Type="http://schemas.openxmlformats.org/officeDocument/2006/relationships/tags" Target="../tags/tag1180.xml"/><Relationship Id="rId33" Type="http://schemas.openxmlformats.org/officeDocument/2006/relationships/tags" Target="../tags/tag1179.xml"/><Relationship Id="rId32" Type="http://schemas.openxmlformats.org/officeDocument/2006/relationships/tags" Target="../tags/tag1178.xml"/><Relationship Id="rId31" Type="http://schemas.openxmlformats.org/officeDocument/2006/relationships/tags" Target="../tags/tag1177.xml"/><Relationship Id="rId30" Type="http://schemas.openxmlformats.org/officeDocument/2006/relationships/tags" Target="../tags/tag1176.xml"/><Relationship Id="rId3" Type="http://schemas.openxmlformats.org/officeDocument/2006/relationships/tags" Target="../tags/tag1149.xml"/><Relationship Id="rId29" Type="http://schemas.openxmlformats.org/officeDocument/2006/relationships/tags" Target="../tags/tag1175.xml"/><Relationship Id="rId28" Type="http://schemas.openxmlformats.org/officeDocument/2006/relationships/tags" Target="../tags/tag1174.xml"/><Relationship Id="rId27" Type="http://schemas.openxmlformats.org/officeDocument/2006/relationships/tags" Target="../tags/tag1173.xml"/><Relationship Id="rId26" Type="http://schemas.openxmlformats.org/officeDocument/2006/relationships/tags" Target="../tags/tag1172.xml"/><Relationship Id="rId25" Type="http://schemas.openxmlformats.org/officeDocument/2006/relationships/tags" Target="../tags/tag1171.xml"/><Relationship Id="rId24" Type="http://schemas.openxmlformats.org/officeDocument/2006/relationships/tags" Target="../tags/tag1170.xml"/><Relationship Id="rId23" Type="http://schemas.openxmlformats.org/officeDocument/2006/relationships/tags" Target="../tags/tag1169.xml"/><Relationship Id="rId22" Type="http://schemas.openxmlformats.org/officeDocument/2006/relationships/tags" Target="../tags/tag1168.xml"/><Relationship Id="rId21" Type="http://schemas.openxmlformats.org/officeDocument/2006/relationships/tags" Target="../tags/tag1167.xml"/><Relationship Id="rId20" Type="http://schemas.openxmlformats.org/officeDocument/2006/relationships/tags" Target="../tags/tag1166.xml"/><Relationship Id="rId2" Type="http://schemas.openxmlformats.org/officeDocument/2006/relationships/tags" Target="../tags/tag1148.xml"/><Relationship Id="rId19" Type="http://schemas.openxmlformats.org/officeDocument/2006/relationships/tags" Target="../tags/tag1165.xml"/><Relationship Id="rId18" Type="http://schemas.openxmlformats.org/officeDocument/2006/relationships/tags" Target="../tags/tag1164.xml"/><Relationship Id="rId17" Type="http://schemas.openxmlformats.org/officeDocument/2006/relationships/tags" Target="../tags/tag1163.xml"/><Relationship Id="rId16" Type="http://schemas.openxmlformats.org/officeDocument/2006/relationships/tags" Target="../tags/tag1162.xml"/><Relationship Id="rId15" Type="http://schemas.openxmlformats.org/officeDocument/2006/relationships/tags" Target="../tags/tag1161.xml"/><Relationship Id="rId14" Type="http://schemas.openxmlformats.org/officeDocument/2006/relationships/tags" Target="../tags/tag1160.xml"/><Relationship Id="rId13" Type="http://schemas.openxmlformats.org/officeDocument/2006/relationships/tags" Target="../tags/tag1159.xml"/><Relationship Id="rId12" Type="http://schemas.openxmlformats.org/officeDocument/2006/relationships/tags" Target="../tags/tag1158.xml"/><Relationship Id="rId11" Type="http://schemas.openxmlformats.org/officeDocument/2006/relationships/tags" Target="../tags/tag1157.xml"/><Relationship Id="rId10" Type="http://schemas.openxmlformats.org/officeDocument/2006/relationships/tags" Target="../tags/tag1156.xml"/><Relationship Id="rId1" Type="http://schemas.openxmlformats.org/officeDocument/2006/relationships/slide" Target="slide63.xml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tags" Target="../tags/tag1204.xml"/><Relationship Id="rId8" Type="http://schemas.openxmlformats.org/officeDocument/2006/relationships/tags" Target="../tags/tag1203.xml"/><Relationship Id="rId70" Type="http://schemas.openxmlformats.org/officeDocument/2006/relationships/notesSlide" Target="../notesSlides/notesSlide44.xml"/><Relationship Id="rId7" Type="http://schemas.openxmlformats.org/officeDocument/2006/relationships/tags" Target="../tags/tag1202.xml"/><Relationship Id="rId69" Type="http://schemas.openxmlformats.org/officeDocument/2006/relationships/slideLayout" Target="../slideLayouts/slideLayout7.xml"/><Relationship Id="rId68" Type="http://schemas.openxmlformats.org/officeDocument/2006/relationships/tags" Target="../tags/tag1263.xml"/><Relationship Id="rId67" Type="http://schemas.openxmlformats.org/officeDocument/2006/relationships/tags" Target="../tags/tag1262.xml"/><Relationship Id="rId66" Type="http://schemas.openxmlformats.org/officeDocument/2006/relationships/tags" Target="../tags/tag1261.xml"/><Relationship Id="rId65" Type="http://schemas.openxmlformats.org/officeDocument/2006/relationships/tags" Target="../tags/tag1260.xml"/><Relationship Id="rId64" Type="http://schemas.openxmlformats.org/officeDocument/2006/relationships/tags" Target="../tags/tag1259.xml"/><Relationship Id="rId63" Type="http://schemas.openxmlformats.org/officeDocument/2006/relationships/tags" Target="../tags/tag1258.xml"/><Relationship Id="rId62" Type="http://schemas.openxmlformats.org/officeDocument/2006/relationships/tags" Target="../tags/tag1257.xml"/><Relationship Id="rId61" Type="http://schemas.openxmlformats.org/officeDocument/2006/relationships/tags" Target="../tags/tag1256.xml"/><Relationship Id="rId60" Type="http://schemas.openxmlformats.org/officeDocument/2006/relationships/tags" Target="../tags/tag1255.xml"/><Relationship Id="rId6" Type="http://schemas.openxmlformats.org/officeDocument/2006/relationships/tags" Target="../tags/tag1201.xml"/><Relationship Id="rId59" Type="http://schemas.openxmlformats.org/officeDocument/2006/relationships/tags" Target="../tags/tag1254.xml"/><Relationship Id="rId58" Type="http://schemas.openxmlformats.org/officeDocument/2006/relationships/tags" Target="../tags/tag1253.xml"/><Relationship Id="rId57" Type="http://schemas.openxmlformats.org/officeDocument/2006/relationships/tags" Target="../tags/tag1252.xml"/><Relationship Id="rId56" Type="http://schemas.openxmlformats.org/officeDocument/2006/relationships/tags" Target="../tags/tag1251.xml"/><Relationship Id="rId55" Type="http://schemas.openxmlformats.org/officeDocument/2006/relationships/tags" Target="../tags/tag1250.xml"/><Relationship Id="rId54" Type="http://schemas.openxmlformats.org/officeDocument/2006/relationships/tags" Target="../tags/tag1249.xml"/><Relationship Id="rId53" Type="http://schemas.openxmlformats.org/officeDocument/2006/relationships/tags" Target="../tags/tag1248.xml"/><Relationship Id="rId52" Type="http://schemas.openxmlformats.org/officeDocument/2006/relationships/tags" Target="../tags/tag1247.xml"/><Relationship Id="rId51" Type="http://schemas.openxmlformats.org/officeDocument/2006/relationships/tags" Target="../tags/tag1246.xml"/><Relationship Id="rId50" Type="http://schemas.openxmlformats.org/officeDocument/2006/relationships/tags" Target="../tags/tag1245.xml"/><Relationship Id="rId5" Type="http://schemas.openxmlformats.org/officeDocument/2006/relationships/tags" Target="../tags/tag1200.xml"/><Relationship Id="rId49" Type="http://schemas.openxmlformats.org/officeDocument/2006/relationships/tags" Target="../tags/tag1244.xml"/><Relationship Id="rId48" Type="http://schemas.openxmlformats.org/officeDocument/2006/relationships/tags" Target="../tags/tag1243.xml"/><Relationship Id="rId47" Type="http://schemas.openxmlformats.org/officeDocument/2006/relationships/tags" Target="../tags/tag1242.xml"/><Relationship Id="rId46" Type="http://schemas.openxmlformats.org/officeDocument/2006/relationships/tags" Target="../tags/tag1241.xml"/><Relationship Id="rId45" Type="http://schemas.openxmlformats.org/officeDocument/2006/relationships/tags" Target="../tags/tag1240.xml"/><Relationship Id="rId44" Type="http://schemas.openxmlformats.org/officeDocument/2006/relationships/tags" Target="../tags/tag1239.xml"/><Relationship Id="rId43" Type="http://schemas.openxmlformats.org/officeDocument/2006/relationships/tags" Target="../tags/tag1238.xml"/><Relationship Id="rId42" Type="http://schemas.openxmlformats.org/officeDocument/2006/relationships/tags" Target="../tags/tag1237.xml"/><Relationship Id="rId41" Type="http://schemas.openxmlformats.org/officeDocument/2006/relationships/tags" Target="../tags/tag1236.xml"/><Relationship Id="rId40" Type="http://schemas.openxmlformats.org/officeDocument/2006/relationships/tags" Target="../tags/tag1235.xml"/><Relationship Id="rId4" Type="http://schemas.openxmlformats.org/officeDocument/2006/relationships/tags" Target="../tags/tag1199.xml"/><Relationship Id="rId39" Type="http://schemas.openxmlformats.org/officeDocument/2006/relationships/tags" Target="../tags/tag1234.xml"/><Relationship Id="rId38" Type="http://schemas.openxmlformats.org/officeDocument/2006/relationships/tags" Target="../tags/tag1233.xml"/><Relationship Id="rId37" Type="http://schemas.openxmlformats.org/officeDocument/2006/relationships/tags" Target="../tags/tag1232.xml"/><Relationship Id="rId36" Type="http://schemas.openxmlformats.org/officeDocument/2006/relationships/tags" Target="../tags/tag1231.xml"/><Relationship Id="rId35" Type="http://schemas.openxmlformats.org/officeDocument/2006/relationships/tags" Target="../tags/tag1230.xml"/><Relationship Id="rId34" Type="http://schemas.openxmlformats.org/officeDocument/2006/relationships/tags" Target="../tags/tag1229.xml"/><Relationship Id="rId33" Type="http://schemas.openxmlformats.org/officeDocument/2006/relationships/tags" Target="../tags/tag1228.xml"/><Relationship Id="rId32" Type="http://schemas.openxmlformats.org/officeDocument/2006/relationships/tags" Target="../tags/tag1227.xml"/><Relationship Id="rId31" Type="http://schemas.openxmlformats.org/officeDocument/2006/relationships/tags" Target="../tags/tag1226.xml"/><Relationship Id="rId30" Type="http://schemas.openxmlformats.org/officeDocument/2006/relationships/tags" Target="../tags/tag1225.xml"/><Relationship Id="rId3" Type="http://schemas.openxmlformats.org/officeDocument/2006/relationships/tags" Target="../tags/tag1198.xml"/><Relationship Id="rId29" Type="http://schemas.openxmlformats.org/officeDocument/2006/relationships/tags" Target="../tags/tag1224.xml"/><Relationship Id="rId28" Type="http://schemas.openxmlformats.org/officeDocument/2006/relationships/tags" Target="../tags/tag1223.xml"/><Relationship Id="rId27" Type="http://schemas.openxmlformats.org/officeDocument/2006/relationships/tags" Target="../tags/tag1222.xml"/><Relationship Id="rId26" Type="http://schemas.openxmlformats.org/officeDocument/2006/relationships/tags" Target="../tags/tag1221.xml"/><Relationship Id="rId25" Type="http://schemas.openxmlformats.org/officeDocument/2006/relationships/tags" Target="../tags/tag1220.xml"/><Relationship Id="rId24" Type="http://schemas.openxmlformats.org/officeDocument/2006/relationships/tags" Target="../tags/tag1219.xml"/><Relationship Id="rId23" Type="http://schemas.openxmlformats.org/officeDocument/2006/relationships/tags" Target="../tags/tag1218.xml"/><Relationship Id="rId22" Type="http://schemas.openxmlformats.org/officeDocument/2006/relationships/tags" Target="../tags/tag1217.xml"/><Relationship Id="rId21" Type="http://schemas.openxmlformats.org/officeDocument/2006/relationships/tags" Target="../tags/tag1216.xml"/><Relationship Id="rId20" Type="http://schemas.openxmlformats.org/officeDocument/2006/relationships/tags" Target="../tags/tag1215.xml"/><Relationship Id="rId2" Type="http://schemas.openxmlformats.org/officeDocument/2006/relationships/tags" Target="../tags/tag1197.xml"/><Relationship Id="rId19" Type="http://schemas.openxmlformats.org/officeDocument/2006/relationships/tags" Target="../tags/tag1214.xml"/><Relationship Id="rId18" Type="http://schemas.openxmlformats.org/officeDocument/2006/relationships/tags" Target="../tags/tag1213.xml"/><Relationship Id="rId17" Type="http://schemas.openxmlformats.org/officeDocument/2006/relationships/tags" Target="../tags/tag1212.xml"/><Relationship Id="rId16" Type="http://schemas.openxmlformats.org/officeDocument/2006/relationships/tags" Target="../tags/tag1211.xml"/><Relationship Id="rId15" Type="http://schemas.openxmlformats.org/officeDocument/2006/relationships/tags" Target="../tags/tag1210.xml"/><Relationship Id="rId14" Type="http://schemas.openxmlformats.org/officeDocument/2006/relationships/tags" Target="../tags/tag1209.xml"/><Relationship Id="rId13" Type="http://schemas.openxmlformats.org/officeDocument/2006/relationships/tags" Target="../tags/tag1208.xml"/><Relationship Id="rId12" Type="http://schemas.openxmlformats.org/officeDocument/2006/relationships/tags" Target="../tags/tag1207.xml"/><Relationship Id="rId11" Type="http://schemas.openxmlformats.org/officeDocument/2006/relationships/tags" Target="../tags/tag1206.xml"/><Relationship Id="rId10" Type="http://schemas.openxmlformats.org/officeDocument/2006/relationships/tags" Target="../tags/tag1205.xml"/><Relationship Id="rId1" Type="http://schemas.openxmlformats.org/officeDocument/2006/relationships/tags" Target="../tags/tag1196.xml"/></Relationships>
</file>

<file path=ppt/slides/_rels/slide58.xml.rels><?xml version="1.0" encoding="UTF-8" standalone="yes"?>
<Relationships xmlns="http://schemas.openxmlformats.org/package/2006/relationships"><Relationship Id="rId99" Type="http://schemas.openxmlformats.org/officeDocument/2006/relationships/tags" Target="../tags/tag1361.xml"/><Relationship Id="rId98" Type="http://schemas.openxmlformats.org/officeDocument/2006/relationships/tags" Target="../tags/tag1360.xml"/><Relationship Id="rId97" Type="http://schemas.openxmlformats.org/officeDocument/2006/relationships/tags" Target="../tags/tag1359.xml"/><Relationship Id="rId96" Type="http://schemas.openxmlformats.org/officeDocument/2006/relationships/tags" Target="../tags/tag1358.xml"/><Relationship Id="rId95" Type="http://schemas.openxmlformats.org/officeDocument/2006/relationships/tags" Target="../tags/tag1357.xml"/><Relationship Id="rId94" Type="http://schemas.openxmlformats.org/officeDocument/2006/relationships/tags" Target="../tags/tag1356.xml"/><Relationship Id="rId93" Type="http://schemas.openxmlformats.org/officeDocument/2006/relationships/tags" Target="../tags/tag1355.xml"/><Relationship Id="rId92" Type="http://schemas.openxmlformats.org/officeDocument/2006/relationships/tags" Target="../tags/tag1354.xml"/><Relationship Id="rId91" Type="http://schemas.openxmlformats.org/officeDocument/2006/relationships/tags" Target="../tags/tag1353.xml"/><Relationship Id="rId90" Type="http://schemas.openxmlformats.org/officeDocument/2006/relationships/tags" Target="../tags/tag1352.xml"/><Relationship Id="rId9" Type="http://schemas.openxmlformats.org/officeDocument/2006/relationships/tags" Target="../tags/tag1271.xml"/><Relationship Id="rId89" Type="http://schemas.openxmlformats.org/officeDocument/2006/relationships/tags" Target="../tags/tag1351.xml"/><Relationship Id="rId88" Type="http://schemas.openxmlformats.org/officeDocument/2006/relationships/tags" Target="../tags/tag1350.xml"/><Relationship Id="rId87" Type="http://schemas.openxmlformats.org/officeDocument/2006/relationships/tags" Target="../tags/tag1349.xml"/><Relationship Id="rId86" Type="http://schemas.openxmlformats.org/officeDocument/2006/relationships/tags" Target="../tags/tag1348.xml"/><Relationship Id="rId85" Type="http://schemas.openxmlformats.org/officeDocument/2006/relationships/tags" Target="../tags/tag1347.xml"/><Relationship Id="rId84" Type="http://schemas.openxmlformats.org/officeDocument/2006/relationships/tags" Target="../tags/tag1346.xml"/><Relationship Id="rId83" Type="http://schemas.openxmlformats.org/officeDocument/2006/relationships/tags" Target="../tags/tag1345.xml"/><Relationship Id="rId82" Type="http://schemas.openxmlformats.org/officeDocument/2006/relationships/tags" Target="../tags/tag1344.xml"/><Relationship Id="rId81" Type="http://schemas.openxmlformats.org/officeDocument/2006/relationships/tags" Target="../tags/tag1343.xml"/><Relationship Id="rId80" Type="http://schemas.openxmlformats.org/officeDocument/2006/relationships/tags" Target="../tags/tag1342.xml"/><Relationship Id="rId8" Type="http://schemas.openxmlformats.org/officeDocument/2006/relationships/tags" Target="../tags/tag1270.xml"/><Relationship Id="rId79" Type="http://schemas.openxmlformats.org/officeDocument/2006/relationships/tags" Target="../tags/tag1341.xml"/><Relationship Id="rId78" Type="http://schemas.openxmlformats.org/officeDocument/2006/relationships/tags" Target="../tags/tag1340.xml"/><Relationship Id="rId77" Type="http://schemas.openxmlformats.org/officeDocument/2006/relationships/tags" Target="../tags/tag1339.xml"/><Relationship Id="rId76" Type="http://schemas.openxmlformats.org/officeDocument/2006/relationships/tags" Target="../tags/tag1338.xml"/><Relationship Id="rId75" Type="http://schemas.openxmlformats.org/officeDocument/2006/relationships/tags" Target="../tags/tag1337.xml"/><Relationship Id="rId74" Type="http://schemas.openxmlformats.org/officeDocument/2006/relationships/tags" Target="../tags/tag1336.xml"/><Relationship Id="rId73" Type="http://schemas.openxmlformats.org/officeDocument/2006/relationships/tags" Target="../tags/tag1335.xml"/><Relationship Id="rId72" Type="http://schemas.openxmlformats.org/officeDocument/2006/relationships/tags" Target="../tags/tag1334.xml"/><Relationship Id="rId71" Type="http://schemas.openxmlformats.org/officeDocument/2006/relationships/tags" Target="../tags/tag1333.xml"/><Relationship Id="rId70" Type="http://schemas.openxmlformats.org/officeDocument/2006/relationships/tags" Target="../tags/tag1332.xml"/><Relationship Id="rId7" Type="http://schemas.openxmlformats.org/officeDocument/2006/relationships/tags" Target="../tags/tag1269.xml"/><Relationship Id="rId69" Type="http://schemas.openxmlformats.org/officeDocument/2006/relationships/tags" Target="../tags/tag1331.xml"/><Relationship Id="rId68" Type="http://schemas.openxmlformats.org/officeDocument/2006/relationships/tags" Target="../tags/tag1330.xml"/><Relationship Id="rId67" Type="http://schemas.openxmlformats.org/officeDocument/2006/relationships/tags" Target="../tags/tag1329.xml"/><Relationship Id="rId66" Type="http://schemas.openxmlformats.org/officeDocument/2006/relationships/tags" Target="../tags/tag1328.xml"/><Relationship Id="rId65" Type="http://schemas.openxmlformats.org/officeDocument/2006/relationships/tags" Target="../tags/tag1327.xml"/><Relationship Id="rId64" Type="http://schemas.openxmlformats.org/officeDocument/2006/relationships/tags" Target="../tags/tag1326.xml"/><Relationship Id="rId63" Type="http://schemas.openxmlformats.org/officeDocument/2006/relationships/tags" Target="../tags/tag1325.xml"/><Relationship Id="rId62" Type="http://schemas.openxmlformats.org/officeDocument/2006/relationships/tags" Target="../tags/tag1324.xml"/><Relationship Id="rId61" Type="http://schemas.openxmlformats.org/officeDocument/2006/relationships/tags" Target="../tags/tag1323.xml"/><Relationship Id="rId60" Type="http://schemas.openxmlformats.org/officeDocument/2006/relationships/tags" Target="../tags/tag1322.xml"/><Relationship Id="rId6" Type="http://schemas.openxmlformats.org/officeDocument/2006/relationships/tags" Target="../tags/tag1268.xml"/><Relationship Id="rId59" Type="http://schemas.openxmlformats.org/officeDocument/2006/relationships/tags" Target="../tags/tag1321.xml"/><Relationship Id="rId58" Type="http://schemas.openxmlformats.org/officeDocument/2006/relationships/tags" Target="../tags/tag1320.xml"/><Relationship Id="rId57" Type="http://schemas.openxmlformats.org/officeDocument/2006/relationships/tags" Target="../tags/tag1319.xml"/><Relationship Id="rId56" Type="http://schemas.openxmlformats.org/officeDocument/2006/relationships/tags" Target="../tags/tag1318.xml"/><Relationship Id="rId55" Type="http://schemas.openxmlformats.org/officeDocument/2006/relationships/tags" Target="../tags/tag1317.xml"/><Relationship Id="rId54" Type="http://schemas.openxmlformats.org/officeDocument/2006/relationships/tags" Target="../tags/tag1316.xml"/><Relationship Id="rId53" Type="http://schemas.openxmlformats.org/officeDocument/2006/relationships/tags" Target="../tags/tag1315.xml"/><Relationship Id="rId52" Type="http://schemas.openxmlformats.org/officeDocument/2006/relationships/tags" Target="../tags/tag1314.xml"/><Relationship Id="rId51" Type="http://schemas.openxmlformats.org/officeDocument/2006/relationships/tags" Target="../tags/tag1313.xml"/><Relationship Id="rId50" Type="http://schemas.openxmlformats.org/officeDocument/2006/relationships/tags" Target="../tags/tag1312.xml"/><Relationship Id="rId5" Type="http://schemas.openxmlformats.org/officeDocument/2006/relationships/tags" Target="../tags/tag1267.xml"/><Relationship Id="rId49" Type="http://schemas.openxmlformats.org/officeDocument/2006/relationships/tags" Target="../tags/tag1311.xml"/><Relationship Id="rId48" Type="http://schemas.openxmlformats.org/officeDocument/2006/relationships/tags" Target="../tags/tag1310.xml"/><Relationship Id="rId47" Type="http://schemas.openxmlformats.org/officeDocument/2006/relationships/tags" Target="../tags/tag1309.xml"/><Relationship Id="rId46" Type="http://schemas.openxmlformats.org/officeDocument/2006/relationships/tags" Target="../tags/tag1308.xml"/><Relationship Id="rId45" Type="http://schemas.openxmlformats.org/officeDocument/2006/relationships/tags" Target="../tags/tag1307.xml"/><Relationship Id="rId44" Type="http://schemas.openxmlformats.org/officeDocument/2006/relationships/tags" Target="../tags/tag1306.xml"/><Relationship Id="rId43" Type="http://schemas.openxmlformats.org/officeDocument/2006/relationships/tags" Target="../tags/tag1305.xml"/><Relationship Id="rId42" Type="http://schemas.openxmlformats.org/officeDocument/2006/relationships/tags" Target="../tags/tag1304.xml"/><Relationship Id="rId41" Type="http://schemas.openxmlformats.org/officeDocument/2006/relationships/tags" Target="../tags/tag1303.xml"/><Relationship Id="rId40" Type="http://schemas.openxmlformats.org/officeDocument/2006/relationships/tags" Target="../tags/tag1302.xml"/><Relationship Id="rId4" Type="http://schemas.openxmlformats.org/officeDocument/2006/relationships/tags" Target="../tags/tag1266.xml"/><Relationship Id="rId39" Type="http://schemas.openxmlformats.org/officeDocument/2006/relationships/tags" Target="../tags/tag1301.xml"/><Relationship Id="rId38" Type="http://schemas.openxmlformats.org/officeDocument/2006/relationships/tags" Target="../tags/tag1300.xml"/><Relationship Id="rId37" Type="http://schemas.openxmlformats.org/officeDocument/2006/relationships/tags" Target="../tags/tag1299.xml"/><Relationship Id="rId36" Type="http://schemas.openxmlformats.org/officeDocument/2006/relationships/tags" Target="../tags/tag1298.xml"/><Relationship Id="rId35" Type="http://schemas.openxmlformats.org/officeDocument/2006/relationships/tags" Target="../tags/tag1297.xml"/><Relationship Id="rId34" Type="http://schemas.openxmlformats.org/officeDocument/2006/relationships/tags" Target="../tags/tag1296.xml"/><Relationship Id="rId33" Type="http://schemas.openxmlformats.org/officeDocument/2006/relationships/tags" Target="../tags/tag1295.xml"/><Relationship Id="rId32" Type="http://schemas.openxmlformats.org/officeDocument/2006/relationships/tags" Target="../tags/tag1294.xml"/><Relationship Id="rId31" Type="http://schemas.openxmlformats.org/officeDocument/2006/relationships/tags" Target="../tags/tag1293.xml"/><Relationship Id="rId30" Type="http://schemas.openxmlformats.org/officeDocument/2006/relationships/tags" Target="../tags/tag1292.xml"/><Relationship Id="rId3" Type="http://schemas.openxmlformats.org/officeDocument/2006/relationships/tags" Target="../tags/tag1265.xml"/><Relationship Id="rId29" Type="http://schemas.openxmlformats.org/officeDocument/2006/relationships/tags" Target="../tags/tag1291.xml"/><Relationship Id="rId28" Type="http://schemas.openxmlformats.org/officeDocument/2006/relationships/tags" Target="../tags/tag1290.xml"/><Relationship Id="rId27" Type="http://schemas.openxmlformats.org/officeDocument/2006/relationships/tags" Target="../tags/tag1289.xml"/><Relationship Id="rId26" Type="http://schemas.openxmlformats.org/officeDocument/2006/relationships/tags" Target="../tags/tag1288.xml"/><Relationship Id="rId25" Type="http://schemas.openxmlformats.org/officeDocument/2006/relationships/tags" Target="../tags/tag1287.xml"/><Relationship Id="rId24" Type="http://schemas.openxmlformats.org/officeDocument/2006/relationships/tags" Target="../tags/tag1286.xml"/><Relationship Id="rId23" Type="http://schemas.openxmlformats.org/officeDocument/2006/relationships/tags" Target="../tags/tag1285.xml"/><Relationship Id="rId22" Type="http://schemas.openxmlformats.org/officeDocument/2006/relationships/tags" Target="../tags/tag1284.xml"/><Relationship Id="rId21" Type="http://schemas.openxmlformats.org/officeDocument/2006/relationships/tags" Target="../tags/tag1283.xml"/><Relationship Id="rId20" Type="http://schemas.openxmlformats.org/officeDocument/2006/relationships/tags" Target="../tags/tag1282.xml"/><Relationship Id="rId2" Type="http://schemas.openxmlformats.org/officeDocument/2006/relationships/tags" Target="../tags/tag1264.xml"/><Relationship Id="rId19" Type="http://schemas.openxmlformats.org/officeDocument/2006/relationships/tags" Target="../tags/tag1281.xml"/><Relationship Id="rId18" Type="http://schemas.openxmlformats.org/officeDocument/2006/relationships/tags" Target="../tags/tag1280.xml"/><Relationship Id="rId17" Type="http://schemas.openxmlformats.org/officeDocument/2006/relationships/tags" Target="../tags/tag1279.xml"/><Relationship Id="rId16" Type="http://schemas.openxmlformats.org/officeDocument/2006/relationships/tags" Target="../tags/tag1278.xml"/><Relationship Id="rId15" Type="http://schemas.openxmlformats.org/officeDocument/2006/relationships/tags" Target="../tags/tag1277.xml"/><Relationship Id="rId14" Type="http://schemas.openxmlformats.org/officeDocument/2006/relationships/tags" Target="../tags/tag1276.xml"/><Relationship Id="rId13" Type="http://schemas.openxmlformats.org/officeDocument/2006/relationships/tags" Target="../tags/tag1275.xml"/><Relationship Id="rId12" Type="http://schemas.openxmlformats.org/officeDocument/2006/relationships/tags" Target="../tags/tag1274.xml"/><Relationship Id="rId112" Type="http://schemas.openxmlformats.org/officeDocument/2006/relationships/notesSlide" Target="../notesSlides/notesSlide45.xml"/><Relationship Id="rId111" Type="http://schemas.openxmlformats.org/officeDocument/2006/relationships/slideLayout" Target="../slideLayouts/slideLayout7.xml"/><Relationship Id="rId110" Type="http://schemas.openxmlformats.org/officeDocument/2006/relationships/tags" Target="../tags/tag1372.xml"/><Relationship Id="rId11" Type="http://schemas.openxmlformats.org/officeDocument/2006/relationships/tags" Target="../tags/tag1273.xml"/><Relationship Id="rId109" Type="http://schemas.openxmlformats.org/officeDocument/2006/relationships/tags" Target="../tags/tag1371.xml"/><Relationship Id="rId108" Type="http://schemas.openxmlformats.org/officeDocument/2006/relationships/tags" Target="../tags/tag1370.xml"/><Relationship Id="rId107" Type="http://schemas.openxmlformats.org/officeDocument/2006/relationships/tags" Target="../tags/tag1369.xml"/><Relationship Id="rId106" Type="http://schemas.openxmlformats.org/officeDocument/2006/relationships/tags" Target="../tags/tag1368.xml"/><Relationship Id="rId105" Type="http://schemas.openxmlformats.org/officeDocument/2006/relationships/tags" Target="../tags/tag1367.xml"/><Relationship Id="rId104" Type="http://schemas.openxmlformats.org/officeDocument/2006/relationships/tags" Target="../tags/tag1366.xml"/><Relationship Id="rId103" Type="http://schemas.openxmlformats.org/officeDocument/2006/relationships/tags" Target="../tags/tag1365.xml"/><Relationship Id="rId102" Type="http://schemas.openxmlformats.org/officeDocument/2006/relationships/tags" Target="../tags/tag1364.xml"/><Relationship Id="rId101" Type="http://schemas.openxmlformats.org/officeDocument/2006/relationships/tags" Target="../tags/tag1363.xml"/><Relationship Id="rId100" Type="http://schemas.openxmlformats.org/officeDocument/2006/relationships/tags" Target="../tags/tag1362.xml"/><Relationship Id="rId10" Type="http://schemas.openxmlformats.org/officeDocument/2006/relationships/tags" Target="../tags/tag1272.xml"/><Relationship Id="rId1" Type="http://schemas.openxmlformats.org/officeDocument/2006/relationships/slide" Target="slide6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73.xml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tags" Target="../tags/tag1381.xml"/><Relationship Id="rId8" Type="http://schemas.openxmlformats.org/officeDocument/2006/relationships/tags" Target="../tags/tag1380.xml"/><Relationship Id="rId77" Type="http://schemas.openxmlformats.org/officeDocument/2006/relationships/notesSlide" Target="../notesSlides/notesSlide47.xml"/><Relationship Id="rId76" Type="http://schemas.openxmlformats.org/officeDocument/2006/relationships/slideLayout" Target="../slideLayouts/slideLayout7.xml"/><Relationship Id="rId75" Type="http://schemas.openxmlformats.org/officeDocument/2006/relationships/tags" Target="../tags/tag1447.xml"/><Relationship Id="rId74" Type="http://schemas.openxmlformats.org/officeDocument/2006/relationships/tags" Target="../tags/tag1446.xml"/><Relationship Id="rId73" Type="http://schemas.openxmlformats.org/officeDocument/2006/relationships/tags" Target="../tags/tag1445.xml"/><Relationship Id="rId72" Type="http://schemas.openxmlformats.org/officeDocument/2006/relationships/tags" Target="../tags/tag1444.xml"/><Relationship Id="rId71" Type="http://schemas.openxmlformats.org/officeDocument/2006/relationships/tags" Target="../tags/tag1443.xml"/><Relationship Id="rId70" Type="http://schemas.openxmlformats.org/officeDocument/2006/relationships/tags" Target="../tags/tag1442.xml"/><Relationship Id="rId7" Type="http://schemas.openxmlformats.org/officeDocument/2006/relationships/tags" Target="../tags/tag1379.xml"/><Relationship Id="rId69" Type="http://schemas.openxmlformats.org/officeDocument/2006/relationships/tags" Target="../tags/tag1441.xml"/><Relationship Id="rId68" Type="http://schemas.openxmlformats.org/officeDocument/2006/relationships/tags" Target="../tags/tag1440.xml"/><Relationship Id="rId67" Type="http://schemas.openxmlformats.org/officeDocument/2006/relationships/tags" Target="../tags/tag1439.xml"/><Relationship Id="rId66" Type="http://schemas.openxmlformats.org/officeDocument/2006/relationships/tags" Target="../tags/tag1438.xml"/><Relationship Id="rId65" Type="http://schemas.openxmlformats.org/officeDocument/2006/relationships/tags" Target="../tags/tag1437.xml"/><Relationship Id="rId64" Type="http://schemas.openxmlformats.org/officeDocument/2006/relationships/tags" Target="../tags/tag1436.xml"/><Relationship Id="rId63" Type="http://schemas.openxmlformats.org/officeDocument/2006/relationships/tags" Target="../tags/tag1435.xml"/><Relationship Id="rId62" Type="http://schemas.openxmlformats.org/officeDocument/2006/relationships/tags" Target="../tags/tag1434.xml"/><Relationship Id="rId61" Type="http://schemas.openxmlformats.org/officeDocument/2006/relationships/tags" Target="../tags/tag1433.xml"/><Relationship Id="rId60" Type="http://schemas.openxmlformats.org/officeDocument/2006/relationships/tags" Target="../tags/tag1432.xml"/><Relationship Id="rId6" Type="http://schemas.openxmlformats.org/officeDocument/2006/relationships/tags" Target="../tags/tag1378.xml"/><Relationship Id="rId59" Type="http://schemas.openxmlformats.org/officeDocument/2006/relationships/tags" Target="../tags/tag1431.xml"/><Relationship Id="rId58" Type="http://schemas.openxmlformats.org/officeDocument/2006/relationships/tags" Target="../tags/tag1430.xml"/><Relationship Id="rId57" Type="http://schemas.openxmlformats.org/officeDocument/2006/relationships/tags" Target="../tags/tag1429.xml"/><Relationship Id="rId56" Type="http://schemas.openxmlformats.org/officeDocument/2006/relationships/tags" Target="../tags/tag1428.xml"/><Relationship Id="rId55" Type="http://schemas.openxmlformats.org/officeDocument/2006/relationships/tags" Target="../tags/tag1427.xml"/><Relationship Id="rId54" Type="http://schemas.openxmlformats.org/officeDocument/2006/relationships/tags" Target="../tags/tag1426.xml"/><Relationship Id="rId53" Type="http://schemas.openxmlformats.org/officeDocument/2006/relationships/tags" Target="../tags/tag1425.xml"/><Relationship Id="rId52" Type="http://schemas.openxmlformats.org/officeDocument/2006/relationships/tags" Target="../tags/tag1424.xml"/><Relationship Id="rId51" Type="http://schemas.openxmlformats.org/officeDocument/2006/relationships/tags" Target="../tags/tag1423.xml"/><Relationship Id="rId50" Type="http://schemas.openxmlformats.org/officeDocument/2006/relationships/tags" Target="../tags/tag1422.xml"/><Relationship Id="rId5" Type="http://schemas.openxmlformats.org/officeDocument/2006/relationships/tags" Target="../tags/tag1377.xml"/><Relationship Id="rId49" Type="http://schemas.openxmlformats.org/officeDocument/2006/relationships/tags" Target="../tags/tag1421.xml"/><Relationship Id="rId48" Type="http://schemas.openxmlformats.org/officeDocument/2006/relationships/tags" Target="../tags/tag1420.xml"/><Relationship Id="rId47" Type="http://schemas.openxmlformats.org/officeDocument/2006/relationships/tags" Target="../tags/tag1419.xml"/><Relationship Id="rId46" Type="http://schemas.openxmlformats.org/officeDocument/2006/relationships/tags" Target="../tags/tag1418.xml"/><Relationship Id="rId45" Type="http://schemas.openxmlformats.org/officeDocument/2006/relationships/tags" Target="../tags/tag1417.xml"/><Relationship Id="rId44" Type="http://schemas.openxmlformats.org/officeDocument/2006/relationships/tags" Target="../tags/tag1416.xml"/><Relationship Id="rId43" Type="http://schemas.openxmlformats.org/officeDocument/2006/relationships/tags" Target="../tags/tag1415.xml"/><Relationship Id="rId42" Type="http://schemas.openxmlformats.org/officeDocument/2006/relationships/tags" Target="../tags/tag1414.xml"/><Relationship Id="rId41" Type="http://schemas.openxmlformats.org/officeDocument/2006/relationships/tags" Target="../tags/tag1413.xml"/><Relationship Id="rId40" Type="http://schemas.openxmlformats.org/officeDocument/2006/relationships/tags" Target="../tags/tag1412.xml"/><Relationship Id="rId4" Type="http://schemas.openxmlformats.org/officeDocument/2006/relationships/tags" Target="../tags/tag1376.xml"/><Relationship Id="rId39" Type="http://schemas.openxmlformats.org/officeDocument/2006/relationships/tags" Target="../tags/tag1411.xml"/><Relationship Id="rId38" Type="http://schemas.openxmlformats.org/officeDocument/2006/relationships/tags" Target="../tags/tag1410.xml"/><Relationship Id="rId37" Type="http://schemas.openxmlformats.org/officeDocument/2006/relationships/tags" Target="../tags/tag1409.xml"/><Relationship Id="rId36" Type="http://schemas.openxmlformats.org/officeDocument/2006/relationships/tags" Target="../tags/tag1408.xml"/><Relationship Id="rId35" Type="http://schemas.openxmlformats.org/officeDocument/2006/relationships/tags" Target="../tags/tag1407.xml"/><Relationship Id="rId34" Type="http://schemas.openxmlformats.org/officeDocument/2006/relationships/tags" Target="../tags/tag1406.xml"/><Relationship Id="rId33" Type="http://schemas.openxmlformats.org/officeDocument/2006/relationships/tags" Target="../tags/tag1405.xml"/><Relationship Id="rId32" Type="http://schemas.openxmlformats.org/officeDocument/2006/relationships/tags" Target="../tags/tag1404.xml"/><Relationship Id="rId31" Type="http://schemas.openxmlformats.org/officeDocument/2006/relationships/tags" Target="../tags/tag1403.xml"/><Relationship Id="rId30" Type="http://schemas.openxmlformats.org/officeDocument/2006/relationships/tags" Target="../tags/tag1402.xml"/><Relationship Id="rId3" Type="http://schemas.openxmlformats.org/officeDocument/2006/relationships/tags" Target="../tags/tag1375.xml"/><Relationship Id="rId29" Type="http://schemas.openxmlformats.org/officeDocument/2006/relationships/tags" Target="../tags/tag1401.xml"/><Relationship Id="rId28" Type="http://schemas.openxmlformats.org/officeDocument/2006/relationships/tags" Target="../tags/tag1400.xml"/><Relationship Id="rId27" Type="http://schemas.openxmlformats.org/officeDocument/2006/relationships/tags" Target="../tags/tag1399.xml"/><Relationship Id="rId26" Type="http://schemas.openxmlformats.org/officeDocument/2006/relationships/tags" Target="../tags/tag1398.xml"/><Relationship Id="rId25" Type="http://schemas.openxmlformats.org/officeDocument/2006/relationships/tags" Target="../tags/tag1397.xml"/><Relationship Id="rId24" Type="http://schemas.openxmlformats.org/officeDocument/2006/relationships/tags" Target="../tags/tag1396.xml"/><Relationship Id="rId23" Type="http://schemas.openxmlformats.org/officeDocument/2006/relationships/tags" Target="../tags/tag1395.xml"/><Relationship Id="rId22" Type="http://schemas.openxmlformats.org/officeDocument/2006/relationships/tags" Target="../tags/tag1394.xml"/><Relationship Id="rId21" Type="http://schemas.openxmlformats.org/officeDocument/2006/relationships/tags" Target="../tags/tag1393.xml"/><Relationship Id="rId20" Type="http://schemas.openxmlformats.org/officeDocument/2006/relationships/tags" Target="../tags/tag1392.xml"/><Relationship Id="rId2" Type="http://schemas.openxmlformats.org/officeDocument/2006/relationships/tags" Target="../tags/tag1374.xml"/><Relationship Id="rId19" Type="http://schemas.openxmlformats.org/officeDocument/2006/relationships/tags" Target="../tags/tag1391.xml"/><Relationship Id="rId18" Type="http://schemas.openxmlformats.org/officeDocument/2006/relationships/tags" Target="../tags/tag1390.xml"/><Relationship Id="rId17" Type="http://schemas.openxmlformats.org/officeDocument/2006/relationships/tags" Target="../tags/tag1389.xml"/><Relationship Id="rId16" Type="http://schemas.openxmlformats.org/officeDocument/2006/relationships/tags" Target="../tags/tag1388.xml"/><Relationship Id="rId15" Type="http://schemas.openxmlformats.org/officeDocument/2006/relationships/tags" Target="../tags/tag1387.xml"/><Relationship Id="rId14" Type="http://schemas.openxmlformats.org/officeDocument/2006/relationships/tags" Target="../tags/tag1386.xml"/><Relationship Id="rId13" Type="http://schemas.openxmlformats.org/officeDocument/2006/relationships/tags" Target="../tags/tag1385.xml"/><Relationship Id="rId12" Type="http://schemas.openxmlformats.org/officeDocument/2006/relationships/tags" Target="../tags/tag1384.xml"/><Relationship Id="rId11" Type="http://schemas.openxmlformats.org/officeDocument/2006/relationships/tags" Target="../tags/tag1383.xml"/><Relationship Id="rId10" Type="http://schemas.openxmlformats.org/officeDocument/2006/relationships/tags" Target="../tags/tag1382.xml"/><Relationship Id="rId1" Type="http://schemas.openxmlformats.org/officeDocument/2006/relationships/slide" Target="slide63.xml"/></Relationships>
</file>

<file path=ppt/slides/_rels/slide61.xml.rels><?xml version="1.0" encoding="UTF-8" standalone="yes"?>
<Relationships xmlns="http://schemas.openxmlformats.org/package/2006/relationships"><Relationship Id="rId93" Type="http://schemas.openxmlformats.org/officeDocument/2006/relationships/notesSlide" Target="../notesSlides/notesSlide48.xml"/><Relationship Id="rId92" Type="http://schemas.openxmlformats.org/officeDocument/2006/relationships/slideLayout" Target="../slideLayouts/slideLayout7.xml"/><Relationship Id="rId91" Type="http://schemas.openxmlformats.org/officeDocument/2006/relationships/tags" Target="../tags/tag1538.xml"/><Relationship Id="rId90" Type="http://schemas.openxmlformats.org/officeDocument/2006/relationships/tags" Target="../tags/tag1537.xml"/><Relationship Id="rId9" Type="http://schemas.openxmlformats.org/officeDocument/2006/relationships/tags" Target="../tags/tag1456.xml"/><Relationship Id="rId89" Type="http://schemas.openxmlformats.org/officeDocument/2006/relationships/tags" Target="../tags/tag1536.xml"/><Relationship Id="rId88" Type="http://schemas.openxmlformats.org/officeDocument/2006/relationships/tags" Target="../tags/tag1535.xml"/><Relationship Id="rId87" Type="http://schemas.openxmlformats.org/officeDocument/2006/relationships/tags" Target="../tags/tag1534.xml"/><Relationship Id="rId86" Type="http://schemas.openxmlformats.org/officeDocument/2006/relationships/tags" Target="../tags/tag1533.xml"/><Relationship Id="rId85" Type="http://schemas.openxmlformats.org/officeDocument/2006/relationships/tags" Target="../tags/tag1532.xml"/><Relationship Id="rId84" Type="http://schemas.openxmlformats.org/officeDocument/2006/relationships/tags" Target="../tags/tag1531.xml"/><Relationship Id="rId83" Type="http://schemas.openxmlformats.org/officeDocument/2006/relationships/tags" Target="../tags/tag1530.xml"/><Relationship Id="rId82" Type="http://schemas.openxmlformats.org/officeDocument/2006/relationships/tags" Target="../tags/tag1529.xml"/><Relationship Id="rId81" Type="http://schemas.openxmlformats.org/officeDocument/2006/relationships/tags" Target="../tags/tag1528.xml"/><Relationship Id="rId80" Type="http://schemas.openxmlformats.org/officeDocument/2006/relationships/tags" Target="../tags/tag1527.xml"/><Relationship Id="rId8" Type="http://schemas.openxmlformats.org/officeDocument/2006/relationships/tags" Target="../tags/tag1455.xml"/><Relationship Id="rId79" Type="http://schemas.openxmlformats.org/officeDocument/2006/relationships/tags" Target="../tags/tag1526.xml"/><Relationship Id="rId78" Type="http://schemas.openxmlformats.org/officeDocument/2006/relationships/tags" Target="../tags/tag1525.xml"/><Relationship Id="rId77" Type="http://schemas.openxmlformats.org/officeDocument/2006/relationships/tags" Target="../tags/tag1524.xml"/><Relationship Id="rId76" Type="http://schemas.openxmlformats.org/officeDocument/2006/relationships/tags" Target="../tags/tag1523.xml"/><Relationship Id="rId75" Type="http://schemas.openxmlformats.org/officeDocument/2006/relationships/tags" Target="../tags/tag1522.xml"/><Relationship Id="rId74" Type="http://schemas.openxmlformats.org/officeDocument/2006/relationships/tags" Target="../tags/tag1521.xml"/><Relationship Id="rId73" Type="http://schemas.openxmlformats.org/officeDocument/2006/relationships/tags" Target="../tags/tag1520.xml"/><Relationship Id="rId72" Type="http://schemas.openxmlformats.org/officeDocument/2006/relationships/tags" Target="../tags/tag1519.xml"/><Relationship Id="rId71" Type="http://schemas.openxmlformats.org/officeDocument/2006/relationships/tags" Target="../tags/tag1518.xml"/><Relationship Id="rId70" Type="http://schemas.openxmlformats.org/officeDocument/2006/relationships/tags" Target="../tags/tag1517.xml"/><Relationship Id="rId7" Type="http://schemas.openxmlformats.org/officeDocument/2006/relationships/tags" Target="../tags/tag1454.xml"/><Relationship Id="rId69" Type="http://schemas.openxmlformats.org/officeDocument/2006/relationships/tags" Target="../tags/tag1516.xml"/><Relationship Id="rId68" Type="http://schemas.openxmlformats.org/officeDocument/2006/relationships/tags" Target="../tags/tag1515.xml"/><Relationship Id="rId67" Type="http://schemas.openxmlformats.org/officeDocument/2006/relationships/tags" Target="../tags/tag1514.xml"/><Relationship Id="rId66" Type="http://schemas.openxmlformats.org/officeDocument/2006/relationships/tags" Target="../tags/tag1513.xml"/><Relationship Id="rId65" Type="http://schemas.openxmlformats.org/officeDocument/2006/relationships/tags" Target="../tags/tag1512.xml"/><Relationship Id="rId64" Type="http://schemas.openxmlformats.org/officeDocument/2006/relationships/tags" Target="../tags/tag1511.xml"/><Relationship Id="rId63" Type="http://schemas.openxmlformats.org/officeDocument/2006/relationships/tags" Target="../tags/tag1510.xml"/><Relationship Id="rId62" Type="http://schemas.openxmlformats.org/officeDocument/2006/relationships/tags" Target="../tags/tag1509.xml"/><Relationship Id="rId61" Type="http://schemas.openxmlformats.org/officeDocument/2006/relationships/tags" Target="../tags/tag1508.xml"/><Relationship Id="rId60" Type="http://schemas.openxmlformats.org/officeDocument/2006/relationships/tags" Target="../tags/tag1507.xml"/><Relationship Id="rId6" Type="http://schemas.openxmlformats.org/officeDocument/2006/relationships/tags" Target="../tags/tag1453.xml"/><Relationship Id="rId59" Type="http://schemas.openxmlformats.org/officeDocument/2006/relationships/tags" Target="../tags/tag1506.xml"/><Relationship Id="rId58" Type="http://schemas.openxmlformats.org/officeDocument/2006/relationships/tags" Target="../tags/tag1505.xml"/><Relationship Id="rId57" Type="http://schemas.openxmlformats.org/officeDocument/2006/relationships/tags" Target="../tags/tag1504.xml"/><Relationship Id="rId56" Type="http://schemas.openxmlformats.org/officeDocument/2006/relationships/tags" Target="../tags/tag1503.xml"/><Relationship Id="rId55" Type="http://schemas.openxmlformats.org/officeDocument/2006/relationships/tags" Target="../tags/tag1502.xml"/><Relationship Id="rId54" Type="http://schemas.openxmlformats.org/officeDocument/2006/relationships/tags" Target="../tags/tag1501.xml"/><Relationship Id="rId53" Type="http://schemas.openxmlformats.org/officeDocument/2006/relationships/tags" Target="../tags/tag1500.xml"/><Relationship Id="rId52" Type="http://schemas.openxmlformats.org/officeDocument/2006/relationships/tags" Target="../tags/tag1499.xml"/><Relationship Id="rId51" Type="http://schemas.openxmlformats.org/officeDocument/2006/relationships/tags" Target="../tags/tag1498.xml"/><Relationship Id="rId50" Type="http://schemas.openxmlformats.org/officeDocument/2006/relationships/tags" Target="../tags/tag1497.xml"/><Relationship Id="rId5" Type="http://schemas.openxmlformats.org/officeDocument/2006/relationships/tags" Target="../tags/tag1452.xml"/><Relationship Id="rId49" Type="http://schemas.openxmlformats.org/officeDocument/2006/relationships/tags" Target="../tags/tag1496.xml"/><Relationship Id="rId48" Type="http://schemas.openxmlformats.org/officeDocument/2006/relationships/tags" Target="../tags/tag1495.xml"/><Relationship Id="rId47" Type="http://schemas.openxmlformats.org/officeDocument/2006/relationships/tags" Target="../tags/tag1494.xml"/><Relationship Id="rId46" Type="http://schemas.openxmlformats.org/officeDocument/2006/relationships/tags" Target="../tags/tag1493.xml"/><Relationship Id="rId45" Type="http://schemas.openxmlformats.org/officeDocument/2006/relationships/tags" Target="../tags/tag1492.xml"/><Relationship Id="rId44" Type="http://schemas.openxmlformats.org/officeDocument/2006/relationships/tags" Target="../tags/tag1491.xml"/><Relationship Id="rId43" Type="http://schemas.openxmlformats.org/officeDocument/2006/relationships/tags" Target="../tags/tag1490.xml"/><Relationship Id="rId42" Type="http://schemas.openxmlformats.org/officeDocument/2006/relationships/tags" Target="../tags/tag1489.xml"/><Relationship Id="rId41" Type="http://schemas.openxmlformats.org/officeDocument/2006/relationships/tags" Target="../tags/tag1488.xml"/><Relationship Id="rId40" Type="http://schemas.openxmlformats.org/officeDocument/2006/relationships/tags" Target="../tags/tag1487.xml"/><Relationship Id="rId4" Type="http://schemas.openxmlformats.org/officeDocument/2006/relationships/tags" Target="../tags/tag1451.xml"/><Relationship Id="rId39" Type="http://schemas.openxmlformats.org/officeDocument/2006/relationships/tags" Target="../tags/tag1486.xml"/><Relationship Id="rId38" Type="http://schemas.openxmlformats.org/officeDocument/2006/relationships/tags" Target="../tags/tag1485.xml"/><Relationship Id="rId37" Type="http://schemas.openxmlformats.org/officeDocument/2006/relationships/tags" Target="../tags/tag1484.xml"/><Relationship Id="rId36" Type="http://schemas.openxmlformats.org/officeDocument/2006/relationships/tags" Target="../tags/tag1483.xml"/><Relationship Id="rId35" Type="http://schemas.openxmlformats.org/officeDocument/2006/relationships/tags" Target="../tags/tag1482.xml"/><Relationship Id="rId34" Type="http://schemas.openxmlformats.org/officeDocument/2006/relationships/tags" Target="../tags/tag1481.xml"/><Relationship Id="rId33" Type="http://schemas.openxmlformats.org/officeDocument/2006/relationships/tags" Target="../tags/tag1480.xml"/><Relationship Id="rId32" Type="http://schemas.openxmlformats.org/officeDocument/2006/relationships/tags" Target="../tags/tag1479.xml"/><Relationship Id="rId31" Type="http://schemas.openxmlformats.org/officeDocument/2006/relationships/tags" Target="../tags/tag1478.xml"/><Relationship Id="rId30" Type="http://schemas.openxmlformats.org/officeDocument/2006/relationships/tags" Target="../tags/tag1477.xml"/><Relationship Id="rId3" Type="http://schemas.openxmlformats.org/officeDocument/2006/relationships/tags" Target="../tags/tag1450.xml"/><Relationship Id="rId29" Type="http://schemas.openxmlformats.org/officeDocument/2006/relationships/tags" Target="../tags/tag1476.xml"/><Relationship Id="rId28" Type="http://schemas.openxmlformats.org/officeDocument/2006/relationships/tags" Target="../tags/tag1475.xml"/><Relationship Id="rId27" Type="http://schemas.openxmlformats.org/officeDocument/2006/relationships/tags" Target="../tags/tag1474.xml"/><Relationship Id="rId26" Type="http://schemas.openxmlformats.org/officeDocument/2006/relationships/tags" Target="../tags/tag1473.xml"/><Relationship Id="rId25" Type="http://schemas.openxmlformats.org/officeDocument/2006/relationships/tags" Target="../tags/tag1472.xml"/><Relationship Id="rId24" Type="http://schemas.openxmlformats.org/officeDocument/2006/relationships/tags" Target="../tags/tag1471.xml"/><Relationship Id="rId23" Type="http://schemas.openxmlformats.org/officeDocument/2006/relationships/tags" Target="../tags/tag1470.xml"/><Relationship Id="rId22" Type="http://schemas.openxmlformats.org/officeDocument/2006/relationships/tags" Target="../tags/tag1469.xml"/><Relationship Id="rId21" Type="http://schemas.openxmlformats.org/officeDocument/2006/relationships/tags" Target="../tags/tag1468.xml"/><Relationship Id="rId20" Type="http://schemas.openxmlformats.org/officeDocument/2006/relationships/tags" Target="../tags/tag1467.xml"/><Relationship Id="rId2" Type="http://schemas.openxmlformats.org/officeDocument/2006/relationships/tags" Target="../tags/tag1449.xml"/><Relationship Id="rId19" Type="http://schemas.openxmlformats.org/officeDocument/2006/relationships/tags" Target="../tags/tag1466.xml"/><Relationship Id="rId18" Type="http://schemas.openxmlformats.org/officeDocument/2006/relationships/tags" Target="../tags/tag1465.xml"/><Relationship Id="rId17" Type="http://schemas.openxmlformats.org/officeDocument/2006/relationships/tags" Target="../tags/tag1464.xml"/><Relationship Id="rId16" Type="http://schemas.openxmlformats.org/officeDocument/2006/relationships/tags" Target="../tags/tag1463.xml"/><Relationship Id="rId15" Type="http://schemas.openxmlformats.org/officeDocument/2006/relationships/tags" Target="../tags/tag1462.xml"/><Relationship Id="rId14" Type="http://schemas.openxmlformats.org/officeDocument/2006/relationships/tags" Target="../tags/tag1461.xml"/><Relationship Id="rId13" Type="http://schemas.openxmlformats.org/officeDocument/2006/relationships/tags" Target="../tags/tag1460.xml"/><Relationship Id="rId12" Type="http://schemas.openxmlformats.org/officeDocument/2006/relationships/tags" Target="../tags/tag1459.xml"/><Relationship Id="rId11" Type="http://schemas.openxmlformats.org/officeDocument/2006/relationships/tags" Target="../tags/tag1458.xml"/><Relationship Id="rId10" Type="http://schemas.openxmlformats.org/officeDocument/2006/relationships/tags" Target="../tags/tag1457.xml"/><Relationship Id="rId1" Type="http://schemas.openxmlformats.org/officeDocument/2006/relationships/tags" Target="../tags/tag144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0.xml"/><Relationship Id="rId5" Type="http://schemas.openxmlformats.org/officeDocument/2006/relationships/slideLayout" Target="../slideLayouts/slideLayout7.xml"/><Relationship Id="rId4" Type="http://schemas.openxmlformats.org/officeDocument/2006/relationships/slide" Target="slide60.xml"/><Relationship Id="rId3" Type="http://schemas.openxmlformats.org/officeDocument/2006/relationships/slide" Target="slide58.xml"/><Relationship Id="rId2" Type="http://schemas.openxmlformats.org/officeDocument/2006/relationships/slide" Target="slide56.xml"/><Relationship Id="rId1" Type="http://schemas.openxmlformats.org/officeDocument/2006/relationships/tags" Target="../tags/tag1539.xml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tags" Target="../tags/tag1548.xml"/><Relationship Id="rId8" Type="http://schemas.openxmlformats.org/officeDocument/2006/relationships/tags" Target="../tags/tag1547.xml"/><Relationship Id="rId7" Type="http://schemas.openxmlformats.org/officeDocument/2006/relationships/tags" Target="../tags/tag1546.xml"/><Relationship Id="rId6" Type="http://schemas.openxmlformats.org/officeDocument/2006/relationships/tags" Target="../tags/tag1545.xml"/><Relationship Id="rId5" Type="http://schemas.openxmlformats.org/officeDocument/2006/relationships/tags" Target="../tags/tag1544.xml"/><Relationship Id="rId4" Type="http://schemas.openxmlformats.org/officeDocument/2006/relationships/tags" Target="../tags/tag1543.xml"/><Relationship Id="rId3" Type="http://schemas.openxmlformats.org/officeDocument/2006/relationships/tags" Target="../tags/tag1542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1541.xml"/><Relationship Id="rId19" Type="http://schemas.openxmlformats.org/officeDocument/2006/relationships/tags" Target="../tags/tag1558.xml"/><Relationship Id="rId18" Type="http://schemas.openxmlformats.org/officeDocument/2006/relationships/tags" Target="../tags/tag1557.xml"/><Relationship Id="rId17" Type="http://schemas.openxmlformats.org/officeDocument/2006/relationships/tags" Target="../tags/tag1556.xml"/><Relationship Id="rId16" Type="http://schemas.openxmlformats.org/officeDocument/2006/relationships/tags" Target="../tags/tag1555.xml"/><Relationship Id="rId15" Type="http://schemas.openxmlformats.org/officeDocument/2006/relationships/tags" Target="../tags/tag1554.xml"/><Relationship Id="rId14" Type="http://schemas.openxmlformats.org/officeDocument/2006/relationships/tags" Target="../tags/tag1553.xml"/><Relationship Id="rId13" Type="http://schemas.openxmlformats.org/officeDocument/2006/relationships/tags" Target="../tags/tag1552.xml"/><Relationship Id="rId12" Type="http://schemas.openxmlformats.org/officeDocument/2006/relationships/tags" Target="../tags/tag1551.xml"/><Relationship Id="rId11" Type="http://schemas.openxmlformats.org/officeDocument/2006/relationships/tags" Target="../tags/tag1550.xml"/><Relationship Id="rId10" Type="http://schemas.openxmlformats.org/officeDocument/2006/relationships/tags" Target="../tags/tag1549.xml"/><Relationship Id="rId1" Type="http://schemas.openxmlformats.org/officeDocument/2006/relationships/tags" Target="../tags/tag1540.xml"/></Relationships>
</file>

<file path=ppt/slides/_rels/slide65.xml.rels><?xml version="1.0" encoding="UTF-8" standalone="yes"?>
<Relationships xmlns="http://schemas.openxmlformats.org/package/2006/relationships"><Relationship Id="rId9" Type="http://schemas.openxmlformats.org/officeDocument/2006/relationships/tags" Target="../tags/tag1567.xml"/><Relationship Id="rId8" Type="http://schemas.openxmlformats.org/officeDocument/2006/relationships/tags" Target="../tags/tag1566.xml"/><Relationship Id="rId7" Type="http://schemas.openxmlformats.org/officeDocument/2006/relationships/tags" Target="../tags/tag1565.xml"/><Relationship Id="rId6" Type="http://schemas.openxmlformats.org/officeDocument/2006/relationships/tags" Target="../tags/tag1564.xml"/><Relationship Id="rId5" Type="http://schemas.openxmlformats.org/officeDocument/2006/relationships/tags" Target="../tags/tag1563.xml"/><Relationship Id="rId4" Type="http://schemas.openxmlformats.org/officeDocument/2006/relationships/tags" Target="../tags/tag1562.xml"/><Relationship Id="rId3" Type="http://schemas.openxmlformats.org/officeDocument/2006/relationships/tags" Target="../tags/tag1561.xml"/><Relationship Id="rId2" Type="http://schemas.openxmlformats.org/officeDocument/2006/relationships/tags" Target="../tags/tag1560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569.xml"/><Relationship Id="rId10" Type="http://schemas.openxmlformats.org/officeDocument/2006/relationships/tags" Target="../tags/tag1568.xml"/><Relationship Id="rId1" Type="http://schemas.openxmlformats.org/officeDocument/2006/relationships/tags" Target="../tags/tag1559.xml"/></Relationships>
</file>

<file path=ppt/slides/_rels/slide66.xml.rels><?xml version="1.0" encoding="UTF-8" standalone="yes"?>
<Relationships xmlns="http://schemas.openxmlformats.org/package/2006/relationships"><Relationship Id="rId9" Type="http://schemas.openxmlformats.org/officeDocument/2006/relationships/tags" Target="../tags/tag1578.xml"/><Relationship Id="rId8" Type="http://schemas.openxmlformats.org/officeDocument/2006/relationships/tags" Target="../tags/tag1577.xml"/><Relationship Id="rId7" Type="http://schemas.openxmlformats.org/officeDocument/2006/relationships/tags" Target="../tags/tag1576.xml"/><Relationship Id="rId6" Type="http://schemas.openxmlformats.org/officeDocument/2006/relationships/tags" Target="../tags/tag1575.xml"/><Relationship Id="rId5" Type="http://schemas.openxmlformats.org/officeDocument/2006/relationships/tags" Target="../tags/tag1574.xml"/><Relationship Id="rId4" Type="http://schemas.openxmlformats.org/officeDocument/2006/relationships/tags" Target="../tags/tag1573.xml"/><Relationship Id="rId30" Type="http://schemas.openxmlformats.org/officeDocument/2006/relationships/notesSlide" Target="../notesSlides/notesSlide51.xml"/><Relationship Id="rId3" Type="http://schemas.openxmlformats.org/officeDocument/2006/relationships/tags" Target="../tags/tag1572.xml"/><Relationship Id="rId29" Type="http://schemas.openxmlformats.org/officeDocument/2006/relationships/slideLayout" Target="../slideLayouts/slideLayout7.xml"/><Relationship Id="rId28" Type="http://schemas.openxmlformats.org/officeDocument/2006/relationships/tags" Target="../tags/tag1596.xml"/><Relationship Id="rId27" Type="http://schemas.openxmlformats.org/officeDocument/2006/relationships/tags" Target="../tags/tag1595.xml"/><Relationship Id="rId26" Type="http://schemas.openxmlformats.org/officeDocument/2006/relationships/slide" Target="slide53.xml"/><Relationship Id="rId25" Type="http://schemas.openxmlformats.org/officeDocument/2006/relationships/tags" Target="../tags/tag1594.xml"/><Relationship Id="rId24" Type="http://schemas.openxmlformats.org/officeDocument/2006/relationships/tags" Target="../tags/tag1593.xml"/><Relationship Id="rId23" Type="http://schemas.openxmlformats.org/officeDocument/2006/relationships/tags" Target="../tags/tag1592.xml"/><Relationship Id="rId22" Type="http://schemas.openxmlformats.org/officeDocument/2006/relationships/tags" Target="../tags/tag1591.xml"/><Relationship Id="rId21" Type="http://schemas.openxmlformats.org/officeDocument/2006/relationships/tags" Target="../tags/tag1590.xml"/><Relationship Id="rId20" Type="http://schemas.openxmlformats.org/officeDocument/2006/relationships/tags" Target="../tags/tag1589.xml"/><Relationship Id="rId2" Type="http://schemas.openxmlformats.org/officeDocument/2006/relationships/tags" Target="../tags/tag1571.xml"/><Relationship Id="rId19" Type="http://schemas.openxmlformats.org/officeDocument/2006/relationships/tags" Target="../tags/tag1588.xml"/><Relationship Id="rId18" Type="http://schemas.openxmlformats.org/officeDocument/2006/relationships/tags" Target="../tags/tag1587.xml"/><Relationship Id="rId17" Type="http://schemas.openxmlformats.org/officeDocument/2006/relationships/tags" Target="../tags/tag1586.xml"/><Relationship Id="rId16" Type="http://schemas.openxmlformats.org/officeDocument/2006/relationships/tags" Target="../tags/tag1585.xml"/><Relationship Id="rId15" Type="http://schemas.openxmlformats.org/officeDocument/2006/relationships/tags" Target="../tags/tag1584.xml"/><Relationship Id="rId14" Type="http://schemas.openxmlformats.org/officeDocument/2006/relationships/tags" Target="../tags/tag1583.xml"/><Relationship Id="rId13" Type="http://schemas.openxmlformats.org/officeDocument/2006/relationships/tags" Target="../tags/tag1582.xml"/><Relationship Id="rId12" Type="http://schemas.openxmlformats.org/officeDocument/2006/relationships/tags" Target="../tags/tag1581.xml"/><Relationship Id="rId11" Type="http://schemas.openxmlformats.org/officeDocument/2006/relationships/tags" Target="../tags/tag1580.xml"/><Relationship Id="rId10" Type="http://schemas.openxmlformats.org/officeDocument/2006/relationships/tags" Target="../tags/tag1579.xml"/><Relationship Id="rId1" Type="http://schemas.openxmlformats.org/officeDocument/2006/relationships/tags" Target="../tags/tag1570.xml"/></Relationships>
</file>

<file path=ppt/slides/_rels/slide67.xml.rels><?xml version="1.0" encoding="UTF-8" standalone="yes"?>
<Relationships xmlns="http://schemas.openxmlformats.org/package/2006/relationships"><Relationship Id="rId94" Type="http://schemas.openxmlformats.org/officeDocument/2006/relationships/slideLayout" Target="../slideLayouts/slideLayout7.xml"/><Relationship Id="rId93" Type="http://schemas.openxmlformats.org/officeDocument/2006/relationships/tags" Target="../tags/tag1689.xml"/><Relationship Id="rId92" Type="http://schemas.openxmlformats.org/officeDocument/2006/relationships/tags" Target="../tags/tag1688.xml"/><Relationship Id="rId91" Type="http://schemas.openxmlformats.org/officeDocument/2006/relationships/tags" Target="../tags/tag1687.xml"/><Relationship Id="rId90" Type="http://schemas.openxmlformats.org/officeDocument/2006/relationships/tags" Target="../tags/tag1686.xml"/><Relationship Id="rId9" Type="http://schemas.openxmlformats.org/officeDocument/2006/relationships/tags" Target="../tags/tag1605.xml"/><Relationship Id="rId89" Type="http://schemas.openxmlformats.org/officeDocument/2006/relationships/tags" Target="../tags/tag1685.xml"/><Relationship Id="rId88" Type="http://schemas.openxmlformats.org/officeDocument/2006/relationships/tags" Target="../tags/tag1684.xml"/><Relationship Id="rId87" Type="http://schemas.openxmlformats.org/officeDocument/2006/relationships/tags" Target="../tags/tag1683.xml"/><Relationship Id="rId86" Type="http://schemas.openxmlformats.org/officeDocument/2006/relationships/tags" Target="../tags/tag1682.xml"/><Relationship Id="rId85" Type="http://schemas.openxmlformats.org/officeDocument/2006/relationships/tags" Target="../tags/tag1681.xml"/><Relationship Id="rId84" Type="http://schemas.openxmlformats.org/officeDocument/2006/relationships/tags" Target="../tags/tag1680.xml"/><Relationship Id="rId83" Type="http://schemas.openxmlformats.org/officeDocument/2006/relationships/tags" Target="../tags/tag1679.xml"/><Relationship Id="rId82" Type="http://schemas.openxmlformats.org/officeDocument/2006/relationships/tags" Target="../tags/tag1678.xml"/><Relationship Id="rId81" Type="http://schemas.openxmlformats.org/officeDocument/2006/relationships/tags" Target="../tags/tag1677.xml"/><Relationship Id="rId80" Type="http://schemas.openxmlformats.org/officeDocument/2006/relationships/tags" Target="../tags/tag1676.xml"/><Relationship Id="rId8" Type="http://schemas.openxmlformats.org/officeDocument/2006/relationships/tags" Target="../tags/tag1604.xml"/><Relationship Id="rId79" Type="http://schemas.openxmlformats.org/officeDocument/2006/relationships/tags" Target="../tags/tag1675.xml"/><Relationship Id="rId78" Type="http://schemas.openxmlformats.org/officeDocument/2006/relationships/tags" Target="../tags/tag1674.xml"/><Relationship Id="rId77" Type="http://schemas.openxmlformats.org/officeDocument/2006/relationships/tags" Target="../tags/tag1673.xml"/><Relationship Id="rId76" Type="http://schemas.openxmlformats.org/officeDocument/2006/relationships/tags" Target="../tags/tag1672.xml"/><Relationship Id="rId75" Type="http://schemas.openxmlformats.org/officeDocument/2006/relationships/tags" Target="../tags/tag1671.xml"/><Relationship Id="rId74" Type="http://schemas.openxmlformats.org/officeDocument/2006/relationships/tags" Target="../tags/tag1670.xml"/><Relationship Id="rId73" Type="http://schemas.openxmlformats.org/officeDocument/2006/relationships/tags" Target="../tags/tag1669.xml"/><Relationship Id="rId72" Type="http://schemas.openxmlformats.org/officeDocument/2006/relationships/tags" Target="../tags/tag1668.xml"/><Relationship Id="rId71" Type="http://schemas.openxmlformats.org/officeDocument/2006/relationships/tags" Target="../tags/tag1667.xml"/><Relationship Id="rId70" Type="http://schemas.openxmlformats.org/officeDocument/2006/relationships/tags" Target="../tags/tag1666.xml"/><Relationship Id="rId7" Type="http://schemas.openxmlformats.org/officeDocument/2006/relationships/tags" Target="../tags/tag1603.xml"/><Relationship Id="rId69" Type="http://schemas.openxmlformats.org/officeDocument/2006/relationships/tags" Target="../tags/tag1665.xml"/><Relationship Id="rId68" Type="http://schemas.openxmlformats.org/officeDocument/2006/relationships/tags" Target="../tags/tag1664.xml"/><Relationship Id="rId67" Type="http://schemas.openxmlformats.org/officeDocument/2006/relationships/tags" Target="../tags/tag1663.xml"/><Relationship Id="rId66" Type="http://schemas.openxmlformats.org/officeDocument/2006/relationships/tags" Target="../tags/tag1662.xml"/><Relationship Id="rId65" Type="http://schemas.openxmlformats.org/officeDocument/2006/relationships/tags" Target="../tags/tag1661.xml"/><Relationship Id="rId64" Type="http://schemas.openxmlformats.org/officeDocument/2006/relationships/tags" Target="../tags/tag1660.xml"/><Relationship Id="rId63" Type="http://schemas.openxmlformats.org/officeDocument/2006/relationships/tags" Target="../tags/tag1659.xml"/><Relationship Id="rId62" Type="http://schemas.openxmlformats.org/officeDocument/2006/relationships/tags" Target="../tags/tag1658.xml"/><Relationship Id="rId61" Type="http://schemas.openxmlformats.org/officeDocument/2006/relationships/tags" Target="../tags/tag1657.xml"/><Relationship Id="rId60" Type="http://schemas.openxmlformats.org/officeDocument/2006/relationships/tags" Target="../tags/tag1656.xml"/><Relationship Id="rId6" Type="http://schemas.openxmlformats.org/officeDocument/2006/relationships/tags" Target="../tags/tag1602.xml"/><Relationship Id="rId59" Type="http://schemas.openxmlformats.org/officeDocument/2006/relationships/tags" Target="../tags/tag1655.xml"/><Relationship Id="rId58" Type="http://schemas.openxmlformats.org/officeDocument/2006/relationships/tags" Target="../tags/tag1654.xml"/><Relationship Id="rId57" Type="http://schemas.openxmlformats.org/officeDocument/2006/relationships/tags" Target="../tags/tag1653.xml"/><Relationship Id="rId56" Type="http://schemas.openxmlformats.org/officeDocument/2006/relationships/tags" Target="../tags/tag1652.xml"/><Relationship Id="rId55" Type="http://schemas.openxmlformats.org/officeDocument/2006/relationships/tags" Target="../tags/tag1651.xml"/><Relationship Id="rId54" Type="http://schemas.openxmlformats.org/officeDocument/2006/relationships/tags" Target="../tags/tag1650.xml"/><Relationship Id="rId53" Type="http://schemas.openxmlformats.org/officeDocument/2006/relationships/tags" Target="../tags/tag1649.xml"/><Relationship Id="rId52" Type="http://schemas.openxmlformats.org/officeDocument/2006/relationships/tags" Target="../tags/tag1648.xml"/><Relationship Id="rId51" Type="http://schemas.openxmlformats.org/officeDocument/2006/relationships/tags" Target="../tags/tag1647.xml"/><Relationship Id="rId50" Type="http://schemas.openxmlformats.org/officeDocument/2006/relationships/tags" Target="../tags/tag1646.xml"/><Relationship Id="rId5" Type="http://schemas.openxmlformats.org/officeDocument/2006/relationships/tags" Target="../tags/tag1601.xml"/><Relationship Id="rId49" Type="http://schemas.openxmlformats.org/officeDocument/2006/relationships/tags" Target="../tags/tag1645.xml"/><Relationship Id="rId48" Type="http://schemas.openxmlformats.org/officeDocument/2006/relationships/tags" Target="../tags/tag1644.xml"/><Relationship Id="rId47" Type="http://schemas.openxmlformats.org/officeDocument/2006/relationships/tags" Target="../tags/tag1643.xml"/><Relationship Id="rId46" Type="http://schemas.openxmlformats.org/officeDocument/2006/relationships/tags" Target="../tags/tag1642.xml"/><Relationship Id="rId45" Type="http://schemas.openxmlformats.org/officeDocument/2006/relationships/tags" Target="../tags/tag1641.xml"/><Relationship Id="rId44" Type="http://schemas.openxmlformats.org/officeDocument/2006/relationships/tags" Target="../tags/tag1640.xml"/><Relationship Id="rId43" Type="http://schemas.openxmlformats.org/officeDocument/2006/relationships/tags" Target="../tags/tag1639.xml"/><Relationship Id="rId42" Type="http://schemas.openxmlformats.org/officeDocument/2006/relationships/tags" Target="../tags/tag1638.xml"/><Relationship Id="rId41" Type="http://schemas.openxmlformats.org/officeDocument/2006/relationships/tags" Target="../tags/tag1637.xml"/><Relationship Id="rId40" Type="http://schemas.openxmlformats.org/officeDocument/2006/relationships/tags" Target="../tags/tag1636.xml"/><Relationship Id="rId4" Type="http://schemas.openxmlformats.org/officeDocument/2006/relationships/tags" Target="../tags/tag1600.xml"/><Relationship Id="rId39" Type="http://schemas.openxmlformats.org/officeDocument/2006/relationships/tags" Target="../tags/tag1635.xml"/><Relationship Id="rId38" Type="http://schemas.openxmlformats.org/officeDocument/2006/relationships/tags" Target="../tags/tag1634.xml"/><Relationship Id="rId37" Type="http://schemas.openxmlformats.org/officeDocument/2006/relationships/tags" Target="../tags/tag1633.xml"/><Relationship Id="rId36" Type="http://schemas.openxmlformats.org/officeDocument/2006/relationships/tags" Target="../tags/tag1632.xml"/><Relationship Id="rId35" Type="http://schemas.openxmlformats.org/officeDocument/2006/relationships/tags" Target="../tags/tag1631.xml"/><Relationship Id="rId34" Type="http://schemas.openxmlformats.org/officeDocument/2006/relationships/tags" Target="../tags/tag1630.xml"/><Relationship Id="rId33" Type="http://schemas.openxmlformats.org/officeDocument/2006/relationships/tags" Target="../tags/tag1629.xml"/><Relationship Id="rId32" Type="http://schemas.openxmlformats.org/officeDocument/2006/relationships/tags" Target="../tags/tag1628.xml"/><Relationship Id="rId31" Type="http://schemas.openxmlformats.org/officeDocument/2006/relationships/tags" Target="../tags/tag1627.xml"/><Relationship Id="rId30" Type="http://schemas.openxmlformats.org/officeDocument/2006/relationships/tags" Target="../tags/tag1626.xml"/><Relationship Id="rId3" Type="http://schemas.openxmlformats.org/officeDocument/2006/relationships/tags" Target="../tags/tag1599.xml"/><Relationship Id="rId29" Type="http://schemas.openxmlformats.org/officeDocument/2006/relationships/tags" Target="../tags/tag1625.xml"/><Relationship Id="rId28" Type="http://schemas.openxmlformats.org/officeDocument/2006/relationships/tags" Target="../tags/tag1624.xml"/><Relationship Id="rId27" Type="http://schemas.openxmlformats.org/officeDocument/2006/relationships/tags" Target="../tags/tag1623.xml"/><Relationship Id="rId26" Type="http://schemas.openxmlformats.org/officeDocument/2006/relationships/tags" Target="../tags/tag1622.xml"/><Relationship Id="rId25" Type="http://schemas.openxmlformats.org/officeDocument/2006/relationships/tags" Target="../tags/tag1621.xml"/><Relationship Id="rId24" Type="http://schemas.openxmlformats.org/officeDocument/2006/relationships/tags" Target="../tags/tag1620.xml"/><Relationship Id="rId23" Type="http://schemas.openxmlformats.org/officeDocument/2006/relationships/tags" Target="../tags/tag1619.xml"/><Relationship Id="rId22" Type="http://schemas.openxmlformats.org/officeDocument/2006/relationships/tags" Target="../tags/tag1618.xml"/><Relationship Id="rId21" Type="http://schemas.openxmlformats.org/officeDocument/2006/relationships/tags" Target="../tags/tag1617.xml"/><Relationship Id="rId20" Type="http://schemas.openxmlformats.org/officeDocument/2006/relationships/tags" Target="../tags/tag1616.xml"/><Relationship Id="rId2" Type="http://schemas.openxmlformats.org/officeDocument/2006/relationships/tags" Target="../tags/tag1598.xml"/><Relationship Id="rId19" Type="http://schemas.openxmlformats.org/officeDocument/2006/relationships/tags" Target="../tags/tag1615.xml"/><Relationship Id="rId18" Type="http://schemas.openxmlformats.org/officeDocument/2006/relationships/tags" Target="../tags/tag1614.xml"/><Relationship Id="rId17" Type="http://schemas.openxmlformats.org/officeDocument/2006/relationships/tags" Target="../tags/tag1613.xml"/><Relationship Id="rId16" Type="http://schemas.openxmlformats.org/officeDocument/2006/relationships/tags" Target="../tags/tag1612.xml"/><Relationship Id="rId15" Type="http://schemas.openxmlformats.org/officeDocument/2006/relationships/tags" Target="../tags/tag1611.xml"/><Relationship Id="rId14" Type="http://schemas.openxmlformats.org/officeDocument/2006/relationships/tags" Target="../tags/tag1610.xml"/><Relationship Id="rId13" Type="http://schemas.openxmlformats.org/officeDocument/2006/relationships/tags" Target="../tags/tag1609.xml"/><Relationship Id="rId12" Type="http://schemas.openxmlformats.org/officeDocument/2006/relationships/tags" Target="../tags/tag1608.xml"/><Relationship Id="rId11" Type="http://schemas.openxmlformats.org/officeDocument/2006/relationships/tags" Target="../tags/tag1607.xml"/><Relationship Id="rId10" Type="http://schemas.openxmlformats.org/officeDocument/2006/relationships/tags" Target="../tags/tag1606.xml"/><Relationship Id="rId1" Type="http://schemas.openxmlformats.org/officeDocument/2006/relationships/tags" Target="../tags/tag1597.xml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tags" Target="../tags/tag1698.xml"/><Relationship Id="rId8" Type="http://schemas.openxmlformats.org/officeDocument/2006/relationships/tags" Target="../tags/tag1697.xml"/><Relationship Id="rId7" Type="http://schemas.openxmlformats.org/officeDocument/2006/relationships/tags" Target="../tags/tag1696.xml"/><Relationship Id="rId6" Type="http://schemas.openxmlformats.org/officeDocument/2006/relationships/tags" Target="../tags/tag1695.xml"/><Relationship Id="rId5" Type="http://schemas.openxmlformats.org/officeDocument/2006/relationships/tags" Target="../tags/tag1694.xml"/><Relationship Id="rId4" Type="http://schemas.openxmlformats.org/officeDocument/2006/relationships/tags" Target="../tags/tag1693.xml"/><Relationship Id="rId3" Type="http://schemas.openxmlformats.org/officeDocument/2006/relationships/tags" Target="../tags/tag1692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1713.xml"/><Relationship Id="rId23" Type="http://schemas.openxmlformats.org/officeDocument/2006/relationships/tags" Target="../tags/tag1712.xml"/><Relationship Id="rId22" Type="http://schemas.openxmlformats.org/officeDocument/2006/relationships/tags" Target="../tags/tag1711.xml"/><Relationship Id="rId21" Type="http://schemas.openxmlformats.org/officeDocument/2006/relationships/tags" Target="../tags/tag1710.xml"/><Relationship Id="rId20" Type="http://schemas.openxmlformats.org/officeDocument/2006/relationships/tags" Target="../tags/tag1709.xml"/><Relationship Id="rId2" Type="http://schemas.openxmlformats.org/officeDocument/2006/relationships/tags" Target="../tags/tag1691.xml"/><Relationship Id="rId19" Type="http://schemas.openxmlformats.org/officeDocument/2006/relationships/tags" Target="../tags/tag1708.xml"/><Relationship Id="rId18" Type="http://schemas.openxmlformats.org/officeDocument/2006/relationships/tags" Target="../tags/tag1707.xml"/><Relationship Id="rId17" Type="http://schemas.openxmlformats.org/officeDocument/2006/relationships/tags" Target="../tags/tag1706.xml"/><Relationship Id="rId16" Type="http://schemas.openxmlformats.org/officeDocument/2006/relationships/tags" Target="../tags/tag1705.xml"/><Relationship Id="rId15" Type="http://schemas.openxmlformats.org/officeDocument/2006/relationships/tags" Target="../tags/tag1704.xml"/><Relationship Id="rId14" Type="http://schemas.openxmlformats.org/officeDocument/2006/relationships/tags" Target="../tags/tag1703.xml"/><Relationship Id="rId13" Type="http://schemas.openxmlformats.org/officeDocument/2006/relationships/tags" Target="../tags/tag1702.xml"/><Relationship Id="rId12" Type="http://schemas.openxmlformats.org/officeDocument/2006/relationships/tags" Target="../tags/tag1701.xml"/><Relationship Id="rId11" Type="http://schemas.openxmlformats.org/officeDocument/2006/relationships/tags" Target="../tags/tag1700.xml"/><Relationship Id="rId10" Type="http://schemas.openxmlformats.org/officeDocument/2006/relationships/tags" Target="../tags/tag1699.xml"/><Relationship Id="rId1" Type="http://schemas.openxmlformats.org/officeDocument/2006/relationships/tags" Target="../tags/tag1690.xml"/></Relationships>
</file>

<file path=ppt/slides/_rels/slide69.xml.rels><?xml version="1.0" encoding="UTF-8" standalone="yes"?>
<Relationships xmlns="http://schemas.openxmlformats.org/package/2006/relationships"><Relationship Id="rId9" Type="http://schemas.openxmlformats.org/officeDocument/2006/relationships/tags" Target="../tags/tag1722.xml"/><Relationship Id="rId8" Type="http://schemas.openxmlformats.org/officeDocument/2006/relationships/tags" Target="../tags/tag1721.xml"/><Relationship Id="rId7" Type="http://schemas.openxmlformats.org/officeDocument/2006/relationships/tags" Target="../tags/tag1720.xml"/><Relationship Id="rId6" Type="http://schemas.openxmlformats.org/officeDocument/2006/relationships/tags" Target="../tags/tag1719.xml"/><Relationship Id="rId5" Type="http://schemas.openxmlformats.org/officeDocument/2006/relationships/tags" Target="../tags/tag1718.xml"/><Relationship Id="rId4" Type="http://schemas.openxmlformats.org/officeDocument/2006/relationships/tags" Target="../tags/tag1717.xml"/><Relationship Id="rId38" Type="http://schemas.openxmlformats.org/officeDocument/2006/relationships/notesSlide" Target="../notesSlides/notesSlide52.xml"/><Relationship Id="rId37" Type="http://schemas.openxmlformats.org/officeDocument/2006/relationships/slideLayout" Target="../slideLayouts/slideLayout7.xml"/><Relationship Id="rId36" Type="http://schemas.openxmlformats.org/officeDocument/2006/relationships/tags" Target="../tags/tag1749.xml"/><Relationship Id="rId35" Type="http://schemas.openxmlformats.org/officeDocument/2006/relationships/tags" Target="../tags/tag1748.xml"/><Relationship Id="rId34" Type="http://schemas.openxmlformats.org/officeDocument/2006/relationships/tags" Target="../tags/tag1747.xml"/><Relationship Id="rId33" Type="http://schemas.openxmlformats.org/officeDocument/2006/relationships/tags" Target="../tags/tag1746.xml"/><Relationship Id="rId32" Type="http://schemas.openxmlformats.org/officeDocument/2006/relationships/tags" Target="../tags/tag1745.xml"/><Relationship Id="rId31" Type="http://schemas.openxmlformats.org/officeDocument/2006/relationships/tags" Target="../tags/tag1744.xml"/><Relationship Id="rId30" Type="http://schemas.openxmlformats.org/officeDocument/2006/relationships/tags" Target="../tags/tag1743.xml"/><Relationship Id="rId3" Type="http://schemas.openxmlformats.org/officeDocument/2006/relationships/tags" Target="../tags/tag1716.xml"/><Relationship Id="rId29" Type="http://schemas.openxmlformats.org/officeDocument/2006/relationships/tags" Target="../tags/tag1742.xml"/><Relationship Id="rId28" Type="http://schemas.openxmlformats.org/officeDocument/2006/relationships/tags" Target="../tags/tag1741.xml"/><Relationship Id="rId27" Type="http://schemas.openxmlformats.org/officeDocument/2006/relationships/tags" Target="../tags/tag1740.xml"/><Relationship Id="rId26" Type="http://schemas.openxmlformats.org/officeDocument/2006/relationships/tags" Target="../tags/tag1739.xml"/><Relationship Id="rId25" Type="http://schemas.openxmlformats.org/officeDocument/2006/relationships/tags" Target="../tags/tag1738.xml"/><Relationship Id="rId24" Type="http://schemas.openxmlformats.org/officeDocument/2006/relationships/tags" Target="../tags/tag1737.xml"/><Relationship Id="rId23" Type="http://schemas.openxmlformats.org/officeDocument/2006/relationships/tags" Target="../tags/tag1736.xml"/><Relationship Id="rId22" Type="http://schemas.openxmlformats.org/officeDocument/2006/relationships/tags" Target="../tags/tag1735.xml"/><Relationship Id="rId21" Type="http://schemas.openxmlformats.org/officeDocument/2006/relationships/tags" Target="../tags/tag1734.xml"/><Relationship Id="rId20" Type="http://schemas.openxmlformats.org/officeDocument/2006/relationships/tags" Target="../tags/tag1733.xml"/><Relationship Id="rId2" Type="http://schemas.openxmlformats.org/officeDocument/2006/relationships/tags" Target="../tags/tag1715.xml"/><Relationship Id="rId19" Type="http://schemas.openxmlformats.org/officeDocument/2006/relationships/tags" Target="../tags/tag1732.xml"/><Relationship Id="rId18" Type="http://schemas.openxmlformats.org/officeDocument/2006/relationships/tags" Target="../tags/tag1731.xml"/><Relationship Id="rId17" Type="http://schemas.openxmlformats.org/officeDocument/2006/relationships/tags" Target="../tags/tag1730.xml"/><Relationship Id="rId16" Type="http://schemas.openxmlformats.org/officeDocument/2006/relationships/tags" Target="../tags/tag1729.xml"/><Relationship Id="rId15" Type="http://schemas.openxmlformats.org/officeDocument/2006/relationships/tags" Target="../tags/tag1728.xml"/><Relationship Id="rId14" Type="http://schemas.openxmlformats.org/officeDocument/2006/relationships/tags" Target="../tags/tag1727.xml"/><Relationship Id="rId13" Type="http://schemas.openxmlformats.org/officeDocument/2006/relationships/tags" Target="../tags/tag1726.xml"/><Relationship Id="rId12" Type="http://schemas.openxmlformats.org/officeDocument/2006/relationships/tags" Target="../tags/tag1725.xml"/><Relationship Id="rId11" Type="http://schemas.openxmlformats.org/officeDocument/2006/relationships/tags" Target="../tags/tag1724.xml"/><Relationship Id="rId10" Type="http://schemas.openxmlformats.org/officeDocument/2006/relationships/tags" Target="../tags/tag1723.xml"/><Relationship Id="rId1" Type="http://schemas.openxmlformats.org/officeDocument/2006/relationships/tags" Target="../tags/tag171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750.xml"/><Relationship Id="rId1" Type="http://schemas.openxmlformats.org/officeDocument/2006/relationships/slide" Target="slide3.xml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tags" Target="../tags/tag1759.xml"/><Relationship Id="rId8" Type="http://schemas.openxmlformats.org/officeDocument/2006/relationships/tags" Target="../tags/tag1758.xml"/><Relationship Id="rId7" Type="http://schemas.openxmlformats.org/officeDocument/2006/relationships/tags" Target="../tags/tag1757.xml"/><Relationship Id="rId6" Type="http://schemas.openxmlformats.org/officeDocument/2006/relationships/tags" Target="../tags/tag1756.xml"/><Relationship Id="rId5" Type="http://schemas.openxmlformats.org/officeDocument/2006/relationships/tags" Target="../tags/tag1755.xml"/><Relationship Id="rId4" Type="http://schemas.openxmlformats.org/officeDocument/2006/relationships/tags" Target="../tags/tag1754.xml"/><Relationship Id="rId35" Type="http://schemas.openxmlformats.org/officeDocument/2006/relationships/slideLayout" Target="../slideLayouts/slideLayout7.xml"/><Relationship Id="rId34" Type="http://schemas.openxmlformats.org/officeDocument/2006/relationships/tags" Target="../tags/tag1784.xml"/><Relationship Id="rId33" Type="http://schemas.openxmlformats.org/officeDocument/2006/relationships/tags" Target="../tags/tag1783.xml"/><Relationship Id="rId32" Type="http://schemas.openxmlformats.org/officeDocument/2006/relationships/tags" Target="../tags/tag1782.xml"/><Relationship Id="rId31" Type="http://schemas.openxmlformats.org/officeDocument/2006/relationships/tags" Target="../tags/tag1781.xml"/><Relationship Id="rId30" Type="http://schemas.openxmlformats.org/officeDocument/2006/relationships/tags" Target="../tags/tag1780.xml"/><Relationship Id="rId3" Type="http://schemas.openxmlformats.org/officeDocument/2006/relationships/tags" Target="../tags/tag1753.xml"/><Relationship Id="rId29" Type="http://schemas.openxmlformats.org/officeDocument/2006/relationships/tags" Target="../tags/tag1779.xml"/><Relationship Id="rId28" Type="http://schemas.openxmlformats.org/officeDocument/2006/relationships/tags" Target="../tags/tag1778.xml"/><Relationship Id="rId27" Type="http://schemas.openxmlformats.org/officeDocument/2006/relationships/tags" Target="../tags/tag1777.xml"/><Relationship Id="rId26" Type="http://schemas.openxmlformats.org/officeDocument/2006/relationships/tags" Target="../tags/tag1776.xml"/><Relationship Id="rId25" Type="http://schemas.openxmlformats.org/officeDocument/2006/relationships/tags" Target="../tags/tag1775.xml"/><Relationship Id="rId24" Type="http://schemas.openxmlformats.org/officeDocument/2006/relationships/tags" Target="../tags/tag1774.xml"/><Relationship Id="rId23" Type="http://schemas.openxmlformats.org/officeDocument/2006/relationships/tags" Target="../tags/tag1773.xml"/><Relationship Id="rId22" Type="http://schemas.openxmlformats.org/officeDocument/2006/relationships/tags" Target="../tags/tag1772.xml"/><Relationship Id="rId21" Type="http://schemas.openxmlformats.org/officeDocument/2006/relationships/tags" Target="../tags/tag1771.xml"/><Relationship Id="rId20" Type="http://schemas.openxmlformats.org/officeDocument/2006/relationships/tags" Target="../tags/tag1770.xml"/><Relationship Id="rId2" Type="http://schemas.openxmlformats.org/officeDocument/2006/relationships/tags" Target="../tags/tag1752.xml"/><Relationship Id="rId19" Type="http://schemas.openxmlformats.org/officeDocument/2006/relationships/tags" Target="../tags/tag1769.xml"/><Relationship Id="rId18" Type="http://schemas.openxmlformats.org/officeDocument/2006/relationships/tags" Target="../tags/tag1768.xml"/><Relationship Id="rId17" Type="http://schemas.openxmlformats.org/officeDocument/2006/relationships/tags" Target="../tags/tag1767.xml"/><Relationship Id="rId16" Type="http://schemas.openxmlformats.org/officeDocument/2006/relationships/tags" Target="../tags/tag1766.xml"/><Relationship Id="rId15" Type="http://schemas.openxmlformats.org/officeDocument/2006/relationships/tags" Target="../tags/tag1765.xml"/><Relationship Id="rId14" Type="http://schemas.openxmlformats.org/officeDocument/2006/relationships/tags" Target="../tags/tag1764.xml"/><Relationship Id="rId13" Type="http://schemas.openxmlformats.org/officeDocument/2006/relationships/tags" Target="../tags/tag1763.xml"/><Relationship Id="rId12" Type="http://schemas.openxmlformats.org/officeDocument/2006/relationships/tags" Target="../tags/tag1762.xml"/><Relationship Id="rId11" Type="http://schemas.openxmlformats.org/officeDocument/2006/relationships/tags" Target="../tags/tag1761.xml"/><Relationship Id="rId10" Type="http://schemas.openxmlformats.org/officeDocument/2006/relationships/tags" Target="../tags/tag1760.xml"/><Relationship Id="rId1" Type="http://schemas.openxmlformats.org/officeDocument/2006/relationships/tags" Target="../tags/tag1751.xml"/></Relationships>
</file>

<file path=ppt/slides/_rels/slide72.xml.rels><?xml version="1.0" encoding="UTF-8" standalone="yes"?>
<Relationships xmlns="http://schemas.openxmlformats.org/package/2006/relationships"><Relationship Id="rId9" Type="http://schemas.openxmlformats.org/officeDocument/2006/relationships/tags" Target="../tags/tag1793.xml"/><Relationship Id="rId8" Type="http://schemas.openxmlformats.org/officeDocument/2006/relationships/tags" Target="../tags/tag1792.xml"/><Relationship Id="rId7" Type="http://schemas.openxmlformats.org/officeDocument/2006/relationships/tags" Target="../tags/tag1791.xml"/><Relationship Id="rId6" Type="http://schemas.openxmlformats.org/officeDocument/2006/relationships/tags" Target="../tags/tag1790.xml"/><Relationship Id="rId5" Type="http://schemas.openxmlformats.org/officeDocument/2006/relationships/tags" Target="../tags/tag1789.xml"/><Relationship Id="rId4" Type="http://schemas.openxmlformats.org/officeDocument/2006/relationships/tags" Target="../tags/tag1788.xml"/><Relationship Id="rId3" Type="http://schemas.openxmlformats.org/officeDocument/2006/relationships/tags" Target="../tags/tag1787.xml"/><Relationship Id="rId20" Type="http://schemas.openxmlformats.org/officeDocument/2006/relationships/notesSlide" Target="../notesSlides/notesSlide53.xml"/><Relationship Id="rId2" Type="http://schemas.openxmlformats.org/officeDocument/2006/relationships/tags" Target="../tags/tag1786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802.xml"/><Relationship Id="rId17" Type="http://schemas.openxmlformats.org/officeDocument/2006/relationships/tags" Target="../tags/tag1801.xml"/><Relationship Id="rId16" Type="http://schemas.openxmlformats.org/officeDocument/2006/relationships/tags" Target="../tags/tag1800.xml"/><Relationship Id="rId15" Type="http://schemas.openxmlformats.org/officeDocument/2006/relationships/tags" Target="../tags/tag1799.xml"/><Relationship Id="rId14" Type="http://schemas.openxmlformats.org/officeDocument/2006/relationships/tags" Target="../tags/tag1798.xml"/><Relationship Id="rId13" Type="http://schemas.openxmlformats.org/officeDocument/2006/relationships/tags" Target="../tags/tag1797.xml"/><Relationship Id="rId12" Type="http://schemas.openxmlformats.org/officeDocument/2006/relationships/tags" Target="../tags/tag1796.xml"/><Relationship Id="rId11" Type="http://schemas.openxmlformats.org/officeDocument/2006/relationships/tags" Target="../tags/tag1795.xml"/><Relationship Id="rId10" Type="http://schemas.openxmlformats.org/officeDocument/2006/relationships/tags" Target="../tags/tag1794.xml"/><Relationship Id="rId1" Type="http://schemas.openxmlformats.org/officeDocument/2006/relationships/tags" Target="../tags/tag1785.xml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4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804.xml"/><Relationship Id="rId1" Type="http://schemas.openxmlformats.org/officeDocument/2006/relationships/tags" Target="../tags/tag1803.xml"/></Relationships>
</file>

<file path=ppt/slides/_rels/slide74.xml.rels><?xml version="1.0" encoding="UTF-8" standalone="yes"?>
<Relationships xmlns="http://schemas.openxmlformats.org/package/2006/relationships"><Relationship Id="rId9" Type="http://schemas.openxmlformats.org/officeDocument/2006/relationships/tags" Target="../tags/tag1813.xml"/><Relationship Id="rId8" Type="http://schemas.openxmlformats.org/officeDocument/2006/relationships/tags" Target="../tags/tag1812.xml"/><Relationship Id="rId7" Type="http://schemas.openxmlformats.org/officeDocument/2006/relationships/tags" Target="../tags/tag1811.xml"/><Relationship Id="rId6" Type="http://schemas.openxmlformats.org/officeDocument/2006/relationships/tags" Target="../tags/tag1810.xml"/><Relationship Id="rId5" Type="http://schemas.openxmlformats.org/officeDocument/2006/relationships/tags" Target="../tags/tag1809.xml"/><Relationship Id="rId4" Type="http://schemas.openxmlformats.org/officeDocument/2006/relationships/tags" Target="../tags/tag1808.xml"/><Relationship Id="rId3" Type="http://schemas.openxmlformats.org/officeDocument/2006/relationships/tags" Target="../tags/tag1807.xml"/><Relationship Id="rId25" Type="http://schemas.openxmlformats.org/officeDocument/2006/relationships/notesSlide" Target="../notesSlides/notesSlide55.xml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1827.xml"/><Relationship Id="rId22" Type="http://schemas.openxmlformats.org/officeDocument/2006/relationships/tags" Target="../tags/tag1826.xml"/><Relationship Id="rId21" Type="http://schemas.openxmlformats.org/officeDocument/2006/relationships/tags" Target="../tags/tag1825.xml"/><Relationship Id="rId20" Type="http://schemas.openxmlformats.org/officeDocument/2006/relationships/tags" Target="../tags/tag1824.xml"/><Relationship Id="rId2" Type="http://schemas.openxmlformats.org/officeDocument/2006/relationships/tags" Target="../tags/tag1806.xml"/><Relationship Id="rId19" Type="http://schemas.openxmlformats.org/officeDocument/2006/relationships/tags" Target="../tags/tag1823.xml"/><Relationship Id="rId18" Type="http://schemas.openxmlformats.org/officeDocument/2006/relationships/tags" Target="../tags/tag1822.xml"/><Relationship Id="rId17" Type="http://schemas.openxmlformats.org/officeDocument/2006/relationships/tags" Target="../tags/tag1821.xml"/><Relationship Id="rId16" Type="http://schemas.openxmlformats.org/officeDocument/2006/relationships/tags" Target="../tags/tag1820.xml"/><Relationship Id="rId15" Type="http://schemas.openxmlformats.org/officeDocument/2006/relationships/tags" Target="../tags/tag1819.xml"/><Relationship Id="rId14" Type="http://schemas.openxmlformats.org/officeDocument/2006/relationships/tags" Target="../tags/tag1818.xml"/><Relationship Id="rId13" Type="http://schemas.openxmlformats.org/officeDocument/2006/relationships/tags" Target="../tags/tag1817.xml"/><Relationship Id="rId12" Type="http://schemas.openxmlformats.org/officeDocument/2006/relationships/tags" Target="../tags/tag1816.xml"/><Relationship Id="rId11" Type="http://schemas.openxmlformats.org/officeDocument/2006/relationships/tags" Target="../tags/tag1815.xml"/><Relationship Id="rId10" Type="http://schemas.openxmlformats.org/officeDocument/2006/relationships/tags" Target="../tags/tag1814.xml"/><Relationship Id="rId1" Type="http://schemas.openxmlformats.org/officeDocument/2006/relationships/tags" Target="../tags/tag1805.xml"/></Relationships>
</file>

<file path=ppt/slides/_rels/slide75.xml.rels><?xml version="1.0" encoding="UTF-8" standalone="yes"?>
<Relationships xmlns="http://schemas.openxmlformats.org/package/2006/relationships"><Relationship Id="rId9" Type="http://schemas.openxmlformats.org/officeDocument/2006/relationships/tags" Target="../tags/tag1835.xml"/><Relationship Id="rId83" Type="http://schemas.openxmlformats.org/officeDocument/2006/relationships/notesSlide" Target="../notesSlides/notesSlide56.xml"/><Relationship Id="rId82" Type="http://schemas.openxmlformats.org/officeDocument/2006/relationships/slideLayout" Target="../slideLayouts/slideLayout7.xml"/><Relationship Id="rId81" Type="http://schemas.openxmlformats.org/officeDocument/2006/relationships/tags" Target="../tags/tag1907.xml"/><Relationship Id="rId80" Type="http://schemas.openxmlformats.org/officeDocument/2006/relationships/tags" Target="../tags/tag1906.xml"/><Relationship Id="rId8" Type="http://schemas.openxmlformats.org/officeDocument/2006/relationships/tags" Target="../tags/tag1834.xml"/><Relationship Id="rId79" Type="http://schemas.openxmlformats.org/officeDocument/2006/relationships/tags" Target="../tags/tag1905.xml"/><Relationship Id="rId78" Type="http://schemas.openxmlformats.org/officeDocument/2006/relationships/tags" Target="../tags/tag1904.xml"/><Relationship Id="rId77" Type="http://schemas.openxmlformats.org/officeDocument/2006/relationships/tags" Target="../tags/tag1903.xml"/><Relationship Id="rId76" Type="http://schemas.openxmlformats.org/officeDocument/2006/relationships/tags" Target="../tags/tag1902.xml"/><Relationship Id="rId75" Type="http://schemas.openxmlformats.org/officeDocument/2006/relationships/tags" Target="../tags/tag1901.xml"/><Relationship Id="rId74" Type="http://schemas.openxmlformats.org/officeDocument/2006/relationships/tags" Target="../tags/tag1900.xml"/><Relationship Id="rId73" Type="http://schemas.openxmlformats.org/officeDocument/2006/relationships/tags" Target="../tags/tag1899.xml"/><Relationship Id="rId72" Type="http://schemas.openxmlformats.org/officeDocument/2006/relationships/tags" Target="../tags/tag1898.xml"/><Relationship Id="rId71" Type="http://schemas.openxmlformats.org/officeDocument/2006/relationships/tags" Target="../tags/tag1897.xml"/><Relationship Id="rId70" Type="http://schemas.openxmlformats.org/officeDocument/2006/relationships/tags" Target="../tags/tag1896.xml"/><Relationship Id="rId7" Type="http://schemas.openxmlformats.org/officeDocument/2006/relationships/slide" Target="slide80.xml"/><Relationship Id="rId69" Type="http://schemas.openxmlformats.org/officeDocument/2006/relationships/tags" Target="../tags/tag1895.xml"/><Relationship Id="rId68" Type="http://schemas.openxmlformats.org/officeDocument/2006/relationships/tags" Target="../tags/tag1894.xml"/><Relationship Id="rId67" Type="http://schemas.openxmlformats.org/officeDocument/2006/relationships/tags" Target="../tags/tag1893.xml"/><Relationship Id="rId66" Type="http://schemas.openxmlformats.org/officeDocument/2006/relationships/tags" Target="../tags/tag1892.xml"/><Relationship Id="rId65" Type="http://schemas.openxmlformats.org/officeDocument/2006/relationships/tags" Target="../tags/tag1891.xml"/><Relationship Id="rId64" Type="http://schemas.openxmlformats.org/officeDocument/2006/relationships/tags" Target="../tags/tag1890.xml"/><Relationship Id="rId63" Type="http://schemas.openxmlformats.org/officeDocument/2006/relationships/tags" Target="../tags/tag1889.xml"/><Relationship Id="rId62" Type="http://schemas.openxmlformats.org/officeDocument/2006/relationships/tags" Target="../tags/tag1888.xml"/><Relationship Id="rId61" Type="http://schemas.openxmlformats.org/officeDocument/2006/relationships/tags" Target="../tags/tag1887.xml"/><Relationship Id="rId60" Type="http://schemas.openxmlformats.org/officeDocument/2006/relationships/tags" Target="../tags/tag1886.xml"/><Relationship Id="rId6" Type="http://schemas.openxmlformats.org/officeDocument/2006/relationships/tags" Target="../tags/tag1833.xml"/><Relationship Id="rId59" Type="http://schemas.openxmlformats.org/officeDocument/2006/relationships/tags" Target="../tags/tag1885.xml"/><Relationship Id="rId58" Type="http://schemas.openxmlformats.org/officeDocument/2006/relationships/tags" Target="../tags/tag1884.xml"/><Relationship Id="rId57" Type="http://schemas.openxmlformats.org/officeDocument/2006/relationships/tags" Target="../tags/tag1883.xml"/><Relationship Id="rId56" Type="http://schemas.openxmlformats.org/officeDocument/2006/relationships/tags" Target="../tags/tag1882.xml"/><Relationship Id="rId55" Type="http://schemas.openxmlformats.org/officeDocument/2006/relationships/tags" Target="../tags/tag1881.xml"/><Relationship Id="rId54" Type="http://schemas.openxmlformats.org/officeDocument/2006/relationships/tags" Target="../tags/tag1880.xml"/><Relationship Id="rId53" Type="http://schemas.openxmlformats.org/officeDocument/2006/relationships/tags" Target="../tags/tag1879.xml"/><Relationship Id="rId52" Type="http://schemas.openxmlformats.org/officeDocument/2006/relationships/tags" Target="../tags/tag1878.xml"/><Relationship Id="rId51" Type="http://schemas.openxmlformats.org/officeDocument/2006/relationships/tags" Target="../tags/tag1877.xml"/><Relationship Id="rId50" Type="http://schemas.openxmlformats.org/officeDocument/2006/relationships/tags" Target="../tags/tag1876.xml"/><Relationship Id="rId5" Type="http://schemas.openxmlformats.org/officeDocument/2006/relationships/tags" Target="../tags/tag1832.xml"/><Relationship Id="rId49" Type="http://schemas.openxmlformats.org/officeDocument/2006/relationships/tags" Target="../tags/tag1875.xml"/><Relationship Id="rId48" Type="http://schemas.openxmlformats.org/officeDocument/2006/relationships/tags" Target="../tags/tag1874.xml"/><Relationship Id="rId47" Type="http://schemas.openxmlformats.org/officeDocument/2006/relationships/tags" Target="../tags/tag1873.xml"/><Relationship Id="rId46" Type="http://schemas.openxmlformats.org/officeDocument/2006/relationships/tags" Target="../tags/tag1872.xml"/><Relationship Id="rId45" Type="http://schemas.openxmlformats.org/officeDocument/2006/relationships/tags" Target="../tags/tag1871.xml"/><Relationship Id="rId44" Type="http://schemas.openxmlformats.org/officeDocument/2006/relationships/tags" Target="../tags/tag1870.xml"/><Relationship Id="rId43" Type="http://schemas.openxmlformats.org/officeDocument/2006/relationships/tags" Target="../tags/tag1869.xml"/><Relationship Id="rId42" Type="http://schemas.openxmlformats.org/officeDocument/2006/relationships/tags" Target="../tags/tag1868.xml"/><Relationship Id="rId41" Type="http://schemas.openxmlformats.org/officeDocument/2006/relationships/tags" Target="../tags/tag1867.xml"/><Relationship Id="rId40" Type="http://schemas.openxmlformats.org/officeDocument/2006/relationships/tags" Target="../tags/tag1866.xml"/><Relationship Id="rId4" Type="http://schemas.openxmlformats.org/officeDocument/2006/relationships/tags" Target="../tags/tag1831.xml"/><Relationship Id="rId39" Type="http://schemas.openxmlformats.org/officeDocument/2006/relationships/tags" Target="../tags/tag1865.xml"/><Relationship Id="rId38" Type="http://schemas.openxmlformats.org/officeDocument/2006/relationships/tags" Target="../tags/tag1864.xml"/><Relationship Id="rId37" Type="http://schemas.openxmlformats.org/officeDocument/2006/relationships/tags" Target="../tags/tag1863.xml"/><Relationship Id="rId36" Type="http://schemas.openxmlformats.org/officeDocument/2006/relationships/tags" Target="../tags/tag1862.xml"/><Relationship Id="rId35" Type="http://schemas.openxmlformats.org/officeDocument/2006/relationships/tags" Target="../tags/tag1861.xml"/><Relationship Id="rId34" Type="http://schemas.openxmlformats.org/officeDocument/2006/relationships/tags" Target="../tags/tag1860.xml"/><Relationship Id="rId33" Type="http://schemas.openxmlformats.org/officeDocument/2006/relationships/tags" Target="../tags/tag1859.xml"/><Relationship Id="rId32" Type="http://schemas.openxmlformats.org/officeDocument/2006/relationships/tags" Target="../tags/tag1858.xml"/><Relationship Id="rId31" Type="http://schemas.openxmlformats.org/officeDocument/2006/relationships/tags" Target="../tags/tag1857.xml"/><Relationship Id="rId30" Type="http://schemas.openxmlformats.org/officeDocument/2006/relationships/tags" Target="../tags/tag1856.xml"/><Relationship Id="rId3" Type="http://schemas.openxmlformats.org/officeDocument/2006/relationships/tags" Target="../tags/tag1830.xml"/><Relationship Id="rId29" Type="http://schemas.openxmlformats.org/officeDocument/2006/relationships/tags" Target="../tags/tag1855.xml"/><Relationship Id="rId28" Type="http://schemas.openxmlformats.org/officeDocument/2006/relationships/tags" Target="../tags/tag1854.xml"/><Relationship Id="rId27" Type="http://schemas.openxmlformats.org/officeDocument/2006/relationships/tags" Target="../tags/tag1853.xml"/><Relationship Id="rId26" Type="http://schemas.openxmlformats.org/officeDocument/2006/relationships/tags" Target="../tags/tag1852.xml"/><Relationship Id="rId25" Type="http://schemas.openxmlformats.org/officeDocument/2006/relationships/tags" Target="../tags/tag1851.xml"/><Relationship Id="rId24" Type="http://schemas.openxmlformats.org/officeDocument/2006/relationships/tags" Target="../tags/tag1850.xml"/><Relationship Id="rId23" Type="http://schemas.openxmlformats.org/officeDocument/2006/relationships/tags" Target="../tags/tag1849.xml"/><Relationship Id="rId22" Type="http://schemas.openxmlformats.org/officeDocument/2006/relationships/tags" Target="../tags/tag1848.xml"/><Relationship Id="rId21" Type="http://schemas.openxmlformats.org/officeDocument/2006/relationships/tags" Target="../tags/tag1847.xml"/><Relationship Id="rId20" Type="http://schemas.openxmlformats.org/officeDocument/2006/relationships/tags" Target="../tags/tag1846.xml"/><Relationship Id="rId2" Type="http://schemas.openxmlformats.org/officeDocument/2006/relationships/tags" Target="../tags/tag1829.xml"/><Relationship Id="rId19" Type="http://schemas.openxmlformats.org/officeDocument/2006/relationships/tags" Target="../tags/tag1845.xml"/><Relationship Id="rId18" Type="http://schemas.openxmlformats.org/officeDocument/2006/relationships/tags" Target="../tags/tag1844.xml"/><Relationship Id="rId17" Type="http://schemas.openxmlformats.org/officeDocument/2006/relationships/tags" Target="../tags/tag1843.xml"/><Relationship Id="rId16" Type="http://schemas.openxmlformats.org/officeDocument/2006/relationships/tags" Target="../tags/tag1842.xml"/><Relationship Id="rId15" Type="http://schemas.openxmlformats.org/officeDocument/2006/relationships/tags" Target="../tags/tag1841.xml"/><Relationship Id="rId14" Type="http://schemas.openxmlformats.org/officeDocument/2006/relationships/tags" Target="../tags/tag1840.xml"/><Relationship Id="rId13" Type="http://schemas.openxmlformats.org/officeDocument/2006/relationships/tags" Target="../tags/tag1839.xml"/><Relationship Id="rId12" Type="http://schemas.openxmlformats.org/officeDocument/2006/relationships/tags" Target="../tags/tag1838.xml"/><Relationship Id="rId11" Type="http://schemas.openxmlformats.org/officeDocument/2006/relationships/tags" Target="../tags/tag1837.xml"/><Relationship Id="rId10" Type="http://schemas.openxmlformats.org/officeDocument/2006/relationships/tags" Target="../tags/tag1836.xml"/><Relationship Id="rId1" Type="http://schemas.openxmlformats.org/officeDocument/2006/relationships/tags" Target="../tags/tag1828.xml"/></Relationships>
</file>

<file path=ppt/slides/_rels/slide76.xml.rels><?xml version="1.0" encoding="UTF-8" standalone="yes"?>
<Relationships xmlns="http://schemas.openxmlformats.org/package/2006/relationships"><Relationship Id="rId9" Type="http://schemas.openxmlformats.org/officeDocument/2006/relationships/tags" Target="../tags/tag1916.xml"/><Relationship Id="rId8" Type="http://schemas.openxmlformats.org/officeDocument/2006/relationships/tags" Target="../tags/tag1915.xml"/><Relationship Id="rId7" Type="http://schemas.openxmlformats.org/officeDocument/2006/relationships/tags" Target="../tags/tag1914.xml"/><Relationship Id="rId6" Type="http://schemas.openxmlformats.org/officeDocument/2006/relationships/tags" Target="../tags/tag1913.xml"/><Relationship Id="rId5" Type="http://schemas.openxmlformats.org/officeDocument/2006/relationships/tags" Target="../tags/tag1912.xml"/><Relationship Id="rId4" Type="http://schemas.openxmlformats.org/officeDocument/2006/relationships/tags" Target="../tags/tag1911.xml"/><Relationship Id="rId3" Type="http://schemas.openxmlformats.org/officeDocument/2006/relationships/tags" Target="../tags/tag1910.xml"/><Relationship Id="rId29" Type="http://schemas.openxmlformats.org/officeDocument/2006/relationships/notesSlide" Target="../notesSlides/notesSlide57.x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1934.xml"/><Relationship Id="rId26" Type="http://schemas.openxmlformats.org/officeDocument/2006/relationships/tags" Target="../tags/tag1933.xml"/><Relationship Id="rId25" Type="http://schemas.openxmlformats.org/officeDocument/2006/relationships/tags" Target="../tags/tag1932.xml"/><Relationship Id="rId24" Type="http://schemas.openxmlformats.org/officeDocument/2006/relationships/tags" Target="../tags/tag1931.xml"/><Relationship Id="rId23" Type="http://schemas.openxmlformats.org/officeDocument/2006/relationships/tags" Target="../tags/tag1930.xml"/><Relationship Id="rId22" Type="http://schemas.openxmlformats.org/officeDocument/2006/relationships/tags" Target="../tags/tag1929.xml"/><Relationship Id="rId21" Type="http://schemas.openxmlformats.org/officeDocument/2006/relationships/tags" Target="../tags/tag1928.xml"/><Relationship Id="rId20" Type="http://schemas.openxmlformats.org/officeDocument/2006/relationships/tags" Target="../tags/tag1927.xml"/><Relationship Id="rId2" Type="http://schemas.openxmlformats.org/officeDocument/2006/relationships/tags" Target="../tags/tag1909.xml"/><Relationship Id="rId19" Type="http://schemas.openxmlformats.org/officeDocument/2006/relationships/tags" Target="../tags/tag1926.xml"/><Relationship Id="rId18" Type="http://schemas.openxmlformats.org/officeDocument/2006/relationships/tags" Target="../tags/tag1925.xml"/><Relationship Id="rId17" Type="http://schemas.openxmlformats.org/officeDocument/2006/relationships/tags" Target="../tags/tag1924.xml"/><Relationship Id="rId16" Type="http://schemas.openxmlformats.org/officeDocument/2006/relationships/tags" Target="../tags/tag1923.xml"/><Relationship Id="rId15" Type="http://schemas.openxmlformats.org/officeDocument/2006/relationships/tags" Target="../tags/tag1922.xml"/><Relationship Id="rId14" Type="http://schemas.openxmlformats.org/officeDocument/2006/relationships/tags" Target="../tags/tag1921.xml"/><Relationship Id="rId13" Type="http://schemas.openxmlformats.org/officeDocument/2006/relationships/tags" Target="../tags/tag1920.xml"/><Relationship Id="rId12" Type="http://schemas.openxmlformats.org/officeDocument/2006/relationships/tags" Target="../tags/tag1919.xml"/><Relationship Id="rId11" Type="http://schemas.openxmlformats.org/officeDocument/2006/relationships/tags" Target="../tags/tag1918.xml"/><Relationship Id="rId10" Type="http://schemas.openxmlformats.org/officeDocument/2006/relationships/tags" Target="../tags/tag1917.xml"/><Relationship Id="rId1" Type="http://schemas.openxmlformats.org/officeDocument/2006/relationships/tags" Target="../tags/tag1908.xml"/></Relationships>
</file>

<file path=ppt/slides/_rels/slide77.xml.rels><?xml version="1.0" encoding="UTF-8" standalone="yes"?>
<Relationships xmlns="http://schemas.openxmlformats.org/package/2006/relationships"><Relationship Id="rId9" Type="http://schemas.openxmlformats.org/officeDocument/2006/relationships/tags" Target="../tags/tag1943.xml"/><Relationship Id="rId8" Type="http://schemas.openxmlformats.org/officeDocument/2006/relationships/tags" Target="../tags/tag1942.xml"/><Relationship Id="rId7" Type="http://schemas.openxmlformats.org/officeDocument/2006/relationships/tags" Target="../tags/tag1941.xml"/><Relationship Id="rId6" Type="http://schemas.openxmlformats.org/officeDocument/2006/relationships/tags" Target="../tags/tag1940.xml"/><Relationship Id="rId5" Type="http://schemas.openxmlformats.org/officeDocument/2006/relationships/tags" Target="../tags/tag1939.xml"/><Relationship Id="rId4" Type="http://schemas.openxmlformats.org/officeDocument/2006/relationships/tags" Target="../tags/tag1938.xml"/><Relationship Id="rId35" Type="http://schemas.openxmlformats.org/officeDocument/2006/relationships/notesSlide" Target="../notesSlides/notesSlide58.xml"/><Relationship Id="rId34" Type="http://schemas.openxmlformats.org/officeDocument/2006/relationships/slideLayout" Target="../slideLayouts/slideLayout7.xml"/><Relationship Id="rId33" Type="http://schemas.openxmlformats.org/officeDocument/2006/relationships/tags" Target="../tags/tag1967.xml"/><Relationship Id="rId32" Type="http://schemas.openxmlformats.org/officeDocument/2006/relationships/tags" Target="../tags/tag1966.xml"/><Relationship Id="rId31" Type="http://schemas.openxmlformats.org/officeDocument/2006/relationships/tags" Target="../tags/tag1965.xml"/><Relationship Id="rId30" Type="http://schemas.openxmlformats.org/officeDocument/2006/relationships/tags" Target="../tags/tag1964.xml"/><Relationship Id="rId3" Type="http://schemas.openxmlformats.org/officeDocument/2006/relationships/tags" Target="../tags/tag1937.xml"/><Relationship Id="rId29" Type="http://schemas.openxmlformats.org/officeDocument/2006/relationships/tags" Target="../tags/tag1963.xml"/><Relationship Id="rId28" Type="http://schemas.openxmlformats.org/officeDocument/2006/relationships/tags" Target="../tags/tag1962.xml"/><Relationship Id="rId27" Type="http://schemas.openxmlformats.org/officeDocument/2006/relationships/tags" Target="../tags/tag1961.xml"/><Relationship Id="rId26" Type="http://schemas.openxmlformats.org/officeDocument/2006/relationships/tags" Target="../tags/tag1960.xml"/><Relationship Id="rId25" Type="http://schemas.openxmlformats.org/officeDocument/2006/relationships/tags" Target="../tags/tag1959.xml"/><Relationship Id="rId24" Type="http://schemas.openxmlformats.org/officeDocument/2006/relationships/tags" Target="../tags/tag1958.xml"/><Relationship Id="rId23" Type="http://schemas.openxmlformats.org/officeDocument/2006/relationships/tags" Target="../tags/tag1957.xml"/><Relationship Id="rId22" Type="http://schemas.openxmlformats.org/officeDocument/2006/relationships/tags" Target="../tags/tag1956.xml"/><Relationship Id="rId21" Type="http://schemas.openxmlformats.org/officeDocument/2006/relationships/tags" Target="../tags/tag1955.xml"/><Relationship Id="rId20" Type="http://schemas.openxmlformats.org/officeDocument/2006/relationships/tags" Target="../tags/tag1954.xml"/><Relationship Id="rId2" Type="http://schemas.openxmlformats.org/officeDocument/2006/relationships/tags" Target="../tags/tag1936.xml"/><Relationship Id="rId19" Type="http://schemas.openxmlformats.org/officeDocument/2006/relationships/tags" Target="../tags/tag1953.xml"/><Relationship Id="rId18" Type="http://schemas.openxmlformats.org/officeDocument/2006/relationships/tags" Target="../tags/tag1952.xml"/><Relationship Id="rId17" Type="http://schemas.openxmlformats.org/officeDocument/2006/relationships/tags" Target="../tags/tag1951.xml"/><Relationship Id="rId16" Type="http://schemas.openxmlformats.org/officeDocument/2006/relationships/tags" Target="../tags/tag1950.xml"/><Relationship Id="rId15" Type="http://schemas.openxmlformats.org/officeDocument/2006/relationships/tags" Target="../tags/tag1949.xml"/><Relationship Id="rId14" Type="http://schemas.openxmlformats.org/officeDocument/2006/relationships/tags" Target="../tags/tag1948.xml"/><Relationship Id="rId13" Type="http://schemas.openxmlformats.org/officeDocument/2006/relationships/tags" Target="../tags/tag1947.xml"/><Relationship Id="rId12" Type="http://schemas.openxmlformats.org/officeDocument/2006/relationships/tags" Target="../tags/tag1946.xml"/><Relationship Id="rId11" Type="http://schemas.openxmlformats.org/officeDocument/2006/relationships/tags" Target="../tags/tag1945.xml"/><Relationship Id="rId10" Type="http://schemas.openxmlformats.org/officeDocument/2006/relationships/tags" Target="../tags/tag1944.xml"/><Relationship Id="rId1" Type="http://schemas.openxmlformats.org/officeDocument/2006/relationships/tags" Target="../tags/tag1935.xml"/></Relationships>
</file>

<file path=ppt/slides/_rels/slide78.xml.rels><?xml version="1.0" encoding="UTF-8" standalone="yes"?>
<Relationships xmlns="http://schemas.openxmlformats.org/package/2006/relationships"><Relationship Id="rId9" Type="http://schemas.openxmlformats.org/officeDocument/2006/relationships/tags" Target="../tags/tag1975.xml"/><Relationship Id="rId8" Type="http://schemas.openxmlformats.org/officeDocument/2006/relationships/tags" Target="../tags/tag1974.xml"/><Relationship Id="rId7" Type="http://schemas.openxmlformats.org/officeDocument/2006/relationships/tags" Target="../tags/tag1973.xml"/><Relationship Id="rId6" Type="http://schemas.openxmlformats.org/officeDocument/2006/relationships/tags" Target="../tags/tag1972.xml"/><Relationship Id="rId56" Type="http://schemas.openxmlformats.org/officeDocument/2006/relationships/notesSlide" Target="../notesSlides/notesSlide59.xml"/><Relationship Id="rId55" Type="http://schemas.openxmlformats.org/officeDocument/2006/relationships/slideLayout" Target="../slideLayouts/slideLayout7.xml"/><Relationship Id="rId54" Type="http://schemas.openxmlformats.org/officeDocument/2006/relationships/tags" Target="../tags/tag2020.xml"/><Relationship Id="rId53" Type="http://schemas.openxmlformats.org/officeDocument/2006/relationships/tags" Target="../tags/tag2019.xml"/><Relationship Id="rId52" Type="http://schemas.openxmlformats.org/officeDocument/2006/relationships/tags" Target="../tags/tag2018.xml"/><Relationship Id="rId51" Type="http://schemas.openxmlformats.org/officeDocument/2006/relationships/tags" Target="../tags/tag2017.xml"/><Relationship Id="rId50" Type="http://schemas.openxmlformats.org/officeDocument/2006/relationships/tags" Target="../tags/tag2016.xml"/><Relationship Id="rId5" Type="http://schemas.openxmlformats.org/officeDocument/2006/relationships/tags" Target="../tags/tag1971.xml"/><Relationship Id="rId49" Type="http://schemas.openxmlformats.org/officeDocument/2006/relationships/tags" Target="../tags/tag2015.xml"/><Relationship Id="rId48" Type="http://schemas.openxmlformats.org/officeDocument/2006/relationships/tags" Target="../tags/tag2014.xml"/><Relationship Id="rId47" Type="http://schemas.openxmlformats.org/officeDocument/2006/relationships/tags" Target="../tags/tag2013.xml"/><Relationship Id="rId46" Type="http://schemas.openxmlformats.org/officeDocument/2006/relationships/tags" Target="../tags/tag2012.xml"/><Relationship Id="rId45" Type="http://schemas.openxmlformats.org/officeDocument/2006/relationships/tags" Target="../tags/tag2011.xml"/><Relationship Id="rId44" Type="http://schemas.openxmlformats.org/officeDocument/2006/relationships/tags" Target="../tags/tag2010.xml"/><Relationship Id="rId43" Type="http://schemas.openxmlformats.org/officeDocument/2006/relationships/tags" Target="../tags/tag2009.xml"/><Relationship Id="rId42" Type="http://schemas.openxmlformats.org/officeDocument/2006/relationships/tags" Target="../tags/tag2008.xml"/><Relationship Id="rId41" Type="http://schemas.openxmlformats.org/officeDocument/2006/relationships/tags" Target="../tags/tag2007.xml"/><Relationship Id="rId40" Type="http://schemas.openxmlformats.org/officeDocument/2006/relationships/tags" Target="../tags/tag2006.xml"/><Relationship Id="rId4" Type="http://schemas.openxmlformats.org/officeDocument/2006/relationships/tags" Target="../tags/tag1970.xml"/><Relationship Id="rId39" Type="http://schemas.openxmlformats.org/officeDocument/2006/relationships/tags" Target="../tags/tag2005.xml"/><Relationship Id="rId38" Type="http://schemas.openxmlformats.org/officeDocument/2006/relationships/tags" Target="../tags/tag2004.xml"/><Relationship Id="rId37" Type="http://schemas.openxmlformats.org/officeDocument/2006/relationships/tags" Target="../tags/tag2003.xml"/><Relationship Id="rId36" Type="http://schemas.openxmlformats.org/officeDocument/2006/relationships/tags" Target="../tags/tag2002.xml"/><Relationship Id="rId35" Type="http://schemas.openxmlformats.org/officeDocument/2006/relationships/tags" Target="../tags/tag2001.xml"/><Relationship Id="rId34" Type="http://schemas.openxmlformats.org/officeDocument/2006/relationships/tags" Target="../tags/tag2000.xml"/><Relationship Id="rId33" Type="http://schemas.openxmlformats.org/officeDocument/2006/relationships/tags" Target="../tags/tag1999.xml"/><Relationship Id="rId32" Type="http://schemas.openxmlformats.org/officeDocument/2006/relationships/tags" Target="../tags/tag1998.xml"/><Relationship Id="rId31" Type="http://schemas.openxmlformats.org/officeDocument/2006/relationships/tags" Target="../tags/tag1997.xml"/><Relationship Id="rId30" Type="http://schemas.openxmlformats.org/officeDocument/2006/relationships/tags" Target="../tags/tag1996.xml"/><Relationship Id="rId3" Type="http://schemas.openxmlformats.org/officeDocument/2006/relationships/tags" Target="../tags/tag1969.xml"/><Relationship Id="rId29" Type="http://schemas.openxmlformats.org/officeDocument/2006/relationships/tags" Target="../tags/tag1995.xml"/><Relationship Id="rId28" Type="http://schemas.openxmlformats.org/officeDocument/2006/relationships/tags" Target="../tags/tag1994.xml"/><Relationship Id="rId27" Type="http://schemas.openxmlformats.org/officeDocument/2006/relationships/tags" Target="../tags/tag1993.xml"/><Relationship Id="rId26" Type="http://schemas.openxmlformats.org/officeDocument/2006/relationships/tags" Target="../tags/tag1992.xml"/><Relationship Id="rId25" Type="http://schemas.openxmlformats.org/officeDocument/2006/relationships/tags" Target="../tags/tag1991.xml"/><Relationship Id="rId24" Type="http://schemas.openxmlformats.org/officeDocument/2006/relationships/tags" Target="../tags/tag1990.xml"/><Relationship Id="rId23" Type="http://schemas.openxmlformats.org/officeDocument/2006/relationships/tags" Target="../tags/tag1989.xml"/><Relationship Id="rId22" Type="http://schemas.openxmlformats.org/officeDocument/2006/relationships/tags" Target="../tags/tag1988.xml"/><Relationship Id="rId21" Type="http://schemas.openxmlformats.org/officeDocument/2006/relationships/tags" Target="../tags/tag1987.xml"/><Relationship Id="rId20" Type="http://schemas.openxmlformats.org/officeDocument/2006/relationships/tags" Target="../tags/tag1986.xml"/><Relationship Id="rId2" Type="http://schemas.openxmlformats.org/officeDocument/2006/relationships/tags" Target="../tags/tag1968.xml"/><Relationship Id="rId19" Type="http://schemas.openxmlformats.org/officeDocument/2006/relationships/tags" Target="../tags/tag1985.xml"/><Relationship Id="rId18" Type="http://schemas.openxmlformats.org/officeDocument/2006/relationships/tags" Target="../tags/tag1984.xml"/><Relationship Id="rId17" Type="http://schemas.openxmlformats.org/officeDocument/2006/relationships/tags" Target="../tags/tag1983.xml"/><Relationship Id="rId16" Type="http://schemas.openxmlformats.org/officeDocument/2006/relationships/tags" Target="../tags/tag1982.xml"/><Relationship Id="rId15" Type="http://schemas.openxmlformats.org/officeDocument/2006/relationships/tags" Target="../tags/tag1981.xml"/><Relationship Id="rId14" Type="http://schemas.openxmlformats.org/officeDocument/2006/relationships/tags" Target="../tags/tag1980.xml"/><Relationship Id="rId13" Type="http://schemas.openxmlformats.org/officeDocument/2006/relationships/tags" Target="../tags/tag1979.xml"/><Relationship Id="rId12" Type="http://schemas.openxmlformats.org/officeDocument/2006/relationships/tags" Target="../tags/tag1978.xml"/><Relationship Id="rId11" Type="http://schemas.openxmlformats.org/officeDocument/2006/relationships/tags" Target="../tags/tag1977.xml"/><Relationship Id="rId10" Type="http://schemas.openxmlformats.org/officeDocument/2006/relationships/tags" Target="../tags/tag1976.xml"/><Relationship Id="rId1" Type="http://schemas.openxmlformats.org/officeDocument/2006/relationships/slide" Target="slide81.xml"/></Relationships>
</file>

<file path=ppt/slides/_rels/slide79.xml.rels><?xml version="1.0" encoding="UTF-8" standalone="yes"?>
<Relationships xmlns="http://schemas.openxmlformats.org/package/2006/relationships"><Relationship Id="rId9" Type="http://schemas.openxmlformats.org/officeDocument/2006/relationships/tags" Target="../tags/tag2028.xml"/><Relationship Id="rId8" Type="http://schemas.openxmlformats.org/officeDocument/2006/relationships/tags" Target="../tags/tag2027.xml"/><Relationship Id="rId7" Type="http://schemas.openxmlformats.org/officeDocument/2006/relationships/tags" Target="../tags/tag2026.xml"/><Relationship Id="rId6" Type="http://schemas.openxmlformats.org/officeDocument/2006/relationships/tags" Target="../tags/tag2025.xml"/><Relationship Id="rId58" Type="http://schemas.openxmlformats.org/officeDocument/2006/relationships/slideLayout" Target="../slideLayouts/slideLayout7.xml"/><Relationship Id="rId57" Type="http://schemas.openxmlformats.org/officeDocument/2006/relationships/tags" Target="../tags/tag2076.xml"/><Relationship Id="rId56" Type="http://schemas.openxmlformats.org/officeDocument/2006/relationships/tags" Target="../tags/tag2075.xml"/><Relationship Id="rId55" Type="http://schemas.openxmlformats.org/officeDocument/2006/relationships/tags" Target="../tags/tag2074.xml"/><Relationship Id="rId54" Type="http://schemas.openxmlformats.org/officeDocument/2006/relationships/tags" Target="../tags/tag2073.xml"/><Relationship Id="rId53" Type="http://schemas.openxmlformats.org/officeDocument/2006/relationships/tags" Target="../tags/tag2072.xml"/><Relationship Id="rId52" Type="http://schemas.openxmlformats.org/officeDocument/2006/relationships/tags" Target="../tags/tag2071.xml"/><Relationship Id="rId51" Type="http://schemas.openxmlformats.org/officeDocument/2006/relationships/tags" Target="../tags/tag2070.xml"/><Relationship Id="rId50" Type="http://schemas.openxmlformats.org/officeDocument/2006/relationships/tags" Target="../tags/tag2069.xml"/><Relationship Id="rId5" Type="http://schemas.openxmlformats.org/officeDocument/2006/relationships/tags" Target="../tags/tag2024.xml"/><Relationship Id="rId49" Type="http://schemas.openxmlformats.org/officeDocument/2006/relationships/tags" Target="../tags/tag2068.xml"/><Relationship Id="rId48" Type="http://schemas.openxmlformats.org/officeDocument/2006/relationships/tags" Target="../tags/tag2067.xml"/><Relationship Id="rId47" Type="http://schemas.openxmlformats.org/officeDocument/2006/relationships/tags" Target="../tags/tag2066.xml"/><Relationship Id="rId46" Type="http://schemas.openxmlformats.org/officeDocument/2006/relationships/tags" Target="../tags/tag2065.xml"/><Relationship Id="rId45" Type="http://schemas.openxmlformats.org/officeDocument/2006/relationships/tags" Target="../tags/tag2064.xml"/><Relationship Id="rId44" Type="http://schemas.openxmlformats.org/officeDocument/2006/relationships/tags" Target="../tags/tag2063.xml"/><Relationship Id="rId43" Type="http://schemas.openxmlformats.org/officeDocument/2006/relationships/tags" Target="../tags/tag2062.xml"/><Relationship Id="rId42" Type="http://schemas.openxmlformats.org/officeDocument/2006/relationships/tags" Target="../tags/tag2061.xml"/><Relationship Id="rId41" Type="http://schemas.openxmlformats.org/officeDocument/2006/relationships/tags" Target="../tags/tag2060.xml"/><Relationship Id="rId40" Type="http://schemas.openxmlformats.org/officeDocument/2006/relationships/tags" Target="../tags/tag2059.xml"/><Relationship Id="rId4" Type="http://schemas.openxmlformats.org/officeDocument/2006/relationships/tags" Target="../tags/tag2023.xml"/><Relationship Id="rId39" Type="http://schemas.openxmlformats.org/officeDocument/2006/relationships/tags" Target="../tags/tag2058.xml"/><Relationship Id="rId38" Type="http://schemas.openxmlformats.org/officeDocument/2006/relationships/tags" Target="../tags/tag2057.xml"/><Relationship Id="rId37" Type="http://schemas.openxmlformats.org/officeDocument/2006/relationships/tags" Target="../tags/tag2056.xml"/><Relationship Id="rId36" Type="http://schemas.openxmlformats.org/officeDocument/2006/relationships/tags" Target="../tags/tag2055.xml"/><Relationship Id="rId35" Type="http://schemas.openxmlformats.org/officeDocument/2006/relationships/tags" Target="../tags/tag2054.xml"/><Relationship Id="rId34" Type="http://schemas.openxmlformats.org/officeDocument/2006/relationships/tags" Target="../tags/tag2053.xml"/><Relationship Id="rId33" Type="http://schemas.openxmlformats.org/officeDocument/2006/relationships/tags" Target="../tags/tag2052.xml"/><Relationship Id="rId32" Type="http://schemas.openxmlformats.org/officeDocument/2006/relationships/tags" Target="../tags/tag2051.xml"/><Relationship Id="rId31" Type="http://schemas.openxmlformats.org/officeDocument/2006/relationships/tags" Target="../tags/tag2050.xml"/><Relationship Id="rId30" Type="http://schemas.openxmlformats.org/officeDocument/2006/relationships/tags" Target="../tags/tag2049.xml"/><Relationship Id="rId3" Type="http://schemas.openxmlformats.org/officeDocument/2006/relationships/tags" Target="../tags/tag2022.xml"/><Relationship Id="rId29" Type="http://schemas.openxmlformats.org/officeDocument/2006/relationships/tags" Target="../tags/tag2048.xml"/><Relationship Id="rId28" Type="http://schemas.openxmlformats.org/officeDocument/2006/relationships/tags" Target="../tags/tag2047.xml"/><Relationship Id="rId27" Type="http://schemas.openxmlformats.org/officeDocument/2006/relationships/tags" Target="../tags/tag2046.xml"/><Relationship Id="rId26" Type="http://schemas.openxmlformats.org/officeDocument/2006/relationships/tags" Target="../tags/tag2045.xml"/><Relationship Id="rId25" Type="http://schemas.openxmlformats.org/officeDocument/2006/relationships/tags" Target="../tags/tag2044.xml"/><Relationship Id="rId24" Type="http://schemas.openxmlformats.org/officeDocument/2006/relationships/tags" Target="../tags/tag2043.xml"/><Relationship Id="rId23" Type="http://schemas.openxmlformats.org/officeDocument/2006/relationships/tags" Target="../tags/tag2042.xml"/><Relationship Id="rId22" Type="http://schemas.openxmlformats.org/officeDocument/2006/relationships/tags" Target="../tags/tag2041.xml"/><Relationship Id="rId21" Type="http://schemas.openxmlformats.org/officeDocument/2006/relationships/tags" Target="../tags/tag2040.xml"/><Relationship Id="rId20" Type="http://schemas.openxmlformats.org/officeDocument/2006/relationships/tags" Target="../tags/tag2039.xml"/><Relationship Id="rId2" Type="http://schemas.openxmlformats.org/officeDocument/2006/relationships/tags" Target="../tags/tag2021.xml"/><Relationship Id="rId19" Type="http://schemas.openxmlformats.org/officeDocument/2006/relationships/tags" Target="../tags/tag2038.xml"/><Relationship Id="rId18" Type="http://schemas.openxmlformats.org/officeDocument/2006/relationships/tags" Target="../tags/tag2037.xml"/><Relationship Id="rId17" Type="http://schemas.openxmlformats.org/officeDocument/2006/relationships/tags" Target="../tags/tag2036.xml"/><Relationship Id="rId16" Type="http://schemas.openxmlformats.org/officeDocument/2006/relationships/tags" Target="../tags/tag2035.xml"/><Relationship Id="rId15" Type="http://schemas.openxmlformats.org/officeDocument/2006/relationships/tags" Target="../tags/tag2034.xml"/><Relationship Id="rId14" Type="http://schemas.openxmlformats.org/officeDocument/2006/relationships/tags" Target="../tags/tag2033.xml"/><Relationship Id="rId13" Type="http://schemas.openxmlformats.org/officeDocument/2006/relationships/tags" Target="../tags/tag2032.xml"/><Relationship Id="rId12" Type="http://schemas.openxmlformats.org/officeDocument/2006/relationships/tags" Target="../tags/tag2031.xml"/><Relationship Id="rId11" Type="http://schemas.openxmlformats.org/officeDocument/2006/relationships/tags" Target="../tags/tag2030.xml"/><Relationship Id="rId10" Type="http://schemas.openxmlformats.org/officeDocument/2006/relationships/tags" Target="../tags/tag2029.xml"/><Relationship Id="rId1" Type="http://schemas.openxmlformats.org/officeDocument/2006/relationships/slide" Target="slide81.xml"/></Relationships>
</file>

<file path=ppt/slides/_rels/slide8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0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078.xml"/><Relationship Id="rId2" Type="http://schemas.openxmlformats.org/officeDocument/2006/relationships/tags" Target="../tags/tag2077.xml"/><Relationship Id="rId1" Type="http://schemas.openxmlformats.org/officeDocument/2006/relationships/slide" Target="slide75.xml"/></Relationships>
</file>

<file path=ppt/slides/_rels/slide81.xml.rels><?xml version="1.0" encoding="UTF-8" standalone="yes"?>
<Relationships xmlns="http://schemas.openxmlformats.org/package/2006/relationships"><Relationship Id="rId9" Type="http://schemas.openxmlformats.org/officeDocument/2006/relationships/tags" Target="../tags/tag2085.xml"/><Relationship Id="rId8" Type="http://schemas.openxmlformats.org/officeDocument/2006/relationships/tags" Target="../tags/tag2084.xml"/><Relationship Id="rId7" Type="http://schemas.openxmlformats.org/officeDocument/2006/relationships/tags" Target="../tags/tag2083.xml"/><Relationship Id="rId6" Type="http://schemas.openxmlformats.org/officeDocument/2006/relationships/tags" Target="../tags/tag2082.xml"/><Relationship Id="rId5" Type="http://schemas.openxmlformats.org/officeDocument/2006/relationships/tags" Target="../tags/tag2081.xml"/><Relationship Id="rId48" Type="http://schemas.openxmlformats.org/officeDocument/2006/relationships/notesSlide" Target="../notesSlides/notesSlide61.xml"/><Relationship Id="rId47" Type="http://schemas.openxmlformats.org/officeDocument/2006/relationships/slideLayout" Target="../slideLayouts/slideLayout7.xml"/><Relationship Id="rId46" Type="http://schemas.openxmlformats.org/officeDocument/2006/relationships/tags" Target="../tags/tag2122.xml"/><Relationship Id="rId45" Type="http://schemas.openxmlformats.org/officeDocument/2006/relationships/tags" Target="../tags/tag2121.xml"/><Relationship Id="rId44" Type="http://schemas.openxmlformats.org/officeDocument/2006/relationships/tags" Target="../tags/tag2120.xml"/><Relationship Id="rId43" Type="http://schemas.openxmlformats.org/officeDocument/2006/relationships/tags" Target="../tags/tag2119.xml"/><Relationship Id="rId42" Type="http://schemas.openxmlformats.org/officeDocument/2006/relationships/tags" Target="../tags/tag2118.xml"/><Relationship Id="rId41" Type="http://schemas.openxmlformats.org/officeDocument/2006/relationships/tags" Target="../tags/tag2117.xml"/><Relationship Id="rId40" Type="http://schemas.openxmlformats.org/officeDocument/2006/relationships/tags" Target="../tags/tag2116.xml"/><Relationship Id="rId4" Type="http://schemas.openxmlformats.org/officeDocument/2006/relationships/tags" Target="../tags/tag2080.xml"/><Relationship Id="rId39" Type="http://schemas.openxmlformats.org/officeDocument/2006/relationships/tags" Target="../tags/tag2115.xml"/><Relationship Id="rId38" Type="http://schemas.openxmlformats.org/officeDocument/2006/relationships/tags" Target="../tags/tag2114.xml"/><Relationship Id="rId37" Type="http://schemas.openxmlformats.org/officeDocument/2006/relationships/tags" Target="../tags/tag2113.xml"/><Relationship Id="rId36" Type="http://schemas.openxmlformats.org/officeDocument/2006/relationships/tags" Target="../tags/tag2112.xml"/><Relationship Id="rId35" Type="http://schemas.openxmlformats.org/officeDocument/2006/relationships/tags" Target="../tags/tag2111.xml"/><Relationship Id="rId34" Type="http://schemas.openxmlformats.org/officeDocument/2006/relationships/tags" Target="../tags/tag2110.xml"/><Relationship Id="rId33" Type="http://schemas.openxmlformats.org/officeDocument/2006/relationships/tags" Target="../tags/tag2109.xml"/><Relationship Id="rId32" Type="http://schemas.openxmlformats.org/officeDocument/2006/relationships/tags" Target="../tags/tag2108.xml"/><Relationship Id="rId31" Type="http://schemas.openxmlformats.org/officeDocument/2006/relationships/tags" Target="../tags/tag2107.xml"/><Relationship Id="rId30" Type="http://schemas.openxmlformats.org/officeDocument/2006/relationships/tags" Target="../tags/tag2106.xml"/><Relationship Id="rId3" Type="http://schemas.openxmlformats.org/officeDocument/2006/relationships/tags" Target="../tags/tag2079.xml"/><Relationship Id="rId29" Type="http://schemas.openxmlformats.org/officeDocument/2006/relationships/tags" Target="../tags/tag2105.xml"/><Relationship Id="rId28" Type="http://schemas.openxmlformats.org/officeDocument/2006/relationships/tags" Target="../tags/tag2104.xml"/><Relationship Id="rId27" Type="http://schemas.openxmlformats.org/officeDocument/2006/relationships/tags" Target="../tags/tag2103.xml"/><Relationship Id="rId26" Type="http://schemas.openxmlformats.org/officeDocument/2006/relationships/tags" Target="../tags/tag2102.xml"/><Relationship Id="rId25" Type="http://schemas.openxmlformats.org/officeDocument/2006/relationships/tags" Target="../tags/tag2101.xml"/><Relationship Id="rId24" Type="http://schemas.openxmlformats.org/officeDocument/2006/relationships/tags" Target="../tags/tag2100.xml"/><Relationship Id="rId23" Type="http://schemas.openxmlformats.org/officeDocument/2006/relationships/tags" Target="../tags/tag2099.xml"/><Relationship Id="rId22" Type="http://schemas.openxmlformats.org/officeDocument/2006/relationships/tags" Target="../tags/tag2098.xml"/><Relationship Id="rId21" Type="http://schemas.openxmlformats.org/officeDocument/2006/relationships/tags" Target="../tags/tag2097.xml"/><Relationship Id="rId20" Type="http://schemas.openxmlformats.org/officeDocument/2006/relationships/tags" Target="../tags/tag2096.xml"/><Relationship Id="rId2" Type="http://schemas.openxmlformats.org/officeDocument/2006/relationships/slide" Target="slide78.xml"/><Relationship Id="rId19" Type="http://schemas.openxmlformats.org/officeDocument/2006/relationships/tags" Target="../tags/tag2095.xml"/><Relationship Id="rId18" Type="http://schemas.openxmlformats.org/officeDocument/2006/relationships/tags" Target="../tags/tag2094.xml"/><Relationship Id="rId17" Type="http://schemas.openxmlformats.org/officeDocument/2006/relationships/tags" Target="../tags/tag2093.xml"/><Relationship Id="rId16" Type="http://schemas.openxmlformats.org/officeDocument/2006/relationships/tags" Target="../tags/tag2092.xml"/><Relationship Id="rId15" Type="http://schemas.openxmlformats.org/officeDocument/2006/relationships/tags" Target="../tags/tag2091.xml"/><Relationship Id="rId14" Type="http://schemas.openxmlformats.org/officeDocument/2006/relationships/tags" Target="../tags/tag2090.xml"/><Relationship Id="rId13" Type="http://schemas.openxmlformats.org/officeDocument/2006/relationships/tags" Target="../tags/tag2089.xml"/><Relationship Id="rId12" Type="http://schemas.openxmlformats.org/officeDocument/2006/relationships/tags" Target="../tags/tag2088.xml"/><Relationship Id="rId11" Type="http://schemas.openxmlformats.org/officeDocument/2006/relationships/tags" Target="../tags/tag2087.xml"/><Relationship Id="rId10" Type="http://schemas.openxmlformats.org/officeDocument/2006/relationships/tags" Target="../tags/tag2086.xml"/><Relationship Id="rId1" Type="http://schemas.openxmlformats.org/officeDocument/2006/relationships/slide" Target="slide79.xml"/></Relationships>
</file>

<file path=ppt/slides/_rels/slide82.xml.rels><?xml version="1.0" encoding="UTF-8" standalone="yes"?>
<Relationships xmlns="http://schemas.openxmlformats.org/package/2006/relationships"><Relationship Id="rId9" Type="http://schemas.openxmlformats.org/officeDocument/2006/relationships/tags" Target="../tags/tag2131.xml"/><Relationship Id="rId8" Type="http://schemas.openxmlformats.org/officeDocument/2006/relationships/tags" Target="../tags/tag2130.xml"/><Relationship Id="rId7" Type="http://schemas.openxmlformats.org/officeDocument/2006/relationships/tags" Target="../tags/tag2129.xml"/><Relationship Id="rId6" Type="http://schemas.openxmlformats.org/officeDocument/2006/relationships/tags" Target="../tags/tag2128.xml"/><Relationship Id="rId5" Type="http://schemas.openxmlformats.org/officeDocument/2006/relationships/tags" Target="../tags/tag2127.xml"/><Relationship Id="rId45" Type="http://schemas.openxmlformats.org/officeDocument/2006/relationships/notesSlide" Target="../notesSlides/notesSlide62.xml"/><Relationship Id="rId44" Type="http://schemas.openxmlformats.org/officeDocument/2006/relationships/slideLayout" Target="../slideLayouts/slideLayout7.xml"/><Relationship Id="rId43" Type="http://schemas.openxmlformats.org/officeDocument/2006/relationships/tags" Target="../tags/tag2165.xml"/><Relationship Id="rId42" Type="http://schemas.openxmlformats.org/officeDocument/2006/relationships/tags" Target="../tags/tag2164.xml"/><Relationship Id="rId41" Type="http://schemas.openxmlformats.org/officeDocument/2006/relationships/tags" Target="../tags/tag2163.xml"/><Relationship Id="rId40" Type="http://schemas.openxmlformats.org/officeDocument/2006/relationships/tags" Target="../tags/tag2162.xml"/><Relationship Id="rId4" Type="http://schemas.openxmlformats.org/officeDocument/2006/relationships/tags" Target="../tags/tag2126.xml"/><Relationship Id="rId39" Type="http://schemas.openxmlformats.org/officeDocument/2006/relationships/tags" Target="../tags/tag2161.xml"/><Relationship Id="rId38" Type="http://schemas.openxmlformats.org/officeDocument/2006/relationships/tags" Target="../tags/tag2160.xml"/><Relationship Id="rId37" Type="http://schemas.openxmlformats.org/officeDocument/2006/relationships/tags" Target="../tags/tag2159.xml"/><Relationship Id="rId36" Type="http://schemas.openxmlformats.org/officeDocument/2006/relationships/tags" Target="../tags/tag2158.xml"/><Relationship Id="rId35" Type="http://schemas.openxmlformats.org/officeDocument/2006/relationships/tags" Target="../tags/tag2157.xml"/><Relationship Id="rId34" Type="http://schemas.openxmlformats.org/officeDocument/2006/relationships/tags" Target="../tags/tag2156.xml"/><Relationship Id="rId33" Type="http://schemas.openxmlformats.org/officeDocument/2006/relationships/tags" Target="../tags/tag2155.xml"/><Relationship Id="rId32" Type="http://schemas.openxmlformats.org/officeDocument/2006/relationships/tags" Target="../tags/tag2154.xml"/><Relationship Id="rId31" Type="http://schemas.openxmlformats.org/officeDocument/2006/relationships/tags" Target="../tags/tag2153.xml"/><Relationship Id="rId30" Type="http://schemas.openxmlformats.org/officeDocument/2006/relationships/tags" Target="../tags/tag2152.xml"/><Relationship Id="rId3" Type="http://schemas.openxmlformats.org/officeDocument/2006/relationships/tags" Target="../tags/tag2125.xml"/><Relationship Id="rId29" Type="http://schemas.openxmlformats.org/officeDocument/2006/relationships/tags" Target="../tags/tag2151.xml"/><Relationship Id="rId28" Type="http://schemas.openxmlformats.org/officeDocument/2006/relationships/tags" Target="../tags/tag2150.xml"/><Relationship Id="rId27" Type="http://schemas.openxmlformats.org/officeDocument/2006/relationships/tags" Target="../tags/tag2149.xml"/><Relationship Id="rId26" Type="http://schemas.openxmlformats.org/officeDocument/2006/relationships/tags" Target="../tags/tag2148.xml"/><Relationship Id="rId25" Type="http://schemas.openxmlformats.org/officeDocument/2006/relationships/tags" Target="../tags/tag2147.xml"/><Relationship Id="rId24" Type="http://schemas.openxmlformats.org/officeDocument/2006/relationships/tags" Target="../tags/tag2146.xml"/><Relationship Id="rId23" Type="http://schemas.openxmlformats.org/officeDocument/2006/relationships/tags" Target="../tags/tag2145.xml"/><Relationship Id="rId22" Type="http://schemas.openxmlformats.org/officeDocument/2006/relationships/tags" Target="../tags/tag2144.xml"/><Relationship Id="rId21" Type="http://schemas.openxmlformats.org/officeDocument/2006/relationships/tags" Target="../tags/tag2143.xml"/><Relationship Id="rId20" Type="http://schemas.openxmlformats.org/officeDocument/2006/relationships/tags" Target="../tags/tag2142.xml"/><Relationship Id="rId2" Type="http://schemas.openxmlformats.org/officeDocument/2006/relationships/tags" Target="../tags/tag2124.xml"/><Relationship Id="rId19" Type="http://schemas.openxmlformats.org/officeDocument/2006/relationships/tags" Target="../tags/tag2141.xml"/><Relationship Id="rId18" Type="http://schemas.openxmlformats.org/officeDocument/2006/relationships/tags" Target="../tags/tag2140.xml"/><Relationship Id="rId17" Type="http://schemas.openxmlformats.org/officeDocument/2006/relationships/tags" Target="../tags/tag2139.xml"/><Relationship Id="rId16" Type="http://schemas.openxmlformats.org/officeDocument/2006/relationships/tags" Target="../tags/tag2138.xml"/><Relationship Id="rId15" Type="http://schemas.openxmlformats.org/officeDocument/2006/relationships/tags" Target="../tags/tag2137.xml"/><Relationship Id="rId14" Type="http://schemas.openxmlformats.org/officeDocument/2006/relationships/tags" Target="../tags/tag2136.xml"/><Relationship Id="rId13" Type="http://schemas.openxmlformats.org/officeDocument/2006/relationships/tags" Target="../tags/tag2135.xml"/><Relationship Id="rId12" Type="http://schemas.openxmlformats.org/officeDocument/2006/relationships/tags" Target="../tags/tag2134.xml"/><Relationship Id="rId11" Type="http://schemas.openxmlformats.org/officeDocument/2006/relationships/tags" Target="../tags/tag2133.xml"/><Relationship Id="rId10" Type="http://schemas.openxmlformats.org/officeDocument/2006/relationships/tags" Target="../tags/tag2132.xml"/><Relationship Id="rId1" Type="http://schemas.openxmlformats.org/officeDocument/2006/relationships/tags" Target="../tags/tag2123.xml"/></Relationships>
</file>

<file path=ppt/slides/_rels/slide83.xml.rels><?xml version="1.0" encoding="UTF-8" standalone="yes"?>
<Relationships xmlns="http://schemas.openxmlformats.org/package/2006/relationships"><Relationship Id="rId9" Type="http://schemas.openxmlformats.org/officeDocument/2006/relationships/tags" Target="../tags/tag2174.xml"/><Relationship Id="rId89" Type="http://schemas.openxmlformats.org/officeDocument/2006/relationships/notesSlide" Target="../notesSlides/notesSlide63.xml"/><Relationship Id="rId88" Type="http://schemas.openxmlformats.org/officeDocument/2006/relationships/slideLayout" Target="../slideLayouts/slideLayout7.xml"/><Relationship Id="rId87" Type="http://schemas.openxmlformats.org/officeDocument/2006/relationships/tags" Target="../tags/tag2252.xml"/><Relationship Id="rId86" Type="http://schemas.openxmlformats.org/officeDocument/2006/relationships/tags" Target="../tags/tag2251.xml"/><Relationship Id="rId85" Type="http://schemas.openxmlformats.org/officeDocument/2006/relationships/tags" Target="../tags/tag2250.xml"/><Relationship Id="rId84" Type="http://schemas.openxmlformats.org/officeDocument/2006/relationships/tags" Target="../tags/tag2249.xml"/><Relationship Id="rId83" Type="http://schemas.openxmlformats.org/officeDocument/2006/relationships/tags" Target="../tags/tag2248.xml"/><Relationship Id="rId82" Type="http://schemas.openxmlformats.org/officeDocument/2006/relationships/tags" Target="../tags/tag2247.xml"/><Relationship Id="rId81" Type="http://schemas.openxmlformats.org/officeDocument/2006/relationships/tags" Target="../tags/tag2246.xml"/><Relationship Id="rId80" Type="http://schemas.openxmlformats.org/officeDocument/2006/relationships/tags" Target="../tags/tag2245.xml"/><Relationship Id="rId8" Type="http://schemas.openxmlformats.org/officeDocument/2006/relationships/tags" Target="../tags/tag2173.xml"/><Relationship Id="rId79" Type="http://schemas.openxmlformats.org/officeDocument/2006/relationships/tags" Target="../tags/tag2244.xml"/><Relationship Id="rId78" Type="http://schemas.openxmlformats.org/officeDocument/2006/relationships/tags" Target="../tags/tag2243.xml"/><Relationship Id="rId77" Type="http://schemas.openxmlformats.org/officeDocument/2006/relationships/tags" Target="../tags/tag2242.xml"/><Relationship Id="rId76" Type="http://schemas.openxmlformats.org/officeDocument/2006/relationships/tags" Target="../tags/tag2241.xml"/><Relationship Id="rId75" Type="http://schemas.openxmlformats.org/officeDocument/2006/relationships/tags" Target="../tags/tag2240.xml"/><Relationship Id="rId74" Type="http://schemas.openxmlformats.org/officeDocument/2006/relationships/tags" Target="../tags/tag2239.xml"/><Relationship Id="rId73" Type="http://schemas.openxmlformats.org/officeDocument/2006/relationships/tags" Target="../tags/tag2238.xml"/><Relationship Id="rId72" Type="http://schemas.openxmlformats.org/officeDocument/2006/relationships/tags" Target="../tags/tag2237.xml"/><Relationship Id="rId71" Type="http://schemas.openxmlformats.org/officeDocument/2006/relationships/tags" Target="../tags/tag2236.xml"/><Relationship Id="rId70" Type="http://schemas.openxmlformats.org/officeDocument/2006/relationships/tags" Target="../tags/tag2235.xml"/><Relationship Id="rId7" Type="http://schemas.openxmlformats.org/officeDocument/2006/relationships/tags" Target="../tags/tag2172.xml"/><Relationship Id="rId69" Type="http://schemas.openxmlformats.org/officeDocument/2006/relationships/tags" Target="../tags/tag2234.xml"/><Relationship Id="rId68" Type="http://schemas.openxmlformats.org/officeDocument/2006/relationships/tags" Target="../tags/tag2233.xml"/><Relationship Id="rId67" Type="http://schemas.openxmlformats.org/officeDocument/2006/relationships/tags" Target="../tags/tag2232.xml"/><Relationship Id="rId66" Type="http://schemas.openxmlformats.org/officeDocument/2006/relationships/tags" Target="../tags/tag2231.xml"/><Relationship Id="rId65" Type="http://schemas.openxmlformats.org/officeDocument/2006/relationships/tags" Target="../tags/tag2230.xml"/><Relationship Id="rId64" Type="http://schemas.openxmlformats.org/officeDocument/2006/relationships/tags" Target="../tags/tag2229.xml"/><Relationship Id="rId63" Type="http://schemas.openxmlformats.org/officeDocument/2006/relationships/tags" Target="../tags/tag2228.xml"/><Relationship Id="rId62" Type="http://schemas.openxmlformats.org/officeDocument/2006/relationships/tags" Target="../tags/tag2227.xml"/><Relationship Id="rId61" Type="http://schemas.openxmlformats.org/officeDocument/2006/relationships/tags" Target="../tags/tag2226.xml"/><Relationship Id="rId60" Type="http://schemas.openxmlformats.org/officeDocument/2006/relationships/tags" Target="../tags/tag2225.xml"/><Relationship Id="rId6" Type="http://schemas.openxmlformats.org/officeDocument/2006/relationships/tags" Target="../tags/tag2171.xml"/><Relationship Id="rId59" Type="http://schemas.openxmlformats.org/officeDocument/2006/relationships/tags" Target="../tags/tag2224.xml"/><Relationship Id="rId58" Type="http://schemas.openxmlformats.org/officeDocument/2006/relationships/tags" Target="../tags/tag2223.xml"/><Relationship Id="rId57" Type="http://schemas.openxmlformats.org/officeDocument/2006/relationships/tags" Target="../tags/tag2222.xml"/><Relationship Id="rId56" Type="http://schemas.openxmlformats.org/officeDocument/2006/relationships/tags" Target="../tags/tag2221.xml"/><Relationship Id="rId55" Type="http://schemas.openxmlformats.org/officeDocument/2006/relationships/tags" Target="../tags/tag2220.xml"/><Relationship Id="rId54" Type="http://schemas.openxmlformats.org/officeDocument/2006/relationships/tags" Target="../tags/tag2219.xml"/><Relationship Id="rId53" Type="http://schemas.openxmlformats.org/officeDocument/2006/relationships/tags" Target="../tags/tag2218.xml"/><Relationship Id="rId52" Type="http://schemas.openxmlformats.org/officeDocument/2006/relationships/tags" Target="../tags/tag2217.xml"/><Relationship Id="rId51" Type="http://schemas.openxmlformats.org/officeDocument/2006/relationships/tags" Target="../tags/tag2216.xml"/><Relationship Id="rId50" Type="http://schemas.openxmlformats.org/officeDocument/2006/relationships/tags" Target="../tags/tag2215.xml"/><Relationship Id="rId5" Type="http://schemas.openxmlformats.org/officeDocument/2006/relationships/tags" Target="../tags/tag2170.xml"/><Relationship Id="rId49" Type="http://schemas.openxmlformats.org/officeDocument/2006/relationships/tags" Target="../tags/tag2214.xml"/><Relationship Id="rId48" Type="http://schemas.openxmlformats.org/officeDocument/2006/relationships/tags" Target="../tags/tag2213.xml"/><Relationship Id="rId47" Type="http://schemas.openxmlformats.org/officeDocument/2006/relationships/tags" Target="../tags/tag2212.xml"/><Relationship Id="rId46" Type="http://schemas.openxmlformats.org/officeDocument/2006/relationships/tags" Target="../tags/tag2211.xml"/><Relationship Id="rId45" Type="http://schemas.openxmlformats.org/officeDocument/2006/relationships/tags" Target="../tags/tag2210.xml"/><Relationship Id="rId44" Type="http://schemas.openxmlformats.org/officeDocument/2006/relationships/tags" Target="../tags/tag2209.xml"/><Relationship Id="rId43" Type="http://schemas.openxmlformats.org/officeDocument/2006/relationships/tags" Target="../tags/tag2208.xml"/><Relationship Id="rId42" Type="http://schemas.openxmlformats.org/officeDocument/2006/relationships/tags" Target="../tags/tag2207.xml"/><Relationship Id="rId41" Type="http://schemas.openxmlformats.org/officeDocument/2006/relationships/tags" Target="../tags/tag2206.xml"/><Relationship Id="rId40" Type="http://schemas.openxmlformats.org/officeDocument/2006/relationships/tags" Target="../tags/tag2205.xml"/><Relationship Id="rId4" Type="http://schemas.openxmlformats.org/officeDocument/2006/relationships/tags" Target="../tags/tag2169.xml"/><Relationship Id="rId39" Type="http://schemas.openxmlformats.org/officeDocument/2006/relationships/tags" Target="../tags/tag2204.xml"/><Relationship Id="rId38" Type="http://schemas.openxmlformats.org/officeDocument/2006/relationships/tags" Target="../tags/tag2203.xml"/><Relationship Id="rId37" Type="http://schemas.openxmlformats.org/officeDocument/2006/relationships/tags" Target="../tags/tag2202.xml"/><Relationship Id="rId36" Type="http://schemas.openxmlformats.org/officeDocument/2006/relationships/tags" Target="../tags/tag2201.xml"/><Relationship Id="rId35" Type="http://schemas.openxmlformats.org/officeDocument/2006/relationships/tags" Target="../tags/tag2200.xml"/><Relationship Id="rId34" Type="http://schemas.openxmlformats.org/officeDocument/2006/relationships/tags" Target="../tags/tag2199.xml"/><Relationship Id="rId33" Type="http://schemas.openxmlformats.org/officeDocument/2006/relationships/tags" Target="../tags/tag2198.xml"/><Relationship Id="rId32" Type="http://schemas.openxmlformats.org/officeDocument/2006/relationships/tags" Target="../tags/tag2197.xml"/><Relationship Id="rId31" Type="http://schemas.openxmlformats.org/officeDocument/2006/relationships/tags" Target="../tags/tag2196.xml"/><Relationship Id="rId30" Type="http://schemas.openxmlformats.org/officeDocument/2006/relationships/tags" Target="../tags/tag2195.xml"/><Relationship Id="rId3" Type="http://schemas.openxmlformats.org/officeDocument/2006/relationships/tags" Target="../tags/tag2168.xml"/><Relationship Id="rId29" Type="http://schemas.openxmlformats.org/officeDocument/2006/relationships/tags" Target="../tags/tag2194.xml"/><Relationship Id="rId28" Type="http://schemas.openxmlformats.org/officeDocument/2006/relationships/tags" Target="../tags/tag2193.xml"/><Relationship Id="rId27" Type="http://schemas.openxmlformats.org/officeDocument/2006/relationships/tags" Target="../tags/tag2192.xml"/><Relationship Id="rId26" Type="http://schemas.openxmlformats.org/officeDocument/2006/relationships/tags" Target="../tags/tag2191.xml"/><Relationship Id="rId25" Type="http://schemas.openxmlformats.org/officeDocument/2006/relationships/tags" Target="../tags/tag2190.xml"/><Relationship Id="rId24" Type="http://schemas.openxmlformats.org/officeDocument/2006/relationships/tags" Target="../tags/tag2189.xml"/><Relationship Id="rId23" Type="http://schemas.openxmlformats.org/officeDocument/2006/relationships/tags" Target="../tags/tag2188.xml"/><Relationship Id="rId22" Type="http://schemas.openxmlformats.org/officeDocument/2006/relationships/tags" Target="../tags/tag2187.xml"/><Relationship Id="rId21" Type="http://schemas.openxmlformats.org/officeDocument/2006/relationships/tags" Target="../tags/tag2186.xml"/><Relationship Id="rId20" Type="http://schemas.openxmlformats.org/officeDocument/2006/relationships/tags" Target="../tags/tag2185.xml"/><Relationship Id="rId2" Type="http://schemas.openxmlformats.org/officeDocument/2006/relationships/tags" Target="../tags/tag2167.xml"/><Relationship Id="rId19" Type="http://schemas.openxmlformats.org/officeDocument/2006/relationships/tags" Target="../tags/tag2184.xml"/><Relationship Id="rId18" Type="http://schemas.openxmlformats.org/officeDocument/2006/relationships/tags" Target="../tags/tag2183.xml"/><Relationship Id="rId17" Type="http://schemas.openxmlformats.org/officeDocument/2006/relationships/tags" Target="../tags/tag2182.xml"/><Relationship Id="rId16" Type="http://schemas.openxmlformats.org/officeDocument/2006/relationships/tags" Target="../tags/tag2181.xml"/><Relationship Id="rId15" Type="http://schemas.openxmlformats.org/officeDocument/2006/relationships/tags" Target="../tags/tag2180.xml"/><Relationship Id="rId14" Type="http://schemas.openxmlformats.org/officeDocument/2006/relationships/tags" Target="../tags/tag2179.xml"/><Relationship Id="rId13" Type="http://schemas.openxmlformats.org/officeDocument/2006/relationships/tags" Target="../tags/tag2178.xml"/><Relationship Id="rId12" Type="http://schemas.openxmlformats.org/officeDocument/2006/relationships/tags" Target="../tags/tag2177.xml"/><Relationship Id="rId11" Type="http://schemas.openxmlformats.org/officeDocument/2006/relationships/tags" Target="../tags/tag2176.xml"/><Relationship Id="rId10" Type="http://schemas.openxmlformats.org/officeDocument/2006/relationships/tags" Target="../tags/tag2175.xml"/><Relationship Id="rId1" Type="http://schemas.openxmlformats.org/officeDocument/2006/relationships/tags" Target="../tags/tag2166.xml"/></Relationships>
</file>

<file path=ppt/slides/_rels/slide84.xml.rels><?xml version="1.0" encoding="UTF-8" standalone="yes"?>
<Relationships xmlns="http://schemas.openxmlformats.org/package/2006/relationships"><Relationship Id="rId9" Type="http://schemas.openxmlformats.org/officeDocument/2006/relationships/tags" Target="../tags/tag2261.xml"/><Relationship Id="rId8" Type="http://schemas.openxmlformats.org/officeDocument/2006/relationships/tags" Target="../tags/tag2260.xml"/><Relationship Id="rId7" Type="http://schemas.openxmlformats.org/officeDocument/2006/relationships/tags" Target="../tags/tag2259.xml"/><Relationship Id="rId67" Type="http://schemas.openxmlformats.org/officeDocument/2006/relationships/notesSlide" Target="../notesSlides/notesSlide64.xml"/><Relationship Id="rId66" Type="http://schemas.openxmlformats.org/officeDocument/2006/relationships/slideLayout" Target="../slideLayouts/slideLayout7.xml"/><Relationship Id="rId65" Type="http://schemas.openxmlformats.org/officeDocument/2006/relationships/tags" Target="../tags/tag2317.xml"/><Relationship Id="rId64" Type="http://schemas.openxmlformats.org/officeDocument/2006/relationships/tags" Target="../tags/tag2316.xml"/><Relationship Id="rId63" Type="http://schemas.openxmlformats.org/officeDocument/2006/relationships/tags" Target="../tags/tag2315.xml"/><Relationship Id="rId62" Type="http://schemas.openxmlformats.org/officeDocument/2006/relationships/tags" Target="../tags/tag2314.xml"/><Relationship Id="rId61" Type="http://schemas.openxmlformats.org/officeDocument/2006/relationships/tags" Target="../tags/tag2313.xml"/><Relationship Id="rId60" Type="http://schemas.openxmlformats.org/officeDocument/2006/relationships/tags" Target="../tags/tag2312.xml"/><Relationship Id="rId6" Type="http://schemas.openxmlformats.org/officeDocument/2006/relationships/tags" Target="../tags/tag2258.xml"/><Relationship Id="rId59" Type="http://schemas.openxmlformats.org/officeDocument/2006/relationships/tags" Target="../tags/tag2311.xml"/><Relationship Id="rId58" Type="http://schemas.openxmlformats.org/officeDocument/2006/relationships/tags" Target="../tags/tag2310.xml"/><Relationship Id="rId57" Type="http://schemas.openxmlformats.org/officeDocument/2006/relationships/tags" Target="../tags/tag2309.xml"/><Relationship Id="rId56" Type="http://schemas.openxmlformats.org/officeDocument/2006/relationships/tags" Target="../tags/tag2308.xml"/><Relationship Id="rId55" Type="http://schemas.openxmlformats.org/officeDocument/2006/relationships/tags" Target="../tags/tag2307.xml"/><Relationship Id="rId54" Type="http://schemas.openxmlformats.org/officeDocument/2006/relationships/tags" Target="../tags/tag2306.xml"/><Relationship Id="rId53" Type="http://schemas.openxmlformats.org/officeDocument/2006/relationships/tags" Target="../tags/tag2305.xml"/><Relationship Id="rId52" Type="http://schemas.openxmlformats.org/officeDocument/2006/relationships/tags" Target="../tags/tag2304.xml"/><Relationship Id="rId51" Type="http://schemas.openxmlformats.org/officeDocument/2006/relationships/tags" Target="../tags/tag2303.xml"/><Relationship Id="rId50" Type="http://schemas.openxmlformats.org/officeDocument/2006/relationships/tags" Target="../tags/tag2302.xml"/><Relationship Id="rId5" Type="http://schemas.openxmlformats.org/officeDocument/2006/relationships/tags" Target="../tags/tag2257.xml"/><Relationship Id="rId49" Type="http://schemas.openxmlformats.org/officeDocument/2006/relationships/tags" Target="../tags/tag2301.xml"/><Relationship Id="rId48" Type="http://schemas.openxmlformats.org/officeDocument/2006/relationships/tags" Target="../tags/tag2300.xml"/><Relationship Id="rId47" Type="http://schemas.openxmlformats.org/officeDocument/2006/relationships/tags" Target="../tags/tag2299.xml"/><Relationship Id="rId46" Type="http://schemas.openxmlformats.org/officeDocument/2006/relationships/tags" Target="../tags/tag2298.xml"/><Relationship Id="rId45" Type="http://schemas.openxmlformats.org/officeDocument/2006/relationships/tags" Target="../tags/tag2297.xml"/><Relationship Id="rId44" Type="http://schemas.openxmlformats.org/officeDocument/2006/relationships/tags" Target="../tags/tag2296.xml"/><Relationship Id="rId43" Type="http://schemas.openxmlformats.org/officeDocument/2006/relationships/tags" Target="../tags/tag2295.xml"/><Relationship Id="rId42" Type="http://schemas.openxmlformats.org/officeDocument/2006/relationships/tags" Target="../tags/tag2294.xml"/><Relationship Id="rId41" Type="http://schemas.openxmlformats.org/officeDocument/2006/relationships/tags" Target="../tags/tag2293.xml"/><Relationship Id="rId40" Type="http://schemas.openxmlformats.org/officeDocument/2006/relationships/tags" Target="../tags/tag2292.xml"/><Relationship Id="rId4" Type="http://schemas.openxmlformats.org/officeDocument/2006/relationships/tags" Target="../tags/tag2256.xml"/><Relationship Id="rId39" Type="http://schemas.openxmlformats.org/officeDocument/2006/relationships/tags" Target="../tags/tag2291.xml"/><Relationship Id="rId38" Type="http://schemas.openxmlformats.org/officeDocument/2006/relationships/tags" Target="../tags/tag2290.xml"/><Relationship Id="rId37" Type="http://schemas.openxmlformats.org/officeDocument/2006/relationships/tags" Target="../tags/tag2289.xml"/><Relationship Id="rId36" Type="http://schemas.openxmlformats.org/officeDocument/2006/relationships/tags" Target="../tags/tag2288.xml"/><Relationship Id="rId35" Type="http://schemas.openxmlformats.org/officeDocument/2006/relationships/tags" Target="../tags/tag2287.xml"/><Relationship Id="rId34" Type="http://schemas.openxmlformats.org/officeDocument/2006/relationships/tags" Target="../tags/tag2286.xml"/><Relationship Id="rId33" Type="http://schemas.openxmlformats.org/officeDocument/2006/relationships/tags" Target="../tags/tag2285.xml"/><Relationship Id="rId32" Type="http://schemas.openxmlformats.org/officeDocument/2006/relationships/tags" Target="../tags/tag2284.xml"/><Relationship Id="rId31" Type="http://schemas.openxmlformats.org/officeDocument/2006/relationships/tags" Target="../tags/tag2283.xml"/><Relationship Id="rId30" Type="http://schemas.openxmlformats.org/officeDocument/2006/relationships/tags" Target="../tags/tag2282.xml"/><Relationship Id="rId3" Type="http://schemas.openxmlformats.org/officeDocument/2006/relationships/tags" Target="../tags/tag2255.xml"/><Relationship Id="rId29" Type="http://schemas.openxmlformats.org/officeDocument/2006/relationships/tags" Target="../tags/tag2281.xml"/><Relationship Id="rId28" Type="http://schemas.openxmlformats.org/officeDocument/2006/relationships/tags" Target="../tags/tag2280.xml"/><Relationship Id="rId27" Type="http://schemas.openxmlformats.org/officeDocument/2006/relationships/tags" Target="../tags/tag2279.xml"/><Relationship Id="rId26" Type="http://schemas.openxmlformats.org/officeDocument/2006/relationships/tags" Target="../tags/tag2278.xml"/><Relationship Id="rId25" Type="http://schemas.openxmlformats.org/officeDocument/2006/relationships/tags" Target="../tags/tag2277.xml"/><Relationship Id="rId24" Type="http://schemas.openxmlformats.org/officeDocument/2006/relationships/tags" Target="../tags/tag2276.xml"/><Relationship Id="rId23" Type="http://schemas.openxmlformats.org/officeDocument/2006/relationships/tags" Target="../tags/tag2275.xml"/><Relationship Id="rId22" Type="http://schemas.openxmlformats.org/officeDocument/2006/relationships/tags" Target="../tags/tag2274.xml"/><Relationship Id="rId21" Type="http://schemas.openxmlformats.org/officeDocument/2006/relationships/tags" Target="../tags/tag2273.xml"/><Relationship Id="rId20" Type="http://schemas.openxmlformats.org/officeDocument/2006/relationships/tags" Target="../tags/tag2272.xml"/><Relationship Id="rId2" Type="http://schemas.openxmlformats.org/officeDocument/2006/relationships/tags" Target="../tags/tag2254.xml"/><Relationship Id="rId19" Type="http://schemas.openxmlformats.org/officeDocument/2006/relationships/tags" Target="../tags/tag2271.xml"/><Relationship Id="rId18" Type="http://schemas.openxmlformats.org/officeDocument/2006/relationships/tags" Target="../tags/tag2270.xml"/><Relationship Id="rId17" Type="http://schemas.openxmlformats.org/officeDocument/2006/relationships/tags" Target="../tags/tag2269.xml"/><Relationship Id="rId16" Type="http://schemas.openxmlformats.org/officeDocument/2006/relationships/tags" Target="../tags/tag2268.xml"/><Relationship Id="rId15" Type="http://schemas.openxmlformats.org/officeDocument/2006/relationships/tags" Target="../tags/tag2267.xml"/><Relationship Id="rId14" Type="http://schemas.openxmlformats.org/officeDocument/2006/relationships/tags" Target="../tags/tag2266.xml"/><Relationship Id="rId13" Type="http://schemas.openxmlformats.org/officeDocument/2006/relationships/tags" Target="../tags/tag2265.xml"/><Relationship Id="rId12" Type="http://schemas.openxmlformats.org/officeDocument/2006/relationships/tags" Target="../tags/tag2264.xml"/><Relationship Id="rId11" Type="http://schemas.openxmlformats.org/officeDocument/2006/relationships/tags" Target="../tags/tag2263.xml"/><Relationship Id="rId10" Type="http://schemas.openxmlformats.org/officeDocument/2006/relationships/tags" Target="../tags/tag2262.xml"/><Relationship Id="rId1" Type="http://schemas.openxmlformats.org/officeDocument/2006/relationships/tags" Target="../tags/tag2253.xml"/></Relationships>
</file>

<file path=ppt/slides/_rels/slide85.xml.rels><?xml version="1.0" encoding="UTF-8" standalone="yes"?>
<Relationships xmlns="http://schemas.openxmlformats.org/package/2006/relationships"><Relationship Id="rId99" Type="http://schemas.openxmlformats.org/officeDocument/2006/relationships/tags" Target="../tags/tag2416.xml"/><Relationship Id="rId98" Type="http://schemas.openxmlformats.org/officeDocument/2006/relationships/tags" Target="../tags/tag2415.xml"/><Relationship Id="rId97" Type="http://schemas.openxmlformats.org/officeDocument/2006/relationships/tags" Target="../tags/tag2414.xml"/><Relationship Id="rId96" Type="http://schemas.openxmlformats.org/officeDocument/2006/relationships/tags" Target="../tags/tag2413.xml"/><Relationship Id="rId95" Type="http://schemas.openxmlformats.org/officeDocument/2006/relationships/tags" Target="../tags/tag2412.xml"/><Relationship Id="rId94" Type="http://schemas.openxmlformats.org/officeDocument/2006/relationships/tags" Target="../tags/tag2411.xml"/><Relationship Id="rId93" Type="http://schemas.openxmlformats.org/officeDocument/2006/relationships/tags" Target="../tags/tag2410.xml"/><Relationship Id="rId92" Type="http://schemas.openxmlformats.org/officeDocument/2006/relationships/tags" Target="../tags/tag2409.xml"/><Relationship Id="rId91" Type="http://schemas.openxmlformats.org/officeDocument/2006/relationships/tags" Target="../tags/tag2408.xml"/><Relationship Id="rId90" Type="http://schemas.openxmlformats.org/officeDocument/2006/relationships/tags" Target="../tags/tag2407.xml"/><Relationship Id="rId9" Type="http://schemas.openxmlformats.org/officeDocument/2006/relationships/tags" Target="../tags/tag2326.xml"/><Relationship Id="rId89" Type="http://schemas.openxmlformats.org/officeDocument/2006/relationships/tags" Target="../tags/tag2406.xml"/><Relationship Id="rId88" Type="http://schemas.openxmlformats.org/officeDocument/2006/relationships/tags" Target="../tags/tag2405.xml"/><Relationship Id="rId87" Type="http://schemas.openxmlformats.org/officeDocument/2006/relationships/tags" Target="../tags/tag2404.xml"/><Relationship Id="rId86" Type="http://schemas.openxmlformats.org/officeDocument/2006/relationships/tags" Target="../tags/tag2403.xml"/><Relationship Id="rId85" Type="http://schemas.openxmlformats.org/officeDocument/2006/relationships/tags" Target="../tags/tag2402.xml"/><Relationship Id="rId84" Type="http://schemas.openxmlformats.org/officeDocument/2006/relationships/tags" Target="../tags/tag2401.xml"/><Relationship Id="rId83" Type="http://schemas.openxmlformats.org/officeDocument/2006/relationships/tags" Target="../tags/tag2400.xml"/><Relationship Id="rId82" Type="http://schemas.openxmlformats.org/officeDocument/2006/relationships/tags" Target="../tags/tag2399.xml"/><Relationship Id="rId81" Type="http://schemas.openxmlformats.org/officeDocument/2006/relationships/tags" Target="../tags/tag2398.xml"/><Relationship Id="rId80" Type="http://schemas.openxmlformats.org/officeDocument/2006/relationships/tags" Target="../tags/tag2397.xml"/><Relationship Id="rId8" Type="http://schemas.openxmlformats.org/officeDocument/2006/relationships/tags" Target="../tags/tag2325.xml"/><Relationship Id="rId79" Type="http://schemas.openxmlformats.org/officeDocument/2006/relationships/tags" Target="../tags/tag2396.xml"/><Relationship Id="rId78" Type="http://schemas.openxmlformats.org/officeDocument/2006/relationships/tags" Target="../tags/tag2395.xml"/><Relationship Id="rId77" Type="http://schemas.openxmlformats.org/officeDocument/2006/relationships/tags" Target="../tags/tag2394.xml"/><Relationship Id="rId76" Type="http://schemas.openxmlformats.org/officeDocument/2006/relationships/tags" Target="../tags/tag2393.xml"/><Relationship Id="rId75" Type="http://schemas.openxmlformats.org/officeDocument/2006/relationships/tags" Target="../tags/tag2392.xml"/><Relationship Id="rId74" Type="http://schemas.openxmlformats.org/officeDocument/2006/relationships/tags" Target="../tags/tag2391.xml"/><Relationship Id="rId73" Type="http://schemas.openxmlformats.org/officeDocument/2006/relationships/tags" Target="../tags/tag2390.xml"/><Relationship Id="rId72" Type="http://schemas.openxmlformats.org/officeDocument/2006/relationships/tags" Target="../tags/tag2389.xml"/><Relationship Id="rId71" Type="http://schemas.openxmlformats.org/officeDocument/2006/relationships/tags" Target="../tags/tag2388.xml"/><Relationship Id="rId70" Type="http://schemas.openxmlformats.org/officeDocument/2006/relationships/tags" Target="../tags/tag2387.xml"/><Relationship Id="rId7" Type="http://schemas.openxmlformats.org/officeDocument/2006/relationships/tags" Target="../tags/tag2324.xml"/><Relationship Id="rId69" Type="http://schemas.openxmlformats.org/officeDocument/2006/relationships/tags" Target="../tags/tag2386.xml"/><Relationship Id="rId68" Type="http://schemas.openxmlformats.org/officeDocument/2006/relationships/tags" Target="../tags/tag2385.xml"/><Relationship Id="rId67" Type="http://schemas.openxmlformats.org/officeDocument/2006/relationships/tags" Target="../tags/tag2384.xml"/><Relationship Id="rId66" Type="http://schemas.openxmlformats.org/officeDocument/2006/relationships/tags" Target="../tags/tag2383.xml"/><Relationship Id="rId65" Type="http://schemas.openxmlformats.org/officeDocument/2006/relationships/tags" Target="../tags/tag2382.xml"/><Relationship Id="rId64" Type="http://schemas.openxmlformats.org/officeDocument/2006/relationships/tags" Target="../tags/tag2381.xml"/><Relationship Id="rId63" Type="http://schemas.openxmlformats.org/officeDocument/2006/relationships/tags" Target="../tags/tag2380.xml"/><Relationship Id="rId62" Type="http://schemas.openxmlformats.org/officeDocument/2006/relationships/tags" Target="../tags/tag2379.xml"/><Relationship Id="rId61" Type="http://schemas.openxmlformats.org/officeDocument/2006/relationships/tags" Target="../tags/tag2378.xml"/><Relationship Id="rId60" Type="http://schemas.openxmlformats.org/officeDocument/2006/relationships/tags" Target="../tags/tag2377.xml"/><Relationship Id="rId6" Type="http://schemas.openxmlformats.org/officeDocument/2006/relationships/tags" Target="../tags/tag2323.xml"/><Relationship Id="rId59" Type="http://schemas.openxmlformats.org/officeDocument/2006/relationships/tags" Target="../tags/tag2376.xml"/><Relationship Id="rId58" Type="http://schemas.openxmlformats.org/officeDocument/2006/relationships/tags" Target="../tags/tag2375.xml"/><Relationship Id="rId57" Type="http://schemas.openxmlformats.org/officeDocument/2006/relationships/tags" Target="../tags/tag2374.xml"/><Relationship Id="rId56" Type="http://schemas.openxmlformats.org/officeDocument/2006/relationships/tags" Target="../tags/tag2373.xml"/><Relationship Id="rId55" Type="http://schemas.openxmlformats.org/officeDocument/2006/relationships/tags" Target="../tags/tag2372.xml"/><Relationship Id="rId54" Type="http://schemas.openxmlformats.org/officeDocument/2006/relationships/tags" Target="../tags/tag2371.xml"/><Relationship Id="rId53" Type="http://schemas.openxmlformats.org/officeDocument/2006/relationships/tags" Target="../tags/tag2370.xml"/><Relationship Id="rId52" Type="http://schemas.openxmlformats.org/officeDocument/2006/relationships/tags" Target="../tags/tag2369.xml"/><Relationship Id="rId51" Type="http://schemas.openxmlformats.org/officeDocument/2006/relationships/tags" Target="../tags/tag2368.xml"/><Relationship Id="rId50" Type="http://schemas.openxmlformats.org/officeDocument/2006/relationships/tags" Target="../tags/tag2367.xml"/><Relationship Id="rId5" Type="http://schemas.openxmlformats.org/officeDocument/2006/relationships/tags" Target="../tags/tag2322.xml"/><Relationship Id="rId49" Type="http://schemas.openxmlformats.org/officeDocument/2006/relationships/tags" Target="../tags/tag2366.xml"/><Relationship Id="rId48" Type="http://schemas.openxmlformats.org/officeDocument/2006/relationships/tags" Target="../tags/tag2365.xml"/><Relationship Id="rId47" Type="http://schemas.openxmlformats.org/officeDocument/2006/relationships/tags" Target="../tags/tag2364.xml"/><Relationship Id="rId46" Type="http://schemas.openxmlformats.org/officeDocument/2006/relationships/tags" Target="../tags/tag2363.xml"/><Relationship Id="rId45" Type="http://schemas.openxmlformats.org/officeDocument/2006/relationships/tags" Target="../tags/tag2362.xml"/><Relationship Id="rId44" Type="http://schemas.openxmlformats.org/officeDocument/2006/relationships/tags" Target="../tags/tag2361.xml"/><Relationship Id="rId43" Type="http://schemas.openxmlformats.org/officeDocument/2006/relationships/tags" Target="../tags/tag2360.xml"/><Relationship Id="rId42" Type="http://schemas.openxmlformats.org/officeDocument/2006/relationships/tags" Target="../tags/tag2359.xml"/><Relationship Id="rId41" Type="http://schemas.openxmlformats.org/officeDocument/2006/relationships/tags" Target="../tags/tag2358.xml"/><Relationship Id="rId40" Type="http://schemas.openxmlformats.org/officeDocument/2006/relationships/tags" Target="../tags/tag2357.xml"/><Relationship Id="rId4" Type="http://schemas.openxmlformats.org/officeDocument/2006/relationships/tags" Target="../tags/tag2321.xml"/><Relationship Id="rId39" Type="http://schemas.openxmlformats.org/officeDocument/2006/relationships/tags" Target="../tags/tag2356.xml"/><Relationship Id="rId38" Type="http://schemas.openxmlformats.org/officeDocument/2006/relationships/tags" Target="../tags/tag2355.xml"/><Relationship Id="rId37" Type="http://schemas.openxmlformats.org/officeDocument/2006/relationships/tags" Target="../tags/tag2354.xml"/><Relationship Id="rId36" Type="http://schemas.openxmlformats.org/officeDocument/2006/relationships/tags" Target="../tags/tag2353.xml"/><Relationship Id="rId35" Type="http://schemas.openxmlformats.org/officeDocument/2006/relationships/tags" Target="../tags/tag2352.xml"/><Relationship Id="rId34" Type="http://schemas.openxmlformats.org/officeDocument/2006/relationships/tags" Target="../tags/tag2351.xml"/><Relationship Id="rId33" Type="http://schemas.openxmlformats.org/officeDocument/2006/relationships/tags" Target="../tags/tag2350.xml"/><Relationship Id="rId32" Type="http://schemas.openxmlformats.org/officeDocument/2006/relationships/tags" Target="../tags/tag2349.xml"/><Relationship Id="rId31" Type="http://schemas.openxmlformats.org/officeDocument/2006/relationships/tags" Target="../tags/tag2348.xml"/><Relationship Id="rId300" Type="http://schemas.openxmlformats.org/officeDocument/2006/relationships/slideLayout" Target="../slideLayouts/slideLayout7.xml"/><Relationship Id="rId30" Type="http://schemas.openxmlformats.org/officeDocument/2006/relationships/tags" Target="../tags/tag2347.xml"/><Relationship Id="rId3" Type="http://schemas.openxmlformats.org/officeDocument/2006/relationships/tags" Target="../tags/tag2320.xml"/><Relationship Id="rId299" Type="http://schemas.openxmlformats.org/officeDocument/2006/relationships/tags" Target="../tags/tag2615.xml"/><Relationship Id="rId298" Type="http://schemas.openxmlformats.org/officeDocument/2006/relationships/tags" Target="../tags/tag2614.xml"/><Relationship Id="rId297" Type="http://schemas.openxmlformats.org/officeDocument/2006/relationships/slide" Target="slide3.xml"/><Relationship Id="rId296" Type="http://schemas.openxmlformats.org/officeDocument/2006/relationships/tags" Target="../tags/tag2613.xml"/><Relationship Id="rId295" Type="http://schemas.openxmlformats.org/officeDocument/2006/relationships/tags" Target="../tags/tag2612.xml"/><Relationship Id="rId294" Type="http://schemas.openxmlformats.org/officeDocument/2006/relationships/tags" Target="../tags/tag2611.xml"/><Relationship Id="rId293" Type="http://schemas.openxmlformats.org/officeDocument/2006/relationships/tags" Target="../tags/tag2610.xml"/><Relationship Id="rId292" Type="http://schemas.openxmlformats.org/officeDocument/2006/relationships/tags" Target="../tags/tag2609.xml"/><Relationship Id="rId291" Type="http://schemas.openxmlformats.org/officeDocument/2006/relationships/tags" Target="../tags/tag2608.xml"/><Relationship Id="rId290" Type="http://schemas.openxmlformats.org/officeDocument/2006/relationships/tags" Target="../tags/tag2607.xml"/><Relationship Id="rId29" Type="http://schemas.openxmlformats.org/officeDocument/2006/relationships/tags" Target="../tags/tag2346.xml"/><Relationship Id="rId289" Type="http://schemas.openxmlformats.org/officeDocument/2006/relationships/tags" Target="../tags/tag2606.xml"/><Relationship Id="rId288" Type="http://schemas.openxmlformats.org/officeDocument/2006/relationships/tags" Target="../tags/tag2605.xml"/><Relationship Id="rId287" Type="http://schemas.openxmlformats.org/officeDocument/2006/relationships/tags" Target="../tags/tag2604.xml"/><Relationship Id="rId286" Type="http://schemas.openxmlformats.org/officeDocument/2006/relationships/tags" Target="../tags/tag2603.xml"/><Relationship Id="rId285" Type="http://schemas.openxmlformats.org/officeDocument/2006/relationships/tags" Target="../tags/tag2602.xml"/><Relationship Id="rId284" Type="http://schemas.openxmlformats.org/officeDocument/2006/relationships/tags" Target="../tags/tag2601.xml"/><Relationship Id="rId283" Type="http://schemas.openxmlformats.org/officeDocument/2006/relationships/tags" Target="../tags/tag2600.xml"/><Relationship Id="rId282" Type="http://schemas.openxmlformats.org/officeDocument/2006/relationships/tags" Target="../tags/tag2599.xml"/><Relationship Id="rId281" Type="http://schemas.openxmlformats.org/officeDocument/2006/relationships/tags" Target="../tags/tag2598.xml"/><Relationship Id="rId280" Type="http://schemas.openxmlformats.org/officeDocument/2006/relationships/tags" Target="../tags/tag2597.xml"/><Relationship Id="rId28" Type="http://schemas.openxmlformats.org/officeDocument/2006/relationships/tags" Target="../tags/tag2345.xml"/><Relationship Id="rId279" Type="http://schemas.openxmlformats.org/officeDocument/2006/relationships/tags" Target="../tags/tag2596.xml"/><Relationship Id="rId278" Type="http://schemas.openxmlformats.org/officeDocument/2006/relationships/tags" Target="../tags/tag2595.xml"/><Relationship Id="rId277" Type="http://schemas.openxmlformats.org/officeDocument/2006/relationships/tags" Target="../tags/tag2594.xml"/><Relationship Id="rId276" Type="http://schemas.openxmlformats.org/officeDocument/2006/relationships/tags" Target="../tags/tag2593.xml"/><Relationship Id="rId275" Type="http://schemas.openxmlformats.org/officeDocument/2006/relationships/tags" Target="../tags/tag2592.xml"/><Relationship Id="rId274" Type="http://schemas.openxmlformats.org/officeDocument/2006/relationships/tags" Target="../tags/tag2591.xml"/><Relationship Id="rId273" Type="http://schemas.openxmlformats.org/officeDocument/2006/relationships/tags" Target="../tags/tag2590.xml"/><Relationship Id="rId272" Type="http://schemas.openxmlformats.org/officeDocument/2006/relationships/tags" Target="../tags/tag2589.xml"/><Relationship Id="rId271" Type="http://schemas.openxmlformats.org/officeDocument/2006/relationships/tags" Target="../tags/tag2588.xml"/><Relationship Id="rId270" Type="http://schemas.openxmlformats.org/officeDocument/2006/relationships/tags" Target="../tags/tag2587.xml"/><Relationship Id="rId27" Type="http://schemas.openxmlformats.org/officeDocument/2006/relationships/tags" Target="../tags/tag2344.xml"/><Relationship Id="rId269" Type="http://schemas.openxmlformats.org/officeDocument/2006/relationships/tags" Target="../tags/tag2586.xml"/><Relationship Id="rId268" Type="http://schemas.openxmlformats.org/officeDocument/2006/relationships/tags" Target="../tags/tag2585.xml"/><Relationship Id="rId267" Type="http://schemas.openxmlformats.org/officeDocument/2006/relationships/tags" Target="../tags/tag2584.xml"/><Relationship Id="rId266" Type="http://schemas.openxmlformats.org/officeDocument/2006/relationships/tags" Target="../tags/tag2583.xml"/><Relationship Id="rId265" Type="http://schemas.openxmlformats.org/officeDocument/2006/relationships/tags" Target="../tags/tag2582.xml"/><Relationship Id="rId264" Type="http://schemas.openxmlformats.org/officeDocument/2006/relationships/tags" Target="../tags/tag2581.xml"/><Relationship Id="rId263" Type="http://schemas.openxmlformats.org/officeDocument/2006/relationships/tags" Target="../tags/tag2580.xml"/><Relationship Id="rId262" Type="http://schemas.openxmlformats.org/officeDocument/2006/relationships/tags" Target="../tags/tag2579.xml"/><Relationship Id="rId261" Type="http://schemas.openxmlformats.org/officeDocument/2006/relationships/tags" Target="../tags/tag2578.xml"/><Relationship Id="rId260" Type="http://schemas.openxmlformats.org/officeDocument/2006/relationships/tags" Target="../tags/tag2577.xml"/><Relationship Id="rId26" Type="http://schemas.openxmlformats.org/officeDocument/2006/relationships/tags" Target="../tags/tag2343.xml"/><Relationship Id="rId259" Type="http://schemas.openxmlformats.org/officeDocument/2006/relationships/tags" Target="../tags/tag2576.xml"/><Relationship Id="rId258" Type="http://schemas.openxmlformats.org/officeDocument/2006/relationships/tags" Target="../tags/tag2575.xml"/><Relationship Id="rId257" Type="http://schemas.openxmlformats.org/officeDocument/2006/relationships/tags" Target="../tags/tag2574.xml"/><Relationship Id="rId256" Type="http://schemas.openxmlformats.org/officeDocument/2006/relationships/tags" Target="../tags/tag2573.xml"/><Relationship Id="rId255" Type="http://schemas.openxmlformats.org/officeDocument/2006/relationships/tags" Target="../tags/tag2572.xml"/><Relationship Id="rId254" Type="http://schemas.openxmlformats.org/officeDocument/2006/relationships/tags" Target="../tags/tag2571.xml"/><Relationship Id="rId253" Type="http://schemas.openxmlformats.org/officeDocument/2006/relationships/tags" Target="../tags/tag2570.xml"/><Relationship Id="rId252" Type="http://schemas.openxmlformats.org/officeDocument/2006/relationships/tags" Target="../tags/tag2569.xml"/><Relationship Id="rId251" Type="http://schemas.openxmlformats.org/officeDocument/2006/relationships/tags" Target="../tags/tag2568.xml"/><Relationship Id="rId250" Type="http://schemas.openxmlformats.org/officeDocument/2006/relationships/tags" Target="../tags/tag2567.xml"/><Relationship Id="rId25" Type="http://schemas.openxmlformats.org/officeDocument/2006/relationships/tags" Target="../tags/tag2342.xml"/><Relationship Id="rId249" Type="http://schemas.openxmlformats.org/officeDocument/2006/relationships/tags" Target="../tags/tag2566.xml"/><Relationship Id="rId248" Type="http://schemas.openxmlformats.org/officeDocument/2006/relationships/tags" Target="../tags/tag2565.xml"/><Relationship Id="rId247" Type="http://schemas.openxmlformats.org/officeDocument/2006/relationships/tags" Target="../tags/tag2564.xml"/><Relationship Id="rId246" Type="http://schemas.openxmlformats.org/officeDocument/2006/relationships/tags" Target="../tags/tag2563.xml"/><Relationship Id="rId245" Type="http://schemas.openxmlformats.org/officeDocument/2006/relationships/tags" Target="../tags/tag2562.xml"/><Relationship Id="rId244" Type="http://schemas.openxmlformats.org/officeDocument/2006/relationships/tags" Target="../tags/tag2561.xml"/><Relationship Id="rId243" Type="http://schemas.openxmlformats.org/officeDocument/2006/relationships/tags" Target="../tags/tag2560.xml"/><Relationship Id="rId242" Type="http://schemas.openxmlformats.org/officeDocument/2006/relationships/tags" Target="../tags/tag2559.xml"/><Relationship Id="rId241" Type="http://schemas.openxmlformats.org/officeDocument/2006/relationships/tags" Target="../tags/tag2558.xml"/><Relationship Id="rId240" Type="http://schemas.openxmlformats.org/officeDocument/2006/relationships/tags" Target="../tags/tag2557.xml"/><Relationship Id="rId24" Type="http://schemas.openxmlformats.org/officeDocument/2006/relationships/tags" Target="../tags/tag2341.xml"/><Relationship Id="rId239" Type="http://schemas.openxmlformats.org/officeDocument/2006/relationships/tags" Target="../tags/tag2556.xml"/><Relationship Id="rId238" Type="http://schemas.openxmlformats.org/officeDocument/2006/relationships/tags" Target="../tags/tag2555.xml"/><Relationship Id="rId237" Type="http://schemas.openxmlformats.org/officeDocument/2006/relationships/tags" Target="../tags/tag2554.xml"/><Relationship Id="rId236" Type="http://schemas.openxmlformats.org/officeDocument/2006/relationships/tags" Target="../tags/tag2553.xml"/><Relationship Id="rId235" Type="http://schemas.openxmlformats.org/officeDocument/2006/relationships/tags" Target="../tags/tag2552.xml"/><Relationship Id="rId234" Type="http://schemas.openxmlformats.org/officeDocument/2006/relationships/tags" Target="../tags/tag2551.xml"/><Relationship Id="rId233" Type="http://schemas.openxmlformats.org/officeDocument/2006/relationships/tags" Target="../tags/tag2550.xml"/><Relationship Id="rId232" Type="http://schemas.openxmlformats.org/officeDocument/2006/relationships/tags" Target="../tags/tag2549.xml"/><Relationship Id="rId231" Type="http://schemas.openxmlformats.org/officeDocument/2006/relationships/tags" Target="../tags/tag2548.xml"/><Relationship Id="rId230" Type="http://schemas.openxmlformats.org/officeDocument/2006/relationships/tags" Target="../tags/tag2547.xml"/><Relationship Id="rId23" Type="http://schemas.openxmlformats.org/officeDocument/2006/relationships/tags" Target="../tags/tag2340.xml"/><Relationship Id="rId229" Type="http://schemas.openxmlformats.org/officeDocument/2006/relationships/tags" Target="../tags/tag2546.xml"/><Relationship Id="rId228" Type="http://schemas.openxmlformats.org/officeDocument/2006/relationships/tags" Target="../tags/tag2545.xml"/><Relationship Id="rId227" Type="http://schemas.openxmlformats.org/officeDocument/2006/relationships/tags" Target="../tags/tag2544.xml"/><Relationship Id="rId226" Type="http://schemas.openxmlformats.org/officeDocument/2006/relationships/tags" Target="../tags/tag2543.xml"/><Relationship Id="rId225" Type="http://schemas.openxmlformats.org/officeDocument/2006/relationships/tags" Target="../tags/tag2542.xml"/><Relationship Id="rId224" Type="http://schemas.openxmlformats.org/officeDocument/2006/relationships/tags" Target="../tags/tag2541.xml"/><Relationship Id="rId223" Type="http://schemas.openxmlformats.org/officeDocument/2006/relationships/tags" Target="../tags/tag2540.xml"/><Relationship Id="rId222" Type="http://schemas.openxmlformats.org/officeDocument/2006/relationships/tags" Target="../tags/tag2539.xml"/><Relationship Id="rId221" Type="http://schemas.openxmlformats.org/officeDocument/2006/relationships/tags" Target="../tags/tag2538.xml"/><Relationship Id="rId220" Type="http://schemas.openxmlformats.org/officeDocument/2006/relationships/tags" Target="../tags/tag2537.xml"/><Relationship Id="rId22" Type="http://schemas.openxmlformats.org/officeDocument/2006/relationships/tags" Target="../tags/tag2339.xml"/><Relationship Id="rId219" Type="http://schemas.openxmlformats.org/officeDocument/2006/relationships/tags" Target="../tags/tag2536.xml"/><Relationship Id="rId218" Type="http://schemas.openxmlformats.org/officeDocument/2006/relationships/tags" Target="../tags/tag2535.xml"/><Relationship Id="rId217" Type="http://schemas.openxmlformats.org/officeDocument/2006/relationships/tags" Target="../tags/tag2534.xml"/><Relationship Id="rId216" Type="http://schemas.openxmlformats.org/officeDocument/2006/relationships/tags" Target="../tags/tag2533.xml"/><Relationship Id="rId215" Type="http://schemas.openxmlformats.org/officeDocument/2006/relationships/tags" Target="../tags/tag2532.xml"/><Relationship Id="rId214" Type="http://schemas.openxmlformats.org/officeDocument/2006/relationships/tags" Target="../tags/tag2531.xml"/><Relationship Id="rId213" Type="http://schemas.openxmlformats.org/officeDocument/2006/relationships/tags" Target="../tags/tag2530.xml"/><Relationship Id="rId212" Type="http://schemas.openxmlformats.org/officeDocument/2006/relationships/tags" Target="../tags/tag2529.xml"/><Relationship Id="rId211" Type="http://schemas.openxmlformats.org/officeDocument/2006/relationships/tags" Target="../tags/tag2528.xml"/><Relationship Id="rId210" Type="http://schemas.openxmlformats.org/officeDocument/2006/relationships/tags" Target="../tags/tag2527.xml"/><Relationship Id="rId21" Type="http://schemas.openxmlformats.org/officeDocument/2006/relationships/tags" Target="../tags/tag2338.xml"/><Relationship Id="rId209" Type="http://schemas.openxmlformats.org/officeDocument/2006/relationships/tags" Target="../tags/tag2526.xml"/><Relationship Id="rId208" Type="http://schemas.openxmlformats.org/officeDocument/2006/relationships/tags" Target="../tags/tag2525.xml"/><Relationship Id="rId207" Type="http://schemas.openxmlformats.org/officeDocument/2006/relationships/tags" Target="../tags/tag2524.xml"/><Relationship Id="rId206" Type="http://schemas.openxmlformats.org/officeDocument/2006/relationships/tags" Target="../tags/tag2523.xml"/><Relationship Id="rId205" Type="http://schemas.openxmlformats.org/officeDocument/2006/relationships/tags" Target="../tags/tag2522.xml"/><Relationship Id="rId204" Type="http://schemas.openxmlformats.org/officeDocument/2006/relationships/tags" Target="../tags/tag2521.xml"/><Relationship Id="rId203" Type="http://schemas.openxmlformats.org/officeDocument/2006/relationships/tags" Target="../tags/tag2520.xml"/><Relationship Id="rId202" Type="http://schemas.openxmlformats.org/officeDocument/2006/relationships/tags" Target="../tags/tag2519.xml"/><Relationship Id="rId201" Type="http://schemas.openxmlformats.org/officeDocument/2006/relationships/tags" Target="../tags/tag2518.xml"/><Relationship Id="rId200" Type="http://schemas.openxmlformats.org/officeDocument/2006/relationships/tags" Target="../tags/tag2517.xml"/><Relationship Id="rId20" Type="http://schemas.openxmlformats.org/officeDocument/2006/relationships/tags" Target="../tags/tag2337.xml"/><Relationship Id="rId2" Type="http://schemas.openxmlformats.org/officeDocument/2006/relationships/tags" Target="../tags/tag2319.xml"/><Relationship Id="rId199" Type="http://schemas.openxmlformats.org/officeDocument/2006/relationships/tags" Target="../tags/tag2516.xml"/><Relationship Id="rId198" Type="http://schemas.openxmlformats.org/officeDocument/2006/relationships/tags" Target="../tags/tag2515.xml"/><Relationship Id="rId197" Type="http://schemas.openxmlformats.org/officeDocument/2006/relationships/tags" Target="../tags/tag2514.xml"/><Relationship Id="rId196" Type="http://schemas.openxmlformats.org/officeDocument/2006/relationships/tags" Target="../tags/tag2513.xml"/><Relationship Id="rId195" Type="http://schemas.openxmlformats.org/officeDocument/2006/relationships/tags" Target="../tags/tag2512.xml"/><Relationship Id="rId194" Type="http://schemas.openxmlformats.org/officeDocument/2006/relationships/tags" Target="../tags/tag2511.xml"/><Relationship Id="rId193" Type="http://schemas.openxmlformats.org/officeDocument/2006/relationships/tags" Target="../tags/tag2510.xml"/><Relationship Id="rId192" Type="http://schemas.openxmlformats.org/officeDocument/2006/relationships/tags" Target="../tags/tag2509.xml"/><Relationship Id="rId191" Type="http://schemas.openxmlformats.org/officeDocument/2006/relationships/tags" Target="../tags/tag2508.xml"/><Relationship Id="rId190" Type="http://schemas.openxmlformats.org/officeDocument/2006/relationships/tags" Target="../tags/tag2507.xml"/><Relationship Id="rId19" Type="http://schemas.openxmlformats.org/officeDocument/2006/relationships/tags" Target="../tags/tag2336.xml"/><Relationship Id="rId189" Type="http://schemas.openxmlformats.org/officeDocument/2006/relationships/tags" Target="../tags/tag2506.xml"/><Relationship Id="rId188" Type="http://schemas.openxmlformats.org/officeDocument/2006/relationships/tags" Target="../tags/tag2505.xml"/><Relationship Id="rId187" Type="http://schemas.openxmlformats.org/officeDocument/2006/relationships/tags" Target="../tags/tag2504.xml"/><Relationship Id="rId186" Type="http://schemas.openxmlformats.org/officeDocument/2006/relationships/tags" Target="../tags/tag2503.xml"/><Relationship Id="rId185" Type="http://schemas.openxmlformats.org/officeDocument/2006/relationships/tags" Target="../tags/tag2502.xml"/><Relationship Id="rId184" Type="http://schemas.openxmlformats.org/officeDocument/2006/relationships/tags" Target="../tags/tag2501.xml"/><Relationship Id="rId183" Type="http://schemas.openxmlformats.org/officeDocument/2006/relationships/tags" Target="../tags/tag2500.xml"/><Relationship Id="rId182" Type="http://schemas.openxmlformats.org/officeDocument/2006/relationships/tags" Target="../tags/tag2499.xml"/><Relationship Id="rId181" Type="http://schemas.openxmlformats.org/officeDocument/2006/relationships/tags" Target="../tags/tag2498.xml"/><Relationship Id="rId180" Type="http://schemas.openxmlformats.org/officeDocument/2006/relationships/tags" Target="../tags/tag2497.xml"/><Relationship Id="rId18" Type="http://schemas.openxmlformats.org/officeDocument/2006/relationships/tags" Target="../tags/tag2335.xml"/><Relationship Id="rId179" Type="http://schemas.openxmlformats.org/officeDocument/2006/relationships/tags" Target="../tags/tag2496.xml"/><Relationship Id="rId178" Type="http://schemas.openxmlformats.org/officeDocument/2006/relationships/tags" Target="../tags/tag2495.xml"/><Relationship Id="rId177" Type="http://schemas.openxmlformats.org/officeDocument/2006/relationships/tags" Target="../tags/tag2494.xml"/><Relationship Id="rId176" Type="http://schemas.openxmlformats.org/officeDocument/2006/relationships/tags" Target="../tags/tag2493.xml"/><Relationship Id="rId175" Type="http://schemas.openxmlformats.org/officeDocument/2006/relationships/tags" Target="../tags/tag2492.xml"/><Relationship Id="rId174" Type="http://schemas.openxmlformats.org/officeDocument/2006/relationships/tags" Target="../tags/tag2491.xml"/><Relationship Id="rId173" Type="http://schemas.openxmlformats.org/officeDocument/2006/relationships/tags" Target="../tags/tag2490.xml"/><Relationship Id="rId172" Type="http://schemas.openxmlformats.org/officeDocument/2006/relationships/tags" Target="../tags/tag2489.xml"/><Relationship Id="rId171" Type="http://schemas.openxmlformats.org/officeDocument/2006/relationships/tags" Target="../tags/tag2488.xml"/><Relationship Id="rId170" Type="http://schemas.openxmlformats.org/officeDocument/2006/relationships/tags" Target="../tags/tag2487.xml"/><Relationship Id="rId17" Type="http://schemas.openxmlformats.org/officeDocument/2006/relationships/tags" Target="../tags/tag2334.xml"/><Relationship Id="rId169" Type="http://schemas.openxmlformats.org/officeDocument/2006/relationships/tags" Target="../tags/tag2486.xml"/><Relationship Id="rId168" Type="http://schemas.openxmlformats.org/officeDocument/2006/relationships/tags" Target="../tags/tag2485.xml"/><Relationship Id="rId167" Type="http://schemas.openxmlformats.org/officeDocument/2006/relationships/tags" Target="../tags/tag2484.xml"/><Relationship Id="rId166" Type="http://schemas.openxmlformats.org/officeDocument/2006/relationships/tags" Target="../tags/tag2483.xml"/><Relationship Id="rId165" Type="http://schemas.openxmlformats.org/officeDocument/2006/relationships/tags" Target="../tags/tag2482.xml"/><Relationship Id="rId164" Type="http://schemas.openxmlformats.org/officeDocument/2006/relationships/tags" Target="../tags/tag2481.xml"/><Relationship Id="rId163" Type="http://schemas.openxmlformats.org/officeDocument/2006/relationships/tags" Target="../tags/tag2480.xml"/><Relationship Id="rId162" Type="http://schemas.openxmlformats.org/officeDocument/2006/relationships/tags" Target="../tags/tag2479.xml"/><Relationship Id="rId161" Type="http://schemas.openxmlformats.org/officeDocument/2006/relationships/tags" Target="../tags/tag2478.xml"/><Relationship Id="rId160" Type="http://schemas.openxmlformats.org/officeDocument/2006/relationships/tags" Target="../tags/tag2477.xml"/><Relationship Id="rId16" Type="http://schemas.openxmlformats.org/officeDocument/2006/relationships/tags" Target="../tags/tag2333.xml"/><Relationship Id="rId159" Type="http://schemas.openxmlformats.org/officeDocument/2006/relationships/tags" Target="../tags/tag2476.xml"/><Relationship Id="rId158" Type="http://schemas.openxmlformats.org/officeDocument/2006/relationships/tags" Target="../tags/tag2475.xml"/><Relationship Id="rId157" Type="http://schemas.openxmlformats.org/officeDocument/2006/relationships/tags" Target="../tags/tag2474.xml"/><Relationship Id="rId156" Type="http://schemas.openxmlformats.org/officeDocument/2006/relationships/tags" Target="../tags/tag2473.xml"/><Relationship Id="rId155" Type="http://schemas.openxmlformats.org/officeDocument/2006/relationships/tags" Target="../tags/tag2472.xml"/><Relationship Id="rId154" Type="http://schemas.openxmlformats.org/officeDocument/2006/relationships/tags" Target="../tags/tag2471.xml"/><Relationship Id="rId153" Type="http://schemas.openxmlformats.org/officeDocument/2006/relationships/tags" Target="../tags/tag2470.xml"/><Relationship Id="rId152" Type="http://schemas.openxmlformats.org/officeDocument/2006/relationships/tags" Target="../tags/tag2469.xml"/><Relationship Id="rId151" Type="http://schemas.openxmlformats.org/officeDocument/2006/relationships/tags" Target="../tags/tag2468.xml"/><Relationship Id="rId150" Type="http://schemas.openxmlformats.org/officeDocument/2006/relationships/tags" Target="../tags/tag2467.xml"/><Relationship Id="rId15" Type="http://schemas.openxmlformats.org/officeDocument/2006/relationships/tags" Target="../tags/tag2332.xml"/><Relationship Id="rId149" Type="http://schemas.openxmlformats.org/officeDocument/2006/relationships/tags" Target="../tags/tag2466.xml"/><Relationship Id="rId148" Type="http://schemas.openxmlformats.org/officeDocument/2006/relationships/tags" Target="../tags/tag2465.xml"/><Relationship Id="rId147" Type="http://schemas.openxmlformats.org/officeDocument/2006/relationships/tags" Target="../tags/tag2464.xml"/><Relationship Id="rId146" Type="http://schemas.openxmlformats.org/officeDocument/2006/relationships/tags" Target="../tags/tag2463.xml"/><Relationship Id="rId145" Type="http://schemas.openxmlformats.org/officeDocument/2006/relationships/tags" Target="../tags/tag2462.xml"/><Relationship Id="rId144" Type="http://schemas.openxmlformats.org/officeDocument/2006/relationships/tags" Target="../tags/tag2461.xml"/><Relationship Id="rId143" Type="http://schemas.openxmlformats.org/officeDocument/2006/relationships/tags" Target="../tags/tag2460.xml"/><Relationship Id="rId142" Type="http://schemas.openxmlformats.org/officeDocument/2006/relationships/tags" Target="../tags/tag2459.xml"/><Relationship Id="rId141" Type="http://schemas.openxmlformats.org/officeDocument/2006/relationships/tags" Target="../tags/tag2458.xml"/><Relationship Id="rId140" Type="http://schemas.openxmlformats.org/officeDocument/2006/relationships/tags" Target="../tags/tag2457.xml"/><Relationship Id="rId14" Type="http://schemas.openxmlformats.org/officeDocument/2006/relationships/tags" Target="../tags/tag2331.xml"/><Relationship Id="rId139" Type="http://schemas.openxmlformats.org/officeDocument/2006/relationships/tags" Target="../tags/tag2456.xml"/><Relationship Id="rId138" Type="http://schemas.openxmlformats.org/officeDocument/2006/relationships/tags" Target="../tags/tag2455.xml"/><Relationship Id="rId137" Type="http://schemas.openxmlformats.org/officeDocument/2006/relationships/tags" Target="../tags/tag2454.xml"/><Relationship Id="rId136" Type="http://schemas.openxmlformats.org/officeDocument/2006/relationships/tags" Target="../tags/tag2453.xml"/><Relationship Id="rId135" Type="http://schemas.openxmlformats.org/officeDocument/2006/relationships/tags" Target="../tags/tag2452.xml"/><Relationship Id="rId134" Type="http://schemas.openxmlformats.org/officeDocument/2006/relationships/tags" Target="../tags/tag2451.xml"/><Relationship Id="rId133" Type="http://schemas.openxmlformats.org/officeDocument/2006/relationships/tags" Target="../tags/tag2450.xml"/><Relationship Id="rId132" Type="http://schemas.openxmlformats.org/officeDocument/2006/relationships/tags" Target="../tags/tag2449.xml"/><Relationship Id="rId131" Type="http://schemas.openxmlformats.org/officeDocument/2006/relationships/tags" Target="../tags/tag2448.xml"/><Relationship Id="rId130" Type="http://schemas.openxmlformats.org/officeDocument/2006/relationships/tags" Target="../tags/tag2447.xml"/><Relationship Id="rId13" Type="http://schemas.openxmlformats.org/officeDocument/2006/relationships/tags" Target="../tags/tag2330.xml"/><Relationship Id="rId129" Type="http://schemas.openxmlformats.org/officeDocument/2006/relationships/tags" Target="../tags/tag2446.xml"/><Relationship Id="rId128" Type="http://schemas.openxmlformats.org/officeDocument/2006/relationships/tags" Target="../tags/tag2445.xml"/><Relationship Id="rId127" Type="http://schemas.openxmlformats.org/officeDocument/2006/relationships/tags" Target="../tags/tag2444.xml"/><Relationship Id="rId126" Type="http://schemas.openxmlformats.org/officeDocument/2006/relationships/tags" Target="../tags/tag2443.xml"/><Relationship Id="rId125" Type="http://schemas.openxmlformats.org/officeDocument/2006/relationships/tags" Target="../tags/tag2442.xml"/><Relationship Id="rId124" Type="http://schemas.openxmlformats.org/officeDocument/2006/relationships/tags" Target="../tags/tag2441.xml"/><Relationship Id="rId123" Type="http://schemas.openxmlformats.org/officeDocument/2006/relationships/tags" Target="../tags/tag2440.xml"/><Relationship Id="rId122" Type="http://schemas.openxmlformats.org/officeDocument/2006/relationships/tags" Target="../tags/tag2439.xml"/><Relationship Id="rId121" Type="http://schemas.openxmlformats.org/officeDocument/2006/relationships/tags" Target="../tags/tag2438.xml"/><Relationship Id="rId120" Type="http://schemas.openxmlformats.org/officeDocument/2006/relationships/tags" Target="../tags/tag2437.xml"/><Relationship Id="rId12" Type="http://schemas.openxmlformats.org/officeDocument/2006/relationships/tags" Target="../tags/tag2329.xml"/><Relationship Id="rId119" Type="http://schemas.openxmlformats.org/officeDocument/2006/relationships/tags" Target="../tags/tag2436.xml"/><Relationship Id="rId118" Type="http://schemas.openxmlformats.org/officeDocument/2006/relationships/tags" Target="../tags/tag2435.xml"/><Relationship Id="rId117" Type="http://schemas.openxmlformats.org/officeDocument/2006/relationships/tags" Target="../tags/tag2434.xml"/><Relationship Id="rId116" Type="http://schemas.openxmlformats.org/officeDocument/2006/relationships/tags" Target="../tags/tag2433.xml"/><Relationship Id="rId115" Type="http://schemas.openxmlformats.org/officeDocument/2006/relationships/tags" Target="../tags/tag2432.xml"/><Relationship Id="rId114" Type="http://schemas.openxmlformats.org/officeDocument/2006/relationships/tags" Target="../tags/tag2431.xml"/><Relationship Id="rId113" Type="http://schemas.openxmlformats.org/officeDocument/2006/relationships/tags" Target="../tags/tag2430.xml"/><Relationship Id="rId112" Type="http://schemas.openxmlformats.org/officeDocument/2006/relationships/tags" Target="../tags/tag2429.xml"/><Relationship Id="rId111" Type="http://schemas.openxmlformats.org/officeDocument/2006/relationships/tags" Target="../tags/tag2428.xml"/><Relationship Id="rId110" Type="http://schemas.openxmlformats.org/officeDocument/2006/relationships/tags" Target="../tags/tag2427.xml"/><Relationship Id="rId11" Type="http://schemas.openxmlformats.org/officeDocument/2006/relationships/tags" Target="../tags/tag2328.xml"/><Relationship Id="rId109" Type="http://schemas.openxmlformats.org/officeDocument/2006/relationships/tags" Target="../tags/tag2426.xml"/><Relationship Id="rId108" Type="http://schemas.openxmlformats.org/officeDocument/2006/relationships/tags" Target="../tags/tag2425.xml"/><Relationship Id="rId107" Type="http://schemas.openxmlformats.org/officeDocument/2006/relationships/tags" Target="../tags/tag2424.xml"/><Relationship Id="rId106" Type="http://schemas.openxmlformats.org/officeDocument/2006/relationships/tags" Target="../tags/tag2423.xml"/><Relationship Id="rId105" Type="http://schemas.openxmlformats.org/officeDocument/2006/relationships/tags" Target="../tags/tag2422.xml"/><Relationship Id="rId104" Type="http://schemas.openxmlformats.org/officeDocument/2006/relationships/tags" Target="../tags/tag2421.xml"/><Relationship Id="rId103" Type="http://schemas.openxmlformats.org/officeDocument/2006/relationships/tags" Target="../tags/tag2420.xml"/><Relationship Id="rId102" Type="http://schemas.openxmlformats.org/officeDocument/2006/relationships/tags" Target="../tags/tag2419.xml"/><Relationship Id="rId101" Type="http://schemas.openxmlformats.org/officeDocument/2006/relationships/tags" Target="../tags/tag2418.xml"/><Relationship Id="rId100" Type="http://schemas.openxmlformats.org/officeDocument/2006/relationships/tags" Target="../tags/tag2417.xml"/><Relationship Id="rId10" Type="http://schemas.openxmlformats.org/officeDocument/2006/relationships/tags" Target="../tags/tag2327.xml"/><Relationship Id="rId1" Type="http://schemas.openxmlformats.org/officeDocument/2006/relationships/tags" Target="../tags/tag23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838200" y="2595563"/>
            <a:ext cx="7621588" cy="769441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>
            <a:defPPr>
              <a:defRPr lang="zh-CN"/>
            </a:defPPr>
            <a:lvl1pPr algn="ctr">
              <a:defRPr sz="4400" b="1" u="none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第三章  存储系统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Text Box 10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2875" y="417830"/>
            <a:ext cx="2391410" cy="39770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存储器回顾</a:t>
            </a:r>
            <a:endParaRPr lang="zh-CN" altLang="en-US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基本结构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访问过程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应用需求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软件：</a:t>
            </a:r>
            <a:endParaRPr lang="zh-CN" altLang="en-US" sz="2200" b="1" u="none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200" b="1" u="none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硬件：</a:t>
            </a:r>
            <a:endParaRPr lang="zh-CN" altLang="en-US" sz="2200" b="1" u="none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863765" y="478283"/>
            <a:ext cx="1716934" cy="1521034"/>
            <a:chOff x="7236296" y="3500162"/>
            <a:chExt cx="1716934" cy="1521034"/>
          </a:xfrm>
        </p:grpSpPr>
        <p:sp>
          <p:nvSpPr>
            <p:cNvPr id="57" name="Rectangle 251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7668798" y="3501750"/>
              <a:ext cx="792163" cy="107950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 u="none"/>
            </a:p>
          </p:txBody>
        </p:sp>
        <p:sp>
          <p:nvSpPr>
            <p:cNvPr id="58" name="Line 252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7668798" y="3716064"/>
              <a:ext cx="79216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59" name="Line 254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7668798" y="4149450"/>
              <a:ext cx="7921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63" name="Line 255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7667212" y="4365350"/>
              <a:ext cx="79375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97" name="Text Box 256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236296" y="3500162"/>
              <a:ext cx="430915" cy="108108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5000"/>
                </a:lnSpc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  0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170000"/>
                </a:lnSpc>
                <a:spcBef>
                  <a:spcPts val="900"/>
                </a:spcBef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…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  <a:p>
              <a:pPr algn="ctr">
                <a:spcBef>
                  <a:spcPts val="1500"/>
                </a:spcBef>
              </a:pPr>
              <a:r>
                <a:rPr lang="en-US" altLang="zh-CN" sz="1400" b="1" u="none" dirty="0" smtClean="0"/>
                <a:t>2</a:t>
              </a:r>
              <a:r>
                <a:rPr lang="en-US" altLang="zh-CN" sz="1400" b="1" i="1" u="none" baseline="30000" dirty="0" smtClean="0"/>
                <a:t>n </a:t>
              </a:r>
              <a:r>
                <a:rPr lang="en-US" altLang="zh-CN" sz="1400" b="1" u="none" dirty="0" smtClean="0">
                  <a:latin typeface="宋体" panose="02010600030101010101" pitchFamily="2" charset="-122"/>
                </a:rPr>
                <a:t>-1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8" name="Text Box 257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988795" y="3832631"/>
              <a:ext cx="288925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/>
            <a:p>
              <a:r>
                <a:rPr lang="en-US" altLang="zh-CN" sz="1800" b="1" u="none" dirty="0"/>
                <a:t>…</a:t>
              </a:r>
              <a:endParaRPr lang="en-US" altLang="zh-CN" sz="1800" b="1" u="none" baseline="-20000" dirty="0"/>
            </a:p>
          </p:txBody>
        </p:sp>
        <p:sp>
          <p:nvSpPr>
            <p:cNvPr id="99" name="Line 258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 flipH="1">
              <a:off x="8316499" y="3501750"/>
              <a:ext cx="0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00" name="Line 259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7811674" y="3501750"/>
              <a:ext cx="0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01" name="Text Box 260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884699" y="3501750"/>
              <a:ext cx="360363" cy="2286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+mn-ea"/>
                  <a:ea typeface="+mn-ea"/>
                </a:rPr>
                <a:t>…</a:t>
              </a:r>
              <a:endParaRPr lang="en-US" altLang="zh-CN" sz="1600" b="1" u="none" baseline="-20000" dirty="0">
                <a:latin typeface="+mn-ea"/>
                <a:ea typeface="+mn-ea"/>
              </a:endParaRPr>
            </a:p>
          </p:txBody>
        </p:sp>
        <p:sp>
          <p:nvSpPr>
            <p:cNvPr id="102" name="Text Box 26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880562" y="4618801"/>
              <a:ext cx="4318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/>
              <a:r>
                <a:rPr lang="en-US" altLang="zh-CN" sz="1400" b="1" i="1" u="none" dirty="0" smtClean="0"/>
                <a:t>w</a:t>
              </a:r>
              <a:r>
                <a:rPr lang="zh-CN" altLang="en-US" sz="1400" b="1" u="none" dirty="0" smtClean="0"/>
                <a:t>位</a:t>
              </a:r>
              <a:endParaRPr lang="en-US" altLang="zh-CN" sz="1400" b="1" u="none" baseline="-20000" dirty="0"/>
            </a:p>
          </p:txBody>
        </p:sp>
        <p:sp>
          <p:nvSpPr>
            <p:cNvPr id="103" name="Text Box 263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668799" y="4149450"/>
              <a:ext cx="792163" cy="2159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400" b="1" u="none" dirty="0" smtClean="0">
                  <a:latin typeface="宋体" panose="02010600030101010101" pitchFamily="2" charset="-122"/>
                </a:rPr>
                <a:t>存储单元</a:t>
              </a:r>
              <a:endParaRPr lang="zh-CN" altLang="en-US" sz="1400" b="1" u="none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04" name="右大括号 103"/>
            <p:cNvSpPr/>
            <p:nvPr>
              <p:custDataLst>
                <p:tags r:id="rId13"/>
              </p:custDataLst>
            </p:nvPr>
          </p:nvSpPr>
          <p:spPr bwMode="auto">
            <a:xfrm>
              <a:off x="8476596" y="3500923"/>
              <a:ext cx="45719" cy="1080322"/>
            </a:xfrm>
            <a:prstGeom prst="rightBrace">
              <a:avLst>
                <a:gd name="adj1" fmla="val 53467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" name="Text Box 256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8522315" y="3932971"/>
              <a:ext cx="430915" cy="2167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spcBef>
                  <a:spcPts val="1500"/>
                </a:spcBef>
              </a:pPr>
              <a:r>
                <a:rPr lang="en-US" altLang="zh-CN" sz="1400" b="1" u="none" dirty="0" smtClean="0"/>
                <a:t>2</a:t>
              </a:r>
              <a:r>
                <a:rPr lang="en-US" altLang="zh-CN" sz="1400" b="1" i="1" u="none" baseline="30000" dirty="0" smtClean="0"/>
                <a:t>n </a:t>
              </a:r>
              <a:r>
                <a:rPr lang="zh-CN" altLang="en-US" sz="1400" b="1" u="none" dirty="0" smtClean="0">
                  <a:latin typeface="宋体" panose="02010600030101010101" pitchFamily="2" charset="-122"/>
                </a:rPr>
                <a:t>个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9" name="右大括号 48"/>
            <p:cNvSpPr/>
            <p:nvPr>
              <p:custDataLst>
                <p:tags r:id="rId15"/>
              </p:custDataLst>
            </p:nvPr>
          </p:nvSpPr>
          <p:spPr bwMode="auto">
            <a:xfrm>
              <a:off x="8040546" y="4229196"/>
              <a:ext cx="46800" cy="792000"/>
            </a:xfrm>
            <a:prstGeom prst="rightBrace">
              <a:avLst>
                <a:gd name="adj1" fmla="val 53467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" name="Text Box 108"/>
          <p:cNvSpPr txBox="1">
            <a:spLocks noChangeArrowheads="1"/>
          </p:cNvSpPr>
          <p:nvPr/>
        </p:nvSpPr>
        <p:spPr bwMode="auto">
          <a:xfrm>
            <a:off x="1852930" y="864235"/>
            <a:ext cx="7127875" cy="39382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由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定长单元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构成的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一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维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线性空间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</a:t>
            </a:r>
            <a:endParaRPr lang="zh-CN" altLang="en-US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按地址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访问</a:t>
            </a:r>
            <a:endParaRPr lang="zh-CN" altLang="en-US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spc="-10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spc="-10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接收</a:t>
            </a:r>
            <a:r>
              <a:rPr lang="zh-CN" altLang="en-US" sz="2200" b="1" u="none" spc="-100" dirty="0">
                <a:latin typeface="宋体" panose="02010600030101010101" pitchFamily="2" charset="-122"/>
                <a:sym typeface="+mn-ea"/>
              </a:rPr>
              <a:t>地址及命令</a:t>
            </a:r>
            <a:r>
              <a:rPr lang="zh-CN" altLang="en-US" sz="2200" b="1" u="none" spc="-100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u="none" spc="-10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选择</a:t>
            </a:r>
            <a:r>
              <a:rPr lang="zh-CN" altLang="en-US" sz="2200" b="1" u="none" spc="-100" dirty="0" smtClean="0">
                <a:latin typeface="宋体" panose="02010600030101010101" pitchFamily="2" charset="-122"/>
                <a:sym typeface="+mn-ea"/>
              </a:rPr>
              <a:t>单元、</a:t>
            </a:r>
            <a:r>
              <a:rPr lang="zh-CN" altLang="en-US" sz="2200" b="1" u="none" spc="-10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启动</a:t>
            </a:r>
            <a:r>
              <a:rPr lang="zh-CN" altLang="en-US" sz="2200" b="1" u="none" spc="-100" dirty="0" smtClean="0">
                <a:latin typeface="宋体" panose="02010600030101010101" pitchFamily="2" charset="-122"/>
                <a:sym typeface="+mn-ea"/>
              </a:rPr>
              <a:t>操作、</a:t>
            </a:r>
            <a:r>
              <a:rPr lang="zh-CN" altLang="en-US" sz="2200" b="1" spc="-10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输出</a:t>
            </a:r>
            <a:r>
              <a:rPr lang="zh-CN" altLang="en-US" sz="2200" b="1" u="none" spc="-100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数据</a:t>
            </a: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接收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地址及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命令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数据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选择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单元、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启动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操作</a:t>
            </a: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程序放在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程序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中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从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0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开始、程序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空间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&gt;&gt;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硬件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空间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，</a:t>
            </a: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程序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按逻辑地址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执行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访问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MEM/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形成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地址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程序装入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后才执行，装入位置可变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多个程序共用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MEM)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，</a:t>
            </a: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容量大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速度快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价格低</a:t>
            </a: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46" name="Text Box 140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88000" y="4752000"/>
            <a:ext cx="1728000" cy="1296000"/>
          </a:xfrm>
          <a:prstGeom prst="rect">
            <a:avLst/>
          </a:prstGeom>
          <a:noFill/>
          <a:ln w="12700">
            <a:solidFill>
              <a:srgbClr val="FF3399"/>
            </a:solidFill>
            <a:prstDash val="dashDot"/>
            <a:miter lim="800000"/>
          </a:ln>
          <a:effectLst/>
        </p:spPr>
        <p:txBody>
          <a:bodyPr lIns="36195" tIns="10800" rIns="36195" bIns="10800" anchor="ctr"/>
          <a:p>
            <a:pPr>
              <a:lnSpc>
                <a:spcPct val="114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+mn-ea"/>
                <a:ea typeface="+mn-ea"/>
              </a:rPr>
              <a:t>程序</a:t>
            </a:r>
            <a:r>
              <a:rPr lang="en-US" altLang="zh-CN" sz="1800" b="1" u="none" dirty="0" smtClean="0">
                <a:solidFill>
                  <a:srgbClr val="990099"/>
                </a:solidFill>
                <a:latin typeface="+mn-ea"/>
                <a:ea typeface="+mn-ea"/>
              </a:rPr>
              <a:t>MEM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endParaRPr lang="en-US" altLang="zh-CN" sz="1800" b="1" u="none" dirty="0" smtClean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14000"/>
              </a:lnSpc>
            </a:pPr>
            <a:r>
              <a:rPr lang="zh-CN" altLang="en-US" sz="1800" b="1" u="none" dirty="0" smtClean="0">
                <a:latin typeface="+mn-ea"/>
                <a:ea typeface="+mn-ea"/>
              </a:rPr>
              <a:t>  指程序空间</a:t>
            </a:r>
            <a:r>
              <a:rPr lang="zh-CN" altLang="en-US" sz="1800" b="1" u="none" dirty="0">
                <a:latin typeface="+mn-ea"/>
                <a:ea typeface="+mn-ea"/>
              </a:rPr>
              <a:t>的</a:t>
            </a:r>
            <a:r>
              <a:rPr lang="en-US" altLang="zh-CN" sz="1800" b="1" u="none" dirty="0">
                <a:solidFill>
                  <a:srgbClr val="0070C0"/>
                </a:solidFill>
                <a:latin typeface="+mn-ea"/>
                <a:ea typeface="+mn-ea"/>
              </a:rPr>
              <a:t>MEM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+mn-ea"/>
                <a:ea typeface="+mn-ea"/>
              </a:rPr>
              <a:t>抽象</a:t>
            </a:r>
            <a:r>
              <a:rPr lang="zh-CN" altLang="en-US" sz="1800" b="1" u="none" dirty="0" smtClean="0">
                <a:latin typeface="+mn-ea"/>
                <a:ea typeface="+mn-ea"/>
              </a:rPr>
              <a:t>，并不</a:t>
            </a:r>
            <a:r>
              <a:rPr lang="zh-CN" altLang="en-US" sz="1800" b="1" u="none" dirty="0">
                <a:latin typeface="+mn-ea"/>
                <a:ea typeface="+mn-ea"/>
              </a:rPr>
              <a:t>真实存在</a:t>
            </a:r>
            <a:r>
              <a:rPr lang="zh-CN" altLang="en-US" sz="1800" b="1" u="none" dirty="0" smtClean="0">
                <a:latin typeface="+mn-ea"/>
                <a:ea typeface="+mn-ea"/>
              </a:rPr>
              <a:t>！</a:t>
            </a:r>
            <a:endParaRPr lang="en-US" altLang="zh-CN" sz="1800" b="1" u="none" dirty="0" smtClean="0">
              <a:latin typeface="+mn-ea"/>
              <a:ea typeface="+mn-ea"/>
            </a:endParaRPr>
          </a:p>
        </p:txBody>
      </p:sp>
      <p:grpSp>
        <p:nvGrpSpPr>
          <p:cNvPr id="25" name="组合 24"/>
          <p:cNvGrpSpPr/>
          <p:nvPr/>
        </p:nvGrpSpPr>
        <p:grpSpPr>
          <a:xfrm rot="0">
            <a:off x="2124710" y="4752000"/>
            <a:ext cx="2597785" cy="1296035"/>
            <a:chOff x="1325627" y="1484784"/>
            <a:chExt cx="2598085" cy="1296041"/>
          </a:xfrm>
        </p:grpSpPr>
        <p:sp>
          <p:nvSpPr>
            <p:cNvPr id="26" name="Text Box 36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979712" y="1844824"/>
              <a:ext cx="1944000" cy="936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36195" tIns="10800" rIns="0" bIns="10800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AC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M[</a:t>
              </a:r>
              <a:r>
                <a:rPr lang="en-US" altLang="zh-CN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00002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]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AC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(AC)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M[</a:t>
              </a:r>
              <a:r>
                <a:rPr lang="en-US" altLang="zh-CN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00003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]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 x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 …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7" name="Text Box 36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325867" y="1844825"/>
              <a:ext cx="648000" cy="93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36195" tIns="10800" rIns="36195" bIns="10800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00000</a:t>
              </a:r>
              <a:endParaRPr lang="en-US" altLang="zh-CN" sz="1600" b="1" u="none" dirty="0" smtClean="0">
                <a:solidFill>
                  <a:srgbClr val="0070C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00001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00002</a:t>
              </a:r>
              <a:endParaRPr lang="en-US" altLang="zh-CN" sz="1600" b="1" u="none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00003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8" name="直接连接符 27"/>
            <p:cNvCxnSpPr/>
            <p:nvPr>
              <p:custDataLst>
                <p:tags r:id="rId19"/>
              </p:custDataLst>
            </p:nvPr>
          </p:nvCxnSpPr>
          <p:spPr bwMode="auto">
            <a:xfrm>
              <a:off x="1979712" y="2071734"/>
              <a:ext cx="1944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直接连接符 28"/>
            <p:cNvCxnSpPr/>
            <p:nvPr>
              <p:custDataLst>
                <p:tags r:id="rId20"/>
              </p:custDataLst>
            </p:nvPr>
          </p:nvCxnSpPr>
          <p:spPr bwMode="auto">
            <a:xfrm>
              <a:off x="1979712" y="2299732"/>
              <a:ext cx="1944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直接连接符 29"/>
            <p:cNvCxnSpPr/>
            <p:nvPr>
              <p:custDataLst>
                <p:tags r:id="rId21"/>
              </p:custDataLst>
            </p:nvPr>
          </p:nvCxnSpPr>
          <p:spPr bwMode="auto">
            <a:xfrm>
              <a:off x="1979712" y="2515756"/>
              <a:ext cx="1944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" name="Text Box 36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325627" y="1484784"/>
              <a:ext cx="2592000" cy="36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r>
                <a:rPr lang="zh-CN" altLang="en-US" sz="1600" b="1" u="none" dirty="0" smtClean="0">
                  <a:latin typeface="宋体" panose="02010600030101010101" pitchFamily="2" charset="-122"/>
                </a:rPr>
                <a:t>逻辑地址  </a:t>
              </a:r>
              <a:r>
                <a:rPr lang="zh-CN" altLang="en-US" sz="18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程序</a:t>
              </a:r>
              <a:r>
                <a:rPr lang="zh-CN" altLang="en-US" sz="18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存储器</a:t>
              </a:r>
              <a:endPara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rot="0">
            <a:off x="4860925" y="5220000"/>
            <a:ext cx="647700" cy="431800"/>
            <a:chOff x="5076056" y="4703372"/>
            <a:chExt cx="648000" cy="432024"/>
          </a:xfrm>
        </p:grpSpPr>
        <p:sp>
          <p:nvSpPr>
            <p:cNvPr id="40" name="右箭头 39"/>
            <p:cNvSpPr/>
            <p:nvPr>
              <p:custDataLst>
                <p:tags r:id="rId23"/>
              </p:custDataLst>
            </p:nvPr>
          </p:nvSpPr>
          <p:spPr bwMode="auto">
            <a:xfrm>
              <a:off x="5076056" y="4919396"/>
              <a:ext cx="648000" cy="216000"/>
            </a:xfrm>
            <a:prstGeom prst="rightArrow">
              <a:avLst>
                <a:gd name="adj1" fmla="val 33789"/>
                <a:gd name="adj2" fmla="val 5000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" name="Text Box 223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134240" y="4703372"/>
              <a:ext cx="504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装入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0">
            <a:off x="5653405" y="4752000"/>
            <a:ext cx="2597785" cy="1296035"/>
            <a:chOff x="1325627" y="1484816"/>
            <a:chExt cx="2598085" cy="1296009"/>
          </a:xfrm>
        </p:grpSpPr>
        <p:sp>
          <p:nvSpPr>
            <p:cNvPr id="7" name="Text Box 36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979712" y="1844824"/>
              <a:ext cx="1944000" cy="93600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tIns="10800" bIns="10800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AC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M[</a:t>
              </a:r>
              <a:r>
                <a:rPr lang="en-US" altLang="zh-CN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0002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]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AC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(AC)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M[</a:t>
              </a:r>
              <a:r>
                <a:rPr lang="en-US" altLang="zh-CN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0003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]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 x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 …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0" name="Text Box 36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325699" y="1844825"/>
              <a:ext cx="648000" cy="93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tIns="10800" bIns="10800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2000</a:t>
              </a:r>
              <a:endParaRPr lang="en-US" altLang="zh-CN" sz="1600" b="1" u="none" dirty="0" smtClean="0">
                <a:solidFill>
                  <a:srgbClr val="0070C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2001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2002</a:t>
              </a:r>
              <a:endParaRPr lang="en-US" altLang="zh-CN" sz="1600" b="1" u="none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2003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51" name="直接连接符 50"/>
            <p:cNvCxnSpPr/>
            <p:nvPr>
              <p:custDataLst>
                <p:tags r:id="rId27"/>
              </p:custDataLst>
            </p:nvPr>
          </p:nvCxnSpPr>
          <p:spPr bwMode="auto">
            <a:xfrm>
              <a:off x="1979712" y="2071734"/>
              <a:ext cx="1944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直接连接符 51"/>
            <p:cNvCxnSpPr/>
            <p:nvPr>
              <p:custDataLst>
                <p:tags r:id="rId28"/>
              </p:custDataLst>
            </p:nvPr>
          </p:nvCxnSpPr>
          <p:spPr bwMode="auto">
            <a:xfrm>
              <a:off x="1979712" y="2299732"/>
              <a:ext cx="1944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直接连接符 52"/>
            <p:cNvCxnSpPr/>
            <p:nvPr>
              <p:custDataLst>
                <p:tags r:id="rId29"/>
              </p:custDataLst>
            </p:nvPr>
          </p:nvCxnSpPr>
          <p:spPr bwMode="auto">
            <a:xfrm>
              <a:off x="1979712" y="2515756"/>
              <a:ext cx="1944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4" name="Text Box 36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325627" y="1484816"/>
              <a:ext cx="2592000" cy="36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物理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地址 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8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硬件存储器</a:t>
              </a:r>
              <a:endParaRPr lang="zh-CN" altLang="en-US" sz="1800" b="1" u="none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</p:grpSp>
      <p:cxnSp>
        <p:nvCxnSpPr>
          <p:cNvPr id="43" name="直接箭头连接符 42"/>
          <p:cNvCxnSpPr/>
          <p:nvPr>
            <p:custDataLst>
              <p:tags r:id="rId31"/>
            </p:custDataLst>
          </p:nvPr>
        </p:nvCxnSpPr>
        <p:spPr bwMode="auto">
          <a:xfrm flipH="1">
            <a:off x="6156000" y="5328000"/>
            <a:ext cx="966470" cy="332740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ysDash"/>
            <a:round/>
            <a:headEnd type="oval" w="med" len="med"/>
            <a:tailEnd type="arrow"/>
          </a:ln>
          <a:effectLst/>
        </p:spPr>
      </p:cxnSp>
      <p:cxnSp>
        <p:nvCxnSpPr>
          <p:cNvPr id="8" name="直接箭头连接符 7"/>
          <p:cNvCxnSpPr/>
          <p:nvPr>
            <p:custDataLst>
              <p:tags r:id="rId32"/>
            </p:custDataLst>
          </p:nvPr>
        </p:nvCxnSpPr>
        <p:spPr bwMode="auto">
          <a:xfrm flipH="1">
            <a:off x="2699236" y="5328000"/>
            <a:ext cx="866775" cy="321945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ysDash"/>
            <a:round/>
            <a:headEnd type="oval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1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08"/>
          <p:cNvSpPr txBox="1">
            <a:spLocks noChangeArrowheads="1"/>
          </p:cNvSpPr>
          <p:nvPr/>
        </p:nvSpPr>
        <p:spPr bwMode="auto">
          <a:xfrm>
            <a:off x="142844" y="417577"/>
            <a:ext cx="8893652" cy="57477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主要内容</a:t>
            </a:r>
            <a:endParaRPr lang="en-US" altLang="zh-CN" sz="20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目标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组织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高性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价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的存储系统，可按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程序地址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访问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⑴层次结构存储系统       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存储系统的结构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MEM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技术指标，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的层次结构</a:t>
            </a:r>
            <a:r>
              <a:rPr lang="en-US" altLang="zh-CN" sz="20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000" b="1" u="none" dirty="0">
                <a:latin typeface="宋体" panose="02010600030101010101" pitchFamily="2" charset="-122"/>
              </a:rPr>
              <a:t>程序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访问局部性、组成要求</a:t>
            </a:r>
            <a:r>
              <a:rPr lang="en-US" altLang="zh-CN" sz="20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⑵半导体存储器           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硬件基础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SRAM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200" b="1" u="none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组成、读写时序，</a:t>
            </a:r>
            <a:r>
              <a:rPr lang="en-US" altLang="zh-CN" sz="2200" b="1" u="none" spc="-100" dirty="0" smtClean="0">
                <a:latin typeface="宋体" panose="02010600030101010101" pitchFamily="2" charset="-122"/>
              </a:rPr>
              <a:t>DRAM</a:t>
            </a:r>
            <a:r>
              <a:rPr lang="zh-CN" altLang="en-US" sz="2200" b="1" u="none" spc="-100" dirty="0" smtClean="0">
                <a:latin typeface="宋体" panose="02010600030101010101" pitchFamily="2" charset="-122"/>
              </a:rPr>
              <a:t>的组成、读写时序、刷新</a:t>
            </a:r>
            <a:endParaRPr lang="en-US" altLang="zh-CN" sz="2200" b="1" u="none" spc="-100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⑶主存                   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设计与连接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solidFill>
                  <a:schemeClr val="tx1"/>
                </a:solidFill>
              </a:rPr>
              <a:t>     </a:t>
            </a:r>
            <a:r>
              <a:rPr lang="en-US" altLang="zh-CN" sz="2200" b="1" u="none" dirty="0" smtClean="0">
                <a:solidFill>
                  <a:schemeClr val="tx1"/>
                </a:solidFill>
              </a:rPr>
              <a:t>     </a:t>
            </a:r>
            <a:r>
              <a:rPr lang="zh-CN" altLang="en-US" sz="2200" b="1" u="none" dirty="0" smtClean="0"/>
              <a:t>组成，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逻辑设计，与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的连接，提高访存速度的技术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(3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类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⑷高速缓存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(Cache)        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缓冲器的组成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组成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空间管理、工作过程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，地址映射、替换算法、写策略的实现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⑸虚拟存储器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u="none" spc="-100" dirty="0" smtClean="0"/>
              <a:t>△</a:t>
            </a:r>
            <a:r>
              <a:rPr lang="en-US" altLang="zh-CN" sz="2000" b="1" u="none" spc="-100" dirty="0" smtClean="0">
                <a:latin typeface="+mn-ea"/>
                <a:ea typeface="+mn-ea"/>
              </a:rPr>
              <a:t>)</a:t>
            </a:r>
            <a:r>
              <a:rPr lang="en-US" altLang="zh-CN" sz="2200" b="1" u="none" spc="-100" dirty="0" smtClean="0">
                <a:latin typeface="+mn-ea"/>
                <a:ea typeface="+mn-ea"/>
              </a:rPr>
              <a:t>             </a:t>
            </a:r>
            <a:r>
              <a:rPr lang="en-US" altLang="zh-CN" sz="1800" b="1" u="none" spc="-100" dirty="0" smtClean="0">
                <a:latin typeface="+mn-ea"/>
                <a:ea typeface="+mn-ea"/>
              </a:rPr>
              <a:t>(</a:t>
            </a:r>
            <a:r>
              <a:rPr lang="zh-CN" altLang="en-US" sz="1800" b="1" u="none" spc="-100" dirty="0" smtClean="0">
                <a:latin typeface="+mn-ea"/>
                <a:ea typeface="+mn-ea"/>
              </a:rPr>
              <a:t>按程序地址访存的组织</a:t>
            </a:r>
            <a:r>
              <a:rPr lang="en-US" altLang="zh-CN" sz="1800" b="1" u="none" spc="-100" dirty="0" smtClean="0">
                <a:latin typeface="+mn-ea"/>
                <a:ea typeface="+mn-ea"/>
              </a:rPr>
              <a:t>)</a:t>
            </a:r>
            <a:endParaRPr lang="en-US" altLang="zh-CN" sz="2200" b="1" u="none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组成</a:t>
            </a:r>
            <a:r>
              <a:rPr lang="en-US" altLang="zh-CN" sz="20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000" b="1" u="none" dirty="0">
                <a:latin typeface="宋体" panose="02010600030101010101" pitchFamily="2" charset="-122"/>
              </a:rPr>
              <a:t>结构</a:t>
            </a:r>
            <a:r>
              <a:rPr lang="zh-CN" altLang="en-US" sz="20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、工作过程</a:t>
            </a:r>
            <a:r>
              <a:rPr lang="en-US" altLang="zh-CN" sz="20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VM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的存储管理方式，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VM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的实现</a:t>
            </a:r>
            <a:endParaRPr lang="en-US" altLang="zh-CN" sz="2200" b="1" u="none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总体要求：</a:t>
            </a:r>
            <a:r>
              <a:rPr lang="zh-CN" altLang="en-US" b="1" dirty="0">
                <a:solidFill>
                  <a:schemeClr val="accent2"/>
                </a:solidFill>
              </a:rPr>
              <a:t>可设计</a:t>
            </a:r>
            <a:r>
              <a:rPr lang="zh-CN" altLang="en-US" b="1" u="none" dirty="0"/>
              <a:t>主存、</a:t>
            </a:r>
            <a:r>
              <a:rPr lang="zh-CN" altLang="en-US" b="1" dirty="0">
                <a:solidFill>
                  <a:schemeClr val="accent2"/>
                </a:solidFill>
              </a:rPr>
              <a:t>连接</a:t>
            </a:r>
            <a:r>
              <a:rPr lang="zh-CN" altLang="en-US" b="1" u="none" dirty="0"/>
              <a:t>主存，</a:t>
            </a:r>
            <a:r>
              <a:rPr lang="zh-CN" altLang="en-US" b="1" dirty="0">
                <a:solidFill>
                  <a:schemeClr val="accent2"/>
                </a:solidFill>
              </a:rPr>
              <a:t>掌握</a:t>
            </a:r>
            <a:r>
              <a:rPr lang="zh-CN" altLang="en-US" b="1" u="none" dirty="0"/>
              <a:t>缓冲器的组成原理</a:t>
            </a:r>
            <a:endParaRPr lang="en-US" altLang="zh-CN" b="1" u="none" dirty="0" smtClean="0">
              <a:latin typeface="宋体" panose="02010600030101010101" pitchFamily="2" charset="-122"/>
            </a:endParaRPr>
          </a:p>
        </p:txBody>
      </p:sp>
      <p:sp>
        <p:nvSpPr>
          <p:cNvPr id="4" name="AutoShape 452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7957070" y="1441351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AutoShape 45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7957070" y="2305447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AutoShape 452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7957070" y="314096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452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7957070" y="4005064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452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7957070" y="4797152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1A524-D131-4F91-B78E-144E6768314E}" type="slidenum">
              <a:rPr lang="en-US" altLang="zh-CN"/>
            </a:fld>
            <a:endParaRPr lang="en-US" altLang="zh-CN"/>
          </a:p>
        </p:txBody>
      </p:sp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838200" y="251937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u="none" dirty="0">
                <a:latin typeface="宋体" panose="02010600030101010101" pitchFamily="2" charset="-122"/>
              </a:rPr>
              <a:t>§3.1  </a:t>
            </a:r>
            <a:r>
              <a:rPr lang="zh-CN" altLang="en-US" sz="2800" b="1" u="none" dirty="0">
                <a:latin typeface="宋体" panose="02010600030101010101" pitchFamily="2" charset="-122"/>
              </a:rPr>
              <a:t>存储系统概述</a:t>
            </a:r>
            <a:endParaRPr lang="zh-CN" altLang="en-US" sz="2800" b="1" u="none" dirty="0">
              <a:latin typeface="宋体" panose="02010600030101010101" pitchFamily="2" charset="-122"/>
            </a:endParaRPr>
          </a:p>
        </p:txBody>
      </p:sp>
      <p:sp>
        <p:nvSpPr>
          <p:cNvPr id="5180" name="Text Box 60"/>
          <p:cNvSpPr txBox="1">
            <a:spLocks noChangeArrowheads="1"/>
          </p:cNvSpPr>
          <p:nvPr/>
        </p:nvSpPr>
        <p:spPr bwMode="auto">
          <a:xfrm>
            <a:off x="179388" y="1341413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/>
          <a:p>
            <a:r>
              <a:rPr lang="zh-CN" altLang="en-US" b="1" u="none" dirty="0">
                <a:solidFill>
                  <a:srgbClr val="FF3300"/>
                </a:solidFill>
                <a:latin typeface="宋体" panose="02010600030101010101" pitchFamily="2" charset="-122"/>
              </a:rPr>
              <a:t>一、存储器分类</a:t>
            </a:r>
            <a:endParaRPr lang="zh-CN" altLang="en-US" b="1" u="none" dirty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5183" name="Text Box 63"/>
          <p:cNvSpPr txBox="1">
            <a:spLocks noChangeArrowheads="1"/>
          </p:cNvSpPr>
          <p:nvPr/>
        </p:nvSpPr>
        <p:spPr bwMode="auto">
          <a:xfrm>
            <a:off x="179389" y="1802433"/>
            <a:ext cx="4392612" cy="47068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*按存储介质分类：</a:t>
            </a:r>
            <a:endParaRPr lang="en-US" altLang="zh-CN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按存取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方式分类：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8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*按应用功能分类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spcBef>
                <a:spcPts val="1500"/>
              </a:spcBef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其他分类：</a:t>
            </a:r>
            <a:endParaRPr lang="zh-CN" altLang="en-US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5234" name="Group 114"/>
          <p:cNvGraphicFramePr>
            <a:graphicFrameLocks noGrp="1"/>
          </p:cNvGraphicFramePr>
          <p:nvPr/>
        </p:nvGraphicFramePr>
        <p:xfrm>
          <a:off x="971600" y="2763784"/>
          <a:ext cx="7920880" cy="1186416"/>
        </p:xfrm>
        <a:graphic>
          <a:graphicData uri="http://schemas.openxmlformats.org/drawingml/2006/table">
            <a:tbl>
              <a:tblPr/>
              <a:tblGrid>
                <a:gridCol w="1080120"/>
                <a:gridCol w="1800200"/>
                <a:gridCol w="1872208"/>
                <a:gridCol w="2016224"/>
                <a:gridCol w="1152128"/>
              </a:tblGrid>
              <a:tr h="236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顺序存取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(SAM)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随机存取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(RAM)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直接存取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(DAM)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只读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(ROM)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36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操作类型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存、取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取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存取时间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可变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取决于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固定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与地址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无关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可变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与地址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相关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RAM/DAM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编址单位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记录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块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存储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记录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块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多个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存储字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RAM/DAM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Group 148"/>
          <p:cNvGraphicFramePr>
            <a:graphicFrameLocks noGrp="1"/>
          </p:cNvGraphicFramePr>
          <p:nvPr/>
        </p:nvGraphicFramePr>
        <p:xfrm>
          <a:off x="971599" y="4509120"/>
          <a:ext cx="7488833" cy="1447020"/>
        </p:xfrm>
        <a:graphic>
          <a:graphicData uri="http://schemas.openxmlformats.org/drawingml/2006/table">
            <a:tbl>
              <a:tblPr/>
              <a:tblGrid>
                <a:gridCol w="1101209"/>
                <a:gridCol w="1419072"/>
                <a:gridCol w="1368152"/>
                <a:gridCol w="1800200"/>
                <a:gridCol w="1800200"/>
              </a:tblGrid>
              <a:tr h="241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主存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辅存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(SM)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高速缓存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(Cache)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控存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(CS)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4293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应用功能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CPU</a:t>
                      </a:r>
                      <a:r>
                        <a:rPr kumimoji="1" lang="zh-CN" altLang="en-US" sz="1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直接访问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MEM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主存的后援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MEM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CPU-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主存间的缓冲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MEM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CPU</a:t>
                      </a:r>
                      <a:r>
                        <a:rPr kumimoji="1" lang="zh-CN" altLang="en-US" sz="1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内部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存放微程序的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MEM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存储介质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MOS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型半导体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磁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光介质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MOS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型半导体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MOS</a:t>
                      </a: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型半导体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01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存取方式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DRAM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ROM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SAM/DAM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SRAM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ROM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Text Box 63"/>
          <p:cNvSpPr txBox="1">
            <a:spLocks noChangeArrowheads="1"/>
          </p:cNvSpPr>
          <p:nvPr/>
        </p:nvSpPr>
        <p:spPr bwMode="auto">
          <a:xfrm>
            <a:off x="2987700" y="1824499"/>
            <a:ext cx="4608636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半导体器件、磁性材料、光介质</a:t>
            </a:r>
            <a:endParaRPr lang="en-US" altLang="zh-CN" b="1" u="none" dirty="0" smtClean="0">
              <a:latin typeface="宋体" panose="02010600030101010101" pitchFamily="2" charset="-122"/>
            </a:endParaRPr>
          </a:p>
        </p:txBody>
      </p:sp>
      <p:sp>
        <p:nvSpPr>
          <p:cNvPr id="9" name="Text Box 526"/>
          <p:cNvSpPr txBox="1">
            <a:spLocks noChangeArrowheads="1"/>
          </p:cNvSpPr>
          <p:nvPr/>
        </p:nvSpPr>
        <p:spPr bwMode="auto">
          <a:xfrm>
            <a:off x="179512" y="836712"/>
            <a:ext cx="8785225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200" b="1" u="none" dirty="0">
                <a:solidFill>
                  <a:srgbClr val="FF3399"/>
                </a:solidFill>
                <a:latin typeface="+mn-ea"/>
                <a:ea typeface="+mn-ea"/>
              </a:rPr>
              <a:t> </a:t>
            </a:r>
            <a:r>
              <a:rPr lang="en-US" altLang="zh-CN" sz="2200" b="1" u="none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en-US" altLang="zh-CN" sz="2200" b="1" u="none" dirty="0" smtClean="0">
                <a:latin typeface="+mn-ea"/>
                <a:ea typeface="+mn-ea"/>
              </a:rPr>
              <a:t>MEM</a:t>
            </a:r>
            <a:r>
              <a:rPr lang="zh-CN" altLang="en-US" sz="2200" b="1" u="none" dirty="0" smtClean="0">
                <a:latin typeface="+mn-ea"/>
                <a:ea typeface="+mn-ea"/>
              </a:rPr>
              <a:t>的技术指标，存储系统的组成、工作过程</a:t>
            </a:r>
            <a:endParaRPr lang="en-US" altLang="zh-CN" sz="2200" b="1" u="none" dirty="0" smtClean="0">
              <a:latin typeface="+mn-ea"/>
              <a:ea typeface="+mn-ea"/>
            </a:endParaRPr>
          </a:p>
        </p:txBody>
      </p:sp>
      <p:sp>
        <p:nvSpPr>
          <p:cNvPr id="13" name="Text Box 63"/>
          <p:cNvSpPr txBox="1">
            <a:spLocks noChangeArrowheads="1"/>
          </p:cNvSpPr>
          <p:nvPr/>
        </p:nvSpPr>
        <p:spPr bwMode="auto">
          <a:xfrm>
            <a:off x="2123728" y="5991671"/>
            <a:ext cx="3960440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b="1" u="none" dirty="0" smtClean="0">
                <a:latin typeface="宋体" panose="02010600030101010101" pitchFamily="2" charset="-122"/>
              </a:rPr>
              <a:t>易</a:t>
            </a:r>
            <a:r>
              <a:rPr lang="zh-CN" altLang="en-US" b="1" u="none" dirty="0">
                <a:latin typeface="宋体" panose="02010600030101010101" pitchFamily="2" charset="-122"/>
              </a:rPr>
              <a:t>失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型、非易失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型等</a:t>
            </a:r>
            <a:endParaRPr lang="en-US" altLang="zh-CN" b="1" u="none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0" grpId="0" bldLvl="0" animBg="1"/>
      <p:bldP spid="5183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128"/>
          <p:cNvSpPr txBox="1">
            <a:spLocks noChangeArrowheads="1"/>
          </p:cNvSpPr>
          <p:nvPr/>
        </p:nvSpPr>
        <p:spPr bwMode="auto">
          <a:xfrm>
            <a:off x="179388" y="908720"/>
            <a:ext cx="3168972" cy="45166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存储容量</a:t>
            </a: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(S)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存取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速度：</a:t>
            </a:r>
            <a:endParaRPr lang="zh-CN" altLang="en-US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访问时间</a:t>
            </a: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(T</a:t>
            </a:r>
            <a:r>
              <a:rPr lang="en-US" altLang="zh-CN" b="1" u="none" baseline="-18000" dirty="0">
                <a:solidFill>
                  <a:schemeClr val="accent2"/>
                </a:solidFill>
                <a:latin typeface="宋体" panose="02010600030101010101" pitchFamily="2" charset="-122"/>
              </a:rPr>
              <a:t>A</a:t>
            </a: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)—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存取</a:t>
            </a: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周期</a:t>
            </a: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(T</a:t>
            </a:r>
            <a:r>
              <a:rPr lang="en-US" altLang="zh-CN" b="1" u="none" baseline="-18000" dirty="0">
                <a:solidFill>
                  <a:schemeClr val="accent2"/>
                </a:solidFill>
                <a:latin typeface="宋体" panose="02010600030101010101" pitchFamily="2" charset="-122"/>
              </a:rPr>
              <a:t>M</a:t>
            </a: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)—</a:t>
            </a:r>
            <a:endParaRPr lang="en-US" altLang="zh-CN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传输速度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MEM</a:t>
            </a: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带宽</a:t>
            </a: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(B</a:t>
            </a:r>
            <a:r>
              <a:rPr lang="en-US" altLang="zh-CN" b="1" u="none" baseline="-20000" dirty="0">
                <a:solidFill>
                  <a:schemeClr val="accent2"/>
                </a:solidFill>
                <a:latin typeface="宋体" panose="02010600030101010101" pitchFamily="2" charset="-122"/>
              </a:rPr>
              <a:t>M</a:t>
            </a: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)—</a:t>
            </a:r>
            <a:endParaRPr lang="zh-CN" altLang="en-US" b="1" u="none" dirty="0" smtClean="0">
              <a:latin typeface="宋体" panose="02010600030101010101" pitchFamily="2" charset="-122"/>
            </a:endParaRPr>
          </a:p>
        </p:txBody>
      </p:sp>
      <p:sp>
        <p:nvSpPr>
          <p:cNvPr id="3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6A716-81B0-4ECB-BB26-E778756E9104}" type="slidenum">
              <a:rPr lang="en-US" altLang="zh-CN"/>
            </a:fld>
            <a:endParaRPr lang="en-US" altLang="zh-CN"/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179388" y="405309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defRPr b="1" u="none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二、存储器的主要技术指标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97" name="Text Box 129"/>
          <p:cNvSpPr txBox="1">
            <a:spLocks noChangeArrowheads="1"/>
          </p:cNvSpPr>
          <p:nvPr/>
        </p:nvSpPr>
        <p:spPr bwMode="auto">
          <a:xfrm>
            <a:off x="2051720" y="908720"/>
            <a:ext cx="6624736" cy="24391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   可</a:t>
            </a:r>
            <a:r>
              <a:rPr lang="zh-CN" altLang="en-US" b="1" u="none" dirty="0">
                <a:latin typeface="宋体" panose="02010600030101010101" pitchFamily="2" charset="-122"/>
              </a:rPr>
              <a:t>存储的二进制位数，单位常为字节</a:t>
            </a:r>
            <a:r>
              <a:rPr lang="en-US" altLang="zh-CN" b="1" u="none" dirty="0">
                <a:latin typeface="宋体" panose="02010600030101010101" pitchFamily="2" charset="-122"/>
              </a:rPr>
              <a:t>(B)</a:t>
            </a: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b="1" u="none" dirty="0" smtClean="0">
                <a:latin typeface="宋体" panose="02010600030101010101" pitchFamily="2" charset="-122"/>
              </a:rPr>
              <a:t>常用访问时间、</a:t>
            </a:r>
            <a:r>
              <a:rPr lang="zh-CN" altLang="en-US" b="1" u="none" dirty="0">
                <a:latin typeface="宋体" panose="02010600030101010101" pitchFamily="2" charset="-122"/>
              </a:rPr>
              <a:t>存取周期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表示，单位为</a:t>
            </a:r>
            <a:r>
              <a:rPr lang="en-US" altLang="zh-CN" u="none" dirty="0" err="1" smtClean="0">
                <a:latin typeface="+mn-lt"/>
              </a:rPr>
              <a:t>μ</a:t>
            </a:r>
            <a:r>
              <a:rPr lang="en-US" altLang="zh-CN" b="1" u="none" dirty="0" err="1" smtClean="0">
                <a:latin typeface="宋体" panose="02010600030101010101" pitchFamily="2" charset="-122"/>
              </a:rPr>
              <a:t>s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等</a:t>
            </a:r>
            <a:endParaRPr lang="zh-CN" altLang="en-US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      指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MEM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收到命令→完成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操作</a:t>
            </a:r>
            <a:r>
              <a:rPr lang="zh-CN" altLang="en-US" b="1" u="none" dirty="0">
                <a:latin typeface="宋体" panose="02010600030101010101" pitchFamily="2" charset="-122"/>
              </a:rPr>
              <a:t>所需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时间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      指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MEM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两次操作最短间隔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时间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      即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T</a:t>
            </a:r>
            <a:r>
              <a:rPr lang="en-US" altLang="zh-CN" b="1" u="none" baseline="-18000" dirty="0" smtClean="0">
                <a:latin typeface="宋体" panose="02010600030101010101" pitchFamily="2" charset="-122"/>
              </a:rPr>
              <a:t>M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T</a:t>
            </a:r>
            <a:r>
              <a:rPr lang="en-US" altLang="zh-CN" b="1" u="none" baseline="-18000" dirty="0" smtClean="0">
                <a:latin typeface="宋体" panose="02010600030101010101" pitchFamily="2" charset="-122"/>
              </a:rPr>
              <a:t>A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+T</a:t>
            </a:r>
            <a:r>
              <a:rPr lang="zh-CN" altLang="en-US" b="1" u="none" baseline="-18000" dirty="0" smtClean="0">
                <a:latin typeface="宋体" panose="02010600030101010101" pitchFamily="2" charset="-122"/>
              </a:rPr>
              <a:t>恢复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如：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DRAM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的刷新∈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T</a:t>
            </a:r>
            <a:r>
              <a:rPr lang="zh-CN" altLang="en-US" sz="2000" b="1" u="none" baseline="-18000" dirty="0" smtClean="0">
                <a:latin typeface="宋体" panose="02010600030101010101" pitchFamily="2" charset="-122"/>
              </a:rPr>
              <a:t>恢复</a:t>
            </a:r>
            <a:endParaRPr lang="en-US" altLang="zh-CN" sz="2000" u="none" dirty="0" smtClean="0">
              <a:latin typeface="宋体" panose="02010600030101010101" pitchFamily="2" charset="-122"/>
            </a:endParaRPr>
          </a:p>
        </p:txBody>
      </p:sp>
      <p:sp>
        <p:nvSpPr>
          <p:cNvPr id="7324" name="Text Box 156"/>
          <p:cNvSpPr txBox="1">
            <a:spLocks noChangeArrowheads="1"/>
          </p:cNvSpPr>
          <p:nvPr/>
        </p:nvSpPr>
        <p:spPr bwMode="auto">
          <a:xfrm>
            <a:off x="2051720" y="4365104"/>
            <a:ext cx="6912634" cy="17820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>
                <a:latin typeface="宋体" panose="02010600030101010101" pitchFamily="2" charset="-122"/>
              </a:rPr>
              <a:t>常用</a:t>
            </a:r>
            <a:r>
              <a:rPr lang="en-US" altLang="zh-CN" b="1" u="none" dirty="0">
                <a:latin typeface="宋体" panose="02010600030101010101" pitchFamily="2" charset="-122"/>
              </a:rPr>
              <a:t>MEM</a:t>
            </a:r>
            <a:r>
              <a:rPr lang="zh-CN" altLang="en-US" b="1" u="none" dirty="0">
                <a:latin typeface="宋体" panose="02010600030101010101" pitchFamily="2" charset="-122"/>
              </a:rPr>
              <a:t>带宽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表示，</a:t>
            </a:r>
            <a:r>
              <a:rPr lang="zh-CN" altLang="en-US" b="1" u="none" dirty="0">
                <a:latin typeface="宋体" panose="02010600030101010101" pitchFamily="2" charset="-122"/>
              </a:rPr>
              <a:t>单位常为</a:t>
            </a:r>
            <a:r>
              <a:rPr lang="en-US" altLang="zh-CN" b="1" u="none" dirty="0">
                <a:latin typeface="宋体" panose="02010600030101010101" pitchFamily="2" charset="-122"/>
              </a:rPr>
              <a:t>Mbps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    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指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MEM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的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最大</a:t>
            </a:r>
            <a:r>
              <a:rPr lang="zh-CN" altLang="en-US" b="1" dirty="0" smtClean="0">
                <a:latin typeface="宋体" panose="02010600030101010101" pitchFamily="2" charset="-122"/>
              </a:rPr>
              <a:t>数据传输率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传输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2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个数据的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最小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间隔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zh-CN" altLang="en-US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如：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基本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RAM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的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B</a:t>
            </a:r>
            <a:r>
              <a:rPr lang="en-US" altLang="zh-CN" sz="2000" b="1" u="none" baseline="-20000" dirty="0" smtClean="0">
                <a:latin typeface="宋体" panose="02010600030101010101" pitchFamily="2" charset="-122"/>
              </a:rPr>
              <a:t>M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W/T</a:t>
            </a:r>
            <a:r>
              <a:rPr lang="en-US" altLang="zh-CN" sz="2000" b="1" u="none" baseline="-20000" dirty="0" smtClean="0">
                <a:latin typeface="宋体" panose="02010600030101010101" pitchFamily="2" charset="-122"/>
              </a:rPr>
              <a:t>M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，多体交叉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RAM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的</a:t>
            </a:r>
            <a:r>
              <a:rPr lang="en-US" altLang="zh-CN" sz="2000" b="1" u="none" dirty="0">
                <a:latin typeface="宋体" panose="02010600030101010101" pitchFamily="2" charset="-122"/>
              </a:rPr>
              <a:t>B</a:t>
            </a:r>
            <a:r>
              <a:rPr lang="en-US" altLang="zh-CN" sz="2000" b="1" u="none" baseline="-20000" dirty="0">
                <a:latin typeface="宋体" panose="02010600030101010101" pitchFamily="2" charset="-122"/>
              </a:rPr>
              <a:t>M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sz="2000" b="1" u="none" dirty="0" err="1" smtClean="0">
                <a:latin typeface="宋体" panose="02010600030101010101" pitchFamily="2" charset="-122"/>
              </a:rPr>
              <a:t>n</a:t>
            </a:r>
            <a:r>
              <a:rPr lang="en-US" altLang="zh-CN" sz="2000" b="1" u="none" dirty="0" err="1" smtClean="0">
                <a:latin typeface="+mn-lt"/>
              </a:rPr>
              <a:t>·</a:t>
            </a:r>
            <a:r>
              <a:rPr lang="en-US" altLang="zh-CN" sz="2000" b="1" u="none" dirty="0" err="1" smtClean="0">
                <a:latin typeface="宋体" panose="02010600030101010101" pitchFamily="2" charset="-122"/>
              </a:rPr>
              <a:t>W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/T</a:t>
            </a:r>
            <a:r>
              <a:rPr lang="en-US" altLang="zh-CN" sz="2000" b="1" u="none" baseline="-20000" dirty="0" smtClean="0">
                <a:latin typeface="宋体" panose="02010600030101010101" pitchFamily="2" charset="-122"/>
              </a:rPr>
              <a:t>M</a:t>
            </a:r>
            <a:endParaRPr lang="en-US" altLang="zh-CN" sz="20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2000" b="1" u="none" dirty="0" smtClean="0">
                <a:latin typeface="宋体" panose="02010600030101010101" pitchFamily="2" charset="-122"/>
              </a:rPr>
              <a:t>      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    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其中，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W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为数据引脚位数，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n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为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MEM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体数</a:t>
            </a:r>
            <a:endParaRPr lang="zh-CN" altLang="en-US" sz="2000" b="1" u="none" dirty="0">
              <a:latin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835696" y="3356992"/>
            <a:ext cx="6048672" cy="1041563"/>
            <a:chOff x="1764233" y="3145073"/>
            <a:chExt cx="6048672" cy="1041563"/>
          </a:xfrm>
        </p:grpSpPr>
        <p:sp>
          <p:nvSpPr>
            <p:cNvPr id="7327" name="Line 159"/>
            <p:cNvSpPr>
              <a:spLocks noChangeShapeType="1"/>
            </p:cNvSpPr>
            <p:nvPr/>
          </p:nvSpPr>
          <p:spPr bwMode="auto">
            <a:xfrm>
              <a:off x="2123728" y="3862636"/>
              <a:ext cx="0" cy="3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28" name="Line 160"/>
            <p:cNvSpPr>
              <a:spLocks noChangeShapeType="1"/>
            </p:cNvSpPr>
            <p:nvPr/>
          </p:nvSpPr>
          <p:spPr bwMode="auto">
            <a:xfrm>
              <a:off x="4068489" y="3862636"/>
              <a:ext cx="0" cy="1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29" name="Line 161"/>
            <p:cNvSpPr>
              <a:spLocks noChangeShapeType="1"/>
            </p:cNvSpPr>
            <p:nvPr/>
          </p:nvSpPr>
          <p:spPr bwMode="auto">
            <a:xfrm>
              <a:off x="5006181" y="3862636"/>
              <a:ext cx="0" cy="3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30" name="Line 162"/>
            <p:cNvSpPr>
              <a:spLocks noChangeShapeType="1"/>
            </p:cNvSpPr>
            <p:nvPr/>
          </p:nvSpPr>
          <p:spPr bwMode="auto">
            <a:xfrm>
              <a:off x="3276401" y="3928081"/>
              <a:ext cx="79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31" name="Line 163"/>
            <p:cNvSpPr>
              <a:spLocks noChangeShapeType="1"/>
            </p:cNvSpPr>
            <p:nvPr/>
          </p:nvSpPr>
          <p:spPr bwMode="auto">
            <a:xfrm flipH="1">
              <a:off x="2124348" y="3928081"/>
              <a:ext cx="79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32" name="Text Box 164"/>
            <p:cNvSpPr txBox="1">
              <a:spLocks noChangeArrowheads="1"/>
            </p:cNvSpPr>
            <p:nvPr/>
          </p:nvSpPr>
          <p:spPr bwMode="auto">
            <a:xfrm>
              <a:off x="2916361" y="3806519"/>
              <a:ext cx="2889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336" name="Text Box 168"/>
            <p:cNvSpPr txBox="1">
              <a:spLocks noChangeArrowheads="1"/>
            </p:cNvSpPr>
            <p:nvPr/>
          </p:nvSpPr>
          <p:spPr bwMode="auto">
            <a:xfrm>
              <a:off x="2124273" y="3554519"/>
              <a:ext cx="1944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MEM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响应  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337" name="Line 169"/>
            <p:cNvSpPr>
              <a:spLocks noChangeShapeType="1"/>
            </p:cNvSpPr>
            <p:nvPr/>
          </p:nvSpPr>
          <p:spPr bwMode="auto">
            <a:xfrm>
              <a:off x="2123728" y="3376059"/>
              <a:ext cx="0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38" name="Text Box 170"/>
            <p:cNvSpPr txBox="1">
              <a:spLocks noChangeArrowheads="1"/>
            </p:cNvSpPr>
            <p:nvPr/>
          </p:nvSpPr>
          <p:spPr bwMode="auto">
            <a:xfrm>
              <a:off x="1764233" y="3145073"/>
              <a:ext cx="144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接收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地址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命令</a:t>
              </a:r>
              <a:r>
                <a:rPr lang="zh-CN" altLang="en-US" sz="1600" b="1" u="none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  </a:t>
              </a:r>
              <a:endParaRPr lang="zh-CN" altLang="en-US" sz="16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339" name="Line 171"/>
            <p:cNvSpPr>
              <a:spLocks noChangeShapeType="1"/>
            </p:cNvSpPr>
            <p:nvPr/>
          </p:nvSpPr>
          <p:spPr bwMode="auto">
            <a:xfrm flipV="1">
              <a:off x="4068489" y="3374471"/>
              <a:ext cx="0" cy="1800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40" name="Text Box 172"/>
            <p:cNvSpPr txBox="1">
              <a:spLocks noChangeArrowheads="1"/>
            </p:cNvSpPr>
            <p:nvPr/>
          </p:nvSpPr>
          <p:spPr bwMode="auto">
            <a:xfrm>
              <a:off x="3348409" y="3156884"/>
              <a:ext cx="93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有效</a:t>
              </a:r>
              <a:r>
                <a:rPr lang="zh-CN" altLang="en-US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 </a:t>
              </a:r>
              <a:endParaRPr lang="zh-CN" altLang="en-US" sz="1600" b="1" u="none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341" name="Text Box 173"/>
            <p:cNvSpPr txBox="1">
              <a:spLocks noChangeArrowheads="1"/>
            </p:cNvSpPr>
            <p:nvPr/>
          </p:nvSpPr>
          <p:spPr bwMode="auto">
            <a:xfrm>
              <a:off x="5004593" y="3554519"/>
              <a:ext cx="1944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MEM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响应  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343" name="Line 175"/>
            <p:cNvSpPr>
              <a:spLocks noChangeShapeType="1"/>
            </p:cNvSpPr>
            <p:nvPr/>
          </p:nvSpPr>
          <p:spPr bwMode="auto">
            <a:xfrm>
              <a:off x="5004593" y="3374471"/>
              <a:ext cx="0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44" name="Text Box 176"/>
            <p:cNvSpPr txBox="1">
              <a:spLocks noChangeArrowheads="1"/>
            </p:cNvSpPr>
            <p:nvPr/>
          </p:nvSpPr>
          <p:spPr bwMode="auto">
            <a:xfrm>
              <a:off x="4572545" y="3158471"/>
              <a:ext cx="194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接收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地址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命令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数据</a:t>
              </a:r>
              <a:r>
                <a:rPr lang="zh-CN" altLang="en-US" sz="1600" b="1" u="none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  </a:t>
              </a:r>
              <a:endParaRPr lang="zh-CN" altLang="en-US" sz="16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345" name="Line 177"/>
            <p:cNvSpPr>
              <a:spLocks noChangeShapeType="1"/>
            </p:cNvSpPr>
            <p:nvPr/>
          </p:nvSpPr>
          <p:spPr bwMode="auto">
            <a:xfrm flipV="1">
              <a:off x="6948809" y="3374471"/>
              <a:ext cx="0" cy="1800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46" name="Text Box 178"/>
            <p:cNvSpPr txBox="1">
              <a:spLocks noChangeArrowheads="1"/>
            </p:cNvSpPr>
            <p:nvPr/>
          </p:nvSpPr>
          <p:spPr bwMode="auto">
            <a:xfrm>
              <a:off x="6660905" y="3158471"/>
              <a:ext cx="115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写操作</a:t>
              </a:r>
              <a:r>
                <a:rPr lang="zh-CN" altLang="en-US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完成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  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348" name="Line 180"/>
            <p:cNvSpPr>
              <a:spLocks noChangeShapeType="1"/>
            </p:cNvSpPr>
            <p:nvPr/>
          </p:nvSpPr>
          <p:spPr bwMode="auto">
            <a:xfrm>
              <a:off x="6948809" y="3861048"/>
              <a:ext cx="0" cy="1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50" name="Line 182"/>
            <p:cNvSpPr>
              <a:spLocks noChangeShapeType="1"/>
            </p:cNvSpPr>
            <p:nvPr/>
          </p:nvSpPr>
          <p:spPr bwMode="auto">
            <a:xfrm>
              <a:off x="6156721" y="3928081"/>
              <a:ext cx="79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51" name="Line 183"/>
            <p:cNvSpPr>
              <a:spLocks noChangeShapeType="1"/>
            </p:cNvSpPr>
            <p:nvPr/>
          </p:nvSpPr>
          <p:spPr bwMode="auto">
            <a:xfrm flipH="1">
              <a:off x="5004593" y="3928081"/>
              <a:ext cx="79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52" name="Text Box 184"/>
            <p:cNvSpPr txBox="1">
              <a:spLocks noChangeArrowheads="1"/>
            </p:cNvSpPr>
            <p:nvPr/>
          </p:nvSpPr>
          <p:spPr bwMode="auto">
            <a:xfrm>
              <a:off x="5796681" y="3806519"/>
              <a:ext cx="2889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</p:grpSp>
      <p:sp>
        <p:nvSpPr>
          <p:cNvPr id="37" name="AutoShape 133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87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196183" y="3766438"/>
            <a:ext cx="5760590" cy="630529"/>
            <a:chOff x="2196183" y="3766438"/>
            <a:chExt cx="5760590" cy="630529"/>
          </a:xfrm>
        </p:grpSpPr>
        <p:sp>
          <p:nvSpPr>
            <p:cNvPr id="40" name="Line 165"/>
            <p:cNvSpPr>
              <a:spLocks noChangeShapeType="1"/>
            </p:cNvSpPr>
            <p:nvPr/>
          </p:nvSpPr>
          <p:spPr bwMode="auto">
            <a:xfrm>
              <a:off x="3852056" y="4284000"/>
              <a:ext cx="122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166"/>
            <p:cNvSpPr>
              <a:spLocks noChangeShapeType="1"/>
            </p:cNvSpPr>
            <p:nvPr/>
          </p:nvSpPr>
          <p:spPr bwMode="auto">
            <a:xfrm flipH="1">
              <a:off x="2196183" y="4284000"/>
              <a:ext cx="122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 Box 167"/>
            <p:cNvSpPr txBox="1">
              <a:spLocks noChangeArrowheads="1"/>
            </p:cNvSpPr>
            <p:nvPr/>
          </p:nvSpPr>
          <p:spPr bwMode="auto">
            <a:xfrm>
              <a:off x="3491880" y="4162454"/>
              <a:ext cx="2889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3" name="Text Box 174"/>
            <p:cNvSpPr txBox="1">
              <a:spLocks noChangeArrowheads="1"/>
            </p:cNvSpPr>
            <p:nvPr/>
          </p:nvSpPr>
          <p:spPr bwMode="auto">
            <a:xfrm>
              <a:off x="7020272" y="3766438"/>
              <a:ext cx="936501" cy="252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MEM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恢复  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4" name="Text Box 179"/>
            <p:cNvSpPr txBox="1">
              <a:spLocks noChangeArrowheads="1"/>
            </p:cNvSpPr>
            <p:nvPr/>
          </p:nvSpPr>
          <p:spPr bwMode="auto">
            <a:xfrm>
              <a:off x="4139952" y="3766438"/>
              <a:ext cx="936302" cy="252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MEM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恢复  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5" name="Line 181"/>
            <p:cNvSpPr>
              <a:spLocks noChangeShapeType="1"/>
            </p:cNvSpPr>
            <p:nvPr/>
          </p:nvSpPr>
          <p:spPr bwMode="auto">
            <a:xfrm>
              <a:off x="7956376" y="4072967"/>
              <a:ext cx="0" cy="3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185"/>
            <p:cNvSpPr>
              <a:spLocks noChangeShapeType="1"/>
            </p:cNvSpPr>
            <p:nvPr/>
          </p:nvSpPr>
          <p:spPr bwMode="auto">
            <a:xfrm>
              <a:off x="6732240" y="4284000"/>
              <a:ext cx="122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186"/>
            <p:cNvSpPr>
              <a:spLocks noChangeShapeType="1"/>
            </p:cNvSpPr>
            <p:nvPr/>
          </p:nvSpPr>
          <p:spPr bwMode="auto">
            <a:xfrm flipH="1">
              <a:off x="5076056" y="4284000"/>
              <a:ext cx="122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 Box 187"/>
            <p:cNvSpPr txBox="1">
              <a:spLocks noChangeArrowheads="1"/>
            </p:cNvSpPr>
            <p:nvPr/>
          </p:nvSpPr>
          <p:spPr bwMode="auto">
            <a:xfrm>
              <a:off x="6372200" y="4162454"/>
              <a:ext cx="28892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</p:grpSp>
      <p:sp>
        <p:nvSpPr>
          <p:cNvPr id="49" name="Text Box 726"/>
          <p:cNvSpPr txBox="1">
            <a:spLocks noChangeArrowheads="1"/>
          </p:cNvSpPr>
          <p:nvPr/>
        </p:nvSpPr>
        <p:spPr bwMode="auto">
          <a:xfrm>
            <a:off x="683568" y="6093328"/>
            <a:ext cx="8136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/>
              <a:t>类比</a:t>
            </a:r>
            <a:r>
              <a:rPr lang="zh-CN" altLang="en-US" sz="1800" dirty="0" smtClean="0"/>
              <a:t>：</a:t>
            </a:r>
            <a:r>
              <a:rPr lang="zh-CN" altLang="en-US" sz="1800" dirty="0" smtClean="0">
                <a:solidFill>
                  <a:schemeClr val="tx1"/>
                </a:solidFill>
              </a:rPr>
              <a:t>同学需回答</a:t>
            </a:r>
            <a:r>
              <a:rPr lang="en-US" altLang="zh-CN" sz="1800" dirty="0" smtClean="0">
                <a:solidFill>
                  <a:schemeClr val="tx1"/>
                </a:solidFill>
              </a:rPr>
              <a:t>2</a:t>
            </a:r>
            <a:r>
              <a:rPr lang="zh-CN" altLang="en-US" sz="1800" dirty="0" smtClean="0">
                <a:solidFill>
                  <a:schemeClr val="tx1"/>
                </a:solidFill>
              </a:rPr>
              <a:t>个问题，</a:t>
            </a:r>
            <a:r>
              <a:rPr lang="en-US" altLang="zh-CN" sz="1800" dirty="0" smtClean="0">
                <a:solidFill>
                  <a:schemeClr val="tx1"/>
                </a:solidFill>
              </a:rPr>
              <a:t>T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A</a:t>
            </a:r>
            <a:r>
              <a:rPr lang="en-US" altLang="zh-CN" sz="1800" dirty="0" smtClean="0">
                <a:solidFill>
                  <a:schemeClr val="tx1"/>
                </a:solidFill>
              </a:rPr>
              <a:t>=</a:t>
            </a:r>
            <a:r>
              <a:rPr lang="zh-CN" altLang="en-US" sz="1800" dirty="0" smtClean="0">
                <a:solidFill>
                  <a:schemeClr val="tx1"/>
                </a:solidFill>
              </a:rPr>
              <a:t>听清问题→张嘴回答，</a:t>
            </a:r>
            <a:r>
              <a:rPr lang="en-US" altLang="zh-CN" sz="1800" dirty="0">
                <a:solidFill>
                  <a:schemeClr val="tx1"/>
                </a:solidFill>
              </a:rPr>
              <a:t>T</a:t>
            </a:r>
            <a:r>
              <a:rPr lang="zh-CN" altLang="en-US" sz="1800" baseline="-18000" dirty="0" smtClean="0">
                <a:solidFill>
                  <a:schemeClr val="tx1"/>
                </a:solidFill>
              </a:rPr>
              <a:t>恢复</a:t>
            </a:r>
            <a:r>
              <a:rPr lang="en-US" altLang="zh-CN" sz="1800" dirty="0" smtClean="0">
                <a:solidFill>
                  <a:schemeClr val="tx1"/>
                </a:solidFill>
              </a:rPr>
              <a:t>=</a:t>
            </a:r>
            <a:r>
              <a:rPr lang="zh-CN" altLang="en-US" sz="1800" dirty="0" smtClean="0">
                <a:solidFill>
                  <a:schemeClr val="tx1"/>
                </a:solidFill>
              </a:rPr>
              <a:t>题间</a:t>
            </a:r>
            <a:r>
              <a:rPr lang="zh-CN" altLang="en-US" sz="1800" dirty="0" smtClean="0">
                <a:solidFill>
                  <a:schemeClr val="tx1"/>
                </a:solidFill>
              </a:rPr>
              <a:t>喘气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50" name="Text Box 726"/>
          <p:cNvSpPr txBox="1">
            <a:spLocks noChangeArrowheads="1"/>
          </p:cNvSpPr>
          <p:nvPr/>
        </p:nvSpPr>
        <p:spPr bwMode="auto">
          <a:xfrm>
            <a:off x="7668344" y="6093296"/>
            <a:ext cx="1151664" cy="324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 smtClean="0">
                <a:solidFill>
                  <a:schemeClr val="tx1"/>
                </a:solidFill>
              </a:rPr>
              <a:t>，</a:t>
            </a:r>
            <a:r>
              <a:rPr lang="en-US" altLang="zh-CN" sz="1800" dirty="0">
                <a:solidFill>
                  <a:schemeClr val="tx1"/>
                </a:solidFill>
              </a:rPr>
              <a:t>B</a:t>
            </a:r>
            <a:r>
              <a:rPr lang="en-US" altLang="zh-CN" sz="1800" baseline="-20000" dirty="0">
                <a:solidFill>
                  <a:schemeClr val="tx1"/>
                </a:solidFill>
              </a:rPr>
              <a:t>M</a:t>
            </a:r>
            <a:r>
              <a:rPr lang="en-US" altLang="zh-CN" sz="1800" dirty="0">
                <a:solidFill>
                  <a:schemeClr val="tx1"/>
                </a:solidFill>
              </a:rPr>
              <a:t>=</a:t>
            </a:r>
            <a:r>
              <a:rPr lang="zh-CN" altLang="en-US" sz="1800" dirty="0">
                <a:solidFill>
                  <a:schemeClr val="tx1"/>
                </a:solidFill>
              </a:rPr>
              <a:t>语速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67544" y="3069024"/>
            <a:ext cx="936032" cy="576000"/>
            <a:chOff x="-1260140" y="3008739"/>
            <a:chExt cx="936032" cy="576000"/>
          </a:xfrm>
        </p:grpSpPr>
        <p:sp>
          <p:nvSpPr>
            <p:cNvPr id="52" name="Text Box 118"/>
            <p:cNvSpPr txBox="1">
              <a:spLocks noChangeArrowheads="1"/>
            </p:cNvSpPr>
            <p:nvPr/>
          </p:nvSpPr>
          <p:spPr bwMode="auto">
            <a:xfrm>
              <a:off x="-972108" y="3008739"/>
              <a:ext cx="648000" cy="5760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spcBef>
                  <a:spcPts val="0"/>
                </a:spcBef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SRAM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53" name="直接箭头连接符 52"/>
            <p:cNvCxnSpPr/>
            <p:nvPr/>
          </p:nvCxnSpPr>
          <p:spPr bwMode="auto">
            <a:xfrm>
              <a:off x="-1260140" y="3068960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" name="直接箭头连接符 53"/>
            <p:cNvCxnSpPr/>
            <p:nvPr/>
          </p:nvCxnSpPr>
          <p:spPr bwMode="auto">
            <a:xfrm>
              <a:off x="-1260140" y="3501008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56" name="直接箭头连接符 55"/>
            <p:cNvCxnSpPr/>
            <p:nvPr/>
          </p:nvCxnSpPr>
          <p:spPr bwMode="auto">
            <a:xfrm>
              <a:off x="-1255356" y="3284984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2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7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7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Box 170"/>
          <p:cNvSpPr txBox="1">
            <a:spLocks noChangeArrowheads="1"/>
          </p:cNvSpPr>
          <p:nvPr/>
        </p:nvSpPr>
        <p:spPr bwMode="auto">
          <a:xfrm>
            <a:off x="7524328" y="5964268"/>
            <a:ext cx="936104" cy="345052"/>
          </a:xfrm>
          <a:prstGeom prst="rect">
            <a:avLst/>
          </a:prstGeom>
          <a:solidFill>
            <a:srgbClr val="FFCC99"/>
          </a:solidFill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endParaRPr lang="zh-CN" altLang="en-US" sz="18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B49E2-EB6B-4598-894A-7D6A3648E853}" type="slidenum">
              <a:rPr lang="en-US" altLang="zh-CN"/>
            </a:fld>
            <a:endParaRPr lang="en-US" altLang="zh-CN"/>
          </a:p>
        </p:txBody>
      </p:sp>
      <p:sp>
        <p:nvSpPr>
          <p:cNvPr id="118788" name="Text Box 4"/>
          <p:cNvSpPr txBox="1">
            <a:spLocks noChangeArrowheads="1"/>
          </p:cNvSpPr>
          <p:nvPr/>
        </p:nvSpPr>
        <p:spPr bwMode="auto">
          <a:xfrm>
            <a:off x="179388" y="405309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defRPr b="1" u="none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三、层次结构存储系统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8789" name="Text Box 5"/>
          <p:cNvSpPr txBox="1">
            <a:spLocks noChangeArrowheads="1"/>
          </p:cNvSpPr>
          <p:nvPr/>
        </p:nvSpPr>
        <p:spPr bwMode="auto">
          <a:xfrm>
            <a:off x="179388" y="908720"/>
            <a:ext cx="6550692" cy="36574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、层次结构的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引入 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即为什么要采用层次结构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的用户需求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用户需求的解决方案：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118801" name="Text Box 17"/>
          <p:cNvSpPr txBox="1">
            <a:spLocks noChangeArrowheads="1"/>
          </p:cNvSpPr>
          <p:nvPr/>
        </p:nvSpPr>
        <p:spPr bwMode="auto">
          <a:xfrm>
            <a:off x="179388" y="1844824"/>
            <a:ext cx="8785225" cy="226215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程序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访问的局部性原理（规律）：       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救命稻草！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zh-CN" altLang="en-US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>
                <a:latin typeface="宋体" panose="02010600030101010101" pitchFamily="2" charset="-122"/>
              </a:rPr>
              <a:t>     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程序运行</a:t>
            </a:r>
            <a:r>
              <a:rPr lang="zh-CN" altLang="en-US" b="1" u="none" dirty="0">
                <a:latin typeface="宋体" panose="02010600030101010101" pitchFamily="2" charset="-122"/>
              </a:rPr>
              <a:t>时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，指令</a:t>
            </a:r>
            <a:r>
              <a:rPr lang="zh-CN" altLang="en-US" b="1" u="none" dirty="0">
                <a:latin typeface="宋体" panose="02010600030101010101" pitchFamily="2" charset="-122"/>
              </a:rPr>
              <a:t>和数据访问所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呈现出的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相对</a:t>
            </a:r>
            <a:r>
              <a:rPr lang="zh-CN" altLang="en-US" b="1" dirty="0">
                <a:solidFill>
                  <a:srgbClr val="990099"/>
                </a:solidFill>
              </a:rPr>
              <a:t>簇</a:t>
            </a:r>
            <a:r>
              <a:rPr lang="zh-CN" altLang="en-US" b="1" dirty="0" smtClean="0">
                <a:solidFill>
                  <a:srgbClr val="990099"/>
                </a:solidFill>
              </a:rPr>
              <a:t>聚</a:t>
            </a:r>
            <a:r>
              <a:rPr lang="zh-CN" altLang="en-US" b="1" u="none" dirty="0" smtClean="0"/>
              <a:t>现象</a:t>
            </a:r>
            <a:endParaRPr lang="en-US" altLang="zh-CN" b="1" u="none" dirty="0" smtClean="0"/>
          </a:p>
          <a:p>
            <a:pPr>
              <a:lnSpc>
                <a:spcPct val="105000"/>
              </a:lnSpc>
            </a:pPr>
            <a:r>
              <a:rPr lang="zh-CN" altLang="en-US" sz="1800" b="1" u="none" dirty="0">
                <a:latin typeface="宋体" panose="02010600030101010101" pitchFamily="2" charset="-122"/>
              </a:rPr>
              <a:t> 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              示例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：</a:t>
            </a:r>
            <a:r>
              <a:rPr lang="en-US" altLang="zh-CN" sz="1800" b="1" u="none" dirty="0">
                <a:latin typeface="宋体" panose="02010600030101010101" pitchFamily="2" charset="-122"/>
              </a:rPr>
              <a:t>for (</a:t>
            </a:r>
            <a:r>
              <a:rPr lang="en-US" altLang="zh-CN" sz="1800" b="1" u="none" dirty="0" err="1">
                <a:latin typeface="宋体" panose="02010600030101010101" pitchFamily="2" charset="-122"/>
              </a:rPr>
              <a:t>i</a:t>
            </a:r>
            <a:r>
              <a:rPr lang="en-US" altLang="zh-CN" sz="1800" b="1" u="none" dirty="0">
                <a:latin typeface="宋体" panose="02010600030101010101" pitchFamily="2" charset="-122"/>
              </a:rPr>
              <a:t>=0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；</a:t>
            </a:r>
            <a:r>
              <a:rPr lang="en-US" altLang="zh-CN" sz="1800" b="1" u="none" dirty="0" err="1">
                <a:latin typeface="宋体" panose="02010600030101010101" pitchFamily="2" charset="-122"/>
              </a:rPr>
              <a:t>i</a:t>
            </a:r>
            <a:r>
              <a:rPr lang="en-US" altLang="zh-CN" sz="1800" b="1" u="none" dirty="0">
                <a:latin typeface="宋体" panose="02010600030101010101" pitchFamily="2" charset="-122"/>
              </a:rPr>
              <a:t>&lt;n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；</a:t>
            </a:r>
            <a:r>
              <a:rPr lang="en-US" altLang="zh-CN" sz="1800" b="1" u="none" dirty="0" err="1">
                <a:latin typeface="宋体" panose="02010600030101010101" pitchFamily="2" charset="-122"/>
              </a:rPr>
              <a:t>i</a:t>
            </a:r>
            <a:r>
              <a:rPr lang="en-US" altLang="zh-CN" sz="1800" b="1" u="none" dirty="0">
                <a:latin typeface="宋体" panose="02010600030101010101" pitchFamily="2" charset="-122"/>
              </a:rPr>
              <a:t>++) </a:t>
            </a:r>
            <a:r>
              <a:rPr lang="en-US" altLang="zh-CN" sz="18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S</a:t>
            </a:r>
            <a:r>
              <a:rPr lang="en-US" altLang="zh-CN" sz="1800" b="1" u="none" dirty="0">
                <a:latin typeface="宋体" panose="02010600030101010101" pitchFamily="2" charset="-122"/>
              </a:rPr>
              <a:t>=S+</a:t>
            </a:r>
            <a:r>
              <a:rPr lang="en-US" altLang="zh-CN" sz="18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A[</a:t>
            </a:r>
            <a:r>
              <a:rPr lang="en-US" altLang="zh-CN" sz="1800" b="1" u="none" dirty="0" err="1">
                <a:solidFill>
                  <a:schemeClr val="accent2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18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]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；</a:t>
            </a:r>
            <a:endParaRPr lang="en-US" altLang="zh-CN" b="1" u="none" dirty="0" smtClean="0"/>
          </a:p>
          <a:p>
            <a:pPr>
              <a:lnSpc>
                <a:spcPct val="125000"/>
              </a:lnSpc>
            </a:pPr>
            <a:r>
              <a:rPr lang="en-US" altLang="zh-CN" b="1" u="none" dirty="0"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时间局部性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空间局部性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18809" name="Text Box 25"/>
          <p:cNvSpPr txBox="1">
            <a:spLocks noChangeArrowheads="1"/>
          </p:cNvSpPr>
          <p:nvPr/>
        </p:nvSpPr>
        <p:spPr bwMode="auto">
          <a:xfrm>
            <a:off x="2771800" y="1412776"/>
            <a:ext cx="622818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大</a:t>
            </a:r>
            <a:r>
              <a:rPr lang="zh-CN" altLang="en-US" b="1" u="none" dirty="0">
                <a:latin typeface="宋体" panose="02010600030101010101" pitchFamily="2" charset="-122"/>
              </a:rPr>
              <a:t>容量、高速度、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低价格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无理，但要满足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!)</a:t>
            </a:r>
            <a:endParaRPr lang="en-US" altLang="zh-CN" sz="20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118814" name="Text Box 30"/>
          <p:cNvSpPr txBox="1">
            <a:spLocks noChangeArrowheads="1"/>
          </p:cNvSpPr>
          <p:nvPr/>
        </p:nvSpPr>
        <p:spPr bwMode="auto">
          <a:xfrm>
            <a:off x="2699793" y="3026862"/>
            <a:ext cx="6120680" cy="10531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82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最近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访问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过的信息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，将再次</a:t>
            </a:r>
            <a:r>
              <a:rPr lang="zh-CN" altLang="en-US" b="1" u="none" dirty="0">
                <a:latin typeface="宋体" panose="02010600030101010101" pitchFamily="2" charset="-122"/>
              </a:rPr>
              <a:t>被访问</a:t>
            </a:r>
            <a:endParaRPr lang="zh-CN" altLang="en-US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最近访问</a:t>
            </a:r>
            <a:r>
              <a:rPr lang="zh-CN" altLang="en-US" b="1" u="none" dirty="0">
                <a:latin typeface="宋体" panose="02010600030101010101" pitchFamily="2" charset="-122"/>
              </a:rPr>
              <a:t>信息的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相邻信息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，将很快被访问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32" name="Text Box 170"/>
          <p:cNvSpPr txBox="1">
            <a:spLocks noChangeArrowheads="1"/>
          </p:cNvSpPr>
          <p:nvPr/>
        </p:nvSpPr>
        <p:spPr bwMode="auto">
          <a:xfrm>
            <a:off x="3635896" y="5128918"/>
            <a:ext cx="1152128" cy="345052"/>
          </a:xfrm>
          <a:prstGeom prst="rect">
            <a:avLst/>
          </a:prstGeom>
          <a:solidFill>
            <a:srgbClr val="CC99FF">
              <a:alpha val="80000"/>
            </a:srgbClr>
          </a:solidFill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endParaRPr lang="zh-CN" altLang="en-US" sz="18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3635896" y="4161764"/>
            <a:ext cx="3742256" cy="1302629"/>
            <a:chOff x="3923928" y="3926571"/>
            <a:chExt cx="3742256" cy="1302629"/>
          </a:xfrm>
        </p:grpSpPr>
        <p:sp>
          <p:nvSpPr>
            <p:cNvPr id="43" name="上箭头 42"/>
            <p:cNvSpPr/>
            <p:nvPr/>
          </p:nvSpPr>
          <p:spPr bwMode="auto">
            <a:xfrm>
              <a:off x="6730080" y="4597531"/>
              <a:ext cx="144015" cy="257176"/>
            </a:xfrm>
            <a:prstGeom prst="upArrow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Text Box 170"/>
            <p:cNvSpPr txBox="1">
              <a:spLocks noChangeArrowheads="1"/>
            </p:cNvSpPr>
            <p:nvPr/>
          </p:nvSpPr>
          <p:spPr bwMode="auto">
            <a:xfrm>
              <a:off x="4857872" y="4593693"/>
              <a:ext cx="288032" cy="3005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①</a:t>
              </a:r>
              <a:endPara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5" name="上箭头 44"/>
            <p:cNvSpPr/>
            <p:nvPr/>
          </p:nvSpPr>
          <p:spPr bwMode="auto">
            <a:xfrm>
              <a:off x="4713856" y="4603107"/>
              <a:ext cx="144015" cy="257176"/>
            </a:xfrm>
            <a:prstGeom prst="upArrow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" name="Text Box 170"/>
            <p:cNvSpPr txBox="1">
              <a:spLocks noChangeArrowheads="1"/>
            </p:cNvSpPr>
            <p:nvPr/>
          </p:nvSpPr>
          <p:spPr bwMode="auto">
            <a:xfrm>
              <a:off x="3923928" y="4869160"/>
              <a:ext cx="3742256" cy="3600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2200" b="1" u="none" dirty="0">
                  <a:latin typeface="宋体" panose="02010600030101010101" pitchFamily="2" charset="-122"/>
                </a:rPr>
                <a:t>近期</a:t>
              </a:r>
              <a:r>
                <a:rPr lang="zh-CN" altLang="en-US" sz="22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常用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数据  近期</a:t>
              </a:r>
              <a:r>
                <a:rPr lang="zh-CN" altLang="en-US" sz="22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未用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数据</a:t>
              </a:r>
              <a:endPara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7" name="Text Box 170"/>
            <p:cNvSpPr txBox="1">
              <a:spLocks noChangeArrowheads="1"/>
            </p:cNvSpPr>
            <p:nvPr/>
          </p:nvSpPr>
          <p:spPr bwMode="auto">
            <a:xfrm>
              <a:off x="6876256" y="4581128"/>
              <a:ext cx="288032" cy="3005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①</a:t>
              </a:r>
              <a:endPara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8" name="Text Box 170"/>
            <p:cNvSpPr txBox="1">
              <a:spLocks noChangeArrowheads="1"/>
            </p:cNvSpPr>
            <p:nvPr/>
          </p:nvSpPr>
          <p:spPr bwMode="auto">
            <a:xfrm>
              <a:off x="4251767" y="4249552"/>
              <a:ext cx="638199" cy="351239"/>
            </a:xfrm>
            <a:prstGeom prst="rect">
              <a:avLst/>
            </a:prstGeom>
            <a:solidFill>
              <a:srgbClr val="FFCC99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endPara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 flipH="1">
              <a:off x="4572000" y="3926571"/>
              <a:ext cx="2161" cy="32298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0" name="直接连接符 49"/>
            <p:cNvCxnSpPr/>
            <p:nvPr/>
          </p:nvCxnSpPr>
          <p:spPr bwMode="auto">
            <a:xfrm flipH="1" flipV="1">
              <a:off x="4718176" y="3932853"/>
              <a:ext cx="2" cy="3166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</p:grpSp>
      <p:sp>
        <p:nvSpPr>
          <p:cNvPr id="51" name="Text Box 170"/>
          <p:cNvSpPr txBox="1">
            <a:spLocks noChangeArrowheads="1"/>
          </p:cNvSpPr>
          <p:nvPr/>
        </p:nvSpPr>
        <p:spPr bwMode="auto">
          <a:xfrm>
            <a:off x="7519268" y="5551389"/>
            <a:ext cx="936104" cy="345052"/>
          </a:xfrm>
          <a:prstGeom prst="rect">
            <a:avLst/>
          </a:prstGeom>
          <a:solidFill>
            <a:srgbClr val="FFCC99"/>
          </a:solidFill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endParaRPr lang="zh-CN" altLang="en-US" sz="18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4572000" y="4161764"/>
            <a:ext cx="1986955" cy="360040"/>
            <a:chOff x="4959149" y="4502635"/>
            <a:chExt cx="1986955" cy="360040"/>
          </a:xfrm>
        </p:grpSpPr>
        <p:sp>
          <p:nvSpPr>
            <p:cNvPr id="59" name="下弧形箭头 58"/>
            <p:cNvSpPr/>
            <p:nvPr/>
          </p:nvSpPr>
          <p:spPr bwMode="auto">
            <a:xfrm rot="10800000">
              <a:off x="4959149" y="4502635"/>
              <a:ext cx="1986955" cy="360040"/>
            </a:xfrm>
            <a:prstGeom prst="curvedUpArrow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 smtClean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" name="Text Box 170"/>
            <p:cNvSpPr txBox="1">
              <a:spLocks noChangeArrowheads="1"/>
            </p:cNvSpPr>
            <p:nvPr/>
          </p:nvSpPr>
          <p:spPr bwMode="auto">
            <a:xfrm>
              <a:off x="5721966" y="4502635"/>
              <a:ext cx="362201" cy="3005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②</a:t>
              </a:r>
              <a:endPara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53" name="Text Box 18"/>
          <p:cNvSpPr txBox="1">
            <a:spLocks noChangeArrowheads="1"/>
          </p:cNvSpPr>
          <p:nvPr/>
        </p:nvSpPr>
        <p:spPr bwMode="auto">
          <a:xfrm>
            <a:off x="179389" y="4384273"/>
            <a:ext cx="8785224" cy="20250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MEM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组成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 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快速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MEM  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＋  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慢速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MEM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速度保证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       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 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  <a:spcBef>
                <a:spcPts val="300"/>
              </a:spcBef>
            </a:pP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容量保证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      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容量小        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容量大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 ＝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容量大</a:t>
            </a:r>
            <a:endParaRPr lang="en-US" altLang="zh-CN" sz="22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价格保证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     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占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比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小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u="none" spc="600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＋  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占</a:t>
            </a:r>
            <a:r>
              <a:rPr lang="zh-CN" altLang="en-US" sz="2200" b="1" u="none" dirty="0">
                <a:latin typeface="宋体" panose="02010600030101010101" pitchFamily="2" charset="-122"/>
              </a:rPr>
              <a:t>比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大 ＝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价格低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56" name="Text Box 170"/>
          <p:cNvSpPr txBox="1">
            <a:spLocks noChangeArrowheads="1"/>
          </p:cNvSpPr>
          <p:nvPr/>
        </p:nvSpPr>
        <p:spPr bwMode="auto">
          <a:xfrm>
            <a:off x="2339752" y="4456281"/>
            <a:ext cx="1656184" cy="36004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层次结构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的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876256" y="4509120"/>
            <a:ext cx="1944216" cy="432048"/>
            <a:chOff x="6876256" y="4509120"/>
            <a:chExt cx="1944216" cy="432048"/>
          </a:xfrm>
        </p:grpSpPr>
        <p:sp>
          <p:nvSpPr>
            <p:cNvPr id="25" name="Text Box 127"/>
            <p:cNvSpPr txBox="1">
              <a:spLocks noChangeArrowheads="1"/>
            </p:cNvSpPr>
            <p:nvPr/>
          </p:nvSpPr>
          <p:spPr bwMode="auto">
            <a:xfrm>
              <a:off x="7524472" y="4509120"/>
              <a:ext cx="1296000" cy="288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 smtClean="0">
                  <a:latin typeface="宋体" panose="02010600030101010101" pitchFamily="2" charset="-122"/>
                </a:rPr>
                <a:t>利用局部性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3" name="直接箭头连接符 2"/>
            <p:cNvCxnSpPr/>
            <p:nvPr/>
          </p:nvCxnSpPr>
          <p:spPr bwMode="auto">
            <a:xfrm flipH="1">
              <a:off x="6876256" y="4709625"/>
              <a:ext cx="648072" cy="23154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  <p:cxnSp>
        <p:nvCxnSpPr>
          <p:cNvPr id="29" name="直接箭头连接符 28"/>
          <p:cNvCxnSpPr/>
          <p:nvPr/>
        </p:nvCxnSpPr>
        <p:spPr bwMode="auto">
          <a:xfrm flipH="1" flipV="1">
            <a:off x="6514055" y="4365104"/>
            <a:ext cx="1010417" cy="26884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8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8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8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5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118789" grpId="0"/>
      <p:bldP spid="118801" grpId="0"/>
      <p:bldP spid="118809" grpId="0"/>
      <p:bldP spid="118814" grpId="0"/>
      <p:bldP spid="32" grpId="0" animBg="1"/>
      <p:bldP spid="51" grpId="0" bldLvl="0" animBg="1"/>
      <p:bldP spid="53" grpId="0" bldLvl="0" animBg="1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2"/>
          <p:cNvSpPr txBox="1">
            <a:spLocks noChangeArrowheads="1"/>
          </p:cNvSpPr>
          <p:nvPr/>
        </p:nvSpPr>
        <p:spPr bwMode="auto">
          <a:xfrm>
            <a:off x="179512" y="332656"/>
            <a:ext cx="4104456" cy="56830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、存储系统的层次结构</a:t>
            </a:r>
            <a:endParaRPr lang="en-US" altLang="zh-CN" b="1" u="none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*结构与组成：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500"/>
              </a:spcBef>
            </a:pP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参数要求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endParaRPr lang="en-US" altLang="zh-CN" sz="20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endParaRPr lang="en-US" altLang="zh-CN" sz="20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endParaRPr lang="en-US" altLang="zh-CN" sz="20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*内部工作协调：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信息存放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18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20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信息传递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290837" name="Text Box 21"/>
          <p:cNvSpPr txBox="1">
            <a:spLocks noChangeArrowheads="1"/>
          </p:cNvSpPr>
          <p:nvPr/>
        </p:nvSpPr>
        <p:spPr bwMode="auto">
          <a:xfrm>
            <a:off x="2412231" y="2379801"/>
            <a:ext cx="6480249" cy="16065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i="1" u="none" dirty="0" err="1" smtClean="0">
                <a:latin typeface="+mn-lt"/>
              </a:rPr>
              <a:t>S</a:t>
            </a:r>
            <a:r>
              <a:rPr lang="en-US" altLang="zh-CN" b="1" u="none" baseline="-20000" dirty="0" err="1" smtClean="0">
                <a:latin typeface="宋体" panose="02010600030101010101" pitchFamily="2" charset="-122"/>
              </a:rPr>
              <a:t>Mn</a:t>
            </a: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&gt;&gt;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…&gt;&gt;</a:t>
            </a:r>
            <a:r>
              <a:rPr lang="en-US" altLang="zh-CN" b="1" i="1" u="none" dirty="0">
                <a:latin typeface="+mn-lt"/>
              </a:rPr>
              <a:t>S</a:t>
            </a:r>
            <a:r>
              <a:rPr lang="en-US" altLang="zh-CN" b="1" u="none" baseline="-20000" dirty="0">
                <a:latin typeface="宋体" panose="02010600030101010101" pitchFamily="2" charset="-122"/>
              </a:rPr>
              <a:t>M2</a:t>
            </a:r>
            <a:r>
              <a:rPr lang="en-US" altLang="zh-CN" b="1" u="none" dirty="0">
                <a:latin typeface="宋体" panose="02010600030101010101" pitchFamily="2" charset="-122"/>
              </a:rPr>
              <a:t>&gt;&gt;</a:t>
            </a:r>
            <a:r>
              <a:rPr lang="en-US" altLang="zh-CN" b="1" i="1" u="none" dirty="0" smtClean="0">
                <a:latin typeface="+mn-lt"/>
              </a:rPr>
              <a:t>S</a:t>
            </a:r>
            <a:r>
              <a:rPr lang="en-US" altLang="zh-CN" b="1" u="none" baseline="-20000" dirty="0" smtClean="0">
                <a:latin typeface="宋体" panose="02010600030101010101" pitchFamily="2" charset="-122"/>
              </a:rPr>
              <a:t>M1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</a:t>
            </a:r>
            <a:r>
              <a:rPr lang="en-US" altLang="zh-CN" b="1" i="1" u="none" dirty="0" err="1" smtClean="0">
                <a:latin typeface="+mn-lt"/>
              </a:rPr>
              <a:t>T</a:t>
            </a:r>
            <a:r>
              <a:rPr lang="en-US" altLang="zh-CN" b="1" u="none" baseline="-20000" dirty="0" err="1" smtClean="0">
                <a:latin typeface="宋体" panose="02010600030101010101" pitchFamily="2" charset="-122"/>
              </a:rPr>
              <a:t>Mn</a:t>
            </a: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&gt;&gt;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…&gt;&gt;</a:t>
            </a:r>
            <a:r>
              <a:rPr lang="en-US" altLang="zh-CN" b="1" i="1" u="none" dirty="0">
                <a:latin typeface="+mn-lt"/>
              </a:rPr>
              <a:t>T</a:t>
            </a:r>
            <a:r>
              <a:rPr lang="en-US" altLang="zh-CN" b="1" u="none" baseline="-20000" dirty="0">
                <a:latin typeface="宋体" panose="02010600030101010101" pitchFamily="2" charset="-122"/>
              </a:rPr>
              <a:t>M2</a:t>
            </a:r>
            <a:r>
              <a:rPr lang="en-US" altLang="zh-CN" b="1" u="none" dirty="0">
                <a:latin typeface="宋体" panose="02010600030101010101" pitchFamily="2" charset="-122"/>
              </a:rPr>
              <a:t>&gt;&gt;</a:t>
            </a:r>
            <a:r>
              <a:rPr lang="en-US" altLang="zh-CN" b="1" i="1" u="none" dirty="0" smtClean="0">
                <a:latin typeface="+mn-lt"/>
              </a:rPr>
              <a:t>T</a:t>
            </a:r>
            <a:r>
              <a:rPr lang="en-US" altLang="zh-CN" b="1" u="none" baseline="-20000" dirty="0" smtClean="0">
                <a:latin typeface="宋体" panose="02010600030101010101" pitchFamily="2" charset="-122"/>
              </a:rPr>
              <a:t>M1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 </a:t>
            </a:r>
            <a:endParaRPr lang="en-US" altLang="zh-CN" sz="1800" b="1" u="none" baseline="-18000" dirty="0" smtClean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目标：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(</a:t>
            </a:r>
            <a:r>
              <a:rPr lang="en-US" altLang="zh-CN" sz="2000" b="1" i="1" u="none" dirty="0"/>
              <a:t>c</a:t>
            </a:r>
            <a:r>
              <a:rPr lang="en-US" altLang="zh-CN" sz="2000" b="1" u="none" baseline="-16000" dirty="0">
                <a:latin typeface="宋体" panose="02010600030101010101" pitchFamily="2" charset="-122"/>
              </a:rPr>
              <a:t>1</a:t>
            </a:r>
            <a:r>
              <a:rPr lang="en-US" altLang="zh-CN" sz="2000" b="1" i="1" u="none" dirty="0"/>
              <a:t>S</a:t>
            </a:r>
            <a:r>
              <a:rPr lang="en-US" altLang="zh-CN" sz="2000" b="1" u="none" baseline="-16000" dirty="0">
                <a:latin typeface="宋体" panose="02010600030101010101" pitchFamily="2" charset="-122"/>
              </a:rPr>
              <a:t>M1</a:t>
            </a:r>
            <a:r>
              <a:rPr lang="en-US" altLang="zh-CN" sz="2000" b="1" u="none" dirty="0">
                <a:latin typeface="宋体" panose="02010600030101010101" pitchFamily="2" charset="-122"/>
              </a:rPr>
              <a:t>+</a:t>
            </a:r>
            <a:r>
              <a:rPr lang="en-US" altLang="zh-CN" sz="2000" b="1" i="1" u="none" dirty="0"/>
              <a:t>c</a:t>
            </a:r>
            <a:r>
              <a:rPr lang="en-US" altLang="zh-CN" sz="2000" b="1" u="none" baseline="-16000" dirty="0">
                <a:latin typeface="宋体" panose="02010600030101010101" pitchFamily="2" charset="-122"/>
              </a:rPr>
              <a:t>2</a:t>
            </a:r>
            <a:r>
              <a:rPr lang="en-US" altLang="zh-CN" sz="2000" b="1" i="1" u="none" dirty="0"/>
              <a:t>S</a:t>
            </a:r>
            <a:r>
              <a:rPr lang="en-US" altLang="zh-CN" sz="2000" b="1" u="none" baseline="-16000" dirty="0">
                <a:latin typeface="宋体" panose="02010600030101010101" pitchFamily="2" charset="-122"/>
              </a:rPr>
              <a:t>M2</a:t>
            </a:r>
            <a:r>
              <a:rPr lang="en-US" altLang="zh-CN" sz="2000" b="1" u="none" dirty="0">
                <a:latin typeface="宋体" panose="02010600030101010101" pitchFamily="2" charset="-122"/>
              </a:rPr>
              <a:t>+…+</a:t>
            </a:r>
            <a:r>
              <a:rPr lang="en-US" altLang="zh-CN" sz="2000" b="1" i="1" u="none" dirty="0" err="1"/>
              <a:t>c</a:t>
            </a:r>
            <a:r>
              <a:rPr lang="en-US" altLang="zh-CN" sz="2000" b="1" u="none" baseline="-16000" dirty="0" err="1">
                <a:latin typeface="宋体" panose="02010600030101010101" pitchFamily="2" charset="-122"/>
              </a:rPr>
              <a:t>n</a:t>
            </a:r>
            <a:r>
              <a:rPr lang="en-US" altLang="zh-CN" sz="2000" b="1" i="1" u="none" dirty="0" err="1"/>
              <a:t>S</a:t>
            </a:r>
            <a:r>
              <a:rPr lang="en-US" altLang="zh-CN" sz="2000" b="1" u="none" baseline="-16000" dirty="0" err="1">
                <a:latin typeface="宋体" panose="02010600030101010101" pitchFamily="2" charset="-122"/>
              </a:rPr>
              <a:t>Mn</a:t>
            </a:r>
            <a:r>
              <a:rPr lang="en-US" altLang="zh-CN" sz="2000" b="1" u="none" dirty="0">
                <a:latin typeface="宋体" panose="02010600030101010101" pitchFamily="2" charset="-122"/>
              </a:rPr>
              <a:t>)/(</a:t>
            </a:r>
            <a:r>
              <a:rPr lang="en-US" altLang="zh-CN" sz="2000" b="1" i="1" u="none" dirty="0"/>
              <a:t>S</a:t>
            </a:r>
            <a:r>
              <a:rPr lang="en-US" altLang="zh-CN" sz="2000" b="1" u="none" baseline="-16000" dirty="0">
                <a:latin typeface="宋体" panose="02010600030101010101" pitchFamily="2" charset="-122"/>
              </a:rPr>
              <a:t>M1</a:t>
            </a:r>
            <a:r>
              <a:rPr lang="en-US" altLang="zh-CN" sz="2000" b="1" u="none" dirty="0">
                <a:latin typeface="宋体" panose="02010600030101010101" pitchFamily="2" charset="-122"/>
              </a:rPr>
              <a:t>+</a:t>
            </a:r>
            <a:r>
              <a:rPr lang="en-US" altLang="zh-CN" sz="2000" b="1" i="1" u="none" dirty="0"/>
              <a:t>S</a:t>
            </a:r>
            <a:r>
              <a:rPr lang="en-US" altLang="zh-CN" sz="2000" b="1" u="none" baseline="-16000" dirty="0">
                <a:latin typeface="宋体" panose="02010600030101010101" pitchFamily="2" charset="-122"/>
              </a:rPr>
              <a:t>M2</a:t>
            </a:r>
            <a:r>
              <a:rPr lang="en-US" altLang="zh-CN" sz="2000" b="1" u="none" dirty="0">
                <a:latin typeface="宋体" panose="02010600030101010101" pitchFamily="2" charset="-122"/>
              </a:rPr>
              <a:t>+…+</a:t>
            </a:r>
            <a:r>
              <a:rPr lang="en-US" altLang="zh-CN" sz="2000" b="1" i="1" u="none" dirty="0" err="1"/>
              <a:t>S</a:t>
            </a:r>
            <a:r>
              <a:rPr lang="en-US" altLang="zh-CN" sz="2000" b="1" u="none" baseline="-16000" dirty="0" err="1">
                <a:latin typeface="宋体" panose="02010600030101010101" pitchFamily="2" charset="-122"/>
              </a:rPr>
              <a:t>Mn</a:t>
            </a:r>
            <a:r>
              <a:rPr lang="en-US" altLang="zh-CN" sz="2000" b="1" u="none" dirty="0">
                <a:latin typeface="宋体" panose="02010600030101010101" pitchFamily="2" charset="-122"/>
              </a:rPr>
              <a:t>)</a:t>
            </a:r>
            <a:r>
              <a:rPr lang="en-US" altLang="zh-CN" sz="2000" b="1" i="1" u="none" dirty="0"/>
              <a:t> </a:t>
            </a:r>
            <a:r>
              <a:rPr lang="zh-CN" altLang="en-US" sz="2000" b="1" u="none" dirty="0" smtClean="0">
                <a:solidFill>
                  <a:srgbClr val="FF3399"/>
                </a:solidFill>
              </a:rPr>
              <a:t>≈</a:t>
            </a:r>
            <a:r>
              <a:rPr lang="en-US" altLang="zh-CN" sz="2000" b="1" i="1" u="none" dirty="0" err="1" smtClean="0">
                <a:solidFill>
                  <a:srgbClr val="FF3399"/>
                </a:solidFill>
              </a:rPr>
              <a:t>c</a:t>
            </a:r>
            <a:r>
              <a:rPr lang="en-US" altLang="zh-CN" sz="2000" b="1" u="none" baseline="-16000" dirty="0" err="1" smtClean="0">
                <a:solidFill>
                  <a:srgbClr val="FF3399"/>
                </a:solidFill>
                <a:latin typeface="宋体" panose="02010600030101010101" pitchFamily="2" charset="-122"/>
              </a:rPr>
              <a:t>n</a:t>
            </a:r>
            <a:endParaRPr lang="en-US" altLang="zh-CN" sz="20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原因：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①</a:t>
            </a:r>
            <a:r>
              <a:rPr lang="en-US" altLang="zh-CN" sz="2000" b="1" i="1" u="none" dirty="0" smtClean="0"/>
              <a:t> </a:t>
            </a:r>
            <a:r>
              <a:rPr lang="en-US" altLang="zh-CN" sz="2000" b="1" i="1" u="none" dirty="0" err="1"/>
              <a:t>S</a:t>
            </a:r>
            <a:r>
              <a:rPr lang="en-US" altLang="zh-CN" sz="2000" b="1" u="none" baseline="-20000" dirty="0" err="1">
                <a:latin typeface="宋体" panose="02010600030101010101" pitchFamily="2" charset="-122"/>
              </a:rPr>
              <a:t>Mi</a:t>
            </a:r>
            <a:r>
              <a:rPr lang="zh-CN" altLang="en-US" sz="2000" b="1" u="none" dirty="0">
                <a:latin typeface="宋体" panose="02010600030101010101" pitchFamily="2" charset="-122"/>
              </a:rPr>
              <a:t>级差大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利于</a:t>
            </a:r>
            <a:r>
              <a:rPr lang="en-US" altLang="zh-CN" sz="2000" b="1" i="1" u="none" dirty="0" err="1" smtClean="0"/>
              <a:t>c</a:t>
            </a:r>
            <a:r>
              <a:rPr lang="en-US" altLang="zh-CN" sz="2000" b="1" u="none" baseline="-16000" dirty="0" err="1" smtClean="0">
                <a:latin typeface="宋体" panose="02010600030101010101" pitchFamily="2" charset="-122"/>
              </a:rPr>
              <a:t>n</a:t>
            </a:r>
            <a:r>
              <a:rPr lang="en-US" altLang="zh-CN" sz="2000" b="1" i="1" u="none" dirty="0" err="1" smtClean="0"/>
              <a:t>S</a:t>
            </a:r>
            <a:r>
              <a:rPr lang="en-US" altLang="zh-CN" sz="2000" b="1" u="none" baseline="-16000" dirty="0" err="1" smtClean="0">
                <a:latin typeface="宋体" panose="02010600030101010101" pitchFamily="2" charset="-122"/>
              </a:rPr>
              <a:t>Mn</a:t>
            </a:r>
            <a:r>
              <a:rPr lang="zh-CN" altLang="en-US" sz="2000" b="1" u="none" dirty="0">
                <a:latin typeface="宋体" panose="02010600030101010101" pitchFamily="2" charset="-122"/>
              </a:rPr>
              <a:t>作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为主因子</a:t>
            </a:r>
            <a:endParaRPr lang="en-US" altLang="zh-CN" sz="20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zh-CN" sz="2000" b="1" u="none" dirty="0">
                <a:latin typeface="宋体" panose="02010600030101010101" pitchFamily="2" charset="-122"/>
              </a:rPr>
              <a:t> 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     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②</a:t>
            </a:r>
            <a:r>
              <a:rPr lang="en-US" altLang="zh-CN" sz="2000" b="1" i="1" u="none" dirty="0" smtClean="0"/>
              <a:t> </a:t>
            </a:r>
            <a:r>
              <a:rPr lang="en-US" altLang="zh-CN" sz="2000" b="1" i="1" u="none" dirty="0" err="1" smtClean="0"/>
              <a:t>T</a:t>
            </a:r>
            <a:r>
              <a:rPr lang="en-US" altLang="zh-CN" sz="2000" b="1" u="none" baseline="-20000" dirty="0" err="1" smtClean="0">
                <a:latin typeface="宋体" panose="02010600030101010101" pitchFamily="2" charset="-122"/>
              </a:rPr>
              <a:t>Mi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级差大利于减小</a:t>
            </a:r>
            <a:r>
              <a:rPr lang="en-US" altLang="zh-CN" sz="2000" b="1" i="1" u="none" dirty="0" err="1" smtClean="0"/>
              <a:t>c</a:t>
            </a:r>
            <a:r>
              <a:rPr lang="en-US" altLang="zh-CN" sz="2000" b="1" u="none" baseline="-16000" dirty="0" err="1" smtClean="0">
                <a:latin typeface="宋体" panose="02010600030101010101" pitchFamily="2" charset="-122"/>
              </a:rPr>
              <a:t>i</a:t>
            </a:r>
            <a:r>
              <a:rPr lang="en-US" altLang="zh-CN" sz="2000" b="1" i="1" u="none" dirty="0" err="1" smtClean="0"/>
              <a:t>S</a:t>
            </a:r>
            <a:r>
              <a:rPr lang="en-US" altLang="zh-CN" sz="2000" b="1" u="none" baseline="-16000" dirty="0" err="1" smtClean="0">
                <a:latin typeface="宋体" panose="02010600030101010101" pitchFamily="2" charset="-122"/>
              </a:rPr>
              <a:t>Mi</a:t>
            </a:r>
            <a:r>
              <a:rPr lang="en-US" altLang="zh-CN" sz="2000" b="1" u="none" dirty="0">
                <a:latin typeface="宋体" panose="02010600030101010101" pitchFamily="2" charset="-122"/>
              </a:rPr>
              <a:t> 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   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←</a:t>
            </a:r>
            <a:r>
              <a:rPr lang="en-US" altLang="zh-CN" sz="1800" b="1" i="1" u="none" dirty="0" err="1" smtClean="0"/>
              <a:t>T</a:t>
            </a:r>
            <a:r>
              <a:rPr lang="en-US" altLang="zh-CN" sz="1800" b="1" u="none" baseline="-20000" dirty="0" err="1" smtClean="0">
                <a:latin typeface="宋体" panose="02010600030101010101" pitchFamily="2" charset="-122"/>
              </a:rPr>
              <a:t>Mi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与</a:t>
            </a:r>
            <a:r>
              <a:rPr lang="en-US" altLang="zh-CN" sz="1800" b="1" i="1" u="none" dirty="0"/>
              <a:t>c</a:t>
            </a:r>
            <a:r>
              <a:rPr lang="en-US" altLang="zh-CN" sz="1800" b="1" u="none" baseline="-18000" dirty="0">
                <a:latin typeface="宋体" panose="02010600030101010101" pitchFamily="2" charset="-122"/>
              </a:rPr>
              <a:t>i</a:t>
            </a:r>
            <a:r>
              <a:rPr lang="zh-CN" altLang="en-US" sz="1800" b="1" u="none" dirty="0">
                <a:latin typeface="宋体" panose="02010600030101010101" pitchFamily="2" charset="-122"/>
              </a:rPr>
              <a:t>呈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反比</a:t>
            </a:r>
            <a:endParaRPr lang="en-US" altLang="zh-CN" sz="20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290908" name="Text Box 92"/>
          <p:cNvSpPr txBox="1">
            <a:spLocks noChangeArrowheads="1"/>
          </p:cNvSpPr>
          <p:nvPr/>
        </p:nvSpPr>
        <p:spPr bwMode="auto">
          <a:xfrm>
            <a:off x="2411730" y="4337050"/>
            <a:ext cx="6486525" cy="1917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放在</a:t>
            </a:r>
            <a:r>
              <a:rPr lang="en-US" altLang="zh-CN" b="1" u="none" dirty="0" err="1">
                <a:latin typeface="宋体" panose="02010600030101010101" pitchFamily="2" charset="-122"/>
              </a:rPr>
              <a:t>M</a:t>
            </a:r>
            <a:r>
              <a:rPr lang="en-US" altLang="zh-CN" b="1" u="none" baseline="-18000" dirty="0" err="1">
                <a:latin typeface="宋体" panose="02010600030101010101" pitchFamily="2" charset="-122"/>
              </a:rPr>
              <a:t>n</a:t>
            </a:r>
            <a:r>
              <a:rPr lang="zh-CN" altLang="en-US" b="1" u="none" dirty="0">
                <a:latin typeface="宋体" panose="02010600030101010101" pitchFamily="2" charset="-122"/>
              </a:rPr>
              <a:t>中，</a:t>
            </a:r>
            <a:r>
              <a:rPr lang="en-US" b="1" u="none" dirty="0" smtClean="0">
                <a:latin typeface="宋体" panose="02010600030101010101" pitchFamily="2" charset="-122"/>
              </a:rPr>
              <a:t>M</a:t>
            </a:r>
            <a:r>
              <a:rPr lang="en-US" b="1" u="none" baseline="-25000" dirty="0" smtClean="0">
                <a:latin typeface="宋体" panose="02010600030101010101" pitchFamily="2" charset="-122"/>
              </a:rPr>
              <a:t>i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中信息为</a:t>
            </a:r>
            <a:r>
              <a:rPr lang="en-US" b="1" u="none" dirty="0" smtClean="0">
                <a:latin typeface="宋体" panose="02010600030101010101" pitchFamily="2" charset="-122"/>
                <a:sym typeface="+mn-ea"/>
              </a:rPr>
              <a:t>M</a:t>
            </a:r>
            <a:r>
              <a:rPr lang="en-US" b="1" u="none" baseline="-25000" dirty="0" smtClean="0">
                <a:latin typeface="宋体" panose="02010600030101010101" pitchFamily="2" charset="-122"/>
                <a:sym typeface="+mn-ea"/>
              </a:rPr>
              <a:t>i+1</a:t>
            </a:r>
            <a:r>
              <a:rPr lang="zh-CN" altLang="en-US" b="1" u="none" dirty="0">
                <a:latin typeface="宋体" panose="02010600030101010101" pitchFamily="2" charset="-122"/>
              </a:rPr>
              <a:t>中信息的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副本</a:t>
            </a:r>
            <a:endParaRPr lang="en-US" altLang="zh-CN" b="1" u="none" baseline="-18000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u="none" dirty="0" smtClean="0">
                <a:latin typeface="宋体" panose="02010600030101010101" pitchFamily="2" charset="-122"/>
              </a:rPr>
              <a:t>      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            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  </a:t>
            </a:r>
            <a:r>
              <a:rPr lang="en-US" sz="1800" b="1" u="none" dirty="0" smtClean="0">
                <a:latin typeface="宋体" panose="02010600030101010101" pitchFamily="2" charset="-122"/>
                <a:sym typeface="+mn-ea"/>
              </a:rPr>
              <a:t>M</a:t>
            </a:r>
            <a:r>
              <a:rPr lang="en-US" sz="1800" b="1" u="none" baseline="-25000" dirty="0" smtClean="0">
                <a:latin typeface="宋体" panose="02010600030101010101" pitchFamily="2" charset="-122"/>
                <a:sym typeface="+mn-ea"/>
              </a:rPr>
              <a:t>i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改写后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需写回</a:t>
            </a:r>
            <a:r>
              <a:rPr lang="en-US" sz="1800" b="1" u="none" dirty="0" smtClean="0">
                <a:latin typeface="宋体" panose="02010600030101010101" pitchFamily="2" charset="-122"/>
                <a:sym typeface="+mn-ea"/>
              </a:rPr>
              <a:t>M</a:t>
            </a:r>
            <a:r>
              <a:rPr lang="en-US" sz="1800" b="1" u="none" baseline="-25000" dirty="0" smtClean="0">
                <a:latin typeface="宋体" panose="02010600030101010101" pitchFamily="2" charset="-122"/>
                <a:sym typeface="+mn-ea"/>
              </a:rPr>
              <a:t>i+1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u="none" dirty="0" smtClean="0">
                <a:latin typeface="宋体" panose="02010600030101010101" pitchFamily="2" charset="-122"/>
              </a:rPr>
              <a:t>┤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 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        </a:t>
            </a:r>
            <a:r>
              <a:rPr lang="en-US" altLang="zh-CN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有效容量</a:t>
            </a:r>
            <a:r>
              <a:rPr lang="en-US" altLang="zh-CN" sz="1800" b="1" i="1" u="none" dirty="0" smtClean="0">
                <a:latin typeface="+mn-lt"/>
              </a:rPr>
              <a:t>S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sz="1800" b="1" i="1" u="none" dirty="0" err="1" smtClean="0">
                <a:latin typeface="+mn-lt"/>
              </a:rPr>
              <a:t>S</a:t>
            </a:r>
            <a:r>
              <a:rPr lang="en-US" altLang="zh-CN" sz="1800" b="1" u="none" baseline="-20000" dirty="0" err="1" smtClean="0">
                <a:latin typeface="宋体" panose="02010600030101010101" pitchFamily="2" charset="-122"/>
              </a:rPr>
              <a:t>Mn</a:t>
            </a:r>
            <a:r>
              <a:rPr lang="en-US" altLang="zh-CN" sz="1800" b="1" u="none" baseline="-18000" dirty="0">
                <a:latin typeface="宋体" panose="02010600030101010101" pitchFamily="2" charset="-122"/>
              </a:rPr>
              <a:t> 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←</a:t>
            </a:r>
            <a:r>
              <a:rPr lang="zh-CN" altLang="en-US" sz="2000" u="none" dirty="0" smtClean="0">
                <a:latin typeface="宋体" panose="02010600030101010101" pitchFamily="2" charset="-122"/>
              </a:rPr>
              <a:t>┘</a:t>
            </a:r>
            <a:endParaRPr lang="en-US" altLang="zh-CN" sz="2000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>
                <a:latin typeface="宋体" panose="02010600030101010101" pitchFamily="2" charset="-122"/>
              </a:rPr>
              <a:t>外部只访问</a:t>
            </a:r>
            <a:r>
              <a:rPr lang="en-US" altLang="zh-CN" b="1" u="none" dirty="0">
                <a:latin typeface="宋体" panose="02010600030101010101" pitchFamily="2" charset="-122"/>
              </a:rPr>
              <a:t>M</a:t>
            </a:r>
            <a:r>
              <a:rPr lang="en-US" altLang="zh-CN" b="1" u="none" baseline="-18000" dirty="0">
                <a:latin typeface="宋体" panose="02010600030101010101" pitchFamily="2" charset="-122"/>
              </a:rPr>
              <a:t>1</a:t>
            </a:r>
            <a:r>
              <a:rPr lang="zh-CN" altLang="en-US" b="1" u="none" dirty="0">
                <a:latin typeface="宋体" panose="02010600030101010101" pitchFamily="2" charset="-122"/>
              </a:rPr>
              <a:t>，内部各</a:t>
            </a:r>
            <a:r>
              <a:rPr lang="en-US" b="1" u="none" dirty="0" smtClean="0">
                <a:latin typeface="宋体" panose="02010600030101010101" pitchFamily="2" charset="-122"/>
                <a:sym typeface="+mn-ea"/>
              </a:rPr>
              <a:t>M</a:t>
            </a:r>
            <a:r>
              <a:rPr lang="en-US" b="1" u="none" baseline="-25000" dirty="0" smtClean="0">
                <a:latin typeface="宋体" panose="02010600030101010101" pitchFamily="2" charset="-122"/>
                <a:sym typeface="+mn-ea"/>
              </a:rPr>
              <a:t>i</a:t>
            </a:r>
            <a:r>
              <a:rPr lang="zh-CN" altLang="en-US" b="1" u="none" dirty="0">
                <a:latin typeface="宋体" panose="02010600030101010101" pitchFamily="2" charset="-122"/>
              </a:rPr>
              <a:t>间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透明地传递</a:t>
            </a:r>
            <a:r>
              <a:rPr lang="zh-CN" altLang="en-US" b="1" u="none" dirty="0">
                <a:latin typeface="宋体" panose="02010600030101010101" pitchFamily="2" charset="-122"/>
              </a:rPr>
              <a:t>信息</a:t>
            </a: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u="none" dirty="0">
                <a:latin typeface="宋体" panose="02010600030101010101" pitchFamily="2" charset="-122"/>
              </a:rPr>
              <a:t>        </a:t>
            </a:r>
            <a:r>
              <a:rPr lang="zh-CN" altLang="en-US" sz="1800" u="none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</a:t>
            </a:r>
            <a:r>
              <a:rPr lang="en-US" altLang="zh-CN" sz="1800" b="1" i="1" u="none" dirty="0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>
                <a:solidFill>
                  <a:srgbClr val="0070C0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不固定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</a:t>
            </a:r>
            <a:r>
              <a:rPr lang="zh-CN" altLang="en-US" sz="1800" u="none" dirty="0">
                <a:latin typeface="宋体" panose="02010600030101010101" pitchFamily="2" charset="-122"/>
              </a:rPr>
              <a:t>─</a:t>
            </a:r>
            <a:r>
              <a:rPr lang="zh-CN" altLang="en-US" sz="1800" b="1" u="none" dirty="0">
                <a:latin typeface="宋体" panose="02010600030101010101" pitchFamily="2" charset="-122"/>
              </a:rPr>
              <a:t>外部不可见</a:t>
            </a:r>
            <a:r>
              <a:rPr lang="zh-CN" altLang="en-US" sz="1800" b="1" u="none" dirty="0" smtClean="0">
                <a:latin typeface="+mn-ea"/>
              </a:rPr>
              <a:t>←</a:t>
            </a:r>
            <a:r>
              <a:rPr lang="zh-CN" altLang="en-US" sz="1800" u="none" dirty="0" smtClean="0">
                <a:latin typeface="宋体" panose="02010600030101010101" pitchFamily="2" charset="-122"/>
              </a:rPr>
              <a:t>┘</a:t>
            </a:r>
            <a:endParaRPr lang="zh-CN" altLang="en-US" sz="1800" u="none" dirty="0" smtClean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2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</p:spPr>
        <p:txBody>
          <a:bodyPr/>
          <a:lstStyle/>
          <a:p>
            <a:fld id="{F8FB49E2-EB6B-4598-894A-7D6A3648E853}" type="slidenum">
              <a:rPr lang="en-US" altLang="zh-CN"/>
            </a:fld>
            <a:endParaRPr lang="en-US" altLang="zh-CN"/>
          </a:p>
        </p:txBody>
      </p:sp>
      <p:grpSp>
        <p:nvGrpSpPr>
          <p:cNvPr id="24" name="Group 119"/>
          <p:cNvGrpSpPr/>
          <p:nvPr/>
        </p:nvGrpSpPr>
        <p:grpSpPr bwMode="auto">
          <a:xfrm>
            <a:off x="1571699" y="1412776"/>
            <a:ext cx="5975350" cy="936625"/>
            <a:chOff x="930" y="1388"/>
            <a:chExt cx="3764" cy="590"/>
          </a:xfrm>
        </p:grpSpPr>
        <p:sp>
          <p:nvSpPr>
            <p:cNvPr id="25" name="Rectangle 120"/>
            <p:cNvSpPr>
              <a:spLocks noChangeArrowheads="1"/>
            </p:cNvSpPr>
            <p:nvPr/>
          </p:nvSpPr>
          <p:spPr bwMode="auto">
            <a:xfrm>
              <a:off x="1973" y="1388"/>
              <a:ext cx="2721" cy="59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 altLang="zh-CN" sz="2000" b="1" u="none" dirty="0" smtClean="0"/>
            </a:p>
            <a:p>
              <a:endParaRPr lang="en-US" altLang="zh-CN" sz="2000" b="1" u="none" dirty="0"/>
            </a:p>
            <a:p>
              <a:r>
                <a:rPr lang="en-US" altLang="zh-CN" sz="2000" b="1" u="none" dirty="0" smtClean="0"/>
                <a:t>      </a:t>
              </a:r>
              <a:r>
                <a:rPr lang="zh-CN" altLang="en-US" sz="1800" b="1" u="none" dirty="0" smtClean="0"/>
                <a:t>存储系统</a:t>
              </a:r>
              <a:endParaRPr lang="zh-CN" altLang="en-US" sz="1800" b="1" u="none" dirty="0"/>
            </a:p>
          </p:txBody>
        </p:sp>
        <p:sp>
          <p:nvSpPr>
            <p:cNvPr id="26" name="Text Box 121"/>
            <p:cNvSpPr txBox="1">
              <a:spLocks noChangeArrowheads="1"/>
            </p:cNvSpPr>
            <p:nvPr/>
          </p:nvSpPr>
          <p:spPr bwMode="auto">
            <a:xfrm>
              <a:off x="1051" y="1479"/>
              <a:ext cx="590" cy="182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寄存器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7" name="Text Box 122"/>
            <p:cNvSpPr txBox="1">
              <a:spLocks noChangeArrowheads="1"/>
            </p:cNvSpPr>
            <p:nvPr/>
          </p:nvSpPr>
          <p:spPr bwMode="auto">
            <a:xfrm>
              <a:off x="2094" y="1434"/>
              <a:ext cx="454" cy="27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1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8" name="Text Box 123"/>
            <p:cNvSpPr txBox="1">
              <a:spLocks noChangeArrowheads="1"/>
            </p:cNvSpPr>
            <p:nvPr/>
          </p:nvSpPr>
          <p:spPr bwMode="auto">
            <a:xfrm>
              <a:off x="2820" y="1434"/>
              <a:ext cx="453" cy="36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2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29" name="Text Box 124"/>
            <p:cNvSpPr txBox="1">
              <a:spLocks noChangeArrowheads="1"/>
            </p:cNvSpPr>
            <p:nvPr/>
          </p:nvSpPr>
          <p:spPr bwMode="auto">
            <a:xfrm>
              <a:off x="4135" y="1434"/>
              <a:ext cx="454" cy="45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n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30" name="Rectangle 126"/>
            <p:cNvSpPr>
              <a:spLocks noChangeArrowheads="1"/>
            </p:cNvSpPr>
            <p:nvPr/>
          </p:nvSpPr>
          <p:spPr bwMode="auto">
            <a:xfrm>
              <a:off x="930" y="1388"/>
              <a:ext cx="861" cy="59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Text Box 127"/>
            <p:cNvSpPr txBox="1">
              <a:spLocks noChangeArrowheads="1"/>
            </p:cNvSpPr>
            <p:nvPr/>
          </p:nvSpPr>
          <p:spPr bwMode="auto">
            <a:xfrm>
              <a:off x="1111" y="1751"/>
              <a:ext cx="453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CPU</a:t>
              </a:r>
              <a:endParaRPr lang="en-US" altLang="zh-CN" sz="1800" b="1" u="none" baseline="-14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2" name="AutoShape 128"/>
            <p:cNvSpPr>
              <a:spLocks noChangeArrowheads="1"/>
            </p:cNvSpPr>
            <p:nvPr/>
          </p:nvSpPr>
          <p:spPr bwMode="auto">
            <a:xfrm>
              <a:off x="1640" y="1479"/>
              <a:ext cx="454" cy="181"/>
            </a:xfrm>
            <a:prstGeom prst="leftRightArrow">
              <a:avLst>
                <a:gd name="adj1" fmla="val 50278"/>
                <a:gd name="adj2" fmla="val 50275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AutoShape 129"/>
            <p:cNvSpPr>
              <a:spLocks noChangeArrowheads="1"/>
            </p:cNvSpPr>
            <p:nvPr/>
          </p:nvSpPr>
          <p:spPr bwMode="auto">
            <a:xfrm>
              <a:off x="2548" y="1524"/>
              <a:ext cx="272" cy="136"/>
            </a:xfrm>
            <a:prstGeom prst="leftRightArrow">
              <a:avLst>
                <a:gd name="adj1" fmla="val 50000"/>
                <a:gd name="adj2" fmla="val 58824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AutoShape 130"/>
            <p:cNvSpPr>
              <a:spLocks noChangeArrowheads="1"/>
            </p:cNvSpPr>
            <p:nvPr/>
          </p:nvSpPr>
          <p:spPr bwMode="auto">
            <a:xfrm>
              <a:off x="3274" y="1570"/>
              <a:ext cx="272" cy="91"/>
            </a:xfrm>
            <a:prstGeom prst="leftRightArrow">
              <a:avLst>
                <a:gd name="adj1" fmla="val 49454"/>
                <a:gd name="adj2" fmla="val 85713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AutoShape 131"/>
            <p:cNvSpPr>
              <a:spLocks noChangeArrowheads="1"/>
            </p:cNvSpPr>
            <p:nvPr/>
          </p:nvSpPr>
          <p:spPr bwMode="auto">
            <a:xfrm>
              <a:off x="3863" y="1615"/>
              <a:ext cx="272" cy="46"/>
            </a:xfrm>
            <a:prstGeom prst="leftRightArrow">
              <a:avLst>
                <a:gd name="adj1" fmla="val 49454"/>
                <a:gd name="adj2" fmla="val 169562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Text Box 132"/>
            <p:cNvSpPr txBox="1">
              <a:spLocks noChangeArrowheads="1"/>
            </p:cNvSpPr>
            <p:nvPr/>
          </p:nvSpPr>
          <p:spPr bwMode="auto">
            <a:xfrm>
              <a:off x="3546" y="1524"/>
              <a:ext cx="272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…</a:t>
              </a:r>
              <a:endParaRPr lang="en-US" altLang="zh-CN" sz="1800" b="1" u="none" baseline="-140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2339752" y="832722"/>
            <a:ext cx="6408712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多种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MEM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级联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，按速度分层、协调工作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21" name="AutoShape 338"/>
          <p:cNvSpPr/>
          <p:nvPr/>
        </p:nvSpPr>
        <p:spPr bwMode="auto">
          <a:xfrm>
            <a:off x="7740600" y="2024880"/>
            <a:ext cx="1296000" cy="252000"/>
          </a:xfrm>
          <a:prstGeom prst="borderCallout2">
            <a:avLst>
              <a:gd name="adj1" fmla="val 48292"/>
              <a:gd name="adj2" fmla="val 312"/>
              <a:gd name="adj3" fmla="val 48120"/>
              <a:gd name="adj4" fmla="val -19139"/>
              <a:gd name="adj5" fmla="val -23244"/>
              <a:gd name="adj6" fmla="val -42449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 smtClean="0">
                <a:latin typeface="宋体" panose="02010600030101010101" pitchFamily="2" charset="-122"/>
              </a:rPr>
              <a:t>非易失性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MEM</a:t>
            </a:r>
            <a:endParaRPr lang="zh-CN" altLang="en-US" sz="1600" b="1" u="none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90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908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908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08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90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909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909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909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909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71" name="AutoShape 3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5447665" cy="49542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*常见的层次结构：</a:t>
            </a:r>
            <a:endParaRPr lang="zh-CN" altLang="en-US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背景</a:t>
            </a:r>
            <a:r>
              <a:rPr lang="en-US" altLang="zh-CN" sz="20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0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zh-CN" altLang="en-US" sz="16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18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18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Cache-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主存层次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解决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主存速度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问题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实现：</a:t>
            </a: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主存</a:t>
            </a: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-</a:t>
            </a: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辅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存层次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解决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主存容量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问题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                   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21" name="Text Box 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19885" y="361470"/>
            <a:ext cx="7235825" cy="40690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b="1" u="none" dirty="0">
                <a:latin typeface="宋体" panose="02010600030101010101" pitchFamily="2" charset="-122"/>
              </a:rPr>
              <a:t>         </a:t>
            </a:r>
            <a:r>
              <a:rPr lang="zh-CN" altLang="en-US" b="1" u="none" dirty="0">
                <a:latin typeface="宋体" panose="02010600030101010101" pitchFamily="2" charset="-122"/>
              </a:rPr>
              <a:t>以主存为中心</a:t>
            </a:r>
            <a:endParaRPr lang="zh-CN" altLang="en-US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u="none" dirty="0">
                <a:latin typeface="宋体" panose="02010600030101010101" pitchFamily="2" charset="-122"/>
              </a:rPr>
              <a:t>程序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存放在</a:t>
            </a:r>
            <a:r>
              <a:rPr lang="zh-CN" altLang="en-US" sz="2000" b="1" u="none" dirty="0">
                <a:latin typeface="宋体" panose="02010600030101010101" pitchFamily="2" charset="-122"/>
              </a:rPr>
              <a:t>辅存中，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执行前</a:t>
            </a:r>
            <a:r>
              <a:rPr lang="zh-CN" altLang="en-US" sz="2000" b="1" u="none" dirty="0">
                <a:latin typeface="宋体" panose="02010600030101010101" pitchFamily="2" charset="-122"/>
              </a:rPr>
              <a:t>装入主存，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执行时</a:t>
            </a:r>
            <a:r>
              <a:rPr lang="zh-CN" altLang="en-US" sz="2000" b="1" u="none" dirty="0">
                <a:latin typeface="宋体" panose="02010600030101010101" pitchFamily="2" charset="-122"/>
              </a:rPr>
              <a:t>按</a:t>
            </a:r>
            <a:r>
              <a:rPr lang="zh-CN" altLang="en-US" sz="2000" b="1" u="sng" dirty="0">
                <a:latin typeface="宋体" panose="02010600030101010101" pitchFamily="2" charset="-122"/>
              </a:rPr>
              <a:t>程序地址</a:t>
            </a:r>
            <a:r>
              <a:rPr lang="zh-CN" altLang="en-US" sz="2000" b="1" u="none" dirty="0">
                <a:latin typeface="宋体" panose="02010600030101010101" pitchFamily="2" charset="-122"/>
              </a:rPr>
              <a:t>访问</a:t>
            </a:r>
            <a:endParaRPr lang="zh-CN" altLang="en-US" sz="2000" b="1" u="none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600" b="1" u="none" dirty="0">
                <a:latin typeface="宋体" panose="02010600030101010101" pitchFamily="2" charset="-122"/>
              </a:rPr>
              <a:t>                 C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PU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只直接访问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主存←</a:t>
            </a:r>
            <a:r>
              <a:rPr lang="zh-CN" altLang="en-US" sz="1600" u="none" dirty="0" smtClean="0">
                <a:latin typeface="宋体" panose="02010600030101010101" pitchFamily="2" charset="-122"/>
                <a:sym typeface="+mn-ea"/>
              </a:rPr>
              <a:t>┴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←──</a:t>
            </a:r>
            <a:r>
              <a:rPr lang="zh-CN" altLang="en-US" sz="1600" u="none" dirty="0" smtClean="0">
                <a:latin typeface="宋体" panose="02010600030101010101" pitchFamily="2" charset="-122"/>
                <a:sym typeface="+mn-ea"/>
              </a:rPr>
              <a:t>┘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    (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先</a:t>
            </a:r>
            <a:r>
              <a:rPr lang="zh-CN" altLang="en-US" sz="16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变换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成主存地址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6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u="none" dirty="0">
                <a:latin typeface="宋体" panose="02010600030101010101" pitchFamily="2" charset="-122"/>
              </a:rPr>
              <a:t>                    </a:t>
            </a:r>
            <a:r>
              <a:rPr lang="zh-CN" altLang="en-US" sz="2000" b="1" u="none" dirty="0">
                <a:latin typeface="宋体" panose="02010600030101010101" pitchFamily="2" charset="-122"/>
              </a:rPr>
              <a:t>辅助</a:t>
            </a:r>
            <a:r>
              <a:rPr sz="2000" b="1" u="none" dirty="0">
                <a:latin typeface="宋体" panose="02010600030101010101" pitchFamily="2" charset="-122"/>
              </a:rPr>
              <a:t>①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：地址变换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主存地址→</a:t>
            </a:r>
            <a:r>
              <a:rPr lang="en-US" altLang="zh-CN" sz="16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1600" b="1" u="none" dirty="0">
                <a:latin typeface="宋体" panose="02010600030101010101" pitchFamily="2" charset="-122"/>
              </a:rPr>
              <a:t>地址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                    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辅助</a:t>
            </a:r>
            <a:r>
              <a:rPr sz="2000" b="1" u="none" dirty="0">
                <a:latin typeface="宋体" panose="02010600030101010101" pitchFamily="2" charset="-122"/>
                <a:sym typeface="+mn-ea"/>
              </a:rPr>
              <a:t>②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：层次管理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主存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-Cache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间透明传递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</a:rPr>
              <a:t>   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地址变换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none" dirty="0">
                <a:latin typeface="宋体" panose="02010600030101010101" pitchFamily="2" charset="-122"/>
              </a:rPr>
              <a:t>层次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管理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全部由硬件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实现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</p:txBody>
      </p:sp>
      <p:cxnSp>
        <p:nvCxnSpPr>
          <p:cNvPr id="73" name="直接箭头连接符 72"/>
          <p:cNvCxnSpPr/>
          <p:nvPr>
            <p:custDataLst>
              <p:tags r:id="rId3"/>
            </p:custDataLst>
          </p:nvPr>
        </p:nvCxnSpPr>
        <p:spPr bwMode="auto">
          <a:xfrm>
            <a:off x="4608245" y="3024000"/>
            <a:ext cx="972185" cy="972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74" name="Text Box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40000" y="4788000"/>
            <a:ext cx="5758815" cy="15538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14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        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地址</a:t>
            </a:r>
            <a:r>
              <a:rPr lang="zh-CN" altLang="en-US" sz="2200" b="1" u="none" dirty="0">
                <a:latin typeface="宋体" panose="02010600030101010101" pitchFamily="2" charset="-122"/>
              </a:rPr>
              <a:t>变换由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硬件</a:t>
            </a:r>
            <a:r>
              <a:rPr lang="zh-CN" altLang="en-US" sz="2200" b="1" u="none" dirty="0">
                <a:latin typeface="宋体" panose="02010600030101010101" pitchFamily="2" charset="-122"/>
              </a:rPr>
              <a:t>实现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，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 smtClean="0">
                <a:latin typeface="宋体" panose="02010600030101010101" pitchFamily="2" charset="-122"/>
              </a:rPr>
              <a:t>                                </a:t>
            </a:r>
            <a:r>
              <a:rPr lang="zh-CN" altLang="en-US" sz="16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←需减小变换开销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层次管理由</a:t>
            </a:r>
            <a:r>
              <a:rPr lang="zh-CN" altLang="en-US" sz="22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软件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实现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dirty="0" smtClean="0">
                <a:latin typeface="宋体" panose="02010600030101010101" pitchFamily="2" charset="-122"/>
              </a:rPr>
              <a:t>程序空间太大，硬件管理成本太高→</a:t>
            </a:r>
            <a:r>
              <a:rPr lang="zh-CN" altLang="en-US" sz="1600" u="none" dirty="0" smtClean="0">
                <a:latin typeface="宋体" panose="02010600030101010101" pitchFamily="2" charset="-122"/>
              </a:rPr>
              <a:t>┤</a:t>
            </a:r>
            <a:endParaRPr lang="zh-CN" altLang="en-US" sz="1600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16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常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实现为</a:t>
            </a:r>
            <a:r>
              <a:rPr lang="zh-CN" altLang="en-US" sz="16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虚拟存储器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(OS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负责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600" u="none" dirty="0" smtClean="0">
                <a:latin typeface="宋体" panose="02010600030101010101" pitchFamily="2" charset="-122"/>
                <a:sym typeface="+mn-ea"/>
              </a:rPr>
              <a:t>┘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  (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早期程序员负责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u="none" dirty="0" smtClean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87" name="Text Box 140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696000" y="1764735"/>
            <a:ext cx="2124000" cy="504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54000" tIns="10800" rIns="54000" bIns="10800" anchor="ctr"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 smtClean="0">
                <a:solidFill>
                  <a:srgbClr val="C00000"/>
                </a:solidFill>
                <a:latin typeface="+mn-ea"/>
              </a:rPr>
              <a:t>MMU—</a:t>
            </a:r>
            <a:r>
              <a:rPr lang="en-US" altLang="zh-CN" sz="1600" u="none" dirty="0" smtClean="0"/>
              <a:t>Memory </a:t>
            </a:r>
            <a:endParaRPr lang="en-US" altLang="zh-CN" sz="1600" u="none" dirty="0" smtClean="0"/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u="none" dirty="0" smtClean="0">
                <a:latin typeface="宋体" panose="02010600030101010101" pitchFamily="2" charset="-122"/>
              </a:rPr>
              <a:t>     </a:t>
            </a:r>
            <a:r>
              <a:rPr lang="en-US" altLang="zh-CN" sz="1600" u="none" dirty="0"/>
              <a:t>Management </a:t>
            </a:r>
            <a:r>
              <a:rPr lang="en-US" altLang="zh-CN" sz="1600" u="none" dirty="0" smtClean="0"/>
              <a:t>Unit</a:t>
            </a:r>
            <a:endParaRPr lang="en-US" altLang="zh-CN" sz="1600" b="1" u="none" spc="-100" dirty="0" smtClean="0">
              <a:latin typeface="+mn-ea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1583690" y="1548000"/>
            <a:ext cx="4824095" cy="1007110"/>
            <a:chOff x="2494" y="907"/>
            <a:chExt cx="7597" cy="1586"/>
          </a:xfrm>
        </p:grpSpPr>
        <p:sp>
          <p:nvSpPr>
            <p:cNvPr id="129" name="Rectangle 103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989" y="907"/>
              <a:ext cx="5102" cy="158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dashDot"/>
              <a:miter lim="800000"/>
              <a:tailEnd type="none" w="sm" len="med"/>
            </a:ln>
            <a:effectLst/>
          </p:spPr>
          <p:txBody>
            <a:bodyPr wrap="none" anchor="ctr"/>
            <a:p>
              <a:endParaRPr lang="zh-CN" altLang="en-US" u="none"/>
            </a:p>
          </p:txBody>
        </p:sp>
        <p:sp>
          <p:nvSpPr>
            <p:cNvPr id="130" name="Rectangle 103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860" y="1020"/>
              <a:ext cx="3118" cy="1361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prstDash val="sysDash"/>
              <a:miter lim="800000"/>
              <a:tailEnd type="none" w="sm" len="med"/>
            </a:ln>
            <a:effectLst/>
          </p:spPr>
          <p:txBody>
            <a:bodyPr wrap="none" anchor="ctr"/>
            <a:p>
              <a:endParaRPr lang="zh-CN" altLang="en-US" u="none"/>
            </a:p>
          </p:txBody>
        </p:sp>
        <p:sp>
          <p:nvSpPr>
            <p:cNvPr id="131" name="Rectangle 10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159" y="1586"/>
              <a:ext cx="3175" cy="68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ysDash"/>
              <a:miter lim="800000"/>
              <a:tailEnd type="none" w="sm" len="med"/>
            </a:ln>
            <a:effectLst/>
          </p:spPr>
          <p:txBody>
            <a:bodyPr wrap="none" anchor="ctr"/>
            <a:p>
              <a:endParaRPr lang="zh-CN" altLang="en-US" u="none"/>
            </a:p>
          </p:txBody>
        </p:sp>
        <p:sp>
          <p:nvSpPr>
            <p:cNvPr id="132" name="Text Box 82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494" y="1191"/>
              <a:ext cx="907" cy="90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CPU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内核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3" name="Text Box 10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329" y="1702"/>
              <a:ext cx="1135" cy="45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Cache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4" name="Text Box 114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515" y="907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114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程序</a:t>
              </a:r>
              <a:r>
                <a:rPr lang="zh-CN" altLang="en-US" sz="1600" b="1" u="none" dirty="0" smtClean="0"/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5" name="Text Box 105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8731" y="1702"/>
              <a:ext cx="1134" cy="453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辅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存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6" name="Text Box 104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087" y="1134"/>
              <a:ext cx="680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MMU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37" name="直接箭头连接符 136"/>
            <p:cNvCxnSpPr/>
            <p:nvPr>
              <p:custDataLst>
                <p:tags r:id="rId14"/>
              </p:custDataLst>
            </p:nvPr>
          </p:nvCxnSpPr>
          <p:spPr bwMode="auto">
            <a:xfrm>
              <a:off x="8050" y="1361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8" name="直接箭头连接符 137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3402" y="1304"/>
              <a:ext cx="3685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9" name="直接箭头连接符 138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3402" y="1928"/>
              <a:ext cx="1928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sp>
          <p:nvSpPr>
            <p:cNvPr id="140" name="Text Box 105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030" y="1702"/>
              <a:ext cx="1134" cy="453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41" name="直接箭头连接符 140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6463" y="1929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42" name="直接箭头连接符 141"/>
            <p:cNvCxnSpPr/>
            <p:nvPr>
              <p:custDataLst>
                <p:tags r:id="rId19"/>
              </p:custDataLst>
            </p:nvPr>
          </p:nvCxnSpPr>
          <p:spPr bwMode="auto">
            <a:xfrm>
              <a:off x="6860" y="1587"/>
              <a:ext cx="0" cy="68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3" name="直接箭头连接符 142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8164" y="1928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44" name="直接箭头连接符 143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7767" y="1361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5" name="直接箭头连接符 144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7767" y="1247"/>
              <a:ext cx="1587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6" name="直接箭头连接符 145"/>
            <p:cNvCxnSpPr/>
            <p:nvPr>
              <p:custDataLst>
                <p:tags r:id="rId23"/>
              </p:custDataLst>
            </p:nvPr>
          </p:nvCxnSpPr>
          <p:spPr bwMode="auto">
            <a:xfrm>
              <a:off x="9354" y="1247"/>
              <a:ext cx="0" cy="454"/>
            </a:xfrm>
            <a:prstGeom prst="straightConnector1">
              <a:avLst/>
            </a:prstGeom>
            <a:noFill/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88" name="AutoShape 338"/>
          <p:cNvSpPr/>
          <p:nvPr>
            <p:custDataLst>
              <p:tags r:id="rId24"/>
            </p:custDataLst>
          </p:nvPr>
        </p:nvSpPr>
        <p:spPr bwMode="auto">
          <a:xfrm>
            <a:off x="5904000" y="2664000"/>
            <a:ext cx="2016000" cy="252000"/>
          </a:xfrm>
          <a:prstGeom prst="borderCallout2">
            <a:avLst>
              <a:gd name="adj1" fmla="val 53805"/>
              <a:gd name="adj2" fmla="val -31"/>
              <a:gd name="adj3" fmla="val 53121"/>
              <a:gd name="adj4" fmla="val -9249"/>
              <a:gd name="adj5" fmla="val -177269"/>
              <a:gd name="adj6" fmla="val -40998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 anchorCtr="0"/>
          <a:p>
            <a:pPr algn="ctr">
              <a:lnSpc>
                <a:spcPct val="90000"/>
              </a:lnSpc>
            </a:pPr>
            <a:r>
              <a:rPr lang="zh-CN" altLang="en-US" sz="1600" b="1" u="none" dirty="0" smtClean="0">
                <a:latin typeface="宋体" panose="02010600030101010101" pitchFamily="2" charset="-122"/>
              </a:rPr>
              <a:t>程序空间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&gt;&gt;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主存空间</a:t>
            </a:r>
            <a:endParaRPr lang="en-US" altLang="zh-CN" sz="1600" b="1" u="none" dirty="0" smtClean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160" name="椭圆 159"/>
          <p:cNvSpPr/>
          <p:nvPr>
            <p:custDataLst>
              <p:tags r:id="rId25"/>
            </p:custDataLst>
          </p:nvPr>
        </p:nvSpPr>
        <p:spPr>
          <a:xfrm>
            <a:off x="1681480" y="3492000"/>
            <a:ext cx="108000" cy="180000"/>
          </a:xfrm>
          <a:prstGeom prst="ellipse">
            <a:avLst/>
          </a:prstGeom>
          <a:solidFill>
            <a:srgbClr val="CCFFFF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1" name="椭圆 160"/>
          <p:cNvSpPr/>
          <p:nvPr>
            <p:custDataLst>
              <p:tags r:id="rId26"/>
            </p:custDataLst>
          </p:nvPr>
        </p:nvSpPr>
        <p:spPr>
          <a:xfrm>
            <a:off x="2808000" y="3564000"/>
            <a:ext cx="108000" cy="180000"/>
          </a:xfrm>
          <a:prstGeom prst="ellipse">
            <a:avLst/>
          </a:prstGeom>
          <a:solidFill>
            <a:srgbClr val="CCFFFF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17" name="组合 116"/>
          <p:cNvGrpSpPr/>
          <p:nvPr/>
        </p:nvGrpSpPr>
        <p:grpSpPr>
          <a:xfrm>
            <a:off x="1152735" y="3096000"/>
            <a:ext cx="2700020" cy="791845"/>
            <a:chOff x="3175" y="3969"/>
            <a:chExt cx="4252" cy="1247"/>
          </a:xfrm>
        </p:grpSpPr>
        <p:sp>
          <p:nvSpPr>
            <p:cNvPr id="118" name="Text Box 104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252" y="4649"/>
              <a:ext cx="1135" cy="45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Cache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9" name="Text Box 105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293" y="4649"/>
              <a:ext cx="1020" cy="453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0" name="Text Box 106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5159" y="4081"/>
              <a:ext cx="1474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辅助</a:t>
              </a:r>
              <a:r>
                <a:rPr lang="zh-CN" altLang="en-US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硬件</a:t>
              </a:r>
              <a:endParaRPr lang="zh-CN" altLang="en-US" sz="1600" b="1" u="none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1" name="Text Box 114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231" y="4039"/>
              <a:ext cx="737" cy="7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主存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 smtClean="0"/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22" name="直接箭头连接符 121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5386" y="4876"/>
              <a:ext cx="90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23" name="直接箭头连接符 122"/>
            <p:cNvCxnSpPr/>
            <p:nvPr>
              <p:custDataLst>
                <p:tags r:id="rId32"/>
              </p:custDataLst>
            </p:nvPr>
          </p:nvCxnSpPr>
          <p:spPr bwMode="auto">
            <a:xfrm flipH="1">
              <a:off x="5102" y="4422"/>
              <a:ext cx="227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4" name="直接箭头连接符 123"/>
            <p:cNvCxnSpPr/>
            <p:nvPr>
              <p:custDataLst>
                <p:tags r:id="rId33"/>
              </p:custDataLst>
            </p:nvPr>
          </p:nvCxnSpPr>
          <p:spPr bwMode="auto">
            <a:xfrm>
              <a:off x="6494" y="4423"/>
              <a:ext cx="227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5" name="直接箭头连接符 124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3175" y="4989"/>
              <a:ext cx="107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26" name="直接箭头连接符 125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3175" y="4763"/>
              <a:ext cx="1077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7" name="Rectangle 103"/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3969" y="3969"/>
              <a:ext cx="3458" cy="124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  <a:tailEnd type="none" w="sm" len="med"/>
            </a:ln>
            <a:effectLst/>
          </p:spPr>
          <p:txBody>
            <a:bodyPr wrap="none" anchor="ctr"/>
            <a:p>
              <a:endParaRPr lang="zh-CN" altLang="en-US" u="none"/>
            </a:p>
          </p:txBody>
        </p:sp>
      </p:grpSp>
      <p:grpSp>
        <p:nvGrpSpPr>
          <p:cNvPr id="164" name="组合 163"/>
          <p:cNvGrpSpPr/>
          <p:nvPr/>
        </p:nvGrpSpPr>
        <p:grpSpPr>
          <a:xfrm>
            <a:off x="1692275" y="5219755"/>
            <a:ext cx="1151890" cy="250825"/>
            <a:chOff x="2665" y="7824"/>
            <a:chExt cx="1814" cy="395"/>
          </a:xfrm>
        </p:grpSpPr>
        <p:sp>
          <p:nvSpPr>
            <p:cNvPr id="162" name="椭圆 161"/>
            <p:cNvSpPr/>
            <p:nvPr>
              <p:custDataLst>
                <p:tags r:id="rId37"/>
              </p:custDataLst>
            </p:nvPr>
          </p:nvSpPr>
          <p:spPr>
            <a:xfrm>
              <a:off x="2665" y="7824"/>
              <a:ext cx="170" cy="283"/>
            </a:xfrm>
            <a:prstGeom prst="ellipse">
              <a:avLst/>
            </a:prstGeom>
            <a:solidFill>
              <a:srgbClr val="CCFFFF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" name="椭圆 162"/>
            <p:cNvSpPr/>
            <p:nvPr>
              <p:custDataLst>
                <p:tags r:id="rId38"/>
              </p:custDataLst>
            </p:nvPr>
          </p:nvSpPr>
          <p:spPr>
            <a:xfrm>
              <a:off x="4309" y="7937"/>
              <a:ext cx="170" cy="283"/>
            </a:xfrm>
            <a:prstGeom prst="ellipse">
              <a:avLst/>
            </a:prstGeom>
            <a:solidFill>
              <a:srgbClr val="CCFFFF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7" name="组合 146"/>
          <p:cNvGrpSpPr/>
          <p:nvPr/>
        </p:nvGrpSpPr>
        <p:grpSpPr>
          <a:xfrm>
            <a:off x="1152000" y="4823755"/>
            <a:ext cx="2700020" cy="791845"/>
            <a:chOff x="3174" y="3969"/>
            <a:chExt cx="4252" cy="1247"/>
          </a:xfrm>
        </p:grpSpPr>
        <p:sp>
          <p:nvSpPr>
            <p:cNvPr id="148" name="Text Box 104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4252" y="4649"/>
              <a:ext cx="1020" cy="454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9" name="Text Box 105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6179" y="4649"/>
              <a:ext cx="1134" cy="453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辅存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0" name="Text Box 106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4989" y="4081"/>
              <a:ext cx="1814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辅助</a:t>
              </a:r>
              <a:r>
                <a:rPr lang="zh-CN" altLang="en-US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软硬件</a:t>
              </a:r>
              <a:endParaRPr lang="zh-CN" altLang="en-US" sz="1600" b="1" u="none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1" name="Text Box 114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3231" y="4039"/>
              <a:ext cx="737" cy="7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程序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 smtClean="0"/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52" name="直接箭头连接符 151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5272" y="4876"/>
              <a:ext cx="90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53" name="直接箭头连接符 152"/>
            <p:cNvCxnSpPr/>
            <p:nvPr>
              <p:custDataLst>
                <p:tags r:id="rId44"/>
              </p:custDataLst>
            </p:nvPr>
          </p:nvCxnSpPr>
          <p:spPr bwMode="auto">
            <a:xfrm flipH="1">
              <a:off x="5102" y="4422"/>
              <a:ext cx="227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4" name="直接箭头连接符 153"/>
            <p:cNvCxnSpPr/>
            <p:nvPr>
              <p:custDataLst>
                <p:tags r:id="rId45"/>
              </p:custDataLst>
            </p:nvPr>
          </p:nvCxnSpPr>
          <p:spPr bwMode="auto">
            <a:xfrm>
              <a:off x="6494" y="4423"/>
              <a:ext cx="227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5" name="直接箭头连接符 154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3174" y="4989"/>
              <a:ext cx="107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56" name="直接箭头连接符 155"/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3174" y="4763"/>
              <a:ext cx="1077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7" name="Rectangle 103"/>
            <p:cNvSpPr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3968" y="3969"/>
              <a:ext cx="3458" cy="124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  <a:tailEnd type="none" w="sm" len="med"/>
            </a:ln>
            <a:effectLst/>
          </p:spPr>
          <p:txBody>
            <a:bodyPr wrap="none" anchor="ctr"/>
            <a:p>
              <a:endParaRPr lang="zh-CN" altLang="en-US" u="none"/>
            </a:p>
          </p:txBody>
        </p:sp>
      </p:grpSp>
      <p:sp>
        <p:nvSpPr>
          <p:cNvPr id="113" name="AutoShape 62">
            <a:hlinkClick r:id="rId49" action="ppaction://hlinksldjump"/>
          </p:cNvPr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 rot="16200000">
            <a:off x="7452669" y="6236070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bldLvl="0" animBg="1"/>
      <p:bldP spid="88" grpId="0" bldLvl="0" animBg="1"/>
      <p:bldP spid="160" grpId="0" bldLvl="0" animBg="1"/>
      <p:bldP spid="161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E0C93-B165-4B5E-B099-F8671A3002CC}" type="slidenum">
              <a:rPr lang="en-US" altLang="zh-CN"/>
            </a:fld>
            <a:endParaRPr lang="en-US" altLang="zh-CN"/>
          </a:p>
        </p:txBody>
      </p:sp>
      <p:sp>
        <p:nvSpPr>
          <p:cNvPr id="296991" name="Text Box 31"/>
          <p:cNvSpPr txBox="1">
            <a:spLocks noChangeArrowheads="1"/>
          </p:cNvSpPr>
          <p:nvPr/>
        </p:nvSpPr>
        <p:spPr bwMode="auto">
          <a:xfrm>
            <a:off x="838200" y="323945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u="none" dirty="0">
                <a:latin typeface="宋体" panose="02010600030101010101" pitchFamily="2" charset="-122"/>
              </a:rPr>
              <a:t>§3.2  </a:t>
            </a:r>
            <a:r>
              <a:rPr lang="zh-CN" altLang="en-US" sz="2800" b="1" u="none" dirty="0" smtClean="0">
                <a:latin typeface="宋体" panose="02010600030101010101" pitchFamily="2" charset="-122"/>
              </a:rPr>
              <a:t>半导体存储器技术</a:t>
            </a:r>
            <a:endParaRPr lang="zh-CN" altLang="en-US" sz="2800" b="1" u="none" dirty="0">
              <a:latin typeface="宋体" panose="02010600030101010101" pitchFamily="2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115616" y="1823020"/>
            <a:ext cx="6121796" cy="1677988"/>
            <a:chOff x="1906588" y="1029941"/>
            <a:chExt cx="6121796" cy="1677988"/>
          </a:xfrm>
        </p:grpSpPr>
        <p:grpSp>
          <p:nvGrpSpPr>
            <p:cNvPr id="297008" name="Group 48"/>
            <p:cNvGrpSpPr/>
            <p:nvPr/>
          </p:nvGrpSpPr>
          <p:grpSpPr bwMode="auto">
            <a:xfrm>
              <a:off x="4714875" y="1363315"/>
              <a:ext cx="1944688" cy="658813"/>
              <a:chOff x="2970" y="928"/>
              <a:chExt cx="1225" cy="415"/>
            </a:xfrm>
          </p:grpSpPr>
          <p:sp>
            <p:nvSpPr>
              <p:cNvPr id="296997" name="Text Box 37"/>
              <p:cNvSpPr txBox="1">
                <a:spLocks noChangeArrowheads="1"/>
              </p:cNvSpPr>
              <p:nvPr/>
            </p:nvSpPr>
            <p:spPr bwMode="auto">
              <a:xfrm>
                <a:off x="3060" y="928"/>
                <a:ext cx="1135" cy="415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r>
                  <a:rPr lang="zh-CN" altLang="en-US" sz="2000" b="1" u="none" dirty="0">
                    <a:latin typeface="宋体" panose="02010600030101010101" pitchFamily="2" charset="-122"/>
                  </a:rPr>
                  <a:t>静态</a:t>
                </a:r>
                <a:r>
                  <a:rPr lang="en-US" altLang="zh-CN" sz="2000" b="1" u="none" dirty="0">
                    <a:latin typeface="宋体" panose="02010600030101010101" pitchFamily="2" charset="-122"/>
                  </a:rPr>
                  <a:t>RAM(</a:t>
                </a:r>
                <a:r>
                  <a:rPr lang="en-US" altLang="zh-CN" sz="2000" b="1" u="none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SRAM</a:t>
                </a:r>
                <a:r>
                  <a:rPr lang="en-US" altLang="zh-CN" sz="2000" b="1" u="none" dirty="0">
                    <a:latin typeface="宋体" panose="02010600030101010101" pitchFamily="2" charset="-122"/>
                  </a:rPr>
                  <a:t>)</a:t>
                </a:r>
                <a:endParaRPr lang="en-US" altLang="zh-CN" sz="2000" b="1" u="none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zh-CN" altLang="en-US" sz="2000" b="1" u="none" dirty="0">
                    <a:latin typeface="宋体" panose="02010600030101010101" pitchFamily="2" charset="-122"/>
                  </a:rPr>
                  <a:t>动态</a:t>
                </a:r>
                <a:r>
                  <a:rPr lang="en-US" altLang="zh-CN" sz="2000" b="1" u="none" dirty="0">
                    <a:latin typeface="宋体" panose="02010600030101010101" pitchFamily="2" charset="-122"/>
                  </a:rPr>
                  <a:t>RAM(</a:t>
                </a:r>
                <a:r>
                  <a:rPr lang="en-US" altLang="zh-CN" sz="2000" b="1" u="none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DRAM</a:t>
                </a:r>
                <a:r>
                  <a:rPr lang="en-US" altLang="zh-CN" sz="2000" b="1" u="none" dirty="0">
                    <a:latin typeface="宋体" panose="02010600030101010101" pitchFamily="2" charset="-122"/>
                  </a:rPr>
                  <a:t>)</a:t>
                </a:r>
                <a:endParaRPr lang="en-US" altLang="zh-CN" sz="20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96999" name="AutoShape 39"/>
              <p:cNvSpPr/>
              <p:nvPr/>
            </p:nvSpPr>
            <p:spPr bwMode="auto">
              <a:xfrm>
                <a:off x="2970" y="993"/>
                <a:ext cx="45" cy="304"/>
              </a:xfrm>
              <a:prstGeom prst="leftBrace">
                <a:avLst>
                  <a:gd name="adj1" fmla="val 56296"/>
                  <a:gd name="adj2" fmla="val 50000"/>
                </a:avLst>
              </a:prstGeom>
              <a:noFill/>
              <a:ln w="222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7009" name="Group 49"/>
            <p:cNvGrpSpPr/>
            <p:nvPr/>
          </p:nvGrpSpPr>
          <p:grpSpPr bwMode="auto">
            <a:xfrm>
              <a:off x="1906588" y="1029941"/>
              <a:ext cx="4249737" cy="1677988"/>
              <a:chOff x="1201" y="718"/>
              <a:chExt cx="2677" cy="1057"/>
            </a:xfrm>
          </p:grpSpPr>
          <p:sp>
            <p:nvSpPr>
              <p:cNvPr id="296993" name="Text Box 33"/>
              <p:cNvSpPr txBox="1">
                <a:spLocks noChangeArrowheads="1"/>
              </p:cNvSpPr>
              <p:nvPr/>
            </p:nvSpPr>
            <p:spPr bwMode="auto">
              <a:xfrm>
                <a:off x="1293" y="1367"/>
                <a:ext cx="816" cy="408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r>
                  <a:rPr lang="zh-CN" altLang="en-US" sz="2000" b="1" u="none" dirty="0">
                    <a:latin typeface="宋体" panose="02010600030101010101" pitchFamily="2" charset="-122"/>
                  </a:rPr>
                  <a:t>半导体</a:t>
                </a:r>
                <a:r>
                  <a:rPr lang="en-US" altLang="zh-CN" sz="20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ROM</a:t>
                </a:r>
                <a:endParaRPr lang="en-US" altLang="zh-CN" sz="2000" b="1" u="none" dirty="0">
                  <a:solidFill>
                    <a:srgbClr val="FF3399"/>
                  </a:solidFill>
                  <a:latin typeface="宋体" panose="02010600030101010101" pitchFamily="2" charset="-122"/>
                </a:endParaRPr>
              </a:p>
              <a:p>
                <a:pPr algn="ctr"/>
                <a:r>
                  <a:rPr lang="en-US" altLang="zh-CN" sz="1800" b="1" u="none" dirty="0" smtClean="0">
                    <a:latin typeface="宋体" panose="02010600030101010101" pitchFamily="2" charset="-122"/>
                  </a:rPr>
                  <a:t>(</a:t>
                </a:r>
                <a:r>
                  <a:rPr lang="zh-CN" altLang="en-US" sz="1800" b="1" u="none" dirty="0" smtClean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非易失型</a:t>
                </a:r>
                <a:r>
                  <a:rPr lang="en-US" altLang="zh-CN" sz="1800" b="1" u="none" dirty="0">
                    <a:latin typeface="宋体" panose="02010600030101010101" pitchFamily="2" charset="-122"/>
                  </a:rPr>
                  <a:t>) </a:t>
                </a:r>
                <a:endParaRPr lang="en-US" altLang="zh-CN" sz="18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96994" name="Text Box 34"/>
              <p:cNvSpPr txBox="1">
                <a:spLocks noChangeArrowheads="1"/>
              </p:cNvSpPr>
              <p:nvPr/>
            </p:nvSpPr>
            <p:spPr bwMode="auto">
              <a:xfrm>
                <a:off x="2199" y="718"/>
                <a:ext cx="1679" cy="196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r>
                  <a:rPr lang="zh-CN" altLang="en-US" sz="2000" b="1" u="none" dirty="0">
                    <a:latin typeface="宋体" panose="02010600030101010101" pitchFamily="2" charset="-122"/>
                  </a:rPr>
                  <a:t>双极型</a:t>
                </a:r>
                <a:r>
                  <a:rPr lang="en-US" altLang="zh-CN" sz="2000" b="1" u="none" dirty="0">
                    <a:latin typeface="宋体" panose="02010600030101010101" pitchFamily="2" charset="-122"/>
                  </a:rPr>
                  <a:t>RAM(TTL</a:t>
                </a:r>
                <a:r>
                  <a:rPr lang="zh-CN" altLang="en-US" sz="2000" b="1" u="none" dirty="0">
                    <a:latin typeface="宋体" panose="02010600030101010101" pitchFamily="2" charset="-122"/>
                  </a:rPr>
                  <a:t>、</a:t>
                </a:r>
                <a:r>
                  <a:rPr lang="en-US" altLang="zh-CN" sz="2000" b="1" u="none" dirty="0">
                    <a:latin typeface="宋体" panose="02010600030101010101" pitchFamily="2" charset="-122"/>
                  </a:rPr>
                  <a:t>ECL)</a:t>
                </a:r>
                <a:endParaRPr lang="en-US" altLang="zh-CN" sz="20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96995" name="Text Box 35"/>
              <p:cNvSpPr txBox="1">
                <a:spLocks noChangeArrowheads="1"/>
              </p:cNvSpPr>
              <p:nvPr/>
            </p:nvSpPr>
            <p:spPr bwMode="auto">
              <a:xfrm>
                <a:off x="2199" y="1019"/>
                <a:ext cx="726" cy="188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r>
                  <a:rPr lang="en-US" altLang="zh-CN" sz="2000" b="1" u="none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MOS</a:t>
                </a:r>
                <a:r>
                  <a:rPr lang="zh-CN" altLang="en-US" sz="2000" b="1" u="none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型</a:t>
                </a:r>
                <a:r>
                  <a:rPr lang="en-US" altLang="zh-CN" sz="2000" b="1" u="none" dirty="0">
                    <a:latin typeface="宋体" panose="02010600030101010101" pitchFamily="2" charset="-122"/>
                  </a:rPr>
                  <a:t>RAM</a:t>
                </a:r>
                <a:endParaRPr lang="en-US" altLang="zh-CN" sz="20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96998" name="AutoShape 38"/>
              <p:cNvSpPr/>
              <p:nvPr/>
            </p:nvSpPr>
            <p:spPr bwMode="auto">
              <a:xfrm>
                <a:off x="2109" y="784"/>
                <a:ext cx="45" cy="371"/>
              </a:xfrm>
              <a:prstGeom prst="leftBrace">
                <a:avLst>
                  <a:gd name="adj1" fmla="val 68704"/>
                  <a:gd name="adj2" fmla="val 50000"/>
                </a:avLst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000" name="Text Box 40"/>
              <p:cNvSpPr txBox="1">
                <a:spLocks noChangeArrowheads="1"/>
              </p:cNvSpPr>
              <p:nvPr/>
            </p:nvSpPr>
            <p:spPr bwMode="auto">
              <a:xfrm>
                <a:off x="1293" y="838"/>
                <a:ext cx="816" cy="408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r>
                  <a:rPr lang="zh-CN" altLang="en-US" sz="2000" b="1" u="none" dirty="0">
                    <a:latin typeface="宋体" panose="02010600030101010101" pitchFamily="2" charset="-122"/>
                  </a:rPr>
                  <a:t>半导体</a:t>
                </a:r>
                <a:r>
                  <a:rPr lang="en-US" altLang="zh-CN" sz="20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RAM</a:t>
                </a:r>
                <a:endParaRPr lang="en-US" altLang="zh-CN" sz="2000" b="1" u="none" dirty="0">
                  <a:solidFill>
                    <a:srgbClr val="FF3399"/>
                  </a:solidFill>
                  <a:latin typeface="宋体" panose="02010600030101010101" pitchFamily="2" charset="-122"/>
                </a:endParaRPr>
              </a:p>
              <a:p>
                <a:pPr algn="ctr"/>
                <a:r>
                  <a:rPr lang="en-US" altLang="zh-CN" sz="1800" b="1" u="none" dirty="0">
                    <a:latin typeface="宋体" panose="02010600030101010101" pitchFamily="2" charset="-122"/>
                  </a:rPr>
                  <a:t>(</a:t>
                </a:r>
                <a:r>
                  <a:rPr lang="zh-CN" altLang="en-US" sz="18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易失型</a:t>
                </a:r>
                <a:r>
                  <a:rPr lang="en-US" altLang="zh-CN" sz="1800" b="1" u="none" dirty="0">
                    <a:latin typeface="宋体" panose="02010600030101010101" pitchFamily="2" charset="-122"/>
                  </a:rPr>
                  <a:t>) </a:t>
                </a:r>
                <a:endParaRPr lang="en-US" altLang="zh-CN" sz="18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97001" name="AutoShape 41"/>
              <p:cNvSpPr/>
              <p:nvPr/>
            </p:nvSpPr>
            <p:spPr bwMode="auto">
              <a:xfrm>
                <a:off x="1201" y="928"/>
                <a:ext cx="29" cy="650"/>
              </a:xfrm>
              <a:prstGeom prst="leftBrace">
                <a:avLst>
                  <a:gd name="adj1" fmla="val 164312"/>
                  <a:gd name="adj2" fmla="val 50000"/>
                </a:avLst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347864" y="1988865"/>
              <a:ext cx="4680520" cy="647699"/>
              <a:chOff x="3347864" y="1988865"/>
              <a:chExt cx="4680520" cy="647699"/>
            </a:xfrm>
          </p:grpSpPr>
          <p:sp>
            <p:nvSpPr>
              <p:cNvPr id="297003" name="Text Box 43"/>
              <p:cNvSpPr txBox="1">
                <a:spLocks noChangeArrowheads="1"/>
              </p:cNvSpPr>
              <p:nvPr/>
            </p:nvSpPr>
            <p:spPr bwMode="auto">
              <a:xfrm>
                <a:off x="3492277" y="1988865"/>
                <a:ext cx="4536107" cy="647699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r>
                  <a:rPr lang="en-US" altLang="zh-CN" sz="2000" b="1" u="none" dirty="0" smtClean="0">
                    <a:latin typeface="宋体" panose="02010600030101010101" pitchFamily="2" charset="-122"/>
                  </a:rPr>
                  <a:t>MROM</a:t>
                </a:r>
                <a:r>
                  <a:rPr lang="zh-CN" altLang="en-US" sz="2000" b="1" u="none" dirty="0" smtClean="0">
                    <a:latin typeface="宋体" panose="02010600030101010101" pitchFamily="2" charset="-122"/>
                  </a:rPr>
                  <a:t>、</a:t>
                </a:r>
                <a:r>
                  <a:rPr lang="en-US" altLang="zh-CN" sz="2000" b="1" u="none" dirty="0" smtClean="0">
                    <a:latin typeface="宋体" panose="02010600030101010101" pitchFamily="2" charset="-122"/>
                  </a:rPr>
                  <a:t>PROM</a:t>
                </a:r>
                <a:r>
                  <a:rPr lang="zh-CN" altLang="en-US" sz="2000" b="1" u="none" dirty="0" smtClean="0">
                    <a:latin typeface="宋体" panose="02010600030101010101" pitchFamily="2" charset="-122"/>
                  </a:rPr>
                  <a:t>、</a:t>
                </a:r>
                <a:r>
                  <a:rPr lang="en-US" altLang="zh-CN" sz="2000" b="1" u="none" dirty="0" smtClean="0">
                    <a:latin typeface="宋体" panose="02010600030101010101" pitchFamily="2" charset="-122"/>
                  </a:rPr>
                  <a:t>EPROM</a:t>
                </a:r>
                <a:r>
                  <a:rPr lang="zh-CN" altLang="en-US" sz="2000" b="1" u="none" dirty="0" smtClean="0">
                    <a:latin typeface="宋体" panose="02010600030101010101" pitchFamily="2" charset="-122"/>
                  </a:rPr>
                  <a:t>、</a:t>
                </a:r>
                <a:r>
                  <a:rPr lang="en-US" altLang="zh-CN" sz="2000" b="1" u="none" dirty="0" smtClean="0">
                    <a:latin typeface="宋体" panose="02010600030101010101" pitchFamily="2" charset="-122"/>
                  </a:rPr>
                  <a:t>EEPROM(E</a:t>
                </a:r>
                <a:r>
                  <a:rPr lang="en-US" altLang="zh-CN" sz="2000" b="1" u="none" baseline="30000" dirty="0" smtClean="0">
                    <a:latin typeface="宋体" panose="02010600030101010101" pitchFamily="2" charset="-122"/>
                  </a:rPr>
                  <a:t>2</a:t>
                </a:r>
                <a:r>
                  <a:rPr lang="en-US" altLang="zh-CN" sz="2000" b="1" u="none" dirty="0" smtClean="0">
                    <a:latin typeface="宋体" panose="02010600030101010101" pitchFamily="2" charset="-122"/>
                  </a:rPr>
                  <a:t>PROM)</a:t>
                </a:r>
                <a:r>
                  <a:rPr lang="zh-CN" altLang="en-US" sz="2000" b="1" u="none" dirty="0" smtClean="0">
                    <a:latin typeface="宋体" panose="02010600030101010101" pitchFamily="2" charset="-122"/>
                  </a:rPr>
                  <a:t>，</a:t>
                </a:r>
                <a:endParaRPr lang="en-US" altLang="zh-CN" sz="2000" b="1" u="none" dirty="0" smtClean="0">
                  <a:latin typeface="宋体" panose="02010600030101010101" pitchFamily="2" charset="-122"/>
                </a:endParaRPr>
              </a:p>
              <a:p>
                <a:r>
                  <a:rPr lang="en-US" altLang="zh-CN" sz="2000" b="1" u="none" dirty="0" smtClean="0">
                    <a:latin typeface="宋体" panose="02010600030101010101" pitchFamily="2" charset="-122"/>
                  </a:rPr>
                  <a:t>FLASH</a:t>
                </a:r>
                <a:endParaRPr lang="en-US" altLang="zh-CN" sz="20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7" name="AutoShape 39"/>
              <p:cNvSpPr/>
              <p:nvPr/>
            </p:nvSpPr>
            <p:spPr bwMode="auto">
              <a:xfrm>
                <a:off x="3347864" y="2079923"/>
                <a:ext cx="71438" cy="482600"/>
              </a:xfrm>
              <a:prstGeom prst="leftBrace">
                <a:avLst>
                  <a:gd name="adj1" fmla="val 56296"/>
                  <a:gd name="adj2" fmla="val 50000"/>
                </a:avLst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21" name="Text Box 45"/>
          <p:cNvSpPr txBox="1">
            <a:spLocks noChangeArrowheads="1"/>
          </p:cNvSpPr>
          <p:nvPr/>
        </p:nvSpPr>
        <p:spPr bwMode="auto">
          <a:xfrm>
            <a:off x="179512" y="1361297"/>
            <a:ext cx="5651151" cy="5170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*半导体存储器分类：</a:t>
            </a:r>
            <a:endParaRPr lang="en-US" altLang="zh-CN" sz="2000" b="1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125" name="Text Box 526"/>
          <p:cNvSpPr txBox="1">
            <a:spLocks noChangeArrowheads="1"/>
          </p:cNvSpPr>
          <p:nvPr/>
        </p:nvSpPr>
        <p:spPr bwMode="auto">
          <a:xfrm>
            <a:off x="179512" y="908720"/>
            <a:ext cx="8785225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200" b="1" u="none" dirty="0">
                <a:solidFill>
                  <a:srgbClr val="FF3399"/>
                </a:solidFill>
                <a:latin typeface="+mn-ea"/>
                <a:ea typeface="+mn-ea"/>
              </a:rPr>
              <a:t> </a:t>
            </a:r>
            <a:r>
              <a:rPr lang="en-US" altLang="zh-CN" sz="2200" b="1" u="none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en-US" altLang="zh-CN" sz="2200" b="1" u="none" dirty="0" smtClean="0">
                <a:latin typeface="+mn-ea"/>
                <a:ea typeface="+mn-ea"/>
              </a:rPr>
              <a:t>SRAM</a:t>
            </a:r>
            <a:r>
              <a:rPr lang="zh-CN" altLang="en-US" sz="2200" b="1" u="none" dirty="0" smtClean="0">
                <a:latin typeface="+mn-ea"/>
                <a:ea typeface="+mn-ea"/>
              </a:rPr>
              <a:t>及</a:t>
            </a:r>
            <a:r>
              <a:rPr lang="en-US" altLang="zh-CN" sz="2200" b="1" u="none" dirty="0" smtClean="0">
                <a:latin typeface="+mn-ea"/>
                <a:ea typeface="+mn-ea"/>
              </a:rPr>
              <a:t>DRAM</a:t>
            </a:r>
            <a:r>
              <a:rPr lang="zh-CN" altLang="en-US" sz="2200" b="1" u="none" dirty="0" smtClean="0">
                <a:latin typeface="+mn-ea"/>
                <a:ea typeface="+mn-ea"/>
              </a:rPr>
              <a:t>芯片的组成、读写时序</a:t>
            </a:r>
            <a:r>
              <a:rPr lang="en-US" altLang="zh-CN" sz="2200" b="1" u="none" dirty="0" smtClean="0">
                <a:latin typeface="+mn-ea"/>
                <a:ea typeface="+mn-ea"/>
              </a:rPr>
              <a:t>(</a:t>
            </a:r>
            <a:r>
              <a:rPr lang="zh-CN" altLang="en-US" sz="2200" b="1" u="none" dirty="0" smtClean="0">
                <a:latin typeface="+mn-ea"/>
                <a:ea typeface="+mn-ea"/>
              </a:rPr>
              <a:t>及</a:t>
            </a:r>
            <a:r>
              <a:rPr lang="en-US" altLang="zh-CN" sz="2200" b="1" u="none" dirty="0" smtClean="0">
                <a:latin typeface="+mn-ea"/>
                <a:ea typeface="+mn-ea"/>
              </a:rPr>
              <a:t>DRAM</a:t>
            </a:r>
            <a:r>
              <a:rPr lang="zh-CN" altLang="en-US" sz="2200" b="1" u="none" dirty="0" smtClean="0">
                <a:latin typeface="+mn-ea"/>
                <a:ea typeface="+mn-ea"/>
              </a:rPr>
              <a:t>刷新</a:t>
            </a:r>
            <a:r>
              <a:rPr lang="en-US" altLang="zh-CN" sz="2200" b="1" u="none" dirty="0" smtClean="0">
                <a:latin typeface="+mn-ea"/>
                <a:ea typeface="+mn-ea"/>
              </a:rPr>
              <a:t>)</a:t>
            </a:r>
            <a:endParaRPr lang="en-US" altLang="zh-CN" sz="2200" b="1" u="none" dirty="0" smtClean="0">
              <a:latin typeface="+mn-ea"/>
              <a:ea typeface="+mn-ea"/>
            </a:endParaRPr>
          </a:p>
        </p:txBody>
      </p:sp>
      <p:sp>
        <p:nvSpPr>
          <p:cNvPr id="122" name="Text Box 126"/>
          <p:cNvSpPr txBox="1">
            <a:spLocks noChangeArrowheads="1"/>
          </p:cNvSpPr>
          <p:nvPr/>
        </p:nvSpPr>
        <p:spPr bwMode="auto">
          <a:xfrm>
            <a:off x="6228184" y="1964621"/>
            <a:ext cx="2520280" cy="64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marL="358775" indent="-358775" algn="ctr"/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SRAM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、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DRAM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存储信息的元件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124" name="Text Box 45"/>
          <p:cNvSpPr txBox="1">
            <a:spLocks noChangeArrowheads="1"/>
          </p:cNvSpPr>
          <p:nvPr/>
        </p:nvSpPr>
        <p:spPr bwMode="auto">
          <a:xfrm>
            <a:off x="179512" y="3501008"/>
            <a:ext cx="8712968" cy="3056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MOS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管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简介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b="1" u="none" dirty="0" err="1" smtClean="0">
                <a:latin typeface="宋体" panose="02010600030101010101" pitchFamily="2" charset="-122"/>
              </a:rPr>
              <a:t>绝缘栅场效应管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en-US" altLang="zh-CN" sz="1800" u="none" dirty="0" smtClean="0"/>
              <a:t>Metal </a:t>
            </a:r>
            <a:r>
              <a:rPr lang="en-US" altLang="zh-CN" sz="1800" u="none" dirty="0"/>
              <a:t>Oxide </a:t>
            </a:r>
            <a:r>
              <a:rPr lang="en-US" altLang="zh-CN" sz="1800" u="none" dirty="0" smtClean="0"/>
              <a:t>Semiconductor, MOS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           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MOS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管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特性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                  ①</a:t>
            </a:r>
            <a:r>
              <a:rPr lang="en-US" altLang="zh-CN" sz="2200" b="1" u="none" dirty="0">
                <a:latin typeface="宋体" panose="02010600030101010101" pitchFamily="2" charset="-122"/>
              </a:rPr>
              <a:t>V</a:t>
            </a:r>
            <a:r>
              <a:rPr lang="en-US" altLang="zh-CN" sz="2200" b="1" u="none" baseline="-16000" dirty="0">
                <a:latin typeface="宋体" panose="02010600030101010101" pitchFamily="2" charset="-122"/>
              </a:rPr>
              <a:t>GS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＜</a:t>
            </a:r>
            <a:r>
              <a:rPr lang="en-US" altLang="zh-CN" sz="2200" b="1" u="none" dirty="0">
                <a:latin typeface="宋体" panose="02010600030101010101" pitchFamily="2" charset="-122"/>
              </a:rPr>
              <a:t>V</a:t>
            </a:r>
            <a:r>
              <a:rPr lang="en-US" altLang="zh-CN" sz="2200" b="1" u="none" baseline="-16000" dirty="0">
                <a:latin typeface="宋体" panose="02010600030101010101" pitchFamily="2" charset="-122"/>
              </a:rPr>
              <a:t>T</a:t>
            </a:r>
            <a:r>
              <a:rPr lang="zh-CN" altLang="en-US" sz="2200" b="1" u="none" dirty="0">
                <a:latin typeface="宋体" panose="02010600030101010101" pitchFamily="2" charset="-122"/>
              </a:rPr>
              <a:t>时，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200" b="1" u="none" baseline="-16000" dirty="0">
                <a:solidFill>
                  <a:srgbClr val="C00000"/>
                </a:solidFill>
                <a:latin typeface="宋体" panose="02010600030101010101" pitchFamily="2" charset="-122"/>
              </a:rPr>
              <a:t>D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(MOS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管截止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                    V</a:t>
            </a:r>
            <a:r>
              <a:rPr lang="en-US" altLang="zh-CN" sz="2200" b="1" u="none" baseline="-16000" dirty="0" smtClean="0">
                <a:latin typeface="宋体" panose="02010600030101010101" pitchFamily="2" charset="-122"/>
              </a:rPr>
              <a:t>GS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≥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V</a:t>
            </a:r>
            <a:r>
              <a:rPr lang="en-US" altLang="zh-CN" sz="2200" b="1" u="none" baseline="-16000" dirty="0" smtClean="0">
                <a:latin typeface="宋体" panose="02010600030101010101" pitchFamily="2" charset="-122"/>
              </a:rPr>
              <a:t>T</a:t>
            </a:r>
            <a:r>
              <a:rPr lang="zh-CN" altLang="en-US" sz="2200" b="1" u="none" dirty="0">
                <a:latin typeface="宋体" panose="02010600030101010101" pitchFamily="2" charset="-122"/>
              </a:rPr>
              <a:t>时，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200" b="1" u="none" baseline="-160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D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＞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(MOS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管导通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                  ②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V</a:t>
            </a:r>
            <a:r>
              <a:rPr lang="en-US" altLang="zh-CN" sz="2200" b="1" u="none" baseline="-16000" dirty="0" smtClean="0">
                <a:latin typeface="宋体" panose="02010600030101010101" pitchFamily="2" charset="-122"/>
              </a:rPr>
              <a:t>GS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越大时，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200" b="1" u="none" baseline="-16000" dirty="0">
                <a:solidFill>
                  <a:srgbClr val="C00000"/>
                </a:solidFill>
                <a:latin typeface="宋体" panose="02010600030101010101" pitchFamily="2" charset="-122"/>
              </a:rPr>
              <a:t>D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越大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与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V</a:t>
            </a:r>
            <a:r>
              <a:rPr lang="en-US" altLang="zh-CN" sz="1600" b="1" u="none" baseline="-18000" dirty="0" smtClean="0">
                <a:latin typeface="宋体" panose="02010600030101010101" pitchFamily="2" charset="-122"/>
              </a:rPr>
              <a:t>DS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无关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endParaRPr lang="en-US" altLang="zh-CN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                  ③</a:t>
            </a:r>
            <a:r>
              <a:rPr lang="en-US" altLang="zh-CN" sz="2200" b="1" u="none" dirty="0">
                <a:latin typeface="宋体" panose="02010600030101010101" pitchFamily="2" charset="-122"/>
              </a:rPr>
              <a:t>V</a:t>
            </a:r>
            <a:r>
              <a:rPr lang="en-US" altLang="zh-CN" sz="2200" b="1" u="none" baseline="-16000" dirty="0">
                <a:latin typeface="宋体" panose="02010600030101010101" pitchFamily="2" charset="-122"/>
              </a:rPr>
              <a:t>GS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固定、</a:t>
            </a:r>
            <a:r>
              <a:rPr lang="zh-CN" altLang="en-US" sz="2200" b="1" u="none" dirty="0">
                <a:latin typeface="宋体" panose="02010600030101010101" pitchFamily="2" charset="-122"/>
              </a:rPr>
              <a:t>增大</a:t>
            </a:r>
            <a:r>
              <a:rPr lang="en-US" altLang="zh-CN" sz="2200" b="1" u="none" dirty="0">
                <a:latin typeface="宋体" panose="02010600030101010101" pitchFamily="2" charset="-122"/>
              </a:rPr>
              <a:t>V</a:t>
            </a:r>
            <a:r>
              <a:rPr lang="en-US" altLang="zh-CN" sz="2200" b="1" u="none" baseline="-16000" dirty="0">
                <a:latin typeface="宋体" panose="02010600030101010101" pitchFamily="2" charset="-122"/>
              </a:rPr>
              <a:t>DS</a:t>
            </a:r>
            <a:r>
              <a:rPr lang="zh-CN" altLang="en-US" sz="2200" b="1" u="none" dirty="0">
                <a:latin typeface="宋体" panose="02010600030101010101" pitchFamily="2" charset="-122"/>
              </a:rPr>
              <a:t>时，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200" b="1" u="none" baseline="-16000" dirty="0">
                <a:solidFill>
                  <a:srgbClr val="C00000"/>
                </a:solidFill>
                <a:latin typeface="宋体" panose="02010600030101010101" pitchFamily="2" charset="-122"/>
              </a:rPr>
              <a:t>D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不变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                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MOS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管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应用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pSp>
        <p:nvGrpSpPr>
          <p:cNvPr id="127" name="组合 126"/>
          <p:cNvGrpSpPr/>
          <p:nvPr/>
        </p:nvGrpSpPr>
        <p:grpSpPr>
          <a:xfrm>
            <a:off x="6732240" y="4212000"/>
            <a:ext cx="1800000" cy="940004"/>
            <a:chOff x="488391" y="548704"/>
            <a:chExt cx="1800000" cy="940004"/>
          </a:xfrm>
        </p:grpSpPr>
        <p:cxnSp>
          <p:nvCxnSpPr>
            <p:cNvPr id="149" name="直接连接符 148"/>
            <p:cNvCxnSpPr/>
            <p:nvPr/>
          </p:nvCxnSpPr>
          <p:spPr bwMode="auto">
            <a:xfrm flipV="1">
              <a:off x="920391" y="548760"/>
              <a:ext cx="0" cy="720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50" name="Text Box 383"/>
            <p:cNvSpPr txBox="1">
              <a:spLocks noChangeArrowheads="1"/>
            </p:cNvSpPr>
            <p:nvPr/>
          </p:nvSpPr>
          <p:spPr bwMode="auto">
            <a:xfrm>
              <a:off x="632359" y="548704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I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D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51" name="Text Box 383"/>
            <p:cNvSpPr txBox="1">
              <a:spLocks noChangeArrowheads="1"/>
            </p:cNvSpPr>
            <p:nvPr/>
          </p:nvSpPr>
          <p:spPr bwMode="auto">
            <a:xfrm>
              <a:off x="1979712" y="1272708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V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G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S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52" name="Text Box 383"/>
            <p:cNvSpPr txBox="1">
              <a:spLocks noChangeArrowheads="1"/>
            </p:cNvSpPr>
            <p:nvPr/>
          </p:nvSpPr>
          <p:spPr bwMode="auto">
            <a:xfrm>
              <a:off x="1266792" y="1268736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V</a:t>
              </a:r>
              <a:r>
                <a:rPr lang="en-US" altLang="zh-CN" sz="1600" b="1" u="none" baseline="-18000" dirty="0" smtClean="0">
                  <a:latin typeface="宋体" panose="02010600030101010101" pitchFamily="2" charset="-122"/>
                </a:rPr>
                <a:t>T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53" name="Text Box 383"/>
            <p:cNvSpPr txBox="1">
              <a:spLocks noChangeArrowheads="1"/>
            </p:cNvSpPr>
            <p:nvPr/>
          </p:nvSpPr>
          <p:spPr bwMode="auto">
            <a:xfrm>
              <a:off x="488391" y="1052728"/>
              <a:ext cx="432000" cy="1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u="none" dirty="0" smtClean="0">
                  <a:latin typeface="宋体" panose="02010600030101010101" pitchFamily="2" charset="-122"/>
                </a:rPr>
                <a:t>10</a:t>
              </a:r>
              <a:r>
                <a:rPr lang="el-GR" altLang="zh-CN" sz="1200" u="none" dirty="0">
                  <a:latin typeface="+mn-lt"/>
                </a:rPr>
                <a:t>μ</a:t>
              </a:r>
              <a:r>
                <a:rPr lang="en-US" altLang="zh-CN" sz="1200" b="1" u="none" dirty="0" smtClean="0">
                  <a:latin typeface="宋体" panose="02010600030101010101" pitchFamily="2" charset="-122"/>
                </a:rPr>
                <a:t>A</a:t>
              </a:r>
              <a:endParaRPr lang="en-US" altLang="zh-CN" sz="12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54" name="梯形 153"/>
            <p:cNvSpPr/>
            <p:nvPr/>
          </p:nvSpPr>
          <p:spPr bwMode="auto">
            <a:xfrm>
              <a:off x="1266768" y="1124696"/>
              <a:ext cx="792000" cy="144040"/>
            </a:xfrm>
            <a:prstGeom prst="trapezoid">
              <a:avLst>
                <a:gd name="adj" fmla="val 63518"/>
              </a:avLst>
            </a:prstGeom>
            <a:solidFill>
              <a:schemeClr val="bg1">
                <a:lumMod val="75000"/>
              </a:schemeClr>
            </a:solidFill>
            <a:ln w="12700">
              <a:noFill/>
              <a:miter lim="800000"/>
            </a:ln>
            <a:effectLst/>
          </p:spPr>
          <p:txBody>
            <a:bodyPr wrap="none" lIns="18000" tIns="10800" rIns="18000" bIns="10800" rtlCol="0" anchor="ctr"/>
            <a:lstStyle/>
            <a:p>
              <a:pPr algn="ctr"/>
              <a:r>
                <a:rPr lang="zh-CN" altLang="en-US" sz="1400" b="1" u="none" dirty="0" smtClean="0"/>
                <a:t>截止</a:t>
              </a:r>
              <a:endParaRPr lang="zh-CN" altLang="en-US" sz="1400" b="1" u="none" dirty="0"/>
            </a:p>
          </p:txBody>
        </p:sp>
        <p:sp>
          <p:nvSpPr>
            <p:cNvPr id="155" name="梯形 154"/>
            <p:cNvSpPr/>
            <p:nvPr/>
          </p:nvSpPr>
          <p:spPr bwMode="auto">
            <a:xfrm>
              <a:off x="1360895" y="764672"/>
              <a:ext cx="792000" cy="360048"/>
            </a:xfrm>
            <a:prstGeom prst="trapezoid">
              <a:avLst>
                <a:gd name="adj" fmla="val 54150"/>
              </a:avLst>
            </a:prstGeom>
            <a:solidFill>
              <a:srgbClr val="CCFFFF"/>
            </a:solidFill>
            <a:ln w="12700">
              <a:noFill/>
              <a:miter lim="800000"/>
            </a:ln>
            <a:effectLst/>
          </p:spPr>
          <p:txBody>
            <a:bodyPr wrap="none" lIns="18000" tIns="10800" rIns="18000" bIns="10800" rtlCol="0" anchor="ctr"/>
            <a:lstStyle/>
            <a:p>
              <a:pPr algn="ctr"/>
              <a:r>
                <a:rPr lang="zh-CN" altLang="en-US" sz="1400" b="1" u="none" dirty="0" smtClean="0"/>
                <a:t>导通</a:t>
              </a:r>
              <a:endParaRPr lang="zh-CN" altLang="en-US" sz="1400" b="1" u="none" dirty="0"/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flipV="1">
              <a:off x="1280151" y="764704"/>
              <a:ext cx="288000" cy="504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直接连接符 156"/>
            <p:cNvCxnSpPr/>
            <p:nvPr/>
          </p:nvCxnSpPr>
          <p:spPr bwMode="auto">
            <a:xfrm>
              <a:off x="920391" y="1124719"/>
              <a:ext cx="1224000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直接连接符 157"/>
            <p:cNvCxnSpPr/>
            <p:nvPr/>
          </p:nvCxnSpPr>
          <p:spPr bwMode="auto">
            <a:xfrm flipH="1" flipV="1">
              <a:off x="1331640" y="1234828"/>
              <a:ext cx="0" cy="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59" name="直接连接符 158"/>
            <p:cNvCxnSpPr/>
            <p:nvPr/>
          </p:nvCxnSpPr>
          <p:spPr bwMode="auto">
            <a:xfrm>
              <a:off x="920391" y="1268736"/>
              <a:ext cx="1368000" cy="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28" name="组合 127"/>
          <p:cNvGrpSpPr/>
          <p:nvPr/>
        </p:nvGrpSpPr>
        <p:grpSpPr>
          <a:xfrm>
            <a:off x="6876256" y="5229200"/>
            <a:ext cx="1880528" cy="1080120"/>
            <a:chOff x="2987824" y="1916832"/>
            <a:chExt cx="1880528" cy="1080120"/>
          </a:xfrm>
        </p:grpSpPr>
        <p:sp>
          <p:nvSpPr>
            <p:cNvPr id="129" name="Text Box 383"/>
            <p:cNvSpPr txBox="1">
              <a:spLocks noChangeArrowheads="1"/>
            </p:cNvSpPr>
            <p:nvPr/>
          </p:nvSpPr>
          <p:spPr bwMode="auto">
            <a:xfrm>
              <a:off x="3276024" y="1988840"/>
              <a:ext cx="1224000" cy="684000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0" name="Text Box 383"/>
            <p:cNvSpPr txBox="1">
              <a:spLocks noChangeArrowheads="1"/>
            </p:cNvSpPr>
            <p:nvPr/>
          </p:nvSpPr>
          <p:spPr bwMode="auto">
            <a:xfrm>
              <a:off x="3276024" y="2672904"/>
              <a:ext cx="1224000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1" name="Text Box 383"/>
            <p:cNvSpPr txBox="1">
              <a:spLocks noChangeArrowheads="1"/>
            </p:cNvSpPr>
            <p:nvPr/>
          </p:nvSpPr>
          <p:spPr bwMode="auto">
            <a:xfrm>
              <a:off x="2987824" y="1916832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I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D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32" name="Text Box 383"/>
            <p:cNvSpPr txBox="1">
              <a:spLocks noChangeArrowheads="1"/>
            </p:cNvSpPr>
            <p:nvPr/>
          </p:nvSpPr>
          <p:spPr bwMode="auto">
            <a:xfrm>
              <a:off x="4508344" y="2780952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V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DS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cxnSp>
          <p:nvCxnSpPr>
            <p:cNvPr id="133" name="直接连接符 132"/>
            <p:cNvCxnSpPr/>
            <p:nvPr/>
          </p:nvCxnSpPr>
          <p:spPr bwMode="auto">
            <a:xfrm>
              <a:off x="3798000" y="2060824"/>
              <a:ext cx="702000" cy="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4" name="直接连接符 133"/>
            <p:cNvCxnSpPr/>
            <p:nvPr/>
          </p:nvCxnSpPr>
          <p:spPr bwMode="auto">
            <a:xfrm>
              <a:off x="3654000" y="2276848"/>
              <a:ext cx="846000" cy="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直接连接符 134"/>
            <p:cNvCxnSpPr/>
            <p:nvPr/>
          </p:nvCxnSpPr>
          <p:spPr bwMode="auto">
            <a:xfrm>
              <a:off x="3510000" y="2492871"/>
              <a:ext cx="990000" cy="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6" name="直接连接符 135"/>
            <p:cNvCxnSpPr/>
            <p:nvPr/>
          </p:nvCxnSpPr>
          <p:spPr bwMode="auto">
            <a:xfrm>
              <a:off x="3330024" y="2675159"/>
              <a:ext cx="1170000" cy="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7" name="直接连接符 136"/>
            <p:cNvCxnSpPr/>
            <p:nvPr/>
          </p:nvCxnSpPr>
          <p:spPr bwMode="auto">
            <a:xfrm flipV="1">
              <a:off x="3275856" y="2078928"/>
              <a:ext cx="450000" cy="70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8" name="Text Box 383"/>
            <p:cNvSpPr txBox="1">
              <a:spLocks noChangeArrowheads="1"/>
            </p:cNvSpPr>
            <p:nvPr/>
          </p:nvSpPr>
          <p:spPr bwMode="auto">
            <a:xfrm>
              <a:off x="4580352" y="2312928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V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GS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cxnSp>
          <p:nvCxnSpPr>
            <p:cNvPr id="139" name="直接连接符 138"/>
            <p:cNvCxnSpPr/>
            <p:nvPr/>
          </p:nvCxnSpPr>
          <p:spPr bwMode="auto">
            <a:xfrm flipH="1" flipV="1">
              <a:off x="4580352" y="2204904"/>
              <a:ext cx="208" cy="36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40" name="弧形 139"/>
            <p:cNvSpPr/>
            <p:nvPr/>
          </p:nvSpPr>
          <p:spPr bwMode="auto">
            <a:xfrm>
              <a:off x="3641216" y="2060824"/>
              <a:ext cx="158400" cy="72000"/>
            </a:xfrm>
            <a:prstGeom prst="arc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10800000" rev="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1" name="弧形 140"/>
            <p:cNvSpPr/>
            <p:nvPr/>
          </p:nvSpPr>
          <p:spPr bwMode="auto">
            <a:xfrm>
              <a:off x="3508812" y="2276848"/>
              <a:ext cx="144000" cy="72000"/>
            </a:xfrm>
            <a:prstGeom prst="arc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10800000" rev="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2" name="弧形 141"/>
            <p:cNvSpPr/>
            <p:nvPr/>
          </p:nvSpPr>
          <p:spPr bwMode="auto">
            <a:xfrm>
              <a:off x="3364796" y="2492872"/>
              <a:ext cx="144000" cy="72000"/>
            </a:xfrm>
            <a:prstGeom prst="arc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10800000" rev="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" name="Text Box 383"/>
            <p:cNvSpPr txBox="1">
              <a:spLocks noChangeArrowheads="1"/>
            </p:cNvSpPr>
            <p:nvPr/>
          </p:nvSpPr>
          <p:spPr bwMode="auto">
            <a:xfrm>
              <a:off x="3259647" y="1988880"/>
              <a:ext cx="432000" cy="36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 smtClean="0">
                  <a:latin typeface="宋体" panose="02010600030101010101" pitchFamily="2" charset="-122"/>
                </a:rPr>
                <a:t>非饱和区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4" name="Text Box 383"/>
            <p:cNvSpPr txBox="1">
              <a:spLocks noChangeArrowheads="1"/>
            </p:cNvSpPr>
            <p:nvPr/>
          </p:nvSpPr>
          <p:spPr bwMode="auto">
            <a:xfrm>
              <a:off x="3851920" y="2060872"/>
              <a:ext cx="57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400" b="1" u="none" dirty="0" smtClean="0">
                  <a:latin typeface="宋体" panose="02010600030101010101" pitchFamily="2" charset="-122"/>
                </a:rPr>
                <a:t>饱和区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5" name="Text Box 383"/>
            <p:cNvSpPr txBox="1">
              <a:spLocks noChangeArrowheads="1"/>
            </p:cNvSpPr>
            <p:nvPr/>
          </p:nvSpPr>
          <p:spPr bwMode="auto">
            <a:xfrm>
              <a:off x="3822099" y="2816952"/>
              <a:ext cx="720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400" b="1" u="none" dirty="0" smtClean="0">
                  <a:latin typeface="宋体" panose="02010600030101010101" pitchFamily="2" charset="-122"/>
                </a:rPr>
                <a:t>截止区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46" name="直接连接符 145"/>
            <p:cNvCxnSpPr/>
            <p:nvPr/>
          </p:nvCxnSpPr>
          <p:spPr bwMode="auto">
            <a:xfrm flipH="1" flipV="1">
              <a:off x="3691695" y="2726920"/>
              <a:ext cx="144000" cy="19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7" name="直接连接符 146"/>
            <p:cNvCxnSpPr/>
            <p:nvPr/>
          </p:nvCxnSpPr>
          <p:spPr bwMode="auto">
            <a:xfrm>
              <a:off x="3276040" y="2780928"/>
              <a:ext cx="1512000" cy="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8" name="直接连接符 147"/>
            <p:cNvCxnSpPr/>
            <p:nvPr/>
          </p:nvCxnSpPr>
          <p:spPr bwMode="auto">
            <a:xfrm flipV="1">
              <a:off x="3275856" y="1916928"/>
              <a:ext cx="0" cy="864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160" name="Text Box 383"/>
          <p:cNvSpPr txBox="1">
            <a:spLocks noChangeArrowheads="1"/>
          </p:cNvSpPr>
          <p:nvPr/>
        </p:nvSpPr>
        <p:spPr bwMode="auto">
          <a:xfrm>
            <a:off x="4139952" y="6021288"/>
            <a:ext cx="2952000" cy="39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46800" rIns="18000" bIns="10800" anchor="t" anchorCtr="0"/>
          <a:lstStyle/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用作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开关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①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、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电阻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②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467744" y="4077100"/>
            <a:ext cx="1800000" cy="1656164"/>
            <a:chOff x="467744" y="4077100"/>
            <a:chExt cx="1800000" cy="1656164"/>
          </a:xfrm>
        </p:grpSpPr>
        <p:grpSp>
          <p:nvGrpSpPr>
            <p:cNvPr id="162" name="组合 161"/>
            <p:cNvGrpSpPr/>
            <p:nvPr/>
          </p:nvGrpSpPr>
          <p:grpSpPr>
            <a:xfrm>
              <a:off x="467744" y="4077100"/>
              <a:ext cx="1800000" cy="720024"/>
              <a:chOff x="6084368" y="3429024"/>
              <a:chExt cx="1800000" cy="720024"/>
            </a:xfrm>
          </p:grpSpPr>
          <p:sp>
            <p:nvSpPr>
              <p:cNvPr id="175" name="Rectangle 133" descr="宽上对角线"/>
              <p:cNvSpPr>
                <a:spLocks noChangeArrowheads="1"/>
              </p:cNvSpPr>
              <p:nvPr/>
            </p:nvSpPr>
            <p:spPr bwMode="auto">
              <a:xfrm>
                <a:off x="6300360" y="3717032"/>
                <a:ext cx="1368000" cy="144000"/>
              </a:xfrm>
              <a:prstGeom prst="rect">
                <a:avLst/>
              </a:prstGeom>
              <a:pattFill prst="wdUpDiag">
                <a:fgClr>
                  <a:schemeClr val="folHlink">
                    <a:alpha val="49001"/>
                  </a:schemeClr>
                </a:fgClr>
                <a:bgClr>
                  <a:schemeClr val="bg1">
                    <a:alpha val="49001"/>
                  </a:schemeClr>
                </a:bgClr>
              </a:patt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r">
                  <a:lnSpc>
                    <a:spcPct val="90000"/>
                  </a:lnSpc>
                </a:pPr>
                <a:endParaRPr lang="zh-CN" altLang="en-US" sz="1600" baseline="-18000" dirty="0">
                  <a:latin typeface="+mn-ea"/>
                  <a:ea typeface="+mn-ea"/>
                </a:endParaRPr>
              </a:p>
            </p:txBody>
          </p:sp>
          <p:sp>
            <p:nvSpPr>
              <p:cNvPr id="176" name="Rectangle 124"/>
              <p:cNvSpPr>
                <a:spLocks noChangeArrowheads="1"/>
              </p:cNvSpPr>
              <p:nvPr/>
            </p:nvSpPr>
            <p:spPr bwMode="auto">
              <a:xfrm>
                <a:off x="6300344" y="3861048"/>
                <a:ext cx="1368000" cy="288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600" b="1" u="none" dirty="0" smtClean="0">
                    <a:latin typeface="+mn-ea"/>
                    <a:ea typeface="+mn-ea"/>
                  </a:rPr>
                  <a:t>P</a:t>
                </a:r>
                <a:r>
                  <a:rPr lang="zh-CN" altLang="en-US" sz="1600" b="1" u="none" dirty="0" smtClean="0">
                    <a:latin typeface="+mn-ea"/>
                    <a:ea typeface="+mn-ea"/>
                  </a:rPr>
                  <a:t>基体</a:t>
                </a:r>
                <a:endParaRPr lang="zh-CN" altLang="en-US" b="1" u="none" dirty="0">
                  <a:latin typeface="+mn-ea"/>
                  <a:ea typeface="+mn-ea"/>
                </a:endParaRPr>
              </a:p>
            </p:txBody>
          </p:sp>
          <p:sp>
            <p:nvSpPr>
              <p:cNvPr id="177" name="Text Box 126"/>
              <p:cNvSpPr txBox="1">
                <a:spLocks noChangeArrowheads="1"/>
              </p:cNvSpPr>
              <p:nvPr/>
            </p:nvSpPr>
            <p:spPr bwMode="auto">
              <a:xfrm>
                <a:off x="6372498" y="3861048"/>
                <a:ext cx="216000" cy="180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N</a:t>
                </a:r>
                <a:endParaRPr lang="en-US" altLang="zh-CN" sz="1600" b="1" u="none" baseline="3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78" name="Text Box 127"/>
              <p:cNvSpPr txBox="1">
                <a:spLocks noChangeArrowheads="1"/>
              </p:cNvSpPr>
              <p:nvPr/>
            </p:nvSpPr>
            <p:spPr bwMode="auto">
              <a:xfrm>
                <a:off x="6084368" y="3429024"/>
                <a:ext cx="1800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600" b="1" u="none" dirty="0">
                    <a:latin typeface="宋体" panose="02010600030101010101" pitchFamily="2" charset="-122"/>
                  </a:rPr>
                  <a:t>源极</a:t>
                </a: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S </a:t>
                </a:r>
                <a:r>
                  <a:rPr lang="zh-CN" altLang="en-US" sz="1600" b="1" u="none" dirty="0" smtClean="0">
                    <a:latin typeface="宋体" panose="02010600030101010101" pitchFamily="2" charset="-122"/>
                  </a:rPr>
                  <a:t>栅极</a:t>
                </a: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G </a:t>
                </a:r>
                <a:r>
                  <a:rPr lang="zh-CN" altLang="en-US" sz="1600" b="1" u="none" dirty="0" smtClean="0">
                    <a:latin typeface="宋体" panose="02010600030101010101" pitchFamily="2" charset="-122"/>
                  </a:rPr>
                  <a:t>漏极</a:t>
                </a: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79" name="Line 128"/>
              <p:cNvSpPr>
                <a:spLocks noChangeShapeType="1"/>
              </p:cNvSpPr>
              <p:nvPr/>
            </p:nvSpPr>
            <p:spPr bwMode="auto">
              <a:xfrm>
                <a:off x="6484640" y="3646611"/>
                <a:ext cx="0" cy="714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0" name="Text Box 131"/>
              <p:cNvSpPr txBox="1">
                <a:spLocks noChangeArrowheads="1"/>
              </p:cNvSpPr>
              <p:nvPr/>
            </p:nvSpPr>
            <p:spPr bwMode="auto">
              <a:xfrm>
                <a:off x="7380312" y="3861048"/>
                <a:ext cx="216000" cy="180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N</a:t>
                </a:r>
                <a:endParaRPr lang="en-US" altLang="zh-CN" sz="1600" b="1" u="none" baseline="3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81" name="Line 132"/>
              <p:cNvSpPr>
                <a:spLocks noChangeShapeType="1"/>
              </p:cNvSpPr>
              <p:nvPr/>
            </p:nvSpPr>
            <p:spPr bwMode="auto">
              <a:xfrm>
                <a:off x="7490428" y="3646611"/>
                <a:ext cx="0" cy="714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2" name="Rectangle 134"/>
              <p:cNvSpPr>
                <a:spLocks noChangeArrowheads="1"/>
              </p:cNvSpPr>
              <p:nvPr/>
            </p:nvSpPr>
            <p:spPr bwMode="auto">
              <a:xfrm>
                <a:off x="6446540" y="3718049"/>
                <a:ext cx="72000" cy="144000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" name="Rectangle 135"/>
              <p:cNvSpPr>
                <a:spLocks noChangeArrowheads="1"/>
              </p:cNvSpPr>
              <p:nvPr/>
            </p:nvSpPr>
            <p:spPr bwMode="auto">
              <a:xfrm>
                <a:off x="6588224" y="3753024"/>
                <a:ext cx="792000" cy="73447"/>
              </a:xfrm>
              <a:prstGeom prst="rect">
                <a:avLst/>
              </a:prstGeom>
              <a:solidFill>
                <a:srgbClr val="3366FF">
                  <a:alpha val="80000"/>
                </a:srgbClr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" name="Rectangle 136"/>
              <p:cNvSpPr>
                <a:spLocks noChangeArrowheads="1"/>
              </p:cNvSpPr>
              <p:nvPr/>
            </p:nvSpPr>
            <p:spPr bwMode="auto">
              <a:xfrm>
                <a:off x="7452328" y="3718049"/>
                <a:ext cx="72000" cy="144000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" name="Line 128"/>
              <p:cNvSpPr>
                <a:spLocks noChangeShapeType="1"/>
              </p:cNvSpPr>
              <p:nvPr/>
            </p:nvSpPr>
            <p:spPr bwMode="auto">
              <a:xfrm>
                <a:off x="7020272" y="3645024"/>
                <a:ext cx="0" cy="1080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3" name="组合 162"/>
            <p:cNvGrpSpPr/>
            <p:nvPr/>
          </p:nvGrpSpPr>
          <p:grpSpPr>
            <a:xfrm>
              <a:off x="898700" y="5157216"/>
              <a:ext cx="648064" cy="576048"/>
              <a:chOff x="1475680" y="4613658"/>
              <a:chExt cx="648064" cy="576048"/>
            </a:xfrm>
          </p:grpSpPr>
          <p:sp>
            <p:nvSpPr>
              <p:cNvPr id="164" name="Rectangle 355"/>
              <p:cNvSpPr>
                <a:spLocks noChangeArrowheads="1"/>
              </p:cNvSpPr>
              <p:nvPr/>
            </p:nvSpPr>
            <p:spPr bwMode="auto">
              <a:xfrm>
                <a:off x="1475744" y="4613706"/>
                <a:ext cx="648000" cy="576000"/>
              </a:xfrm>
              <a:prstGeom prst="rect">
                <a:avLst/>
              </a:prstGeom>
              <a:solidFill>
                <a:srgbClr val="FFCC99"/>
              </a:solidFill>
              <a:ln w="9525" cap="rnd">
                <a:solidFill>
                  <a:srgbClr val="990099"/>
                </a:solidFill>
                <a:prstDash val="sysDot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165" name="直接连接符 164"/>
              <p:cNvCxnSpPr/>
              <p:nvPr/>
            </p:nvCxnSpPr>
            <p:spPr bwMode="auto">
              <a:xfrm>
                <a:off x="1691680" y="4829658"/>
                <a:ext cx="0" cy="14400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6" name="直接连接符 165"/>
              <p:cNvCxnSpPr/>
              <p:nvPr/>
            </p:nvCxnSpPr>
            <p:spPr bwMode="auto">
              <a:xfrm flipH="1">
                <a:off x="1475680" y="4901666"/>
                <a:ext cx="216000" cy="6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7" name="直接连接符 166"/>
              <p:cNvCxnSpPr/>
              <p:nvPr/>
            </p:nvCxnSpPr>
            <p:spPr bwMode="auto">
              <a:xfrm flipH="1">
                <a:off x="1763688" y="4829657"/>
                <a:ext cx="144000" cy="1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8" name="直接连接符 167"/>
              <p:cNvCxnSpPr/>
              <p:nvPr/>
            </p:nvCxnSpPr>
            <p:spPr bwMode="auto">
              <a:xfrm flipH="1">
                <a:off x="1763688" y="4973674"/>
                <a:ext cx="144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9" name="直接连接符 168"/>
              <p:cNvCxnSpPr/>
              <p:nvPr/>
            </p:nvCxnSpPr>
            <p:spPr bwMode="auto">
              <a:xfrm flipH="1" flipV="1">
                <a:off x="1907704" y="4973674"/>
                <a:ext cx="0" cy="21600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0" name="直接连接符 169"/>
              <p:cNvCxnSpPr/>
              <p:nvPr/>
            </p:nvCxnSpPr>
            <p:spPr bwMode="auto">
              <a:xfrm flipV="1">
                <a:off x="1907704" y="4613658"/>
                <a:ext cx="0" cy="21600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1" name="Text Box 383"/>
              <p:cNvSpPr txBox="1">
                <a:spLocks noChangeArrowheads="1"/>
              </p:cNvSpPr>
              <p:nvPr/>
            </p:nvSpPr>
            <p:spPr bwMode="auto">
              <a:xfrm>
                <a:off x="1907704" y="4613658"/>
                <a:ext cx="216000" cy="2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D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72" name="Text Box 383"/>
              <p:cNvSpPr txBox="1">
                <a:spLocks noChangeArrowheads="1"/>
              </p:cNvSpPr>
              <p:nvPr/>
            </p:nvSpPr>
            <p:spPr bwMode="auto">
              <a:xfrm>
                <a:off x="1907704" y="4973674"/>
                <a:ext cx="216000" cy="2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S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73" name="Text Box 383"/>
              <p:cNvSpPr txBox="1">
                <a:spLocks noChangeArrowheads="1"/>
              </p:cNvSpPr>
              <p:nvPr/>
            </p:nvSpPr>
            <p:spPr bwMode="auto">
              <a:xfrm>
                <a:off x="1511680" y="4685642"/>
                <a:ext cx="180000" cy="2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G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74" name="直接连接符 173"/>
              <p:cNvCxnSpPr/>
              <p:nvPr/>
            </p:nvCxnSpPr>
            <p:spPr bwMode="auto">
              <a:xfrm>
                <a:off x="1763688" y="4761303"/>
                <a:ext cx="596" cy="28800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186" name="组合 185"/>
          <p:cNvGrpSpPr/>
          <p:nvPr/>
        </p:nvGrpSpPr>
        <p:grpSpPr>
          <a:xfrm>
            <a:off x="575792" y="4941168"/>
            <a:ext cx="1547044" cy="1008112"/>
            <a:chOff x="3095872" y="4077072"/>
            <a:chExt cx="1547044" cy="1008112"/>
          </a:xfrm>
        </p:grpSpPr>
        <p:cxnSp>
          <p:nvCxnSpPr>
            <p:cNvPr id="187" name="直接连接符 186"/>
            <p:cNvCxnSpPr/>
            <p:nvPr/>
          </p:nvCxnSpPr>
          <p:spPr bwMode="auto">
            <a:xfrm>
              <a:off x="3850804" y="4149080"/>
              <a:ext cx="0" cy="144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8" name="直接连接符 187"/>
            <p:cNvCxnSpPr/>
            <p:nvPr/>
          </p:nvCxnSpPr>
          <p:spPr bwMode="auto">
            <a:xfrm flipH="1">
              <a:off x="3850804" y="4149080"/>
              <a:ext cx="79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9" name="直接连接符 188"/>
            <p:cNvCxnSpPr/>
            <p:nvPr/>
          </p:nvCxnSpPr>
          <p:spPr bwMode="auto">
            <a:xfrm flipV="1">
              <a:off x="4282852" y="4149080"/>
              <a:ext cx="0" cy="504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190" name="直接连接符 189"/>
            <p:cNvCxnSpPr/>
            <p:nvPr/>
          </p:nvCxnSpPr>
          <p:spPr bwMode="auto">
            <a:xfrm flipH="1">
              <a:off x="4282852" y="4869136"/>
              <a:ext cx="1116" cy="216048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191" name="直接连接符 190"/>
            <p:cNvCxnSpPr/>
            <p:nvPr/>
          </p:nvCxnSpPr>
          <p:spPr bwMode="auto">
            <a:xfrm flipH="1">
              <a:off x="3850804" y="4869160"/>
              <a:ext cx="3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2" name="直接连接符 95"/>
            <p:cNvCxnSpPr/>
            <p:nvPr/>
          </p:nvCxnSpPr>
          <p:spPr bwMode="auto">
            <a:xfrm flipH="1">
              <a:off x="3130723" y="4581128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3" name="直接连接符 192"/>
            <p:cNvCxnSpPr/>
            <p:nvPr/>
          </p:nvCxnSpPr>
          <p:spPr bwMode="auto">
            <a:xfrm flipV="1">
              <a:off x="3203848" y="4581128"/>
              <a:ext cx="0" cy="144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194" name="直接连接符 193"/>
            <p:cNvCxnSpPr/>
            <p:nvPr/>
          </p:nvCxnSpPr>
          <p:spPr bwMode="auto">
            <a:xfrm flipH="1">
              <a:off x="3203800" y="4941152"/>
              <a:ext cx="48" cy="144008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195" name="直接连接符 194"/>
            <p:cNvCxnSpPr/>
            <p:nvPr/>
          </p:nvCxnSpPr>
          <p:spPr bwMode="auto">
            <a:xfrm flipH="1">
              <a:off x="3130916" y="5085184"/>
              <a:ext cx="151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6" name="Text Box 383"/>
            <p:cNvSpPr txBox="1">
              <a:spLocks noChangeArrowheads="1"/>
            </p:cNvSpPr>
            <p:nvPr/>
          </p:nvSpPr>
          <p:spPr bwMode="auto">
            <a:xfrm>
              <a:off x="4355976" y="4149104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I</a:t>
              </a:r>
              <a:r>
                <a:rPr lang="en-US" altLang="zh-CN" sz="1600" b="1" u="none" baseline="-16000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D</a:t>
              </a:r>
              <a:endParaRPr lang="en-US" altLang="zh-CN" sz="1600" b="1" u="none" baseline="-16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7" name="Text Box 383"/>
            <p:cNvSpPr txBox="1">
              <a:spLocks noChangeArrowheads="1"/>
            </p:cNvSpPr>
            <p:nvPr/>
          </p:nvSpPr>
          <p:spPr bwMode="auto">
            <a:xfrm>
              <a:off x="4175992" y="4653136"/>
              <a:ext cx="32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u="none" baseline="-160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DS</a:t>
              </a:r>
              <a:endParaRPr lang="en-US" altLang="zh-CN" sz="1600" b="1" u="none" baseline="-16000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8" name="Text Box 383"/>
            <p:cNvSpPr txBox="1">
              <a:spLocks noChangeArrowheads="1"/>
            </p:cNvSpPr>
            <p:nvPr/>
          </p:nvSpPr>
          <p:spPr bwMode="auto">
            <a:xfrm>
              <a:off x="3095872" y="4725144"/>
              <a:ext cx="32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1600" b="1" u="none" baseline="-160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GS</a:t>
              </a:r>
              <a:endParaRPr lang="en-US" altLang="zh-CN" sz="1600" b="1" u="none" baseline="-16000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flipH="1">
              <a:off x="4356000" y="4077072"/>
              <a:ext cx="216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75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  <p:bldP spid="1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组合 242"/>
          <p:cNvGrpSpPr/>
          <p:nvPr/>
        </p:nvGrpSpPr>
        <p:grpSpPr>
          <a:xfrm>
            <a:off x="395784" y="1484784"/>
            <a:ext cx="2808064" cy="2737198"/>
            <a:chOff x="611684" y="1555899"/>
            <a:chExt cx="2808064" cy="2737198"/>
          </a:xfrm>
        </p:grpSpPr>
        <p:sp>
          <p:nvSpPr>
            <p:cNvPr id="244" name="Rectangle 355"/>
            <p:cNvSpPr>
              <a:spLocks noChangeArrowheads="1"/>
            </p:cNvSpPr>
            <p:nvPr/>
          </p:nvSpPr>
          <p:spPr bwMode="auto">
            <a:xfrm>
              <a:off x="797382" y="2131243"/>
              <a:ext cx="2377156" cy="180181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 cap="rnd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" name="Rectangle 355"/>
            <p:cNvSpPr>
              <a:spLocks noChangeArrowheads="1"/>
            </p:cNvSpPr>
            <p:nvPr/>
          </p:nvSpPr>
          <p:spPr bwMode="auto">
            <a:xfrm>
              <a:off x="1188219" y="2780928"/>
              <a:ext cx="1620193" cy="109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 cap="rnd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" name="Text Box 350"/>
            <p:cNvSpPr txBox="1">
              <a:spLocks noChangeArrowheads="1"/>
            </p:cNvSpPr>
            <p:nvPr/>
          </p:nvSpPr>
          <p:spPr bwMode="auto">
            <a:xfrm>
              <a:off x="1476053" y="1555899"/>
              <a:ext cx="1152525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字选择线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W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47" name="Text Box 351"/>
            <p:cNvSpPr txBox="1">
              <a:spLocks noChangeArrowheads="1"/>
            </p:cNvSpPr>
            <p:nvPr/>
          </p:nvSpPr>
          <p:spPr bwMode="auto">
            <a:xfrm>
              <a:off x="682303" y="4005759"/>
              <a:ext cx="2665413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MOS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型静态存储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元组成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48" name="Line 354"/>
            <p:cNvSpPr>
              <a:spLocks noChangeShapeType="1"/>
            </p:cNvSpPr>
            <p:nvPr/>
          </p:nvSpPr>
          <p:spPr bwMode="auto">
            <a:xfrm>
              <a:off x="683146" y="1844154"/>
              <a:ext cx="2628652" cy="6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Text Box 356"/>
            <p:cNvSpPr txBox="1">
              <a:spLocks noChangeArrowheads="1"/>
            </p:cNvSpPr>
            <p:nvPr/>
          </p:nvSpPr>
          <p:spPr bwMode="auto">
            <a:xfrm>
              <a:off x="2052316" y="1845171"/>
              <a:ext cx="358775" cy="28768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V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DD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50" name="Line 357"/>
            <p:cNvSpPr>
              <a:spLocks noChangeShapeType="1"/>
            </p:cNvSpPr>
            <p:nvPr/>
          </p:nvSpPr>
          <p:spPr bwMode="auto">
            <a:xfrm>
              <a:off x="1259433" y="2275409"/>
              <a:ext cx="1440558" cy="1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Line 358"/>
            <p:cNvSpPr>
              <a:spLocks noChangeShapeType="1"/>
            </p:cNvSpPr>
            <p:nvPr/>
          </p:nvSpPr>
          <p:spPr bwMode="auto">
            <a:xfrm>
              <a:off x="1259036" y="2275409"/>
              <a:ext cx="397" cy="1435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Line 359"/>
            <p:cNvSpPr>
              <a:spLocks noChangeShapeType="1"/>
            </p:cNvSpPr>
            <p:nvPr/>
          </p:nvSpPr>
          <p:spPr bwMode="auto">
            <a:xfrm>
              <a:off x="1259433" y="2563391"/>
              <a:ext cx="0" cy="6477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Line 360"/>
            <p:cNvSpPr>
              <a:spLocks noChangeShapeType="1"/>
            </p:cNvSpPr>
            <p:nvPr/>
          </p:nvSpPr>
          <p:spPr bwMode="auto">
            <a:xfrm>
              <a:off x="1475333" y="3209504"/>
              <a:ext cx="1588" cy="1460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Line 361"/>
            <p:cNvSpPr>
              <a:spLocks noChangeShapeType="1"/>
            </p:cNvSpPr>
            <p:nvPr/>
          </p:nvSpPr>
          <p:spPr bwMode="auto">
            <a:xfrm>
              <a:off x="1475334" y="3282529"/>
              <a:ext cx="2166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Line 362"/>
            <p:cNvSpPr>
              <a:spLocks noChangeShapeType="1"/>
            </p:cNvSpPr>
            <p:nvPr/>
          </p:nvSpPr>
          <p:spPr bwMode="auto">
            <a:xfrm>
              <a:off x="1259433" y="3353966"/>
              <a:ext cx="0" cy="360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Line 363"/>
            <p:cNvSpPr>
              <a:spLocks noChangeShapeType="1"/>
            </p:cNvSpPr>
            <p:nvPr/>
          </p:nvSpPr>
          <p:spPr bwMode="auto">
            <a:xfrm flipH="1">
              <a:off x="682303" y="2204864"/>
              <a:ext cx="2406" cy="1728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Line 364"/>
            <p:cNvSpPr>
              <a:spLocks noChangeShapeType="1"/>
            </p:cNvSpPr>
            <p:nvPr/>
          </p:nvSpPr>
          <p:spPr bwMode="auto">
            <a:xfrm flipV="1">
              <a:off x="1259036" y="3712071"/>
              <a:ext cx="1442543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Line 365"/>
            <p:cNvSpPr>
              <a:spLocks noChangeShapeType="1"/>
            </p:cNvSpPr>
            <p:nvPr/>
          </p:nvSpPr>
          <p:spPr bwMode="auto">
            <a:xfrm>
              <a:off x="2701579" y="2276871"/>
              <a:ext cx="0" cy="1413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366"/>
            <p:cNvSpPr>
              <a:spLocks noChangeShapeType="1"/>
            </p:cNvSpPr>
            <p:nvPr/>
          </p:nvSpPr>
          <p:spPr bwMode="auto">
            <a:xfrm>
              <a:off x="2701578" y="2562721"/>
              <a:ext cx="0" cy="6477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Line 367"/>
            <p:cNvSpPr>
              <a:spLocks noChangeShapeType="1"/>
            </p:cNvSpPr>
            <p:nvPr/>
          </p:nvSpPr>
          <p:spPr bwMode="auto">
            <a:xfrm flipV="1">
              <a:off x="2268216" y="3281858"/>
              <a:ext cx="215875" cy="15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Line 368"/>
            <p:cNvSpPr>
              <a:spLocks noChangeShapeType="1"/>
            </p:cNvSpPr>
            <p:nvPr/>
          </p:nvSpPr>
          <p:spPr bwMode="auto">
            <a:xfrm>
              <a:off x="2701578" y="3353296"/>
              <a:ext cx="0" cy="3587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Line 369"/>
            <p:cNvSpPr>
              <a:spLocks noChangeShapeType="1"/>
            </p:cNvSpPr>
            <p:nvPr/>
          </p:nvSpPr>
          <p:spPr bwMode="auto">
            <a:xfrm flipV="1">
              <a:off x="3059708" y="2848470"/>
              <a:ext cx="217165" cy="22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Line 370"/>
            <p:cNvSpPr>
              <a:spLocks noChangeShapeType="1"/>
            </p:cNvSpPr>
            <p:nvPr/>
          </p:nvSpPr>
          <p:spPr bwMode="auto">
            <a:xfrm>
              <a:off x="3276873" y="2204864"/>
              <a:ext cx="0" cy="1728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Line 371"/>
            <p:cNvSpPr>
              <a:spLocks noChangeShapeType="1"/>
            </p:cNvSpPr>
            <p:nvPr/>
          </p:nvSpPr>
          <p:spPr bwMode="auto">
            <a:xfrm flipH="1">
              <a:off x="1979291" y="3715247"/>
              <a:ext cx="1587" cy="1106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Line 372"/>
            <p:cNvSpPr>
              <a:spLocks noChangeShapeType="1"/>
            </p:cNvSpPr>
            <p:nvPr/>
          </p:nvSpPr>
          <p:spPr bwMode="auto">
            <a:xfrm>
              <a:off x="1043161" y="2848471"/>
              <a:ext cx="2158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Line 373"/>
            <p:cNvSpPr>
              <a:spLocks noChangeShapeType="1"/>
            </p:cNvSpPr>
            <p:nvPr/>
          </p:nvSpPr>
          <p:spPr bwMode="auto">
            <a:xfrm flipV="1">
              <a:off x="2268216" y="2851645"/>
              <a:ext cx="433363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Line 374"/>
            <p:cNvSpPr>
              <a:spLocks noChangeShapeType="1"/>
            </p:cNvSpPr>
            <p:nvPr/>
          </p:nvSpPr>
          <p:spPr bwMode="auto">
            <a:xfrm>
              <a:off x="1690366" y="2851646"/>
              <a:ext cx="577850" cy="431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Line 375"/>
            <p:cNvSpPr>
              <a:spLocks noChangeShapeType="1"/>
            </p:cNvSpPr>
            <p:nvPr/>
          </p:nvSpPr>
          <p:spPr bwMode="auto">
            <a:xfrm flipV="1">
              <a:off x="1691953" y="2851646"/>
              <a:ext cx="576263" cy="431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Line 376"/>
            <p:cNvSpPr>
              <a:spLocks noChangeShapeType="1"/>
            </p:cNvSpPr>
            <p:nvPr/>
          </p:nvSpPr>
          <p:spPr bwMode="auto">
            <a:xfrm>
              <a:off x="1980878" y="2060972"/>
              <a:ext cx="0" cy="2159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Oval 377"/>
            <p:cNvSpPr>
              <a:spLocks noChangeArrowheads="1"/>
            </p:cNvSpPr>
            <p:nvPr/>
          </p:nvSpPr>
          <p:spPr bwMode="auto">
            <a:xfrm>
              <a:off x="1945953" y="1989534"/>
              <a:ext cx="73025" cy="714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1" name="Text Box 378"/>
            <p:cNvSpPr txBox="1">
              <a:spLocks noChangeArrowheads="1"/>
            </p:cNvSpPr>
            <p:nvPr/>
          </p:nvSpPr>
          <p:spPr bwMode="auto">
            <a:xfrm>
              <a:off x="1475333" y="3352379"/>
              <a:ext cx="288925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1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272" name="Text Box 379"/>
            <p:cNvSpPr txBox="1">
              <a:spLocks noChangeArrowheads="1"/>
            </p:cNvSpPr>
            <p:nvPr/>
          </p:nvSpPr>
          <p:spPr bwMode="auto">
            <a:xfrm>
              <a:off x="2341216" y="3353296"/>
              <a:ext cx="288925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2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273" name="Text Box 380"/>
            <p:cNvSpPr txBox="1">
              <a:spLocks noChangeArrowheads="1"/>
            </p:cNvSpPr>
            <p:nvPr/>
          </p:nvSpPr>
          <p:spPr bwMode="auto">
            <a:xfrm>
              <a:off x="1288008" y="2850729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A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274" name="Text Box 381"/>
            <p:cNvSpPr txBox="1">
              <a:spLocks noChangeArrowheads="1"/>
            </p:cNvSpPr>
            <p:nvPr/>
          </p:nvSpPr>
          <p:spPr bwMode="auto">
            <a:xfrm>
              <a:off x="2504728" y="2850059"/>
              <a:ext cx="215900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B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275" name="Text Box 382"/>
            <p:cNvSpPr txBox="1">
              <a:spLocks noChangeArrowheads="1"/>
            </p:cNvSpPr>
            <p:nvPr/>
          </p:nvSpPr>
          <p:spPr bwMode="auto">
            <a:xfrm>
              <a:off x="611684" y="1915939"/>
              <a:ext cx="215900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D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276" name="Text Box 383"/>
            <p:cNvSpPr txBox="1">
              <a:spLocks noChangeArrowheads="1"/>
            </p:cNvSpPr>
            <p:nvPr/>
          </p:nvSpPr>
          <p:spPr bwMode="auto">
            <a:xfrm>
              <a:off x="3203848" y="1916832"/>
              <a:ext cx="215900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77" name="Line 384"/>
            <p:cNvSpPr>
              <a:spLocks noChangeShapeType="1"/>
            </p:cNvSpPr>
            <p:nvPr/>
          </p:nvSpPr>
          <p:spPr bwMode="auto">
            <a:xfrm>
              <a:off x="3203848" y="1945407"/>
              <a:ext cx="142875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Line 385"/>
            <p:cNvSpPr>
              <a:spLocks noChangeShapeType="1"/>
            </p:cNvSpPr>
            <p:nvPr/>
          </p:nvSpPr>
          <p:spPr bwMode="auto">
            <a:xfrm>
              <a:off x="1403895" y="3138066"/>
              <a:ext cx="0" cy="287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" name="Line 386"/>
            <p:cNvSpPr>
              <a:spLocks noChangeShapeType="1"/>
            </p:cNvSpPr>
            <p:nvPr/>
          </p:nvSpPr>
          <p:spPr bwMode="auto">
            <a:xfrm>
              <a:off x="1259433" y="3209504"/>
              <a:ext cx="1444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Line 387"/>
            <p:cNvSpPr>
              <a:spLocks noChangeShapeType="1"/>
            </p:cNvSpPr>
            <p:nvPr/>
          </p:nvSpPr>
          <p:spPr bwMode="auto">
            <a:xfrm>
              <a:off x="1259433" y="3353966"/>
              <a:ext cx="1444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" name="Line 388"/>
            <p:cNvSpPr>
              <a:spLocks noChangeShapeType="1"/>
            </p:cNvSpPr>
            <p:nvPr/>
          </p:nvSpPr>
          <p:spPr bwMode="auto">
            <a:xfrm>
              <a:off x="2485678" y="3208834"/>
              <a:ext cx="1588" cy="1460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Line 389"/>
            <p:cNvSpPr>
              <a:spLocks noChangeShapeType="1"/>
            </p:cNvSpPr>
            <p:nvPr/>
          </p:nvSpPr>
          <p:spPr bwMode="auto">
            <a:xfrm>
              <a:off x="2558703" y="3137396"/>
              <a:ext cx="0" cy="287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Line 390"/>
            <p:cNvSpPr>
              <a:spLocks noChangeShapeType="1"/>
            </p:cNvSpPr>
            <p:nvPr/>
          </p:nvSpPr>
          <p:spPr bwMode="auto">
            <a:xfrm>
              <a:off x="2557116" y="3208834"/>
              <a:ext cx="1444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Line 391"/>
            <p:cNvSpPr>
              <a:spLocks noChangeShapeType="1"/>
            </p:cNvSpPr>
            <p:nvPr/>
          </p:nvSpPr>
          <p:spPr bwMode="auto">
            <a:xfrm>
              <a:off x="2557116" y="3353296"/>
              <a:ext cx="1444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Line 392"/>
            <p:cNvSpPr>
              <a:spLocks noChangeShapeType="1"/>
            </p:cNvSpPr>
            <p:nvPr/>
          </p:nvSpPr>
          <p:spPr bwMode="auto">
            <a:xfrm>
              <a:off x="2485678" y="2418259"/>
              <a:ext cx="1588" cy="1460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" name="Line 393"/>
            <p:cNvSpPr>
              <a:spLocks noChangeShapeType="1"/>
            </p:cNvSpPr>
            <p:nvPr/>
          </p:nvSpPr>
          <p:spPr bwMode="auto">
            <a:xfrm>
              <a:off x="2558703" y="2346821"/>
              <a:ext cx="0" cy="287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Line 394"/>
            <p:cNvSpPr>
              <a:spLocks noChangeShapeType="1"/>
            </p:cNvSpPr>
            <p:nvPr/>
          </p:nvSpPr>
          <p:spPr bwMode="auto">
            <a:xfrm>
              <a:off x="2557116" y="2418259"/>
              <a:ext cx="1444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Line 395"/>
            <p:cNvSpPr>
              <a:spLocks noChangeShapeType="1"/>
            </p:cNvSpPr>
            <p:nvPr/>
          </p:nvSpPr>
          <p:spPr bwMode="auto">
            <a:xfrm>
              <a:off x="2557116" y="2562721"/>
              <a:ext cx="1444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Line 396"/>
            <p:cNvSpPr>
              <a:spLocks noChangeShapeType="1"/>
            </p:cNvSpPr>
            <p:nvPr/>
          </p:nvSpPr>
          <p:spPr bwMode="auto">
            <a:xfrm>
              <a:off x="2341216" y="2491284"/>
              <a:ext cx="1444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Line 397"/>
            <p:cNvSpPr>
              <a:spLocks noChangeShapeType="1"/>
            </p:cNvSpPr>
            <p:nvPr/>
          </p:nvSpPr>
          <p:spPr bwMode="auto">
            <a:xfrm>
              <a:off x="2341216" y="2276872"/>
              <a:ext cx="0" cy="2144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Line 398"/>
            <p:cNvSpPr>
              <a:spLocks noChangeShapeType="1"/>
            </p:cNvSpPr>
            <p:nvPr/>
          </p:nvSpPr>
          <p:spPr bwMode="auto">
            <a:xfrm>
              <a:off x="1475333" y="2418929"/>
              <a:ext cx="1588" cy="1460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2" name="Line 399"/>
            <p:cNvSpPr>
              <a:spLocks noChangeShapeType="1"/>
            </p:cNvSpPr>
            <p:nvPr/>
          </p:nvSpPr>
          <p:spPr bwMode="auto">
            <a:xfrm>
              <a:off x="1403895" y="2347491"/>
              <a:ext cx="0" cy="287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" name="Line 400"/>
            <p:cNvSpPr>
              <a:spLocks noChangeShapeType="1"/>
            </p:cNvSpPr>
            <p:nvPr/>
          </p:nvSpPr>
          <p:spPr bwMode="auto">
            <a:xfrm>
              <a:off x="1259433" y="2418929"/>
              <a:ext cx="1444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" name="Line 401"/>
            <p:cNvSpPr>
              <a:spLocks noChangeShapeType="1"/>
            </p:cNvSpPr>
            <p:nvPr/>
          </p:nvSpPr>
          <p:spPr bwMode="auto">
            <a:xfrm>
              <a:off x="1259433" y="2563391"/>
              <a:ext cx="1444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" name="Line 402"/>
            <p:cNvSpPr>
              <a:spLocks noChangeShapeType="1"/>
            </p:cNvSpPr>
            <p:nvPr/>
          </p:nvSpPr>
          <p:spPr bwMode="auto">
            <a:xfrm>
              <a:off x="1475333" y="2491954"/>
              <a:ext cx="1444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Line 403"/>
            <p:cNvSpPr>
              <a:spLocks noChangeShapeType="1"/>
            </p:cNvSpPr>
            <p:nvPr/>
          </p:nvSpPr>
          <p:spPr bwMode="auto">
            <a:xfrm>
              <a:off x="1621383" y="2275409"/>
              <a:ext cx="0" cy="2165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" name="Line 404"/>
            <p:cNvSpPr>
              <a:spLocks noChangeShapeType="1"/>
            </p:cNvSpPr>
            <p:nvPr/>
          </p:nvSpPr>
          <p:spPr bwMode="auto">
            <a:xfrm>
              <a:off x="1836416" y="3825876"/>
              <a:ext cx="28733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" name="Line 405"/>
            <p:cNvSpPr>
              <a:spLocks noChangeShapeType="1"/>
            </p:cNvSpPr>
            <p:nvPr/>
          </p:nvSpPr>
          <p:spPr bwMode="auto">
            <a:xfrm flipH="1">
              <a:off x="2915246" y="2633241"/>
              <a:ext cx="1444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Line 406"/>
            <p:cNvSpPr>
              <a:spLocks noChangeShapeType="1"/>
            </p:cNvSpPr>
            <p:nvPr/>
          </p:nvSpPr>
          <p:spPr bwMode="auto">
            <a:xfrm>
              <a:off x="2843808" y="2706266"/>
              <a:ext cx="2889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Line 407"/>
            <p:cNvSpPr>
              <a:spLocks noChangeShapeType="1"/>
            </p:cNvSpPr>
            <p:nvPr/>
          </p:nvSpPr>
          <p:spPr bwMode="auto">
            <a:xfrm>
              <a:off x="2915246" y="2707854"/>
              <a:ext cx="0" cy="142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" name="Line 408"/>
            <p:cNvSpPr>
              <a:spLocks noChangeShapeType="1"/>
            </p:cNvSpPr>
            <p:nvPr/>
          </p:nvSpPr>
          <p:spPr bwMode="auto">
            <a:xfrm>
              <a:off x="3059708" y="2706266"/>
              <a:ext cx="0" cy="142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" name="Line 409"/>
            <p:cNvSpPr>
              <a:spLocks noChangeShapeType="1"/>
            </p:cNvSpPr>
            <p:nvPr/>
          </p:nvSpPr>
          <p:spPr bwMode="auto">
            <a:xfrm>
              <a:off x="682303" y="2848470"/>
              <a:ext cx="216396" cy="22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Line 410"/>
            <p:cNvSpPr>
              <a:spLocks noChangeShapeType="1"/>
            </p:cNvSpPr>
            <p:nvPr/>
          </p:nvSpPr>
          <p:spPr bwMode="auto">
            <a:xfrm flipH="1">
              <a:off x="897111" y="2633241"/>
              <a:ext cx="1444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Line 411"/>
            <p:cNvSpPr>
              <a:spLocks noChangeShapeType="1"/>
            </p:cNvSpPr>
            <p:nvPr/>
          </p:nvSpPr>
          <p:spPr bwMode="auto">
            <a:xfrm>
              <a:off x="825674" y="2706266"/>
              <a:ext cx="2889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Line 412"/>
            <p:cNvSpPr>
              <a:spLocks noChangeShapeType="1"/>
            </p:cNvSpPr>
            <p:nvPr/>
          </p:nvSpPr>
          <p:spPr bwMode="auto">
            <a:xfrm>
              <a:off x="897111" y="2707854"/>
              <a:ext cx="0" cy="142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Line 413"/>
            <p:cNvSpPr>
              <a:spLocks noChangeShapeType="1"/>
            </p:cNvSpPr>
            <p:nvPr/>
          </p:nvSpPr>
          <p:spPr bwMode="auto">
            <a:xfrm>
              <a:off x="1041574" y="2706266"/>
              <a:ext cx="0" cy="142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Text Box 415"/>
            <p:cNvSpPr txBox="1">
              <a:spLocks noChangeArrowheads="1"/>
            </p:cNvSpPr>
            <p:nvPr/>
          </p:nvSpPr>
          <p:spPr bwMode="auto">
            <a:xfrm>
              <a:off x="2915246" y="2850729"/>
              <a:ext cx="288925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6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08" name="Text Box 416"/>
            <p:cNvSpPr txBox="1">
              <a:spLocks noChangeArrowheads="1"/>
            </p:cNvSpPr>
            <p:nvPr/>
          </p:nvSpPr>
          <p:spPr bwMode="auto">
            <a:xfrm>
              <a:off x="2267744" y="2492896"/>
              <a:ext cx="288925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4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309" name="Text Box 417"/>
            <p:cNvSpPr txBox="1">
              <a:spLocks noChangeArrowheads="1"/>
            </p:cNvSpPr>
            <p:nvPr/>
          </p:nvSpPr>
          <p:spPr bwMode="auto">
            <a:xfrm>
              <a:off x="1546771" y="2492896"/>
              <a:ext cx="288925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3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10" name="Line 418"/>
            <p:cNvSpPr>
              <a:spLocks noChangeShapeType="1"/>
            </p:cNvSpPr>
            <p:nvPr/>
          </p:nvSpPr>
          <p:spPr bwMode="auto">
            <a:xfrm flipV="1">
              <a:off x="1259433" y="2848470"/>
              <a:ext cx="4309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" name="Line 419"/>
            <p:cNvSpPr>
              <a:spLocks noChangeShapeType="1"/>
            </p:cNvSpPr>
            <p:nvPr/>
          </p:nvSpPr>
          <p:spPr bwMode="auto">
            <a:xfrm>
              <a:off x="2701578" y="2851645"/>
              <a:ext cx="213668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" name="Line 352"/>
            <p:cNvSpPr>
              <a:spLocks noChangeShapeType="1"/>
            </p:cNvSpPr>
            <p:nvPr/>
          </p:nvSpPr>
          <p:spPr bwMode="auto">
            <a:xfrm>
              <a:off x="2988271" y="1845171"/>
              <a:ext cx="0" cy="7896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Line 353"/>
            <p:cNvSpPr>
              <a:spLocks noChangeShapeType="1"/>
            </p:cNvSpPr>
            <p:nvPr/>
          </p:nvSpPr>
          <p:spPr bwMode="auto">
            <a:xfrm>
              <a:off x="971724" y="1845171"/>
              <a:ext cx="0" cy="7896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Text Box 414"/>
            <p:cNvSpPr txBox="1">
              <a:spLocks noChangeArrowheads="1"/>
            </p:cNvSpPr>
            <p:nvPr/>
          </p:nvSpPr>
          <p:spPr bwMode="auto">
            <a:xfrm>
              <a:off x="898699" y="2850729"/>
              <a:ext cx="288925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5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242" name="Text Box 264"/>
          <p:cNvSpPr txBox="1">
            <a:spLocks noChangeArrowheads="1"/>
          </p:cNvSpPr>
          <p:nvPr/>
        </p:nvSpPr>
        <p:spPr bwMode="auto">
          <a:xfrm>
            <a:off x="179512" y="4293096"/>
            <a:ext cx="2592288" cy="9190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*保持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方法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*读出方法：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sp>
        <p:nvSpPr>
          <p:cNvPr id="241" name="Text Box 264"/>
          <p:cNvSpPr txBox="1">
            <a:spLocks noChangeArrowheads="1"/>
          </p:cNvSpPr>
          <p:nvPr/>
        </p:nvSpPr>
        <p:spPr bwMode="auto">
          <a:xfrm>
            <a:off x="3059832" y="1844824"/>
            <a:ext cx="2592288" cy="13806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*存储原理：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*写入方法：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sp>
        <p:nvSpPr>
          <p:cNvPr id="1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DA34-E53E-42F3-AF03-DE2237B09B4A}" type="slidenum">
              <a:rPr lang="en-US" altLang="zh-CN"/>
            </a:fld>
            <a:endParaRPr lang="en-US" altLang="zh-CN" dirty="0"/>
          </a:p>
        </p:txBody>
      </p:sp>
      <p:sp>
        <p:nvSpPr>
          <p:cNvPr id="86101" name="Text Box 85"/>
          <p:cNvSpPr txBox="1">
            <a:spLocks noChangeArrowheads="1"/>
          </p:cNvSpPr>
          <p:nvPr/>
        </p:nvSpPr>
        <p:spPr bwMode="auto">
          <a:xfrm>
            <a:off x="179388" y="908720"/>
            <a:ext cx="8785225" cy="9387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存储元的组成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原理            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了解操作方法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)</a:t>
            </a:r>
            <a:endParaRPr lang="en-US" altLang="zh-CN" sz="20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latin typeface="宋体" panose="02010600030101010101" pitchFamily="2" charset="-122"/>
              </a:rPr>
              <a:t> 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                        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注：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T</a:t>
            </a:r>
            <a:r>
              <a:rPr lang="en-US" altLang="zh-CN" sz="2000" b="1" u="none" baseline="-18000" dirty="0" smtClean="0">
                <a:latin typeface="宋体" panose="02010600030101010101" pitchFamily="2" charset="-122"/>
              </a:rPr>
              <a:t>3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和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T</a:t>
            </a:r>
            <a:r>
              <a:rPr lang="en-US" altLang="zh-CN" sz="2000" b="1" u="none" baseline="-18000" dirty="0" smtClean="0">
                <a:latin typeface="宋体" panose="02010600030101010101" pitchFamily="2" charset="-122"/>
              </a:rPr>
              <a:t>4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—</a:t>
            </a:r>
            <a:r>
              <a:rPr lang="zh-CN" altLang="en-US" sz="2000" b="1" u="none" dirty="0">
                <a:latin typeface="宋体" panose="02010600030101010101" pitchFamily="2" charset="-122"/>
              </a:rPr>
              <a:t>用作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上拉电阻，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T</a:t>
            </a:r>
            <a:r>
              <a:rPr lang="en-US" altLang="zh-CN" sz="2000" b="1" u="none" baseline="-18000" dirty="0" smtClean="0">
                <a:latin typeface="宋体" panose="02010600030101010101" pitchFamily="2" charset="-122"/>
              </a:rPr>
              <a:t>5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和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T</a:t>
            </a:r>
            <a:r>
              <a:rPr lang="en-US" altLang="zh-CN" sz="2000" b="1" u="none" baseline="-18000" dirty="0" smtClean="0">
                <a:latin typeface="宋体" panose="02010600030101010101" pitchFamily="2" charset="-122"/>
              </a:rPr>
              <a:t>6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—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用作开关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86186" name="Text Box 170"/>
          <p:cNvSpPr txBox="1">
            <a:spLocks noChangeArrowheads="1"/>
          </p:cNvSpPr>
          <p:nvPr/>
        </p:nvSpPr>
        <p:spPr bwMode="auto">
          <a:xfrm>
            <a:off x="179388" y="447701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/>
          <a:p>
            <a:r>
              <a:rPr lang="zh-CN" altLang="en-US" b="1" u="none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一、静态</a:t>
            </a:r>
            <a:r>
              <a:rPr lang="en-US" altLang="zh-CN" b="1" u="none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RAM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u="none" dirty="0">
                <a:cs typeface="Times New Roman" panose="02020603050405020304" pitchFamily="18" charset="0"/>
              </a:rPr>
              <a:t>Static RAM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SRAM)</a:t>
            </a:r>
            <a:endParaRPr lang="en-US" altLang="zh-CN" sz="1800" b="1" u="none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6471" name="AutoShape 45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" name="Text Box 348"/>
          <p:cNvSpPr txBox="1">
            <a:spLocks noChangeArrowheads="1"/>
          </p:cNvSpPr>
          <p:nvPr/>
        </p:nvSpPr>
        <p:spPr bwMode="auto">
          <a:xfrm>
            <a:off x="3779912" y="1837273"/>
            <a:ext cx="5184576" cy="9387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若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20000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导通</a:t>
            </a:r>
            <a:r>
              <a:rPr lang="zh-CN" altLang="en-US" sz="2200" b="1" u="none" baseline="-18000" dirty="0" smtClean="0">
                <a:latin typeface="+mn-lt"/>
              </a:rPr>
              <a:t>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V</a:t>
            </a:r>
            <a:r>
              <a:rPr lang="en-US" altLang="zh-CN" sz="2200" b="1" u="none" baseline="-18000" dirty="0" smtClean="0">
                <a:latin typeface="宋体" panose="02010600030101010101" pitchFamily="2" charset="-122"/>
              </a:rPr>
              <a:t>A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=V</a:t>
            </a:r>
            <a:r>
              <a:rPr lang="zh-CN" altLang="en-US" sz="2200" b="1" u="none" baseline="-20000" dirty="0" smtClean="0">
                <a:latin typeface="宋体" panose="02010600030101010101" pitchFamily="2" charset="-122"/>
              </a:rPr>
              <a:t>地</a:t>
            </a:r>
            <a:r>
              <a:rPr lang="zh-CN" altLang="en-US" sz="2200" b="1" u="none" baseline="-20000" dirty="0" smtClean="0">
                <a:latin typeface="+mn-lt"/>
              </a:rPr>
              <a:t>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20000" dirty="0" smtClean="0">
                <a:latin typeface="宋体" panose="02010600030101010101" pitchFamily="2" charset="-122"/>
              </a:rPr>
              <a:t>2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截止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V</a:t>
            </a:r>
            <a:r>
              <a:rPr lang="en-US" altLang="zh-CN" sz="2200" b="1" u="none" baseline="-18000" dirty="0" smtClean="0">
                <a:latin typeface="宋体" panose="02010600030101010101" pitchFamily="2" charset="-122"/>
              </a:rPr>
              <a:t>B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=V</a:t>
            </a:r>
            <a:r>
              <a:rPr lang="zh-CN" altLang="en-US" sz="2200" b="1" u="none" baseline="-18000" dirty="0" smtClean="0">
                <a:latin typeface="宋体" panose="02010600030101010101" pitchFamily="2" charset="-122"/>
              </a:rPr>
              <a:t>高</a:t>
            </a:r>
            <a:r>
              <a:rPr lang="zh-CN" altLang="en-US" sz="2200" b="1" u="none" baseline="-18000" dirty="0" smtClean="0">
                <a:latin typeface="+mn-lt"/>
              </a:rPr>
              <a:t>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zh-CN" altLang="en-US" sz="2200" b="1" u="none" baseline="-18000" dirty="0" smtClean="0">
                <a:solidFill>
                  <a:srgbClr val="990099"/>
                </a:solidFill>
                <a:latin typeface="+mn-lt"/>
              </a:rPr>
              <a:t>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20000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更导通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稳态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207" name="Group 273"/>
          <p:cNvGrpSpPr/>
          <p:nvPr/>
        </p:nvGrpSpPr>
        <p:grpSpPr bwMode="auto">
          <a:xfrm>
            <a:off x="3779912" y="2708920"/>
            <a:ext cx="5184109" cy="1649413"/>
            <a:chOff x="2575" y="1299"/>
            <a:chExt cx="2938" cy="1039"/>
          </a:xfrm>
        </p:grpSpPr>
        <p:sp>
          <p:nvSpPr>
            <p:cNvPr id="208" name="Text Box 266"/>
            <p:cNvSpPr txBox="1">
              <a:spLocks noChangeArrowheads="1"/>
            </p:cNvSpPr>
            <p:nvPr/>
          </p:nvSpPr>
          <p:spPr bwMode="auto">
            <a:xfrm>
              <a:off x="2575" y="1299"/>
              <a:ext cx="2938" cy="103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US" altLang="zh-CN" sz="22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        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①</a:t>
              </a:r>
              <a:r>
                <a:rPr lang="en-US" altLang="zh-CN" sz="2200" b="1" u="none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W</a:t>
              </a:r>
              <a:r>
                <a:rPr lang="zh-CN" altLang="en-US" sz="22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线上</a:t>
              </a:r>
              <a:r>
                <a:rPr lang="zh-CN" altLang="en-US" sz="2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加</a:t>
              </a:r>
              <a:r>
                <a:rPr lang="zh-CN" altLang="en-US" sz="22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正脉冲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宽度≥写延迟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) </a:t>
              </a:r>
              <a:r>
                <a:rPr lang="en-US" altLang="zh-CN" sz="2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2200" b="1" u="none" baseline="-20000" dirty="0">
                  <a:latin typeface="宋体" panose="02010600030101010101" pitchFamily="2" charset="-122"/>
                </a:rPr>
                <a:t>5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和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2200" b="1" u="none" baseline="-20000" dirty="0">
                  <a:latin typeface="宋体" panose="02010600030101010101" pitchFamily="2" charset="-122"/>
                </a:rPr>
                <a:t>6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导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通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写入期间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；</a:t>
              </a:r>
              <a:endParaRPr lang="zh-CN" altLang="en-US" sz="22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15000"/>
                </a:lnSpc>
              </a:pPr>
              <a:r>
                <a:rPr lang="zh-CN" altLang="en-US" sz="2200" b="1" u="none" dirty="0">
                  <a:latin typeface="宋体" panose="02010600030101010101" pitchFamily="2" charset="-122"/>
                </a:rPr>
                <a:t>     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   ②写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0</a:t>
              </a:r>
              <a:r>
                <a:rPr lang="zh-CN" altLang="en-US" sz="2200" b="1" u="none" dirty="0" smtClean="0"/>
                <a:t>时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，</a:t>
              </a:r>
              <a:r>
                <a:rPr lang="zh-CN" altLang="en-US" sz="2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使</a:t>
              </a:r>
              <a:r>
                <a:rPr lang="en-US" altLang="zh-CN" sz="22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D=V</a:t>
              </a:r>
              <a:r>
                <a:rPr lang="zh-CN" altLang="en-US" sz="2200" b="1" u="none" baseline="-20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地</a:t>
              </a:r>
              <a:r>
                <a:rPr lang="zh-CN" altLang="en-US" sz="22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、</a:t>
              </a:r>
              <a:r>
                <a:rPr lang="en-US" altLang="zh-CN" sz="22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D=V</a:t>
              </a:r>
              <a:r>
                <a:rPr lang="zh-CN" altLang="en-US" sz="2200" b="1" u="none" baseline="-20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中</a:t>
              </a:r>
              <a:r>
                <a:rPr lang="zh-CN" altLang="en-US" sz="2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2200" b="1" u="none" baseline="-20000" dirty="0" smtClean="0">
                  <a:latin typeface="宋体" panose="02010600030101010101" pitchFamily="2" charset="-122"/>
                </a:rPr>
                <a:t>2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截止、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2200" b="1" u="none" baseline="-20000" dirty="0" smtClean="0">
                  <a:latin typeface="宋体" panose="02010600030101010101" pitchFamily="2" charset="-122"/>
                </a:rPr>
                <a:t>1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导通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；写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1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时反之</a:t>
              </a:r>
              <a:endParaRPr lang="zh-CN" altLang="en-US" sz="22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09" name="Line 267"/>
            <p:cNvSpPr>
              <a:spLocks noChangeShapeType="1"/>
            </p:cNvSpPr>
            <p:nvPr/>
          </p:nvSpPr>
          <p:spPr bwMode="auto">
            <a:xfrm>
              <a:off x="4636" y="1860"/>
              <a:ext cx="91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0" name="Group 420"/>
          <p:cNvGrpSpPr/>
          <p:nvPr/>
        </p:nvGrpSpPr>
        <p:grpSpPr bwMode="auto">
          <a:xfrm>
            <a:off x="467793" y="1778074"/>
            <a:ext cx="2627313" cy="858838"/>
            <a:chOff x="3152" y="482"/>
            <a:chExt cx="1655" cy="541"/>
          </a:xfrm>
        </p:grpSpPr>
        <p:sp>
          <p:nvSpPr>
            <p:cNvPr id="211" name="Line 421"/>
            <p:cNvSpPr>
              <a:spLocks noChangeShapeType="1"/>
            </p:cNvSpPr>
            <p:nvPr/>
          </p:nvSpPr>
          <p:spPr bwMode="auto">
            <a:xfrm>
              <a:off x="4604" y="482"/>
              <a:ext cx="1" cy="496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Line 422"/>
            <p:cNvSpPr>
              <a:spLocks noChangeShapeType="1"/>
            </p:cNvSpPr>
            <p:nvPr/>
          </p:nvSpPr>
          <p:spPr bwMode="auto">
            <a:xfrm>
              <a:off x="3332" y="482"/>
              <a:ext cx="1" cy="496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Line 423"/>
            <p:cNvSpPr>
              <a:spLocks noChangeShapeType="1"/>
            </p:cNvSpPr>
            <p:nvPr/>
          </p:nvSpPr>
          <p:spPr bwMode="auto">
            <a:xfrm>
              <a:off x="3152" y="482"/>
              <a:ext cx="1655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Line 424"/>
            <p:cNvSpPr>
              <a:spLocks noChangeShapeType="1"/>
            </p:cNvSpPr>
            <p:nvPr/>
          </p:nvSpPr>
          <p:spPr bwMode="auto">
            <a:xfrm flipH="1">
              <a:off x="4558" y="977"/>
              <a:ext cx="91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Line 425"/>
            <p:cNvSpPr>
              <a:spLocks noChangeShapeType="1"/>
            </p:cNvSpPr>
            <p:nvPr/>
          </p:nvSpPr>
          <p:spPr bwMode="auto">
            <a:xfrm>
              <a:off x="4513" y="1023"/>
              <a:ext cx="182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Line 426"/>
            <p:cNvSpPr>
              <a:spLocks noChangeShapeType="1"/>
            </p:cNvSpPr>
            <p:nvPr/>
          </p:nvSpPr>
          <p:spPr bwMode="auto">
            <a:xfrm flipH="1">
              <a:off x="3286" y="977"/>
              <a:ext cx="91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Line 427"/>
            <p:cNvSpPr>
              <a:spLocks noChangeShapeType="1"/>
            </p:cNvSpPr>
            <p:nvPr/>
          </p:nvSpPr>
          <p:spPr bwMode="auto">
            <a:xfrm>
              <a:off x="3241" y="1023"/>
              <a:ext cx="182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8" name="Text Box 264"/>
          <p:cNvSpPr txBox="1">
            <a:spLocks noChangeArrowheads="1"/>
          </p:cNvSpPr>
          <p:nvPr/>
        </p:nvSpPr>
        <p:spPr bwMode="auto">
          <a:xfrm>
            <a:off x="2051720" y="4293096"/>
            <a:ext cx="6912893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使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V</a:t>
            </a:r>
            <a:r>
              <a:rPr lang="en-US" altLang="zh-CN" sz="2200" b="1" u="none" baseline="-18000" dirty="0">
                <a:solidFill>
                  <a:schemeClr val="accent2"/>
                </a:solidFill>
                <a:latin typeface="宋体" panose="02010600030101010101" pitchFamily="2" charset="-122"/>
              </a:rPr>
              <a:t>W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=V</a:t>
            </a:r>
            <a:r>
              <a:rPr lang="zh-CN" altLang="en-US" sz="2200" b="1" u="none" baseline="-20000" dirty="0">
                <a:solidFill>
                  <a:schemeClr val="accent2"/>
                </a:solidFill>
                <a:latin typeface="宋体" panose="02010600030101010101" pitchFamily="2" charset="-122"/>
              </a:rPr>
              <a:t>地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2200" b="1" u="none" dirty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20000" dirty="0">
                <a:latin typeface="宋体" panose="02010600030101010101" pitchFamily="2" charset="-122"/>
              </a:rPr>
              <a:t>5</a:t>
            </a:r>
            <a:r>
              <a:rPr lang="zh-CN" altLang="en-US" sz="2200" b="1" u="none" dirty="0">
                <a:latin typeface="宋体" panose="02010600030101010101" pitchFamily="2" charset="-122"/>
              </a:rPr>
              <a:t>和</a:t>
            </a:r>
            <a:r>
              <a:rPr lang="en-US" altLang="zh-CN" sz="2200" b="1" u="none" dirty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20000" dirty="0">
                <a:latin typeface="宋体" panose="02010600030101010101" pitchFamily="2" charset="-122"/>
              </a:rPr>
              <a:t>6</a:t>
            </a:r>
            <a:r>
              <a:rPr lang="zh-CN" altLang="en-US" sz="2200" b="1" u="none" dirty="0">
                <a:latin typeface="宋体" panose="02010600030101010101" pitchFamily="2" charset="-122"/>
              </a:rPr>
              <a:t>截止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20000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及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20000" dirty="0" smtClean="0">
                <a:latin typeface="宋体" panose="02010600030101010101" pitchFamily="2" charset="-122"/>
              </a:rPr>
              <a:t>2</a:t>
            </a:r>
            <a:r>
              <a:rPr lang="zh-CN" altLang="en-US" sz="2200" b="1" u="none" dirty="0">
                <a:latin typeface="宋体" panose="02010600030101010101" pitchFamily="2" charset="-122"/>
              </a:rPr>
              <a:t>状态保持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不变</a:t>
            </a:r>
            <a:r>
              <a:rPr lang="en-US" altLang="zh-CN" sz="1800" b="1" u="none" dirty="0">
                <a:latin typeface="宋体" panose="02010600030101010101" pitchFamily="2" charset="-122"/>
              </a:rPr>
              <a:t>(V</a:t>
            </a:r>
            <a:r>
              <a:rPr lang="en-US" altLang="zh-CN" sz="1800" b="1" u="none" baseline="-18000" dirty="0">
                <a:latin typeface="宋体" panose="02010600030101010101" pitchFamily="2" charset="-122"/>
              </a:rPr>
              <a:t>B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=V</a:t>
            </a:r>
            <a:r>
              <a:rPr lang="zh-CN" altLang="en-US" sz="1800" b="1" u="none" baseline="-18000" dirty="0">
                <a:latin typeface="宋体" panose="02010600030101010101" pitchFamily="2" charset="-122"/>
              </a:rPr>
              <a:t>高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219" name="Group 458"/>
          <p:cNvGrpSpPr/>
          <p:nvPr/>
        </p:nvGrpSpPr>
        <p:grpSpPr bwMode="auto">
          <a:xfrm>
            <a:off x="250701" y="4725144"/>
            <a:ext cx="8713787" cy="1511300"/>
            <a:chOff x="113" y="3022"/>
            <a:chExt cx="5489" cy="952"/>
          </a:xfrm>
        </p:grpSpPr>
        <p:sp>
          <p:nvSpPr>
            <p:cNvPr id="220" name="Text Box 269"/>
            <p:cNvSpPr txBox="1">
              <a:spLocks noChangeArrowheads="1"/>
            </p:cNvSpPr>
            <p:nvPr/>
          </p:nvSpPr>
          <p:spPr bwMode="auto">
            <a:xfrm>
              <a:off x="113" y="3022"/>
              <a:ext cx="5489" cy="95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>
                <a:lnSpc>
                  <a:spcPct val="130000"/>
                </a:lnSpc>
              </a:pPr>
              <a:r>
                <a:rPr lang="en-US" altLang="zh-CN" sz="22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             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①</a:t>
              </a:r>
              <a:r>
                <a:rPr lang="en-US" altLang="zh-CN" sz="2200" b="1" u="none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W</a:t>
              </a:r>
              <a:r>
                <a:rPr lang="zh-CN" altLang="en-US" sz="22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线上</a:t>
              </a:r>
              <a:r>
                <a:rPr lang="zh-CN" altLang="en-US" sz="2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加</a:t>
              </a:r>
              <a:r>
                <a:rPr lang="zh-CN" altLang="en-US" sz="22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正</a:t>
              </a:r>
              <a:r>
                <a:rPr lang="zh-CN" altLang="en-US" sz="2200" b="1" u="none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脉冲</a:t>
              </a:r>
              <a:r>
                <a:rPr lang="en-US" altLang="zh-CN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2200" b="1" u="none" baseline="-20000" dirty="0">
                  <a:latin typeface="宋体" panose="02010600030101010101" pitchFamily="2" charset="-122"/>
                </a:rPr>
                <a:t>5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和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2200" b="1" u="none" baseline="-20000" dirty="0">
                  <a:latin typeface="宋体" panose="02010600030101010101" pitchFamily="2" charset="-122"/>
                </a:rPr>
                <a:t>6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导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通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读出期间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；</a:t>
              </a:r>
              <a:endParaRPr lang="en-US" altLang="zh-CN" sz="22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22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            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②</a:t>
              </a:r>
              <a:r>
                <a:rPr lang="zh-CN" altLang="en-US" sz="2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使</a:t>
              </a:r>
              <a:r>
                <a:rPr lang="en-US" altLang="zh-CN" sz="22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D=D=V</a:t>
              </a:r>
              <a:r>
                <a:rPr lang="zh-CN" altLang="en-US" sz="2200" b="1" u="none" baseline="-20000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中</a:t>
              </a:r>
              <a:r>
                <a:rPr lang="en-US" altLang="zh-CN" sz="2200" b="1" u="none" dirty="0" smtClean="0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/>
                </a:rPr>
                <a:t></a:t>
              </a:r>
              <a:r>
                <a:rPr lang="zh-CN" altLang="en-US" sz="2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D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或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D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上电压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产生变化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(0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时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D</a:t>
              </a:r>
              <a:r>
                <a:rPr lang="zh-CN" altLang="en-US" sz="1800" b="1" u="none" dirty="0" smtClean="0"/>
                <a:t>电压</a:t>
              </a:r>
              <a:r>
                <a:rPr lang="zh-CN" altLang="en-US" sz="1800" b="1" u="none" dirty="0"/>
                <a:t>下降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)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 </a:t>
              </a:r>
              <a:endParaRPr lang="en-US" altLang="zh-CN" sz="22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2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    →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用</a:t>
              </a:r>
              <a:r>
                <a:rPr lang="zh-CN" altLang="en-US" sz="2200" b="1" dirty="0" smtClean="0">
                  <a:latin typeface="宋体" panose="02010600030101010101" pitchFamily="2" charset="-122"/>
                </a:rPr>
                <a:t>差分放大器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可检测出所存信息</a:t>
              </a:r>
              <a:r>
                <a:rPr lang="zh-CN" altLang="en-US" sz="2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2200" b="1" u="none" baseline="-20000" dirty="0" smtClean="0">
                  <a:latin typeface="宋体" panose="02010600030101010101" pitchFamily="2" charset="-122"/>
                </a:rPr>
                <a:t>1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及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2200" b="1" u="none" baseline="-20000" dirty="0" smtClean="0">
                  <a:latin typeface="宋体" panose="02010600030101010101" pitchFamily="2" charset="-122"/>
                </a:rPr>
                <a:t>2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状态不变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非破坏性读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)</a:t>
              </a:r>
              <a:endParaRPr lang="en-US" altLang="zh-CN" sz="22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1" name="Line 270"/>
            <p:cNvSpPr>
              <a:spLocks noChangeShapeType="1"/>
            </p:cNvSpPr>
            <p:nvPr/>
          </p:nvSpPr>
          <p:spPr bwMode="auto">
            <a:xfrm>
              <a:off x="1860" y="3402"/>
              <a:ext cx="91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Line 271"/>
            <p:cNvSpPr>
              <a:spLocks noChangeShapeType="1"/>
            </p:cNvSpPr>
            <p:nvPr/>
          </p:nvSpPr>
          <p:spPr bwMode="auto">
            <a:xfrm>
              <a:off x="2722" y="3402"/>
              <a:ext cx="9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3" name="Group 428"/>
          <p:cNvGrpSpPr/>
          <p:nvPr/>
        </p:nvGrpSpPr>
        <p:grpSpPr bwMode="auto">
          <a:xfrm>
            <a:off x="466477" y="2134891"/>
            <a:ext cx="2593975" cy="1727201"/>
            <a:chOff x="3061" y="755"/>
            <a:chExt cx="1634" cy="1088"/>
          </a:xfrm>
        </p:grpSpPr>
        <p:grpSp>
          <p:nvGrpSpPr>
            <p:cNvPr id="224" name="Group 429"/>
            <p:cNvGrpSpPr/>
            <p:nvPr/>
          </p:nvGrpSpPr>
          <p:grpSpPr bwMode="auto">
            <a:xfrm>
              <a:off x="3061" y="755"/>
              <a:ext cx="136" cy="1088"/>
              <a:chOff x="3061" y="755"/>
              <a:chExt cx="136" cy="1088"/>
            </a:xfrm>
          </p:grpSpPr>
          <p:sp>
            <p:nvSpPr>
              <p:cNvPr id="231" name="Line 430"/>
              <p:cNvSpPr>
                <a:spLocks noChangeShapeType="1"/>
              </p:cNvSpPr>
              <p:nvPr/>
            </p:nvSpPr>
            <p:spPr bwMode="auto">
              <a:xfrm>
                <a:off x="3061" y="755"/>
                <a:ext cx="1" cy="10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" name="Line 432"/>
              <p:cNvSpPr>
                <a:spLocks noChangeShapeType="1"/>
              </p:cNvSpPr>
              <p:nvPr/>
            </p:nvSpPr>
            <p:spPr bwMode="auto">
              <a:xfrm>
                <a:off x="3061" y="1161"/>
                <a:ext cx="1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" name="Line 433"/>
              <p:cNvSpPr>
                <a:spLocks noChangeShapeType="1"/>
              </p:cNvSpPr>
              <p:nvPr/>
            </p:nvSpPr>
            <p:spPr bwMode="auto">
              <a:xfrm>
                <a:off x="3196" y="1071"/>
                <a:ext cx="0" cy="9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" name="Group 435"/>
            <p:cNvGrpSpPr/>
            <p:nvPr/>
          </p:nvGrpSpPr>
          <p:grpSpPr bwMode="auto">
            <a:xfrm>
              <a:off x="4559" y="755"/>
              <a:ext cx="136" cy="1088"/>
              <a:chOff x="4559" y="755"/>
              <a:chExt cx="136" cy="1088"/>
            </a:xfrm>
          </p:grpSpPr>
          <p:sp>
            <p:nvSpPr>
              <p:cNvPr id="226" name="Line 436"/>
              <p:cNvSpPr>
                <a:spLocks noChangeShapeType="1"/>
              </p:cNvSpPr>
              <p:nvPr/>
            </p:nvSpPr>
            <p:spPr bwMode="auto">
              <a:xfrm>
                <a:off x="4559" y="1161"/>
                <a:ext cx="136" cy="1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tailEnd type="oval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" name="Line 437"/>
              <p:cNvSpPr>
                <a:spLocks noChangeShapeType="1"/>
              </p:cNvSpPr>
              <p:nvPr/>
            </p:nvSpPr>
            <p:spPr bwMode="auto">
              <a:xfrm flipH="1">
                <a:off x="4695" y="755"/>
                <a:ext cx="0" cy="108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" name="Line 439"/>
              <p:cNvSpPr>
                <a:spLocks noChangeShapeType="1"/>
              </p:cNvSpPr>
              <p:nvPr/>
            </p:nvSpPr>
            <p:spPr bwMode="auto">
              <a:xfrm>
                <a:off x="4559" y="1070"/>
                <a:ext cx="0" cy="9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cxnSp>
        <p:nvCxnSpPr>
          <p:cNvPr id="237" name="直接箭头连接符 236"/>
          <p:cNvCxnSpPr/>
          <p:nvPr/>
        </p:nvCxnSpPr>
        <p:spPr bwMode="auto">
          <a:xfrm flipV="1">
            <a:off x="2700139" y="3069112"/>
            <a:ext cx="4176000" cy="1368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990099"/>
            </a:solidFill>
            <a:prstDash val="sysDash"/>
            <a:round/>
            <a:headEnd type="arrow" w="med" len="med"/>
            <a:tailEnd type="arrow"/>
          </a:ln>
          <a:effectLst/>
        </p:spPr>
      </p:cxnSp>
      <p:sp>
        <p:nvSpPr>
          <p:cNvPr id="239" name="AutoShape 177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15" name="Group 441"/>
          <p:cNvGrpSpPr/>
          <p:nvPr/>
        </p:nvGrpSpPr>
        <p:grpSpPr bwMode="auto">
          <a:xfrm>
            <a:off x="1043856" y="2783210"/>
            <a:ext cx="1441450" cy="574675"/>
            <a:chOff x="3651" y="1161"/>
            <a:chExt cx="908" cy="362"/>
          </a:xfrm>
        </p:grpSpPr>
        <p:grpSp>
          <p:nvGrpSpPr>
            <p:cNvPr id="316" name="Group 442"/>
            <p:cNvGrpSpPr/>
            <p:nvPr/>
          </p:nvGrpSpPr>
          <p:grpSpPr bwMode="auto">
            <a:xfrm>
              <a:off x="3742" y="1161"/>
              <a:ext cx="817" cy="362"/>
              <a:chOff x="3742" y="1161"/>
              <a:chExt cx="817" cy="362"/>
            </a:xfrm>
          </p:grpSpPr>
          <p:sp>
            <p:nvSpPr>
              <p:cNvPr id="323" name="Line 443"/>
              <p:cNvSpPr>
                <a:spLocks noChangeShapeType="1"/>
              </p:cNvSpPr>
              <p:nvPr/>
            </p:nvSpPr>
            <p:spPr bwMode="auto">
              <a:xfrm>
                <a:off x="3787" y="1387"/>
                <a:ext cx="1" cy="9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4" name="Line 444"/>
              <p:cNvSpPr>
                <a:spLocks noChangeShapeType="1"/>
              </p:cNvSpPr>
              <p:nvPr/>
            </p:nvSpPr>
            <p:spPr bwMode="auto">
              <a:xfrm flipV="1">
                <a:off x="3787" y="1430"/>
                <a:ext cx="136" cy="3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5" name="Line 445"/>
              <p:cNvSpPr>
                <a:spLocks noChangeShapeType="1"/>
              </p:cNvSpPr>
              <p:nvPr/>
            </p:nvSpPr>
            <p:spPr bwMode="auto">
              <a:xfrm>
                <a:off x="4286" y="1161"/>
                <a:ext cx="273" cy="1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6" name="Line 446"/>
              <p:cNvSpPr>
                <a:spLocks noChangeShapeType="1"/>
              </p:cNvSpPr>
              <p:nvPr/>
            </p:nvSpPr>
            <p:spPr bwMode="auto">
              <a:xfrm flipV="1">
                <a:off x="3923" y="1162"/>
                <a:ext cx="363" cy="272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" name="Line 447"/>
              <p:cNvSpPr>
                <a:spLocks noChangeShapeType="1"/>
              </p:cNvSpPr>
              <p:nvPr/>
            </p:nvSpPr>
            <p:spPr bwMode="auto">
              <a:xfrm>
                <a:off x="3742" y="1342"/>
                <a:ext cx="0" cy="181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17" name="Group 448"/>
            <p:cNvGrpSpPr/>
            <p:nvPr/>
          </p:nvGrpSpPr>
          <p:grpSpPr bwMode="auto">
            <a:xfrm>
              <a:off x="3651" y="1162"/>
              <a:ext cx="818" cy="361"/>
              <a:chOff x="3651" y="1162"/>
              <a:chExt cx="818" cy="361"/>
            </a:xfrm>
          </p:grpSpPr>
          <p:sp>
            <p:nvSpPr>
              <p:cNvPr id="318" name="Line 449"/>
              <p:cNvSpPr>
                <a:spLocks noChangeShapeType="1"/>
              </p:cNvSpPr>
              <p:nvPr/>
            </p:nvSpPr>
            <p:spPr bwMode="auto">
              <a:xfrm flipV="1">
                <a:off x="4286" y="1433"/>
                <a:ext cx="136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9" name="Line 450"/>
              <p:cNvSpPr>
                <a:spLocks noChangeShapeType="1"/>
              </p:cNvSpPr>
              <p:nvPr/>
            </p:nvSpPr>
            <p:spPr bwMode="auto">
              <a:xfrm>
                <a:off x="3922" y="1162"/>
                <a:ext cx="364" cy="2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0" name="Line 451"/>
              <p:cNvSpPr>
                <a:spLocks noChangeShapeType="1"/>
              </p:cNvSpPr>
              <p:nvPr/>
            </p:nvSpPr>
            <p:spPr bwMode="auto">
              <a:xfrm>
                <a:off x="4423" y="1387"/>
                <a:ext cx="0" cy="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1" name="Line 452"/>
              <p:cNvSpPr>
                <a:spLocks noChangeShapeType="1"/>
              </p:cNvSpPr>
              <p:nvPr/>
            </p:nvSpPr>
            <p:spPr bwMode="auto">
              <a:xfrm>
                <a:off x="4469" y="1342"/>
                <a:ext cx="0" cy="18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2" name="Line 453"/>
              <p:cNvSpPr>
                <a:spLocks noChangeShapeType="1"/>
              </p:cNvSpPr>
              <p:nvPr/>
            </p:nvSpPr>
            <p:spPr bwMode="auto">
              <a:xfrm>
                <a:off x="3651" y="1162"/>
                <a:ext cx="27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823665" y="2634954"/>
            <a:ext cx="1876425" cy="146050"/>
            <a:chOff x="823665" y="2634954"/>
            <a:chExt cx="1876425" cy="146050"/>
          </a:xfrm>
        </p:grpSpPr>
        <p:sp>
          <p:nvSpPr>
            <p:cNvPr id="126" name="Line 431"/>
            <p:cNvSpPr>
              <a:spLocks noChangeShapeType="1"/>
            </p:cNvSpPr>
            <p:nvPr/>
          </p:nvSpPr>
          <p:spPr bwMode="auto">
            <a:xfrm flipV="1">
              <a:off x="823665" y="2777829"/>
              <a:ext cx="215900" cy="1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434"/>
            <p:cNvSpPr>
              <a:spLocks noChangeShapeType="1"/>
            </p:cNvSpPr>
            <p:nvPr/>
          </p:nvSpPr>
          <p:spPr bwMode="auto">
            <a:xfrm>
              <a:off x="825252" y="2634954"/>
              <a:ext cx="0" cy="1428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Line 438"/>
            <p:cNvSpPr>
              <a:spLocks noChangeShapeType="1"/>
            </p:cNvSpPr>
            <p:nvPr/>
          </p:nvSpPr>
          <p:spPr bwMode="auto">
            <a:xfrm>
              <a:off x="2700090" y="2636541"/>
              <a:ext cx="0" cy="14287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440"/>
            <p:cNvSpPr>
              <a:spLocks noChangeShapeType="1"/>
            </p:cNvSpPr>
            <p:nvPr/>
          </p:nvSpPr>
          <p:spPr bwMode="auto">
            <a:xfrm flipV="1">
              <a:off x="2484190" y="2781004"/>
              <a:ext cx="2159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130" name="直接箭头连接符 129"/>
          <p:cNvCxnSpPr/>
          <p:nvPr/>
        </p:nvCxnSpPr>
        <p:spPr bwMode="auto">
          <a:xfrm flipH="1">
            <a:off x="6840392" y="4725144"/>
            <a:ext cx="1044000" cy="576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5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75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6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75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xit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9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" grpId="0"/>
      <p:bldP spid="241" grpId="0"/>
      <p:bldP spid="86101" grpId="0"/>
      <p:bldP spid="121" grpId="0"/>
      <p:bldP spid="2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34426-54D0-44A1-9577-C8C33015F96A}" type="slidenum">
              <a:rPr lang="en-US" altLang="zh-CN"/>
            </a:fld>
            <a:endParaRPr lang="en-US" altLang="zh-CN" dirty="0"/>
          </a:p>
        </p:txBody>
      </p:sp>
      <p:sp>
        <p:nvSpPr>
          <p:cNvPr id="275460" name="Text Box 4"/>
          <p:cNvSpPr txBox="1">
            <a:spLocks noChangeArrowheads="1"/>
          </p:cNvSpPr>
          <p:nvPr/>
        </p:nvSpPr>
        <p:spPr bwMode="auto">
          <a:xfrm>
            <a:off x="179388" y="359445"/>
            <a:ext cx="8785225" cy="549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芯片的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组成</a:t>
            </a:r>
            <a:endParaRPr lang="zh-CN" altLang="en-US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275558" name="Text Box 102"/>
          <p:cNvSpPr txBox="1">
            <a:spLocks noChangeArrowheads="1"/>
          </p:cNvSpPr>
          <p:nvPr/>
        </p:nvSpPr>
        <p:spPr bwMode="auto">
          <a:xfrm>
            <a:off x="179388" y="829161"/>
            <a:ext cx="8857108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</a:t>
            </a: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1)SRAM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基本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组成</a:t>
            </a:r>
            <a:endParaRPr lang="zh-CN" altLang="en-US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>
                <a:latin typeface="宋体" panose="02010600030101010101" pitchFamily="2" charset="-122"/>
              </a:rPr>
              <a:t>   </a:t>
            </a:r>
            <a:r>
              <a:rPr lang="zh-CN" altLang="en-US" b="1" u="none" spc="-20" dirty="0" smtClean="0">
                <a:latin typeface="宋体" panose="02010600030101010101" pitchFamily="2" charset="-122"/>
              </a:rPr>
              <a:t>包括存储矩阵、</a:t>
            </a:r>
            <a:r>
              <a:rPr lang="zh-CN" altLang="en-US" b="1" u="none" spc="-20" dirty="0">
                <a:latin typeface="宋体" panose="02010600030101010101" pitchFamily="2" charset="-122"/>
              </a:rPr>
              <a:t>地址译码器、</a:t>
            </a:r>
            <a:r>
              <a:rPr lang="en-US" altLang="zh-CN" b="1" u="none" spc="-20" dirty="0" smtClean="0">
                <a:latin typeface="宋体" panose="02010600030101010101" pitchFamily="2" charset="-122"/>
              </a:rPr>
              <a:t>I/O</a:t>
            </a:r>
            <a:r>
              <a:rPr lang="zh-CN" altLang="en-US" b="1" u="none" spc="-20" dirty="0" smtClean="0">
                <a:latin typeface="宋体" panose="02010600030101010101" pitchFamily="2" charset="-122"/>
              </a:rPr>
              <a:t>门、读写电路、控制电路等</a:t>
            </a:r>
            <a:endParaRPr lang="zh-CN" altLang="en-US" b="1" u="none" spc="-20" dirty="0">
              <a:latin typeface="宋体" panose="02010600030101010101" pitchFamily="2" charset="-122"/>
            </a:endParaRPr>
          </a:p>
        </p:txBody>
      </p:sp>
      <p:sp>
        <p:nvSpPr>
          <p:cNvPr id="2" name="AutoShape 338"/>
          <p:cNvSpPr/>
          <p:nvPr>
            <p:custDataLst>
              <p:tags r:id="rId1"/>
            </p:custDataLst>
          </p:nvPr>
        </p:nvSpPr>
        <p:spPr bwMode="auto">
          <a:xfrm>
            <a:off x="360000" y="2735510"/>
            <a:ext cx="1296000" cy="252000"/>
          </a:xfrm>
          <a:prstGeom prst="borderCallout2">
            <a:avLst>
              <a:gd name="adj1" fmla="val 46869"/>
              <a:gd name="adj2" fmla="val 100574"/>
              <a:gd name="adj3" fmla="val 42438"/>
              <a:gd name="adj4" fmla="val 165907"/>
              <a:gd name="adj5" fmla="val -57676"/>
              <a:gd name="adj6" fmla="val 198342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p>
            <a:pPr algn="ctr">
              <a:lnSpc>
                <a:spcPct val="90000"/>
              </a:lnSpc>
            </a:pPr>
            <a:r>
              <a:rPr lang="zh-CN" altLang="en-US" sz="1600" b="1" u="none" dirty="0" smtClean="0">
                <a:latin typeface="宋体" panose="02010600030101010101" pitchFamily="2" charset="-122"/>
              </a:rPr>
              <a:t>增加传输功率</a:t>
            </a:r>
            <a:endParaRPr lang="zh-CN" altLang="en-US" sz="16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4" name="AutoShape 338"/>
          <p:cNvSpPr/>
          <p:nvPr>
            <p:custDataLst>
              <p:tags r:id="rId2"/>
            </p:custDataLst>
          </p:nvPr>
        </p:nvSpPr>
        <p:spPr bwMode="auto">
          <a:xfrm>
            <a:off x="360000" y="3527510"/>
            <a:ext cx="1296000" cy="252000"/>
          </a:xfrm>
          <a:prstGeom prst="borderCallout2">
            <a:avLst>
              <a:gd name="adj1" fmla="val 46869"/>
              <a:gd name="adj2" fmla="val 100574"/>
              <a:gd name="adj3" fmla="val 47047"/>
              <a:gd name="adj4" fmla="val 112941"/>
              <a:gd name="adj5" fmla="val 14793"/>
              <a:gd name="adj6" fmla="val 190503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p>
            <a:pPr algn="ctr">
              <a:lnSpc>
                <a:spcPct val="90000"/>
              </a:lnSpc>
            </a:pPr>
            <a:r>
              <a:rPr lang="zh-CN" altLang="en-US" sz="1600" b="1" u="none" dirty="0" smtClean="0">
                <a:latin typeface="宋体" panose="02010600030101010101" pitchFamily="2" charset="-122"/>
              </a:rPr>
              <a:t>产生内部信号</a:t>
            </a:r>
            <a:endParaRPr lang="zh-CN" altLang="en-US" sz="1600" b="1" u="none" dirty="0" smtClean="0">
              <a:latin typeface="宋体" panose="02010600030101010101" pitchFamily="2" charset="-122"/>
            </a:endParaRPr>
          </a:p>
        </p:txBody>
      </p:sp>
      <p:grpSp>
        <p:nvGrpSpPr>
          <p:cNvPr id="284" name="组合 283"/>
          <p:cNvGrpSpPr/>
          <p:nvPr/>
        </p:nvGrpSpPr>
        <p:grpSpPr>
          <a:xfrm>
            <a:off x="6264000" y="3096000"/>
            <a:ext cx="2484120" cy="1115695"/>
            <a:chOff x="4479" y="3685"/>
            <a:chExt cx="3912" cy="1757"/>
          </a:xfrm>
        </p:grpSpPr>
        <p:sp>
          <p:nvSpPr>
            <p:cNvPr id="118" name="Rectangle 1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706" y="3685"/>
              <a:ext cx="3345" cy="136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endParaRPr lang="zh-CN" altLang="en-US"/>
            </a:p>
          </p:txBody>
        </p:sp>
        <p:sp>
          <p:nvSpPr>
            <p:cNvPr id="119" name="Text Box 4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706" y="4252"/>
              <a:ext cx="1474" cy="283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ctr"/>
            <a:p>
              <a:pPr algn="ctr"/>
              <a:r>
                <a:rPr lang="zh-CN" altLang="en-US" sz="1400" b="1" u="none" spc="-100" dirty="0" smtClean="0">
                  <a:solidFill>
                    <a:srgbClr val="000000"/>
                  </a:solidFill>
                  <a:uFillTx/>
                </a:rPr>
                <a:t>差分</a:t>
              </a:r>
              <a:r>
                <a:rPr lang="zh-CN" altLang="en-US" sz="1400" b="1" u="none" dirty="0" smtClean="0">
                  <a:solidFill>
                    <a:srgbClr val="000000"/>
                  </a:solidFill>
                  <a:uFillTx/>
                </a:rPr>
                <a:t>放大器</a:t>
              </a:r>
              <a:endParaRPr lang="zh-CN" altLang="en-US" sz="1400" b="1" u="none" dirty="0" smtClean="0">
                <a:solidFill>
                  <a:srgbClr val="000000"/>
                </a:solidFill>
                <a:uFillTx/>
              </a:endParaRPr>
            </a:p>
          </p:txBody>
        </p:sp>
        <p:sp>
          <p:nvSpPr>
            <p:cNvPr id="120" name="Text Box 42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046" y="5159"/>
              <a:ext cx="397" cy="283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7780" rIns="18000" bIns="0" anchor="ctr"/>
            <a:p>
              <a:pPr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solidFill>
                    <a:srgbClr val="FF3399"/>
                  </a:solidFill>
                </a:rPr>
                <a:t>读</a:t>
              </a:r>
              <a:endParaRPr lang="zh-CN" altLang="en-US" sz="1400" b="1" u="none" dirty="0">
                <a:solidFill>
                  <a:srgbClr val="FF3399"/>
                </a:solidFill>
              </a:endParaRPr>
            </a:p>
          </p:txBody>
        </p:sp>
        <p:sp>
          <p:nvSpPr>
            <p:cNvPr id="121" name="Text Box 43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030" y="4025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ctr"/>
            <a:p>
              <a:pPr algn="ctr"/>
              <a:r>
                <a:rPr lang="zh-CN" altLang="en-US" sz="1400" b="1" u="none" spc="-100" dirty="0" smtClean="0">
                  <a:solidFill>
                    <a:srgbClr val="000000"/>
                  </a:solidFill>
                  <a:uFillTx/>
                </a:rPr>
                <a:t>放大器</a:t>
              </a:r>
              <a:endParaRPr lang="zh-CN" altLang="en-US" sz="1400" b="1" u="none" spc="-100" dirty="0" smtClean="0">
                <a:solidFill>
                  <a:srgbClr val="000000"/>
                </a:solidFill>
                <a:uFillTx/>
              </a:endParaRPr>
            </a:p>
          </p:txBody>
        </p:sp>
        <p:sp>
          <p:nvSpPr>
            <p:cNvPr id="123" name="Oval 49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143" y="4365"/>
              <a:ext cx="113" cy="113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  <a:round/>
            </a:ln>
          </p:spPr>
          <p:txBody>
            <a:bodyPr lIns="18000" tIns="10800" rIns="18000" bIns="10800" anchor="ctr"/>
            <a:p>
              <a:endParaRPr lang="zh-CN" altLang="en-US"/>
            </a:p>
          </p:txBody>
        </p:sp>
        <p:sp>
          <p:nvSpPr>
            <p:cNvPr id="124" name="Text Box 6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164" y="3798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endParaRPr lang="en-US" altLang="zh-CN" sz="1600" b="1" u="none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5" name="AutoShape 6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 rot="5400000">
              <a:off x="6860" y="4280"/>
              <a:ext cx="283" cy="283"/>
            </a:xfrm>
            <a:prstGeom prst="flowChartExtract">
              <a:avLst/>
            </a:prstGeom>
            <a:solidFill>
              <a:srgbClr val="FFFF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endParaRPr lang="zh-CN" altLang="en-US"/>
            </a:p>
          </p:txBody>
        </p:sp>
        <p:sp>
          <p:nvSpPr>
            <p:cNvPr id="261" name="Text Box 70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8164" y="4309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endParaRPr lang="en-US" altLang="zh-CN" sz="1600" b="1" u="none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2" name="Text Box 7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463" y="5159"/>
              <a:ext cx="397" cy="283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7780" rIns="18000" bIns="0" anchor="ctr"/>
            <a:p>
              <a:pPr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solidFill>
                    <a:srgbClr val="FF3399"/>
                  </a:solidFill>
                </a:rPr>
                <a:t>写</a:t>
              </a:r>
              <a:endParaRPr lang="zh-CN" altLang="en-US" sz="1400" b="1" u="none" dirty="0">
                <a:solidFill>
                  <a:srgbClr val="FF3399"/>
                </a:solidFill>
              </a:endParaRPr>
            </a:p>
          </p:txBody>
        </p:sp>
        <p:sp>
          <p:nvSpPr>
            <p:cNvPr id="264" name="AutoShape 6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 rot="5400000">
              <a:off x="6860" y="3770"/>
              <a:ext cx="283" cy="283"/>
            </a:xfrm>
            <a:prstGeom prst="flowChartExtract">
              <a:avLst/>
            </a:prstGeom>
            <a:solidFill>
              <a:srgbClr val="FFFF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endParaRPr lang="zh-CN" altLang="en-US"/>
            </a:p>
          </p:txBody>
        </p:sp>
        <p:sp>
          <p:nvSpPr>
            <p:cNvPr id="265" name="AutoShape 6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 rot="16200000">
              <a:off x="5017" y="4620"/>
              <a:ext cx="340" cy="283"/>
            </a:xfrm>
            <a:prstGeom prst="flowChartExtract">
              <a:avLst/>
            </a:prstGeom>
            <a:solidFill>
              <a:srgbClr val="FFFF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endParaRPr lang="zh-CN" altLang="en-US"/>
            </a:p>
          </p:txBody>
        </p:sp>
        <p:cxnSp>
          <p:nvCxnSpPr>
            <p:cNvPr id="266" name="直接箭头连接符 265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4706" y="3912"/>
              <a:ext cx="215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7" name="直接箭头连接符 266"/>
            <p:cNvCxnSpPr/>
            <p:nvPr>
              <p:custDataLst>
                <p:tags r:id="rId15"/>
              </p:custDataLst>
            </p:nvPr>
          </p:nvCxnSpPr>
          <p:spPr bwMode="auto">
            <a:xfrm flipH="1">
              <a:off x="6294" y="3912"/>
              <a:ext cx="0" cy="51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68" name="直接箭头连接符 267"/>
            <p:cNvCxnSpPr/>
            <p:nvPr>
              <p:custDataLst>
                <p:tags r:id="rId16"/>
              </p:custDataLst>
            </p:nvPr>
          </p:nvCxnSpPr>
          <p:spPr bwMode="auto">
            <a:xfrm flipH="1" flipV="1">
              <a:off x="6973" y="3997"/>
              <a:ext cx="0" cy="198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9" name="直接箭头连接符 268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6633" y="4196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0" name="直接箭头连接符 269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6293" y="4422"/>
              <a:ext cx="56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1" name="直接箭头连接符 270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7135" y="3912"/>
              <a:ext cx="102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2" name="直接箭头连接符 271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7257" y="4422"/>
              <a:ext cx="935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3" name="直接箭头连接符 272"/>
            <p:cNvCxnSpPr/>
            <p:nvPr>
              <p:custDataLst>
                <p:tags r:id="rId21"/>
              </p:custDataLst>
            </p:nvPr>
          </p:nvCxnSpPr>
          <p:spPr bwMode="auto">
            <a:xfrm flipH="1">
              <a:off x="7824" y="4422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74" name="直接箭头连接符 273"/>
            <p:cNvCxnSpPr/>
            <p:nvPr>
              <p:custDataLst>
                <p:tags r:id="rId22"/>
              </p:custDataLst>
            </p:nvPr>
          </p:nvCxnSpPr>
          <p:spPr bwMode="auto">
            <a:xfrm flipH="1">
              <a:off x="7937" y="3912"/>
              <a:ext cx="0" cy="90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75" name="直接箭头连接符 274"/>
            <p:cNvCxnSpPr/>
            <p:nvPr>
              <p:custDataLst>
                <p:tags r:id="rId23"/>
              </p:custDataLst>
            </p:nvPr>
          </p:nvCxnSpPr>
          <p:spPr bwMode="auto">
            <a:xfrm>
              <a:off x="6633" y="4195"/>
              <a:ext cx="0" cy="96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6" name="直接箭头连接符 275"/>
            <p:cNvCxnSpPr/>
            <p:nvPr>
              <p:custDataLst>
                <p:tags r:id="rId24"/>
              </p:custDataLst>
            </p:nvPr>
          </p:nvCxnSpPr>
          <p:spPr bwMode="auto">
            <a:xfrm flipH="1" flipV="1">
              <a:off x="6973" y="4507"/>
              <a:ext cx="0" cy="425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7" name="直接箭头连接符 276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6633" y="4932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78" name="直接箭头连接符 277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5329" y="4706"/>
              <a:ext cx="249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9" name="直接箭头连接符 278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5329" y="4819"/>
              <a:ext cx="260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0" name="直接箭头连接符 279"/>
            <p:cNvCxnSpPr/>
            <p:nvPr>
              <p:custDataLst>
                <p:tags r:id="rId28"/>
              </p:custDataLst>
            </p:nvPr>
          </p:nvCxnSpPr>
          <p:spPr bwMode="auto">
            <a:xfrm flipH="1" flipV="1">
              <a:off x="4479" y="4762"/>
              <a:ext cx="56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1" name="直接箭头连接符 280"/>
            <p:cNvCxnSpPr/>
            <p:nvPr>
              <p:custDataLst>
                <p:tags r:id="rId29"/>
              </p:custDataLst>
            </p:nvPr>
          </p:nvCxnSpPr>
          <p:spPr bwMode="auto">
            <a:xfrm>
              <a:off x="4479" y="3912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2" name="直接箭头连接符 281"/>
            <p:cNvCxnSpPr/>
            <p:nvPr>
              <p:custDataLst>
                <p:tags r:id="rId30"/>
              </p:custDataLst>
            </p:nvPr>
          </p:nvCxnSpPr>
          <p:spPr bwMode="auto">
            <a:xfrm flipH="1" flipV="1">
              <a:off x="5216" y="4876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3" name="直接箭头连接符 282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8192" y="4280"/>
              <a:ext cx="17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6" name="Text Box 726"/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864000" y="4247510"/>
            <a:ext cx="2016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7780" rIns="18000" bIns="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/>
              <a:t>思考①</a:t>
            </a:r>
            <a:r>
              <a:rPr lang="zh-CN" altLang="en-US" sz="1800" dirty="0" smtClean="0"/>
              <a:t>：</a:t>
            </a:r>
            <a:r>
              <a:rPr lang="zh-CN" altLang="en-US" sz="1800" dirty="0" smtClean="0">
                <a:solidFill>
                  <a:schemeClr val="tx1"/>
                </a:solidFill>
              </a:rPr>
              <a:t>上图</a:t>
            </a:r>
            <a:r>
              <a:rPr lang="en-US" altLang="zh-CN" sz="1800" dirty="0" smtClean="0">
                <a:solidFill>
                  <a:schemeClr val="tx1"/>
                </a:solidFill>
              </a:rPr>
              <a:t>w</a:t>
            </a:r>
            <a:r>
              <a:rPr lang="zh-CN" altLang="en-US" sz="1800" dirty="0" smtClean="0">
                <a:solidFill>
                  <a:schemeClr val="tx1"/>
                </a:solidFill>
              </a:rPr>
              <a:t>＝？</a:t>
            </a:r>
            <a:endParaRPr lang="zh-CN" altLang="en-US" sz="1800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Text Box 726"/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3315280" y="4571510"/>
            <a:ext cx="5472000" cy="252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7780" rIns="18000" bIns="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sz="1600" dirty="0">
                <a:solidFill>
                  <a:srgbClr val="FF3399"/>
                </a:solidFill>
              </a:rPr>
              <a:t>通常</a:t>
            </a:r>
            <a:r>
              <a:rPr lang="zh-CN" sz="1600" dirty="0">
                <a:solidFill>
                  <a:srgbClr val="0070C0"/>
                </a:solidFill>
              </a:rPr>
              <a:t>三维矩阵</a:t>
            </a:r>
            <a:r>
              <a:rPr lang="en-US" altLang="zh-CN" sz="1600" dirty="0">
                <a:solidFill>
                  <a:schemeClr val="tx1"/>
                </a:solidFill>
              </a:rPr>
              <a:t>(w</a:t>
            </a:r>
            <a:r>
              <a:rPr lang="zh-CN" altLang="en-US" sz="1600" dirty="0">
                <a:solidFill>
                  <a:schemeClr val="tx1"/>
                </a:solidFill>
              </a:rPr>
              <a:t>个位平面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sz="1600" dirty="0">
                <a:solidFill>
                  <a:schemeClr val="tx1"/>
                </a:solidFill>
              </a:rPr>
              <a:t>、</a:t>
            </a:r>
            <a:r>
              <a:rPr lang="zh-CN" sz="1600" dirty="0">
                <a:solidFill>
                  <a:srgbClr val="0070C0"/>
                </a:solidFill>
              </a:rPr>
              <a:t>二维译码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同时控制</a:t>
            </a:r>
            <a:r>
              <a:rPr lang="en-US" altLang="zh-CN" sz="1600" dirty="0">
                <a:solidFill>
                  <a:schemeClr val="tx1"/>
                </a:solidFill>
              </a:rPr>
              <a:t>w</a:t>
            </a:r>
            <a:r>
              <a:rPr lang="zh-CN" altLang="en-US" sz="1600" dirty="0">
                <a:solidFill>
                  <a:schemeClr val="tx1"/>
                </a:solidFill>
              </a:rPr>
              <a:t>个位平面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endParaRPr lang="en-US" altLang="zh-CN" sz="1600" dirty="0" smtClean="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326" name="组合 325"/>
          <p:cNvGrpSpPr/>
          <p:nvPr/>
        </p:nvGrpSpPr>
        <p:grpSpPr>
          <a:xfrm>
            <a:off x="972185" y="1871345"/>
            <a:ext cx="5111750" cy="2196465"/>
            <a:chOff x="1531" y="2721"/>
            <a:chExt cx="8050" cy="3459"/>
          </a:xfrm>
        </p:grpSpPr>
        <p:sp>
          <p:nvSpPr>
            <p:cNvPr id="186" name="Rectangle 101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5783" y="2777"/>
              <a:ext cx="3685" cy="1474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87" name="Text Box 14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3231" y="2777"/>
              <a:ext cx="397" cy="1361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X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译码器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9" name="Text Box 33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7370" y="3344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90" name="Text Box 106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4649" y="2777"/>
              <a:ext cx="397" cy="107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驱动器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91" name="Rectangle 101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3005" y="2721"/>
              <a:ext cx="6576" cy="300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192" name="直接箭头连接符 191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5042" y="2834"/>
              <a:ext cx="3515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3" name="直接箭头连接符 192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5045" y="3741"/>
              <a:ext cx="3515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4" name="直接箭头连接符 193"/>
            <p:cNvCxnSpPr/>
            <p:nvPr>
              <p:custDataLst>
                <p:tags r:id="rId41"/>
              </p:custDataLst>
            </p:nvPr>
          </p:nvCxnSpPr>
          <p:spPr bwMode="auto">
            <a:xfrm flipH="1">
              <a:off x="6636" y="3741"/>
              <a:ext cx="0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95" name="直接箭头连接符 194"/>
            <p:cNvCxnSpPr/>
            <p:nvPr>
              <p:custDataLst>
                <p:tags r:id="rId42"/>
              </p:custDataLst>
            </p:nvPr>
          </p:nvCxnSpPr>
          <p:spPr bwMode="auto">
            <a:xfrm flipH="1">
              <a:off x="8561" y="3741"/>
              <a:ext cx="0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196" name="Text Box 7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6403" y="3344"/>
              <a:ext cx="34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0" rIns="18000" bIns="0" anchor="ctr" anchorCtr="1"/>
            <a:p>
              <a:pPr algn="ct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…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97" name="Text Box 24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5783" y="3969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199" name="Text Box 91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6178" y="2947"/>
              <a:ext cx="908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存储元</a:t>
              </a:r>
              <a:endParaRPr lang="zh-CN" altLang="en-US" sz="14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00" name="Text Box 93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6180" y="3854"/>
              <a:ext cx="908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存储元</a:t>
              </a:r>
              <a:endParaRPr lang="zh-CN" altLang="en-US" sz="14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01" name="直接箭头连接符 200"/>
            <p:cNvCxnSpPr/>
            <p:nvPr>
              <p:custDataLst>
                <p:tags r:id="rId47"/>
              </p:custDataLst>
            </p:nvPr>
          </p:nvCxnSpPr>
          <p:spPr bwMode="auto">
            <a:xfrm flipH="1">
              <a:off x="6633" y="2834"/>
              <a:ext cx="0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02" name="直接箭头连接符 201"/>
            <p:cNvCxnSpPr/>
            <p:nvPr>
              <p:custDataLst>
                <p:tags r:id="rId48"/>
              </p:custDataLst>
            </p:nvPr>
          </p:nvCxnSpPr>
          <p:spPr bwMode="auto">
            <a:xfrm>
              <a:off x="7088" y="3117"/>
              <a:ext cx="11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03" name="直接箭头连接符 202"/>
            <p:cNvCxnSpPr/>
            <p:nvPr>
              <p:custDataLst>
                <p:tags r:id="rId49"/>
              </p:custDataLst>
            </p:nvPr>
          </p:nvCxnSpPr>
          <p:spPr bwMode="auto">
            <a:xfrm>
              <a:off x="6066" y="3117"/>
              <a:ext cx="11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04" name="直接箭头连接符 203"/>
            <p:cNvCxnSpPr/>
            <p:nvPr>
              <p:custDataLst>
                <p:tags r:id="rId50"/>
              </p:custDataLst>
            </p:nvPr>
          </p:nvCxnSpPr>
          <p:spPr bwMode="auto">
            <a:xfrm>
              <a:off x="7086" y="4024"/>
              <a:ext cx="11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cxnSp>
          <p:nvCxnSpPr>
            <p:cNvPr id="205" name="直接箭头连接符 204"/>
            <p:cNvCxnSpPr/>
            <p:nvPr>
              <p:custDataLst>
                <p:tags r:id="rId51"/>
              </p:custDataLst>
            </p:nvPr>
          </p:nvCxnSpPr>
          <p:spPr bwMode="auto">
            <a:xfrm>
              <a:off x="6066" y="4024"/>
              <a:ext cx="11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206" name="Text Box 24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7257" y="3969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cxnSp>
          <p:nvCxnSpPr>
            <p:cNvPr id="208" name="直接箭头连接符 207"/>
            <p:cNvCxnSpPr/>
            <p:nvPr>
              <p:custDataLst>
                <p:tags r:id="rId53"/>
              </p:custDataLst>
            </p:nvPr>
          </p:nvCxnSpPr>
          <p:spPr bwMode="auto">
            <a:xfrm>
              <a:off x="7288" y="3912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218" name="Text Box 7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8330" y="3344"/>
              <a:ext cx="34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0" rIns="18000" bIns="0" anchor="ctr" anchorCtr="1"/>
            <a:p>
              <a:pPr algn="ct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…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226" name="Text Box 24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7710" y="3969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228" name="Text Box 91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8105" y="2947"/>
              <a:ext cx="908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存储元</a:t>
              </a:r>
              <a:endParaRPr lang="zh-CN" altLang="en-US" sz="14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31" name="Text Box 93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8107" y="3854"/>
              <a:ext cx="908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存储元</a:t>
              </a:r>
              <a:endParaRPr lang="zh-CN" altLang="en-US" sz="14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32" name="直接箭头连接符 231"/>
            <p:cNvCxnSpPr/>
            <p:nvPr>
              <p:custDataLst>
                <p:tags r:id="rId58"/>
              </p:custDataLst>
            </p:nvPr>
          </p:nvCxnSpPr>
          <p:spPr bwMode="auto">
            <a:xfrm flipH="1">
              <a:off x="8560" y="2834"/>
              <a:ext cx="0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33" name="直接箭头连接符 232"/>
            <p:cNvCxnSpPr/>
            <p:nvPr>
              <p:custDataLst>
                <p:tags r:id="rId59"/>
              </p:custDataLst>
            </p:nvPr>
          </p:nvCxnSpPr>
          <p:spPr bwMode="auto">
            <a:xfrm>
              <a:off x="9015" y="3117"/>
              <a:ext cx="11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34" name="直接箭头连接符 233"/>
            <p:cNvCxnSpPr/>
            <p:nvPr>
              <p:custDataLst>
                <p:tags r:id="rId60"/>
              </p:custDataLst>
            </p:nvPr>
          </p:nvCxnSpPr>
          <p:spPr bwMode="auto">
            <a:xfrm>
              <a:off x="7993" y="3117"/>
              <a:ext cx="11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35" name="直接箭头连接符 234"/>
            <p:cNvCxnSpPr/>
            <p:nvPr>
              <p:custDataLst>
                <p:tags r:id="rId61"/>
              </p:custDataLst>
            </p:nvPr>
          </p:nvCxnSpPr>
          <p:spPr bwMode="auto">
            <a:xfrm>
              <a:off x="9013" y="4024"/>
              <a:ext cx="11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cxnSp>
          <p:nvCxnSpPr>
            <p:cNvPr id="236" name="直接箭头连接符 235"/>
            <p:cNvCxnSpPr/>
            <p:nvPr>
              <p:custDataLst>
                <p:tags r:id="rId62"/>
              </p:custDataLst>
            </p:nvPr>
          </p:nvCxnSpPr>
          <p:spPr bwMode="auto">
            <a:xfrm>
              <a:off x="7993" y="4024"/>
              <a:ext cx="11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237" name="Text Box 24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9184" y="3969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cxnSp>
          <p:nvCxnSpPr>
            <p:cNvPr id="238" name="直接箭头连接符 237"/>
            <p:cNvCxnSpPr/>
            <p:nvPr>
              <p:custDataLst>
                <p:tags r:id="rId64"/>
              </p:custDataLst>
            </p:nvPr>
          </p:nvCxnSpPr>
          <p:spPr bwMode="auto">
            <a:xfrm>
              <a:off x="9215" y="3912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239" name="Text Box 7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5140" y="3344"/>
              <a:ext cx="34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0" rIns="18000" bIns="0" anchor="ctr" anchorCtr="1"/>
            <a:p>
              <a:pPr algn="ct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…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240" name="Text Box 125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3742" y="2834"/>
              <a:ext cx="397" cy="119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0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…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63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41" name="Text Box 126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1757" y="3231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11</a:t>
              </a:r>
              <a:r>
                <a:rPr lang="en-US" altLang="zh-CN" sz="1600" b="1" u="none" dirty="0">
                  <a:cs typeface="Times New Roman" panose="02020603050405020304" pitchFamily="18" charset="0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  <a:sym typeface="+mn-ea"/>
                </a:rPr>
                <a:t>6</a:t>
              </a:r>
              <a:endParaRPr lang="en-US" altLang="zh-CN" sz="1600" b="1" u="none" baseline="-20000" dirty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242" name="直接箭头连接符 241"/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2664" y="3367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43" name="直接箭头连接符 242"/>
            <p:cNvCxnSpPr/>
            <p:nvPr>
              <p:custDataLst>
                <p:tags r:id="rId69"/>
              </p:custDataLst>
            </p:nvPr>
          </p:nvCxnSpPr>
          <p:spPr bwMode="auto">
            <a:xfrm flipV="1">
              <a:off x="3628" y="2834"/>
              <a:ext cx="102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4" name="直接箭头连接符 243"/>
            <p:cNvCxnSpPr/>
            <p:nvPr>
              <p:custDataLst>
                <p:tags r:id="rId70"/>
              </p:custDataLst>
            </p:nvPr>
          </p:nvCxnSpPr>
          <p:spPr bwMode="auto">
            <a:xfrm flipV="1">
              <a:off x="3628" y="3741"/>
              <a:ext cx="102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45" name="Rectangle 101"/>
            <p:cNvSpPr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5896" y="4365"/>
              <a:ext cx="3402" cy="624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246" name="Text Box 26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4819" y="4252"/>
              <a:ext cx="794" cy="68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读写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电路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47" name="直接箭头连接符 246"/>
            <p:cNvCxnSpPr/>
            <p:nvPr>
              <p:custDataLst>
                <p:tags r:id="rId73"/>
              </p:custDataLst>
            </p:nvPr>
          </p:nvCxnSpPr>
          <p:spPr bwMode="auto">
            <a:xfrm>
              <a:off x="6066" y="4479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48" name="直接箭头连接符 247"/>
            <p:cNvCxnSpPr/>
            <p:nvPr>
              <p:custDataLst>
                <p:tags r:id="rId74"/>
              </p:custDataLst>
            </p:nvPr>
          </p:nvCxnSpPr>
          <p:spPr bwMode="auto">
            <a:xfrm>
              <a:off x="6236" y="4422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49" name="直接箭头连接符 248"/>
            <p:cNvCxnSpPr/>
            <p:nvPr>
              <p:custDataLst>
                <p:tags r:id="rId75"/>
              </p:custDataLst>
            </p:nvPr>
          </p:nvCxnSpPr>
          <p:spPr bwMode="auto">
            <a:xfrm>
              <a:off x="6321" y="4479"/>
              <a:ext cx="0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50" name="直接箭头连接符 249"/>
            <p:cNvCxnSpPr/>
            <p:nvPr>
              <p:custDataLst>
                <p:tags r:id="rId76"/>
              </p:custDataLst>
            </p:nvPr>
          </p:nvCxnSpPr>
          <p:spPr bwMode="auto">
            <a:xfrm>
              <a:off x="6321" y="4535"/>
              <a:ext cx="62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51" name="直接箭头连接符 250"/>
            <p:cNvCxnSpPr/>
            <p:nvPr>
              <p:custDataLst>
                <p:tags r:id="rId77"/>
              </p:custDataLst>
            </p:nvPr>
          </p:nvCxnSpPr>
          <p:spPr bwMode="auto">
            <a:xfrm>
              <a:off x="7030" y="4479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52" name="直接箭头连接符 251"/>
            <p:cNvCxnSpPr/>
            <p:nvPr>
              <p:custDataLst>
                <p:tags r:id="rId78"/>
              </p:custDataLst>
            </p:nvPr>
          </p:nvCxnSpPr>
          <p:spPr bwMode="auto">
            <a:xfrm>
              <a:off x="7030" y="4422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53" name="直接箭头连接符 252"/>
            <p:cNvCxnSpPr/>
            <p:nvPr>
              <p:custDataLst>
                <p:tags r:id="rId79"/>
              </p:custDataLst>
            </p:nvPr>
          </p:nvCxnSpPr>
          <p:spPr bwMode="auto">
            <a:xfrm>
              <a:off x="6945" y="4479"/>
              <a:ext cx="0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54" name="直接箭头连接符 253"/>
            <p:cNvCxnSpPr/>
            <p:nvPr>
              <p:custDataLst>
                <p:tags r:id="rId80"/>
              </p:custDataLst>
            </p:nvPr>
          </p:nvCxnSpPr>
          <p:spPr bwMode="auto">
            <a:xfrm>
              <a:off x="6066" y="4592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55" name="直接箭头连接符 254"/>
            <p:cNvCxnSpPr/>
            <p:nvPr>
              <p:custDataLst>
                <p:tags r:id="rId81"/>
              </p:custDataLst>
            </p:nvPr>
          </p:nvCxnSpPr>
          <p:spPr bwMode="auto">
            <a:xfrm>
              <a:off x="6066" y="4592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cxnSp>
          <p:nvCxnSpPr>
            <p:cNvPr id="256" name="直接箭头连接符 255"/>
            <p:cNvCxnSpPr/>
            <p:nvPr>
              <p:custDataLst>
                <p:tags r:id="rId82"/>
              </p:custDataLst>
            </p:nvPr>
          </p:nvCxnSpPr>
          <p:spPr bwMode="auto">
            <a:xfrm>
              <a:off x="7030" y="4592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57" name="直接箭头连接符 256"/>
            <p:cNvCxnSpPr/>
            <p:nvPr>
              <p:custDataLst>
                <p:tags r:id="rId83"/>
              </p:custDataLst>
            </p:nvPr>
          </p:nvCxnSpPr>
          <p:spPr bwMode="auto">
            <a:xfrm>
              <a:off x="7200" y="4592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cxnSp>
          <p:nvCxnSpPr>
            <p:cNvPr id="258" name="直接箭头连接符 257"/>
            <p:cNvCxnSpPr/>
            <p:nvPr>
              <p:custDataLst>
                <p:tags r:id="rId84"/>
              </p:custDataLst>
            </p:nvPr>
          </p:nvCxnSpPr>
          <p:spPr bwMode="auto">
            <a:xfrm>
              <a:off x="5612" y="4762"/>
              <a:ext cx="2381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259" name="Text Box 33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7427" y="4422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60" name="直接箭头连接符 259"/>
            <p:cNvCxnSpPr/>
            <p:nvPr>
              <p:custDataLst>
                <p:tags r:id="rId86"/>
              </p:custDataLst>
            </p:nvPr>
          </p:nvCxnSpPr>
          <p:spPr bwMode="auto">
            <a:xfrm>
              <a:off x="6636" y="4538"/>
              <a:ext cx="0" cy="737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63" name="直接箭头连接符 262"/>
            <p:cNvCxnSpPr/>
            <p:nvPr>
              <p:custDataLst>
                <p:tags r:id="rId87"/>
              </p:custDataLst>
            </p:nvPr>
          </p:nvCxnSpPr>
          <p:spPr bwMode="auto">
            <a:xfrm>
              <a:off x="5612" y="4875"/>
              <a:ext cx="3515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85" name="直接箭头连接符 284"/>
            <p:cNvCxnSpPr/>
            <p:nvPr>
              <p:custDataLst>
                <p:tags r:id="rId88"/>
              </p:custDataLst>
            </p:nvPr>
          </p:nvCxnSpPr>
          <p:spPr bwMode="auto">
            <a:xfrm>
              <a:off x="7993" y="4479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86" name="直接箭头连接符 285"/>
            <p:cNvCxnSpPr/>
            <p:nvPr>
              <p:custDataLst>
                <p:tags r:id="rId89"/>
              </p:custDataLst>
            </p:nvPr>
          </p:nvCxnSpPr>
          <p:spPr bwMode="auto">
            <a:xfrm>
              <a:off x="8163" y="4422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87" name="直接箭头连接符 286"/>
            <p:cNvCxnSpPr/>
            <p:nvPr>
              <p:custDataLst>
                <p:tags r:id="rId90"/>
              </p:custDataLst>
            </p:nvPr>
          </p:nvCxnSpPr>
          <p:spPr bwMode="auto">
            <a:xfrm>
              <a:off x="8248" y="4479"/>
              <a:ext cx="0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88" name="直接箭头连接符 287"/>
            <p:cNvCxnSpPr/>
            <p:nvPr>
              <p:custDataLst>
                <p:tags r:id="rId91"/>
              </p:custDataLst>
            </p:nvPr>
          </p:nvCxnSpPr>
          <p:spPr bwMode="auto">
            <a:xfrm>
              <a:off x="8248" y="4535"/>
              <a:ext cx="62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89" name="直接箭头连接符 288"/>
            <p:cNvCxnSpPr/>
            <p:nvPr>
              <p:custDataLst>
                <p:tags r:id="rId92"/>
              </p:custDataLst>
            </p:nvPr>
          </p:nvCxnSpPr>
          <p:spPr bwMode="auto">
            <a:xfrm>
              <a:off x="8957" y="4479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90" name="直接箭头连接符 289"/>
            <p:cNvCxnSpPr/>
            <p:nvPr>
              <p:custDataLst>
                <p:tags r:id="rId93"/>
              </p:custDataLst>
            </p:nvPr>
          </p:nvCxnSpPr>
          <p:spPr bwMode="auto">
            <a:xfrm>
              <a:off x="8957" y="4422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91" name="直接箭头连接符 290"/>
            <p:cNvCxnSpPr/>
            <p:nvPr>
              <p:custDataLst>
                <p:tags r:id="rId94"/>
              </p:custDataLst>
            </p:nvPr>
          </p:nvCxnSpPr>
          <p:spPr bwMode="auto">
            <a:xfrm>
              <a:off x="8872" y="4479"/>
              <a:ext cx="0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92" name="直接箭头连接符 291"/>
            <p:cNvCxnSpPr/>
            <p:nvPr>
              <p:custDataLst>
                <p:tags r:id="rId95"/>
              </p:custDataLst>
            </p:nvPr>
          </p:nvCxnSpPr>
          <p:spPr bwMode="auto">
            <a:xfrm>
              <a:off x="7993" y="4592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93" name="直接箭头连接符 292"/>
            <p:cNvCxnSpPr/>
            <p:nvPr>
              <p:custDataLst>
                <p:tags r:id="rId96"/>
              </p:custDataLst>
            </p:nvPr>
          </p:nvCxnSpPr>
          <p:spPr bwMode="auto">
            <a:xfrm>
              <a:off x="7993" y="4592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94" name="直接箭头连接符 293"/>
            <p:cNvCxnSpPr/>
            <p:nvPr>
              <p:custDataLst>
                <p:tags r:id="rId97"/>
              </p:custDataLst>
            </p:nvPr>
          </p:nvCxnSpPr>
          <p:spPr bwMode="auto">
            <a:xfrm>
              <a:off x="8957" y="4592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95" name="直接箭头连接符 294"/>
            <p:cNvCxnSpPr/>
            <p:nvPr>
              <p:custDataLst>
                <p:tags r:id="rId98"/>
              </p:custDataLst>
            </p:nvPr>
          </p:nvCxnSpPr>
          <p:spPr bwMode="auto">
            <a:xfrm>
              <a:off x="9127" y="4592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96" name="直接箭头连接符 295"/>
            <p:cNvCxnSpPr/>
            <p:nvPr>
              <p:custDataLst>
                <p:tags r:id="rId99"/>
              </p:custDataLst>
            </p:nvPr>
          </p:nvCxnSpPr>
          <p:spPr bwMode="auto">
            <a:xfrm>
              <a:off x="8561" y="4535"/>
              <a:ext cx="0" cy="737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297" name="Text Box 113"/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3401" y="4590"/>
              <a:ext cx="1134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horz" lIns="18000" tIns="10800" rIns="18000" bIns="10800" anchor="ctr"/>
            <a:p>
              <a:pPr algn="ctr"/>
              <a:r>
                <a:rPr lang="zh-CN" altLang="en-US" sz="1600" b="1" u="none" dirty="0"/>
                <a:t>驱动器</a:t>
              </a:r>
              <a:endParaRPr lang="zh-CN" altLang="en-US" sz="1600" b="1" u="none" dirty="0"/>
            </a:p>
          </p:txBody>
        </p:sp>
        <p:cxnSp>
          <p:nvCxnSpPr>
            <p:cNvPr id="298" name="直接箭头连接符 297"/>
            <p:cNvCxnSpPr/>
            <p:nvPr>
              <p:custDataLst>
                <p:tags r:id="rId101"/>
              </p:custDataLst>
            </p:nvPr>
          </p:nvCxnSpPr>
          <p:spPr bwMode="auto">
            <a:xfrm flipV="1">
              <a:off x="3231" y="4479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99" name="直接箭头连接符 298"/>
            <p:cNvCxnSpPr/>
            <p:nvPr>
              <p:custDataLst>
                <p:tags r:id="rId102"/>
              </p:custDataLst>
            </p:nvPr>
          </p:nvCxnSpPr>
          <p:spPr bwMode="auto">
            <a:xfrm flipH="1">
              <a:off x="3004" y="4762"/>
              <a:ext cx="39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00" name="直接箭头连接符 299"/>
            <p:cNvCxnSpPr/>
            <p:nvPr>
              <p:custDataLst>
                <p:tags r:id="rId103"/>
              </p:custDataLst>
            </p:nvPr>
          </p:nvCxnSpPr>
          <p:spPr bwMode="auto">
            <a:xfrm flipH="1">
              <a:off x="4535" y="4762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01" name="直接箭头连接符 300"/>
            <p:cNvCxnSpPr/>
            <p:nvPr>
              <p:custDataLst>
                <p:tags r:id="rId104"/>
              </p:custDataLst>
            </p:nvPr>
          </p:nvCxnSpPr>
          <p:spPr bwMode="auto">
            <a:xfrm flipV="1">
              <a:off x="3231" y="4479"/>
              <a:ext cx="158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02" name="Text Box 145"/>
            <p:cNvSpPr txBox="1">
              <a:spLocks noChangeArrowheads="1"/>
            </p:cNvSpPr>
            <p:nvPr>
              <p:custDataLst>
                <p:tags r:id="rId105"/>
              </p:custDataLst>
            </p:nvPr>
          </p:nvSpPr>
          <p:spPr bwMode="auto">
            <a:xfrm>
              <a:off x="1531" y="4592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marL="0" indent="0" algn="r" eaLnBrk="1" latinLnBrk="0" hangingPunct="1">
                <a:lnSpc>
                  <a:spcPct val="90000"/>
                </a:lnSpc>
              </a:pPr>
              <a:r>
                <a:rPr lang="zh-CN" altLang="en-US" sz="1600" b="1" u="none">
                  <a:latin typeface="宋体" panose="02010600030101010101" pitchFamily="2" charset="-122"/>
                </a:rPr>
                <a:t>数据</a:t>
              </a:r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cxnSp>
          <p:nvCxnSpPr>
            <p:cNvPr id="303" name="直接箭头连接符 302"/>
            <p:cNvCxnSpPr/>
            <p:nvPr>
              <p:custDataLst>
                <p:tags r:id="rId106"/>
              </p:custDataLst>
            </p:nvPr>
          </p:nvCxnSpPr>
          <p:spPr bwMode="auto">
            <a:xfrm flipV="1">
              <a:off x="2438" y="4763"/>
              <a:ext cx="56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304" name="直接箭头连接符 303"/>
            <p:cNvCxnSpPr/>
            <p:nvPr>
              <p:custDataLst>
                <p:tags r:id="rId107"/>
              </p:custDataLst>
            </p:nvPr>
          </p:nvCxnSpPr>
          <p:spPr bwMode="auto">
            <a:xfrm flipH="1">
              <a:off x="7200" y="3117"/>
              <a:ext cx="0" cy="1361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05" name="直接箭头连接符 304"/>
            <p:cNvCxnSpPr/>
            <p:nvPr>
              <p:custDataLst>
                <p:tags r:id="rId108"/>
              </p:custDataLst>
            </p:nvPr>
          </p:nvCxnSpPr>
          <p:spPr bwMode="auto">
            <a:xfrm flipH="1">
              <a:off x="9127" y="3117"/>
              <a:ext cx="0" cy="1361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06" name="直接箭头连接符 305"/>
            <p:cNvCxnSpPr/>
            <p:nvPr>
              <p:custDataLst>
                <p:tags r:id="rId109"/>
              </p:custDataLst>
            </p:nvPr>
          </p:nvCxnSpPr>
          <p:spPr bwMode="auto">
            <a:xfrm flipH="1">
              <a:off x="7993" y="3117"/>
              <a:ext cx="0" cy="1361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07" name="直接箭头连接符 306"/>
            <p:cNvCxnSpPr/>
            <p:nvPr>
              <p:custDataLst>
                <p:tags r:id="rId110"/>
              </p:custDataLst>
            </p:nvPr>
          </p:nvCxnSpPr>
          <p:spPr bwMode="auto">
            <a:xfrm flipH="1">
              <a:off x="6066" y="3117"/>
              <a:ext cx="0" cy="1361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308" name="Text Box 80"/>
            <p:cNvSpPr txBox="1"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7427" y="5046"/>
              <a:ext cx="454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80000"/>
                </a:lnSpc>
              </a:pP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4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09" name="直接箭头连接符 308"/>
            <p:cNvCxnSpPr/>
            <p:nvPr>
              <p:custDataLst>
                <p:tags r:id="rId112"/>
              </p:custDataLst>
            </p:nvPr>
          </p:nvCxnSpPr>
          <p:spPr bwMode="auto">
            <a:xfrm flipH="1" flipV="1">
              <a:off x="5046" y="4932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0" name="直接箭头连接符 309"/>
            <p:cNvCxnSpPr/>
            <p:nvPr>
              <p:custDataLst>
                <p:tags r:id="rId113"/>
              </p:custDataLst>
            </p:nvPr>
          </p:nvCxnSpPr>
          <p:spPr bwMode="auto">
            <a:xfrm flipH="1" flipV="1">
              <a:off x="5386" y="4932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11" name="Text Box 43"/>
            <p:cNvSpPr txBox="1">
              <a:spLocks noChangeArrowheads="1"/>
            </p:cNvSpPr>
            <p:nvPr>
              <p:custDataLst>
                <p:tags r:id="rId114"/>
              </p:custDataLst>
            </p:nvPr>
          </p:nvSpPr>
          <p:spPr bwMode="auto">
            <a:xfrm>
              <a:off x="6518" y="5273"/>
              <a:ext cx="21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译码器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12" name="Text Box 107"/>
            <p:cNvSpPr txBox="1">
              <a:spLocks noChangeArrowheads="1"/>
            </p:cNvSpPr>
            <p:nvPr>
              <p:custDataLst>
                <p:tags r:id="rId115"/>
              </p:custDataLst>
            </p:nvPr>
          </p:nvSpPr>
          <p:spPr bwMode="auto">
            <a:xfrm>
              <a:off x="5128" y="5840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写使能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WE</a:t>
              </a:r>
              <a:endParaRPr lang="en-US" altLang="zh-CN" sz="16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13" name="Text Box 139"/>
            <p:cNvSpPr txBox="1">
              <a:spLocks noChangeArrowheads="1"/>
            </p:cNvSpPr>
            <p:nvPr>
              <p:custDataLst>
                <p:tags r:id="rId116"/>
              </p:custDataLst>
            </p:nvPr>
          </p:nvSpPr>
          <p:spPr bwMode="auto">
            <a:xfrm>
              <a:off x="4478" y="5273"/>
              <a:ext cx="1361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/>
                <a:t>控制电路</a:t>
              </a:r>
              <a:endParaRPr lang="zh-CN" altLang="en-US" sz="1600" b="1" u="none" dirty="0"/>
            </a:p>
          </p:txBody>
        </p:sp>
        <p:sp>
          <p:nvSpPr>
            <p:cNvPr id="314" name="Text Box 149"/>
            <p:cNvSpPr txBox="1">
              <a:spLocks noChangeArrowheads="1"/>
            </p:cNvSpPr>
            <p:nvPr>
              <p:custDataLst>
                <p:tags r:id="rId117"/>
              </p:custDataLst>
            </p:nvPr>
          </p:nvSpPr>
          <p:spPr bwMode="auto">
            <a:xfrm>
              <a:off x="3994" y="5840"/>
              <a:ext cx="107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r>
                <a:rPr lang="zh-CN" altLang="en-US" sz="1600" b="1" u="none">
                  <a:solidFill>
                    <a:srgbClr val="FF3399"/>
                  </a:solidFill>
                  <a:latin typeface="宋体" panose="02010600030101010101" pitchFamily="2" charset="-122"/>
                </a:rPr>
                <a:t>片选</a:t>
              </a:r>
              <a:r>
                <a:rPr lang="en-US" altLang="zh-CN" sz="1600" b="1" u="none">
                  <a:solidFill>
                    <a:srgbClr val="FF3399"/>
                  </a:solidFill>
                  <a:latin typeface="宋体" panose="02010600030101010101" pitchFamily="2" charset="-122"/>
                </a:rPr>
                <a:t>CS</a:t>
              </a:r>
              <a:endParaRPr lang="en-US" altLang="zh-CN" sz="1600" b="1" u="none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15" name="直接箭头连接符 314"/>
            <p:cNvCxnSpPr/>
            <p:nvPr>
              <p:custDataLst>
                <p:tags r:id="rId118"/>
              </p:custDataLst>
            </p:nvPr>
          </p:nvCxnSpPr>
          <p:spPr bwMode="auto">
            <a:xfrm flipH="1" flipV="1">
              <a:off x="4706" y="5613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6" name="直接箭头连接符 315"/>
            <p:cNvCxnSpPr/>
            <p:nvPr>
              <p:custDataLst>
                <p:tags r:id="rId119"/>
              </p:custDataLst>
            </p:nvPr>
          </p:nvCxnSpPr>
          <p:spPr bwMode="auto">
            <a:xfrm flipH="1" flipV="1">
              <a:off x="5669" y="5613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7" name="直接箭头连接符 316"/>
            <p:cNvCxnSpPr/>
            <p:nvPr>
              <p:custDataLst>
                <p:tags r:id="rId120"/>
              </p:custDataLst>
            </p:nvPr>
          </p:nvCxnSpPr>
          <p:spPr bwMode="auto">
            <a:xfrm flipV="1">
              <a:off x="4658" y="5897"/>
              <a:ext cx="340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8" name="直接箭头连接符 317"/>
            <p:cNvCxnSpPr/>
            <p:nvPr>
              <p:custDataLst>
                <p:tags r:id="rId121"/>
              </p:custDataLst>
            </p:nvPr>
          </p:nvCxnSpPr>
          <p:spPr bwMode="auto">
            <a:xfrm flipV="1">
              <a:off x="6103" y="5897"/>
              <a:ext cx="340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9" name="直接箭头连接符 318"/>
            <p:cNvCxnSpPr/>
            <p:nvPr>
              <p:custDataLst>
                <p:tags r:id="rId122"/>
              </p:custDataLst>
            </p:nvPr>
          </p:nvCxnSpPr>
          <p:spPr bwMode="auto">
            <a:xfrm flipV="1">
              <a:off x="7597" y="5613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20" name="Text Box 126"/>
            <p:cNvSpPr txBox="1">
              <a:spLocks noChangeArrowheads="1"/>
            </p:cNvSpPr>
            <p:nvPr>
              <p:custDataLst>
                <p:tags r:id="rId123"/>
              </p:custDataLst>
            </p:nvPr>
          </p:nvSpPr>
          <p:spPr bwMode="auto">
            <a:xfrm>
              <a:off x="7280" y="5840"/>
              <a:ext cx="79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5</a:t>
              </a:r>
              <a:r>
                <a:rPr lang="en-US" altLang="zh-CN" sz="1600" b="1" u="none" dirty="0">
                  <a:cs typeface="Times New Roman" panose="02020603050405020304" pitchFamily="18" charset="0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  <a:sym typeface="+mn-ea"/>
                </a:rPr>
                <a:t>0</a:t>
              </a:r>
              <a:endParaRPr lang="en-US" altLang="zh-CN" sz="1600" b="1" u="none" baseline="-20000" dirty="0">
                <a:latin typeface="宋体" panose="02010600030101010101" pitchFamily="2" charset="-122"/>
                <a:sym typeface="+mn-ea"/>
              </a:endParaRPr>
            </a:p>
          </p:txBody>
        </p:sp>
        <p:sp>
          <p:nvSpPr>
            <p:cNvPr id="321" name="Text Box 149"/>
            <p:cNvSpPr txBox="1">
              <a:spLocks noChangeArrowheads="1"/>
            </p:cNvSpPr>
            <p:nvPr>
              <p:custDataLst>
                <p:tags r:id="rId124"/>
              </p:custDataLst>
            </p:nvPr>
          </p:nvSpPr>
          <p:spPr bwMode="auto">
            <a:xfrm>
              <a:off x="4592" y="4961"/>
              <a:ext cx="1191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/>
              <a:r>
                <a:rPr lang="zh-CN" sz="1400" b="1" u="none">
                  <a:solidFill>
                    <a:srgbClr val="FF3399"/>
                  </a:solidFill>
                  <a:latin typeface="宋体" panose="02010600030101010101" pitchFamily="2" charset="-122"/>
                </a:rPr>
                <a:t>读</a:t>
              </a:r>
              <a:r>
                <a:rPr lang="en-US" altLang="zh-CN" sz="1200" b="1" u="none">
                  <a:solidFill>
                    <a:srgbClr val="FF3399"/>
                  </a:solidFill>
                  <a:latin typeface="宋体" panose="02010600030101010101" pitchFamily="2" charset="-122"/>
                </a:rPr>
                <a:t>    </a:t>
              </a:r>
              <a:r>
                <a:rPr lang="zh-CN" sz="1400" b="1" u="none">
                  <a:solidFill>
                    <a:srgbClr val="FF3399"/>
                  </a:solidFill>
                  <a:latin typeface="宋体" panose="02010600030101010101" pitchFamily="2" charset="-122"/>
                </a:rPr>
                <a:t>写</a:t>
              </a:r>
              <a:endParaRPr lang="zh-CN" sz="1400" b="1" u="none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24" name="直接箭头连接符 323"/>
            <p:cNvCxnSpPr/>
            <p:nvPr>
              <p:custDataLst>
                <p:tags r:id="rId125"/>
              </p:custDataLst>
            </p:nvPr>
          </p:nvCxnSpPr>
          <p:spPr bwMode="auto">
            <a:xfrm>
              <a:off x="2608" y="4677"/>
              <a:ext cx="170" cy="17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325" name="Text Box 24"/>
            <p:cNvSpPr txBox="1">
              <a:spLocks noChangeArrowheads="1"/>
            </p:cNvSpPr>
            <p:nvPr>
              <p:custDataLst>
                <p:tags r:id="rId126"/>
              </p:custDataLst>
            </p:nvPr>
          </p:nvSpPr>
          <p:spPr bwMode="auto">
            <a:xfrm>
              <a:off x="2636" y="4507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w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</p:grpSp>
      <p:sp>
        <p:nvSpPr>
          <p:cNvPr id="327" name="Text Box 726"/>
          <p:cNvSpPr txBox="1">
            <a:spLocks noChangeArrowheads="1"/>
          </p:cNvSpPr>
          <p:nvPr>
            <p:custDataLst>
              <p:tags r:id="rId127"/>
            </p:custDataLst>
          </p:nvPr>
        </p:nvSpPr>
        <p:spPr bwMode="auto">
          <a:xfrm>
            <a:off x="3143650" y="4247510"/>
            <a:ext cx="4896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7780" rIns="18000" bIns="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/>
              <a:t>思考②</a:t>
            </a:r>
            <a:r>
              <a:rPr lang="zh-CN" altLang="en-US" sz="1800" dirty="0" smtClean="0"/>
              <a:t>：</a:t>
            </a:r>
            <a:r>
              <a:rPr lang="en-US" altLang="zh-CN" sz="1800" dirty="0" smtClean="0">
                <a:solidFill>
                  <a:schemeClr val="tx1"/>
                </a:solidFill>
              </a:rPr>
              <a:t>w</a:t>
            </a:r>
            <a:r>
              <a:rPr lang="zh-CN" altLang="en-US" sz="1800" dirty="0" smtClean="0">
                <a:solidFill>
                  <a:schemeClr val="tx1"/>
                </a:solidFill>
              </a:rPr>
              <a:t>＞</a:t>
            </a:r>
            <a:r>
              <a:rPr lang="en-US" altLang="zh-CN" sz="1800" dirty="0" smtClean="0">
                <a:solidFill>
                  <a:schemeClr val="tx1"/>
                </a:solidFill>
              </a:rPr>
              <a:t>1</a:t>
            </a:r>
            <a:r>
              <a:rPr lang="zh-CN" sz="1800" dirty="0" smtClean="0">
                <a:solidFill>
                  <a:schemeClr val="tx1"/>
                </a:solidFill>
              </a:rPr>
              <a:t>时的存储矩阵、译码器如何组织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？</a:t>
            </a:r>
            <a:endParaRPr lang="zh-CN" altLang="en-US" sz="1800" dirty="0" smtClean="0">
              <a:solidFill>
                <a:schemeClr val="tx1"/>
              </a:solidFill>
              <a:sym typeface="+mn-ea"/>
            </a:endParaRPr>
          </a:p>
        </p:txBody>
      </p:sp>
      <p:sp>
        <p:nvSpPr>
          <p:cNvPr id="53" name="AutoShape 338"/>
          <p:cNvSpPr/>
          <p:nvPr>
            <p:custDataLst>
              <p:tags r:id="rId128"/>
            </p:custDataLst>
          </p:nvPr>
        </p:nvSpPr>
        <p:spPr bwMode="auto">
          <a:xfrm>
            <a:off x="6407785" y="2771510"/>
            <a:ext cx="2419350" cy="252095"/>
          </a:xfrm>
          <a:prstGeom prst="borderCallout2">
            <a:avLst>
              <a:gd name="adj1" fmla="val 48292"/>
              <a:gd name="adj2" fmla="val 312"/>
              <a:gd name="adj3" fmla="val 44936"/>
              <a:gd name="adj4" fmla="val -8634"/>
              <a:gd name="adj5" fmla="val 341666"/>
              <a:gd name="adj6" fmla="val -41338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p>
            <a:pPr algn="ctr">
              <a:lnSpc>
                <a:spcPct val="90000"/>
              </a:lnSpc>
            </a:pPr>
            <a:r>
              <a:rPr lang="zh-CN" sz="1600" b="1" u="none" dirty="0" smtClean="0">
                <a:latin typeface="宋体" panose="02010600030101010101" pitchFamily="2" charset="-122"/>
                <a:sym typeface="+mn-ea"/>
              </a:rPr>
              <a:t>组织方法</a:t>
            </a:r>
            <a:r>
              <a:rPr lang="zh-CN" sz="1600" b="1" u="none" dirty="0" smtClean="0">
                <a:latin typeface="宋体" panose="02010600030101010101" pitchFamily="2" charset="-122"/>
              </a:rPr>
              <a:t>与存储矩阵匹配</a:t>
            </a:r>
            <a:endParaRPr lang="zh-CN" sz="16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6" name="AutoShape 338"/>
          <p:cNvSpPr/>
          <p:nvPr>
            <p:custDataLst>
              <p:tags r:id="rId129"/>
            </p:custDataLst>
          </p:nvPr>
        </p:nvSpPr>
        <p:spPr bwMode="auto">
          <a:xfrm>
            <a:off x="6408000" y="2447510"/>
            <a:ext cx="2088000" cy="252000"/>
          </a:xfrm>
          <a:prstGeom prst="borderCallout2">
            <a:avLst>
              <a:gd name="adj1" fmla="val 48292"/>
              <a:gd name="adj2" fmla="val 312"/>
              <a:gd name="adj3" fmla="val 47051"/>
              <a:gd name="adj4" fmla="val -7856"/>
              <a:gd name="adj5" fmla="val 226194"/>
              <a:gd name="adj6" fmla="val -28110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p>
            <a:pPr algn="ctr">
              <a:lnSpc>
                <a:spcPct val="90000"/>
              </a:lnSpc>
            </a:pPr>
            <a:r>
              <a:rPr lang="zh-CN" sz="1600" b="1" u="none" dirty="0" smtClean="0">
                <a:latin typeface="宋体" panose="02010600030101010101" pitchFamily="2" charset="-122"/>
              </a:rPr>
              <a:t>控制存储单元是否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I/O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48" name="AutoShape 338"/>
          <p:cNvSpPr/>
          <p:nvPr>
            <p:custDataLst>
              <p:tags r:id="rId130"/>
            </p:custDataLst>
          </p:nvPr>
        </p:nvSpPr>
        <p:spPr bwMode="auto">
          <a:xfrm>
            <a:off x="6408000" y="1871510"/>
            <a:ext cx="2016000" cy="504000"/>
          </a:xfrm>
          <a:prstGeom prst="borderCallout2">
            <a:avLst>
              <a:gd name="adj1" fmla="val 48292"/>
              <a:gd name="adj2" fmla="val 312"/>
              <a:gd name="adj3" fmla="val 48632"/>
              <a:gd name="adj4" fmla="val -8846"/>
              <a:gd name="adj5" fmla="val 90336"/>
              <a:gd name="adj6" fmla="val -25870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p>
            <a:pPr algn="ctr">
              <a:lnSpc>
                <a:spcPct val="90000"/>
              </a:lnSpc>
            </a:pPr>
            <a:r>
              <a:rPr lang="zh-CN" altLang="en-US" sz="1600" b="1" u="none" dirty="0" smtClean="0">
                <a:latin typeface="宋体" panose="02010600030101010101" pitchFamily="2" charset="-122"/>
              </a:rPr>
              <a:t>可为一维、二维形式</a:t>
            </a:r>
            <a:endParaRPr lang="zh-CN" altLang="en-US" sz="1600" b="1" u="none" dirty="0" smtClean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</a:pPr>
            <a:r>
              <a:rPr lang="en-US" altLang="zh-CN" sz="16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通常为</a:t>
            </a:r>
            <a:r>
              <a:rPr lang="zh-CN" altLang="en-US" sz="16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正方形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2" name="Text Box 77"/>
              <p:cNvSpPr txBox="1">
                <a:spLocks noChangeArrowheads="1"/>
              </p:cNvSpPr>
              <p:nvPr/>
            </p:nvSpPr>
            <p:spPr bwMode="auto">
              <a:xfrm>
                <a:off x="864235" y="4918075"/>
                <a:ext cx="5364000" cy="288290"/>
              </a:xfrm>
              <a:prstGeom prst="rect">
                <a:avLst/>
              </a:prstGeom>
              <a:noFill/>
              <a:ln w="12700">
                <a:solidFill>
                  <a:srgbClr val="990099"/>
                </a:solidFill>
                <a:prstDash val="sysDash"/>
                <a:miter lim="800000"/>
              </a:ln>
              <a:effectLst/>
            </p:spPr>
            <p:txBody>
              <a:bodyPr wrap="square" lIns="36195" tIns="17780" rIns="36195" bIns="0" anchor="t" anchorCtr="0">
                <a:noAutofit/>
              </a:bodyPr>
              <a:p>
                <a:pPr marL="1078230" indent="-107823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1" u="none" dirty="0" smtClean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思考③：</a:t>
                </a:r>
                <a:r>
                  <a:rPr lang="zh-CN" altLang="en-US" sz="1800" b="1" u="none" dirty="0" smtClean="0">
                    <a:latin typeface="宋体" panose="02010600030101010101" pitchFamily="2" charset="-122"/>
                  </a:rPr>
                  <a:t>为什么要设置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u="none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u="none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CS</m:t>
                        </m:r>
                      </m:e>
                    </m:acc>
                  </m:oMath>
                </a14:m>
                <a:r>
                  <a:rPr lang="zh-CN" altLang="en-US" sz="1800" b="1" u="none" dirty="0" smtClean="0">
                    <a:latin typeface="宋体" panose="02010600030101010101" pitchFamily="2" charset="-122"/>
                  </a:rPr>
                  <a:t>引脚？控制电路的逻辑是？</a:t>
                </a:r>
                <a:endParaRPr lang="zh-CN" altLang="en-US" sz="1800" b="1" u="none" dirty="0" smtClean="0">
                  <a:latin typeface="宋体" panose="02010600030101010101" pitchFamily="2" charset="-122"/>
                </a:endParaRPr>
              </a:p>
              <a:p>
                <a:pPr marL="1078230" indent="-107823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 </a:t>
                </a:r>
                <a:endParaRPr lang="en-US" altLang="zh-CN" sz="1800" b="1" u="none" dirty="0">
                  <a:latin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212" name="Text 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4235" y="4918075"/>
                <a:ext cx="5364000" cy="288290"/>
              </a:xfrm>
              <a:prstGeom prst="rect">
                <a:avLst/>
              </a:prstGeom>
              <a:blipFill rotWithShape="1">
                <a:blip r:embed="rId131"/>
                <a:stretch>
                  <a:fillRect l="-118" t="-2203" r="-115" b="-79295"/>
                </a:stretch>
              </a:blipFill>
              <a:ln w="12700">
                <a:solidFill>
                  <a:srgbClr val="990099"/>
                </a:solidFill>
                <a:prstDash val="sysDash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4335" name="AutoShape 159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132"/>
            </p:custDataLst>
          </p:nvPr>
        </p:nvSpPr>
        <p:spPr bwMode="auto">
          <a:xfrm rot="5400000">
            <a:off x="2988000" y="6525890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7" name="Text Box 726"/>
          <p:cNvSpPr txBox="1">
            <a:spLocks noChangeArrowheads="1"/>
          </p:cNvSpPr>
          <p:nvPr>
            <p:custDataLst>
              <p:tags r:id="rId133"/>
            </p:custDataLst>
          </p:nvPr>
        </p:nvSpPr>
        <p:spPr bwMode="auto">
          <a:xfrm>
            <a:off x="864000" y="5256000"/>
            <a:ext cx="4392000" cy="252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7780" rIns="18000" bIns="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</a:rPr>
              <a:t>SRAM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状态</a:t>
            </a:r>
            <a:r>
              <a:rPr lang="zh-CN" altLang="en-US" sz="1800" dirty="0">
                <a:solidFill>
                  <a:schemeClr val="tx1"/>
                </a:solidFill>
              </a:rPr>
              <a:t>有读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写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无操作</a:t>
            </a:r>
            <a:r>
              <a:rPr lang="en-US" altLang="zh-CN" sz="1800" dirty="0">
                <a:solidFill>
                  <a:schemeClr val="tx1"/>
                </a:solidFill>
              </a:rPr>
              <a:t>3</a:t>
            </a:r>
            <a:r>
              <a:rPr lang="zh-CN" altLang="en-US" sz="1800" dirty="0">
                <a:solidFill>
                  <a:schemeClr val="tx1"/>
                </a:solidFill>
              </a:rPr>
              <a:t>种，需</a:t>
            </a:r>
            <a:r>
              <a:rPr lang="en-US" altLang="zh-CN" sz="1800" dirty="0">
                <a:solidFill>
                  <a:schemeClr val="tx1"/>
                </a:solidFill>
              </a:rPr>
              <a:t>2</a:t>
            </a:r>
            <a:r>
              <a:rPr lang="zh-CN" altLang="en-US" sz="1800" dirty="0">
                <a:solidFill>
                  <a:schemeClr val="tx1"/>
                </a:solidFill>
              </a:rPr>
              <a:t>根引脚；</a:t>
            </a:r>
            <a:endParaRPr lang="zh-CN" altLang="en-US" sz="1800" dirty="0" smtClean="0">
              <a:solidFill>
                <a:schemeClr val="tx1"/>
              </a:solidFill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Box 726"/>
              <p:cNvSpPr txBox="1">
                <a:spLocks noChangeArrowheads="1"/>
              </p:cNvSpPr>
              <p:nvPr/>
            </p:nvSpPr>
            <p:spPr bwMode="auto">
              <a:xfrm>
                <a:off x="5292000" y="5256000"/>
                <a:ext cx="3708000" cy="252000"/>
              </a:xfrm>
              <a:prstGeom prst="rect">
                <a:avLst/>
              </a:prstGeom>
              <a:noFill/>
              <a:ln w="12700">
                <a:noFill/>
                <a:prstDash val="sysDash"/>
                <a:miter lim="800000"/>
              </a:ln>
              <a:effectLst/>
            </p:spPr>
            <p:txBody>
              <a:bodyPr wrap="square" lIns="18000" tIns="17780" rIns="18000" bIns="0" anchor="t" anchorCtr="0">
                <a:noAutofit/>
              </a:bodyPr>
              <a:lstStyle>
                <a:defPPr>
                  <a:defRPr lang="zh-CN"/>
                </a:defPPr>
                <a:lvl1pPr>
                  <a:lnSpc>
                    <a:spcPct val="125000"/>
                  </a:lnSpc>
                  <a:defRPr sz="2000" b="1" u="none">
                    <a:solidFill>
                      <a:srgbClr val="990099"/>
                    </a:solidFill>
                    <a:latin typeface="宋体" panose="02010600030101010101" pitchFamily="2" charset="-122"/>
                  </a:defRPr>
                </a:lvl1pPr>
              </a:lstStyle>
              <a:p>
                <a:pPr>
                  <a:lnSpc>
                    <a:spcPct val="90000"/>
                  </a:lnSpc>
                </a:pPr>
                <a:r>
                  <a:rPr lang="zh-CN" sz="1800" dirty="0">
                    <a:solidFill>
                      <a:schemeClr val="tx1"/>
                    </a:solidFill>
                  </a:rPr>
                  <a:t>读＝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(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~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u="none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u="none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CS</m:t>
                        </m:r>
                      </m:e>
                    </m:acc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</a:rPr>
                  <a:t>)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•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u="none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b="0" u="none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WE</m:t>
                        </m:r>
                      </m:e>
                    </m:acc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，</a:t>
                </a:r>
                <a:r>
                  <a:rPr lang="zh-CN" sz="1800" dirty="0">
                    <a:solidFill>
                      <a:schemeClr val="tx1"/>
                    </a:solidFill>
                    <a:sym typeface="+mn-ea"/>
                  </a:rPr>
                  <a:t>读＝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+mn-ea"/>
                  </a:rPr>
                  <a:t>(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~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u="none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u="none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CS</m:t>
                        </m:r>
                      </m:e>
                    </m:acc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sym typeface="+mn-ea"/>
                  </a:rPr>
                  <a:t>)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+mn-ea"/>
                  </a:rPr>
                  <a:t>•</a:t>
                </a:r>
                <a:r>
                  <a:rPr lang="en-US" altLang="zh-CN" sz="1800" dirty="0">
                    <a:solidFill>
                      <a:schemeClr val="tx1"/>
                    </a:solidFill>
                    <a:sym typeface="+mn-ea"/>
                  </a:rPr>
                  <a:t>(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~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u="none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b="0" u="none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WE</m:t>
                        </m:r>
                      </m:e>
                    </m:acc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sym typeface="+mn-ea"/>
                  </a:rPr>
                  <a:t>)</a:t>
                </a:r>
                <a:endParaRPr lang="en-US" altLang="zh-CN" sz="1800" dirty="0">
                  <a:solidFill>
                    <a:schemeClr val="tx1"/>
                  </a:solidFill>
                  <a:sym typeface="+mn-ea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  <a:sym typeface="+mn-ea"/>
                  </a:rPr>
                  <a:t> </a:t>
                </a:r>
                <a:endParaRPr lang="en-US" altLang="zh-CN" sz="1800" dirty="0">
                  <a:solidFill>
                    <a:schemeClr val="tx1"/>
                  </a:solidFill>
                  <a:sym typeface="+mn-ea"/>
                </a:endParaRPr>
              </a:p>
              <a:p>
                <a:pPr>
                  <a:lnSpc>
                    <a:spcPct val="90000"/>
                  </a:lnSpc>
                </a:pPr>
                <a:endParaRPr lang="en-US" altLang="zh-CN" sz="1800" dirty="0" smtClean="0">
                  <a:solidFill>
                    <a:schemeClr val="tx1"/>
                  </a:solidFill>
                  <a:sym typeface="+mn-ea"/>
                </a:endParaRPr>
              </a:p>
            </p:txBody>
          </p:sp>
        </mc:Choice>
        <mc:Fallback>
          <p:sp>
            <p:nvSpPr>
              <p:cNvPr id="8" name="Text Box 7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92000" y="5256000"/>
                <a:ext cx="3708000" cy="252000"/>
              </a:xfrm>
              <a:prstGeom prst="rect">
                <a:avLst/>
              </a:prstGeom>
              <a:blipFill rotWithShape="1">
                <a:blip r:embed="rId134"/>
                <a:stretch>
                  <a:fillRect l="-15" t="-42" r="4" b="-202843"/>
                </a:stretch>
              </a:blipFill>
              <a:ln w="12700">
                <a:noFill/>
                <a:prstDash val="sysDash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5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558" grpId="0"/>
      <p:bldP spid="48" grpId="0" bldLvl="0" animBg="1"/>
      <p:bldP spid="53" grpId="0" bldLvl="0" animBg="1"/>
      <p:bldP spid="2" grpId="0" bldLvl="0" animBg="1"/>
      <p:bldP spid="6" grpId="0" bldLvl="0" animBg="1"/>
      <p:bldP spid="4" grpId="0" bldLvl="0" animBg="1"/>
      <p:bldP spid="16" grpId="0" bldLvl="0" animBg="1"/>
      <p:bldP spid="5" grpId="0" bldLvl="0" animBg="1"/>
      <p:bldP spid="327" grpId="0" bldLvl="0" animBg="1"/>
      <p:bldP spid="7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6E566-16E7-4A69-AC88-13B1EA53468A}" type="slidenum">
              <a:rPr lang="en-US" altLang="zh-CN"/>
            </a:fld>
            <a:endParaRPr lang="en-US" altLang="zh-CN" dirty="0"/>
          </a:p>
        </p:txBody>
      </p:sp>
      <p:sp>
        <p:nvSpPr>
          <p:cNvPr id="93908" name="Text Box 724"/>
          <p:cNvSpPr txBox="1">
            <a:spLocks noChangeArrowheads="1"/>
          </p:cNvSpPr>
          <p:nvPr/>
        </p:nvSpPr>
        <p:spPr bwMode="auto">
          <a:xfrm>
            <a:off x="2411759" y="2132856"/>
            <a:ext cx="6552853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i="1" u="none" dirty="0" smtClean="0">
                <a:latin typeface="+mn-lt"/>
                <a:sym typeface="+mn-ea"/>
              </a:rPr>
              <a:t>w</a:t>
            </a:r>
            <a:r>
              <a:rPr lang="zh-CN" altLang="en-US" b="1" u="none" dirty="0">
                <a:latin typeface="宋体" panose="02010600030101010101" pitchFamily="2" charset="-122"/>
                <a:sym typeface="+mn-ea"/>
              </a:rPr>
              <a:t>位，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有单向、双向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2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种方式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分别为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2</a:t>
            </a:r>
            <a:r>
              <a:rPr lang="en-US" altLang="zh-CN" sz="1800" b="1" i="1" u="none" dirty="0" smtClean="0">
                <a:latin typeface="+mn-lt"/>
              </a:rPr>
              <a:t>w</a:t>
            </a:r>
            <a:r>
              <a:rPr lang="zh-CN" altLang="en-US" sz="1800" b="1" u="none" dirty="0">
                <a:latin typeface="宋体" panose="02010600030101010101" pitchFamily="2" charset="-122"/>
              </a:rPr>
              <a:t>根、</a:t>
            </a:r>
            <a:r>
              <a:rPr lang="en-US" altLang="zh-CN" sz="1800" b="1" i="1" u="none" dirty="0" smtClean="0">
                <a:latin typeface="+mn-lt"/>
              </a:rPr>
              <a:t>w</a:t>
            </a:r>
            <a:r>
              <a:rPr lang="zh-CN" altLang="en-US" sz="1800" b="1" u="none" dirty="0">
                <a:latin typeface="宋体" panose="02010600030101010101" pitchFamily="2" charset="-122"/>
              </a:rPr>
              <a:t>根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latin typeface="宋体" panose="02010600030101010101" pitchFamily="2" charset="-122"/>
              </a:rPr>
              <a:t>log</a:t>
            </a:r>
            <a:r>
              <a:rPr lang="en-US" altLang="zh-CN" b="1" u="none" baseline="-18000" dirty="0" smtClean="0">
                <a:latin typeface="宋体" panose="02010600030101010101" pitchFamily="2" charset="-122"/>
              </a:rPr>
              <a:t>2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(</a:t>
            </a:r>
            <a:r>
              <a:rPr lang="en-US" altLang="zh-CN" b="1" i="1" u="none" dirty="0" smtClean="0">
                <a:latin typeface="+mn-lt"/>
              </a:rPr>
              <a:t>S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/</a:t>
            </a:r>
            <a:r>
              <a:rPr lang="en-US" altLang="zh-CN" b="1" i="1" u="none" dirty="0" smtClean="0">
                <a:latin typeface="+mn-lt"/>
              </a:rPr>
              <a:t>w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b="1" i="1" u="none" dirty="0" smtClean="0">
                <a:latin typeface="+mn-lt"/>
              </a:rPr>
              <a:t>n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根         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←地址总是单向的</a:t>
            </a:r>
            <a:endParaRPr lang="en-US" altLang="zh-CN" b="1" i="1" u="none" dirty="0">
              <a:latin typeface="+mn-lt"/>
            </a:endParaRPr>
          </a:p>
        </p:txBody>
      </p:sp>
      <p:sp>
        <p:nvSpPr>
          <p:cNvPr id="93909" name="Text Box 725"/>
          <p:cNvSpPr txBox="1">
            <a:spLocks noChangeArrowheads="1"/>
          </p:cNvSpPr>
          <p:nvPr/>
        </p:nvSpPr>
        <p:spPr bwMode="auto">
          <a:xfrm>
            <a:off x="1187624" y="4427820"/>
            <a:ext cx="7272808" cy="646331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>
            <a:spAutoFit/>
          </a:bodyPr>
          <a:lstStyle/>
          <a:p>
            <a:pPr marL="1078230" indent="-1078230"/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某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SRAM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的容量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为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4Kbit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、数据</a:t>
            </a:r>
            <a:r>
              <a:rPr lang="zh-CN" altLang="en-US" sz="1800" b="1" u="none" dirty="0">
                <a:latin typeface="宋体" panose="02010600030101010101" pitchFamily="2" charset="-122"/>
              </a:rPr>
              <a:t>引脚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双向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有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8</a:t>
            </a:r>
            <a:r>
              <a:rPr lang="zh-CN" altLang="en-US" sz="1800" b="1" u="none" dirty="0">
                <a:latin typeface="宋体" panose="02010600030101010101" pitchFamily="2" charset="-122"/>
              </a:rPr>
              <a:t>根，地址引脚为多少根？若数据引脚改为</a:t>
            </a:r>
            <a:r>
              <a:rPr lang="en-US" altLang="zh-CN" sz="1800" b="1" u="none" dirty="0">
                <a:latin typeface="宋体" panose="02010600030101010101" pitchFamily="2" charset="-122"/>
              </a:rPr>
              <a:t>32</a:t>
            </a:r>
            <a:r>
              <a:rPr lang="zh-CN" altLang="en-US" sz="1800" b="1" u="none" dirty="0">
                <a:latin typeface="宋体" panose="02010600030101010101" pitchFamily="2" charset="-122"/>
              </a:rPr>
              <a:t>根，地址引脚为多少根？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sp>
        <p:nvSpPr>
          <p:cNvPr id="93910" name="Text Box 726"/>
          <p:cNvSpPr txBox="1">
            <a:spLocks noChangeArrowheads="1"/>
          </p:cNvSpPr>
          <p:nvPr/>
        </p:nvSpPr>
        <p:spPr bwMode="auto">
          <a:xfrm>
            <a:off x="1187624" y="5157192"/>
            <a:ext cx="7272808" cy="646331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marL="1078230" indent="-1078230">
              <a:lnSpc>
                <a:spcPct val="100000"/>
              </a:lnSpc>
            </a:pPr>
            <a:r>
              <a:rPr lang="zh-CN" altLang="en-US" sz="1800" dirty="0" smtClean="0"/>
              <a:t>思考</a:t>
            </a:r>
            <a:r>
              <a:rPr lang="zh-CN" altLang="en-US" sz="1800" dirty="0"/>
              <a:t>②</a:t>
            </a:r>
            <a:r>
              <a:rPr lang="zh-CN" altLang="en-US" sz="1800" dirty="0" smtClean="0"/>
              <a:t>：</a:t>
            </a:r>
            <a:r>
              <a:rPr lang="zh-CN" altLang="en-US" sz="1800" dirty="0" smtClean="0">
                <a:solidFill>
                  <a:schemeClr val="tx1"/>
                </a:solidFill>
              </a:rPr>
              <a:t>某</a:t>
            </a:r>
            <a:r>
              <a:rPr lang="en-US" altLang="zh-CN" sz="1800" dirty="0">
                <a:solidFill>
                  <a:schemeClr val="tx1"/>
                </a:solidFill>
              </a:rPr>
              <a:t>SRAM</a:t>
            </a:r>
            <a:r>
              <a:rPr lang="zh-CN" altLang="en-US" sz="1800" dirty="0">
                <a:solidFill>
                  <a:schemeClr val="tx1"/>
                </a:solidFill>
              </a:rPr>
              <a:t>的数据引脚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单向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r>
              <a:rPr lang="zh-CN" altLang="en-US" sz="1800" dirty="0">
                <a:solidFill>
                  <a:schemeClr val="tx1"/>
                </a:solidFill>
              </a:rPr>
              <a:t>为</a:t>
            </a:r>
            <a:r>
              <a:rPr lang="en-US" altLang="zh-CN" sz="1800" dirty="0">
                <a:solidFill>
                  <a:schemeClr val="tx1"/>
                </a:solidFill>
              </a:rPr>
              <a:t>8</a:t>
            </a:r>
            <a:r>
              <a:rPr lang="zh-CN" altLang="en-US" sz="1800" dirty="0">
                <a:solidFill>
                  <a:schemeClr val="tx1"/>
                </a:solidFill>
              </a:rPr>
              <a:t>根、地址引脚为</a:t>
            </a:r>
            <a:r>
              <a:rPr lang="en-US" altLang="zh-CN" sz="1800" dirty="0">
                <a:solidFill>
                  <a:schemeClr val="tx1"/>
                </a:solidFill>
              </a:rPr>
              <a:t>8</a:t>
            </a:r>
            <a:r>
              <a:rPr lang="zh-CN" altLang="en-US" sz="1800" dirty="0">
                <a:solidFill>
                  <a:schemeClr val="tx1"/>
                </a:solidFill>
              </a:rPr>
              <a:t>根，该芯片的容量为多少个字节？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2" name="Text Box 724"/>
          <p:cNvSpPr txBox="1">
            <a:spLocks noChangeArrowheads="1"/>
          </p:cNvSpPr>
          <p:nvPr/>
        </p:nvSpPr>
        <p:spPr bwMode="auto">
          <a:xfrm>
            <a:off x="2411760" y="3068960"/>
            <a:ext cx="6336704" cy="8771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+mn-ea"/>
                <a:ea typeface="+mn-ea"/>
              </a:rPr>
              <a:t>片选</a:t>
            </a:r>
            <a:r>
              <a:rPr lang="en-US" altLang="zh-CN" sz="1800" b="1" u="none" dirty="0" smtClean="0">
                <a:latin typeface="+mn-ea"/>
                <a:ea typeface="+mn-ea"/>
              </a:rPr>
              <a:t>(1</a:t>
            </a:r>
            <a:r>
              <a:rPr lang="zh-CN" altLang="en-US" sz="1800" b="1" u="none" dirty="0" smtClean="0">
                <a:latin typeface="+mn-ea"/>
                <a:ea typeface="+mn-ea"/>
              </a:rPr>
              <a:t>根</a:t>
            </a:r>
            <a:r>
              <a:rPr lang="en-US" altLang="zh-CN" sz="1800" b="1" u="none" dirty="0" smtClean="0">
                <a:latin typeface="+mn-ea"/>
                <a:ea typeface="+mn-ea"/>
              </a:rPr>
              <a:t>)</a:t>
            </a:r>
            <a:r>
              <a:rPr lang="en-US" altLang="zh-CN" b="1" u="none" dirty="0" smtClean="0">
                <a:latin typeface="+mn-ea"/>
                <a:ea typeface="+mn-ea"/>
              </a:rPr>
              <a:t>+</a:t>
            </a:r>
            <a:r>
              <a:rPr lang="zh-CN" altLang="en-US" b="1" u="none" dirty="0" smtClean="0">
                <a:latin typeface="+mn-ea"/>
                <a:ea typeface="+mn-ea"/>
              </a:rPr>
              <a:t>读</a:t>
            </a:r>
            <a:r>
              <a:rPr lang="en-US" altLang="zh-CN" b="1" u="none" dirty="0" smtClean="0">
                <a:latin typeface="+mn-ea"/>
                <a:ea typeface="+mn-ea"/>
              </a:rPr>
              <a:t>/</a:t>
            </a:r>
            <a:r>
              <a:rPr lang="zh-CN" altLang="en-US" b="1" u="none" dirty="0" smtClean="0">
                <a:latin typeface="+mn-ea"/>
                <a:ea typeface="+mn-ea"/>
              </a:rPr>
              <a:t>写</a:t>
            </a:r>
            <a:r>
              <a:rPr lang="en-US" altLang="zh-CN" sz="1800" b="1" u="none" dirty="0" smtClean="0">
                <a:latin typeface="+mn-ea"/>
                <a:ea typeface="+mn-ea"/>
              </a:rPr>
              <a:t>(1</a:t>
            </a:r>
            <a:r>
              <a:rPr lang="zh-CN" altLang="en-US" sz="1800" b="1" u="none" dirty="0" smtClean="0">
                <a:latin typeface="+mn-ea"/>
                <a:ea typeface="+mn-ea"/>
              </a:rPr>
              <a:t>根</a:t>
            </a:r>
            <a:r>
              <a:rPr lang="en-US" altLang="zh-CN" sz="1800" b="1" u="none" dirty="0" smtClean="0">
                <a:latin typeface="+mn-ea"/>
                <a:ea typeface="+mn-ea"/>
              </a:rPr>
              <a:t>)</a:t>
            </a:r>
            <a:r>
              <a:rPr lang="zh-CN" altLang="en-US" b="1" u="none" dirty="0" smtClean="0">
                <a:latin typeface="+mn-ea"/>
                <a:ea typeface="+mn-ea"/>
              </a:rPr>
              <a:t>     </a:t>
            </a:r>
            <a:r>
              <a:rPr lang="zh-CN" altLang="en-US" sz="1800" b="1" u="none" dirty="0" smtClean="0">
                <a:latin typeface="+mn-ea"/>
                <a:ea typeface="+mn-ea"/>
              </a:rPr>
              <a:t>←状态</a:t>
            </a:r>
            <a:r>
              <a:rPr lang="zh-CN" altLang="en-US" sz="1800" b="1" u="none" dirty="0">
                <a:latin typeface="+mn-ea"/>
                <a:ea typeface="+mn-ea"/>
              </a:rPr>
              <a:t>有</a:t>
            </a:r>
            <a:r>
              <a:rPr lang="en-US" altLang="zh-CN" sz="1800" b="1" u="none" dirty="0">
                <a:latin typeface="+mn-ea"/>
                <a:ea typeface="+mn-ea"/>
              </a:rPr>
              <a:t>3</a:t>
            </a:r>
            <a:r>
              <a:rPr lang="zh-CN" altLang="en-US" sz="1800" b="1" u="none" dirty="0" smtClean="0">
                <a:latin typeface="+mn-ea"/>
                <a:ea typeface="+mn-ea"/>
              </a:rPr>
              <a:t>种</a:t>
            </a:r>
            <a:r>
              <a:rPr lang="en-US" altLang="zh-CN" sz="1800" b="1" u="none" dirty="0" smtClean="0">
                <a:latin typeface="+mn-ea"/>
                <a:ea typeface="+mn-ea"/>
              </a:rPr>
              <a:t>[</a:t>
            </a:r>
            <a:r>
              <a:rPr lang="zh-CN" altLang="en-US" sz="1800" b="1" u="none" dirty="0" smtClean="0">
                <a:latin typeface="+mn-ea"/>
                <a:ea typeface="+mn-ea"/>
              </a:rPr>
              <a:t>读</a:t>
            </a:r>
            <a:r>
              <a:rPr lang="en-US" altLang="zh-CN" sz="1800" b="1" u="none" dirty="0" smtClean="0">
                <a:latin typeface="+mn-ea"/>
                <a:ea typeface="+mn-ea"/>
              </a:rPr>
              <a:t>/</a:t>
            </a:r>
            <a:r>
              <a:rPr lang="zh-CN" altLang="en-US" sz="1800" b="1" u="none" dirty="0" smtClean="0">
                <a:latin typeface="+mn-ea"/>
                <a:ea typeface="+mn-ea"/>
              </a:rPr>
              <a:t>写</a:t>
            </a:r>
            <a:r>
              <a:rPr lang="en-US" altLang="zh-CN" sz="1800" b="1" u="none" dirty="0" smtClean="0">
                <a:latin typeface="+mn-ea"/>
                <a:ea typeface="+mn-ea"/>
              </a:rPr>
              <a:t>/</a:t>
            </a:r>
            <a:r>
              <a:rPr lang="zh-CN" altLang="en-US" sz="1800" b="1" u="none" dirty="0" smtClean="0">
                <a:latin typeface="+mn-ea"/>
                <a:ea typeface="+mn-ea"/>
              </a:rPr>
              <a:t>闲</a:t>
            </a:r>
            <a:r>
              <a:rPr lang="en-US" altLang="zh-CN" sz="1800" b="1" u="none" dirty="0" smtClean="0">
                <a:latin typeface="+mn-ea"/>
                <a:ea typeface="+mn-ea"/>
              </a:rPr>
              <a:t>]</a:t>
            </a:r>
            <a:endParaRPr lang="en-US" altLang="zh-CN" sz="2000" b="1" i="1" u="none" dirty="0">
              <a:latin typeface="+mn-ea"/>
              <a:ea typeface="+mn-ea"/>
            </a:endParaRPr>
          </a:p>
          <a:p>
            <a:pPr>
              <a:lnSpc>
                <a:spcPct val="105000"/>
              </a:lnSpc>
            </a:pPr>
            <a:r>
              <a:rPr lang="en-US" altLang="zh-CN" sz="2000" b="1" u="none" dirty="0" smtClean="0">
                <a:latin typeface="+mn-ea"/>
                <a:ea typeface="+mn-ea"/>
              </a:rPr>
              <a:t>                           </a:t>
            </a:r>
            <a:r>
              <a:rPr lang="zh-CN" altLang="en-US" sz="1800" b="1" u="none" dirty="0" smtClean="0">
                <a:latin typeface="+mn-ea"/>
                <a:ea typeface="+mn-ea"/>
              </a:rPr>
              <a:t>←有效电平可为高</a:t>
            </a:r>
            <a:r>
              <a:rPr lang="en-US" altLang="zh-CN" sz="1800" b="1" u="none" dirty="0" smtClean="0">
                <a:latin typeface="+mn-ea"/>
                <a:ea typeface="+mn-ea"/>
              </a:rPr>
              <a:t>/</a:t>
            </a:r>
            <a:r>
              <a:rPr lang="zh-CN" altLang="en-US" sz="1800" b="1" u="none" dirty="0" smtClean="0">
                <a:latin typeface="+mn-ea"/>
                <a:ea typeface="+mn-ea"/>
              </a:rPr>
              <a:t>低</a:t>
            </a:r>
            <a:endParaRPr lang="en-US" altLang="zh-CN" sz="1800" b="1" i="1" u="none" dirty="0">
              <a:latin typeface="+mn-ea"/>
              <a:ea typeface="+mn-ea"/>
            </a:endParaRPr>
          </a:p>
        </p:txBody>
      </p:sp>
      <p:sp>
        <p:nvSpPr>
          <p:cNvPr id="14" name="Text Box 726"/>
          <p:cNvSpPr txBox="1">
            <a:spLocks noChangeArrowheads="1"/>
          </p:cNvSpPr>
          <p:nvPr/>
        </p:nvSpPr>
        <p:spPr bwMode="auto">
          <a:xfrm>
            <a:off x="1187624" y="5877272"/>
            <a:ext cx="7272808" cy="369332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marL="1078230" indent="-1078230">
              <a:lnSpc>
                <a:spcPct val="100000"/>
              </a:lnSpc>
            </a:pPr>
            <a:r>
              <a:rPr lang="zh-CN" altLang="en-US" sz="1800" dirty="0" smtClean="0"/>
              <a:t>思考③：</a:t>
            </a:r>
            <a:r>
              <a:rPr lang="en-US" altLang="zh-CN" sz="1800" dirty="0" smtClean="0">
                <a:solidFill>
                  <a:schemeClr val="tx1"/>
                </a:solidFill>
              </a:rPr>
              <a:t>1K×4</a:t>
            </a:r>
            <a:r>
              <a:rPr lang="zh-CN" altLang="en-US" sz="1800" dirty="0" smtClean="0">
                <a:solidFill>
                  <a:schemeClr val="tx1"/>
                </a:solidFill>
              </a:rPr>
              <a:t>位</a:t>
            </a:r>
            <a:r>
              <a:rPr lang="en-US" altLang="zh-CN" sz="1800" dirty="0" smtClean="0">
                <a:solidFill>
                  <a:schemeClr val="tx1"/>
                </a:solidFill>
              </a:rPr>
              <a:t>SRAM</a:t>
            </a:r>
            <a:r>
              <a:rPr lang="zh-CN" altLang="en-US" sz="1800" dirty="0" smtClean="0">
                <a:solidFill>
                  <a:schemeClr val="tx1"/>
                </a:solidFill>
              </a:rPr>
              <a:t>中，除电源信号线外，其余信号线至少多少根？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5" name="Text Box 723"/>
          <p:cNvSpPr txBox="1">
            <a:spLocks noChangeArrowheads="1"/>
          </p:cNvSpPr>
          <p:nvPr/>
        </p:nvSpPr>
        <p:spPr bwMode="auto">
          <a:xfrm>
            <a:off x="179388" y="367719"/>
            <a:ext cx="8785225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</a:t>
            </a: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2)SRAM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引脚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组织</a:t>
            </a:r>
            <a:endParaRPr lang="zh-CN" altLang="en-US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   若存储单元</a:t>
            </a:r>
            <a:r>
              <a:rPr lang="zh-CN" altLang="en-US" b="1" u="none" dirty="0">
                <a:latin typeface="宋体" panose="02010600030101010101" pitchFamily="2" charset="-122"/>
              </a:rPr>
              <a:t>长度为</a:t>
            </a:r>
            <a:r>
              <a:rPr lang="en-US" altLang="zh-CN" b="1" i="1" u="none" dirty="0"/>
              <a:t>w</a:t>
            </a:r>
            <a:r>
              <a:rPr lang="zh-CN" altLang="en-US" b="1" u="none" dirty="0"/>
              <a:t>、</a:t>
            </a:r>
            <a:r>
              <a:rPr lang="zh-CN" altLang="en-US" b="1" u="none" dirty="0">
                <a:latin typeface="宋体" panose="02010600030101010101" pitchFamily="2" charset="-122"/>
              </a:rPr>
              <a:t>存储单元个数为</a:t>
            </a:r>
            <a:r>
              <a:rPr lang="en-US" altLang="zh-CN" b="1" u="none" dirty="0">
                <a:latin typeface="宋体" panose="02010600030101010101" pitchFamily="2" charset="-122"/>
              </a:rPr>
              <a:t>2</a:t>
            </a:r>
            <a:r>
              <a:rPr lang="en-US" altLang="zh-CN" b="1" i="1" u="none" baseline="30000" dirty="0"/>
              <a:t>n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，则</a:t>
            </a:r>
            <a:r>
              <a:rPr lang="zh-CN" altLang="en-US" b="1" u="none" dirty="0">
                <a:latin typeface="宋体" panose="02010600030101010101" pitchFamily="2" charset="-122"/>
              </a:rPr>
              <a:t>容量</a:t>
            </a:r>
            <a:r>
              <a:rPr lang="en-US" altLang="zh-CN" b="1" i="1" u="none" dirty="0"/>
              <a:t>S</a:t>
            </a:r>
            <a:r>
              <a:rPr lang="zh-CN" altLang="en-US" b="1" u="none" dirty="0">
                <a:latin typeface="宋体" panose="02010600030101010101" pitchFamily="2" charset="-122"/>
              </a:rPr>
              <a:t>＝</a:t>
            </a:r>
            <a:r>
              <a:rPr lang="en-US" altLang="zh-CN" b="1" u="none" dirty="0">
                <a:latin typeface="宋体" panose="02010600030101010101" pitchFamily="2" charset="-122"/>
              </a:rPr>
              <a:t>2</a:t>
            </a:r>
            <a:r>
              <a:rPr lang="en-US" altLang="zh-CN" b="1" i="1" u="none" baseline="30000" dirty="0"/>
              <a:t>n</a:t>
            </a:r>
            <a:r>
              <a:rPr lang="en-US" altLang="zh-CN" b="1" u="none" dirty="0">
                <a:latin typeface="宋体" panose="02010600030101010101" pitchFamily="2" charset="-122"/>
              </a:rPr>
              <a:t>×</a:t>
            </a:r>
            <a:r>
              <a:rPr lang="en-US" altLang="zh-CN" b="1" i="1" u="none" dirty="0"/>
              <a:t>w</a:t>
            </a:r>
            <a:endParaRPr lang="en-US" altLang="zh-CN" b="1" u="none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参数标识：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Text Box 723"/>
          <p:cNvSpPr txBox="1">
            <a:spLocks noChangeArrowheads="1"/>
          </p:cNvSpPr>
          <p:nvPr/>
        </p:nvSpPr>
        <p:spPr bwMode="auto">
          <a:xfrm>
            <a:off x="179513" y="1700808"/>
            <a:ext cx="2520280" cy="19759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*引脚组织：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b="1" u="none" dirty="0" smtClean="0">
                <a:solidFill>
                  <a:schemeClr val="accent2"/>
                </a:solidFill>
                <a:latin typeface="+mn-ea"/>
                <a:ea typeface="+mn-ea"/>
              </a:rPr>
              <a:t>数据引脚</a:t>
            </a:r>
            <a:r>
              <a:rPr lang="en-US" altLang="zh-CN" b="1" u="none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US" altLang="zh-CN" b="1" u="none" dirty="0" smtClean="0">
                <a:solidFill>
                  <a:schemeClr val="accent2"/>
                </a:solidFill>
                <a:latin typeface="+mn-ea"/>
                <a:ea typeface="+mn-ea"/>
              </a:rPr>
              <a:t>   </a:t>
            </a:r>
            <a:r>
              <a:rPr lang="zh-CN" altLang="en-US" b="1" u="none" dirty="0" smtClean="0">
                <a:solidFill>
                  <a:schemeClr val="accent2"/>
                </a:solidFill>
                <a:latin typeface="+mn-ea"/>
                <a:ea typeface="+mn-ea"/>
              </a:rPr>
              <a:t>地址引脚</a:t>
            </a:r>
            <a:r>
              <a:rPr lang="en-US" altLang="zh-CN" b="1" u="none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3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US" altLang="zh-CN" b="1" u="none" dirty="0" smtClean="0">
                <a:solidFill>
                  <a:schemeClr val="accent2"/>
                </a:solidFill>
                <a:latin typeface="+mn-ea"/>
                <a:ea typeface="+mn-ea"/>
              </a:rPr>
              <a:t>   </a:t>
            </a:r>
            <a:r>
              <a:rPr lang="zh-CN" altLang="en-US" b="1" u="none" dirty="0" smtClean="0">
                <a:solidFill>
                  <a:schemeClr val="accent2"/>
                </a:solidFill>
                <a:latin typeface="+mn-ea"/>
                <a:ea typeface="+mn-ea"/>
              </a:rPr>
              <a:t>控制引脚</a:t>
            </a:r>
            <a:r>
              <a:rPr lang="en-US" altLang="zh-CN" b="1" u="none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9" name="Text Box 726"/>
          <p:cNvSpPr txBox="1">
            <a:spLocks noChangeArrowheads="1"/>
          </p:cNvSpPr>
          <p:nvPr/>
        </p:nvSpPr>
        <p:spPr bwMode="auto">
          <a:xfrm>
            <a:off x="2051720" y="1290826"/>
            <a:ext cx="5400600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地址空间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×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数据位数，如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1K×8b SRAM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783473" y="4077072"/>
            <a:ext cx="1572591" cy="144016"/>
            <a:chOff x="3215521" y="4437112"/>
            <a:chExt cx="1572591" cy="144016"/>
          </a:xfrm>
        </p:grpSpPr>
        <p:cxnSp>
          <p:nvCxnSpPr>
            <p:cNvPr id="16" name="直接箭头连接符 15"/>
            <p:cNvCxnSpPr/>
            <p:nvPr/>
          </p:nvCxnSpPr>
          <p:spPr bwMode="auto">
            <a:xfrm>
              <a:off x="3215521" y="4437112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0" name="直接箭头连接符 19"/>
            <p:cNvCxnSpPr/>
            <p:nvPr/>
          </p:nvCxnSpPr>
          <p:spPr bwMode="auto">
            <a:xfrm>
              <a:off x="3215521" y="4581128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1" name="直接箭头连接符 20"/>
            <p:cNvCxnSpPr/>
            <p:nvPr/>
          </p:nvCxnSpPr>
          <p:spPr bwMode="auto">
            <a:xfrm>
              <a:off x="4500112" y="4437112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2" name="直接箭头连接符 21"/>
            <p:cNvCxnSpPr/>
            <p:nvPr/>
          </p:nvCxnSpPr>
          <p:spPr bwMode="auto">
            <a:xfrm>
              <a:off x="4500112" y="4581128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</p:grpSp>
      <p:grpSp>
        <p:nvGrpSpPr>
          <p:cNvPr id="23" name="组合 22"/>
          <p:cNvGrpSpPr/>
          <p:nvPr/>
        </p:nvGrpSpPr>
        <p:grpSpPr>
          <a:xfrm>
            <a:off x="2771800" y="3717032"/>
            <a:ext cx="2520280" cy="576064"/>
            <a:chOff x="3203848" y="4077072"/>
            <a:chExt cx="2520280" cy="576064"/>
          </a:xfrm>
        </p:grpSpPr>
        <p:sp>
          <p:nvSpPr>
            <p:cNvPr id="24" name="Text Box 118"/>
            <p:cNvSpPr txBox="1">
              <a:spLocks noChangeArrowheads="1"/>
            </p:cNvSpPr>
            <p:nvPr/>
          </p:nvSpPr>
          <p:spPr bwMode="auto">
            <a:xfrm>
              <a:off x="3491880" y="4077072"/>
              <a:ext cx="648000" cy="5760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spcBef>
                  <a:spcPts val="0"/>
                </a:spcBef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SRAM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5" name="直接箭头连接符 24"/>
            <p:cNvCxnSpPr/>
            <p:nvPr/>
          </p:nvCxnSpPr>
          <p:spPr bwMode="auto">
            <a:xfrm>
              <a:off x="3203848" y="4149080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" name="直接箭头连接符 25"/>
            <p:cNvCxnSpPr/>
            <p:nvPr/>
          </p:nvCxnSpPr>
          <p:spPr bwMode="auto">
            <a:xfrm>
              <a:off x="3203848" y="4293096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27" name="Text Box 118"/>
            <p:cNvSpPr txBox="1">
              <a:spLocks noChangeArrowheads="1"/>
            </p:cNvSpPr>
            <p:nvPr/>
          </p:nvSpPr>
          <p:spPr bwMode="auto">
            <a:xfrm>
              <a:off x="4788024" y="4077136"/>
              <a:ext cx="648000" cy="5760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spcBef>
                  <a:spcPts val="0"/>
                </a:spcBef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SRAM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8" name="直接箭头连接符 27"/>
            <p:cNvCxnSpPr/>
            <p:nvPr/>
          </p:nvCxnSpPr>
          <p:spPr bwMode="auto">
            <a:xfrm>
              <a:off x="4500032" y="4149080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9" name="直接箭头连接符 28"/>
            <p:cNvCxnSpPr/>
            <p:nvPr/>
          </p:nvCxnSpPr>
          <p:spPr bwMode="auto">
            <a:xfrm>
              <a:off x="4500032" y="4293096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" name="直接箭头连接符 29"/>
            <p:cNvCxnSpPr/>
            <p:nvPr/>
          </p:nvCxnSpPr>
          <p:spPr bwMode="auto">
            <a:xfrm>
              <a:off x="5436128" y="4293096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908" grpId="0" bldLvl="0" animBg="1"/>
      <p:bldP spid="93909" grpId="0" animBg="1"/>
      <p:bldP spid="93910" grpId="0" animBg="1"/>
      <p:bldP spid="12" grpId="0"/>
      <p:bldP spid="14" grpId="0" animBg="1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" name="组合 549"/>
          <p:cNvGrpSpPr/>
          <p:nvPr/>
        </p:nvGrpSpPr>
        <p:grpSpPr>
          <a:xfrm>
            <a:off x="1619672" y="2780928"/>
            <a:ext cx="6232132" cy="3286099"/>
            <a:chOff x="1619672" y="2420888"/>
            <a:chExt cx="6232132" cy="3286099"/>
          </a:xfrm>
        </p:grpSpPr>
        <p:sp>
          <p:nvSpPr>
            <p:cNvPr id="551" name="Rectangle 475"/>
            <p:cNvSpPr>
              <a:spLocks noChangeArrowheads="1"/>
            </p:cNvSpPr>
            <p:nvPr/>
          </p:nvSpPr>
          <p:spPr bwMode="auto">
            <a:xfrm>
              <a:off x="1619672" y="5119290"/>
              <a:ext cx="1109635" cy="587697"/>
            </a:xfrm>
            <a:prstGeom prst="rect">
              <a:avLst/>
            </a:prstGeom>
            <a:solidFill>
              <a:srgbClr val="CCCCFF">
                <a:alpha val="85000"/>
              </a:srgbClr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2" name="Text Box 460"/>
            <p:cNvSpPr txBox="1">
              <a:spLocks noChangeArrowheads="1"/>
            </p:cNvSpPr>
            <p:nvPr/>
          </p:nvSpPr>
          <p:spPr bwMode="auto">
            <a:xfrm>
              <a:off x="1731991" y="2420888"/>
              <a:ext cx="358775" cy="110611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行译码器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53" name="Text Box 467"/>
            <p:cNvSpPr txBox="1">
              <a:spLocks noChangeArrowheads="1"/>
            </p:cNvSpPr>
            <p:nvPr/>
          </p:nvSpPr>
          <p:spPr bwMode="auto">
            <a:xfrm>
              <a:off x="4033866" y="5299943"/>
              <a:ext cx="3530600" cy="28892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>
                  <a:latin typeface="宋体" panose="02010600030101010101" pitchFamily="2" charset="-122"/>
                </a:rPr>
                <a:t>列译码器</a:t>
              </a:r>
              <a:endParaRPr lang="zh-CN" altLang="en-US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556" name="Text Box 576"/>
            <p:cNvSpPr txBox="1">
              <a:spLocks noChangeArrowheads="1"/>
            </p:cNvSpPr>
            <p:nvPr/>
          </p:nvSpPr>
          <p:spPr bwMode="auto">
            <a:xfrm>
              <a:off x="2123405" y="2515766"/>
              <a:ext cx="360363" cy="12255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Y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  <a:p>
              <a:pPr algn="ctr">
                <a:lnSpc>
                  <a:spcPct val="115000"/>
                </a:lnSpc>
              </a:pPr>
              <a:endParaRPr lang="en-US" altLang="zh-CN" sz="1800" b="1" u="none" baseline="-20000" dirty="0">
                <a:latin typeface="宋体" panose="02010600030101010101" pitchFamily="2" charset="-122"/>
              </a:endParaRPr>
            </a:p>
            <a:p>
              <a:pPr algn="ctr">
                <a:lnSpc>
                  <a:spcPct val="115000"/>
                </a:lnSpc>
              </a:pPr>
              <a:endParaRPr lang="en-US" altLang="zh-CN" sz="1800" b="1" u="none" baseline="-20000" dirty="0">
                <a:latin typeface="宋体" panose="02010600030101010101" pitchFamily="2" charset="-122"/>
              </a:endParaRPr>
            </a:p>
            <a:p>
              <a:pPr algn="ctr">
                <a:lnSpc>
                  <a:spcPct val="115000"/>
                </a:lnSpc>
              </a:pPr>
              <a:endParaRPr lang="en-US" altLang="zh-CN" sz="1800" b="1" u="none" baseline="-20000" dirty="0">
                <a:latin typeface="宋体" panose="02010600030101010101" pitchFamily="2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Y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63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57" name="Text Box 578"/>
            <p:cNvSpPr txBox="1">
              <a:spLocks noChangeArrowheads="1"/>
            </p:cNvSpPr>
            <p:nvPr/>
          </p:nvSpPr>
          <p:spPr bwMode="auto">
            <a:xfrm>
              <a:off x="4106891" y="5013300"/>
              <a:ext cx="3744913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Y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/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                        </a:t>
              </a:r>
              <a:r>
                <a:rPr lang="en-US" altLang="zh-CN" sz="1800" b="1" u="none" dirty="0"/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Y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15</a:t>
              </a:r>
              <a:endParaRPr lang="en-US" altLang="zh-CN" sz="18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558" name="Text Box 559"/>
            <p:cNvSpPr txBox="1">
              <a:spLocks noChangeArrowheads="1"/>
            </p:cNvSpPr>
            <p:nvPr/>
          </p:nvSpPr>
          <p:spPr bwMode="auto">
            <a:xfrm>
              <a:off x="1658967" y="5155805"/>
              <a:ext cx="431800" cy="2159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&amp;</a:t>
              </a:r>
              <a:endParaRPr lang="en-US" altLang="zh-CN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559" name="Oval 560"/>
            <p:cNvSpPr>
              <a:spLocks noChangeArrowheads="1"/>
            </p:cNvSpPr>
            <p:nvPr/>
          </p:nvSpPr>
          <p:spPr bwMode="auto">
            <a:xfrm>
              <a:off x="1692304" y="5371705"/>
              <a:ext cx="71438" cy="7143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0" name="Oval 561"/>
            <p:cNvSpPr>
              <a:spLocks noChangeArrowheads="1"/>
            </p:cNvSpPr>
            <p:nvPr/>
          </p:nvSpPr>
          <p:spPr bwMode="auto">
            <a:xfrm>
              <a:off x="1984404" y="5371705"/>
              <a:ext cx="71438" cy="7143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1" name="Oval 562"/>
            <p:cNvSpPr>
              <a:spLocks noChangeArrowheads="1"/>
            </p:cNvSpPr>
            <p:nvPr/>
          </p:nvSpPr>
          <p:spPr bwMode="auto">
            <a:xfrm>
              <a:off x="1697067" y="5625705"/>
              <a:ext cx="71438" cy="71438"/>
            </a:xfrm>
            <a:prstGeom prst="ellipse">
              <a:avLst/>
            </a:prstGeom>
            <a:solidFill>
              <a:srgbClr val="FF3399"/>
            </a:solidFill>
            <a:ln w="19050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2" name="Line 563"/>
            <p:cNvSpPr>
              <a:spLocks noChangeShapeType="1"/>
            </p:cNvSpPr>
            <p:nvPr/>
          </p:nvSpPr>
          <p:spPr bwMode="auto">
            <a:xfrm flipH="1" flipV="1">
              <a:off x="2019329" y="5587605"/>
              <a:ext cx="576263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" name="Line 565"/>
            <p:cNvSpPr>
              <a:spLocks noChangeShapeType="1"/>
            </p:cNvSpPr>
            <p:nvPr/>
          </p:nvSpPr>
          <p:spPr bwMode="auto">
            <a:xfrm flipV="1">
              <a:off x="2306667" y="5443143"/>
              <a:ext cx="0" cy="2159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" name="Text Box 568"/>
            <p:cNvSpPr txBox="1">
              <a:spLocks noChangeArrowheads="1"/>
            </p:cNvSpPr>
            <p:nvPr/>
          </p:nvSpPr>
          <p:spPr bwMode="auto">
            <a:xfrm>
              <a:off x="2235229" y="5155805"/>
              <a:ext cx="431800" cy="2159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&amp;</a:t>
              </a:r>
              <a:endParaRPr lang="en-US" altLang="zh-CN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565" name="Oval 569"/>
            <p:cNvSpPr>
              <a:spLocks noChangeArrowheads="1"/>
            </p:cNvSpPr>
            <p:nvPr/>
          </p:nvSpPr>
          <p:spPr bwMode="auto">
            <a:xfrm>
              <a:off x="2268567" y="5371705"/>
              <a:ext cx="71438" cy="7143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6" name="Line 571"/>
            <p:cNvSpPr>
              <a:spLocks noChangeShapeType="1"/>
            </p:cNvSpPr>
            <p:nvPr/>
          </p:nvSpPr>
          <p:spPr bwMode="auto">
            <a:xfrm flipH="1" flipV="1">
              <a:off x="2019329" y="5443143"/>
              <a:ext cx="0" cy="144463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" name="Line 572"/>
            <p:cNvSpPr>
              <a:spLocks noChangeShapeType="1"/>
            </p:cNvSpPr>
            <p:nvPr/>
          </p:nvSpPr>
          <p:spPr bwMode="auto">
            <a:xfrm flipH="1" flipV="1">
              <a:off x="1730404" y="5659043"/>
              <a:ext cx="576263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8" name="Oval 573"/>
            <p:cNvSpPr>
              <a:spLocks noChangeArrowheads="1"/>
            </p:cNvSpPr>
            <p:nvPr/>
          </p:nvSpPr>
          <p:spPr bwMode="auto">
            <a:xfrm>
              <a:off x="2562254" y="5549505"/>
              <a:ext cx="71438" cy="71438"/>
            </a:xfrm>
            <a:prstGeom prst="ellipse">
              <a:avLst/>
            </a:prstGeom>
            <a:solidFill>
              <a:srgbClr val="FF3399"/>
            </a:solidFill>
            <a:ln w="19050">
              <a:noFill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587529" y="2780929"/>
            <a:ext cx="6985000" cy="2879054"/>
            <a:chOff x="1587529" y="2780929"/>
            <a:chExt cx="6985000" cy="2879054"/>
          </a:xfrm>
        </p:grpSpPr>
        <p:sp>
          <p:nvSpPr>
            <p:cNvPr id="665" name="Rectangle 475"/>
            <p:cNvSpPr>
              <a:spLocks noChangeArrowheads="1"/>
            </p:cNvSpPr>
            <p:nvPr/>
          </p:nvSpPr>
          <p:spPr bwMode="auto">
            <a:xfrm>
              <a:off x="1687566" y="4473872"/>
              <a:ext cx="1109635" cy="828000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0" name="Rectangle 497"/>
            <p:cNvSpPr>
              <a:spLocks noChangeArrowheads="1"/>
            </p:cNvSpPr>
            <p:nvPr/>
          </p:nvSpPr>
          <p:spPr bwMode="auto">
            <a:xfrm>
              <a:off x="2957541" y="2780929"/>
              <a:ext cx="5614988" cy="1334036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1" name="Rectangle 475"/>
            <p:cNvSpPr>
              <a:spLocks noChangeArrowheads="1"/>
            </p:cNvSpPr>
            <p:nvPr/>
          </p:nvSpPr>
          <p:spPr bwMode="auto">
            <a:xfrm>
              <a:off x="3065491" y="4149080"/>
              <a:ext cx="5399088" cy="1077838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wrap="none" tIns="0" anchor="ctr"/>
            <a:lstStyle/>
            <a:p>
              <a:endParaRPr lang="en-US" altLang="zh-CN" sz="1200" b="1" u="none" dirty="0" smtClean="0">
                <a:latin typeface="+mn-ea"/>
                <a:ea typeface="+mn-ea"/>
              </a:endParaRPr>
            </a:p>
            <a:p>
              <a:endParaRPr lang="en-US" altLang="zh-CN" sz="1200" b="1" u="none" dirty="0">
                <a:latin typeface="+mn-ea"/>
                <a:ea typeface="+mn-ea"/>
              </a:endParaRPr>
            </a:p>
            <a:p>
              <a:r>
                <a:rPr lang="en-US" altLang="zh-CN" sz="1600" b="1" u="none" dirty="0" smtClean="0">
                  <a:latin typeface="+mn-ea"/>
                  <a:ea typeface="+mn-ea"/>
                </a:rPr>
                <a:t>                             I/O</a:t>
              </a:r>
              <a:r>
                <a:rPr lang="zh-CN" altLang="en-US" sz="1600" b="1" u="none" dirty="0" smtClean="0">
                  <a:latin typeface="+mn-ea"/>
                  <a:ea typeface="+mn-ea"/>
                </a:rPr>
                <a:t>门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572" name="Rectangle 475"/>
            <p:cNvSpPr>
              <a:spLocks noChangeArrowheads="1"/>
            </p:cNvSpPr>
            <p:nvPr/>
          </p:nvSpPr>
          <p:spPr bwMode="auto">
            <a:xfrm>
              <a:off x="3100416" y="4159830"/>
              <a:ext cx="2016125" cy="373325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" name="Rectangle 475"/>
            <p:cNvSpPr>
              <a:spLocks noChangeArrowheads="1"/>
            </p:cNvSpPr>
            <p:nvPr/>
          </p:nvSpPr>
          <p:spPr bwMode="auto">
            <a:xfrm>
              <a:off x="6397600" y="4148832"/>
              <a:ext cx="2008241" cy="384323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4" name="Line 476"/>
            <p:cNvSpPr>
              <a:spLocks noChangeShapeType="1"/>
            </p:cNvSpPr>
            <p:nvPr/>
          </p:nvSpPr>
          <p:spPr bwMode="auto">
            <a:xfrm>
              <a:off x="3892579" y="4291756"/>
              <a:ext cx="0" cy="4333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5" name="Line 477"/>
            <p:cNvSpPr>
              <a:spLocks noChangeShapeType="1"/>
            </p:cNvSpPr>
            <p:nvPr/>
          </p:nvSpPr>
          <p:spPr bwMode="auto">
            <a:xfrm flipH="1">
              <a:off x="3532216" y="4266555"/>
              <a:ext cx="1588" cy="17145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6" name="Line 478"/>
            <p:cNvSpPr>
              <a:spLocks noChangeShapeType="1"/>
            </p:cNvSpPr>
            <p:nvPr/>
          </p:nvSpPr>
          <p:spPr bwMode="auto">
            <a:xfrm flipH="1">
              <a:off x="3173442" y="4293790"/>
              <a:ext cx="0" cy="28733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7" name="Line 479"/>
            <p:cNvSpPr>
              <a:spLocks noChangeShapeType="1"/>
            </p:cNvSpPr>
            <p:nvPr/>
          </p:nvSpPr>
          <p:spPr bwMode="auto">
            <a:xfrm flipH="1">
              <a:off x="4324379" y="4293021"/>
              <a:ext cx="1588" cy="721743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8" name="Line 480"/>
            <p:cNvSpPr>
              <a:spLocks noChangeShapeType="1"/>
            </p:cNvSpPr>
            <p:nvPr/>
          </p:nvSpPr>
          <p:spPr bwMode="auto">
            <a:xfrm>
              <a:off x="4684741" y="4266555"/>
              <a:ext cx="0" cy="17145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9" name="Line 481"/>
            <p:cNvSpPr>
              <a:spLocks noChangeShapeType="1"/>
            </p:cNvSpPr>
            <p:nvPr/>
          </p:nvSpPr>
          <p:spPr bwMode="auto">
            <a:xfrm>
              <a:off x="3532216" y="4438005"/>
              <a:ext cx="1152525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0" name="Line 482"/>
            <p:cNvSpPr>
              <a:spLocks noChangeShapeType="1"/>
            </p:cNvSpPr>
            <p:nvPr/>
          </p:nvSpPr>
          <p:spPr bwMode="auto">
            <a:xfrm>
              <a:off x="5043516" y="4295130"/>
              <a:ext cx="1588" cy="86206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1" name="Line 484"/>
            <p:cNvSpPr>
              <a:spLocks noChangeShapeType="1"/>
            </p:cNvSpPr>
            <p:nvPr/>
          </p:nvSpPr>
          <p:spPr bwMode="auto">
            <a:xfrm>
              <a:off x="7204104" y="4293096"/>
              <a:ext cx="0" cy="4333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2" name="Line 485"/>
            <p:cNvSpPr>
              <a:spLocks noChangeShapeType="1"/>
            </p:cNvSpPr>
            <p:nvPr/>
          </p:nvSpPr>
          <p:spPr bwMode="auto">
            <a:xfrm flipH="1">
              <a:off x="6843741" y="4264968"/>
              <a:ext cx="1588" cy="17145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" name="Line 486"/>
            <p:cNvSpPr>
              <a:spLocks noChangeShapeType="1"/>
            </p:cNvSpPr>
            <p:nvPr/>
          </p:nvSpPr>
          <p:spPr bwMode="auto">
            <a:xfrm>
              <a:off x="6484966" y="4292203"/>
              <a:ext cx="0" cy="28892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" name="Line 487"/>
            <p:cNvSpPr>
              <a:spLocks noChangeShapeType="1"/>
            </p:cNvSpPr>
            <p:nvPr/>
          </p:nvSpPr>
          <p:spPr bwMode="auto">
            <a:xfrm flipH="1">
              <a:off x="7635904" y="4293543"/>
              <a:ext cx="1588" cy="719633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" name="Line 488"/>
            <p:cNvSpPr>
              <a:spLocks noChangeShapeType="1"/>
            </p:cNvSpPr>
            <p:nvPr/>
          </p:nvSpPr>
          <p:spPr bwMode="auto">
            <a:xfrm>
              <a:off x="7996266" y="4264968"/>
              <a:ext cx="0" cy="17145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6" name="Line 489"/>
            <p:cNvSpPr>
              <a:spLocks noChangeShapeType="1"/>
            </p:cNvSpPr>
            <p:nvPr/>
          </p:nvSpPr>
          <p:spPr bwMode="auto">
            <a:xfrm>
              <a:off x="6843741" y="4436418"/>
              <a:ext cx="1152525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7" name="Line 490"/>
            <p:cNvSpPr>
              <a:spLocks noChangeShapeType="1"/>
            </p:cNvSpPr>
            <p:nvPr/>
          </p:nvSpPr>
          <p:spPr bwMode="auto">
            <a:xfrm>
              <a:off x="8355041" y="4293543"/>
              <a:ext cx="0" cy="863649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8" name="Line 493"/>
            <p:cNvSpPr>
              <a:spLocks noChangeShapeType="1"/>
            </p:cNvSpPr>
            <p:nvPr/>
          </p:nvSpPr>
          <p:spPr bwMode="auto">
            <a:xfrm flipH="1">
              <a:off x="4108477" y="4437112"/>
              <a:ext cx="1" cy="1222871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9" name="Line 494"/>
            <p:cNvSpPr>
              <a:spLocks noChangeShapeType="1"/>
            </p:cNvSpPr>
            <p:nvPr/>
          </p:nvSpPr>
          <p:spPr bwMode="auto">
            <a:xfrm>
              <a:off x="7420003" y="4437112"/>
              <a:ext cx="1587" cy="1222871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0" name="Line 498"/>
            <p:cNvSpPr>
              <a:spLocks noChangeShapeType="1"/>
            </p:cNvSpPr>
            <p:nvPr/>
          </p:nvSpPr>
          <p:spPr bwMode="auto">
            <a:xfrm>
              <a:off x="3173441" y="4222105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1" name="Text Box 499"/>
            <p:cNvSpPr txBox="1">
              <a:spLocks noChangeArrowheads="1"/>
            </p:cNvSpPr>
            <p:nvPr/>
          </p:nvSpPr>
          <p:spPr bwMode="auto">
            <a:xfrm>
              <a:off x="2957541" y="3864223"/>
              <a:ext cx="2159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92" name="Line 500"/>
            <p:cNvSpPr>
              <a:spLocks noChangeShapeType="1"/>
            </p:cNvSpPr>
            <p:nvPr/>
          </p:nvSpPr>
          <p:spPr bwMode="auto">
            <a:xfrm>
              <a:off x="3316316" y="4150668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3" name="Line 501"/>
            <p:cNvSpPr>
              <a:spLocks noChangeShapeType="1"/>
            </p:cNvSpPr>
            <p:nvPr/>
          </p:nvSpPr>
          <p:spPr bwMode="auto">
            <a:xfrm>
              <a:off x="3173441" y="4295130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" name="Line 502"/>
            <p:cNvSpPr>
              <a:spLocks noChangeShapeType="1"/>
            </p:cNvSpPr>
            <p:nvPr/>
          </p:nvSpPr>
          <p:spPr bwMode="auto">
            <a:xfrm>
              <a:off x="3387754" y="4193530"/>
              <a:ext cx="1588" cy="1444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5" name="Line 503"/>
            <p:cNvSpPr>
              <a:spLocks noChangeShapeType="1"/>
            </p:cNvSpPr>
            <p:nvPr/>
          </p:nvSpPr>
          <p:spPr bwMode="auto">
            <a:xfrm>
              <a:off x="3389341" y="4266555"/>
              <a:ext cx="287338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6" name="Line 504"/>
            <p:cNvSpPr>
              <a:spLocks noChangeShapeType="1"/>
            </p:cNvSpPr>
            <p:nvPr/>
          </p:nvSpPr>
          <p:spPr bwMode="auto">
            <a:xfrm>
              <a:off x="3749704" y="4222105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7" name="Line 505"/>
            <p:cNvSpPr>
              <a:spLocks noChangeShapeType="1"/>
            </p:cNvSpPr>
            <p:nvPr/>
          </p:nvSpPr>
          <p:spPr bwMode="auto">
            <a:xfrm>
              <a:off x="3749704" y="4295130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8" name="Line 506"/>
            <p:cNvSpPr>
              <a:spLocks noChangeShapeType="1"/>
            </p:cNvSpPr>
            <p:nvPr/>
          </p:nvSpPr>
          <p:spPr bwMode="auto">
            <a:xfrm>
              <a:off x="3676679" y="4193530"/>
              <a:ext cx="1588" cy="1444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9" name="Line 507"/>
            <p:cNvSpPr>
              <a:spLocks noChangeShapeType="1"/>
            </p:cNvSpPr>
            <p:nvPr/>
          </p:nvSpPr>
          <p:spPr bwMode="auto">
            <a:xfrm>
              <a:off x="3749704" y="4150668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0" name="Line 508"/>
            <p:cNvSpPr>
              <a:spLocks noChangeShapeType="1"/>
            </p:cNvSpPr>
            <p:nvPr/>
          </p:nvSpPr>
          <p:spPr bwMode="auto">
            <a:xfrm>
              <a:off x="4325966" y="4222105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1" name="Line 509"/>
            <p:cNvSpPr>
              <a:spLocks noChangeShapeType="1"/>
            </p:cNvSpPr>
            <p:nvPr/>
          </p:nvSpPr>
          <p:spPr bwMode="auto">
            <a:xfrm>
              <a:off x="5094316" y="3891210"/>
              <a:ext cx="9525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2" name="Line 510"/>
            <p:cNvSpPr>
              <a:spLocks noChangeShapeType="1"/>
            </p:cNvSpPr>
            <p:nvPr/>
          </p:nvSpPr>
          <p:spPr bwMode="auto">
            <a:xfrm>
              <a:off x="4468841" y="4150668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3" name="Line 511"/>
            <p:cNvSpPr>
              <a:spLocks noChangeShapeType="1"/>
            </p:cNvSpPr>
            <p:nvPr/>
          </p:nvSpPr>
          <p:spPr bwMode="auto">
            <a:xfrm>
              <a:off x="4325966" y="4295130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" name="Line 512"/>
            <p:cNvSpPr>
              <a:spLocks noChangeShapeType="1"/>
            </p:cNvSpPr>
            <p:nvPr/>
          </p:nvSpPr>
          <p:spPr bwMode="auto">
            <a:xfrm>
              <a:off x="4540279" y="4193530"/>
              <a:ext cx="1588" cy="1444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" name="Line 513"/>
            <p:cNvSpPr>
              <a:spLocks noChangeShapeType="1"/>
            </p:cNvSpPr>
            <p:nvPr/>
          </p:nvSpPr>
          <p:spPr bwMode="auto">
            <a:xfrm>
              <a:off x="4541866" y="4266555"/>
              <a:ext cx="287338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6" name="Line 514"/>
            <p:cNvSpPr>
              <a:spLocks noChangeShapeType="1"/>
            </p:cNvSpPr>
            <p:nvPr/>
          </p:nvSpPr>
          <p:spPr bwMode="auto">
            <a:xfrm>
              <a:off x="4902229" y="4222105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7" name="Line 515"/>
            <p:cNvSpPr>
              <a:spLocks noChangeShapeType="1"/>
            </p:cNvSpPr>
            <p:nvPr/>
          </p:nvSpPr>
          <p:spPr bwMode="auto">
            <a:xfrm>
              <a:off x="4902229" y="4295130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8" name="Line 516"/>
            <p:cNvSpPr>
              <a:spLocks noChangeShapeType="1"/>
            </p:cNvSpPr>
            <p:nvPr/>
          </p:nvSpPr>
          <p:spPr bwMode="auto">
            <a:xfrm>
              <a:off x="4829204" y="4193530"/>
              <a:ext cx="1588" cy="1444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9" name="Line 517"/>
            <p:cNvSpPr>
              <a:spLocks noChangeShapeType="1"/>
            </p:cNvSpPr>
            <p:nvPr/>
          </p:nvSpPr>
          <p:spPr bwMode="auto">
            <a:xfrm>
              <a:off x="4902229" y="4150668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0" name="Text Box 518"/>
            <p:cNvSpPr txBox="1">
              <a:spLocks noChangeArrowheads="1"/>
            </p:cNvSpPr>
            <p:nvPr/>
          </p:nvSpPr>
          <p:spPr bwMode="auto">
            <a:xfrm>
              <a:off x="3894166" y="3862635"/>
              <a:ext cx="2159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611" name="Text Box 519"/>
            <p:cNvSpPr txBox="1">
              <a:spLocks noChangeArrowheads="1"/>
            </p:cNvSpPr>
            <p:nvPr/>
          </p:nvSpPr>
          <p:spPr bwMode="auto">
            <a:xfrm>
              <a:off x="4108479" y="3862635"/>
              <a:ext cx="2159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612" name="Text Box 520"/>
            <p:cNvSpPr txBox="1">
              <a:spLocks noChangeArrowheads="1"/>
            </p:cNvSpPr>
            <p:nvPr/>
          </p:nvSpPr>
          <p:spPr bwMode="auto">
            <a:xfrm>
              <a:off x="5045104" y="3862635"/>
              <a:ext cx="2159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13" name="Line 521"/>
            <p:cNvSpPr>
              <a:spLocks noChangeShapeType="1"/>
            </p:cNvSpPr>
            <p:nvPr/>
          </p:nvSpPr>
          <p:spPr bwMode="auto">
            <a:xfrm>
              <a:off x="3946554" y="3891210"/>
              <a:ext cx="9525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" name="Line 522"/>
            <p:cNvSpPr>
              <a:spLocks noChangeShapeType="1"/>
            </p:cNvSpPr>
            <p:nvPr/>
          </p:nvSpPr>
          <p:spPr bwMode="auto">
            <a:xfrm>
              <a:off x="6484966" y="4220518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" name="Text Box 523"/>
            <p:cNvSpPr txBox="1">
              <a:spLocks noChangeArrowheads="1"/>
            </p:cNvSpPr>
            <p:nvPr/>
          </p:nvSpPr>
          <p:spPr bwMode="auto">
            <a:xfrm>
              <a:off x="6269066" y="3862635"/>
              <a:ext cx="2159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616" name="Line 524"/>
            <p:cNvSpPr>
              <a:spLocks noChangeShapeType="1"/>
            </p:cNvSpPr>
            <p:nvPr/>
          </p:nvSpPr>
          <p:spPr bwMode="auto">
            <a:xfrm>
              <a:off x="6627841" y="4149080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" name="Line 525"/>
            <p:cNvSpPr>
              <a:spLocks noChangeShapeType="1"/>
            </p:cNvSpPr>
            <p:nvPr/>
          </p:nvSpPr>
          <p:spPr bwMode="auto">
            <a:xfrm>
              <a:off x="6484966" y="4293543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" name="Line 526"/>
            <p:cNvSpPr>
              <a:spLocks noChangeShapeType="1"/>
            </p:cNvSpPr>
            <p:nvPr/>
          </p:nvSpPr>
          <p:spPr bwMode="auto">
            <a:xfrm>
              <a:off x="6699279" y="4191943"/>
              <a:ext cx="1588" cy="1444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" name="Line 527"/>
            <p:cNvSpPr>
              <a:spLocks noChangeShapeType="1"/>
            </p:cNvSpPr>
            <p:nvPr/>
          </p:nvSpPr>
          <p:spPr bwMode="auto">
            <a:xfrm>
              <a:off x="6700866" y="4264968"/>
              <a:ext cx="287338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0" name="Line 528"/>
            <p:cNvSpPr>
              <a:spLocks noChangeShapeType="1"/>
            </p:cNvSpPr>
            <p:nvPr/>
          </p:nvSpPr>
          <p:spPr bwMode="auto">
            <a:xfrm>
              <a:off x="7061229" y="4220518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1" name="Line 529"/>
            <p:cNvSpPr>
              <a:spLocks noChangeShapeType="1"/>
            </p:cNvSpPr>
            <p:nvPr/>
          </p:nvSpPr>
          <p:spPr bwMode="auto">
            <a:xfrm>
              <a:off x="7061229" y="4293543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2" name="Line 530"/>
            <p:cNvSpPr>
              <a:spLocks noChangeShapeType="1"/>
            </p:cNvSpPr>
            <p:nvPr/>
          </p:nvSpPr>
          <p:spPr bwMode="auto">
            <a:xfrm>
              <a:off x="6988204" y="4191943"/>
              <a:ext cx="1588" cy="1444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3" name="Line 531"/>
            <p:cNvSpPr>
              <a:spLocks noChangeShapeType="1"/>
            </p:cNvSpPr>
            <p:nvPr/>
          </p:nvSpPr>
          <p:spPr bwMode="auto">
            <a:xfrm>
              <a:off x="7061229" y="4149080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" name="Line 532"/>
            <p:cNvSpPr>
              <a:spLocks noChangeShapeType="1"/>
            </p:cNvSpPr>
            <p:nvPr/>
          </p:nvSpPr>
          <p:spPr bwMode="auto">
            <a:xfrm>
              <a:off x="7637491" y="4220518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" name="Line 533"/>
            <p:cNvSpPr>
              <a:spLocks noChangeShapeType="1"/>
            </p:cNvSpPr>
            <p:nvPr/>
          </p:nvSpPr>
          <p:spPr bwMode="auto">
            <a:xfrm>
              <a:off x="8405841" y="3889623"/>
              <a:ext cx="9525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6" name="Line 534"/>
            <p:cNvSpPr>
              <a:spLocks noChangeShapeType="1"/>
            </p:cNvSpPr>
            <p:nvPr/>
          </p:nvSpPr>
          <p:spPr bwMode="auto">
            <a:xfrm>
              <a:off x="7780366" y="4149080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7" name="Line 535"/>
            <p:cNvSpPr>
              <a:spLocks noChangeShapeType="1"/>
            </p:cNvSpPr>
            <p:nvPr/>
          </p:nvSpPr>
          <p:spPr bwMode="auto">
            <a:xfrm>
              <a:off x="7637491" y="4293543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8" name="Line 536"/>
            <p:cNvSpPr>
              <a:spLocks noChangeShapeType="1"/>
            </p:cNvSpPr>
            <p:nvPr/>
          </p:nvSpPr>
          <p:spPr bwMode="auto">
            <a:xfrm>
              <a:off x="7851804" y="4191943"/>
              <a:ext cx="1588" cy="1444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9" name="Line 537"/>
            <p:cNvSpPr>
              <a:spLocks noChangeShapeType="1"/>
            </p:cNvSpPr>
            <p:nvPr/>
          </p:nvSpPr>
          <p:spPr bwMode="auto">
            <a:xfrm>
              <a:off x="7853391" y="4264968"/>
              <a:ext cx="287338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0" name="Line 538"/>
            <p:cNvSpPr>
              <a:spLocks noChangeShapeType="1"/>
            </p:cNvSpPr>
            <p:nvPr/>
          </p:nvSpPr>
          <p:spPr bwMode="auto">
            <a:xfrm>
              <a:off x="8213754" y="4220518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1" name="Line 539"/>
            <p:cNvSpPr>
              <a:spLocks noChangeShapeType="1"/>
            </p:cNvSpPr>
            <p:nvPr/>
          </p:nvSpPr>
          <p:spPr bwMode="auto">
            <a:xfrm>
              <a:off x="8213754" y="4293543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2" name="Line 540"/>
            <p:cNvSpPr>
              <a:spLocks noChangeShapeType="1"/>
            </p:cNvSpPr>
            <p:nvPr/>
          </p:nvSpPr>
          <p:spPr bwMode="auto">
            <a:xfrm>
              <a:off x="8140729" y="4191943"/>
              <a:ext cx="1588" cy="1444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3" name="Line 541"/>
            <p:cNvSpPr>
              <a:spLocks noChangeShapeType="1"/>
            </p:cNvSpPr>
            <p:nvPr/>
          </p:nvSpPr>
          <p:spPr bwMode="auto">
            <a:xfrm>
              <a:off x="8213754" y="4149080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" name="Text Box 542"/>
            <p:cNvSpPr txBox="1">
              <a:spLocks noChangeArrowheads="1"/>
            </p:cNvSpPr>
            <p:nvPr/>
          </p:nvSpPr>
          <p:spPr bwMode="auto">
            <a:xfrm>
              <a:off x="7205691" y="3861048"/>
              <a:ext cx="2159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635" name="Text Box 543"/>
            <p:cNvSpPr txBox="1">
              <a:spLocks noChangeArrowheads="1"/>
            </p:cNvSpPr>
            <p:nvPr/>
          </p:nvSpPr>
          <p:spPr bwMode="auto">
            <a:xfrm>
              <a:off x="7420004" y="3861048"/>
              <a:ext cx="2159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636" name="Text Box 544"/>
            <p:cNvSpPr txBox="1">
              <a:spLocks noChangeArrowheads="1"/>
            </p:cNvSpPr>
            <p:nvPr/>
          </p:nvSpPr>
          <p:spPr bwMode="auto">
            <a:xfrm>
              <a:off x="8356629" y="3861048"/>
              <a:ext cx="2159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637" name="Line 545"/>
            <p:cNvSpPr>
              <a:spLocks noChangeShapeType="1"/>
            </p:cNvSpPr>
            <p:nvPr/>
          </p:nvSpPr>
          <p:spPr bwMode="auto">
            <a:xfrm>
              <a:off x="7258079" y="3889623"/>
              <a:ext cx="9525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8" name="Text Box 546"/>
            <p:cNvSpPr txBox="1">
              <a:spLocks noChangeArrowheads="1"/>
            </p:cNvSpPr>
            <p:nvPr/>
          </p:nvSpPr>
          <p:spPr bwMode="auto">
            <a:xfrm>
              <a:off x="5403879" y="4197697"/>
              <a:ext cx="792163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/>
                <a:t>……</a:t>
              </a:r>
              <a:endParaRPr lang="en-US" altLang="zh-CN" sz="1800" b="1" u="none" dirty="0"/>
            </a:p>
          </p:txBody>
        </p:sp>
        <p:sp>
          <p:nvSpPr>
            <p:cNvPr id="639" name="Text Box 581"/>
            <p:cNvSpPr txBox="1">
              <a:spLocks noChangeArrowheads="1"/>
            </p:cNvSpPr>
            <p:nvPr/>
          </p:nvSpPr>
          <p:spPr bwMode="auto">
            <a:xfrm>
              <a:off x="3387754" y="3284984"/>
              <a:ext cx="361950" cy="3603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/>
                <a:t>…</a:t>
              </a:r>
              <a:endParaRPr lang="en-US" altLang="zh-CN" sz="1800" b="1" u="none" dirty="0"/>
            </a:p>
          </p:txBody>
        </p:sp>
        <p:sp>
          <p:nvSpPr>
            <p:cNvPr id="640" name="Line 582"/>
            <p:cNvSpPr>
              <a:spLocks noChangeShapeType="1"/>
            </p:cNvSpPr>
            <p:nvPr/>
          </p:nvSpPr>
          <p:spPr bwMode="auto">
            <a:xfrm>
              <a:off x="3821141" y="3934519"/>
              <a:ext cx="7143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1" name="Line 583"/>
            <p:cNvSpPr>
              <a:spLocks noChangeShapeType="1"/>
            </p:cNvSpPr>
            <p:nvPr/>
          </p:nvSpPr>
          <p:spPr bwMode="auto">
            <a:xfrm>
              <a:off x="3533804" y="3720207"/>
              <a:ext cx="0" cy="7302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2" name="Line 584"/>
            <p:cNvSpPr>
              <a:spLocks noChangeShapeType="1"/>
            </p:cNvSpPr>
            <p:nvPr/>
          </p:nvSpPr>
          <p:spPr bwMode="auto">
            <a:xfrm>
              <a:off x="3173441" y="3934519"/>
              <a:ext cx="7143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oval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3" name="Text Box 585"/>
            <p:cNvSpPr txBox="1">
              <a:spLocks noChangeArrowheads="1"/>
            </p:cNvSpPr>
            <p:nvPr/>
          </p:nvSpPr>
          <p:spPr bwMode="auto">
            <a:xfrm>
              <a:off x="3892579" y="3310781"/>
              <a:ext cx="433388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/>
                <a:t>…</a:t>
              </a:r>
              <a:endParaRPr lang="en-US" altLang="zh-CN" sz="1800" b="1" u="none"/>
            </a:p>
          </p:txBody>
        </p:sp>
        <p:sp>
          <p:nvSpPr>
            <p:cNvPr id="644" name="Text Box 586"/>
            <p:cNvSpPr txBox="1">
              <a:spLocks noChangeArrowheads="1"/>
            </p:cNvSpPr>
            <p:nvPr/>
          </p:nvSpPr>
          <p:spPr bwMode="auto">
            <a:xfrm>
              <a:off x="4540279" y="3284984"/>
              <a:ext cx="360363" cy="3603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/>
                <a:t>…</a:t>
              </a:r>
              <a:endParaRPr lang="en-US" altLang="zh-CN" sz="1800" b="1" u="none" dirty="0"/>
            </a:p>
          </p:txBody>
        </p:sp>
        <p:sp>
          <p:nvSpPr>
            <p:cNvPr id="645" name="Line 587"/>
            <p:cNvSpPr>
              <a:spLocks noChangeShapeType="1"/>
            </p:cNvSpPr>
            <p:nvPr/>
          </p:nvSpPr>
          <p:spPr bwMode="auto">
            <a:xfrm>
              <a:off x="4973666" y="3934519"/>
              <a:ext cx="7143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" name="Line 588"/>
            <p:cNvSpPr>
              <a:spLocks noChangeShapeType="1"/>
            </p:cNvSpPr>
            <p:nvPr/>
          </p:nvSpPr>
          <p:spPr bwMode="auto">
            <a:xfrm>
              <a:off x="4686329" y="3720207"/>
              <a:ext cx="0" cy="7302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7" name="Line 589"/>
            <p:cNvSpPr>
              <a:spLocks noChangeShapeType="1"/>
            </p:cNvSpPr>
            <p:nvPr/>
          </p:nvSpPr>
          <p:spPr bwMode="auto">
            <a:xfrm>
              <a:off x="4325966" y="3934519"/>
              <a:ext cx="7143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oval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8" name="Text Box 590"/>
            <p:cNvSpPr txBox="1">
              <a:spLocks noChangeArrowheads="1"/>
            </p:cNvSpPr>
            <p:nvPr/>
          </p:nvSpPr>
          <p:spPr bwMode="auto">
            <a:xfrm>
              <a:off x="3246466" y="3791644"/>
              <a:ext cx="576263" cy="2159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u="none">
                  <a:latin typeface="宋体" panose="02010600030101010101" pitchFamily="2" charset="-122"/>
                </a:rPr>
                <a:t>存储元</a:t>
              </a:r>
              <a:endParaRPr lang="zh-CN" altLang="en-US" sz="12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649" name="Text Box 591"/>
            <p:cNvSpPr txBox="1">
              <a:spLocks noChangeArrowheads="1"/>
            </p:cNvSpPr>
            <p:nvPr/>
          </p:nvSpPr>
          <p:spPr bwMode="auto">
            <a:xfrm>
              <a:off x="4398991" y="3791644"/>
              <a:ext cx="576263" cy="2159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u="none">
                  <a:latin typeface="宋体" panose="02010600030101010101" pitchFamily="2" charset="-122"/>
                </a:rPr>
                <a:t>存储元</a:t>
              </a:r>
              <a:endParaRPr lang="zh-CN" altLang="en-US" sz="12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650" name="Text Box 592"/>
            <p:cNvSpPr txBox="1">
              <a:spLocks noChangeArrowheads="1"/>
            </p:cNvSpPr>
            <p:nvPr/>
          </p:nvSpPr>
          <p:spPr bwMode="auto">
            <a:xfrm>
              <a:off x="6699279" y="3284984"/>
              <a:ext cx="361950" cy="3603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/>
                <a:t>…</a:t>
              </a:r>
              <a:endParaRPr lang="en-US" altLang="zh-CN" sz="1800" b="1" u="none" dirty="0"/>
            </a:p>
          </p:txBody>
        </p:sp>
        <p:sp>
          <p:nvSpPr>
            <p:cNvPr id="651" name="Line 593"/>
            <p:cNvSpPr>
              <a:spLocks noChangeShapeType="1"/>
            </p:cNvSpPr>
            <p:nvPr/>
          </p:nvSpPr>
          <p:spPr bwMode="auto">
            <a:xfrm>
              <a:off x="7132666" y="3932932"/>
              <a:ext cx="7143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" name="Line 594"/>
            <p:cNvSpPr>
              <a:spLocks noChangeShapeType="1"/>
            </p:cNvSpPr>
            <p:nvPr/>
          </p:nvSpPr>
          <p:spPr bwMode="auto">
            <a:xfrm>
              <a:off x="6845329" y="3718619"/>
              <a:ext cx="0" cy="7302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3" name="Line 595"/>
            <p:cNvSpPr>
              <a:spLocks noChangeShapeType="1"/>
            </p:cNvSpPr>
            <p:nvPr/>
          </p:nvSpPr>
          <p:spPr bwMode="auto">
            <a:xfrm>
              <a:off x="6484966" y="3932932"/>
              <a:ext cx="7143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oval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4" name="Text Box 596"/>
            <p:cNvSpPr txBox="1">
              <a:spLocks noChangeArrowheads="1"/>
            </p:cNvSpPr>
            <p:nvPr/>
          </p:nvSpPr>
          <p:spPr bwMode="auto">
            <a:xfrm>
              <a:off x="7204104" y="3309193"/>
              <a:ext cx="433388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/>
                <a:t>…</a:t>
              </a:r>
              <a:endParaRPr lang="en-US" altLang="zh-CN" sz="1800" b="1" u="none"/>
            </a:p>
          </p:txBody>
        </p:sp>
        <p:sp>
          <p:nvSpPr>
            <p:cNvPr id="655" name="Text Box 597"/>
            <p:cNvSpPr txBox="1">
              <a:spLocks noChangeArrowheads="1"/>
            </p:cNvSpPr>
            <p:nvPr/>
          </p:nvSpPr>
          <p:spPr bwMode="auto">
            <a:xfrm>
              <a:off x="7851804" y="3284984"/>
              <a:ext cx="360363" cy="3603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/>
                <a:t>…</a:t>
              </a:r>
              <a:endParaRPr lang="en-US" altLang="zh-CN" sz="1800" b="1" u="none" dirty="0"/>
            </a:p>
          </p:txBody>
        </p:sp>
        <p:sp>
          <p:nvSpPr>
            <p:cNvPr id="656" name="Line 598"/>
            <p:cNvSpPr>
              <a:spLocks noChangeShapeType="1"/>
            </p:cNvSpPr>
            <p:nvPr/>
          </p:nvSpPr>
          <p:spPr bwMode="auto">
            <a:xfrm>
              <a:off x="8285191" y="3932932"/>
              <a:ext cx="7143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7" name="Line 599"/>
            <p:cNvSpPr>
              <a:spLocks noChangeShapeType="1"/>
            </p:cNvSpPr>
            <p:nvPr/>
          </p:nvSpPr>
          <p:spPr bwMode="auto">
            <a:xfrm>
              <a:off x="7997854" y="3718619"/>
              <a:ext cx="0" cy="7302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8" name="Line 600"/>
            <p:cNvSpPr>
              <a:spLocks noChangeShapeType="1"/>
            </p:cNvSpPr>
            <p:nvPr/>
          </p:nvSpPr>
          <p:spPr bwMode="auto">
            <a:xfrm>
              <a:off x="7637491" y="3932932"/>
              <a:ext cx="7143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oval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9" name="Text Box 601"/>
            <p:cNvSpPr txBox="1">
              <a:spLocks noChangeArrowheads="1"/>
            </p:cNvSpPr>
            <p:nvPr/>
          </p:nvSpPr>
          <p:spPr bwMode="auto">
            <a:xfrm>
              <a:off x="6557991" y="3790057"/>
              <a:ext cx="576263" cy="2159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u="none">
                  <a:latin typeface="宋体" panose="02010600030101010101" pitchFamily="2" charset="-122"/>
                </a:rPr>
                <a:t>存储元</a:t>
              </a:r>
              <a:endParaRPr lang="zh-CN" altLang="en-US" sz="12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660" name="Text Box 602"/>
            <p:cNvSpPr txBox="1">
              <a:spLocks noChangeArrowheads="1"/>
            </p:cNvSpPr>
            <p:nvPr/>
          </p:nvSpPr>
          <p:spPr bwMode="auto">
            <a:xfrm>
              <a:off x="7710516" y="3790057"/>
              <a:ext cx="576263" cy="2159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u="none" dirty="0">
                  <a:latin typeface="宋体" panose="02010600030101010101" pitchFamily="2" charset="-122"/>
                </a:rPr>
                <a:t>存储元</a:t>
              </a:r>
              <a:endParaRPr lang="zh-CN" altLang="en-US" sz="12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61" name="Text Box 603"/>
            <p:cNvSpPr txBox="1">
              <a:spLocks noChangeArrowheads="1"/>
            </p:cNvSpPr>
            <p:nvPr/>
          </p:nvSpPr>
          <p:spPr bwMode="auto">
            <a:xfrm>
              <a:off x="5114954" y="3284984"/>
              <a:ext cx="1223963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64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×64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列</a:t>
              </a:r>
              <a:endParaRPr lang="zh-CN" altLang="en-US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62" name="Text Box 604"/>
            <p:cNvSpPr txBox="1">
              <a:spLocks noChangeArrowheads="1"/>
            </p:cNvSpPr>
            <p:nvPr/>
          </p:nvSpPr>
          <p:spPr bwMode="auto">
            <a:xfrm>
              <a:off x="5403879" y="3718619"/>
              <a:ext cx="792163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/>
                <a:t>……</a:t>
              </a:r>
              <a:endParaRPr lang="en-US" altLang="zh-CN" sz="1800" b="1" u="none"/>
            </a:p>
          </p:txBody>
        </p:sp>
        <p:sp>
          <p:nvSpPr>
            <p:cNvPr id="663" name="Line 459"/>
            <p:cNvSpPr>
              <a:spLocks noChangeShapeType="1"/>
            </p:cNvSpPr>
            <p:nvPr/>
          </p:nvSpPr>
          <p:spPr bwMode="auto">
            <a:xfrm>
              <a:off x="2090766" y="3717032"/>
              <a:ext cx="5905500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4" name="Line 605"/>
            <p:cNvSpPr>
              <a:spLocks noChangeShapeType="1"/>
            </p:cNvSpPr>
            <p:nvPr/>
          </p:nvSpPr>
          <p:spPr bwMode="auto">
            <a:xfrm flipV="1">
              <a:off x="2090766" y="2877393"/>
              <a:ext cx="5905500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" name="Rectangle 580"/>
            <p:cNvSpPr>
              <a:spLocks noChangeArrowheads="1"/>
            </p:cNvSpPr>
            <p:nvPr/>
          </p:nvSpPr>
          <p:spPr bwMode="auto">
            <a:xfrm>
              <a:off x="3100416" y="2921316"/>
              <a:ext cx="2016125" cy="287337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7" name="Rectangle 580"/>
            <p:cNvSpPr>
              <a:spLocks noChangeArrowheads="1"/>
            </p:cNvSpPr>
            <p:nvPr/>
          </p:nvSpPr>
          <p:spPr bwMode="auto">
            <a:xfrm>
              <a:off x="6397601" y="2918059"/>
              <a:ext cx="2016125" cy="287337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8" name="Line 491"/>
            <p:cNvSpPr>
              <a:spLocks noChangeShapeType="1"/>
            </p:cNvSpPr>
            <p:nvPr/>
          </p:nvSpPr>
          <p:spPr bwMode="auto">
            <a:xfrm>
              <a:off x="2738466" y="4581128"/>
              <a:ext cx="37465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9" name="Text Box 495"/>
            <p:cNvSpPr txBox="1">
              <a:spLocks noChangeArrowheads="1"/>
            </p:cNvSpPr>
            <p:nvPr/>
          </p:nvSpPr>
          <p:spPr bwMode="auto">
            <a:xfrm>
              <a:off x="2740054" y="4736198"/>
              <a:ext cx="288925" cy="27856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solidFill>
                    <a:schemeClr val="accent2"/>
                  </a:solidFill>
                </a:rPr>
                <a:t>…</a:t>
              </a:r>
              <a:endParaRPr lang="en-US" altLang="zh-CN" sz="1800" b="1" u="none" dirty="0">
                <a:solidFill>
                  <a:schemeClr val="accent2"/>
                </a:solidFill>
              </a:endParaRPr>
            </a:p>
          </p:txBody>
        </p:sp>
        <p:sp>
          <p:nvSpPr>
            <p:cNvPr id="670" name="Text Box 496"/>
            <p:cNvSpPr txBox="1">
              <a:spLocks noChangeArrowheads="1"/>
            </p:cNvSpPr>
            <p:nvPr/>
          </p:nvSpPr>
          <p:spPr bwMode="auto">
            <a:xfrm>
              <a:off x="5619779" y="4726930"/>
              <a:ext cx="288925" cy="28624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solidFill>
                    <a:schemeClr val="accent2"/>
                  </a:solidFill>
                </a:rPr>
                <a:t>…</a:t>
              </a:r>
              <a:endParaRPr lang="en-US" altLang="zh-CN" sz="1800" b="1" u="none" dirty="0">
                <a:solidFill>
                  <a:schemeClr val="accent2"/>
                </a:solidFill>
              </a:endParaRPr>
            </a:p>
          </p:txBody>
        </p:sp>
        <p:sp>
          <p:nvSpPr>
            <p:cNvPr id="671" name="Text Box 551"/>
            <p:cNvSpPr txBox="1">
              <a:spLocks noChangeArrowheads="1"/>
            </p:cNvSpPr>
            <p:nvPr/>
          </p:nvSpPr>
          <p:spPr bwMode="auto">
            <a:xfrm>
              <a:off x="1731991" y="4941168"/>
              <a:ext cx="1008063" cy="287338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读写电路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2" name="Line 552"/>
            <p:cNvSpPr>
              <a:spLocks noChangeShapeType="1"/>
            </p:cNvSpPr>
            <p:nvPr/>
          </p:nvSpPr>
          <p:spPr bwMode="auto">
            <a:xfrm flipH="1" flipV="1">
              <a:off x="1874865" y="4807636"/>
              <a:ext cx="1" cy="142875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3" name="Line 553"/>
            <p:cNvSpPr>
              <a:spLocks noChangeShapeType="1"/>
            </p:cNvSpPr>
            <p:nvPr/>
          </p:nvSpPr>
          <p:spPr bwMode="auto">
            <a:xfrm flipH="1" flipV="1">
              <a:off x="2452716" y="4807636"/>
              <a:ext cx="3175" cy="142875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4" name="Text Box 465"/>
            <p:cNvSpPr txBox="1">
              <a:spLocks noChangeArrowheads="1"/>
            </p:cNvSpPr>
            <p:nvPr/>
          </p:nvSpPr>
          <p:spPr bwMode="auto">
            <a:xfrm>
              <a:off x="1731991" y="4520298"/>
              <a:ext cx="1008063" cy="287338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读写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电路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5" name="Line 492"/>
            <p:cNvSpPr>
              <a:spLocks noChangeShapeType="1"/>
            </p:cNvSpPr>
            <p:nvPr/>
          </p:nvSpPr>
          <p:spPr bwMode="auto">
            <a:xfrm flipV="1">
              <a:off x="2738466" y="4725144"/>
              <a:ext cx="446563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" name="Line 470"/>
            <p:cNvSpPr>
              <a:spLocks noChangeShapeType="1"/>
            </p:cNvSpPr>
            <p:nvPr/>
          </p:nvSpPr>
          <p:spPr bwMode="auto">
            <a:xfrm>
              <a:off x="2738466" y="5013176"/>
              <a:ext cx="4897438" cy="15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7" name="Text Box 555"/>
            <p:cNvSpPr txBox="1">
              <a:spLocks noChangeArrowheads="1"/>
            </p:cNvSpPr>
            <p:nvPr/>
          </p:nvSpPr>
          <p:spPr bwMode="auto">
            <a:xfrm>
              <a:off x="2451129" y="5228508"/>
              <a:ext cx="28892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读</a:t>
              </a:r>
              <a:endParaRPr lang="zh-CN" altLang="en-US" sz="16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78" name="Text Box 556"/>
            <p:cNvSpPr txBox="1">
              <a:spLocks noChangeArrowheads="1"/>
            </p:cNvSpPr>
            <p:nvPr/>
          </p:nvSpPr>
          <p:spPr bwMode="auto">
            <a:xfrm>
              <a:off x="1587529" y="5228508"/>
              <a:ext cx="287338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写</a:t>
              </a:r>
              <a:endParaRPr lang="zh-CN" altLang="en-US" sz="16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79" name="Line 564"/>
            <p:cNvSpPr>
              <a:spLocks noChangeShapeType="1"/>
            </p:cNvSpPr>
            <p:nvPr/>
          </p:nvSpPr>
          <p:spPr bwMode="auto">
            <a:xfrm flipH="1" flipV="1">
              <a:off x="1874867" y="5226920"/>
              <a:ext cx="0" cy="288925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0" name="Line 566"/>
            <p:cNvSpPr>
              <a:spLocks noChangeShapeType="1"/>
            </p:cNvSpPr>
            <p:nvPr/>
          </p:nvSpPr>
          <p:spPr bwMode="auto">
            <a:xfrm flipH="1" flipV="1">
              <a:off x="2451129" y="5226920"/>
              <a:ext cx="0" cy="288925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1" name="Line 606"/>
            <p:cNvSpPr>
              <a:spLocks noChangeShapeType="1"/>
            </p:cNvSpPr>
            <p:nvPr/>
          </p:nvSpPr>
          <p:spPr bwMode="auto">
            <a:xfrm>
              <a:off x="3533804" y="2878981"/>
              <a:ext cx="0" cy="7302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2" name="Line 607"/>
            <p:cNvSpPr>
              <a:spLocks noChangeShapeType="1"/>
            </p:cNvSpPr>
            <p:nvPr/>
          </p:nvSpPr>
          <p:spPr bwMode="auto">
            <a:xfrm>
              <a:off x="4686329" y="2878981"/>
              <a:ext cx="0" cy="7302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3" name="Text Box 608"/>
            <p:cNvSpPr txBox="1">
              <a:spLocks noChangeArrowheads="1"/>
            </p:cNvSpPr>
            <p:nvPr/>
          </p:nvSpPr>
          <p:spPr bwMode="auto">
            <a:xfrm>
              <a:off x="3244879" y="2950418"/>
              <a:ext cx="576263" cy="2159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u="none" dirty="0">
                  <a:latin typeface="宋体" panose="02010600030101010101" pitchFamily="2" charset="-122"/>
                </a:rPr>
                <a:t>存储元</a:t>
              </a:r>
              <a:endParaRPr lang="zh-CN" altLang="en-US" sz="12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84" name="Text Box 609"/>
            <p:cNvSpPr txBox="1">
              <a:spLocks noChangeArrowheads="1"/>
            </p:cNvSpPr>
            <p:nvPr/>
          </p:nvSpPr>
          <p:spPr bwMode="auto">
            <a:xfrm>
              <a:off x="4397404" y="2950418"/>
              <a:ext cx="576263" cy="2159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u="none" dirty="0">
                  <a:latin typeface="宋体" panose="02010600030101010101" pitchFamily="2" charset="-122"/>
                </a:rPr>
                <a:t>存储元</a:t>
              </a:r>
              <a:endParaRPr lang="zh-CN" altLang="en-US" sz="12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85" name="Line 610"/>
            <p:cNvSpPr>
              <a:spLocks noChangeShapeType="1"/>
            </p:cNvSpPr>
            <p:nvPr/>
          </p:nvSpPr>
          <p:spPr bwMode="auto">
            <a:xfrm>
              <a:off x="6845329" y="2877393"/>
              <a:ext cx="0" cy="7302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" name="Line 611"/>
            <p:cNvSpPr>
              <a:spLocks noChangeShapeType="1"/>
            </p:cNvSpPr>
            <p:nvPr/>
          </p:nvSpPr>
          <p:spPr bwMode="auto">
            <a:xfrm>
              <a:off x="7997854" y="2877393"/>
              <a:ext cx="0" cy="7302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" name="Text Box 612"/>
            <p:cNvSpPr txBox="1">
              <a:spLocks noChangeArrowheads="1"/>
            </p:cNvSpPr>
            <p:nvPr/>
          </p:nvSpPr>
          <p:spPr bwMode="auto">
            <a:xfrm>
              <a:off x="6556404" y="2948831"/>
              <a:ext cx="576263" cy="2159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u="none">
                  <a:latin typeface="宋体" panose="02010600030101010101" pitchFamily="2" charset="-122"/>
                </a:rPr>
                <a:t>存储元</a:t>
              </a:r>
              <a:endParaRPr lang="zh-CN" altLang="en-US" sz="12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688" name="Text Box 613"/>
            <p:cNvSpPr txBox="1">
              <a:spLocks noChangeArrowheads="1"/>
            </p:cNvSpPr>
            <p:nvPr/>
          </p:nvSpPr>
          <p:spPr bwMode="auto">
            <a:xfrm>
              <a:off x="7708929" y="2948831"/>
              <a:ext cx="576263" cy="2159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u="none">
                  <a:latin typeface="宋体" panose="02010600030101010101" pitchFamily="2" charset="-122"/>
                </a:rPr>
                <a:t>存储元</a:t>
              </a:r>
              <a:endParaRPr lang="zh-CN" altLang="en-US" sz="12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689" name="Line 614"/>
            <p:cNvSpPr>
              <a:spLocks noChangeShapeType="1"/>
            </p:cNvSpPr>
            <p:nvPr/>
          </p:nvSpPr>
          <p:spPr bwMode="auto">
            <a:xfrm>
              <a:off x="3821141" y="3094881"/>
              <a:ext cx="7143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0" name="Line 615"/>
            <p:cNvSpPr>
              <a:spLocks noChangeShapeType="1"/>
            </p:cNvSpPr>
            <p:nvPr/>
          </p:nvSpPr>
          <p:spPr bwMode="auto">
            <a:xfrm>
              <a:off x="3173441" y="3094881"/>
              <a:ext cx="7143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1" name="Line 616"/>
            <p:cNvSpPr>
              <a:spLocks noChangeShapeType="1"/>
            </p:cNvSpPr>
            <p:nvPr/>
          </p:nvSpPr>
          <p:spPr bwMode="auto">
            <a:xfrm>
              <a:off x="4973666" y="3094881"/>
              <a:ext cx="7143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2" name="Line 617"/>
            <p:cNvSpPr>
              <a:spLocks noChangeShapeType="1"/>
            </p:cNvSpPr>
            <p:nvPr/>
          </p:nvSpPr>
          <p:spPr bwMode="auto">
            <a:xfrm>
              <a:off x="4325966" y="3094881"/>
              <a:ext cx="7143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3" name="Line 618"/>
            <p:cNvSpPr>
              <a:spLocks noChangeShapeType="1"/>
            </p:cNvSpPr>
            <p:nvPr/>
          </p:nvSpPr>
          <p:spPr bwMode="auto">
            <a:xfrm>
              <a:off x="7132666" y="3093293"/>
              <a:ext cx="7143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4" name="Line 619"/>
            <p:cNvSpPr>
              <a:spLocks noChangeShapeType="1"/>
            </p:cNvSpPr>
            <p:nvPr/>
          </p:nvSpPr>
          <p:spPr bwMode="auto">
            <a:xfrm>
              <a:off x="6484966" y="3093293"/>
              <a:ext cx="7143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5" name="Line 620"/>
            <p:cNvSpPr>
              <a:spLocks noChangeShapeType="1"/>
            </p:cNvSpPr>
            <p:nvPr/>
          </p:nvSpPr>
          <p:spPr bwMode="auto">
            <a:xfrm>
              <a:off x="8285191" y="3093293"/>
              <a:ext cx="7143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" name="Line 621"/>
            <p:cNvSpPr>
              <a:spLocks noChangeShapeType="1"/>
            </p:cNvSpPr>
            <p:nvPr/>
          </p:nvSpPr>
          <p:spPr bwMode="auto">
            <a:xfrm>
              <a:off x="7637491" y="3093293"/>
              <a:ext cx="7143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" name="Text Box 622"/>
            <p:cNvSpPr txBox="1">
              <a:spLocks noChangeArrowheads="1"/>
            </p:cNvSpPr>
            <p:nvPr/>
          </p:nvSpPr>
          <p:spPr bwMode="auto">
            <a:xfrm>
              <a:off x="5403879" y="2877393"/>
              <a:ext cx="792163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/>
                <a:t>……</a:t>
              </a:r>
              <a:endParaRPr lang="en-US" altLang="zh-CN" sz="1800" b="1" u="none" dirty="0"/>
            </a:p>
          </p:txBody>
        </p:sp>
        <p:sp>
          <p:nvSpPr>
            <p:cNvPr id="698" name="Line 623"/>
            <p:cNvSpPr>
              <a:spLocks noChangeShapeType="1"/>
            </p:cNvSpPr>
            <p:nvPr/>
          </p:nvSpPr>
          <p:spPr bwMode="auto">
            <a:xfrm flipH="1">
              <a:off x="8355041" y="3093293"/>
              <a:ext cx="1588" cy="112722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9" name="Line 624"/>
            <p:cNvSpPr>
              <a:spLocks noChangeShapeType="1"/>
            </p:cNvSpPr>
            <p:nvPr/>
          </p:nvSpPr>
          <p:spPr bwMode="auto">
            <a:xfrm>
              <a:off x="3894166" y="3094881"/>
              <a:ext cx="0" cy="112722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0" name="Line 625"/>
            <p:cNvSpPr>
              <a:spLocks noChangeShapeType="1"/>
            </p:cNvSpPr>
            <p:nvPr/>
          </p:nvSpPr>
          <p:spPr bwMode="auto">
            <a:xfrm>
              <a:off x="3173440" y="3094882"/>
              <a:ext cx="2" cy="112722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1" name="Line 626"/>
            <p:cNvSpPr>
              <a:spLocks noChangeShapeType="1"/>
            </p:cNvSpPr>
            <p:nvPr/>
          </p:nvSpPr>
          <p:spPr bwMode="auto">
            <a:xfrm flipH="1">
              <a:off x="5045104" y="3094881"/>
              <a:ext cx="0" cy="112563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2" name="Line 627"/>
            <p:cNvSpPr>
              <a:spLocks noChangeShapeType="1"/>
            </p:cNvSpPr>
            <p:nvPr/>
          </p:nvSpPr>
          <p:spPr bwMode="auto">
            <a:xfrm flipH="1">
              <a:off x="4324379" y="3094881"/>
              <a:ext cx="0" cy="112722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3" name="Line 628"/>
            <p:cNvSpPr>
              <a:spLocks noChangeShapeType="1"/>
            </p:cNvSpPr>
            <p:nvPr/>
          </p:nvSpPr>
          <p:spPr bwMode="auto">
            <a:xfrm flipH="1">
              <a:off x="7204104" y="3093293"/>
              <a:ext cx="1587" cy="112722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4" name="Line 629"/>
            <p:cNvSpPr>
              <a:spLocks noChangeShapeType="1"/>
            </p:cNvSpPr>
            <p:nvPr/>
          </p:nvSpPr>
          <p:spPr bwMode="auto">
            <a:xfrm flipH="1">
              <a:off x="6484966" y="3093293"/>
              <a:ext cx="0" cy="112722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5" name="Line 630"/>
            <p:cNvSpPr>
              <a:spLocks noChangeShapeType="1"/>
            </p:cNvSpPr>
            <p:nvPr/>
          </p:nvSpPr>
          <p:spPr bwMode="auto">
            <a:xfrm flipH="1">
              <a:off x="7635904" y="3093293"/>
              <a:ext cx="0" cy="112722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" name="Line 471"/>
            <p:cNvSpPr>
              <a:spLocks noChangeShapeType="1"/>
            </p:cNvSpPr>
            <p:nvPr/>
          </p:nvSpPr>
          <p:spPr bwMode="auto">
            <a:xfrm>
              <a:off x="2738466" y="5157192"/>
              <a:ext cx="5618163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" name="Text Box 474"/>
            <p:cNvSpPr txBox="1">
              <a:spLocks noChangeArrowheads="1"/>
            </p:cNvSpPr>
            <p:nvPr/>
          </p:nvSpPr>
          <p:spPr bwMode="auto">
            <a:xfrm>
              <a:off x="5261004" y="5301208"/>
              <a:ext cx="1079500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solidFill>
                    <a:srgbClr val="CC3300"/>
                  </a:solidFill>
                </a:rPr>
                <a:t>……</a:t>
              </a:r>
              <a:endParaRPr lang="en-US" altLang="zh-CN" sz="1800" b="1" u="none" dirty="0">
                <a:solidFill>
                  <a:srgbClr val="CC3300"/>
                </a:solidFill>
              </a:endParaRPr>
            </a:p>
          </p:txBody>
        </p:sp>
        <p:sp>
          <p:nvSpPr>
            <p:cNvPr id="708" name="Text Box 473"/>
            <p:cNvSpPr txBox="1">
              <a:spLocks noChangeArrowheads="1"/>
            </p:cNvSpPr>
            <p:nvPr/>
          </p:nvSpPr>
          <p:spPr bwMode="auto">
            <a:xfrm>
              <a:off x="2195736" y="3056781"/>
              <a:ext cx="287338" cy="66089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solidFill>
                    <a:srgbClr val="CC3300"/>
                  </a:solidFill>
                </a:rPr>
                <a:t>……</a:t>
              </a:r>
              <a:endParaRPr lang="en-US" altLang="zh-CN" sz="1800" b="1" u="none" dirty="0">
                <a:solidFill>
                  <a:srgbClr val="CC3300"/>
                </a:solidFill>
              </a:endParaRPr>
            </a:p>
          </p:txBody>
        </p:sp>
      </p:grpSp>
      <p:sp>
        <p:nvSpPr>
          <p:cNvPr id="18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2ED34-8D00-4D0E-97A1-96B8D3266192}" type="slidenum">
              <a:rPr lang="en-US" altLang="zh-CN"/>
            </a:fld>
            <a:endParaRPr lang="en-US" altLang="zh-CN"/>
          </a:p>
        </p:txBody>
      </p:sp>
      <p:sp>
        <p:nvSpPr>
          <p:cNvPr id="306180" name="Text Box 4"/>
          <p:cNvSpPr txBox="1">
            <a:spLocks noChangeArrowheads="1"/>
          </p:cNvSpPr>
          <p:nvPr/>
        </p:nvSpPr>
        <p:spPr bwMode="auto">
          <a:xfrm>
            <a:off x="179388" y="367496"/>
            <a:ext cx="6016654" cy="19389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组成示例： 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Intel </a:t>
            </a:r>
            <a:r>
              <a:rPr lang="en-US" altLang="zh-CN" b="1" u="none" dirty="0">
                <a:latin typeface="宋体" panose="02010600030101010101" pitchFamily="2" charset="-122"/>
              </a:rPr>
              <a:t>2114 SRAM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芯片</a:t>
            </a:r>
            <a:endParaRPr lang="zh-CN" altLang="en-US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参数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容量为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1K×4b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，双向数据引脚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引脚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组成</a:t>
            </a: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306629" name="Text Box 453"/>
          <p:cNvSpPr txBox="1">
            <a:spLocks noChangeArrowheads="1"/>
          </p:cNvSpPr>
          <p:nvPr/>
        </p:nvSpPr>
        <p:spPr bwMode="auto">
          <a:xfrm>
            <a:off x="1763688" y="1268760"/>
            <a:ext cx="6912768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数据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(4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根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，地址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(10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根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，控制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片选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+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读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写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存储矩阵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en-US" altLang="zh-CN" sz="1800" b="1" u="none" dirty="0">
                <a:latin typeface="宋体" panose="02010600030101010101" pitchFamily="2" charset="-122"/>
              </a:rPr>
              <a:t>64×64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</a:t>
            </a:r>
            <a:r>
              <a:rPr lang="en-US" altLang="zh-CN" b="1" u="none" dirty="0">
                <a:latin typeface="宋体" panose="02010600030101010101" pitchFamily="2" charset="-122"/>
              </a:rPr>
              <a:t>I/O</a:t>
            </a:r>
            <a:r>
              <a:rPr lang="zh-CN" altLang="en-US" b="1" u="none" dirty="0">
                <a:latin typeface="宋体" panose="02010600030101010101" pitchFamily="2" charset="-122"/>
              </a:rPr>
              <a:t>门</a:t>
            </a:r>
            <a:r>
              <a:rPr lang="en-US" altLang="zh-CN" sz="1800" b="1" u="none" dirty="0">
                <a:latin typeface="宋体" panose="02010600030101010101" pitchFamily="2" charset="-122"/>
              </a:rPr>
              <a:t>(4</a:t>
            </a:r>
            <a:r>
              <a:rPr lang="zh-CN" altLang="en-US" sz="1800" b="1" u="none" dirty="0">
                <a:latin typeface="宋体" panose="02010600030101010101" pitchFamily="2" charset="-122"/>
              </a:rPr>
              <a:t>位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b="1" u="none" dirty="0">
                <a:latin typeface="宋体" panose="02010600030101010101" pitchFamily="2" charset="-122"/>
              </a:rPr>
              <a:t>，读写电路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4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位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地址译码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log</a:t>
            </a:r>
            <a:r>
              <a:rPr lang="en-US" altLang="zh-CN" sz="1800" b="1" u="none" baseline="-18000" dirty="0" smtClean="0">
                <a:latin typeface="宋体" panose="02010600030101010101" pitchFamily="2" charset="-122"/>
              </a:rPr>
              <a:t>2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64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＋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log</a:t>
            </a:r>
            <a:r>
              <a:rPr lang="en-US" altLang="zh-CN" sz="1800" b="1" u="none" baseline="-18000" dirty="0" smtClean="0">
                <a:latin typeface="宋体" panose="02010600030101010101" pitchFamily="2" charset="-122"/>
              </a:rPr>
              <a:t>2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[64/4])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控制电路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183" name="AutoShape 73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" name="AutoShape 177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29" name="组合 528"/>
          <p:cNvGrpSpPr/>
          <p:nvPr/>
        </p:nvGrpSpPr>
        <p:grpSpPr>
          <a:xfrm>
            <a:off x="1011266" y="2780928"/>
            <a:ext cx="7561264" cy="3646140"/>
            <a:chOff x="1011266" y="2420888"/>
            <a:chExt cx="7561264" cy="3646140"/>
          </a:xfrm>
        </p:grpSpPr>
        <p:sp>
          <p:nvSpPr>
            <p:cNvPr id="530" name="Rectangle 458"/>
            <p:cNvSpPr>
              <a:spLocks noChangeArrowheads="1"/>
            </p:cNvSpPr>
            <p:nvPr/>
          </p:nvSpPr>
          <p:spPr bwMode="auto">
            <a:xfrm>
              <a:off x="1619672" y="2420888"/>
              <a:ext cx="6952858" cy="328609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1" name="Line 461"/>
            <p:cNvSpPr>
              <a:spLocks noChangeShapeType="1"/>
            </p:cNvSpPr>
            <p:nvPr/>
          </p:nvSpPr>
          <p:spPr bwMode="auto">
            <a:xfrm flipV="1">
              <a:off x="1371629" y="2730078"/>
              <a:ext cx="360363" cy="158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" name="Line 462"/>
            <p:cNvSpPr>
              <a:spLocks noChangeShapeType="1"/>
            </p:cNvSpPr>
            <p:nvPr/>
          </p:nvSpPr>
          <p:spPr bwMode="auto">
            <a:xfrm flipV="1">
              <a:off x="1371629" y="3234903"/>
              <a:ext cx="360363" cy="158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" name="Text Box 463"/>
            <p:cNvSpPr txBox="1">
              <a:spLocks noChangeArrowheads="1"/>
            </p:cNvSpPr>
            <p:nvPr/>
          </p:nvSpPr>
          <p:spPr bwMode="auto">
            <a:xfrm>
              <a:off x="1371629" y="2806280"/>
              <a:ext cx="287338" cy="32226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solidFill>
                    <a:srgbClr val="CC3300"/>
                  </a:solidFill>
                </a:rPr>
                <a:t>…</a:t>
              </a:r>
              <a:endParaRPr lang="en-US" altLang="zh-CN" sz="1800" b="1" u="none" dirty="0">
                <a:solidFill>
                  <a:srgbClr val="CC3300"/>
                </a:solidFill>
              </a:endParaRPr>
            </a:p>
          </p:txBody>
        </p:sp>
        <p:sp>
          <p:nvSpPr>
            <p:cNvPr id="534" name="Text Box 464"/>
            <p:cNvSpPr txBox="1">
              <a:spLocks noChangeArrowheads="1"/>
            </p:cNvSpPr>
            <p:nvPr/>
          </p:nvSpPr>
          <p:spPr bwMode="auto">
            <a:xfrm>
              <a:off x="1011266" y="2515766"/>
              <a:ext cx="360363" cy="7937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3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  <a:p>
              <a:pPr algn="ctr"/>
              <a:endParaRPr lang="en-US" altLang="zh-CN" sz="1800" b="1" u="none" baseline="-20000">
                <a:latin typeface="宋体" panose="02010600030101010101" pitchFamily="2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8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535" name="Line 468"/>
            <p:cNvSpPr>
              <a:spLocks noChangeShapeType="1"/>
            </p:cNvSpPr>
            <p:nvPr/>
          </p:nvSpPr>
          <p:spPr bwMode="auto">
            <a:xfrm flipV="1">
              <a:off x="5259416" y="5585693"/>
              <a:ext cx="1588" cy="21907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6" name="Line 469"/>
            <p:cNvSpPr>
              <a:spLocks noChangeShapeType="1"/>
            </p:cNvSpPr>
            <p:nvPr/>
          </p:nvSpPr>
          <p:spPr bwMode="auto">
            <a:xfrm flipV="1">
              <a:off x="5980141" y="5585693"/>
              <a:ext cx="0" cy="21907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7" name="Text Box 472"/>
            <p:cNvSpPr txBox="1">
              <a:spLocks noChangeArrowheads="1"/>
            </p:cNvSpPr>
            <p:nvPr/>
          </p:nvSpPr>
          <p:spPr bwMode="auto">
            <a:xfrm>
              <a:off x="5187979" y="5803181"/>
              <a:ext cx="1368425" cy="2174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2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/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/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/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9</a:t>
              </a:r>
              <a:endParaRPr lang="en-US" altLang="zh-CN" sz="18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538" name="Text Box 548"/>
            <p:cNvSpPr txBox="1">
              <a:spLocks noChangeArrowheads="1"/>
            </p:cNvSpPr>
            <p:nvPr/>
          </p:nvSpPr>
          <p:spPr bwMode="auto">
            <a:xfrm>
              <a:off x="1011266" y="4088821"/>
              <a:ext cx="360363" cy="79057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  <a:p>
              <a:pPr algn="ctr"/>
              <a:endParaRPr lang="en-US" altLang="zh-CN" sz="1800" b="1" u="none" baseline="-20000">
                <a:latin typeface="宋体" panose="02010600030101010101" pitchFamily="2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3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539" name="Line 550"/>
            <p:cNvSpPr>
              <a:spLocks noChangeShapeType="1"/>
            </p:cNvSpPr>
            <p:nvPr/>
          </p:nvSpPr>
          <p:spPr bwMode="auto">
            <a:xfrm flipV="1">
              <a:off x="5619779" y="5588868"/>
              <a:ext cx="0" cy="21907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0" name="Line 577"/>
            <p:cNvSpPr>
              <a:spLocks noChangeShapeType="1"/>
            </p:cNvSpPr>
            <p:nvPr/>
          </p:nvSpPr>
          <p:spPr bwMode="auto">
            <a:xfrm flipV="1">
              <a:off x="6340504" y="5587281"/>
              <a:ext cx="0" cy="21907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" name="Text Box 549"/>
            <p:cNvSpPr txBox="1">
              <a:spLocks noChangeArrowheads="1"/>
            </p:cNvSpPr>
            <p:nvPr/>
          </p:nvSpPr>
          <p:spPr bwMode="auto">
            <a:xfrm>
              <a:off x="1371629" y="4374571"/>
              <a:ext cx="287338" cy="27856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solidFill>
                    <a:schemeClr val="accent2"/>
                  </a:solidFill>
                </a:rPr>
                <a:t>…</a:t>
              </a:r>
              <a:endParaRPr lang="en-US" altLang="zh-CN" sz="1800" b="1" u="none" dirty="0">
                <a:solidFill>
                  <a:schemeClr val="accent2"/>
                </a:solidFill>
              </a:endParaRPr>
            </a:p>
          </p:txBody>
        </p:sp>
        <p:sp>
          <p:nvSpPr>
            <p:cNvPr id="544" name="Text Box 557"/>
            <p:cNvSpPr txBox="1">
              <a:spLocks noChangeArrowheads="1"/>
            </p:cNvSpPr>
            <p:nvPr/>
          </p:nvSpPr>
          <p:spPr bwMode="auto">
            <a:xfrm>
              <a:off x="1587529" y="5803503"/>
              <a:ext cx="287338" cy="2635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CS</a:t>
              </a:r>
              <a:endParaRPr lang="en-US" altLang="zh-CN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545" name="Line 558"/>
            <p:cNvSpPr>
              <a:spLocks noChangeShapeType="1"/>
            </p:cNvSpPr>
            <p:nvPr/>
          </p:nvSpPr>
          <p:spPr bwMode="auto">
            <a:xfrm>
              <a:off x="1604992" y="5833983"/>
              <a:ext cx="238125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6" name="Line 567"/>
            <p:cNvSpPr>
              <a:spLocks noChangeShapeType="1"/>
            </p:cNvSpPr>
            <p:nvPr/>
          </p:nvSpPr>
          <p:spPr bwMode="auto">
            <a:xfrm flipH="1" flipV="1">
              <a:off x="1730404" y="5443141"/>
              <a:ext cx="0" cy="360363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7" name="Line 570"/>
            <p:cNvSpPr>
              <a:spLocks noChangeShapeType="1"/>
            </p:cNvSpPr>
            <p:nvPr/>
          </p:nvSpPr>
          <p:spPr bwMode="auto">
            <a:xfrm flipH="1" flipV="1">
              <a:off x="2594004" y="5371703"/>
              <a:ext cx="1588" cy="4318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8" name="Text Box 574"/>
            <p:cNvSpPr txBox="1">
              <a:spLocks noChangeArrowheads="1"/>
            </p:cNvSpPr>
            <p:nvPr/>
          </p:nvSpPr>
          <p:spPr bwMode="auto">
            <a:xfrm>
              <a:off x="2451129" y="5803503"/>
              <a:ext cx="287338" cy="2635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WE</a:t>
              </a:r>
              <a:endParaRPr lang="en-US" altLang="zh-CN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549" name="Line 575"/>
            <p:cNvSpPr>
              <a:spLocks noChangeShapeType="1"/>
            </p:cNvSpPr>
            <p:nvPr/>
          </p:nvSpPr>
          <p:spPr bwMode="auto">
            <a:xfrm>
              <a:off x="2455892" y="5833983"/>
              <a:ext cx="26193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1" name="Line 547"/>
            <p:cNvSpPr>
              <a:spLocks noChangeShapeType="1"/>
            </p:cNvSpPr>
            <p:nvPr/>
          </p:nvSpPr>
          <p:spPr bwMode="auto">
            <a:xfrm flipV="1">
              <a:off x="1371629" y="4724003"/>
              <a:ext cx="360363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" name="Line 466"/>
            <p:cNvSpPr>
              <a:spLocks noChangeShapeType="1"/>
            </p:cNvSpPr>
            <p:nvPr/>
          </p:nvSpPr>
          <p:spPr bwMode="auto">
            <a:xfrm flipV="1">
              <a:off x="1371629" y="4304721"/>
              <a:ext cx="360363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06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06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370"/>
          <p:cNvSpPr txBox="1">
            <a:spLocks noChangeArrowheads="1"/>
          </p:cNvSpPr>
          <p:nvPr/>
        </p:nvSpPr>
        <p:spPr bwMode="auto">
          <a:xfrm>
            <a:off x="179388" y="332656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芯片的读写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时序 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芯片对</a:t>
            </a:r>
            <a:r>
              <a:rPr lang="zh-CN" altLang="en-US" sz="1800" b="1" u="none" dirty="0">
                <a:latin typeface="宋体" panose="02010600030101010101" pitchFamily="2" charset="-122"/>
              </a:rPr>
              <a:t>引脚信号的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时序要求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zh-CN" altLang="en-US" sz="20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120" name="AutoShape 63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" name="AutoShape 63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7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" name="Text Box 371"/>
          <p:cNvSpPr txBox="1">
            <a:spLocks noChangeArrowheads="1"/>
          </p:cNvSpPr>
          <p:nvPr/>
        </p:nvSpPr>
        <p:spPr bwMode="auto">
          <a:xfrm>
            <a:off x="179388" y="799544"/>
            <a:ext cx="6142576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操作的标志：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开始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      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停止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*读周期的时序：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厂家给出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的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参数</a:t>
            </a:r>
            <a:r>
              <a:rPr lang="zh-CN" altLang="en-US" sz="1800" b="1" u="none" dirty="0">
                <a:latin typeface="宋体" panose="02010600030101010101" pitchFamily="2" charset="-122"/>
              </a:rPr>
              <a:t>是最小值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126" name="Text Box 713"/>
          <p:cNvSpPr txBox="1">
            <a:spLocks noChangeArrowheads="1"/>
          </p:cNvSpPr>
          <p:nvPr/>
        </p:nvSpPr>
        <p:spPr bwMode="auto">
          <a:xfrm>
            <a:off x="5316627" y="2348880"/>
            <a:ext cx="3312368" cy="165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/>
          <a:lstStyle/>
          <a:p>
            <a:pPr>
              <a:lnSpc>
                <a:spcPct val="114000"/>
              </a:lnSpc>
            </a:pPr>
            <a:r>
              <a:rPr lang="en-US" altLang="zh-CN" sz="1800" b="1" u="none" dirty="0" err="1"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>
                <a:latin typeface="宋体" panose="02010600030101010101" pitchFamily="2" charset="-122"/>
              </a:rPr>
              <a:t>AW</a:t>
            </a:r>
            <a:r>
              <a:rPr lang="en-US" altLang="zh-CN" sz="1800" b="1" u="none" baseline="-18000" dirty="0"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latin typeface="宋体" panose="02010600030101010101" pitchFamily="2" charset="-122"/>
              </a:rPr>
              <a:t>读滞后时间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＝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译码时延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lang="en-US" altLang="zh-CN" sz="1800" b="1" u="none" dirty="0" err="1" smtClean="0"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 smtClean="0">
                <a:latin typeface="宋体" panose="02010600030101010101" pitchFamily="2" charset="-122"/>
              </a:rPr>
              <a:t>CO</a:t>
            </a:r>
            <a:r>
              <a:rPr lang="en-US" altLang="zh-CN" sz="1800" b="1" u="none" baseline="-18000" dirty="0" smtClean="0">
                <a:latin typeface="宋体" panose="02010600030101010101" pitchFamily="2" charset="-122"/>
              </a:rPr>
              <a:t>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开始操作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→数据输出稳定</a:t>
            </a:r>
            <a:endParaRPr lang="zh-CN" altLang="en-US" sz="1800" b="1" u="none" dirty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lang="en-US" altLang="zh-CN" sz="1800" b="1" u="none" dirty="0" err="1" smtClean="0"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 smtClean="0">
                <a:latin typeface="宋体" panose="02010600030101010101" pitchFamily="2" charset="-122"/>
              </a:rPr>
              <a:t>OTD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停止操作→</a:t>
            </a:r>
            <a:r>
              <a:rPr lang="zh-CN" altLang="en-US" sz="1800" b="1" u="none" dirty="0">
                <a:latin typeface="宋体" panose="02010600030101010101" pitchFamily="2" charset="-122"/>
              </a:rPr>
              <a:t>数据引脚高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阻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zh-CN" sz="1800" b="1" u="none" dirty="0" err="1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>
                <a:solidFill>
                  <a:srgbClr val="0070C0"/>
                </a:solidFill>
                <a:latin typeface="宋体" panose="02010600030101010101" pitchFamily="2" charset="-122"/>
              </a:rPr>
              <a:t>A</a:t>
            </a:r>
            <a:r>
              <a:rPr lang="en-US" altLang="zh-CN" sz="1800" b="1" u="none" baseline="-18000" dirty="0">
                <a:solidFill>
                  <a:srgbClr val="0070C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u="none" baseline="-25000" dirty="0">
                <a:solidFill>
                  <a:srgbClr val="0070C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读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时间</a:t>
            </a:r>
            <a:r>
              <a:rPr lang="en-US" altLang="zh-CN" sz="18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1800" b="1" u="none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AW</a:t>
            </a:r>
            <a:r>
              <a:rPr lang="en-US" altLang="zh-CN" sz="1800" b="1" u="none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+t</a:t>
            </a:r>
            <a:r>
              <a:rPr lang="en-US" altLang="zh-CN" sz="1800" b="1" u="none" baseline="-18000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CO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)</a:t>
            </a:r>
            <a:endParaRPr lang="en-US" altLang="zh-CN" sz="1800" b="1" u="none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zh-CN" sz="1800" b="1" u="none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RC</a:t>
            </a:r>
            <a:r>
              <a:rPr lang="en-US" altLang="zh-CN" sz="1800" b="1" u="none" baseline="-180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读周期</a:t>
            </a:r>
            <a:r>
              <a:rPr lang="en-US" altLang="zh-CN" sz="18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1800" b="1" u="none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AW</a:t>
            </a:r>
            <a:r>
              <a:rPr lang="en-US" altLang="zh-CN" sz="1800" b="1" u="none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+t</a:t>
            </a:r>
            <a:r>
              <a:rPr lang="en-US" altLang="zh-CN" sz="1800" b="1" u="none" baseline="-18000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CO</a:t>
            </a:r>
            <a:r>
              <a:rPr lang="en-US" altLang="zh-CN" sz="1800" b="1" u="none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+</a:t>
            </a:r>
            <a:r>
              <a:rPr lang="en-US" altLang="zh-CN" sz="1800" b="1" u="none" dirty="0" err="1" smtClean="0">
                <a:solidFill>
                  <a:srgbClr val="990099"/>
                </a:solidFill>
                <a:latin typeface="宋体" panose="02010600030101010101" pitchFamily="2" charset="-122"/>
              </a:rPr>
              <a:t>t</a:t>
            </a:r>
            <a:r>
              <a:rPr lang="zh-CN" altLang="en-US" sz="1800" b="1" u="none" baseline="-180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传送</a:t>
            </a:r>
            <a:r>
              <a:rPr lang="en-US" altLang="zh-CN" sz="18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)</a:t>
            </a:r>
            <a:endParaRPr lang="zh-CN" altLang="en-US" sz="1800" b="1" u="none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lang="en-US" altLang="zh-CN" sz="1800" b="1" u="none" dirty="0" smtClean="0">
                <a:latin typeface="宋体" panose="02010600030101010101" pitchFamily="2" charset="-122"/>
              </a:rPr>
              <a:t>      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189" name="Text Box 371"/>
          <p:cNvSpPr txBox="1">
            <a:spLocks noChangeArrowheads="1"/>
          </p:cNvSpPr>
          <p:nvPr/>
        </p:nvSpPr>
        <p:spPr bwMode="auto">
          <a:xfrm>
            <a:off x="179511" y="3933056"/>
            <a:ext cx="8785102" cy="18611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操作信号的时序要求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      ①</a:t>
            </a:r>
            <a:r>
              <a:rPr lang="zh-CN" altLang="en-US" b="1" dirty="0">
                <a:latin typeface="宋体" panose="02010600030101010101" pitchFamily="2" charset="-122"/>
              </a:rPr>
              <a:t>地址</a:t>
            </a: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先发送</a:t>
            </a:r>
            <a:r>
              <a:rPr lang="zh-CN" altLang="en-US" b="1" u="none" dirty="0">
                <a:latin typeface="宋体" panose="02010600030101010101" pitchFamily="2" charset="-122"/>
              </a:rPr>
              <a:t>，</a:t>
            </a:r>
            <a:r>
              <a:rPr lang="en-US" altLang="zh-CN" b="1" dirty="0" smtClean="0">
                <a:latin typeface="宋体" panose="02010600030101010101" pitchFamily="2" charset="-122"/>
              </a:rPr>
              <a:t>CS#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在</a:t>
            </a: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地址稳定后</a:t>
            </a:r>
            <a:r>
              <a:rPr lang="zh-CN" altLang="en-US" b="1" u="none" dirty="0">
                <a:latin typeface="宋体" panose="02010600030101010101" pitchFamily="2" charset="-122"/>
              </a:rPr>
              <a:t>有效  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 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u="none" dirty="0">
                <a:latin typeface="宋体" panose="02010600030101010101" pitchFamily="2" charset="-122"/>
              </a:rPr>
              <a:t>对</a:t>
            </a:r>
            <a:r>
              <a:rPr lang="zh-CN" altLang="en-US" sz="1800" b="1" dirty="0">
                <a:latin typeface="宋体" panose="02010600030101010101" pitchFamily="2" charset="-122"/>
              </a:rPr>
              <a:t>指定单元</a:t>
            </a:r>
            <a:r>
              <a:rPr lang="zh-CN" altLang="en-US" sz="1600" b="1" u="none" dirty="0">
                <a:latin typeface="宋体" panose="02010600030101010101" pitchFamily="2" charset="-122"/>
              </a:rPr>
              <a:t>操作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      ②</a:t>
            </a:r>
            <a:r>
              <a:rPr lang="en-US" altLang="zh-CN" b="1" dirty="0" smtClean="0">
                <a:latin typeface="宋体" panose="02010600030101010101" pitchFamily="2" charset="-122"/>
              </a:rPr>
              <a:t>WE#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在</a:t>
            </a:r>
            <a:r>
              <a:rPr lang="en-US" altLang="zh-CN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CS#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有效期</a:t>
            </a: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间</a:t>
            </a:r>
            <a:r>
              <a:rPr lang="zh-CN" altLang="en-US" b="1" u="none" dirty="0">
                <a:latin typeface="宋体" panose="02010600030101010101" pitchFamily="2" charset="-122"/>
              </a:rPr>
              <a:t>无效</a:t>
            </a:r>
            <a:r>
              <a:rPr lang="en-US" altLang="zh-CN" b="1" u="none" dirty="0">
                <a:latin typeface="宋体" panose="02010600030101010101" pitchFamily="2" charset="-122"/>
              </a:rPr>
              <a:t>(</a:t>
            </a:r>
            <a:r>
              <a:rPr lang="zh-CN" altLang="en-US" b="1" u="none" dirty="0">
                <a:latin typeface="宋体" panose="02010600030101010101" pitchFamily="2" charset="-122"/>
              </a:rPr>
              <a:t>读</a:t>
            </a:r>
            <a:r>
              <a:rPr lang="en-US" altLang="zh-CN" b="1" u="none" dirty="0">
                <a:latin typeface="宋体" panose="02010600030101010101" pitchFamily="2" charset="-122"/>
              </a:rPr>
              <a:t>)       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←防止</a:t>
            </a:r>
            <a:r>
              <a:rPr lang="zh-CN" altLang="en-US" sz="1800" b="1" dirty="0">
                <a:latin typeface="宋体" panose="02010600030101010101" pitchFamily="2" charset="-122"/>
              </a:rPr>
              <a:t>误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写入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119" name="Text Box 371"/>
          <p:cNvSpPr txBox="1">
            <a:spLocks noChangeArrowheads="1"/>
          </p:cNvSpPr>
          <p:nvPr/>
        </p:nvSpPr>
        <p:spPr bwMode="auto">
          <a:xfrm>
            <a:off x="3347864" y="836712"/>
            <a:ext cx="2902217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CS#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从无效→有效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CS#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从有效→无效</a:t>
            </a:r>
            <a:endParaRPr lang="en-US" altLang="zh-CN" u="none" dirty="0" smtClean="0">
              <a:latin typeface="宋体" panose="02010600030101010101" pitchFamily="2" charset="-122"/>
            </a:endParaRPr>
          </a:p>
        </p:txBody>
      </p:sp>
      <p:sp>
        <p:nvSpPr>
          <p:cNvPr id="75" name="AutoShape 338"/>
          <p:cNvSpPr/>
          <p:nvPr/>
        </p:nvSpPr>
        <p:spPr bwMode="auto">
          <a:xfrm>
            <a:off x="5316626" y="4005064"/>
            <a:ext cx="1944000" cy="252000"/>
          </a:xfrm>
          <a:prstGeom prst="borderCallout2">
            <a:avLst>
              <a:gd name="adj1" fmla="val 50044"/>
              <a:gd name="adj2" fmla="val -249"/>
              <a:gd name="adj3" fmla="val 49964"/>
              <a:gd name="adj4" fmla="val -13839"/>
              <a:gd name="adj5" fmla="val -182671"/>
              <a:gd name="adj6" fmla="val -57176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vert="horz" lIns="18000" tIns="10800" rIns="18000" bIns="10800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 smtClean="0">
                <a:latin typeface="宋体" panose="02010600030101010101" pitchFamily="2" charset="-122"/>
              </a:rPr>
              <a:t>操作者接收数据时间</a:t>
            </a:r>
            <a:endParaRPr lang="zh-CN" altLang="en-US" sz="1600" b="1" u="none" dirty="0">
              <a:latin typeface="宋体" panose="02010600030101010101" pitchFamily="2" charset="-122"/>
            </a:endParaRPr>
          </a:p>
        </p:txBody>
      </p:sp>
      <p:sp>
        <p:nvSpPr>
          <p:cNvPr id="77" name="AutoShape 331"/>
          <p:cNvSpPr/>
          <p:nvPr/>
        </p:nvSpPr>
        <p:spPr bwMode="auto">
          <a:xfrm>
            <a:off x="395664" y="2924944"/>
            <a:ext cx="1152000" cy="504000"/>
          </a:xfrm>
          <a:prstGeom prst="borderCallout2">
            <a:avLst>
              <a:gd name="adj1" fmla="val -1868"/>
              <a:gd name="adj2" fmla="val 49243"/>
              <a:gd name="adj3" fmla="val -25557"/>
              <a:gd name="adj4" fmla="val 49880"/>
              <a:gd name="adj5" fmla="val -37245"/>
              <a:gd name="adj6" fmla="val 118825"/>
            </a:avLst>
          </a:prstGeom>
          <a:solidFill>
            <a:schemeClr val="bg1"/>
          </a:solidFill>
          <a:ln w="12700">
            <a:solidFill>
              <a:srgbClr val="FF3399"/>
            </a:solidFill>
            <a:prstDash val="sysDash"/>
            <a:miter lim="800000"/>
            <a:headEnd type="none" w="sm" len="med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+mn-ea"/>
                <a:ea typeface="+mn-ea"/>
              </a:rPr>
              <a:t>数</a:t>
            </a:r>
            <a:r>
              <a:rPr lang="zh-CN" altLang="en-US" sz="1600" b="1" u="none" dirty="0" smtClean="0">
                <a:latin typeface="+mn-ea"/>
                <a:ea typeface="+mn-ea"/>
              </a:rPr>
              <a:t>电中说成总线不妥</a:t>
            </a:r>
            <a:endParaRPr lang="zh-CN" altLang="en-US" sz="1600" b="1" u="none" dirty="0">
              <a:latin typeface="+mn-ea"/>
              <a:ea typeface="+mn-ea"/>
            </a:endParaRPr>
          </a:p>
        </p:txBody>
      </p:sp>
      <p:sp>
        <p:nvSpPr>
          <p:cNvPr id="78" name="Text Box 726"/>
          <p:cNvSpPr txBox="1">
            <a:spLocks noChangeArrowheads="1"/>
          </p:cNvSpPr>
          <p:nvPr/>
        </p:nvSpPr>
        <p:spPr bwMode="auto">
          <a:xfrm>
            <a:off x="1692000" y="4948751"/>
            <a:ext cx="597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marL="1078230" indent="-1078230">
              <a:lnSpc>
                <a:spcPct val="100000"/>
              </a:lnSpc>
            </a:pPr>
            <a:r>
              <a:rPr lang="zh-CN" altLang="en-US" sz="1800" dirty="0" smtClean="0"/>
              <a:t>思考①：</a:t>
            </a:r>
            <a:r>
              <a:rPr lang="en-US" altLang="zh-CN" sz="1800" dirty="0" smtClean="0">
                <a:solidFill>
                  <a:schemeClr val="tx1"/>
                </a:solidFill>
              </a:rPr>
              <a:t>CS#</a:t>
            </a:r>
            <a:r>
              <a:rPr lang="zh-CN" altLang="en-US" sz="1800" dirty="0" smtClean="0">
                <a:solidFill>
                  <a:schemeClr val="tx1"/>
                </a:solidFill>
              </a:rPr>
              <a:t>有效后，地址还在抖动，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t</a:t>
            </a:r>
            <a:r>
              <a:rPr lang="en-US" altLang="zh-CN" sz="1800" baseline="-18000" dirty="0" err="1" smtClean="0">
                <a:solidFill>
                  <a:schemeClr val="tx1"/>
                </a:solidFill>
              </a:rPr>
              <a:t>CO</a:t>
            </a:r>
            <a:r>
              <a:rPr lang="zh-CN" altLang="en-US" sz="1800" dirty="0" smtClean="0">
                <a:solidFill>
                  <a:schemeClr val="tx1"/>
                </a:solidFill>
              </a:rPr>
              <a:t>时能输出结果吗？</a:t>
            </a:r>
            <a:endParaRPr lang="zh-CN" altLang="en-US" sz="1800" dirty="0" smtClean="0">
              <a:solidFill>
                <a:schemeClr val="tx1"/>
              </a:solidFill>
            </a:endParaRPr>
          </a:p>
        </p:txBody>
      </p:sp>
      <p:sp>
        <p:nvSpPr>
          <p:cNvPr id="82" name="AutoShape 331"/>
          <p:cNvSpPr/>
          <p:nvPr/>
        </p:nvSpPr>
        <p:spPr bwMode="auto">
          <a:xfrm>
            <a:off x="395664" y="3573016"/>
            <a:ext cx="1152000" cy="252000"/>
          </a:xfrm>
          <a:prstGeom prst="borderCallout2">
            <a:avLst>
              <a:gd name="adj1" fmla="val 48529"/>
              <a:gd name="adj2" fmla="val 100506"/>
              <a:gd name="adj3" fmla="val 47518"/>
              <a:gd name="adj4" fmla="val 130358"/>
              <a:gd name="adj5" fmla="val -94841"/>
              <a:gd name="adj6" fmla="val 207492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headEnd type="none" w="sm" len="med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 smtClean="0">
                <a:latin typeface="+mn-ea"/>
                <a:ea typeface="+mn-ea"/>
              </a:rPr>
              <a:t>表示任意值</a:t>
            </a:r>
            <a:endParaRPr lang="zh-CN" altLang="en-US" sz="1600" b="1" u="none" dirty="0">
              <a:latin typeface="+mn-ea"/>
              <a:ea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498333" y="1052736"/>
            <a:ext cx="2051990" cy="615553"/>
            <a:chOff x="6498333" y="1210655"/>
            <a:chExt cx="2051990" cy="615553"/>
          </a:xfrm>
        </p:grpSpPr>
        <p:sp>
          <p:nvSpPr>
            <p:cNvPr id="84" name="Text Box 726"/>
            <p:cNvSpPr txBox="1">
              <a:spLocks noChangeArrowheads="1"/>
            </p:cNvSpPr>
            <p:nvPr/>
          </p:nvSpPr>
          <p:spPr bwMode="auto">
            <a:xfrm>
              <a:off x="6498333" y="1210655"/>
              <a:ext cx="2051990" cy="61555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wrap="square" anchor="ctr" anchorCtr="0">
              <a:spAutoFit/>
            </a:bodyPr>
            <a:lstStyle>
              <a:defPPr>
                <a:defRPr lang="zh-CN"/>
              </a:defPPr>
              <a:lvl1pPr>
                <a:lnSpc>
                  <a:spcPct val="125000"/>
                </a:lnSpc>
                <a:defRPr sz="2000" b="1" u="none">
                  <a:solidFill>
                    <a:srgbClr val="990099"/>
                  </a:solidFill>
                  <a:latin typeface="宋体" panose="02010600030101010101" pitchFamily="2" charset="-122"/>
                </a:defRPr>
              </a:lvl1pPr>
            </a:lstStyle>
            <a:p>
              <a:pPr marL="1078230" indent="-1078230">
                <a:lnSpc>
                  <a:spcPct val="100000"/>
                </a:lnSpc>
              </a:pPr>
              <a:r>
                <a:rPr lang="zh-CN" altLang="en-US" sz="1800" dirty="0" smtClean="0">
                  <a:solidFill>
                    <a:srgbClr val="FF3399"/>
                  </a:solidFill>
                </a:rPr>
                <a:t>约定：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CS#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表示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CS</a:t>
              </a:r>
              <a:endParaRPr lang="en-US" altLang="zh-CN" sz="1800" dirty="0" smtClean="0">
                <a:solidFill>
                  <a:schemeClr val="tx1"/>
                </a:solidFill>
              </a:endParaRPr>
            </a:p>
            <a:p>
              <a:pPr marL="1078230" indent="-1078230">
                <a:lnSpc>
                  <a:spcPct val="10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      (</a:t>
              </a:r>
              <a:r>
                <a:rPr lang="zh-CN" altLang="en-US" sz="1600" dirty="0" smtClean="0">
                  <a:solidFill>
                    <a:schemeClr val="tx1"/>
                  </a:solidFill>
                </a:rPr>
                <a:t>便于书写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)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86" name="Line 690"/>
            <p:cNvSpPr>
              <a:spLocks noChangeShapeType="1"/>
            </p:cNvSpPr>
            <p:nvPr/>
          </p:nvSpPr>
          <p:spPr bwMode="auto">
            <a:xfrm>
              <a:off x="8106573" y="1290532"/>
              <a:ext cx="216535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8" name="Text Box 726"/>
          <p:cNvSpPr txBox="1">
            <a:spLocks noChangeArrowheads="1"/>
          </p:cNvSpPr>
          <p:nvPr/>
        </p:nvSpPr>
        <p:spPr bwMode="auto">
          <a:xfrm>
            <a:off x="1692000" y="5740839"/>
            <a:ext cx="4558276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marL="1078230" indent="-1078230">
              <a:lnSpc>
                <a:spcPct val="100000"/>
              </a:lnSpc>
              <a:spcBef>
                <a:spcPts val="200"/>
              </a:spcBef>
            </a:pPr>
            <a:r>
              <a:rPr lang="zh-CN" altLang="en-US" sz="1800" dirty="0" smtClean="0"/>
              <a:t>思考②：</a:t>
            </a:r>
            <a:r>
              <a:rPr lang="en-US" altLang="zh-CN" sz="1800" dirty="0">
                <a:solidFill>
                  <a:schemeClr val="tx1"/>
                </a:solidFill>
              </a:rPr>
              <a:t>CS#</a:t>
            </a:r>
            <a:r>
              <a:rPr lang="zh-CN" altLang="en-US" sz="1800" dirty="0">
                <a:solidFill>
                  <a:schemeClr val="tx1"/>
                </a:solidFill>
              </a:rPr>
              <a:t>有效前，对</a:t>
            </a:r>
            <a:r>
              <a:rPr lang="en-US" altLang="zh-CN" sz="1800" dirty="0">
                <a:solidFill>
                  <a:schemeClr val="tx1"/>
                </a:solidFill>
              </a:rPr>
              <a:t>WE#</a:t>
            </a:r>
            <a:r>
              <a:rPr lang="zh-CN" altLang="en-US" sz="1800" dirty="0">
                <a:solidFill>
                  <a:schemeClr val="tx1"/>
                </a:solidFill>
              </a:rPr>
              <a:t>的值有要求吗？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89" name="Text Box 703"/>
          <p:cNvSpPr txBox="1">
            <a:spLocks noChangeArrowheads="1"/>
          </p:cNvSpPr>
          <p:nvPr/>
        </p:nvSpPr>
        <p:spPr bwMode="auto">
          <a:xfrm>
            <a:off x="6336704" y="5740807"/>
            <a:ext cx="2555776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0" anchor="ctr" anchorCtr="0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dirty="0">
                <a:latin typeface="+mn-ea"/>
                <a:ea typeface="+mn-ea"/>
              </a:rPr>
              <a:t>无要求</a:t>
            </a:r>
            <a:r>
              <a:rPr lang="en-US" altLang="zh-CN" sz="1600" b="1" u="none" dirty="0" smtClean="0">
                <a:latin typeface="+mn-ea"/>
                <a:ea typeface="+mn-ea"/>
              </a:rPr>
              <a:t>(CS</a:t>
            </a:r>
            <a:r>
              <a:rPr lang="en-US" altLang="zh-CN" sz="1600" b="1" u="none" dirty="0">
                <a:latin typeface="+mn-ea"/>
                <a:ea typeface="+mn-ea"/>
              </a:rPr>
              <a:t>#</a:t>
            </a:r>
            <a:r>
              <a:rPr lang="zh-CN" altLang="en-US" sz="1600" b="1" u="none" dirty="0">
                <a:latin typeface="+mn-ea"/>
                <a:ea typeface="+mn-ea"/>
              </a:rPr>
              <a:t>无效时无</a:t>
            </a:r>
            <a:r>
              <a:rPr lang="zh-CN" altLang="en-US" sz="1600" b="1" u="none" dirty="0" smtClean="0">
                <a:latin typeface="+mn-ea"/>
                <a:ea typeface="+mn-ea"/>
              </a:rPr>
              <a:t>动作</a:t>
            </a:r>
            <a:r>
              <a:rPr lang="en-US" altLang="zh-CN" sz="1600" b="1" u="none" dirty="0" smtClean="0">
                <a:latin typeface="+mn-ea"/>
                <a:ea typeface="+mn-ea"/>
              </a:rPr>
              <a:t>)</a:t>
            </a:r>
            <a:endParaRPr lang="en-US" altLang="zh-CN" sz="1600" b="1" u="none" baseline="-18000" dirty="0">
              <a:latin typeface="+mn-ea"/>
              <a:ea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835752" y="2276872"/>
            <a:ext cx="3096272" cy="1590747"/>
            <a:chOff x="1835752" y="2276872"/>
            <a:chExt cx="3096272" cy="1590747"/>
          </a:xfrm>
        </p:grpSpPr>
        <p:sp>
          <p:nvSpPr>
            <p:cNvPr id="91" name="Line 656"/>
            <p:cNvSpPr>
              <a:spLocks noChangeShapeType="1"/>
            </p:cNvSpPr>
            <p:nvPr/>
          </p:nvSpPr>
          <p:spPr bwMode="auto">
            <a:xfrm>
              <a:off x="2339752" y="2636912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657"/>
            <p:cNvSpPr>
              <a:spLocks noChangeShapeType="1"/>
            </p:cNvSpPr>
            <p:nvPr/>
          </p:nvSpPr>
          <p:spPr bwMode="auto">
            <a:xfrm>
              <a:off x="2339752" y="2852936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658"/>
            <p:cNvSpPr>
              <a:spLocks noChangeShapeType="1"/>
            </p:cNvSpPr>
            <p:nvPr/>
          </p:nvSpPr>
          <p:spPr bwMode="auto">
            <a:xfrm>
              <a:off x="2627214" y="2636912"/>
              <a:ext cx="1800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659"/>
            <p:cNvSpPr>
              <a:spLocks noChangeShapeType="1"/>
            </p:cNvSpPr>
            <p:nvPr/>
          </p:nvSpPr>
          <p:spPr bwMode="auto">
            <a:xfrm>
              <a:off x="2629371" y="2852936"/>
              <a:ext cx="1800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660"/>
            <p:cNvSpPr>
              <a:spLocks noChangeShapeType="1"/>
            </p:cNvSpPr>
            <p:nvPr/>
          </p:nvSpPr>
          <p:spPr bwMode="auto">
            <a:xfrm>
              <a:off x="2339751" y="2924944"/>
              <a:ext cx="432000" cy="1388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661"/>
            <p:cNvSpPr>
              <a:spLocks noChangeShapeType="1"/>
            </p:cNvSpPr>
            <p:nvPr/>
          </p:nvSpPr>
          <p:spPr bwMode="auto">
            <a:xfrm flipV="1">
              <a:off x="2339752" y="3753024"/>
              <a:ext cx="1728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662"/>
            <p:cNvSpPr>
              <a:spLocks noChangeShapeType="1"/>
            </p:cNvSpPr>
            <p:nvPr/>
          </p:nvSpPr>
          <p:spPr bwMode="auto">
            <a:xfrm flipV="1">
              <a:off x="2914675" y="3140968"/>
              <a:ext cx="1296000" cy="2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663"/>
            <p:cNvSpPr>
              <a:spLocks noChangeShapeType="1"/>
            </p:cNvSpPr>
            <p:nvPr/>
          </p:nvSpPr>
          <p:spPr bwMode="auto">
            <a:xfrm flipV="1">
              <a:off x="4213101" y="2924944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664"/>
            <p:cNvSpPr>
              <a:spLocks noChangeShapeType="1"/>
            </p:cNvSpPr>
            <p:nvPr/>
          </p:nvSpPr>
          <p:spPr bwMode="auto">
            <a:xfrm>
              <a:off x="4355981" y="2924944"/>
              <a:ext cx="576000" cy="105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5" name="Line 665"/>
            <p:cNvSpPr>
              <a:spLocks noChangeShapeType="1"/>
            </p:cNvSpPr>
            <p:nvPr/>
          </p:nvSpPr>
          <p:spPr bwMode="auto">
            <a:xfrm>
              <a:off x="4141217" y="3648874"/>
              <a:ext cx="576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666"/>
            <p:cNvSpPr>
              <a:spLocks noChangeShapeType="1"/>
            </p:cNvSpPr>
            <p:nvPr/>
          </p:nvSpPr>
          <p:spPr bwMode="auto">
            <a:xfrm flipV="1">
              <a:off x="4141217" y="3861048"/>
              <a:ext cx="576000" cy="1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675"/>
            <p:cNvSpPr>
              <a:spLocks noChangeShapeType="1"/>
            </p:cNvSpPr>
            <p:nvPr/>
          </p:nvSpPr>
          <p:spPr bwMode="auto">
            <a:xfrm flipV="1">
              <a:off x="4570859" y="2636068"/>
              <a:ext cx="360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676"/>
            <p:cNvSpPr>
              <a:spLocks noChangeShapeType="1"/>
            </p:cNvSpPr>
            <p:nvPr/>
          </p:nvSpPr>
          <p:spPr bwMode="auto">
            <a:xfrm flipV="1">
              <a:off x="4571429" y="2852936"/>
              <a:ext cx="360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677"/>
            <p:cNvSpPr>
              <a:spLocks noChangeShapeType="1"/>
            </p:cNvSpPr>
            <p:nvPr/>
          </p:nvSpPr>
          <p:spPr bwMode="auto">
            <a:xfrm flipV="1">
              <a:off x="4788024" y="3751760"/>
              <a:ext cx="144000" cy="1264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678"/>
            <p:cNvSpPr>
              <a:spLocks noChangeShapeType="1"/>
            </p:cNvSpPr>
            <p:nvPr/>
          </p:nvSpPr>
          <p:spPr bwMode="auto">
            <a:xfrm>
              <a:off x="4499992" y="2276872"/>
              <a:ext cx="0" cy="10245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Text Box 681"/>
            <p:cNvSpPr txBox="1">
              <a:spLocks noChangeArrowheads="1"/>
            </p:cNvSpPr>
            <p:nvPr/>
          </p:nvSpPr>
          <p:spPr bwMode="auto">
            <a:xfrm>
              <a:off x="3203848" y="2420912"/>
              <a:ext cx="28733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 err="1">
                  <a:latin typeface="宋体" panose="02010600030101010101" pitchFamily="2" charset="-122"/>
                </a:rPr>
                <a:t>A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13" name="Line 682"/>
            <p:cNvSpPr>
              <a:spLocks noChangeShapeType="1"/>
            </p:cNvSpPr>
            <p:nvPr/>
          </p:nvSpPr>
          <p:spPr bwMode="auto">
            <a:xfrm flipV="1">
              <a:off x="3491880" y="2530269"/>
              <a:ext cx="64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683"/>
            <p:cNvSpPr>
              <a:spLocks noChangeShapeType="1"/>
            </p:cNvSpPr>
            <p:nvPr/>
          </p:nvSpPr>
          <p:spPr bwMode="auto">
            <a:xfrm flipH="1" flipV="1">
              <a:off x="2555776" y="2530269"/>
              <a:ext cx="64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Text Box 684"/>
            <p:cNvSpPr txBox="1">
              <a:spLocks noChangeArrowheads="1"/>
            </p:cNvSpPr>
            <p:nvPr/>
          </p:nvSpPr>
          <p:spPr bwMode="auto">
            <a:xfrm>
              <a:off x="3347864" y="2276872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RC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16" name="Line 685"/>
            <p:cNvSpPr>
              <a:spLocks noChangeShapeType="1"/>
            </p:cNvSpPr>
            <p:nvPr/>
          </p:nvSpPr>
          <p:spPr bwMode="auto">
            <a:xfrm flipV="1">
              <a:off x="3707904" y="2348880"/>
              <a:ext cx="79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686"/>
            <p:cNvSpPr>
              <a:spLocks noChangeShapeType="1"/>
            </p:cNvSpPr>
            <p:nvPr/>
          </p:nvSpPr>
          <p:spPr bwMode="auto">
            <a:xfrm flipH="1">
              <a:off x="2558248" y="2348880"/>
              <a:ext cx="79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Text Box 689"/>
            <p:cNvSpPr txBox="1">
              <a:spLocks noChangeArrowheads="1"/>
            </p:cNvSpPr>
            <p:nvPr/>
          </p:nvSpPr>
          <p:spPr bwMode="auto">
            <a:xfrm>
              <a:off x="2052414" y="2924968"/>
              <a:ext cx="28733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23" name="Line 690"/>
            <p:cNvSpPr>
              <a:spLocks noChangeShapeType="1"/>
            </p:cNvSpPr>
            <p:nvPr/>
          </p:nvSpPr>
          <p:spPr bwMode="auto">
            <a:xfrm>
              <a:off x="2073492" y="2924944"/>
              <a:ext cx="21653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Text Box 691"/>
            <p:cNvSpPr txBox="1">
              <a:spLocks noChangeArrowheads="1"/>
            </p:cNvSpPr>
            <p:nvPr/>
          </p:nvSpPr>
          <p:spPr bwMode="auto">
            <a:xfrm>
              <a:off x="1835752" y="3645024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 smtClean="0">
                  <a:latin typeface="+mn-lt"/>
                </a:rPr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25" name="Line 692"/>
            <p:cNvSpPr>
              <a:spLocks noChangeShapeType="1"/>
            </p:cNvSpPr>
            <p:nvPr/>
          </p:nvSpPr>
          <p:spPr bwMode="auto">
            <a:xfrm flipV="1">
              <a:off x="2627784" y="3212976"/>
              <a:ext cx="1584000" cy="3922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Text Box 694"/>
            <p:cNvSpPr txBox="1">
              <a:spLocks noChangeArrowheads="1"/>
            </p:cNvSpPr>
            <p:nvPr/>
          </p:nvSpPr>
          <p:spPr bwMode="auto">
            <a:xfrm>
              <a:off x="2052414" y="3212976"/>
              <a:ext cx="28733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28" name="Line 695"/>
            <p:cNvSpPr>
              <a:spLocks noChangeShapeType="1"/>
            </p:cNvSpPr>
            <p:nvPr/>
          </p:nvSpPr>
          <p:spPr bwMode="auto">
            <a:xfrm>
              <a:off x="2051720" y="3212976"/>
              <a:ext cx="2381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699"/>
            <p:cNvSpPr>
              <a:spLocks noChangeShapeType="1"/>
            </p:cNvSpPr>
            <p:nvPr/>
          </p:nvSpPr>
          <p:spPr bwMode="auto">
            <a:xfrm flipV="1">
              <a:off x="2484909" y="2636936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Line 700"/>
            <p:cNvSpPr>
              <a:spLocks noChangeShapeType="1"/>
            </p:cNvSpPr>
            <p:nvPr/>
          </p:nvSpPr>
          <p:spPr bwMode="auto">
            <a:xfrm>
              <a:off x="2484909" y="2636936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Text Box 703"/>
            <p:cNvSpPr txBox="1">
              <a:spLocks noChangeArrowheads="1"/>
            </p:cNvSpPr>
            <p:nvPr/>
          </p:nvSpPr>
          <p:spPr bwMode="auto">
            <a:xfrm>
              <a:off x="4283968" y="3429000"/>
              <a:ext cx="427016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OTD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69" name="Line 706"/>
            <p:cNvSpPr>
              <a:spLocks noChangeShapeType="1"/>
            </p:cNvSpPr>
            <p:nvPr/>
          </p:nvSpPr>
          <p:spPr bwMode="auto">
            <a:xfrm flipH="1">
              <a:off x="2554882" y="2276872"/>
              <a:ext cx="0" cy="158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Text Box 707"/>
            <p:cNvSpPr txBox="1">
              <a:spLocks noChangeArrowheads="1"/>
            </p:cNvSpPr>
            <p:nvPr/>
          </p:nvSpPr>
          <p:spPr bwMode="auto">
            <a:xfrm>
              <a:off x="3347896" y="2924944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CO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78" name="Line 708"/>
            <p:cNvSpPr>
              <a:spLocks noChangeShapeType="1"/>
            </p:cNvSpPr>
            <p:nvPr/>
          </p:nvSpPr>
          <p:spPr bwMode="auto">
            <a:xfrm>
              <a:off x="3671952" y="2996928"/>
              <a:ext cx="46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709"/>
            <p:cNvSpPr>
              <a:spLocks noChangeShapeType="1"/>
            </p:cNvSpPr>
            <p:nvPr/>
          </p:nvSpPr>
          <p:spPr bwMode="auto">
            <a:xfrm flipH="1" flipV="1">
              <a:off x="2843808" y="2996928"/>
              <a:ext cx="46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Line 714"/>
            <p:cNvSpPr>
              <a:spLocks noChangeShapeType="1"/>
            </p:cNvSpPr>
            <p:nvPr/>
          </p:nvSpPr>
          <p:spPr bwMode="auto">
            <a:xfrm>
              <a:off x="2772941" y="2924944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Text Box 715"/>
            <p:cNvSpPr txBox="1">
              <a:spLocks noChangeArrowheads="1"/>
            </p:cNvSpPr>
            <p:nvPr/>
          </p:nvSpPr>
          <p:spPr bwMode="auto">
            <a:xfrm>
              <a:off x="4139952" y="3651619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输出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8" name="Text Box 691"/>
            <p:cNvSpPr txBox="1">
              <a:spLocks noChangeArrowheads="1"/>
            </p:cNvSpPr>
            <p:nvPr/>
          </p:nvSpPr>
          <p:spPr bwMode="auto">
            <a:xfrm>
              <a:off x="1835752" y="2636936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 smtClean="0">
                  <a:latin typeface="+mn-lt"/>
                </a:rPr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90" name="Line 660"/>
            <p:cNvSpPr>
              <a:spLocks noChangeShapeType="1"/>
            </p:cNvSpPr>
            <p:nvPr/>
          </p:nvSpPr>
          <p:spPr bwMode="auto">
            <a:xfrm flipV="1">
              <a:off x="2340893" y="3429000"/>
              <a:ext cx="432000" cy="892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Line 663"/>
            <p:cNvSpPr>
              <a:spLocks noChangeShapeType="1"/>
            </p:cNvSpPr>
            <p:nvPr/>
          </p:nvSpPr>
          <p:spPr bwMode="auto">
            <a:xfrm flipV="1">
              <a:off x="4067952" y="3648874"/>
              <a:ext cx="7200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Line 663"/>
            <p:cNvSpPr>
              <a:spLocks noChangeShapeType="1"/>
            </p:cNvSpPr>
            <p:nvPr/>
          </p:nvSpPr>
          <p:spPr bwMode="auto">
            <a:xfrm flipH="1" flipV="1">
              <a:off x="4067952" y="3753048"/>
              <a:ext cx="7200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Line 663"/>
            <p:cNvSpPr>
              <a:spLocks noChangeShapeType="1"/>
            </p:cNvSpPr>
            <p:nvPr/>
          </p:nvSpPr>
          <p:spPr bwMode="auto">
            <a:xfrm flipV="1">
              <a:off x="4716016" y="3753048"/>
              <a:ext cx="7200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Line 663"/>
            <p:cNvSpPr>
              <a:spLocks noChangeShapeType="1"/>
            </p:cNvSpPr>
            <p:nvPr/>
          </p:nvSpPr>
          <p:spPr bwMode="auto">
            <a:xfrm flipH="1" flipV="1">
              <a:off x="4716016" y="3645024"/>
              <a:ext cx="7200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Line 699"/>
            <p:cNvSpPr>
              <a:spLocks noChangeShapeType="1"/>
            </p:cNvSpPr>
            <p:nvPr/>
          </p:nvSpPr>
          <p:spPr bwMode="auto">
            <a:xfrm flipV="1">
              <a:off x="4427984" y="2636936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Line 700"/>
            <p:cNvSpPr>
              <a:spLocks noChangeShapeType="1"/>
            </p:cNvSpPr>
            <p:nvPr/>
          </p:nvSpPr>
          <p:spPr bwMode="auto">
            <a:xfrm>
              <a:off x="4427984" y="2636936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660"/>
            <p:cNvSpPr>
              <a:spLocks noChangeShapeType="1"/>
            </p:cNvSpPr>
            <p:nvPr/>
          </p:nvSpPr>
          <p:spPr bwMode="auto">
            <a:xfrm>
              <a:off x="4355975" y="3429000"/>
              <a:ext cx="57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714"/>
            <p:cNvSpPr>
              <a:spLocks noChangeShapeType="1"/>
            </p:cNvSpPr>
            <p:nvPr/>
          </p:nvSpPr>
          <p:spPr bwMode="auto">
            <a:xfrm>
              <a:off x="4211960" y="3212976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680"/>
            <p:cNvSpPr>
              <a:spLocks noChangeShapeType="1"/>
            </p:cNvSpPr>
            <p:nvPr/>
          </p:nvSpPr>
          <p:spPr bwMode="auto">
            <a:xfrm>
              <a:off x="4139952" y="2492896"/>
              <a:ext cx="1" cy="115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663"/>
            <p:cNvSpPr>
              <a:spLocks noChangeShapeType="1"/>
            </p:cNvSpPr>
            <p:nvPr/>
          </p:nvSpPr>
          <p:spPr bwMode="auto">
            <a:xfrm flipV="1">
              <a:off x="2771800" y="3212976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Line 678"/>
            <p:cNvSpPr>
              <a:spLocks noChangeShapeType="1"/>
            </p:cNvSpPr>
            <p:nvPr/>
          </p:nvSpPr>
          <p:spPr bwMode="auto">
            <a:xfrm flipH="1">
              <a:off x="2843808" y="2925096"/>
              <a:ext cx="0" cy="50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Line 678"/>
            <p:cNvSpPr>
              <a:spLocks noChangeShapeType="1"/>
            </p:cNvSpPr>
            <p:nvPr/>
          </p:nvSpPr>
          <p:spPr bwMode="auto">
            <a:xfrm flipH="1">
              <a:off x="4716016" y="3465024"/>
              <a:ext cx="0" cy="1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Line 680"/>
            <p:cNvSpPr>
              <a:spLocks noChangeShapeType="1"/>
            </p:cNvSpPr>
            <p:nvPr/>
          </p:nvSpPr>
          <p:spPr bwMode="auto">
            <a:xfrm>
              <a:off x="4283968" y="2924944"/>
              <a:ext cx="0" cy="72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Text Box 365"/>
            <p:cNvSpPr txBox="1">
              <a:spLocks noChangeArrowheads="1"/>
            </p:cNvSpPr>
            <p:nvPr/>
          </p:nvSpPr>
          <p:spPr bwMode="auto">
            <a:xfrm>
              <a:off x="2555808" y="2996976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AW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05" name="Line 663"/>
            <p:cNvSpPr>
              <a:spLocks noChangeShapeType="1"/>
            </p:cNvSpPr>
            <p:nvPr/>
          </p:nvSpPr>
          <p:spPr bwMode="auto">
            <a:xfrm flipV="1">
              <a:off x="2627784" y="3212976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663"/>
            <p:cNvSpPr>
              <a:spLocks noChangeShapeType="1"/>
            </p:cNvSpPr>
            <p:nvPr/>
          </p:nvSpPr>
          <p:spPr bwMode="auto">
            <a:xfrm flipV="1">
              <a:off x="2483768" y="3212976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6" name="Text Box 703"/>
          <p:cNvSpPr txBox="1">
            <a:spLocks noChangeArrowheads="1"/>
          </p:cNvSpPr>
          <p:nvPr/>
        </p:nvSpPr>
        <p:spPr bwMode="auto">
          <a:xfrm>
            <a:off x="7741180" y="4967697"/>
            <a:ext cx="1368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dirty="0" smtClean="0">
                <a:latin typeface="+mn-ea"/>
                <a:ea typeface="+mn-ea"/>
              </a:rPr>
              <a:t>能</a:t>
            </a:r>
            <a:r>
              <a:rPr lang="en-US" altLang="zh-CN" sz="1600" b="1" u="none" dirty="0" smtClean="0">
                <a:latin typeface="+mn-ea"/>
                <a:ea typeface="+mn-ea"/>
              </a:rPr>
              <a:t>(</a:t>
            </a:r>
            <a:r>
              <a:rPr lang="zh-CN" altLang="en-US" sz="1600" b="1" u="none" dirty="0" smtClean="0">
                <a:latin typeface="+mn-ea"/>
                <a:ea typeface="+mn-ea"/>
              </a:rPr>
              <a:t>单元未知</a:t>
            </a:r>
            <a:r>
              <a:rPr lang="en-US" altLang="zh-CN" sz="1600" b="1" u="none" dirty="0" smtClean="0">
                <a:latin typeface="+mn-ea"/>
                <a:ea typeface="+mn-ea"/>
              </a:rPr>
              <a:t>)</a:t>
            </a:r>
            <a:endParaRPr lang="en-US" altLang="zh-CN" sz="1600" b="1" u="none" baseline="-1800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/>
      <p:bldP spid="119" grpId="0"/>
      <p:bldP spid="75" grpId="0" animBg="1"/>
      <p:bldP spid="77" grpId="0" animBg="1"/>
      <p:bldP spid="78" grpId="0" bldLvl="0" animBg="1"/>
      <p:bldP spid="82" grpId="0" animBg="1"/>
      <p:bldP spid="88" grpId="0" bldLvl="0" animBg="1"/>
      <p:bldP spid="89" grpId="0" bldLvl="0" animBg="1"/>
      <p:bldP spid="7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232"/>
          <p:cNvSpPr txBox="1">
            <a:spLocks noChangeArrowheads="1"/>
          </p:cNvSpPr>
          <p:nvPr/>
        </p:nvSpPr>
        <p:spPr bwMode="auto">
          <a:xfrm>
            <a:off x="179388" y="359445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写周期的时序：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厂家给出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的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参数</a:t>
            </a:r>
            <a:r>
              <a:rPr lang="zh-CN" altLang="en-US" sz="1800" b="1" u="none" dirty="0">
                <a:latin typeface="宋体" panose="02010600030101010101" pitchFamily="2" charset="-122"/>
              </a:rPr>
              <a:t>是最小值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165" name="AutoShape 15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7944" y="6526037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" name="Text Box 232"/>
          <p:cNvSpPr txBox="1">
            <a:spLocks noChangeArrowheads="1"/>
          </p:cNvSpPr>
          <p:nvPr/>
        </p:nvSpPr>
        <p:spPr bwMode="auto">
          <a:xfrm>
            <a:off x="179514" y="5580000"/>
            <a:ext cx="8640958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的性能：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T</a:t>
            </a:r>
            <a:r>
              <a:rPr lang="en-US" altLang="zh-CN" b="1" u="none" baseline="-16000" dirty="0" smtClean="0">
                <a:latin typeface="宋体" panose="02010600030101010101" pitchFamily="2" charset="-122"/>
              </a:rPr>
              <a:t>A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b="1" u="none" dirty="0" err="1" smtClean="0">
                <a:latin typeface="宋体" panose="02010600030101010101" pitchFamily="2" charset="-122"/>
              </a:rPr>
              <a:t>t</a:t>
            </a:r>
            <a:r>
              <a:rPr lang="en-US" altLang="zh-CN" b="1" u="none" baseline="-18000" dirty="0" err="1" smtClean="0">
                <a:latin typeface="宋体" panose="02010600030101010101" pitchFamily="2" charset="-122"/>
              </a:rPr>
              <a:t>AW</a:t>
            </a:r>
            <a:r>
              <a:rPr lang="en-US" altLang="zh-CN" b="1" u="none" dirty="0" err="1" smtClean="0">
                <a:latin typeface="宋体" panose="02010600030101010101" pitchFamily="2" charset="-122"/>
              </a:rPr>
              <a:t>+t</a:t>
            </a:r>
            <a:r>
              <a:rPr lang="en-US" altLang="zh-CN" b="1" u="none" baseline="-18000" dirty="0" err="1" smtClean="0">
                <a:latin typeface="宋体" panose="02010600030101010101" pitchFamily="2" charset="-122"/>
              </a:rPr>
              <a:t>CO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或</a:t>
            </a:r>
            <a:r>
              <a:rPr lang="en-US" altLang="zh-CN" b="1" u="none" dirty="0" err="1">
                <a:latin typeface="宋体" panose="02010600030101010101" pitchFamily="2" charset="-122"/>
              </a:rPr>
              <a:t>t</a:t>
            </a:r>
            <a:r>
              <a:rPr lang="en-US" altLang="zh-CN" b="1" u="none" baseline="-18000" dirty="0" err="1">
                <a:latin typeface="宋体" panose="02010600030101010101" pitchFamily="2" charset="-122"/>
              </a:rPr>
              <a:t>AW</a:t>
            </a:r>
            <a:r>
              <a:rPr lang="en-US" altLang="zh-CN" b="1" u="none" dirty="0" err="1">
                <a:latin typeface="宋体" panose="02010600030101010101" pitchFamily="2" charset="-122"/>
              </a:rPr>
              <a:t>+t</a:t>
            </a:r>
            <a:r>
              <a:rPr lang="en-US" altLang="zh-CN" b="1" u="none" baseline="-18000" dirty="0" err="1" smtClean="0">
                <a:latin typeface="宋体" panose="02010600030101010101" pitchFamily="2" charset="-122"/>
              </a:rPr>
              <a:t>DW</a:t>
            </a:r>
            <a:r>
              <a:rPr lang="zh-CN" altLang="en-US" b="1" u="none" dirty="0" err="1" smtClean="0">
                <a:latin typeface="宋体" panose="02010600030101010101" pitchFamily="2" charset="-122"/>
              </a:rPr>
              <a:t>，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T</a:t>
            </a:r>
            <a:r>
              <a:rPr lang="en-US" altLang="zh-CN" b="1" u="none" baseline="-16000" dirty="0" smtClean="0">
                <a:latin typeface="宋体" panose="02010600030101010101" pitchFamily="2" charset="-122"/>
              </a:rPr>
              <a:t>M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b="1" u="none" dirty="0" err="1" smtClean="0">
                <a:latin typeface="宋体" panose="02010600030101010101" pitchFamily="2" charset="-122"/>
              </a:rPr>
              <a:t>t</a:t>
            </a:r>
            <a:r>
              <a:rPr lang="en-US" altLang="zh-CN" b="1" u="none" baseline="-20000" dirty="0" err="1" smtClean="0">
                <a:latin typeface="宋体" panose="02010600030101010101" pitchFamily="2" charset="-122"/>
              </a:rPr>
              <a:t>RC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或</a:t>
            </a:r>
            <a:r>
              <a:rPr lang="en-US" altLang="zh-CN" b="1" u="none" dirty="0" err="1" smtClean="0">
                <a:latin typeface="宋体" panose="02010600030101010101" pitchFamily="2" charset="-122"/>
              </a:rPr>
              <a:t>t</a:t>
            </a:r>
            <a:r>
              <a:rPr lang="en-US" altLang="zh-CN" b="1" u="none" baseline="-20000" dirty="0" err="1" smtClean="0">
                <a:latin typeface="宋体" panose="02010600030101010101" pitchFamily="2" charset="-122"/>
              </a:rPr>
              <a:t>WC</a:t>
            </a:r>
            <a:r>
              <a:rPr lang="en-US" altLang="zh-CN" b="1" u="none" baseline="-20000" dirty="0" smtClean="0">
                <a:latin typeface="宋体" panose="02010600030101010101" pitchFamily="2" charset="-122"/>
              </a:rPr>
              <a:t> </a:t>
            </a:r>
            <a:endParaRPr lang="en-US" altLang="zh-CN" b="1" u="none" dirty="0" smtClean="0">
              <a:latin typeface="宋体" panose="02010600030101010101" pitchFamily="2" charset="-122"/>
            </a:endParaRPr>
          </a:p>
        </p:txBody>
      </p:sp>
      <p:sp>
        <p:nvSpPr>
          <p:cNvPr id="65" name="Text Box 713"/>
          <p:cNvSpPr txBox="1">
            <a:spLocks noChangeArrowheads="1"/>
          </p:cNvSpPr>
          <p:nvPr/>
        </p:nvSpPr>
        <p:spPr bwMode="auto">
          <a:xfrm>
            <a:off x="4572000" y="908720"/>
            <a:ext cx="3240360" cy="158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/>
          <a:lstStyle/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zh-CN" sz="1800" b="1" u="none" dirty="0" err="1"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>
                <a:latin typeface="宋体" panose="02010600030101010101" pitchFamily="2" charset="-122"/>
              </a:rPr>
              <a:t>AW</a:t>
            </a:r>
            <a:r>
              <a:rPr lang="en-US" altLang="zh-CN" sz="1800" b="1" u="none" baseline="-18000" dirty="0"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latin typeface="宋体" panose="02010600030101010101" pitchFamily="2" charset="-122"/>
              </a:rPr>
              <a:t>写滞后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时间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＝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译码时延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zh-CN" sz="1800" b="1" u="none" dirty="0" err="1"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>
                <a:latin typeface="宋体" panose="02010600030101010101" pitchFamily="2" charset="-122"/>
              </a:rPr>
              <a:t>DW</a:t>
            </a:r>
            <a:r>
              <a:rPr lang="en-US" altLang="zh-CN" sz="1800" b="1" u="none" baseline="-18000" dirty="0"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latin typeface="宋体" panose="02010600030101010101" pitchFamily="2" charset="-122"/>
              </a:rPr>
              <a:t>数据写入到存储单元时间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zh-CN" sz="1800" b="1" u="none" dirty="0" err="1"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>
                <a:latin typeface="宋体" panose="02010600030101010101" pitchFamily="2" charset="-122"/>
              </a:rPr>
              <a:t>DH</a:t>
            </a:r>
            <a:r>
              <a:rPr lang="en-US" altLang="zh-CN" sz="1800" b="1" u="none" baseline="-18000" dirty="0"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</a:rPr>
              <a:t>—WE</a:t>
            </a:r>
            <a:r>
              <a:rPr lang="zh-CN" altLang="en-US" sz="1800" b="1" u="none" dirty="0">
                <a:latin typeface="宋体" panose="02010600030101010101" pitchFamily="2" charset="-122"/>
              </a:rPr>
              <a:t>无效后</a:t>
            </a:r>
            <a:r>
              <a:rPr lang="zh-CN" altLang="en-US" sz="1800" b="1" u="none" dirty="0">
                <a:latin typeface="宋体" panose="02010600030101010101" pitchFamily="2" charset="-122"/>
              </a:rPr>
              <a:t>数据需保持时间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zh-CN" sz="1800" b="1" u="none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W</a:t>
            </a:r>
            <a:r>
              <a:rPr lang="en-US" altLang="zh-CN" sz="1800" b="1" u="none" baseline="-180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写入时间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1800" b="1" u="none" dirty="0" err="1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>
                <a:solidFill>
                  <a:srgbClr val="0070C0"/>
                </a:solidFill>
                <a:latin typeface="宋体" panose="02010600030101010101" pitchFamily="2" charset="-122"/>
              </a:rPr>
              <a:t>DW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)</a:t>
            </a:r>
            <a:endParaRPr lang="en-US" altLang="zh-CN" sz="1800" b="1" u="none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zh-CN" sz="1800" b="1" u="none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WC</a:t>
            </a:r>
            <a:r>
              <a:rPr lang="en-US" altLang="zh-CN" sz="1800" b="1" u="none" baseline="-180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写周期</a:t>
            </a:r>
            <a:r>
              <a:rPr lang="en-US" altLang="zh-CN" sz="18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1800" b="1" u="none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AW</a:t>
            </a:r>
            <a:r>
              <a:rPr lang="en-US" altLang="zh-CN" sz="1800" b="1" u="none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+t</a:t>
            </a:r>
            <a:r>
              <a:rPr lang="en-US" altLang="zh-CN" sz="1800" b="1" u="none" baseline="-18000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A</a:t>
            </a:r>
            <a:r>
              <a:rPr lang="en-US" altLang="zh-CN" sz="18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)</a:t>
            </a:r>
            <a:endParaRPr lang="zh-CN" altLang="en-US" sz="1800" b="1" u="none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endParaRPr lang="en-US" altLang="zh-CN" sz="18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67" name="Line 718"/>
          <p:cNvSpPr>
            <a:spLocks noChangeShapeType="1"/>
          </p:cNvSpPr>
          <p:nvPr/>
        </p:nvSpPr>
        <p:spPr bwMode="auto">
          <a:xfrm>
            <a:off x="5163861" y="1571650"/>
            <a:ext cx="2376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8" name="Text Box 371"/>
          <p:cNvSpPr txBox="1">
            <a:spLocks noChangeArrowheads="1"/>
          </p:cNvSpPr>
          <p:nvPr/>
        </p:nvSpPr>
        <p:spPr bwMode="auto">
          <a:xfrm>
            <a:off x="179705" y="2447925"/>
            <a:ext cx="8841740" cy="22148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操作信号的时序要求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      ①</a:t>
            </a:r>
            <a:r>
              <a:rPr lang="zh-CN" altLang="en-US" b="1" dirty="0">
                <a:latin typeface="宋体" panose="02010600030101010101" pitchFamily="2" charset="-122"/>
              </a:rPr>
              <a:t>地址</a:t>
            </a: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先发送</a:t>
            </a:r>
            <a:r>
              <a:rPr lang="zh-CN" altLang="en-US" b="1" u="none" dirty="0">
                <a:latin typeface="宋体" panose="02010600030101010101" pitchFamily="2" charset="-122"/>
              </a:rPr>
              <a:t>，</a:t>
            </a:r>
            <a:r>
              <a:rPr lang="en-US" altLang="zh-CN" b="1" dirty="0">
                <a:latin typeface="宋体" panose="02010600030101010101" pitchFamily="2" charset="-122"/>
              </a:rPr>
              <a:t>CS#</a:t>
            </a:r>
            <a:r>
              <a:rPr lang="zh-CN" altLang="en-US" b="1" u="none" dirty="0">
                <a:latin typeface="宋体" panose="02010600030101010101" pitchFamily="2" charset="-122"/>
              </a:rPr>
              <a:t>在</a:t>
            </a: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地址稳定后</a:t>
            </a:r>
            <a:r>
              <a:rPr lang="zh-CN" altLang="en-US" b="1" u="none" dirty="0">
                <a:latin typeface="宋体" panose="02010600030101010101" pitchFamily="2" charset="-122"/>
              </a:rPr>
              <a:t>有效</a:t>
            </a:r>
            <a:r>
              <a:rPr lang="en-US" altLang="zh-CN" b="1" u="none" dirty="0">
                <a:latin typeface="宋体" panose="02010600030101010101" pitchFamily="2" charset="-122"/>
              </a:rPr>
              <a:t>  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 ←对</a:t>
            </a:r>
            <a:r>
              <a:rPr lang="zh-CN" altLang="en-US" sz="1800" b="1" dirty="0">
                <a:latin typeface="宋体" panose="02010600030101010101" pitchFamily="2" charset="-122"/>
              </a:rPr>
              <a:t>指定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单元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操作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      ②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WE#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在</a:t>
            </a:r>
            <a:r>
              <a:rPr lang="en-US" altLang="zh-CN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CS#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有效期间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有效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时长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b="1" u="none" dirty="0" err="1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b="1" u="none" baseline="-18000" dirty="0" err="1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DW</a:t>
            </a:r>
            <a:r>
              <a:rPr lang="en-US" altLang="zh-CN" b="1" u="none" dirty="0" err="1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b="1" u="none" dirty="0">
                <a:latin typeface="宋体" panose="02010600030101010101" pitchFamily="2" charset="-122"/>
              </a:rPr>
              <a:t> 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←保证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写完成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                             </a:t>
            </a:r>
            <a:r>
              <a:rPr lang="en-US" altLang="zh-CN" sz="1800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时刻无要求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CS#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有效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后才会写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800" b="1" u="none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      ③数据在</a:t>
            </a:r>
            <a:r>
              <a:rPr lang="en-US" altLang="zh-CN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CS</a:t>
            </a: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#</a:t>
            </a: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与</a:t>
            </a: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WE#</a:t>
            </a: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均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有效期间</a:t>
            </a:r>
            <a:r>
              <a:rPr lang="zh-CN" altLang="en-US" b="1" u="none" dirty="0" smtClean="0">
                <a:latin typeface="宋体" panose="02010600030101010101" pitchFamily="2" charset="-122"/>
                <a:sym typeface="+mn-ea"/>
              </a:rPr>
              <a:t>保持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时长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≥</a:t>
            </a:r>
            <a:r>
              <a:rPr lang="en-US" altLang="zh-CN" b="1" u="none" dirty="0" err="1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b="1" u="none" baseline="-18000" dirty="0" err="1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DW</a:t>
            </a:r>
            <a:r>
              <a:rPr lang="en-US" altLang="zh-CN" b="1" u="none" dirty="0" err="1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←时刻无要求</a:t>
            </a:r>
            <a:endParaRPr lang="zh-CN" altLang="en-US" sz="1800" b="1" u="none" dirty="0" smtClean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75" name="AutoShape 63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076057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2" name="组合 71"/>
          <p:cNvGrpSpPr/>
          <p:nvPr/>
        </p:nvGrpSpPr>
        <p:grpSpPr>
          <a:xfrm>
            <a:off x="1547728" y="908720"/>
            <a:ext cx="2808248" cy="1584000"/>
            <a:chOff x="1547728" y="908720"/>
            <a:chExt cx="2808248" cy="1584000"/>
          </a:xfrm>
        </p:grpSpPr>
        <p:sp>
          <p:nvSpPr>
            <p:cNvPr id="73" name="Line 656"/>
            <p:cNvSpPr>
              <a:spLocks noChangeShapeType="1"/>
            </p:cNvSpPr>
            <p:nvPr/>
          </p:nvSpPr>
          <p:spPr bwMode="auto">
            <a:xfrm>
              <a:off x="2051728" y="1118173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657"/>
            <p:cNvSpPr>
              <a:spLocks noChangeShapeType="1"/>
            </p:cNvSpPr>
            <p:nvPr/>
          </p:nvSpPr>
          <p:spPr bwMode="auto">
            <a:xfrm>
              <a:off x="2051728" y="1334197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658"/>
            <p:cNvSpPr>
              <a:spLocks noChangeShapeType="1"/>
            </p:cNvSpPr>
            <p:nvPr/>
          </p:nvSpPr>
          <p:spPr bwMode="auto">
            <a:xfrm>
              <a:off x="2339190" y="1118173"/>
              <a:ext cx="172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659"/>
            <p:cNvSpPr>
              <a:spLocks noChangeShapeType="1"/>
            </p:cNvSpPr>
            <p:nvPr/>
          </p:nvSpPr>
          <p:spPr bwMode="auto">
            <a:xfrm>
              <a:off x="2341347" y="1334197"/>
              <a:ext cx="172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660"/>
            <p:cNvSpPr>
              <a:spLocks noChangeShapeType="1"/>
            </p:cNvSpPr>
            <p:nvPr/>
          </p:nvSpPr>
          <p:spPr bwMode="auto">
            <a:xfrm>
              <a:off x="2051727" y="1406205"/>
              <a:ext cx="432000" cy="1388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661"/>
            <p:cNvSpPr>
              <a:spLocks noChangeShapeType="1"/>
            </p:cNvSpPr>
            <p:nvPr/>
          </p:nvSpPr>
          <p:spPr bwMode="auto">
            <a:xfrm flipV="1">
              <a:off x="2051728" y="2312864"/>
              <a:ext cx="864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662"/>
            <p:cNvSpPr>
              <a:spLocks noChangeShapeType="1"/>
            </p:cNvSpPr>
            <p:nvPr/>
          </p:nvSpPr>
          <p:spPr bwMode="auto">
            <a:xfrm flipV="1">
              <a:off x="2627792" y="1628800"/>
              <a:ext cx="1008000" cy="2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663"/>
            <p:cNvSpPr>
              <a:spLocks noChangeShapeType="1"/>
            </p:cNvSpPr>
            <p:nvPr/>
          </p:nvSpPr>
          <p:spPr bwMode="auto">
            <a:xfrm flipV="1">
              <a:off x="3635896" y="1406205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664"/>
            <p:cNvSpPr>
              <a:spLocks noChangeShapeType="1"/>
            </p:cNvSpPr>
            <p:nvPr/>
          </p:nvSpPr>
          <p:spPr bwMode="auto">
            <a:xfrm>
              <a:off x="3779912" y="1406205"/>
              <a:ext cx="576000" cy="105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83" name="Line 665"/>
            <p:cNvSpPr>
              <a:spLocks noChangeShapeType="1"/>
            </p:cNvSpPr>
            <p:nvPr/>
          </p:nvSpPr>
          <p:spPr bwMode="auto">
            <a:xfrm>
              <a:off x="2988961" y="2208714"/>
              <a:ext cx="1008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666"/>
            <p:cNvSpPr>
              <a:spLocks noChangeShapeType="1"/>
            </p:cNvSpPr>
            <p:nvPr/>
          </p:nvSpPr>
          <p:spPr bwMode="auto">
            <a:xfrm flipV="1">
              <a:off x="2988961" y="2420888"/>
              <a:ext cx="1008000" cy="1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675"/>
            <p:cNvSpPr>
              <a:spLocks noChangeShapeType="1"/>
            </p:cNvSpPr>
            <p:nvPr/>
          </p:nvSpPr>
          <p:spPr bwMode="auto">
            <a:xfrm flipV="1">
              <a:off x="4210827" y="1117329"/>
              <a:ext cx="144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676"/>
            <p:cNvSpPr>
              <a:spLocks noChangeShapeType="1"/>
            </p:cNvSpPr>
            <p:nvPr/>
          </p:nvSpPr>
          <p:spPr bwMode="auto">
            <a:xfrm flipV="1">
              <a:off x="4211397" y="1334197"/>
              <a:ext cx="144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677"/>
            <p:cNvSpPr>
              <a:spLocks noChangeShapeType="1"/>
            </p:cNvSpPr>
            <p:nvPr/>
          </p:nvSpPr>
          <p:spPr bwMode="auto">
            <a:xfrm flipV="1">
              <a:off x="4067944" y="2311600"/>
              <a:ext cx="288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678"/>
            <p:cNvSpPr>
              <a:spLocks noChangeShapeType="1"/>
            </p:cNvSpPr>
            <p:nvPr/>
          </p:nvSpPr>
          <p:spPr bwMode="auto">
            <a:xfrm>
              <a:off x="4067952" y="908720"/>
              <a:ext cx="0" cy="10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Text Box 684"/>
            <p:cNvSpPr txBox="1">
              <a:spLocks noChangeArrowheads="1"/>
            </p:cNvSpPr>
            <p:nvPr/>
          </p:nvSpPr>
          <p:spPr bwMode="auto">
            <a:xfrm>
              <a:off x="2987832" y="908744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70000"/>
                </a:lnSpc>
              </a:pP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 smtClean="0">
                  <a:latin typeface="宋体" panose="02010600030101010101" pitchFamily="2" charset="-122"/>
                </a:rPr>
                <a:t>WC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90" name="Line 685"/>
            <p:cNvSpPr>
              <a:spLocks noChangeShapeType="1"/>
            </p:cNvSpPr>
            <p:nvPr/>
          </p:nvSpPr>
          <p:spPr bwMode="auto">
            <a:xfrm flipV="1">
              <a:off x="3347872" y="980752"/>
              <a:ext cx="72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686"/>
            <p:cNvSpPr>
              <a:spLocks noChangeShapeType="1"/>
            </p:cNvSpPr>
            <p:nvPr/>
          </p:nvSpPr>
          <p:spPr bwMode="auto">
            <a:xfrm flipH="1">
              <a:off x="2270224" y="980752"/>
              <a:ext cx="72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Text Box 689"/>
            <p:cNvSpPr txBox="1">
              <a:spLocks noChangeArrowheads="1"/>
            </p:cNvSpPr>
            <p:nvPr/>
          </p:nvSpPr>
          <p:spPr bwMode="auto">
            <a:xfrm>
              <a:off x="1764390" y="1406229"/>
              <a:ext cx="28733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93" name="Line 690"/>
            <p:cNvSpPr>
              <a:spLocks noChangeShapeType="1"/>
            </p:cNvSpPr>
            <p:nvPr/>
          </p:nvSpPr>
          <p:spPr bwMode="auto">
            <a:xfrm>
              <a:off x="1785468" y="1406205"/>
              <a:ext cx="21653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Text Box 691"/>
            <p:cNvSpPr txBox="1">
              <a:spLocks noChangeArrowheads="1"/>
            </p:cNvSpPr>
            <p:nvPr/>
          </p:nvSpPr>
          <p:spPr bwMode="auto">
            <a:xfrm>
              <a:off x="1547728" y="2204864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 smtClean="0">
                  <a:latin typeface="+mn-lt"/>
                </a:rPr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95" name="Line 692"/>
            <p:cNvSpPr>
              <a:spLocks noChangeShapeType="1"/>
            </p:cNvSpPr>
            <p:nvPr/>
          </p:nvSpPr>
          <p:spPr bwMode="auto">
            <a:xfrm flipV="1">
              <a:off x="2771896" y="1995411"/>
              <a:ext cx="86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Text Box 694"/>
            <p:cNvSpPr txBox="1">
              <a:spLocks noChangeArrowheads="1"/>
            </p:cNvSpPr>
            <p:nvPr/>
          </p:nvSpPr>
          <p:spPr bwMode="auto">
            <a:xfrm>
              <a:off x="1764390" y="1772816"/>
              <a:ext cx="28733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97" name="Line 695"/>
            <p:cNvSpPr>
              <a:spLocks noChangeShapeType="1"/>
            </p:cNvSpPr>
            <p:nvPr/>
          </p:nvSpPr>
          <p:spPr bwMode="auto">
            <a:xfrm>
              <a:off x="1763696" y="1772816"/>
              <a:ext cx="2381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699"/>
            <p:cNvSpPr>
              <a:spLocks noChangeShapeType="1"/>
            </p:cNvSpPr>
            <p:nvPr/>
          </p:nvSpPr>
          <p:spPr bwMode="auto">
            <a:xfrm flipV="1">
              <a:off x="2196885" y="1118197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700"/>
            <p:cNvSpPr>
              <a:spLocks noChangeShapeType="1"/>
            </p:cNvSpPr>
            <p:nvPr/>
          </p:nvSpPr>
          <p:spPr bwMode="auto">
            <a:xfrm>
              <a:off x="2196885" y="1118197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Text Box 703"/>
            <p:cNvSpPr txBox="1">
              <a:spLocks noChangeArrowheads="1"/>
            </p:cNvSpPr>
            <p:nvPr/>
          </p:nvSpPr>
          <p:spPr bwMode="auto">
            <a:xfrm>
              <a:off x="3707912" y="1988840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70000"/>
                </a:lnSpc>
              </a:pP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 smtClean="0">
                  <a:latin typeface="宋体" panose="02010600030101010101" pitchFamily="2" charset="-122"/>
                </a:rPr>
                <a:t>DH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01" name="Line 706"/>
            <p:cNvSpPr>
              <a:spLocks noChangeShapeType="1"/>
            </p:cNvSpPr>
            <p:nvPr/>
          </p:nvSpPr>
          <p:spPr bwMode="auto">
            <a:xfrm flipH="1">
              <a:off x="2266858" y="908720"/>
              <a:ext cx="0" cy="158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Text Box 707"/>
            <p:cNvSpPr txBox="1">
              <a:spLocks noChangeArrowheads="1"/>
            </p:cNvSpPr>
            <p:nvPr/>
          </p:nvSpPr>
          <p:spPr bwMode="auto">
            <a:xfrm>
              <a:off x="3203888" y="1995411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70000"/>
                </a:lnSpc>
              </a:pP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 smtClean="0">
                  <a:latin typeface="宋体" panose="02010600030101010101" pitchFamily="2" charset="-122"/>
                </a:rPr>
                <a:t>DW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03" name="Line 714"/>
            <p:cNvSpPr>
              <a:spLocks noChangeShapeType="1"/>
            </p:cNvSpPr>
            <p:nvPr/>
          </p:nvSpPr>
          <p:spPr bwMode="auto">
            <a:xfrm>
              <a:off x="2483776" y="1406205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Text Box 715"/>
            <p:cNvSpPr txBox="1">
              <a:spLocks noChangeArrowheads="1"/>
            </p:cNvSpPr>
            <p:nvPr/>
          </p:nvSpPr>
          <p:spPr bwMode="auto">
            <a:xfrm>
              <a:off x="3275920" y="2211459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输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入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5" name="Text Box 691"/>
            <p:cNvSpPr txBox="1">
              <a:spLocks noChangeArrowheads="1"/>
            </p:cNvSpPr>
            <p:nvPr/>
          </p:nvSpPr>
          <p:spPr bwMode="auto">
            <a:xfrm>
              <a:off x="1547728" y="1118197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 smtClean="0">
                  <a:latin typeface="+mn-lt"/>
                </a:rPr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06" name="Line 660"/>
            <p:cNvSpPr>
              <a:spLocks noChangeShapeType="1"/>
            </p:cNvSpPr>
            <p:nvPr/>
          </p:nvSpPr>
          <p:spPr bwMode="auto">
            <a:xfrm flipV="1">
              <a:off x="2052869" y="1779387"/>
              <a:ext cx="57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663"/>
            <p:cNvSpPr>
              <a:spLocks noChangeShapeType="1"/>
            </p:cNvSpPr>
            <p:nvPr/>
          </p:nvSpPr>
          <p:spPr bwMode="auto">
            <a:xfrm flipV="1">
              <a:off x="2915696" y="2208714"/>
              <a:ext cx="7200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663"/>
            <p:cNvSpPr>
              <a:spLocks noChangeShapeType="1"/>
            </p:cNvSpPr>
            <p:nvPr/>
          </p:nvSpPr>
          <p:spPr bwMode="auto">
            <a:xfrm flipH="1" flipV="1">
              <a:off x="2915696" y="2312888"/>
              <a:ext cx="7200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663"/>
            <p:cNvSpPr>
              <a:spLocks noChangeShapeType="1"/>
            </p:cNvSpPr>
            <p:nvPr/>
          </p:nvSpPr>
          <p:spPr bwMode="auto">
            <a:xfrm flipV="1">
              <a:off x="3995936" y="2312888"/>
              <a:ext cx="7200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663"/>
            <p:cNvSpPr>
              <a:spLocks noChangeShapeType="1"/>
            </p:cNvSpPr>
            <p:nvPr/>
          </p:nvSpPr>
          <p:spPr bwMode="auto">
            <a:xfrm flipH="1" flipV="1">
              <a:off x="3995936" y="2204864"/>
              <a:ext cx="7200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699"/>
            <p:cNvSpPr>
              <a:spLocks noChangeShapeType="1"/>
            </p:cNvSpPr>
            <p:nvPr/>
          </p:nvSpPr>
          <p:spPr bwMode="auto">
            <a:xfrm flipV="1">
              <a:off x="4067952" y="1118197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700"/>
            <p:cNvSpPr>
              <a:spLocks noChangeShapeType="1"/>
            </p:cNvSpPr>
            <p:nvPr/>
          </p:nvSpPr>
          <p:spPr bwMode="auto">
            <a:xfrm>
              <a:off x="4067952" y="1118197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660"/>
            <p:cNvSpPr>
              <a:spLocks noChangeShapeType="1"/>
            </p:cNvSpPr>
            <p:nvPr/>
          </p:nvSpPr>
          <p:spPr bwMode="auto">
            <a:xfrm>
              <a:off x="3779976" y="1779387"/>
              <a:ext cx="57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714"/>
            <p:cNvSpPr>
              <a:spLocks noChangeShapeType="1"/>
            </p:cNvSpPr>
            <p:nvPr/>
          </p:nvSpPr>
          <p:spPr bwMode="auto">
            <a:xfrm>
              <a:off x="2628925" y="1772816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680"/>
            <p:cNvSpPr>
              <a:spLocks noChangeShapeType="1"/>
            </p:cNvSpPr>
            <p:nvPr/>
          </p:nvSpPr>
          <p:spPr bwMode="auto">
            <a:xfrm>
              <a:off x="3995936" y="1988864"/>
              <a:ext cx="1" cy="2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663"/>
            <p:cNvSpPr>
              <a:spLocks noChangeShapeType="1"/>
            </p:cNvSpPr>
            <p:nvPr/>
          </p:nvSpPr>
          <p:spPr bwMode="auto">
            <a:xfrm flipV="1">
              <a:off x="3637045" y="1779387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678"/>
            <p:cNvSpPr>
              <a:spLocks noChangeShapeType="1"/>
            </p:cNvSpPr>
            <p:nvPr/>
          </p:nvSpPr>
          <p:spPr bwMode="auto">
            <a:xfrm flipH="1">
              <a:off x="2555784" y="1340848"/>
              <a:ext cx="0" cy="36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Text Box 365"/>
            <p:cNvSpPr txBox="1">
              <a:spLocks noChangeArrowheads="1"/>
            </p:cNvSpPr>
            <p:nvPr/>
          </p:nvSpPr>
          <p:spPr bwMode="auto">
            <a:xfrm>
              <a:off x="2267784" y="1484784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AW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19" name="Line 678"/>
            <p:cNvSpPr>
              <a:spLocks noChangeShapeType="1"/>
            </p:cNvSpPr>
            <p:nvPr/>
          </p:nvSpPr>
          <p:spPr bwMode="auto">
            <a:xfrm flipH="1">
              <a:off x="2987688" y="2031435"/>
              <a:ext cx="0" cy="1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709"/>
            <p:cNvSpPr>
              <a:spLocks noChangeShapeType="1"/>
            </p:cNvSpPr>
            <p:nvPr/>
          </p:nvSpPr>
          <p:spPr bwMode="auto">
            <a:xfrm flipH="1" flipV="1">
              <a:off x="2987760" y="2095127"/>
              <a:ext cx="21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708"/>
            <p:cNvSpPr>
              <a:spLocks noChangeShapeType="1"/>
            </p:cNvSpPr>
            <p:nvPr/>
          </p:nvSpPr>
          <p:spPr bwMode="auto">
            <a:xfrm>
              <a:off x="3491888" y="2095127"/>
              <a:ext cx="21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678"/>
            <p:cNvSpPr>
              <a:spLocks noChangeShapeType="1"/>
            </p:cNvSpPr>
            <p:nvPr/>
          </p:nvSpPr>
          <p:spPr bwMode="auto">
            <a:xfrm flipH="1">
              <a:off x="3707912" y="1412776"/>
              <a:ext cx="0" cy="79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709"/>
            <p:cNvSpPr>
              <a:spLocks noChangeShapeType="1"/>
            </p:cNvSpPr>
            <p:nvPr/>
          </p:nvSpPr>
          <p:spPr bwMode="auto">
            <a:xfrm flipH="1" flipV="1">
              <a:off x="2555776" y="1484784"/>
              <a:ext cx="43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Text Box 365"/>
            <p:cNvSpPr txBox="1">
              <a:spLocks noChangeArrowheads="1"/>
            </p:cNvSpPr>
            <p:nvPr/>
          </p:nvSpPr>
          <p:spPr bwMode="auto">
            <a:xfrm>
              <a:off x="2987824" y="1385092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70000"/>
                </a:lnSpc>
              </a:pP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 smtClean="0">
                  <a:latin typeface="宋体" panose="02010600030101010101" pitchFamily="2" charset="-122"/>
                </a:rPr>
                <a:t>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25" name="Line 708"/>
            <p:cNvSpPr>
              <a:spLocks noChangeShapeType="1"/>
            </p:cNvSpPr>
            <p:nvPr/>
          </p:nvSpPr>
          <p:spPr bwMode="auto">
            <a:xfrm>
              <a:off x="3275856" y="1484784"/>
              <a:ext cx="43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" name="Text Box 72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5650" y="4644000"/>
            <a:ext cx="4788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7780" rIns="18000" bIns="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/>
              <a:t>思考</a:t>
            </a:r>
            <a:r>
              <a:rPr lang="zh-CN" altLang="en-US" sz="1800" dirty="0" smtClean="0"/>
              <a:t>：</a:t>
            </a:r>
            <a:r>
              <a:rPr lang="zh-CN" sz="1800" dirty="0" smtClean="0">
                <a:solidFill>
                  <a:schemeClr val="tx1"/>
                </a:solidFill>
              </a:rPr>
              <a:t>读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sz="1800" dirty="0" smtClean="0">
                <a:solidFill>
                  <a:schemeClr val="tx1"/>
                </a:solidFill>
              </a:rPr>
              <a:t>写控制要求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合并</a:t>
            </a:r>
            <a:r>
              <a:rPr lang="zh-CN" sz="1800" dirty="0" smtClean="0">
                <a:solidFill>
                  <a:schemeClr val="tx1"/>
                </a:solidFill>
              </a:rPr>
              <a:t>后</a:t>
            </a:r>
            <a:r>
              <a:rPr lang="zh-CN" sz="1800" dirty="0" smtClean="0">
                <a:solidFill>
                  <a:schemeClr val="tx1"/>
                </a:solidFill>
              </a:rPr>
              <a:t>，总的要求是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？</a:t>
            </a:r>
            <a:endParaRPr lang="zh-CN" altLang="en-US" sz="1800" dirty="0" smtClean="0">
              <a:solidFill>
                <a:schemeClr val="tx1"/>
              </a:solidFill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726"/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755650" y="5004000"/>
                <a:ext cx="7344000" cy="612000"/>
              </a:xfrm>
              <a:prstGeom prst="rect">
                <a:avLst/>
              </a:prstGeom>
              <a:noFill/>
              <a:ln w="12700">
                <a:noFill/>
                <a:prstDash val="sysDash"/>
                <a:miter lim="800000"/>
              </a:ln>
              <a:effectLst/>
            </p:spPr>
            <p:txBody>
              <a:bodyPr wrap="square" lIns="18000" tIns="17780" rIns="18000" bIns="0" anchor="t" anchorCtr="0">
                <a:noAutofit/>
              </a:bodyPr>
              <a:lstStyle>
                <a:defPPr>
                  <a:defRPr lang="zh-CN"/>
                </a:defPPr>
                <a:lvl1pPr>
                  <a:lnSpc>
                    <a:spcPct val="125000"/>
                  </a:lnSpc>
                  <a:defRPr sz="2000" b="1" u="none">
                    <a:solidFill>
                      <a:srgbClr val="990099"/>
                    </a:solidFill>
                    <a:latin typeface="宋体" panose="02010600030101010101" pitchFamily="2" charset="-122"/>
                  </a:defRPr>
                </a:lvl1pPr>
              </a:lstStyle>
              <a:p>
                <a:pPr marL="0" indent="0" eaLnBrk="1" latinLnBrk="0" hangingPunct="1">
                  <a:lnSpc>
                    <a:spcPct val="100000"/>
                  </a:lnSpc>
                </a:pPr>
                <a:r>
                  <a:rPr lang="zh-CN" sz="1800" dirty="0" smtClean="0">
                    <a:solidFill>
                      <a:srgbClr val="C00000"/>
                    </a:solidFill>
                    <a:sym typeface="+mn-ea"/>
                  </a:rPr>
                  <a:t>地址</a:t>
                </a:r>
                <a:r>
                  <a:rPr lang="zh-CN" sz="1800" u="sng" dirty="0" smtClean="0">
                    <a:solidFill>
                      <a:schemeClr val="tx1"/>
                    </a:solidFill>
                    <a:sym typeface="+mn-ea"/>
                  </a:rPr>
                  <a:t>先</a:t>
                </a:r>
                <a:r>
                  <a:rPr lang="zh-CN" sz="1800" dirty="0" smtClean="0">
                    <a:solidFill>
                      <a:schemeClr val="tx1"/>
                    </a:solidFill>
                    <a:sym typeface="+mn-ea"/>
                  </a:rPr>
                  <a:t>发送；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u="none" dirty="0" smtClean="0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u="none" dirty="0" smtClean="0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CS</m:t>
                        </m:r>
                      </m:e>
                    </m:acc>
                  </m:oMath>
                </a14:m>
                <a:r>
                  <a:rPr lang="zh-CN" sz="1800" dirty="0" smtClean="0">
                    <a:solidFill>
                      <a:schemeClr val="tx1"/>
                    </a:solidFill>
                    <a:sym typeface="+mn-ea"/>
                  </a:rPr>
                  <a:t>在</a:t>
                </a:r>
                <a:r>
                  <a:rPr lang="zh-CN" sz="1800" u="sng" dirty="0" smtClean="0">
                    <a:solidFill>
                      <a:schemeClr val="tx1"/>
                    </a:solidFill>
                    <a:sym typeface="+mn-ea"/>
                  </a:rPr>
                  <a:t>地址稳定后</a:t>
                </a:r>
                <a:r>
                  <a:rPr lang="zh-CN" sz="1800" dirty="0" smtClean="0">
                    <a:solidFill>
                      <a:schemeClr val="tx1"/>
                    </a:solidFill>
                    <a:sym typeface="+mn-ea"/>
                  </a:rPr>
                  <a:t>有效，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u="none" dirty="0" smtClean="0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b="0" u="none" dirty="0" smtClean="0">
                            <a:solidFill>
                              <a:srgbClr val="C0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WE</m:t>
                        </m:r>
                      </m:e>
                    </m:acc>
                  </m:oMath>
                </a14:m>
                <a:r>
                  <a:rPr lang="zh-CN" sz="1800" u="sng" dirty="0" smtClean="0">
                    <a:solidFill>
                      <a:schemeClr val="tx1"/>
                    </a:solidFill>
                    <a:sym typeface="+mn-ea"/>
                  </a:rPr>
                  <a:t>早于</a:t>
                </a:r>
                <a:r>
                  <a:rPr lang="en-US" altLang="zh-CN" sz="1800" u="sng" dirty="0" smtClean="0">
                    <a:solidFill>
                      <a:schemeClr val="tx1"/>
                    </a:solidFill>
                    <a:sym typeface="+mn-ea"/>
                  </a:rPr>
                  <a:t>/</a:t>
                </a:r>
                <a:r>
                  <a:rPr lang="zh-CN" altLang="en-US" sz="1800" u="sng" dirty="0" smtClean="0">
                    <a:solidFill>
                      <a:schemeClr val="tx1"/>
                    </a:solidFill>
                    <a:sym typeface="+mn-ea"/>
                  </a:rPr>
                  <a:t>等于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u="sng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u="sng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CS</m:t>
                        </m:r>
                      </m:e>
                    </m:acc>
                  </m:oMath>
                </a14:m>
                <a:r>
                  <a:rPr lang="zh-CN" altLang="en-US" sz="1800" dirty="0" smtClean="0">
                    <a:solidFill>
                      <a:schemeClr val="tx1"/>
                    </a:solidFill>
                    <a:cs typeface="宋体" panose="02010600030101010101" pitchFamily="2" charset="-122"/>
                    <a:sym typeface="+mn-ea"/>
                  </a:rPr>
                  <a:t>有效</a:t>
                </a:r>
                <a:r>
                  <a:rPr lang="en-US" altLang="zh-CN" sz="1800" dirty="0" smtClean="0">
                    <a:solidFill>
                      <a:schemeClr val="tx1"/>
                    </a:solidFill>
                    <a:cs typeface="宋体" panose="02010600030101010101" pitchFamily="2" charset="-122"/>
                    <a:sym typeface="+mn-ea"/>
                  </a:rPr>
                  <a:t>(W)/</a:t>
                </a:r>
                <a:r>
                  <a:rPr lang="zh-CN" altLang="en-US" sz="1800" dirty="0" smtClean="0">
                    <a:solidFill>
                      <a:schemeClr val="tx1"/>
                    </a:solidFill>
                    <a:cs typeface="宋体" panose="02010600030101010101" pitchFamily="2" charset="-122"/>
                    <a:sym typeface="+mn-ea"/>
                  </a:rPr>
                  <a:t>无效</a:t>
                </a:r>
                <a:r>
                  <a:rPr lang="en-US" altLang="zh-CN" sz="1800" dirty="0" smtClean="0">
                    <a:solidFill>
                      <a:schemeClr val="tx1"/>
                    </a:solidFill>
                    <a:cs typeface="宋体" panose="02010600030101010101" pitchFamily="2" charset="-122"/>
                    <a:sym typeface="+mn-ea"/>
                  </a:rPr>
                  <a:t>(R)</a:t>
                </a:r>
                <a:r>
                  <a:rPr lang="zh-CN" altLang="en-US" sz="1800" dirty="0" smtClean="0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zh-CN" altLang="en-US" sz="1800" dirty="0" smtClean="0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</a:pPr>
                <a:r>
                  <a:rPr lang="zh-CN" altLang="en-US" sz="1800" u="none" dirty="0" smtClean="0">
                    <a:solidFill>
                      <a:srgbClr val="C00000"/>
                    </a:solidFill>
                    <a:cs typeface="宋体" panose="02010600030101010101" pitchFamily="2" charset="-122"/>
                    <a:sym typeface="+mn-ea"/>
                  </a:rPr>
                  <a:t>数据</a:t>
                </a:r>
                <a:r>
                  <a:rPr lang="en-US" altLang="zh-CN" sz="1800" dirty="0" smtClean="0">
                    <a:solidFill>
                      <a:schemeClr val="tx1"/>
                    </a:solidFill>
                    <a:cs typeface="宋体" panose="02010600030101010101" pitchFamily="2" charset="-122"/>
                    <a:sym typeface="+mn-ea"/>
                  </a:rPr>
                  <a:t>(W</a:t>
                </a:r>
                <a:r>
                  <a:rPr lang="zh-CN" altLang="en-US" sz="1800" dirty="0" smtClean="0">
                    <a:solidFill>
                      <a:schemeClr val="tx1"/>
                    </a:solidFill>
                    <a:cs typeface="宋体" panose="02010600030101010101" pitchFamily="2" charset="-122"/>
                    <a:sym typeface="+mn-ea"/>
                  </a:rPr>
                  <a:t>时</a:t>
                </a:r>
                <a:r>
                  <a:rPr lang="en-US" altLang="zh-CN" sz="1800" dirty="0" smtClean="0">
                    <a:solidFill>
                      <a:schemeClr val="tx1"/>
                    </a:solidFill>
                    <a:cs typeface="宋体" panose="02010600030101010101" pitchFamily="2" charset="-122"/>
                    <a:sym typeface="+mn-ea"/>
                  </a:rPr>
                  <a:t>)</a:t>
                </a:r>
                <a:r>
                  <a:rPr lang="zh-CN" altLang="en-US" sz="1800" u="none" dirty="0" smtClean="0">
                    <a:solidFill>
                      <a:schemeClr val="tx1"/>
                    </a:solidFill>
                    <a:cs typeface="宋体" panose="02010600030101010101" pitchFamily="2" charset="-122"/>
                    <a:sym typeface="+mn-ea"/>
                  </a:rPr>
                  <a:t>发送时刻</a:t>
                </a:r>
                <a:r>
                  <a:rPr lang="zh-CN" altLang="en-US" sz="1800" u="sng" dirty="0" smtClean="0">
                    <a:solidFill>
                      <a:schemeClr val="tx1"/>
                    </a:solidFill>
                    <a:cs typeface="宋体" panose="02010600030101010101" pitchFamily="2" charset="-122"/>
                    <a:sym typeface="+mn-ea"/>
                  </a:rPr>
                  <a:t>无要求</a:t>
                </a:r>
                <a:r>
                  <a:rPr lang="zh-CN" altLang="en-US" sz="1800" u="none" dirty="0" smtClean="0">
                    <a:solidFill>
                      <a:schemeClr val="tx1"/>
                    </a:solidFill>
                    <a:cs typeface="宋体" panose="02010600030101010101" pitchFamily="2" charset="-122"/>
                    <a:sym typeface="+mn-ea"/>
                  </a:rPr>
                  <a:t>、</a:t>
                </a:r>
                <a:r>
                  <a:rPr lang="zh-CN" altLang="en-US" sz="1800" dirty="0" smtClean="0">
                    <a:solidFill>
                      <a:schemeClr val="tx1"/>
                    </a:solidFill>
                    <a:cs typeface="宋体" panose="02010600030101010101" pitchFamily="2" charset="-122"/>
                    <a:sym typeface="+mn-ea"/>
                  </a:rPr>
                  <a:t>时长</a:t>
                </a:r>
                <a:r>
                  <a:rPr lang="zh-CN" altLang="en-US" sz="1800" u="sng" dirty="0">
                    <a:solidFill>
                      <a:schemeClr val="tx1"/>
                    </a:solidFill>
                    <a:sym typeface="+mn-ea"/>
                  </a:rPr>
                  <a:t>≥</a:t>
                </a:r>
                <a:r>
                  <a:rPr lang="en-US" altLang="zh-CN" sz="1800" u="sng" dirty="0" err="1">
                    <a:solidFill>
                      <a:schemeClr val="tx1"/>
                    </a:solidFill>
                    <a:sym typeface="+mn-ea"/>
                  </a:rPr>
                  <a:t>t</a:t>
                </a:r>
                <a:r>
                  <a:rPr lang="en-US" altLang="zh-CN" sz="1800" u="sng" baseline="-18000" dirty="0" err="1">
                    <a:solidFill>
                      <a:schemeClr val="tx1"/>
                    </a:solidFill>
                    <a:sym typeface="+mn-ea"/>
                  </a:rPr>
                  <a:t>DW</a:t>
                </a:r>
                <a:r>
                  <a:rPr lang="en-US" altLang="zh-CN" sz="1800" dirty="0" smtClean="0">
                    <a:solidFill>
                      <a:schemeClr val="tx1"/>
                    </a:solidFill>
                    <a:cs typeface="宋体" panose="02010600030101010101" pitchFamily="2" charset="-122"/>
                    <a:sym typeface="+mn-ea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u="none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u="none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CS</m:t>
                        </m:r>
                      </m:e>
                    </m:acc>
                  </m:oMath>
                </a14:m>
                <a:r>
                  <a:rPr lang="zh-CN" altLang="en-US" sz="1800" dirty="0" smtClean="0">
                    <a:solidFill>
                      <a:schemeClr val="tx1"/>
                    </a:solidFill>
                    <a:cs typeface="宋体" panose="02010600030101010101" pitchFamily="2" charset="-122"/>
                    <a:sym typeface="+mn-ea"/>
                  </a:rPr>
                  <a:t>及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u="none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b="0" u="none" dirty="0" smtClean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WE</m:t>
                        </m:r>
                      </m:e>
                    </m:acc>
                  </m:oMath>
                </a14:m>
                <a:r>
                  <a:rPr lang="zh-CN" altLang="en-US" sz="1800" dirty="0" smtClean="0">
                    <a:solidFill>
                      <a:schemeClr val="tx1"/>
                    </a:solidFill>
                    <a:cs typeface="宋体" panose="02010600030101010101" pitchFamily="2" charset="-122"/>
                    <a:sym typeface="+mn-ea"/>
                  </a:rPr>
                  <a:t>均有效时</a:t>
                </a:r>
                <a:r>
                  <a:rPr lang="en-US" altLang="zh-CN" sz="1800" dirty="0" smtClean="0">
                    <a:solidFill>
                      <a:schemeClr val="tx1"/>
                    </a:solidFill>
                    <a:cs typeface="宋体" panose="02010600030101010101" pitchFamily="2" charset="-122"/>
                    <a:sym typeface="+mn-ea"/>
                  </a:rPr>
                  <a:t>)</a:t>
                </a:r>
                <a:endParaRPr lang="en-US" altLang="zh-CN" sz="1800" u="none" dirty="0" smtClean="0">
                  <a:solidFill>
                    <a:schemeClr val="tx1"/>
                  </a:solidFill>
                  <a:cs typeface="宋体" panose="02010600030101010101" pitchFamily="2" charset="-122"/>
                  <a:sym typeface="+mn-ea"/>
                </a:endParaRPr>
              </a:p>
            </p:txBody>
          </p:sp>
        </mc:Choice>
        <mc:Fallback>
          <p:sp>
            <p:nvSpPr>
              <p:cNvPr id="9" name="Text Box 72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755650" y="5004000"/>
                <a:ext cx="7344000" cy="612000"/>
              </a:xfrm>
              <a:prstGeom prst="rect">
                <a:avLst/>
              </a:prstGeom>
              <a:blipFill rotWithShape="1">
                <a:blip r:embed="rId4"/>
                <a:stretch>
                  <a:fillRect t="-33" r="3" b="-5593"/>
                </a:stretch>
              </a:blipFill>
              <a:ln w="12700">
                <a:noFill/>
                <a:prstDash val="sysDash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338"/>
          <p:cNvSpPr/>
          <p:nvPr>
            <p:custDataLst>
              <p:tags r:id="rId5"/>
            </p:custDataLst>
          </p:nvPr>
        </p:nvSpPr>
        <p:spPr bwMode="auto">
          <a:xfrm>
            <a:off x="6516141" y="4680069"/>
            <a:ext cx="1512000" cy="252000"/>
          </a:xfrm>
          <a:prstGeom prst="borderCallout2">
            <a:avLst>
              <a:gd name="adj1" fmla="val 50044"/>
              <a:gd name="adj2" fmla="val -249"/>
              <a:gd name="adj3" fmla="val 52617"/>
              <a:gd name="adj4" fmla="val -23713"/>
              <a:gd name="adj5" fmla="val 138040"/>
              <a:gd name="adj6" fmla="val -51515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vert="horz" lIns="18000" tIns="10800" rIns="18000" bIns="10800"/>
          <a:p>
            <a:pPr algn="ctr">
              <a:lnSpc>
                <a:spcPct val="90000"/>
              </a:lnSpc>
            </a:pPr>
            <a:r>
              <a:rPr lang="en-US" altLang="zh-CN" sz="1600" b="1" u="none" dirty="0" smtClean="0">
                <a:latin typeface="宋体" panose="02010600030101010101" pitchFamily="2" charset="-122"/>
              </a:rPr>
              <a:t>R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操作有此要求</a:t>
            </a:r>
            <a:endParaRPr lang="zh-CN" altLang="en-US" sz="1600" b="1" u="none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" grpId="0" bldLvl="0" animBg="1"/>
      <p:bldP spid="16" grpId="0" bldLvl="0" animBg="1"/>
      <p:bldP spid="4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" name="Text Box 232"/>
          <p:cNvSpPr txBox="1">
            <a:spLocks noChangeArrowheads="1"/>
          </p:cNvSpPr>
          <p:nvPr/>
        </p:nvSpPr>
        <p:spPr bwMode="auto">
          <a:xfrm>
            <a:off x="179388" y="2758274"/>
            <a:ext cx="8785100" cy="27256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※SRAM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的学习要求：   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 smtClean="0">
                <a:latin typeface="+mn-ea"/>
                <a:ea typeface="+mn-ea"/>
              </a:rPr>
              <a:t>   1</a:t>
            </a:r>
            <a:r>
              <a:rPr lang="zh-CN" altLang="en-US" sz="2200" b="1" u="none" dirty="0" smtClean="0">
                <a:latin typeface="+mn-ea"/>
                <a:ea typeface="+mn-ea"/>
              </a:rPr>
              <a:t>、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熟记</a:t>
            </a:r>
            <a:r>
              <a:rPr lang="en-US" altLang="zh-CN" sz="2200" b="1" u="none" dirty="0" smtClean="0">
                <a:latin typeface="+mn-ea"/>
                <a:ea typeface="+mn-ea"/>
              </a:rPr>
              <a:t>SRAM</a:t>
            </a:r>
            <a:r>
              <a:rPr lang="zh-CN" altLang="en-US" sz="2200" b="1" u="none" dirty="0">
                <a:latin typeface="+mn-ea"/>
                <a:ea typeface="+mn-ea"/>
              </a:rPr>
              <a:t>的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</a:rPr>
              <a:t>功能</a:t>
            </a:r>
            <a:r>
              <a:rPr lang="en-US" altLang="zh-CN" sz="1800" b="1" u="none" dirty="0" smtClean="0">
                <a:latin typeface="+mn-ea"/>
                <a:ea typeface="+mn-ea"/>
              </a:rPr>
              <a:t>(</a:t>
            </a:r>
            <a:r>
              <a:rPr lang="zh-CN" altLang="en-US" sz="1800" b="1" u="none" dirty="0">
                <a:latin typeface="+mn-ea"/>
                <a:ea typeface="+mn-ea"/>
              </a:rPr>
              <a:t>信息存储、</a:t>
            </a:r>
            <a:r>
              <a:rPr lang="zh-CN" altLang="en-US" sz="1800" b="1" u="none" dirty="0" smtClean="0">
                <a:latin typeface="+mn-ea"/>
                <a:ea typeface="+mn-ea"/>
              </a:rPr>
              <a:t>按地址访问</a:t>
            </a:r>
            <a:r>
              <a:rPr lang="en-US" altLang="zh-CN" sz="1800" b="1" u="none" dirty="0" smtClean="0">
                <a:latin typeface="+mn-ea"/>
                <a:ea typeface="+mn-ea"/>
              </a:rPr>
              <a:t>[</a:t>
            </a:r>
            <a:r>
              <a:rPr lang="zh-CN" altLang="en-US" sz="1800" b="1" u="none" dirty="0" smtClean="0">
                <a:latin typeface="+mn-ea"/>
                <a:ea typeface="+mn-ea"/>
              </a:rPr>
              <a:t>时延相同</a:t>
            </a:r>
            <a:r>
              <a:rPr lang="en-US" altLang="zh-CN" sz="1800" b="1" u="none" dirty="0" smtClean="0">
                <a:latin typeface="+mn-ea"/>
                <a:ea typeface="+mn-ea"/>
              </a:rPr>
              <a:t>])</a:t>
            </a:r>
            <a:r>
              <a:rPr lang="zh-CN" altLang="en-US" sz="2000" b="1" u="none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</a:t>
            </a:r>
            <a:r>
              <a:rPr lang="zh-CN" altLang="en-US" sz="2000" b="1" u="none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  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+mn-ea"/>
              </a:rPr>
              <a:t>←</a:t>
            </a:r>
            <a:r>
              <a:rPr lang="zh-CN" altLang="en-US" sz="1800" b="1" u="none" dirty="0">
                <a:solidFill>
                  <a:srgbClr val="0070C0"/>
                </a:solidFill>
                <a:latin typeface="+mn-ea"/>
              </a:rPr>
              <a:t>应用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+mn-ea"/>
              </a:rPr>
              <a:t>需求</a:t>
            </a:r>
            <a:endParaRPr lang="en-US" altLang="zh-CN" sz="2000" b="1" u="none" dirty="0" smtClean="0">
              <a:solidFill>
                <a:srgbClr val="0070C0"/>
              </a:solidFill>
              <a:latin typeface="+mn-ea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zh-CN" altLang="en-US" sz="1800" b="1" u="none" dirty="0" smtClean="0">
                <a:latin typeface="+mn-ea"/>
              </a:rPr>
              <a:t>            </a:t>
            </a:r>
            <a:r>
              <a:rPr lang="zh-CN" altLang="en-US" sz="1800" b="1" u="none" dirty="0" smtClean="0">
                <a:latin typeface="+mn-ea"/>
              </a:rPr>
              <a:t> </a:t>
            </a:r>
            <a:r>
              <a:rPr lang="en-US" altLang="zh-CN" sz="1800" b="1" u="none" dirty="0" smtClean="0">
                <a:latin typeface="+mn-ea"/>
              </a:rPr>
              <a:t>(=2</a:t>
            </a:r>
            <a:r>
              <a:rPr lang="en-US" altLang="zh-CN" sz="1800" b="1" u="none" baseline="30000" dirty="0" smtClean="0">
                <a:latin typeface="+mn-ea"/>
              </a:rPr>
              <a:t>n</a:t>
            </a:r>
            <a:r>
              <a:rPr lang="en-US" altLang="zh-CN" sz="1800" b="1" u="none" dirty="0" smtClean="0">
                <a:latin typeface="+mn-ea"/>
              </a:rPr>
              <a:t>×w</a:t>
            </a:r>
            <a:r>
              <a:rPr lang="en-US" altLang="zh-CN" sz="1800" b="1" u="none" dirty="0" smtClean="0">
                <a:latin typeface="+mn-ea"/>
              </a:rPr>
              <a:t>)</a:t>
            </a:r>
            <a:r>
              <a:rPr lang="zh-CN" altLang="en-US" sz="1800" b="1" u="none" dirty="0" smtClean="0">
                <a:latin typeface="+mn-ea"/>
              </a:rPr>
              <a:t>容量参数</a:t>
            </a:r>
            <a:r>
              <a:rPr lang="zh-CN" altLang="en-US" sz="1800" b="1" u="none" dirty="0" smtClean="0">
                <a:latin typeface="+mn-ea"/>
              </a:rPr>
              <a:t>←</a:t>
            </a:r>
            <a:r>
              <a:rPr lang="zh-CN" altLang="en-US" sz="1800" u="none" dirty="0" smtClean="0">
                <a:latin typeface="+mn-ea"/>
              </a:rPr>
              <a:t>┴───┘</a:t>
            </a:r>
            <a:r>
              <a:rPr lang="zh-CN" altLang="en-US" sz="1800" u="none" dirty="0" smtClean="0">
                <a:latin typeface="+mn-ea"/>
              </a:rPr>
              <a:t> </a:t>
            </a:r>
            <a:r>
              <a:rPr lang="zh-CN" altLang="en-US" sz="1800" u="none" spc="170" dirty="0" smtClean="0">
                <a:latin typeface="+mn-ea"/>
              </a:rPr>
              <a:t> </a:t>
            </a:r>
            <a:r>
              <a:rPr lang="zh-CN" altLang="en-US" sz="1800" u="none" dirty="0" smtClean="0">
                <a:latin typeface="+mn-ea"/>
              </a:rPr>
              <a:t>└→</a:t>
            </a:r>
            <a:r>
              <a:rPr lang="zh-CN" altLang="en-US" sz="1800" b="1" u="none" dirty="0">
                <a:latin typeface="+mn-ea"/>
              </a:rPr>
              <a:t>工作状态</a:t>
            </a:r>
            <a:r>
              <a:rPr lang="en-US" altLang="zh-CN" sz="1800" b="1" u="none" dirty="0" smtClean="0">
                <a:latin typeface="+mn-ea"/>
              </a:rPr>
              <a:t>(=</a:t>
            </a:r>
            <a:r>
              <a:rPr lang="zh-CN" altLang="en-US" sz="1800" b="1" u="none" dirty="0" smtClean="0">
                <a:latin typeface="+mn-ea"/>
              </a:rPr>
              <a:t>读</a:t>
            </a:r>
            <a:r>
              <a:rPr lang="en-US" altLang="zh-CN" sz="1800" b="1" u="none" dirty="0">
                <a:latin typeface="+mn-ea"/>
              </a:rPr>
              <a:t>/</a:t>
            </a:r>
            <a:r>
              <a:rPr lang="zh-CN" altLang="en-US" sz="1800" b="1" u="none" dirty="0">
                <a:latin typeface="+mn-ea"/>
              </a:rPr>
              <a:t>写</a:t>
            </a:r>
            <a:r>
              <a:rPr lang="en-US" altLang="zh-CN" sz="1800" b="1" u="none" dirty="0">
                <a:latin typeface="+mn-ea"/>
              </a:rPr>
              <a:t>/</a:t>
            </a:r>
            <a:r>
              <a:rPr lang="zh-CN" altLang="en-US" sz="1800" b="1" u="none" dirty="0">
                <a:latin typeface="+mn-ea"/>
              </a:rPr>
              <a:t>闲</a:t>
            </a:r>
            <a:r>
              <a:rPr lang="en-US" altLang="zh-CN" sz="1800" b="1" u="none" dirty="0" smtClean="0">
                <a:latin typeface="+mn-ea"/>
              </a:rPr>
              <a:t>)</a:t>
            </a:r>
            <a:endParaRPr lang="en-US" altLang="zh-CN" sz="1800" b="1" u="none" dirty="0" smtClean="0">
              <a:latin typeface="+mn-ea"/>
            </a:endParaRP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lang="en-US" altLang="zh-CN" sz="2200" b="1" u="none" dirty="0" smtClean="0">
                <a:latin typeface="+mn-ea"/>
                <a:ea typeface="+mn-ea"/>
              </a:rPr>
              <a:t>   2</a:t>
            </a:r>
            <a:r>
              <a:rPr lang="zh-CN" altLang="en-US" sz="2200" b="1" u="none" dirty="0" smtClean="0">
                <a:latin typeface="+mn-ea"/>
                <a:ea typeface="+mn-ea"/>
              </a:rPr>
              <a:t>、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+mn-ea"/>
                <a:ea typeface="+mn-ea"/>
              </a:rPr>
              <a:t>了解</a:t>
            </a:r>
            <a:r>
              <a:rPr lang="en-US" altLang="zh-CN" sz="2200" b="1" u="none" dirty="0" smtClean="0">
                <a:latin typeface="+mn-ea"/>
                <a:ea typeface="+mn-ea"/>
              </a:rPr>
              <a:t>SRAM</a:t>
            </a:r>
            <a:r>
              <a:rPr lang="zh-CN" altLang="en-US" sz="2200" b="1" u="none" dirty="0">
                <a:latin typeface="+mn-ea"/>
                <a:ea typeface="+mn-ea"/>
              </a:rPr>
              <a:t>的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内部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</a:rPr>
              <a:t>组成</a:t>
            </a:r>
            <a:r>
              <a:rPr lang="en-US" altLang="zh-CN" sz="1800" b="1" u="none" dirty="0" smtClean="0">
                <a:latin typeface="+mn-ea"/>
                <a:ea typeface="+mn-ea"/>
              </a:rPr>
              <a:t>(</a:t>
            </a:r>
            <a:r>
              <a:rPr lang="zh-CN" altLang="en-US" sz="1800" b="1" u="none" dirty="0" smtClean="0">
                <a:latin typeface="+mn-ea"/>
                <a:ea typeface="+mn-ea"/>
              </a:rPr>
              <a:t>存储矩阵</a:t>
            </a:r>
            <a:r>
              <a:rPr lang="en-US" altLang="zh-CN" sz="1800" b="1" u="none" dirty="0" smtClean="0">
                <a:latin typeface="+mn-ea"/>
                <a:ea typeface="+mn-ea"/>
              </a:rPr>
              <a:t>+</a:t>
            </a:r>
            <a:r>
              <a:rPr lang="zh-CN" altLang="en-US" sz="1800" b="1" u="none" dirty="0" smtClean="0">
                <a:latin typeface="+mn-ea"/>
                <a:ea typeface="+mn-ea"/>
              </a:rPr>
              <a:t>译码器</a:t>
            </a:r>
            <a:r>
              <a:rPr lang="en-US" altLang="zh-CN" sz="1800" b="1" u="none" dirty="0" smtClean="0">
                <a:latin typeface="+mn-ea"/>
                <a:ea typeface="+mn-ea"/>
              </a:rPr>
              <a:t>+</a:t>
            </a:r>
            <a:r>
              <a:rPr lang="zh-CN" altLang="en-US" sz="1800" b="1" u="none" dirty="0" smtClean="0">
                <a:latin typeface="+mn-ea"/>
                <a:ea typeface="+mn-ea"/>
              </a:rPr>
              <a:t>读写电路</a:t>
            </a:r>
            <a:r>
              <a:rPr lang="en-US" altLang="zh-CN" sz="1800" b="1" u="none" dirty="0" smtClean="0">
                <a:latin typeface="+mn-ea"/>
                <a:ea typeface="+mn-ea"/>
              </a:rPr>
              <a:t>+</a:t>
            </a:r>
            <a:r>
              <a:rPr lang="zh-CN" altLang="en-US" sz="1800" b="1" u="none" dirty="0" smtClean="0">
                <a:latin typeface="+mn-ea"/>
                <a:ea typeface="+mn-ea"/>
              </a:rPr>
              <a:t>控制电路</a:t>
            </a:r>
            <a:r>
              <a:rPr lang="en-US" altLang="zh-CN" sz="1800" b="1" u="none" dirty="0" smtClean="0">
                <a:latin typeface="+mn-ea"/>
                <a:ea typeface="+mn-ea"/>
              </a:rPr>
              <a:t>)</a:t>
            </a:r>
            <a:endParaRPr lang="en-US" altLang="zh-CN" sz="1800" b="1" u="none" dirty="0" smtClean="0">
              <a:latin typeface="+mn-ea"/>
              <a:ea typeface="+mn-ea"/>
            </a:endParaRPr>
          </a:p>
          <a:p>
            <a:pPr marL="809625" indent="-809625"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u="none" dirty="0" smtClean="0">
                <a:latin typeface="+mn-ea"/>
                <a:ea typeface="+mn-ea"/>
              </a:rPr>
              <a:t>   3</a:t>
            </a:r>
            <a:r>
              <a:rPr lang="zh-CN" altLang="en-US" sz="2200" b="1" u="none" dirty="0" smtClean="0">
                <a:latin typeface="+mn-ea"/>
                <a:ea typeface="+mn-ea"/>
              </a:rPr>
              <a:t>、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掌握</a:t>
            </a:r>
            <a:r>
              <a:rPr lang="en-US" altLang="zh-CN" sz="2200" b="1" u="none" dirty="0" smtClean="0">
                <a:latin typeface="+mn-ea"/>
                <a:ea typeface="+mn-ea"/>
              </a:rPr>
              <a:t>SRAM</a:t>
            </a:r>
            <a:r>
              <a:rPr lang="zh-CN" altLang="en-US" sz="2200" b="1" u="none" dirty="0" smtClean="0">
                <a:latin typeface="+mn-ea"/>
                <a:ea typeface="+mn-ea"/>
              </a:rPr>
              <a:t>的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</a:rPr>
              <a:t>引脚组织方法</a:t>
            </a:r>
            <a:r>
              <a:rPr lang="en-US" altLang="zh-CN" sz="1800" b="1" u="none" dirty="0" smtClean="0">
                <a:latin typeface="+mn-ea"/>
                <a:ea typeface="+mn-ea"/>
              </a:rPr>
              <a:t>(</a:t>
            </a:r>
            <a:r>
              <a:rPr lang="zh-CN" altLang="en-US" sz="1800" b="1" u="none" dirty="0" smtClean="0">
                <a:latin typeface="+mn-ea"/>
                <a:ea typeface="+mn-ea"/>
              </a:rPr>
              <a:t>地址</a:t>
            </a:r>
            <a:r>
              <a:rPr lang="en-US" altLang="zh-CN" sz="1800" b="1" u="none" dirty="0" smtClean="0">
                <a:latin typeface="+mn-ea"/>
                <a:ea typeface="+mn-ea"/>
              </a:rPr>
              <a:t>+</a:t>
            </a:r>
            <a:r>
              <a:rPr lang="zh-CN" altLang="en-US" sz="1800" b="1" u="none" dirty="0" smtClean="0">
                <a:latin typeface="+mn-ea"/>
                <a:ea typeface="+mn-ea"/>
              </a:rPr>
              <a:t>数据</a:t>
            </a:r>
            <a:r>
              <a:rPr lang="en-US" altLang="zh-CN" sz="1800" b="1" u="none" dirty="0" smtClean="0">
                <a:latin typeface="+mn-ea"/>
                <a:ea typeface="+mn-ea"/>
              </a:rPr>
              <a:t>+</a:t>
            </a:r>
            <a:r>
              <a:rPr lang="zh-CN" altLang="en-US" sz="1800" b="1" u="none" dirty="0" smtClean="0">
                <a:latin typeface="+mn-ea"/>
                <a:ea typeface="+mn-ea"/>
              </a:rPr>
              <a:t>控制</a:t>
            </a:r>
            <a:r>
              <a:rPr lang="en-US" altLang="zh-CN" sz="1800" b="1" u="none" dirty="0" smtClean="0">
                <a:latin typeface="+mn-ea"/>
                <a:ea typeface="+mn-ea"/>
              </a:rPr>
              <a:t>)         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+mn-ea"/>
                <a:ea typeface="+mn-ea"/>
              </a:rPr>
              <a:t>←容量</a:t>
            </a:r>
            <a:r>
              <a:rPr lang="en-US" altLang="zh-CN" sz="1800" b="1" u="none" dirty="0" smtClean="0">
                <a:solidFill>
                  <a:srgbClr val="0070C0"/>
                </a:solidFill>
                <a:latin typeface="+mn-ea"/>
                <a:ea typeface="+mn-ea"/>
              </a:rPr>
              <a:t>-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+mn-ea"/>
                <a:ea typeface="+mn-ea"/>
              </a:rPr>
              <a:t>引脚关系</a:t>
            </a:r>
            <a:endParaRPr lang="en-US" altLang="zh-CN" sz="1800" b="1" u="none" dirty="0" smtClean="0">
              <a:solidFill>
                <a:srgbClr val="0070C0"/>
              </a:solidFill>
              <a:latin typeface="+mn-ea"/>
              <a:ea typeface="+mn-ea"/>
            </a:endParaRPr>
          </a:p>
          <a:p>
            <a:pPr marL="809625" indent="-809625"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u="none" dirty="0" smtClean="0">
                <a:latin typeface="+mn-ea"/>
                <a:ea typeface="+mn-ea"/>
              </a:rPr>
              <a:t>   4</a:t>
            </a:r>
            <a:r>
              <a:rPr lang="zh-CN" altLang="en-US" sz="2200" b="1" u="none" dirty="0" smtClean="0">
                <a:latin typeface="+mn-ea"/>
                <a:ea typeface="+mn-ea"/>
              </a:rPr>
              <a:t>、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理解</a:t>
            </a:r>
            <a:r>
              <a:rPr lang="en-US" altLang="zh-CN" sz="2200" b="1" u="none" dirty="0" smtClean="0">
                <a:latin typeface="+mn-ea"/>
                <a:ea typeface="+mn-ea"/>
              </a:rPr>
              <a:t>SRAM</a:t>
            </a:r>
            <a:r>
              <a:rPr lang="zh-CN" altLang="en-US" sz="2200" b="1" u="none" dirty="0">
                <a:latin typeface="+mn-ea"/>
                <a:ea typeface="+mn-ea"/>
              </a:rPr>
              <a:t>的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操作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</a:rPr>
              <a:t>信号时序</a:t>
            </a:r>
            <a:r>
              <a:rPr lang="en-US" altLang="zh-CN" sz="1800" b="1" u="none" dirty="0">
                <a:latin typeface="+mn-ea"/>
                <a:ea typeface="+mn-ea"/>
              </a:rPr>
              <a:t>(</a:t>
            </a:r>
            <a:r>
              <a:rPr lang="zh-CN" altLang="en-US" sz="1800" b="1" u="none" dirty="0">
                <a:latin typeface="+mn-ea"/>
                <a:ea typeface="+mn-ea"/>
              </a:rPr>
              <a:t>先发</a:t>
            </a:r>
            <a:r>
              <a:rPr lang="zh-CN" altLang="en-US" sz="1800" b="1" u="none" dirty="0" smtClean="0">
                <a:latin typeface="+mn-ea"/>
                <a:ea typeface="+mn-ea"/>
              </a:rPr>
              <a:t>地址</a:t>
            </a:r>
            <a:r>
              <a:rPr lang="zh-CN" altLang="en-US" sz="1800" b="1" u="none" dirty="0" smtClean="0">
                <a:latin typeface="+mn-ea"/>
                <a:ea typeface="+mn-ea"/>
              </a:rPr>
              <a:t>、读</a:t>
            </a:r>
            <a:r>
              <a:rPr lang="en-US" altLang="zh-CN" sz="1800" b="1" u="none" dirty="0" smtClean="0">
                <a:latin typeface="+mn-ea"/>
                <a:ea typeface="+mn-ea"/>
              </a:rPr>
              <a:t>/</a:t>
            </a:r>
            <a:r>
              <a:rPr lang="zh-CN" altLang="en-US" sz="1800" b="1" u="none" dirty="0" smtClean="0">
                <a:latin typeface="+mn-ea"/>
                <a:ea typeface="+mn-ea"/>
              </a:rPr>
              <a:t>写略不同</a:t>
            </a:r>
            <a:r>
              <a:rPr lang="en-US" altLang="zh-CN" sz="1800" b="1" u="none" dirty="0" smtClean="0">
                <a:latin typeface="+mn-ea"/>
                <a:ea typeface="+mn-ea"/>
              </a:rPr>
              <a:t>)  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+mn-ea"/>
              </a:rPr>
              <a:t>←访问的实现</a:t>
            </a:r>
            <a:endParaRPr lang="en-US" altLang="zh-CN" sz="1800" b="1" u="none" dirty="0" smtClean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" name="Text Box 232"/>
          <p:cNvSpPr txBox="1">
            <a:spLocks noChangeArrowheads="1"/>
          </p:cNvSpPr>
          <p:nvPr/>
        </p:nvSpPr>
        <p:spPr bwMode="auto">
          <a:xfrm>
            <a:off x="395536" y="514361"/>
            <a:ext cx="8424936" cy="430887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疑惑：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好枯燥啊，为什么要学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RAM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？重点内容是什么？如何学习？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6" name="Text Box 232"/>
          <p:cNvSpPr txBox="1">
            <a:spLocks noChangeArrowheads="1"/>
          </p:cNvSpPr>
          <p:nvPr/>
        </p:nvSpPr>
        <p:spPr bwMode="auto">
          <a:xfrm>
            <a:off x="179513" y="1010857"/>
            <a:ext cx="1682110" cy="17063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目的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6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重点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6000"/>
              </a:lnSpc>
            </a:pP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6000"/>
              </a:lnSpc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方法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7" name="Text Box 232"/>
          <p:cNvSpPr txBox="1">
            <a:spLocks noChangeArrowheads="1"/>
          </p:cNvSpPr>
          <p:nvPr/>
        </p:nvSpPr>
        <p:spPr bwMode="auto">
          <a:xfrm>
            <a:off x="1691681" y="1010857"/>
            <a:ext cx="7200799" cy="17063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主存由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SRAM/DRAM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组成，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设计主存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时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会用到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6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芯片的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引脚组织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容量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-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引脚的关系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6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芯片的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操作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信号时序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读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写周期时序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6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理解概念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看得懂描述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、面向应用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关注引脚组织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访问控制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8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425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13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" name="AutoShape 15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076056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5076056" y="3645024"/>
            <a:ext cx="1944216" cy="450399"/>
            <a:chOff x="5076056" y="2809908"/>
            <a:chExt cx="1944216" cy="450399"/>
          </a:xfrm>
        </p:grpSpPr>
        <p:cxnSp>
          <p:nvCxnSpPr>
            <p:cNvPr id="12" name="直接箭头连接符 11"/>
            <p:cNvCxnSpPr/>
            <p:nvPr/>
          </p:nvCxnSpPr>
          <p:spPr bwMode="auto">
            <a:xfrm flipH="1">
              <a:off x="5076056" y="2809908"/>
              <a:ext cx="792088" cy="432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3" name="直接箭头连接符 12"/>
            <p:cNvCxnSpPr/>
            <p:nvPr/>
          </p:nvCxnSpPr>
          <p:spPr bwMode="auto">
            <a:xfrm>
              <a:off x="5436096" y="2809908"/>
              <a:ext cx="576064" cy="432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5" name="直接箭头连接符 14"/>
            <p:cNvCxnSpPr/>
            <p:nvPr/>
          </p:nvCxnSpPr>
          <p:spPr bwMode="auto">
            <a:xfrm>
              <a:off x="6588224" y="3097940"/>
              <a:ext cx="432048" cy="16236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B0F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组合 233"/>
          <p:cNvGrpSpPr/>
          <p:nvPr/>
        </p:nvGrpSpPr>
        <p:grpSpPr>
          <a:xfrm>
            <a:off x="6948264" y="1124744"/>
            <a:ext cx="1800200" cy="1586458"/>
            <a:chOff x="6876256" y="1124744"/>
            <a:chExt cx="1800200" cy="1586458"/>
          </a:xfrm>
        </p:grpSpPr>
        <p:sp>
          <p:nvSpPr>
            <p:cNvPr id="235" name="Text Box 572"/>
            <p:cNvSpPr txBox="1">
              <a:spLocks noChangeArrowheads="1"/>
            </p:cNvSpPr>
            <p:nvPr/>
          </p:nvSpPr>
          <p:spPr bwMode="auto">
            <a:xfrm>
              <a:off x="7614171" y="1124744"/>
              <a:ext cx="863600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数据线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36" name="Text Box 575"/>
            <p:cNvSpPr txBox="1">
              <a:spLocks noChangeArrowheads="1"/>
            </p:cNvSpPr>
            <p:nvPr/>
          </p:nvSpPr>
          <p:spPr bwMode="auto">
            <a:xfrm>
              <a:off x="8388424" y="2060848"/>
              <a:ext cx="269303" cy="28971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C</a:t>
              </a:r>
              <a:r>
                <a:rPr lang="en-US" altLang="zh-CN" sz="1800" b="1" u="none" baseline="-20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D</a:t>
              </a:r>
              <a:endParaRPr lang="en-US" altLang="zh-CN" sz="1800" b="1" u="none" baseline="-20000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7" name="Rectangle 576"/>
            <p:cNvSpPr>
              <a:spLocks noChangeArrowheads="1"/>
            </p:cNvSpPr>
            <p:nvPr/>
          </p:nvSpPr>
          <p:spPr bwMode="auto">
            <a:xfrm>
              <a:off x="6948264" y="1772816"/>
              <a:ext cx="1008063" cy="756444"/>
            </a:xfrm>
            <a:prstGeom prst="rect">
              <a:avLst/>
            </a:prstGeom>
            <a:solidFill>
              <a:srgbClr val="FFCC99"/>
            </a:solidFill>
            <a:ln w="9525" cap="rnd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8" name="Line 577"/>
            <p:cNvSpPr>
              <a:spLocks noChangeShapeType="1"/>
            </p:cNvSpPr>
            <p:nvPr/>
          </p:nvSpPr>
          <p:spPr bwMode="auto">
            <a:xfrm flipV="1">
              <a:off x="7812360" y="2058739"/>
              <a:ext cx="288032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Text Box 579"/>
            <p:cNvSpPr txBox="1">
              <a:spLocks noChangeArrowheads="1"/>
            </p:cNvSpPr>
            <p:nvPr/>
          </p:nvSpPr>
          <p:spPr bwMode="auto">
            <a:xfrm>
              <a:off x="6894091" y="1412775"/>
              <a:ext cx="1151707" cy="2880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字选择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线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W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40" name="Line 581"/>
            <p:cNvSpPr>
              <a:spLocks noChangeShapeType="1"/>
            </p:cNvSpPr>
            <p:nvPr/>
          </p:nvSpPr>
          <p:spPr bwMode="auto">
            <a:xfrm flipH="1">
              <a:off x="7668989" y="1842839"/>
              <a:ext cx="144463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Line 582"/>
            <p:cNvSpPr>
              <a:spLocks noChangeShapeType="1"/>
            </p:cNvSpPr>
            <p:nvPr/>
          </p:nvSpPr>
          <p:spPr bwMode="auto">
            <a:xfrm>
              <a:off x="7597551" y="1915864"/>
              <a:ext cx="2889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Line 583"/>
            <p:cNvSpPr>
              <a:spLocks noChangeShapeType="1"/>
            </p:cNvSpPr>
            <p:nvPr/>
          </p:nvSpPr>
          <p:spPr bwMode="auto">
            <a:xfrm flipH="1">
              <a:off x="7740425" y="1699916"/>
              <a:ext cx="1587" cy="14451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Line 584"/>
            <p:cNvSpPr>
              <a:spLocks noChangeShapeType="1"/>
            </p:cNvSpPr>
            <p:nvPr/>
          </p:nvSpPr>
          <p:spPr bwMode="auto">
            <a:xfrm>
              <a:off x="7668989" y="1917452"/>
              <a:ext cx="0" cy="142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Line 585"/>
            <p:cNvSpPr>
              <a:spLocks noChangeShapeType="1"/>
            </p:cNvSpPr>
            <p:nvPr/>
          </p:nvSpPr>
          <p:spPr bwMode="auto">
            <a:xfrm>
              <a:off x="7813451" y="1915864"/>
              <a:ext cx="0" cy="142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Line 586"/>
            <p:cNvSpPr>
              <a:spLocks noChangeShapeType="1"/>
            </p:cNvSpPr>
            <p:nvPr/>
          </p:nvSpPr>
          <p:spPr bwMode="auto">
            <a:xfrm>
              <a:off x="6876256" y="1700808"/>
              <a:ext cx="1800200" cy="24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Text Box 587"/>
            <p:cNvSpPr txBox="1">
              <a:spLocks noChangeArrowheads="1"/>
            </p:cNvSpPr>
            <p:nvPr/>
          </p:nvSpPr>
          <p:spPr bwMode="auto">
            <a:xfrm>
              <a:off x="7668989" y="2060327"/>
              <a:ext cx="288925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1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247" name="Line 588"/>
            <p:cNvSpPr>
              <a:spLocks noChangeShapeType="1"/>
            </p:cNvSpPr>
            <p:nvPr/>
          </p:nvSpPr>
          <p:spPr bwMode="auto">
            <a:xfrm flipH="1">
              <a:off x="8100392" y="1412775"/>
              <a:ext cx="892" cy="12984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Line 593"/>
            <p:cNvSpPr>
              <a:spLocks noChangeShapeType="1"/>
            </p:cNvSpPr>
            <p:nvPr/>
          </p:nvSpPr>
          <p:spPr bwMode="auto">
            <a:xfrm flipH="1">
              <a:off x="8243260" y="2349004"/>
              <a:ext cx="1620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Line 594"/>
            <p:cNvSpPr>
              <a:spLocks noChangeShapeType="1"/>
            </p:cNvSpPr>
            <p:nvPr/>
          </p:nvSpPr>
          <p:spPr bwMode="auto">
            <a:xfrm flipH="1">
              <a:off x="8243260" y="2420441"/>
              <a:ext cx="1620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Line 595"/>
            <p:cNvSpPr>
              <a:spLocks noChangeShapeType="1"/>
            </p:cNvSpPr>
            <p:nvPr/>
          </p:nvSpPr>
          <p:spPr bwMode="auto">
            <a:xfrm>
              <a:off x="8316416" y="2202954"/>
              <a:ext cx="1588" cy="14605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Line 596"/>
            <p:cNvSpPr>
              <a:spLocks noChangeShapeType="1"/>
            </p:cNvSpPr>
            <p:nvPr/>
          </p:nvSpPr>
          <p:spPr bwMode="auto">
            <a:xfrm flipH="1">
              <a:off x="8316416" y="2420441"/>
              <a:ext cx="0" cy="144463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Line 597"/>
            <p:cNvSpPr>
              <a:spLocks noChangeShapeType="1"/>
            </p:cNvSpPr>
            <p:nvPr/>
          </p:nvSpPr>
          <p:spPr bwMode="auto">
            <a:xfrm flipH="1">
              <a:off x="8100392" y="2202954"/>
              <a:ext cx="216024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Line 574"/>
            <p:cNvSpPr>
              <a:spLocks noChangeShapeType="1"/>
            </p:cNvSpPr>
            <p:nvPr/>
          </p:nvSpPr>
          <p:spPr bwMode="auto">
            <a:xfrm flipV="1">
              <a:off x="8214310" y="2563316"/>
              <a:ext cx="21748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Line 583"/>
            <p:cNvSpPr>
              <a:spLocks noChangeShapeType="1"/>
            </p:cNvSpPr>
            <p:nvPr/>
          </p:nvSpPr>
          <p:spPr bwMode="auto">
            <a:xfrm>
              <a:off x="8604448" y="1703214"/>
              <a:ext cx="0" cy="2136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Line 577"/>
            <p:cNvSpPr>
              <a:spLocks noChangeShapeType="1"/>
            </p:cNvSpPr>
            <p:nvPr/>
          </p:nvSpPr>
          <p:spPr bwMode="auto">
            <a:xfrm flipV="1">
              <a:off x="7829326" y="2636912"/>
              <a:ext cx="27106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Rectangle 355"/>
            <p:cNvSpPr>
              <a:spLocks noChangeArrowheads="1"/>
            </p:cNvSpPr>
            <p:nvPr/>
          </p:nvSpPr>
          <p:spPr bwMode="auto">
            <a:xfrm>
              <a:off x="6999074" y="2009318"/>
              <a:ext cx="558000" cy="46713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 cap="rnd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" name="Line 580"/>
            <p:cNvSpPr>
              <a:spLocks noChangeShapeType="1"/>
            </p:cNvSpPr>
            <p:nvPr/>
          </p:nvSpPr>
          <p:spPr bwMode="auto">
            <a:xfrm>
              <a:off x="7057801" y="2420888"/>
              <a:ext cx="2159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Line 589"/>
            <p:cNvSpPr>
              <a:spLocks noChangeShapeType="1"/>
            </p:cNvSpPr>
            <p:nvPr/>
          </p:nvSpPr>
          <p:spPr bwMode="auto">
            <a:xfrm flipH="1">
              <a:off x="7087328" y="2204864"/>
              <a:ext cx="1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590"/>
            <p:cNvSpPr>
              <a:spLocks noChangeShapeType="1"/>
            </p:cNvSpPr>
            <p:nvPr/>
          </p:nvSpPr>
          <p:spPr bwMode="auto">
            <a:xfrm flipH="1">
              <a:off x="7087328" y="2276302"/>
              <a:ext cx="1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Line 591"/>
            <p:cNvSpPr>
              <a:spLocks noChangeShapeType="1"/>
            </p:cNvSpPr>
            <p:nvPr/>
          </p:nvSpPr>
          <p:spPr bwMode="auto">
            <a:xfrm>
              <a:off x="7164288" y="2061914"/>
              <a:ext cx="0" cy="142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Line 592"/>
            <p:cNvSpPr>
              <a:spLocks noChangeShapeType="1"/>
            </p:cNvSpPr>
            <p:nvPr/>
          </p:nvSpPr>
          <p:spPr bwMode="auto">
            <a:xfrm>
              <a:off x="7165751" y="2276302"/>
              <a:ext cx="0" cy="1459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Text Box 598"/>
            <p:cNvSpPr txBox="1">
              <a:spLocks noChangeArrowheads="1"/>
            </p:cNvSpPr>
            <p:nvPr/>
          </p:nvSpPr>
          <p:spPr bwMode="auto">
            <a:xfrm>
              <a:off x="7289798" y="2060848"/>
              <a:ext cx="288925" cy="3614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S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63" name="Line 578"/>
            <p:cNvSpPr>
              <a:spLocks noChangeShapeType="1"/>
            </p:cNvSpPr>
            <p:nvPr/>
          </p:nvSpPr>
          <p:spPr bwMode="auto">
            <a:xfrm flipV="1">
              <a:off x="7164164" y="2061914"/>
              <a:ext cx="5048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675" name="Text Box 339"/>
          <p:cNvSpPr txBox="1">
            <a:spLocks noChangeArrowheads="1"/>
          </p:cNvSpPr>
          <p:nvPr/>
        </p:nvSpPr>
        <p:spPr bwMode="auto">
          <a:xfrm>
            <a:off x="179389" y="858778"/>
            <a:ext cx="5976788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DRAM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的目标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降低</a:t>
            </a:r>
            <a:r>
              <a:rPr lang="zh-CN" altLang="en-US" b="1" u="none" dirty="0">
                <a:latin typeface="宋体" panose="02010600030101010101" pitchFamily="2" charset="-122"/>
              </a:rPr>
              <a:t>功耗、节约成本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79" name="Text Box 264"/>
          <p:cNvSpPr txBox="1">
            <a:spLocks noChangeArrowheads="1"/>
          </p:cNvSpPr>
          <p:nvPr/>
        </p:nvSpPr>
        <p:spPr bwMode="auto">
          <a:xfrm>
            <a:off x="179512" y="1772816"/>
            <a:ext cx="2592288" cy="29520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存储原理：</a:t>
            </a:r>
            <a:endParaRPr lang="en-US" altLang="zh-CN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00"/>
              </a:spcBef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*写入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方法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*保持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方法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00"/>
              </a:spcBef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*读出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方法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214" name="Text Box 610"/>
          <p:cNvSpPr txBox="1">
            <a:spLocks noChangeArrowheads="1"/>
          </p:cNvSpPr>
          <p:nvPr/>
        </p:nvSpPr>
        <p:spPr bwMode="auto">
          <a:xfrm>
            <a:off x="2053679" y="2701369"/>
            <a:ext cx="597470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 smtClean="0">
                <a:latin typeface="宋体" panose="02010600030101010101" pitchFamily="2" charset="-122"/>
              </a:rPr>
              <a:t>①</a:t>
            </a:r>
            <a:r>
              <a:rPr lang="zh-CN" altLang="en-US" b="1" u="none" dirty="0">
                <a:latin typeface="宋体" panose="02010600030101010101" pitchFamily="2" charset="-122"/>
              </a:rPr>
              <a:t>在</a:t>
            </a: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W</a:t>
            </a: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线上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加</a:t>
            </a: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正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脉冲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宽度≥写延迟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→</a:t>
            </a:r>
            <a:r>
              <a:rPr lang="en-US" altLang="zh-CN" b="1" u="none" dirty="0">
                <a:latin typeface="宋体" panose="02010600030101010101" pitchFamily="2" charset="-122"/>
              </a:rPr>
              <a:t>T</a:t>
            </a:r>
            <a:r>
              <a:rPr lang="en-US" altLang="zh-CN" b="1" u="none" baseline="-20000" dirty="0">
                <a:latin typeface="宋体" panose="02010600030101010101" pitchFamily="2" charset="-122"/>
              </a:rPr>
              <a:t>1</a:t>
            </a:r>
            <a:r>
              <a:rPr lang="zh-CN" altLang="en-US" b="1" u="none" dirty="0">
                <a:latin typeface="宋体" panose="02010600030101010101" pitchFamily="2" charset="-122"/>
              </a:rPr>
              <a:t>导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通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②</a:t>
            </a:r>
            <a:r>
              <a:rPr lang="zh-CN" altLang="en-US" b="1" u="none" dirty="0">
                <a:latin typeface="宋体" panose="02010600030101010101" pitchFamily="2" charset="-122"/>
              </a:rPr>
              <a:t>在</a:t>
            </a: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D</a:t>
            </a: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线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上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加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→对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C</a:t>
            </a:r>
            <a:r>
              <a:rPr lang="en-US" altLang="zh-CN" b="1" u="none" baseline="-20000" dirty="0" smtClean="0">
                <a:latin typeface="宋体" panose="02010600030101010101" pitchFamily="2" charset="-122"/>
              </a:rPr>
              <a:t>S</a:t>
            </a:r>
            <a:r>
              <a:rPr lang="zh-CN" altLang="en-US" b="1" u="none" dirty="0">
                <a:latin typeface="宋体" panose="02010600030101010101" pitchFamily="2" charset="-122"/>
              </a:rPr>
              <a:t>充电</a:t>
            </a:r>
            <a:r>
              <a:rPr lang="en-US" altLang="zh-CN" b="1" u="none" dirty="0">
                <a:latin typeface="宋体" panose="02010600030101010101" pitchFamily="2" charset="-122"/>
              </a:rPr>
              <a:t>/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放电</a:t>
            </a:r>
            <a:endParaRPr lang="zh-CN" altLang="en-US" sz="2000" b="1" u="none" dirty="0">
              <a:latin typeface="宋体" panose="02010600030101010101" pitchFamily="2" charset="-122"/>
            </a:endParaRPr>
          </a:p>
        </p:txBody>
      </p:sp>
      <p:sp>
        <p:nvSpPr>
          <p:cNvPr id="14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E6DB-37E5-4F41-846A-F0FCAFC8C804}" type="slidenum">
              <a:rPr lang="en-US" altLang="zh-CN"/>
            </a:fld>
            <a:endParaRPr lang="en-US" altLang="zh-CN"/>
          </a:p>
        </p:txBody>
      </p:sp>
      <p:sp>
        <p:nvSpPr>
          <p:cNvPr id="14411" name="Text Box 75"/>
          <p:cNvSpPr txBox="1">
            <a:spLocks noChangeArrowheads="1"/>
          </p:cNvSpPr>
          <p:nvPr/>
        </p:nvSpPr>
        <p:spPr bwMode="auto">
          <a:xfrm>
            <a:off x="179388" y="405309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/>
          <a:p>
            <a:r>
              <a:rPr lang="zh-CN" altLang="en-US" b="1" u="none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二、</a:t>
            </a:r>
            <a:r>
              <a:rPr lang="zh-CN" altLang="en-US" b="1" u="none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动态</a:t>
            </a:r>
            <a:r>
              <a:rPr lang="en-US" altLang="zh-CN" b="1" u="none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RAM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u="none" dirty="0" smtClean="0">
                <a:cs typeface="Times New Roman" panose="02020603050405020304" pitchFamily="18" charset="0"/>
              </a:rPr>
              <a:t>Dynamic </a:t>
            </a:r>
            <a:r>
              <a:rPr lang="en-US" altLang="zh-CN" sz="1800" u="none" dirty="0">
                <a:cs typeface="Times New Roman" panose="02020603050405020304" pitchFamily="18" charset="0"/>
              </a:rPr>
              <a:t>RAM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,DRAM)</a:t>
            </a:r>
            <a:endParaRPr lang="en-US" altLang="zh-CN" sz="1800" b="1" u="none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580" name="Text Box 244"/>
          <p:cNvSpPr txBox="1">
            <a:spLocks noChangeArrowheads="1"/>
          </p:cNvSpPr>
          <p:nvPr/>
        </p:nvSpPr>
        <p:spPr bwMode="auto">
          <a:xfrm>
            <a:off x="179389" y="1340768"/>
            <a:ext cx="6192812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DRAM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存储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元的组成原理  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--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单管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MOS</a:t>
            </a:r>
            <a:r>
              <a:rPr lang="zh-CN" altLang="en-US" b="1" u="none" dirty="0">
                <a:latin typeface="宋体" panose="02010600030101010101" pitchFamily="2" charset="-122"/>
              </a:rPr>
              <a:t>型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209" name="Text Box 348"/>
          <p:cNvSpPr txBox="1">
            <a:spLocks noChangeArrowheads="1"/>
          </p:cNvSpPr>
          <p:nvPr/>
        </p:nvSpPr>
        <p:spPr bwMode="auto">
          <a:xfrm>
            <a:off x="2051720" y="1772816"/>
            <a:ext cx="4824536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无放电回路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(T</a:t>
            </a:r>
            <a:r>
              <a:rPr lang="en-US" altLang="zh-CN" sz="1800" b="1" u="none" baseline="-18000" dirty="0" smtClean="0">
                <a:latin typeface="宋体" panose="02010600030101010101" pitchFamily="2" charset="-122"/>
              </a:rPr>
              <a:t>1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截止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时，电容中的电荷可以保持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会缓慢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泄漏→需定时刷新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215" name="Text Box 611"/>
          <p:cNvSpPr txBox="1">
            <a:spLocks noChangeArrowheads="1"/>
          </p:cNvSpPr>
          <p:nvPr/>
        </p:nvSpPr>
        <p:spPr bwMode="auto">
          <a:xfrm>
            <a:off x="2053382" y="3595082"/>
            <a:ext cx="6586738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962275" indent="-2962275">
              <a:lnSpc>
                <a:spcPct val="125000"/>
              </a:lnSpc>
            </a:pP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使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W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V</a:t>
            </a:r>
            <a:r>
              <a:rPr lang="zh-CN" altLang="en-US" b="1" u="none" baseline="-20000" dirty="0">
                <a:solidFill>
                  <a:schemeClr val="accent2"/>
                </a:solidFill>
                <a:latin typeface="宋体" panose="02010600030101010101" pitchFamily="2" charset="-122"/>
              </a:rPr>
              <a:t>地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→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T</a:t>
            </a:r>
            <a:r>
              <a:rPr lang="en-US" altLang="zh-CN" b="1" u="none" baseline="-18000" dirty="0" smtClean="0">
                <a:latin typeface="宋体" panose="02010600030101010101" pitchFamily="2" charset="-122"/>
              </a:rPr>
              <a:t>1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截止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→C</a:t>
            </a:r>
            <a:r>
              <a:rPr lang="en-US" altLang="zh-CN" b="1" u="none" baseline="-20000" dirty="0" smtClean="0">
                <a:latin typeface="宋体" panose="02010600030101010101" pitchFamily="2" charset="-122"/>
              </a:rPr>
              <a:t>S</a:t>
            </a:r>
            <a:r>
              <a:rPr lang="zh-CN" altLang="en-US" b="1" u="none" dirty="0">
                <a:latin typeface="宋体" panose="02010600030101010101" pitchFamily="2" charset="-122"/>
              </a:rPr>
              <a:t>状态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保持不变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216" name="Text Box 635"/>
          <p:cNvSpPr txBox="1">
            <a:spLocks noChangeArrowheads="1"/>
          </p:cNvSpPr>
          <p:nvPr/>
        </p:nvSpPr>
        <p:spPr bwMode="auto">
          <a:xfrm>
            <a:off x="2051720" y="4077072"/>
            <a:ext cx="6912768" cy="19389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 smtClean="0">
                <a:latin typeface="宋体" panose="02010600030101010101" pitchFamily="2" charset="-122"/>
              </a:rPr>
              <a:t>①</a:t>
            </a:r>
            <a:r>
              <a:rPr lang="zh-CN" altLang="en-US" b="1" u="none" dirty="0">
                <a:latin typeface="宋体" panose="02010600030101010101" pitchFamily="2" charset="-122"/>
              </a:rPr>
              <a:t>在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D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线上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加</a:t>
            </a: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正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脉冲</a:t>
            </a:r>
            <a:r>
              <a:rPr lang="en-US" altLang="zh-CN" sz="18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(=</a:t>
            </a:r>
            <a:r>
              <a:rPr lang="en-US" altLang="zh-CN" sz="18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V</a:t>
            </a:r>
            <a:r>
              <a:rPr lang="zh-CN" altLang="en-US" sz="1800" b="1" u="none" baseline="-20000" dirty="0">
                <a:solidFill>
                  <a:schemeClr val="accent2"/>
                </a:solidFill>
                <a:latin typeface="宋体" panose="02010600030101010101" pitchFamily="2" charset="-122"/>
              </a:rPr>
              <a:t>中</a:t>
            </a:r>
            <a:r>
              <a:rPr lang="en-US" altLang="zh-CN" sz="18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)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→</a:t>
            </a:r>
            <a:r>
              <a:rPr lang="zh-CN" altLang="en-US" b="1" u="none" dirty="0">
                <a:latin typeface="宋体" panose="02010600030101010101" pitchFamily="2" charset="-122"/>
              </a:rPr>
              <a:t>对</a:t>
            </a:r>
            <a:r>
              <a:rPr lang="en-US" altLang="zh-CN" b="1" u="none" dirty="0">
                <a:latin typeface="宋体" panose="02010600030101010101" pitchFamily="2" charset="-122"/>
              </a:rPr>
              <a:t>C</a:t>
            </a:r>
            <a:r>
              <a:rPr lang="en-US" altLang="zh-CN" b="1" u="none" baseline="-20000" dirty="0">
                <a:latin typeface="宋体" panose="02010600030101010101" pitchFamily="2" charset="-122"/>
              </a:rPr>
              <a:t>D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预充电</a:t>
            </a:r>
            <a:endParaRPr lang="zh-CN" altLang="en-US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②</a:t>
            </a:r>
            <a:r>
              <a:rPr lang="zh-CN" altLang="en-US" b="1" u="none" dirty="0">
                <a:latin typeface="宋体" panose="02010600030101010101" pitchFamily="2" charset="-122"/>
              </a:rPr>
              <a:t>在</a:t>
            </a: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W</a:t>
            </a: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线上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加</a:t>
            </a: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正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脉冲</a:t>
            </a:r>
            <a:r>
              <a:rPr lang="zh-CN" altLang="en-US" b="1" u="none" dirty="0">
                <a:latin typeface="宋体" panose="02010600030101010101" pitchFamily="2" charset="-122"/>
              </a:rPr>
              <a:t>→</a:t>
            </a:r>
            <a:r>
              <a:rPr lang="en-US" altLang="zh-CN" b="1" u="none" dirty="0">
                <a:latin typeface="宋体" panose="02010600030101010101" pitchFamily="2" charset="-122"/>
              </a:rPr>
              <a:t>T</a:t>
            </a:r>
            <a:r>
              <a:rPr lang="en-US" altLang="zh-CN" b="1" u="none" baseline="-20000" dirty="0">
                <a:latin typeface="宋体" panose="02010600030101010101" pitchFamily="2" charset="-122"/>
              </a:rPr>
              <a:t>1</a:t>
            </a:r>
            <a:r>
              <a:rPr lang="zh-CN" altLang="en-US" b="1" u="none" dirty="0">
                <a:latin typeface="宋体" panose="02010600030101010101" pitchFamily="2" charset="-122"/>
              </a:rPr>
              <a:t>导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通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→D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线上电压</a:t>
            </a:r>
            <a:r>
              <a:rPr lang="zh-CN" altLang="en-US" b="1" u="none" dirty="0">
                <a:latin typeface="宋体" panose="02010600030101010101" pitchFamily="2" charset="-122"/>
              </a:rPr>
              <a:t>产生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变化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latin typeface="宋体" panose="02010600030101010101" pitchFamily="2" charset="-122"/>
              </a:rPr>
              <a:t>  →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用放大器读出数据→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C</a:t>
            </a:r>
            <a:r>
              <a:rPr lang="en-US" altLang="zh-CN" b="1" u="none" baseline="-16000" dirty="0" smtClean="0">
                <a:latin typeface="宋体" panose="02010600030101010101" pitchFamily="2" charset="-122"/>
              </a:rPr>
              <a:t>S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状态发生改变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破坏性读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→</a:t>
            </a:r>
            <a:r>
              <a:rPr lang="zh-CN" altLang="en-US" b="1" u="none" dirty="0">
                <a:latin typeface="宋体" panose="02010600030101010101" pitchFamily="2" charset="-122"/>
              </a:rPr>
              <a:t>用</a:t>
            </a: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所读数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据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重新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写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C</a:t>
            </a:r>
            <a:r>
              <a:rPr lang="en-US" altLang="zh-CN" b="1" u="none" baseline="-20000" dirty="0" smtClean="0">
                <a:latin typeface="宋体" panose="02010600030101010101" pitchFamily="2" charset="-122"/>
              </a:rPr>
              <a:t>S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18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←称为</a:t>
            </a:r>
            <a:r>
              <a:rPr lang="zh-CN" altLang="en-US" sz="18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再生</a:t>
            </a:r>
            <a:endParaRPr lang="zh-CN" altLang="en-US" sz="18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218" name="Text Box 636"/>
          <p:cNvSpPr txBox="1">
            <a:spLocks noChangeArrowheads="1"/>
          </p:cNvSpPr>
          <p:nvPr/>
        </p:nvSpPr>
        <p:spPr bwMode="auto">
          <a:xfrm>
            <a:off x="179388" y="5899338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刷新方法：</a:t>
            </a:r>
            <a:r>
              <a:rPr lang="en-US" altLang="zh-CN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                   </a:t>
            </a:r>
            <a:r>
              <a:rPr lang="en-US" altLang="zh-CN" b="1" u="none" spc="3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←需求为</a:t>
            </a:r>
            <a:r>
              <a:rPr lang="zh-CN" altLang="en-US" sz="18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读出</a:t>
            </a:r>
            <a:r>
              <a:rPr lang="zh-CN" altLang="en-US" sz="18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后</a:t>
            </a:r>
            <a:r>
              <a:rPr lang="zh-CN" altLang="en-US" sz="18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写入</a:t>
            </a:r>
            <a:endParaRPr lang="zh-CN" altLang="en-US" sz="20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948264" y="1700808"/>
            <a:ext cx="1439863" cy="216024"/>
            <a:chOff x="6769076" y="1559694"/>
            <a:chExt cx="1439863" cy="216024"/>
          </a:xfrm>
        </p:grpSpPr>
        <p:sp>
          <p:nvSpPr>
            <p:cNvPr id="187" name="Line 613"/>
            <p:cNvSpPr>
              <a:spLocks noChangeShapeType="1"/>
            </p:cNvSpPr>
            <p:nvPr/>
          </p:nvSpPr>
          <p:spPr bwMode="auto">
            <a:xfrm flipV="1">
              <a:off x="6769076" y="1559694"/>
              <a:ext cx="1439863" cy="0"/>
            </a:xfrm>
            <a:prstGeom prst="line">
              <a:avLst/>
            </a:prstGeom>
            <a:noFill/>
            <a:ln w="317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Line 614"/>
            <p:cNvSpPr>
              <a:spLocks noChangeShapeType="1"/>
            </p:cNvSpPr>
            <p:nvPr/>
          </p:nvSpPr>
          <p:spPr bwMode="auto">
            <a:xfrm flipH="1">
              <a:off x="7564398" y="1703710"/>
              <a:ext cx="144463" cy="0"/>
            </a:xfrm>
            <a:prstGeom prst="line">
              <a:avLst/>
            </a:prstGeom>
            <a:noFill/>
            <a:ln w="317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Line 615"/>
            <p:cNvSpPr>
              <a:spLocks noChangeShapeType="1"/>
            </p:cNvSpPr>
            <p:nvPr/>
          </p:nvSpPr>
          <p:spPr bwMode="auto">
            <a:xfrm>
              <a:off x="7492960" y="1775718"/>
              <a:ext cx="288925" cy="0"/>
            </a:xfrm>
            <a:prstGeom prst="line">
              <a:avLst/>
            </a:prstGeom>
            <a:noFill/>
            <a:ln w="317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Line 616"/>
            <p:cNvSpPr>
              <a:spLocks noChangeShapeType="1"/>
            </p:cNvSpPr>
            <p:nvPr/>
          </p:nvSpPr>
          <p:spPr bwMode="auto">
            <a:xfrm>
              <a:off x="7634248" y="1561976"/>
              <a:ext cx="3174" cy="139749"/>
            </a:xfrm>
            <a:prstGeom prst="line">
              <a:avLst/>
            </a:prstGeom>
            <a:noFill/>
            <a:ln w="317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8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10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 flipV="1">
            <a:off x="3203787" y="3140969"/>
            <a:ext cx="972169" cy="648071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990099"/>
            </a:solidFill>
            <a:prstDash val="sysDash"/>
            <a:round/>
            <a:headEnd type="arrow" w="med" len="sm"/>
            <a:tailEnd type="arrow" w="med" len="sm"/>
          </a:ln>
          <a:effectLst/>
        </p:spPr>
      </p:cxnSp>
      <p:sp>
        <p:nvSpPr>
          <p:cNvPr id="76" name="AutoShape 338"/>
          <p:cNvSpPr/>
          <p:nvPr/>
        </p:nvSpPr>
        <p:spPr bwMode="auto">
          <a:xfrm>
            <a:off x="8676456" y="2645295"/>
            <a:ext cx="288000" cy="1584000"/>
          </a:xfrm>
          <a:prstGeom prst="borderCallout2">
            <a:avLst>
              <a:gd name="adj1" fmla="val -678"/>
              <a:gd name="adj2" fmla="val 51165"/>
              <a:gd name="adj3" fmla="val -11929"/>
              <a:gd name="adj4" fmla="val 52878"/>
              <a:gd name="adj5" fmla="val -19947"/>
              <a:gd name="adj6" fmla="val -11786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vert="eaVert" lIns="18000" tIns="10800" rIns="18000" bIns="10800" anchor="ctr" anchorCtr="1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 smtClean="0">
                <a:latin typeface="宋体" panose="02010600030101010101" pitchFamily="2" charset="-122"/>
              </a:rPr>
              <a:t>每列一个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共用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endParaRPr lang="zh-CN" altLang="en-US" sz="1600" b="1" u="none" dirty="0">
              <a:latin typeface="宋体" panose="02010600030101010101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7884368" y="1412776"/>
            <a:ext cx="288925" cy="1288593"/>
            <a:chOff x="7812360" y="1412776"/>
            <a:chExt cx="288925" cy="1288593"/>
          </a:xfrm>
        </p:grpSpPr>
        <p:sp>
          <p:nvSpPr>
            <p:cNvPr id="192" name="Line 618"/>
            <p:cNvSpPr>
              <a:spLocks noChangeShapeType="1"/>
            </p:cNvSpPr>
            <p:nvPr/>
          </p:nvSpPr>
          <p:spPr bwMode="auto">
            <a:xfrm flipH="1">
              <a:off x="8098110" y="1412776"/>
              <a:ext cx="1588" cy="1288593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625"/>
            <p:cNvSpPr>
              <a:spLocks noChangeShapeType="1"/>
            </p:cNvSpPr>
            <p:nvPr/>
          </p:nvSpPr>
          <p:spPr bwMode="auto">
            <a:xfrm>
              <a:off x="7812360" y="2060848"/>
              <a:ext cx="288925" cy="0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626"/>
            <p:cNvSpPr>
              <a:spLocks noChangeShapeType="1"/>
            </p:cNvSpPr>
            <p:nvPr/>
          </p:nvSpPr>
          <p:spPr bwMode="auto">
            <a:xfrm>
              <a:off x="7812360" y="1916832"/>
              <a:ext cx="0" cy="142875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4" name="Text Box 636"/>
          <p:cNvSpPr txBox="1">
            <a:spLocks noChangeArrowheads="1"/>
          </p:cNvSpPr>
          <p:nvPr/>
        </p:nvSpPr>
        <p:spPr bwMode="auto">
          <a:xfrm>
            <a:off x="2051720" y="5899338"/>
            <a:ext cx="3744416" cy="490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同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读操作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数据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不输出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到引脚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zh-CN" altLang="en-US" sz="18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pSp>
        <p:nvGrpSpPr>
          <p:cNvPr id="285" name="组合 284"/>
          <p:cNvGrpSpPr/>
          <p:nvPr/>
        </p:nvGrpSpPr>
        <p:grpSpPr>
          <a:xfrm>
            <a:off x="7164288" y="1924075"/>
            <a:ext cx="576064" cy="505446"/>
            <a:chOff x="7092280" y="1916832"/>
            <a:chExt cx="576064" cy="505446"/>
          </a:xfrm>
        </p:grpSpPr>
        <p:sp>
          <p:nvSpPr>
            <p:cNvPr id="286" name="Line 628"/>
            <p:cNvSpPr>
              <a:spLocks noChangeShapeType="1"/>
            </p:cNvSpPr>
            <p:nvPr/>
          </p:nvSpPr>
          <p:spPr bwMode="auto">
            <a:xfrm flipV="1">
              <a:off x="7157480" y="2061294"/>
              <a:ext cx="508613" cy="693"/>
            </a:xfrm>
            <a:prstGeom prst="line">
              <a:avLst/>
            </a:prstGeom>
            <a:noFill/>
            <a:ln w="3175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Line 630"/>
            <p:cNvSpPr>
              <a:spLocks noChangeShapeType="1"/>
            </p:cNvSpPr>
            <p:nvPr/>
          </p:nvSpPr>
          <p:spPr bwMode="auto">
            <a:xfrm flipH="1">
              <a:off x="7092280" y="2204864"/>
              <a:ext cx="162000" cy="0"/>
            </a:xfrm>
            <a:prstGeom prst="line">
              <a:avLst/>
            </a:prstGeom>
            <a:noFill/>
            <a:ln w="3175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Line 631"/>
            <p:cNvSpPr>
              <a:spLocks noChangeShapeType="1"/>
            </p:cNvSpPr>
            <p:nvPr/>
          </p:nvSpPr>
          <p:spPr bwMode="auto">
            <a:xfrm flipH="1">
              <a:off x="7092280" y="2276872"/>
              <a:ext cx="1620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Line 632"/>
            <p:cNvSpPr>
              <a:spLocks noChangeShapeType="1"/>
            </p:cNvSpPr>
            <p:nvPr/>
          </p:nvSpPr>
          <p:spPr bwMode="auto">
            <a:xfrm>
              <a:off x="7165328" y="2060327"/>
              <a:ext cx="1" cy="145380"/>
            </a:xfrm>
            <a:prstGeom prst="line">
              <a:avLst/>
            </a:prstGeom>
            <a:noFill/>
            <a:ln w="3175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Line 633"/>
            <p:cNvSpPr>
              <a:spLocks noChangeShapeType="1"/>
            </p:cNvSpPr>
            <p:nvPr/>
          </p:nvSpPr>
          <p:spPr bwMode="auto">
            <a:xfrm flipH="1">
              <a:off x="7165328" y="2276872"/>
              <a:ext cx="2200" cy="14540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Line 634"/>
            <p:cNvSpPr>
              <a:spLocks noChangeShapeType="1"/>
            </p:cNvSpPr>
            <p:nvPr/>
          </p:nvSpPr>
          <p:spPr bwMode="auto">
            <a:xfrm>
              <a:off x="7668344" y="1916832"/>
              <a:ext cx="0" cy="142875"/>
            </a:xfrm>
            <a:prstGeom prst="line">
              <a:avLst/>
            </a:prstGeom>
            <a:noFill/>
            <a:ln w="3175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2" name="Group 599"/>
          <p:cNvGrpSpPr/>
          <p:nvPr/>
        </p:nvGrpSpPr>
        <p:grpSpPr bwMode="auto">
          <a:xfrm>
            <a:off x="7884368" y="1419870"/>
            <a:ext cx="596901" cy="1289050"/>
            <a:chOff x="3017" y="2024"/>
            <a:chExt cx="376" cy="812"/>
          </a:xfrm>
        </p:grpSpPr>
        <p:sp>
          <p:nvSpPr>
            <p:cNvPr id="293" name="Line 600"/>
            <p:cNvSpPr>
              <a:spLocks noChangeShapeType="1"/>
            </p:cNvSpPr>
            <p:nvPr/>
          </p:nvSpPr>
          <p:spPr bwMode="auto">
            <a:xfrm>
              <a:off x="3198" y="2024"/>
              <a:ext cx="1" cy="812"/>
            </a:xfrm>
            <a:prstGeom prst="line">
              <a:avLst/>
            </a:prstGeom>
            <a:noFill/>
            <a:ln w="3175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" name="Line 601"/>
            <p:cNvSpPr>
              <a:spLocks noChangeShapeType="1"/>
            </p:cNvSpPr>
            <p:nvPr/>
          </p:nvSpPr>
          <p:spPr bwMode="auto">
            <a:xfrm flipH="1">
              <a:off x="3291" y="2614"/>
              <a:ext cx="102" cy="0"/>
            </a:xfrm>
            <a:prstGeom prst="line">
              <a:avLst/>
            </a:prstGeom>
            <a:noFill/>
            <a:ln w="3175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" name="Line 602"/>
            <p:cNvSpPr>
              <a:spLocks noChangeShapeType="1"/>
            </p:cNvSpPr>
            <p:nvPr/>
          </p:nvSpPr>
          <p:spPr bwMode="auto">
            <a:xfrm flipH="1">
              <a:off x="3291" y="2659"/>
              <a:ext cx="10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Line 603"/>
            <p:cNvSpPr>
              <a:spLocks noChangeShapeType="1"/>
            </p:cNvSpPr>
            <p:nvPr/>
          </p:nvSpPr>
          <p:spPr bwMode="auto">
            <a:xfrm>
              <a:off x="3340" y="2522"/>
              <a:ext cx="1" cy="92"/>
            </a:xfrm>
            <a:prstGeom prst="line">
              <a:avLst/>
            </a:prstGeom>
            <a:noFill/>
            <a:ln w="3175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" name="Line 604"/>
            <p:cNvSpPr>
              <a:spLocks noChangeShapeType="1"/>
            </p:cNvSpPr>
            <p:nvPr/>
          </p:nvSpPr>
          <p:spPr bwMode="auto">
            <a:xfrm flipH="1">
              <a:off x="3340" y="2659"/>
              <a:ext cx="1" cy="9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" name="Line 605"/>
            <p:cNvSpPr>
              <a:spLocks noChangeShapeType="1"/>
            </p:cNvSpPr>
            <p:nvPr/>
          </p:nvSpPr>
          <p:spPr bwMode="auto">
            <a:xfrm flipH="1">
              <a:off x="3198" y="2522"/>
              <a:ext cx="141" cy="0"/>
            </a:xfrm>
            <a:prstGeom prst="line">
              <a:avLst/>
            </a:prstGeom>
            <a:noFill/>
            <a:ln w="31750">
              <a:solidFill>
                <a:srgbClr val="0070C0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Line 607"/>
            <p:cNvSpPr>
              <a:spLocks noChangeShapeType="1"/>
            </p:cNvSpPr>
            <p:nvPr/>
          </p:nvSpPr>
          <p:spPr bwMode="auto">
            <a:xfrm>
              <a:off x="3017" y="2433"/>
              <a:ext cx="182" cy="0"/>
            </a:xfrm>
            <a:prstGeom prst="line">
              <a:avLst/>
            </a:prstGeom>
            <a:noFill/>
            <a:ln w="31750">
              <a:solidFill>
                <a:srgbClr val="0070C0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Line 608"/>
            <p:cNvSpPr>
              <a:spLocks noChangeShapeType="1"/>
            </p:cNvSpPr>
            <p:nvPr/>
          </p:nvSpPr>
          <p:spPr bwMode="auto">
            <a:xfrm>
              <a:off x="3017" y="2342"/>
              <a:ext cx="0" cy="90"/>
            </a:xfrm>
            <a:prstGeom prst="line">
              <a:avLst/>
            </a:prstGeom>
            <a:noFill/>
            <a:ln w="31750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6" name="Group 599"/>
          <p:cNvGrpSpPr/>
          <p:nvPr/>
        </p:nvGrpSpPr>
        <p:grpSpPr bwMode="auto">
          <a:xfrm>
            <a:off x="7884368" y="1412627"/>
            <a:ext cx="596901" cy="1289050"/>
            <a:chOff x="3017" y="2024"/>
            <a:chExt cx="376" cy="812"/>
          </a:xfrm>
        </p:grpSpPr>
        <p:sp>
          <p:nvSpPr>
            <p:cNvPr id="177" name="Line 600"/>
            <p:cNvSpPr>
              <a:spLocks noChangeShapeType="1"/>
            </p:cNvSpPr>
            <p:nvPr/>
          </p:nvSpPr>
          <p:spPr bwMode="auto">
            <a:xfrm>
              <a:off x="3198" y="2024"/>
              <a:ext cx="1" cy="812"/>
            </a:xfrm>
            <a:prstGeom prst="line">
              <a:avLst/>
            </a:prstGeom>
            <a:noFill/>
            <a:ln w="31750">
              <a:solidFill>
                <a:srgbClr val="00CC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601"/>
            <p:cNvSpPr>
              <a:spLocks noChangeShapeType="1"/>
            </p:cNvSpPr>
            <p:nvPr/>
          </p:nvSpPr>
          <p:spPr bwMode="auto">
            <a:xfrm flipH="1">
              <a:off x="3291" y="2614"/>
              <a:ext cx="102" cy="0"/>
            </a:xfrm>
            <a:prstGeom prst="line">
              <a:avLst/>
            </a:prstGeom>
            <a:noFill/>
            <a:ln w="31750">
              <a:solidFill>
                <a:srgbClr val="00CC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602"/>
            <p:cNvSpPr>
              <a:spLocks noChangeShapeType="1"/>
            </p:cNvSpPr>
            <p:nvPr/>
          </p:nvSpPr>
          <p:spPr bwMode="auto">
            <a:xfrm flipH="1">
              <a:off x="3291" y="2659"/>
              <a:ext cx="10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603"/>
            <p:cNvSpPr>
              <a:spLocks noChangeShapeType="1"/>
            </p:cNvSpPr>
            <p:nvPr/>
          </p:nvSpPr>
          <p:spPr bwMode="auto">
            <a:xfrm>
              <a:off x="3340" y="2522"/>
              <a:ext cx="1" cy="92"/>
            </a:xfrm>
            <a:prstGeom prst="line">
              <a:avLst/>
            </a:prstGeom>
            <a:noFill/>
            <a:ln w="31750">
              <a:solidFill>
                <a:srgbClr val="00CC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604"/>
            <p:cNvSpPr>
              <a:spLocks noChangeShapeType="1"/>
            </p:cNvSpPr>
            <p:nvPr/>
          </p:nvSpPr>
          <p:spPr bwMode="auto">
            <a:xfrm flipH="1">
              <a:off x="3340" y="2659"/>
              <a:ext cx="1" cy="9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Line 605"/>
            <p:cNvSpPr>
              <a:spLocks noChangeShapeType="1"/>
            </p:cNvSpPr>
            <p:nvPr/>
          </p:nvSpPr>
          <p:spPr bwMode="auto">
            <a:xfrm flipH="1">
              <a:off x="3198" y="2522"/>
              <a:ext cx="141" cy="0"/>
            </a:xfrm>
            <a:prstGeom prst="line">
              <a:avLst/>
            </a:prstGeom>
            <a:noFill/>
            <a:ln w="31750">
              <a:solidFill>
                <a:srgbClr val="00CCFF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607"/>
            <p:cNvSpPr>
              <a:spLocks noChangeShapeType="1"/>
            </p:cNvSpPr>
            <p:nvPr/>
          </p:nvSpPr>
          <p:spPr bwMode="auto">
            <a:xfrm>
              <a:off x="3017" y="2433"/>
              <a:ext cx="182" cy="0"/>
            </a:xfrm>
            <a:prstGeom prst="line">
              <a:avLst/>
            </a:prstGeom>
            <a:noFill/>
            <a:ln w="31750">
              <a:solidFill>
                <a:srgbClr val="00CCFF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608"/>
            <p:cNvSpPr>
              <a:spLocks noChangeShapeType="1"/>
            </p:cNvSpPr>
            <p:nvPr/>
          </p:nvSpPr>
          <p:spPr bwMode="auto">
            <a:xfrm>
              <a:off x="3017" y="2342"/>
              <a:ext cx="0" cy="90"/>
            </a:xfrm>
            <a:prstGeom prst="line">
              <a:avLst/>
            </a:prstGeom>
            <a:noFill/>
            <a:ln w="31750">
              <a:solidFill>
                <a:srgbClr val="00CCFF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164288" y="1916832"/>
            <a:ext cx="576064" cy="505446"/>
            <a:chOff x="7092280" y="1916832"/>
            <a:chExt cx="576064" cy="505446"/>
          </a:xfrm>
        </p:grpSpPr>
        <p:sp>
          <p:nvSpPr>
            <p:cNvPr id="202" name="Line 628"/>
            <p:cNvSpPr>
              <a:spLocks noChangeShapeType="1"/>
            </p:cNvSpPr>
            <p:nvPr/>
          </p:nvSpPr>
          <p:spPr bwMode="auto">
            <a:xfrm flipV="1">
              <a:off x="7157480" y="2061294"/>
              <a:ext cx="508613" cy="693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Line 630"/>
            <p:cNvSpPr>
              <a:spLocks noChangeShapeType="1"/>
            </p:cNvSpPr>
            <p:nvPr/>
          </p:nvSpPr>
          <p:spPr bwMode="auto">
            <a:xfrm flipH="1">
              <a:off x="7092280" y="2204864"/>
              <a:ext cx="162000" cy="0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Line 631"/>
            <p:cNvSpPr>
              <a:spLocks noChangeShapeType="1"/>
            </p:cNvSpPr>
            <p:nvPr/>
          </p:nvSpPr>
          <p:spPr bwMode="auto">
            <a:xfrm flipH="1">
              <a:off x="7092280" y="2276872"/>
              <a:ext cx="1620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632"/>
            <p:cNvSpPr>
              <a:spLocks noChangeShapeType="1"/>
            </p:cNvSpPr>
            <p:nvPr/>
          </p:nvSpPr>
          <p:spPr bwMode="auto">
            <a:xfrm>
              <a:off x="7165328" y="2060327"/>
              <a:ext cx="1" cy="145380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633"/>
            <p:cNvSpPr>
              <a:spLocks noChangeShapeType="1"/>
            </p:cNvSpPr>
            <p:nvPr/>
          </p:nvSpPr>
          <p:spPr bwMode="auto">
            <a:xfrm flipH="1">
              <a:off x="7165328" y="2276872"/>
              <a:ext cx="2200" cy="14540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Line 634"/>
            <p:cNvSpPr>
              <a:spLocks noChangeShapeType="1"/>
            </p:cNvSpPr>
            <p:nvPr/>
          </p:nvSpPr>
          <p:spPr bwMode="auto">
            <a:xfrm>
              <a:off x="7668344" y="1916832"/>
              <a:ext cx="0" cy="142875"/>
            </a:xfrm>
            <a:prstGeom prst="line">
              <a:avLst/>
            </a:prstGeom>
            <a:noFill/>
            <a:ln w="317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6" presetClass="entr" presetSubtype="2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2" presetClass="exit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75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1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500"/>
                            </p:stCondLst>
                            <p:childTnLst>
                              <p:par>
                                <p:cTn id="92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4"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0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17" presetID="22" presetClass="exit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8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3000"/>
                            </p:stCondLst>
                            <p:childTnLst>
                              <p:par>
                                <p:cTn id="1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000"/>
                            </p:stCondLst>
                            <p:childTnLst>
                              <p:par>
                                <p:cTn id="125" presetID="22" presetClass="exit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22" presetClass="exit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214" grpId="0"/>
      <p:bldP spid="14580" grpId="0"/>
      <p:bldP spid="209" grpId="0"/>
      <p:bldP spid="215" grpId="0"/>
      <p:bldP spid="218" grpId="0"/>
      <p:bldP spid="76" grpId="0" animBg="1"/>
      <p:bldP spid="76" grpId="1" animBg="1"/>
      <p:bldP spid="28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Text Box 32"/>
          <p:cNvSpPr txBox="1">
            <a:spLocks noChangeArrowheads="1"/>
          </p:cNvSpPr>
          <p:nvPr/>
        </p:nvSpPr>
        <p:spPr bwMode="auto">
          <a:xfrm>
            <a:off x="179705" y="829310"/>
            <a:ext cx="5831205" cy="2292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(1)DRAM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芯片的引脚组织</a:t>
            </a:r>
            <a:endParaRPr lang="en-US" altLang="zh-CN" b="1" u="none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数据引脚：</a:t>
            </a:r>
            <a:r>
              <a:rPr lang="en-US" altLang="zh-CN" b="1" i="1" u="none" dirty="0" smtClean="0">
                <a:latin typeface="+mn-lt"/>
                <a:sym typeface="+mn-ea"/>
              </a:rPr>
              <a:t>w</a:t>
            </a:r>
            <a:r>
              <a:rPr lang="zh-CN" altLang="en-US" b="1" u="none" dirty="0" smtClean="0">
                <a:latin typeface="+mn-lt"/>
                <a:sym typeface="+mn-ea"/>
              </a:rPr>
              <a:t>位，</a:t>
            </a:r>
            <a:r>
              <a:rPr lang="zh-CN" altLang="en-US" b="1" u="none" dirty="0">
                <a:latin typeface="宋体" panose="02010600030101010101" pitchFamily="2" charset="-122"/>
              </a:rPr>
              <a:t>有单向、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双向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2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种方式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*地址引脚：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18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*控制引脚：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 Box 724"/>
          <p:cNvSpPr txBox="1">
            <a:spLocks noChangeArrowheads="1"/>
          </p:cNvSpPr>
          <p:nvPr/>
        </p:nvSpPr>
        <p:spPr bwMode="auto">
          <a:xfrm>
            <a:off x="2051720" y="1772816"/>
            <a:ext cx="6913017" cy="8448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 smtClean="0">
                <a:latin typeface="宋体" panose="02010600030101010101" pitchFamily="2" charset="-122"/>
              </a:rPr>
              <a:t>[log</a:t>
            </a:r>
            <a:r>
              <a:rPr lang="en-US" altLang="zh-CN" b="1" u="none" baseline="-26000" dirty="0" smtClean="0">
                <a:latin typeface="宋体" panose="02010600030101010101" pitchFamily="2" charset="-122"/>
              </a:rPr>
              <a:t>2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(</a:t>
            </a:r>
            <a:r>
              <a:rPr lang="en-US" altLang="zh-CN" b="1" i="1" u="none" dirty="0" smtClean="0">
                <a:latin typeface="+mn-lt"/>
              </a:rPr>
              <a:t>S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/</a:t>
            </a:r>
            <a:r>
              <a:rPr lang="en-US" altLang="zh-CN" b="1" i="1" u="none" dirty="0" smtClean="0">
                <a:latin typeface="+mn-lt"/>
              </a:rPr>
              <a:t>w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)]</a:t>
            </a: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/2</a:t>
            </a:r>
            <a:r>
              <a:rPr lang="zh-CN" altLang="en-US" b="1" u="none" dirty="0">
                <a:latin typeface="宋体" panose="02010600030101010101" pitchFamily="2" charset="-122"/>
              </a:rPr>
              <a:t>根，地址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分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次传送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行地址＋列地址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u="none" dirty="0" smtClean="0">
                <a:latin typeface="宋体" panose="02010600030101010101" pitchFamily="2" charset="-122"/>
              </a:rPr>
              <a:t>               </a:t>
            </a:r>
            <a:r>
              <a:rPr lang="zh-CN" altLang="en-US" sz="1800" u="none" dirty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u="none" dirty="0">
                <a:latin typeface="宋体" panose="02010600030101010101" pitchFamily="2" charset="-122"/>
              </a:rPr>
              <a:t>减少芯片面积←提高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集成度</a:t>
            </a:r>
            <a:endParaRPr lang="en-US" altLang="zh-CN" sz="1800" b="1" u="none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Text Box 32"/>
          <p:cNvSpPr txBox="1">
            <a:spLocks noChangeArrowheads="1"/>
          </p:cNvSpPr>
          <p:nvPr/>
        </p:nvSpPr>
        <p:spPr bwMode="auto">
          <a:xfrm>
            <a:off x="179512" y="346193"/>
            <a:ext cx="8785225" cy="490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DRAM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芯片的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组成</a:t>
            </a:r>
            <a:endParaRPr lang="en-US" altLang="zh-CN" b="1" u="none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051720" y="2564904"/>
            <a:ext cx="6452749" cy="844847"/>
            <a:chOff x="2267495" y="2634297"/>
            <a:chExt cx="6452749" cy="844847"/>
          </a:xfrm>
        </p:grpSpPr>
        <p:sp>
          <p:nvSpPr>
            <p:cNvPr id="6" name="Text Box 33"/>
            <p:cNvSpPr txBox="1">
              <a:spLocks noChangeArrowheads="1"/>
            </p:cNvSpPr>
            <p:nvPr/>
          </p:nvSpPr>
          <p:spPr bwMode="auto">
            <a:xfrm>
              <a:off x="2267495" y="2634297"/>
              <a:ext cx="6452749" cy="84484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b="1" u="none" dirty="0" smtClean="0">
                  <a:latin typeface="宋体" panose="02010600030101010101" pitchFamily="2" charset="-122"/>
                </a:rPr>
                <a:t>行地址选通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RAS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、列地址选通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CAS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、读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写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WE</a:t>
              </a:r>
              <a:endParaRPr lang="en-US" altLang="zh-CN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800" u="none" dirty="0"/>
                <a:t>Row Address </a:t>
              </a:r>
              <a:r>
                <a:rPr lang="en-US" altLang="zh-CN" sz="1800" u="none" dirty="0" smtClean="0"/>
                <a:t>Strobe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) (</a:t>
              </a:r>
              <a:r>
                <a:rPr lang="en-US" altLang="zh-CN" sz="1800" u="none" dirty="0"/>
                <a:t>Column Address </a:t>
              </a:r>
              <a:r>
                <a:rPr lang="en-US" altLang="zh-CN" sz="1800" u="none" dirty="0" smtClean="0"/>
                <a:t>Strobe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 bwMode="auto">
            <a:xfrm>
              <a:off x="3917714" y="2769393"/>
              <a:ext cx="450000" cy="1588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连接符 9"/>
            <p:cNvCxnSpPr/>
            <p:nvPr/>
          </p:nvCxnSpPr>
          <p:spPr bwMode="auto">
            <a:xfrm>
              <a:off x="6213255" y="2769393"/>
              <a:ext cx="450000" cy="1588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 bwMode="auto">
            <a:xfrm>
              <a:off x="7722978" y="2769393"/>
              <a:ext cx="324000" cy="1588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89" name="组合 88"/>
          <p:cNvGrpSpPr/>
          <p:nvPr/>
        </p:nvGrpSpPr>
        <p:grpSpPr>
          <a:xfrm>
            <a:off x="3347864" y="3356992"/>
            <a:ext cx="5348970" cy="490519"/>
            <a:chOff x="3615518" y="2996952"/>
            <a:chExt cx="5348970" cy="490519"/>
          </a:xfrm>
        </p:grpSpPr>
        <p:sp>
          <p:nvSpPr>
            <p:cNvPr id="14" name="Text Box 33"/>
            <p:cNvSpPr txBox="1">
              <a:spLocks noChangeArrowheads="1"/>
            </p:cNvSpPr>
            <p:nvPr/>
          </p:nvSpPr>
          <p:spPr bwMode="auto">
            <a:xfrm>
              <a:off x="3615518" y="2996952"/>
              <a:ext cx="5348970" cy="490519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借用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RAS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实现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操作期间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全部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有效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800" b="1" u="none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87" name="直接连接符 86"/>
            <p:cNvCxnSpPr/>
            <p:nvPr/>
          </p:nvCxnSpPr>
          <p:spPr bwMode="auto">
            <a:xfrm>
              <a:off x="4336874" y="3131960"/>
              <a:ext cx="432000" cy="1588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55" name="Text Box 33"/>
          <p:cNvSpPr txBox="1">
            <a:spLocks noChangeArrowheads="1"/>
          </p:cNvSpPr>
          <p:nvPr/>
        </p:nvSpPr>
        <p:spPr bwMode="auto">
          <a:xfrm>
            <a:off x="179513" y="3356992"/>
            <a:ext cx="3535280" cy="30162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片选</a:t>
            </a: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功能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的组织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刷新功能的</a:t>
            </a: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组织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Text Box 33"/>
          <p:cNvSpPr txBox="1">
            <a:spLocks noChangeArrowheads="1"/>
          </p:cNvSpPr>
          <p:nvPr/>
        </p:nvSpPr>
        <p:spPr bwMode="auto">
          <a:xfrm>
            <a:off x="3348484" y="5805264"/>
            <a:ext cx="1511548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稍后讨论</a:t>
            </a:r>
            <a:endParaRPr lang="en-US" altLang="zh-CN" b="1" u="none" dirty="0" smtClean="0">
              <a:latin typeface="宋体" panose="02010600030101010101" pitchFamily="2" charset="-122"/>
            </a:endParaRPr>
          </a:p>
        </p:txBody>
      </p:sp>
      <p:sp>
        <p:nvSpPr>
          <p:cNvPr id="4" name="右箭头 3"/>
          <p:cNvSpPr/>
          <p:nvPr/>
        </p:nvSpPr>
        <p:spPr bwMode="auto">
          <a:xfrm>
            <a:off x="4657367" y="4357430"/>
            <a:ext cx="360000" cy="360000"/>
          </a:xfrm>
          <a:prstGeom prst="rightArrow">
            <a:avLst/>
          </a:prstGeom>
          <a:noFill/>
          <a:ln w="15875">
            <a:solidFill>
              <a:schemeClr val="tx1"/>
            </a:solidFill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/>
          </a:p>
        </p:txBody>
      </p:sp>
      <p:grpSp>
        <p:nvGrpSpPr>
          <p:cNvPr id="153" name="组合 152"/>
          <p:cNvGrpSpPr/>
          <p:nvPr/>
        </p:nvGrpSpPr>
        <p:grpSpPr>
          <a:xfrm>
            <a:off x="827584" y="3997350"/>
            <a:ext cx="3601212" cy="1084560"/>
            <a:chOff x="827584" y="2201590"/>
            <a:chExt cx="3601212" cy="1084560"/>
          </a:xfrm>
        </p:grpSpPr>
        <p:sp>
          <p:nvSpPr>
            <p:cNvPr id="154" name="Line 267"/>
            <p:cNvSpPr>
              <a:spLocks noChangeShapeType="1"/>
            </p:cNvSpPr>
            <p:nvPr/>
          </p:nvSpPr>
          <p:spPr bwMode="auto">
            <a:xfrm flipV="1">
              <a:off x="1403648" y="2201590"/>
              <a:ext cx="21684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Line 268"/>
            <p:cNvSpPr>
              <a:spLocks noChangeShapeType="1"/>
            </p:cNvSpPr>
            <p:nvPr/>
          </p:nvSpPr>
          <p:spPr bwMode="auto">
            <a:xfrm flipV="1">
              <a:off x="1403649" y="2420888"/>
              <a:ext cx="216844" cy="10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Line 269"/>
            <p:cNvSpPr>
              <a:spLocks noChangeShapeType="1"/>
            </p:cNvSpPr>
            <p:nvPr/>
          </p:nvSpPr>
          <p:spPr bwMode="auto">
            <a:xfrm>
              <a:off x="1763688" y="2204864"/>
              <a:ext cx="720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Line 270"/>
            <p:cNvSpPr>
              <a:spLocks noChangeShapeType="1"/>
            </p:cNvSpPr>
            <p:nvPr/>
          </p:nvSpPr>
          <p:spPr bwMode="auto">
            <a:xfrm flipV="1">
              <a:off x="1765599" y="2420888"/>
              <a:ext cx="720000" cy="79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271"/>
            <p:cNvSpPr>
              <a:spLocks noChangeShapeType="1"/>
            </p:cNvSpPr>
            <p:nvPr/>
          </p:nvSpPr>
          <p:spPr bwMode="auto">
            <a:xfrm flipV="1">
              <a:off x="1403648" y="2491308"/>
              <a:ext cx="431800" cy="1588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Line 273"/>
            <p:cNvSpPr>
              <a:spLocks noChangeShapeType="1"/>
            </p:cNvSpPr>
            <p:nvPr/>
          </p:nvSpPr>
          <p:spPr bwMode="auto">
            <a:xfrm>
              <a:off x="1980678" y="2708707"/>
              <a:ext cx="504000" cy="213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Line 274"/>
            <p:cNvSpPr>
              <a:spLocks noChangeShapeType="1"/>
            </p:cNvSpPr>
            <p:nvPr/>
          </p:nvSpPr>
          <p:spPr bwMode="auto">
            <a:xfrm flipV="1">
              <a:off x="2483768" y="2492896"/>
              <a:ext cx="142875" cy="2160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Line 285"/>
            <p:cNvSpPr>
              <a:spLocks noChangeShapeType="1"/>
            </p:cNvSpPr>
            <p:nvPr/>
          </p:nvSpPr>
          <p:spPr bwMode="auto">
            <a:xfrm>
              <a:off x="3635896" y="2420888"/>
              <a:ext cx="576064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287"/>
            <p:cNvSpPr>
              <a:spLocks noChangeShapeType="1"/>
            </p:cNvSpPr>
            <p:nvPr/>
          </p:nvSpPr>
          <p:spPr bwMode="auto">
            <a:xfrm flipH="1">
              <a:off x="4283968" y="2204864"/>
              <a:ext cx="1143" cy="10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Line 300"/>
            <p:cNvSpPr>
              <a:spLocks noChangeShapeType="1"/>
            </p:cNvSpPr>
            <p:nvPr/>
          </p:nvSpPr>
          <p:spPr bwMode="auto">
            <a:xfrm flipV="1">
              <a:off x="1403648" y="3069456"/>
              <a:ext cx="187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Line 318"/>
            <p:cNvSpPr>
              <a:spLocks noChangeShapeType="1"/>
            </p:cNvSpPr>
            <p:nvPr/>
          </p:nvSpPr>
          <p:spPr bwMode="auto">
            <a:xfrm>
              <a:off x="1836837" y="2492896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Line 338"/>
            <p:cNvSpPr>
              <a:spLocks noChangeShapeType="1"/>
            </p:cNvSpPr>
            <p:nvPr/>
          </p:nvSpPr>
          <p:spPr bwMode="auto">
            <a:xfrm flipV="1">
              <a:off x="2627784" y="2204864"/>
              <a:ext cx="1008000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Line 339"/>
            <p:cNvSpPr>
              <a:spLocks noChangeShapeType="1"/>
            </p:cNvSpPr>
            <p:nvPr/>
          </p:nvSpPr>
          <p:spPr bwMode="auto">
            <a:xfrm>
              <a:off x="2627784" y="2420888"/>
              <a:ext cx="1008000" cy="10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Text Box 344"/>
            <p:cNvSpPr txBox="1">
              <a:spLocks noChangeArrowheads="1"/>
            </p:cNvSpPr>
            <p:nvPr/>
          </p:nvSpPr>
          <p:spPr bwMode="auto">
            <a:xfrm>
              <a:off x="1764508" y="2204888"/>
              <a:ext cx="72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行地址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9" name="Text Box 345"/>
            <p:cNvSpPr txBox="1">
              <a:spLocks noChangeArrowheads="1"/>
            </p:cNvSpPr>
            <p:nvPr/>
          </p:nvSpPr>
          <p:spPr bwMode="auto">
            <a:xfrm>
              <a:off x="2627784" y="2204888"/>
              <a:ext cx="72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列地址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0" name="Line 349"/>
            <p:cNvSpPr>
              <a:spLocks noChangeShapeType="1"/>
            </p:cNvSpPr>
            <p:nvPr/>
          </p:nvSpPr>
          <p:spPr bwMode="auto">
            <a:xfrm>
              <a:off x="1403648" y="2780928"/>
              <a:ext cx="122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Line 350"/>
            <p:cNvSpPr>
              <a:spLocks noChangeShapeType="1"/>
            </p:cNvSpPr>
            <p:nvPr/>
          </p:nvSpPr>
          <p:spPr bwMode="auto">
            <a:xfrm flipV="1">
              <a:off x="2771856" y="2996952"/>
              <a:ext cx="50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Line 351"/>
            <p:cNvSpPr>
              <a:spLocks noChangeShapeType="1"/>
            </p:cNvSpPr>
            <p:nvPr/>
          </p:nvSpPr>
          <p:spPr bwMode="auto">
            <a:xfrm flipV="1">
              <a:off x="3275856" y="2780928"/>
              <a:ext cx="142875" cy="2160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Line 352"/>
            <p:cNvSpPr>
              <a:spLocks noChangeShapeType="1"/>
            </p:cNvSpPr>
            <p:nvPr/>
          </p:nvSpPr>
          <p:spPr bwMode="auto">
            <a:xfrm flipV="1">
              <a:off x="3419872" y="2780927"/>
              <a:ext cx="1008000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Line 356"/>
            <p:cNvSpPr>
              <a:spLocks noChangeShapeType="1"/>
            </p:cNvSpPr>
            <p:nvPr/>
          </p:nvSpPr>
          <p:spPr bwMode="auto">
            <a:xfrm>
              <a:off x="2628925" y="2780928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Line 375"/>
            <p:cNvSpPr>
              <a:spLocks noChangeShapeType="1"/>
            </p:cNvSpPr>
            <p:nvPr/>
          </p:nvSpPr>
          <p:spPr bwMode="auto">
            <a:xfrm>
              <a:off x="3347864" y="2204864"/>
              <a:ext cx="0" cy="10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Text Box 404"/>
            <p:cNvSpPr txBox="1">
              <a:spLocks noChangeArrowheads="1"/>
            </p:cNvSpPr>
            <p:nvPr/>
          </p:nvSpPr>
          <p:spPr bwMode="auto">
            <a:xfrm>
              <a:off x="1043648" y="2492896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7" name="Line 405"/>
            <p:cNvSpPr>
              <a:spLocks noChangeShapeType="1"/>
            </p:cNvSpPr>
            <p:nvPr/>
          </p:nvSpPr>
          <p:spPr bwMode="auto">
            <a:xfrm>
              <a:off x="1077544" y="2518473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Text Box 436"/>
            <p:cNvSpPr txBox="1">
              <a:spLocks noChangeArrowheads="1"/>
            </p:cNvSpPr>
            <p:nvPr/>
          </p:nvSpPr>
          <p:spPr bwMode="auto">
            <a:xfrm>
              <a:off x="1086670" y="3068960"/>
              <a:ext cx="288602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9" name="Line 437"/>
            <p:cNvSpPr>
              <a:spLocks noChangeShapeType="1"/>
            </p:cNvSpPr>
            <p:nvPr/>
          </p:nvSpPr>
          <p:spPr bwMode="auto">
            <a:xfrm flipV="1">
              <a:off x="1137408" y="3092775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80" name="Text Box 439"/>
            <p:cNvSpPr txBox="1">
              <a:spLocks noChangeArrowheads="1"/>
            </p:cNvSpPr>
            <p:nvPr/>
          </p:nvSpPr>
          <p:spPr bwMode="auto">
            <a:xfrm>
              <a:off x="1043608" y="2780928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81" name="Line 440"/>
            <p:cNvSpPr>
              <a:spLocks noChangeShapeType="1"/>
            </p:cNvSpPr>
            <p:nvPr/>
          </p:nvSpPr>
          <p:spPr bwMode="auto">
            <a:xfrm>
              <a:off x="1077544" y="2805057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Line 477"/>
            <p:cNvSpPr>
              <a:spLocks noChangeShapeType="1"/>
            </p:cNvSpPr>
            <p:nvPr/>
          </p:nvSpPr>
          <p:spPr bwMode="auto">
            <a:xfrm flipV="1">
              <a:off x="3997077" y="307015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Line 478"/>
            <p:cNvSpPr>
              <a:spLocks noChangeShapeType="1"/>
            </p:cNvSpPr>
            <p:nvPr/>
          </p:nvSpPr>
          <p:spPr bwMode="auto">
            <a:xfrm>
              <a:off x="3276997" y="307015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482"/>
            <p:cNvSpPr>
              <a:spLocks noChangeShapeType="1"/>
            </p:cNvSpPr>
            <p:nvPr/>
          </p:nvSpPr>
          <p:spPr bwMode="auto">
            <a:xfrm flipV="1">
              <a:off x="3419872" y="3284984"/>
              <a:ext cx="57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699"/>
            <p:cNvSpPr>
              <a:spLocks noChangeShapeType="1"/>
            </p:cNvSpPr>
            <p:nvPr/>
          </p:nvSpPr>
          <p:spPr bwMode="auto">
            <a:xfrm flipV="1">
              <a:off x="1619672" y="2204888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Line 700"/>
            <p:cNvSpPr>
              <a:spLocks noChangeShapeType="1"/>
            </p:cNvSpPr>
            <p:nvPr/>
          </p:nvSpPr>
          <p:spPr bwMode="auto">
            <a:xfrm>
              <a:off x="1620492" y="2204888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Line 699"/>
            <p:cNvSpPr>
              <a:spLocks noChangeShapeType="1"/>
            </p:cNvSpPr>
            <p:nvPr/>
          </p:nvSpPr>
          <p:spPr bwMode="auto">
            <a:xfrm flipV="1">
              <a:off x="2483768" y="2204888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Line 700"/>
            <p:cNvSpPr>
              <a:spLocks noChangeShapeType="1"/>
            </p:cNvSpPr>
            <p:nvPr/>
          </p:nvSpPr>
          <p:spPr bwMode="auto">
            <a:xfrm>
              <a:off x="2483768" y="2204888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Line 699"/>
            <p:cNvSpPr>
              <a:spLocks noChangeShapeType="1"/>
            </p:cNvSpPr>
            <p:nvPr/>
          </p:nvSpPr>
          <p:spPr bwMode="auto">
            <a:xfrm flipV="1">
              <a:off x="4213921" y="2204888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Line 700"/>
            <p:cNvSpPr>
              <a:spLocks noChangeShapeType="1"/>
            </p:cNvSpPr>
            <p:nvPr/>
          </p:nvSpPr>
          <p:spPr bwMode="auto">
            <a:xfrm>
              <a:off x="4213101" y="2204888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Line 285"/>
            <p:cNvSpPr>
              <a:spLocks noChangeShapeType="1"/>
            </p:cNvSpPr>
            <p:nvPr/>
          </p:nvSpPr>
          <p:spPr bwMode="auto">
            <a:xfrm>
              <a:off x="4356796" y="2420887"/>
              <a:ext cx="72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Line 285"/>
            <p:cNvSpPr>
              <a:spLocks noChangeShapeType="1"/>
            </p:cNvSpPr>
            <p:nvPr/>
          </p:nvSpPr>
          <p:spPr bwMode="auto">
            <a:xfrm>
              <a:off x="3635896" y="2204864"/>
              <a:ext cx="576064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Line 285"/>
            <p:cNvSpPr>
              <a:spLocks noChangeShapeType="1"/>
            </p:cNvSpPr>
            <p:nvPr/>
          </p:nvSpPr>
          <p:spPr bwMode="auto">
            <a:xfrm>
              <a:off x="4356795" y="2204864"/>
              <a:ext cx="72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Line 275"/>
            <p:cNvSpPr>
              <a:spLocks noChangeShapeType="1"/>
            </p:cNvSpPr>
            <p:nvPr/>
          </p:nvSpPr>
          <p:spPr bwMode="auto">
            <a:xfrm flipV="1">
              <a:off x="2627784" y="2492896"/>
              <a:ext cx="1800000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Text Box 691"/>
            <p:cNvSpPr txBox="1">
              <a:spLocks noChangeArrowheads="1"/>
            </p:cNvSpPr>
            <p:nvPr/>
          </p:nvSpPr>
          <p:spPr bwMode="auto">
            <a:xfrm>
              <a:off x="827584" y="2204888"/>
              <a:ext cx="54768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5</a:t>
              </a:r>
              <a:r>
                <a:rPr lang="en-US" altLang="zh-CN" sz="1600" b="1" u="none" dirty="0" smtClean="0">
                  <a:latin typeface="+mn-lt"/>
                </a:rPr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96" name="Line 358"/>
            <p:cNvSpPr>
              <a:spLocks noChangeShapeType="1"/>
            </p:cNvSpPr>
            <p:nvPr/>
          </p:nvSpPr>
          <p:spPr bwMode="auto">
            <a:xfrm flipH="1">
              <a:off x="1690145" y="2205056"/>
              <a:ext cx="1535" cy="10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359"/>
            <p:cNvSpPr>
              <a:spLocks noChangeShapeType="1"/>
            </p:cNvSpPr>
            <p:nvPr/>
          </p:nvSpPr>
          <p:spPr bwMode="auto">
            <a:xfrm flipH="1">
              <a:off x="2555776" y="2204864"/>
              <a:ext cx="0" cy="50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350"/>
            <p:cNvSpPr>
              <a:spLocks noChangeShapeType="1"/>
            </p:cNvSpPr>
            <p:nvPr/>
          </p:nvSpPr>
          <p:spPr bwMode="auto">
            <a:xfrm flipV="1">
              <a:off x="4140000" y="3068960"/>
              <a:ext cx="28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482"/>
            <p:cNvSpPr>
              <a:spLocks noChangeShapeType="1"/>
            </p:cNvSpPr>
            <p:nvPr/>
          </p:nvSpPr>
          <p:spPr bwMode="auto">
            <a:xfrm flipV="1">
              <a:off x="3275976" y="3068960"/>
              <a:ext cx="86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0" name="组合 199"/>
          <p:cNvGrpSpPr/>
          <p:nvPr/>
        </p:nvGrpSpPr>
        <p:grpSpPr>
          <a:xfrm>
            <a:off x="5147252" y="4000624"/>
            <a:ext cx="3601212" cy="1084560"/>
            <a:chOff x="5003236" y="2204864"/>
            <a:chExt cx="3601212" cy="1084560"/>
          </a:xfrm>
        </p:grpSpPr>
        <p:sp>
          <p:nvSpPr>
            <p:cNvPr id="201" name="Text Box 344"/>
            <p:cNvSpPr txBox="1">
              <a:spLocks noChangeArrowheads="1"/>
            </p:cNvSpPr>
            <p:nvPr/>
          </p:nvSpPr>
          <p:spPr bwMode="auto">
            <a:xfrm>
              <a:off x="6949485" y="2780952"/>
              <a:ext cx="1366963" cy="216000"/>
            </a:xfrm>
            <a:prstGeom prst="rect">
              <a:avLst/>
            </a:prstGeom>
            <a:solidFill>
              <a:srgbClr val="CCECFF"/>
            </a:solidFill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02" name="Text Box 344"/>
            <p:cNvSpPr txBox="1">
              <a:spLocks noChangeArrowheads="1"/>
            </p:cNvSpPr>
            <p:nvPr/>
          </p:nvSpPr>
          <p:spPr bwMode="auto">
            <a:xfrm>
              <a:off x="6732319" y="2492920"/>
              <a:ext cx="1582955" cy="216000"/>
            </a:xfrm>
            <a:prstGeom prst="rect">
              <a:avLst/>
            </a:prstGeom>
            <a:solidFill>
              <a:srgbClr val="CCECFF"/>
            </a:solidFill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03" name="Line 267"/>
            <p:cNvSpPr>
              <a:spLocks noChangeShapeType="1"/>
            </p:cNvSpPr>
            <p:nvPr/>
          </p:nvSpPr>
          <p:spPr bwMode="auto">
            <a:xfrm flipV="1">
              <a:off x="5579300" y="2204864"/>
              <a:ext cx="21684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Line 268"/>
            <p:cNvSpPr>
              <a:spLocks noChangeShapeType="1"/>
            </p:cNvSpPr>
            <p:nvPr/>
          </p:nvSpPr>
          <p:spPr bwMode="auto">
            <a:xfrm flipV="1">
              <a:off x="5579301" y="2424162"/>
              <a:ext cx="216844" cy="10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Line 269"/>
            <p:cNvSpPr>
              <a:spLocks noChangeShapeType="1"/>
            </p:cNvSpPr>
            <p:nvPr/>
          </p:nvSpPr>
          <p:spPr bwMode="auto">
            <a:xfrm>
              <a:off x="5939340" y="2208138"/>
              <a:ext cx="720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270"/>
            <p:cNvSpPr>
              <a:spLocks noChangeShapeType="1"/>
            </p:cNvSpPr>
            <p:nvPr/>
          </p:nvSpPr>
          <p:spPr bwMode="auto">
            <a:xfrm flipV="1">
              <a:off x="5941251" y="2424162"/>
              <a:ext cx="720000" cy="79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271"/>
            <p:cNvSpPr>
              <a:spLocks noChangeShapeType="1"/>
            </p:cNvSpPr>
            <p:nvPr/>
          </p:nvSpPr>
          <p:spPr bwMode="auto">
            <a:xfrm flipV="1">
              <a:off x="5579300" y="2494582"/>
              <a:ext cx="431800" cy="1588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Line 273"/>
            <p:cNvSpPr>
              <a:spLocks noChangeShapeType="1"/>
            </p:cNvSpPr>
            <p:nvPr/>
          </p:nvSpPr>
          <p:spPr bwMode="auto">
            <a:xfrm>
              <a:off x="6156330" y="2711981"/>
              <a:ext cx="2016000" cy="213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274"/>
            <p:cNvSpPr>
              <a:spLocks noChangeShapeType="1"/>
            </p:cNvSpPr>
            <p:nvPr/>
          </p:nvSpPr>
          <p:spPr bwMode="auto">
            <a:xfrm flipV="1">
              <a:off x="8173541" y="2492896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Line 285"/>
            <p:cNvSpPr>
              <a:spLocks noChangeShapeType="1"/>
            </p:cNvSpPr>
            <p:nvPr/>
          </p:nvSpPr>
          <p:spPr bwMode="auto">
            <a:xfrm>
              <a:off x="7811548" y="2424162"/>
              <a:ext cx="576064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Line 287"/>
            <p:cNvSpPr>
              <a:spLocks noChangeShapeType="1"/>
            </p:cNvSpPr>
            <p:nvPr/>
          </p:nvSpPr>
          <p:spPr bwMode="auto">
            <a:xfrm flipH="1">
              <a:off x="8459620" y="2208138"/>
              <a:ext cx="1143" cy="10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Line 300"/>
            <p:cNvSpPr>
              <a:spLocks noChangeShapeType="1"/>
            </p:cNvSpPr>
            <p:nvPr/>
          </p:nvSpPr>
          <p:spPr bwMode="auto">
            <a:xfrm flipV="1">
              <a:off x="5579300" y="3072730"/>
              <a:ext cx="187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Line 318"/>
            <p:cNvSpPr>
              <a:spLocks noChangeShapeType="1"/>
            </p:cNvSpPr>
            <p:nvPr/>
          </p:nvSpPr>
          <p:spPr bwMode="auto">
            <a:xfrm>
              <a:off x="6012489" y="249617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Line 338"/>
            <p:cNvSpPr>
              <a:spLocks noChangeShapeType="1"/>
            </p:cNvSpPr>
            <p:nvPr/>
          </p:nvSpPr>
          <p:spPr bwMode="auto">
            <a:xfrm flipV="1">
              <a:off x="6803436" y="2208138"/>
              <a:ext cx="1008000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Line 339"/>
            <p:cNvSpPr>
              <a:spLocks noChangeShapeType="1"/>
            </p:cNvSpPr>
            <p:nvPr/>
          </p:nvSpPr>
          <p:spPr bwMode="auto">
            <a:xfrm>
              <a:off x="6803436" y="2424162"/>
              <a:ext cx="1008000" cy="10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Text Box 344"/>
            <p:cNvSpPr txBox="1">
              <a:spLocks noChangeArrowheads="1"/>
            </p:cNvSpPr>
            <p:nvPr/>
          </p:nvSpPr>
          <p:spPr bwMode="auto">
            <a:xfrm>
              <a:off x="5940160" y="2208162"/>
              <a:ext cx="72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行地址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17" name="Text Box 345"/>
            <p:cNvSpPr txBox="1">
              <a:spLocks noChangeArrowheads="1"/>
            </p:cNvSpPr>
            <p:nvPr/>
          </p:nvSpPr>
          <p:spPr bwMode="auto">
            <a:xfrm>
              <a:off x="6803436" y="2208162"/>
              <a:ext cx="72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列地址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18" name="Line 349"/>
            <p:cNvSpPr>
              <a:spLocks noChangeShapeType="1"/>
            </p:cNvSpPr>
            <p:nvPr/>
          </p:nvSpPr>
          <p:spPr bwMode="auto">
            <a:xfrm>
              <a:off x="5579300" y="2784202"/>
              <a:ext cx="122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Line 350"/>
            <p:cNvSpPr>
              <a:spLocks noChangeShapeType="1"/>
            </p:cNvSpPr>
            <p:nvPr/>
          </p:nvSpPr>
          <p:spPr bwMode="auto">
            <a:xfrm flipV="1">
              <a:off x="6947508" y="3000226"/>
              <a:ext cx="122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Line 351"/>
            <p:cNvSpPr>
              <a:spLocks noChangeShapeType="1"/>
            </p:cNvSpPr>
            <p:nvPr/>
          </p:nvSpPr>
          <p:spPr bwMode="auto">
            <a:xfrm flipV="1">
              <a:off x="8172400" y="2784202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1" name="Line 352"/>
            <p:cNvSpPr>
              <a:spLocks noChangeShapeType="1"/>
            </p:cNvSpPr>
            <p:nvPr/>
          </p:nvSpPr>
          <p:spPr bwMode="auto">
            <a:xfrm flipV="1">
              <a:off x="8316448" y="2784201"/>
              <a:ext cx="28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Line 356"/>
            <p:cNvSpPr>
              <a:spLocks noChangeShapeType="1"/>
            </p:cNvSpPr>
            <p:nvPr/>
          </p:nvSpPr>
          <p:spPr bwMode="auto">
            <a:xfrm>
              <a:off x="6804577" y="2784202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Line 375"/>
            <p:cNvSpPr>
              <a:spLocks noChangeShapeType="1"/>
            </p:cNvSpPr>
            <p:nvPr/>
          </p:nvSpPr>
          <p:spPr bwMode="auto">
            <a:xfrm>
              <a:off x="7523516" y="2208138"/>
              <a:ext cx="0" cy="10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Text Box 404"/>
            <p:cNvSpPr txBox="1">
              <a:spLocks noChangeArrowheads="1"/>
            </p:cNvSpPr>
            <p:nvPr/>
          </p:nvSpPr>
          <p:spPr bwMode="auto">
            <a:xfrm>
              <a:off x="5219300" y="2496170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25" name="Line 405"/>
            <p:cNvSpPr>
              <a:spLocks noChangeShapeType="1"/>
            </p:cNvSpPr>
            <p:nvPr/>
          </p:nvSpPr>
          <p:spPr bwMode="auto">
            <a:xfrm>
              <a:off x="5253196" y="2521747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Text Box 436"/>
            <p:cNvSpPr txBox="1">
              <a:spLocks noChangeArrowheads="1"/>
            </p:cNvSpPr>
            <p:nvPr/>
          </p:nvSpPr>
          <p:spPr bwMode="auto">
            <a:xfrm>
              <a:off x="5262322" y="3072234"/>
              <a:ext cx="288602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27" name="Line 437"/>
            <p:cNvSpPr>
              <a:spLocks noChangeShapeType="1"/>
            </p:cNvSpPr>
            <p:nvPr/>
          </p:nvSpPr>
          <p:spPr bwMode="auto">
            <a:xfrm flipV="1">
              <a:off x="5313060" y="3096049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228" name="Text Box 439"/>
            <p:cNvSpPr txBox="1">
              <a:spLocks noChangeArrowheads="1"/>
            </p:cNvSpPr>
            <p:nvPr/>
          </p:nvSpPr>
          <p:spPr bwMode="auto">
            <a:xfrm>
              <a:off x="5219260" y="2784202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29" name="Line 440"/>
            <p:cNvSpPr>
              <a:spLocks noChangeShapeType="1"/>
            </p:cNvSpPr>
            <p:nvPr/>
          </p:nvSpPr>
          <p:spPr bwMode="auto">
            <a:xfrm>
              <a:off x="5253196" y="2808331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Line 477"/>
            <p:cNvSpPr>
              <a:spLocks noChangeShapeType="1"/>
            </p:cNvSpPr>
            <p:nvPr/>
          </p:nvSpPr>
          <p:spPr bwMode="auto">
            <a:xfrm flipV="1">
              <a:off x="8172729" y="3073424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Line 478"/>
            <p:cNvSpPr>
              <a:spLocks noChangeShapeType="1"/>
            </p:cNvSpPr>
            <p:nvPr/>
          </p:nvSpPr>
          <p:spPr bwMode="auto">
            <a:xfrm>
              <a:off x="7452649" y="3073424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Line 482"/>
            <p:cNvSpPr>
              <a:spLocks noChangeShapeType="1"/>
            </p:cNvSpPr>
            <p:nvPr/>
          </p:nvSpPr>
          <p:spPr bwMode="auto">
            <a:xfrm flipV="1">
              <a:off x="7595524" y="3288258"/>
              <a:ext cx="57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Line 699"/>
            <p:cNvSpPr>
              <a:spLocks noChangeShapeType="1"/>
            </p:cNvSpPr>
            <p:nvPr/>
          </p:nvSpPr>
          <p:spPr bwMode="auto">
            <a:xfrm flipV="1">
              <a:off x="5795324" y="2208162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Line 700"/>
            <p:cNvSpPr>
              <a:spLocks noChangeShapeType="1"/>
            </p:cNvSpPr>
            <p:nvPr/>
          </p:nvSpPr>
          <p:spPr bwMode="auto">
            <a:xfrm>
              <a:off x="5796144" y="2208162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Line 699"/>
            <p:cNvSpPr>
              <a:spLocks noChangeShapeType="1"/>
            </p:cNvSpPr>
            <p:nvPr/>
          </p:nvSpPr>
          <p:spPr bwMode="auto">
            <a:xfrm flipV="1">
              <a:off x="6659420" y="2208162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Line 700"/>
            <p:cNvSpPr>
              <a:spLocks noChangeShapeType="1"/>
            </p:cNvSpPr>
            <p:nvPr/>
          </p:nvSpPr>
          <p:spPr bwMode="auto">
            <a:xfrm>
              <a:off x="6659420" y="2208162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Line 699"/>
            <p:cNvSpPr>
              <a:spLocks noChangeShapeType="1"/>
            </p:cNvSpPr>
            <p:nvPr/>
          </p:nvSpPr>
          <p:spPr bwMode="auto">
            <a:xfrm flipV="1">
              <a:off x="8389573" y="2208162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Line 700"/>
            <p:cNvSpPr>
              <a:spLocks noChangeShapeType="1"/>
            </p:cNvSpPr>
            <p:nvPr/>
          </p:nvSpPr>
          <p:spPr bwMode="auto">
            <a:xfrm>
              <a:off x="8388753" y="2208162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Line 285"/>
            <p:cNvSpPr>
              <a:spLocks noChangeShapeType="1"/>
            </p:cNvSpPr>
            <p:nvPr/>
          </p:nvSpPr>
          <p:spPr bwMode="auto">
            <a:xfrm>
              <a:off x="8532448" y="2424161"/>
              <a:ext cx="72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Line 285"/>
            <p:cNvSpPr>
              <a:spLocks noChangeShapeType="1"/>
            </p:cNvSpPr>
            <p:nvPr/>
          </p:nvSpPr>
          <p:spPr bwMode="auto">
            <a:xfrm>
              <a:off x="7811548" y="2208138"/>
              <a:ext cx="576064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Line 285"/>
            <p:cNvSpPr>
              <a:spLocks noChangeShapeType="1"/>
            </p:cNvSpPr>
            <p:nvPr/>
          </p:nvSpPr>
          <p:spPr bwMode="auto">
            <a:xfrm>
              <a:off x="8532447" y="2208138"/>
              <a:ext cx="72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Line 275"/>
            <p:cNvSpPr>
              <a:spLocks noChangeShapeType="1"/>
            </p:cNvSpPr>
            <p:nvPr/>
          </p:nvSpPr>
          <p:spPr bwMode="auto">
            <a:xfrm flipV="1">
              <a:off x="8316416" y="2496170"/>
              <a:ext cx="28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Text Box 691"/>
            <p:cNvSpPr txBox="1">
              <a:spLocks noChangeArrowheads="1"/>
            </p:cNvSpPr>
            <p:nvPr/>
          </p:nvSpPr>
          <p:spPr bwMode="auto">
            <a:xfrm>
              <a:off x="5003236" y="2208162"/>
              <a:ext cx="54768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5</a:t>
              </a:r>
              <a:r>
                <a:rPr lang="en-US" altLang="zh-CN" sz="1600" b="1" u="none" dirty="0" smtClean="0">
                  <a:latin typeface="+mn-lt"/>
                </a:rPr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244" name="Line 358"/>
            <p:cNvSpPr>
              <a:spLocks noChangeShapeType="1"/>
            </p:cNvSpPr>
            <p:nvPr/>
          </p:nvSpPr>
          <p:spPr bwMode="auto">
            <a:xfrm flipH="1">
              <a:off x="5865797" y="2208330"/>
              <a:ext cx="1535" cy="10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Line 359"/>
            <p:cNvSpPr>
              <a:spLocks noChangeShapeType="1"/>
            </p:cNvSpPr>
            <p:nvPr/>
          </p:nvSpPr>
          <p:spPr bwMode="auto">
            <a:xfrm flipH="1">
              <a:off x="6731428" y="2208138"/>
              <a:ext cx="0" cy="50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Line 350"/>
            <p:cNvSpPr>
              <a:spLocks noChangeShapeType="1"/>
            </p:cNvSpPr>
            <p:nvPr/>
          </p:nvSpPr>
          <p:spPr bwMode="auto">
            <a:xfrm flipV="1">
              <a:off x="8315652" y="3072234"/>
              <a:ext cx="28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Line 482"/>
            <p:cNvSpPr>
              <a:spLocks noChangeShapeType="1"/>
            </p:cNvSpPr>
            <p:nvPr/>
          </p:nvSpPr>
          <p:spPr bwMode="auto">
            <a:xfrm flipV="1">
              <a:off x="7451628" y="3072234"/>
              <a:ext cx="86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1" name="Text Box 726"/>
          <p:cNvSpPr txBox="1">
            <a:spLocks noChangeArrowheads="1"/>
          </p:cNvSpPr>
          <p:nvPr/>
        </p:nvSpPr>
        <p:spPr bwMode="auto">
          <a:xfrm>
            <a:off x="1476468" y="5157192"/>
            <a:ext cx="6551916" cy="62368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marL="1078230" indent="-1078230">
              <a:lnSpc>
                <a:spcPct val="100000"/>
              </a:lnSpc>
            </a:pPr>
            <a:r>
              <a:rPr lang="zh-CN" altLang="en-US" sz="1800" dirty="0"/>
              <a:t>思考</a:t>
            </a:r>
            <a:r>
              <a:rPr lang="zh-CN" altLang="en-US" sz="1800" dirty="0" smtClean="0"/>
              <a:t>：</a:t>
            </a:r>
            <a:r>
              <a:rPr lang="zh-CN" altLang="en-US" sz="1800" dirty="0" smtClean="0">
                <a:solidFill>
                  <a:schemeClr val="tx1"/>
                </a:solidFill>
              </a:rPr>
              <a:t>不设置</a:t>
            </a:r>
            <a:r>
              <a:rPr lang="en-US" altLang="zh-CN" sz="1800" dirty="0" smtClean="0">
                <a:solidFill>
                  <a:schemeClr val="tx1"/>
                </a:solidFill>
              </a:rPr>
              <a:t>RAS#</a:t>
            </a:r>
            <a:r>
              <a:rPr lang="zh-CN" altLang="en-US" sz="1800" dirty="0" smtClean="0">
                <a:solidFill>
                  <a:schemeClr val="tx1"/>
                </a:solidFill>
              </a:rPr>
              <a:t>、</a:t>
            </a:r>
            <a:r>
              <a:rPr lang="en-US" altLang="zh-CN" sz="1800" dirty="0" smtClean="0">
                <a:solidFill>
                  <a:schemeClr val="tx1"/>
                </a:solidFill>
              </a:rPr>
              <a:t>CAS#</a:t>
            </a:r>
            <a:r>
              <a:rPr lang="zh-CN" altLang="en-US" sz="1800" dirty="0" smtClean="0">
                <a:solidFill>
                  <a:schemeClr val="tx1"/>
                </a:solidFill>
              </a:rPr>
              <a:t>，可以表示</a:t>
            </a:r>
            <a:r>
              <a:rPr lang="en-US" altLang="zh-CN" sz="1800" dirty="0" smtClean="0">
                <a:solidFill>
                  <a:schemeClr val="tx1"/>
                </a:solidFill>
              </a:rPr>
              <a:t>A</a:t>
            </a:r>
            <a:r>
              <a:rPr lang="en-US" altLang="zh-CN" sz="1800" baseline="-16000" dirty="0" smtClean="0">
                <a:solidFill>
                  <a:schemeClr val="tx1"/>
                </a:solidFill>
              </a:rPr>
              <a:t>5</a:t>
            </a:r>
            <a:r>
              <a:rPr lang="en-US" altLang="zh-CN" sz="1800" dirty="0" smtClean="0">
                <a:solidFill>
                  <a:schemeClr val="tx1"/>
                </a:solidFill>
                <a:latin typeface="+mn-lt"/>
              </a:rPr>
              <a:t>~</a:t>
            </a:r>
            <a:r>
              <a:rPr lang="en-US" altLang="zh-CN" sz="1800" dirty="0" smtClean="0">
                <a:solidFill>
                  <a:schemeClr val="tx1"/>
                </a:solidFill>
              </a:rPr>
              <a:t>A</a:t>
            </a:r>
            <a:r>
              <a:rPr lang="en-US" altLang="zh-CN" sz="1800" baseline="-16000" dirty="0" smtClean="0">
                <a:solidFill>
                  <a:schemeClr val="tx1"/>
                </a:solidFill>
              </a:rPr>
              <a:t>0</a:t>
            </a:r>
            <a:r>
              <a:rPr lang="zh-CN" altLang="en-US" sz="1800" dirty="0" smtClean="0">
                <a:solidFill>
                  <a:schemeClr val="tx1"/>
                </a:solidFill>
              </a:rPr>
              <a:t>当前是行</a:t>
            </a:r>
            <a:r>
              <a:rPr lang="en-US" altLang="zh-CN" sz="1800" dirty="0" smtClean="0">
                <a:solidFill>
                  <a:schemeClr val="tx1"/>
                </a:solidFill>
              </a:rPr>
              <a:t>/</a:t>
            </a:r>
            <a:r>
              <a:rPr lang="zh-CN" altLang="en-US" sz="1800" dirty="0" smtClean="0">
                <a:solidFill>
                  <a:schemeClr val="tx1"/>
                </a:solidFill>
              </a:rPr>
              <a:t>列地址码？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marL="1078230" indent="-1078230">
              <a:lnSpc>
                <a:spcPct val="100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</a:rPr>
              <a:t>     WE#</a:t>
            </a:r>
            <a:r>
              <a:rPr lang="zh-CN" altLang="en-US" sz="1800" dirty="0">
                <a:solidFill>
                  <a:schemeClr val="tx1"/>
                </a:solidFill>
              </a:rPr>
              <a:t>中</a:t>
            </a:r>
            <a:r>
              <a:rPr lang="en-US" altLang="zh-CN" sz="1800" dirty="0" smtClean="0">
                <a:solidFill>
                  <a:schemeClr val="tx1"/>
                </a:solidFill>
              </a:rPr>
              <a:t>E</a:t>
            </a:r>
            <a:r>
              <a:rPr lang="zh-CN" altLang="en-US" sz="1800" dirty="0" smtClean="0">
                <a:solidFill>
                  <a:schemeClr val="tx1"/>
                </a:solidFill>
              </a:rPr>
              <a:t>的英文单词是什么？</a:t>
            </a:r>
            <a:endParaRPr lang="zh-CN" altLang="en-US" sz="18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5" grpId="0"/>
      <p:bldP spid="15" grpId="0"/>
      <p:bldP spid="4" grpId="0" animBg="1"/>
      <p:bldP spid="1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48338-A241-4928-9022-A5733127714C}" type="slidenum">
              <a:rPr lang="en-US" altLang="zh-CN"/>
            </a:fld>
            <a:endParaRPr lang="en-US" altLang="zh-CN"/>
          </a:p>
        </p:txBody>
      </p:sp>
      <p:sp>
        <p:nvSpPr>
          <p:cNvPr id="309865" name="Text Box 617"/>
          <p:cNvSpPr txBox="1">
            <a:spLocks noChangeArrowheads="1"/>
          </p:cNvSpPr>
          <p:nvPr/>
        </p:nvSpPr>
        <p:spPr bwMode="auto">
          <a:xfrm>
            <a:off x="179388" y="404664"/>
            <a:ext cx="8785225" cy="17665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</a:t>
            </a: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2)DRAM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芯片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的基本组成</a:t>
            </a:r>
            <a:endParaRPr lang="en-US" altLang="zh-CN" b="1" u="none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u="none" dirty="0" smtClean="0">
                <a:latin typeface="宋体" panose="02010600030101010101" pitchFamily="2" charset="-122"/>
              </a:rPr>
              <a:t>   </a:t>
            </a:r>
            <a:r>
              <a:rPr lang="zh-CN" altLang="en-US" b="1" u="none" dirty="0">
                <a:latin typeface="宋体" panose="02010600030101010101" pitchFamily="2" charset="-122"/>
              </a:rPr>
              <a:t>包括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存储矩阵、地址译码器、读写电路</a:t>
            </a:r>
            <a:r>
              <a:rPr lang="zh-CN" altLang="en-US" b="1" u="none" dirty="0">
                <a:latin typeface="宋体" panose="02010600030101010101" pitchFamily="2" charset="-122"/>
              </a:rPr>
              <a:t>等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     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←类似于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SRAM</a:t>
            </a:r>
            <a:endParaRPr lang="en-US" altLang="zh-CN" sz="20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u="none" dirty="0"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  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以及地址</a:t>
            </a:r>
            <a:r>
              <a:rPr lang="zh-CN" altLang="en-US" b="1" u="none" dirty="0">
                <a:latin typeface="宋体" panose="02010600030101010101" pitchFamily="2" charset="-122"/>
              </a:rPr>
              <a:t>锁存器、时序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控制电路、再生电路     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←与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SRAM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不同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u="none" dirty="0" smtClean="0">
                <a:latin typeface="宋体" panose="02010600030101010101" pitchFamily="2" charset="-122"/>
              </a:rPr>
              <a:t>          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边沿触发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      (3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个信号串联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zh-CN" altLang="en-US" sz="2000" b="1" u="none" dirty="0">
              <a:latin typeface="宋体" panose="02010600030101010101" pitchFamily="2" charset="-122"/>
            </a:endParaRPr>
          </a:p>
        </p:txBody>
      </p:sp>
      <p:sp>
        <p:nvSpPr>
          <p:cNvPr id="105" name="AutoShape 331"/>
          <p:cNvSpPr/>
          <p:nvPr/>
        </p:nvSpPr>
        <p:spPr bwMode="auto">
          <a:xfrm>
            <a:off x="7452320" y="3933652"/>
            <a:ext cx="1368000" cy="252000"/>
          </a:xfrm>
          <a:prstGeom prst="borderCallout2">
            <a:avLst>
              <a:gd name="adj1" fmla="val 50061"/>
              <a:gd name="adj2" fmla="val 82"/>
              <a:gd name="adj3" fmla="val 48286"/>
              <a:gd name="adj4" fmla="val -8675"/>
              <a:gd name="adj5" fmla="val 121611"/>
              <a:gd name="adj6" fmla="val -31119"/>
            </a:avLst>
          </a:prstGeom>
          <a:solidFill>
            <a:srgbClr val="CCFFFF"/>
          </a:solidFill>
          <a:ln w="12700">
            <a:solidFill>
              <a:srgbClr val="990099"/>
            </a:solidFill>
            <a:prstDash val="sysDash"/>
            <a:miter lim="800000"/>
            <a:headEnd type="none" w="sm" len="med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/>
            <a:r>
              <a:rPr lang="zh-CN" altLang="en-US" sz="1600" b="1" u="none" dirty="0" smtClean="0">
                <a:latin typeface="+mn-ea"/>
                <a:ea typeface="+mn-ea"/>
              </a:rPr>
              <a:t>破坏性读所需</a:t>
            </a:r>
            <a:endParaRPr lang="zh-CN" altLang="en-US" sz="1600" b="1" u="none" dirty="0">
              <a:latin typeface="+mn-ea"/>
              <a:ea typeface="+mn-ea"/>
            </a:endParaRPr>
          </a:p>
        </p:txBody>
      </p:sp>
      <p:sp>
        <p:nvSpPr>
          <p:cNvPr id="107" name="AutoShape 720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683696" y="3860626"/>
            <a:ext cx="1655944" cy="1411313"/>
            <a:chOff x="755704" y="3428578"/>
            <a:chExt cx="1655944" cy="1411313"/>
          </a:xfrm>
        </p:grpSpPr>
        <p:sp>
          <p:nvSpPr>
            <p:cNvPr id="104" name="AutoShape 331"/>
            <p:cNvSpPr/>
            <p:nvPr/>
          </p:nvSpPr>
          <p:spPr bwMode="auto">
            <a:xfrm>
              <a:off x="755704" y="3428578"/>
              <a:ext cx="1152000" cy="504000"/>
            </a:xfrm>
            <a:prstGeom prst="borderCallout2">
              <a:avLst>
                <a:gd name="adj1" fmla="val 50061"/>
                <a:gd name="adj2" fmla="val 101729"/>
                <a:gd name="adj3" fmla="val 50061"/>
                <a:gd name="adj4" fmla="val 116563"/>
                <a:gd name="adj5" fmla="val -23720"/>
                <a:gd name="adj6" fmla="val 166319"/>
              </a:avLst>
            </a:prstGeom>
            <a:solidFill>
              <a:srgbClr val="CCFFFF"/>
            </a:solidFill>
            <a:ln w="12700">
              <a:solidFill>
                <a:srgbClr val="990099"/>
              </a:solidFill>
              <a:prstDash val="sysDash"/>
              <a:miter lim="800000"/>
              <a:headEnd type="none" w="sm" len="med"/>
              <a:tailEnd type="arrow" w="med" len="med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 smtClean="0">
                  <a:latin typeface="+mn-ea"/>
                  <a:ea typeface="+mn-ea"/>
                </a:rPr>
                <a:t>地址分两次接收所需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cxnSp>
          <p:nvCxnSpPr>
            <p:cNvPr id="4" name="直接箭头连接符 3"/>
            <p:cNvCxnSpPr/>
            <p:nvPr/>
          </p:nvCxnSpPr>
          <p:spPr bwMode="auto">
            <a:xfrm>
              <a:off x="1403648" y="4484856"/>
              <a:ext cx="1008000" cy="35503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09" name="直接箭头连接符 108"/>
            <p:cNvCxnSpPr/>
            <p:nvPr/>
          </p:nvCxnSpPr>
          <p:spPr bwMode="auto">
            <a:xfrm>
              <a:off x="1293862" y="3932578"/>
              <a:ext cx="109786" cy="56609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202" name="组合 201"/>
          <p:cNvGrpSpPr/>
          <p:nvPr/>
        </p:nvGrpSpPr>
        <p:grpSpPr>
          <a:xfrm>
            <a:off x="1402233" y="2204864"/>
            <a:ext cx="5906071" cy="4032250"/>
            <a:chOff x="1474788" y="1845022"/>
            <a:chExt cx="5906071" cy="4032250"/>
          </a:xfrm>
        </p:grpSpPr>
        <p:sp>
          <p:nvSpPr>
            <p:cNvPr id="203" name="Rectangle 647"/>
            <p:cNvSpPr>
              <a:spLocks noChangeArrowheads="1"/>
            </p:cNvSpPr>
            <p:nvPr/>
          </p:nvSpPr>
          <p:spPr bwMode="auto">
            <a:xfrm>
              <a:off x="3852864" y="4221013"/>
              <a:ext cx="3025773" cy="432297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wrap="none" tIns="0" anchor="t" anchorCtr="0"/>
            <a:lstStyle/>
            <a:p>
              <a:r>
                <a:rPr lang="en-US" altLang="zh-CN" sz="1800" b="1" u="none" dirty="0" smtClean="0">
                  <a:latin typeface="+mn-ea"/>
                  <a:ea typeface="+mn-ea"/>
                </a:rPr>
                <a:t>I/O</a:t>
              </a:r>
              <a:r>
                <a:rPr lang="zh-CN" altLang="en-US" sz="1800" b="1" u="none" dirty="0" smtClean="0">
                  <a:latin typeface="+mn-ea"/>
                  <a:ea typeface="+mn-ea"/>
                </a:rPr>
                <a:t>门</a:t>
              </a:r>
              <a:endParaRPr lang="zh-CN" altLang="en-US" sz="1800" b="1" u="none" dirty="0">
                <a:latin typeface="+mn-ea"/>
                <a:ea typeface="+mn-ea"/>
              </a:endParaRPr>
            </a:p>
          </p:txBody>
        </p:sp>
        <p:sp>
          <p:nvSpPr>
            <p:cNvPr id="204" name="Rectangle 625"/>
            <p:cNvSpPr>
              <a:spLocks noChangeArrowheads="1"/>
            </p:cNvSpPr>
            <p:nvPr/>
          </p:nvSpPr>
          <p:spPr bwMode="auto">
            <a:xfrm>
              <a:off x="2267744" y="1845022"/>
              <a:ext cx="5113115" cy="403225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" name="Text Box 626"/>
            <p:cNvSpPr txBox="1">
              <a:spLocks noChangeArrowheads="1"/>
            </p:cNvSpPr>
            <p:nvPr/>
          </p:nvSpPr>
          <p:spPr bwMode="auto">
            <a:xfrm>
              <a:off x="3492501" y="2062510"/>
              <a:ext cx="360363" cy="11509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X</a:t>
              </a:r>
              <a:r>
                <a:rPr lang="zh-CN" altLang="en-US" sz="1800" b="1" u="none">
                  <a:latin typeface="宋体" panose="02010600030101010101" pitchFamily="2" charset="-122"/>
                </a:rPr>
                <a:t>译码器</a:t>
              </a:r>
              <a:endParaRPr lang="zh-CN" altLang="en-US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206" name="Line 627"/>
            <p:cNvSpPr>
              <a:spLocks noChangeShapeType="1"/>
            </p:cNvSpPr>
            <p:nvPr/>
          </p:nvSpPr>
          <p:spPr bwMode="auto">
            <a:xfrm>
              <a:off x="2195513" y="2637185"/>
              <a:ext cx="504825" cy="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Text Box 628"/>
            <p:cNvSpPr txBox="1">
              <a:spLocks noChangeArrowheads="1"/>
            </p:cNvSpPr>
            <p:nvPr/>
          </p:nvSpPr>
          <p:spPr bwMode="auto">
            <a:xfrm>
              <a:off x="2411264" y="4365972"/>
              <a:ext cx="1150938" cy="2873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缓冲器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08" name="Line 629"/>
            <p:cNvSpPr>
              <a:spLocks noChangeShapeType="1"/>
            </p:cNvSpPr>
            <p:nvPr/>
          </p:nvSpPr>
          <p:spPr bwMode="auto">
            <a:xfrm>
              <a:off x="1979960" y="4551163"/>
              <a:ext cx="431800" cy="15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630"/>
            <p:cNvSpPr>
              <a:spLocks noChangeShapeType="1"/>
            </p:cNvSpPr>
            <p:nvPr/>
          </p:nvSpPr>
          <p:spPr bwMode="auto">
            <a:xfrm flipV="1">
              <a:off x="1979464" y="5013672"/>
              <a:ext cx="503238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Text Box 631"/>
            <p:cNvSpPr txBox="1">
              <a:spLocks noChangeArrowheads="1"/>
            </p:cNvSpPr>
            <p:nvPr/>
          </p:nvSpPr>
          <p:spPr bwMode="auto">
            <a:xfrm>
              <a:off x="4932363" y="4725640"/>
              <a:ext cx="1943100" cy="288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Y</a:t>
              </a:r>
              <a:r>
                <a:rPr lang="zh-CN" altLang="en-US" sz="1800" b="1" u="none">
                  <a:latin typeface="宋体" panose="02010600030101010101" pitchFamily="2" charset="-122"/>
                </a:rPr>
                <a:t>译码器</a:t>
              </a:r>
              <a:endParaRPr lang="zh-CN" altLang="en-US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211" name="Line 632"/>
            <p:cNvSpPr>
              <a:spLocks noChangeShapeType="1"/>
            </p:cNvSpPr>
            <p:nvPr/>
          </p:nvSpPr>
          <p:spPr bwMode="auto">
            <a:xfrm flipV="1">
              <a:off x="5580063" y="5012977"/>
              <a:ext cx="1588" cy="28892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Text Box 633"/>
            <p:cNvSpPr txBox="1">
              <a:spLocks noChangeArrowheads="1"/>
            </p:cNvSpPr>
            <p:nvPr/>
          </p:nvSpPr>
          <p:spPr bwMode="auto">
            <a:xfrm>
              <a:off x="5726113" y="4941540"/>
              <a:ext cx="431800" cy="2889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2000" b="1" u="none">
                  <a:solidFill>
                    <a:srgbClr val="CC3300"/>
                  </a:solidFill>
                </a:rPr>
                <a:t>…</a:t>
              </a:r>
              <a:endParaRPr lang="en-US" altLang="zh-CN" sz="2000" b="1" u="none">
                <a:solidFill>
                  <a:srgbClr val="CC3300"/>
                </a:solidFill>
              </a:endParaRPr>
            </a:p>
          </p:txBody>
        </p:sp>
        <p:sp>
          <p:nvSpPr>
            <p:cNvPr id="213" name="Line 634"/>
            <p:cNvSpPr>
              <a:spLocks noChangeShapeType="1"/>
            </p:cNvSpPr>
            <p:nvPr/>
          </p:nvSpPr>
          <p:spPr bwMode="auto">
            <a:xfrm flipH="1" flipV="1">
              <a:off x="6300788" y="5012977"/>
              <a:ext cx="0" cy="28892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Line 635"/>
            <p:cNvSpPr>
              <a:spLocks noChangeShapeType="1"/>
            </p:cNvSpPr>
            <p:nvPr/>
          </p:nvSpPr>
          <p:spPr bwMode="auto">
            <a:xfrm flipV="1">
              <a:off x="3563938" y="4555474"/>
              <a:ext cx="2879725" cy="15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Text Box 636"/>
            <p:cNvSpPr txBox="1">
              <a:spLocks noChangeArrowheads="1"/>
            </p:cNvSpPr>
            <p:nvPr/>
          </p:nvSpPr>
          <p:spPr bwMode="auto">
            <a:xfrm>
              <a:off x="1690539" y="4436219"/>
              <a:ext cx="360363" cy="21709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16" name="Text Box 637"/>
            <p:cNvSpPr txBox="1">
              <a:spLocks noChangeArrowheads="1"/>
            </p:cNvSpPr>
            <p:nvPr/>
          </p:nvSpPr>
          <p:spPr bwMode="auto">
            <a:xfrm>
              <a:off x="5292726" y="4190335"/>
              <a:ext cx="792163" cy="2889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2000" b="1" u="none" dirty="0">
                  <a:solidFill>
                    <a:srgbClr val="CC3300"/>
                  </a:solidFill>
                </a:rPr>
                <a:t>……</a:t>
              </a:r>
              <a:endParaRPr lang="en-US" altLang="zh-CN" sz="2000" b="1" u="none" dirty="0">
                <a:solidFill>
                  <a:srgbClr val="CC3300"/>
                </a:solidFill>
              </a:endParaRPr>
            </a:p>
          </p:txBody>
        </p:sp>
        <p:sp>
          <p:nvSpPr>
            <p:cNvPr id="217" name="Line 639"/>
            <p:cNvSpPr>
              <a:spLocks noChangeShapeType="1"/>
            </p:cNvSpPr>
            <p:nvPr/>
          </p:nvSpPr>
          <p:spPr bwMode="auto">
            <a:xfrm>
              <a:off x="4643438" y="4334797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Line 640"/>
            <p:cNvSpPr>
              <a:spLocks noChangeShapeType="1"/>
            </p:cNvSpPr>
            <p:nvPr/>
          </p:nvSpPr>
          <p:spPr bwMode="auto">
            <a:xfrm>
              <a:off x="4786313" y="4263360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Line 641"/>
            <p:cNvSpPr>
              <a:spLocks noChangeShapeType="1"/>
            </p:cNvSpPr>
            <p:nvPr/>
          </p:nvSpPr>
          <p:spPr bwMode="auto">
            <a:xfrm>
              <a:off x="4643438" y="4407822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Line 642"/>
            <p:cNvSpPr>
              <a:spLocks noChangeShapeType="1"/>
            </p:cNvSpPr>
            <p:nvPr/>
          </p:nvSpPr>
          <p:spPr bwMode="auto">
            <a:xfrm>
              <a:off x="4857751" y="4301460"/>
              <a:ext cx="1588" cy="1444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1" name="Line 643"/>
            <p:cNvSpPr>
              <a:spLocks noChangeShapeType="1"/>
            </p:cNvSpPr>
            <p:nvPr/>
          </p:nvSpPr>
          <p:spPr bwMode="auto">
            <a:xfrm>
              <a:off x="4859338" y="4363372"/>
              <a:ext cx="144463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Line 644"/>
            <p:cNvSpPr>
              <a:spLocks noChangeShapeType="1"/>
            </p:cNvSpPr>
            <p:nvPr/>
          </p:nvSpPr>
          <p:spPr bwMode="auto">
            <a:xfrm>
              <a:off x="5003801" y="4363372"/>
              <a:ext cx="0" cy="3600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Line 646"/>
            <p:cNvSpPr>
              <a:spLocks noChangeShapeType="1"/>
            </p:cNvSpPr>
            <p:nvPr/>
          </p:nvSpPr>
          <p:spPr bwMode="auto">
            <a:xfrm>
              <a:off x="4643438" y="4406235"/>
              <a:ext cx="0" cy="144463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Rectangle 647"/>
            <p:cNvSpPr>
              <a:spLocks noChangeArrowheads="1"/>
            </p:cNvSpPr>
            <p:nvPr/>
          </p:nvSpPr>
          <p:spPr bwMode="auto">
            <a:xfrm>
              <a:off x="4427538" y="2062510"/>
              <a:ext cx="2592388" cy="1439863"/>
            </a:xfrm>
            <a:prstGeom prst="rect">
              <a:avLst/>
            </a:prstGeom>
            <a:solidFill>
              <a:srgbClr val="CCECFF">
                <a:alpha val="70000"/>
              </a:srgbClr>
            </a:solidFill>
            <a:ln w="1270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" name="Line 648"/>
            <p:cNvSpPr>
              <a:spLocks noChangeShapeType="1"/>
            </p:cNvSpPr>
            <p:nvPr/>
          </p:nvSpPr>
          <p:spPr bwMode="auto">
            <a:xfrm>
              <a:off x="3851276" y="2132360"/>
              <a:ext cx="2881313" cy="158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Text Box 649"/>
            <p:cNvSpPr txBox="1">
              <a:spLocks noChangeArrowheads="1"/>
            </p:cNvSpPr>
            <p:nvPr/>
          </p:nvSpPr>
          <p:spPr bwMode="auto">
            <a:xfrm>
              <a:off x="4786313" y="2638772"/>
              <a:ext cx="431800" cy="3603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b="1" u="none"/>
                <a:t>…</a:t>
              </a:r>
              <a:endParaRPr lang="en-US" altLang="zh-CN" b="1" u="none"/>
            </a:p>
          </p:txBody>
        </p:sp>
        <p:sp>
          <p:nvSpPr>
            <p:cNvPr id="227" name="Line 650"/>
            <p:cNvSpPr>
              <a:spLocks noChangeShapeType="1"/>
            </p:cNvSpPr>
            <p:nvPr/>
          </p:nvSpPr>
          <p:spPr bwMode="auto">
            <a:xfrm>
              <a:off x="4930776" y="2133947"/>
              <a:ext cx="0" cy="7302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8" name="Rectangle 651"/>
            <p:cNvSpPr>
              <a:spLocks noChangeArrowheads="1"/>
            </p:cNvSpPr>
            <p:nvPr/>
          </p:nvSpPr>
          <p:spPr bwMode="auto">
            <a:xfrm>
              <a:off x="4787901" y="2206972"/>
              <a:ext cx="288925" cy="2143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" name="Line 652"/>
            <p:cNvSpPr>
              <a:spLocks noChangeShapeType="1"/>
            </p:cNvSpPr>
            <p:nvPr/>
          </p:nvSpPr>
          <p:spPr bwMode="auto">
            <a:xfrm>
              <a:off x="4643438" y="2278410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Line 653"/>
            <p:cNvSpPr>
              <a:spLocks noChangeShapeType="1"/>
            </p:cNvSpPr>
            <p:nvPr/>
          </p:nvSpPr>
          <p:spPr bwMode="auto">
            <a:xfrm>
              <a:off x="3851276" y="3140422"/>
              <a:ext cx="2881313" cy="158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Line 654"/>
            <p:cNvSpPr>
              <a:spLocks noChangeShapeType="1"/>
            </p:cNvSpPr>
            <p:nvPr/>
          </p:nvSpPr>
          <p:spPr bwMode="auto">
            <a:xfrm>
              <a:off x="4930776" y="3142010"/>
              <a:ext cx="0" cy="7302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Line 655"/>
            <p:cNvSpPr>
              <a:spLocks noChangeShapeType="1"/>
            </p:cNvSpPr>
            <p:nvPr/>
          </p:nvSpPr>
          <p:spPr bwMode="auto">
            <a:xfrm>
              <a:off x="4643438" y="3286472"/>
              <a:ext cx="144463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Text Box 656"/>
            <p:cNvSpPr txBox="1">
              <a:spLocks noChangeArrowheads="1"/>
            </p:cNvSpPr>
            <p:nvPr/>
          </p:nvSpPr>
          <p:spPr bwMode="auto">
            <a:xfrm>
              <a:off x="5364163" y="3142010"/>
              <a:ext cx="792163" cy="2889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2000" b="1" u="none"/>
                <a:t>……</a:t>
              </a:r>
              <a:endParaRPr lang="en-US" altLang="zh-CN" sz="2000" b="1" u="none"/>
            </a:p>
          </p:txBody>
        </p:sp>
        <p:sp>
          <p:nvSpPr>
            <p:cNvPr id="234" name="Text Box 657"/>
            <p:cNvSpPr txBox="1">
              <a:spLocks noChangeArrowheads="1"/>
            </p:cNvSpPr>
            <p:nvPr/>
          </p:nvSpPr>
          <p:spPr bwMode="auto">
            <a:xfrm>
              <a:off x="5364163" y="2133947"/>
              <a:ext cx="792163" cy="2889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2000" b="1" u="none"/>
                <a:t>……</a:t>
              </a:r>
              <a:endParaRPr lang="en-US" altLang="zh-CN" sz="2000" b="1" u="none"/>
            </a:p>
          </p:txBody>
        </p:sp>
        <p:sp>
          <p:nvSpPr>
            <p:cNvPr id="235" name="Text Box 660"/>
            <p:cNvSpPr txBox="1">
              <a:spLocks noChangeArrowheads="1"/>
            </p:cNvSpPr>
            <p:nvPr/>
          </p:nvSpPr>
          <p:spPr bwMode="auto">
            <a:xfrm>
              <a:off x="5364163" y="2710210"/>
              <a:ext cx="790575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64×64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236" name="Rectangle 661"/>
            <p:cNvSpPr>
              <a:spLocks noChangeArrowheads="1"/>
            </p:cNvSpPr>
            <p:nvPr/>
          </p:nvSpPr>
          <p:spPr bwMode="auto">
            <a:xfrm>
              <a:off x="4787901" y="3213447"/>
              <a:ext cx="288925" cy="2143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" name="Line 662"/>
            <p:cNvSpPr>
              <a:spLocks noChangeShapeType="1"/>
            </p:cNvSpPr>
            <p:nvPr/>
          </p:nvSpPr>
          <p:spPr bwMode="auto">
            <a:xfrm flipH="1">
              <a:off x="4643437" y="4150073"/>
              <a:ext cx="1" cy="18472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Text Box 663"/>
            <p:cNvSpPr txBox="1">
              <a:spLocks noChangeArrowheads="1"/>
            </p:cNvSpPr>
            <p:nvPr/>
          </p:nvSpPr>
          <p:spPr bwMode="auto">
            <a:xfrm>
              <a:off x="4429126" y="3215035"/>
              <a:ext cx="214313" cy="21431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239" name="Line 664"/>
            <p:cNvSpPr>
              <a:spLocks noChangeShapeType="1"/>
            </p:cNvSpPr>
            <p:nvPr/>
          </p:nvSpPr>
          <p:spPr bwMode="auto">
            <a:xfrm>
              <a:off x="4643438" y="2278410"/>
              <a:ext cx="0" cy="12954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Line 665"/>
            <p:cNvSpPr>
              <a:spLocks noChangeShapeType="1"/>
            </p:cNvSpPr>
            <p:nvPr/>
          </p:nvSpPr>
          <p:spPr bwMode="auto">
            <a:xfrm>
              <a:off x="6445251" y="4334624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Line 666"/>
            <p:cNvSpPr>
              <a:spLocks noChangeShapeType="1"/>
            </p:cNvSpPr>
            <p:nvPr/>
          </p:nvSpPr>
          <p:spPr bwMode="auto">
            <a:xfrm>
              <a:off x="6588126" y="4263360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Line 667"/>
            <p:cNvSpPr>
              <a:spLocks noChangeShapeType="1"/>
            </p:cNvSpPr>
            <p:nvPr/>
          </p:nvSpPr>
          <p:spPr bwMode="auto">
            <a:xfrm>
              <a:off x="6445251" y="4407822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Line 668"/>
            <p:cNvSpPr>
              <a:spLocks noChangeShapeType="1"/>
            </p:cNvSpPr>
            <p:nvPr/>
          </p:nvSpPr>
          <p:spPr bwMode="auto">
            <a:xfrm>
              <a:off x="6659563" y="4301460"/>
              <a:ext cx="1588" cy="1444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Line 669"/>
            <p:cNvSpPr>
              <a:spLocks noChangeShapeType="1"/>
            </p:cNvSpPr>
            <p:nvPr/>
          </p:nvSpPr>
          <p:spPr bwMode="auto">
            <a:xfrm>
              <a:off x="6661151" y="4363372"/>
              <a:ext cx="144463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Line 670"/>
            <p:cNvSpPr>
              <a:spLocks noChangeShapeType="1"/>
            </p:cNvSpPr>
            <p:nvPr/>
          </p:nvSpPr>
          <p:spPr bwMode="auto">
            <a:xfrm>
              <a:off x="6804026" y="4353847"/>
              <a:ext cx="0" cy="3600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Line 672"/>
            <p:cNvSpPr>
              <a:spLocks noChangeShapeType="1"/>
            </p:cNvSpPr>
            <p:nvPr/>
          </p:nvSpPr>
          <p:spPr bwMode="auto">
            <a:xfrm>
              <a:off x="6445251" y="4406235"/>
              <a:ext cx="0" cy="144463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Text Box 673"/>
            <p:cNvSpPr txBox="1">
              <a:spLocks noChangeArrowheads="1"/>
            </p:cNvSpPr>
            <p:nvPr/>
          </p:nvSpPr>
          <p:spPr bwMode="auto">
            <a:xfrm>
              <a:off x="6588126" y="2638772"/>
              <a:ext cx="431800" cy="3603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b="1" u="none"/>
                <a:t>…</a:t>
              </a:r>
              <a:endParaRPr lang="en-US" altLang="zh-CN" b="1" u="none"/>
            </a:p>
          </p:txBody>
        </p:sp>
        <p:sp>
          <p:nvSpPr>
            <p:cNvPr id="248" name="Line 674"/>
            <p:cNvSpPr>
              <a:spLocks noChangeShapeType="1"/>
            </p:cNvSpPr>
            <p:nvPr/>
          </p:nvSpPr>
          <p:spPr bwMode="auto">
            <a:xfrm>
              <a:off x="6732588" y="2133947"/>
              <a:ext cx="0" cy="7302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Rectangle 675"/>
            <p:cNvSpPr>
              <a:spLocks noChangeArrowheads="1"/>
            </p:cNvSpPr>
            <p:nvPr/>
          </p:nvSpPr>
          <p:spPr bwMode="auto">
            <a:xfrm>
              <a:off x="6589713" y="2206972"/>
              <a:ext cx="288925" cy="2143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0" name="Line 676"/>
            <p:cNvSpPr>
              <a:spLocks noChangeShapeType="1"/>
            </p:cNvSpPr>
            <p:nvPr/>
          </p:nvSpPr>
          <p:spPr bwMode="auto">
            <a:xfrm>
              <a:off x="6445251" y="2278410"/>
              <a:ext cx="1428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Line 677"/>
            <p:cNvSpPr>
              <a:spLocks noChangeShapeType="1"/>
            </p:cNvSpPr>
            <p:nvPr/>
          </p:nvSpPr>
          <p:spPr bwMode="auto">
            <a:xfrm>
              <a:off x="6732588" y="3142010"/>
              <a:ext cx="0" cy="7302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Line 678"/>
            <p:cNvSpPr>
              <a:spLocks noChangeShapeType="1"/>
            </p:cNvSpPr>
            <p:nvPr/>
          </p:nvSpPr>
          <p:spPr bwMode="auto">
            <a:xfrm>
              <a:off x="6445251" y="3286472"/>
              <a:ext cx="144463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Rectangle 679"/>
            <p:cNvSpPr>
              <a:spLocks noChangeArrowheads="1"/>
            </p:cNvSpPr>
            <p:nvPr/>
          </p:nvSpPr>
          <p:spPr bwMode="auto">
            <a:xfrm>
              <a:off x="6589713" y="3213447"/>
              <a:ext cx="288925" cy="2143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4" name="Line 680"/>
            <p:cNvSpPr>
              <a:spLocks noChangeShapeType="1"/>
            </p:cNvSpPr>
            <p:nvPr/>
          </p:nvSpPr>
          <p:spPr bwMode="auto">
            <a:xfrm flipH="1">
              <a:off x="6443663" y="4150073"/>
              <a:ext cx="0" cy="18472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Text Box 681"/>
            <p:cNvSpPr txBox="1">
              <a:spLocks noChangeArrowheads="1"/>
            </p:cNvSpPr>
            <p:nvPr/>
          </p:nvSpPr>
          <p:spPr bwMode="auto">
            <a:xfrm>
              <a:off x="6230938" y="3215035"/>
              <a:ext cx="214313" cy="21431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D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256" name="Line 682"/>
            <p:cNvSpPr>
              <a:spLocks noChangeShapeType="1"/>
            </p:cNvSpPr>
            <p:nvPr/>
          </p:nvSpPr>
          <p:spPr bwMode="auto">
            <a:xfrm>
              <a:off x="6445251" y="2278410"/>
              <a:ext cx="0" cy="12954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Text Box 684"/>
            <p:cNvSpPr txBox="1">
              <a:spLocks noChangeArrowheads="1"/>
            </p:cNvSpPr>
            <p:nvPr/>
          </p:nvSpPr>
          <p:spPr bwMode="auto">
            <a:xfrm>
              <a:off x="5219701" y="3643660"/>
              <a:ext cx="792163" cy="2889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2000" b="1" u="none" dirty="0"/>
                <a:t>……</a:t>
              </a:r>
              <a:endParaRPr lang="en-US" altLang="zh-CN" sz="2000" b="1" u="none" dirty="0"/>
            </a:p>
          </p:txBody>
        </p:sp>
        <p:grpSp>
          <p:nvGrpSpPr>
            <p:cNvPr id="258" name="Group 685"/>
            <p:cNvGrpSpPr/>
            <p:nvPr/>
          </p:nvGrpSpPr>
          <p:grpSpPr bwMode="auto">
            <a:xfrm>
              <a:off x="1619101" y="5445472"/>
              <a:ext cx="287338" cy="287338"/>
              <a:chOff x="295" y="2251"/>
              <a:chExt cx="181" cy="181"/>
            </a:xfrm>
          </p:grpSpPr>
          <p:sp>
            <p:nvSpPr>
              <p:cNvPr id="273" name="Text Box 686"/>
              <p:cNvSpPr txBox="1">
                <a:spLocks noChangeArrowheads="1"/>
              </p:cNvSpPr>
              <p:nvPr/>
            </p:nvSpPr>
            <p:spPr bwMode="auto">
              <a:xfrm>
                <a:off x="295" y="2251"/>
                <a:ext cx="181" cy="181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r>
                  <a:rPr lang="en-US" altLang="zh-CN" sz="1800" b="1" u="none">
                    <a:latin typeface="宋体" panose="02010600030101010101" pitchFamily="2" charset="-122"/>
                  </a:rPr>
                  <a:t>WE</a:t>
                </a:r>
                <a:endParaRPr lang="en-US" altLang="zh-CN" sz="1800" b="1" u="none" baseline="-20000">
                  <a:latin typeface="宋体" panose="02010600030101010101" pitchFamily="2" charset="-122"/>
                </a:endParaRPr>
              </a:p>
            </p:txBody>
          </p:sp>
          <p:sp>
            <p:nvSpPr>
              <p:cNvPr id="274" name="Line 687"/>
              <p:cNvSpPr>
                <a:spLocks noChangeShapeType="1"/>
              </p:cNvSpPr>
              <p:nvPr/>
            </p:nvSpPr>
            <p:spPr bwMode="auto">
              <a:xfrm>
                <a:off x="299" y="2284"/>
                <a:ext cx="154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9" name="Line 690"/>
            <p:cNvSpPr>
              <a:spLocks noChangeShapeType="1"/>
            </p:cNvSpPr>
            <p:nvPr/>
          </p:nvSpPr>
          <p:spPr bwMode="auto">
            <a:xfrm>
              <a:off x="3024338" y="2349847"/>
              <a:ext cx="468163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Line 691"/>
            <p:cNvSpPr>
              <a:spLocks noChangeShapeType="1"/>
            </p:cNvSpPr>
            <p:nvPr/>
          </p:nvSpPr>
          <p:spPr bwMode="auto">
            <a:xfrm>
              <a:off x="3024339" y="2926110"/>
              <a:ext cx="466576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Text Box 692"/>
            <p:cNvSpPr txBox="1">
              <a:spLocks noChangeArrowheads="1"/>
            </p:cNvSpPr>
            <p:nvPr/>
          </p:nvSpPr>
          <p:spPr bwMode="auto">
            <a:xfrm>
              <a:off x="3997326" y="2278410"/>
              <a:ext cx="358775" cy="7175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/>
            <a:lstStyle/>
            <a:p>
              <a:pPr algn="ctr"/>
              <a:r>
                <a:rPr lang="en-US" altLang="zh-CN" sz="2000" b="1" u="none" dirty="0">
                  <a:solidFill>
                    <a:srgbClr val="CC3300"/>
                  </a:solidFill>
                </a:rPr>
                <a:t>……</a:t>
              </a:r>
              <a:endParaRPr lang="en-US" altLang="zh-CN" sz="2000" b="1" u="none" dirty="0">
                <a:solidFill>
                  <a:srgbClr val="CC3300"/>
                </a:solidFill>
              </a:endParaRPr>
            </a:p>
          </p:txBody>
        </p:sp>
        <p:sp>
          <p:nvSpPr>
            <p:cNvPr id="262" name="Text Box 693"/>
            <p:cNvSpPr txBox="1">
              <a:spLocks noChangeArrowheads="1"/>
            </p:cNvSpPr>
            <p:nvPr/>
          </p:nvSpPr>
          <p:spPr bwMode="auto">
            <a:xfrm>
              <a:off x="3205163" y="2494310"/>
              <a:ext cx="358775" cy="3603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/>
            <a:lstStyle/>
            <a:p>
              <a:pPr algn="ctr"/>
              <a:r>
                <a:rPr lang="en-US" altLang="zh-CN" sz="2000" b="1" u="none" dirty="0">
                  <a:solidFill>
                    <a:srgbClr val="CC3300"/>
                  </a:solidFill>
                </a:rPr>
                <a:t>…</a:t>
              </a:r>
              <a:endParaRPr lang="en-US" altLang="zh-CN" sz="2000" b="1" u="none" dirty="0">
                <a:solidFill>
                  <a:srgbClr val="CC3300"/>
                </a:solidFill>
              </a:endParaRPr>
            </a:p>
          </p:txBody>
        </p:sp>
        <p:sp>
          <p:nvSpPr>
            <p:cNvPr id="263" name="Line 694"/>
            <p:cNvSpPr>
              <a:spLocks noChangeShapeType="1"/>
            </p:cNvSpPr>
            <p:nvPr/>
          </p:nvSpPr>
          <p:spPr bwMode="auto">
            <a:xfrm flipV="1">
              <a:off x="2843064" y="4653310"/>
              <a:ext cx="0" cy="28823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Line 701"/>
            <p:cNvSpPr>
              <a:spLocks noChangeShapeType="1"/>
            </p:cNvSpPr>
            <p:nvPr/>
          </p:nvSpPr>
          <p:spPr bwMode="auto">
            <a:xfrm>
              <a:off x="1979464" y="5301010"/>
              <a:ext cx="501650" cy="1588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Line 702"/>
            <p:cNvSpPr>
              <a:spLocks noChangeShapeType="1"/>
            </p:cNvSpPr>
            <p:nvPr/>
          </p:nvSpPr>
          <p:spPr bwMode="auto">
            <a:xfrm flipV="1">
              <a:off x="1979464" y="5589935"/>
              <a:ext cx="50165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" name="Group 703"/>
            <p:cNvGrpSpPr/>
            <p:nvPr/>
          </p:nvGrpSpPr>
          <p:grpSpPr bwMode="auto">
            <a:xfrm>
              <a:off x="1547664" y="4869210"/>
              <a:ext cx="431800" cy="288925"/>
              <a:chOff x="340" y="2704"/>
              <a:chExt cx="272" cy="182"/>
            </a:xfrm>
          </p:grpSpPr>
          <p:sp>
            <p:nvSpPr>
              <p:cNvPr id="271" name="Text Box 705"/>
              <p:cNvSpPr txBox="1">
                <a:spLocks noChangeArrowheads="1"/>
              </p:cNvSpPr>
              <p:nvPr/>
            </p:nvSpPr>
            <p:spPr bwMode="auto">
              <a:xfrm>
                <a:off x="340" y="2704"/>
                <a:ext cx="272" cy="182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r>
                  <a:rPr lang="en-US" altLang="zh-CN" sz="1800" b="1" u="none" dirty="0">
                    <a:latin typeface="宋体" panose="02010600030101010101" pitchFamily="2" charset="-122"/>
                  </a:rPr>
                  <a:t>RAS</a:t>
                </a:r>
                <a:endParaRPr lang="en-US" altLang="zh-CN" sz="18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72" name="Line 704"/>
              <p:cNvSpPr>
                <a:spLocks noChangeShapeType="1"/>
              </p:cNvSpPr>
              <p:nvPr/>
            </p:nvSpPr>
            <p:spPr bwMode="auto">
              <a:xfrm>
                <a:off x="353" y="2731"/>
                <a:ext cx="22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67" name="Group 706"/>
            <p:cNvGrpSpPr/>
            <p:nvPr/>
          </p:nvGrpSpPr>
          <p:grpSpPr bwMode="auto">
            <a:xfrm>
              <a:off x="1547664" y="5156547"/>
              <a:ext cx="431800" cy="288925"/>
              <a:chOff x="340" y="2704"/>
              <a:chExt cx="272" cy="182"/>
            </a:xfrm>
          </p:grpSpPr>
          <p:sp>
            <p:nvSpPr>
              <p:cNvPr id="269" name="Text Box 708"/>
              <p:cNvSpPr txBox="1">
                <a:spLocks noChangeArrowheads="1"/>
              </p:cNvSpPr>
              <p:nvPr/>
            </p:nvSpPr>
            <p:spPr bwMode="auto">
              <a:xfrm>
                <a:off x="340" y="2704"/>
                <a:ext cx="272" cy="182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r>
                  <a:rPr lang="en-US" altLang="zh-CN" sz="1800" b="1" u="none" dirty="0">
                    <a:latin typeface="宋体" panose="02010600030101010101" pitchFamily="2" charset="-122"/>
                  </a:rPr>
                  <a:t>CAS</a:t>
                </a:r>
                <a:endParaRPr lang="en-US" altLang="zh-CN" sz="18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70" name="Line 707"/>
              <p:cNvSpPr>
                <a:spLocks noChangeShapeType="1"/>
              </p:cNvSpPr>
              <p:nvPr/>
            </p:nvSpPr>
            <p:spPr bwMode="auto">
              <a:xfrm>
                <a:off x="357" y="2731"/>
                <a:ext cx="22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8" name="Text Box 709"/>
            <p:cNvSpPr txBox="1">
              <a:spLocks noChangeArrowheads="1"/>
            </p:cNvSpPr>
            <p:nvPr/>
          </p:nvSpPr>
          <p:spPr bwMode="auto">
            <a:xfrm>
              <a:off x="1474788" y="2494310"/>
              <a:ext cx="720725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5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…A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dirty="0"/>
            </a:p>
          </p:txBody>
        </p:sp>
      </p:grpSp>
      <p:grpSp>
        <p:nvGrpSpPr>
          <p:cNvPr id="275" name="组合 274"/>
          <p:cNvGrpSpPr/>
          <p:nvPr/>
        </p:nvGrpSpPr>
        <p:grpSpPr>
          <a:xfrm>
            <a:off x="2122958" y="2349327"/>
            <a:ext cx="5041330" cy="3815779"/>
            <a:chOff x="2122958" y="2061493"/>
            <a:chExt cx="5041330" cy="3815779"/>
          </a:xfrm>
        </p:grpSpPr>
        <p:sp>
          <p:nvSpPr>
            <p:cNvPr id="276" name="Line 627"/>
            <p:cNvSpPr>
              <a:spLocks noChangeShapeType="1"/>
            </p:cNvSpPr>
            <p:nvPr/>
          </p:nvSpPr>
          <p:spPr bwMode="auto">
            <a:xfrm>
              <a:off x="2122958" y="2709193"/>
              <a:ext cx="504825" cy="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" name="Text Box 658"/>
            <p:cNvSpPr txBox="1">
              <a:spLocks noChangeArrowheads="1"/>
            </p:cNvSpPr>
            <p:nvPr/>
          </p:nvSpPr>
          <p:spPr bwMode="auto">
            <a:xfrm>
              <a:off x="2986558" y="2134518"/>
              <a:ext cx="357188" cy="11509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Symbol" panose="05050102010706020507"/>
                </a:rPr>
                <a:t>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</a:rPr>
                <a:t>6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/>
              <a:endParaRPr lang="en-US" altLang="zh-CN" sz="1600" b="1" u="none" baseline="-20000" dirty="0">
                <a:latin typeface="宋体" panose="02010600030101010101" pitchFamily="2" charset="-122"/>
              </a:endParaRPr>
            </a:p>
            <a:p>
              <a:pPr algn="ctr"/>
              <a:endParaRPr lang="en-US" altLang="zh-CN" sz="1600" b="1" u="none" baseline="-20000" dirty="0">
                <a:latin typeface="宋体" panose="02010600030101010101" pitchFamily="2" charset="-122"/>
              </a:endParaRPr>
            </a:p>
            <a:p>
              <a:pPr algn="ctr"/>
              <a:endParaRPr lang="en-US" altLang="zh-CN" sz="1600" b="1" u="none" baseline="-20000" dirty="0">
                <a:latin typeface="宋体" panose="02010600030101010101" pitchFamily="2" charset="-122"/>
              </a:endParaRPr>
            </a:p>
            <a:p>
              <a:pPr algn="ctr">
                <a:lnSpc>
                  <a:spcPct val="16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Symbol" panose="05050102010706020507"/>
                </a:rPr>
                <a:t>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</a:rPr>
                <a:t>11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78" name="Text Box 659"/>
            <p:cNvSpPr txBox="1">
              <a:spLocks noChangeArrowheads="1"/>
            </p:cNvSpPr>
            <p:nvPr/>
          </p:nvSpPr>
          <p:spPr bwMode="auto">
            <a:xfrm>
              <a:off x="5147146" y="5086573"/>
              <a:ext cx="1582738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dirty="0" smtClean="0">
                  <a:latin typeface="宋体" panose="02010600030101010101" pitchFamily="2" charset="-122"/>
                  <a:sym typeface="Symbol" panose="05050102010706020507"/>
                </a:rPr>
                <a:t>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5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       </a:t>
              </a:r>
              <a:r>
                <a:rPr lang="en-US" altLang="zh-CN" sz="1800" b="1" u="none" baseline="-250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dirty="0" smtClean="0">
                  <a:latin typeface="宋体" panose="02010600030101010101" pitchFamily="2" charset="-122"/>
                  <a:sym typeface="Symbol" panose="05050102010706020507"/>
                </a:rPr>
                <a:t>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79" name="Line 683"/>
            <p:cNvSpPr>
              <a:spLocks noChangeShapeType="1"/>
            </p:cNvSpPr>
            <p:nvPr/>
          </p:nvSpPr>
          <p:spPr bwMode="auto">
            <a:xfrm flipH="1" flipV="1">
              <a:off x="3706761" y="3788693"/>
              <a:ext cx="0" cy="144145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Text Box 688"/>
            <p:cNvSpPr txBox="1">
              <a:spLocks noChangeArrowheads="1"/>
            </p:cNvSpPr>
            <p:nvPr/>
          </p:nvSpPr>
          <p:spPr bwMode="auto">
            <a:xfrm>
              <a:off x="2410146" y="5014243"/>
              <a:ext cx="1152525" cy="719138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时序控制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电路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81" name="Text Box 689"/>
            <p:cNvSpPr txBox="1">
              <a:spLocks noChangeArrowheads="1"/>
            </p:cNvSpPr>
            <p:nvPr/>
          </p:nvSpPr>
          <p:spPr bwMode="auto">
            <a:xfrm>
              <a:off x="2627783" y="2134518"/>
              <a:ext cx="324000" cy="143827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行地址锁存器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82" name="Text Box 695"/>
            <p:cNvSpPr txBox="1">
              <a:spLocks noChangeArrowheads="1"/>
            </p:cNvSpPr>
            <p:nvPr/>
          </p:nvSpPr>
          <p:spPr bwMode="auto">
            <a:xfrm>
              <a:off x="5075708" y="5373910"/>
              <a:ext cx="1582738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列地址锁存器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83" name="Line 696"/>
            <p:cNvSpPr>
              <a:spLocks noChangeShapeType="1"/>
            </p:cNvSpPr>
            <p:nvPr/>
          </p:nvSpPr>
          <p:spPr bwMode="auto">
            <a:xfrm flipV="1">
              <a:off x="5867871" y="5659784"/>
              <a:ext cx="0" cy="217488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Line 697"/>
            <p:cNvSpPr>
              <a:spLocks noChangeShapeType="1"/>
            </p:cNvSpPr>
            <p:nvPr/>
          </p:nvSpPr>
          <p:spPr bwMode="auto">
            <a:xfrm flipV="1">
              <a:off x="2411882" y="2061493"/>
              <a:ext cx="4752405" cy="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Line 698"/>
            <p:cNvSpPr>
              <a:spLocks noChangeShapeType="1"/>
            </p:cNvSpPr>
            <p:nvPr/>
          </p:nvSpPr>
          <p:spPr bwMode="auto">
            <a:xfrm>
              <a:off x="2411883" y="2061493"/>
              <a:ext cx="0" cy="64770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" name="Line 699"/>
            <p:cNvSpPr>
              <a:spLocks noChangeShapeType="1"/>
            </p:cNvSpPr>
            <p:nvPr/>
          </p:nvSpPr>
          <p:spPr bwMode="auto">
            <a:xfrm>
              <a:off x="7164287" y="2061493"/>
              <a:ext cx="1" cy="3815779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Line 700"/>
            <p:cNvSpPr>
              <a:spLocks noChangeShapeType="1"/>
            </p:cNvSpPr>
            <p:nvPr/>
          </p:nvSpPr>
          <p:spPr bwMode="auto">
            <a:xfrm flipV="1">
              <a:off x="5867077" y="5877272"/>
              <a:ext cx="1297211" cy="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Line 710"/>
            <p:cNvSpPr>
              <a:spLocks noChangeShapeType="1"/>
            </p:cNvSpPr>
            <p:nvPr/>
          </p:nvSpPr>
          <p:spPr bwMode="auto">
            <a:xfrm flipH="1" flipV="1">
              <a:off x="2770658" y="3572793"/>
              <a:ext cx="1588" cy="2159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Line 711"/>
            <p:cNvSpPr>
              <a:spLocks noChangeShapeType="1"/>
            </p:cNvSpPr>
            <p:nvPr/>
          </p:nvSpPr>
          <p:spPr bwMode="auto">
            <a:xfrm flipV="1">
              <a:off x="3562671" y="5446043"/>
              <a:ext cx="1513037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Text Box 712"/>
            <p:cNvSpPr txBox="1">
              <a:spLocks noChangeArrowheads="1"/>
            </p:cNvSpPr>
            <p:nvPr/>
          </p:nvSpPr>
          <p:spPr bwMode="auto">
            <a:xfrm>
              <a:off x="2914971" y="3817268"/>
              <a:ext cx="863600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zh-CN" altLang="en-US" sz="1800" b="1" u="none">
                  <a:latin typeface="宋体" panose="02010600030101010101" pitchFamily="2" charset="-122"/>
                </a:rPr>
                <a:t>行时钟</a:t>
              </a:r>
              <a:endParaRPr lang="zh-CN" altLang="en-US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291" name="Text Box 713"/>
            <p:cNvSpPr txBox="1">
              <a:spLocks noChangeArrowheads="1"/>
            </p:cNvSpPr>
            <p:nvPr/>
          </p:nvSpPr>
          <p:spPr bwMode="auto">
            <a:xfrm>
              <a:off x="4139083" y="5473030"/>
              <a:ext cx="863600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zh-CN" altLang="en-US" sz="1800" b="1" u="none">
                  <a:latin typeface="宋体" panose="02010600030101010101" pitchFamily="2" charset="-122"/>
                </a:rPr>
                <a:t>列时钟</a:t>
              </a:r>
              <a:endParaRPr lang="zh-CN" altLang="en-US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292" name="Line 714"/>
            <p:cNvSpPr>
              <a:spLocks noChangeShapeType="1"/>
            </p:cNvSpPr>
            <p:nvPr/>
          </p:nvSpPr>
          <p:spPr bwMode="auto">
            <a:xfrm flipV="1">
              <a:off x="3562671" y="5228553"/>
              <a:ext cx="142876" cy="1589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" name="Text Box 715"/>
            <p:cNvSpPr txBox="1">
              <a:spLocks noChangeArrowheads="1"/>
            </p:cNvSpPr>
            <p:nvPr/>
          </p:nvSpPr>
          <p:spPr bwMode="auto">
            <a:xfrm>
              <a:off x="2840359" y="4758655"/>
              <a:ext cx="863600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写时钟</a:t>
              </a:r>
              <a:endParaRPr lang="zh-CN" altLang="en-US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94" name="Line 716"/>
            <p:cNvSpPr>
              <a:spLocks noChangeShapeType="1"/>
            </p:cNvSpPr>
            <p:nvPr/>
          </p:nvSpPr>
          <p:spPr bwMode="auto">
            <a:xfrm>
              <a:off x="2768920" y="3788693"/>
              <a:ext cx="938213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067646" y="3933652"/>
            <a:ext cx="2878137" cy="576263"/>
            <a:chOff x="4067646" y="3645818"/>
            <a:chExt cx="2878137" cy="576263"/>
          </a:xfrm>
        </p:grpSpPr>
        <p:sp>
          <p:nvSpPr>
            <p:cNvPr id="106" name="Text Box 645"/>
            <p:cNvSpPr txBox="1">
              <a:spLocks noChangeArrowheads="1"/>
            </p:cNvSpPr>
            <p:nvPr/>
          </p:nvSpPr>
          <p:spPr bwMode="auto">
            <a:xfrm>
              <a:off x="4067646" y="3645818"/>
              <a:ext cx="1079500" cy="576263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读出</a:t>
              </a:r>
              <a:r>
                <a:rPr lang="zh-CN" altLang="en-US" sz="18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再生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放大器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8" name="Text Box 717"/>
            <p:cNvSpPr txBox="1">
              <a:spLocks noChangeArrowheads="1"/>
            </p:cNvSpPr>
            <p:nvPr/>
          </p:nvSpPr>
          <p:spPr bwMode="auto">
            <a:xfrm>
              <a:off x="5939308" y="3645818"/>
              <a:ext cx="1006475" cy="576263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读出</a:t>
              </a:r>
              <a:r>
                <a:rPr lang="zh-CN" altLang="en-US" sz="18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再生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放大器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85EFF-AE30-4C30-AC41-20659B632755}" type="slidenum">
              <a:rPr lang="en-US" altLang="zh-CN"/>
            </a:fld>
            <a:endParaRPr lang="en-US" altLang="zh-CN"/>
          </a:p>
        </p:txBody>
      </p:sp>
      <p:sp>
        <p:nvSpPr>
          <p:cNvPr id="90" name="AutoShape 720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" name="Text Box 469"/>
          <p:cNvSpPr txBox="1">
            <a:spLocks noChangeArrowheads="1"/>
          </p:cNvSpPr>
          <p:nvPr/>
        </p:nvSpPr>
        <p:spPr bwMode="auto">
          <a:xfrm>
            <a:off x="179389" y="404664"/>
            <a:ext cx="7632202" cy="19389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*组成示例：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Intel 2116 DRAM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芯片</a:t>
            </a:r>
            <a:endParaRPr lang="zh-CN" altLang="en-US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参数</a:t>
            </a: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容量为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16K×1b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</a:t>
            </a:r>
            <a:r>
              <a:rPr lang="zh-CN" altLang="en-US" b="1" u="none" dirty="0">
                <a:latin typeface="宋体" panose="02010600030101010101" pitchFamily="2" charset="-122"/>
              </a:rPr>
              <a:t>单向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数据引脚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引脚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组成</a:t>
            </a: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92" name="Text Box 470"/>
          <p:cNvSpPr txBox="1">
            <a:spLocks noChangeArrowheads="1"/>
          </p:cNvSpPr>
          <p:nvPr/>
        </p:nvSpPr>
        <p:spPr bwMode="auto">
          <a:xfrm>
            <a:off x="1763688" y="1340768"/>
            <a:ext cx="7057033" cy="183280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>
                <a:latin typeface="宋体" panose="02010600030101010101" pitchFamily="2" charset="-122"/>
              </a:rPr>
              <a:t>数据</a:t>
            </a:r>
            <a:r>
              <a:rPr lang="en-US" altLang="zh-CN" sz="1800" b="1" u="none" dirty="0">
                <a:latin typeface="宋体" panose="02010600030101010101" pitchFamily="2" charset="-122"/>
              </a:rPr>
              <a:t>(2</a:t>
            </a:r>
            <a:r>
              <a:rPr lang="zh-CN" altLang="en-US" sz="1800" b="1" u="none" dirty="0">
                <a:latin typeface="宋体" panose="02010600030101010101" pitchFamily="2" charset="-122"/>
              </a:rPr>
              <a:t>根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b="1" u="none" dirty="0">
                <a:latin typeface="宋体" panose="02010600030101010101" pitchFamily="2" charset="-122"/>
              </a:rPr>
              <a:t>，地址</a:t>
            </a:r>
            <a:r>
              <a:rPr lang="en-US" altLang="zh-CN" sz="1800" b="1" u="none" dirty="0">
                <a:latin typeface="宋体" panose="02010600030101010101" pitchFamily="2" charset="-122"/>
              </a:rPr>
              <a:t>(7</a:t>
            </a:r>
            <a:r>
              <a:rPr lang="zh-CN" altLang="en-US" sz="1800" b="1" u="none" dirty="0">
                <a:latin typeface="宋体" panose="02010600030101010101" pitchFamily="2" charset="-122"/>
              </a:rPr>
              <a:t>根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b="1" u="none" dirty="0">
                <a:latin typeface="宋体" panose="02010600030101010101" pitchFamily="2" charset="-122"/>
              </a:rPr>
              <a:t>，控制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行选</a:t>
            </a:r>
            <a:r>
              <a:rPr lang="en-US" altLang="zh-CN" sz="1800" b="1" u="none" dirty="0">
                <a:latin typeface="宋体" panose="02010600030101010101" pitchFamily="2" charset="-122"/>
              </a:rPr>
              <a:t>+</a:t>
            </a:r>
            <a:r>
              <a:rPr lang="zh-CN" altLang="en-US" sz="1800" b="1" u="none" dirty="0">
                <a:latin typeface="宋体" panose="02010600030101010101" pitchFamily="2" charset="-122"/>
              </a:rPr>
              <a:t>列选</a:t>
            </a:r>
            <a:r>
              <a:rPr lang="en-US" altLang="zh-CN" sz="1800" b="1" u="none" dirty="0">
                <a:latin typeface="宋体" panose="02010600030101010101" pitchFamily="2" charset="-122"/>
              </a:rPr>
              <a:t>+</a:t>
            </a:r>
            <a:r>
              <a:rPr lang="zh-CN" altLang="en-US" sz="1800" b="1" u="none" dirty="0">
                <a:latin typeface="宋体" panose="02010600030101010101" pitchFamily="2" charset="-122"/>
              </a:rPr>
              <a:t>读</a:t>
            </a:r>
            <a:r>
              <a:rPr lang="en-US" altLang="zh-CN" sz="1800" b="1" u="none" dirty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>
                <a:latin typeface="宋体" panose="02010600030101010101" pitchFamily="2" charset="-122"/>
              </a:rPr>
              <a:t>写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存储矩阵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en-US" altLang="zh-CN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2×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64×128)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，地址译码器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；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地址锁存器、时序控制电路，再生</a:t>
            </a:r>
            <a:r>
              <a:rPr lang="zh-CN" altLang="en-US" b="1" u="none" dirty="0">
                <a:latin typeface="宋体" panose="02010600030101010101" pitchFamily="2" charset="-122"/>
              </a:rPr>
              <a:t>放大器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u="none" dirty="0" smtClean="0">
                <a:latin typeface="宋体" panose="02010600030101010101" pitchFamily="2" charset="-122"/>
              </a:rPr>
              <a:t>                     (3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个串联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    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读写</a:t>
            </a:r>
            <a:r>
              <a:rPr lang="zh-CN" altLang="en-US" sz="1800" b="1" u="none" dirty="0">
                <a:latin typeface="宋体" panose="02010600030101010101" pitchFamily="2" charset="-122"/>
              </a:rPr>
              <a:t>电路</a:t>
            </a:r>
            <a:r>
              <a:rPr lang="en-US" altLang="zh-CN" sz="1800" b="1" u="none" dirty="0">
                <a:latin typeface="宋体" panose="02010600030101010101" pitchFamily="2" charset="-122"/>
              </a:rPr>
              <a:t>) 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1326425" y="3212976"/>
            <a:ext cx="6845207" cy="2880319"/>
            <a:chOff x="1254417" y="3356992"/>
            <a:chExt cx="6845207" cy="2880319"/>
          </a:xfrm>
        </p:grpSpPr>
        <p:sp>
          <p:nvSpPr>
            <p:cNvPr id="94" name="矩形 93"/>
            <p:cNvSpPr/>
            <p:nvPr/>
          </p:nvSpPr>
          <p:spPr bwMode="auto">
            <a:xfrm>
              <a:off x="1547028" y="5449744"/>
              <a:ext cx="6552596" cy="78756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1800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000" b="1" u="none" dirty="0"/>
                <a:t> </a:t>
              </a:r>
              <a:r>
                <a:rPr lang="en-US" altLang="zh-CN" sz="2000" b="1" u="none" dirty="0" smtClean="0"/>
                <a:t>                       </a:t>
              </a:r>
              <a:r>
                <a:rPr kumimoji="1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                                  </a:t>
              </a:r>
              <a:r>
                <a:rPr kumimoji="1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时序控制电路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Text Box 666"/>
            <p:cNvSpPr txBox="1">
              <a:spLocks noChangeArrowheads="1"/>
            </p:cNvSpPr>
            <p:nvPr/>
          </p:nvSpPr>
          <p:spPr bwMode="auto">
            <a:xfrm>
              <a:off x="5805545" y="4727252"/>
              <a:ext cx="1213958" cy="50323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128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个读出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再生放大器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8" name="Text Box 669"/>
            <p:cNvSpPr txBox="1">
              <a:spLocks noChangeArrowheads="1"/>
            </p:cNvSpPr>
            <p:nvPr/>
          </p:nvSpPr>
          <p:spPr bwMode="auto">
            <a:xfrm>
              <a:off x="1739137" y="5590704"/>
              <a:ext cx="1295400" cy="3603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行时钟发生器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9" name="Text Box 670"/>
            <p:cNvSpPr txBox="1">
              <a:spLocks noChangeArrowheads="1"/>
            </p:cNvSpPr>
            <p:nvPr/>
          </p:nvSpPr>
          <p:spPr bwMode="auto">
            <a:xfrm>
              <a:off x="3467924" y="5590704"/>
              <a:ext cx="1295400" cy="36195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>
                  <a:latin typeface="宋体" panose="02010600030101010101" pitchFamily="2" charset="-122"/>
                </a:rPr>
                <a:t>列时钟发生器</a:t>
              </a:r>
              <a:endParaRPr lang="zh-CN" altLang="en-US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00" name="Text Box 671"/>
            <p:cNvSpPr txBox="1">
              <a:spLocks noChangeArrowheads="1"/>
            </p:cNvSpPr>
            <p:nvPr/>
          </p:nvSpPr>
          <p:spPr bwMode="auto">
            <a:xfrm>
              <a:off x="5196712" y="5590704"/>
              <a:ext cx="1295400" cy="36195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写时钟发生器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1" name="Line 672"/>
            <p:cNvSpPr>
              <a:spLocks noChangeShapeType="1"/>
            </p:cNvSpPr>
            <p:nvPr/>
          </p:nvSpPr>
          <p:spPr bwMode="auto">
            <a:xfrm flipV="1">
              <a:off x="3036124" y="5663729"/>
              <a:ext cx="430212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673"/>
            <p:cNvSpPr>
              <a:spLocks noChangeShapeType="1"/>
            </p:cNvSpPr>
            <p:nvPr/>
          </p:nvSpPr>
          <p:spPr bwMode="auto">
            <a:xfrm flipV="1">
              <a:off x="4764912" y="5663729"/>
              <a:ext cx="430212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674"/>
            <p:cNvSpPr>
              <a:spLocks noChangeShapeType="1"/>
            </p:cNvSpPr>
            <p:nvPr/>
          </p:nvSpPr>
          <p:spPr bwMode="auto">
            <a:xfrm flipV="1">
              <a:off x="3178999" y="5879629"/>
              <a:ext cx="287337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675"/>
            <p:cNvSpPr>
              <a:spLocks noChangeShapeType="1"/>
            </p:cNvSpPr>
            <p:nvPr/>
          </p:nvSpPr>
          <p:spPr bwMode="auto">
            <a:xfrm flipV="1">
              <a:off x="3178999" y="5879629"/>
              <a:ext cx="0" cy="142875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678"/>
            <p:cNvSpPr>
              <a:spLocks noChangeShapeType="1"/>
            </p:cNvSpPr>
            <p:nvPr/>
          </p:nvSpPr>
          <p:spPr bwMode="auto">
            <a:xfrm flipV="1">
              <a:off x="4907787" y="5879629"/>
              <a:ext cx="287337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679"/>
            <p:cNvSpPr>
              <a:spLocks noChangeShapeType="1"/>
            </p:cNvSpPr>
            <p:nvPr/>
          </p:nvSpPr>
          <p:spPr bwMode="auto">
            <a:xfrm flipV="1">
              <a:off x="4907786" y="5879627"/>
              <a:ext cx="1" cy="285676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681"/>
            <p:cNvSpPr>
              <a:spLocks noChangeShapeType="1"/>
            </p:cNvSpPr>
            <p:nvPr/>
          </p:nvSpPr>
          <p:spPr bwMode="auto">
            <a:xfrm>
              <a:off x="6492111" y="5805016"/>
              <a:ext cx="887432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682"/>
            <p:cNvSpPr>
              <a:spLocks noChangeShapeType="1"/>
            </p:cNvSpPr>
            <p:nvPr/>
          </p:nvSpPr>
          <p:spPr bwMode="auto">
            <a:xfrm>
              <a:off x="3178999" y="5517679"/>
              <a:ext cx="0" cy="144462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683"/>
            <p:cNvSpPr>
              <a:spLocks noChangeShapeType="1"/>
            </p:cNvSpPr>
            <p:nvPr/>
          </p:nvSpPr>
          <p:spPr bwMode="auto">
            <a:xfrm flipV="1">
              <a:off x="1834926" y="5517677"/>
              <a:ext cx="1344073" cy="794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684"/>
            <p:cNvSpPr>
              <a:spLocks noChangeShapeType="1"/>
            </p:cNvSpPr>
            <p:nvPr/>
          </p:nvSpPr>
          <p:spPr bwMode="auto">
            <a:xfrm flipV="1">
              <a:off x="2555007" y="5228378"/>
              <a:ext cx="0" cy="144838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685"/>
            <p:cNvSpPr>
              <a:spLocks noChangeShapeType="1"/>
            </p:cNvSpPr>
            <p:nvPr/>
          </p:nvSpPr>
          <p:spPr bwMode="auto">
            <a:xfrm>
              <a:off x="2555007" y="5373216"/>
              <a:ext cx="5184576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686"/>
            <p:cNvSpPr>
              <a:spLocks noChangeShapeType="1"/>
            </p:cNvSpPr>
            <p:nvPr/>
          </p:nvSpPr>
          <p:spPr bwMode="auto">
            <a:xfrm flipV="1">
              <a:off x="4907787" y="5373216"/>
              <a:ext cx="0" cy="290512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727"/>
            <p:cNvSpPr>
              <a:spLocks noChangeShapeType="1"/>
            </p:cNvSpPr>
            <p:nvPr/>
          </p:nvSpPr>
          <p:spPr bwMode="auto">
            <a:xfrm flipV="1">
              <a:off x="1834926" y="3861048"/>
              <a:ext cx="1" cy="1657424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Text Box 733"/>
            <p:cNvSpPr txBox="1">
              <a:spLocks noChangeArrowheads="1"/>
            </p:cNvSpPr>
            <p:nvPr/>
          </p:nvSpPr>
          <p:spPr bwMode="auto">
            <a:xfrm>
              <a:off x="2050951" y="4725144"/>
              <a:ext cx="792088" cy="50323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r>
                <a:rPr lang="zh-CN" altLang="en-US" sz="1600" b="1" u="none" dirty="0"/>
                <a:t>列地址</a:t>
              </a:r>
              <a:endParaRPr lang="zh-CN" altLang="en-US" sz="1600" b="1" u="none" dirty="0"/>
            </a:p>
            <a:p>
              <a:pPr algn="ctr"/>
              <a:r>
                <a:rPr lang="zh-CN" altLang="en-US" sz="1600" b="1" u="none" dirty="0"/>
                <a:t>锁存器</a:t>
              </a:r>
              <a:endParaRPr lang="zh-CN" altLang="en-US" sz="1600" b="1" u="none" dirty="0"/>
            </a:p>
          </p:txBody>
        </p:sp>
        <p:sp>
          <p:nvSpPr>
            <p:cNvPr id="119" name="Text Box 742"/>
            <p:cNvSpPr txBox="1">
              <a:spLocks noChangeArrowheads="1"/>
            </p:cNvSpPr>
            <p:nvPr/>
          </p:nvSpPr>
          <p:spPr bwMode="auto">
            <a:xfrm>
              <a:off x="1402880" y="3356992"/>
              <a:ext cx="782678" cy="50641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r>
                <a:rPr lang="zh-CN" altLang="en-US" sz="1600" b="1" u="none" dirty="0"/>
                <a:t>行地址</a:t>
              </a:r>
              <a:endParaRPr lang="zh-CN" altLang="en-US" sz="1600" b="1" u="none" dirty="0"/>
            </a:p>
            <a:p>
              <a:pPr algn="ctr"/>
              <a:r>
                <a:rPr lang="zh-CN" altLang="en-US" sz="1600" b="1" u="none" dirty="0"/>
                <a:t>锁存器</a:t>
              </a:r>
              <a:endParaRPr lang="zh-CN" altLang="en-US" sz="1600" b="1" u="none" dirty="0"/>
            </a:p>
          </p:txBody>
        </p:sp>
        <p:cxnSp>
          <p:nvCxnSpPr>
            <p:cNvPr id="120" name="直接箭头连接符 101"/>
            <p:cNvCxnSpPr>
              <a:endCxn id="118" idx="1"/>
            </p:cNvCxnSpPr>
            <p:nvPr/>
          </p:nvCxnSpPr>
          <p:spPr bwMode="auto">
            <a:xfrm rot="16200000" flipH="1">
              <a:off x="969402" y="3895214"/>
              <a:ext cx="1366564" cy="796534"/>
            </a:xfrm>
            <a:prstGeom prst="bentConnector2">
              <a:avLst/>
            </a:prstGeom>
            <a:solidFill>
              <a:schemeClr val="accent1"/>
            </a:solidFill>
            <a:ln w="28575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121" name="Line 750"/>
            <p:cNvSpPr>
              <a:spLocks noChangeShapeType="1"/>
            </p:cNvSpPr>
            <p:nvPr/>
          </p:nvSpPr>
          <p:spPr bwMode="auto">
            <a:xfrm flipV="1">
              <a:off x="7739583" y="5085184"/>
              <a:ext cx="0" cy="288032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2266975" y="3068960"/>
            <a:ext cx="6045768" cy="2592040"/>
            <a:chOff x="2194967" y="3212976"/>
            <a:chExt cx="6045768" cy="2592040"/>
          </a:xfrm>
        </p:grpSpPr>
        <p:sp>
          <p:nvSpPr>
            <p:cNvPr id="123" name="Text Box 664"/>
            <p:cNvSpPr txBox="1">
              <a:spLocks noChangeArrowheads="1"/>
            </p:cNvSpPr>
            <p:nvPr/>
          </p:nvSpPr>
          <p:spPr bwMode="auto">
            <a:xfrm>
              <a:off x="4987047" y="3933503"/>
              <a:ext cx="808692" cy="504106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6:64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译码器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4" name="Text Box 665"/>
            <p:cNvSpPr txBox="1">
              <a:spLocks noChangeArrowheads="1"/>
            </p:cNvSpPr>
            <p:nvPr/>
          </p:nvSpPr>
          <p:spPr bwMode="auto">
            <a:xfrm>
              <a:off x="5795739" y="3933056"/>
              <a:ext cx="1223763" cy="50455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存储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矩阵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64×128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5" name="Text Box 667"/>
            <p:cNvSpPr txBox="1">
              <a:spLocks noChangeArrowheads="1"/>
            </p:cNvSpPr>
            <p:nvPr/>
          </p:nvSpPr>
          <p:spPr bwMode="auto">
            <a:xfrm>
              <a:off x="4987047" y="4727253"/>
              <a:ext cx="818498" cy="5032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7:128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列译码器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6" name="Text Box 687"/>
            <p:cNvSpPr txBox="1">
              <a:spLocks noChangeArrowheads="1"/>
            </p:cNvSpPr>
            <p:nvPr/>
          </p:nvSpPr>
          <p:spPr bwMode="auto">
            <a:xfrm>
              <a:off x="7523559" y="3861048"/>
              <a:ext cx="717175" cy="50218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输入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缓冲器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7" name="Text Box 688"/>
            <p:cNvSpPr txBox="1">
              <a:spLocks noChangeArrowheads="1"/>
            </p:cNvSpPr>
            <p:nvPr/>
          </p:nvSpPr>
          <p:spPr bwMode="auto">
            <a:xfrm>
              <a:off x="7523559" y="4577669"/>
              <a:ext cx="717176" cy="50751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输出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驱动器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8" name="Line 689"/>
            <p:cNvSpPr>
              <a:spLocks noChangeShapeType="1"/>
            </p:cNvSpPr>
            <p:nvPr/>
          </p:nvSpPr>
          <p:spPr bwMode="auto">
            <a:xfrm flipV="1">
              <a:off x="7019504" y="4941168"/>
              <a:ext cx="504056" cy="0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690"/>
            <p:cNvSpPr>
              <a:spLocks noChangeShapeType="1"/>
            </p:cNvSpPr>
            <p:nvPr/>
          </p:nvSpPr>
          <p:spPr bwMode="auto">
            <a:xfrm flipH="1" flipV="1">
              <a:off x="7235527" y="4220096"/>
              <a:ext cx="288033" cy="992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691"/>
            <p:cNvSpPr>
              <a:spLocks noChangeShapeType="1"/>
            </p:cNvSpPr>
            <p:nvPr/>
          </p:nvSpPr>
          <p:spPr bwMode="auto">
            <a:xfrm flipV="1">
              <a:off x="7379543" y="4507134"/>
              <a:ext cx="0" cy="1297882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692"/>
            <p:cNvSpPr>
              <a:spLocks noChangeShapeType="1"/>
            </p:cNvSpPr>
            <p:nvPr/>
          </p:nvSpPr>
          <p:spPr bwMode="auto">
            <a:xfrm flipH="1" flipV="1">
              <a:off x="8027615" y="4365104"/>
              <a:ext cx="0" cy="143952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693"/>
            <p:cNvSpPr>
              <a:spLocks noChangeShapeType="1"/>
            </p:cNvSpPr>
            <p:nvPr/>
          </p:nvSpPr>
          <p:spPr bwMode="auto">
            <a:xfrm flipV="1">
              <a:off x="7379543" y="5229200"/>
              <a:ext cx="648072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697"/>
            <p:cNvSpPr>
              <a:spLocks noChangeShapeType="1"/>
            </p:cNvSpPr>
            <p:nvPr/>
          </p:nvSpPr>
          <p:spPr bwMode="auto">
            <a:xfrm flipH="1">
              <a:off x="5579343" y="3788121"/>
              <a:ext cx="0" cy="143794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Line 705"/>
            <p:cNvSpPr>
              <a:spLocks noChangeShapeType="1"/>
            </p:cNvSpPr>
            <p:nvPr/>
          </p:nvSpPr>
          <p:spPr bwMode="auto">
            <a:xfrm flipH="1" flipV="1">
              <a:off x="5949561" y="4438327"/>
              <a:ext cx="0" cy="287337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706"/>
            <p:cNvSpPr>
              <a:spLocks noChangeShapeType="1"/>
            </p:cNvSpPr>
            <p:nvPr/>
          </p:nvSpPr>
          <p:spPr bwMode="auto">
            <a:xfrm flipH="1" flipV="1">
              <a:off x="6875041" y="4438327"/>
              <a:ext cx="0" cy="287337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707"/>
            <p:cNvSpPr>
              <a:spLocks noChangeShapeType="1"/>
            </p:cNvSpPr>
            <p:nvPr/>
          </p:nvSpPr>
          <p:spPr bwMode="auto">
            <a:xfrm flipH="1" flipV="1">
              <a:off x="4643239" y="4438328"/>
              <a:ext cx="0" cy="73025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708"/>
            <p:cNvSpPr>
              <a:spLocks noChangeShapeType="1"/>
            </p:cNvSpPr>
            <p:nvPr/>
          </p:nvSpPr>
          <p:spPr bwMode="auto">
            <a:xfrm flipH="1" flipV="1">
              <a:off x="3707135" y="4435238"/>
              <a:ext cx="0" cy="216024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712"/>
            <p:cNvSpPr>
              <a:spLocks noChangeShapeType="1"/>
            </p:cNvSpPr>
            <p:nvPr/>
          </p:nvSpPr>
          <p:spPr bwMode="auto">
            <a:xfrm flipH="1" flipV="1">
              <a:off x="4643238" y="4507134"/>
              <a:ext cx="1296144" cy="1986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round/>
              <a:headEnd type="oval" w="med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713"/>
            <p:cNvSpPr>
              <a:spLocks noChangeShapeType="1"/>
            </p:cNvSpPr>
            <p:nvPr/>
          </p:nvSpPr>
          <p:spPr bwMode="auto">
            <a:xfrm flipH="1">
              <a:off x="3698196" y="4653136"/>
              <a:ext cx="3177287" cy="496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round/>
              <a:headEnd type="oval" w="med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Text Box 715"/>
            <p:cNvSpPr txBox="1">
              <a:spLocks noChangeArrowheads="1"/>
            </p:cNvSpPr>
            <p:nvPr/>
          </p:nvSpPr>
          <p:spPr bwMode="auto">
            <a:xfrm>
              <a:off x="3865309" y="4403403"/>
              <a:ext cx="6477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solidFill>
                    <a:schemeClr val="accent2"/>
                  </a:solidFill>
                </a:rPr>
                <a:t>……</a:t>
              </a:r>
              <a:endParaRPr lang="en-US" altLang="zh-CN" sz="1800" b="1" u="none" dirty="0">
                <a:solidFill>
                  <a:schemeClr val="accent2"/>
                </a:solidFill>
              </a:endParaRPr>
            </a:p>
          </p:txBody>
        </p:sp>
        <p:sp>
          <p:nvSpPr>
            <p:cNvPr id="141" name="Text Box 716"/>
            <p:cNvSpPr txBox="1">
              <a:spLocks noChangeArrowheads="1"/>
            </p:cNvSpPr>
            <p:nvPr/>
          </p:nvSpPr>
          <p:spPr bwMode="auto">
            <a:xfrm>
              <a:off x="6093949" y="4399739"/>
              <a:ext cx="6477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>
                  <a:solidFill>
                    <a:schemeClr val="accent2"/>
                  </a:solidFill>
                </a:rPr>
                <a:t>……</a:t>
              </a:r>
              <a:endParaRPr lang="en-US" altLang="zh-CN" sz="1800" b="1" u="none">
                <a:solidFill>
                  <a:schemeClr val="accent2"/>
                </a:solidFill>
              </a:endParaRPr>
            </a:p>
          </p:txBody>
        </p:sp>
        <p:sp>
          <p:nvSpPr>
            <p:cNvPr id="142" name="Text Box 721"/>
            <p:cNvSpPr txBox="1">
              <a:spLocks noChangeArrowheads="1"/>
            </p:cNvSpPr>
            <p:nvPr/>
          </p:nvSpPr>
          <p:spPr bwMode="auto">
            <a:xfrm>
              <a:off x="2338909" y="3501703"/>
              <a:ext cx="648146" cy="2873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12</a:t>
              </a:r>
              <a:r>
                <a:rPr lang="en-US" altLang="zh-CN" sz="1800" b="1" u="none" dirty="0" smtClean="0">
                  <a:latin typeface="+mn-lt"/>
                </a:rPr>
                <a:t>~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7</a:t>
              </a:r>
              <a:endParaRPr lang="en-US" altLang="zh-CN" sz="18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43" name="Text Box 722"/>
            <p:cNvSpPr txBox="1">
              <a:spLocks noChangeArrowheads="1"/>
            </p:cNvSpPr>
            <p:nvPr/>
          </p:nvSpPr>
          <p:spPr bwMode="auto">
            <a:xfrm>
              <a:off x="2338661" y="3212976"/>
              <a:ext cx="360362" cy="2889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13</a:t>
              </a:r>
              <a:endParaRPr lang="en-US" altLang="zh-CN" sz="18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44" name="Text Box 723"/>
            <p:cNvSpPr txBox="1">
              <a:spLocks noChangeArrowheads="1"/>
            </p:cNvSpPr>
            <p:nvPr/>
          </p:nvSpPr>
          <p:spPr bwMode="auto">
            <a:xfrm>
              <a:off x="2915047" y="4653136"/>
              <a:ext cx="611981" cy="32159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6</a:t>
              </a:r>
              <a:r>
                <a:rPr lang="en-US" altLang="zh-CN" sz="1800" b="1" u="none" dirty="0" smtClean="0">
                  <a:latin typeface="+mn-lt"/>
                </a:rPr>
                <a:t>~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45" name="Oval 724"/>
            <p:cNvSpPr>
              <a:spLocks noChangeArrowheads="1"/>
            </p:cNvSpPr>
            <p:nvPr/>
          </p:nvSpPr>
          <p:spPr bwMode="auto">
            <a:xfrm>
              <a:off x="5543936" y="3718267"/>
              <a:ext cx="73025" cy="7143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Line 732"/>
            <p:cNvSpPr>
              <a:spLocks noChangeShapeType="1"/>
            </p:cNvSpPr>
            <p:nvPr/>
          </p:nvSpPr>
          <p:spPr bwMode="auto">
            <a:xfrm>
              <a:off x="7233939" y="4220096"/>
              <a:ext cx="1588" cy="721072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round/>
              <a:headEnd type="none" w="med" len="med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737"/>
            <p:cNvSpPr>
              <a:spLocks noChangeShapeType="1"/>
            </p:cNvSpPr>
            <p:nvPr/>
          </p:nvSpPr>
          <p:spPr bwMode="auto">
            <a:xfrm flipV="1">
              <a:off x="2194967" y="3500781"/>
              <a:ext cx="3377952" cy="1119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Rectangle 739"/>
            <p:cNvSpPr>
              <a:spLocks noChangeArrowheads="1"/>
            </p:cNvSpPr>
            <p:nvPr/>
          </p:nvSpPr>
          <p:spPr bwMode="auto">
            <a:xfrm>
              <a:off x="5464604" y="3572570"/>
              <a:ext cx="226202" cy="1444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vert" wrap="none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u="none" dirty="0" smtClean="0">
                  <a:latin typeface="+mn-ea"/>
                  <a:ea typeface="+mn-ea"/>
                </a:rPr>
                <a:t>1</a:t>
              </a:r>
              <a:endParaRPr lang="zh-CN" altLang="en-US" sz="1800" u="none" dirty="0">
                <a:latin typeface="+mn-ea"/>
                <a:ea typeface="+mn-ea"/>
              </a:endParaRPr>
            </a:p>
          </p:txBody>
        </p:sp>
        <p:sp>
          <p:nvSpPr>
            <p:cNvPr id="149" name="Line 748"/>
            <p:cNvSpPr>
              <a:spLocks noChangeShapeType="1"/>
            </p:cNvSpPr>
            <p:nvPr/>
          </p:nvSpPr>
          <p:spPr bwMode="auto">
            <a:xfrm flipV="1">
              <a:off x="7379543" y="4509056"/>
              <a:ext cx="649659" cy="64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Line 749"/>
            <p:cNvSpPr>
              <a:spLocks noChangeShapeType="1"/>
            </p:cNvSpPr>
            <p:nvPr/>
          </p:nvSpPr>
          <p:spPr bwMode="auto">
            <a:xfrm flipH="1" flipV="1">
              <a:off x="8027615" y="5085184"/>
              <a:ext cx="0" cy="144016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51" name="直接箭头连接符 103"/>
            <p:cNvCxnSpPr>
              <a:endCxn id="125" idx="1"/>
            </p:cNvCxnSpPr>
            <p:nvPr/>
          </p:nvCxnSpPr>
          <p:spPr bwMode="auto">
            <a:xfrm>
              <a:off x="2843039" y="4976763"/>
              <a:ext cx="2144008" cy="2109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2" name="直接箭头连接符 151"/>
            <p:cNvCxnSpPr/>
            <p:nvPr/>
          </p:nvCxnSpPr>
          <p:spPr bwMode="auto">
            <a:xfrm>
              <a:off x="5291311" y="3788121"/>
              <a:ext cx="0" cy="145382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3" name="Rectangle 739"/>
            <p:cNvSpPr>
              <a:spLocks noChangeArrowheads="1"/>
            </p:cNvSpPr>
            <p:nvPr/>
          </p:nvSpPr>
          <p:spPr bwMode="auto">
            <a:xfrm>
              <a:off x="6839945" y="4616465"/>
              <a:ext cx="72231" cy="72231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" name="Rectangle 739"/>
            <p:cNvSpPr>
              <a:spLocks noChangeArrowheads="1"/>
            </p:cNvSpPr>
            <p:nvPr/>
          </p:nvSpPr>
          <p:spPr bwMode="auto">
            <a:xfrm>
              <a:off x="5911237" y="4471019"/>
              <a:ext cx="72231" cy="72231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Text Box 664"/>
            <p:cNvSpPr txBox="1">
              <a:spLocks noChangeArrowheads="1"/>
            </p:cNvSpPr>
            <p:nvPr/>
          </p:nvSpPr>
          <p:spPr bwMode="auto">
            <a:xfrm>
              <a:off x="2771031" y="3933503"/>
              <a:ext cx="782704" cy="504106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6:64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译码器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6" name="Text Box 665"/>
            <p:cNvSpPr txBox="1">
              <a:spLocks noChangeArrowheads="1"/>
            </p:cNvSpPr>
            <p:nvPr/>
          </p:nvSpPr>
          <p:spPr bwMode="auto">
            <a:xfrm>
              <a:off x="3553735" y="3933056"/>
              <a:ext cx="1249751" cy="50455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存储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矩阵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64×128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57" name="直接箭头连接符 156"/>
            <p:cNvCxnSpPr/>
            <p:nvPr/>
          </p:nvCxnSpPr>
          <p:spPr bwMode="auto">
            <a:xfrm>
              <a:off x="3059063" y="3788121"/>
              <a:ext cx="0" cy="14493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CC3300"/>
              </a:solidFill>
              <a:prstDash val="solid"/>
              <a:round/>
              <a:headEnd type="oval" w="med" len="med"/>
              <a:tailEnd type="triangle"/>
            </a:ln>
            <a:effectLst/>
          </p:spPr>
        </p:cxnSp>
        <p:cxnSp>
          <p:nvCxnSpPr>
            <p:cNvPr id="158" name="直接箭头连接符 157"/>
            <p:cNvCxnSpPr/>
            <p:nvPr/>
          </p:nvCxnSpPr>
          <p:spPr bwMode="auto">
            <a:xfrm>
              <a:off x="2194967" y="3788121"/>
              <a:ext cx="3096344" cy="136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59" name="Line 697"/>
            <p:cNvSpPr>
              <a:spLocks noChangeShapeType="1"/>
            </p:cNvSpPr>
            <p:nvPr/>
          </p:nvSpPr>
          <p:spPr bwMode="auto">
            <a:xfrm flipH="1">
              <a:off x="3347095" y="3500782"/>
              <a:ext cx="0" cy="431829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Line 697"/>
            <p:cNvSpPr>
              <a:spLocks noChangeShapeType="1"/>
            </p:cNvSpPr>
            <p:nvPr/>
          </p:nvSpPr>
          <p:spPr bwMode="auto">
            <a:xfrm flipH="1">
              <a:off x="5579343" y="3501008"/>
              <a:ext cx="0" cy="72505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538783" y="3068960"/>
            <a:ext cx="8497713" cy="3096344"/>
            <a:chOff x="466775" y="3212976"/>
            <a:chExt cx="8497713" cy="3096344"/>
          </a:xfrm>
        </p:grpSpPr>
        <p:sp>
          <p:nvSpPr>
            <p:cNvPr id="162" name="Line 680"/>
            <p:cNvSpPr>
              <a:spLocks noChangeShapeType="1"/>
            </p:cNvSpPr>
            <p:nvPr/>
          </p:nvSpPr>
          <p:spPr bwMode="auto">
            <a:xfrm flipV="1">
              <a:off x="970831" y="6165304"/>
              <a:ext cx="3936955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694"/>
            <p:cNvSpPr>
              <a:spLocks noChangeShapeType="1"/>
            </p:cNvSpPr>
            <p:nvPr/>
          </p:nvSpPr>
          <p:spPr bwMode="auto">
            <a:xfrm flipV="1">
              <a:off x="8240734" y="4941168"/>
              <a:ext cx="290937" cy="0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Line 695"/>
            <p:cNvSpPr>
              <a:spLocks noChangeShapeType="1"/>
            </p:cNvSpPr>
            <p:nvPr/>
          </p:nvSpPr>
          <p:spPr bwMode="auto">
            <a:xfrm flipH="1" flipV="1">
              <a:off x="8242320" y="4149080"/>
              <a:ext cx="289351" cy="0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Text Box 698"/>
            <p:cNvSpPr txBox="1">
              <a:spLocks noChangeArrowheads="1"/>
            </p:cNvSpPr>
            <p:nvPr/>
          </p:nvSpPr>
          <p:spPr bwMode="auto">
            <a:xfrm>
              <a:off x="538783" y="5471474"/>
              <a:ext cx="431800" cy="79208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en-US" altLang="zh-CN" sz="1800" b="1" u="none" dirty="0">
                  <a:latin typeface="宋体" panose="02010600030101010101" pitchFamily="2" charset="-122"/>
                </a:rPr>
                <a:t>RAS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5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CAS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5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WE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6" name="Line 699"/>
            <p:cNvSpPr>
              <a:spLocks noChangeShapeType="1"/>
            </p:cNvSpPr>
            <p:nvPr/>
          </p:nvSpPr>
          <p:spPr bwMode="auto">
            <a:xfrm>
              <a:off x="567358" y="5514336"/>
              <a:ext cx="331787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Line 700"/>
            <p:cNvSpPr>
              <a:spLocks noChangeShapeType="1"/>
            </p:cNvSpPr>
            <p:nvPr/>
          </p:nvSpPr>
          <p:spPr bwMode="auto">
            <a:xfrm>
              <a:off x="664508" y="6041311"/>
              <a:ext cx="244475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Text Box 701"/>
            <p:cNvSpPr txBox="1">
              <a:spLocks noChangeArrowheads="1"/>
            </p:cNvSpPr>
            <p:nvPr/>
          </p:nvSpPr>
          <p:spPr bwMode="auto">
            <a:xfrm>
              <a:off x="8531671" y="4005064"/>
              <a:ext cx="329980" cy="36036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IN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9" name="Text Box 702"/>
            <p:cNvSpPr txBox="1">
              <a:spLocks noChangeArrowheads="1"/>
            </p:cNvSpPr>
            <p:nvPr/>
          </p:nvSpPr>
          <p:spPr bwMode="auto">
            <a:xfrm>
              <a:off x="8531671" y="4796830"/>
              <a:ext cx="432817" cy="36036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OUT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0" name="Line 703"/>
            <p:cNvSpPr>
              <a:spLocks noChangeShapeType="1"/>
            </p:cNvSpPr>
            <p:nvPr/>
          </p:nvSpPr>
          <p:spPr bwMode="auto">
            <a:xfrm>
              <a:off x="563225" y="5779411"/>
              <a:ext cx="331787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Text Box 731"/>
            <p:cNvSpPr txBox="1">
              <a:spLocks noChangeArrowheads="1"/>
            </p:cNvSpPr>
            <p:nvPr/>
          </p:nvSpPr>
          <p:spPr bwMode="auto">
            <a:xfrm>
              <a:off x="466775" y="3429000"/>
              <a:ext cx="607735" cy="3600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6</a:t>
              </a:r>
              <a:r>
                <a:rPr lang="en-US" altLang="zh-CN" sz="1800" b="1" u="none" dirty="0" smtClean="0">
                  <a:latin typeface="+mn-lt"/>
                </a:rPr>
                <a:t>~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dirty="0"/>
            </a:p>
          </p:txBody>
        </p:sp>
        <p:sp>
          <p:nvSpPr>
            <p:cNvPr id="172" name="Rectangle 746"/>
            <p:cNvSpPr>
              <a:spLocks noChangeArrowheads="1"/>
            </p:cNvSpPr>
            <p:nvPr/>
          </p:nvSpPr>
          <p:spPr bwMode="auto">
            <a:xfrm>
              <a:off x="1156679" y="3212976"/>
              <a:ext cx="7211256" cy="30963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73" name="直接箭头连接符 172"/>
            <p:cNvCxnSpPr/>
            <p:nvPr/>
          </p:nvCxnSpPr>
          <p:spPr bwMode="auto">
            <a:xfrm>
              <a:off x="1042839" y="3610198"/>
              <a:ext cx="360041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4" name="直接连接符 213"/>
            <p:cNvCxnSpPr/>
            <p:nvPr/>
          </p:nvCxnSpPr>
          <p:spPr bwMode="auto">
            <a:xfrm>
              <a:off x="1003012" y="5662141"/>
              <a:ext cx="73612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5" name="直接连接符 214"/>
            <p:cNvCxnSpPr/>
            <p:nvPr/>
          </p:nvCxnSpPr>
          <p:spPr bwMode="auto">
            <a:xfrm>
              <a:off x="1003012" y="5877272"/>
              <a:ext cx="2175987" cy="145480"/>
            </a:xfrm>
            <a:prstGeom prst="bentConnector3">
              <a:avLst>
                <a:gd name="adj1" fmla="val 12116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56"/>
          <p:cNvSpPr txBox="1">
            <a:spLocks noChangeArrowheads="1"/>
          </p:cNvSpPr>
          <p:nvPr/>
        </p:nvSpPr>
        <p:spPr bwMode="auto">
          <a:xfrm>
            <a:off x="179388" y="359445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DRAM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芯片的操作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时序  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芯片对引脚信号的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时序要求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zh-CN" altLang="en-US" sz="20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233" name="AutoShape 75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16511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" name="AutoShape 331"/>
          <p:cNvSpPr/>
          <p:nvPr/>
        </p:nvSpPr>
        <p:spPr bwMode="auto">
          <a:xfrm>
            <a:off x="5220072" y="3420000"/>
            <a:ext cx="1872000" cy="252000"/>
          </a:xfrm>
          <a:prstGeom prst="borderCallout2">
            <a:avLst>
              <a:gd name="adj1" fmla="val 50061"/>
              <a:gd name="adj2" fmla="val 82"/>
              <a:gd name="adj3" fmla="val 46199"/>
              <a:gd name="adj4" fmla="val -9551"/>
              <a:gd name="adj5" fmla="val -88731"/>
              <a:gd name="adj6" fmla="val -47844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headEnd type="none" w="sm" len="med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/>
            <a:r>
              <a:rPr lang="zh-CN" altLang="en-US" sz="1600" b="1" u="none" dirty="0" smtClean="0">
                <a:latin typeface="+mn-ea"/>
                <a:ea typeface="+mn-ea"/>
              </a:rPr>
              <a:t>表示信号值可任意</a:t>
            </a:r>
            <a:endParaRPr lang="zh-CN" altLang="en-US" sz="1600" b="1" u="none" dirty="0">
              <a:latin typeface="+mn-ea"/>
              <a:ea typeface="+mn-ea"/>
            </a:endParaRPr>
          </a:p>
        </p:txBody>
      </p:sp>
      <p:grpSp>
        <p:nvGrpSpPr>
          <p:cNvPr id="230" name="组合 229"/>
          <p:cNvGrpSpPr/>
          <p:nvPr/>
        </p:nvGrpSpPr>
        <p:grpSpPr>
          <a:xfrm>
            <a:off x="5076056" y="1772816"/>
            <a:ext cx="3816549" cy="1552089"/>
            <a:chOff x="5076056" y="2634284"/>
            <a:chExt cx="3816549" cy="1552089"/>
          </a:xfrm>
        </p:grpSpPr>
        <p:sp>
          <p:nvSpPr>
            <p:cNvPr id="214" name="Text Box 372"/>
            <p:cNvSpPr txBox="1">
              <a:spLocks noChangeArrowheads="1"/>
            </p:cNvSpPr>
            <p:nvPr/>
          </p:nvSpPr>
          <p:spPr bwMode="auto">
            <a:xfrm>
              <a:off x="5076056" y="2634284"/>
              <a:ext cx="3816549" cy="155208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10000"/>
                </a:lnSpc>
              </a:pPr>
              <a:r>
                <a:rPr lang="en-US" altLang="zh-CN" sz="18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 smtClean="0">
                  <a:latin typeface="宋体" panose="02010600030101010101" pitchFamily="2" charset="-122"/>
                </a:rPr>
                <a:t>AH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—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地址锁存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延迟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18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20000" dirty="0" err="1" smtClean="0">
                  <a:latin typeface="宋体" panose="02010600030101010101" pitchFamily="2" charset="-122"/>
                </a:rPr>
                <a:t>RCL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-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-RAS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与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CAS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信号延迟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18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 smtClean="0">
                  <a:latin typeface="宋体" panose="02010600030101010101" pitchFamily="2" charset="-122"/>
                </a:rPr>
                <a:t>CAC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—CAS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有效→数据输出稳定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1800" b="1" u="none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>
                  <a:solidFill>
                    <a:srgbClr val="0070C0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 —</a:t>
              </a:r>
              <a:r>
                <a:rPr lang="zh-CN" altLang="en-US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读时间</a:t>
              </a:r>
              <a:r>
                <a:rPr lang="en-US" altLang="zh-CN" sz="18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≥</a:t>
              </a:r>
              <a:r>
                <a:rPr lang="en-US" altLang="zh-CN" sz="1800" b="1" u="none" dirty="0" err="1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20000" dirty="0" err="1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RCL</a:t>
              </a:r>
              <a:r>
                <a:rPr lang="en-US" altLang="zh-CN" sz="1800" b="1" u="none" dirty="0" err="1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+t</a:t>
              </a:r>
              <a:r>
                <a:rPr lang="en-US" altLang="zh-CN" sz="1800" b="1" u="none" baseline="-18000" dirty="0" err="1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CAC</a:t>
              </a:r>
              <a:r>
                <a:rPr lang="en-US" altLang="zh-CN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)</a:t>
              </a:r>
              <a:endPara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1800" b="1" u="none" dirty="0" err="1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RC</a:t>
              </a:r>
              <a:r>
                <a:rPr lang="en-US" altLang="zh-CN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—</a:t>
              </a:r>
              <a:r>
                <a:rPr lang="zh-CN" altLang="en-US" sz="18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读周期</a:t>
              </a:r>
              <a:r>
                <a:rPr lang="en-US" altLang="zh-CN" sz="18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≥</a:t>
              </a:r>
              <a:r>
                <a:rPr lang="en-US" altLang="zh-CN" sz="1800" b="1" u="none" dirty="0" err="1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dirty="0" err="1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+max</a:t>
              </a:r>
              <a:r>
                <a:rPr lang="en-US" altLang="zh-CN" sz="18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{t</a:t>
              </a:r>
              <a:r>
                <a:rPr lang="zh-CN" altLang="en-US" sz="1800" b="1" u="none" baseline="-18000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再生</a:t>
              </a:r>
              <a:r>
                <a:rPr lang="en-US" altLang="zh-CN" sz="18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,t</a:t>
              </a:r>
              <a:r>
                <a:rPr lang="zh-CN" altLang="en-US" sz="1800" b="1" u="none" baseline="-18000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传输</a:t>
              </a:r>
              <a:r>
                <a:rPr lang="en-US" altLang="zh-CN" sz="18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})</a:t>
              </a:r>
              <a:endPara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</a:pPr>
              <a:endParaRPr lang="en-US" altLang="zh-CN" sz="18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17" name="Line 385"/>
            <p:cNvSpPr>
              <a:spLocks noChangeShapeType="1"/>
            </p:cNvSpPr>
            <p:nvPr/>
          </p:nvSpPr>
          <p:spPr bwMode="auto">
            <a:xfrm>
              <a:off x="5688000" y="3281946"/>
              <a:ext cx="3204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Line 386"/>
            <p:cNvSpPr>
              <a:spLocks noChangeShapeType="1"/>
            </p:cNvSpPr>
            <p:nvPr/>
          </p:nvSpPr>
          <p:spPr bwMode="auto">
            <a:xfrm>
              <a:off x="6264000" y="2975686"/>
              <a:ext cx="3204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Line 385"/>
            <p:cNvSpPr>
              <a:spLocks noChangeShapeType="1"/>
            </p:cNvSpPr>
            <p:nvPr/>
          </p:nvSpPr>
          <p:spPr bwMode="auto">
            <a:xfrm>
              <a:off x="5688000" y="2975686"/>
              <a:ext cx="3204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" name="Text Box 371"/>
          <p:cNvSpPr txBox="1">
            <a:spLocks noChangeArrowheads="1"/>
          </p:cNvSpPr>
          <p:nvPr/>
        </p:nvSpPr>
        <p:spPr bwMode="auto">
          <a:xfrm>
            <a:off x="179388" y="799544"/>
            <a:ext cx="6048796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操作的标志：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*读周期的时序：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厂家给出的参数为最小值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28" name="Text Box 371"/>
          <p:cNvSpPr txBox="1">
            <a:spLocks noChangeArrowheads="1"/>
          </p:cNvSpPr>
          <p:nvPr/>
        </p:nvSpPr>
        <p:spPr bwMode="auto">
          <a:xfrm>
            <a:off x="179513" y="3681317"/>
            <a:ext cx="3211860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操作信号时序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000" b="1" u="none" baseline="-18000" dirty="0">
              <a:latin typeface="宋体" panose="02010600030101010101" pitchFamily="2" charset="-122"/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2411760" y="836712"/>
            <a:ext cx="4680644" cy="553998"/>
            <a:chOff x="179388" y="799544"/>
            <a:chExt cx="4680644" cy="553998"/>
          </a:xfrm>
        </p:grpSpPr>
        <p:sp>
          <p:nvSpPr>
            <p:cNvPr id="326" name="Text Box 371"/>
            <p:cNvSpPr txBox="1">
              <a:spLocks noChangeArrowheads="1"/>
            </p:cNvSpPr>
            <p:nvPr/>
          </p:nvSpPr>
          <p:spPr bwMode="auto">
            <a:xfrm>
              <a:off x="179388" y="799544"/>
              <a:ext cx="4680644" cy="55399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b="1" u="none" dirty="0" smtClean="0">
                  <a:latin typeface="宋体" panose="02010600030101010101" pitchFamily="2" charset="-122"/>
                </a:rPr>
                <a:t>RAS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从无效→有效、从有效→无效</a:t>
              </a:r>
              <a:endParaRPr lang="en-US" altLang="zh-CN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27" name="Line 558"/>
            <p:cNvSpPr>
              <a:spLocks noChangeShapeType="1"/>
            </p:cNvSpPr>
            <p:nvPr/>
          </p:nvSpPr>
          <p:spPr bwMode="auto">
            <a:xfrm>
              <a:off x="279984" y="934832"/>
              <a:ext cx="450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8" name="Text Box 157"/>
          <p:cNvSpPr txBox="1">
            <a:spLocks noChangeArrowheads="1"/>
          </p:cNvSpPr>
          <p:nvPr/>
        </p:nvSpPr>
        <p:spPr bwMode="auto">
          <a:xfrm>
            <a:off x="179512" y="4825894"/>
            <a:ext cx="8820000" cy="860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0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某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DRAM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芯片的</a:t>
            </a:r>
            <a:r>
              <a:rPr lang="en-US" altLang="zh-CN" sz="2000" b="1" u="none" dirty="0" err="1" smtClean="0">
                <a:latin typeface="宋体" panose="02010600030101010101" pitchFamily="2" charset="-122"/>
              </a:rPr>
              <a:t>t</a:t>
            </a:r>
            <a:r>
              <a:rPr lang="en-US" altLang="zh-CN" sz="2000" b="1" u="none" baseline="-18000" dirty="0" err="1" smtClean="0">
                <a:latin typeface="宋体" panose="02010600030101010101" pitchFamily="2" charset="-122"/>
              </a:rPr>
              <a:t>AH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0.4</a:t>
            </a:r>
            <a:r>
              <a:rPr lang="en-US" altLang="zh-CN" sz="2000" u="none" dirty="0" smtClean="0">
                <a:latin typeface="+mn-lt"/>
              </a:rPr>
              <a:t>μ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s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 err="1" smtClean="0">
                <a:latin typeface="宋体" panose="02010600030101010101" pitchFamily="2" charset="-122"/>
              </a:rPr>
              <a:t>t</a:t>
            </a:r>
            <a:r>
              <a:rPr lang="en-US" altLang="zh-CN" sz="2000" b="1" u="none" baseline="-18000" dirty="0" err="1" smtClean="0">
                <a:latin typeface="宋体" panose="02010600030101010101" pitchFamily="2" charset="-122"/>
              </a:rPr>
              <a:t>CAC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3.2</a:t>
            </a:r>
            <a:r>
              <a:rPr lang="en-US" altLang="zh-CN" sz="2000" u="none" dirty="0" smtClean="0"/>
              <a:t>μ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s</a:t>
            </a:r>
            <a:r>
              <a:rPr lang="zh-CN" altLang="en-US" sz="2000" b="1" u="none" dirty="0">
                <a:latin typeface="宋体" panose="02010600030101010101" pitchFamily="2" charset="-122"/>
              </a:rPr>
              <a:t>，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若</a:t>
            </a:r>
            <a:r>
              <a:rPr lang="zh-CN" altLang="en-US" sz="2000" b="1" u="none" dirty="0">
                <a:latin typeface="宋体" panose="02010600030101010101" pitchFamily="2" charset="-122"/>
              </a:rPr>
              <a:t>访存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时操作信号都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与</a:t>
            </a:r>
            <a:r>
              <a:rPr lang="en-US" altLang="zh-CN" sz="2000" b="1" dirty="0">
                <a:latin typeface="宋体" panose="02010600030101010101" pitchFamily="2" charset="-122"/>
              </a:rPr>
              <a:t>1MHz</a:t>
            </a:r>
            <a:r>
              <a:rPr lang="zh-CN" altLang="en-US" sz="2000" b="1" dirty="0">
                <a:latin typeface="宋体" panose="02010600030101010101" pitchFamily="2" charset="-122"/>
              </a:rPr>
              <a:t>的时钟脉冲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同步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在时钟上升沿时发出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，则访问时间</a:t>
            </a:r>
            <a:r>
              <a:rPr lang="en-US" altLang="zh-CN" sz="2000" b="1" u="none" dirty="0" err="1" smtClean="0">
                <a:latin typeface="宋体" panose="02010600030101010101" pitchFamily="2" charset="-122"/>
              </a:rPr>
              <a:t>t</a:t>
            </a:r>
            <a:r>
              <a:rPr lang="en-US" altLang="zh-CN" sz="2000" b="1" u="none" baseline="-18000" dirty="0" err="1" smtClean="0">
                <a:latin typeface="宋体" panose="02010600030101010101" pitchFamily="2" charset="-122"/>
              </a:rPr>
              <a:t>A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至少</a:t>
            </a:r>
            <a:r>
              <a:rPr lang="zh-CN" altLang="en-US" sz="2000" b="1" u="none" dirty="0">
                <a:latin typeface="宋体" panose="02010600030101010101" pitchFamily="2" charset="-122"/>
              </a:rPr>
              <a:t>为多少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？</a:t>
            </a:r>
            <a:endParaRPr lang="en-US" altLang="zh-CN" sz="20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421" name="Text Box 372"/>
          <p:cNvSpPr txBox="1">
            <a:spLocks noChangeArrowheads="1"/>
          </p:cNvSpPr>
          <p:nvPr/>
        </p:nvSpPr>
        <p:spPr bwMode="auto">
          <a:xfrm>
            <a:off x="788532" y="5688000"/>
            <a:ext cx="8136000" cy="64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r>
              <a:rPr lang="zh-CN" altLang="en-US" sz="2000" b="1" u="none" dirty="0" smtClean="0">
                <a:solidFill>
                  <a:srgbClr val="990099"/>
                </a:solidFill>
                <a:latin typeface="+mn-ea"/>
                <a:ea typeface="+mn-ea"/>
              </a:rPr>
              <a:t>答：</a:t>
            </a:r>
            <a:r>
              <a:rPr lang="en-US" altLang="zh-CN" sz="2000" b="1" u="none" dirty="0" err="1" smtClean="0">
                <a:latin typeface="+mn-ea"/>
                <a:ea typeface="+mn-ea"/>
              </a:rPr>
              <a:t>t</a:t>
            </a:r>
            <a:r>
              <a:rPr lang="en-US" altLang="zh-CN" sz="2000" b="1" u="none" baseline="-18000" dirty="0" err="1" smtClean="0">
                <a:latin typeface="+mn-ea"/>
                <a:ea typeface="+mn-ea"/>
              </a:rPr>
              <a:t>C</a:t>
            </a:r>
            <a:r>
              <a:rPr lang="zh-CN" altLang="en-US" sz="2000" b="1" u="none" dirty="0" smtClean="0">
                <a:latin typeface="+mn-ea"/>
                <a:ea typeface="+mn-ea"/>
              </a:rPr>
              <a:t>＝</a:t>
            </a:r>
            <a:r>
              <a:rPr lang="en-US" altLang="zh-CN" sz="2000" b="1" u="none" dirty="0" smtClean="0">
                <a:latin typeface="+mn-ea"/>
                <a:ea typeface="+mn-ea"/>
              </a:rPr>
              <a:t>1</a:t>
            </a:r>
            <a:r>
              <a:rPr lang="en-US" altLang="zh-CN" sz="2000" u="none" dirty="0" smtClean="0">
                <a:latin typeface="+mn-lt"/>
                <a:ea typeface="+mn-ea"/>
              </a:rPr>
              <a:t>μ</a:t>
            </a:r>
            <a:r>
              <a:rPr lang="en-US" altLang="zh-CN" sz="2000" b="1" u="none" dirty="0" smtClean="0">
                <a:latin typeface="+mn-ea"/>
                <a:ea typeface="+mn-ea"/>
              </a:rPr>
              <a:t>s</a:t>
            </a:r>
            <a:r>
              <a:rPr lang="zh-CN" altLang="en-US" sz="2000" b="1" u="none" dirty="0" smtClean="0">
                <a:latin typeface="+mn-ea"/>
                <a:ea typeface="+mn-ea"/>
              </a:rPr>
              <a:t>，</a:t>
            </a:r>
            <a:r>
              <a:rPr lang="en-US" altLang="zh-CN" sz="2000" b="1" u="none" dirty="0" err="1" smtClean="0">
                <a:latin typeface="+mn-ea"/>
                <a:ea typeface="+mn-ea"/>
              </a:rPr>
              <a:t>t</a:t>
            </a:r>
            <a:r>
              <a:rPr lang="en-US" altLang="zh-CN" sz="2000" b="1" u="none" baseline="-18000" dirty="0" err="1" smtClean="0">
                <a:latin typeface="+mn-ea"/>
                <a:ea typeface="+mn-ea"/>
              </a:rPr>
              <a:t>A</a:t>
            </a:r>
            <a:r>
              <a:rPr lang="zh-CN" altLang="en-US" sz="2000" b="1" u="none" dirty="0" smtClean="0">
                <a:latin typeface="+mn-ea"/>
                <a:ea typeface="+mn-ea"/>
              </a:rPr>
              <a:t>≥</a:t>
            </a:r>
            <a:r>
              <a:rPr lang="en-US" altLang="zh-CN" sz="2000" b="1" u="none" dirty="0" smtClean="0">
                <a:latin typeface="+mn-ea"/>
                <a:ea typeface="+mn-ea"/>
              </a:rPr>
              <a:t>{1</a:t>
            </a:r>
            <a:r>
              <a:rPr lang="zh-CN" altLang="en-US" sz="2000" b="1" u="none" dirty="0" smtClean="0">
                <a:latin typeface="+mn-ea"/>
                <a:ea typeface="+mn-ea"/>
              </a:rPr>
              <a:t>＋</a:t>
            </a:r>
            <a:r>
              <a:rPr lang="zh-CN" altLang="en-US" sz="2000" u="none" spc="-300" dirty="0" smtClean="0">
                <a:latin typeface="+mn-ea"/>
                <a:ea typeface="+mn-ea"/>
                <a:sym typeface="Symbol" panose="05050102010706020507"/>
              </a:rPr>
              <a:t></a:t>
            </a:r>
            <a:r>
              <a:rPr lang="en-US" altLang="zh-CN" sz="2000" b="1" u="none" dirty="0" smtClean="0">
                <a:latin typeface="+mn-ea"/>
                <a:ea typeface="+mn-ea"/>
              </a:rPr>
              <a:t>0.4/</a:t>
            </a:r>
            <a:r>
              <a:rPr lang="en-US" altLang="zh-CN" sz="2000" b="1" u="none" dirty="0" err="1" smtClean="0">
                <a:latin typeface="+mn-ea"/>
                <a:ea typeface="+mn-ea"/>
              </a:rPr>
              <a:t>t</a:t>
            </a:r>
            <a:r>
              <a:rPr lang="en-US" altLang="zh-CN" sz="2000" b="1" u="none" baseline="-18000" dirty="0" err="1" smtClean="0">
                <a:latin typeface="+mn-ea"/>
                <a:ea typeface="+mn-ea"/>
              </a:rPr>
              <a:t>C</a:t>
            </a:r>
            <a:r>
              <a:rPr lang="en-US" altLang="zh-CN" sz="2000" u="none" dirty="0" smtClean="0">
                <a:latin typeface="+mn-ea"/>
                <a:ea typeface="+mn-ea"/>
                <a:sym typeface="Symbol" panose="05050102010706020507"/>
              </a:rPr>
              <a:t></a:t>
            </a:r>
            <a:r>
              <a:rPr lang="zh-CN" altLang="en-US" sz="2000" u="none" dirty="0" smtClean="0">
                <a:latin typeface="+mn-ea"/>
                <a:ea typeface="+mn-ea"/>
                <a:sym typeface="Symbol" panose="05050102010706020507"/>
              </a:rPr>
              <a:t>＋</a:t>
            </a:r>
            <a:r>
              <a:rPr lang="en-US" altLang="zh-CN" sz="2000" b="1" u="none" dirty="0">
                <a:latin typeface="+mn-ea"/>
                <a:ea typeface="+mn-ea"/>
                <a:sym typeface="Symbol" panose="05050102010706020507"/>
              </a:rPr>
              <a:t>1</a:t>
            </a:r>
            <a:r>
              <a:rPr lang="zh-CN" altLang="en-US" sz="2000" b="1" u="none" dirty="0" smtClean="0">
                <a:latin typeface="+mn-ea"/>
                <a:ea typeface="+mn-ea"/>
              </a:rPr>
              <a:t>＋</a:t>
            </a:r>
            <a:r>
              <a:rPr lang="zh-CN" altLang="en-US" sz="2000" u="none" spc="-300" dirty="0" smtClean="0">
                <a:latin typeface="+mn-ea"/>
                <a:ea typeface="+mn-ea"/>
                <a:sym typeface="Symbol" panose="05050102010706020507"/>
              </a:rPr>
              <a:t></a:t>
            </a:r>
            <a:r>
              <a:rPr lang="en-US" altLang="zh-CN" sz="2000" b="1" u="none" dirty="0" smtClean="0">
                <a:latin typeface="+mn-ea"/>
                <a:ea typeface="+mn-ea"/>
                <a:sym typeface="Symbol" panose="05050102010706020507"/>
              </a:rPr>
              <a:t>3.2</a:t>
            </a:r>
            <a:r>
              <a:rPr lang="en-US" altLang="zh-CN" sz="2000" b="1" u="none" dirty="0">
                <a:latin typeface="+mn-ea"/>
                <a:ea typeface="+mn-ea"/>
              </a:rPr>
              <a:t>/</a:t>
            </a:r>
            <a:r>
              <a:rPr lang="en-US" altLang="zh-CN" sz="2000" b="1" u="none" dirty="0" err="1">
                <a:latin typeface="+mn-ea"/>
                <a:ea typeface="+mn-ea"/>
              </a:rPr>
              <a:t>t</a:t>
            </a:r>
            <a:r>
              <a:rPr lang="en-US" altLang="zh-CN" sz="2000" b="1" u="none" baseline="-18000" dirty="0" err="1">
                <a:latin typeface="+mn-ea"/>
                <a:ea typeface="+mn-ea"/>
              </a:rPr>
              <a:t>C</a:t>
            </a:r>
            <a:r>
              <a:rPr lang="en-US" altLang="zh-CN" sz="2000" u="none" dirty="0" smtClean="0">
                <a:latin typeface="+mn-ea"/>
                <a:ea typeface="+mn-ea"/>
                <a:sym typeface="Symbol" panose="05050102010706020507"/>
              </a:rPr>
              <a:t></a:t>
            </a:r>
            <a:r>
              <a:rPr lang="en-US" altLang="zh-CN" sz="2000" b="1" u="none" dirty="0" smtClean="0">
                <a:latin typeface="+mn-ea"/>
                <a:ea typeface="+mn-ea"/>
                <a:sym typeface="Symbol" panose="05050102010706020507"/>
              </a:rPr>
              <a:t>}×</a:t>
            </a:r>
            <a:r>
              <a:rPr lang="en-US" altLang="zh-CN" sz="2000" b="1" u="none" dirty="0" err="1" smtClean="0">
                <a:latin typeface="+mn-ea"/>
                <a:ea typeface="+mn-ea"/>
              </a:rPr>
              <a:t>t</a:t>
            </a:r>
            <a:r>
              <a:rPr lang="en-US" altLang="zh-CN" sz="2000" b="1" u="none" baseline="-18000" dirty="0" err="1" smtClean="0">
                <a:latin typeface="+mn-ea"/>
                <a:ea typeface="+mn-ea"/>
              </a:rPr>
              <a:t>C</a:t>
            </a:r>
            <a:r>
              <a:rPr lang="zh-CN" altLang="en-US" sz="2000" b="1" u="none" dirty="0" smtClean="0">
                <a:latin typeface="+mn-ea"/>
                <a:ea typeface="+mn-ea"/>
                <a:sym typeface="Symbol" panose="05050102010706020507"/>
              </a:rPr>
              <a:t>＝</a:t>
            </a:r>
            <a:r>
              <a:rPr lang="en-US" altLang="zh-CN" sz="2000" b="1" u="none" dirty="0" smtClean="0">
                <a:latin typeface="+mn-ea"/>
                <a:ea typeface="+mn-ea"/>
              </a:rPr>
              <a:t>7</a:t>
            </a:r>
            <a:r>
              <a:rPr lang="en-US" altLang="zh-CN" sz="2000" u="none" dirty="0" smtClean="0">
                <a:latin typeface="+mn-lt"/>
                <a:ea typeface="+mn-ea"/>
              </a:rPr>
              <a:t>μ</a:t>
            </a:r>
            <a:r>
              <a:rPr lang="en-US" altLang="zh-CN" sz="2000" b="1" u="none" dirty="0" smtClean="0">
                <a:latin typeface="+mn-ea"/>
                <a:ea typeface="+mn-ea"/>
              </a:rPr>
              <a:t>s</a:t>
            </a:r>
            <a:r>
              <a:rPr lang="en-US" altLang="zh-CN" sz="1800" b="1" u="none" dirty="0" smtClean="0">
                <a:latin typeface="+mn-ea"/>
                <a:ea typeface="+mn-ea"/>
              </a:rPr>
              <a:t>(</a:t>
            </a:r>
            <a:r>
              <a:rPr lang="zh-CN" altLang="en-US" sz="1800" b="1" u="none" dirty="0" smtClean="0">
                <a:latin typeface="+mn-ea"/>
                <a:ea typeface="+mn-ea"/>
              </a:rPr>
              <a:t>＞</a:t>
            </a:r>
            <a:r>
              <a:rPr lang="en-US" altLang="zh-CN" sz="1800" b="1" u="none" dirty="0" smtClean="0">
                <a:latin typeface="+mn-ea"/>
                <a:ea typeface="+mn-ea"/>
              </a:rPr>
              <a:t>3.6</a:t>
            </a:r>
            <a:r>
              <a:rPr lang="en-US" altLang="zh-CN" sz="1800" u="none" dirty="0" smtClean="0">
                <a:latin typeface="+mn-lt"/>
                <a:ea typeface="+mn-ea"/>
              </a:rPr>
              <a:t>μ</a:t>
            </a:r>
            <a:r>
              <a:rPr lang="en-US" altLang="zh-CN" sz="1800" b="1" u="none" dirty="0" smtClean="0">
                <a:latin typeface="+mn-ea"/>
                <a:ea typeface="+mn-ea"/>
              </a:rPr>
              <a:t>s)</a:t>
            </a:r>
            <a:endParaRPr lang="en-US" altLang="zh-CN" sz="2000" b="1" u="none" dirty="0" smtClean="0">
              <a:latin typeface="+mn-ea"/>
              <a:ea typeface="+mn-ea"/>
            </a:endParaRPr>
          </a:p>
          <a:p>
            <a:pPr>
              <a:spcBef>
                <a:spcPts val="200"/>
              </a:spcBef>
            </a:pPr>
            <a:r>
              <a:rPr lang="en-US" altLang="zh-CN" sz="1600" b="1" u="none" dirty="0" smtClean="0">
                <a:latin typeface="+mn-ea"/>
                <a:ea typeface="+mn-ea"/>
              </a:rPr>
              <a:t>                </a:t>
            </a:r>
            <a:r>
              <a:rPr lang="en-US" altLang="zh-CN" sz="1600" b="1" u="none" dirty="0" smtClean="0">
                <a:latin typeface="+mn-ea"/>
                <a:ea typeface="+mn-ea"/>
                <a:sym typeface="+mn-ea"/>
              </a:rPr>
              <a:t>(</a:t>
            </a:r>
            <a:r>
              <a:rPr lang="zh-CN" altLang="en-US" sz="1600" b="1" u="none" dirty="0" smtClean="0">
                <a:latin typeface="+mn-ea"/>
                <a:ea typeface="+mn-ea"/>
                <a:sym typeface="+mn-ea"/>
              </a:rPr>
              <a:t>发行地址</a:t>
            </a:r>
            <a:r>
              <a:rPr lang="en-US" altLang="zh-CN" sz="1600" b="1" u="none" dirty="0" smtClean="0">
                <a:latin typeface="+mn-ea"/>
                <a:ea typeface="+mn-ea"/>
                <a:sym typeface="+mn-ea"/>
              </a:rPr>
              <a:t>)</a:t>
            </a:r>
            <a:r>
              <a:rPr lang="en-US" altLang="zh-CN" sz="1600" b="1" u="none" dirty="0" smtClean="0">
                <a:latin typeface="+mn-ea"/>
                <a:ea typeface="+mn-ea"/>
              </a:rPr>
              <a:t>(</a:t>
            </a:r>
            <a:r>
              <a:rPr lang="zh-CN" altLang="en-US" sz="1600" b="1" u="none" dirty="0" smtClean="0">
                <a:latin typeface="+mn-ea"/>
                <a:ea typeface="+mn-ea"/>
              </a:rPr>
              <a:t>发</a:t>
            </a:r>
            <a:r>
              <a:rPr lang="en-US" altLang="zh-CN" sz="1600" b="1" u="none" dirty="0" smtClean="0">
                <a:latin typeface="+mn-ea"/>
                <a:ea typeface="+mn-ea"/>
              </a:rPr>
              <a:t>RAS)(</a:t>
            </a:r>
            <a:r>
              <a:rPr lang="zh-CN" altLang="en-US" sz="1600" b="1" u="none" dirty="0" smtClean="0">
                <a:latin typeface="+mn-ea"/>
                <a:ea typeface="+mn-ea"/>
              </a:rPr>
              <a:t>发列地址</a:t>
            </a:r>
            <a:r>
              <a:rPr lang="en-US" altLang="zh-CN" sz="1600" b="1" u="none" dirty="0" smtClean="0">
                <a:latin typeface="+mn-ea"/>
                <a:ea typeface="+mn-ea"/>
              </a:rPr>
              <a:t>)(</a:t>
            </a:r>
            <a:r>
              <a:rPr lang="zh-CN" altLang="en-US" sz="1600" b="1" u="none" dirty="0" smtClean="0">
                <a:latin typeface="+mn-ea"/>
                <a:ea typeface="+mn-ea"/>
              </a:rPr>
              <a:t>发</a:t>
            </a:r>
            <a:r>
              <a:rPr lang="en-US" altLang="zh-CN" sz="1600" b="1" u="none" dirty="0" smtClean="0">
                <a:latin typeface="+mn-ea"/>
                <a:ea typeface="+mn-ea"/>
              </a:rPr>
              <a:t>CAS&amp;</a:t>
            </a:r>
            <a:r>
              <a:rPr lang="zh-CN" altLang="en-US" sz="1600" b="1" u="none" dirty="0" smtClean="0">
                <a:latin typeface="+mn-ea"/>
                <a:ea typeface="+mn-ea"/>
              </a:rPr>
              <a:t>等待完成</a:t>
            </a:r>
            <a:r>
              <a:rPr lang="en-US" altLang="zh-CN" sz="1600" b="1" u="none" dirty="0" smtClean="0">
                <a:latin typeface="+mn-ea"/>
                <a:ea typeface="+mn-ea"/>
              </a:rPr>
              <a:t>)</a:t>
            </a:r>
            <a:endParaRPr lang="en-US" altLang="zh-CN" sz="1600" b="1" u="none" dirty="0" smtClean="0">
              <a:latin typeface="+mn-ea"/>
              <a:ea typeface="+mn-ea"/>
            </a:endParaRPr>
          </a:p>
        </p:txBody>
      </p:sp>
      <p:grpSp>
        <p:nvGrpSpPr>
          <p:cNvPr id="422" name="组合 421"/>
          <p:cNvGrpSpPr/>
          <p:nvPr/>
        </p:nvGrpSpPr>
        <p:grpSpPr>
          <a:xfrm>
            <a:off x="3024336" y="3727311"/>
            <a:ext cx="5436096" cy="1247140"/>
            <a:chOff x="3129064" y="5157192"/>
            <a:chExt cx="5645649" cy="1247140"/>
          </a:xfrm>
        </p:grpSpPr>
        <p:sp>
          <p:nvSpPr>
            <p:cNvPr id="423" name="Text Box 371"/>
            <p:cNvSpPr txBox="1">
              <a:spLocks noChangeArrowheads="1"/>
            </p:cNvSpPr>
            <p:nvPr/>
          </p:nvSpPr>
          <p:spPr bwMode="auto">
            <a:xfrm>
              <a:off x="3129064" y="5157192"/>
              <a:ext cx="5645649" cy="12471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zh-CN" altLang="en-US" sz="2200" b="1" u="none" dirty="0" smtClean="0">
                  <a:latin typeface="宋体" panose="02010600030101010101" pitchFamily="2" charset="-122"/>
                </a:rPr>
                <a:t>①</a:t>
              </a:r>
              <a:r>
                <a:rPr lang="zh-CN" altLang="en-US" sz="2200" b="1" u="none" dirty="0" smtClean="0">
                  <a:latin typeface="宋体" panose="02010600030101010101" pitchFamily="2" charset="-122"/>
                  <a:sym typeface="+mn-ea"/>
                </a:rPr>
                <a:t>行地址</a:t>
              </a:r>
              <a:r>
                <a:rPr lang="zh-CN" altLang="en-US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先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发送，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RAS</a:t>
              </a:r>
              <a:r>
                <a:rPr lang="zh-CN" altLang="en-US" sz="2200" b="1" u="none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在</a:t>
              </a:r>
              <a:r>
                <a:rPr lang="zh-CN" altLang="en-US" sz="2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行地址稳定后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有效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 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2200" b="1" u="none" dirty="0" smtClean="0">
                  <a:latin typeface="宋体" panose="02010600030101010101" pitchFamily="2" charset="-122"/>
                </a:rPr>
                <a:t>②</a:t>
              </a:r>
              <a:r>
                <a:rPr lang="zh-CN" altLang="en-US" sz="2200" b="1" u="none" dirty="0" smtClean="0">
                  <a:latin typeface="宋体" panose="02010600030101010101" pitchFamily="2" charset="-122"/>
                  <a:sym typeface="+mn-ea"/>
                </a:rPr>
                <a:t>列地址</a:t>
              </a:r>
              <a:r>
                <a:rPr lang="zh-CN" altLang="en-US" sz="2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后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发送，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CAS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在</a:t>
              </a:r>
              <a:r>
                <a:rPr lang="zh-CN" altLang="en-US" sz="2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列地址稳定后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有效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2200" b="1" u="none" dirty="0">
                  <a:latin typeface="宋体" panose="02010600030101010101" pitchFamily="2" charset="-122"/>
                </a:rPr>
                <a:t>③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WE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在</a:t>
              </a:r>
              <a:r>
                <a:rPr lang="en-US" altLang="zh-CN" sz="2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CAS</a:t>
              </a:r>
              <a:r>
                <a:rPr lang="zh-CN" altLang="en-US" sz="2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有效</a:t>
              </a:r>
              <a:r>
                <a:rPr lang="zh-CN" altLang="en-US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期间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无效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(R)</a:t>
              </a:r>
              <a:endParaRPr lang="en-US" altLang="zh-CN" sz="22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24" name="Line 558"/>
            <p:cNvSpPr>
              <a:spLocks noChangeShapeType="1"/>
            </p:cNvSpPr>
            <p:nvPr/>
          </p:nvSpPr>
          <p:spPr bwMode="auto">
            <a:xfrm>
              <a:off x="5558918" y="5263881"/>
              <a:ext cx="4176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lnSpc>
                  <a:spcPct val="125000"/>
                </a:lnSpc>
              </a:pPr>
              <a:endParaRPr lang="zh-CN" altLang="en-US"/>
            </a:p>
          </p:txBody>
        </p:sp>
        <p:sp>
          <p:nvSpPr>
            <p:cNvPr id="425" name="Line 558"/>
            <p:cNvSpPr>
              <a:spLocks noChangeShapeType="1"/>
            </p:cNvSpPr>
            <p:nvPr/>
          </p:nvSpPr>
          <p:spPr bwMode="auto">
            <a:xfrm>
              <a:off x="3502983" y="6037881"/>
              <a:ext cx="30853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lnSpc>
                  <a:spcPct val="125000"/>
                </a:lnSpc>
              </a:pPr>
              <a:endParaRPr lang="zh-CN" altLang="en-US"/>
            </a:p>
          </p:txBody>
        </p:sp>
        <p:sp>
          <p:nvSpPr>
            <p:cNvPr id="426" name="Line 558"/>
            <p:cNvSpPr>
              <a:spLocks noChangeShapeType="1"/>
            </p:cNvSpPr>
            <p:nvPr/>
          </p:nvSpPr>
          <p:spPr bwMode="auto">
            <a:xfrm>
              <a:off x="4086829" y="6037881"/>
              <a:ext cx="417600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pPr>
                <a:lnSpc>
                  <a:spcPct val="125000"/>
                </a:lnSpc>
              </a:pPr>
              <a:endParaRPr lang="zh-CN" altLang="en-US"/>
            </a:p>
          </p:txBody>
        </p:sp>
        <p:sp>
          <p:nvSpPr>
            <p:cNvPr id="427" name="Line 558"/>
            <p:cNvSpPr>
              <a:spLocks noChangeShapeType="1"/>
            </p:cNvSpPr>
            <p:nvPr/>
          </p:nvSpPr>
          <p:spPr bwMode="auto">
            <a:xfrm>
              <a:off x="5558918" y="5641881"/>
              <a:ext cx="4176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lnSpc>
                  <a:spcPct val="125000"/>
                </a:lnSpc>
              </a:pPr>
              <a:endParaRPr lang="zh-CN" altLang="en-US"/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827584" y="1772840"/>
            <a:ext cx="3889212" cy="1800176"/>
            <a:chOff x="827584" y="1700832"/>
            <a:chExt cx="3889212" cy="1800176"/>
          </a:xfrm>
        </p:grpSpPr>
        <p:sp>
          <p:nvSpPr>
            <p:cNvPr id="119" name="Line 267"/>
            <p:cNvSpPr>
              <a:spLocks noChangeShapeType="1"/>
            </p:cNvSpPr>
            <p:nvPr/>
          </p:nvSpPr>
          <p:spPr bwMode="auto">
            <a:xfrm flipV="1">
              <a:off x="1403648" y="2129582"/>
              <a:ext cx="21684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268"/>
            <p:cNvSpPr>
              <a:spLocks noChangeShapeType="1"/>
            </p:cNvSpPr>
            <p:nvPr/>
          </p:nvSpPr>
          <p:spPr bwMode="auto">
            <a:xfrm flipV="1">
              <a:off x="1403649" y="2348880"/>
              <a:ext cx="216844" cy="10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269"/>
            <p:cNvSpPr>
              <a:spLocks noChangeShapeType="1"/>
            </p:cNvSpPr>
            <p:nvPr/>
          </p:nvSpPr>
          <p:spPr bwMode="auto">
            <a:xfrm>
              <a:off x="1763688" y="2132856"/>
              <a:ext cx="79122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270"/>
            <p:cNvSpPr>
              <a:spLocks noChangeShapeType="1"/>
            </p:cNvSpPr>
            <p:nvPr/>
          </p:nvSpPr>
          <p:spPr bwMode="auto">
            <a:xfrm flipV="1">
              <a:off x="1765599" y="2348880"/>
              <a:ext cx="792000" cy="79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271"/>
            <p:cNvSpPr>
              <a:spLocks noChangeShapeType="1"/>
            </p:cNvSpPr>
            <p:nvPr/>
          </p:nvSpPr>
          <p:spPr bwMode="auto">
            <a:xfrm flipV="1">
              <a:off x="1403648" y="2419300"/>
              <a:ext cx="431800" cy="1588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272"/>
            <p:cNvSpPr>
              <a:spLocks noChangeShapeType="1"/>
            </p:cNvSpPr>
            <p:nvPr/>
          </p:nvSpPr>
          <p:spPr bwMode="auto">
            <a:xfrm>
              <a:off x="1403647" y="3392984"/>
              <a:ext cx="2304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273"/>
            <p:cNvSpPr>
              <a:spLocks noChangeShapeType="1"/>
            </p:cNvSpPr>
            <p:nvPr/>
          </p:nvSpPr>
          <p:spPr bwMode="auto">
            <a:xfrm>
              <a:off x="1980678" y="2636699"/>
              <a:ext cx="1944000" cy="213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274"/>
            <p:cNvSpPr>
              <a:spLocks noChangeShapeType="1"/>
            </p:cNvSpPr>
            <p:nvPr/>
          </p:nvSpPr>
          <p:spPr bwMode="auto">
            <a:xfrm flipV="1">
              <a:off x="3923928" y="2420888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276"/>
            <p:cNvSpPr>
              <a:spLocks noChangeShapeType="1"/>
            </p:cNvSpPr>
            <p:nvPr/>
          </p:nvSpPr>
          <p:spPr bwMode="auto">
            <a:xfrm flipV="1">
              <a:off x="3779912" y="3284984"/>
              <a:ext cx="576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Line 277"/>
            <p:cNvSpPr>
              <a:spLocks noChangeShapeType="1"/>
            </p:cNvSpPr>
            <p:nvPr/>
          </p:nvSpPr>
          <p:spPr bwMode="auto">
            <a:xfrm flipV="1">
              <a:off x="3779912" y="3501008"/>
              <a:ext cx="576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278"/>
            <p:cNvSpPr>
              <a:spLocks noChangeShapeType="1"/>
            </p:cNvSpPr>
            <p:nvPr/>
          </p:nvSpPr>
          <p:spPr bwMode="auto">
            <a:xfrm>
              <a:off x="3707912" y="3393008"/>
              <a:ext cx="7200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279"/>
            <p:cNvSpPr>
              <a:spLocks noChangeShapeType="1"/>
            </p:cNvSpPr>
            <p:nvPr/>
          </p:nvSpPr>
          <p:spPr bwMode="auto">
            <a:xfrm flipV="1">
              <a:off x="3707912" y="3284984"/>
              <a:ext cx="7200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280"/>
            <p:cNvSpPr>
              <a:spLocks noChangeShapeType="1"/>
            </p:cNvSpPr>
            <p:nvPr/>
          </p:nvSpPr>
          <p:spPr bwMode="auto">
            <a:xfrm>
              <a:off x="4355984" y="3290464"/>
              <a:ext cx="7200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281"/>
            <p:cNvSpPr>
              <a:spLocks noChangeShapeType="1"/>
            </p:cNvSpPr>
            <p:nvPr/>
          </p:nvSpPr>
          <p:spPr bwMode="auto">
            <a:xfrm flipV="1">
              <a:off x="4355976" y="3393008"/>
              <a:ext cx="7200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285"/>
            <p:cNvSpPr>
              <a:spLocks noChangeShapeType="1"/>
            </p:cNvSpPr>
            <p:nvPr/>
          </p:nvSpPr>
          <p:spPr bwMode="auto">
            <a:xfrm>
              <a:off x="3636717" y="2348880"/>
              <a:ext cx="576064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Line 286"/>
            <p:cNvSpPr>
              <a:spLocks noChangeShapeType="1"/>
            </p:cNvSpPr>
            <p:nvPr/>
          </p:nvSpPr>
          <p:spPr bwMode="auto">
            <a:xfrm flipV="1">
              <a:off x="4427983" y="3392984"/>
              <a:ext cx="288000" cy="1586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287"/>
            <p:cNvSpPr>
              <a:spLocks noChangeShapeType="1"/>
            </p:cNvSpPr>
            <p:nvPr/>
          </p:nvSpPr>
          <p:spPr bwMode="auto">
            <a:xfrm flipH="1">
              <a:off x="4283968" y="1760166"/>
              <a:ext cx="1143" cy="118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Text Box 292"/>
            <p:cNvSpPr txBox="1">
              <a:spLocks noChangeArrowheads="1"/>
            </p:cNvSpPr>
            <p:nvPr/>
          </p:nvSpPr>
          <p:spPr bwMode="auto">
            <a:xfrm>
              <a:off x="2555776" y="1844824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 smtClean="0">
                  <a:latin typeface="宋体" panose="02010600030101010101" pitchFamily="2" charset="-122"/>
                </a:rPr>
                <a:t>A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37" name="Line 293"/>
            <p:cNvSpPr>
              <a:spLocks noChangeShapeType="1"/>
            </p:cNvSpPr>
            <p:nvPr/>
          </p:nvSpPr>
          <p:spPr bwMode="auto">
            <a:xfrm flipV="1">
              <a:off x="2843808" y="1969788"/>
              <a:ext cx="93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294"/>
            <p:cNvSpPr>
              <a:spLocks noChangeShapeType="1"/>
            </p:cNvSpPr>
            <p:nvPr/>
          </p:nvSpPr>
          <p:spPr bwMode="auto">
            <a:xfrm flipH="1">
              <a:off x="1691680" y="1969788"/>
              <a:ext cx="86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300"/>
            <p:cNvSpPr>
              <a:spLocks noChangeShapeType="1"/>
            </p:cNvSpPr>
            <p:nvPr/>
          </p:nvSpPr>
          <p:spPr bwMode="auto">
            <a:xfrm flipV="1">
              <a:off x="1403648" y="2997448"/>
              <a:ext cx="331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306"/>
            <p:cNvSpPr>
              <a:spLocks noChangeShapeType="1"/>
            </p:cNvSpPr>
            <p:nvPr/>
          </p:nvSpPr>
          <p:spPr bwMode="auto">
            <a:xfrm>
              <a:off x="4355976" y="3212976"/>
              <a:ext cx="0" cy="28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318"/>
            <p:cNvSpPr>
              <a:spLocks noChangeShapeType="1"/>
            </p:cNvSpPr>
            <p:nvPr/>
          </p:nvSpPr>
          <p:spPr bwMode="auto">
            <a:xfrm>
              <a:off x="1836837" y="2420888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Text Box 322"/>
            <p:cNvSpPr txBox="1">
              <a:spLocks noChangeArrowheads="1"/>
            </p:cNvSpPr>
            <p:nvPr/>
          </p:nvSpPr>
          <p:spPr bwMode="auto">
            <a:xfrm>
              <a:off x="3779912" y="3285008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输出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43" name="Text Box 326"/>
            <p:cNvSpPr txBox="1">
              <a:spLocks noChangeArrowheads="1"/>
            </p:cNvSpPr>
            <p:nvPr/>
          </p:nvSpPr>
          <p:spPr bwMode="auto">
            <a:xfrm>
              <a:off x="3131880" y="3068960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CAC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44" name="Line 327"/>
            <p:cNvSpPr>
              <a:spLocks noChangeShapeType="1"/>
            </p:cNvSpPr>
            <p:nvPr/>
          </p:nvSpPr>
          <p:spPr bwMode="auto">
            <a:xfrm>
              <a:off x="3499347" y="3193924"/>
              <a:ext cx="288000" cy="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328"/>
            <p:cNvSpPr>
              <a:spLocks noChangeShapeType="1"/>
            </p:cNvSpPr>
            <p:nvPr/>
          </p:nvSpPr>
          <p:spPr bwMode="auto">
            <a:xfrm flipH="1" flipV="1">
              <a:off x="2843808" y="3193924"/>
              <a:ext cx="28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338"/>
            <p:cNvSpPr>
              <a:spLocks noChangeShapeType="1"/>
            </p:cNvSpPr>
            <p:nvPr/>
          </p:nvSpPr>
          <p:spPr bwMode="auto">
            <a:xfrm flipV="1">
              <a:off x="2700613" y="2132856"/>
              <a:ext cx="792000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339"/>
            <p:cNvSpPr>
              <a:spLocks noChangeShapeType="1"/>
            </p:cNvSpPr>
            <p:nvPr/>
          </p:nvSpPr>
          <p:spPr bwMode="auto">
            <a:xfrm>
              <a:off x="2700612" y="2348880"/>
              <a:ext cx="791269" cy="10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Text Box 344"/>
            <p:cNvSpPr txBox="1">
              <a:spLocks noChangeArrowheads="1"/>
            </p:cNvSpPr>
            <p:nvPr/>
          </p:nvSpPr>
          <p:spPr bwMode="auto">
            <a:xfrm>
              <a:off x="1764508" y="2132880"/>
              <a:ext cx="72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行地址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49" name="Text Box 345"/>
            <p:cNvSpPr txBox="1">
              <a:spLocks noChangeArrowheads="1"/>
            </p:cNvSpPr>
            <p:nvPr/>
          </p:nvSpPr>
          <p:spPr bwMode="auto">
            <a:xfrm>
              <a:off x="2700612" y="2132880"/>
              <a:ext cx="72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列地址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50" name="Line 349"/>
            <p:cNvSpPr>
              <a:spLocks noChangeShapeType="1"/>
            </p:cNvSpPr>
            <p:nvPr/>
          </p:nvSpPr>
          <p:spPr bwMode="auto">
            <a:xfrm>
              <a:off x="1403648" y="2708920"/>
              <a:ext cx="1369132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Line 350"/>
            <p:cNvSpPr>
              <a:spLocks noChangeShapeType="1"/>
            </p:cNvSpPr>
            <p:nvPr/>
          </p:nvSpPr>
          <p:spPr bwMode="auto">
            <a:xfrm flipV="1">
              <a:off x="2915815" y="2924944"/>
              <a:ext cx="10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Line 351"/>
            <p:cNvSpPr>
              <a:spLocks noChangeShapeType="1"/>
            </p:cNvSpPr>
            <p:nvPr/>
          </p:nvSpPr>
          <p:spPr bwMode="auto">
            <a:xfrm flipV="1">
              <a:off x="3923928" y="270892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Line 352"/>
            <p:cNvSpPr>
              <a:spLocks noChangeShapeType="1"/>
            </p:cNvSpPr>
            <p:nvPr/>
          </p:nvSpPr>
          <p:spPr bwMode="auto">
            <a:xfrm flipV="1">
              <a:off x="4068024" y="2708920"/>
              <a:ext cx="648000" cy="1295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356"/>
            <p:cNvSpPr>
              <a:spLocks noChangeShapeType="1"/>
            </p:cNvSpPr>
            <p:nvPr/>
          </p:nvSpPr>
          <p:spPr bwMode="auto">
            <a:xfrm>
              <a:off x="2772941" y="270892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Text Box 360"/>
            <p:cNvSpPr txBox="1">
              <a:spLocks noChangeArrowheads="1"/>
            </p:cNvSpPr>
            <p:nvPr/>
          </p:nvSpPr>
          <p:spPr bwMode="auto">
            <a:xfrm>
              <a:off x="2123760" y="2420888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AH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57" name="Line 361"/>
            <p:cNvSpPr>
              <a:spLocks noChangeShapeType="1"/>
            </p:cNvSpPr>
            <p:nvPr/>
          </p:nvSpPr>
          <p:spPr bwMode="auto">
            <a:xfrm>
              <a:off x="2411760" y="2545852"/>
              <a:ext cx="21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Line 362"/>
            <p:cNvSpPr>
              <a:spLocks noChangeShapeType="1"/>
            </p:cNvSpPr>
            <p:nvPr/>
          </p:nvSpPr>
          <p:spPr bwMode="auto">
            <a:xfrm flipH="1">
              <a:off x="1907704" y="2545852"/>
              <a:ext cx="21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363"/>
            <p:cNvSpPr>
              <a:spLocks noChangeShapeType="1"/>
            </p:cNvSpPr>
            <p:nvPr/>
          </p:nvSpPr>
          <p:spPr bwMode="auto">
            <a:xfrm>
              <a:off x="2843806" y="2420888"/>
              <a:ext cx="2" cy="10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Line 364"/>
            <p:cNvSpPr>
              <a:spLocks noChangeShapeType="1"/>
            </p:cNvSpPr>
            <p:nvPr/>
          </p:nvSpPr>
          <p:spPr bwMode="auto">
            <a:xfrm flipH="1">
              <a:off x="3563888" y="2420888"/>
              <a:ext cx="0" cy="2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Line 365"/>
            <p:cNvSpPr>
              <a:spLocks noChangeShapeType="1"/>
            </p:cNvSpPr>
            <p:nvPr/>
          </p:nvSpPr>
          <p:spPr bwMode="auto">
            <a:xfrm flipH="1">
              <a:off x="2843824" y="2545852"/>
              <a:ext cx="21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Text Box 373"/>
            <p:cNvSpPr txBox="1">
              <a:spLocks noChangeArrowheads="1"/>
            </p:cNvSpPr>
            <p:nvPr/>
          </p:nvSpPr>
          <p:spPr bwMode="auto">
            <a:xfrm>
              <a:off x="3059864" y="2420888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AH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63" name="Line 374"/>
            <p:cNvSpPr>
              <a:spLocks noChangeShapeType="1"/>
            </p:cNvSpPr>
            <p:nvPr/>
          </p:nvSpPr>
          <p:spPr bwMode="auto">
            <a:xfrm>
              <a:off x="3347888" y="2545852"/>
              <a:ext cx="21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Line 375"/>
            <p:cNvSpPr>
              <a:spLocks noChangeShapeType="1"/>
            </p:cNvSpPr>
            <p:nvPr/>
          </p:nvSpPr>
          <p:spPr bwMode="auto">
            <a:xfrm>
              <a:off x="3779912" y="1875434"/>
              <a:ext cx="0" cy="140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Text Box 382"/>
            <p:cNvSpPr txBox="1">
              <a:spLocks noChangeArrowheads="1"/>
            </p:cNvSpPr>
            <p:nvPr/>
          </p:nvSpPr>
          <p:spPr bwMode="auto">
            <a:xfrm>
              <a:off x="2195776" y="2708920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RCL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66" name="Line 383"/>
            <p:cNvSpPr>
              <a:spLocks noChangeShapeType="1"/>
            </p:cNvSpPr>
            <p:nvPr/>
          </p:nvSpPr>
          <p:spPr bwMode="auto">
            <a:xfrm>
              <a:off x="2557488" y="2833884"/>
              <a:ext cx="286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Line 384"/>
            <p:cNvSpPr>
              <a:spLocks noChangeShapeType="1"/>
            </p:cNvSpPr>
            <p:nvPr/>
          </p:nvSpPr>
          <p:spPr bwMode="auto">
            <a:xfrm flipH="1" flipV="1">
              <a:off x="1907703" y="2832296"/>
              <a:ext cx="28800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Text Box 404"/>
            <p:cNvSpPr txBox="1">
              <a:spLocks noChangeArrowheads="1"/>
            </p:cNvSpPr>
            <p:nvPr/>
          </p:nvSpPr>
          <p:spPr bwMode="auto">
            <a:xfrm>
              <a:off x="1043648" y="2420888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9" name="Line 405"/>
            <p:cNvSpPr>
              <a:spLocks noChangeShapeType="1"/>
            </p:cNvSpPr>
            <p:nvPr/>
          </p:nvSpPr>
          <p:spPr bwMode="auto">
            <a:xfrm>
              <a:off x="1077544" y="2446465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Text Box 436"/>
            <p:cNvSpPr txBox="1">
              <a:spLocks noChangeArrowheads="1"/>
            </p:cNvSpPr>
            <p:nvPr/>
          </p:nvSpPr>
          <p:spPr bwMode="auto">
            <a:xfrm>
              <a:off x="1086670" y="2996952"/>
              <a:ext cx="288602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1" name="Line 437"/>
            <p:cNvSpPr>
              <a:spLocks noChangeShapeType="1"/>
            </p:cNvSpPr>
            <p:nvPr/>
          </p:nvSpPr>
          <p:spPr bwMode="auto">
            <a:xfrm flipV="1">
              <a:off x="1137408" y="3020767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72" name="Text Box 439"/>
            <p:cNvSpPr txBox="1">
              <a:spLocks noChangeArrowheads="1"/>
            </p:cNvSpPr>
            <p:nvPr/>
          </p:nvSpPr>
          <p:spPr bwMode="auto">
            <a:xfrm>
              <a:off x="1043608" y="2708920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3" name="Line 440"/>
            <p:cNvSpPr>
              <a:spLocks noChangeShapeType="1"/>
            </p:cNvSpPr>
            <p:nvPr/>
          </p:nvSpPr>
          <p:spPr bwMode="auto">
            <a:xfrm>
              <a:off x="1077544" y="2733049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Line 476"/>
            <p:cNvSpPr>
              <a:spLocks noChangeShapeType="1"/>
            </p:cNvSpPr>
            <p:nvPr/>
          </p:nvSpPr>
          <p:spPr bwMode="auto">
            <a:xfrm>
              <a:off x="1403648" y="3212976"/>
              <a:ext cx="1080000" cy="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Line 477"/>
            <p:cNvSpPr>
              <a:spLocks noChangeShapeType="1"/>
            </p:cNvSpPr>
            <p:nvPr/>
          </p:nvSpPr>
          <p:spPr bwMode="auto">
            <a:xfrm flipV="1">
              <a:off x="2484909" y="2998142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478"/>
            <p:cNvSpPr>
              <a:spLocks noChangeShapeType="1"/>
            </p:cNvSpPr>
            <p:nvPr/>
          </p:nvSpPr>
          <p:spPr bwMode="auto">
            <a:xfrm>
              <a:off x="3925069" y="2998142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Line 479"/>
            <p:cNvSpPr>
              <a:spLocks noChangeShapeType="1"/>
            </p:cNvSpPr>
            <p:nvPr/>
          </p:nvSpPr>
          <p:spPr bwMode="auto">
            <a:xfrm>
              <a:off x="4141093" y="2998142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480"/>
            <p:cNvSpPr>
              <a:spLocks noChangeShapeType="1"/>
            </p:cNvSpPr>
            <p:nvPr/>
          </p:nvSpPr>
          <p:spPr bwMode="auto">
            <a:xfrm>
              <a:off x="4357117" y="2998142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482"/>
            <p:cNvSpPr>
              <a:spLocks noChangeShapeType="1"/>
            </p:cNvSpPr>
            <p:nvPr/>
          </p:nvSpPr>
          <p:spPr bwMode="auto">
            <a:xfrm flipV="1">
              <a:off x="4068024" y="3212976"/>
              <a:ext cx="64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483"/>
            <p:cNvSpPr>
              <a:spLocks noChangeShapeType="1"/>
            </p:cNvSpPr>
            <p:nvPr/>
          </p:nvSpPr>
          <p:spPr bwMode="auto">
            <a:xfrm>
              <a:off x="4573141" y="2998142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699"/>
            <p:cNvSpPr>
              <a:spLocks noChangeShapeType="1"/>
            </p:cNvSpPr>
            <p:nvPr/>
          </p:nvSpPr>
          <p:spPr bwMode="auto">
            <a:xfrm flipV="1">
              <a:off x="1619672" y="2132880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Line 700"/>
            <p:cNvSpPr>
              <a:spLocks noChangeShapeType="1"/>
            </p:cNvSpPr>
            <p:nvPr/>
          </p:nvSpPr>
          <p:spPr bwMode="auto">
            <a:xfrm>
              <a:off x="1620492" y="2132880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Line 358"/>
            <p:cNvSpPr>
              <a:spLocks noChangeShapeType="1"/>
            </p:cNvSpPr>
            <p:nvPr/>
          </p:nvSpPr>
          <p:spPr bwMode="auto">
            <a:xfrm flipH="1">
              <a:off x="1908274" y="2349024"/>
              <a:ext cx="0" cy="57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699"/>
            <p:cNvSpPr>
              <a:spLocks noChangeShapeType="1"/>
            </p:cNvSpPr>
            <p:nvPr/>
          </p:nvSpPr>
          <p:spPr bwMode="auto">
            <a:xfrm flipV="1">
              <a:off x="2556917" y="2132880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700"/>
            <p:cNvSpPr>
              <a:spLocks noChangeShapeType="1"/>
            </p:cNvSpPr>
            <p:nvPr/>
          </p:nvSpPr>
          <p:spPr bwMode="auto">
            <a:xfrm>
              <a:off x="2556917" y="2132880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Line 699"/>
            <p:cNvSpPr>
              <a:spLocks noChangeShapeType="1"/>
            </p:cNvSpPr>
            <p:nvPr/>
          </p:nvSpPr>
          <p:spPr bwMode="auto">
            <a:xfrm flipV="1">
              <a:off x="3493021" y="2132880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Line 700"/>
            <p:cNvSpPr>
              <a:spLocks noChangeShapeType="1"/>
            </p:cNvSpPr>
            <p:nvPr/>
          </p:nvSpPr>
          <p:spPr bwMode="auto">
            <a:xfrm>
              <a:off x="3493021" y="2132880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Line 477"/>
            <p:cNvSpPr>
              <a:spLocks noChangeShapeType="1"/>
            </p:cNvSpPr>
            <p:nvPr/>
          </p:nvSpPr>
          <p:spPr bwMode="auto">
            <a:xfrm flipV="1">
              <a:off x="2268885" y="2996952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Line 477"/>
            <p:cNvSpPr>
              <a:spLocks noChangeShapeType="1"/>
            </p:cNvSpPr>
            <p:nvPr/>
          </p:nvSpPr>
          <p:spPr bwMode="auto">
            <a:xfrm flipV="1">
              <a:off x="2052861" y="2996952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Line 477"/>
            <p:cNvSpPr>
              <a:spLocks noChangeShapeType="1"/>
            </p:cNvSpPr>
            <p:nvPr/>
          </p:nvSpPr>
          <p:spPr bwMode="auto">
            <a:xfrm flipV="1">
              <a:off x="1836837" y="2996952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Line 477"/>
            <p:cNvSpPr>
              <a:spLocks noChangeShapeType="1"/>
            </p:cNvSpPr>
            <p:nvPr/>
          </p:nvSpPr>
          <p:spPr bwMode="auto">
            <a:xfrm flipV="1">
              <a:off x="1620813" y="2996952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Text Box 326"/>
            <p:cNvSpPr txBox="1">
              <a:spLocks noChangeArrowheads="1"/>
            </p:cNvSpPr>
            <p:nvPr/>
          </p:nvSpPr>
          <p:spPr bwMode="auto">
            <a:xfrm>
              <a:off x="3203848" y="2708920"/>
              <a:ext cx="43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 smtClean="0">
                  <a:latin typeface="宋体" panose="02010600030101010101" pitchFamily="2" charset="-122"/>
                </a:rPr>
                <a:t>CAS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93" name="Line 327"/>
            <p:cNvSpPr>
              <a:spLocks noChangeShapeType="1"/>
            </p:cNvSpPr>
            <p:nvPr/>
          </p:nvSpPr>
          <p:spPr bwMode="auto">
            <a:xfrm flipV="1">
              <a:off x="3635936" y="2833884"/>
              <a:ext cx="36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Line 328"/>
            <p:cNvSpPr>
              <a:spLocks noChangeShapeType="1"/>
            </p:cNvSpPr>
            <p:nvPr/>
          </p:nvSpPr>
          <p:spPr bwMode="auto">
            <a:xfrm flipH="1">
              <a:off x="2843808" y="2833884"/>
              <a:ext cx="36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Line 699"/>
            <p:cNvSpPr>
              <a:spLocks noChangeShapeType="1"/>
            </p:cNvSpPr>
            <p:nvPr/>
          </p:nvSpPr>
          <p:spPr bwMode="auto">
            <a:xfrm flipV="1">
              <a:off x="4213921" y="2132880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Line 700"/>
            <p:cNvSpPr>
              <a:spLocks noChangeShapeType="1"/>
            </p:cNvSpPr>
            <p:nvPr/>
          </p:nvSpPr>
          <p:spPr bwMode="auto">
            <a:xfrm>
              <a:off x="4213101" y="2132880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285"/>
            <p:cNvSpPr>
              <a:spLocks noChangeShapeType="1"/>
            </p:cNvSpPr>
            <p:nvPr/>
          </p:nvSpPr>
          <p:spPr bwMode="auto">
            <a:xfrm>
              <a:off x="4356796" y="2348880"/>
              <a:ext cx="360000" cy="89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285"/>
            <p:cNvSpPr>
              <a:spLocks noChangeShapeType="1"/>
            </p:cNvSpPr>
            <p:nvPr/>
          </p:nvSpPr>
          <p:spPr bwMode="auto">
            <a:xfrm>
              <a:off x="3635896" y="2132856"/>
              <a:ext cx="576064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285"/>
            <p:cNvSpPr>
              <a:spLocks noChangeShapeType="1"/>
            </p:cNvSpPr>
            <p:nvPr/>
          </p:nvSpPr>
          <p:spPr bwMode="auto">
            <a:xfrm>
              <a:off x="4356795" y="2132856"/>
              <a:ext cx="360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275"/>
            <p:cNvSpPr>
              <a:spLocks noChangeShapeType="1"/>
            </p:cNvSpPr>
            <p:nvPr/>
          </p:nvSpPr>
          <p:spPr bwMode="auto">
            <a:xfrm flipV="1">
              <a:off x="4572024" y="2636912"/>
              <a:ext cx="1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Line 275"/>
            <p:cNvSpPr>
              <a:spLocks noChangeShapeType="1"/>
            </p:cNvSpPr>
            <p:nvPr/>
          </p:nvSpPr>
          <p:spPr bwMode="auto">
            <a:xfrm flipV="1">
              <a:off x="4067944" y="2420888"/>
              <a:ext cx="36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Line 318"/>
            <p:cNvSpPr>
              <a:spLocks noChangeShapeType="1"/>
            </p:cNvSpPr>
            <p:nvPr/>
          </p:nvSpPr>
          <p:spPr bwMode="auto">
            <a:xfrm>
              <a:off x="4429125" y="2420888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Text Box 691"/>
            <p:cNvSpPr txBox="1">
              <a:spLocks noChangeArrowheads="1"/>
            </p:cNvSpPr>
            <p:nvPr/>
          </p:nvSpPr>
          <p:spPr bwMode="auto">
            <a:xfrm>
              <a:off x="855960" y="3284984"/>
              <a:ext cx="54768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 smtClean="0">
                  <a:latin typeface="+mn-lt"/>
                </a:rPr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204" name="Text Box 691"/>
            <p:cNvSpPr txBox="1">
              <a:spLocks noChangeArrowheads="1"/>
            </p:cNvSpPr>
            <p:nvPr/>
          </p:nvSpPr>
          <p:spPr bwMode="auto">
            <a:xfrm>
              <a:off x="827584" y="2132880"/>
              <a:ext cx="54768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 smtClean="0">
                  <a:latin typeface="+mn-lt"/>
                </a:rPr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206" name="Text Box 292"/>
            <p:cNvSpPr txBox="1">
              <a:spLocks noChangeArrowheads="1"/>
            </p:cNvSpPr>
            <p:nvPr/>
          </p:nvSpPr>
          <p:spPr bwMode="auto">
            <a:xfrm>
              <a:off x="2843808" y="1700832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 smtClean="0">
                  <a:latin typeface="宋体" panose="02010600030101010101" pitchFamily="2" charset="-122"/>
                </a:rPr>
                <a:t>RC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07" name="Line 293"/>
            <p:cNvSpPr>
              <a:spLocks noChangeShapeType="1"/>
            </p:cNvSpPr>
            <p:nvPr/>
          </p:nvSpPr>
          <p:spPr bwMode="auto">
            <a:xfrm flipV="1">
              <a:off x="3203848" y="1818665"/>
              <a:ext cx="108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Line 294"/>
            <p:cNvSpPr>
              <a:spLocks noChangeShapeType="1"/>
            </p:cNvSpPr>
            <p:nvPr/>
          </p:nvSpPr>
          <p:spPr bwMode="auto">
            <a:xfrm flipH="1">
              <a:off x="1691679" y="1818665"/>
              <a:ext cx="108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358"/>
            <p:cNvSpPr>
              <a:spLocks noChangeShapeType="1"/>
            </p:cNvSpPr>
            <p:nvPr/>
          </p:nvSpPr>
          <p:spPr bwMode="auto">
            <a:xfrm flipH="1">
              <a:off x="1690145" y="1772969"/>
              <a:ext cx="1535" cy="172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Line 358"/>
            <p:cNvSpPr>
              <a:spLocks noChangeShapeType="1"/>
            </p:cNvSpPr>
            <p:nvPr/>
          </p:nvSpPr>
          <p:spPr bwMode="auto">
            <a:xfrm flipH="1">
              <a:off x="3995936" y="2420888"/>
              <a:ext cx="0" cy="86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Line 359"/>
            <p:cNvSpPr>
              <a:spLocks noChangeShapeType="1"/>
            </p:cNvSpPr>
            <p:nvPr/>
          </p:nvSpPr>
          <p:spPr bwMode="auto">
            <a:xfrm flipH="1">
              <a:off x="2627784" y="2132856"/>
              <a:ext cx="0" cy="50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bldLvl="0" animBg="1"/>
      <p:bldP spid="328" grpId="0" bldLvl="0" animBg="1"/>
      <p:bldP spid="421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/>
          </a:p>
        </p:txBody>
      </p:sp>
      <p:sp>
        <p:nvSpPr>
          <p:cNvPr id="217" name="Text Box 157"/>
          <p:cNvSpPr txBox="1">
            <a:spLocks noChangeArrowheads="1"/>
          </p:cNvSpPr>
          <p:nvPr/>
        </p:nvSpPr>
        <p:spPr bwMode="auto">
          <a:xfrm>
            <a:off x="179388" y="405969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写周期的时序：   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u="none" dirty="0">
                <a:latin typeface="宋体" panose="02010600030101010101" pitchFamily="2" charset="-122"/>
              </a:rPr>
              <a:t>厂家给出的参数为最小值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)</a:t>
            </a:r>
            <a:endParaRPr lang="en-US" altLang="zh-CN" sz="20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43" name="AutoShape 15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Text Box 372"/>
          <p:cNvSpPr txBox="1">
            <a:spLocks noChangeArrowheads="1"/>
          </p:cNvSpPr>
          <p:nvPr/>
        </p:nvSpPr>
        <p:spPr bwMode="auto">
          <a:xfrm>
            <a:off x="4644008" y="908720"/>
            <a:ext cx="3744540" cy="189447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/>
          <a:lstStyle/>
          <a:p>
            <a:pPr>
              <a:lnSpc>
                <a:spcPct val="130000"/>
              </a:lnSpc>
            </a:pPr>
            <a:r>
              <a:rPr lang="en-US" altLang="zh-CN" sz="1800" b="1" u="none" dirty="0" err="1" smtClean="0"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 smtClean="0">
                <a:latin typeface="宋体" panose="02010600030101010101" pitchFamily="2" charset="-122"/>
              </a:rPr>
              <a:t>AH</a:t>
            </a:r>
            <a:r>
              <a:rPr lang="zh-CN" altLang="en-US" sz="1800" b="1" u="none" dirty="0">
                <a:latin typeface="宋体" panose="02010600030101010101" pitchFamily="2" charset="-122"/>
              </a:rPr>
              <a:t>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同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DRAM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读周期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800" b="1" u="none" dirty="0" err="1" smtClean="0"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 smtClean="0">
                <a:latin typeface="宋体" panose="02010600030101010101" pitchFamily="2" charset="-122"/>
              </a:rPr>
              <a:t>RCL</a:t>
            </a:r>
            <a:r>
              <a:rPr lang="en-US" altLang="zh-CN" sz="1800" b="1" u="none" dirty="0"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latin typeface="宋体" panose="02010600030101010101" pitchFamily="2" charset="-122"/>
              </a:rPr>
              <a:t>同</a:t>
            </a:r>
            <a:r>
              <a:rPr lang="en-US" altLang="zh-CN" sz="1800" b="1" u="none" dirty="0">
                <a:latin typeface="宋体" panose="02010600030101010101" pitchFamily="2" charset="-122"/>
              </a:rPr>
              <a:t>DRAM</a:t>
            </a:r>
            <a:r>
              <a:rPr lang="zh-CN" altLang="en-US" sz="1800" b="1" u="none" dirty="0">
                <a:latin typeface="宋体" panose="02010600030101010101" pitchFamily="2" charset="-122"/>
              </a:rPr>
              <a:t>读周期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800" b="1" u="none" dirty="0" err="1" smtClean="0"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 smtClean="0">
                <a:latin typeface="宋体" panose="02010600030101010101" pitchFamily="2" charset="-122"/>
              </a:rPr>
              <a:t>DH</a:t>
            </a:r>
            <a:r>
              <a:rPr lang="en-US" altLang="zh-CN" sz="1800" b="1" u="none" baseline="-18000" dirty="0" smtClean="0">
                <a:latin typeface="宋体" panose="02010600030101010101" pitchFamily="2" charset="-122"/>
              </a:rPr>
              <a:t>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数据写入时间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同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SRAM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的</a:t>
            </a:r>
            <a:r>
              <a:rPr lang="en-US" altLang="zh-CN" sz="1800" b="1" u="none" dirty="0" err="1" smtClean="0"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 smtClean="0">
                <a:latin typeface="宋体" panose="02010600030101010101" pitchFamily="2" charset="-122"/>
              </a:rPr>
              <a:t>DW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800" b="1" u="none" dirty="0" err="1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>
                <a:solidFill>
                  <a:srgbClr val="0070C0"/>
                </a:solidFill>
                <a:latin typeface="宋体" panose="02010600030101010101" pitchFamily="2" charset="-122"/>
              </a:rPr>
              <a:t>A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写时间</a:t>
            </a:r>
            <a:r>
              <a:rPr lang="en-US" altLang="zh-CN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1800" b="1" u="none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20000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RCL</a:t>
            </a:r>
            <a:r>
              <a:rPr lang="en-US" altLang="zh-CN" sz="1800" b="1" u="none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+t</a:t>
            </a:r>
            <a:r>
              <a:rPr lang="en-US" altLang="zh-CN" sz="1800" b="1" u="none" baseline="-18000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DH</a:t>
            </a:r>
            <a:r>
              <a:rPr lang="en-US" altLang="zh-CN" sz="18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)</a:t>
            </a:r>
            <a:endParaRPr lang="en-US" altLang="zh-CN" sz="1800" b="1" u="none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800" b="1" u="none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err="1" smtClean="0">
                <a:solidFill>
                  <a:srgbClr val="0070C0"/>
                </a:solidFill>
                <a:latin typeface="宋体" panose="02010600030101010101" pitchFamily="2" charset="-122"/>
              </a:rPr>
              <a:t>WC</a:t>
            </a:r>
            <a:r>
              <a:rPr lang="en-US" altLang="zh-CN" sz="18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写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周期</a:t>
            </a:r>
            <a:r>
              <a:rPr lang="en-US" altLang="zh-CN" sz="18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两次间隔</a:t>
            </a:r>
            <a:r>
              <a:rPr lang="en-US" altLang="zh-CN" sz="18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)</a:t>
            </a:r>
            <a:endParaRPr lang="zh-CN" altLang="en-US" sz="1800" b="1" u="none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139" name="Text Box 371"/>
          <p:cNvSpPr txBox="1">
            <a:spLocks noChangeArrowheads="1"/>
          </p:cNvSpPr>
          <p:nvPr/>
        </p:nvSpPr>
        <p:spPr bwMode="auto">
          <a:xfrm>
            <a:off x="179513" y="2708920"/>
            <a:ext cx="3382912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操作信号时序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000" b="1" u="none" baseline="-18000" dirty="0">
              <a:latin typeface="宋体" panose="02010600030101010101" pitchFamily="2" charset="-122"/>
            </a:endParaRPr>
          </a:p>
        </p:txBody>
      </p:sp>
      <p:grpSp>
        <p:nvGrpSpPr>
          <p:cNvPr id="150" name="组合 149"/>
          <p:cNvGrpSpPr/>
          <p:nvPr/>
        </p:nvGrpSpPr>
        <p:grpSpPr>
          <a:xfrm>
            <a:off x="1115616" y="3212976"/>
            <a:ext cx="7632000" cy="1636089"/>
            <a:chOff x="1488316" y="2545859"/>
            <a:chExt cx="7632000" cy="1636089"/>
          </a:xfrm>
        </p:grpSpPr>
        <p:sp>
          <p:nvSpPr>
            <p:cNvPr id="151" name="Text Box 371"/>
            <p:cNvSpPr txBox="1">
              <a:spLocks noChangeArrowheads="1"/>
            </p:cNvSpPr>
            <p:nvPr/>
          </p:nvSpPr>
          <p:spPr bwMode="auto">
            <a:xfrm>
              <a:off x="1488316" y="2545859"/>
              <a:ext cx="7632000" cy="163608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zh-CN" altLang="en-US" sz="2200" b="1" u="none" dirty="0" smtClean="0">
                  <a:latin typeface="宋体" panose="02010600030101010101" pitchFamily="2" charset="-122"/>
                </a:rPr>
                <a:t>①</a:t>
              </a:r>
              <a:r>
                <a:rPr lang="zh-CN" altLang="en-US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先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发送行地址，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RAS</a:t>
              </a:r>
              <a:r>
                <a:rPr lang="zh-CN" altLang="en-US" sz="2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在行地址稳定后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有效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 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2200" b="1" u="none" dirty="0" smtClean="0">
                  <a:latin typeface="宋体" panose="02010600030101010101" pitchFamily="2" charset="-122"/>
                </a:rPr>
                <a:t>②</a:t>
              </a:r>
              <a:r>
                <a:rPr lang="zh-CN" altLang="en-US" sz="2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再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发送列地址，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CAS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在</a:t>
              </a:r>
              <a:r>
                <a:rPr lang="zh-CN" altLang="en-US" sz="2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列地址稳定后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有效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2200" b="1" u="none" dirty="0">
                  <a:latin typeface="宋体" panose="02010600030101010101" pitchFamily="2" charset="-122"/>
                </a:rPr>
                <a:t>③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WE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在</a:t>
              </a:r>
              <a:r>
                <a:rPr lang="en-US" altLang="zh-CN" sz="2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CAS</a:t>
              </a:r>
              <a:r>
                <a:rPr lang="zh-CN" altLang="en-US" sz="2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有效</a:t>
              </a:r>
              <a:r>
                <a:rPr lang="zh-CN" altLang="en-US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期</a:t>
              </a:r>
              <a:r>
                <a:rPr lang="zh-CN" altLang="en-US" sz="2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间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有效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(W)  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  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←延迟最小化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可滞后、时长≥</a:t>
              </a: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 smtClean="0">
                  <a:latin typeface="宋体" panose="02010600030101010101" pitchFamily="2" charset="-122"/>
                </a:rPr>
                <a:t>DH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2200" b="1" u="none" dirty="0">
                  <a:latin typeface="宋体" panose="02010600030101010101" pitchFamily="2" charset="-122"/>
                </a:rPr>
                <a:t>④数据发送</a:t>
              </a:r>
              <a:r>
                <a:rPr lang="zh-CN" altLang="en-US" sz="22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可</a:t>
              </a:r>
              <a:r>
                <a:rPr lang="zh-CN" altLang="en-US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早于</a:t>
              </a:r>
              <a:r>
                <a:rPr lang="en-US" altLang="zh-CN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CAS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       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2200" b="1" u="none" spc="200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←延迟最小化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可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滞后、时长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DH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2" name="Line 558"/>
            <p:cNvSpPr>
              <a:spLocks noChangeShapeType="1"/>
            </p:cNvSpPr>
            <p:nvPr/>
          </p:nvSpPr>
          <p:spPr bwMode="auto">
            <a:xfrm>
              <a:off x="3828700" y="2644883"/>
              <a:ext cx="4021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lnSpc>
                  <a:spcPct val="125000"/>
                </a:lnSpc>
              </a:pPr>
              <a:endParaRPr lang="zh-CN" altLang="en-US"/>
            </a:p>
          </p:txBody>
        </p:sp>
        <p:sp>
          <p:nvSpPr>
            <p:cNvPr id="153" name="Line 558"/>
            <p:cNvSpPr>
              <a:spLocks noChangeShapeType="1"/>
            </p:cNvSpPr>
            <p:nvPr/>
          </p:nvSpPr>
          <p:spPr bwMode="auto">
            <a:xfrm>
              <a:off x="1848700" y="3400883"/>
              <a:ext cx="29708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lnSpc>
                  <a:spcPct val="125000"/>
                </a:lnSpc>
              </a:pPr>
              <a:endParaRPr lang="zh-CN" altLang="en-US"/>
            </a:p>
          </p:txBody>
        </p:sp>
        <p:sp>
          <p:nvSpPr>
            <p:cNvPr id="154" name="Line 558"/>
            <p:cNvSpPr>
              <a:spLocks noChangeShapeType="1"/>
            </p:cNvSpPr>
            <p:nvPr/>
          </p:nvSpPr>
          <p:spPr bwMode="auto">
            <a:xfrm>
              <a:off x="2424700" y="3400883"/>
              <a:ext cx="402100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pPr>
                <a:lnSpc>
                  <a:spcPct val="125000"/>
                </a:lnSpc>
              </a:pPr>
              <a:endParaRPr lang="zh-CN" altLang="en-US"/>
            </a:p>
          </p:txBody>
        </p:sp>
        <p:sp>
          <p:nvSpPr>
            <p:cNvPr id="155" name="Line 558"/>
            <p:cNvSpPr>
              <a:spLocks noChangeShapeType="1"/>
            </p:cNvSpPr>
            <p:nvPr/>
          </p:nvSpPr>
          <p:spPr bwMode="auto">
            <a:xfrm>
              <a:off x="3828700" y="3040883"/>
              <a:ext cx="4021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lnSpc>
                  <a:spcPct val="125000"/>
                </a:lnSpc>
              </a:pPr>
              <a:endParaRPr lang="zh-CN" altLang="en-US"/>
            </a:p>
          </p:txBody>
        </p:sp>
        <p:sp>
          <p:nvSpPr>
            <p:cNvPr id="156" name="Line 558"/>
            <p:cNvSpPr>
              <a:spLocks noChangeShapeType="1"/>
            </p:cNvSpPr>
            <p:nvPr/>
          </p:nvSpPr>
          <p:spPr bwMode="auto">
            <a:xfrm>
              <a:off x="3828700" y="3796883"/>
              <a:ext cx="402100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pPr>
                <a:lnSpc>
                  <a:spcPct val="125000"/>
                </a:lnSpc>
              </a:pPr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827584" y="908744"/>
            <a:ext cx="3672047" cy="1669865"/>
            <a:chOff x="827584" y="908744"/>
            <a:chExt cx="3672047" cy="1669865"/>
          </a:xfrm>
        </p:grpSpPr>
        <p:sp>
          <p:nvSpPr>
            <p:cNvPr id="85" name="Line 267"/>
            <p:cNvSpPr>
              <a:spLocks noChangeShapeType="1"/>
            </p:cNvSpPr>
            <p:nvPr/>
          </p:nvSpPr>
          <p:spPr bwMode="auto">
            <a:xfrm flipV="1">
              <a:off x="1403648" y="1193478"/>
              <a:ext cx="21684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268"/>
            <p:cNvSpPr>
              <a:spLocks noChangeShapeType="1"/>
            </p:cNvSpPr>
            <p:nvPr/>
          </p:nvSpPr>
          <p:spPr bwMode="auto">
            <a:xfrm flipV="1">
              <a:off x="1403649" y="1412776"/>
              <a:ext cx="216844" cy="10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269"/>
            <p:cNvSpPr>
              <a:spLocks noChangeShapeType="1"/>
            </p:cNvSpPr>
            <p:nvPr/>
          </p:nvSpPr>
          <p:spPr bwMode="auto">
            <a:xfrm>
              <a:off x="1763688" y="1196752"/>
              <a:ext cx="79122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270"/>
            <p:cNvSpPr>
              <a:spLocks noChangeShapeType="1"/>
            </p:cNvSpPr>
            <p:nvPr/>
          </p:nvSpPr>
          <p:spPr bwMode="auto">
            <a:xfrm flipV="1">
              <a:off x="1765599" y="1412776"/>
              <a:ext cx="792000" cy="79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271"/>
            <p:cNvSpPr>
              <a:spLocks noChangeShapeType="1"/>
            </p:cNvSpPr>
            <p:nvPr/>
          </p:nvSpPr>
          <p:spPr bwMode="auto">
            <a:xfrm flipV="1">
              <a:off x="1403648" y="1483196"/>
              <a:ext cx="431800" cy="1588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272"/>
            <p:cNvSpPr>
              <a:spLocks noChangeShapeType="1"/>
            </p:cNvSpPr>
            <p:nvPr/>
          </p:nvSpPr>
          <p:spPr bwMode="auto">
            <a:xfrm>
              <a:off x="1403647" y="2456880"/>
              <a:ext cx="1296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273"/>
            <p:cNvSpPr>
              <a:spLocks noChangeShapeType="1"/>
            </p:cNvSpPr>
            <p:nvPr/>
          </p:nvSpPr>
          <p:spPr bwMode="auto">
            <a:xfrm>
              <a:off x="1980678" y="1700595"/>
              <a:ext cx="1728000" cy="213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274"/>
            <p:cNvSpPr>
              <a:spLocks noChangeShapeType="1"/>
            </p:cNvSpPr>
            <p:nvPr/>
          </p:nvSpPr>
          <p:spPr bwMode="auto">
            <a:xfrm flipV="1">
              <a:off x="3709045" y="1484784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Line 276"/>
            <p:cNvSpPr>
              <a:spLocks noChangeShapeType="1"/>
            </p:cNvSpPr>
            <p:nvPr/>
          </p:nvSpPr>
          <p:spPr bwMode="auto">
            <a:xfrm flipV="1">
              <a:off x="2771800" y="2348880"/>
              <a:ext cx="1152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277"/>
            <p:cNvSpPr>
              <a:spLocks noChangeShapeType="1"/>
            </p:cNvSpPr>
            <p:nvPr/>
          </p:nvSpPr>
          <p:spPr bwMode="auto">
            <a:xfrm flipV="1">
              <a:off x="2771800" y="2564904"/>
              <a:ext cx="1152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278"/>
            <p:cNvSpPr>
              <a:spLocks noChangeShapeType="1"/>
            </p:cNvSpPr>
            <p:nvPr/>
          </p:nvSpPr>
          <p:spPr bwMode="auto">
            <a:xfrm>
              <a:off x="2699792" y="2456904"/>
              <a:ext cx="7200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279"/>
            <p:cNvSpPr>
              <a:spLocks noChangeShapeType="1"/>
            </p:cNvSpPr>
            <p:nvPr/>
          </p:nvSpPr>
          <p:spPr bwMode="auto">
            <a:xfrm flipV="1">
              <a:off x="2699792" y="2348880"/>
              <a:ext cx="7200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280"/>
            <p:cNvSpPr>
              <a:spLocks noChangeShapeType="1"/>
            </p:cNvSpPr>
            <p:nvPr/>
          </p:nvSpPr>
          <p:spPr bwMode="auto">
            <a:xfrm>
              <a:off x="3923936" y="2354360"/>
              <a:ext cx="7200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281"/>
            <p:cNvSpPr>
              <a:spLocks noChangeShapeType="1"/>
            </p:cNvSpPr>
            <p:nvPr/>
          </p:nvSpPr>
          <p:spPr bwMode="auto">
            <a:xfrm flipV="1">
              <a:off x="3923928" y="2456904"/>
              <a:ext cx="7200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285"/>
            <p:cNvSpPr>
              <a:spLocks noChangeShapeType="1"/>
            </p:cNvSpPr>
            <p:nvPr/>
          </p:nvSpPr>
          <p:spPr bwMode="auto">
            <a:xfrm>
              <a:off x="3636717" y="1412776"/>
              <a:ext cx="360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286"/>
            <p:cNvSpPr>
              <a:spLocks noChangeShapeType="1"/>
            </p:cNvSpPr>
            <p:nvPr/>
          </p:nvSpPr>
          <p:spPr bwMode="auto">
            <a:xfrm flipV="1">
              <a:off x="3995936" y="2456880"/>
              <a:ext cx="432000" cy="1586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287"/>
            <p:cNvSpPr>
              <a:spLocks noChangeShapeType="1"/>
            </p:cNvSpPr>
            <p:nvPr/>
          </p:nvSpPr>
          <p:spPr bwMode="auto">
            <a:xfrm flipH="1">
              <a:off x="3995936" y="944856"/>
              <a:ext cx="1143" cy="133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300"/>
            <p:cNvSpPr>
              <a:spLocks noChangeShapeType="1"/>
            </p:cNvSpPr>
            <p:nvPr/>
          </p:nvSpPr>
          <p:spPr bwMode="auto">
            <a:xfrm flipV="1">
              <a:off x="1403648" y="2276872"/>
              <a:ext cx="302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306"/>
            <p:cNvSpPr>
              <a:spLocks noChangeShapeType="1"/>
            </p:cNvSpPr>
            <p:nvPr/>
          </p:nvSpPr>
          <p:spPr bwMode="auto">
            <a:xfrm>
              <a:off x="3995936" y="2276872"/>
              <a:ext cx="0" cy="28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318"/>
            <p:cNvSpPr>
              <a:spLocks noChangeShapeType="1"/>
            </p:cNvSpPr>
            <p:nvPr/>
          </p:nvSpPr>
          <p:spPr bwMode="auto">
            <a:xfrm>
              <a:off x="1836837" y="1484784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Text Box 322"/>
            <p:cNvSpPr txBox="1">
              <a:spLocks noChangeArrowheads="1"/>
            </p:cNvSpPr>
            <p:nvPr/>
          </p:nvSpPr>
          <p:spPr bwMode="auto">
            <a:xfrm>
              <a:off x="3059832" y="2335199"/>
              <a:ext cx="504000" cy="2434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输入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16" name="Line 338"/>
            <p:cNvSpPr>
              <a:spLocks noChangeShapeType="1"/>
            </p:cNvSpPr>
            <p:nvPr/>
          </p:nvSpPr>
          <p:spPr bwMode="auto">
            <a:xfrm flipV="1">
              <a:off x="2700613" y="1196752"/>
              <a:ext cx="792000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339"/>
            <p:cNvSpPr>
              <a:spLocks noChangeShapeType="1"/>
            </p:cNvSpPr>
            <p:nvPr/>
          </p:nvSpPr>
          <p:spPr bwMode="auto">
            <a:xfrm>
              <a:off x="2700612" y="1412776"/>
              <a:ext cx="791269" cy="10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Text Box 344"/>
            <p:cNvSpPr txBox="1">
              <a:spLocks noChangeArrowheads="1"/>
            </p:cNvSpPr>
            <p:nvPr/>
          </p:nvSpPr>
          <p:spPr bwMode="auto">
            <a:xfrm>
              <a:off x="1764508" y="1196776"/>
              <a:ext cx="72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行地址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19" name="Text Box 345"/>
            <p:cNvSpPr txBox="1">
              <a:spLocks noChangeArrowheads="1"/>
            </p:cNvSpPr>
            <p:nvPr/>
          </p:nvSpPr>
          <p:spPr bwMode="auto">
            <a:xfrm>
              <a:off x="2700612" y="1196776"/>
              <a:ext cx="72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列地址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20" name="Line 349"/>
            <p:cNvSpPr>
              <a:spLocks noChangeShapeType="1"/>
            </p:cNvSpPr>
            <p:nvPr/>
          </p:nvSpPr>
          <p:spPr bwMode="auto">
            <a:xfrm>
              <a:off x="1403648" y="1772816"/>
              <a:ext cx="1369132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350"/>
            <p:cNvSpPr>
              <a:spLocks noChangeShapeType="1"/>
            </p:cNvSpPr>
            <p:nvPr/>
          </p:nvSpPr>
          <p:spPr bwMode="auto">
            <a:xfrm flipV="1">
              <a:off x="2915815" y="1988840"/>
              <a:ext cx="79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351"/>
            <p:cNvSpPr>
              <a:spLocks noChangeShapeType="1"/>
            </p:cNvSpPr>
            <p:nvPr/>
          </p:nvSpPr>
          <p:spPr bwMode="auto">
            <a:xfrm flipV="1">
              <a:off x="3709045" y="1772816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352"/>
            <p:cNvSpPr>
              <a:spLocks noChangeShapeType="1"/>
            </p:cNvSpPr>
            <p:nvPr/>
          </p:nvSpPr>
          <p:spPr bwMode="auto">
            <a:xfrm flipV="1">
              <a:off x="3851992" y="1772816"/>
              <a:ext cx="576000" cy="1295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356"/>
            <p:cNvSpPr>
              <a:spLocks noChangeShapeType="1"/>
            </p:cNvSpPr>
            <p:nvPr/>
          </p:nvSpPr>
          <p:spPr bwMode="auto">
            <a:xfrm>
              <a:off x="2772941" y="1772816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363"/>
            <p:cNvSpPr>
              <a:spLocks noChangeShapeType="1"/>
            </p:cNvSpPr>
            <p:nvPr/>
          </p:nvSpPr>
          <p:spPr bwMode="auto">
            <a:xfrm>
              <a:off x="2843806" y="1484784"/>
              <a:ext cx="2" cy="10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375"/>
            <p:cNvSpPr>
              <a:spLocks noChangeShapeType="1"/>
            </p:cNvSpPr>
            <p:nvPr/>
          </p:nvSpPr>
          <p:spPr bwMode="auto">
            <a:xfrm>
              <a:off x="3779912" y="1520944"/>
              <a:ext cx="0" cy="82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Text Box 404"/>
            <p:cNvSpPr txBox="1">
              <a:spLocks noChangeArrowheads="1"/>
            </p:cNvSpPr>
            <p:nvPr/>
          </p:nvSpPr>
          <p:spPr bwMode="auto">
            <a:xfrm>
              <a:off x="1043648" y="1484784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28" name="Line 405"/>
            <p:cNvSpPr>
              <a:spLocks noChangeShapeType="1"/>
            </p:cNvSpPr>
            <p:nvPr/>
          </p:nvSpPr>
          <p:spPr bwMode="auto">
            <a:xfrm>
              <a:off x="1077544" y="1510361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Text Box 436"/>
            <p:cNvSpPr txBox="1">
              <a:spLocks noChangeArrowheads="1"/>
            </p:cNvSpPr>
            <p:nvPr/>
          </p:nvSpPr>
          <p:spPr bwMode="auto">
            <a:xfrm>
              <a:off x="1086670" y="2060848"/>
              <a:ext cx="288602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30" name="Line 437"/>
            <p:cNvSpPr>
              <a:spLocks noChangeShapeType="1"/>
            </p:cNvSpPr>
            <p:nvPr/>
          </p:nvSpPr>
          <p:spPr bwMode="auto">
            <a:xfrm flipV="1">
              <a:off x="1137408" y="2084663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31" name="Text Box 439"/>
            <p:cNvSpPr txBox="1">
              <a:spLocks noChangeArrowheads="1"/>
            </p:cNvSpPr>
            <p:nvPr/>
          </p:nvSpPr>
          <p:spPr bwMode="auto">
            <a:xfrm>
              <a:off x="1043608" y="1772816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32" name="Line 440"/>
            <p:cNvSpPr>
              <a:spLocks noChangeShapeType="1"/>
            </p:cNvSpPr>
            <p:nvPr/>
          </p:nvSpPr>
          <p:spPr bwMode="auto">
            <a:xfrm>
              <a:off x="1077544" y="1796945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476"/>
            <p:cNvSpPr>
              <a:spLocks noChangeShapeType="1"/>
            </p:cNvSpPr>
            <p:nvPr/>
          </p:nvSpPr>
          <p:spPr bwMode="auto">
            <a:xfrm>
              <a:off x="1403648" y="2060848"/>
              <a:ext cx="1080000" cy="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Line 478"/>
            <p:cNvSpPr>
              <a:spLocks noChangeShapeType="1"/>
            </p:cNvSpPr>
            <p:nvPr/>
          </p:nvSpPr>
          <p:spPr bwMode="auto">
            <a:xfrm>
              <a:off x="2052861" y="2062038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479"/>
            <p:cNvSpPr>
              <a:spLocks noChangeShapeType="1"/>
            </p:cNvSpPr>
            <p:nvPr/>
          </p:nvSpPr>
          <p:spPr bwMode="auto">
            <a:xfrm>
              <a:off x="2268885" y="2062038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480"/>
            <p:cNvSpPr>
              <a:spLocks noChangeShapeType="1"/>
            </p:cNvSpPr>
            <p:nvPr/>
          </p:nvSpPr>
          <p:spPr bwMode="auto">
            <a:xfrm>
              <a:off x="2484909" y="2062038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482"/>
            <p:cNvSpPr>
              <a:spLocks noChangeShapeType="1"/>
            </p:cNvSpPr>
            <p:nvPr/>
          </p:nvSpPr>
          <p:spPr bwMode="auto">
            <a:xfrm flipV="1">
              <a:off x="2194675" y="2276872"/>
              <a:ext cx="64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699"/>
            <p:cNvSpPr>
              <a:spLocks noChangeShapeType="1"/>
            </p:cNvSpPr>
            <p:nvPr/>
          </p:nvSpPr>
          <p:spPr bwMode="auto">
            <a:xfrm flipV="1">
              <a:off x="1619672" y="1196776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700"/>
            <p:cNvSpPr>
              <a:spLocks noChangeShapeType="1"/>
            </p:cNvSpPr>
            <p:nvPr/>
          </p:nvSpPr>
          <p:spPr bwMode="auto">
            <a:xfrm>
              <a:off x="1620492" y="1196776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699"/>
            <p:cNvSpPr>
              <a:spLocks noChangeShapeType="1"/>
            </p:cNvSpPr>
            <p:nvPr/>
          </p:nvSpPr>
          <p:spPr bwMode="auto">
            <a:xfrm flipV="1">
              <a:off x="2556917" y="1196776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700"/>
            <p:cNvSpPr>
              <a:spLocks noChangeShapeType="1"/>
            </p:cNvSpPr>
            <p:nvPr/>
          </p:nvSpPr>
          <p:spPr bwMode="auto">
            <a:xfrm>
              <a:off x="2556917" y="1196776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699"/>
            <p:cNvSpPr>
              <a:spLocks noChangeShapeType="1"/>
            </p:cNvSpPr>
            <p:nvPr/>
          </p:nvSpPr>
          <p:spPr bwMode="auto">
            <a:xfrm flipV="1">
              <a:off x="3492700" y="1196776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Line 700"/>
            <p:cNvSpPr>
              <a:spLocks noChangeShapeType="1"/>
            </p:cNvSpPr>
            <p:nvPr/>
          </p:nvSpPr>
          <p:spPr bwMode="auto">
            <a:xfrm>
              <a:off x="3492700" y="1196776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477"/>
            <p:cNvSpPr>
              <a:spLocks noChangeShapeType="1"/>
            </p:cNvSpPr>
            <p:nvPr/>
          </p:nvSpPr>
          <p:spPr bwMode="auto">
            <a:xfrm flipV="1">
              <a:off x="3924000" y="2060848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477"/>
            <p:cNvSpPr>
              <a:spLocks noChangeShapeType="1"/>
            </p:cNvSpPr>
            <p:nvPr/>
          </p:nvSpPr>
          <p:spPr bwMode="auto">
            <a:xfrm flipV="1">
              <a:off x="3707976" y="2060848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Text Box 326"/>
            <p:cNvSpPr txBox="1">
              <a:spLocks noChangeArrowheads="1"/>
            </p:cNvSpPr>
            <p:nvPr/>
          </p:nvSpPr>
          <p:spPr bwMode="auto">
            <a:xfrm>
              <a:off x="3131840" y="1988840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 smtClean="0">
                  <a:latin typeface="宋体" panose="02010600030101010101" pitchFamily="2" charset="-122"/>
                </a:rPr>
                <a:t>DH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48" name="Line 327"/>
            <p:cNvSpPr>
              <a:spLocks noChangeShapeType="1"/>
            </p:cNvSpPr>
            <p:nvPr/>
          </p:nvSpPr>
          <p:spPr bwMode="auto">
            <a:xfrm flipV="1">
              <a:off x="3491880" y="2113804"/>
              <a:ext cx="28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Line 328"/>
            <p:cNvSpPr>
              <a:spLocks noChangeShapeType="1"/>
            </p:cNvSpPr>
            <p:nvPr/>
          </p:nvSpPr>
          <p:spPr bwMode="auto">
            <a:xfrm flipH="1">
              <a:off x="2843808" y="2113804"/>
              <a:ext cx="28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Line 699"/>
            <p:cNvSpPr>
              <a:spLocks noChangeShapeType="1"/>
            </p:cNvSpPr>
            <p:nvPr/>
          </p:nvSpPr>
          <p:spPr bwMode="auto">
            <a:xfrm flipV="1">
              <a:off x="3996756" y="1196776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Line 700"/>
            <p:cNvSpPr>
              <a:spLocks noChangeShapeType="1"/>
            </p:cNvSpPr>
            <p:nvPr/>
          </p:nvSpPr>
          <p:spPr bwMode="auto">
            <a:xfrm>
              <a:off x="3995936" y="1196776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285"/>
            <p:cNvSpPr>
              <a:spLocks noChangeShapeType="1"/>
            </p:cNvSpPr>
            <p:nvPr/>
          </p:nvSpPr>
          <p:spPr bwMode="auto">
            <a:xfrm>
              <a:off x="4139631" y="1412776"/>
              <a:ext cx="360000" cy="89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Line 285"/>
            <p:cNvSpPr>
              <a:spLocks noChangeShapeType="1"/>
            </p:cNvSpPr>
            <p:nvPr/>
          </p:nvSpPr>
          <p:spPr bwMode="auto">
            <a:xfrm>
              <a:off x="3635896" y="1196752"/>
              <a:ext cx="360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Line 285"/>
            <p:cNvSpPr>
              <a:spLocks noChangeShapeType="1"/>
            </p:cNvSpPr>
            <p:nvPr/>
          </p:nvSpPr>
          <p:spPr bwMode="auto">
            <a:xfrm>
              <a:off x="4139630" y="1196752"/>
              <a:ext cx="360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Line 275"/>
            <p:cNvSpPr>
              <a:spLocks noChangeShapeType="1"/>
            </p:cNvSpPr>
            <p:nvPr/>
          </p:nvSpPr>
          <p:spPr bwMode="auto">
            <a:xfrm flipV="1">
              <a:off x="4283992" y="1700808"/>
              <a:ext cx="1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275"/>
            <p:cNvSpPr>
              <a:spLocks noChangeShapeType="1"/>
            </p:cNvSpPr>
            <p:nvPr/>
          </p:nvSpPr>
          <p:spPr bwMode="auto">
            <a:xfrm flipV="1">
              <a:off x="3851960" y="1484784"/>
              <a:ext cx="28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Line 318"/>
            <p:cNvSpPr>
              <a:spLocks noChangeShapeType="1"/>
            </p:cNvSpPr>
            <p:nvPr/>
          </p:nvSpPr>
          <p:spPr bwMode="auto">
            <a:xfrm>
              <a:off x="4141093" y="1484784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Text Box 691"/>
            <p:cNvSpPr txBox="1">
              <a:spLocks noChangeArrowheads="1"/>
            </p:cNvSpPr>
            <p:nvPr/>
          </p:nvSpPr>
          <p:spPr bwMode="auto">
            <a:xfrm>
              <a:off x="855960" y="2348880"/>
              <a:ext cx="54768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 smtClean="0">
                  <a:latin typeface="+mn-lt"/>
                </a:rPr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66" name="Text Box 691"/>
            <p:cNvSpPr txBox="1">
              <a:spLocks noChangeArrowheads="1"/>
            </p:cNvSpPr>
            <p:nvPr/>
          </p:nvSpPr>
          <p:spPr bwMode="auto">
            <a:xfrm>
              <a:off x="827584" y="1196776"/>
              <a:ext cx="54768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 smtClean="0">
                  <a:latin typeface="+mn-lt"/>
                </a:rPr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67" name="Text Box 292"/>
            <p:cNvSpPr txBox="1">
              <a:spLocks noChangeArrowheads="1"/>
            </p:cNvSpPr>
            <p:nvPr/>
          </p:nvSpPr>
          <p:spPr bwMode="auto">
            <a:xfrm>
              <a:off x="2699792" y="908744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W</a:t>
              </a:r>
              <a:r>
                <a:rPr lang="en-US" altLang="zh-CN" sz="1600" b="1" u="none" baseline="-18000" dirty="0" err="1" smtClean="0">
                  <a:latin typeface="宋体" panose="02010600030101010101" pitchFamily="2" charset="-122"/>
                </a:rPr>
                <a:t>C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68" name="Line 293"/>
            <p:cNvSpPr>
              <a:spLocks noChangeShapeType="1"/>
            </p:cNvSpPr>
            <p:nvPr/>
          </p:nvSpPr>
          <p:spPr bwMode="auto">
            <a:xfrm flipV="1">
              <a:off x="3059832" y="1052736"/>
              <a:ext cx="93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Line 294"/>
            <p:cNvSpPr>
              <a:spLocks noChangeShapeType="1"/>
            </p:cNvSpPr>
            <p:nvPr/>
          </p:nvSpPr>
          <p:spPr bwMode="auto">
            <a:xfrm flipH="1">
              <a:off x="1691679" y="1052736"/>
              <a:ext cx="100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Line 358"/>
            <p:cNvSpPr>
              <a:spLocks noChangeShapeType="1"/>
            </p:cNvSpPr>
            <p:nvPr/>
          </p:nvSpPr>
          <p:spPr bwMode="auto">
            <a:xfrm flipH="1">
              <a:off x="1690145" y="980920"/>
              <a:ext cx="1535" cy="158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Line 476"/>
            <p:cNvSpPr>
              <a:spLocks noChangeShapeType="1"/>
            </p:cNvSpPr>
            <p:nvPr/>
          </p:nvSpPr>
          <p:spPr bwMode="auto">
            <a:xfrm>
              <a:off x="3851992" y="2060848"/>
              <a:ext cx="576000" cy="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Text Box 360"/>
            <p:cNvSpPr txBox="1">
              <a:spLocks noChangeArrowheads="1"/>
            </p:cNvSpPr>
            <p:nvPr/>
          </p:nvSpPr>
          <p:spPr bwMode="auto">
            <a:xfrm>
              <a:off x="2123760" y="1484784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AH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87" name="Line 361"/>
            <p:cNvSpPr>
              <a:spLocks noChangeShapeType="1"/>
            </p:cNvSpPr>
            <p:nvPr/>
          </p:nvSpPr>
          <p:spPr bwMode="auto">
            <a:xfrm>
              <a:off x="2411760" y="1609748"/>
              <a:ext cx="21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362"/>
            <p:cNvSpPr>
              <a:spLocks noChangeShapeType="1"/>
            </p:cNvSpPr>
            <p:nvPr/>
          </p:nvSpPr>
          <p:spPr bwMode="auto">
            <a:xfrm flipH="1">
              <a:off x="1907704" y="1609748"/>
              <a:ext cx="21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Text Box 382"/>
            <p:cNvSpPr txBox="1">
              <a:spLocks noChangeArrowheads="1"/>
            </p:cNvSpPr>
            <p:nvPr/>
          </p:nvSpPr>
          <p:spPr bwMode="auto">
            <a:xfrm>
              <a:off x="2195776" y="1772816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RCL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06" name="Line 383"/>
            <p:cNvSpPr>
              <a:spLocks noChangeShapeType="1"/>
            </p:cNvSpPr>
            <p:nvPr/>
          </p:nvSpPr>
          <p:spPr bwMode="auto">
            <a:xfrm>
              <a:off x="2557488" y="1897780"/>
              <a:ext cx="286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384"/>
            <p:cNvSpPr>
              <a:spLocks noChangeShapeType="1"/>
            </p:cNvSpPr>
            <p:nvPr/>
          </p:nvSpPr>
          <p:spPr bwMode="auto">
            <a:xfrm flipH="1" flipV="1">
              <a:off x="1907703" y="1896192"/>
              <a:ext cx="28800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358"/>
            <p:cNvSpPr>
              <a:spLocks noChangeShapeType="1"/>
            </p:cNvSpPr>
            <p:nvPr/>
          </p:nvSpPr>
          <p:spPr bwMode="auto">
            <a:xfrm flipH="1">
              <a:off x="1908274" y="1412920"/>
              <a:ext cx="0" cy="57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359"/>
            <p:cNvSpPr>
              <a:spLocks noChangeShapeType="1"/>
            </p:cNvSpPr>
            <p:nvPr/>
          </p:nvSpPr>
          <p:spPr bwMode="auto">
            <a:xfrm flipH="1">
              <a:off x="2627784" y="1196752"/>
              <a:ext cx="0" cy="50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Box 213"/>
          <p:cNvSpPr txBox="1">
            <a:spLocks noChangeArrowheads="1"/>
          </p:cNvSpPr>
          <p:nvPr/>
        </p:nvSpPr>
        <p:spPr bwMode="auto">
          <a:xfrm>
            <a:off x="179387" y="332656"/>
            <a:ext cx="3887415" cy="541430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4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DRAM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芯片的刷新</a:t>
            </a:r>
            <a:endParaRPr lang="zh-CN" altLang="en-US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芯片的刷新操作</a:t>
            </a:r>
            <a:endParaRPr lang="en-US" altLang="zh-CN" b="1" u="none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刷新需求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8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*刷新操作的功能：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刷新周期的时序：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endParaRPr lang="en-US" altLang="zh-CN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8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刷新操作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的组织：</a:t>
            </a:r>
            <a:endParaRPr lang="zh-CN" altLang="en-US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53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2" y="6525690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23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60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22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44" name="Text Box 214"/>
          <p:cNvSpPr txBox="1">
            <a:spLocks noChangeArrowheads="1"/>
          </p:cNvSpPr>
          <p:nvPr/>
        </p:nvSpPr>
        <p:spPr bwMode="auto">
          <a:xfrm>
            <a:off x="2339752" y="1268760"/>
            <a:ext cx="6552728" cy="138345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读出后写入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同读操作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、数据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不输出到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引脚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u="none" dirty="0" smtClean="0">
                <a:latin typeface="宋体" panose="02010600030101010101" pitchFamily="2" charset="-122"/>
              </a:rPr>
              <a:t>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                   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       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列译码器</a:t>
            </a:r>
            <a:r>
              <a:rPr lang="zh-CN" altLang="en-US" sz="1800" b="1" u="none" dirty="0">
                <a:latin typeface="宋体" panose="02010600030101010101" pitchFamily="2" charset="-122"/>
              </a:rPr>
              <a:t>输出</a:t>
            </a:r>
            <a:r>
              <a:rPr lang="zh-CN" altLang="en-US" sz="18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全部</a:t>
            </a:r>
            <a:r>
              <a:rPr lang="zh-CN" altLang="en-US" sz="18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无效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1800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b="1" u="none" dirty="0" smtClean="0">
                <a:latin typeface="宋体" panose="02010600030101010101" pitchFamily="2" charset="-122"/>
              </a:rPr>
              <a:t>    刷新</a:t>
            </a:r>
            <a:r>
              <a:rPr lang="zh-CN" altLang="en-US" b="1" dirty="0" smtClean="0">
                <a:latin typeface="宋体" panose="02010600030101010101" pitchFamily="2" charset="-122"/>
              </a:rPr>
              <a:t>同一行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的所有存储元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行刷新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)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grpSp>
        <p:nvGrpSpPr>
          <p:cNvPr id="246" name="组合 245"/>
          <p:cNvGrpSpPr/>
          <p:nvPr/>
        </p:nvGrpSpPr>
        <p:grpSpPr>
          <a:xfrm>
            <a:off x="2915816" y="2564904"/>
            <a:ext cx="4176588" cy="553998"/>
            <a:chOff x="179389" y="2291535"/>
            <a:chExt cx="4176588" cy="553998"/>
          </a:xfrm>
        </p:grpSpPr>
        <p:sp>
          <p:nvSpPr>
            <p:cNvPr id="247" name="Text Box 355"/>
            <p:cNvSpPr txBox="1">
              <a:spLocks noChangeArrowheads="1"/>
            </p:cNvSpPr>
            <p:nvPr/>
          </p:nvSpPr>
          <p:spPr bwMode="auto">
            <a:xfrm>
              <a:off x="179389" y="2291535"/>
              <a:ext cx="4176588" cy="55399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b="1" u="none" dirty="0" smtClean="0">
                  <a:latin typeface="宋体" panose="02010600030101010101" pitchFamily="2" charset="-122"/>
                </a:rPr>
                <a:t>类似</a:t>
              </a:r>
              <a:r>
                <a:rPr lang="zh-CN" altLang="en-US" b="1" u="none" dirty="0">
                  <a:latin typeface="宋体" panose="02010600030101010101" pitchFamily="2" charset="-122"/>
                </a:rPr>
                <a:t>于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读周期</a:t>
              </a:r>
              <a:r>
                <a:rPr lang="zh-CN" altLang="en-US" b="1" u="none" dirty="0">
                  <a:latin typeface="宋体" panose="02010600030101010101" pitchFamily="2" charset="-122"/>
                </a:rPr>
                <a:t>，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CAS</a:t>
              </a:r>
              <a:r>
                <a:rPr lang="zh-CN" altLang="en-US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一直无效</a:t>
              </a:r>
              <a:r>
                <a:rPr lang="zh-CN" altLang="en-US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 </a:t>
              </a:r>
              <a:endParaRPr lang="en-US" altLang="zh-CN" b="1" u="none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8" name="Line 514"/>
            <p:cNvSpPr>
              <a:spLocks noChangeShapeType="1"/>
            </p:cNvSpPr>
            <p:nvPr/>
          </p:nvSpPr>
          <p:spPr bwMode="auto">
            <a:xfrm>
              <a:off x="2411573" y="2444631"/>
              <a:ext cx="43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0" name="组合 329"/>
          <p:cNvGrpSpPr/>
          <p:nvPr/>
        </p:nvGrpSpPr>
        <p:grpSpPr>
          <a:xfrm>
            <a:off x="5004047" y="3496892"/>
            <a:ext cx="3240361" cy="1444276"/>
            <a:chOff x="5292079" y="3712916"/>
            <a:chExt cx="3240361" cy="1444276"/>
          </a:xfrm>
        </p:grpSpPr>
        <p:sp>
          <p:nvSpPr>
            <p:cNvPr id="331" name="Text Box 372"/>
            <p:cNvSpPr txBox="1">
              <a:spLocks noChangeArrowheads="1"/>
            </p:cNvSpPr>
            <p:nvPr/>
          </p:nvSpPr>
          <p:spPr bwMode="auto">
            <a:xfrm>
              <a:off x="5292079" y="3712916"/>
              <a:ext cx="3240361" cy="144427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30000"/>
                </a:lnSpc>
              </a:pPr>
              <a:r>
                <a:rPr lang="en-US" altLang="zh-CN" sz="18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20000" dirty="0" err="1" smtClean="0">
                  <a:latin typeface="宋体" panose="02010600030101010101" pitchFamily="2" charset="-122"/>
                </a:rPr>
                <a:t>RC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-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-RAS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与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CAS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信号最大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延迟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8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 smtClean="0">
                  <a:latin typeface="宋体" panose="02010600030101010101" pitchFamily="2" charset="-122"/>
                </a:rPr>
                <a:t>CAC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—CAS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有效→数据输出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稳定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8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 smtClean="0">
                  <a:latin typeface="宋体" panose="02010600030101010101" pitchFamily="2" charset="-122"/>
                </a:rPr>
                <a:t>RF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—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刷新时间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8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 smtClean="0">
                  <a:latin typeface="宋体" panose="02010600030101010101" pitchFamily="2" charset="-122"/>
                </a:rPr>
                <a:t>A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最大值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)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8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800" b="1" u="none" baseline="-18000" dirty="0" err="1" smtClean="0">
                  <a:latin typeface="宋体" panose="02010600030101010101" pitchFamily="2" charset="-122"/>
                </a:rPr>
                <a:t>RFC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—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刷新周期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两次间隔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)</a:t>
              </a:r>
              <a:endParaRPr lang="zh-CN" altLang="en-US" sz="18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332" name="Line 386"/>
            <p:cNvSpPr>
              <a:spLocks noChangeShapeType="1"/>
            </p:cNvSpPr>
            <p:nvPr/>
          </p:nvSpPr>
          <p:spPr bwMode="auto">
            <a:xfrm>
              <a:off x="6408032" y="3816024"/>
              <a:ext cx="31461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Line 385"/>
            <p:cNvSpPr>
              <a:spLocks noChangeShapeType="1"/>
            </p:cNvSpPr>
            <p:nvPr/>
          </p:nvSpPr>
          <p:spPr bwMode="auto">
            <a:xfrm>
              <a:off x="5832032" y="3816024"/>
              <a:ext cx="31461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Line 386"/>
            <p:cNvSpPr>
              <a:spLocks noChangeShapeType="1"/>
            </p:cNvSpPr>
            <p:nvPr/>
          </p:nvSpPr>
          <p:spPr bwMode="auto">
            <a:xfrm>
              <a:off x="5886032" y="4158024"/>
              <a:ext cx="31461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7" name="组合 336"/>
          <p:cNvGrpSpPr/>
          <p:nvPr/>
        </p:nvGrpSpPr>
        <p:grpSpPr>
          <a:xfrm>
            <a:off x="5724128" y="3043001"/>
            <a:ext cx="3240360" cy="349391"/>
            <a:chOff x="179389" y="2269469"/>
            <a:chExt cx="3240360" cy="349391"/>
          </a:xfrm>
        </p:grpSpPr>
        <p:sp>
          <p:nvSpPr>
            <p:cNvPr id="338" name="Text Box 355"/>
            <p:cNvSpPr txBox="1">
              <a:spLocks noChangeArrowheads="1"/>
            </p:cNvSpPr>
            <p:nvPr/>
          </p:nvSpPr>
          <p:spPr bwMode="auto">
            <a:xfrm>
              <a:off x="179389" y="2269469"/>
              <a:ext cx="3240360" cy="3493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zh-CN" altLang="en-US" sz="1800" u="none" dirty="0">
                  <a:latin typeface="宋体" panose="02010600030101010101" pitchFamily="2" charset="-122"/>
                </a:rPr>
                <a:t>└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→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WE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值任意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时钟发生器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串联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39" name="Line 514"/>
            <p:cNvSpPr>
              <a:spLocks noChangeShapeType="1"/>
            </p:cNvSpPr>
            <p:nvPr/>
          </p:nvSpPr>
          <p:spPr bwMode="auto">
            <a:xfrm>
              <a:off x="733140" y="2341608"/>
              <a:ext cx="24385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987824" y="5032425"/>
            <a:ext cx="5472608" cy="844847"/>
            <a:chOff x="3131840" y="5373216"/>
            <a:chExt cx="5472608" cy="844847"/>
          </a:xfrm>
        </p:grpSpPr>
        <p:sp>
          <p:nvSpPr>
            <p:cNvPr id="335" name="Text Box 95"/>
            <p:cNvSpPr txBox="1">
              <a:spLocks noChangeArrowheads="1"/>
            </p:cNvSpPr>
            <p:nvPr/>
          </p:nvSpPr>
          <p:spPr bwMode="auto">
            <a:xfrm>
              <a:off x="3131840" y="5373216"/>
              <a:ext cx="5472608" cy="84484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b="1" u="none" dirty="0" smtClean="0">
                  <a:latin typeface="宋体" panose="02010600030101010101" pitchFamily="2" charset="-122"/>
                </a:rPr>
                <a:t>用</a:t>
              </a:r>
              <a:r>
                <a:rPr lang="zh-CN" altLang="en-US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定时器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检测</a:t>
              </a:r>
              <a:r>
                <a:rPr lang="en-US" altLang="zh-CN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b="1" u="none" baseline="-20000" dirty="0" err="1" smtClean="0">
                  <a:latin typeface="宋体" panose="02010600030101010101" pitchFamily="2" charset="-122"/>
                </a:rPr>
                <a:t>RC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，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CAS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无效时为刷新</a:t>
              </a:r>
              <a:endParaRPr lang="en-US" altLang="zh-CN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zh-CN" altLang="en-US" sz="1800" u="none" dirty="0" smtClean="0">
                  <a:latin typeface="宋体" panose="02010600030101010101" pitchFamily="2" charset="-122"/>
                </a:rPr>
                <a:t>     └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→无需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设置刷新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引脚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6" name="Line 514"/>
            <p:cNvSpPr>
              <a:spLocks noChangeShapeType="1"/>
            </p:cNvSpPr>
            <p:nvPr/>
          </p:nvSpPr>
          <p:spPr bwMode="auto">
            <a:xfrm>
              <a:off x="5724016" y="5524791"/>
              <a:ext cx="43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898812" y="3212976"/>
            <a:ext cx="3889212" cy="1800152"/>
            <a:chOff x="898812" y="1124744"/>
            <a:chExt cx="3889212" cy="1800152"/>
          </a:xfrm>
        </p:grpSpPr>
        <p:sp>
          <p:nvSpPr>
            <p:cNvPr id="99" name="Line 267"/>
            <p:cNvSpPr>
              <a:spLocks noChangeShapeType="1"/>
            </p:cNvSpPr>
            <p:nvPr/>
          </p:nvSpPr>
          <p:spPr bwMode="auto">
            <a:xfrm flipV="1">
              <a:off x="1474876" y="1553494"/>
              <a:ext cx="21684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268"/>
            <p:cNvSpPr>
              <a:spLocks noChangeShapeType="1"/>
            </p:cNvSpPr>
            <p:nvPr/>
          </p:nvSpPr>
          <p:spPr bwMode="auto">
            <a:xfrm flipV="1">
              <a:off x="1474877" y="1772792"/>
              <a:ext cx="216844" cy="10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269"/>
            <p:cNvSpPr>
              <a:spLocks noChangeShapeType="1"/>
            </p:cNvSpPr>
            <p:nvPr/>
          </p:nvSpPr>
          <p:spPr bwMode="auto">
            <a:xfrm>
              <a:off x="1834916" y="1556768"/>
              <a:ext cx="936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270"/>
            <p:cNvSpPr>
              <a:spLocks noChangeShapeType="1"/>
            </p:cNvSpPr>
            <p:nvPr/>
          </p:nvSpPr>
          <p:spPr bwMode="auto">
            <a:xfrm flipV="1">
              <a:off x="1836827" y="1772792"/>
              <a:ext cx="936000" cy="79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271"/>
            <p:cNvSpPr>
              <a:spLocks noChangeShapeType="1"/>
            </p:cNvSpPr>
            <p:nvPr/>
          </p:nvSpPr>
          <p:spPr bwMode="auto">
            <a:xfrm flipV="1">
              <a:off x="1474876" y="1843212"/>
              <a:ext cx="431800" cy="1588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272"/>
            <p:cNvSpPr>
              <a:spLocks noChangeShapeType="1"/>
            </p:cNvSpPr>
            <p:nvPr/>
          </p:nvSpPr>
          <p:spPr bwMode="auto">
            <a:xfrm>
              <a:off x="1474875" y="2816896"/>
              <a:ext cx="3024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273"/>
            <p:cNvSpPr>
              <a:spLocks noChangeShapeType="1"/>
            </p:cNvSpPr>
            <p:nvPr/>
          </p:nvSpPr>
          <p:spPr bwMode="auto">
            <a:xfrm>
              <a:off x="2051906" y="2060611"/>
              <a:ext cx="1944000" cy="213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274"/>
            <p:cNvSpPr>
              <a:spLocks noChangeShapeType="1"/>
            </p:cNvSpPr>
            <p:nvPr/>
          </p:nvSpPr>
          <p:spPr bwMode="auto">
            <a:xfrm flipV="1">
              <a:off x="3995156" y="184480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285"/>
            <p:cNvSpPr>
              <a:spLocks noChangeShapeType="1"/>
            </p:cNvSpPr>
            <p:nvPr/>
          </p:nvSpPr>
          <p:spPr bwMode="auto">
            <a:xfrm>
              <a:off x="3707945" y="1772792"/>
              <a:ext cx="576064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286"/>
            <p:cNvSpPr>
              <a:spLocks noChangeShapeType="1"/>
            </p:cNvSpPr>
            <p:nvPr/>
          </p:nvSpPr>
          <p:spPr bwMode="auto">
            <a:xfrm flipV="1">
              <a:off x="4499211" y="2816896"/>
              <a:ext cx="288000" cy="1586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287"/>
            <p:cNvSpPr>
              <a:spLocks noChangeShapeType="1"/>
            </p:cNvSpPr>
            <p:nvPr/>
          </p:nvSpPr>
          <p:spPr bwMode="auto">
            <a:xfrm flipH="1">
              <a:off x="4355196" y="1184078"/>
              <a:ext cx="1143" cy="118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Text Box 292"/>
            <p:cNvSpPr txBox="1">
              <a:spLocks noChangeArrowheads="1"/>
            </p:cNvSpPr>
            <p:nvPr/>
          </p:nvSpPr>
          <p:spPr bwMode="auto">
            <a:xfrm>
              <a:off x="2843840" y="1268760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 smtClean="0">
                  <a:latin typeface="宋体" panose="02010600030101010101" pitchFamily="2" charset="-122"/>
                </a:rPr>
                <a:t>RF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11" name="Line 293"/>
            <p:cNvSpPr>
              <a:spLocks noChangeShapeType="1"/>
            </p:cNvSpPr>
            <p:nvPr/>
          </p:nvSpPr>
          <p:spPr bwMode="auto">
            <a:xfrm flipV="1">
              <a:off x="3203848" y="1393700"/>
              <a:ext cx="86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294"/>
            <p:cNvSpPr>
              <a:spLocks noChangeShapeType="1"/>
            </p:cNvSpPr>
            <p:nvPr/>
          </p:nvSpPr>
          <p:spPr bwMode="auto">
            <a:xfrm flipH="1">
              <a:off x="1979712" y="1393700"/>
              <a:ext cx="86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300"/>
            <p:cNvSpPr>
              <a:spLocks noChangeShapeType="1"/>
            </p:cNvSpPr>
            <p:nvPr/>
          </p:nvSpPr>
          <p:spPr bwMode="auto">
            <a:xfrm flipV="1">
              <a:off x="1474876" y="2421360"/>
              <a:ext cx="331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318"/>
            <p:cNvSpPr>
              <a:spLocks noChangeShapeType="1"/>
            </p:cNvSpPr>
            <p:nvPr/>
          </p:nvSpPr>
          <p:spPr bwMode="auto">
            <a:xfrm>
              <a:off x="1908065" y="184480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Text Box 326"/>
            <p:cNvSpPr txBox="1">
              <a:spLocks noChangeArrowheads="1"/>
            </p:cNvSpPr>
            <p:nvPr/>
          </p:nvSpPr>
          <p:spPr bwMode="auto">
            <a:xfrm>
              <a:off x="3419912" y="2492872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CAC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16" name="Line 327"/>
            <p:cNvSpPr>
              <a:spLocks noChangeShapeType="1"/>
            </p:cNvSpPr>
            <p:nvPr/>
          </p:nvSpPr>
          <p:spPr bwMode="auto">
            <a:xfrm>
              <a:off x="3779944" y="2617836"/>
              <a:ext cx="288000" cy="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328"/>
            <p:cNvSpPr>
              <a:spLocks noChangeShapeType="1"/>
            </p:cNvSpPr>
            <p:nvPr/>
          </p:nvSpPr>
          <p:spPr bwMode="auto">
            <a:xfrm flipH="1" flipV="1">
              <a:off x="3131840" y="2617836"/>
              <a:ext cx="28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338"/>
            <p:cNvSpPr>
              <a:spLocks noChangeShapeType="1"/>
            </p:cNvSpPr>
            <p:nvPr/>
          </p:nvSpPr>
          <p:spPr bwMode="auto">
            <a:xfrm flipV="1">
              <a:off x="2771841" y="1556768"/>
              <a:ext cx="792000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339"/>
            <p:cNvSpPr>
              <a:spLocks noChangeShapeType="1"/>
            </p:cNvSpPr>
            <p:nvPr/>
          </p:nvSpPr>
          <p:spPr bwMode="auto">
            <a:xfrm>
              <a:off x="2771840" y="1772792"/>
              <a:ext cx="791269" cy="10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Text Box 344"/>
            <p:cNvSpPr txBox="1">
              <a:spLocks noChangeArrowheads="1"/>
            </p:cNvSpPr>
            <p:nvPr/>
          </p:nvSpPr>
          <p:spPr bwMode="auto">
            <a:xfrm>
              <a:off x="1835736" y="1556792"/>
              <a:ext cx="72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行地址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21" name="Line 349"/>
            <p:cNvSpPr>
              <a:spLocks noChangeShapeType="1"/>
            </p:cNvSpPr>
            <p:nvPr/>
          </p:nvSpPr>
          <p:spPr bwMode="auto">
            <a:xfrm>
              <a:off x="1474876" y="2132832"/>
              <a:ext cx="266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352"/>
            <p:cNvSpPr>
              <a:spLocks noChangeShapeType="1"/>
            </p:cNvSpPr>
            <p:nvPr/>
          </p:nvSpPr>
          <p:spPr bwMode="auto">
            <a:xfrm flipV="1">
              <a:off x="4139252" y="2132832"/>
              <a:ext cx="648000" cy="1295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363"/>
            <p:cNvSpPr>
              <a:spLocks noChangeShapeType="1"/>
            </p:cNvSpPr>
            <p:nvPr/>
          </p:nvSpPr>
          <p:spPr bwMode="auto">
            <a:xfrm>
              <a:off x="3131838" y="1844800"/>
              <a:ext cx="2" cy="10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375"/>
            <p:cNvSpPr>
              <a:spLocks noChangeShapeType="1"/>
            </p:cNvSpPr>
            <p:nvPr/>
          </p:nvSpPr>
          <p:spPr bwMode="auto">
            <a:xfrm>
              <a:off x="4067944" y="1299346"/>
              <a:ext cx="0" cy="162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Text Box 404"/>
            <p:cNvSpPr txBox="1">
              <a:spLocks noChangeArrowheads="1"/>
            </p:cNvSpPr>
            <p:nvPr/>
          </p:nvSpPr>
          <p:spPr bwMode="auto">
            <a:xfrm>
              <a:off x="1114876" y="1844800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26" name="Line 405"/>
            <p:cNvSpPr>
              <a:spLocks noChangeShapeType="1"/>
            </p:cNvSpPr>
            <p:nvPr/>
          </p:nvSpPr>
          <p:spPr bwMode="auto">
            <a:xfrm>
              <a:off x="1148772" y="1870377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Text Box 436"/>
            <p:cNvSpPr txBox="1">
              <a:spLocks noChangeArrowheads="1"/>
            </p:cNvSpPr>
            <p:nvPr/>
          </p:nvSpPr>
          <p:spPr bwMode="auto">
            <a:xfrm>
              <a:off x="1157898" y="2420864"/>
              <a:ext cx="288602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28" name="Line 437"/>
            <p:cNvSpPr>
              <a:spLocks noChangeShapeType="1"/>
            </p:cNvSpPr>
            <p:nvPr/>
          </p:nvSpPr>
          <p:spPr bwMode="auto">
            <a:xfrm flipV="1">
              <a:off x="1208636" y="2444679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129" name="Text Box 439"/>
            <p:cNvSpPr txBox="1">
              <a:spLocks noChangeArrowheads="1"/>
            </p:cNvSpPr>
            <p:nvPr/>
          </p:nvSpPr>
          <p:spPr bwMode="auto">
            <a:xfrm>
              <a:off x="1114836" y="2132832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30" name="Line 440"/>
            <p:cNvSpPr>
              <a:spLocks noChangeShapeType="1"/>
            </p:cNvSpPr>
            <p:nvPr/>
          </p:nvSpPr>
          <p:spPr bwMode="auto">
            <a:xfrm>
              <a:off x="1148772" y="2156961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476"/>
            <p:cNvSpPr>
              <a:spLocks noChangeShapeType="1"/>
            </p:cNvSpPr>
            <p:nvPr/>
          </p:nvSpPr>
          <p:spPr bwMode="auto">
            <a:xfrm>
              <a:off x="1474876" y="2636888"/>
              <a:ext cx="1080000" cy="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477"/>
            <p:cNvSpPr>
              <a:spLocks noChangeShapeType="1"/>
            </p:cNvSpPr>
            <p:nvPr/>
          </p:nvSpPr>
          <p:spPr bwMode="auto">
            <a:xfrm flipV="1">
              <a:off x="2556137" y="2422054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478"/>
            <p:cNvSpPr>
              <a:spLocks noChangeShapeType="1"/>
            </p:cNvSpPr>
            <p:nvPr/>
          </p:nvSpPr>
          <p:spPr bwMode="auto">
            <a:xfrm>
              <a:off x="3996297" y="2422054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Line 479"/>
            <p:cNvSpPr>
              <a:spLocks noChangeShapeType="1"/>
            </p:cNvSpPr>
            <p:nvPr/>
          </p:nvSpPr>
          <p:spPr bwMode="auto">
            <a:xfrm>
              <a:off x="4212321" y="2422054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480"/>
            <p:cNvSpPr>
              <a:spLocks noChangeShapeType="1"/>
            </p:cNvSpPr>
            <p:nvPr/>
          </p:nvSpPr>
          <p:spPr bwMode="auto">
            <a:xfrm>
              <a:off x="4428345" y="2422054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482"/>
            <p:cNvSpPr>
              <a:spLocks noChangeShapeType="1"/>
            </p:cNvSpPr>
            <p:nvPr/>
          </p:nvSpPr>
          <p:spPr bwMode="auto">
            <a:xfrm flipV="1">
              <a:off x="4139252" y="2636888"/>
              <a:ext cx="64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483"/>
            <p:cNvSpPr>
              <a:spLocks noChangeShapeType="1"/>
            </p:cNvSpPr>
            <p:nvPr/>
          </p:nvSpPr>
          <p:spPr bwMode="auto">
            <a:xfrm>
              <a:off x="4644369" y="2422054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699"/>
            <p:cNvSpPr>
              <a:spLocks noChangeShapeType="1"/>
            </p:cNvSpPr>
            <p:nvPr/>
          </p:nvSpPr>
          <p:spPr bwMode="auto">
            <a:xfrm flipV="1">
              <a:off x="1690900" y="1556792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700"/>
            <p:cNvSpPr>
              <a:spLocks noChangeShapeType="1"/>
            </p:cNvSpPr>
            <p:nvPr/>
          </p:nvSpPr>
          <p:spPr bwMode="auto">
            <a:xfrm>
              <a:off x="1691720" y="1556792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358"/>
            <p:cNvSpPr>
              <a:spLocks noChangeShapeType="1"/>
            </p:cNvSpPr>
            <p:nvPr/>
          </p:nvSpPr>
          <p:spPr bwMode="auto">
            <a:xfrm flipH="1">
              <a:off x="1978932" y="1304912"/>
              <a:ext cx="570" cy="133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699"/>
            <p:cNvSpPr>
              <a:spLocks noChangeShapeType="1"/>
            </p:cNvSpPr>
            <p:nvPr/>
          </p:nvSpPr>
          <p:spPr bwMode="auto">
            <a:xfrm flipV="1">
              <a:off x="3563928" y="1556792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700"/>
            <p:cNvSpPr>
              <a:spLocks noChangeShapeType="1"/>
            </p:cNvSpPr>
            <p:nvPr/>
          </p:nvSpPr>
          <p:spPr bwMode="auto">
            <a:xfrm>
              <a:off x="3563928" y="1556792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477"/>
            <p:cNvSpPr>
              <a:spLocks noChangeShapeType="1"/>
            </p:cNvSpPr>
            <p:nvPr/>
          </p:nvSpPr>
          <p:spPr bwMode="auto">
            <a:xfrm flipV="1">
              <a:off x="2340113" y="2420864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Line 477"/>
            <p:cNvSpPr>
              <a:spLocks noChangeShapeType="1"/>
            </p:cNvSpPr>
            <p:nvPr/>
          </p:nvSpPr>
          <p:spPr bwMode="auto">
            <a:xfrm flipV="1">
              <a:off x="2124089" y="2420864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477"/>
            <p:cNvSpPr>
              <a:spLocks noChangeShapeType="1"/>
            </p:cNvSpPr>
            <p:nvPr/>
          </p:nvSpPr>
          <p:spPr bwMode="auto">
            <a:xfrm flipV="1">
              <a:off x="1908065" y="2420864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477"/>
            <p:cNvSpPr>
              <a:spLocks noChangeShapeType="1"/>
            </p:cNvSpPr>
            <p:nvPr/>
          </p:nvSpPr>
          <p:spPr bwMode="auto">
            <a:xfrm flipV="1">
              <a:off x="1692041" y="2420864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699"/>
            <p:cNvSpPr>
              <a:spLocks noChangeShapeType="1"/>
            </p:cNvSpPr>
            <p:nvPr/>
          </p:nvSpPr>
          <p:spPr bwMode="auto">
            <a:xfrm flipV="1">
              <a:off x="4285149" y="1556792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700"/>
            <p:cNvSpPr>
              <a:spLocks noChangeShapeType="1"/>
            </p:cNvSpPr>
            <p:nvPr/>
          </p:nvSpPr>
          <p:spPr bwMode="auto">
            <a:xfrm>
              <a:off x="4284329" y="1556792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Line 285"/>
            <p:cNvSpPr>
              <a:spLocks noChangeShapeType="1"/>
            </p:cNvSpPr>
            <p:nvPr/>
          </p:nvSpPr>
          <p:spPr bwMode="auto">
            <a:xfrm>
              <a:off x="4428024" y="1772792"/>
              <a:ext cx="360000" cy="89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Line 285"/>
            <p:cNvSpPr>
              <a:spLocks noChangeShapeType="1"/>
            </p:cNvSpPr>
            <p:nvPr/>
          </p:nvSpPr>
          <p:spPr bwMode="auto">
            <a:xfrm>
              <a:off x="3707124" y="1556768"/>
              <a:ext cx="576064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Line 285"/>
            <p:cNvSpPr>
              <a:spLocks noChangeShapeType="1"/>
            </p:cNvSpPr>
            <p:nvPr/>
          </p:nvSpPr>
          <p:spPr bwMode="auto">
            <a:xfrm>
              <a:off x="4428023" y="1556768"/>
              <a:ext cx="360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Line 275"/>
            <p:cNvSpPr>
              <a:spLocks noChangeShapeType="1"/>
            </p:cNvSpPr>
            <p:nvPr/>
          </p:nvSpPr>
          <p:spPr bwMode="auto">
            <a:xfrm flipV="1">
              <a:off x="4643252" y="2060824"/>
              <a:ext cx="1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275"/>
            <p:cNvSpPr>
              <a:spLocks noChangeShapeType="1"/>
            </p:cNvSpPr>
            <p:nvPr/>
          </p:nvSpPr>
          <p:spPr bwMode="auto">
            <a:xfrm flipV="1">
              <a:off x="4139172" y="1844800"/>
              <a:ext cx="36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318"/>
            <p:cNvSpPr>
              <a:spLocks noChangeShapeType="1"/>
            </p:cNvSpPr>
            <p:nvPr/>
          </p:nvSpPr>
          <p:spPr bwMode="auto">
            <a:xfrm>
              <a:off x="4500353" y="184480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Text Box 691"/>
            <p:cNvSpPr txBox="1">
              <a:spLocks noChangeArrowheads="1"/>
            </p:cNvSpPr>
            <p:nvPr/>
          </p:nvSpPr>
          <p:spPr bwMode="auto">
            <a:xfrm>
              <a:off x="927188" y="2708896"/>
              <a:ext cx="54768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 smtClean="0">
                  <a:latin typeface="+mn-lt"/>
                </a:rPr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57" name="Text Box 691"/>
            <p:cNvSpPr txBox="1">
              <a:spLocks noChangeArrowheads="1"/>
            </p:cNvSpPr>
            <p:nvPr/>
          </p:nvSpPr>
          <p:spPr bwMode="auto">
            <a:xfrm>
              <a:off x="898812" y="1556792"/>
              <a:ext cx="54768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 smtClean="0">
                  <a:latin typeface="+mn-lt"/>
                </a:rPr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58" name="Text Box 292"/>
            <p:cNvSpPr txBox="1">
              <a:spLocks noChangeArrowheads="1"/>
            </p:cNvSpPr>
            <p:nvPr/>
          </p:nvSpPr>
          <p:spPr bwMode="auto">
            <a:xfrm>
              <a:off x="2843808" y="1124744"/>
              <a:ext cx="43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 smtClean="0">
                  <a:latin typeface="宋体" panose="02010600030101010101" pitchFamily="2" charset="-122"/>
                </a:rPr>
                <a:t>RFC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59" name="Line 293"/>
            <p:cNvSpPr>
              <a:spLocks noChangeShapeType="1"/>
            </p:cNvSpPr>
            <p:nvPr/>
          </p:nvSpPr>
          <p:spPr bwMode="auto">
            <a:xfrm flipV="1">
              <a:off x="3275076" y="1242577"/>
              <a:ext cx="108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Line 294"/>
            <p:cNvSpPr>
              <a:spLocks noChangeShapeType="1"/>
            </p:cNvSpPr>
            <p:nvPr/>
          </p:nvSpPr>
          <p:spPr bwMode="auto">
            <a:xfrm flipH="1">
              <a:off x="1762907" y="1242577"/>
              <a:ext cx="108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Line 358"/>
            <p:cNvSpPr>
              <a:spLocks noChangeShapeType="1"/>
            </p:cNvSpPr>
            <p:nvPr/>
          </p:nvSpPr>
          <p:spPr bwMode="auto">
            <a:xfrm flipH="1">
              <a:off x="1761373" y="1196881"/>
              <a:ext cx="1535" cy="172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476"/>
            <p:cNvSpPr>
              <a:spLocks noChangeShapeType="1"/>
            </p:cNvSpPr>
            <p:nvPr/>
          </p:nvSpPr>
          <p:spPr bwMode="auto">
            <a:xfrm>
              <a:off x="1475656" y="2348879"/>
              <a:ext cx="432000" cy="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Line 477"/>
            <p:cNvSpPr>
              <a:spLocks noChangeShapeType="1"/>
            </p:cNvSpPr>
            <p:nvPr/>
          </p:nvSpPr>
          <p:spPr bwMode="auto">
            <a:xfrm flipV="1">
              <a:off x="1908845" y="2132855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Line 477"/>
            <p:cNvSpPr>
              <a:spLocks noChangeShapeType="1"/>
            </p:cNvSpPr>
            <p:nvPr/>
          </p:nvSpPr>
          <p:spPr bwMode="auto">
            <a:xfrm flipV="1">
              <a:off x="1692821" y="2132855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Line 478"/>
            <p:cNvSpPr>
              <a:spLocks noChangeShapeType="1"/>
            </p:cNvSpPr>
            <p:nvPr/>
          </p:nvSpPr>
          <p:spPr bwMode="auto">
            <a:xfrm>
              <a:off x="3995936" y="2132856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Line 479"/>
            <p:cNvSpPr>
              <a:spLocks noChangeShapeType="1"/>
            </p:cNvSpPr>
            <p:nvPr/>
          </p:nvSpPr>
          <p:spPr bwMode="auto">
            <a:xfrm>
              <a:off x="4211960" y="2132856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Line 482"/>
            <p:cNvSpPr>
              <a:spLocks noChangeShapeType="1"/>
            </p:cNvSpPr>
            <p:nvPr/>
          </p:nvSpPr>
          <p:spPr bwMode="auto">
            <a:xfrm flipV="1">
              <a:off x="4138891" y="2347690"/>
              <a:ext cx="64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Text Box 326"/>
            <p:cNvSpPr txBox="1">
              <a:spLocks noChangeArrowheads="1"/>
            </p:cNvSpPr>
            <p:nvPr/>
          </p:nvSpPr>
          <p:spPr bwMode="auto">
            <a:xfrm>
              <a:off x="2411760" y="2132856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 smtClean="0">
                  <a:latin typeface="宋体" panose="02010600030101010101" pitchFamily="2" charset="-122"/>
                </a:rPr>
                <a:t>RC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70" name="Line 327"/>
            <p:cNvSpPr>
              <a:spLocks noChangeShapeType="1"/>
            </p:cNvSpPr>
            <p:nvPr/>
          </p:nvSpPr>
          <p:spPr bwMode="auto">
            <a:xfrm>
              <a:off x="2699792" y="2257820"/>
              <a:ext cx="432000" cy="6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Line 328"/>
            <p:cNvSpPr>
              <a:spLocks noChangeShapeType="1"/>
            </p:cNvSpPr>
            <p:nvPr/>
          </p:nvSpPr>
          <p:spPr bwMode="auto">
            <a:xfrm flipH="1" flipV="1">
              <a:off x="1979712" y="2257820"/>
              <a:ext cx="43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Oval 645"/>
            <p:cNvSpPr>
              <a:spLocks noChangeArrowheads="1"/>
            </p:cNvSpPr>
            <p:nvPr/>
          </p:nvSpPr>
          <p:spPr bwMode="auto">
            <a:xfrm>
              <a:off x="3059832" y="1844824"/>
              <a:ext cx="144463" cy="144462"/>
            </a:xfrm>
            <a:prstGeom prst="ellipse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rgbClr val="990099"/>
              </a:solidFill>
              <a:prstDash val="sysDot"/>
              <a:round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" name="直角上箭头 4"/>
          <p:cNvSpPr/>
          <p:nvPr/>
        </p:nvSpPr>
        <p:spPr bwMode="auto">
          <a:xfrm>
            <a:off x="7812360" y="2060848"/>
            <a:ext cx="324544" cy="432048"/>
          </a:xfrm>
          <a:prstGeom prst="bentUpArrow">
            <a:avLst>
              <a:gd name="adj1" fmla="val 16615"/>
              <a:gd name="adj2" fmla="val 25000"/>
              <a:gd name="adj3" fmla="val 18292"/>
            </a:avLst>
          </a:prstGeom>
          <a:noFill/>
          <a:ln w="12700">
            <a:solidFill>
              <a:schemeClr val="tx1"/>
            </a:solidFill>
            <a:miter lim="800000"/>
          </a:ln>
          <a:effectLst/>
          <a:scene3d>
            <a:camera prst="orthographicFront">
              <a:rot lat="0" lon="10800000" rev="5400000"/>
            </a:camera>
            <a:lightRig rig="threePt" dir="t"/>
          </a:scene3d>
        </p:spPr>
        <p:txBody>
          <a:bodyPr wrap="none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Text Box 213"/>
          <p:cNvSpPr txBox="1">
            <a:spLocks noChangeArrowheads="1"/>
          </p:cNvSpPr>
          <p:nvPr/>
        </p:nvSpPr>
        <p:spPr bwMode="auto">
          <a:xfrm>
            <a:off x="179388" y="332656"/>
            <a:ext cx="8785225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芯片的刷新方式</a:t>
            </a:r>
            <a:endParaRPr lang="zh-CN" altLang="en-US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刷新周期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b="1" u="none" dirty="0">
                <a:latin typeface="宋体" panose="02010600030101010101" pitchFamily="2" charset="-122"/>
              </a:rPr>
              <a:t>指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同</a:t>
            </a:r>
            <a:r>
              <a:rPr lang="zh-CN" altLang="en-US" b="1" spc="-100" dirty="0">
                <a:latin typeface="宋体" panose="02010600030101010101" pitchFamily="2" charset="-122"/>
              </a:rPr>
              <a:t>一存储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元</a:t>
            </a:r>
            <a:r>
              <a:rPr lang="zh-CN" altLang="en-US" b="1" u="none" spc="-100" dirty="0" smtClean="0">
                <a:latin typeface="宋体" panose="02010600030101010101" pitchFamily="2" charset="-122"/>
              </a:rPr>
              <a:t>刷新</a:t>
            </a:r>
            <a:r>
              <a:rPr lang="zh-CN" altLang="en-US" b="1" u="none" spc="-100" dirty="0">
                <a:latin typeface="宋体" panose="02010600030101010101" pitchFamily="2" charset="-122"/>
              </a:rPr>
              <a:t>的</a:t>
            </a:r>
            <a:r>
              <a:rPr lang="zh-CN" altLang="en-US" b="1" spc="-100" dirty="0">
                <a:solidFill>
                  <a:srgbClr val="990099"/>
                </a:solidFill>
                <a:latin typeface="宋体" panose="02010600030101010101" pitchFamily="2" charset="-122"/>
              </a:rPr>
              <a:t>最大</a:t>
            </a:r>
            <a:r>
              <a:rPr lang="zh-CN" altLang="en-US" b="1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间隔</a:t>
            </a:r>
            <a:r>
              <a:rPr lang="zh-CN" altLang="en-US" b="1" u="none" spc="-100" dirty="0" smtClean="0">
                <a:latin typeface="宋体" panose="02010600030101010101" pitchFamily="2" charset="-122"/>
              </a:rPr>
              <a:t>时间  </a:t>
            </a:r>
            <a:r>
              <a:rPr lang="zh-CN" altLang="en-US" sz="1800" b="1" u="none" spc="-100" dirty="0" smtClean="0">
                <a:latin typeface="宋体" panose="02010600030101010101" pitchFamily="2" charset="-122"/>
              </a:rPr>
              <a:t>←同一行的刷新间隔</a:t>
            </a:r>
            <a:endParaRPr lang="en-US" altLang="zh-CN" b="1" u="none" spc="-100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刷新方式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指</a:t>
            </a:r>
            <a:r>
              <a:rPr lang="zh-CN" altLang="en-US" b="1" dirty="0" smtClean="0">
                <a:latin typeface="宋体" panose="02010600030101010101" pitchFamily="2" charset="-122"/>
              </a:rPr>
              <a:t>不同行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刷新的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间隔特征</a:t>
            </a:r>
            <a:endParaRPr lang="en-US" altLang="zh-CN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grpSp>
        <p:nvGrpSpPr>
          <p:cNvPr id="107" name="组合 106"/>
          <p:cNvGrpSpPr/>
          <p:nvPr/>
        </p:nvGrpSpPr>
        <p:grpSpPr>
          <a:xfrm>
            <a:off x="1115824" y="2276896"/>
            <a:ext cx="5976456" cy="936080"/>
            <a:chOff x="1907704" y="1270397"/>
            <a:chExt cx="5976456" cy="936080"/>
          </a:xfrm>
        </p:grpSpPr>
        <p:sp>
          <p:nvSpPr>
            <p:cNvPr id="108" name="Line 229"/>
            <p:cNvSpPr>
              <a:spLocks noChangeShapeType="1"/>
            </p:cNvSpPr>
            <p:nvPr/>
          </p:nvSpPr>
          <p:spPr bwMode="auto">
            <a:xfrm>
              <a:off x="1907704" y="1702445"/>
              <a:ext cx="403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242"/>
            <p:cNvSpPr>
              <a:spLocks noChangeShapeType="1"/>
            </p:cNvSpPr>
            <p:nvPr/>
          </p:nvSpPr>
          <p:spPr bwMode="auto">
            <a:xfrm>
              <a:off x="1907706" y="1918469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Text Box 243"/>
            <p:cNvSpPr txBox="1">
              <a:spLocks noChangeArrowheads="1"/>
            </p:cNvSpPr>
            <p:nvPr/>
          </p:nvSpPr>
          <p:spPr bwMode="auto">
            <a:xfrm>
              <a:off x="2051720" y="1702469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 err="1" smtClean="0">
                  <a:latin typeface="宋体" panose="02010600030101010101" pitchFamily="2" charset="-122"/>
                </a:rPr>
                <a:t>C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1" name="Text Box 260"/>
            <p:cNvSpPr txBox="1">
              <a:spLocks noChangeArrowheads="1"/>
            </p:cNvSpPr>
            <p:nvPr/>
          </p:nvSpPr>
          <p:spPr bwMode="auto">
            <a:xfrm>
              <a:off x="6012160" y="1270397"/>
              <a:ext cx="1872000" cy="93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114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 smtClean="0">
                  <a:latin typeface="宋体" panose="02010600030101010101" pitchFamily="2" charset="-122"/>
                </a:rPr>
                <a:t>C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—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存取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周期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14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m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—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刷新次数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14000"/>
                </a:lnSpc>
              </a:pP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n+m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—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可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访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存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总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次数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2" name="Text Box 231"/>
            <p:cNvSpPr txBox="1">
              <a:spLocks noChangeArrowheads="1"/>
            </p:cNvSpPr>
            <p:nvPr/>
          </p:nvSpPr>
          <p:spPr bwMode="auto">
            <a:xfrm>
              <a:off x="1907704" y="1486445"/>
              <a:ext cx="403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54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R/W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R/W</a:t>
              </a:r>
              <a:r>
                <a:rPr lang="en-US" altLang="zh-CN" sz="1600" b="1" u="none" dirty="0" smtClean="0"/>
                <a:t> 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…  R/</a:t>
              </a: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W</a:t>
              </a:r>
              <a:r>
                <a:rPr lang="en-US" altLang="zh-CN" sz="1600" b="1" u="none" baseline="-16000" dirty="0" err="1" smtClean="0">
                  <a:latin typeface="宋体" panose="02010600030101010101" pitchFamily="2" charset="-122"/>
                </a:rPr>
                <a:t>n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RF</a:t>
              </a:r>
              <a:r>
                <a:rPr lang="en-US" altLang="zh-CN" sz="1600" b="1" u="none" baseline="-16000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1  </a:t>
              </a:r>
              <a:r>
                <a:rPr lang="en-US" altLang="zh-CN" sz="1600" b="1" u="none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 RF</a:t>
              </a:r>
              <a:r>
                <a:rPr lang="en-US" altLang="zh-CN" sz="1600" b="1" u="none" baseline="-16000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  …   </a:t>
              </a:r>
              <a:r>
                <a:rPr lang="en-US" altLang="zh-CN" sz="1600" b="1" u="none" dirty="0" err="1">
                  <a:solidFill>
                    <a:schemeClr val="accent2"/>
                  </a:solidFill>
                  <a:latin typeface="宋体" panose="02010600030101010101" pitchFamily="2" charset="-122"/>
                </a:rPr>
                <a:t>RF</a:t>
              </a:r>
              <a:r>
                <a:rPr lang="en-US" altLang="zh-CN" sz="1600" b="1" u="none" baseline="-16000" dirty="0" err="1">
                  <a:solidFill>
                    <a:schemeClr val="accent2"/>
                  </a:solidFill>
                  <a:latin typeface="宋体" panose="02010600030101010101" pitchFamily="2" charset="-122"/>
                </a:rPr>
                <a:t>m</a:t>
              </a:r>
              <a:endParaRPr lang="en-US" altLang="zh-CN" sz="1600" b="1" u="none" baseline="-16000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3" name="Line 228"/>
            <p:cNvSpPr>
              <a:spLocks noChangeShapeType="1"/>
            </p:cNvSpPr>
            <p:nvPr/>
          </p:nvSpPr>
          <p:spPr bwMode="auto">
            <a:xfrm>
              <a:off x="1907704" y="1270397"/>
              <a:ext cx="0" cy="93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236"/>
            <p:cNvSpPr>
              <a:spLocks noChangeShapeType="1"/>
            </p:cNvSpPr>
            <p:nvPr/>
          </p:nvSpPr>
          <p:spPr bwMode="auto">
            <a:xfrm>
              <a:off x="2411760" y="1486421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242"/>
            <p:cNvSpPr>
              <a:spLocks noChangeShapeType="1"/>
            </p:cNvSpPr>
            <p:nvPr/>
          </p:nvSpPr>
          <p:spPr bwMode="auto">
            <a:xfrm>
              <a:off x="2411760" y="1918469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236"/>
            <p:cNvSpPr>
              <a:spLocks noChangeShapeType="1"/>
            </p:cNvSpPr>
            <p:nvPr/>
          </p:nvSpPr>
          <p:spPr bwMode="auto">
            <a:xfrm>
              <a:off x="2915816" y="1484784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242"/>
            <p:cNvSpPr>
              <a:spLocks noChangeShapeType="1"/>
            </p:cNvSpPr>
            <p:nvPr/>
          </p:nvSpPr>
          <p:spPr bwMode="auto">
            <a:xfrm>
              <a:off x="3419872" y="1918469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236"/>
            <p:cNvSpPr>
              <a:spLocks noChangeShapeType="1"/>
            </p:cNvSpPr>
            <p:nvPr/>
          </p:nvSpPr>
          <p:spPr bwMode="auto">
            <a:xfrm>
              <a:off x="3923928" y="1270397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236"/>
            <p:cNvSpPr>
              <a:spLocks noChangeShapeType="1"/>
            </p:cNvSpPr>
            <p:nvPr/>
          </p:nvSpPr>
          <p:spPr bwMode="auto">
            <a:xfrm>
              <a:off x="3419872" y="1484784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242"/>
            <p:cNvSpPr>
              <a:spLocks noChangeShapeType="1"/>
            </p:cNvSpPr>
            <p:nvPr/>
          </p:nvSpPr>
          <p:spPr bwMode="auto">
            <a:xfrm>
              <a:off x="3923928" y="1918469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236"/>
            <p:cNvSpPr>
              <a:spLocks noChangeShapeType="1"/>
            </p:cNvSpPr>
            <p:nvPr/>
          </p:nvSpPr>
          <p:spPr bwMode="auto">
            <a:xfrm>
              <a:off x="4932040" y="1486421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236"/>
            <p:cNvSpPr>
              <a:spLocks noChangeShapeType="1"/>
            </p:cNvSpPr>
            <p:nvPr/>
          </p:nvSpPr>
          <p:spPr bwMode="auto">
            <a:xfrm>
              <a:off x="4427984" y="1486421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242"/>
            <p:cNvSpPr>
              <a:spLocks noChangeShapeType="1"/>
            </p:cNvSpPr>
            <p:nvPr/>
          </p:nvSpPr>
          <p:spPr bwMode="auto">
            <a:xfrm>
              <a:off x="5436096" y="1918469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236"/>
            <p:cNvSpPr>
              <a:spLocks noChangeShapeType="1"/>
            </p:cNvSpPr>
            <p:nvPr/>
          </p:nvSpPr>
          <p:spPr bwMode="auto">
            <a:xfrm>
              <a:off x="5436096" y="1486421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228"/>
            <p:cNvSpPr>
              <a:spLocks noChangeShapeType="1"/>
            </p:cNvSpPr>
            <p:nvPr/>
          </p:nvSpPr>
          <p:spPr bwMode="auto">
            <a:xfrm>
              <a:off x="5940152" y="1270397"/>
              <a:ext cx="0" cy="93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249"/>
            <p:cNvSpPr>
              <a:spLocks noChangeShapeType="1"/>
            </p:cNvSpPr>
            <p:nvPr/>
          </p:nvSpPr>
          <p:spPr bwMode="auto">
            <a:xfrm>
              <a:off x="3491880" y="1358455"/>
              <a:ext cx="432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250"/>
            <p:cNvSpPr>
              <a:spLocks noChangeShapeType="1"/>
            </p:cNvSpPr>
            <p:nvPr/>
          </p:nvSpPr>
          <p:spPr bwMode="auto">
            <a:xfrm flipH="1">
              <a:off x="1907704" y="1358455"/>
              <a:ext cx="432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Text Box 251"/>
            <p:cNvSpPr txBox="1">
              <a:spLocks noChangeArrowheads="1"/>
            </p:cNvSpPr>
            <p:nvPr/>
          </p:nvSpPr>
          <p:spPr bwMode="auto">
            <a:xfrm>
              <a:off x="2339752" y="1270421"/>
              <a:ext cx="1152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读</a:t>
              </a: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写</a:t>
              </a: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空闲</a:t>
              </a:r>
              <a:endParaRPr lang="zh-CN" altLang="en-US" sz="16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9" name="Line 252"/>
            <p:cNvSpPr>
              <a:spLocks noChangeShapeType="1"/>
            </p:cNvSpPr>
            <p:nvPr/>
          </p:nvSpPr>
          <p:spPr bwMode="auto">
            <a:xfrm>
              <a:off x="5220072" y="1342405"/>
              <a:ext cx="720000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253"/>
            <p:cNvSpPr>
              <a:spLocks noChangeShapeType="1"/>
            </p:cNvSpPr>
            <p:nvPr/>
          </p:nvSpPr>
          <p:spPr bwMode="auto">
            <a:xfrm flipH="1">
              <a:off x="3923928" y="1358455"/>
              <a:ext cx="721072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Text Box 254"/>
            <p:cNvSpPr txBox="1">
              <a:spLocks noChangeArrowheads="1"/>
            </p:cNvSpPr>
            <p:nvPr/>
          </p:nvSpPr>
          <p:spPr bwMode="auto">
            <a:xfrm>
              <a:off x="4644008" y="1270421"/>
              <a:ext cx="57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刷新</a:t>
              </a:r>
              <a:endParaRPr lang="zh-CN" altLang="en-US" sz="1600" b="1" u="none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2" name="Line 255"/>
            <p:cNvSpPr>
              <a:spLocks noChangeShapeType="1"/>
            </p:cNvSpPr>
            <p:nvPr/>
          </p:nvSpPr>
          <p:spPr bwMode="auto">
            <a:xfrm>
              <a:off x="4788024" y="2134493"/>
              <a:ext cx="115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256"/>
            <p:cNvSpPr>
              <a:spLocks noChangeShapeType="1"/>
            </p:cNvSpPr>
            <p:nvPr/>
          </p:nvSpPr>
          <p:spPr bwMode="auto">
            <a:xfrm flipH="1">
              <a:off x="1917033" y="2134493"/>
              <a:ext cx="115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Text Box 257"/>
            <p:cNvSpPr txBox="1">
              <a:spLocks noChangeArrowheads="1"/>
            </p:cNvSpPr>
            <p:nvPr/>
          </p:nvSpPr>
          <p:spPr bwMode="auto">
            <a:xfrm>
              <a:off x="3131840" y="1990477"/>
              <a:ext cx="165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刷新周期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如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2ms)</a:t>
              </a:r>
              <a:endParaRPr lang="en-US" altLang="zh-CN" sz="16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67" name="AutoShape 213"/>
          <p:cNvSpPr>
            <a:spLocks noChangeArrowheads="1"/>
          </p:cNvSpPr>
          <p:nvPr/>
        </p:nvSpPr>
        <p:spPr bwMode="auto">
          <a:xfrm rot="10800000">
            <a:off x="7741741" y="1343048"/>
            <a:ext cx="574675" cy="285752"/>
          </a:xfrm>
          <a:custGeom>
            <a:avLst/>
            <a:gdLst>
              <a:gd name="G0" fmla="+- 15196 0 0"/>
              <a:gd name="G1" fmla="+- 2967 0 0"/>
              <a:gd name="G2" fmla="+- 12158 0 2967"/>
              <a:gd name="G3" fmla="+- G2 0 2967"/>
              <a:gd name="G4" fmla="*/ G3 32768 32059"/>
              <a:gd name="G5" fmla="*/ G4 1 2"/>
              <a:gd name="G6" fmla="+- 21600 0 15196"/>
              <a:gd name="G7" fmla="*/ G6 2967 6079"/>
              <a:gd name="G8" fmla="+- G7 15196 0"/>
              <a:gd name="T0" fmla="*/ 15196 w 21600"/>
              <a:gd name="T1" fmla="*/ 0 h 21600"/>
              <a:gd name="T2" fmla="*/ 15196 w 21600"/>
              <a:gd name="T3" fmla="*/ 12158 h 21600"/>
              <a:gd name="T4" fmla="*/ 3181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96" y="0"/>
                </a:lnTo>
                <a:lnTo>
                  <a:pt x="15196" y="2967"/>
                </a:lnTo>
                <a:lnTo>
                  <a:pt x="12427" y="2967"/>
                </a:lnTo>
                <a:cubicBezTo>
                  <a:pt x="5564" y="2967"/>
                  <a:pt x="0" y="7082"/>
                  <a:pt x="0" y="12158"/>
                </a:cubicBezTo>
                <a:lnTo>
                  <a:pt x="0" y="21600"/>
                </a:lnTo>
                <a:lnTo>
                  <a:pt x="6362" y="21600"/>
                </a:lnTo>
                <a:lnTo>
                  <a:pt x="6362" y="12158"/>
                </a:lnTo>
                <a:cubicBezTo>
                  <a:pt x="6362" y="10519"/>
                  <a:pt x="9077" y="9191"/>
                  <a:pt x="12427" y="9191"/>
                </a:cubicBezTo>
                <a:lnTo>
                  <a:pt x="15196" y="9191"/>
                </a:lnTo>
                <a:lnTo>
                  <a:pt x="15196" y="12158"/>
                </a:lnTo>
                <a:close/>
              </a:path>
            </a:pathLst>
          </a:custGeom>
          <a:noFill/>
          <a:ln w="15875">
            <a:solidFill>
              <a:srgbClr val="990099"/>
            </a:solidFill>
            <a:prstDash val="sysDash"/>
            <a:miter lim="800000"/>
            <a:tailEnd type="non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" name="Text Box 226"/>
          <p:cNvSpPr txBox="1">
            <a:spLocks noChangeArrowheads="1"/>
          </p:cNvSpPr>
          <p:nvPr/>
        </p:nvSpPr>
        <p:spPr bwMode="auto">
          <a:xfrm>
            <a:off x="179388" y="1700808"/>
            <a:ext cx="2385589" cy="3631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集中式刷新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分散式刷新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异步式刷新：</a:t>
            </a:r>
            <a:endParaRPr lang="zh-CN" altLang="en-US" b="1" u="none" dirty="0" smtClean="0">
              <a:latin typeface="宋体" panose="02010600030101010101" pitchFamily="2" charset="-122"/>
            </a:endParaRPr>
          </a:p>
        </p:txBody>
      </p:sp>
      <p:grpSp>
        <p:nvGrpSpPr>
          <p:cNvPr id="197" name="组合 196"/>
          <p:cNvGrpSpPr/>
          <p:nvPr/>
        </p:nvGrpSpPr>
        <p:grpSpPr>
          <a:xfrm>
            <a:off x="1115616" y="3789064"/>
            <a:ext cx="6048672" cy="936080"/>
            <a:chOff x="1403648" y="2780928"/>
            <a:chExt cx="6048672" cy="936080"/>
          </a:xfrm>
        </p:grpSpPr>
        <p:sp>
          <p:nvSpPr>
            <p:cNvPr id="198" name="Line 229"/>
            <p:cNvSpPr>
              <a:spLocks noChangeShapeType="1"/>
            </p:cNvSpPr>
            <p:nvPr/>
          </p:nvSpPr>
          <p:spPr bwMode="auto">
            <a:xfrm>
              <a:off x="1403648" y="3212976"/>
              <a:ext cx="604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242"/>
            <p:cNvSpPr>
              <a:spLocks noChangeShapeType="1"/>
            </p:cNvSpPr>
            <p:nvPr/>
          </p:nvSpPr>
          <p:spPr bwMode="auto">
            <a:xfrm>
              <a:off x="1403650" y="342900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Text Box 243"/>
            <p:cNvSpPr txBox="1">
              <a:spLocks noChangeArrowheads="1"/>
            </p:cNvSpPr>
            <p:nvPr/>
          </p:nvSpPr>
          <p:spPr bwMode="auto">
            <a:xfrm>
              <a:off x="1547664" y="3213000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 err="1" smtClean="0">
                  <a:latin typeface="宋体" panose="02010600030101010101" pitchFamily="2" charset="-122"/>
                </a:rPr>
                <a:t>C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01" name="Text Box 231"/>
            <p:cNvSpPr txBox="1">
              <a:spLocks noChangeArrowheads="1"/>
            </p:cNvSpPr>
            <p:nvPr/>
          </p:nvSpPr>
          <p:spPr bwMode="auto">
            <a:xfrm>
              <a:off x="1403648" y="2996976"/>
              <a:ext cx="604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54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R/W</a:t>
              </a:r>
              <a:r>
                <a:rPr lang="en-US" altLang="zh-CN" sz="1600" b="1" u="none" baseline="-18000" dirty="0" smtClean="0"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RF</a:t>
              </a:r>
              <a:r>
                <a:rPr lang="en-US" altLang="zh-CN" sz="1600" b="1" u="none" baseline="-18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1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R/W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RF</a:t>
              </a:r>
              <a:r>
                <a:rPr lang="en-US" altLang="zh-CN" sz="1600" b="1" u="none" baseline="-18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… </a:t>
              </a:r>
              <a:r>
                <a:rPr lang="en-US" altLang="zh-CN" sz="1600" b="1" u="none" baseline="-180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R/W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err="1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RF</a:t>
              </a:r>
              <a:r>
                <a:rPr lang="en-US" altLang="zh-CN" sz="1600" b="1" u="none" baseline="-18000" dirty="0" err="1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R/W</a:t>
              </a:r>
              <a:r>
                <a:rPr lang="en-US" altLang="zh-CN" sz="1600" b="1" u="none" baseline="-18000" dirty="0" smtClean="0">
                  <a:latin typeface="宋体" panose="02010600030101010101" pitchFamily="2" charset="-122"/>
                </a:rPr>
                <a:t>1+ </a:t>
              </a:r>
              <a:r>
                <a:rPr lang="zh-CN" altLang="en-US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空闲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… </a:t>
              </a:r>
              <a:r>
                <a:rPr lang="en-US" altLang="zh-CN" sz="1600" b="1" u="none" baseline="-180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R/</a:t>
              </a: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W</a:t>
              </a:r>
              <a:r>
                <a:rPr lang="en-US" altLang="zh-CN" sz="1600" b="1" u="none" baseline="-18000" dirty="0" err="1" smtClean="0">
                  <a:latin typeface="宋体" panose="02010600030101010101" pitchFamily="2" charset="-122"/>
                </a:rPr>
                <a:t>n</a:t>
              </a:r>
              <a:r>
                <a:rPr lang="en-US" altLang="zh-CN" sz="1600" b="1" u="none" baseline="-18000" dirty="0" smtClean="0">
                  <a:latin typeface="宋体" panose="02010600030101010101" pitchFamily="2" charset="-122"/>
                </a:rPr>
                <a:t>+ </a:t>
              </a:r>
              <a:r>
                <a:rPr lang="zh-CN" altLang="en-US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空闲</a:t>
              </a:r>
              <a:endParaRPr lang="en-US" altLang="zh-CN" sz="1600" b="1" u="none" baseline="-16000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2" name="Line 228"/>
            <p:cNvSpPr>
              <a:spLocks noChangeShapeType="1"/>
            </p:cNvSpPr>
            <p:nvPr/>
          </p:nvSpPr>
          <p:spPr bwMode="auto">
            <a:xfrm>
              <a:off x="1403648" y="2780928"/>
              <a:ext cx="0" cy="93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Line 236"/>
            <p:cNvSpPr>
              <a:spLocks noChangeShapeType="1"/>
            </p:cNvSpPr>
            <p:nvPr/>
          </p:nvSpPr>
          <p:spPr bwMode="auto">
            <a:xfrm>
              <a:off x="1907704" y="2996952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Line 242"/>
            <p:cNvSpPr>
              <a:spLocks noChangeShapeType="1"/>
            </p:cNvSpPr>
            <p:nvPr/>
          </p:nvSpPr>
          <p:spPr bwMode="auto">
            <a:xfrm>
              <a:off x="1907704" y="342900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Line 236"/>
            <p:cNvSpPr>
              <a:spLocks noChangeShapeType="1"/>
            </p:cNvSpPr>
            <p:nvPr/>
          </p:nvSpPr>
          <p:spPr bwMode="auto">
            <a:xfrm>
              <a:off x="2411760" y="2780928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242"/>
            <p:cNvSpPr>
              <a:spLocks noChangeShapeType="1"/>
            </p:cNvSpPr>
            <p:nvPr/>
          </p:nvSpPr>
          <p:spPr bwMode="auto">
            <a:xfrm>
              <a:off x="2411760" y="342900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236"/>
            <p:cNvSpPr>
              <a:spLocks noChangeShapeType="1"/>
            </p:cNvSpPr>
            <p:nvPr/>
          </p:nvSpPr>
          <p:spPr bwMode="auto">
            <a:xfrm>
              <a:off x="3419872" y="2780928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Line 236"/>
            <p:cNvSpPr>
              <a:spLocks noChangeShapeType="1"/>
            </p:cNvSpPr>
            <p:nvPr/>
          </p:nvSpPr>
          <p:spPr bwMode="auto">
            <a:xfrm>
              <a:off x="2915816" y="2995315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242"/>
            <p:cNvSpPr>
              <a:spLocks noChangeShapeType="1"/>
            </p:cNvSpPr>
            <p:nvPr/>
          </p:nvSpPr>
          <p:spPr bwMode="auto">
            <a:xfrm>
              <a:off x="2915816" y="342900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Line 236"/>
            <p:cNvSpPr>
              <a:spLocks noChangeShapeType="1"/>
            </p:cNvSpPr>
            <p:nvPr/>
          </p:nvSpPr>
          <p:spPr bwMode="auto">
            <a:xfrm>
              <a:off x="4427984" y="2996952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Line 236"/>
            <p:cNvSpPr>
              <a:spLocks noChangeShapeType="1"/>
            </p:cNvSpPr>
            <p:nvPr/>
          </p:nvSpPr>
          <p:spPr bwMode="auto">
            <a:xfrm>
              <a:off x="3923928" y="2780928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Line 242"/>
            <p:cNvSpPr>
              <a:spLocks noChangeShapeType="1"/>
            </p:cNvSpPr>
            <p:nvPr/>
          </p:nvSpPr>
          <p:spPr bwMode="auto">
            <a:xfrm>
              <a:off x="4932040" y="342900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Line 236"/>
            <p:cNvSpPr>
              <a:spLocks noChangeShapeType="1"/>
            </p:cNvSpPr>
            <p:nvPr/>
          </p:nvSpPr>
          <p:spPr bwMode="auto">
            <a:xfrm>
              <a:off x="4932040" y="2780928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Line 228"/>
            <p:cNvSpPr>
              <a:spLocks noChangeShapeType="1"/>
            </p:cNvSpPr>
            <p:nvPr/>
          </p:nvSpPr>
          <p:spPr bwMode="auto">
            <a:xfrm>
              <a:off x="7452320" y="2780928"/>
              <a:ext cx="0" cy="93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Line 249"/>
            <p:cNvSpPr>
              <a:spLocks noChangeShapeType="1"/>
            </p:cNvSpPr>
            <p:nvPr/>
          </p:nvSpPr>
          <p:spPr bwMode="auto">
            <a:xfrm>
              <a:off x="2195760" y="2868986"/>
              <a:ext cx="216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Line 250"/>
            <p:cNvSpPr>
              <a:spLocks noChangeShapeType="1"/>
            </p:cNvSpPr>
            <p:nvPr/>
          </p:nvSpPr>
          <p:spPr bwMode="auto">
            <a:xfrm flipH="1">
              <a:off x="1403648" y="2868986"/>
              <a:ext cx="216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Text Box 251"/>
            <p:cNvSpPr txBox="1">
              <a:spLocks noChangeArrowheads="1"/>
            </p:cNvSpPr>
            <p:nvPr/>
          </p:nvSpPr>
          <p:spPr bwMode="auto">
            <a:xfrm>
              <a:off x="1619672" y="2780952"/>
              <a:ext cx="576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周期</a:t>
              </a:r>
              <a:r>
                <a:rPr lang="en-US" altLang="zh-CN" sz="1600" b="1" u="none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1</a:t>
              </a:r>
              <a:endParaRPr lang="zh-CN" altLang="en-US" sz="16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8" name="Line 255"/>
            <p:cNvSpPr>
              <a:spLocks noChangeShapeType="1"/>
            </p:cNvSpPr>
            <p:nvPr/>
          </p:nvSpPr>
          <p:spPr bwMode="auto">
            <a:xfrm>
              <a:off x="5292080" y="3645024"/>
              <a:ext cx="21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Line 256"/>
            <p:cNvSpPr>
              <a:spLocks noChangeShapeType="1"/>
            </p:cNvSpPr>
            <p:nvPr/>
          </p:nvSpPr>
          <p:spPr bwMode="auto">
            <a:xfrm flipH="1">
              <a:off x="1412977" y="3645024"/>
              <a:ext cx="21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Text Box 257"/>
            <p:cNvSpPr txBox="1">
              <a:spLocks noChangeArrowheads="1"/>
            </p:cNvSpPr>
            <p:nvPr/>
          </p:nvSpPr>
          <p:spPr bwMode="auto">
            <a:xfrm>
              <a:off x="3636080" y="3501008"/>
              <a:ext cx="165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刷新周期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如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2ms)</a:t>
              </a:r>
              <a:endParaRPr lang="en-US" altLang="zh-CN" sz="16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1" name="Line 242"/>
            <p:cNvSpPr>
              <a:spLocks noChangeShapeType="1"/>
            </p:cNvSpPr>
            <p:nvPr/>
          </p:nvSpPr>
          <p:spPr bwMode="auto">
            <a:xfrm>
              <a:off x="5436096" y="342900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Line 236"/>
            <p:cNvSpPr>
              <a:spLocks noChangeShapeType="1"/>
            </p:cNvSpPr>
            <p:nvPr/>
          </p:nvSpPr>
          <p:spPr bwMode="auto">
            <a:xfrm>
              <a:off x="5436096" y="2997008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Line 236"/>
            <p:cNvSpPr>
              <a:spLocks noChangeShapeType="1"/>
            </p:cNvSpPr>
            <p:nvPr/>
          </p:nvSpPr>
          <p:spPr bwMode="auto">
            <a:xfrm>
              <a:off x="5940152" y="2780928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Line 236"/>
            <p:cNvSpPr>
              <a:spLocks noChangeShapeType="1"/>
            </p:cNvSpPr>
            <p:nvPr/>
          </p:nvSpPr>
          <p:spPr bwMode="auto">
            <a:xfrm>
              <a:off x="6948264" y="2996928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Line 249"/>
            <p:cNvSpPr>
              <a:spLocks noChangeShapeType="1"/>
            </p:cNvSpPr>
            <p:nvPr/>
          </p:nvSpPr>
          <p:spPr bwMode="auto">
            <a:xfrm>
              <a:off x="3203872" y="2868962"/>
              <a:ext cx="216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Line 250"/>
            <p:cNvSpPr>
              <a:spLocks noChangeShapeType="1"/>
            </p:cNvSpPr>
            <p:nvPr/>
          </p:nvSpPr>
          <p:spPr bwMode="auto">
            <a:xfrm flipH="1">
              <a:off x="2411760" y="2868962"/>
              <a:ext cx="216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Text Box 251"/>
            <p:cNvSpPr txBox="1">
              <a:spLocks noChangeArrowheads="1"/>
            </p:cNvSpPr>
            <p:nvPr/>
          </p:nvSpPr>
          <p:spPr bwMode="auto">
            <a:xfrm>
              <a:off x="2627784" y="2780928"/>
              <a:ext cx="576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周期</a:t>
              </a: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2</a:t>
              </a:r>
              <a:endParaRPr lang="zh-CN" altLang="en-US" sz="16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8" name="Line 249"/>
            <p:cNvSpPr>
              <a:spLocks noChangeShapeType="1"/>
            </p:cNvSpPr>
            <p:nvPr/>
          </p:nvSpPr>
          <p:spPr bwMode="auto">
            <a:xfrm>
              <a:off x="4716040" y="2868962"/>
              <a:ext cx="216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Line 250"/>
            <p:cNvSpPr>
              <a:spLocks noChangeShapeType="1"/>
            </p:cNvSpPr>
            <p:nvPr/>
          </p:nvSpPr>
          <p:spPr bwMode="auto">
            <a:xfrm flipH="1">
              <a:off x="3923928" y="2868962"/>
              <a:ext cx="216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Text Box 251"/>
            <p:cNvSpPr txBox="1">
              <a:spLocks noChangeArrowheads="1"/>
            </p:cNvSpPr>
            <p:nvPr/>
          </p:nvSpPr>
          <p:spPr bwMode="auto">
            <a:xfrm>
              <a:off x="4139952" y="2780928"/>
              <a:ext cx="576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周期</a:t>
              </a: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m</a:t>
              </a:r>
              <a:endParaRPr lang="zh-CN" altLang="en-US" sz="16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1" name="Line 236"/>
            <p:cNvSpPr>
              <a:spLocks noChangeShapeType="1"/>
            </p:cNvSpPr>
            <p:nvPr/>
          </p:nvSpPr>
          <p:spPr bwMode="auto">
            <a:xfrm>
              <a:off x="6444208" y="2780928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Line 242"/>
            <p:cNvSpPr>
              <a:spLocks noChangeShapeType="1"/>
            </p:cNvSpPr>
            <p:nvPr/>
          </p:nvSpPr>
          <p:spPr bwMode="auto">
            <a:xfrm>
              <a:off x="3923984" y="342900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Line 242"/>
            <p:cNvSpPr>
              <a:spLocks noChangeShapeType="1"/>
            </p:cNvSpPr>
            <p:nvPr/>
          </p:nvSpPr>
          <p:spPr bwMode="auto">
            <a:xfrm>
              <a:off x="4428040" y="342900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Line 242"/>
            <p:cNvSpPr>
              <a:spLocks noChangeShapeType="1"/>
            </p:cNvSpPr>
            <p:nvPr/>
          </p:nvSpPr>
          <p:spPr bwMode="auto">
            <a:xfrm>
              <a:off x="6444264" y="342900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Line 242"/>
            <p:cNvSpPr>
              <a:spLocks noChangeShapeType="1"/>
            </p:cNvSpPr>
            <p:nvPr/>
          </p:nvSpPr>
          <p:spPr bwMode="auto">
            <a:xfrm>
              <a:off x="6948320" y="342900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Line 249"/>
            <p:cNvSpPr>
              <a:spLocks noChangeShapeType="1"/>
            </p:cNvSpPr>
            <p:nvPr/>
          </p:nvSpPr>
          <p:spPr bwMode="auto">
            <a:xfrm>
              <a:off x="5796152" y="2868962"/>
              <a:ext cx="144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Line 250"/>
            <p:cNvSpPr>
              <a:spLocks noChangeShapeType="1"/>
            </p:cNvSpPr>
            <p:nvPr/>
          </p:nvSpPr>
          <p:spPr bwMode="auto">
            <a:xfrm flipH="1">
              <a:off x="4932040" y="2868962"/>
              <a:ext cx="144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Text Box 251"/>
            <p:cNvSpPr txBox="1">
              <a:spLocks noChangeArrowheads="1"/>
            </p:cNvSpPr>
            <p:nvPr/>
          </p:nvSpPr>
          <p:spPr bwMode="auto">
            <a:xfrm>
              <a:off x="5076136" y="2780928"/>
              <a:ext cx="720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周期</a:t>
              </a:r>
              <a:r>
                <a:rPr lang="en-US" altLang="zh-CN" sz="16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1+</a:t>
              </a:r>
              <a:endParaRPr lang="zh-CN" altLang="en-US" sz="1600" b="1" u="none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9" name="Line 249"/>
            <p:cNvSpPr>
              <a:spLocks noChangeShapeType="1"/>
            </p:cNvSpPr>
            <p:nvPr/>
          </p:nvSpPr>
          <p:spPr bwMode="auto">
            <a:xfrm>
              <a:off x="7308320" y="2868962"/>
              <a:ext cx="144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Line 250"/>
            <p:cNvSpPr>
              <a:spLocks noChangeShapeType="1"/>
            </p:cNvSpPr>
            <p:nvPr/>
          </p:nvSpPr>
          <p:spPr bwMode="auto">
            <a:xfrm flipH="1">
              <a:off x="6444208" y="2868962"/>
              <a:ext cx="144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Text Box 251"/>
            <p:cNvSpPr txBox="1">
              <a:spLocks noChangeArrowheads="1"/>
            </p:cNvSpPr>
            <p:nvPr/>
          </p:nvSpPr>
          <p:spPr bwMode="auto">
            <a:xfrm>
              <a:off x="6588304" y="2780928"/>
              <a:ext cx="720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周期</a:t>
              </a:r>
              <a:r>
                <a:rPr lang="en-US" altLang="zh-CN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n</a:t>
              </a:r>
              <a:r>
                <a:rPr lang="en-US" altLang="zh-CN" sz="16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+</a:t>
              </a:r>
              <a:endParaRPr lang="zh-CN" altLang="en-US" sz="1600" b="1" u="none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242" name="组合 241"/>
          <p:cNvGrpSpPr/>
          <p:nvPr/>
        </p:nvGrpSpPr>
        <p:grpSpPr>
          <a:xfrm>
            <a:off x="1115616" y="5301232"/>
            <a:ext cx="6552728" cy="936080"/>
            <a:chOff x="1403648" y="2780928"/>
            <a:chExt cx="6552728" cy="936080"/>
          </a:xfrm>
        </p:grpSpPr>
        <p:sp>
          <p:nvSpPr>
            <p:cNvPr id="243" name="Line 229"/>
            <p:cNvSpPr>
              <a:spLocks noChangeShapeType="1"/>
            </p:cNvSpPr>
            <p:nvPr/>
          </p:nvSpPr>
          <p:spPr bwMode="auto">
            <a:xfrm>
              <a:off x="1403648" y="3212976"/>
              <a:ext cx="65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Line 242"/>
            <p:cNvSpPr>
              <a:spLocks noChangeShapeType="1"/>
            </p:cNvSpPr>
            <p:nvPr/>
          </p:nvSpPr>
          <p:spPr bwMode="auto">
            <a:xfrm>
              <a:off x="1403650" y="342900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Text Box 243"/>
            <p:cNvSpPr txBox="1">
              <a:spLocks noChangeArrowheads="1"/>
            </p:cNvSpPr>
            <p:nvPr/>
          </p:nvSpPr>
          <p:spPr bwMode="auto">
            <a:xfrm>
              <a:off x="1547664" y="3213000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 err="1" smtClean="0">
                  <a:latin typeface="宋体" panose="02010600030101010101" pitchFamily="2" charset="-122"/>
                </a:rPr>
                <a:t>C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46" name="Text Box 231"/>
            <p:cNvSpPr txBox="1">
              <a:spLocks noChangeArrowheads="1"/>
            </p:cNvSpPr>
            <p:nvPr/>
          </p:nvSpPr>
          <p:spPr bwMode="auto">
            <a:xfrm>
              <a:off x="1403648" y="2996976"/>
              <a:ext cx="648072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54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R/W</a:t>
              </a:r>
              <a:r>
                <a:rPr lang="en-US" altLang="zh-CN" sz="1600" b="1" u="none" baseline="-18000" dirty="0" smtClean="0"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…  R/</a:t>
              </a: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W</a:t>
              </a:r>
              <a:r>
                <a:rPr lang="en-US" altLang="zh-CN" sz="1600" b="1" u="none" baseline="-18000" dirty="0" err="1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RF</a:t>
              </a:r>
              <a:r>
                <a:rPr lang="en-US" altLang="zh-CN" sz="1600" b="1" u="none" baseline="-18000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R/W</a:t>
              </a:r>
              <a:r>
                <a:rPr lang="en-US" altLang="zh-CN" sz="1600" b="1" u="none" baseline="-18000" dirty="0" smtClean="0"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…  R/</a:t>
              </a:r>
              <a:r>
                <a:rPr lang="en-US" altLang="zh-CN" sz="1600" b="1" u="none" dirty="0" err="1">
                  <a:latin typeface="宋体" panose="02010600030101010101" pitchFamily="2" charset="-122"/>
                </a:rPr>
                <a:t>W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RF</a:t>
              </a:r>
              <a:r>
                <a:rPr lang="en-US" altLang="zh-CN" sz="1600" b="1" u="none" baseline="-18000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… </a:t>
              </a:r>
              <a:r>
                <a:rPr lang="en-US" altLang="zh-CN" sz="1600" b="1" u="none" baseline="-180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R/W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…  R/</a:t>
              </a:r>
              <a:r>
                <a:rPr lang="en-US" altLang="zh-CN" sz="1600" b="1" u="none" dirty="0" err="1">
                  <a:latin typeface="宋体" panose="02010600030101010101" pitchFamily="2" charset="-122"/>
                </a:rPr>
                <a:t>W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err="1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RF</a:t>
              </a:r>
              <a:r>
                <a:rPr lang="en-US" altLang="zh-CN" sz="1600" b="1" u="none" baseline="-18000" dirty="0" err="1">
                  <a:solidFill>
                    <a:schemeClr val="accent2"/>
                  </a:solidFill>
                  <a:latin typeface="宋体" panose="02010600030101010101" pitchFamily="2" charset="-122"/>
                </a:rPr>
                <a:t>m</a:t>
              </a:r>
              <a:endParaRPr lang="en-US" altLang="zh-CN" sz="1600" b="1" u="none" baseline="-16000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7" name="Line 228"/>
            <p:cNvSpPr>
              <a:spLocks noChangeShapeType="1"/>
            </p:cNvSpPr>
            <p:nvPr/>
          </p:nvSpPr>
          <p:spPr bwMode="auto">
            <a:xfrm>
              <a:off x="1403648" y="2780928"/>
              <a:ext cx="0" cy="93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Line 236"/>
            <p:cNvSpPr>
              <a:spLocks noChangeShapeType="1"/>
            </p:cNvSpPr>
            <p:nvPr/>
          </p:nvSpPr>
          <p:spPr bwMode="auto">
            <a:xfrm>
              <a:off x="1907704" y="2996952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Line 242"/>
            <p:cNvSpPr>
              <a:spLocks noChangeShapeType="1"/>
            </p:cNvSpPr>
            <p:nvPr/>
          </p:nvSpPr>
          <p:spPr bwMode="auto">
            <a:xfrm>
              <a:off x="3419872" y="342900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Line 236"/>
            <p:cNvSpPr>
              <a:spLocks noChangeShapeType="1"/>
            </p:cNvSpPr>
            <p:nvPr/>
          </p:nvSpPr>
          <p:spPr bwMode="auto">
            <a:xfrm>
              <a:off x="2411760" y="2997032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Line 242"/>
            <p:cNvSpPr>
              <a:spLocks noChangeShapeType="1"/>
            </p:cNvSpPr>
            <p:nvPr/>
          </p:nvSpPr>
          <p:spPr bwMode="auto">
            <a:xfrm>
              <a:off x="2411760" y="342900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Line 236"/>
            <p:cNvSpPr>
              <a:spLocks noChangeShapeType="1"/>
            </p:cNvSpPr>
            <p:nvPr/>
          </p:nvSpPr>
          <p:spPr bwMode="auto">
            <a:xfrm>
              <a:off x="3419872" y="2780928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Line 236"/>
            <p:cNvSpPr>
              <a:spLocks noChangeShapeType="1"/>
            </p:cNvSpPr>
            <p:nvPr/>
          </p:nvSpPr>
          <p:spPr bwMode="auto">
            <a:xfrm>
              <a:off x="2915816" y="2995315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Line 242"/>
            <p:cNvSpPr>
              <a:spLocks noChangeShapeType="1"/>
            </p:cNvSpPr>
            <p:nvPr/>
          </p:nvSpPr>
          <p:spPr bwMode="auto">
            <a:xfrm>
              <a:off x="2915816" y="342900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Line 236"/>
            <p:cNvSpPr>
              <a:spLocks noChangeShapeType="1"/>
            </p:cNvSpPr>
            <p:nvPr/>
          </p:nvSpPr>
          <p:spPr bwMode="auto">
            <a:xfrm>
              <a:off x="4427984" y="2996952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Line 236"/>
            <p:cNvSpPr>
              <a:spLocks noChangeShapeType="1"/>
            </p:cNvSpPr>
            <p:nvPr/>
          </p:nvSpPr>
          <p:spPr bwMode="auto">
            <a:xfrm>
              <a:off x="3923928" y="2997008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Line 242"/>
            <p:cNvSpPr>
              <a:spLocks noChangeShapeType="1"/>
            </p:cNvSpPr>
            <p:nvPr/>
          </p:nvSpPr>
          <p:spPr bwMode="auto">
            <a:xfrm>
              <a:off x="4932040" y="342900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Line 236"/>
            <p:cNvSpPr>
              <a:spLocks noChangeShapeType="1"/>
            </p:cNvSpPr>
            <p:nvPr/>
          </p:nvSpPr>
          <p:spPr bwMode="auto">
            <a:xfrm>
              <a:off x="5436096" y="2780928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228"/>
            <p:cNvSpPr>
              <a:spLocks noChangeShapeType="1"/>
            </p:cNvSpPr>
            <p:nvPr/>
          </p:nvSpPr>
          <p:spPr bwMode="auto">
            <a:xfrm>
              <a:off x="7956376" y="2780928"/>
              <a:ext cx="0" cy="93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Line 250"/>
            <p:cNvSpPr>
              <a:spLocks noChangeShapeType="1"/>
            </p:cNvSpPr>
            <p:nvPr/>
          </p:nvSpPr>
          <p:spPr bwMode="auto">
            <a:xfrm flipH="1">
              <a:off x="1403648" y="2868986"/>
              <a:ext cx="432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Text Box 251"/>
            <p:cNvSpPr txBox="1">
              <a:spLocks noChangeArrowheads="1"/>
            </p:cNvSpPr>
            <p:nvPr/>
          </p:nvSpPr>
          <p:spPr bwMode="auto">
            <a:xfrm>
              <a:off x="1835696" y="2780952"/>
              <a:ext cx="1152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行刷新间隔</a:t>
              </a:r>
              <a:endParaRPr lang="zh-CN" altLang="en-US" sz="16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2" name="Line 255"/>
            <p:cNvSpPr>
              <a:spLocks noChangeShapeType="1"/>
            </p:cNvSpPr>
            <p:nvPr/>
          </p:nvSpPr>
          <p:spPr bwMode="auto">
            <a:xfrm>
              <a:off x="5580376" y="3645024"/>
              <a:ext cx="23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Line 256"/>
            <p:cNvSpPr>
              <a:spLocks noChangeShapeType="1"/>
            </p:cNvSpPr>
            <p:nvPr/>
          </p:nvSpPr>
          <p:spPr bwMode="auto">
            <a:xfrm flipH="1">
              <a:off x="1412977" y="3645024"/>
              <a:ext cx="23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Text Box 257"/>
            <p:cNvSpPr txBox="1">
              <a:spLocks noChangeArrowheads="1"/>
            </p:cNvSpPr>
            <p:nvPr/>
          </p:nvSpPr>
          <p:spPr bwMode="auto">
            <a:xfrm>
              <a:off x="3852104" y="3501008"/>
              <a:ext cx="165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刷新周期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如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2ms)</a:t>
              </a:r>
              <a:endParaRPr lang="en-US" altLang="zh-CN" sz="16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5" name="Line 242"/>
            <p:cNvSpPr>
              <a:spLocks noChangeShapeType="1"/>
            </p:cNvSpPr>
            <p:nvPr/>
          </p:nvSpPr>
          <p:spPr bwMode="auto">
            <a:xfrm>
              <a:off x="7452376" y="342900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Line 236"/>
            <p:cNvSpPr>
              <a:spLocks noChangeShapeType="1"/>
            </p:cNvSpPr>
            <p:nvPr/>
          </p:nvSpPr>
          <p:spPr bwMode="auto">
            <a:xfrm>
              <a:off x="4932040" y="2997008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Line 236"/>
            <p:cNvSpPr>
              <a:spLocks noChangeShapeType="1"/>
            </p:cNvSpPr>
            <p:nvPr/>
          </p:nvSpPr>
          <p:spPr bwMode="auto">
            <a:xfrm>
              <a:off x="5940152" y="2780928"/>
              <a:ext cx="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Line 236"/>
            <p:cNvSpPr>
              <a:spLocks noChangeShapeType="1"/>
            </p:cNvSpPr>
            <p:nvPr/>
          </p:nvSpPr>
          <p:spPr bwMode="auto">
            <a:xfrm>
              <a:off x="6948264" y="2996928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Line 249"/>
            <p:cNvSpPr>
              <a:spLocks noChangeShapeType="1"/>
            </p:cNvSpPr>
            <p:nvPr/>
          </p:nvSpPr>
          <p:spPr bwMode="auto">
            <a:xfrm>
              <a:off x="2987824" y="2868962"/>
              <a:ext cx="432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Line 236"/>
            <p:cNvSpPr>
              <a:spLocks noChangeShapeType="1"/>
            </p:cNvSpPr>
            <p:nvPr/>
          </p:nvSpPr>
          <p:spPr bwMode="auto">
            <a:xfrm>
              <a:off x="6444208" y="2997008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1" name="Line 242"/>
            <p:cNvSpPr>
              <a:spLocks noChangeShapeType="1"/>
            </p:cNvSpPr>
            <p:nvPr/>
          </p:nvSpPr>
          <p:spPr bwMode="auto">
            <a:xfrm>
              <a:off x="5940152" y="342900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2" name="Line 242"/>
            <p:cNvSpPr>
              <a:spLocks noChangeShapeType="1"/>
            </p:cNvSpPr>
            <p:nvPr/>
          </p:nvSpPr>
          <p:spPr bwMode="auto">
            <a:xfrm>
              <a:off x="4428040" y="342900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Line 242"/>
            <p:cNvSpPr>
              <a:spLocks noChangeShapeType="1"/>
            </p:cNvSpPr>
            <p:nvPr/>
          </p:nvSpPr>
          <p:spPr bwMode="auto">
            <a:xfrm>
              <a:off x="6948320" y="3429000"/>
              <a:ext cx="50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Line 250"/>
            <p:cNvSpPr>
              <a:spLocks noChangeShapeType="1"/>
            </p:cNvSpPr>
            <p:nvPr/>
          </p:nvSpPr>
          <p:spPr bwMode="auto">
            <a:xfrm flipH="1">
              <a:off x="3419920" y="2868962"/>
              <a:ext cx="432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Text Box 251"/>
            <p:cNvSpPr txBox="1">
              <a:spLocks noChangeArrowheads="1"/>
            </p:cNvSpPr>
            <p:nvPr/>
          </p:nvSpPr>
          <p:spPr bwMode="auto">
            <a:xfrm>
              <a:off x="3851968" y="2780928"/>
              <a:ext cx="1152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行刷新间隔</a:t>
              </a:r>
              <a:endParaRPr lang="zh-CN" altLang="en-US" sz="16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76" name="Line 249"/>
            <p:cNvSpPr>
              <a:spLocks noChangeShapeType="1"/>
            </p:cNvSpPr>
            <p:nvPr/>
          </p:nvSpPr>
          <p:spPr bwMode="auto">
            <a:xfrm>
              <a:off x="5004096" y="2868938"/>
              <a:ext cx="432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" name="Line 250"/>
            <p:cNvSpPr>
              <a:spLocks noChangeShapeType="1"/>
            </p:cNvSpPr>
            <p:nvPr/>
          </p:nvSpPr>
          <p:spPr bwMode="auto">
            <a:xfrm flipH="1">
              <a:off x="5940200" y="2868962"/>
              <a:ext cx="432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Text Box 251"/>
            <p:cNvSpPr txBox="1">
              <a:spLocks noChangeArrowheads="1"/>
            </p:cNvSpPr>
            <p:nvPr/>
          </p:nvSpPr>
          <p:spPr bwMode="auto">
            <a:xfrm>
              <a:off x="6372248" y="2780928"/>
              <a:ext cx="1152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行刷新间隔</a:t>
              </a:r>
              <a:endParaRPr lang="zh-CN" altLang="en-US" sz="16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79" name="Line 249"/>
            <p:cNvSpPr>
              <a:spLocks noChangeShapeType="1"/>
            </p:cNvSpPr>
            <p:nvPr/>
          </p:nvSpPr>
          <p:spPr bwMode="auto">
            <a:xfrm>
              <a:off x="7524376" y="2868938"/>
              <a:ext cx="432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Line 236"/>
            <p:cNvSpPr>
              <a:spLocks noChangeShapeType="1"/>
            </p:cNvSpPr>
            <p:nvPr/>
          </p:nvSpPr>
          <p:spPr bwMode="auto">
            <a:xfrm>
              <a:off x="7452320" y="2996952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1" name="Text Box 226"/>
          <p:cNvSpPr txBox="1">
            <a:spLocks noChangeArrowheads="1"/>
          </p:cNvSpPr>
          <p:nvPr/>
        </p:nvSpPr>
        <p:spPr bwMode="auto">
          <a:xfrm>
            <a:off x="2339752" y="1700808"/>
            <a:ext cx="6624861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各行刷新</a:t>
            </a:r>
            <a:r>
              <a:rPr lang="zh-CN" altLang="en-US" b="1" dirty="0" smtClean="0">
                <a:latin typeface="宋体" panose="02010600030101010101" pitchFamily="2" charset="-122"/>
              </a:rPr>
              <a:t>连续进行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，存在死区、</a:t>
            </a:r>
            <a:r>
              <a:rPr lang="en-US" altLang="zh-CN" b="1" i="1" u="none" dirty="0" smtClean="0">
                <a:latin typeface="宋体" panose="02010600030101010101" pitchFamily="2" charset="-122"/>
              </a:rPr>
              <a:t>T</a:t>
            </a:r>
            <a:r>
              <a:rPr lang="en-US" altLang="zh-CN" b="1" u="none" baseline="-18000" dirty="0" smtClean="0">
                <a:latin typeface="宋体" panose="02010600030101010101" pitchFamily="2" charset="-122"/>
              </a:rPr>
              <a:t>M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不变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282" name="Text Box 226"/>
          <p:cNvSpPr txBox="1">
            <a:spLocks noChangeArrowheads="1"/>
          </p:cNvSpPr>
          <p:nvPr/>
        </p:nvSpPr>
        <p:spPr bwMode="auto">
          <a:xfrm>
            <a:off x="2339752" y="3212976"/>
            <a:ext cx="6624861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各行刷新</a:t>
            </a:r>
            <a:r>
              <a:rPr lang="zh-CN" altLang="en-US" b="1" dirty="0" smtClean="0">
                <a:latin typeface="宋体" panose="02010600030101010101" pitchFamily="2" charset="-122"/>
              </a:rPr>
              <a:t>分散</a:t>
            </a:r>
            <a:r>
              <a:rPr lang="zh-CN" altLang="en-US" b="1" dirty="0">
                <a:latin typeface="宋体" panose="02010600030101010101" pitchFamily="2" charset="-122"/>
              </a:rPr>
              <a:t>在</a:t>
            </a:r>
            <a:r>
              <a:rPr lang="zh-CN" altLang="en-US" b="1" dirty="0" smtClean="0">
                <a:latin typeface="宋体" panose="02010600030101010101" pitchFamily="2" charset="-122"/>
              </a:rPr>
              <a:t>每个</a:t>
            </a:r>
            <a:r>
              <a:rPr lang="en-US" altLang="zh-CN" b="1" i="1" dirty="0">
                <a:latin typeface="宋体" panose="02010600030101010101" pitchFamily="2" charset="-122"/>
              </a:rPr>
              <a:t>T</a:t>
            </a:r>
            <a:r>
              <a:rPr lang="en-US" altLang="zh-CN" b="1" baseline="-18000" dirty="0">
                <a:latin typeface="宋体" panose="02010600030101010101" pitchFamily="2" charset="-122"/>
              </a:rPr>
              <a:t>M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中，无死区、</a:t>
            </a:r>
            <a:r>
              <a:rPr lang="en-US" altLang="zh-CN" b="1" i="1" u="none" dirty="0" smtClean="0">
                <a:latin typeface="宋体" panose="02010600030101010101" pitchFamily="2" charset="-122"/>
              </a:rPr>
              <a:t>T</a:t>
            </a:r>
            <a:r>
              <a:rPr lang="en-US" altLang="zh-CN" b="1" u="none" baseline="-18000" dirty="0" smtClean="0">
                <a:latin typeface="宋体" panose="02010600030101010101" pitchFamily="2" charset="-122"/>
              </a:rPr>
              <a:t>M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翻倍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283" name="Text Box 226"/>
          <p:cNvSpPr txBox="1">
            <a:spLocks noChangeArrowheads="1"/>
          </p:cNvSpPr>
          <p:nvPr/>
        </p:nvSpPr>
        <p:spPr bwMode="auto">
          <a:xfrm>
            <a:off x="2339752" y="4747210"/>
            <a:ext cx="6804248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spc="-50" dirty="0" smtClean="0">
                <a:latin typeface="宋体" panose="02010600030101010101" pitchFamily="2" charset="-122"/>
              </a:rPr>
              <a:t>各行刷新</a:t>
            </a:r>
            <a:r>
              <a:rPr lang="zh-CN" altLang="en-US" b="1" spc="-50" dirty="0" smtClean="0">
                <a:latin typeface="宋体" panose="02010600030101010101" pitchFamily="2" charset="-122"/>
              </a:rPr>
              <a:t>均匀分布在刷新周期</a:t>
            </a:r>
            <a:r>
              <a:rPr lang="zh-CN" altLang="en-US" b="1" u="none" spc="-50" dirty="0" smtClean="0">
                <a:latin typeface="宋体" panose="02010600030101010101" pitchFamily="2" charset="-122"/>
              </a:rPr>
              <a:t>中，无死区、</a:t>
            </a:r>
            <a:r>
              <a:rPr lang="en-US" altLang="zh-CN" b="1" i="1" u="none" spc="-50" dirty="0" smtClean="0">
                <a:latin typeface="宋体" panose="02010600030101010101" pitchFamily="2" charset="-122"/>
              </a:rPr>
              <a:t>T</a:t>
            </a:r>
            <a:r>
              <a:rPr lang="en-US" altLang="zh-CN" b="1" u="none" spc="-50" baseline="-18000" dirty="0" smtClean="0">
                <a:latin typeface="宋体" panose="02010600030101010101" pitchFamily="2" charset="-122"/>
              </a:rPr>
              <a:t>M</a:t>
            </a:r>
            <a:r>
              <a:rPr lang="zh-CN" altLang="en-US" b="1" u="none" spc="-50" dirty="0" smtClean="0">
                <a:latin typeface="宋体" panose="02010600030101010101" pitchFamily="2" charset="-122"/>
              </a:rPr>
              <a:t>不变</a:t>
            </a:r>
            <a:endParaRPr lang="zh-CN" altLang="en-US" b="1" spc="-50" dirty="0">
              <a:latin typeface="宋体" panose="02010600030101010101" pitchFamily="2" charset="-122"/>
            </a:endParaRPr>
          </a:p>
        </p:txBody>
      </p:sp>
      <p:sp>
        <p:nvSpPr>
          <p:cNvPr id="284" name="Text Box 254"/>
          <p:cNvSpPr txBox="1">
            <a:spLocks noChangeArrowheads="1"/>
          </p:cNvSpPr>
          <p:nvPr/>
        </p:nvSpPr>
        <p:spPr bwMode="auto">
          <a:xfrm>
            <a:off x="107536" y="4869192"/>
            <a:ext cx="288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 algn="ctr">
              <a:lnSpc>
                <a:spcPct val="90000"/>
              </a:lnSpc>
            </a:pP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★</a:t>
            </a:r>
            <a:endParaRPr lang="zh-CN" altLang="en-US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/>
      <p:bldP spid="168" grpId="0"/>
      <p:bldP spid="281" grpId="0"/>
      <p:bldP spid="282" grpId="0"/>
      <p:bldP spid="283" grpId="0"/>
      <p:bldP spid="28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260005" y="4011730"/>
            <a:ext cx="7127255" cy="1656184"/>
            <a:chOff x="1260005" y="4293490"/>
            <a:chExt cx="7127255" cy="1656184"/>
          </a:xfrm>
        </p:grpSpPr>
        <p:sp>
          <p:nvSpPr>
            <p:cNvPr id="82" name="Rectangle 234"/>
            <p:cNvSpPr>
              <a:spLocks noChangeArrowheads="1"/>
            </p:cNvSpPr>
            <p:nvPr/>
          </p:nvSpPr>
          <p:spPr bwMode="auto">
            <a:xfrm>
              <a:off x="2556744" y="4293490"/>
              <a:ext cx="4032000" cy="15120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Text Box 235"/>
            <p:cNvSpPr txBox="1">
              <a:spLocks noChangeArrowheads="1"/>
            </p:cNvSpPr>
            <p:nvPr/>
          </p:nvSpPr>
          <p:spPr bwMode="auto">
            <a:xfrm>
              <a:off x="7739260" y="4509674"/>
              <a:ext cx="648000" cy="144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DRAM</a:t>
              </a:r>
              <a:endParaRPr lang="en-US" altLang="zh-CN" sz="1800" b="1" u="none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800" b="1" u="none">
                  <a:latin typeface="宋体" panose="02010600030101010101" pitchFamily="2" charset="-122"/>
                </a:rPr>
                <a:t>芯片</a:t>
              </a:r>
              <a:endParaRPr lang="zh-CN" altLang="en-US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84" name="Text Box 237"/>
            <p:cNvSpPr txBox="1">
              <a:spLocks noChangeArrowheads="1"/>
            </p:cNvSpPr>
            <p:nvPr/>
          </p:nvSpPr>
          <p:spPr bwMode="auto">
            <a:xfrm>
              <a:off x="6658891" y="4437630"/>
              <a:ext cx="10080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列地址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5" name="Line 252"/>
            <p:cNvSpPr>
              <a:spLocks noChangeShapeType="1"/>
            </p:cNvSpPr>
            <p:nvPr/>
          </p:nvSpPr>
          <p:spPr bwMode="auto">
            <a:xfrm flipV="1">
              <a:off x="6517258" y="5445618"/>
              <a:ext cx="122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253"/>
            <p:cNvSpPr>
              <a:spLocks noChangeShapeType="1"/>
            </p:cNvSpPr>
            <p:nvPr/>
          </p:nvSpPr>
          <p:spPr bwMode="auto">
            <a:xfrm flipV="1">
              <a:off x="6517258" y="5229594"/>
              <a:ext cx="1224000" cy="1587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254"/>
            <p:cNvSpPr>
              <a:spLocks noChangeShapeType="1"/>
            </p:cNvSpPr>
            <p:nvPr/>
          </p:nvSpPr>
          <p:spPr bwMode="auto">
            <a:xfrm>
              <a:off x="6517258" y="5661642"/>
              <a:ext cx="122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255"/>
            <p:cNvSpPr>
              <a:spLocks noChangeShapeType="1"/>
            </p:cNvSpPr>
            <p:nvPr/>
          </p:nvSpPr>
          <p:spPr bwMode="auto">
            <a:xfrm flipV="1">
              <a:off x="6517258" y="4653530"/>
              <a:ext cx="1224000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Text Box 318"/>
            <p:cNvSpPr txBox="1">
              <a:spLocks noChangeArrowheads="1"/>
            </p:cNvSpPr>
            <p:nvPr/>
          </p:nvSpPr>
          <p:spPr bwMode="auto">
            <a:xfrm>
              <a:off x="6947891" y="5013594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90" name="Line 319"/>
            <p:cNvSpPr>
              <a:spLocks noChangeShapeType="1"/>
            </p:cNvSpPr>
            <p:nvPr/>
          </p:nvSpPr>
          <p:spPr bwMode="auto">
            <a:xfrm>
              <a:off x="6966941" y="5048205"/>
              <a:ext cx="32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Text Box 321"/>
            <p:cNvSpPr txBox="1">
              <a:spLocks noChangeArrowheads="1"/>
            </p:cNvSpPr>
            <p:nvPr/>
          </p:nvSpPr>
          <p:spPr bwMode="auto">
            <a:xfrm>
              <a:off x="7017741" y="5445618"/>
              <a:ext cx="28892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92" name="Line 322"/>
            <p:cNvSpPr>
              <a:spLocks noChangeShapeType="1"/>
            </p:cNvSpPr>
            <p:nvPr/>
          </p:nvSpPr>
          <p:spPr bwMode="auto">
            <a:xfrm flipV="1">
              <a:off x="7028854" y="5476064"/>
              <a:ext cx="2317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Text Box 324"/>
            <p:cNvSpPr txBox="1">
              <a:spLocks noChangeArrowheads="1"/>
            </p:cNvSpPr>
            <p:nvPr/>
          </p:nvSpPr>
          <p:spPr bwMode="auto">
            <a:xfrm>
              <a:off x="6947891" y="5221886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94" name="Line 325"/>
            <p:cNvSpPr>
              <a:spLocks noChangeShapeType="1"/>
            </p:cNvSpPr>
            <p:nvPr/>
          </p:nvSpPr>
          <p:spPr bwMode="auto">
            <a:xfrm>
              <a:off x="6966941" y="5258457"/>
              <a:ext cx="32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Text Box 237"/>
            <p:cNvSpPr txBox="1">
              <a:spLocks noChangeArrowheads="1"/>
            </p:cNvSpPr>
            <p:nvPr/>
          </p:nvSpPr>
          <p:spPr bwMode="auto">
            <a:xfrm>
              <a:off x="2771872" y="4941562"/>
              <a:ext cx="648000" cy="2880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u="none" dirty="0" smtClean="0">
                  <a:latin typeface="宋体" panose="02010600030101010101" pitchFamily="2" charset="-122"/>
                </a:rPr>
                <a:t>DRAMC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6" name="Text Box 335"/>
            <p:cNvSpPr txBox="1">
              <a:spLocks noChangeArrowheads="1"/>
            </p:cNvSpPr>
            <p:nvPr/>
          </p:nvSpPr>
          <p:spPr bwMode="auto">
            <a:xfrm>
              <a:off x="1260005" y="4509674"/>
              <a:ext cx="575691" cy="144000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1905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2000" b="1" u="none">
                  <a:latin typeface="宋体" panose="02010600030101010101" pitchFamily="2" charset="-122"/>
                </a:rPr>
                <a:t>CPU</a:t>
              </a:r>
              <a:endParaRPr lang="en-US" altLang="zh-CN" sz="2000" b="1" u="none">
                <a:latin typeface="宋体" panose="02010600030101010101" pitchFamily="2" charset="-122"/>
              </a:endParaRPr>
            </a:p>
          </p:txBody>
        </p:sp>
        <p:sp>
          <p:nvSpPr>
            <p:cNvPr id="97" name="Line 338"/>
            <p:cNvSpPr>
              <a:spLocks noChangeShapeType="1"/>
            </p:cNvSpPr>
            <p:nvPr/>
          </p:nvSpPr>
          <p:spPr bwMode="auto">
            <a:xfrm flipV="1">
              <a:off x="1835776" y="4797546"/>
              <a:ext cx="720000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339"/>
            <p:cNvSpPr>
              <a:spLocks noChangeShapeType="1"/>
            </p:cNvSpPr>
            <p:nvPr/>
          </p:nvSpPr>
          <p:spPr bwMode="auto">
            <a:xfrm flipV="1">
              <a:off x="1835776" y="5294936"/>
              <a:ext cx="72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Text Box 340"/>
            <p:cNvSpPr txBox="1">
              <a:spLocks noChangeArrowheads="1"/>
            </p:cNvSpPr>
            <p:nvPr/>
          </p:nvSpPr>
          <p:spPr bwMode="auto">
            <a:xfrm>
              <a:off x="1979768" y="4580653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CC3300"/>
                  </a:solidFill>
                </a:rPr>
                <a:t>地址</a:t>
              </a:r>
              <a:endParaRPr lang="zh-CN" altLang="en-US" sz="1600" b="1" u="none" dirty="0">
                <a:solidFill>
                  <a:srgbClr val="CC3300"/>
                </a:solidFill>
              </a:endParaRPr>
            </a:p>
          </p:txBody>
        </p:sp>
        <p:sp>
          <p:nvSpPr>
            <p:cNvPr id="100" name="Text Box 341"/>
            <p:cNvSpPr txBox="1">
              <a:spLocks noChangeArrowheads="1"/>
            </p:cNvSpPr>
            <p:nvPr/>
          </p:nvSpPr>
          <p:spPr bwMode="auto">
            <a:xfrm>
              <a:off x="1907768" y="5085602"/>
              <a:ext cx="57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读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写</a:t>
              </a:r>
              <a:endParaRPr lang="zh-CN" altLang="en-US" sz="16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1" name="Line 338"/>
            <p:cNvSpPr>
              <a:spLocks noChangeShapeType="1"/>
            </p:cNvSpPr>
            <p:nvPr/>
          </p:nvSpPr>
          <p:spPr bwMode="auto">
            <a:xfrm flipH="1" flipV="1">
              <a:off x="1835869" y="5877666"/>
              <a:ext cx="59040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Text Box 240"/>
            <p:cNvSpPr txBox="1">
              <a:spLocks noChangeArrowheads="1"/>
            </p:cNvSpPr>
            <p:nvPr/>
          </p:nvSpPr>
          <p:spPr bwMode="auto">
            <a:xfrm>
              <a:off x="5725095" y="5157650"/>
              <a:ext cx="792163" cy="57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/>
                <a:t>定时</a:t>
              </a:r>
              <a:endParaRPr lang="zh-CN" altLang="en-US" sz="1800" b="1" u="none" dirty="0"/>
            </a:p>
            <a:p>
              <a:pPr algn="ctr">
                <a:lnSpc>
                  <a:spcPct val="90000"/>
                </a:lnSpc>
              </a:pPr>
              <a:r>
                <a:rPr lang="zh-CN" altLang="en-US" sz="1800" b="1" u="none" dirty="0"/>
                <a:t>发生器</a:t>
              </a:r>
              <a:endParaRPr lang="zh-CN" altLang="en-US" sz="1800" b="1" u="none" dirty="0"/>
            </a:p>
          </p:txBody>
        </p:sp>
        <p:sp>
          <p:nvSpPr>
            <p:cNvPr id="130" name="Line 245"/>
            <p:cNvSpPr>
              <a:spLocks noChangeShapeType="1"/>
            </p:cNvSpPr>
            <p:nvPr/>
          </p:nvSpPr>
          <p:spPr bwMode="auto">
            <a:xfrm>
              <a:off x="5364128" y="5445618"/>
              <a:ext cx="360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248"/>
            <p:cNvSpPr>
              <a:spLocks noChangeShapeType="1"/>
            </p:cNvSpPr>
            <p:nvPr/>
          </p:nvSpPr>
          <p:spPr bwMode="auto">
            <a:xfrm flipV="1">
              <a:off x="6156176" y="4869586"/>
              <a:ext cx="0" cy="28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 Box 336"/>
            <p:cNvSpPr txBox="1">
              <a:spLocks noChangeArrowheads="1"/>
            </p:cNvSpPr>
            <p:nvPr/>
          </p:nvSpPr>
          <p:spPr bwMode="auto">
            <a:xfrm>
              <a:off x="5724216" y="4365554"/>
              <a:ext cx="792000" cy="504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 smtClean="0"/>
                <a:t>行列地址选择</a:t>
              </a:r>
              <a:endParaRPr lang="zh-CN" altLang="en-US" sz="1800" b="1" u="none" dirty="0"/>
            </a:p>
          </p:txBody>
        </p:sp>
        <p:sp>
          <p:nvSpPr>
            <p:cNvPr id="58" name="Line 243"/>
            <p:cNvSpPr>
              <a:spLocks noChangeShapeType="1"/>
            </p:cNvSpPr>
            <p:nvPr/>
          </p:nvSpPr>
          <p:spPr bwMode="auto">
            <a:xfrm>
              <a:off x="5364128" y="4581522"/>
              <a:ext cx="360000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0" name="Text Box 232"/>
          <p:cNvSpPr txBox="1">
            <a:spLocks noChangeArrowheads="1"/>
          </p:cNvSpPr>
          <p:nvPr/>
        </p:nvSpPr>
        <p:spPr bwMode="auto">
          <a:xfrm>
            <a:off x="2987824" y="2420888"/>
            <a:ext cx="5975898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计数器产生，初值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行数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在系统启动时设置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定时器实现，刷新方式已设定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刷新定时器中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仲裁电路实现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刷新的优先级较高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zh-CN" altLang="en-US" sz="20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231"/>
          <p:cNvSpPr txBox="1">
            <a:spLocks noChangeArrowheads="1"/>
          </p:cNvSpPr>
          <p:nvPr/>
        </p:nvSpPr>
        <p:spPr bwMode="auto">
          <a:xfrm>
            <a:off x="179388" y="332656"/>
            <a:ext cx="8785225" cy="13065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芯片刷新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的实现</a:t>
            </a:r>
            <a:endParaRPr lang="zh-CN" altLang="en-US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>
                <a:latin typeface="宋体" panose="02010600030101010101" pitchFamily="2" charset="-122"/>
              </a:rPr>
              <a:t>    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通常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用</a:t>
            </a:r>
            <a:r>
              <a:rPr lang="zh-CN" altLang="en-US" b="1" dirty="0" smtClean="0">
                <a:latin typeface="宋体" panose="02010600030101010101" pitchFamily="2" charset="-122"/>
              </a:rPr>
              <a:t>外部</a:t>
            </a:r>
            <a:r>
              <a:rPr lang="zh-CN" altLang="en-US" b="1" dirty="0">
                <a:latin typeface="宋体" panose="02010600030101010101" pitchFamily="2" charset="-122"/>
              </a:rPr>
              <a:t>电路</a:t>
            </a:r>
            <a:r>
              <a:rPr lang="zh-CN" altLang="en-US" b="1" u="none" dirty="0">
                <a:latin typeface="宋体" panose="02010600030101010101" pitchFamily="2" charset="-122"/>
              </a:rPr>
              <a:t>实现，如</a:t>
            </a:r>
            <a:r>
              <a:rPr lang="en-US" altLang="zh-CN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DRAM</a:t>
            </a:r>
            <a:r>
              <a:rPr lang="zh-CN" altLang="en-US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控制器</a:t>
            </a:r>
            <a:r>
              <a:rPr lang="en-US" altLang="zh-CN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(DRAMC</a:t>
            </a:r>
            <a:r>
              <a:rPr lang="en-US" altLang="zh-CN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)</a:t>
            </a:r>
            <a:endParaRPr lang="en-US" altLang="zh-CN" b="1" u="none" dirty="0" smtClean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u="none" dirty="0" smtClean="0">
                <a:latin typeface="宋体" panose="02010600030101010101" pitchFamily="2" charset="-122"/>
              </a:rPr>
              <a:t>                </a:t>
            </a:r>
            <a:r>
              <a:rPr lang="zh-CN" altLang="en-US" sz="1800" u="none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←产生刷新操作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命令      </a:t>
            </a:r>
            <a:r>
              <a:rPr lang="zh-CN" altLang="en-US" sz="1800" u="none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←又称主存控制器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62" name="AutoShape 136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156177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4572000" y="1988840"/>
            <a:ext cx="2736304" cy="166082"/>
            <a:chOff x="4644008" y="2038782"/>
            <a:chExt cx="2736304" cy="166082"/>
          </a:xfrm>
        </p:grpSpPr>
        <p:cxnSp>
          <p:nvCxnSpPr>
            <p:cNvPr id="24" name="直接箭头连接符 23"/>
            <p:cNvCxnSpPr/>
            <p:nvPr/>
          </p:nvCxnSpPr>
          <p:spPr bwMode="auto">
            <a:xfrm flipH="1" flipV="1">
              <a:off x="4644008" y="2038782"/>
              <a:ext cx="251580" cy="16608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76" name="直接箭头连接符 75"/>
            <p:cNvCxnSpPr/>
            <p:nvPr/>
          </p:nvCxnSpPr>
          <p:spPr bwMode="auto">
            <a:xfrm rot="10800000" flipV="1">
              <a:off x="4895588" y="2060848"/>
              <a:ext cx="2484724" cy="144016"/>
            </a:xfrm>
            <a:prstGeom prst="bentConnector3">
              <a:avLst>
                <a:gd name="adj1" fmla="val -382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sm"/>
            </a:ln>
            <a:effectLst/>
          </p:spPr>
        </p:cxnSp>
      </p:grpSp>
      <p:sp>
        <p:nvSpPr>
          <p:cNvPr id="78" name="Text Box 330"/>
          <p:cNvSpPr txBox="1">
            <a:spLocks noChangeArrowheads="1"/>
          </p:cNvSpPr>
          <p:nvPr/>
        </p:nvSpPr>
        <p:spPr bwMode="auto">
          <a:xfrm>
            <a:off x="3131840" y="1556792"/>
            <a:ext cx="5544616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管理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对主存的</a:t>
            </a:r>
            <a:r>
              <a:rPr lang="zh-CN" altLang="en-US" b="1" dirty="0" smtClean="0">
                <a:latin typeface="宋体" panose="02010600030101010101" pitchFamily="2" charset="-122"/>
              </a:rPr>
              <a:t>操作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、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对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DRAM</a:t>
            </a:r>
            <a:r>
              <a:rPr lang="zh-CN" altLang="en-US" b="1" u="none" dirty="0">
                <a:latin typeface="宋体" panose="02010600030101010101" pitchFamily="2" charset="-122"/>
              </a:rPr>
              <a:t>的</a:t>
            </a:r>
            <a:r>
              <a:rPr lang="zh-CN" altLang="en-US" b="1" dirty="0" smtClean="0">
                <a:latin typeface="宋体" panose="02010600030101010101" pitchFamily="2" charset="-122"/>
              </a:rPr>
              <a:t>刷新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79" name="Text Box 232"/>
          <p:cNvSpPr txBox="1">
            <a:spLocks noChangeArrowheads="1"/>
          </p:cNvSpPr>
          <p:nvPr/>
        </p:nvSpPr>
        <p:spPr bwMode="auto">
          <a:xfrm>
            <a:off x="179512" y="1532399"/>
            <a:ext cx="3348284" cy="24006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*DRAMC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的主要功能：</a:t>
            </a:r>
            <a:endParaRPr lang="en-US" altLang="zh-CN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*DRAMC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功能的组织：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行刷新的地址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行刷新的时机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spc="5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操作的管理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cxnSp>
        <p:nvCxnSpPr>
          <p:cNvPr id="119" name="直接连接符 118"/>
          <p:cNvCxnSpPr/>
          <p:nvPr/>
        </p:nvCxnSpPr>
        <p:spPr bwMode="auto">
          <a:xfrm>
            <a:off x="4787875" y="4227360"/>
            <a:ext cx="576000" cy="7240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C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0" name="直接连接符 119"/>
          <p:cNvCxnSpPr/>
          <p:nvPr/>
        </p:nvCxnSpPr>
        <p:spPr bwMode="auto">
          <a:xfrm flipV="1">
            <a:off x="4788088" y="5163874"/>
            <a:ext cx="576000" cy="14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9900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23" name="组合 122"/>
          <p:cNvGrpSpPr/>
          <p:nvPr/>
        </p:nvGrpSpPr>
        <p:grpSpPr>
          <a:xfrm>
            <a:off x="2554783" y="4083738"/>
            <a:ext cx="2809305" cy="1368152"/>
            <a:chOff x="2410394" y="3694344"/>
            <a:chExt cx="2809305" cy="1368152"/>
          </a:xfrm>
        </p:grpSpPr>
        <p:sp>
          <p:nvSpPr>
            <p:cNvPr id="124" name="Text Box 336"/>
            <p:cNvSpPr txBox="1">
              <a:spLocks noChangeArrowheads="1"/>
            </p:cNvSpPr>
            <p:nvPr/>
          </p:nvSpPr>
          <p:spPr bwMode="auto">
            <a:xfrm>
              <a:off x="4643699" y="3694344"/>
              <a:ext cx="576000" cy="504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 smtClean="0"/>
                <a:t>多路</a:t>
              </a:r>
              <a:r>
                <a:rPr lang="zh-CN" altLang="en-US" sz="1800" b="1" u="none" dirty="0"/>
                <a:t>开关</a:t>
              </a:r>
              <a:endParaRPr lang="zh-CN" altLang="en-US" sz="1800" b="1" u="none" dirty="0"/>
            </a:p>
          </p:txBody>
        </p:sp>
        <p:sp>
          <p:nvSpPr>
            <p:cNvPr id="125" name="Text Box 337"/>
            <p:cNvSpPr txBox="1">
              <a:spLocks noChangeArrowheads="1"/>
            </p:cNvSpPr>
            <p:nvPr/>
          </p:nvSpPr>
          <p:spPr bwMode="auto">
            <a:xfrm>
              <a:off x="4642419" y="4486496"/>
              <a:ext cx="576000" cy="576000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/>
                <a:t>仲裁</a:t>
              </a:r>
              <a:endParaRPr lang="zh-CN" altLang="en-US" sz="1800" b="1" u="none" dirty="0"/>
            </a:p>
            <a:p>
              <a:pPr algn="ctr">
                <a:lnSpc>
                  <a:spcPct val="90000"/>
                </a:lnSpc>
              </a:pPr>
              <a:r>
                <a:rPr lang="zh-CN" altLang="en-US" sz="1800" b="1" u="none" dirty="0"/>
                <a:t>电路</a:t>
              </a:r>
              <a:endParaRPr lang="zh-CN" altLang="en-US" sz="1800" b="1" u="none" dirty="0"/>
            </a:p>
          </p:txBody>
        </p:sp>
        <p:sp>
          <p:nvSpPr>
            <p:cNvPr id="126" name="Line 338"/>
            <p:cNvSpPr>
              <a:spLocks noChangeShapeType="1"/>
            </p:cNvSpPr>
            <p:nvPr/>
          </p:nvSpPr>
          <p:spPr bwMode="auto">
            <a:xfrm flipV="1">
              <a:off x="2411387" y="4126392"/>
              <a:ext cx="2232000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339"/>
            <p:cNvSpPr>
              <a:spLocks noChangeShapeType="1"/>
            </p:cNvSpPr>
            <p:nvPr/>
          </p:nvSpPr>
          <p:spPr bwMode="auto">
            <a:xfrm flipV="1">
              <a:off x="2410394" y="4623782"/>
              <a:ext cx="223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Line 248"/>
            <p:cNvSpPr>
              <a:spLocks noChangeShapeType="1"/>
            </p:cNvSpPr>
            <p:nvPr/>
          </p:nvSpPr>
          <p:spPr bwMode="auto">
            <a:xfrm flipV="1">
              <a:off x="4932931" y="4198432"/>
              <a:ext cx="0" cy="288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203984" y="4380372"/>
            <a:ext cx="2736176" cy="1071518"/>
            <a:chOff x="3203984" y="4783776"/>
            <a:chExt cx="2736176" cy="1071518"/>
          </a:xfrm>
        </p:grpSpPr>
        <p:sp>
          <p:nvSpPr>
            <p:cNvPr id="110" name="Text Box 242"/>
            <p:cNvSpPr txBox="1">
              <a:spLocks noChangeArrowheads="1"/>
            </p:cNvSpPr>
            <p:nvPr/>
          </p:nvSpPr>
          <p:spPr bwMode="auto">
            <a:xfrm>
              <a:off x="3203984" y="5567294"/>
              <a:ext cx="1224000" cy="28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/>
                <a:t>刷新定时器</a:t>
              </a:r>
              <a:endParaRPr lang="zh-CN" altLang="en-US" sz="1800" b="1" u="none" dirty="0"/>
            </a:p>
          </p:txBody>
        </p:sp>
        <p:sp>
          <p:nvSpPr>
            <p:cNvPr id="112" name="Line 249"/>
            <p:cNvSpPr>
              <a:spLocks noChangeShapeType="1"/>
            </p:cNvSpPr>
            <p:nvPr/>
          </p:nvSpPr>
          <p:spPr bwMode="auto">
            <a:xfrm flipV="1">
              <a:off x="5939779" y="5135230"/>
              <a:ext cx="0" cy="144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250"/>
            <p:cNvSpPr>
              <a:spLocks noChangeShapeType="1"/>
            </p:cNvSpPr>
            <p:nvPr/>
          </p:nvSpPr>
          <p:spPr bwMode="auto">
            <a:xfrm flipV="1">
              <a:off x="3564160" y="5135214"/>
              <a:ext cx="2376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251"/>
            <p:cNvSpPr>
              <a:spLocks noChangeShapeType="1"/>
            </p:cNvSpPr>
            <p:nvPr/>
          </p:nvSpPr>
          <p:spPr bwMode="auto">
            <a:xfrm flipV="1">
              <a:off x="3563888" y="4783776"/>
              <a:ext cx="0" cy="360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256"/>
            <p:cNvSpPr>
              <a:spLocks noChangeShapeType="1"/>
            </p:cNvSpPr>
            <p:nvPr/>
          </p:nvSpPr>
          <p:spPr bwMode="auto">
            <a:xfrm>
              <a:off x="4428024" y="5711278"/>
              <a:ext cx="3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699984" y="3933056"/>
            <a:ext cx="5399905" cy="438682"/>
            <a:chOff x="2699984" y="3861048"/>
            <a:chExt cx="5399905" cy="438682"/>
          </a:xfrm>
        </p:grpSpPr>
        <p:sp>
          <p:nvSpPr>
            <p:cNvPr id="102" name="Text Box 238"/>
            <p:cNvSpPr txBox="1">
              <a:spLocks noChangeArrowheads="1"/>
            </p:cNvSpPr>
            <p:nvPr/>
          </p:nvSpPr>
          <p:spPr bwMode="auto">
            <a:xfrm>
              <a:off x="2699984" y="4011730"/>
              <a:ext cx="1728000" cy="28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/>
                <a:t>刷新地址计数器</a:t>
              </a:r>
              <a:endParaRPr lang="zh-CN" altLang="en-US" sz="1800" b="1" u="none" dirty="0"/>
            </a:p>
          </p:txBody>
        </p:sp>
        <p:sp>
          <p:nvSpPr>
            <p:cNvPr id="103" name="Line 243"/>
            <p:cNvSpPr>
              <a:spLocks noChangeShapeType="1"/>
            </p:cNvSpPr>
            <p:nvPr/>
          </p:nvSpPr>
          <p:spPr bwMode="auto">
            <a:xfrm>
              <a:off x="4428024" y="4155714"/>
              <a:ext cx="360000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07" name="直接箭头连接符 54"/>
            <p:cNvCxnSpPr/>
            <p:nvPr/>
          </p:nvCxnSpPr>
          <p:spPr bwMode="auto">
            <a:xfrm rot="16200000" flipV="1">
              <a:off x="5687889" y="1737048"/>
              <a:ext cx="288000" cy="4536000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59" name="直接箭头连接符 54"/>
            <p:cNvCxnSpPr/>
            <p:nvPr/>
          </p:nvCxnSpPr>
          <p:spPr bwMode="auto">
            <a:xfrm>
              <a:off x="3563888" y="3861048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</p:grpSp>
      <p:sp>
        <p:nvSpPr>
          <p:cNvPr id="56" name="AutoShape 331"/>
          <p:cNvSpPr/>
          <p:nvPr/>
        </p:nvSpPr>
        <p:spPr bwMode="auto">
          <a:xfrm>
            <a:off x="2771800" y="5733256"/>
            <a:ext cx="2808312" cy="252000"/>
          </a:xfrm>
          <a:prstGeom prst="borderCallout2">
            <a:avLst>
              <a:gd name="adj1" fmla="val 50061"/>
              <a:gd name="adj2" fmla="val 82"/>
              <a:gd name="adj3" fmla="val 46199"/>
              <a:gd name="adj4" fmla="val -9551"/>
              <a:gd name="adj5" fmla="val -475253"/>
              <a:gd name="adj6" fmla="val -22716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headEnd type="none" w="sm" len="med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/>
            <a:r>
              <a:rPr lang="zh-CN" altLang="en-US" sz="1600" b="1" u="none" dirty="0" smtClean="0">
                <a:latin typeface="+mn-ea"/>
                <a:ea typeface="+mn-ea"/>
              </a:rPr>
              <a:t>一次性发送</a:t>
            </a:r>
            <a:r>
              <a:rPr lang="en-US" altLang="zh-CN" sz="1600" b="1" u="none" dirty="0" smtClean="0">
                <a:latin typeface="+mn-ea"/>
                <a:ea typeface="+mn-ea"/>
              </a:rPr>
              <a:t>(</a:t>
            </a:r>
            <a:r>
              <a:rPr lang="zh-CN" altLang="en-US" sz="1600" b="1" u="none" dirty="0" smtClean="0">
                <a:latin typeface="+mn-ea"/>
                <a:ea typeface="+mn-ea"/>
              </a:rPr>
              <a:t>不限制主存组成</a:t>
            </a:r>
            <a:r>
              <a:rPr lang="en-US" altLang="zh-CN" sz="1600" b="1" u="none" dirty="0" smtClean="0">
                <a:latin typeface="+mn-ea"/>
                <a:ea typeface="+mn-ea"/>
              </a:rPr>
              <a:t>)</a:t>
            </a:r>
            <a:endParaRPr lang="zh-CN" altLang="en-US" sz="1600" b="1" u="none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5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56E7F-3BA1-4EF9-A07E-BE39201A5FC2}" type="slidenum">
              <a:rPr lang="en-US" altLang="zh-CN"/>
            </a:fld>
            <a:endParaRPr lang="en-US" altLang="zh-CN"/>
          </a:p>
        </p:txBody>
      </p:sp>
      <p:sp>
        <p:nvSpPr>
          <p:cNvPr id="441456" name="Text Box 112"/>
          <p:cNvSpPr txBox="1">
            <a:spLocks noChangeArrowheads="1"/>
          </p:cNvSpPr>
          <p:nvPr/>
        </p:nvSpPr>
        <p:spPr bwMode="auto">
          <a:xfrm>
            <a:off x="179388" y="359445"/>
            <a:ext cx="8785225" cy="549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5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DRAM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与</a:t>
            </a: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的比较</a:t>
            </a:r>
            <a:endParaRPr lang="zh-CN" altLang="en-US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Text Box 117"/>
          <p:cNvSpPr txBox="1">
            <a:spLocks noChangeArrowheads="1"/>
          </p:cNvSpPr>
          <p:nvPr/>
        </p:nvSpPr>
        <p:spPr bwMode="auto">
          <a:xfrm>
            <a:off x="971477" y="5950441"/>
            <a:ext cx="3672531" cy="430887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200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3-1</a:t>
            </a:r>
            <a:r>
              <a:rPr lang="zh-CN" altLang="en-US" sz="2200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P137—3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、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4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、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6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7" name="Text Box 232"/>
          <p:cNvSpPr txBox="1">
            <a:spLocks noChangeArrowheads="1"/>
          </p:cNvSpPr>
          <p:nvPr/>
        </p:nvSpPr>
        <p:spPr bwMode="auto">
          <a:xfrm>
            <a:off x="1043608" y="4231118"/>
            <a:ext cx="7416825" cy="1214106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  <a:miter lim="800000"/>
          </a:ln>
          <a:effectLst/>
        </p:spPr>
        <p:txBody>
          <a:bodyPr wrap="square" tIns="11880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提醒：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学以致用→</a:t>
            </a:r>
            <a:r>
              <a:rPr lang="zh-CN" altLang="en-US" sz="2200" u="none" dirty="0" smtClean="0">
                <a:latin typeface="宋体" panose="02010600030101010101" pitchFamily="2" charset="-122"/>
              </a:rPr>
              <a:t>┬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←目标是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主存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的设计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、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操作控制</a:t>
            </a:r>
            <a:endParaRPr lang="en-US" altLang="zh-CN" sz="22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                 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  </a:t>
            </a:r>
            <a:r>
              <a:rPr lang="zh-CN" altLang="en-US" sz="2200" u="none" dirty="0" smtClean="0">
                <a:latin typeface="宋体" panose="02010600030101010101" pitchFamily="2" charset="-122"/>
              </a:rPr>
              <a:t>↓</a:t>
            </a:r>
            <a:endParaRPr lang="en-US" altLang="zh-CN" sz="2200" u="none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      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掌握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芯片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的引脚组织、操作信号时序！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9" name="Text Box 116"/>
          <p:cNvSpPr txBox="1">
            <a:spLocks noChangeArrowheads="1"/>
          </p:cNvSpPr>
          <p:nvPr/>
        </p:nvSpPr>
        <p:spPr bwMode="auto">
          <a:xfrm>
            <a:off x="179513" y="836712"/>
            <a:ext cx="4968552" cy="336245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DRAM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的特点：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--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相对于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SRAM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组成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优点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缺点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b="1" u="none" dirty="0" smtClean="0">
                <a:solidFill>
                  <a:srgbClr val="C00000"/>
                </a:solidFill>
                <a:latin typeface="+mn-ea"/>
                <a:ea typeface="+mn-ea"/>
              </a:rPr>
              <a:t> *</a:t>
            </a:r>
            <a:r>
              <a:rPr lang="en-US" altLang="zh-CN" b="1" u="none" dirty="0">
                <a:solidFill>
                  <a:srgbClr val="C00000"/>
                </a:solidFill>
                <a:latin typeface="+mn-ea"/>
                <a:ea typeface="+mn-ea"/>
              </a:rPr>
              <a:t>RAM</a:t>
            </a:r>
            <a:r>
              <a:rPr lang="zh-CN" altLang="en-US" b="1" u="none" dirty="0">
                <a:solidFill>
                  <a:srgbClr val="C00000"/>
                </a:solidFill>
                <a:latin typeface="+mn-ea"/>
                <a:ea typeface="+mn-ea"/>
              </a:rPr>
              <a:t>的应用：</a:t>
            </a:r>
            <a:endParaRPr lang="zh-CN" altLang="en-US" b="1" u="none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>
                <a:latin typeface="+mn-ea"/>
                <a:ea typeface="+mn-ea"/>
              </a:rPr>
              <a:t>   </a:t>
            </a:r>
            <a:r>
              <a:rPr lang="zh-CN" altLang="en-US" b="1" u="none" dirty="0" smtClean="0">
                <a:latin typeface="+mn-ea"/>
                <a:ea typeface="+mn-ea"/>
              </a:rPr>
              <a:t> </a:t>
            </a:r>
            <a:r>
              <a:rPr lang="en-US" altLang="zh-CN" b="1" u="none" dirty="0">
                <a:solidFill>
                  <a:schemeClr val="accent2"/>
                </a:solidFill>
                <a:latin typeface="+mn-ea"/>
                <a:ea typeface="+mn-ea"/>
              </a:rPr>
              <a:t>SRAM</a:t>
            </a:r>
            <a:r>
              <a:rPr lang="en-US" altLang="zh-CN" b="1" u="none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b="1" u="none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latin typeface="+mn-ea"/>
                <a:ea typeface="+mn-ea"/>
              </a:rPr>
              <a:t>    </a:t>
            </a:r>
            <a:r>
              <a:rPr lang="en-US" altLang="zh-CN" b="1" u="none" dirty="0">
                <a:solidFill>
                  <a:schemeClr val="accent2"/>
                </a:solidFill>
                <a:latin typeface="+mn-ea"/>
                <a:ea typeface="+mn-ea"/>
              </a:rPr>
              <a:t>DRAM—</a:t>
            </a:r>
            <a:endParaRPr lang="zh-CN" altLang="en-US" b="1" u="none" dirty="0">
              <a:latin typeface="+mn-ea"/>
              <a:ea typeface="+mn-ea"/>
            </a:endParaRPr>
          </a:p>
        </p:txBody>
      </p:sp>
      <p:sp>
        <p:nvSpPr>
          <p:cNvPr id="10" name="Text Box 116"/>
          <p:cNvSpPr txBox="1">
            <a:spLocks noChangeArrowheads="1"/>
          </p:cNvSpPr>
          <p:nvPr/>
        </p:nvSpPr>
        <p:spPr bwMode="auto">
          <a:xfrm>
            <a:off x="1763688" y="1268760"/>
            <a:ext cx="5832772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存储元的元件</a:t>
            </a:r>
            <a:r>
              <a:rPr lang="zh-CN" altLang="en-US" b="1" dirty="0" smtClean="0">
                <a:latin typeface="宋体" panose="02010600030101010101" pitchFamily="2" charset="-122"/>
              </a:rPr>
              <a:t>少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</a:t>
            </a:r>
            <a:r>
              <a:rPr lang="zh-CN" altLang="en-US" b="1" u="none" dirty="0">
                <a:latin typeface="宋体" panose="02010600030101010101" pitchFamily="2" charset="-122"/>
              </a:rPr>
              <a:t>地址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引脚</a:t>
            </a:r>
            <a:r>
              <a:rPr lang="zh-CN" altLang="en-US" b="1" dirty="0" smtClean="0">
                <a:latin typeface="宋体" panose="02010600030101010101" pitchFamily="2" charset="-122"/>
              </a:rPr>
              <a:t>减半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集成度</a:t>
            </a:r>
            <a:r>
              <a:rPr lang="zh-CN" altLang="en-US" b="1" dirty="0" smtClean="0">
                <a:latin typeface="宋体" panose="02010600030101010101" pitchFamily="2" charset="-122"/>
              </a:rPr>
              <a:t>高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、功耗</a:t>
            </a:r>
            <a:r>
              <a:rPr lang="zh-CN" altLang="en-US" b="1" dirty="0" smtClean="0">
                <a:latin typeface="宋体" panose="02010600030101010101" pitchFamily="2" charset="-122"/>
              </a:rPr>
              <a:t>低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(1/4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、成本</a:t>
            </a:r>
            <a:r>
              <a:rPr lang="zh-CN" altLang="en-US" b="1" dirty="0" smtClean="0">
                <a:latin typeface="宋体" panose="02010600030101010101" pitchFamily="2" charset="-122"/>
              </a:rPr>
              <a:t>低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(1/100)</a:t>
            </a:r>
            <a:endParaRPr lang="zh-CN" altLang="en-US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速度</a:t>
            </a:r>
            <a:r>
              <a:rPr lang="zh-CN" altLang="en-US" b="1" dirty="0" smtClean="0">
                <a:latin typeface="宋体" panose="02010600030101010101" pitchFamily="2" charset="-122"/>
              </a:rPr>
              <a:t>慢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(1/10)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            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使用电容所致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sp>
        <p:nvSpPr>
          <p:cNvPr id="11" name="Text Box 115"/>
          <p:cNvSpPr txBox="1">
            <a:spLocks noChangeArrowheads="1"/>
          </p:cNvSpPr>
          <p:nvPr/>
        </p:nvSpPr>
        <p:spPr bwMode="auto">
          <a:xfrm>
            <a:off x="1835696" y="3133417"/>
            <a:ext cx="5904780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构成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高速度</a:t>
            </a: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MEM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容量不大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</a:t>
            </a:r>
            <a:r>
              <a:rPr lang="zh-CN" altLang="en-US" b="1" u="none" dirty="0">
                <a:latin typeface="宋体" panose="02010600030101010101" pitchFamily="2" charset="-122"/>
              </a:rPr>
              <a:t>如</a:t>
            </a:r>
            <a:r>
              <a:rPr lang="en-US" altLang="zh-CN" b="1" u="none" dirty="0">
                <a:latin typeface="宋体" panose="02010600030101010101" pitchFamily="2" charset="-122"/>
              </a:rPr>
              <a:t>Cache</a:t>
            </a: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构成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大容量</a:t>
            </a: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MEM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速度一般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</a:t>
            </a:r>
            <a:r>
              <a:rPr lang="zh-CN" altLang="en-US" b="1" u="none" dirty="0">
                <a:latin typeface="宋体" panose="02010600030101010101" pitchFamily="2" charset="-122"/>
              </a:rPr>
              <a:t>如主存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12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323528" y="387960"/>
            <a:ext cx="8496944" cy="6209392"/>
          </a:xfrm>
          <a:prstGeom prst="rect">
            <a:avLst/>
          </a:prstGeom>
          <a:noFill/>
          <a:ln w="12700">
            <a:noFill/>
            <a:prstDash val="sysDash"/>
          </a:ln>
        </p:spPr>
        <p:txBody>
          <a:bodyPr vert="horz" wrap="square" bIns="0" rtlCol="0" anchor="t" anchorCtr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u="none" dirty="0" smtClean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※</a:t>
            </a:r>
            <a:r>
              <a:rPr lang="zh-CN" altLang="en-US" b="1" u="none" dirty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本节课堂练习</a:t>
            </a:r>
            <a:r>
              <a:rPr lang="zh-CN" altLang="en-US" b="1" u="none" dirty="0" smtClean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： </a:t>
            </a:r>
            <a:endParaRPr lang="en-US" altLang="zh-CN" b="1" u="none" dirty="0">
              <a:latin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u="none" dirty="0" smtClean="0">
                <a:latin typeface="+mn-ea"/>
                <a:ea typeface="+mn-ea"/>
                <a:sym typeface="微软雅黑" panose="020B0503020204020204" charset="-122"/>
              </a:rPr>
              <a:t>   </a:t>
            </a:r>
            <a:r>
              <a:rPr lang="en-US" altLang="zh-CN" sz="2200" b="1" u="none" dirty="0" smtClean="0">
                <a:latin typeface="+mn-ea"/>
                <a:ea typeface="+mn-ea"/>
                <a:sym typeface="微软雅黑" panose="020B0503020204020204" charset="-122"/>
              </a:rPr>
              <a:t>1</a:t>
            </a:r>
            <a:r>
              <a:rPr lang="zh-CN" altLang="en-US" sz="2200" b="1" u="none" dirty="0" smtClean="0">
                <a:latin typeface="+mn-ea"/>
                <a:ea typeface="+mn-ea"/>
                <a:sym typeface="微软雅黑" panose="020B0503020204020204" charset="-122"/>
              </a:rPr>
              <a:t>、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1M×4b SRAM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芯片的引脚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(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电源除外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)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至少为</a:t>
            </a:r>
            <a:endParaRPr lang="en-US" altLang="zh-CN" sz="2200" b="1" u="none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  A. 24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根   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25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根    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C.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26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根    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D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.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27</a:t>
            </a:r>
            <a:r>
              <a:rPr lang="zh-CN" altLang="en-US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根</a:t>
            </a:r>
            <a:endParaRPr lang="en-US" altLang="zh-CN" sz="2200" b="1" u="none" dirty="0">
              <a:solidFill>
                <a:srgbClr val="000000"/>
              </a:solidFill>
              <a:latin typeface="+mn-ea"/>
              <a:sym typeface="微软雅黑" panose="020B0503020204020204" charset="-122"/>
            </a:endParaRPr>
          </a:p>
          <a:p>
            <a:pPr marL="892175" indent="-892175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2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、访问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RAM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时，若地址、命令信号的发送都与时钟信号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CLK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同步，则下列选项中，最优的实现方法是</a:t>
            </a:r>
            <a:endParaRPr lang="en-US" altLang="zh-CN" sz="2200" b="1" u="none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 marL="719455" indent="-719455"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 marL="719455" indent="-719455"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 marL="719455" indent="-719455"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 marL="719455" indent="-719455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 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3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、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1M×4b DRAM</a:t>
            </a:r>
            <a:r>
              <a:rPr lang="zh-CN" altLang="en-US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芯片的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引脚</a:t>
            </a:r>
            <a:r>
              <a:rPr lang="en-US" altLang="zh-CN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(</a:t>
            </a:r>
            <a:r>
              <a:rPr lang="zh-CN" altLang="en-US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电源除外</a:t>
            </a:r>
            <a:r>
              <a:rPr lang="en-US" altLang="zh-CN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)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至少为</a:t>
            </a:r>
            <a:endParaRPr lang="en-US" altLang="zh-CN" sz="2200" b="1" u="none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      A</a:t>
            </a:r>
            <a:r>
              <a:rPr lang="en-US" altLang="zh-CN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.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14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根   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B.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15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根    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C</a:t>
            </a:r>
            <a:r>
              <a:rPr lang="en-US" altLang="zh-CN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.</a:t>
            </a:r>
            <a:r>
              <a:rPr lang="zh-CN" altLang="en-US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16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根    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D</a:t>
            </a:r>
            <a:r>
              <a:rPr lang="en-US" altLang="zh-CN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.</a:t>
            </a:r>
            <a:r>
              <a:rPr lang="zh-CN" altLang="en-US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17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根</a:t>
            </a:r>
            <a:endParaRPr lang="en-US" altLang="zh-CN" sz="2200" b="1" u="none" dirty="0" smtClean="0">
              <a:solidFill>
                <a:srgbClr val="000000"/>
              </a:solidFill>
              <a:latin typeface="+mn-ea"/>
              <a:sym typeface="微软雅黑" panose="020B0503020204020204" charset="-122"/>
            </a:endParaRPr>
          </a:p>
          <a:p>
            <a:pPr marL="892175" indent="-892175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 4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、若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1M×1b </a:t>
            </a:r>
            <a:r>
              <a:rPr lang="en-US" altLang="zh-CN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DRAM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芯片的存取周期为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1</a:t>
            </a:r>
            <a:r>
              <a:rPr lang="en-US" altLang="zh-CN" sz="2200" u="none" dirty="0" smtClean="0">
                <a:solidFill>
                  <a:srgbClr val="000000"/>
                </a:solidFill>
                <a:latin typeface="+mn-lt"/>
                <a:sym typeface="微软雅黑" panose="020B0503020204020204" charset="-122"/>
              </a:rPr>
              <a:t>μ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s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、刷新周期为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8ms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，采用异步刷新方式，则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2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次行刷新之间可操作的次数最多为</a:t>
            </a:r>
            <a:endParaRPr lang="en-US" altLang="zh-CN" sz="2200" b="1" u="none" dirty="0" smtClean="0">
              <a:solidFill>
                <a:srgbClr val="000000"/>
              </a:solidFill>
              <a:latin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      A</a:t>
            </a:r>
            <a:r>
              <a:rPr lang="en-US" altLang="zh-CN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.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6976/1024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         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B</a:t>
            </a:r>
            <a:r>
              <a:rPr lang="en-US" altLang="zh-CN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.</a:t>
            </a:r>
            <a:r>
              <a:rPr lang="zh-CN" altLang="en-US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6976/1000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 </a:t>
            </a:r>
            <a:endParaRPr lang="en-US" altLang="zh-CN" sz="2200" b="1" u="none" dirty="0" smtClean="0">
              <a:solidFill>
                <a:srgbClr val="000000"/>
              </a:solidFill>
              <a:latin typeface="+mn-ea"/>
              <a:sym typeface="微软雅黑" panose="020B0503020204020204" charset="-122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      C</a:t>
            </a:r>
            <a:r>
              <a:rPr lang="en-US" altLang="zh-CN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.</a:t>
            </a:r>
            <a:r>
              <a:rPr lang="zh-CN" altLang="en-US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8000/1024</a:t>
            </a:r>
            <a:r>
              <a:rPr lang="zh-CN" altLang="en-US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         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D</a:t>
            </a:r>
            <a:r>
              <a:rPr lang="en-US" altLang="zh-CN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.</a:t>
            </a:r>
            <a:r>
              <a:rPr lang="zh-CN" altLang="en-US" sz="2200" b="1" u="none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 </a:t>
            </a:r>
            <a:r>
              <a:rPr lang="en-US" altLang="zh-CN" sz="2200" b="1" u="none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8000/1000</a:t>
            </a:r>
            <a:endParaRPr lang="en-US" altLang="zh-CN" sz="2200" b="1" u="none" dirty="0" smtClean="0">
              <a:solidFill>
                <a:srgbClr val="000000"/>
              </a:solidFill>
              <a:latin typeface="+mn-ea"/>
              <a:sym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57401" y="2634593"/>
            <a:ext cx="7159015" cy="1082439"/>
            <a:chOff x="1157401" y="2634593"/>
            <a:chExt cx="7159015" cy="1082439"/>
          </a:xfrm>
        </p:grpSpPr>
        <p:sp>
          <p:nvSpPr>
            <p:cNvPr id="96" name="Line 227"/>
            <p:cNvSpPr>
              <a:spLocks noChangeShapeType="1"/>
            </p:cNvSpPr>
            <p:nvPr/>
          </p:nvSpPr>
          <p:spPr bwMode="auto">
            <a:xfrm>
              <a:off x="2461911" y="2850617"/>
              <a:ext cx="0" cy="864096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230"/>
            <p:cNvSpPr>
              <a:spLocks noChangeShapeType="1"/>
            </p:cNvSpPr>
            <p:nvPr/>
          </p:nvSpPr>
          <p:spPr bwMode="auto">
            <a:xfrm flipH="1">
              <a:off x="2244298" y="2850617"/>
              <a:ext cx="2109" cy="8640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231"/>
            <p:cNvSpPr>
              <a:spLocks noChangeShapeType="1"/>
            </p:cNvSpPr>
            <p:nvPr/>
          </p:nvSpPr>
          <p:spPr bwMode="auto">
            <a:xfrm>
              <a:off x="3614039" y="2850617"/>
              <a:ext cx="3696" cy="8640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Text Box 235"/>
            <p:cNvSpPr txBox="1">
              <a:spLocks noChangeArrowheads="1"/>
            </p:cNvSpPr>
            <p:nvPr/>
          </p:nvSpPr>
          <p:spPr bwMode="auto">
            <a:xfrm>
              <a:off x="1619672" y="2634593"/>
              <a:ext cx="554207" cy="108243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+mn-ea"/>
                  <a:ea typeface="+mn-ea"/>
                </a:rPr>
                <a:t>CLK</a:t>
              </a:r>
              <a:endParaRPr lang="en-US" altLang="zh-CN" sz="1600" b="1" u="none" dirty="0" smtClean="0">
                <a:latin typeface="+mn-ea"/>
                <a:ea typeface="+mn-ea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1600" b="1" u="none" dirty="0" smtClean="0">
                  <a:latin typeface="+mn-ea"/>
                  <a:ea typeface="+mn-ea"/>
                </a:rPr>
                <a:t>A</a:t>
              </a:r>
              <a:r>
                <a:rPr lang="en-US" altLang="zh-CN" sz="1600" b="1" u="none" baseline="-18000" dirty="0" smtClean="0">
                  <a:latin typeface="+mn-ea"/>
                  <a:ea typeface="+mn-ea"/>
                </a:rPr>
                <a:t>9</a:t>
              </a:r>
              <a:r>
                <a:rPr lang="en-US" altLang="zh-CN" sz="1600" b="1" u="none" dirty="0" smtClean="0">
                  <a:latin typeface="+mn-lt"/>
                  <a:ea typeface="+mn-ea"/>
                </a:rPr>
                <a:t>~</a:t>
              </a:r>
              <a:r>
                <a:rPr lang="en-US" altLang="zh-CN" sz="1600" b="1" u="none" dirty="0" smtClean="0">
                  <a:latin typeface="+mn-ea"/>
                  <a:ea typeface="+mn-ea"/>
                </a:rPr>
                <a:t>A</a:t>
              </a:r>
              <a:r>
                <a:rPr lang="en-US" altLang="zh-CN" sz="1600" b="1" u="none" baseline="-18000" dirty="0" smtClean="0">
                  <a:latin typeface="+mn-ea"/>
                  <a:ea typeface="+mn-ea"/>
                </a:rPr>
                <a:t>0</a:t>
              </a:r>
              <a:endParaRPr lang="zh-CN" altLang="en-US" sz="1600" b="1" u="none" baseline="-18000" dirty="0">
                <a:latin typeface="+mn-ea"/>
                <a:ea typeface="+mn-ea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1600" b="1" u="none" dirty="0" smtClean="0">
                  <a:latin typeface="+mn-ea"/>
                  <a:ea typeface="+mn-ea"/>
                </a:rPr>
                <a:t>CS</a:t>
              </a:r>
              <a:endParaRPr lang="zh-CN" altLang="en-US" sz="1600" b="1" u="none" dirty="0">
                <a:latin typeface="+mn-ea"/>
                <a:ea typeface="+mn-ea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1600" b="1" u="none" dirty="0" smtClean="0">
                  <a:latin typeface="+mn-ea"/>
                  <a:ea typeface="+mn-ea"/>
                </a:rPr>
                <a:t>WE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100" name="Line 236"/>
            <p:cNvSpPr>
              <a:spLocks noChangeShapeType="1"/>
            </p:cNvSpPr>
            <p:nvPr/>
          </p:nvSpPr>
          <p:spPr bwMode="auto">
            <a:xfrm>
              <a:off x="2174449" y="3028933"/>
              <a:ext cx="7143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243"/>
            <p:cNvSpPr>
              <a:spLocks noChangeShapeType="1"/>
            </p:cNvSpPr>
            <p:nvPr/>
          </p:nvSpPr>
          <p:spPr bwMode="auto">
            <a:xfrm>
              <a:off x="2151451" y="3210657"/>
              <a:ext cx="9495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244"/>
            <p:cNvSpPr>
              <a:spLocks noChangeShapeType="1"/>
            </p:cNvSpPr>
            <p:nvPr/>
          </p:nvSpPr>
          <p:spPr bwMode="auto">
            <a:xfrm>
              <a:off x="2353827" y="3426681"/>
              <a:ext cx="115272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255"/>
            <p:cNvSpPr>
              <a:spLocks noChangeShapeType="1"/>
            </p:cNvSpPr>
            <p:nvPr/>
          </p:nvSpPr>
          <p:spPr bwMode="auto">
            <a:xfrm flipV="1">
              <a:off x="3747762" y="3028541"/>
              <a:ext cx="8230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AutoShape 299"/>
            <p:cNvSpPr>
              <a:spLocks noChangeArrowheads="1"/>
            </p:cNvSpPr>
            <p:nvPr/>
          </p:nvSpPr>
          <p:spPr bwMode="auto">
            <a:xfrm>
              <a:off x="2246406" y="2922625"/>
              <a:ext cx="1501355" cy="207790"/>
            </a:xfrm>
            <a:prstGeom prst="hexagon">
              <a:avLst>
                <a:gd name="adj" fmla="val 49744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Text Box 300"/>
            <p:cNvSpPr txBox="1">
              <a:spLocks noChangeArrowheads="1"/>
            </p:cNvSpPr>
            <p:nvPr/>
          </p:nvSpPr>
          <p:spPr bwMode="auto">
            <a:xfrm>
              <a:off x="2678753" y="2922625"/>
              <a:ext cx="503238" cy="2093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/>
                <a:t>地址</a:t>
              </a:r>
              <a:endParaRPr lang="zh-CN" altLang="en-US" sz="1600" b="1" u="none" dirty="0"/>
            </a:p>
          </p:txBody>
        </p:sp>
        <p:sp>
          <p:nvSpPr>
            <p:cNvPr id="106" name="Line 234"/>
            <p:cNvSpPr>
              <a:spLocks noChangeShapeType="1"/>
            </p:cNvSpPr>
            <p:nvPr/>
          </p:nvSpPr>
          <p:spPr bwMode="auto">
            <a:xfrm flipV="1">
              <a:off x="2461911" y="2634593"/>
              <a:ext cx="0" cy="21602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239"/>
            <p:cNvSpPr>
              <a:spLocks noChangeShapeType="1"/>
            </p:cNvSpPr>
            <p:nvPr/>
          </p:nvSpPr>
          <p:spPr bwMode="auto">
            <a:xfrm>
              <a:off x="2174449" y="2850616"/>
              <a:ext cx="71438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240"/>
            <p:cNvSpPr>
              <a:spLocks noChangeShapeType="1"/>
            </p:cNvSpPr>
            <p:nvPr/>
          </p:nvSpPr>
          <p:spPr bwMode="auto">
            <a:xfrm flipH="1" flipV="1">
              <a:off x="2245887" y="2636179"/>
              <a:ext cx="0" cy="21443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241"/>
            <p:cNvSpPr>
              <a:spLocks noChangeShapeType="1"/>
            </p:cNvSpPr>
            <p:nvPr/>
          </p:nvSpPr>
          <p:spPr bwMode="auto">
            <a:xfrm flipV="1">
              <a:off x="2245887" y="2640942"/>
              <a:ext cx="216024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245"/>
            <p:cNvSpPr>
              <a:spLocks noChangeShapeType="1"/>
            </p:cNvSpPr>
            <p:nvPr/>
          </p:nvSpPr>
          <p:spPr bwMode="auto">
            <a:xfrm flipV="1">
              <a:off x="3506547" y="3210657"/>
              <a:ext cx="107492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241"/>
            <p:cNvSpPr>
              <a:spLocks noChangeShapeType="1"/>
            </p:cNvSpPr>
            <p:nvPr/>
          </p:nvSpPr>
          <p:spPr bwMode="auto">
            <a:xfrm flipV="1">
              <a:off x="2461911" y="2850617"/>
              <a:ext cx="216024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234"/>
            <p:cNvSpPr>
              <a:spLocks noChangeShapeType="1"/>
            </p:cNvSpPr>
            <p:nvPr/>
          </p:nvSpPr>
          <p:spPr bwMode="auto">
            <a:xfrm flipV="1">
              <a:off x="2893959" y="2634593"/>
              <a:ext cx="0" cy="21602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240"/>
            <p:cNvSpPr>
              <a:spLocks noChangeShapeType="1"/>
            </p:cNvSpPr>
            <p:nvPr/>
          </p:nvSpPr>
          <p:spPr bwMode="auto">
            <a:xfrm flipH="1" flipV="1">
              <a:off x="2677935" y="2636179"/>
              <a:ext cx="0" cy="21443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241"/>
            <p:cNvSpPr>
              <a:spLocks noChangeShapeType="1"/>
            </p:cNvSpPr>
            <p:nvPr/>
          </p:nvSpPr>
          <p:spPr bwMode="auto">
            <a:xfrm flipV="1">
              <a:off x="2677935" y="2640942"/>
              <a:ext cx="216024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241"/>
            <p:cNvSpPr>
              <a:spLocks noChangeShapeType="1"/>
            </p:cNvSpPr>
            <p:nvPr/>
          </p:nvSpPr>
          <p:spPr bwMode="auto">
            <a:xfrm flipV="1">
              <a:off x="2893959" y="2850617"/>
              <a:ext cx="216024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245"/>
            <p:cNvSpPr>
              <a:spLocks noChangeShapeType="1"/>
            </p:cNvSpPr>
            <p:nvPr/>
          </p:nvSpPr>
          <p:spPr bwMode="auto">
            <a:xfrm flipH="1" flipV="1">
              <a:off x="2245887" y="3210657"/>
              <a:ext cx="107491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243"/>
            <p:cNvSpPr>
              <a:spLocks noChangeShapeType="1"/>
            </p:cNvSpPr>
            <p:nvPr/>
          </p:nvSpPr>
          <p:spPr bwMode="auto">
            <a:xfrm>
              <a:off x="3614039" y="3210657"/>
              <a:ext cx="9495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243"/>
            <p:cNvSpPr>
              <a:spLocks noChangeShapeType="1"/>
            </p:cNvSpPr>
            <p:nvPr/>
          </p:nvSpPr>
          <p:spPr bwMode="auto">
            <a:xfrm>
              <a:off x="2150930" y="3498689"/>
              <a:ext cx="9495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244"/>
            <p:cNvSpPr>
              <a:spLocks noChangeShapeType="1"/>
            </p:cNvSpPr>
            <p:nvPr/>
          </p:nvSpPr>
          <p:spPr bwMode="auto">
            <a:xfrm>
              <a:off x="2349585" y="3714713"/>
              <a:ext cx="1156962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245"/>
            <p:cNvSpPr>
              <a:spLocks noChangeShapeType="1"/>
            </p:cNvSpPr>
            <p:nvPr/>
          </p:nvSpPr>
          <p:spPr bwMode="auto">
            <a:xfrm flipV="1">
              <a:off x="3508834" y="3498689"/>
              <a:ext cx="108012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245"/>
            <p:cNvSpPr>
              <a:spLocks noChangeShapeType="1"/>
            </p:cNvSpPr>
            <p:nvPr/>
          </p:nvSpPr>
          <p:spPr bwMode="auto">
            <a:xfrm flipH="1" flipV="1">
              <a:off x="2247501" y="3498689"/>
              <a:ext cx="107491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243"/>
            <p:cNvSpPr>
              <a:spLocks noChangeShapeType="1"/>
            </p:cNvSpPr>
            <p:nvPr/>
          </p:nvSpPr>
          <p:spPr bwMode="auto">
            <a:xfrm>
              <a:off x="3614039" y="3498689"/>
              <a:ext cx="9495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230"/>
            <p:cNvSpPr>
              <a:spLocks noChangeShapeType="1"/>
            </p:cNvSpPr>
            <p:nvPr/>
          </p:nvSpPr>
          <p:spPr bwMode="auto">
            <a:xfrm>
              <a:off x="2677934" y="2850617"/>
              <a:ext cx="818" cy="864095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227"/>
            <p:cNvSpPr>
              <a:spLocks noChangeShapeType="1"/>
            </p:cNvSpPr>
            <p:nvPr/>
          </p:nvSpPr>
          <p:spPr bwMode="auto">
            <a:xfrm>
              <a:off x="2893959" y="2850617"/>
              <a:ext cx="0" cy="864096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227"/>
            <p:cNvSpPr>
              <a:spLocks noChangeShapeType="1"/>
            </p:cNvSpPr>
            <p:nvPr/>
          </p:nvSpPr>
          <p:spPr bwMode="auto">
            <a:xfrm>
              <a:off x="4716016" y="2850617"/>
              <a:ext cx="0" cy="864096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230"/>
            <p:cNvSpPr>
              <a:spLocks noChangeShapeType="1"/>
            </p:cNvSpPr>
            <p:nvPr/>
          </p:nvSpPr>
          <p:spPr bwMode="auto">
            <a:xfrm flipH="1">
              <a:off x="4497883" y="2850617"/>
              <a:ext cx="2109" cy="8640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231"/>
            <p:cNvSpPr>
              <a:spLocks noChangeShapeType="1"/>
            </p:cNvSpPr>
            <p:nvPr/>
          </p:nvSpPr>
          <p:spPr bwMode="auto">
            <a:xfrm>
              <a:off x="5868144" y="2850617"/>
              <a:ext cx="3696" cy="8640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Line 236"/>
            <p:cNvSpPr>
              <a:spLocks noChangeShapeType="1"/>
            </p:cNvSpPr>
            <p:nvPr/>
          </p:nvSpPr>
          <p:spPr bwMode="auto">
            <a:xfrm>
              <a:off x="4428554" y="3028933"/>
              <a:ext cx="7143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243"/>
            <p:cNvSpPr>
              <a:spLocks noChangeShapeType="1"/>
            </p:cNvSpPr>
            <p:nvPr/>
          </p:nvSpPr>
          <p:spPr bwMode="auto">
            <a:xfrm>
              <a:off x="4405556" y="3210657"/>
              <a:ext cx="31046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244"/>
            <p:cNvSpPr>
              <a:spLocks noChangeShapeType="1"/>
            </p:cNvSpPr>
            <p:nvPr/>
          </p:nvSpPr>
          <p:spPr bwMode="auto">
            <a:xfrm>
              <a:off x="4825121" y="3426681"/>
              <a:ext cx="93553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255"/>
            <p:cNvSpPr>
              <a:spLocks noChangeShapeType="1"/>
            </p:cNvSpPr>
            <p:nvPr/>
          </p:nvSpPr>
          <p:spPr bwMode="auto">
            <a:xfrm flipV="1">
              <a:off x="6001867" y="3028541"/>
              <a:ext cx="8230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AutoShape 299"/>
            <p:cNvSpPr>
              <a:spLocks noChangeArrowheads="1"/>
            </p:cNvSpPr>
            <p:nvPr/>
          </p:nvSpPr>
          <p:spPr bwMode="auto">
            <a:xfrm>
              <a:off x="4500511" y="2922625"/>
              <a:ext cx="1501355" cy="207790"/>
            </a:xfrm>
            <a:prstGeom prst="hexagon">
              <a:avLst>
                <a:gd name="adj" fmla="val 49744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" name="Text Box 300"/>
            <p:cNvSpPr txBox="1">
              <a:spLocks noChangeArrowheads="1"/>
            </p:cNvSpPr>
            <p:nvPr/>
          </p:nvSpPr>
          <p:spPr bwMode="auto">
            <a:xfrm>
              <a:off x="4932858" y="2922625"/>
              <a:ext cx="503238" cy="2093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/>
                <a:t>地址</a:t>
              </a:r>
              <a:endParaRPr lang="zh-CN" altLang="en-US" sz="1600" b="1" u="none" dirty="0"/>
            </a:p>
          </p:txBody>
        </p:sp>
        <p:sp>
          <p:nvSpPr>
            <p:cNvPr id="134" name="Line 234"/>
            <p:cNvSpPr>
              <a:spLocks noChangeShapeType="1"/>
            </p:cNvSpPr>
            <p:nvPr/>
          </p:nvSpPr>
          <p:spPr bwMode="auto">
            <a:xfrm flipV="1">
              <a:off x="4716016" y="2634593"/>
              <a:ext cx="0" cy="21602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239"/>
            <p:cNvSpPr>
              <a:spLocks noChangeShapeType="1"/>
            </p:cNvSpPr>
            <p:nvPr/>
          </p:nvSpPr>
          <p:spPr bwMode="auto">
            <a:xfrm>
              <a:off x="4428554" y="2850616"/>
              <a:ext cx="71438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240"/>
            <p:cNvSpPr>
              <a:spLocks noChangeShapeType="1"/>
            </p:cNvSpPr>
            <p:nvPr/>
          </p:nvSpPr>
          <p:spPr bwMode="auto">
            <a:xfrm flipH="1" flipV="1">
              <a:off x="4499992" y="2636179"/>
              <a:ext cx="0" cy="21443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241"/>
            <p:cNvSpPr>
              <a:spLocks noChangeShapeType="1"/>
            </p:cNvSpPr>
            <p:nvPr/>
          </p:nvSpPr>
          <p:spPr bwMode="auto">
            <a:xfrm flipV="1">
              <a:off x="4499992" y="2640942"/>
              <a:ext cx="216024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245"/>
            <p:cNvSpPr>
              <a:spLocks noChangeShapeType="1"/>
            </p:cNvSpPr>
            <p:nvPr/>
          </p:nvSpPr>
          <p:spPr bwMode="auto">
            <a:xfrm flipV="1">
              <a:off x="5760652" y="3210657"/>
              <a:ext cx="107492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241"/>
            <p:cNvSpPr>
              <a:spLocks noChangeShapeType="1"/>
            </p:cNvSpPr>
            <p:nvPr/>
          </p:nvSpPr>
          <p:spPr bwMode="auto">
            <a:xfrm flipV="1">
              <a:off x="4716016" y="2850617"/>
              <a:ext cx="216024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234"/>
            <p:cNvSpPr>
              <a:spLocks noChangeShapeType="1"/>
            </p:cNvSpPr>
            <p:nvPr/>
          </p:nvSpPr>
          <p:spPr bwMode="auto">
            <a:xfrm flipV="1">
              <a:off x="5148064" y="2634593"/>
              <a:ext cx="0" cy="21602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240"/>
            <p:cNvSpPr>
              <a:spLocks noChangeShapeType="1"/>
            </p:cNvSpPr>
            <p:nvPr/>
          </p:nvSpPr>
          <p:spPr bwMode="auto">
            <a:xfrm flipH="1" flipV="1">
              <a:off x="4932040" y="2636179"/>
              <a:ext cx="0" cy="21443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241"/>
            <p:cNvSpPr>
              <a:spLocks noChangeShapeType="1"/>
            </p:cNvSpPr>
            <p:nvPr/>
          </p:nvSpPr>
          <p:spPr bwMode="auto">
            <a:xfrm flipV="1">
              <a:off x="4932040" y="2640942"/>
              <a:ext cx="216024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241"/>
            <p:cNvSpPr>
              <a:spLocks noChangeShapeType="1"/>
            </p:cNvSpPr>
            <p:nvPr/>
          </p:nvSpPr>
          <p:spPr bwMode="auto">
            <a:xfrm flipV="1">
              <a:off x="5148064" y="2850617"/>
              <a:ext cx="216024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Line 245"/>
            <p:cNvSpPr>
              <a:spLocks noChangeShapeType="1"/>
            </p:cNvSpPr>
            <p:nvPr/>
          </p:nvSpPr>
          <p:spPr bwMode="auto">
            <a:xfrm flipH="1" flipV="1">
              <a:off x="4716016" y="3210657"/>
              <a:ext cx="107491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243"/>
            <p:cNvSpPr>
              <a:spLocks noChangeShapeType="1"/>
            </p:cNvSpPr>
            <p:nvPr/>
          </p:nvSpPr>
          <p:spPr bwMode="auto">
            <a:xfrm>
              <a:off x="5868144" y="3210657"/>
              <a:ext cx="9495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243"/>
            <p:cNvSpPr>
              <a:spLocks noChangeShapeType="1"/>
            </p:cNvSpPr>
            <p:nvPr/>
          </p:nvSpPr>
          <p:spPr bwMode="auto">
            <a:xfrm>
              <a:off x="4405035" y="3498689"/>
              <a:ext cx="31098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244"/>
            <p:cNvSpPr>
              <a:spLocks noChangeShapeType="1"/>
            </p:cNvSpPr>
            <p:nvPr/>
          </p:nvSpPr>
          <p:spPr bwMode="auto">
            <a:xfrm>
              <a:off x="4823506" y="3714713"/>
              <a:ext cx="93714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245"/>
            <p:cNvSpPr>
              <a:spLocks noChangeShapeType="1"/>
            </p:cNvSpPr>
            <p:nvPr/>
          </p:nvSpPr>
          <p:spPr bwMode="auto">
            <a:xfrm flipV="1">
              <a:off x="5762939" y="3498689"/>
              <a:ext cx="108012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Line 245"/>
            <p:cNvSpPr>
              <a:spLocks noChangeShapeType="1"/>
            </p:cNvSpPr>
            <p:nvPr/>
          </p:nvSpPr>
          <p:spPr bwMode="auto">
            <a:xfrm flipH="1" flipV="1">
              <a:off x="4717630" y="3498689"/>
              <a:ext cx="107491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Line 243"/>
            <p:cNvSpPr>
              <a:spLocks noChangeShapeType="1"/>
            </p:cNvSpPr>
            <p:nvPr/>
          </p:nvSpPr>
          <p:spPr bwMode="auto">
            <a:xfrm>
              <a:off x="5868144" y="3498689"/>
              <a:ext cx="9495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Line 230"/>
            <p:cNvSpPr>
              <a:spLocks noChangeShapeType="1"/>
            </p:cNvSpPr>
            <p:nvPr/>
          </p:nvSpPr>
          <p:spPr bwMode="auto">
            <a:xfrm flipH="1">
              <a:off x="4930984" y="2850617"/>
              <a:ext cx="1055" cy="864095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Line 227"/>
            <p:cNvSpPr>
              <a:spLocks noChangeShapeType="1"/>
            </p:cNvSpPr>
            <p:nvPr/>
          </p:nvSpPr>
          <p:spPr bwMode="auto">
            <a:xfrm>
              <a:off x="5148064" y="2850617"/>
              <a:ext cx="0" cy="864096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Line 227"/>
            <p:cNvSpPr>
              <a:spLocks noChangeShapeType="1"/>
            </p:cNvSpPr>
            <p:nvPr/>
          </p:nvSpPr>
          <p:spPr bwMode="auto">
            <a:xfrm>
              <a:off x="6948264" y="2850617"/>
              <a:ext cx="0" cy="864096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230"/>
            <p:cNvSpPr>
              <a:spLocks noChangeShapeType="1"/>
            </p:cNvSpPr>
            <p:nvPr/>
          </p:nvSpPr>
          <p:spPr bwMode="auto">
            <a:xfrm flipH="1">
              <a:off x="6730131" y="2850617"/>
              <a:ext cx="2109" cy="8640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231"/>
            <p:cNvSpPr>
              <a:spLocks noChangeShapeType="1"/>
            </p:cNvSpPr>
            <p:nvPr/>
          </p:nvSpPr>
          <p:spPr bwMode="auto">
            <a:xfrm>
              <a:off x="8100392" y="2850617"/>
              <a:ext cx="3696" cy="8640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Line 236"/>
            <p:cNvSpPr>
              <a:spLocks noChangeShapeType="1"/>
            </p:cNvSpPr>
            <p:nvPr/>
          </p:nvSpPr>
          <p:spPr bwMode="auto">
            <a:xfrm>
              <a:off x="6660802" y="3028933"/>
              <a:ext cx="7143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Line 243"/>
            <p:cNvSpPr>
              <a:spLocks noChangeShapeType="1"/>
            </p:cNvSpPr>
            <p:nvPr/>
          </p:nvSpPr>
          <p:spPr bwMode="auto">
            <a:xfrm>
              <a:off x="6637804" y="3210657"/>
              <a:ext cx="525429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Line 244"/>
            <p:cNvSpPr>
              <a:spLocks noChangeShapeType="1"/>
            </p:cNvSpPr>
            <p:nvPr/>
          </p:nvSpPr>
          <p:spPr bwMode="auto">
            <a:xfrm>
              <a:off x="7271778" y="3426681"/>
              <a:ext cx="72112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255"/>
            <p:cNvSpPr>
              <a:spLocks noChangeShapeType="1"/>
            </p:cNvSpPr>
            <p:nvPr/>
          </p:nvSpPr>
          <p:spPr bwMode="auto">
            <a:xfrm flipV="1">
              <a:off x="8234115" y="3028541"/>
              <a:ext cx="8230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AutoShape 299"/>
            <p:cNvSpPr>
              <a:spLocks noChangeArrowheads="1"/>
            </p:cNvSpPr>
            <p:nvPr/>
          </p:nvSpPr>
          <p:spPr bwMode="auto">
            <a:xfrm>
              <a:off x="6732759" y="2922625"/>
              <a:ext cx="1501355" cy="207790"/>
            </a:xfrm>
            <a:prstGeom prst="hexagon">
              <a:avLst>
                <a:gd name="adj" fmla="val 49744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" name="Text Box 300"/>
            <p:cNvSpPr txBox="1">
              <a:spLocks noChangeArrowheads="1"/>
            </p:cNvSpPr>
            <p:nvPr/>
          </p:nvSpPr>
          <p:spPr bwMode="auto">
            <a:xfrm>
              <a:off x="7165106" y="2922625"/>
              <a:ext cx="503238" cy="2093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/>
                <a:t>地址</a:t>
              </a:r>
              <a:endParaRPr lang="zh-CN" altLang="en-US" sz="1600" b="1" u="none" dirty="0"/>
            </a:p>
          </p:txBody>
        </p:sp>
        <p:sp>
          <p:nvSpPr>
            <p:cNvPr id="162" name="Line 234"/>
            <p:cNvSpPr>
              <a:spLocks noChangeShapeType="1"/>
            </p:cNvSpPr>
            <p:nvPr/>
          </p:nvSpPr>
          <p:spPr bwMode="auto">
            <a:xfrm flipV="1">
              <a:off x="6948264" y="2634593"/>
              <a:ext cx="0" cy="21602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239"/>
            <p:cNvSpPr>
              <a:spLocks noChangeShapeType="1"/>
            </p:cNvSpPr>
            <p:nvPr/>
          </p:nvSpPr>
          <p:spPr bwMode="auto">
            <a:xfrm>
              <a:off x="6660802" y="2850616"/>
              <a:ext cx="71438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Line 240"/>
            <p:cNvSpPr>
              <a:spLocks noChangeShapeType="1"/>
            </p:cNvSpPr>
            <p:nvPr/>
          </p:nvSpPr>
          <p:spPr bwMode="auto">
            <a:xfrm flipH="1" flipV="1">
              <a:off x="6732240" y="2636179"/>
              <a:ext cx="0" cy="21443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Line 241"/>
            <p:cNvSpPr>
              <a:spLocks noChangeShapeType="1"/>
            </p:cNvSpPr>
            <p:nvPr/>
          </p:nvSpPr>
          <p:spPr bwMode="auto">
            <a:xfrm flipV="1">
              <a:off x="6732240" y="2640942"/>
              <a:ext cx="216024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Line 245"/>
            <p:cNvSpPr>
              <a:spLocks noChangeShapeType="1"/>
            </p:cNvSpPr>
            <p:nvPr/>
          </p:nvSpPr>
          <p:spPr bwMode="auto">
            <a:xfrm flipV="1">
              <a:off x="7992900" y="3210657"/>
              <a:ext cx="107492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Line 241"/>
            <p:cNvSpPr>
              <a:spLocks noChangeShapeType="1"/>
            </p:cNvSpPr>
            <p:nvPr/>
          </p:nvSpPr>
          <p:spPr bwMode="auto">
            <a:xfrm flipV="1">
              <a:off x="6948264" y="2850617"/>
              <a:ext cx="216024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Line 234"/>
            <p:cNvSpPr>
              <a:spLocks noChangeShapeType="1"/>
            </p:cNvSpPr>
            <p:nvPr/>
          </p:nvSpPr>
          <p:spPr bwMode="auto">
            <a:xfrm flipV="1">
              <a:off x="7380312" y="2634593"/>
              <a:ext cx="0" cy="21602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Line 240"/>
            <p:cNvSpPr>
              <a:spLocks noChangeShapeType="1"/>
            </p:cNvSpPr>
            <p:nvPr/>
          </p:nvSpPr>
          <p:spPr bwMode="auto">
            <a:xfrm flipH="1" flipV="1">
              <a:off x="7164288" y="2636179"/>
              <a:ext cx="0" cy="21443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Line 241"/>
            <p:cNvSpPr>
              <a:spLocks noChangeShapeType="1"/>
            </p:cNvSpPr>
            <p:nvPr/>
          </p:nvSpPr>
          <p:spPr bwMode="auto">
            <a:xfrm flipV="1">
              <a:off x="7164288" y="2640942"/>
              <a:ext cx="216024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Line 241"/>
            <p:cNvSpPr>
              <a:spLocks noChangeShapeType="1"/>
            </p:cNvSpPr>
            <p:nvPr/>
          </p:nvSpPr>
          <p:spPr bwMode="auto">
            <a:xfrm flipV="1">
              <a:off x="7380312" y="2850617"/>
              <a:ext cx="216024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Line 245"/>
            <p:cNvSpPr>
              <a:spLocks noChangeShapeType="1"/>
            </p:cNvSpPr>
            <p:nvPr/>
          </p:nvSpPr>
          <p:spPr bwMode="auto">
            <a:xfrm flipH="1" flipV="1">
              <a:off x="7164288" y="3210657"/>
              <a:ext cx="107491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Line 243"/>
            <p:cNvSpPr>
              <a:spLocks noChangeShapeType="1"/>
            </p:cNvSpPr>
            <p:nvPr/>
          </p:nvSpPr>
          <p:spPr bwMode="auto">
            <a:xfrm>
              <a:off x="8100392" y="3210657"/>
              <a:ext cx="9495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Line 243"/>
            <p:cNvSpPr>
              <a:spLocks noChangeShapeType="1"/>
            </p:cNvSpPr>
            <p:nvPr/>
          </p:nvSpPr>
          <p:spPr bwMode="auto">
            <a:xfrm>
              <a:off x="6637283" y="3498689"/>
              <a:ext cx="525950" cy="2319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Line 244"/>
            <p:cNvSpPr>
              <a:spLocks noChangeShapeType="1"/>
            </p:cNvSpPr>
            <p:nvPr/>
          </p:nvSpPr>
          <p:spPr bwMode="auto">
            <a:xfrm>
              <a:off x="7272300" y="3714713"/>
              <a:ext cx="7206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245"/>
            <p:cNvSpPr>
              <a:spLocks noChangeShapeType="1"/>
            </p:cNvSpPr>
            <p:nvPr/>
          </p:nvSpPr>
          <p:spPr bwMode="auto">
            <a:xfrm flipV="1">
              <a:off x="7995187" y="3498689"/>
              <a:ext cx="108012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Line 245"/>
            <p:cNvSpPr>
              <a:spLocks noChangeShapeType="1"/>
            </p:cNvSpPr>
            <p:nvPr/>
          </p:nvSpPr>
          <p:spPr bwMode="auto">
            <a:xfrm flipH="1" flipV="1">
              <a:off x="7165902" y="3498689"/>
              <a:ext cx="107491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243"/>
            <p:cNvSpPr>
              <a:spLocks noChangeShapeType="1"/>
            </p:cNvSpPr>
            <p:nvPr/>
          </p:nvSpPr>
          <p:spPr bwMode="auto">
            <a:xfrm>
              <a:off x="8100392" y="3498689"/>
              <a:ext cx="9495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230"/>
            <p:cNvSpPr>
              <a:spLocks noChangeShapeType="1"/>
            </p:cNvSpPr>
            <p:nvPr/>
          </p:nvSpPr>
          <p:spPr bwMode="auto">
            <a:xfrm>
              <a:off x="7164287" y="2850616"/>
              <a:ext cx="818" cy="866415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227"/>
            <p:cNvSpPr>
              <a:spLocks noChangeShapeType="1"/>
            </p:cNvSpPr>
            <p:nvPr/>
          </p:nvSpPr>
          <p:spPr bwMode="auto">
            <a:xfrm>
              <a:off x="7380312" y="2850617"/>
              <a:ext cx="0" cy="864096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Text Box 235"/>
            <p:cNvSpPr txBox="1">
              <a:spLocks noChangeArrowheads="1"/>
            </p:cNvSpPr>
            <p:nvPr/>
          </p:nvSpPr>
          <p:spPr bwMode="auto">
            <a:xfrm>
              <a:off x="1157401" y="2706601"/>
              <a:ext cx="462271" cy="2160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+mn-ea"/>
                  <a:ea typeface="+mn-ea"/>
                </a:rPr>
                <a:t>A.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182" name="Text Box 235"/>
            <p:cNvSpPr txBox="1">
              <a:spLocks noChangeArrowheads="1"/>
            </p:cNvSpPr>
            <p:nvPr/>
          </p:nvSpPr>
          <p:spPr bwMode="auto">
            <a:xfrm>
              <a:off x="3965713" y="2706601"/>
              <a:ext cx="462271" cy="2160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+mn-ea"/>
                  <a:ea typeface="+mn-ea"/>
                </a:rPr>
                <a:t>B.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183" name="Text Box 235"/>
            <p:cNvSpPr txBox="1">
              <a:spLocks noChangeArrowheads="1"/>
            </p:cNvSpPr>
            <p:nvPr/>
          </p:nvSpPr>
          <p:spPr bwMode="auto">
            <a:xfrm>
              <a:off x="6228184" y="2706601"/>
              <a:ext cx="462271" cy="2160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+mn-ea"/>
                  <a:ea typeface="+mn-ea"/>
                </a:rPr>
                <a:t>C.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 bwMode="auto">
            <a:xfrm>
              <a:off x="1790840" y="3498689"/>
              <a:ext cx="2052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4" name="直接连接符 183"/>
            <p:cNvCxnSpPr/>
            <p:nvPr/>
          </p:nvCxnSpPr>
          <p:spPr bwMode="auto">
            <a:xfrm>
              <a:off x="1789976" y="3210657"/>
              <a:ext cx="2052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Box 46"/>
          <p:cNvSpPr txBox="1">
            <a:spLocks noChangeArrowheads="1"/>
          </p:cNvSpPr>
          <p:nvPr/>
        </p:nvSpPr>
        <p:spPr bwMode="auto">
          <a:xfrm>
            <a:off x="179705" y="1935480"/>
            <a:ext cx="3234055" cy="21869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*主存的组成：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18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*主存的参数：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主存地址空间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主存单元个数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BA2D-1F09-4DD1-BA74-3BE1ACE76361}" type="slidenum">
              <a:rPr lang="en-US" altLang="zh-CN"/>
            </a:fld>
            <a:endParaRPr lang="en-US" altLang="zh-CN"/>
          </a:p>
        </p:txBody>
      </p:sp>
      <p:sp>
        <p:nvSpPr>
          <p:cNvPr id="444420" name="Text Box 4"/>
          <p:cNvSpPr txBox="1">
            <a:spLocks noChangeArrowheads="1"/>
          </p:cNvSpPr>
          <p:nvPr/>
        </p:nvSpPr>
        <p:spPr bwMode="auto">
          <a:xfrm>
            <a:off x="838200" y="313492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u="none" dirty="0">
                <a:latin typeface="宋体" panose="02010600030101010101" pitchFamily="2" charset="-122"/>
              </a:rPr>
              <a:t>§3.3 </a:t>
            </a:r>
            <a:r>
              <a:rPr lang="zh-CN" altLang="en-US" sz="2800" b="1" u="none" dirty="0">
                <a:latin typeface="宋体" panose="02010600030101010101" pitchFamily="2" charset="-122"/>
              </a:rPr>
              <a:t>主存储器</a:t>
            </a:r>
            <a:endParaRPr lang="zh-CN" altLang="en-US" sz="2800" b="1" u="none" dirty="0">
              <a:latin typeface="宋体" panose="02010600030101010101" pitchFamily="2" charset="-122"/>
            </a:endParaRPr>
          </a:p>
        </p:txBody>
      </p:sp>
      <p:sp>
        <p:nvSpPr>
          <p:cNvPr id="444421" name="Text Box 5"/>
          <p:cNvSpPr txBox="1">
            <a:spLocks noChangeArrowheads="1"/>
          </p:cNvSpPr>
          <p:nvPr/>
        </p:nvSpPr>
        <p:spPr bwMode="auto">
          <a:xfrm>
            <a:off x="179388" y="1455812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/>
          <a:p>
            <a:r>
              <a:rPr lang="zh-CN" altLang="en-US" b="1" u="none" dirty="0">
                <a:solidFill>
                  <a:srgbClr val="FF3300"/>
                </a:solidFill>
                <a:latin typeface="宋体" panose="02010600030101010101" pitchFamily="2" charset="-122"/>
              </a:rPr>
              <a:t>一、</a:t>
            </a:r>
            <a:r>
              <a:rPr lang="zh-CN" altLang="en-US" b="1" u="none" dirty="0" smtClean="0">
                <a:solidFill>
                  <a:srgbClr val="FF3300"/>
                </a:solidFill>
                <a:latin typeface="宋体" panose="02010600030101010101" pitchFamily="2" charset="-122"/>
              </a:rPr>
              <a:t>主存的</a:t>
            </a:r>
            <a:r>
              <a:rPr lang="zh-CN" altLang="en-US" b="1" u="none" dirty="0">
                <a:solidFill>
                  <a:srgbClr val="FF3300"/>
                </a:solidFill>
                <a:latin typeface="宋体" panose="02010600030101010101" pitchFamily="2" charset="-122"/>
              </a:rPr>
              <a:t>组成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99" name="Text Box 55"/>
          <p:cNvSpPr txBox="1">
            <a:spLocks noChangeArrowheads="1"/>
          </p:cNvSpPr>
          <p:nvPr/>
        </p:nvSpPr>
        <p:spPr bwMode="auto">
          <a:xfrm>
            <a:off x="2303780" y="1924050"/>
            <a:ext cx="6661150" cy="857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ROM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＋</a:t>
            </a:r>
            <a:r>
              <a:rPr lang="en-US" altLang="zh-CN" b="1" dirty="0" smtClean="0">
                <a:latin typeface="宋体" panose="02010600030101010101" pitchFamily="2" charset="-122"/>
              </a:rPr>
              <a:t>RAM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</a:t>
            </a:r>
            <a:r>
              <a:rPr lang="zh-CN" altLang="en-US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容量</a:t>
            </a:r>
            <a:r>
              <a:rPr lang="zh-CN" altLang="en-US" b="1" u="none" spc="-3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b="1" spc="-3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主存单元个数</a:t>
            </a:r>
            <a:r>
              <a:rPr lang="zh-CN" altLang="en-US" b="1" u="none" spc="-3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zh-CN" altLang="en-US" b="1" spc="-3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主存单元长度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800" b="1" u="none" dirty="0" smtClean="0">
                <a:latin typeface="宋体" panose="02010600030101010101" pitchFamily="2" charset="-122"/>
              </a:rPr>
              <a:t> </a:t>
            </a:r>
            <a:r>
              <a:rPr lang="zh-CN" altLang="en-US" sz="1800" u="none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←启动时需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使用       </a:t>
            </a:r>
            <a:r>
              <a:rPr lang="zh-CN" altLang="en-US" sz="1800" u="none" dirty="0" smtClean="0">
                <a:latin typeface="宋体" panose="02010600030101010101" pitchFamily="2" charset="-122"/>
              </a:rPr>
              <a:t>└←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大小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可选择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    </a:t>
            </a:r>
            <a:r>
              <a:rPr lang="zh-CN" altLang="en-US" sz="1800" u="none" dirty="0" smtClean="0">
                <a:latin typeface="宋体" panose="02010600030101010101" pitchFamily="2" charset="-122"/>
                <a:sym typeface="+mn-ea"/>
              </a:rPr>
              <a:t>└←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ISA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已确定</a:t>
            </a:r>
            <a:endParaRPr lang="zh-CN" altLang="en-US" sz="1800" b="1" u="none" dirty="0" smtClean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40" name="Text Box 746"/>
          <p:cNvSpPr txBox="1">
            <a:spLocks noChangeArrowheads="1"/>
          </p:cNvSpPr>
          <p:nvPr/>
        </p:nvSpPr>
        <p:spPr bwMode="auto">
          <a:xfrm>
            <a:off x="2987040" y="3096000"/>
            <a:ext cx="5861050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spc="-3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主存单元个数最大值，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系统设计时确定</a:t>
            </a:r>
            <a:endParaRPr lang="zh-CN" altLang="en-US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用户配置时确定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(</a:t>
            </a:r>
            <a:r>
              <a:rPr lang="en-US" altLang="zh-CN" sz="2000" b="1" u="none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≤</a:t>
            </a:r>
            <a:r>
              <a:rPr lang="zh-CN" altLang="en-US" sz="2000" b="1" u="none" spc="-3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主存</a:t>
            </a:r>
            <a:r>
              <a:rPr lang="zh-CN" altLang="en-US" sz="2000" b="1" u="none" spc="-3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地址空间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)</a:t>
            </a:r>
            <a:endParaRPr lang="en-US" altLang="zh-CN" sz="20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35" name="Text Box 526"/>
          <p:cNvSpPr txBox="1">
            <a:spLocks noChangeArrowheads="1"/>
          </p:cNvSpPr>
          <p:nvPr/>
        </p:nvSpPr>
        <p:spPr bwMode="auto">
          <a:xfrm>
            <a:off x="179512" y="909881"/>
            <a:ext cx="8785100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u="none" dirty="0">
                <a:solidFill>
                  <a:srgbClr val="FF3399"/>
                </a:solidFill>
                <a:latin typeface="+mn-ea"/>
                <a:ea typeface="+mn-ea"/>
              </a:rPr>
              <a:t> </a:t>
            </a:r>
            <a:r>
              <a:rPr lang="en-US" altLang="zh-CN" sz="2200" b="1" u="none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200" b="1" u="none" dirty="0" smtClean="0">
                <a:latin typeface="+mn-ea"/>
                <a:ea typeface="+mn-ea"/>
              </a:rPr>
              <a:t>主存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逻辑设计，主存与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CPU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连接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，提高访存速度的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技术</a:t>
            </a:r>
            <a:endParaRPr lang="en-US" altLang="zh-CN" sz="2200" b="1" u="none" dirty="0" smtClean="0">
              <a:latin typeface="+mn-ea"/>
              <a:ea typeface="+mn-ea"/>
            </a:endParaRPr>
          </a:p>
        </p:txBody>
      </p:sp>
      <p:grpSp>
        <p:nvGrpSpPr>
          <p:cNvPr id="366" name="组合 365"/>
          <p:cNvGrpSpPr/>
          <p:nvPr/>
        </p:nvGrpSpPr>
        <p:grpSpPr>
          <a:xfrm>
            <a:off x="3385715" y="4315835"/>
            <a:ext cx="2844000" cy="648000"/>
            <a:chOff x="3600221" y="5422035"/>
            <a:chExt cx="2844000" cy="648000"/>
          </a:xfrm>
        </p:grpSpPr>
        <p:sp>
          <p:nvSpPr>
            <p:cNvPr id="367" name="Rectangle 98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600221" y="5422035"/>
              <a:ext cx="612000" cy="576000"/>
            </a:xfrm>
            <a:prstGeom prst="rect">
              <a:avLst/>
            </a:prstGeom>
            <a:solidFill>
              <a:srgbClr val="CC6600"/>
            </a:solidFill>
            <a:ln w="19050">
              <a:noFill/>
              <a:miter lim="800000"/>
              <a:tailEnd type="none" w="sm" len="med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368" name="Text Box 80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580221" y="5602035"/>
              <a:ext cx="864000" cy="46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配置</a:t>
              </a:r>
              <a:r>
                <a:rPr lang="zh-CN" altLang="en-US" sz="1600" b="1" u="none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容量</a:t>
              </a:r>
              <a:endPara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en-US" altLang="zh-CN" sz="1600" b="1" u="none" dirty="0" err="1" smtClean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m</a:t>
              </a:r>
              <a:r>
                <a:rPr lang="en-US" altLang="zh-CN" sz="1600" b="1" u="none" dirty="0" err="1" smtClean="0">
                  <a:latin typeface="宋体" panose="02010600030101010101" pitchFamily="2" charset="-122"/>
                  <a:cs typeface="宋体" panose="02010600030101010101" pitchFamily="2" charset="-122"/>
                </a:rPr>
                <a:t>×w</a:t>
              </a: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69" name="Rectangle 99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248221" y="5422035"/>
              <a:ext cx="1224000" cy="576000"/>
            </a:xfrm>
            <a:prstGeom prst="rect">
              <a:avLst/>
            </a:prstGeom>
            <a:solidFill>
              <a:srgbClr val="0066FF"/>
            </a:solidFill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370" name="右大括号 369"/>
            <p:cNvSpPr/>
            <p:nvPr>
              <p:custDataLst>
                <p:tags r:id="rId4"/>
              </p:custDataLst>
            </p:nvPr>
          </p:nvSpPr>
          <p:spPr bwMode="auto">
            <a:xfrm>
              <a:off x="5508221" y="5458035"/>
              <a:ext cx="71412" cy="540000"/>
            </a:xfrm>
            <a:prstGeom prst="rightBrace">
              <a:avLst>
                <a:gd name="adj1" fmla="val 28543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endParaRPr lang="zh-CN" altLang="en-US"/>
            </a:p>
          </p:txBody>
        </p:sp>
      </p:grpSp>
      <p:grpSp>
        <p:nvGrpSpPr>
          <p:cNvPr id="374" name="组合 373"/>
          <p:cNvGrpSpPr/>
          <p:nvPr/>
        </p:nvGrpSpPr>
        <p:grpSpPr>
          <a:xfrm>
            <a:off x="2560955" y="4099560"/>
            <a:ext cx="4712760" cy="1728470"/>
            <a:chOff x="3694" y="3857"/>
            <a:chExt cx="7422" cy="2722"/>
          </a:xfrm>
        </p:grpSpPr>
        <p:sp>
          <p:nvSpPr>
            <p:cNvPr id="353" name="Text Box 80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9698" y="4935"/>
              <a:ext cx="1417" cy="73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最大</a:t>
              </a:r>
              <a:r>
                <a:rPr lang="zh-CN" altLang="en-US" sz="1600" b="1" u="none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容量</a:t>
              </a:r>
              <a:endPara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en-US" altLang="zh-CN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2</a:t>
              </a:r>
              <a:r>
                <a:rPr lang="en-US" altLang="zh-CN" sz="1600" b="1" baseline="50000" dirty="0" smtClean="0">
                  <a:solidFill>
                    <a:srgbClr val="FF3399"/>
                  </a:solidFill>
                  <a:uFillTx/>
                  <a:latin typeface="宋体" panose="02010600030101010101" pitchFamily="2" charset="-122"/>
                  <a:cs typeface="宋体" panose="02010600030101010101" pitchFamily="2" charset="-122"/>
                </a:rPr>
                <a:t>n</a:t>
              </a: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×w</a:t>
              </a:r>
              <a:r>
                <a:rPr lang="en-US" altLang="zh-CN" sz="1600" b="1" u="none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38" name="Text Box 12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086" y="6239"/>
              <a:ext cx="1928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u="none" spc="-1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主存</a:t>
              </a:r>
              <a:r>
                <a:rPr lang="zh-CN" altLang="en-US" sz="1600" b="1" u="none" spc="-100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地址位数</a:t>
              </a:r>
              <a:endParaRPr lang="zh-CN" altLang="en-US" sz="1600" b="1" u="none" spc="-100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39" name="Rectangle 10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013" y="4198"/>
              <a:ext cx="1928" cy="1871"/>
            </a:xfrm>
            <a:prstGeom prst="rect">
              <a:avLst/>
            </a:prstGeom>
            <a:solidFill>
              <a:srgbClr val="CCECFF">
                <a:alpha val="5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36000" tIns="0" rIns="36000" bIns="18000" anchor="t" anchorCtr="0"/>
            <a:p>
              <a:pPr algn="ctr">
                <a:lnSpc>
                  <a:spcPct val="90000"/>
                </a:lnSpc>
              </a:pPr>
              <a:r>
                <a:rPr lang="en-US" altLang="zh-CN" sz="1600" u="none" dirty="0" smtClean="0">
                  <a:latin typeface="宋体" panose="02010600030101010101" pitchFamily="2" charset="-122"/>
                </a:rPr>
                <a:t>…</a:t>
              </a:r>
              <a:endParaRPr lang="en-US" altLang="zh-CN" sz="1600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lang="en-US" altLang="zh-CN" sz="1600" u="none" dirty="0" smtClean="0">
                  <a:latin typeface="宋体" panose="02010600030101010101" pitchFamily="2" charset="-122"/>
                </a:rPr>
                <a:t>…</a:t>
              </a:r>
              <a:endParaRPr lang="en-US" altLang="zh-CN" sz="1600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endParaRPr lang="en-US" altLang="zh-CN" sz="1600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</a:pPr>
              <a:r>
                <a:rPr lang="en-US" altLang="zh-CN" sz="1600" u="none" dirty="0" smtClean="0">
                  <a:latin typeface="宋体" panose="02010600030101010101" pitchFamily="2" charset="-122"/>
                </a:rPr>
                <a:t>…</a:t>
              </a:r>
              <a:endParaRPr lang="en-US" altLang="zh-CN" sz="1600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…</a:t>
              </a:r>
              <a:endParaRPr lang="en-US" altLang="zh-CN" sz="1600" u="none" dirty="0">
                <a:latin typeface="宋体" panose="02010600030101010101" pitchFamily="2" charset="-122"/>
              </a:endParaRPr>
            </a:p>
          </p:txBody>
        </p:sp>
        <p:sp>
          <p:nvSpPr>
            <p:cNvPr id="340" name="Text Box 105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013" y="3857"/>
              <a:ext cx="1928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dist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</a:rPr>
                <a:t>w-1</a:t>
              </a:r>
              <a:r>
                <a:rPr lang="en-US" altLang="zh-CN" sz="1600" b="1" u="none" baseline="-25000" dirty="0" smtClean="0">
                  <a:latin typeface="宋体" panose="02010600030101010101" pitchFamily="2" charset="-122"/>
                </a:rPr>
                <a:t>  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…  </a:t>
              </a:r>
              <a:r>
                <a:rPr lang="en-US" altLang="zh-CN" sz="1600" b="1" u="none" baseline="-250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44" name="Text Box 112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694" y="3914"/>
              <a:ext cx="340" cy="24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/>
              <a:r>
                <a:rPr lang="zh-CN" altLang="en-US" sz="16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主存</a:t>
              </a:r>
              <a:r>
                <a:rPr lang="zh-CN" altLang="en-US" sz="16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地址空间</a:t>
              </a:r>
              <a:r>
                <a:rPr lang="en-US" altLang="zh-CN" sz="16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45" name="Text Box 1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013" y="6239"/>
              <a:ext cx="1928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spc="-100" dirty="0">
                  <a:solidFill>
                    <a:schemeClr val="tx1"/>
                  </a:solidFill>
                  <a:latin typeface="宋体" panose="02010600030101010101" pitchFamily="2" charset="-122"/>
                </a:rPr>
                <a:t>主存单元长度</a:t>
              </a:r>
              <a:endParaRPr lang="zh-CN" altLang="en-US" sz="1600" b="1" u="none" spc="-1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47" name="Text Box 128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256" y="3857"/>
              <a:ext cx="170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dist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n-1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48" name="AutoShape 28"/>
            <p:cNvSpPr/>
            <p:nvPr>
              <p:custDataLst>
                <p:tags r:id="rId12"/>
              </p:custDataLst>
            </p:nvPr>
          </p:nvSpPr>
          <p:spPr bwMode="auto">
            <a:xfrm rot="16200000">
              <a:off x="6920" y="5190"/>
              <a:ext cx="115" cy="1928"/>
            </a:xfrm>
            <a:prstGeom prst="rightBrace">
              <a:avLst>
                <a:gd name="adj1" fmla="val 3102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349" name="AutoShape 41"/>
            <p:cNvSpPr/>
            <p:nvPr>
              <p:custDataLst>
                <p:tags r:id="rId13"/>
              </p:custDataLst>
            </p:nvPr>
          </p:nvSpPr>
          <p:spPr bwMode="auto">
            <a:xfrm rot="16200000">
              <a:off x="5078" y="5360"/>
              <a:ext cx="115" cy="1587"/>
            </a:xfrm>
            <a:prstGeom prst="rightBrace">
              <a:avLst>
                <a:gd name="adj1" fmla="val 179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tailEnd type="none" w="sm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352" name="Text Box 12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313" y="4198"/>
              <a:ext cx="1644" cy="1871"/>
            </a:xfrm>
            <a:prstGeom prst="rect">
              <a:avLst/>
            </a:prstGeom>
            <a:solidFill>
              <a:srgbClr val="FFCC99">
                <a:alpha val="49000"/>
              </a:srgbClr>
            </a:solidFill>
            <a:ln w="9525">
              <a:noFill/>
              <a:miter lim="800000"/>
            </a:ln>
            <a:effectLst/>
          </p:spPr>
          <p:txBody>
            <a:bodyPr lIns="0" tIns="10800" rIns="0" bIns="10800"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0…00……0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… 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……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0…01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……1 0…10……0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…  ……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1…11……1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56" name="左大括号 355"/>
            <p:cNvSpPr/>
            <p:nvPr>
              <p:custDataLst>
                <p:tags r:id="rId15"/>
              </p:custDataLst>
            </p:nvPr>
          </p:nvSpPr>
          <p:spPr bwMode="auto">
            <a:xfrm>
              <a:off x="4142" y="4254"/>
              <a:ext cx="113" cy="1757"/>
            </a:xfrm>
            <a:prstGeom prst="leftBrace">
              <a:avLst>
                <a:gd name="adj1" fmla="val 28543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7" name="右大括号 356"/>
            <p:cNvSpPr/>
            <p:nvPr>
              <p:custDataLst>
                <p:tags r:id="rId16"/>
              </p:custDataLst>
            </p:nvPr>
          </p:nvSpPr>
          <p:spPr bwMode="auto">
            <a:xfrm>
              <a:off x="9585" y="4254"/>
              <a:ext cx="113" cy="1814"/>
            </a:xfrm>
            <a:prstGeom prst="rightBrace">
              <a:avLst>
                <a:gd name="adj1" fmla="val 28543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endParaRPr lang="zh-CN" altLang="en-US"/>
            </a:p>
          </p:txBody>
        </p:sp>
        <p:cxnSp>
          <p:nvCxnSpPr>
            <p:cNvPr id="358" name="直接箭头连接符 357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6013" y="4472"/>
              <a:ext cx="192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59" name="直接箭头连接符 358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6013" y="5785"/>
              <a:ext cx="192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60" name="直接箭头连接符 359"/>
            <p:cNvCxnSpPr/>
            <p:nvPr>
              <p:custDataLst>
                <p:tags r:id="rId19"/>
              </p:custDataLst>
            </p:nvPr>
          </p:nvCxnSpPr>
          <p:spPr bwMode="auto">
            <a:xfrm>
              <a:off x="6353" y="4198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61" name="直接箭头连接符 360"/>
            <p:cNvCxnSpPr/>
            <p:nvPr>
              <p:custDataLst>
                <p:tags r:id="rId20"/>
              </p:custDataLst>
            </p:nvPr>
          </p:nvCxnSpPr>
          <p:spPr bwMode="auto">
            <a:xfrm>
              <a:off x="7601" y="4198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62" name="直接箭头连接符 361"/>
            <p:cNvCxnSpPr/>
            <p:nvPr>
              <p:custDataLst>
                <p:tags r:id="rId21"/>
              </p:custDataLst>
            </p:nvPr>
          </p:nvCxnSpPr>
          <p:spPr bwMode="auto">
            <a:xfrm>
              <a:off x="6353" y="5785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63" name="直接箭头连接符 362"/>
            <p:cNvCxnSpPr/>
            <p:nvPr>
              <p:custDataLst>
                <p:tags r:id="rId22"/>
              </p:custDataLst>
            </p:nvPr>
          </p:nvCxnSpPr>
          <p:spPr bwMode="auto">
            <a:xfrm>
              <a:off x="7601" y="5785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72" name="直接箭头连接符 371"/>
            <p:cNvCxnSpPr/>
            <p:nvPr>
              <p:custDataLst>
                <p:tags r:id="rId23"/>
              </p:custDataLst>
            </p:nvPr>
          </p:nvCxnSpPr>
          <p:spPr bwMode="auto">
            <a:xfrm>
              <a:off x="3855" y="6406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373" name="直接箭头连接符 372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3855" y="6123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sm"/>
              <a:tailEnd type="triangle" w="med" len="sm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4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21" grpId="0" bldLvl="0" animBg="1"/>
      <p:bldP spid="99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0D5FA-BB7C-412B-ABE4-4081FA5F9438}" type="slidenum">
              <a:rPr lang="en-US" altLang="zh-CN"/>
            </a:fld>
            <a:endParaRPr lang="en-US" altLang="zh-CN"/>
          </a:p>
        </p:txBody>
      </p:sp>
      <p:sp>
        <p:nvSpPr>
          <p:cNvPr id="446491" name="Text Box 27"/>
          <p:cNvSpPr txBox="1">
            <a:spLocks noChangeArrowheads="1"/>
          </p:cNvSpPr>
          <p:nvPr/>
        </p:nvSpPr>
        <p:spPr bwMode="auto">
          <a:xfrm>
            <a:off x="179388" y="447700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defRPr b="1" u="none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二、主存的逻辑设计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Text Box 30"/>
          <p:cNvSpPr txBox="1">
            <a:spLocks noChangeArrowheads="1"/>
          </p:cNvSpPr>
          <p:nvPr/>
        </p:nvSpPr>
        <p:spPr bwMode="auto">
          <a:xfrm>
            <a:off x="179388" y="908720"/>
            <a:ext cx="8785100" cy="378565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ROM/RAM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芯片的现状：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容量</a:t>
            </a: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参数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b="1" u="none" dirty="0">
                <a:latin typeface="宋体" panose="02010600030101010101" pitchFamily="2" charset="-122"/>
              </a:rPr>
              <a:t>＝</a:t>
            </a:r>
            <a:r>
              <a:rPr lang="zh-CN" altLang="en-US" sz="2200" b="1" u="none" dirty="0"/>
              <a:t>存储单元长度</a:t>
            </a:r>
            <a:r>
              <a:rPr lang="en-US" altLang="zh-CN" sz="2200" b="1" u="none" dirty="0"/>
              <a:t>×</a:t>
            </a:r>
            <a:r>
              <a:rPr lang="zh-CN" altLang="en-US" sz="2200" b="1" u="none" dirty="0"/>
              <a:t>存储单元</a:t>
            </a:r>
            <a:r>
              <a:rPr lang="zh-CN" altLang="en-US" sz="2200" b="1" u="none" dirty="0" smtClean="0"/>
              <a:t>个数</a:t>
            </a:r>
            <a:endParaRPr lang="en-US" altLang="zh-CN" sz="2200" b="1" u="none" dirty="0" smtClean="0"/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          </a:t>
            </a:r>
            <a:r>
              <a:rPr lang="en-US" altLang="zh-CN" sz="2200" b="1" u="none" spc="400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＝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存储</a:t>
            </a:r>
            <a:r>
              <a:rPr lang="zh-CN" altLang="en-US" sz="2200" b="1" u="none" dirty="0">
                <a:latin typeface="宋体" panose="02010600030101010101" pitchFamily="2" charset="-122"/>
              </a:rPr>
              <a:t>字长</a:t>
            </a:r>
            <a:r>
              <a:rPr lang="en-US" altLang="zh-CN" sz="2200" b="1" u="none" dirty="0">
                <a:latin typeface="宋体" panose="02010600030101010101" pitchFamily="2" charset="-122"/>
              </a:rPr>
              <a:t>×</a:t>
            </a:r>
            <a:r>
              <a:rPr lang="zh-CN" altLang="en-US" sz="2200" b="1" u="none" dirty="0">
                <a:latin typeface="宋体" panose="02010600030101010101" pitchFamily="2" charset="-122"/>
              </a:rPr>
              <a:t>存储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字数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芯片规格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型号有限            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←销量</a:t>
            </a:r>
            <a:r>
              <a:rPr lang="en-US" altLang="zh-CN" sz="1800" b="1" u="none" dirty="0">
                <a:latin typeface="宋体" panose="02010600030101010101" pitchFamily="2" charset="-122"/>
              </a:rPr>
              <a:t>-</a:t>
            </a:r>
            <a:r>
              <a:rPr lang="zh-CN" altLang="en-US" sz="1800" b="1" u="none" dirty="0">
                <a:latin typeface="宋体" panose="02010600030101010101" pitchFamily="2" charset="-122"/>
              </a:rPr>
              <a:t>成本的平衡</a:t>
            </a: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主存逻辑设计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的方法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   用</a:t>
            </a:r>
            <a:r>
              <a:rPr lang="en-US" altLang="zh-CN" b="1" u="none" dirty="0">
                <a:latin typeface="宋体" panose="02010600030101010101" pitchFamily="2" charset="-122"/>
              </a:rPr>
              <a:t>ROM</a:t>
            </a:r>
            <a:r>
              <a:rPr lang="zh-CN" altLang="en-US" b="1" u="none" dirty="0">
                <a:latin typeface="宋体" panose="02010600030101010101" pitchFamily="2" charset="-122"/>
              </a:rPr>
              <a:t>、</a:t>
            </a:r>
            <a:r>
              <a:rPr lang="en-US" altLang="zh-CN" b="1" u="none" dirty="0">
                <a:latin typeface="宋体" panose="02010600030101010101" pitchFamily="2" charset="-122"/>
              </a:rPr>
              <a:t>RAM</a:t>
            </a:r>
            <a:r>
              <a:rPr lang="en-US" altLang="zh-CN" sz="1800" b="1" u="none" dirty="0">
                <a:latin typeface="宋体" panose="02010600030101010101" pitchFamily="2" charset="-122"/>
              </a:rPr>
              <a:t>(SRAM</a:t>
            </a:r>
            <a:r>
              <a:rPr lang="zh-CN" altLang="en-US" sz="1800" b="1" u="none" dirty="0">
                <a:latin typeface="宋体" panose="02010600030101010101" pitchFamily="2" charset="-122"/>
              </a:rPr>
              <a:t>或</a:t>
            </a:r>
            <a:r>
              <a:rPr lang="en-US" altLang="zh-CN" sz="1800" b="1" u="none" dirty="0">
                <a:latin typeface="宋体" panose="02010600030101010101" pitchFamily="2" charset="-122"/>
              </a:rPr>
              <a:t>DRAM)</a:t>
            </a:r>
            <a:r>
              <a:rPr lang="zh-CN" altLang="en-US" b="1" u="none" dirty="0">
                <a:latin typeface="宋体" panose="02010600030101010101" pitchFamily="2" charset="-122"/>
              </a:rPr>
              <a:t>芯片进行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容量扩展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，实现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指定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参数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的容量扩展方法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步骤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35696" y="3650248"/>
            <a:ext cx="712879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          位</a:t>
            </a:r>
            <a:r>
              <a:rPr lang="zh-CN" altLang="en-US" b="1" u="none" dirty="0">
                <a:latin typeface="宋体" panose="02010600030101010101" pitchFamily="2" charset="-122"/>
              </a:rPr>
              <a:t>扩展法、字扩展法、字位扩展法</a:t>
            </a: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①</a:t>
            </a:r>
            <a:r>
              <a:rPr lang="zh-CN" altLang="en-US" b="1" u="none" dirty="0">
                <a:latin typeface="宋体" panose="02010600030101010101" pitchFamily="2" charset="-122"/>
              </a:rPr>
              <a:t>确定需要</a:t>
            </a:r>
            <a:r>
              <a:rPr lang="zh-CN" altLang="en-US" b="1" dirty="0">
                <a:latin typeface="宋体" panose="02010600030101010101" pitchFamily="2" charset="-122"/>
              </a:rPr>
              <a:t>多少</a:t>
            </a:r>
            <a:r>
              <a:rPr lang="zh-CN" altLang="en-US" b="1" u="none" dirty="0">
                <a:latin typeface="宋体" panose="02010600030101010101" pitchFamily="2" charset="-122"/>
              </a:rPr>
              <a:t>芯片</a:t>
            </a: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②明确芯片</a:t>
            </a:r>
            <a:r>
              <a:rPr lang="zh-CN" altLang="en-US" b="1" dirty="0">
                <a:latin typeface="宋体" panose="02010600030101010101" pitchFamily="2" charset="-122"/>
              </a:rPr>
              <a:t>所占</a:t>
            </a:r>
            <a:r>
              <a:rPr lang="zh-CN" altLang="en-US" b="1" u="none" dirty="0">
                <a:latin typeface="宋体" panose="02010600030101010101" pitchFamily="2" charset="-122"/>
              </a:rPr>
              <a:t>主存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空间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所处位置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③</a:t>
            </a:r>
            <a:r>
              <a:rPr lang="zh-CN" altLang="en-US" b="1" u="none" dirty="0">
                <a:latin typeface="宋体" panose="02010600030101010101" pitchFamily="2" charset="-122"/>
              </a:rPr>
              <a:t>根据访问特征</a:t>
            </a:r>
            <a:r>
              <a:rPr lang="zh-CN" altLang="en-US" b="1" dirty="0">
                <a:latin typeface="宋体" panose="02010600030101010101" pitchFamily="2" charset="-122"/>
              </a:rPr>
              <a:t>连接</a:t>
            </a:r>
            <a:r>
              <a:rPr lang="zh-CN" altLang="en-US" b="1" u="none" dirty="0">
                <a:latin typeface="宋体" panose="02010600030101010101" pitchFamily="2" charset="-122"/>
              </a:rPr>
              <a:t>芯片</a:t>
            </a:r>
            <a:endParaRPr lang="en-US" altLang="zh-CN" b="1" u="none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4C166-C114-464C-917A-2E48B45D7E50}" type="slidenum">
              <a:rPr lang="en-US" altLang="zh-CN"/>
            </a:fld>
            <a:endParaRPr lang="en-US" altLang="zh-CN"/>
          </a:p>
        </p:txBody>
      </p:sp>
      <p:sp>
        <p:nvSpPr>
          <p:cNvPr id="447492" name="Text Box 4"/>
          <p:cNvSpPr txBox="1">
            <a:spLocks noChangeArrowheads="1"/>
          </p:cNvSpPr>
          <p:nvPr/>
        </p:nvSpPr>
        <p:spPr bwMode="auto">
          <a:xfrm>
            <a:off x="179388" y="1269162"/>
            <a:ext cx="8785225" cy="549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1—</a:t>
            </a:r>
            <a:r>
              <a:rPr lang="zh-CN" altLang="en-US" b="1" u="none" dirty="0">
                <a:latin typeface="宋体" panose="02010600030101010101" pitchFamily="2" charset="-122"/>
              </a:rPr>
              <a:t>用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1K×1b </a:t>
            </a:r>
            <a:r>
              <a:rPr lang="en-US" altLang="zh-CN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芯片</a:t>
            </a:r>
            <a:r>
              <a:rPr lang="zh-CN" altLang="en-US" b="1" u="none" dirty="0">
                <a:latin typeface="宋体" panose="02010600030101010101" pitchFamily="2" charset="-122"/>
              </a:rPr>
              <a:t>构成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1K×4b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的存储模块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grpSp>
        <p:nvGrpSpPr>
          <p:cNvPr id="447701" name="Group 213"/>
          <p:cNvGrpSpPr/>
          <p:nvPr/>
        </p:nvGrpSpPr>
        <p:grpSpPr bwMode="auto">
          <a:xfrm>
            <a:off x="1979613" y="4437112"/>
            <a:ext cx="5837238" cy="2017713"/>
            <a:chOff x="1247" y="2477"/>
            <a:chExt cx="3677" cy="1271"/>
          </a:xfrm>
        </p:grpSpPr>
        <p:sp>
          <p:nvSpPr>
            <p:cNvPr id="447674" name="Rectangle 186"/>
            <p:cNvSpPr>
              <a:spLocks noChangeArrowheads="1"/>
            </p:cNvSpPr>
            <p:nvPr/>
          </p:nvSpPr>
          <p:spPr bwMode="auto">
            <a:xfrm>
              <a:off x="1791" y="2477"/>
              <a:ext cx="3133" cy="127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7675" name="Text Box 187"/>
            <p:cNvSpPr txBox="1">
              <a:spLocks noChangeArrowheads="1"/>
            </p:cNvSpPr>
            <p:nvPr/>
          </p:nvSpPr>
          <p:spPr bwMode="auto">
            <a:xfrm>
              <a:off x="1247" y="2477"/>
              <a:ext cx="408" cy="18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4</a:t>
              </a:r>
              <a:r>
                <a:rPr lang="en-US" altLang="zh-CN" sz="1800" b="1" u="none" dirty="0" smtClean="0"/>
                <a:t>~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447676" name="Text Box 188"/>
            <p:cNvSpPr txBox="1">
              <a:spLocks noChangeArrowheads="1"/>
            </p:cNvSpPr>
            <p:nvPr/>
          </p:nvSpPr>
          <p:spPr bwMode="auto">
            <a:xfrm>
              <a:off x="1292" y="3158"/>
              <a:ext cx="363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3</a:t>
              </a:r>
              <a:r>
                <a:rPr lang="en-US" altLang="zh-CN" sz="1800" b="1" u="none" dirty="0">
                  <a:latin typeface="+mn-lt"/>
                </a:rPr>
                <a:t>~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grpSp>
          <p:nvGrpSpPr>
            <p:cNvPr id="447677" name="Group 189"/>
            <p:cNvGrpSpPr/>
            <p:nvPr/>
          </p:nvGrpSpPr>
          <p:grpSpPr bwMode="auto">
            <a:xfrm>
              <a:off x="1429" y="3339"/>
              <a:ext cx="181" cy="136"/>
              <a:chOff x="657" y="1389"/>
              <a:chExt cx="181" cy="136"/>
            </a:xfrm>
          </p:grpSpPr>
          <p:sp>
            <p:nvSpPr>
              <p:cNvPr id="447678" name="Text Box 190"/>
              <p:cNvSpPr txBox="1">
                <a:spLocks noChangeArrowheads="1"/>
              </p:cNvSpPr>
              <p:nvPr/>
            </p:nvSpPr>
            <p:spPr bwMode="auto">
              <a:xfrm>
                <a:off x="657" y="1389"/>
                <a:ext cx="181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>
                    <a:latin typeface="宋体" panose="02010600030101010101" pitchFamily="2" charset="-122"/>
                  </a:rPr>
                  <a:t>WE</a:t>
                </a:r>
                <a:endParaRPr lang="en-US" altLang="zh-CN" sz="1800" b="1" u="none">
                  <a:latin typeface="宋体" panose="02010600030101010101" pitchFamily="2" charset="-122"/>
                </a:endParaRPr>
              </a:p>
            </p:txBody>
          </p:sp>
          <p:sp>
            <p:nvSpPr>
              <p:cNvPr id="447679" name="Line 191"/>
              <p:cNvSpPr>
                <a:spLocks noChangeShapeType="1"/>
              </p:cNvSpPr>
              <p:nvPr/>
            </p:nvSpPr>
            <p:spPr bwMode="auto">
              <a:xfrm>
                <a:off x="669" y="1401"/>
                <a:ext cx="148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7680" name="Text Box 192"/>
            <p:cNvSpPr txBox="1">
              <a:spLocks noChangeArrowheads="1"/>
            </p:cNvSpPr>
            <p:nvPr/>
          </p:nvSpPr>
          <p:spPr bwMode="auto">
            <a:xfrm>
              <a:off x="1881" y="2704"/>
              <a:ext cx="49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1K×1b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DRAM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47682" name="Line 194"/>
            <p:cNvSpPr>
              <a:spLocks noChangeShapeType="1"/>
            </p:cNvSpPr>
            <p:nvPr/>
          </p:nvSpPr>
          <p:spPr bwMode="auto">
            <a:xfrm flipV="1">
              <a:off x="1655" y="2568"/>
              <a:ext cx="136" cy="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683" name="Line 195"/>
            <p:cNvSpPr>
              <a:spLocks noChangeShapeType="1"/>
            </p:cNvSpPr>
            <p:nvPr/>
          </p:nvSpPr>
          <p:spPr bwMode="auto">
            <a:xfrm flipV="1">
              <a:off x="1655" y="3158"/>
              <a:ext cx="136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684" name="Line 196"/>
            <p:cNvSpPr>
              <a:spLocks noChangeShapeType="1"/>
            </p:cNvSpPr>
            <p:nvPr/>
          </p:nvSpPr>
          <p:spPr bwMode="auto">
            <a:xfrm flipV="1">
              <a:off x="1655" y="3204"/>
              <a:ext cx="136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685" name="Line 197"/>
            <p:cNvSpPr>
              <a:spLocks noChangeShapeType="1"/>
            </p:cNvSpPr>
            <p:nvPr/>
          </p:nvSpPr>
          <p:spPr bwMode="auto">
            <a:xfrm flipV="1">
              <a:off x="1655" y="3294"/>
              <a:ext cx="136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686" name="Line 198"/>
            <p:cNvSpPr>
              <a:spLocks noChangeShapeType="1"/>
            </p:cNvSpPr>
            <p:nvPr/>
          </p:nvSpPr>
          <p:spPr bwMode="auto">
            <a:xfrm flipV="1">
              <a:off x="1655" y="3249"/>
              <a:ext cx="136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687" name="Line 199"/>
            <p:cNvSpPr>
              <a:spLocks noChangeShapeType="1"/>
            </p:cNvSpPr>
            <p:nvPr/>
          </p:nvSpPr>
          <p:spPr bwMode="auto">
            <a:xfrm flipV="1">
              <a:off x="1655" y="3434"/>
              <a:ext cx="13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688" name="Line 200"/>
            <p:cNvSpPr>
              <a:spLocks noChangeShapeType="1"/>
            </p:cNvSpPr>
            <p:nvPr/>
          </p:nvSpPr>
          <p:spPr bwMode="auto">
            <a:xfrm flipV="1">
              <a:off x="1655" y="3571"/>
              <a:ext cx="13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47696" name="Group 208"/>
            <p:cNvGrpSpPr/>
            <p:nvPr/>
          </p:nvGrpSpPr>
          <p:grpSpPr bwMode="auto">
            <a:xfrm>
              <a:off x="1338" y="3475"/>
              <a:ext cx="272" cy="136"/>
              <a:chOff x="1338" y="3475"/>
              <a:chExt cx="272" cy="136"/>
            </a:xfrm>
          </p:grpSpPr>
          <p:sp>
            <p:nvSpPr>
              <p:cNvPr id="447691" name="Text Box 203"/>
              <p:cNvSpPr txBox="1">
                <a:spLocks noChangeArrowheads="1"/>
              </p:cNvSpPr>
              <p:nvPr/>
            </p:nvSpPr>
            <p:spPr bwMode="auto">
              <a:xfrm>
                <a:off x="1338" y="3475"/>
                <a:ext cx="272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 dirty="0">
                    <a:latin typeface="宋体" panose="02010600030101010101" pitchFamily="2" charset="-122"/>
                  </a:rPr>
                  <a:t>RAS</a:t>
                </a:r>
                <a:endParaRPr lang="en-US" altLang="zh-CN" sz="18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47692" name="Line 204"/>
              <p:cNvSpPr>
                <a:spLocks noChangeShapeType="1"/>
              </p:cNvSpPr>
              <p:nvPr/>
            </p:nvSpPr>
            <p:spPr bwMode="auto">
              <a:xfrm>
                <a:off x="1365" y="3493"/>
                <a:ext cx="20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7693" name="Text Box 205"/>
            <p:cNvSpPr txBox="1">
              <a:spLocks noChangeArrowheads="1"/>
            </p:cNvSpPr>
            <p:nvPr/>
          </p:nvSpPr>
          <p:spPr bwMode="auto">
            <a:xfrm>
              <a:off x="2654" y="2704"/>
              <a:ext cx="49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1K×1b</a:t>
              </a:r>
              <a:endParaRPr lang="en-US" altLang="zh-CN" sz="1800" b="1" u="none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DRAM</a:t>
              </a:r>
              <a:endParaRPr lang="en-US" altLang="zh-CN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447694" name="Text Box 206"/>
            <p:cNvSpPr txBox="1">
              <a:spLocks noChangeArrowheads="1"/>
            </p:cNvSpPr>
            <p:nvPr/>
          </p:nvSpPr>
          <p:spPr bwMode="auto">
            <a:xfrm>
              <a:off x="3424" y="2704"/>
              <a:ext cx="49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1K×1b</a:t>
              </a:r>
              <a:endParaRPr lang="en-US" altLang="zh-CN" sz="1800" b="1" u="none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DRAM</a:t>
              </a:r>
              <a:endParaRPr lang="en-US" altLang="zh-CN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447695" name="Text Box 207"/>
            <p:cNvSpPr txBox="1">
              <a:spLocks noChangeArrowheads="1"/>
            </p:cNvSpPr>
            <p:nvPr/>
          </p:nvSpPr>
          <p:spPr bwMode="auto">
            <a:xfrm>
              <a:off x="4195" y="2704"/>
              <a:ext cx="49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1K×1b</a:t>
              </a:r>
              <a:endParaRPr lang="en-US" altLang="zh-CN" sz="1800" b="1" u="none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DRAM</a:t>
              </a:r>
              <a:endParaRPr lang="en-US" altLang="zh-CN" sz="1800" b="1" u="none">
                <a:latin typeface="宋体" panose="02010600030101010101" pitchFamily="2" charset="-122"/>
              </a:endParaRPr>
            </a:p>
          </p:txBody>
        </p:sp>
        <p:grpSp>
          <p:nvGrpSpPr>
            <p:cNvPr id="447697" name="Group 209"/>
            <p:cNvGrpSpPr/>
            <p:nvPr/>
          </p:nvGrpSpPr>
          <p:grpSpPr bwMode="auto">
            <a:xfrm>
              <a:off x="1338" y="3611"/>
              <a:ext cx="272" cy="136"/>
              <a:chOff x="1338" y="3475"/>
              <a:chExt cx="272" cy="136"/>
            </a:xfrm>
          </p:grpSpPr>
          <p:sp>
            <p:nvSpPr>
              <p:cNvPr id="447698" name="Text Box 210"/>
              <p:cNvSpPr txBox="1">
                <a:spLocks noChangeArrowheads="1"/>
              </p:cNvSpPr>
              <p:nvPr/>
            </p:nvSpPr>
            <p:spPr bwMode="auto">
              <a:xfrm>
                <a:off x="1338" y="3475"/>
                <a:ext cx="272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>
                    <a:latin typeface="宋体" panose="02010600030101010101" pitchFamily="2" charset="-122"/>
                  </a:rPr>
                  <a:t>CAS</a:t>
                </a:r>
                <a:endParaRPr lang="en-US" altLang="zh-CN" sz="1800" b="1" u="none">
                  <a:latin typeface="宋体" panose="02010600030101010101" pitchFamily="2" charset="-122"/>
                </a:endParaRPr>
              </a:p>
            </p:txBody>
          </p:sp>
          <p:sp>
            <p:nvSpPr>
              <p:cNvPr id="447699" name="Line 211"/>
              <p:cNvSpPr>
                <a:spLocks noChangeShapeType="1"/>
              </p:cNvSpPr>
              <p:nvPr/>
            </p:nvSpPr>
            <p:spPr bwMode="auto">
              <a:xfrm>
                <a:off x="1365" y="3493"/>
                <a:ext cx="20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7700" name="Line 212"/>
            <p:cNvSpPr>
              <a:spLocks noChangeShapeType="1"/>
            </p:cNvSpPr>
            <p:nvPr/>
          </p:nvSpPr>
          <p:spPr bwMode="auto">
            <a:xfrm flipV="1">
              <a:off x="1655" y="3707"/>
              <a:ext cx="13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7767" name="Group 279"/>
          <p:cNvGrpSpPr/>
          <p:nvPr/>
        </p:nvGrpSpPr>
        <p:grpSpPr bwMode="auto">
          <a:xfrm>
            <a:off x="2843213" y="4580433"/>
            <a:ext cx="4824412" cy="1809750"/>
            <a:chOff x="1791" y="2568"/>
            <a:chExt cx="3039" cy="1140"/>
          </a:xfrm>
        </p:grpSpPr>
        <p:sp>
          <p:nvSpPr>
            <p:cNvPr id="447704" name="Line 216"/>
            <p:cNvSpPr>
              <a:spLocks noChangeShapeType="1"/>
            </p:cNvSpPr>
            <p:nvPr/>
          </p:nvSpPr>
          <p:spPr bwMode="auto">
            <a:xfrm>
              <a:off x="1792" y="3158"/>
              <a:ext cx="2902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05" name="Line 217"/>
            <p:cNvSpPr>
              <a:spLocks noChangeShapeType="1"/>
            </p:cNvSpPr>
            <p:nvPr/>
          </p:nvSpPr>
          <p:spPr bwMode="auto">
            <a:xfrm>
              <a:off x="1791" y="3432"/>
              <a:ext cx="2767" cy="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06" name="Line 218"/>
            <p:cNvSpPr>
              <a:spLocks noChangeShapeType="1"/>
            </p:cNvSpPr>
            <p:nvPr/>
          </p:nvSpPr>
          <p:spPr bwMode="auto">
            <a:xfrm flipV="1">
              <a:off x="1791" y="2568"/>
              <a:ext cx="2631" cy="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07" name="Line 219"/>
            <p:cNvSpPr>
              <a:spLocks noChangeShapeType="1"/>
            </p:cNvSpPr>
            <p:nvPr/>
          </p:nvSpPr>
          <p:spPr bwMode="auto">
            <a:xfrm flipV="1">
              <a:off x="1791" y="3570"/>
              <a:ext cx="2949" cy="3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08" name="Line 220"/>
            <p:cNvSpPr>
              <a:spLocks noChangeShapeType="1"/>
            </p:cNvSpPr>
            <p:nvPr/>
          </p:nvSpPr>
          <p:spPr bwMode="auto">
            <a:xfrm flipH="1">
              <a:off x="2064" y="3069"/>
              <a:ext cx="1" cy="89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09" name="Line 221"/>
            <p:cNvSpPr>
              <a:spLocks noChangeShapeType="1"/>
            </p:cNvSpPr>
            <p:nvPr/>
          </p:nvSpPr>
          <p:spPr bwMode="auto">
            <a:xfrm flipH="1">
              <a:off x="2245" y="3067"/>
              <a:ext cx="0" cy="363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10" name="Line 222"/>
            <p:cNvSpPr>
              <a:spLocks noChangeShapeType="1"/>
            </p:cNvSpPr>
            <p:nvPr/>
          </p:nvSpPr>
          <p:spPr bwMode="auto">
            <a:xfrm>
              <a:off x="2382" y="2976"/>
              <a:ext cx="4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12" name="Line 224"/>
            <p:cNvSpPr>
              <a:spLocks noChangeShapeType="1"/>
            </p:cNvSpPr>
            <p:nvPr/>
          </p:nvSpPr>
          <p:spPr bwMode="auto">
            <a:xfrm>
              <a:off x="2517" y="2840"/>
              <a:ext cx="0" cy="862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13" name="Line 225"/>
            <p:cNvSpPr>
              <a:spLocks noChangeShapeType="1"/>
            </p:cNvSpPr>
            <p:nvPr/>
          </p:nvSpPr>
          <p:spPr bwMode="auto">
            <a:xfrm flipV="1">
              <a:off x="1791" y="3203"/>
              <a:ext cx="2903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14" name="Line 226"/>
            <p:cNvSpPr>
              <a:spLocks noChangeShapeType="1"/>
            </p:cNvSpPr>
            <p:nvPr/>
          </p:nvSpPr>
          <p:spPr bwMode="auto">
            <a:xfrm>
              <a:off x="1791" y="3248"/>
              <a:ext cx="2903" cy="1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15" name="Line 227"/>
            <p:cNvSpPr>
              <a:spLocks noChangeShapeType="1"/>
            </p:cNvSpPr>
            <p:nvPr/>
          </p:nvSpPr>
          <p:spPr bwMode="auto">
            <a:xfrm>
              <a:off x="1792" y="3294"/>
              <a:ext cx="2902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17" name="Line 229"/>
            <p:cNvSpPr>
              <a:spLocks noChangeShapeType="1"/>
            </p:cNvSpPr>
            <p:nvPr/>
          </p:nvSpPr>
          <p:spPr bwMode="auto">
            <a:xfrm>
              <a:off x="2109" y="2568"/>
              <a:ext cx="0" cy="136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20" name="Line 232"/>
            <p:cNvSpPr>
              <a:spLocks noChangeShapeType="1"/>
            </p:cNvSpPr>
            <p:nvPr/>
          </p:nvSpPr>
          <p:spPr bwMode="auto">
            <a:xfrm flipH="1">
              <a:off x="2835" y="3069"/>
              <a:ext cx="1" cy="134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26" name="Line 238"/>
            <p:cNvSpPr>
              <a:spLocks noChangeShapeType="1"/>
            </p:cNvSpPr>
            <p:nvPr/>
          </p:nvSpPr>
          <p:spPr bwMode="auto">
            <a:xfrm>
              <a:off x="2880" y="2568"/>
              <a:ext cx="0" cy="136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28" name="Line 240"/>
            <p:cNvSpPr>
              <a:spLocks noChangeShapeType="1"/>
            </p:cNvSpPr>
            <p:nvPr/>
          </p:nvSpPr>
          <p:spPr bwMode="auto">
            <a:xfrm flipH="1">
              <a:off x="3606" y="3069"/>
              <a:ext cx="1" cy="18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34" name="Line 246"/>
            <p:cNvSpPr>
              <a:spLocks noChangeShapeType="1"/>
            </p:cNvSpPr>
            <p:nvPr/>
          </p:nvSpPr>
          <p:spPr bwMode="auto">
            <a:xfrm>
              <a:off x="3651" y="2568"/>
              <a:ext cx="0" cy="136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36" name="Line 248"/>
            <p:cNvSpPr>
              <a:spLocks noChangeShapeType="1"/>
            </p:cNvSpPr>
            <p:nvPr/>
          </p:nvSpPr>
          <p:spPr bwMode="auto">
            <a:xfrm flipH="1">
              <a:off x="4376" y="3069"/>
              <a:ext cx="1" cy="225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38" name="Line 250"/>
            <p:cNvSpPr>
              <a:spLocks noChangeShapeType="1"/>
            </p:cNvSpPr>
            <p:nvPr/>
          </p:nvSpPr>
          <p:spPr bwMode="auto">
            <a:xfrm>
              <a:off x="4422" y="2568"/>
              <a:ext cx="0" cy="136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46" name="Line 258"/>
            <p:cNvSpPr>
              <a:spLocks noChangeShapeType="1"/>
            </p:cNvSpPr>
            <p:nvPr/>
          </p:nvSpPr>
          <p:spPr bwMode="auto">
            <a:xfrm>
              <a:off x="1791" y="3707"/>
              <a:ext cx="3039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47" name="Line 259"/>
            <p:cNvSpPr>
              <a:spLocks noChangeShapeType="1"/>
            </p:cNvSpPr>
            <p:nvPr/>
          </p:nvSpPr>
          <p:spPr bwMode="auto">
            <a:xfrm>
              <a:off x="2381" y="2840"/>
              <a:ext cx="13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48" name="Line 260"/>
            <p:cNvSpPr>
              <a:spLocks noChangeShapeType="1"/>
            </p:cNvSpPr>
            <p:nvPr/>
          </p:nvSpPr>
          <p:spPr bwMode="auto">
            <a:xfrm flipH="1">
              <a:off x="2426" y="2976"/>
              <a:ext cx="0" cy="59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49" name="Line 261"/>
            <p:cNvSpPr>
              <a:spLocks noChangeShapeType="1"/>
            </p:cNvSpPr>
            <p:nvPr/>
          </p:nvSpPr>
          <p:spPr bwMode="auto">
            <a:xfrm flipH="1">
              <a:off x="3016" y="3067"/>
              <a:ext cx="0" cy="369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50" name="Line 262"/>
            <p:cNvSpPr>
              <a:spLocks noChangeShapeType="1"/>
            </p:cNvSpPr>
            <p:nvPr/>
          </p:nvSpPr>
          <p:spPr bwMode="auto">
            <a:xfrm>
              <a:off x="3153" y="2976"/>
              <a:ext cx="4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52" name="Line 264"/>
            <p:cNvSpPr>
              <a:spLocks noChangeShapeType="1"/>
            </p:cNvSpPr>
            <p:nvPr/>
          </p:nvSpPr>
          <p:spPr bwMode="auto">
            <a:xfrm>
              <a:off x="3288" y="2840"/>
              <a:ext cx="0" cy="868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53" name="Line 265"/>
            <p:cNvSpPr>
              <a:spLocks noChangeShapeType="1"/>
            </p:cNvSpPr>
            <p:nvPr/>
          </p:nvSpPr>
          <p:spPr bwMode="auto">
            <a:xfrm>
              <a:off x="3152" y="2840"/>
              <a:ext cx="13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54" name="Line 266"/>
            <p:cNvSpPr>
              <a:spLocks noChangeShapeType="1"/>
            </p:cNvSpPr>
            <p:nvPr/>
          </p:nvSpPr>
          <p:spPr bwMode="auto">
            <a:xfrm flipH="1">
              <a:off x="3198" y="2976"/>
              <a:ext cx="0" cy="596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55" name="Line 267"/>
            <p:cNvSpPr>
              <a:spLocks noChangeShapeType="1"/>
            </p:cNvSpPr>
            <p:nvPr/>
          </p:nvSpPr>
          <p:spPr bwMode="auto">
            <a:xfrm flipH="1">
              <a:off x="3787" y="3067"/>
              <a:ext cx="0" cy="369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56" name="Line 268"/>
            <p:cNvSpPr>
              <a:spLocks noChangeShapeType="1"/>
            </p:cNvSpPr>
            <p:nvPr/>
          </p:nvSpPr>
          <p:spPr bwMode="auto">
            <a:xfrm>
              <a:off x="3924" y="2976"/>
              <a:ext cx="4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58" name="Line 270"/>
            <p:cNvSpPr>
              <a:spLocks noChangeShapeType="1"/>
            </p:cNvSpPr>
            <p:nvPr/>
          </p:nvSpPr>
          <p:spPr bwMode="auto">
            <a:xfrm>
              <a:off x="4059" y="2840"/>
              <a:ext cx="0" cy="868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59" name="Line 271"/>
            <p:cNvSpPr>
              <a:spLocks noChangeShapeType="1"/>
            </p:cNvSpPr>
            <p:nvPr/>
          </p:nvSpPr>
          <p:spPr bwMode="auto">
            <a:xfrm>
              <a:off x="3923" y="2840"/>
              <a:ext cx="13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60" name="Line 272"/>
            <p:cNvSpPr>
              <a:spLocks noChangeShapeType="1"/>
            </p:cNvSpPr>
            <p:nvPr/>
          </p:nvSpPr>
          <p:spPr bwMode="auto">
            <a:xfrm>
              <a:off x="3969" y="2976"/>
              <a:ext cx="0" cy="596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61" name="Line 273"/>
            <p:cNvSpPr>
              <a:spLocks noChangeShapeType="1"/>
            </p:cNvSpPr>
            <p:nvPr/>
          </p:nvSpPr>
          <p:spPr bwMode="auto">
            <a:xfrm flipH="1">
              <a:off x="4558" y="3067"/>
              <a:ext cx="0" cy="369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62" name="Line 274"/>
            <p:cNvSpPr>
              <a:spLocks noChangeShapeType="1"/>
            </p:cNvSpPr>
            <p:nvPr/>
          </p:nvSpPr>
          <p:spPr bwMode="auto">
            <a:xfrm>
              <a:off x="4695" y="2976"/>
              <a:ext cx="4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64" name="Line 276"/>
            <p:cNvSpPr>
              <a:spLocks noChangeShapeType="1"/>
            </p:cNvSpPr>
            <p:nvPr/>
          </p:nvSpPr>
          <p:spPr bwMode="auto">
            <a:xfrm>
              <a:off x="4830" y="2840"/>
              <a:ext cx="0" cy="868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65" name="Line 277"/>
            <p:cNvSpPr>
              <a:spLocks noChangeShapeType="1"/>
            </p:cNvSpPr>
            <p:nvPr/>
          </p:nvSpPr>
          <p:spPr bwMode="auto">
            <a:xfrm>
              <a:off x="4694" y="2840"/>
              <a:ext cx="13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766" name="Line 278"/>
            <p:cNvSpPr>
              <a:spLocks noChangeShapeType="1"/>
            </p:cNvSpPr>
            <p:nvPr/>
          </p:nvSpPr>
          <p:spPr bwMode="auto">
            <a:xfrm flipH="1">
              <a:off x="4740" y="2976"/>
              <a:ext cx="0" cy="596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7770" name="Group 282"/>
          <p:cNvGrpSpPr/>
          <p:nvPr/>
        </p:nvGrpSpPr>
        <p:grpSpPr bwMode="auto">
          <a:xfrm>
            <a:off x="180975" y="1772816"/>
            <a:ext cx="3527425" cy="1809750"/>
            <a:chOff x="114" y="703"/>
            <a:chExt cx="2222" cy="1140"/>
          </a:xfrm>
        </p:grpSpPr>
        <p:sp>
          <p:nvSpPr>
            <p:cNvPr id="447494" name="Rectangle 6"/>
            <p:cNvSpPr>
              <a:spLocks noChangeArrowheads="1"/>
            </p:cNvSpPr>
            <p:nvPr/>
          </p:nvSpPr>
          <p:spPr bwMode="auto">
            <a:xfrm>
              <a:off x="1837" y="866"/>
              <a:ext cx="499" cy="97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0" tIns="18000" rIns="0" bIns="18000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sz="1800" b="1" u="none">
                  <a:latin typeface="宋体" panose="02010600030101010101" pitchFamily="2" charset="-122"/>
                </a:rPr>
                <a:t>1K×1b</a:t>
              </a:r>
              <a:endParaRPr lang="en-US" altLang="zh-CN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447495" name="Rectangle 7"/>
            <p:cNvSpPr>
              <a:spLocks noChangeArrowheads="1"/>
            </p:cNvSpPr>
            <p:nvPr/>
          </p:nvSpPr>
          <p:spPr bwMode="auto">
            <a:xfrm>
              <a:off x="1384" y="866"/>
              <a:ext cx="453" cy="9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36000" tIns="18000" rIns="36000" bIns="18000"/>
            <a:lstStyle/>
            <a:p>
              <a:pPr algn="ctr"/>
              <a:r>
                <a:rPr lang="en-US" altLang="zh-CN" sz="2000" b="1" u="none" dirty="0">
                  <a:latin typeface="宋体" panose="02010600030101010101" pitchFamily="2" charset="-122"/>
                </a:rPr>
                <a:t>……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  <a:p>
              <a:pPr algn="ctr"/>
              <a:endParaRPr lang="en-US" altLang="zh-CN" sz="2000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2000" b="1" u="none" dirty="0">
                  <a:latin typeface="宋体" panose="02010600030101010101" pitchFamily="2" charset="-122"/>
                </a:rPr>
                <a:t>……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  <a:p>
              <a:pPr algn="ctr"/>
              <a:endParaRPr lang="en-US" altLang="zh-CN" sz="20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115000"/>
                </a:lnSpc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……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47496" name="Rectangle 8"/>
            <p:cNvSpPr>
              <a:spLocks noChangeArrowheads="1"/>
            </p:cNvSpPr>
            <p:nvPr/>
          </p:nvSpPr>
          <p:spPr bwMode="auto">
            <a:xfrm>
              <a:off x="885" y="866"/>
              <a:ext cx="499" cy="97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0" tIns="18000" rIns="0" bIns="18000" anchor="ctr"/>
            <a:lstStyle/>
            <a:p>
              <a:pPr algn="ctr">
                <a:spcBef>
                  <a:spcPct val="20000"/>
                </a:spcBef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1K×1b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47497" name="Line 9"/>
            <p:cNvSpPr>
              <a:spLocks noChangeShapeType="1"/>
            </p:cNvSpPr>
            <p:nvPr/>
          </p:nvSpPr>
          <p:spPr bwMode="auto">
            <a:xfrm>
              <a:off x="1837" y="866"/>
              <a:ext cx="0" cy="9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499" name="Text Box 11"/>
            <p:cNvSpPr txBox="1">
              <a:spLocks noChangeArrowheads="1"/>
            </p:cNvSpPr>
            <p:nvPr/>
          </p:nvSpPr>
          <p:spPr bwMode="auto">
            <a:xfrm>
              <a:off x="340" y="1251"/>
              <a:ext cx="318" cy="27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/>
            <a:lstStyle/>
            <a:p>
              <a:r>
                <a:rPr lang="en-US" altLang="zh-CN" b="1" u="none" dirty="0"/>
                <a:t>…</a:t>
              </a:r>
              <a:endParaRPr lang="en-US" altLang="zh-CN" b="1" u="none" baseline="-20000" dirty="0"/>
            </a:p>
          </p:txBody>
        </p:sp>
        <p:sp>
          <p:nvSpPr>
            <p:cNvPr id="447500" name="Text Box 12"/>
            <p:cNvSpPr txBox="1">
              <a:spLocks noChangeArrowheads="1"/>
            </p:cNvSpPr>
            <p:nvPr/>
          </p:nvSpPr>
          <p:spPr bwMode="auto">
            <a:xfrm>
              <a:off x="975" y="703"/>
              <a:ext cx="1316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en-US" altLang="zh-CN" sz="1800" b="1" u="none" dirty="0">
                  <a:latin typeface="宋体" panose="02010600030101010101" pitchFamily="2" charset="-122"/>
                </a:rPr>
                <a:t>bit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3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   …    bit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447501" name="Line 13"/>
            <p:cNvSpPr>
              <a:spLocks noChangeShapeType="1"/>
            </p:cNvSpPr>
            <p:nvPr/>
          </p:nvSpPr>
          <p:spPr bwMode="auto">
            <a:xfrm>
              <a:off x="885" y="1046"/>
              <a:ext cx="145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502" name="Line 14"/>
            <p:cNvSpPr>
              <a:spLocks noChangeShapeType="1"/>
            </p:cNvSpPr>
            <p:nvPr/>
          </p:nvSpPr>
          <p:spPr bwMode="auto">
            <a:xfrm>
              <a:off x="884" y="1661"/>
              <a:ext cx="14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504" name="Rectangle 16"/>
            <p:cNvSpPr>
              <a:spLocks noChangeArrowheads="1"/>
            </p:cNvSpPr>
            <p:nvPr/>
          </p:nvSpPr>
          <p:spPr bwMode="auto">
            <a:xfrm>
              <a:off x="885" y="866"/>
              <a:ext cx="1451" cy="977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7505" name="Line 17"/>
            <p:cNvSpPr>
              <a:spLocks noChangeShapeType="1"/>
            </p:cNvSpPr>
            <p:nvPr/>
          </p:nvSpPr>
          <p:spPr bwMode="auto">
            <a:xfrm>
              <a:off x="1384" y="866"/>
              <a:ext cx="0" cy="9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644" name="Text Box 156"/>
            <p:cNvSpPr txBox="1">
              <a:spLocks noChangeArrowheads="1"/>
            </p:cNvSpPr>
            <p:nvPr/>
          </p:nvSpPr>
          <p:spPr bwMode="auto">
            <a:xfrm>
              <a:off x="114" y="866"/>
              <a:ext cx="771" cy="9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en-US" altLang="zh-CN" sz="1800" b="1" u="none" dirty="0">
                  <a:latin typeface="宋体" panose="02010600030101010101" pitchFamily="2" charset="-122"/>
                </a:rPr>
                <a:t>0000000000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r>
                <a:rPr lang="en-US" altLang="zh-CN" sz="1800" b="1" u="none" dirty="0">
                  <a:latin typeface="宋体" panose="02010600030101010101" pitchFamily="2" charset="-122"/>
                </a:rPr>
                <a:t>0000000001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15000"/>
                </a:lnSpc>
                <a:spcBef>
                  <a:spcPts val="300"/>
                </a:spcBef>
              </a:pP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15000"/>
                </a:lnSpc>
                <a:spcBef>
                  <a:spcPts val="300"/>
                </a:spcBef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15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1111111111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166" name="AutoShape 331"/>
          <p:cNvSpPr/>
          <p:nvPr/>
        </p:nvSpPr>
        <p:spPr bwMode="auto">
          <a:xfrm>
            <a:off x="4860032" y="3667557"/>
            <a:ext cx="2592000" cy="252000"/>
          </a:xfrm>
          <a:prstGeom prst="borderCallout2">
            <a:avLst>
              <a:gd name="adj1" fmla="val 53155"/>
              <a:gd name="adj2" fmla="val 82"/>
              <a:gd name="adj3" fmla="val 51608"/>
              <a:gd name="adj4" fmla="val -6428"/>
              <a:gd name="adj5" fmla="val -45428"/>
              <a:gd name="adj6" fmla="val -20250"/>
            </a:avLst>
          </a:prstGeom>
          <a:solidFill>
            <a:schemeClr val="bg1"/>
          </a:solidFill>
          <a:ln w="12700">
            <a:solidFill>
              <a:srgbClr val="990099"/>
            </a:solidFill>
            <a:prstDash val="sysDash"/>
            <a:miter lim="800000"/>
            <a:headEnd type="none" w="sm" len="med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 smtClean="0">
                <a:latin typeface="+mn-ea"/>
                <a:ea typeface="+mn-ea"/>
              </a:rPr>
              <a:t>存储模块的控制引脚</a:t>
            </a:r>
            <a:r>
              <a:rPr lang="zh-CN" altLang="en-US" sz="1600" b="1" u="none" dirty="0" smtClean="0">
                <a:solidFill>
                  <a:srgbClr val="FF3399"/>
                </a:solidFill>
                <a:latin typeface="+mn-ea"/>
                <a:ea typeface="+mn-ea"/>
              </a:rPr>
              <a:t>≥</a:t>
            </a:r>
            <a:r>
              <a:rPr lang="en-US" altLang="zh-CN" sz="1600" b="1" u="none" dirty="0" smtClean="0">
                <a:solidFill>
                  <a:srgbClr val="FF3399"/>
                </a:solidFill>
                <a:latin typeface="+mn-ea"/>
                <a:ea typeface="+mn-ea"/>
              </a:rPr>
              <a:t>2</a:t>
            </a:r>
            <a:r>
              <a:rPr lang="zh-CN" altLang="en-US" sz="1600" b="1" u="none" dirty="0" smtClean="0">
                <a:latin typeface="+mn-ea"/>
                <a:ea typeface="+mn-ea"/>
              </a:rPr>
              <a:t>根</a:t>
            </a:r>
            <a:endParaRPr lang="zh-CN" altLang="en-US" sz="1600" b="1" u="none" dirty="0">
              <a:latin typeface="+mn-ea"/>
              <a:ea typeface="+mn-ea"/>
            </a:endParaRPr>
          </a:p>
        </p:txBody>
      </p:sp>
      <p:sp>
        <p:nvSpPr>
          <p:cNvPr id="171" name="Rectangle 281"/>
          <p:cNvSpPr>
            <a:spLocks noChangeArrowheads="1"/>
          </p:cNvSpPr>
          <p:nvPr/>
        </p:nvSpPr>
        <p:spPr bwMode="auto">
          <a:xfrm>
            <a:off x="1404938" y="2924944"/>
            <a:ext cx="2303463" cy="287338"/>
          </a:xfrm>
          <a:prstGeom prst="rect">
            <a:avLst/>
          </a:prstGeom>
          <a:solidFill>
            <a:srgbClr val="FFCCFF">
              <a:alpha val="80000"/>
            </a:srgbClr>
          </a:solidFill>
          <a:ln w="15875">
            <a:solidFill>
              <a:schemeClr val="tx1"/>
            </a:solidFill>
            <a:miter lim="800000"/>
            <a:tailEnd type="non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" name="AutoShape 331"/>
          <p:cNvSpPr/>
          <p:nvPr/>
        </p:nvSpPr>
        <p:spPr bwMode="auto">
          <a:xfrm>
            <a:off x="1835224" y="3667557"/>
            <a:ext cx="2304000" cy="252000"/>
          </a:xfrm>
          <a:prstGeom prst="borderCallout2">
            <a:avLst>
              <a:gd name="adj1" fmla="val 50061"/>
              <a:gd name="adj2" fmla="val 82"/>
              <a:gd name="adj3" fmla="val 49854"/>
              <a:gd name="adj4" fmla="val -5359"/>
              <a:gd name="adj5" fmla="val -240721"/>
              <a:gd name="adj6" fmla="val -11746"/>
            </a:avLst>
          </a:prstGeom>
          <a:solidFill>
            <a:schemeClr val="bg1"/>
          </a:solidFill>
          <a:ln w="12700">
            <a:solidFill>
              <a:srgbClr val="990099"/>
            </a:solidFill>
            <a:prstDash val="sysDash"/>
            <a:miter lim="800000"/>
            <a:headEnd type="none" w="sm" len="med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 smtClean="0">
                <a:latin typeface="+mn-ea"/>
                <a:ea typeface="+mn-ea"/>
              </a:rPr>
              <a:t>访问</a:t>
            </a:r>
            <a:r>
              <a:rPr lang="zh-CN" altLang="en-US" sz="1600" b="1" u="none" dirty="0" smtClean="0">
                <a:solidFill>
                  <a:srgbClr val="990099"/>
                </a:solidFill>
                <a:latin typeface="+mn-ea"/>
                <a:ea typeface="+mn-ea"/>
              </a:rPr>
              <a:t>各芯片</a:t>
            </a:r>
            <a:r>
              <a:rPr lang="zh-CN" altLang="en-US" sz="1600" b="1" u="none" dirty="0" smtClean="0">
                <a:latin typeface="+mn-ea"/>
                <a:ea typeface="+mn-ea"/>
              </a:rPr>
              <a:t>的</a:t>
            </a:r>
            <a:r>
              <a:rPr lang="zh-CN" altLang="en-US" sz="1600" b="1" u="none" dirty="0" smtClean="0">
                <a:solidFill>
                  <a:srgbClr val="FF3399"/>
                </a:solidFill>
                <a:latin typeface="+mn-ea"/>
                <a:ea typeface="+mn-ea"/>
              </a:rPr>
              <a:t>同一</a:t>
            </a:r>
            <a:r>
              <a:rPr lang="zh-CN" altLang="en-US" sz="1600" b="1" u="none" dirty="0" smtClean="0">
                <a:latin typeface="+mn-ea"/>
                <a:ea typeface="+mn-ea"/>
              </a:rPr>
              <a:t>单元</a:t>
            </a:r>
            <a:endParaRPr lang="zh-CN" altLang="en-US" sz="1600" b="1" u="none" dirty="0">
              <a:latin typeface="+mn-ea"/>
              <a:ea typeface="+mn-ea"/>
            </a:endParaRPr>
          </a:p>
        </p:txBody>
      </p:sp>
      <p:sp>
        <p:nvSpPr>
          <p:cNvPr id="447648" name="Text Box 160"/>
          <p:cNvSpPr txBox="1">
            <a:spLocks noChangeArrowheads="1"/>
          </p:cNvSpPr>
          <p:nvPr/>
        </p:nvSpPr>
        <p:spPr bwMode="auto">
          <a:xfrm>
            <a:off x="179388" y="3933056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900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2—</a:t>
            </a:r>
            <a:r>
              <a:rPr lang="zh-CN" altLang="en-US" b="1" u="none" dirty="0">
                <a:latin typeface="宋体" panose="02010600030101010101" pitchFamily="2" charset="-122"/>
              </a:rPr>
              <a:t>用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1K×1b </a:t>
            </a:r>
            <a:r>
              <a:rPr lang="en-US" altLang="zh-CN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DRAM</a:t>
            </a:r>
            <a:r>
              <a:rPr lang="zh-CN" altLang="en-US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芯片</a:t>
            </a:r>
            <a:r>
              <a:rPr lang="zh-CN" altLang="en-US" b="1" u="none" dirty="0">
                <a:latin typeface="宋体" panose="02010600030101010101" pitchFamily="2" charset="-122"/>
              </a:rPr>
              <a:t>构成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1K×4b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存储模块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grpSp>
        <p:nvGrpSpPr>
          <p:cNvPr id="167" name="Group 184"/>
          <p:cNvGrpSpPr/>
          <p:nvPr/>
        </p:nvGrpSpPr>
        <p:grpSpPr bwMode="auto">
          <a:xfrm>
            <a:off x="3851275" y="1845843"/>
            <a:ext cx="5041900" cy="1736726"/>
            <a:chOff x="2426" y="839"/>
            <a:chExt cx="3176" cy="1094"/>
          </a:xfrm>
        </p:grpSpPr>
        <p:sp>
          <p:nvSpPr>
            <p:cNvPr id="168" name="Rectangle 22"/>
            <p:cNvSpPr>
              <a:spLocks noChangeArrowheads="1"/>
            </p:cNvSpPr>
            <p:nvPr/>
          </p:nvSpPr>
          <p:spPr bwMode="auto">
            <a:xfrm>
              <a:off x="2925" y="839"/>
              <a:ext cx="2677" cy="108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9" name="Text Box 23"/>
            <p:cNvSpPr txBox="1">
              <a:spLocks noChangeArrowheads="1"/>
            </p:cNvSpPr>
            <p:nvPr/>
          </p:nvSpPr>
          <p:spPr bwMode="auto">
            <a:xfrm>
              <a:off x="2426" y="839"/>
              <a:ext cx="362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9</a:t>
              </a:r>
              <a:r>
                <a:rPr lang="en-US" altLang="zh-CN" sz="1800" b="1" u="none" dirty="0" smtClean="0"/>
                <a:t>~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0" name="Text Box 27"/>
            <p:cNvSpPr txBox="1">
              <a:spLocks noChangeArrowheads="1"/>
            </p:cNvSpPr>
            <p:nvPr/>
          </p:nvSpPr>
          <p:spPr bwMode="auto">
            <a:xfrm>
              <a:off x="2426" y="1477"/>
              <a:ext cx="363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3</a:t>
              </a:r>
              <a:r>
                <a:rPr lang="en-US" altLang="zh-CN" sz="1800" b="1" u="none" dirty="0">
                  <a:latin typeface="+mn-lt"/>
                </a:rPr>
                <a:t>~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grpSp>
          <p:nvGrpSpPr>
            <p:cNvPr id="172" name="Group 118"/>
            <p:cNvGrpSpPr/>
            <p:nvPr/>
          </p:nvGrpSpPr>
          <p:grpSpPr bwMode="auto">
            <a:xfrm>
              <a:off x="2563" y="1661"/>
              <a:ext cx="181" cy="136"/>
              <a:chOff x="657" y="1389"/>
              <a:chExt cx="181" cy="136"/>
            </a:xfrm>
          </p:grpSpPr>
          <p:sp>
            <p:nvSpPr>
              <p:cNvPr id="188" name="Text Box 29"/>
              <p:cNvSpPr txBox="1">
                <a:spLocks noChangeArrowheads="1"/>
              </p:cNvSpPr>
              <p:nvPr/>
            </p:nvSpPr>
            <p:spPr bwMode="auto">
              <a:xfrm>
                <a:off x="657" y="1389"/>
                <a:ext cx="181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>
                    <a:latin typeface="宋体" panose="02010600030101010101" pitchFamily="2" charset="-122"/>
                  </a:rPr>
                  <a:t>WE</a:t>
                </a:r>
                <a:endParaRPr lang="en-US" altLang="zh-CN" sz="1800" b="1" u="none">
                  <a:latin typeface="宋体" panose="02010600030101010101" pitchFamily="2" charset="-122"/>
                </a:endParaRPr>
              </a:p>
            </p:txBody>
          </p:sp>
          <p:sp>
            <p:nvSpPr>
              <p:cNvPr id="189" name="Line 30"/>
              <p:cNvSpPr>
                <a:spLocks noChangeShapeType="1"/>
              </p:cNvSpPr>
              <p:nvPr/>
            </p:nvSpPr>
            <p:spPr bwMode="auto">
              <a:xfrm>
                <a:off x="669" y="1401"/>
                <a:ext cx="148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4" name="Text Box 31"/>
            <p:cNvSpPr txBox="1">
              <a:spLocks noChangeArrowheads="1"/>
            </p:cNvSpPr>
            <p:nvPr/>
          </p:nvSpPr>
          <p:spPr bwMode="auto">
            <a:xfrm>
              <a:off x="2970" y="1024"/>
              <a:ext cx="49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1K×1b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SRAM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75" name="Line 34"/>
            <p:cNvSpPr>
              <a:spLocks noChangeShapeType="1"/>
            </p:cNvSpPr>
            <p:nvPr/>
          </p:nvSpPr>
          <p:spPr bwMode="auto">
            <a:xfrm flipV="1">
              <a:off x="2789" y="929"/>
              <a:ext cx="136" cy="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35"/>
            <p:cNvSpPr>
              <a:spLocks noChangeShapeType="1"/>
            </p:cNvSpPr>
            <p:nvPr/>
          </p:nvSpPr>
          <p:spPr bwMode="auto">
            <a:xfrm flipV="1">
              <a:off x="2789" y="1480"/>
              <a:ext cx="136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Line 36"/>
            <p:cNvSpPr>
              <a:spLocks noChangeShapeType="1"/>
            </p:cNvSpPr>
            <p:nvPr/>
          </p:nvSpPr>
          <p:spPr bwMode="auto">
            <a:xfrm flipV="1">
              <a:off x="2789" y="1526"/>
              <a:ext cx="136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37"/>
            <p:cNvSpPr>
              <a:spLocks noChangeShapeType="1"/>
            </p:cNvSpPr>
            <p:nvPr/>
          </p:nvSpPr>
          <p:spPr bwMode="auto">
            <a:xfrm flipV="1">
              <a:off x="2789" y="1616"/>
              <a:ext cx="136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38"/>
            <p:cNvSpPr>
              <a:spLocks noChangeShapeType="1"/>
            </p:cNvSpPr>
            <p:nvPr/>
          </p:nvSpPr>
          <p:spPr bwMode="auto">
            <a:xfrm flipV="1">
              <a:off x="2789" y="1571"/>
              <a:ext cx="136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39"/>
            <p:cNvSpPr>
              <a:spLocks noChangeShapeType="1"/>
            </p:cNvSpPr>
            <p:nvPr/>
          </p:nvSpPr>
          <p:spPr bwMode="auto">
            <a:xfrm flipV="1">
              <a:off x="2789" y="1752"/>
              <a:ext cx="13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40"/>
            <p:cNvSpPr>
              <a:spLocks noChangeShapeType="1"/>
            </p:cNvSpPr>
            <p:nvPr/>
          </p:nvSpPr>
          <p:spPr bwMode="auto">
            <a:xfrm flipV="1">
              <a:off x="2789" y="1889"/>
              <a:ext cx="13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2" name="Group 119"/>
            <p:cNvGrpSpPr/>
            <p:nvPr/>
          </p:nvGrpSpPr>
          <p:grpSpPr bwMode="auto">
            <a:xfrm>
              <a:off x="2563" y="1797"/>
              <a:ext cx="181" cy="136"/>
              <a:chOff x="657" y="1389"/>
              <a:chExt cx="181" cy="136"/>
            </a:xfrm>
          </p:grpSpPr>
          <p:sp>
            <p:nvSpPr>
              <p:cNvPr id="186" name="Text Box 120"/>
              <p:cNvSpPr txBox="1">
                <a:spLocks noChangeArrowheads="1"/>
              </p:cNvSpPr>
              <p:nvPr/>
            </p:nvSpPr>
            <p:spPr bwMode="auto">
              <a:xfrm>
                <a:off x="657" y="1389"/>
                <a:ext cx="181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>
                    <a:latin typeface="宋体" panose="02010600030101010101" pitchFamily="2" charset="-122"/>
                  </a:rPr>
                  <a:t>CS</a:t>
                </a:r>
                <a:endParaRPr lang="en-US" altLang="zh-CN" sz="1800" b="1" u="none">
                  <a:latin typeface="宋体" panose="02010600030101010101" pitchFamily="2" charset="-122"/>
                </a:endParaRPr>
              </a:p>
            </p:txBody>
          </p:sp>
          <p:sp>
            <p:nvSpPr>
              <p:cNvPr id="187" name="Line 121"/>
              <p:cNvSpPr>
                <a:spLocks noChangeShapeType="1"/>
              </p:cNvSpPr>
              <p:nvPr/>
            </p:nvSpPr>
            <p:spPr bwMode="auto">
              <a:xfrm>
                <a:off x="669" y="1401"/>
                <a:ext cx="148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3" name="Text Box 122"/>
            <p:cNvSpPr txBox="1">
              <a:spLocks noChangeArrowheads="1"/>
            </p:cNvSpPr>
            <p:nvPr/>
          </p:nvSpPr>
          <p:spPr bwMode="auto">
            <a:xfrm>
              <a:off x="3651" y="1024"/>
              <a:ext cx="49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1K×1b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SRAM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4" name="Text Box 131"/>
            <p:cNvSpPr txBox="1">
              <a:spLocks noChangeArrowheads="1"/>
            </p:cNvSpPr>
            <p:nvPr/>
          </p:nvSpPr>
          <p:spPr bwMode="auto">
            <a:xfrm>
              <a:off x="4331" y="1024"/>
              <a:ext cx="49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1K×1b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SRAM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5" name="Text Box 140"/>
            <p:cNvSpPr txBox="1">
              <a:spLocks noChangeArrowheads="1"/>
            </p:cNvSpPr>
            <p:nvPr/>
          </p:nvSpPr>
          <p:spPr bwMode="auto">
            <a:xfrm>
              <a:off x="5012" y="1024"/>
              <a:ext cx="49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1K×1b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SRAM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90" name="组合 189"/>
          <p:cNvGrpSpPr/>
          <p:nvPr/>
        </p:nvGrpSpPr>
        <p:grpSpPr>
          <a:xfrm>
            <a:off x="4643438" y="1989411"/>
            <a:ext cx="4175126" cy="1523304"/>
            <a:chOff x="4643438" y="1406994"/>
            <a:chExt cx="4175126" cy="1523304"/>
          </a:xfrm>
        </p:grpSpPr>
        <p:sp>
          <p:nvSpPr>
            <p:cNvPr id="191" name="Line 47"/>
            <p:cNvSpPr>
              <a:spLocks noChangeShapeType="1"/>
            </p:cNvSpPr>
            <p:nvPr/>
          </p:nvSpPr>
          <p:spPr bwMode="auto">
            <a:xfrm flipV="1">
              <a:off x="4645027" y="2708919"/>
              <a:ext cx="3889002" cy="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Line 49"/>
            <p:cNvSpPr>
              <a:spLocks noChangeShapeType="1"/>
            </p:cNvSpPr>
            <p:nvPr/>
          </p:nvSpPr>
          <p:spPr bwMode="auto">
            <a:xfrm>
              <a:off x="4643438" y="2924943"/>
              <a:ext cx="4175126" cy="5355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Line 53"/>
            <p:cNvSpPr>
              <a:spLocks noChangeShapeType="1"/>
            </p:cNvSpPr>
            <p:nvPr/>
          </p:nvSpPr>
          <p:spPr bwMode="auto">
            <a:xfrm flipH="1">
              <a:off x="5292080" y="2130819"/>
              <a:ext cx="0" cy="57810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Line 56"/>
            <p:cNvSpPr>
              <a:spLocks noChangeShapeType="1"/>
            </p:cNvSpPr>
            <p:nvPr/>
          </p:nvSpPr>
          <p:spPr bwMode="auto">
            <a:xfrm>
              <a:off x="5580112" y="1844824"/>
              <a:ext cx="0" cy="108012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Line 124"/>
            <p:cNvSpPr>
              <a:spLocks noChangeShapeType="1"/>
            </p:cNvSpPr>
            <p:nvPr/>
          </p:nvSpPr>
          <p:spPr bwMode="auto">
            <a:xfrm flipH="1">
              <a:off x="6372200" y="2127644"/>
              <a:ext cx="1588" cy="581276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Line 127"/>
            <p:cNvSpPr>
              <a:spLocks noChangeShapeType="1"/>
            </p:cNvSpPr>
            <p:nvPr/>
          </p:nvSpPr>
          <p:spPr bwMode="auto">
            <a:xfrm>
              <a:off x="6659563" y="1844825"/>
              <a:ext cx="669" cy="108012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133"/>
            <p:cNvSpPr>
              <a:spLocks noChangeShapeType="1"/>
            </p:cNvSpPr>
            <p:nvPr/>
          </p:nvSpPr>
          <p:spPr bwMode="auto">
            <a:xfrm flipH="1">
              <a:off x="7452320" y="2127644"/>
              <a:ext cx="0" cy="581276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135"/>
            <p:cNvSpPr>
              <a:spLocks noChangeShapeType="1"/>
            </p:cNvSpPr>
            <p:nvPr/>
          </p:nvSpPr>
          <p:spPr bwMode="auto">
            <a:xfrm>
              <a:off x="7667627" y="1844824"/>
              <a:ext cx="73024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136"/>
            <p:cNvSpPr>
              <a:spLocks noChangeShapeType="1"/>
            </p:cNvSpPr>
            <p:nvPr/>
          </p:nvSpPr>
          <p:spPr bwMode="auto">
            <a:xfrm flipH="1">
              <a:off x="7740351" y="1844824"/>
              <a:ext cx="299" cy="108012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149"/>
            <p:cNvSpPr>
              <a:spLocks noChangeShapeType="1"/>
            </p:cNvSpPr>
            <p:nvPr/>
          </p:nvSpPr>
          <p:spPr bwMode="auto">
            <a:xfrm flipH="1">
              <a:off x="8532440" y="2119707"/>
              <a:ext cx="1588" cy="589213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Line 150"/>
            <p:cNvSpPr>
              <a:spLocks noChangeShapeType="1"/>
            </p:cNvSpPr>
            <p:nvPr/>
          </p:nvSpPr>
          <p:spPr bwMode="auto">
            <a:xfrm>
              <a:off x="8747126" y="1844824"/>
              <a:ext cx="71438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Line 152"/>
            <p:cNvSpPr>
              <a:spLocks noChangeShapeType="1"/>
            </p:cNvSpPr>
            <p:nvPr/>
          </p:nvSpPr>
          <p:spPr bwMode="auto">
            <a:xfrm>
              <a:off x="8818564" y="1844824"/>
              <a:ext cx="0" cy="108012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Line 95"/>
            <p:cNvSpPr>
              <a:spLocks noChangeShapeType="1"/>
            </p:cNvSpPr>
            <p:nvPr/>
          </p:nvSpPr>
          <p:spPr bwMode="auto">
            <a:xfrm>
              <a:off x="5148064" y="1407010"/>
              <a:ext cx="0" cy="14400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oval" w="sm" len="sm"/>
              <a:tailEnd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Line 129"/>
            <p:cNvSpPr>
              <a:spLocks noChangeShapeType="1"/>
            </p:cNvSpPr>
            <p:nvPr/>
          </p:nvSpPr>
          <p:spPr bwMode="auto">
            <a:xfrm>
              <a:off x="6228184" y="1407010"/>
              <a:ext cx="0" cy="14400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oval" w="sm" len="sm"/>
              <a:tailEnd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Line 138"/>
            <p:cNvSpPr>
              <a:spLocks noChangeShapeType="1"/>
            </p:cNvSpPr>
            <p:nvPr/>
          </p:nvSpPr>
          <p:spPr bwMode="auto">
            <a:xfrm>
              <a:off x="7308304" y="1407010"/>
              <a:ext cx="0" cy="14400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oval" w="sm" len="sm"/>
              <a:tailEnd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147"/>
            <p:cNvSpPr>
              <a:spLocks noChangeShapeType="1"/>
            </p:cNvSpPr>
            <p:nvPr/>
          </p:nvSpPr>
          <p:spPr bwMode="auto">
            <a:xfrm>
              <a:off x="8388424" y="1407010"/>
              <a:ext cx="0" cy="14400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none" w="sm" len="sm"/>
              <a:tailEnd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776"/>
            <p:cNvSpPr>
              <a:spLocks noChangeShapeType="1"/>
            </p:cNvSpPr>
            <p:nvPr/>
          </p:nvSpPr>
          <p:spPr bwMode="auto">
            <a:xfrm flipV="1">
              <a:off x="4644007" y="1406994"/>
              <a:ext cx="3744417" cy="0"/>
            </a:xfrm>
            <a:prstGeom prst="line">
              <a:avLst/>
            </a:prstGeom>
            <a:noFill/>
            <a:ln w="38100" cmpd="dbl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Line 135"/>
            <p:cNvSpPr>
              <a:spLocks noChangeShapeType="1"/>
            </p:cNvSpPr>
            <p:nvPr/>
          </p:nvSpPr>
          <p:spPr bwMode="auto">
            <a:xfrm>
              <a:off x="6587208" y="1844824"/>
              <a:ext cx="73024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135"/>
            <p:cNvSpPr>
              <a:spLocks noChangeShapeType="1"/>
            </p:cNvSpPr>
            <p:nvPr/>
          </p:nvSpPr>
          <p:spPr bwMode="auto">
            <a:xfrm>
              <a:off x="5508104" y="1844824"/>
              <a:ext cx="73024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0" name="Group 283"/>
          <p:cNvGrpSpPr/>
          <p:nvPr/>
        </p:nvGrpSpPr>
        <p:grpSpPr bwMode="auto">
          <a:xfrm>
            <a:off x="4643439" y="2722141"/>
            <a:ext cx="3744913" cy="357188"/>
            <a:chOff x="2925" y="1301"/>
            <a:chExt cx="2359" cy="225"/>
          </a:xfrm>
        </p:grpSpPr>
        <p:sp>
          <p:nvSpPr>
            <p:cNvPr id="211" name="Line 46"/>
            <p:cNvSpPr>
              <a:spLocks noChangeShapeType="1"/>
            </p:cNvSpPr>
            <p:nvPr/>
          </p:nvSpPr>
          <p:spPr bwMode="auto">
            <a:xfrm>
              <a:off x="2926" y="1390"/>
              <a:ext cx="235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Line 50"/>
            <p:cNvSpPr>
              <a:spLocks noChangeShapeType="1"/>
            </p:cNvSpPr>
            <p:nvPr/>
          </p:nvSpPr>
          <p:spPr bwMode="auto">
            <a:xfrm flipH="1">
              <a:off x="3152" y="1301"/>
              <a:ext cx="1" cy="89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Line 65"/>
            <p:cNvSpPr>
              <a:spLocks noChangeShapeType="1"/>
            </p:cNvSpPr>
            <p:nvPr/>
          </p:nvSpPr>
          <p:spPr bwMode="auto">
            <a:xfrm flipV="1">
              <a:off x="2925" y="1435"/>
              <a:ext cx="2359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Line 66"/>
            <p:cNvSpPr>
              <a:spLocks noChangeShapeType="1"/>
            </p:cNvSpPr>
            <p:nvPr/>
          </p:nvSpPr>
          <p:spPr bwMode="auto">
            <a:xfrm flipV="1">
              <a:off x="2925" y="1476"/>
              <a:ext cx="2359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Line 67"/>
            <p:cNvSpPr>
              <a:spLocks noChangeShapeType="1"/>
            </p:cNvSpPr>
            <p:nvPr/>
          </p:nvSpPr>
          <p:spPr bwMode="auto">
            <a:xfrm>
              <a:off x="2926" y="1526"/>
              <a:ext cx="235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Line 123"/>
            <p:cNvSpPr>
              <a:spLocks noChangeShapeType="1"/>
            </p:cNvSpPr>
            <p:nvPr/>
          </p:nvSpPr>
          <p:spPr bwMode="auto">
            <a:xfrm flipH="1">
              <a:off x="3833" y="1301"/>
              <a:ext cx="1" cy="134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Line 132"/>
            <p:cNvSpPr>
              <a:spLocks noChangeShapeType="1"/>
            </p:cNvSpPr>
            <p:nvPr/>
          </p:nvSpPr>
          <p:spPr bwMode="auto">
            <a:xfrm flipH="1">
              <a:off x="4513" y="1301"/>
              <a:ext cx="1" cy="18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Line 141"/>
            <p:cNvSpPr>
              <a:spLocks noChangeShapeType="1"/>
            </p:cNvSpPr>
            <p:nvPr/>
          </p:nvSpPr>
          <p:spPr bwMode="auto">
            <a:xfrm flipH="1">
              <a:off x="5193" y="1301"/>
              <a:ext cx="0" cy="224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2" name="Text Box 32"/>
          <p:cNvSpPr txBox="1">
            <a:spLocks noChangeArrowheads="1"/>
          </p:cNvSpPr>
          <p:nvPr/>
        </p:nvSpPr>
        <p:spPr bwMode="auto">
          <a:xfrm>
            <a:off x="179388" y="332656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、位扩展法     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—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扩展存储字长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存储字数不变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)</a:t>
            </a: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芯片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连接：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sp>
        <p:nvSpPr>
          <p:cNvPr id="133" name="Text Box 58"/>
          <p:cNvSpPr txBox="1">
            <a:spLocks noChangeArrowheads="1"/>
          </p:cNvSpPr>
          <p:nvPr/>
        </p:nvSpPr>
        <p:spPr bwMode="auto">
          <a:xfrm>
            <a:off x="2051720" y="768336"/>
            <a:ext cx="684088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数据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引脚</a:t>
            </a:r>
            <a:r>
              <a:rPr lang="zh-CN" altLang="en-US" b="1" u="none" dirty="0">
                <a:latin typeface="宋体" panose="02010600030101010101" pitchFamily="2" charset="-122"/>
              </a:rPr>
              <a:t>连接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不同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组成存储字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，其余相同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并联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7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4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47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44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44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492" grpId="0"/>
      <p:bldP spid="166" grpId="0" animBg="1"/>
      <p:bldP spid="171" grpId="0" animBg="1"/>
      <p:bldP spid="173" grpId="0" animBg="1"/>
      <p:bldP spid="447648" grpId="0"/>
      <p:bldP spid="13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48" name="Text Box 744"/>
          <p:cNvSpPr txBox="1">
            <a:spLocks noChangeArrowheads="1"/>
          </p:cNvSpPr>
          <p:nvPr/>
        </p:nvSpPr>
        <p:spPr bwMode="auto">
          <a:xfrm>
            <a:off x="179387" y="1772816"/>
            <a:ext cx="5181601" cy="35301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①芯片</a:t>
            </a: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数量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latin typeface="宋体" panose="02010600030101010101" pitchFamily="2" charset="-122"/>
              </a:rPr>
              <a:t>    ②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芯片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所占空间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45000"/>
              </a:lnSpc>
            </a:pP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45000"/>
              </a:lnSpc>
            </a:pP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45000"/>
              </a:lnSpc>
            </a:pPr>
            <a:endParaRPr lang="en-US" altLang="zh-CN" sz="20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45000"/>
              </a:lnSpc>
            </a:pP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b="1" u="none" dirty="0" smtClean="0">
                <a:latin typeface="宋体" panose="02010600030101010101" pitchFamily="2" charset="-122"/>
              </a:rPr>
              <a:t>    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③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芯片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连接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>
              <a:latin typeface="宋体" panose="02010600030101010101" pitchFamily="2" charset="-122"/>
            </a:endParaRPr>
          </a:p>
        </p:txBody>
      </p:sp>
      <p:sp>
        <p:nvSpPr>
          <p:cNvPr id="124647" name="Text Box 743"/>
          <p:cNvSpPr txBox="1">
            <a:spLocks noChangeArrowheads="1"/>
          </p:cNvSpPr>
          <p:nvPr/>
        </p:nvSpPr>
        <p:spPr bwMode="auto">
          <a:xfrm>
            <a:off x="179389" y="1268760"/>
            <a:ext cx="7632972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3—</a:t>
            </a:r>
            <a:r>
              <a:rPr lang="zh-CN" altLang="en-US" b="1" u="none" dirty="0">
                <a:latin typeface="宋体" panose="02010600030101010101" pitchFamily="2" charset="-122"/>
              </a:rPr>
              <a:t>用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1K×4b </a:t>
            </a:r>
            <a:r>
              <a:rPr lang="en-US" altLang="zh-CN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芯片</a:t>
            </a:r>
            <a:r>
              <a:rPr lang="zh-CN" altLang="en-US" b="1" u="none" dirty="0">
                <a:latin typeface="宋体" panose="02010600030101010101" pitchFamily="2" charset="-122"/>
              </a:rPr>
              <a:t>构成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2K×4b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的存储模块</a:t>
            </a:r>
            <a:endParaRPr lang="zh-CN" altLang="en-US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00" name="Text Box 746"/>
          <p:cNvSpPr txBox="1">
            <a:spLocks noChangeArrowheads="1"/>
          </p:cNvSpPr>
          <p:nvPr/>
        </p:nvSpPr>
        <p:spPr bwMode="auto">
          <a:xfrm>
            <a:off x="2699792" y="4581128"/>
            <a:ext cx="6264821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直连数据、读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/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写、地址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模块地址低位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b="1" u="none" dirty="0">
                <a:latin typeface="宋体" panose="02010600030101010101" pitchFamily="2" charset="-122"/>
              </a:rPr>
              <a:t>引脚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9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CD06-20F8-4858-8AB1-6DDBFAC03CE1}" type="slidenum">
              <a:rPr lang="en-US" altLang="zh-CN"/>
            </a:fld>
            <a:endParaRPr lang="en-US" altLang="zh-CN"/>
          </a:p>
        </p:txBody>
      </p:sp>
      <p:sp>
        <p:nvSpPr>
          <p:cNvPr id="124646" name="Text Box 742"/>
          <p:cNvSpPr txBox="1">
            <a:spLocks noChangeArrowheads="1"/>
          </p:cNvSpPr>
          <p:nvPr/>
        </p:nvSpPr>
        <p:spPr bwMode="auto">
          <a:xfrm>
            <a:off x="179388" y="334293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、字扩展法    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—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扩展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存储字数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、存储字长不变</a:t>
            </a: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芯片连接：</a:t>
            </a:r>
            <a:endParaRPr lang="zh-CN" altLang="en-US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124650" name="Text Box 746"/>
          <p:cNvSpPr txBox="1">
            <a:spLocks noChangeArrowheads="1"/>
          </p:cNvSpPr>
          <p:nvPr/>
        </p:nvSpPr>
        <p:spPr bwMode="auto">
          <a:xfrm>
            <a:off x="2699791" y="1772816"/>
            <a:ext cx="633670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 smtClean="0">
                <a:latin typeface="宋体" panose="02010600030101010101" pitchFamily="2" charset="-122"/>
              </a:rPr>
              <a:t>(2K÷1K)×(4b÷4b)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2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片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latin typeface="宋体" panose="02010600030101010101" pitchFamily="2" charset="-122"/>
              </a:rPr>
              <a:t>    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地址范围不同，模块地址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log</a:t>
            </a:r>
            <a:r>
              <a:rPr lang="en-US" altLang="zh-CN" b="1" u="none" baseline="-26000" dirty="0" smtClean="0">
                <a:latin typeface="宋体" panose="02010600030101010101" pitchFamily="2" charset="-122"/>
              </a:rPr>
              <a:t>2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(2K)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11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位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51051" y="2924920"/>
            <a:ext cx="2016125" cy="1336433"/>
            <a:chOff x="412735" y="3212059"/>
            <a:chExt cx="2016125" cy="1336433"/>
          </a:xfrm>
        </p:grpSpPr>
        <p:sp>
          <p:nvSpPr>
            <p:cNvPr id="124853" name="Rectangle 949"/>
            <p:cNvSpPr>
              <a:spLocks noChangeArrowheads="1"/>
            </p:cNvSpPr>
            <p:nvPr/>
          </p:nvSpPr>
          <p:spPr bwMode="auto">
            <a:xfrm>
              <a:off x="1157332" y="3212976"/>
              <a:ext cx="108000" cy="1335516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noFill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854" name="Rectangle 950"/>
            <p:cNvSpPr>
              <a:spLocks noChangeArrowheads="1"/>
            </p:cNvSpPr>
            <p:nvPr/>
          </p:nvSpPr>
          <p:spPr bwMode="auto">
            <a:xfrm>
              <a:off x="1259235" y="3212059"/>
              <a:ext cx="1152525" cy="133643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858" name="Text Box 954"/>
            <p:cNvSpPr txBox="1">
              <a:spLocks noChangeArrowheads="1"/>
            </p:cNvSpPr>
            <p:nvPr/>
          </p:nvSpPr>
          <p:spPr bwMode="auto">
            <a:xfrm>
              <a:off x="412735" y="3212059"/>
              <a:ext cx="2016125" cy="13364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/>
            <a:lstStyle/>
            <a:p>
              <a:pPr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(000H)00000000000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 …      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…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(3FFH)01111111111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(400H)10000000000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 …       …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(7FFH)11111111111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124870" name="AutoShape 96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302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5" name="组合 94"/>
          <p:cNvGrpSpPr/>
          <p:nvPr/>
        </p:nvGrpSpPr>
        <p:grpSpPr>
          <a:xfrm>
            <a:off x="2627511" y="2636912"/>
            <a:ext cx="1368425" cy="1624439"/>
            <a:chOff x="2635250" y="3795072"/>
            <a:chExt cx="1368425" cy="1624439"/>
          </a:xfrm>
        </p:grpSpPr>
        <p:sp>
          <p:nvSpPr>
            <p:cNvPr id="92" name="Text Box 952"/>
            <p:cNvSpPr txBox="1">
              <a:spLocks noChangeArrowheads="1"/>
            </p:cNvSpPr>
            <p:nvPr/>
          </p:nvSpPr>
          <p:spPr bwMode="auto">
            <a:xfrm>
              <a:off x="2635250" y="3795072"/>
              <a:ext cx="1366838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b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3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  …  b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93" name="Rectangle 953"/>
            <p:cNvSpPr>
              <a:spLocks noChangeArrowheads="1"/>
            </p:cNvSpPr>
            <p:nvPr/>
          </p:nvSpPr>
          <p:spPr bwMode="auto">
            <a:xfrm>
              <a:off x="2635250" y="4735513"/>
              <a:ext cx="1368425" cy="68399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/>
              <a:r>
                <a:rPr lang="en-US" altLang="zh-CN" sz="2000" b="1" u="none" dirty="0">
                  <a:latin typeface="宋体" panose="02010600030101010101" pitchFamily="2" charset="-122"/>
                </a:rPr>
                <a:t>1K×4b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2000" b="1" u="none" dirty="0">
                  <a:latin typeface="宋体" panose="02010600030101010101" pitchFamily="2" charset="-122"/>
                </a:rPr>
                <a:t>(1#)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4" name="Rectangle 955"/>
            <p:cNvSpPr>
              <a:spLocks noChangeArrowheads="1"/>
            </p:cNvSpPr>
            <p:nvPr/>
          </p:nvSpPr>
          <p:spPr bwMode="auto">
            <a:xfrm>
              <a:off x="2635250" y="4083997"/>
              <a:ext cx="1368425" cy="651516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/>
              <a:r>
                <a:rPr lang="en-US" altLang="zh-CN" sz="2000" b="1" u="none" dirty="0">
                  <a:latin typeface="宋体" panose="02010600030101010101" pitchFamily="2" charset="-122"/>
                </a:rPr>
                <a:t>1K×4b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2000" b="1" u="none" dirty="0">
                  <a:latin typeface="宋体" panose="02010600030101010101" pitchFamily="2" charset="-122"/>
                </a:rPr>
                <a:t>(0#)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</p:grpSp>
      <p:sp>
        <p:nvSpPr>
          <p:cNvPr id="101" name="Text Box 958"/>
          <p:cNvSpPr txBox="1">
            <a:spLocks noChangeArrowheads="1"/>
          </p:cNvSpPr>
          <p:nvPr/>
        </p:nvSpPr>
        <p:spPr bwMode="auto">
          <a:xfrm>
            <a:off x="179512" y="5899338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练习</a:t>
            </a: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1—</a:t>
            </a:r>
            <a:r>
              <a:rPr lang="zh-CN" altLang="en-US" b="1" u="none" dirty="0">
                <a:latin typeface="宋体" panose="02010600030101010101" pitchFamily="2" charset="-122"/>
              </a:rPr>
              <a:t>用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1M×4b SRAM</a:t>
            </a:r>
            <a:r>
              <a:rPr lang="zh-CN" altLang="en-US" b="1" u="none" dirty="0">
                <a:latin typeface="宋体" panose="02010600030101010101" pitchFamily="2" charset="-122"/>
              </a:rPr>
              <a:t>芯片构成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4M×4b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的存储模块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102" name="AutoShape 966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" name="Rectangle 281"/>
          <p:cNvSpPr>
            <a:spLocks noChangeArrowheads="1"/>
          </p:cNvSpPr>
          <p:nvPr/>
        </p:nvSpPr>
        <p:spPr bwMode="auto">
          <a:xfrm>
            <a:off x="2627510" y="3933056"/>
            <a:ext cx="1362725" cy="236346"/>
          </a:xfrm>
          <a:prstGeom prst="rect">
            <a:avLst/>
          </a:prstGeom>
          <a:solidFill>
            <a:srgbClr val="FFCCFF">
              <a:alpha val="80000"/>
            </a:srgbClr>
          </a:solidFill>
          <a:ln w="12700">
            <a:solidFill>
              <a:srgbClr val="CC99FF"/>
            </a:solidFill>
            <a:prstDash val="sysDash"/>
            <a:miter lim="800000"/>
            <a:tailEnd type="non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704970" y="5085184"/>
            <a:ext cx="5538297" cy="553998"/>
            <a:chOff x="2489196" y="5373216"/>
            <a:chExt cx="5538297" cy="553998"/>
          </a:xfrm>
        </p:grpSpPr>
        <p:sp>
          <p:nvSpPr>
            <p:cNvPr id="124861" name="Text Box 957"/>
            <p:cNvSpPr txBox="1">
              <a:spLocks noChangeArrowheads="1"/>
            </p:cNvSpPr>
            <p:nvPr/>
          </p:nvSpPr>
          <p:spPr bwMode="auto">
            <a:xfrm>
              <a:off x="2489196" y="5373216"/>
              <a:ext cx="5538297" cy="55399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rIns="1800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b="1" u="none" dirty="0" smtClean="0">
                  <a:latin typeface="宋体" panose="02010600030101010101" pitchFamily="2" charset="-122"/>
                </a:rPr>
                <a:t>0</a:t>
              </a:r>
              <a:r>
                <a:rPr lang="en-US" altLang="zh-CN" b="1" u="none" dirty="0">
                  <a:latin typeface="宋体" panose="02010600030101010101" pitchFamily="2" charset="-122"/>
                </a:rPr>
                <a:t>#</a:t>
              </a:r>
              <a:r>
                <a:rPr lang="zh-CN" altLang="en-US" b="1" u="none" dirty="0">
                  <a:latin typeface="宋体" panose="02010600030101010101" pitchFamily="2" charset="-122"/>
                </a:rPr>
                <a:t>、</a:t>
              </a:r>
              <a:r>
                <a:rPr lang="en-US" altLang="zh-CN" b="1" u="none" dirty="0">
                  <a:latin typeface="宋体" panose="02010600030101010101" pitchFamily="2" charset="-122"/>
                </a:rPr>
                <a:t>1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#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芯片片选的逻辑为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CS</a:t>
              </a:r>
              <a:r>
                <a:rPr lang="en-US" altLang="zh-CN" b="1" u="none" dirty="0" smtClean="0">
                  <a:latin typeface="+mn-lt"/>
                </a:rPr>
                <a:t>·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b="1" u="none" baseline="-18000" dirty="0" smtClean="0">
                  <a:latin typeface="宋体" panose="02010600030101010101" pitchFamily="2" charset="-122"/>
                </a:rPr>
                <a:t>10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、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CS</a:t>
              </a:r>
              <a:r>
                <a:rPr lang="en-US" altLang="zh-CN" b="1" u="none" dirty="0"/>
                <a:t>·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b="1" u="none" baseline="-20000" dirty="0" smtClean="0">
                  <a:latin typeface="宋体" panose="02010600030101010101" pitchFamily="2" charset="-122"/>
                </a:rPr>
                <a:t>10</a:t>
              </a:r>
              <a:endParaRPr lang="en-US" altLang="zh-CN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96" name="直接连接符 95"/>
            <p:cNvCxnSpPr/>
            <p:nvPr/>
          </p:nvCxnSpPr>
          <p:spPr bwMode="auto">
            <a:xfrm>
              <a:off x="6372225" y="5508032"/>
              <a:ext cx="324000" cy="1588"/>
            </a:xfrm>
            <a:prstGeom prst="line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8" name="直接连接符 97"/>
            <p:cNvCxnSpPr/>
            <p:nvPr/>
          </p:nvCxnSpPr>
          <p:spPr bwMode="auto">
            <a:xfrm>
              <a:off x="5976226" y="5436032"/>
              <a:ext cx="756000" cy="0"/>
            </a:xfrm>
            <a:prstGeom prst="line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直接连接符 98"/>
            <p:cNvCxnSpPr/>
            <p:nvPr/>
          </p:nvCxnSpPr>
          <p:spPr bwMode="auto">
            <a:xfrm>
              <a:off x="7020226" y="5508032"/>
              <a:ext cx="707934" cy="0"/>
            </a:xfrm>
            <a:prstGeom prst="line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直接连接符 106"/>
            <p:cNvCxnSpPr/>
            <p:nvPr/>
          </p:nvCxnSpPr>
          <p:spPr bwMode="auto">
            <a:xfrm>
              <a:off x="5976226" y="5526032"/>
              <a:ext cx="285753" cy="1588"/>
            </a:xfrm>
            <a:prstGeom prst="line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直接连接符 107"/>
            <p:cNvCxnSpPr/>
            <p:nvPr/>
          </p:nvCxnSpPr>
          <p:spPr bwMode="auto">
            <a:xfrm>
              <a:off x="5969245" y="5490032"/>
              <a:ext cx="314328" cy="1588"/>
            </a:xfrm>
            <a:prstGeom prst="line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58" name="Text Box 58"/>
          <p:cNvSpPr txBox="1">
            <a:spLocks noChangeArrowheads="1"/>
          </p:cNvSpPr>
          <p:nvPr/>
        </p:nvSpPr>
        <p:spPr bwMode="auto">
          <a:xfrm>
            <a:off x="2051720" y="786770"/>
            <a:ext cx="6875214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片选引脚</a:t>
            </a:r>
            <a:r>
              <a:rPr lang="zh-CN" altLang="en-US" b="1" u="none" dirty="0">
                <a:latin typeface="宋体" panose="02010600030101010101" pitchFamily="2" charset="-122"/>
              </a:rPr>
              <a:t>连接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不同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选择存储字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，其余相同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并联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zh-CN" altLang="en-US" sz="3200" b="1" u="none" dirty="0">
              <a:latin typeface="宋体" panose="02010600030101010101" pitchFamily="2" charset="-122"/>
            </a:endParaRPr>
          </a:p>
        </p:txBody>
      </p:sp>
      <p:grpSp>
        <p:nvGrpSpPr>
          <p:cNvPr id="159" name="组合 158"/>
          <p:cNvGrpSpPr/>
          <p:nvPr/>
        </p:nvGrpSpPr>
        <p:grpSpPr>
          <a:xfrm>
            <a:off x="4283893" y="2873279"/>
            <a:ext cx="4392563" cy="1347809"/>
            <a:chOff x="4283893" y="3387472"/>
            <a:chExt cx="4392563" cy="1347809"/>
          </a:xfrm>
        </p:grpSpPr>
        <p:sp>
          <p:nvSpPr>
            <p:cNvPr id="160" name="Rectangle 749"/>
            <p:cNvSpPr>
              <a:spLocks noChangeArrowheads="1"/>
            </p:cNvSpPr>
            <p:nvPr/>
          </p:nvSpPr>
          <p:spPr bwMode="auto">
            <a:xfrm>
              <a:off x="5074468" y="3387473"/>
              <a:ext cx="3601988" cy="134780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" name="Text Box 750"/>
            <p:cNvSpPr txBox="1">
              <a:spLocks noChangeArrowheads="1"/>
            </p:cNvSpPr>
            <p:nvPr/>
          </p:nvSpPr>
          <p:spPr bwMode="auto">
            <a:xfrm>
              <a:off x="4283893" y="3633741"/>
              <a:ext cx="577181" cy="22730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9</a:t>
              </a:r>
              <a:r>
                <a:rPr lang="en-US" altLang="zh-CN" sz="1800" b="1" u="none" dirty="0" smtClean="0"/>
                <a:t>~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2" name="Text Box 751"/>
            <p:cNvSpPr txBox="1">
              <a:spLocks noChangeArrowheads="1"/>
            </p:cNvSpPr>
            <p:nvPr/>
          </p:nvSpPr>
          <p:spPr bwMode="auto">
            <a:xfrm>
              <a:off x="4283893" y="4005064"/>
              <a:ext cx="576263" cy="2160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3</a:t>
              </a:r>
              <a:r>
                <a:rPr lang="en-US" altLang="zh-CN" sz="1800" b="1" u="none" dirty="0">
                  <a:latin typeface="+mn-lt"/>
                </a:rPr>
                <a:t>~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3" name="Text Box 753"/>
            <p:cNvSpPr txBox="1">
              <a:spLocks noChangeArrowheads="1"/>
            </p:cNvSpPr>
            <p:nvPr/>
          </p:nvSpPr>
          <p:spPr bwMode="auto">
            <a:xfrm>
              <a:off x="4572371" y="4293096"/>
              <a:ext cx="287338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WE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4" name="Line 754"/>
            <p:cNvSpPr>
              <a:spLocks noChangeShapeType="1"/>
            </p:cNvSpPr>
            <p:nvPr/>
          </p:nvSpPr>
          <p:spPr bwMode="auto">
            <a:xfrm>
              <a:off x="4591421" y="4296906"/>
              <a:ext cx="23495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  <p:sp>
          <p:nvSpPr>
            <p:cNvPr id="165" name="Text Box 755"/>
            <p:cNvSpPr txBox="1">
              <a:spLocks noChangeArrowheads="1"/>
            </p:cNvSpPr>
            <p:nvPr/>
          </p:nvSpPr>
          <p:spPr bwMode="auto">
            <a:xfrm>
              <a:off x="5436145" y="3717726"/>
              <a:ext cx="1008063" cy="5762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1K×4b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SRAM(0#)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6" name="Line 757"/>
            <p:cNvSpPr>
              <a:spLocks noChangeShapeType="1"/>
            </p:cNvSpPr>
            <p:nvPr/>
          </p:nvSpPr>
          <p:spPr bwMode="auto">
            <a:xfrm flipV="1">
              <a:off x="4860156" y="3789040"/>
              <a:ext cx="432320" cy="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Line 758"/>
            <p:cNvSpPr>
              <a:spLocks noChangeShapeType="1"/>
            </p:cNvSpPr>
            <p:nvPr/>
          </p:nvSpPr>
          <p:spPr bwMode="auto">
            <a:xfrm>
              <a:off x="4860156" y="4149079"/>
              <a:ext cx="432320" cy="1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Line 762"/>
            <p:cNvSpPr>
              <a:spLocks noChangeShapeType="1"/>
            </p:cNvSpPr>
            <p:nvPr/>
          </p:nvSpPr>
          <p:spPr bwMode="auto">
            <a:xfrm>
              <a:off x="4860155" y="4437111"/>
              <a:ext cx="287909" cy="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Line 763"/>
            <p:cNvSpPr>
              <a:spLocks noChangeShapeType="1"/>
            </p:cNvSpPr>
            <p:nvPr/>
          </p:nvSpPr>
          <p:spPr bwMode="auto">
            <a:xfrm flipV="1">
              <a:off x="4860156" y="4653136"/>
              <a:ext cx="2159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Text Box 766"/>
            <p:cNvSpPr txBox="1">
              <a:spLocks noChangeArrowheads="1"/>
            </p:cNvSpPr>
            <p:nvPr/>
          </p:nvSpPr>
          <p:spPr bwMode="auto">
            <a:xfrm>
              <a:off x="4572371" y="4519280"/>
              <a:ext cx="287338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CS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71" name="Line 767"/>
            <p:cNvSpPr>
              <a:spLocks noChangeShapeType="1"/>
            </p:cNvSpPr>
            <p:nvPr/>
          </p:nvSpPr>
          <p:spPr bwMode="auto">
            <a:xfrm>
              <a:off x="4591421" y="4533250"/>
              <a:ext cx="23495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  <p:sp>
          <p:nvSpPr>
            <p:cNvPr id="172" name="Text Box 771"/>
            <p:cNvSpPr txBox="1">
              <a:spLocks noChangeArrowheads="1"/>
            </p:cNvSpPr>
            <p:nvPr/>
          </p:nvSpPr>
          <p:spPr bwMode="auto">
            <a:xfrm>
              <a:off x="4499793" y="3387472"/>
              <a:ext cx="360363" cy="19631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10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3" name="Line 772"/>
            <p:cNvSpPr>
              <a:spLocks noChangeShapeType="1"/>
            </p:cNvSpPr>
            <p:nvPr/>
          </p:nvSpPr>
          <p:spPr bwMode="auto">
            <a:xfrm flipV="1">
              <a:off x="4858568" y="3475632"/>
              <a:ext cx="2159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Text Box 915"/>
            <p:cNvSpPr txBox="1">
              <a:spLocks noChangeArrowheads="1"/>
            </p:cNvSpPr>
            <p:nvPr/>
          </p:nvSpPr>
          <p:spPr bwMode="auto">
            <a:xfrm>
              <a:off x="7091114" y="3717032"/>
              <a:ext cx="1008063" cy="5762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1K×4b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SRAM(1#)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75" name="组合 174"/>
          <p:cNvGrpSpPr/>
          <p:nvPr/>
        </p:nvGrpSpPr>
        <p:grpSpPr>
          <a:xfrm>
            <a:off x="5148064" y="3055623"/>
            <a:ext cx="2665885" cy="944203"/>
            <a:chOff x="5148064" y="3569816"/>
            <a:chExt cx="2665885" cy="944203"/>
          </a:xfrm>
        </p:grpSpPr>
        <p:sp>
          <p:nvSpPr>
            <p:cNvPr id="176" name="Line 776"/>
            <p:cNvSpPr>
              <a:spLocks noChangeShapeType="1"/>
            </p:cNvSpPr>
            <p:nvPr/>
          </p:nvSpPr>
          <p:spPr bwMode="auto">
            <a:xfrm>
              <a:off x="5292476" y="4430786"/>
              <a:ext cx="2161432" cy="6326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Line 777"/>
            <p:cNvSpPr>
              <a:spLocks noChangeShapeType="1"/>
            </p:cNvSpPr>
            <p:nvPr/>
          </p:nvSpPr>
          <p:spPr bwMode="auto">
            <a:xfrm>
              <a:off x="5148065" y="4509096"/>
              <a:ext cx="2665884" cy="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780"/>
            <p:cNvSpPr>
              <a:spLocks noChangeShapeType="1"/>
            </p:cNvSpPr>
            <p:nvPr/>
          </p:nvSpPr>
          <p:spPr bwMode="auto">
            <a:xfrm flipH="1">
              <a:off x="5796136" y="4289897"/>
              <a:ext cx="0" cy="144016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781"/>
            <p:cNvSpPr>
              <a:spLocks noChangeShapeType="1"/>
            </p:cNvSpPr>
            <p:nvPr/>
          </p:nvSpPr>
          <p:spPr bwMode="auto">
            <a:xfrm flipH="1">
              <a:off x="6156176" y="4290268"/>
              <a:ext cx="0" cy="218852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789"/>
            <p:cNvSpPr>
              <a:spLocks noChangeShapeType="1"/>
            </p:cNvSpPr>
            <p:nvPr/>
          </p:nvSpPr>
          <p:spPr bwMode="auto">
            <a:xfrm>
              <a:off x="5940152" y="3569816"/>
              <a:ext cx="1588" cy="144016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916"/>
            <p:cNvSpPr>
              <a:spLocks noChangeShapeType="1"/>
            </p:cNvSpPr>
            <p:nvPr/>
          </p:nvSpPr>
          <p:spPr bwMode="auto">
            <a:xfrm>
              <a:off x="7452320" y="4286500"/>
              <a:ext cx="1588" cy="147412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Line 917"/>
            <p:cNvSpPr>
              <a:spLocks noChangeShapeType="1"/>
            </p:cNvSpPr>
            <p:nvPr/>
          </p:nvSpPr>
          <p:spPr bwMode="auto">
            <a:xfrm flipH="1">
              <a:off x="7813154" y="4290268"/>
              <a:ext cx="794" cy="218828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Line 922"/>
            <p:cNvSpPr>
              <a:spLocks noChangeShapeType="1"/>
            </p:cNvSpPr>
            <p:nvPr/>
          </p:nvSpPr>
          <p:spPr bwMode="auto">
            <a:xfrm>
              <a:off x="7596336" y="3569816"/>
              <a:ext cx="0" cy="144016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776"/>
            <p:cNvSpPr>
              <a:spLocks noChangeShapeType="1"/>
            </p:cNvSpPr>
            <p:nvPr/>
          </p:nvSpPr>
          <p:spPr bwMode="auto">
            <a:xfrm>
              <a:off x="5292081" y="3569816"/>
              <a:ext cx="2304256" cy="1600"/>
            </a:xfrm>
            <a:prstGeom prst="line">
              <a:avLst/>
            </a:prstGeom>
            <a:noFill/>
            <a:ln w="38100" cmpd="dbl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758"/>
            <p:cNvSpPr>
              <a:spLocks noChangeShapeType="1"/>
            </p:cNvSpPr>
            <p:nvPr/>
          </p:nvSpPr>
          <p:spPr bwMode="auto">
            <a:xfrm>
              <a:off x="5292476" y="4149081"/>
              <a:ext cx="0" cy="288032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Line 758"/>
            <p:cNvSpPr>
              <a:spLocks noChangeShapeType="1"/>
            </p:cNvSpPr>
            <p:nvPr/>
          </p:nvSpPr>
          <p:spPr bwMode="auto">
            <a:xfrm>
              <a:off x="5292080" y="3573016"/>
              <a:ext cx="396" cy="216024"/>
            </a:xfrm>
            <a:prstGeom prst="line">
              <a:avLst/>
            </a:prstGeom>
            <a:noFill/>
            <a:ln w="38100" cmpd="dbl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Line 762"/>
            <p:cNvSpPr>
              <a:spLocks noChangeShapeType="1"/>
            </p:cNvSpPr>
            <p:nvPr/>
          </p:nvSpPr>
          <p:spPr bwMode="auto">
            <a:xfrm>
              <a:off x="5148064" y="4437112"/>
              <a:ext cx="1" cy="7690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8" name="组合 187"/>
          <p:cNvGrpSpPr/>
          <p:nvPr/>
        </p:nvGrpSpPr>
        <p:grpSpPr>
          <a:xfrm>
            <a:off x="5076055" y="2961415"/>
            <a:ext cx="3529163" cy="1177528"/>
            <a:chOff x="4715943" y="3259584"/>
            <a:chExt cx="3529163" cy="1177528"/>
          </a:xfrm>
        </p:grpSpPr>
        <p:sp>
          <p:nvSpPr>
            <p:cNvPr id="189" name="Line 783"/>
            <p:cNvSpPr>
              <a:spLocks noChangeShapeType="1"/>
            </p:cNvSpPr>
            <p:nvPr/>
          </p:nvSpPr>
          <p:spPr bwMode="auto">
            <a:xfrm>
              <a:off x="6083300" y="3806825"/>
              <a:ext cx="14287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Text Box 909"/>
            <p:cNvSpPr txBox="1">
              <a:spLocks noChangeArrowheads="1"/>
            </p:cNvSpPr>
            <p:nvPr/>
          </p:nvSpPr>
          <p:spPr bwMode="auto">
            <a:xfrm>
              <a:off x="6302375" y="3644131"/>
              <a:ext cx="144463" cy="288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91" name="Oval 910"/>
            <p:cNvSpPr>
              <a:spLocks noChangeArrowheads="1"/>
            </p:cNvSpPr>
            <p:nvPr/>
          </p:nvSpPr>
          <p:spPr bwMode="auto">
            <a:xfrm>
              <a:off x="6226175" y="3775894"/>
              <a:ext cx="71438" cy="714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" name="Oval 911"/>
            <p:cNvSpPr>
              <a:spLocks noChangeArrowheads="1"/>
            </p:cNvSpPr>
            <p:nvPr/>
          </p:nvSpPr>
          <p:spPr bwMode="auto">
            <a:xfrm>
              <a:off x="6442075" y="3821931"/>
              <a:ext cx="71438" cy="714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3" name="Oval 912"/>
            <p:cNvSpPr>
              <a:spLocks noChangeArrowheads="1"/>
            </p:cNvSpPr>
            <p:nvPr/>
          </p:nvSpPr>
          <p:spPr bwMode="auto">
            <a:xfrm>
              <a:off x="6446838" y="3688581"/>
              <a:ext cx="71438" cy="714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" name="Line 913"/>
            <p:cNvSpPr>
              <a:spLocks noChangeShapeType="1"/>
            </p:cNvSpPr>
            <p:nvPr/>
          </p:nvSpPr>
          <p:spPr bwMode="auto">
            <a:xfrm>
              <a:off x="6515100" y="3860031"/>
              <a:ext cx="7143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Line 914"/>
            <p:cNvSpPr>
              <a:spLocks noChangeShapeType="1"/>
            </p:cNvSpPr>
            <p:nvPr/>
          </p:nvSpPr>
          <p:spPr bwMode="auto">
            <a:xfrm>
              <a:off x="6515100" y="3715569"/>
              <a:ext cx="7143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Line 784"/>
            <p:cNvSpPr>
              <a:spLocks noChangeShapeType="1"/>
            </p:cNvSpPr>
            <p:nvPr/>
          </p:nvSpPr>
          <p:spPr bwMode="auto">
            <a:xfrm>
              <a:off x="6586538" y="3860031"/>
              <a:ext cx="0" cy="57708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821"/>
            <p:cNvSpPr>
              <a:spLocks noChangeShapeType="1"/>
            </p:cNvSpPr>
            <p:nvPr/>
          </p:nvSpPr>
          <p:spPr bwMode="auto">
            <a:xfrm>
              <a:off x="6586538" y="3259584"/>
              <a:ext cx="0" cy="45598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919"/>
            <p:cNvSpPr>
              <a:spLocks noChangeShapeType="1"/>
            </p:cNvSpPr>
            <p:nvPr/>
          </p:nvSpPr>
          <p:spPr bwMode="auto">
            <a:xfrm>
              <a:off x="7740280" y="3789040"/>
              <a:ext cx="14287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920"/>
            <p:cNvSpPr>
              <a:spLocks noChangeShapeType="1"/>
            </p:cNvSpPr>
            <p:nvPr/>
          </p:nvSpPr>
          <p:spPr bwMode="auto">
            <a:xfrm flipH="1">
              <a:off x="8245105" y="3860031"/>
              <a:ext cx="0" cy="57708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928"/>
            <p:cNvSpPr>
              <a:spLocks noChangeShapeType="1"/>
            </p:cNvSpPr>
            <p:nvPr/>
          </p:nvSpPr>
          <p:spPr bwMode="auto">
            <a:xfrm>
              <a:off x="8243516" y="3259585"/>
              <a:ext cx="2" cy="455984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head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Text Box 929"/>
            <p:cNvSpPr txBox="1">
              <a:spLocks noChangeArrowheads="1"/>
            </p:cNvSpPr>
            <p:nvPr/>
          </p:nvSpPr>
          <p:spPr bwMode="auto">
            <a:xfrm>
              <a:off x="7959355" y="3644131"/>
              <a:ext cx="144463" cy="288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02" name="Oval 930"/>
            <p:cNvSpPr>
              <a:spLocks noChangeArrowheads="1"/>
            </p:cNvSpPr>
            <p:nvPr/>
          </p:nvSpPr>
          <p:spPr bwMode="auto">
            <a:xfrm>
              <a:off x="7883155" y="3755574"/>
              <a:ext cx="71438" cy="714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" name="Oval 931"/>
            <p:cNvSpPr>
              <a:spLocks noChangeArrowheads="1"/>
            </p:cNvSpPr>
            <p:nvPr/>
          </p:nvSpPr>
          <p:spPr bwMode="auto">
            <a:xfrm>
              <a:off x="8099055" y="3821931"/>
              <a:ext cx="71438" cy="714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" name="Line 933"/>
            <p:cNvSpPr>
              <a:spLocks noChangeShapeType="1"/>
            </p:cNvSpPr>
            <p:nvPr/>
          </p:nvSpPr>
          <p:spPr bwMode="auto">
            <a:xfrm>
              <a:off x="8172080" y="3860031"/>
              <a:ext cx="7143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Line 934"/>
            <p:cNvSpPr>
              <a:spLocks noChangeShapeType="1"/>
            </p:cNvSpPr>
            <p:nvPr/>
          </p:nvSpPr>
          <p:spPr bwMode="auto">
            <a:xfrm>
              <a:off x="8100643" y="3715569"/>
              <a:ext cx="14446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779"/>
            <p:cNvSpPr>
              <a:spLocks noChangeShapeType="1"/>
            </p:cNvSpPr>
            <p:nvPr/>
          </p:nvSpPr>
          <p:spPr bwMode="auto">
            <a:xfrm>
              <a:off x="4715944" y="4437112"/>
              <a:ext cx="3529162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817"/>
            <p:cNvSpPr>
              <a:spLocks noChangeShapeType="1"/>
            </p:cNvSpPr>
            <p:nvPr/>
          </p:nvSpPr>
          <p:spPr bwMode="auto">
            <a:xfrm>
              <a:off x="4715943" y="3259608"/>
              <a:ext cx="3527573" cy="768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" name="AutoShape 331"/>
          <p:cNvSpPr/>
          <p:nvPr/>
        </p:nvSpPr>
        <p:spPr bwMode="auto">
          <a:xfrm>
            <a:off x="3276336" y="4365104"/>
            <a:ext cx="3888000" cy="252000"/>
          </a:xfrm>
          <a:prstGeom prst="borderCallout2">
            <a:avLst>
              <a:gd name="adj1" fmla="val 50061"/>
              <a:gd name="adj2" fmla="val 82"/>
              <a:gd name="adj3" fmla="val 46760"/>
              <a:gd name="adj4" fmla="val -6593"/>
              <a:gd name="adj5" fmla="val -114100"/>
              <a:gd name="adj6" fmla="val -9695"/>
            </a:avLst>
          </a:prstGeom>
          <a:solidFill>
            <a:schemeClr val="bg1"/>
          </a:solidFill>
          <a:ln w="12700">
            <a:solidFill>
              <a:srgbClr val="990099"/>
            </a:solidFill>
            <a:prstDash val="sysDash"/>
            <a:miter lim="800000"/>
            <a:headEnd type="none" w="sm" len="med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/>
            <a:r>
              <a:rPr lang="zh-CN" altLang="en-US" sz="1600" b="1" u="none" dirty="0" smtClean="0">
                <a:latin typeface="+mn-ea"/>
                <a:ea typeface="+mn-ea"/>
              </a:rPr>
              <a:t>访问</a:t>
            </a:r>
            <a:r>
              <a:rPr lang="zh-CN" altLang="en-US" sz="1600" b="1" u="none" dirty="0" smtClean="0">
                <a:solidFill>
                  <a:srgbClr val="990099"/>
                </a:solidFill>
                <a:latin typeface="+mn-ea"/>
                <a:ea typeface="+mn-ea"/>
              </a:rPr>
              <a:t>某</a:t>
            </a:r>
            <a:r>
              <a:rPr lang="zh-CN" altLang="en-US" sz="1600" b="1" u="none" dirty="0">
                <a:solidFill>
                  <a:srgbClr val="990099"/>
                </a:solidFill>
                <a:latin typeface="+mn-ea"/>
                <a:ea typeface="+mn-ea"/>
              </a:rPr>
              <a:t>个</a:t>
            </a:r>
            <a:r>
              <a:rPr lang="zh-CN" altLang="en-US" sz="1600" b="1" u="none" dirty="0" smtClean="0">
                <a:latin typeface="+mn-ea"/>
                <a:ea typeface="+mn-ea"/>
              </a:rPr>
              <a:t>芯片单元</a:t>
            </a:r>
            <a:r>
              <a:rPr lang="en-US" altLang="zh-CN" sz="1600" b="1" u="none" dirty="0" smtClean="0">
                <a:latin typeface="+mn-ea"/>
                <a:ea typeface="+mn-ea"/>
              </a:rPr>
              <a:t>(</a:t>
            </a:r>
            <a:r>
              <a:rPr lang="zh-CN" altLang="en-US" sz="1600" b="1" u="none" dirty="0" smtClean="0">
                <a:latin typeface="+mn-ea"/>
                <a:ea typeface="+mn-ea"/>
              </a:rPr>
              <a:t>地址＝</a:t>
            </a:r>
            <a:r>
              <a:rPr lang="zh-CN" altLang="en-US" sz="1600" b="1" u="none" dirty="0" smtClean="0">
                <a:solidFill>
                  <a:srgbClr val="FF3399"/>
                </a:solidFill>
                <a:latin typeface="+mn-ea"/>
                <a:ea typeface="+mn-ea"/>
              </a:rPr>
              <a:t>模块</a:t>
            </a:r>
            <a:r>
              <a:rPr lang="zh-CN" altLang="en-US" sz="1600" b="1" u="none" dirty="0">
                <a:solidFill>
                  <a:srgbClr val="FF3399"/>
                </a:solidFill>
                <a:latin typeface="+mn-ea"/>
                <a:ea typeface="+mn-ea"/>
              </a:rPr>
              <a:t>地址</a:t>
            </a:r>
            <a:r>
              <a:rPr lang="zh-CN" altLang="en-US" sz="1600" b="1" u="none" dirty="0" smtClean="0">
                <a:solidFill>
                  <a:srgbClr val="FF3399"/>
                </a:solidFill>
                <a:latin typeface="+mn-ea"/>
                <a:ea typeface="+mn-ea"/>
              </a:rPr>
              <a:t>低位</a:t>
            </a:r>
            <a:r>
              <a:rPr lang="en-US" altLang="zh-CN" sz="1600" b="1" u="none" dirty="0" smtClean="0">
                <a:latin typeface="+mn-ea"/>
                <a:ea typeface="+mn-ea"/>
              </a:rPr>
              <a:t>)</a:t>
            </a:r>
            <a:endParaRPr lang="zh-CN" altLang="en-US" sz="1600" b="1" u="none" dirty="0">
              <a:latin typeface="+mn-ea"/>
              <a:ea typeface="+mn-ea"/>
            </a:endParaRPr>
          </a:p>
        </p:txBody>
      </p:sp>
      <p:sp>
        <p:nvSpPr>
          <p:cNvPr id="78" name="Text Box 726"/>
          <p:cNvSpPr txBox="1">
            <a:spLocks noChangeArrowheads="1"/>
          </p:cNvSpPr>
          <p:nvPr/>
        </p:nvSpPr>
        <p:spPr bwMode="auto">
          <a:xfrm>
            <a:off x="1257378" y="5616000"/>
            <a:ext cx="5618878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marL="1078230" indent="-1078230">
              <a:lnSpc>
                <a:spcPct val="100000"/>
              </a:lnSpc>
            </a:pPr>
            <a:r>
              <a:rPr lang="zh-CN" altLang="en-US" sz="1800" dirty="0"/>
              <a:t>思考</a:t>
            </a:r>
            <a:r>
              <a:rPr lang="zh-CN" altLang="en-US" sz="1800" dirty="0" smtClean="0"/>
              <a:t>：</a:t>
            </a:r>
            <a:r>
              <a:rPr lang="en-US" altLang="zh-CN" sz="1800" dirty="0" smtClean="0">
                <a:solidFill>
                  <a:schemeClr val="tx1"/>
                </a:solidFill>
              </a:rPr>
              <a:t>SRAM</a:t>
            </a:r>
            <a:r>
              <a:rPr lang="zh-CN" altLang="en-US" sz="1800" dirty="0" smtClean="0">
                <a:solidFill>
                  <a:schemeClr val="tx1"/>
                </a:solidFill>
              </a:rPr>
              <a:t>位扩展、字扩展的芯片连接方法为何不同？</a:t>
            </a:r>
            <a:endParaRPr lang="zh-CN" altLang="en-US" sz="18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4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4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4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4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648" grpId="0"/>
      <p:bldP spid="124647" grpId="0"/>
      <p:bldP spid="100" grpId="0"/>
      <p:bldP spid="101" grpId="0"/>
      <p:bldP spid="103" grpId="0" animBg="1"/>
      <p:bldP spid="158" grpId="0"/>
      <p:bldP spid="106" grpId="0" animBg="1"/>
      <p:bldP spid="78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69C4-5AA3-4F48-AAA7-4274D4D06757}" type="slidenum">
              <a:rPr lang="en-US" altLang="zh-CN"/>
            </a:fld>
            <a:endParaRPr lang="en-US" altLang="zh-CN"/>
          </a:p>
        </p:txBody>
      </p:sp>
      <p:sp>
        <p:nvSpPr>
          <p:cNvPr id="448646" name="Text Box 134"/>
          <p:cNvSpPr txBox="1">
            <a:spLocks noChangeArrowheads="1"/>
          </p:cNvSpPr>
          <p:nvPr/>
        </p:nvSpPr>
        <p:spPr bwMode="auto">
          <a:xfrm>
            <a:off x="179388" y="332656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4—</a:t>
            </a:r>
            <a:r>
              <a:rPr lang="zh-CN" altLang="en-US" b="1" u="none" dirty="0">
                <a:latin typeface="宋体" panose="02010600030101010101" pitchFamily="2" charset="-122"/>
              </a:rPr>
              <a:t>用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1K×4b </a:t>
            </a:r>
            <a:r>
              <a:rPr lang="en-US" altLang="zh-CN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DRAM</a:t>
            </a:r>
            <a:r>
              <a:rPr lang="zh-CN" altLang="en-US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芯片</a:t>
            </a:r>
            <a:r>
              <a:rPr lang="zh-CN" altLang="en-US" b="1" u="none" dirty="0">
                <a:latin typeface="宋体" panose="02010600030101010101" pitchFamily="2" charset="-122"/>
              </a:rPr>
              <a:t>构成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4K×4b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的存储模块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解</a:t>
            </a: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449142" name="AutoShape 63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9145" name="Text Box 633"/>
          <p:cNvSpPr txBox="1">
            <a:spLocks noChangeArrowheads="1"/>
          </p:cNvSpPr>
          <p:nvPr/>
        </p:nvSpPr>
        <p:spPr bwMode="auto">
          <a:xfrm>
            <a:off x="179388" y="764704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所</a:t>
            </a:r>
            <a:r>
              <a:rPr lang="zh-CN" altLang="en-US" b="1" u="none" dirty="0">
                <a:latin typeface="宋体" panose="02010600030101010101" pitchFamily="2" charset="-122"/>
              </a:rPr>
              <a:t>需芯片数量</a:t>
            </a:r>
            <a:r>
              <a:rPr lang="en-US" altLang="zh-CN" b="1" u="none" dirty="0">
                <a:latin typeface="宋体" panose="02010600030101010101" pitchFamily="2" charset="-122"/>
              </a:rPr>
              <a:t>—(4K÷1K)×(4b÷4b)</a:t>
            </a:r>
            <a:r>
              <a:rPr lang="zh-CN" altLang="en-US" b="1" u="none" dirty="0">
                <a:latin typeface="宋体" panose="02010600030101010101" pitchFamily="2" charset="-122"/>
              </a:rPr>
              <a:t>＝</a:t>
            </a:r>
            <a:r>
              <a:rPr lang="en-US" altLang="zh-CN" b="1" u="none" dirty="0">
                <a:latin typeface="宋体" panose="02010600030101010101" pitchFamily="2" charset="-122"/>
              </a:rPr>
              <a:t>4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片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latin typeface="宋体" panose="02010600030101010101" pitchFamily="2" charset="-122"/>
              </a:rPr>
              <a:t>      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扩展方法分析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—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无法用</a:t>
            </a: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行地址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选择芯片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行地址剩余长度不够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148" name="Text Box 633"/>
          <p:cNvSpPr txBox="1">
            <a:spLocks noChangeArrowheads="1"/>
          </p:cNvSpPr>
          <p:nvPr/>
        </p:nvSpPr>
        <p:spPr bwMode="auto">
          <a:xfrm>
            <a:off x="179512" y="2420888"/>
            <a:ext cx="8964488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    </a:t>
            </a: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×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扩展方法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①—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锁存行列地址  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适于</a:t>
            </a:r>
            <a:r>
              <a:rPr lang="zh-CN" altLang="en-US" sz="20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芯片内部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的</a:t>
            </a:r>
            <a:r>
              <a:rPr lang="zh-CN" altLang="en-US" sz="2000" b="1" u="none" dirty="0">
                <a:latin typeface="宋体" panose="02010600030101010101" pitchFamily="2" charset="-122"/>
              </a:rPr>
              <a:t>体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扩展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增设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2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个</a:t>
            </a:r>
            <a:r>
              <a:rPr lang="zh-CN" altLang="en-US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锁存器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</a:t>
            </a:r>
            <a:r>
              <a:rPr lang="zh-CN" altLang="en-US" b="1" dirty="0" smtClean="0">
                <a:latin typeface="宋体" panose="02010600030101010101" pitchFamily="2" charset="-122"/>
              </a:rPr>
              <a:t>锁存后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再选择芯片  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←与芯片重复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成本高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79512" y="3356992"/>
            <a:ext cx="8785225" cy="1015663"/>
            <a:chOff x="179512" y="2708920"/>
            <a:chExt cx="8785225" cy="1015663"/>
          </a:xfrm>
        </p:grpSpPr>
        <p:sp>
          <p:nvSpPr>
            <p:cNvPr id="149" name="Text Box 633"/>
            <p:cNvSpPr txBox="1">
              <a:spLocks noChangeArrowheads="1"/>
            </p:cNvSpPr>
            <p:nvPr/>
          </p:nvSpPr>
          <p:spPr bwMode="auto">
            <a:xfrm>
              <a:off x="179512" y="2708920"/>
              <a:ext cx="8785225" cy="101566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b="1" u="none" dirty="0" smtClean="0">
                  <a:latin typeface="宋体" panose="02010600030101010101" pitchFamily="2" charset="-122"/>
                </a:rPr>
                <a:t>    </a:t>
              </a:r>
              <a:r>
                <a:rPr lang="zh-CN" altLang="en-US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☆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扩展方法②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—</a:t>
              </a:r>
              <a:r>
                <a:rPr lang="zh-CN" altLang="en-US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开放片选信号  </a:t>
              </a:r>
              <a:r>
                <a:rPr lang="en-US" altLang="zh-CN" sz="20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2000" b="1" u="none" dirty="0" smtClean="0">
                  <a:latin typeface="宋体" panose="02010600030101010101" pitchFamily="2" charset="-122"/>
                </a:rPr>
                <a:t>适于</a:t>
              </a:r>
              <a:r>
                <a:rPr lang="zh-CN" altLang="en-US" sz="20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芯片外部</a:t>
              </a:r>
              <a:r>
                <a:rPr lang="zh-CN" altLang="en-US" sz="2000" b="1" u="none" dirty="0" smtClean="0">
                  <a:latin typeface="宋体" panose="02010600030101010101" pitchFamily="2" charset="-122"/>
                </a:rPr>
                <a:t>的字扩展</a:t>
              </a:r>
              <a:r>
                <a:rPr lang="en-US" altLang="zh-CN" sz="20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22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        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设置多个</a:t>
              </a:r>
              <a:r>
                <a:rPr lang="en-US" altLang="zh-CN" b="1" u="none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RAS</a:t>
              </a:r>
              <a:r>
                <a:rPr lang="zh-CN" altLang="en-US" b="1" u="none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信号线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，外部用</a:t>
              </a:r>
              <a:r>
                <a:rPr lang="zh-CN" altLang="en-US" b="1" dirty="0" smtClean="0">
                  <a:latin typeface="宋体" panose="02010600030101010101" pitchFamily="2" charset="-122"/>
                </a:rPr>
                <a:t>地址高位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选择芯片</a:t>
              </a:r>
              <a:endParaRPr lang="zh-CN" altLang="en-US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3" name="Line 631"/>
            <p:cNvSpPr>
              <a:spLocks noChangeShapeType="1"/>
            </p:cNvSpPr>
            <p:nvPr/>
          </p:nvSpPr>
          <p:spPr bwMode="auto">
            <a:xfrm>
              <a:off x="2880000" y="3311928"/>
              <a:ext cx="438586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971600" y="4293096"/>
            <a:ext cx="1728192" cy="1781052"/>
            <a:chOff x="827584" y="3788147"/>
            <a:chExt cx="1728192" cy="1781052"/>
          </a:xfrm>
        </p:grpSpPr>
        <p:sp>
          <p:nvSpPr>
            <p:cNvPr id="154" name="Text Box 546"/>
            <p:cNvSpPr txBox="1">
              <a:spLocks noChangeArrowheads="1"/>
            </p:cNvSpPr>
            <p:nvPr/>
          </p:nvSpPr>
          <p:spPr bwMode="auto">
            <a:xfrm>
              <a:off x="827584" y="3788147"/>
              <a:ext cx="792782" cy="2889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9</a:t>
              </a:r>
              <a:r>
                <a:rPr lang="en-US" altLang="zh-CN" sz="1800" b="1" u="none" dirty="0" smtClean="0">
                  <a:latin typeface="+mn-lt"/>
                </a:rPr>
                <a:t>~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55" name="Text Box 542"/>
            <p:cNvSpPr txBox="1">
              <a:spLocks noChangeArrowheads="1"/>
            </p:cNvSpPr>
            <p:nvPr/>
          </p:nvSpPr>
          <p:spPr bwMode="auto">
            <a:xfrm>
              <a:off x="1727721" y="3861048"/>
              <a:ext cx="396081" cy="1708151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地址转换</a:t>
              </a:r>
              <a:r>
                <a:rPr lang="en-US" altLang="zh-CN" sz="1400" b="1" u="none" dirty="0" smtClean="0">
                  <a:latin typeface="+mn-ea"/>
                  <a:ea typeface="+mn-ea"/>
                </a:rPr>
                <a:t>(</a:t>
              </a:r>
              <a:r>
                <a:rPr lang="en-US" altLang="zh-CN" sz="1400" b="1" u="none" dirty="0" smtClean="0">
                  <a:solidFill>
                    <a:srgbClr val="FF3399"/>
                  </a:solidFill>
                  <a:latin typeface="+mn-ea"/>
                  <a:ea typeface="+mn-ea"/>
                </a:rPr>
                <a:t>DRAMC</a:t>
              </a:r>
              <a:r>
                <a:rPr lang="en-US" altLang="zh-CN" sz="1400" b="1" u="none" dirty="0" smtClean="0">
                  <a:latin typeface="+mn-ea"/>
                  <a:ea typeface="+mn-ea"/>
                </a:rPr>
                <a:t>)</a:t>
              </a:r>
              <a:endParaRPr lang="en-US" altLang="zh-CN" sz="1800" b="1" u="none" dirty="0">
                <a:latin typeface="+mn-ea"/>
                <a:ea typeface="+mn-ea"/>
              </a:endParaRPr>
            </a:p>
          </p:txBody>
        </p:sp>
        <p:cxnSp>
          <p:nvCxnSpPr>
            <p:cNvPr id="4" name="直接箭头连接符 3"/>
            <p:cNvCxnSpPr/>
            <p:nvPr/>
          </p:nvCxnSpPr>
          <p:spPr bwMode="auto">
            <a:xfrm flipV="1">
              <a:off x="841649" y="5371628"/>
              <a:ext cx="886072" cy="158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8" name="直接箭头连接符 157"/>
            <p:cNvCxnSpPr/>
            <p:nvPr/>
          </p:nvCxnSpPr>
          <p:spPr bwMode="auto">
            <a:xfrm>
              <a:off x="2123802" y="4077071"/>
              <a:ext cx="431974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0" name="直接箭头连接符 159"/>
            <p:cNvCxnSpPr/>
            <p:nvPr/>
          </p:nvCxnSpPr>
          <p:spPr bwMode="auto">
            <a:xfrm>
              <a:off x="2123802" y="5373216"/>
              <a:ext cx="359966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6" name="Text Box 546"/>
            <p:cNvSpPr txBox="1">
              <a:spLocks noChangeArrowheads="1"/>
            </p:cNvSpPr>
            <p:nvPr/>
          </p:nvSpPr>
          <p:spPr bwMode="auto">
            <a:xfrm>
              <a:off x="898898" y="5084291"/>
              <a:ext cx="648766" cy="2889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11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10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77" name="直接箭头连接符 176"/>
            <p:cNvCxnSpPr/>
            <p:nvPr/>
          </p:nvCxnSpPr>
          <p:spPr bwMode="auto">
            <a:xfrm flipV="1">
              <a:off x="827584" y="4075484"/>
              <a:ext cx="886072" cy="158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87" name="Group 540"/>
          <p:cNvGrpSpPr/>
          <p:nvPr/>
        </p:nvGrpSpPr>
        <p:grpSpPr bwMode="auto">
          <a:xfrm>
            <a:off x="2843808" y="4365997"/>
            <a:ext cx="5832473" cy="1943100"/>
            <a:chOff x="2336" y="1979"/>
            <a:chExt cx="3674" cy="1224"/>
          </a:xfrm>
        </p:grpSpPr>
        <p:sp>
          <p:nvSpPr>
            <p:cNvPr id="88" name="Rectangle 541"/>
            <p:cNvSpPr>
              <a:spLocks noChangeArrowheads="1"/>
            </p:cNvSpPr>
            <p:nvPr/>
          </p:nvSpPr>
          <p:spPr bwMode="auto">
            <a:xfrm>
              <a:off x="3198" y="1979"/>
              <a:ext cx="2812" cy="12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Text Box 542"/>
            <p:cNvSpPr txBox="1">
              <a:spLocks noChangeArrowheads="1"/>
            </p:cNvSpPr>
            <p:nvPr/>
          </p:nvSpPr>
          <p:spPr bwMode="auto">
            <a:xfrm>
              <a:off x="3289" y="2160"/>
              <a:ext cx="49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1K×4b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DRAM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0" name="Text Box 543"/>
            <p:cNvSpPr txBox="1">
              <a:spLocks noChangeArrowheads="1"/>
            </p:cNvSpPr>
            <p:nvPr/>
          </p:nvSpPr>
          <p:spPr bwMode="auto">
            <a:xfrm>
              <a:off x="3969" y="2160"/>
              <a:ext cx="49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1K×4b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DRAM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1" name="Text Box 544"/>
            <p:cNvSpPr txBox="1">
              <a:spLocks noChangeArrowheads="1"/>
            </p:cNvSpPr>
            <p:nvPr/>
          </p:nvSpPr>
          <p:spPr bwMode="auto">
            <a:xfrm>
              <a:off x="4649" y="2160"/>
              <a:ext cx="49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1K×4b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DRAM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2" name="Text Box 545"/>
            <p:cNvSpPr txBox="1">
              <a:spLocks noChangeArrowheads="1"/>
            </p:cNvSpPr>
            <p:nvPr/>
          </p:nvSpPr>
          <p:spPr bwMode="auto">
            <a:xfrm>
              <a:off x="5329" y="2160"/>
              <a:ext cx="49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1K×4b</a:t>
              </a:r>
              <a:endParaRPr lang="en-US" altLang="zh-CN" sz="18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DRAM</a:t>
              </a:r>
              <a:endParaRPr lang="en-US" altLang="zh-CN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93" name="Text Box 546"/>
            <p:cNvSpPr txBox="1">
              <a:spLocks noChangeArrowheads="1"/>
            </p:cNvSpPr>
            <p:nvPr/>
          </p:nvSpPr>
          <p:spPr bwMode="auto">
            <a:xfrm>
              <a:off x="2608" y="1979"/>
              <a:ext cx="453" cy="18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4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～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94" name="Text Box 547"/>
            <p:cNvSpPr txBox="1">
              <a:spLocks noChangeArrowheads="1"/>
            </p:cNvSpPr>
            <p:nvPr/>
          </p:nvSpPr>
          <p:spPr bwMode="auto">
            <a:xfrm>
              <a:off x="2608" y="2523"/>
              <a:ext cx="454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3</a:t>
              </a:r>
              <a:r>
                <a:rPr lang="zh-CN" altLang="en-US" sz="1800" b="1" u="none">
                  <a:latin typeface="宋体" panose="02010600030101010101" pitchFamily="2" charset="-122"/>
                </a:rPr>
                <a:t>～</a:t>
              </a:r>
              <a:r>
                <a:rPr lang="en-US" altLang="zh-CN" sz="1800" b="1" u="none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grpSp>
          <p:nvGrpSpPr>
            <p:cNvPr id="95" name="Group 548"/>
            <p:cNvGrpSpPr/>
            <p:nvPr/>
          </p:nvGrpSpPr>
          <p:grpSpPr bwMode="auto">
            <a:xfrm>
              <a:off x="2836" y="2704"/>
              <a:ext cx="181" cy="136"/>
              <a:chOff x="657" y="1389"/>
              <a:chExt cx="181" cy="136"/>
            </a:xfrm>
          </p:grpSpPr>
          <p:sp>
            <p:nvSpPr>
              <p:cNvPr id="114" name="Text Box 549"/>
              <p:cNvSpPr txBox="1">
                <a:spLocks noChangeArrowheads="1"/>
              </p:cNvSpPr>
              <p:nvPr/>
            </p:nvSpPr>
            <p:spPr bwMode="auto">
              <a:xfrm>
                <a:off x="657" y="1389"/>
                <a:ext cx="181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>
                    <a:latin typeface="宋体" panose="02010600030101010101" pitchFamily="2" charset="-122"/>
                  </a:rPr>
                  <a:t>WE</a:t>
                </a:r>
                <a:endParaRPr lang="en-US" altLang="zh-CN" sz="1800" b="1" u="none">
                  <a:latin typeface="宋体" panose="02010600030101010101" pitchFamily="2" charset="-122"/>
                </a:endParaRPr>
              </a:p>
            </p:txBody>
          </p:sp>
          <p:sp>
            <p:nvSpPr>
              <p:cNvPr id="115" name="Line 550"/>
              <p:cNvSpPr>
                <a:spLocks noChangeShapeType="1"/>
              </p:cNvSpPr>
              <p:nvPr/>
            </p:nvSpPr>
            <p:spPr bwMode="auto">
              <a:xfrm>
                <a:off x="669" y="1395"/>
                <a:ext cx="148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6" name="Line 551"/>
            <p:cNvSpPr>
              <a:spLocks noChangeShapeType="1"/>
            </p:cNvSpPr>
            <p:nvPr/>
          </p:nvSpPr>
          <p:spPr bwMode="auto">
            <a:xfrm flipV="1">
              <a:off x="3062" y="2795"/>
              <a:ext cx="13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552"/>
            <p:cNvSpPr>
              <a:spLocks noChangeShapeType="1"/>
            </p:cNvSpPr>
            <p:nvPr/>
          </p:nvSpPr>
          <p:spPr bwMode="auto">
            <a:xfrm flipV="1">
              <a:off x="3062" y="2886"/>
              <a:ext cx="13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8" name="Group 553"/>
            <p:cNvGrpSpPr/>
            <p:nvPr/>
          </p:nvGrpSpPr>
          <p:grpSpPr bwMode="auto">
            <a:xfrm>
              <a:off x="2745" y="3067"/>
              <a:ext cx="272" cy="136"/>
              <a:chOff x="1338" y="3475"/>
              <a:chExt cx="272" cy="136"/>
            </a:xfrm>
          </p:grpSpPr>
          <p:sp>
            <p:nvSpPr>
              <p:cNvPr id="112" name="Text Box 554"/>
              <p:cNvSpPr txBox="1">
                <a:spLocks noChangeArrowheads="1"/>
              </p:cNvSpPr>
              <p:nvPr/>
            </p:nvSpPr>
            <p:spPr bwMode="auto">
              <a:xfrm>
                <a:off x="1338" y="3475"/>
                <a:ext cx="272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>
                    <a:latin typeface="宋体" panose="02010600030101010101" pitchFamily="2" charset="-122"/>
                  </a:rPr>
                  <a:t>CAS</a:t>
                </a:r>
                <a:endParaRPr lang="en-US" altLang="zh-CN" sz="1800" b="1" u="none">
                  <a:latin typeface="宋体" panose="02010600030101010101" pitchFamily="2" charset="-122"/>
                </a:endParaRPr>
              </a:p>
            </p:txBody>
          </p:sp>
          <p:sp>
            <p:nvSpPr>
              <p:cNvPr id="113" name="Line 555"/>
              <p:cNvSpPr>
                <a:spLocks noChangeShapeType="1"/>
              </p:cNvSpPr>
              <p:nvPr/>
            </p:nvSpPr>
            <p:spPr bwMode="auto">
              <a:xfrm>
                <a:off x="1365" y="3484"/>
                <a:ext cx="20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9" name="Line 556"/>
            <p:cNvSpPr>
              <a:spLocks noChangeShapeType="1"/>
            </p:cNvSpPr>
            <p:nvPr/>
          </p:nvSpPr>
          <p:spPr bwMode="auto">
            <a:xfrm flipV="1">
              <a:off x="3062" y="3158"/>
              <a:ext cx="13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557"/>
            <p:cNvSpPr>
              <a:spLocks noChangeShapeType="1"/>
            </p:cNvSpPr>
            <p:nvPr/>
          </p:nvSpPr>
          <p:spPr bwMode="auto">
            <a:xfrm flipV="1">
              <a:off x="3062" y="2069"/>
              <a:ext cx="136" cy="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558"/>
            <p:cNvSpPr>
              <a:spLocks noChangeShapeType="1"/>
            </p:cNvSpPr>
            <p:nvPr/>
          </p:nvSpPr>
          <p:spPr bwMode="auto">
            <a:xfrm flipV="1">
              <a:off x="3061" y="2613"/>
              <a:ext cx="136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559"/>
            <p:cNvSpPr>
              <a:spLocks noChangeShapeType="1"/>
            </p:cNvSpPr>
            <p:nvPr/>
          </p:nvSpPr>
          <p:spPr bwMode="auto">
            <a:xfrm flipV="1">
              <a:off x="3061" y="3022"/>
              <a:ext cx="13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560"/>
            <p:cNvSpPr>
              <a:spLocks noChangeShapeType="1"/>
            </p:cNvSpPr>
            <p:nvPr/>
          </p:nvSpPr>
          <p:spPr bwMode="auto">
            <a:xfrm flipV="1">
              <a:off x="3061" y="2931"/>
              <a:ext cx="13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561"/>
            <p:cNvSpPr>
              <a:spLocks noChangeShapeType="1"/>
            </p:cNvSpPr>
            <p:nvPr/>
          </p:nvSpPr>
          <p:spPr bwMode="auto">
            <a:xfrm flipV="1">
              <a:off x="3061" y="2976"/>
              <a:ext cx="13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Rectangle 562"/>
            <p:cNvSpPr>
              <a:spLocks noChangeArrowheads="1"/>
            </p:cNvSpPr>
            <p:nvPr/>
          </p:nvSpPr>
          <p:spPr bwMode="auto">
            <a:xfrm>
              <a:off x="2336" y="2874"/>
              <a:ext cx="680" cy="181"/>
            </a:xfrm>
            <a:prstGeom prst="rect">
              <a:avLst/>
            </a:prstGeom>
            <a:noFill/>
            <a:ln w="19050">
              <a:noFill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6" name="Group 563"/>
            <p:cNvGrpSpPr/>
            <p:nvPr/>
          </p:nvGrpSpPr>
          <p:grpSpPr bwMode="auto">
            <a:xfrm>
              <a:off x="2336" y="2886"/>
              <a:ext cx="725" cy="136"/>
              <a:chOff x="2699" y="3475"/>
              <a:chExt cx="725" cy="136"/>
            </a:xfrm>
          </p:grpSpPr>
          <p:sp>
            <p:nvSpPr>
              <p:cNvPr id="107" name="Text Box 564"/>
              <p:cNvSpPr txBox="1">
                <a:spLocks noChangeArrowheads="1"/>
              </p:cNvSpPr>
              <p:nvPr/>
            </p:nvSpPr>
            <p:spPr bwMode="auto">
              <a:xfrm>
                <a:off x="2699" y="3475"/>
                <a:ext cx="317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RAS</a:t>
                </a:r>
                <a:r>
                  <a:rPr lang="en-US" altLang="zh-CN" sz="1800" b="1" u="none" baseline="-20000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3</a:t>
                </a:r>
                <a:endParaRPr lang="en-US" altLang="zh-CN" sz="1800" b="1" u="none" baseline="-20000" dirty="0">
                  <a:solidFill>
                    <a:srgbClr val="FF3399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108" name="Line 565"/>
              <p:cNvSpPr>
                <a:spLocks noChangeShapeType="1"/>
              </p:cNvSpPr>
              <p:nvPr/>
            </p:nvSpPr>
            <p:spPr bwMode="auto">
              <a:xfrm>
                <a:off x="2723" y="3481"/>
                <a:ext cx="206" cy="0"/>
              </a:xfrm>
              <a:prstGeom prst="line">
                <a:avLst/>
              </a:prstGeom>
              <a:noFill/>
              <a:ln w="15875">
                <a:solidFill>
                  <a:srgbClr val="FF3399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Text Box 566"/>
              <p:cNvSpPr txBox="1">
                <a:spLocks noChangeArrowheads="1"/>
              </p:cNvSpPr>
              <p:nvPr/>
            </p:nvSpPr>
            <p:spPr bwMode="auto">
              <a:xfrm>
                <a:off x="3107" y="3475"/>
                <a:ext cx="317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RAS</a:t>
                </a:r>
                <a:r>
                  <a:rPr lang="en-US" altLang="zh-CN" sz="1800" b="1" u="none" baseline="-2000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0</a:t>
                </a:r>
                <a:endParaRPr lang="en-US" altLang="zh-CN" sz="1800" b="1" u="none" baseline="-20000">
                  <a:solidFill>
                    <a:srgbClr val="FF3399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110" name="Line 567"/>
              <p:cNvSpPr>
                <a:spLocks noChangeShapeType="1"/>
              </p:cNvSpPr>
              <p:nvPr/>
            </p:nvSpPr>
            <p:spPr bwMode="auto">
              <a:xfrm>
                <a:off x="3131" y="3481"/>
                <a:ext cx="206" cy="0"/>
              </a:xfrm>
              <a:prstGeom prst="line">
                <a:avLst/>
              </a:prstGeom>
              <a:noFill/>
              <a:ln w="15875">
                <a:solidFill>
                  <a:srgbClr val="FF3399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Text Box 568"/>
              <p:cNvSpPr txBox="1">
                <a:spLocks noChangeArrowheads="1"/>
              </p:cNvSpPr>
              <p:nvPr/>
            </p:nvSpPr>
            <p:spPr bwMode="auto">
              <a:xfrm>
                <a:off x="2971" y="3475"/>
                <a:ext cx="181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8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～</a:t>
                </a:r>
                <a:endParaRPr lang="zh-CN" altLang="en-US" sz="1800" b="1" u="none" baseline="-20000" dirty="0">
                  <a:solidFill>
                    <a:srgbClr val="FF3399"/>
                  </a:solidFill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4210653" y="5085160"/>
            <a:ext cx="4251329" cy="936625"/>
            <a:chOff x="4210653" y="5085383"/>
            <a:chExt cx="4251329" cy="936625"/>
          </a:xfrm>
        </p:grpSpPr>
        <p:sp>
          <p:nvSpPr>
            <p:cNvPr id="161" name="Line 585"/>
            <p:cNvSpPr>
              <a:spLocks noChangeShapeType="1"/>
            </p:cNvSpPr>
            <p:nvPr/>
          </p:nvSpPr>
          <p:spPr bwMode="auto">
            <a:xfrm>
              <a:off x="4210653" y="5815633"/>
              <a:ext cx="100965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Line 586"/>
            <p:cNvSpPr>
              <a:spLocks noChangeShapeType="1"/>
            </p:cNvSpPr>
            <p:nvPr/>
          </p:nvSpPr>
          <p:spPr bwMode="auto">
            <a:xfrm>
              <a:off x="5220304" y="5085383"/>
              <a:ext cx="0" cy="720725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587"/>
            <p:cNvSpPr>
              <a:spLocks noChangeShapeType="1"/>
            </p:cNvSpPr>
            <p:nvPr/>
          </p:nvSpPr>
          <p:spPr bwMode="auto">
            <a:xfrm flipV="1">
              <a:off x="4212241" y="5877545"/>
              <a:ext cx="2089152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Line 588"/>
            <p:cNvSpPr>
              <a:spLocks noChangeShapeType="1"/>
            </p:cNvSpPr>
            <p:nvPr/>
          </p:nvSpPr>
          <p:spPr bwMode="auto">
            <a:xfrm>
              <a:off x="6299805" y="5085383"/>
              <a:ext cx="1588" cy="792163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Line 589"/>
            <p:cNvSpPr>
              <a:spLocks noChangeShapeType="1"/>
            </p:cNvSpPr>
            <p:nvPr/>
          </p:nvSpPr>
          <p:spPr bwMode="auto">
            <a:xfrm>
              <a:off x="7380893" y="5085383"/>
              <a:ext cx="0" cy="8636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Line 590"/>
            <p:cNvSpPr>
              <a:spLocks noChangeShapeType="1"/>
            </p:cNvSpPr>
            <p:nvPr/>
          </p:nvSpPr>
          <p:spPr bwMode="auto">
            <a:xfrm>
              <a:off x="8461982" y="5085383"/>
              <a:ext cx="0" cy="936625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Line 591"/>
            <p:cNvSpPr>
              <a:spLocks noChangeShapeType="1"/>
            </p:cNvSpPr>
            <p:nvPr/>
          </p:nvSpPr>
          <p:spPr bwMode="auto">
            <a:xfrm>
              <a:off x="4212241" y="5948983"/>
              <a:ext cx="3168653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Line 592"/>
            <p:cNvSpPr>
              <a:spLocks noChangeShapeType="1"/>
            </p:cNvSpPr>
            <p:nvPr/>
          </p:nvSpPr>
          <p:spPr bwMode="auto">
            <a:xfrm>
              <a:off x="4212241" y="6022008"/>
              <a:ext cx="424974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212241" y="4508897"/>
            <a:ext cx="4319591" cy="1728788"/>
            <a:chOff x="4212241" y="4509120"/>
            <a:chExt cx="4319591" cy="1728788"/>
          </a:xfrm>
        </p:grpSpPr>
        <p:sp>
          <p:nvSpPr>
            <p:cNvPr id="117" name="Line 570"/>
            <p:cNvSpPr>
              <a:spLocks noChangeShapeType="1"/>
            </p:cNvSpPr>
            <p:nvPr/>
          </p:nvSpPr>
          <p:spPr bwMode="auto">
            <a:xfrm>
              <a:off x="4212241" y="5661645"/>
              <a:ext cx="396081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571"/>
            <p:cNvSpPr>
              <a:spLocks noChangeShapeType="1"/>
            </p:cNvSpPr>
            <p:nvPr/>
          </p:nvSpPr>
          <p:spPr bwMode="auto">
            <a:xfrm>
              <a:off x="4572603" y="5229845"/>
              <a:ext cx="0" cy="142875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none" w="sm" len="med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572"/>
            <p:cNvSpPr>
              <a:spLocks noChangeShapeType="1"/>
            </p:cNvSpPr>
            <p:nvPr/>
          </p:nvSpPr>
          <p:spPr bwMode="auto">
            <a:xfrm flipH="1">
              <a:off x="4212241" y="4509120"/>
              <a:ext cx="3744916" cy="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573"/>
            <p:cNvSpPr>
              <a:spLocks noChangeShapeType="1"/>
            </p:cNvSpPr>
            <p:nvPr/>
          </p:nvSpPr>
          <p:spPr bwMode="auto">
            <a:xfrm flipH="1">
              <a:off x="4715478" y="4509120"/>
              <a:ext cx="0" cy="142875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574"/>
            <p:cNvSpPr>
              <a:spLocks noChangeShapeType="1"/>
            </p:cNvSpPr>
            <p:nvPr/>
          </p:nvSpPr>
          <p:spPr bwMode="auto">
            <a:xfrm>
              <a:off x="4212241" y="5372720"/>
              <a:ext cx="3600453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575"/>
            <p:cNvSpPr>
              <a:spLocks noChangeShapeType="1"/>
            </p:cNvSpPr>
            <p:nvPr/>
          </p:nvSpPr>
          <p:spPr bwMode="auto">
            <a:xfrm flipH="1">
              <a:off x="5652104" y="5229845"/>
              <a:ext cx="0" cy="142875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none" w="sm" len="med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576"/>
            <p:cNvSpPr>
              <a:spLocks noChangeShapeType="1"/>
            </p:cNvSpPr>
            <p:nvPr/>
          </p:nvSpPr>
          <p:spPr bwMode="auto">
            <a:xfrm flipH="1">
              <a:off x="5796567" y="4509120"/>
              <a:ext cx="0" cy="142875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577"/>
            <p:cNvSpPr>
              <a:spLocks noChangeShapeType="1"/>
            </p:cNvSpPr>
            <p:nvPr/>
          </p:nvSpPr>
          <p:spPr bwMode="auto">
            <a:xfrm flipH="1">
              <a:off x="6731605" y="5229845"/>
              <a:ext cx="0" cy="142875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none" w="sm" len="med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578"/>
            <p:cNvSpPr>
              <a:spLocks noChangeShapeType="1"/>
            </p:cNvSpPr>
            <p:nvPr/>
          </p:nvSpPr>
          <p:spPr bwMode="auto">
            <a:xfrm flipH="1">
              <a:off x="6876068" y="4509120"/>
              <a:ext cx="0" cy="142875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579"/>
            <p:cNvSpPr>
              <a:spLocks noChangeShapeType="1"/>
            </p:cNvSpPr>
            <p:nvPr/>
          </p:nvSpPr>
          <p:spPr bwMode="auto">
            <a:xfrm flipH="1">
              <a:off x="7957156" y="4509120"/>
              <a:ext cx="0" cy="142875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580"/>
            <p:cNvSpPr>
              <a:spLocks noChangeShapeType="1"/>
            </p:cNvSpPr>
            <p:nvPr/>
          </p:nvSpPr>
          <p:spPr bwMode="auto">
            <a:xfrm>
              <a:off x="7812694" y="5231433"/>
              <a:ext cx="0" cy="141288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Line 581"/>
            <p:cNvSpPr>
              <a:spLocks noChangeShapeType="1"/>
            </p:cNvSpPr>
            <p:nvPr/>
          </p:nvSpPr>
          <p:spPr bwMode="auto">
            <a:xfrm>
              <a:off x="4931379" y="5229845"/>
              <a:ext cx="1588" cy="4318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582"/>
            <p:cNvSpPr>
              <a:spLocks noChangeShapeType="1"/>
            </p:cNvSpPr>
            <p:nvPr/>
          </p:nvSpPr>
          <p:spPr bwMode="auto">
            <a:xfrm flipH="1">
              <a:off x="7091968" y="5229845"/>
              <a:ext cx="0" cy="4318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583"/>
            <p:cNvSpPr>
              <a:spLocks noChangeShapeType="1"/>
            </p:cNvSpPr>
            <p:nvPr/>
          </p:nvSpPr>
          <p:spPr bwMode="auto">
            <a:xfrm flipH="1">
              <a:off x="6010880" y="5229845"/>
              <a:ext cx="1588" cy="4318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584"/>
            <p:cNvSpPr>
              <a:spLocks noChangeShapeType="1"/>
            </p:cNvSpPr>
            <p:nvPr/>
          </p:nvSpPr>
          <p:spPr bwMode="auto">
            <a:xfrm flipH="1">
              <a:off x="8173057" y="5229845"/>
              <a:ext cx="0" cy="4318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222"/>
            <p:cNvSpPr>
              <a:spLocks noChangeShapeType="1"/>
            </p:cNvSpPr>
            <p:nvPr/>
          </p:nvSpPr>
          <p:spPr bwMode="auto">
            <a:xfrm>
              <a:off x="5150296" y="5085184"/>
              <a:ext cx="7143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259"/>
            <p:cNvSpPr>
              <a:spLocks noChangeShapeType="1"/>
            </p:cNvSpPr>
            <p:nvPr/>
          </p:nvSpPr>
          <p:spPr bwMode="auto">
            <a:xfrm>
              <a:off x="5148709" y="4869284"/>
              <a:ext cx="143033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Line 262"/>
            <p:cNvSpPr>
              <a:spLocks noChangeShapeType="1"/>
            </p:cNvSpPr>
            <p:nvPr/>
          </p:nvSpPr>
          <p:spPr bwMode="auto">
            <a:xfrm>
              <a:off x="6229772" y="5085184"/>
              <a:ext cx="7143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Line 265"/>
            <p:cNvSpPr>
              <a:spLocks noChangeShapeType="1"/>
            </p:cNvSpPr>
            <p:nvPr/>
          </p:nvSpPr>
          <p:spPr bwMode="auto">
            <a:xfrm>
              <a:off x="6228184" y="4869284"/>
              <a:ext cx="14464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Line 268"/>
            <p:cNvSpPr>
              <a:spLocks noChangeShapeType="1"/>
            </p:cNvSpPr>
            <p:nvPr/>
          </p:nvSpPr>
          <p:spPr bwMode="auto">
            <a:xfrm>
              <a:off x="7309891" y="5085184"/>
              <a:ext cx="7143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Line 271"/>
            <p:cNvSpPr>
              <a:spLocks noChangeShapeType="1"/>
            </p:cNvSpPr>
            <p:nvPr/>
          </p:nvSpPr>
          <p:spPr bwMode="auto">
            <a:xfrm>
              <a:off x="7308304" y="4869284"/>
              <a:ext cx="14402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Line 274"/>
            <p:cNvSpPr>
              <a:spLocks noChangeShapeType="1"/>
            </p:cNvSpPr>
            <p:nvPr/>
          </p:nvSpPr>
          <p:spPr bwMode="auto">
            <a:xfrm>
              <a:off x="8390012" y="5085184"/>
              <a:ext cx="7143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277"/>
            <p:cNvSpPr>
              <a:spLocks noChangeShapeType="1"/>
            </p:cNvSpPr>
            <p:nvPr/>
          </p:nvSpPr>
          <p:spPr bwMode="auto">
            <a:xfrm>
              <a:off x="8388424" y="4869283"/>
              <a:ext cx="143408" cy="199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593"/>
            <p:cNvSpPr>
              <a:spLocks noChangeShapeType="1"/>
            </p:cNvSpPr>
            <p:nvPr/>
          </p:nvSpPr>
          <p:spPr bwMode="auto">
            <a:xfrm flipH="1">
              <a:off x="8531832" y="4869483"/>
              <a:ext cx="0" cy="1368425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594"/>
            <p:cNvSpPr>
              <a:spLocks noChangeShapeType="1"/>
            </p:cNvSpPr>
            <p:nvPr/>
          </p:nvSpPr>
          <p:spPr bwMode="auto">
            <a:xfrm>
              <a:off x="7452331" y="4869483"/>
              <a:ext cx="0" cy="1368425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Line 595"/>
            <p:cNvSpPr>
              <a:spLocks noChangeShapeType="1"/>
            </p:cNvSpPr>
            <p:nvPr/>
          </p:nvSpPr>
          <p:spPr bwMode="auto">
            <a:xfrm flipH="1">
              <a:off x="6372830" y="4869483"/>
              <a:ext cx="0" cy="1368425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596"/>
            <p:cNvSpPr>
              <a:spLocks noChangeShapeType="1"/>
            </p:cNvSpPr>
            <p:nvPr/>
          </p:nvSpPr>
          <p:spPr bwMode="auto">
            <a:xfrm flipH="1">
              <a:off x="5291742" y="4869483"/>
              <a:ext cx="0" cy="1368425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597"/>
            <p:cNvSpPr>
              <a:spLocks noChangeShapeType="1"/>
            </p:cNvSpPr>
            <p:nvPr/>
          </p:nvSpPr>
          <p:spPr bwMode="auto">
            <a:xfrm>
              <a:off x="4212241" y="6237908"/>
              <a:ext cx="431959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2" name="AutoShape 331"/>
          <p:cNvSpPr/>
          <p:nvPr/>
        </p:nvSpPr>
        <p:spPr bwMode="auto">
          <a:xfrm>
            <a:off x="5580112" y="2276872"/>
            <a:ext cx="720000" cy="216000"/>
          </a:xfrm>
          <a:prstGeom prst="borderCallout2">
            <a:avLst>
              <a:gd name="adj1" fmla="val 53155"/>
              <a:gd name="adj2" fmla="val 82"/>
              <a:gd name="adj3" fmla="val 51608"/>
              <a:gd name="adj4" fmla="val -26271"/>
              <a:gd name="adj5" fmla="val -26529"/>
              <a:gd name="adj6" fmla="val -49354"/>
            </a:avLst>
          </a:prstGeom>
          <a:solidFill>
            <a:schemeClr val="bg1"/>
          </a:solidFill>
          <a:ln w="12700">
            <a:solidFill>
              <a:srgbClr val="990099"/>
            </a:solidFill>
            <a:prstDash val="sysDash"/>
            <a:miter lim="800000"/>
            <a:headEnd type="none" w="sm" len="med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 smtClean="0">
                <a:latin typeface="+mn-ea"/>
                <a:ea typeface="+mn-ea"/>
              </a:rPr>
              <a:t>差</a:t>
            </a:r>
            <a:r>
              <a:rPr lang="en-US" altLang="zh-CN" sz="1600" b="1" u="none" dirty="0" smtClean="0">
                <a:latin typeface="+mn-ea"/>
                <a:ea typeface="+mn-ea"/>
              </a:rPr>
              <a:t>1</a:t>
            </a:r>
            <a:r>
              <a:rPr lang="zh-CN" altLang="en-US" sz="1600" b="1" u="none" dirty="0" smtClean="0">
                <a:latin typeface="+mn-ea"/>
                <a:ea typeface="+mn-ea"/>
              </a:rPr>
              <a:t>位</a:t>
            </a:r>
            <a:endParaRPr lang="zh-CN" altLang="en-US" sz="1600" b="1" u="none" dirty="0">
              <a:latin typeface="+mn-ea"/>
              <a:ea typeface="+mn-ea"/>
            </a:endParaRPr>
          </a:p>
        </p:txBody>
      </p:sp>
      <p:grpSp>
        <p:nvGrpSpPr>
          <p:cNvPr id="173" name="组合 172"/>
          <p:cNvGrpSpPr/>
          <p:nvPr/>
        </p:nvGrpSpPr>
        <p:grpSpPr>
          <a:xfrm>
            <a:off x="2483880" y="1700808"/>
            <a:ext cx="4104344" cy="504056"/>
            <a:chOff x="2483880" y="980728"/>
            <a:chExt cx="4104344" cy="504056"/>
          </a:xfrm>
        </p:grpSpPr>
        <p:sp>
          <p:nvSpPr>
            <p:cNvPr id="174" name="Rectangle 620"/>
            <p:cNvSpPr>
              <a:spLocks noChangeArrowheads="1"/>
            </p:cNvSpPr>
            <p:nvPr/>
          </p:nvSpPr>
          <p:spPr bwMode="auto">
            <a:xfrm>
              <a:off x="5148024" y="1268760"/>
              <a:ext cx="216064" cy="216000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9525">
              <a:noFill/>
              <a:prstDash val="sysDot"/>
              <a:miter lim="800000"/>
              <a:tailEnd type="none" w="sm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5" name="Text Box 624"/>
            <p:cNvSpPr txBox="1">
              <a:spLocks noChangeArrowheads="1"/>
            </p:cNvSpPr>
            <p:nvPr/>
          </p:nvSpPr>
          <p:spPr bwMode="auto">
            <a:xfrm>
              <a:off x="4211976" y="1293445"/>
              <a:ext cx="1152000" cy="180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芯片行地址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78" name="Text Box 624"/>
            <p:cNvSpPr txBox="1">
              <a:spLocks noChangeArrowheads="1"/>
            </p:cNvSpPr>
            <p:nvPr/>
          </p:nvSpPr>
          <p:spPr bwMode="auto">
            <a:xfrm>
              <a:off x="5436224" y="1296026"/>
              <a:ext cx="1152000" cy="180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芯片列地址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79" name="Text Box 624"/>
            <p:cNvSpPr txBox="1">
              <a:spLocks noChangeArrowheads="1"/>
            </p:cNvSpPr>
            <p:nvPr/>
          </p:nvSpPr>
          <p:spPr bwMode="auto">
            <a:xfrm>
              <a:off x="3491944" y="1304784"/>
              <a:ext cx="720000" cy="18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选芯片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0" name="Text Box 625"/>
            <p:cNvSpPr txBox="1">
              <a:spLocks noChangeArrowheads="1"/>
            </p:cNvSpPr>
            <p:nvPr/>
          </p:nvSpPr>
          <p:spPr bwMode="auto">
            <a:xfrm>
              <a:off x="5148216" y="980728"/>
              <a:ext cx="1440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dist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5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4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3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2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1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81" name="Text Box 624"/>
            <p:cNvSpPr txBox="1">
              <a:spLocks noChangeArrowheads="1"/>
            </p:cNvSpPr>
            <p:nvPr/>
          </p:nvSpPr>
          <p:spPr bwMode="auto">
            <a:xfrm>
              <a:off x="3491880" y="980728"/>
              <a:ext cx="1656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dist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11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10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9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8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7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6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82" name="直接连接符 181"/>
            <p:cNvCxnSpPr/>
            <p:nvPr/>
          </p:nvCxnSpPr>
          <p:spPr bwMode="auto">
            <a:xfrm>
              <a:off x="5364088" y="1268784"/>
              <a:ext cx="0" cy="216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3" name="直接连接符 182"/>
            <p:cNvCxnSpPr/>
            <p:nvPr/>
          </p:nvCxnSpPr>
          <p:spPr bwMode="auto">
            <a:xfrm>
              <a:off x="3491880" y="1268760"/>
              <a:ext cx="0" cy="216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4" name="直接连接符 183"/>
            <p:cNvCxnSpPr/>
            <p:nvPr/>
          </p:nvCxnSpPr>
          <p:spPr bwMode="auto">
            <a:xfrm>
              <a:off x="6588224" y="1268784"/>
              <a:ext cx="0" cy="216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5" name="直接连接符 184"/>
            <p:cNvCxnSpPr/>
            <p:nvPr/>
          </p:nvCxnSpPr>
          <p:spPr bwMode="auto">
            <a:xfrm>
              <a:off x="4211976" y="1268760"/>
              <a:ext cx="0" cy="216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6" name="Text Box 624"/>
            <p:cNvSpPr txBox="1">
              <a:spLocks noChangeArrowheads="1"/>
            </p:cNvSpPr>
            <p:nvPr/>
          </p:nvSpPr>
          <p:spPr bwMode="auto">
            <a:xfrm>
              <a:off x="2483880" y="980728"/>
              <a:ext cx="1008000" cy="288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模块地址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</p:grpSp>
      <p:sp>
        <p:nvSpPr>
          <p:cNvPr id="116" name="AutoShape 966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9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9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/>
      <p:bldP spid="17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组合 197"/>
          <p:cNvGrpSpPr/>
          <p:nvPr/>
        </p:nvGrpSpPr>
        <p:grpSpPr>
          <a:xfrm>
            <a:off x="3635896" y="4941168"/>
            <a:ext cx="5174576" cy="1223689"/>
            <a:chOff x="3633790" y="2636912"/>
            <a:chExt cx="5174576" cy="1223689"/>
          </a:xfrm>
        </p:grpSpPr>
        <p:sp>
          <p:nvSpPr>
            <p:cNvPr id="199" name="Text Box 381"/>
            <p:cNvSpPr txBox="1">
              <a:spLocks noChangeArrowheads="1"/>
            </p:cNvSpPr>
            <p:nvPr/>
          </p:nvSpPr>
          <p:spPr bwMode="auto">
            <a:xfrm>
              <a:off x="3633790" y="2636912"/>
              <a:ext cx="2556150" cy="1223689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990099"/>
              </a:solidFill>
              <a:prstDash val="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00" name="Text Box 381"/>
            <p:cNvSpPr txBox="1">
              <a:spLocks noChangeArrowheads="1"/>
            </p:cNvSpPr>
            <p:nvPr/>
          </p:nvSpPr>
          <p:spPr bwMode="auto">
            <a:xfrm>
              <a:off x="6252366" y="2636912"/>
              <a:ext cx="2556000" cy="1223689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990099"/>
              </a:solidFill>
              <a:prstDash val="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</p:grpSp>
      <p:sp>
        <p:nvSpPr>
          <p:cNvPr id="9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937AC-A4CD-4658-BEA6-CDAB1F0D4C4C}" type="slidenum">
              <a:rPr lang="en-US" altLang="zh-CN"/>
            </a:fld>
            <a:endParaRPr lang="en-US" altLang="zh-CN"/>
          </a:p>
        </p:txBody>
      </p:sp>
      <p:sp>
        <p:nvSpPr>
          <p:cNvPr id="450977" name="Text Box 417"/>
          <p:cNvSpPr txBox="1">
            <a:spLocks noChangeArrowheads="1"/>
          </p:cNvSpPr>
          <p:nvPr/>
        </p:nvSpPr>
        <p:spPr bwMode="auto">
          <a:xfrm>
            <a:off x="179388" y="334293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、字位扩展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法    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—</a:t>
            </a:r>
            <a:r>
              <a:rPr lang="zh-CN" altLang="en-US" sz="2000" b="1" u="none" dirty="0">
                <a:latin typeface="宋体" panose="02010600030101010101" pitchFamily="2" charset="-122"/>
              </a:rPr>
              <a:t>扩展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存储字数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存储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字长</a:t>
            </a:r>
            <a:endParaRPr lang="zh-CN" altLang="en-US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*芯片连接：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先位扩展、再字扩展</a:t>
            </a:r>
            <a:endParaRPr lang="zh-CN" altLang="en-US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450978" name="Text Box 418"/>
          <p:cNvSpPr txBox="1">
            <a:spLocks noChangeArrowheads="1"/>
          </p:cNvSpPr>
          <p:nvPr/>
        </p:nvSpPr>
        <p:spPr bwMode="auto">
          <a:xfrm>
            <a:off x="179388" y="1268760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5—</a:t>
            </a:r>
            <a:r>
              <a:rPr lang="zh-CN" altLang="en-US" b="1" u="none" dirty="0">
                <a:latin typeface="宋体" panose="02010600030101010101" pitchFamily="2" charset="-122"/>
              </a:rPr>
              <a:t>用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1K×4</a:t>
            </a:r>
            <a:r>
              <a:rPr lang="en-US" altLang="zh-CN" b="1" u="none" dirty="0" smtClean="0">
                <a:latin typeface="+mn-ea"/>
                <a:ea typeface="+mn-ea"/>
              </a:rPr>
              <a:t>b</a:t>
            </a:r>
            <a:r>
              <a:rPr lang="en-US" altLang="zh-CN" b="1" u="none" dirty="0" smtClean="0"/>
              <a:t> </a:t>
            </a:r>
            <a:r>
              <a:rPr lang="en-US" altLang="zh-CN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芯片</a:t>
            </a:r>
            <a:r>
              <a:rPr lang="zh-CN" altLang="en-US" b="1" u="none" dirty="0">
                <a:latin typeface="宋体" panose="02010600030101010101" pitchFamily="2" charset="-122"/>
              </a:rPr>
              <a:t>构成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2K×8b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的存储模块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450979" name="Text Box 419"/>
          <p:cNvSpPr txBox="1">
            <a:spLocks noChangeArrowheads="1"/>
          </p:cNvSpPr>
          <p:nvPr/>
        </p:nvSpPr>
        <p:spPr bwMode="auto">
          <a:xfrm>
            <a:off x="179387" y="1771998"/>
            <a:ext cx="4063208" cy="30254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解：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①芯片</a:t>
            </a: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数量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②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芯片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所占空间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   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③芯片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连接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50981" name="Text Box 421"/>
          <p:cNvSpPr txBox="1">
            <a:spLocks noChangeArrowheads="1"/>
          </p:cNvSpPr>
          <p:nvPr/>
        </p:nvSpPr>
        <p:spPr bwMode="auto">
          <a:xfrm>
            <a:off x="3346325" y="1765265"/>
            <a:ext cx="5618288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 smtClean="0">
                <a:latin typeface="宋体" panose="02010600030101010101" pitchFamily="2" charset="-122"/>
              </a:rPr>
              <a:t>(2K÷1K)×(8b÷4b)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4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片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地址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/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字内范围均不同，模块</a:t>
            </a:r>
            <a:r>
              <a:rPr lang="zh-CN" altLang="en-US" b="1" u="none" dirty="0">
                <a:latin typeface="宋体" panose="02010600030101010101" pitchFamily="2" charset="-122"/>
              </a:rPr>
              <a:t>地址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为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11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位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grpSp>
        <p:nvGrpSpPr>
          <p:cNvPr id="451202" name="Group 642"/>
          <p:cNvGrpSpPr/>
          <p:nvPr/>
        </p:nvGrpSpPr>
        <p:grpSpPr bwMode="auto">
          <a:xfrm>
            <a:off x="1259632" y="2986582"/>
            <a:ext cx="2052638" cy="1162050"/>
            <a:chOff x="725" y="1869"/>
            <a:chExt cx="1293" cy="732"/>
          </a:xfrm>
        </p:grpSpPr>
        <p:sp>
          <p:nvSpPr>
            <p:cNvPr id="451025" name="Rectangle 465"/>
            <p:cNvSpPr>
              <a:spLocks noChangeArrowheads="1"/>
            </p:cNvSpPr>
            <p:nvPr/>
          </p:nvSpPr>
          <p:spPr bwMode="auto">
            <a:xfrm>
              <a:off x="1182" y="1875"/>
              <a:ext cx="92" cy="726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noFill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26" name="Rectangle 466"/>
            <p:cNvSpPr>
              <a:spLocks noChangeArrowheads="1"/>
            </p:cNvSpPr>
            <p:nvPr/>
          </p:nvSpPr>
          <p:spPr bwMode="auto">
            <a:xfrm>
              <a:off x="1273" y="1875"/>
              <a:ext cx="726" cy="726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31" name="Text Box 471"/>
            <p:cNvSpPr txBox="1">
              <a:spLocks noChangeArrowheads="1"/>
            </p:cNvSpPr>
            <p:nvPr/>
          </p:nvSpPr>
          <p:spPr bwMode="auto">
            <a:xfrm>
              <a:off x="725" y="1869"/>
              <a:ext cx="1293" cy="7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21600" rIns="18000" bIns="10800"/>
            <a:lstStyle/>
            <a:p>
              <a:pPr algn="ctr">
                <a:lnSpc>
                  <a:spcPct val="7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(000H)00000000000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7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    …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7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(3FFH)01111111111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7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(400H)10000000000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7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    …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7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(7FFH)11111111111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51204" name="Group 644"/>
          <p:cNvGrpSpPr/>
          <p:nvPr/>
        </p:nvGrpSpPr>
        <p:grpSpPr bwMode="auto">
          <a:xfrm>
            <a:off x="2268539" y="4336058"/>
            <a:ext cx="6624639" cy="1973262"/>
            <a:chOff x="1520" y="2822"/>
            <a:chExt cx="4173" cy="1243"/>
          </a:xfrm>
        </p:grpSpPr>
        <p:sp>
          <p:nvSpPr>
            <p:cNvPr id="451140" name="Text Box 580"/>
            <p:cNvSpPr txBox="1">
              <a:spLocks noChangeArrowheads="1"/>
            </p:cNvSpPr>
            <p:nvPr/>
          </p:nvSpPr>
          <p:spPr bwMode="auto">
            <a:xfrm>
              <a:off x="1838" y="2931"/>
              <a:ext cx="226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80000"/>
                </a:lnSpc>
              </a:pPr>
              <a:r>
                <a:rPr lang="en-US" altLang="zh-CN" sz="1800" b="1" u="none">
                  <a:solidFill>
                    <a:srgbClr val="FF3399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>
                  <a:solidFill>
                    <a:srgbClr val="FF3399"/>
                  </a:solidFill>
                  <a:latin typeface="宋体" panose="02010600030101010101" pitchFamily="2" charset="-122"/>
                </a:rPr>
                <a:t>10</a:t>
              </a:r>
              <a:endParaRPr lang="en-US" altLang="zh-CN" sz="1800" b="1" u="none" baseline="-2000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51141" name="Text Box 581"/>
            <p:cNvSpPr txBox="1">
              <a:spLocks noChangeArrowheads="1"/>
            </p:cNvSpPr>
            <p:nvPr/>
          </p:nvSpPr>
          <p:spPr bwMode="auto">
            <a:xfrm>
              <a:off x="1520" y="3657"/>
              <a:ext cx="453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3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～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451142" name="Text Box 582"/>
            <p:cNvSpPr txBox="1">
              <a:spLocks noChangeArrowheads="1"/>
            </p:cNvSpPr>
            <p:nvPr/>
          </p:nvSpPr>
          <p:spPr bwMode="auto">
            <a:xfrm>
              <a:off x="1566" y="3112"/>
              <a:ext cx="454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9</a:t>
              </a:r>
              <a:r>
                <a:rPr lang="zh-CN" altLang="en-US" sz="1800" b="1" u="none">
                  <a:latin typeface="宋体" panose="02010600030101010101" pitchFamily="2" charset="-122"/>
                </a:rPr>
                <a:t>～</a:t>
              </a:r>
              <a:r>
                <a:rPr lang="en-US" altLang="zh-CN" sz="1800" b="1" u="none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451143" name="Text Box 583"/>
            <p:cNvSpPr txBox="1">
              <a:spLocks noChangeArrowheads="1"/>
            </p:cNvSpPr>
            <p:nvPr/>
          </p:nvSpPr>
          <p:spPr bwMode="auto">
            <a:xfrm>
              <a:off x="1521" y="3793"/>
              <a:ext cx="453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7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～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4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451144" name="Rectangle 584"/>
            <p:cNvSpPr>
              <a:spLocks noChangeArrowheads="1"/>
            </p:cNvSpPr>
            <p:nvPr/>
          </p:nvSpPr>
          <p:spPr bwMode="auto">
            <a:xfrm>
              <a:off x="2290" y="2840"/>
              <a:ext cx="3403" cy="12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45" name="Line 585"/>
            <p:cNvSpPr>
              <a:spLocks noChangeShapeType="1"/>
            </p:cNvSpPr>
            <p:nvPr/>
          </p:nvSpPr>
          <p:spPr bwMode="auto">
            <a:xfrm flipH="1" flipV="1">
              <a:off x="2064" y="3066"/>
              <a:ext cx="226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46" name="Line 586"/>
            <p:cNvSpPr>
              <a:spLocks noChangeShapeType="1"/>
            </p:cNvSpPr>
            <p:nvPr/>
          </p:nvSpPr>
          <p:spPr bwMode="auto">
            <a:xfrm flipH="1" flipV="1">
              <a:off x="2064" y="3248"/>
              <a:ext cx="227" cy="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47" name="Line 587"/>
            <p:cNvSpPr>
              <a:spLocks noChangeShapeType="1"/>
            </p:cNvSpPr>
            <p:nvPr/>
          </p:nvSpPr>
          <p:spPr bwMode="auto">
            <a:xfrm flipH="1" flipV="1">
              <a:off x="2200" y="2886"/>
              <a:ext cx="9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48" name="Line 588"/>
            <p:cNvSpPr>
              <a:spLocks noChangeShapeType="1"/>
            </p:cNvSpPr>
            <p:nvPr/>
          </p:nvSpPr>
          <p:spPr bwMode="auto">
            <a:xfrm flipH="1" flipV="1">
              <a:off x="2200" y="4020"/>
              <a:ext cx="9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49" name="Line 589"/>
            <p:cNvSpPr>
              <a:spLocks noChangeShapeType="1"/>
            </p:cNvSpPr>
            <p:nvPr/>
          </p:nvSpPr>
          <p:spPr bwMode="auto">
            <a:xfrm flipH="1" flipV="1">
              <a:off x="1973" y="3793"/>
              <a:ext cx="318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50" name="Line 590"/>
            <p:cNvSpPr>
              <a:spLocks noChangeShapeType="1"/>
            </p:cNvSpPr>
            <p:nvPr/>
          </p:nvSpPr>
          <p:spPr bwMode="auto">
            <a:xfrm flipH="1">
              <a:off x="1974" y="3883"/>
              <a:ext cx="317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51151" name="Group 591"/>
            <p:cNvGrpSpPr/>
            <p:nvPr/>
          </p:nvGrpSpPr>
          <p:grpSpPr bwMode="auto">
            <a:xfrm>
              <a:off x="2018" y="3929"/>
              <a:ext cx="181" cy="136"/>
              <a:chOff x="657" y="1389"/>
              <a:chExt cx="181" cy="136"/>
            </a:xfrm>
          </p:grpSpPr>
          <p:sp>
            <p:nvSpPr>
              <p:cNvPr id="451152" name="Text Box 592"/>
              <p:cNvSpPr txBox="1">
                <a:spLocks noChangeArrowheads="1"/>
              </p:cNvSpPr>
              <p:nvPr/>
            </p:nvSpPr>
            <p:spPr bwMode="auto">
              <a:xfrm>
                <a:off x="657" y="1389"/>
                <a:ext cx="181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>
                    <a:latin typeface="宋体" panose="02010600030101010101" pitchFamily="2" charset="-122"/>
                  </a:rPr>
                  <a:t>WE</a:t>
                </a:r>
                <a:endParaRPr lang="en-US" altLang="zh-CN" sz="1800" b="1" u="none">
                  <a:latin typeface="宋体" panose="02010600030101010101" pitchFamily="2" charset="-122"/>
                </a:endParaRPr>
              </a:p>
            </p:txBody>
          </p:sp>
          <p:sp>
            <p:nvSpPr>
              <p:cNvPr id="451153" name="Line 593"/>
              <p:cNvSpPr>
                <a:spLocks noChangeShapeType="1"/>
              </p:cNvSpPr>
              <p:nvPr/>
            </p:nvSpPr>
            <p:spPr bwMode="auto">
              <a:xfrm>
                <a:off x="669" y="1401"/>
                <a:ext cx="148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1154" name="Text Box 594"/>
            <p:cNvSpPr txBox="1">
              <a:spLocks noChangeArrowheads="1"/>
            </p:cNvSpPr>
            <p:nvPr/>
          </p:nvSpPr>
          <p:spPr bwMode="auto">
            <a:xfrm>
              <a:off x="2426" y="3339"/>
              <a:ext cx="635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1K×4b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SRAM(0#)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grpSp>
          <p:nvGrpSpPr>
            <p:cNvPr id="451155" name="Group 595"/>
            <p:cNvGrpSpPr/>
            <p:nvPr/>
          </p:nvGrpSpPr>
          <p:grpSpPr bwMode="auto">
            <a:xfrm>
              <a:off x="2019" y="2822"/>
              <a:ext cx="181" cy="136"/>
              <a:chOff x="657" y="1389"/>
              <a:chExt cx="181" cy="136"/>
            </a:xfrm>
          </p:grpSpPr>
          <p:sp>
            <p:nvSpPr>
              <p:cNvPr id="451156" name="Text Box 596"/>
              <p:cNvSpPr txBox="1">
                <a:spLocks noChangeArrowheads="1"/>
              </p:cNvSpPr>
              <p:nvPr/>
            </p:nvSpPr>
            <p:spPr bwMode="auto">
              <a:xfrm>
                <a:off x="657" y="1389"/>
                <a:ext cx="181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>
                    <a:latin typeface="宋体" panose="02010600030101010101" pitchFamily="2" charset="-122"/>
                  </a:rPr>
                  <a:t>CS</a:t>
                </a:r>
                <a:endParaRPr lang="en-US" altLang="zh-CN" sz="1800" b="1" u="none">
                  <a:latin typeface="宋体" panose="02010600030101010101" pitchFamily="2" charset="-122"/>
                </a:endParaRPr>
              </a:p>
            </p:txBody>
          </p:sp>
          <p:sp>
            <p:nvSpPr>
              <p:cNvPr id="451157" name="Line 597"/>
              <p:cNvSpPr>
                <a:spLocks noChangeShapeType="1"/>
              </p:cNvSpPr>
              <p:nvPr/>
            </p:nvSpPr>
            <p:spPr bwMode="auto">
              <a:xfrm>
                <a:off x="669" y="1401"/>
                <a:ext cx="148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1158" name="Text Box 598"/>
            <p:cNvSpPr txBox="1">
              <a:spLocks noChangeArrowheads="1"/>
            </p:cNvSpPr>
            <p:nvPr/>
          </p:nvSpPr>
          <p:spPr bwMode="auto">
            <a:xfrm>
              <a:off x="3242" y="3339"/>
              <a:ext cx="635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1K×4b</a:t>
              </a:r>
              <a:endParaRPr lang="en-US" altLang="zh-CN" sz="1800" b="1" u="none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SRAM(1#)</a:t>
              </a:r>
              <a:endParaRPr lang="en-US" altLang="zh-CN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451159" name="Text Box 599"/>
            <p:cNvSpPr txBox="1">
              <a:spLocks noChangeArrowheads="1"/>
            </p:cNvSpPr>
            <p:nvPr/>
          </p:nvSpPr>
          <p:spPr bwMode="auto">
            <a:xfrm>
              <a:off x="4060" y="3339"/>
              <a:ext cx="635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1K×4b</a:t>
              </a:r>
              <a:endParaRPr lang="en-US" altLang="zh-CN" sz="1800" b="1" u="none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SRAM(2#)</a:t>
              </a:r>
              <a:endParaRPr lang="en-US" altLang="zh-CN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451160" name="Text Box 600"/>
            <p:cNvSpPr txBox="1">
              <a:spLocks noChangeArrowheads="1"/>
            </p:cNvSpPr>
            <p:nvPr/>
          </p:nvSpPr>
          <p:spPr bwMode="auto">
            <a:xfrm>
              <a:off x="4876" y="3339"/>
              <a:ext cx="635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1K×4b</a:t>
              </a:r>
              <a:endParaRPr lang="en-US" altLang="zh-CN" sz="1800" b="1" u="none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SRAM(3#)</a:t>
              </a:r>
              <a:endParaRPr lang="en-US" altLang="zh-CN" sz="1800" b="1" u="none">
                <a:latin typeface="宋体" panose="02010600030101010101" pitchFamily="2" charset="-122"/>
              </a:endParaRPr>
            </a:p>
          </p:txBody>
        </p:sp>
      </p:grpSp>
      <p:grpSp>
        <p:nvGrpSpPr>
          <p:cNvPr id="451211" name="Group 651"/>
          <p:cNvGrpSpPr/>
          <p:nvPr/>
        </p:nvGrpSpPr>
        <p:grpSpPr bwMode="auto">
          <a:xfrm>
            <a:off x="3490913" y="4437658"/>
            <a:ext cx="3384550" cy="431800"/>
            <a:chOff x="2199" y="2869"/>
            <a:chExt cx="2132" cy="272"/>
          </a:xfrm>
        </p:grpSpPr>
        <p:sp>
          <p:nvSpPr>
            <p:cNvPr id="451175" name="Line 615"/>
            <p:cNvSpPr>
              <a:spLocks noChangeShapeType="1"/>
            </p:cNvSpPr>
            <p:nvPr/>
          </p:nvSpPr>
          <p:spPr bwMode="auto">
            <a:xfrm flipH="1" flipV="1">
              <a:off x="2381" y="3141"/>
              <a:ext cx="1633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81" name="Line 621"/>
            <p:cNvSpPr>
              <a:spLocks noChangeShapeType="1"/>
            </p:cNvSpPr>
            <p:nvPr/>
          </p:nvSpPr>
          <p:spPr bwMode="auto">
            <a:xfrm flipH="1" flipV="1">
              <a:off x="2199" y="2869"/>
              <a:ext cx="181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82" name="Oval 622"/>
            <p:cNvSpPr>
              <a:spLocks noChangeArrowheads="1"/>
            </p:cNvSpPr>
            <p:nvPr/>
          </p:nvSpPr>
          <p:spPr bwMode="auto">
            <a:xfrm>
              <a:off x="2472" y="3026"/>
              <a:ext cx="45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83" name="Text Box 623"/>
            <p:cNvSpPr txBox="1">
              <a:spLocks noChangeArrowheads="1"/>
            </p:cNvSpPr>
            <p:nvPr/>
          </p:nvSpPr>
          <p:spPr bwMode="auto">
            <a:xfrm>
              <a:off x="2517" y="2914"/>
              <a:ext cx="136" cy="1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&amp;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451184" name="Oval 624"/>
            <p:cNvSpPr>
              <a:spLocks noChangeArrowheads="1"/>
            </p:cNvSpPr>
            <p:nvPr/>
          </p:nvSpPr>
          <p:spPr bwMode="auto">
            <a:xfrm>
              <a:off x="2650" y="2987"/>
              <a:ext cx="45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85" name="Oval 625"/>
            <p:cNvSpPr>
              <a:spLocks noChangeArrowheads="1"/>
            </p:cNvSpPr>
            <p:nvPr/>
          </p:nvSpPr>
          <p:spPr bwMode="auto">
            <a:xfrm>
              <a:off x="2472" y="2932"/>
              <a:ext cx="45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88" name="Line 628"/>
            <p:cNvSpPr>
              <a:spLocks noChangeShapeType="1"/>
            </p:cNvSpPr>
            <p:nvPr/>
          </p:nvSpPr>
          <p:spPr bwMode="auto">
            <a:xfrm flipH="1" flipV="1">
              <a:off x="2199" y="3050"/>
              <a:ext cx="273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89" name="Line 629"/>
            <p:cNvSpPr>
              <a:spLocks noChangeShapeType="1"/>
            </p:cNvSpPr>
            <p:nvPr/>
          </p:nvSpPr>
          <p:spPr bwMode="auto">
            <a:xfrm flipH="1">
              <a:off x="2381" y="3051"/>
              <a:ext cx="0" cy="9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90" name="Line 630"/>
            <p:cNvSpPr>
              <a:spLocks noChangeShapeType="1"/>
            </p:cNvSpPr>
            <p:nvPr/>
          </p:nvSpPr>
          <p:spPr bwMode="auto">
            <a:xfrm>
              <a:off x="2381" y="2959"/>
              <a:ext cx="9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91" name="Line 631"/>
            <p:cNvSpPr>
              <a:spLocks noChangeShapeType="1"/>
            </p:cNvSpPr>
            <p:nvPr/>
          </p:nvSpPr>
          <p:spPr bwMode="auto">
            <a:xfrm>
              <a:off x="2381" y="2869"/>
              <a:ext cx="0" cy="9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92" name="Text Box 632"/>
            <p:cNvSpPr txBox="1">
              <a:spLocks noChangeArrowheads="1"/>
            </p:cNvSpPr>
            <p:nvPr/>
          </p:nvSpPr>
          <p:spPr bwMode="auto">
            <a:xfrm>
              <a:off x="4153" y="2914"/>
              <a:ext cx="136" cy="1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&amp;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451193" name="Oval 633"/>
            <p:cNvSpPr>
              <a:spLocks noChangeArrowheads="1"/>
            </p:cNvSpPr>
            <p:nvPr/>
          </p:nvSpPr>
          <p:spPr bwMode="auto">
            <a:xfrm>
              <a:off x="4286" y="2987"/>
              <a:ext cx="45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94" name="Oval 634"/>
            <p:cNvSpPr>
              <a:spLocks noChangeArrowheads="1"/>
            </p:cNvSpPr>
            <p:nvPr/>
          </p:nvSpPr>
          <p:spPr bwMode="auto">
            <a:xfrm>
              <a:off x="4108" y="2932"/>
              <a:ext cx="45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95" name="Line 635"/>
            <p:cNvSpPr>
              <a:spLocks noChangeShapeType="1"/>
            </p:cNvSpPr>
            <p:nvPr/>
          </p:nvSpPr>
          <p:spPr bwMode="auto">
            <a:xfrm>
              <a:off x="4017" y="2959"/>
              <a:ext cx="9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96" name="Line 636"/>
            <p:cNvSpPr>
              <a:spLocks noChangeShapeType="1"/>
            </p:cNvSpPr>
            <p:nvPr/>
          </p:nvSpPr>
          <p:spPr bwMode="auto">
            <a:xfrm>
              <a:off x="4017" y="2869"/>
              <a:ext cx="0" cy="9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97" name="Line 637"/>
            <p:cNvSpPr>
              <a:spLocks noChangeShapeType="1"/>
            </p:cNvSpPr>
            <p:nvPr/>
          </p:nvSpPr>
          <p:spPr bwMode="auto">
            <a:xfrm flipH="1" flipV="1">
              <a:off x="4017" y="3050"/>
              <a:ext cx="136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98" name="Line 638"/>
            <p:cNvSpPr>
              <a:spLocks noChangeShapeType="1"/>
            </p:cNvSpPr>
            <p:nvPr/>
          </p:nvSpPr>
          <p:spPr bwMode="auto">
            <a:xfrm flipH="1" flipV="1">
              <a:off x="4017" y="3050"/>
              <a:ext cx="0" cy="91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1212" name="AutoShape 65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2" name="组合 91"/>
          <p:cNvGrpSpPr/>
          <p:nvPr/>
        </p:nvGrpSpPr>
        <p:grpSpPr>
          <a:xfrm>
            <a:off x="3312270" y="2708027"/>
            <a:ext cx="1873250" cy="1441053"/>
            <a:chOff x="3895725" y="2922271"/>
            <a:chExt cx="1873250" cy="1441053"/>
          </a:xfrm>
        </p:grpSpPr>
        <p:sp>
          <p:nvSpPr>
            <p:cNvPr id="86" name="Text Box 425"/>
            <p:cNvSpPr txBox="1">
              <a:spLocks noChangeArrowheads="1"/>
            </p:cNvSpPr>
            <p:nvPr/>
          </p:nvSpPr>
          <p:spPr bwMode="auto">
            <a:xfrm>
              <a:off x="3895725" y="2922271"/>
              <a:ext cx="1008063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b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7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～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b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4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87" name="Rectangle 426"/>
            <p:cNvSpPr>
              <a:spLocks noChangeArrowheads="1"/>
            </p:cNvSpPr>
            <p:nvPr/>
          </p:nvSpPr>
          <p:spPr bwMode="auto">
            <a:xfrm>
              <a:off x="3895725" y="3211195"/>
              <a:ext cx="936625" cy="57817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1#</a:t>
              </a:r>
              <a:endParaRPr lang="en-US" altLang="zh-CN" sz="2000" b="1" u="none" baseline="30000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1K×4b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8" name="Text Box 427"/>
            <p:cNvSpPr txBox="1">
              <a:spLocks noChangeArrowheads="1"/>
            </p:cNvSpPr>
            <p:nvPr/>
          </p:nvSpPr>
          <p:spPr bwMode="auto">
            <a:xfrm>
              <a:off x="4832350" y="2922271"/>
              <a:ext cx="936625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b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3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～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b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89" name="Rectangle 428"/>
            <p:cNvSpPr>
              <a:spLocks noChangeArrowheads="1"/>
            </p:cNvSpPr>
            <p:nvPr/>
          </p:nvSpPr>
          <p:spPr bwMode="auto">
            <a:xfrm>
              <a:off x="4832350" y="3211195"/>
              <a:ext cx="935038" cy="578174"/>
            </a:xfrm>
            <a:prstGeom prst="rect">
              <a:avLst/>
            </a:prstGeom>
            <a:solidFill>
              <a:srgbClr val="99CCFF">
                <a:alpha val="81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0#</a:t>
              </a:r>
              <a:endParaRPr lang="en-US" altLang="zh-CN" sz="2000" b="1" u="none" baseline="30000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1K×4b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0" name="Rectangle 429"/>
            <p:cNvSpPr>
              <a:spLocks noChangeArrowheads="1"/>
            </p:cNvSpPr>
            <p:nvPr/>
          </p:nvSpPr>
          <p:spPr bwMode="auto">
            <a:xfrm>
              <a:off x="3895725" y="3789369"/>
              <a:ext cx="936625" cy="573955"/>
            </a:xfrm>
            <a:prstGeom prst="rect">
              <a:avLst/>
            </a:prstGeom>
            <a:solidFill>
              <a:srgbClr val="00CCFF">
                <a:alpha val="7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3#</a:t>
              </a:r>
              <a:endParaRPr lang="en-US" altLang="zh-CN" sz="2000" b="1" u="none" baseline="30000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1K×4b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1" name="Rectangle 430"/>
            <p:cNvSpPr>
              <a:spLocks noChangeArrowheads="1"/>
            </p:cNvSpPr>
            <p:nvPr/>
          </p:nvSpPr>
          <p:spPr bwMode="auto">
            <a:xfrm>
              <a:off x="4832350" y="3789369"/>
              <a:ext cx="935038" cy="573955"/>
            </a:xfrm>
            <a:prstGeom prst="rect">
              <a:avLst/>
            </a:prstGeom>
            <a:solidFill>
              <a:srgbClr val="00CCFF">
                <a:alpha val="7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2#</a:t>
              </a:r>
              <a:endParaRPr lang="en-US" altLang="zh-CN" sz="2000" b="1" u="none" baseline="30000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1K×4b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67" name="组合 166"/>
          <p:cNvGrpSpPr/>
          <p:nvPr/>
        </p:nvGrpSpPr>
        <p:grpSpPr>
          <a:xfrm>
            <a:off x="3491880" y="4653560"/>
            <a:ext cx="5256834" cy="1584323"/>
            <a:chOff x="3491880" y="4653560"/>
            <a:chExt cx="5256834" cy="1584323"/>
          </a:xfrm>
        </p:grpSpPr>
        <p:sp>
          <p:nvSpPr>
            <p:cNvPr id="168" name="Line 602"/>
            <p:cNvSpPr>
              <a:spLocks noChangeShapeType="1"/>
            </p:cNvSpPr>
            <p:nvPr/>
          </p:nvSpPr>
          <p:spPr bwMode="auto">
            <a:xfrm flipH="1" flipV="1">
              <a:off x="3491881" y="5877520"/>
              <a:ext cx="3313113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Line 603"/>
            <p:cNvSpPr>
              <a:spLocks noChangeShapeType="1"/>
            </p:cNvSpPr>
            <p:nvPr/>
          </p:nvSpPr>
          <p:spPr bwMode="auto">
            <a:xfrm flipH="1" flipV="1">
              <a:off x="4284044" y="5733058"/>
              <a:ext cx="0" cy="144462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oval" w="sm" len="sm"/>
              <a:tailEnd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Line 604"/>
            <p:cNvSpPr>
              <a:spLocks noChangeShapeType="1"/>
            </p:cNvSpPr>
            <p:nvPr/>
          </p:nvSpPr>
          <p:spPr bwMode="auto">
            <a:xfrm flipH="1" flipV="1">
              <a:off x="5508006" y="5733058"/>
              <a:ext cx="0" cy="28733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oval" w="sm" len="sm"/>
              <a:tailEnd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Line 605"/>
            <p:cNvSpPr>
              <a:spLocks noChangeShapeType="1"/>
            </p:cNvSpPr>
            <p:nvPr/>
          </p:nvSpPr>
          <p:spPr bwMode="auto">
            <a:xfrm flipH="1" flipV="1">
              <a:off x="6804994" y="5733058"/>
              <a:ext cx="0" cy="144462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Line 606"/>
            <p:cNvSpPr>
              <a:spLocks noChangeShapeType="1"/>
            </p:cNvSpPr>
            <p:nvPr/>
          </p:nvSpPr>
          <p:spPr bwMode="auto">
            <a:xfrm flipH="1" flipV="1">
              <a:off x="8028956" y="5733058"/>
              <a:ext cx="0" cy="28733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Line 607"/>
            <p:cNvSpPr>
              <a:spLocks noChangeShapeType="1"/>
            </p:cNvSpPr>
            <p:nvPr/>
          </p:nvSpPr>
          <p:spPr bwMode="auto">
            <a:xfrm flipH="1" flipV="1">
              <a:off x="3491881" y="6020395"/>
              <a:ext cx="4537075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Line 609"/>
            <p:cNvSpPr>
              <a:spLocks noChangeShapeType="1"/>
            </p:cNvSpPr>
            <p:nvPr/>
          </p:nvSpPr>
          <p:spPr bwMode="auto">
            <a:xfrm flipH="1" flipV="1">
              <a:off x="3491881" y="5012333"/>
              <a:ext cx="4608512" cy="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Line 610"/>
            <p:cNvSpPr>
              <a:spLocks noChangeShapeType="1"/>
            </p:cNvSpPr>
            <p:nvPr/>
          </p:nvSpPr>
          <p:spPr bwMode="auto">
            <a:xfrm flipH="1" flipV="1">
              <a:off x="4284043" y="5012333"/>
              <a:ext cx="0" cy="144462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611"/>
            <p:cNvSpPr>
              <a:spLocks noChangeShapeType="1"/>
            </p:cNvSpPr>
            <p:nvPr/>
          </p:nvSpPr>
          <p:spPr bwMode="auto">
            <a:xfrm flipH="1" flipV="1">
              <a:off x="5508006" y="5012333"/>
              <a:ext cx="0" cy="144462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Line 612"/>
            <p:cNvSpPr>
              <a:spLocks noChangeShapeType="1"/>
            </p:cNvSpPr>
            <p:nvPr/>
          </p:nvSpPr>
          <p:spPr bwMode="auto">
            <a:xfrm flipH="1" flipV="1">
              <a:off x="6804993" y="5012333"/>
              <a:ext cx="0" cy="144462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613"/>
            <p:cNvSpPr>
              <a:spLocks noChangeShapeType="1"/>
            </p:cNvSpPr>
            <p:nvPr/>
          </p:nvSpPr>
          <p:spPr bwMode="auto">
            <a:xfrm flipH="1" flipV="1">
              <a:off x="8100393" y="5012333"/>
              <a:ext cx="0" cy="144462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616"/>
            <p:cNvSpPr>
              <a:spLocks noChangeShapeType="1"/>
            </p:cNvSpPr>
            <p:nvPr/>
          </p:nvSpPr>
          <p:spPr bwMode="auto">
            <a:xfrm flipH="1">
              <a:off x="3491880" y="6237882"/>
              <a:ext cx="3673475" cy="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617"/>
            <p:cNvSpPr>
              <a:spLocks noChangeShapeType="1"/>
            </p:cNvSpPr>
            <p:nvPr/>
          </p:nvSpPr>
          <p:spPr bwMode="auto">
            <a:xfrm flipH="1" flipV="1">
              <a:off x="4572969" y="5733057"/>
              <a:ext cx="146" cy="504825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618"/>
            <p:cNvSpPr>
              <a:spLocks noChangeShapeType="1"/>
            </p:cNvSpPr>
            <p:nvPr/>
          </p:nvSpPr>
          <p:spPr bwMode="auto">
            <a:xfrm flipV="1">
              <a:off x="5868368" y="5733058"/>
              <a:ext cx="1" cy="391606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Line 619"/>
            <p:cNvSpPr>
              <a:spLocks noChangeShapeType="1"/>
            </p:cNvSpPr>
            <p:nvPr/>
          </p:nvSpPr>
          <p:spPr bwMode="auto">
            <a:xfrm flipH="1" flipV="1">
              <a:off x="7165356" y="5733058"/>
              <a:ext cx="0" cy="504825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Line 620"/>
            <p:cNvSpPr>
              <a:spLocks noChangeShapeType="1"/>
            </p:cNvSpPr>
            <p:nvPr/>
          </p:nvSpPr>
          <p:spPr bwMode="auto">
            <a:xfrm flipH="1" flipV="1">
              <a:off x="8460756" y="5733058"/>
              <a:ext cx="0" cy="391606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614"/>
            <p:cNvSpPr>
              <a:spLocks noChangeShapeType="1"/>
            </p:cNvSpPr>
            <p:nvPr/>
          </p:nvSpPr>
          <p:spPr bwMode="auto">
            <a:xfrm flipH="1">
              <a:off x="4860031" y="5088215"/>
              <a:ext cx="1296142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626"/>
            <p:cNvSpPr>
              <a:spLocks noChangeShapeType="1"/>
            </p:cNvSpPr>
            <p:nvPr/>
          </p:nvSpPr>
          <p:spPr bwMode="auto">
            <a:xfrm flipH="1" flipV="1">
              <a:off x="4284043" y="4653561"/>
              <a:ext cx="1872132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Line 627"/>
            <p:cNvSpPr>
              <a:spLocks noChangeShapeType="1"/>
            </p:cNvSpPr>
            <p:nvPr/>
          </p:nvSpPr>
          <p:spPr bwMode="auto">
            <a:xfrm flipH="1" flipV="1">
              <a:off x="6156176" y="4653561"/>
              <a:ext cx="0" cy="79136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Line 639"/>
            <p:cNvSpPr>
              <a:spLocks noChangeShapeType="1"/>
            </p:cNvSpPr>
            <p:nvPr/>
          </p:nvSpPr>
          <p:spPr bwMode="auto">
            <a:xfrm flipH="1">
              <a:off x="7452320" y="5080595"/>
              <a:ext cx="1296144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Line 640"/>
            <p:cNvSpPr>
              <a:spLocks noChangeShapeType="1"/>
            </p:cNvSpPr>
            <p:nvPr/>
          </p:nvSpPr>
          <p:spPr bwMode="auto">
            <a:xfrm flipH="1" flipV="1">
              <a:off x="6876430" y="4653561"/>
              <a:ext cx="1872284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Line 641"/>
            <p:cNvSpPr>
              <a:spLocks noChangeShapeType="1"/>
            </p:cNvSpPr>
            <p:nvPr/>
          </p:nvSpPr>
          <p:spPr bwMode="auto">
            <a:xfrm flipH="1" flipV="1">
              <a:off x="8748464" y="4653560"/>
              <a:ext cx="0" cy="791365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Line 626"/>
            <p:cNvSpPr>
              <a:spLocks noChangeShapeType="1"/>
            </p:cNvSpPr>
            <p:nvPr/>
          </p:nvSpPr>
          <p:spPr bwMode="auto">
            <a:xfrm flipV="1">
              <a:off x="4573115" y="6124664"/>
              <a:ext cx="1295253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Line 626"/>
            <p:cNvSpPr>
              <a:spLocks noChangeShapeType="1"/>
            </p:cNvSpPr>
            <p:nvPr/>
          </p:nvSpPr>
          <p:spPr bwMode="auto">
            <a:xfrm flipV="1">
              <a:off x="7166147" y="6124664"/>
              <a:ext cx="1295253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Line 626"/>
            <p:cNvSpPr>
              <a:spLocks noChangeShapeType="1"/>
            </p:cNvSpPr>
            <p:nvPr/>
          </p:nvSpPr>
          <p:spPr bwMode="auto">
            <a:xfrm flipH="1" flipV="1">
              <a:off x="4716092" y="5445224"/>
              <a:ext cx="14394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Line 626"/>
            <p:cNvSpPr>
              <a:spLocks noChangeShapeType="1"/>
            </p:cNvSpPr>
            <p:nvPr/>
          </p:nvSpPr>
          <p:spPr bwMode="auto">
            <a:xfrm flipH="1" flipV="1">
              <a:off x="6012236" y="5445224"/>
              <a:ext cx="14394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Line 626"/>
            <p:cNvSpPr>
              <a:spLocks noChangeShapeType="1"/>
            </p:cNvSpPr>
            <p:nvPr/>
          </p:nvSpPr>
          <p:spPr bwMode="auto">
            <a:xfrm flipH="1" flipV="1">
              <a:off x="7308380" y="5445224"/>
              <a:ext cx="14394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Line 626"/>
            <p:cNvSpPr>
              <a:spLocks noChangeShapeType="1"/>
            </p:cNvSpPr>
            <p:nvPr/>
          </p:nvSpPr>
          <p:spPr bwMode="auto">
            <a:xfrm flipH="1" flipV="1">
              <a:off x="8604524" y="5445224"/>
              <a:ext cx="14394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Line 641"/>
            <p:cNvSpPr>
              <a:spLocks noChangeShapeType="1"/>
            </p:cNvSpPr>
            <p:nvPr/>
          </p:nvSpPr>
          <p:spPr bwMode="auto">
            <a:xfrm flipH="1" flipV="1">
              <a:off x="4860032" y="5085183"/>
              <a:ext cx="0" cy="35974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641"/>
            <p:cNvSpPr>
              <a:spLocks noChangeShapeType="1"/>
            </p:cNvSpPr>
            <p:nvPr/>
          </p:nvSpPr>
          <p:spPr bwMode="auto">
            <a:xfrm flipH="1" flipV="1">
              <a:off x="7452320" y="5085184"/>
              <a:ext cx="0" cy="35974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11398" y="2924250"/>
            <a:ext cx="3024980" cy="1224830"/>
            <a:chOff x="5611398" y="2924250"/>
            <a:chExt cx="3024980" cy="1224830"/>
          </a:xfrm>
        </p:grpSpPr>
        <p:sp>
          <p:nvSpPr>
            <p:cNvPr id="97" name="Rectangle 430"/>
            <p:cNvSpPr>
              <a:spLocks noChangeArrowheads="1"/>
            </p:cNvSpPr>
            <p:nvPr/>
          </p:nvSpPr>
          <p:spPr bwMode="auto">
            <a:xfrm>
              <a:off x="5611398" y="2924250"/>
              <a:ext cx="3024980" cy="122483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t" anchorCtr="0"/>
            <a:lstStyle/>
            <a:p>
              <a:pPr algn="ctr"/>
              <a:r>
                <a:rPr lang="zh-CN" altLang="en-US" sz="2000" b="1" u="none" dirty="0" smtClean="0">
                  <a:latin typeface="宋体" panose="02010600030101010101" pitchFamily="2" charset="-122"/>
                </a:rPr>
                <a:t> 芯片   片选信号的</a:t>
              </a:r>
              <a:r>
                <a:rPr lang="zh-CN" altLang="en-US" sz="2000" b="1" u="none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逻辑</a:t>
              </a:r>
              <a:endParaRPr lang="en-US" altLang="zh-CN" sz="2000" b="1" u="none" dirty="0" smtClean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 lvl="0">
                <a:lnSpc>
                  <a:spcPct val="150000"/>
                </a:lnSpc>
              </a:pPr>
              <a:r>
                <a:rPr lang="en-US" altLang="zh-CN" sz="2000" b="1" u="none" dirty="0" smtClean="0">
                  <a:latin typeface="宋体" panose="02010600030101010101" pitchFamily="2" charset="-122"/>
                </a:rPr>
                <a:t> 0#</a:t>
              </a:r>
              <a:r>
                <a:rPr lang="zh-CN" altLang="en-US" sz="2000" b="1" u="none" dirty="0" smtClean="0">
                  <a:latin typeface="宋体" panose="02010600030101010101" pitchFamily="2" charset="-122"/>
                </a:rPr>
                <a:t>、</a:t>
              </a:r>
              <a:r>
                <a:rPr lang="en-US" altLang="zh-CN" sz="2000" b="1" u="none" dirty="0" smtClean="0">
                  <a:latin typeface="宋体" panose="02010600030101010101" pitchFamily="2" charset="-122"/>
                </a:rPr>
                <a:t>1#      CS</a:t>
              </a:r>
              <a:r>
                <a:rPr lang="en-US" altLang="zh-CN" sz="2000" b="1" u="none" dirty="0" smtClean="0"/>
                <a:t>·</a:t>
              </a:r>
              <a:r>
                <a:rPr lang="en-US" altLang="zh-CN" sz="20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2000" b="1" u="none" baseline="-18000" dirty="0" smtClean="0">
                  <a:latin typeface="宋体" panose="02010600030101010101" pitchFamily="2" charset="-122"/>
                </a:rPr>
                <a:t>10</a:t>
              </a:r>
              <a:endParaRPr lang="en-US" altLang="zh-CN" sz="2000" b="1" u="none" dirty="0" smtClean="0">
                <a:latin typeface="宋体" panose="02010600030101010101" pitchFamily="2" charset="-122"/>
              </a:endParaRPr>
            </a:p>
            <a:p>
              <a:pPr lvl="0">
                <a:lnSpc>
                  <a:spcPct val="150000"/>
                </a:lnSpc>
              </a:pPr>
              <a:r>
                <a:rPr lang="en-US" altLang="zh-CN" sz="2000" b="1" u="none" dirty="0" smtClean="0">
                  <a:latin typeface="宋体" panose="02010600030101010101" pitchFamily="2" charset="-122"/>
                </a:rPr>
                <a:t> 2#</a:t>
              </a:r>
              <a:r>
                <a:rPr lang="zh-CN" altLang="en-US" sz="2000" b="1" u="none" dirty="0" smtClean="0">
                  <a:latin typeface="宋体" panose="02010600030101010101" pitchFamily="2" charset="-122"/>
                </a:rPr>
                <a:t>、</a:t>
              </a:r>
              <a:r>
                <a:rPr lang="en-US" altLang="zh-CN" sz="2000" b="1" u="none" dirty="0" smtClean="0">
                  <a:latin typeface="宋体" panose="02010600030101010101" pitchFamily="2" charset="-122"/>
                </a:rPr>
                <a:t>3#      CS</a:t>
              </a:r>
              <a:r>
                <a:rPr lang="en-US" altLang="zh-CN" sz="2000" b="1" u="none" dirty="0" smtClean="0"/>
                <a:t>·</a:t>
              </a:r>
              <a:r>
                <a:rPr lang="en-US" altLang="zh-CN" sz="20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2000" b="1" u="none" baseline="-18000" dirty="0" smtClean="0">
                  <a:latin typeface="宋体" panose="02010600030101010101" pitchFamily="2" charset="-122"/>
                </a:rPr>
                <a:t>10</a:t>
              </a:r>
              <a:endParaRPr lang="en-US" altLang="zh-CN" sz="20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93" name="直接连接符 92"/>
            <p:cNvCxnSpPr/>
            <p:nvPr/>
          </p:nvCxnSpPr>
          <p:spPr bwMode="auto">
            <a:xfrm>
              <a:off x="7694927" y="3367087"/>
              <a:ext cx="259775" cy="0"/>
            </a:xfrm>
            <a:prstGeom prst="line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4" name="直接连接符 93"/>
            <p:cNvCxnSpPr/>
            <p:nvPr/>
          </p:nvCxnSpPr>
          <p:spPr bwMode="auto">
            <a:xfrm>
              <a:off x="7330854" y="3334767"/>
              <a:ext cx="643576" cy="0"/>
            </a:xfrm>
            <a:prstGeom prst="line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直接连接符 95"/>
            <p:cNvCxnSpPr/>
            <p:nvPr/>
          </p:nvCxnSpPr>
          <p:spPr bwMode="auto">
            <a:xfrm>
              <a:off x="7344730" y="3776340"/>
              <a:ext cx="643576" cy="0"/>
            </a:xfrm>
            <a:prstGeom prst="line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直接连接符 98"/>
            <p:cNvCxnSpPr/>
            <p:nvPr/>
          </p:nvCxnSpPr>
          <p:spPr bwMode="auto">
            <a:xfrm>
              <a:off x="5616538" y="3284984"/>
              <a:ext cx="3019840" cy="0"/>
            </a:xfrm>
            <a:prstGeom prst="line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直接连接符 99"/>
            <p:cNvCxnSpPr/>
            <p:nvPr/>
          </p:nvCxnSpPr>
          <p:spPr bwMode="auto">
            <a:xfrm>
              <a:off x="5612042" y="3717032"/>
              <a:ext cx="3024336" cy="0"/>
            </a:xfrm>
            <a:prstGeom prst="line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直接连接符 100"/>
            <p:cNvCxnSpPr/>
            <p:nvPr/>
          </p:nvCxnSpPr>
          <p:spPr bwMode="auto">
            <a:xfrm>
              <a:off x="6692162" y="2925837"/>
              <a:ext cx="0" cy="1223243"/>
            </a:xfrm>
            <a:prstGeom prst="line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接连接符 101"/>
            <p:cNvCxnSpPr/>
            <p:nvPr/>
          </p:nvCxnSpPr>
          <p:spPr bwMode="auto">
            <a:xfrm>
              <a:off x="7327354" y="3363342"/>
              <a:ext cx="252000" cy="0"/>
            </a:xfrm>
            <a:prstGeom prst="line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" name="直接连接符 102"/>
            <p:cNvCxnSpPr/>
            <p:nvPr/>
          </p:nvCxnSpPr>
          <p:spPr bwMode="auto">
            <a:xfrm>
              <a:off x="7327354" y="3397250"/>
              <a:ext cx="252000" cy="0"/>
            </a:xfrm>
            <a:prstGeom prst="line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直接连接符 103"/>
            <p:cNvCxnSpPr/>
            <p:nvPr/>
          </p:nvCxnSpPr>
          <p:spPr bwMode="auto">
            <a:xfrm>
              <a:off x="7344336" y="3814440"/>
              <a:ext cx="252000" cy="0"/>
            </a:xfrm>
            <a:prstGeom prst="line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直接连接符 104"/>
            <p:cNvCxnSpPr/>
            <p:nvPr/>
          </p:nvCxnSpPr>
          <p:spPr bwMode="auto">
            <a:xfrm>
              <a:off x="7344336" y="3848348"/>
              <a:ext cx="252000" cy="0"/>
            </a:xfrm>
            <a:prstGeom prst="line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5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50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50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4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4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1000"/>
                                        <p:tgtEl>
                                          <p:spTgt spid="4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978" grpId="0" autoUpdateAnimBg="0"/>
      <p:bldP spid="45097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E687B-C4CE-4F14-8A01-DA6EAC28BEAA}" type="slidenum">
              <a:rPr lang="en-US" altLang="zh-CN"/>
            </a:fld>
            <a:endParaRPr lang="en-US" altLang="zh-CN"/>
          </a:p>
        </p:txBody>
      </p:sp>
      <p:sp>
        <p:nvSpPr>
          <p:cNvPr id="449748" name="Text Box 212"/>
          <p:cNvSpPr txBox="1">
            <a:spLocks noChangeArrowheads="1"/>
          </p:cNvSpPr>
          <p:nvPr/>
        </p:nvSpPr>
        <p:spPr bwMode="auto">
          <a:xfrm>
            <a:off x="179388" y="359445"/>
            <a:ext cx="8785225" cy="549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练习</a:t>
            </a: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2—</a:t>
            </a:r>
            <a:r>
              <a:rPr lang="zh-CN" altLang="en-US" b="1" u="none" dirty="0">
                <a:latin typeface="宋体" panose="02010600030101010101" pitchFamily="2" charset="-122"/>
              </a:rPr>
              <a:t>用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1K×4b SRAM</a:t>
            </a:r>
            <a:r>
              <a:rPr lang="zh-CN" altLang="en-US" b="1" u="none" dirty="0">
                <a:latin typeface="宋体" panose="02010600030101010101" pitchFamily="2" charset="-122"/>
              </a:rPr>
              <a:t>芯片构成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4K×8b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的存储模块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449749" name="Text Box 213"/>
          <p:cNvSpPr txBox="1">
            <a:spLocks noChangeArrowheads="1"/>
          </p:cNvSpPr>
          <p:nvPr/>
        </p:nvSpPr>
        <p:spPr bwMode="auto">
          <a:xfrm>
            <a:off x="179388" y="838349"/>
            <a:ext cx="8785225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6—</a:t>
            </a:r>
            <a:r>
              <a:rPr lang="zh-CN" altLang="en-US" b="1" u="none" dirty="0">
                <a:latin typeface="宋体" panose="02010600030101010101" pitchFamily="2" charset="-122"/>
              </a:rPr>
              <a:t>用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1K×4b</a:t>
            </a:r>
            <a:r>
              <a:rPr lang="en-US" altLang="zh-CN" b="1" u="none" dirty="0" smtClean="0">
                <a:latin typeface="+mn-lt"/>
              </a:rPr>
              <a:t> 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ROM</a:t>
            </a:r>
            <a:r>
              <a:rPr lang="zh-CN" altLang="en-US" b="1" u="none" dirty="0">
                <a:latin typeface="宋体" panose="02010600030101010101" pitchFamily="2" charset="-122"/>
              </a:rPr>
              <a:t>、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1K×8b</a:t>
            </a:r>
            <a:r>
              <a:rPr lang="en-US" altLang="zh-CN" b="1" u="none" dirty="0" smtClean="0">
                <a:latin typeface="+mn-lt"/>
              </a:rPr>
              <a:t> 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SRAM</a:t>
            </a:r>
            <a:r>
              <a:rPr lang="zh-CN" altLang="en-US" b="1" u="none" dirty="0">
                <a:latin typeface="宋体" panose="02010600030101010101" pitchFamily="2" charset="-122"/>
              </a:rPr>
              <a:t>芯片构成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4K×8b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存储模块</a:t>
            </a:r>
            <a:r>
              <a:rPr lang="zh-CN" altLang="en-US" b="1" u="none" dirty="0">
                <a:latin typeface="宋体" panose="02010600030101010101" pitchFamily="2" charset="-122"/>
              </a:rPr>
              <a:t>，其中前</a:t>
            </a:r>
            <a:r>
              <a:rPr lang="en-US" altLang="zh-CN" b="1" u="none" dirty="0">
                <a:latin typeface="宋体" panose="02010600030101010101" pitchFamily="2" charset="-122"/>
              </a:rPr>
              <a:t>1KB</a:t>
            </a:r>
            <a:r>
              <a:rPr lang="zh-CN" altLang="en-US" b="1" u="none" dirty="0">
                <a:latin typeface="宋体" panose="02010600030101010101" pitchFamily="2" charset="-122"/>
              </a:rPr>
              <a:t>空间为只读空间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449750" name="Text Box 214"/>
          <p:cNvSpPr txBox="1">
            <a:spLocks noChangeArrowheads="1"/>
          </p:cNvSpPr>
          <p:nvPr/>
        </p:nvSpPr>
        <p:spPr bwMode="auto">
          <a:xfrm>
            <a:off x="179387" y="1765265"/>
            <a:ext cx="4537075" cy="155273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解：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①所需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芯片</a:t>
            </a: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数量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35000"/>
              </a:lnSpc>
            </a:pP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②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芯片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所占空间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b="1" u="none" dirty="0" smtClean="0">
                <a:latin typeface="宋体" panose="02010600030101010101" pitchFamily="2" charset="-122"/>
              </a:rPr>
              <a:t>    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③芯片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连接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49751" name="Text Box 215"/>
          <p:cNvSpPr txBox="1">
            <a:spLocks noChangeArrowheads="1"/>
          </p:cNvSpPr>
          <p:nvPr/>
        </p:nvSpPr>
        <p:spPr bwMode="auto">
          <a:xfrm>
            <a:off x="3994398" y="1772816"/>
            <a:ext cx="4754316" cy="549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 smtClean="0">
                <a:latin typeface="宋体" panose="02010600030101010101" pitchFamily="2" charset="-122"/>
              </a:rPr>
              <a:t>ROM</a:t>
            </a:r>
            <a:r>
              <a:rPr lang="zh-CN" altLang="en-US" b="1" u="none" dirty="0">
                <a:latin typeface="宋体" panose="02010600030101010101" pitchFamily="2" charset="-122"/>
              </a:rPr>
              <a:t>需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2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片，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SRAM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需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3</a:t>
            </a:r>
            <a:r>
              <a:rPr lang="zh-CN" altLang="en-US" b="1" u="none" dirty="0">
                <a:latin typeface="宋体" panose="02010600030101010101" pitchFamily="2" charset="-122"/>
              </a:rPr>
              <a:t>片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449752" name="Text Box 216"/>
          <p:cNvSpPr txBox="1">
            <a:spLocks noChangeArrowheads="1"/>
          </p:cNvSpPr>
          <p:nvPr/>
        </p:nvSpPr>
        <p:spPr bwMode="auto">
          <a:xfrm>
            <a:off x="2699792" y="2230849"/>
            <a:ext cx="3024336" cy="10541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    模块地址为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12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位</a:t>
            </a:r>
            <a:endParaRPr lang="en-US" altLang="zh-CN" sz="20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b="1" u="none" dirty="0" smtClean="0">
                <a:latin typeface="宋体" panose="02010600030101010101" pitchFamily="2" charset="-122"/>
              </a:rPr>
              <a:t>先</a:t>
            </a:r>
            <a:r>
              <a:rPr lang="zh-CN" altLang="en-US" b="1" dirty="0" smtClean="0">
                <a:latin typeface="宋体" panose="02010600030101010101" pitchFamily="2" charset="-122"/>
              </a:rPr>
              <a:t>位扩展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后</a:t>
            </a:r>
            <a:r>
              <a:rPr lang="zh-CN" altLang="en-US" b="1" dirty="0">
                <a:latin typeface="宋体" panose="02010600030101010101" pitchFamily="2" charset="-122"/>
              </a:rPr>
              <a:t>字</a:t>
            </a:r>
            <a:r>
              <a:rPr lang="zh-CN" altLang="en-US" b="1" dirty="0" smtClean="0">
                <a:latin typeface="宋体" panose="02010600030101010101" pitchFamily="2" charset="-122"/>
              </a:rPr>
              <a:t>扩展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5795934" y="2276872"/>
            <a:ext cx="1368000" cy="1017517"/>
            <a:chOff x="5580037" y="2347913"/>
            <a:chExt cx="1368000" cy="1017517"/>
          </a:xfrm>
        </p:grpSpPr>
        <p:sp>
          <p:nvSpPr>
            <p:cNvPr id="449760" name="Rectangle 224"/>
            <p:cNvSpPr>
              <a:spLocks noChangeArrowheads="1"/>
            </p:cNvSpPr>
            <p:nvPr/>
          </p:nvSpPr>
          <p:spPr bwMode="auto">
            <a:xfrm>
              <a:off x="5651893" y="2347913"/>
              <a:ext cx="252000" cy="100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noFill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9761" name="Rectangle 225"/>
            <p:cNvSpPr>
              <a:spLocks noChangeArrowheads="1"/>
            </p:cNvSpPr>
            <p:nvPr/>
          </p:nvSpPr>
          <p:spPr bwMode="auto">
            <a:xfrm>
              <a:off x="5904037" y="2347913"/>
              <a:ext cx="1044000" cy="100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9762" name="Text Box 226"/>
            <p:cNvSpPr txBox="1">
              <a:spLocks noChangeArrowheads="1"/>
            </p:cNvSpPr>
            <p:nvPr/>
          </p:nvSpPr>
          <p:spPr bwMode="auto">
            <a:xfrm>
              <a:off x="5580037" y="2357430"/>
              <a:ext cx="1368000" cy="100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00</a:t>
              </a:r>
              <a:r>
                <a:rPr lang="en-US" altLang="zh-CN" sz="1800" b="1" u="none" spc="-100" dirty="0" smtClean="0">
                  <a:latin typeface="宋体" panose="02010600030101010101" pitchFamily="2" charset="-122"/>
                </a:rPr>
                <a:t>XXXXXXXXXX</a:t>
              </a:r>
              <a:endParaRPr lang="en-US" altLang="zh-CN" sz="1800" b="1" u="none" spc="-100" dirty="0">
                <a:latin typeface="宋体" panose="02010600030101010101" pitchFamily="2" charset="-122"/>
              </a:endParaRPr>
            </a:p>
            <a:p>
              <a:pPr algn="r">
                <a:lnSpc>
                  <a:spcPct val="95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01</a:t>
              </a:r>
              <a:r>
                <a:rPr lang="en-US" altLang="zh-CN" sz="1800" b="1" u="none" spc="-100" dirty="0" smtClean="0">
                  <a:latin typeface="宋体" panose="02010600030101010101" pitchFamily="2" charset="-122"/>
                </a:rPr>
                <a:t>XXXXXXXXXX</a:t>
              </a:r>
              <a:endParaRPr lang="en-US" altLang="zh-CN" sz="1800" b="1" u="none" spc="-100" dirty="0">
                <a:latin typeface="宋体" panose="02010600030101010101" pitchFamily="2" charset="-122"/>
              </a:endParaRPr>
            </a:p>
            <a:p>
              <a:pPr algn="r">
                <a:lnSpc>
                  <a:spcPct val="95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10</a:t>
              </a:r>
              <a:r>
                <a:rPr lang="en-US" altLang="zh-CN" sz="1800" b="1" u="none" spc="-100" dirty="0" smtClean="0">
                  <a:latin typeface="宋体" panose="02010600030101010101" pitchFamily="2" charset="-122"/>
                </a:rPr>
                <a:t>XXXXXXXXXX</a:t>
              </a:r>
              <a:endParaRPr lang="en-US" altLang="zh-CN" sz="1800" b="1" u="none" spc="-100" dirty="0">
                <a:latin typeface="宋体" panose="02010600030101010101" pitchFamily="2" charset="-122"/>
              </a:endParaRPr>
            </a:p>
            <a:p>
              <a:pPr algn="r">
                <a:lnSpc>
                  <a:spcPct val="95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11</a:t>
              </a:r>
              <a:r>
                <a:rPr lang="en-US" altLang="zh-CN" sz="1800" b="1" u="none" spc="-100" dirty="0" smtClean="0">
                  <a:latin typeface="宋体" panose="02010600030101010101" pitchFamily="2" charset="-122"/>
                </a:rPr>
                <a:t>XXXXXXXXXX</a:t>
              </a:r>
              <a:endParaRPr lang="en-US" altLang="zh-CN" sz="1800" b="1" u="none" spc="-1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7235942" y="2277566"/>
            <a:ext cx="1728546" cy="1007418"/>
            <a:chOff x="7020967" y="2348607"/>
            <a:chExt cx="1728546" cy="1007418"/>
          </a:xfrm>
        </p:grpSpPr>
        <p:sp>
          <p:nvSpPr>
            <p:cNvPr id="449755" name="Rectangle 219"/>
            <p:cNvSpPr>
              <a:spLocks noChangeArrowheads="1"/>
            </p:cNvSpPr>
            <p:nvPr/>
          </p:nvSpPr>
          <p:spPr bwMode="auto">
            <a:xfrm>
              <a:off x="7020967" y="2348607"/>
              <a:ext cx="864000" cy="252000"/>
            </a:xfrm>
            <a:prstGeom prst="rect">
              <a:avLst/>
            </a:prstGeom>
            <a:solidFill>
              <a:srgbClr val="CCFF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/>
              <a:r>
                <a:rPr lang="en-US" altLang="zh-CN" sz="2000" b="1" u="none" dirty="0">
                  <a:latin typeface="宋体" panose="02010600030101010101" pitchFamily="2" charset="-122"/>
                </a:rPr>
                <a:t>ROM</a:t>
              </a:r>
              <a:r>
                <a:rPr lang="en-US" altLang="zh-CN" sz="2000" b="1" u="none" baseline="-18000" dirty="0">
                  <a:latin typeface="宋体" panose="02010600030101010101" pitchFamily="2" charset="-122"/>
                </a:rPr>
                <a:t> </a:t>
              </a:r>
              <a:r>
                <a:rPr lang="en-US" altLang="zh-CN" sz="2000" b="1" u="none" dirty="0">
                  <a:latin typeface="宋体" panose="02010600030101010101" pitchFamily="2" charset="-122"/>
                </a:rPr>
                <a:t>1#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49757" name="Rectangle 221"/>
            <p:cNvSpPr>
              <a:spLocks noChangeArrowheads="1"/>
            </p:cNvSpPr>
            <p:nvPr/>
          </p:nvSpPr>
          <p:spPr bwMode="auto">
            <a:xfrm>
              <a:off x="7885063" y="2348607"/>
              <a:ext cx="864000" cy="252000"/>
            </a:xfrm>
            <a:prstGeom prst="rect">
              <a:avLst/>
            </a:prstGeom>
            <a:solidFill>
              <a:srgbClr val="CCFF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/>
              <a:r>
                <a:rPr lang="en-US" altLang="zh-CN" sz="2000" b="1" u="none" dirty="0">
                  <a:latin typeface="宋体" panose="02010600030101010101" pitchFamily="2" charset="-122"/>
                </a:rPr>
                <a:t>ROM</a:t>
              </a:r>
              <a:r>
                <a:rPr lang="en-US" altLang="zh-CN" sz="2000" b="1" u="none" baseline="-18000" dirty="0">
                  <a:latin typeface="宋体" panose="02010600030101010101" pitchFamily="2" charset="-122"/>
                </a:rPr>
                <a:t> </a:t>
              </a:r>
              <a:r>
                <a:rPr lang="en-US" altLang="zh-CN" sz="2000" b="1" u="none" dirty="0">
                  <a:latin typeface="宋体" panose="02010600030101010101" pitchFamily="2" charset="-122"/>
                </a:rPr>
                <a:t>0#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49759" name="Rectangle 223"/>
            <p:cNvSpPr>
              <a:spLocks noChangeArrowheads="1"/>
            </p:cNvSpPr>
            <p:nvPr/>
          </p:nvSpPr>
          <p:spPr bwMode="auto">
            <a:xfrm>
              <a:off x="7021513" y="2599969"/>
              <a:ext cx="1728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/>
              <a:r>
                <a:rPr lang="en-US" altLang="zh-CN" sz="2000" b="1" u="none" dirty="0">
                  <a:latin typeface="宋体" panose="02010600030101010101" pitchFamily="2" charset="-122"/>
                </a:rPr>
                <a:t>SRAM 1#</a:t>
              </a:r>
              <a:endParaRPr lang="en-US" altLang="zh-CN" sz="2000" b="1" u="none" baseline="30000" dirty="0">
                <a:latin typeface="宋体" panose="02010600030101010101" pitchFamily="2" charset="-122"/>
              </a:endParaRPr>
            </a:p>
          </p:txBody>
        </p:sp>
        <p:sp>
          <p:nvSpPr>
            <p:cNvPr id="449763" name="Rectangle 227"/>
            <p:cNvSpPr>
              <a:spLocks noChangeArrowheads="1"/>
            </p:cNvSpPr>
            <p:nvPr/>
          </p:nvSpPr>
          <p:spPr bwMode="auto">
            <a:xfrm>
              <a:off x="7021513" y="2851969"/>
              <a:ext cx="1728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/>
              <a:r>
                <a:rPr lang="en-US" altLang="zh-CN" sz="2000" b="1" u="none" dirty="0">
                  <a:latin typeface="宋体" panose="02010600030101010101" pitchFamily="2" charset="-122"/>
                </a:rPr>
                <a:t>SRAM 2#</a:t>
              </a:r>
              <a:endParaRPr lang="en-US" altLang="zh-CN" sz="2000" b="1" u="none" baseline="30000" dirty="0">
                <a:latin typeface="宋体" panose="02010600030101010101" pitchFamily="2" charset="-122"/>
              </a:endParaRPr>
            </a:p>
          </p:txBody>
        </p:sp>
        <p:sp>
          <p:nvSpPr>
            <p:cNvPr id="449764" name="Rectangle 228"/>
            <p:cNvSpPr>
              <a:spLocks noChangeArrowheads="1"/>
            </p:cNvSpPr>
            <p:nvPr/>
          </p:nvSpPr>
          <p:spPr bwMode="auto">
            <a:xfrm>
              <a:off x="7021513" y="3104025"/>
              <a:ext cx="1728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/>
              <a:r>
                <a:rPr lang="en-US" altLang="zh-CN" sz="2000" b="1" u="none">
                  <a:latin typeface="宋体" panose="02010600030101010101" pitchFamily="2" charset="-122"/>
                </a:rPr>
                <a:t>SRAM 3#</a:t>
              </a:r>
              <a:endParaRPr lang="en-US" altLang="zh-CN" sz="2000" b="1" u="none" baseline="30000">
                <a:latin typeface="宋体" panose="02010600030101010101" pitchFamily="2" charset="-122"/>
              </a:endParaRPr>
            </a:p>
          </p:txBody>
        </p:sp>
      </p:grpSp>
      <p:grpSp>
        <p:nvGrpSpPr>
          <p:cNvPr id="449767" name="Group 231"/>
          <p:cNvGrpSpPr/>
          <p:nvPr/>
        </p:nvGrpSpPr>
        <p:grpSpPr bwMode="auto">
          <a:xfrm>
            <a:off x="827584" y="3429000"/>
            <a:ext cx="7921625" cy="2376488"/>
            <a:chOff x="430" y="2069"/>
            <a:chExt cx="4990" cy="1497"/>
          </a:xfrm>
        </p:grpSpPr>
        <p:sp>
          <p:nvSpPr>
            <p:cNvPr id="449768" name="Text Box 232"/>
            <p:cNvSpPr txBox="1">
              <a:spLocks noChangeArrowheads="1"/>
            </p:cNvSpPr>
            <p:nvPr/>
          </p:nvSpPr>
          <p:spPr bwMode="auto">
            <a:xfrm>
              <a:off x="703" y="2297"/>
              <a:ext cx="226" cy="31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8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11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  <a:p>
              <a:pPr algn="r">
                <a:lnSpc>
                  <a:spcPct val="8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10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449769" name="Text Box 233"/>
            <p:cNvSpPr txBox="1">
              <a:spLocks noChangeArrowheads="1"/>
            </p:cNvSpPr>
            <p:nvPr/>
          </p:nvSpPr>
          <p:spPr bwMode="auto">
            <a:xfrm>
              <a:off x="430" y="3131"/>
              <a:ext cx="453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8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3</a:t>
              </a:r>
              <a:r>
                <a:rPr lang="zh-CN" altLang="en-US" sz="1800" b="1" u="none">
                  <a:latin typeface="宋体" panose="02010600030101010101" pitchFamily="2" charset="-122"/>
                </a:rPr>
                <a:t>～</a:t>
              </a:r>
              <a:r>
                <a:rPr lang="en-US" altLang="zh-CN" sz="1800" b="1" u="none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449770" name="Text Box 234"/>
            <p:cNvSpPr txBox="1">
              <a:spLocks noChangeArrowheads="1"/>
            </p:cNvSpPr>
            <p:nvPr/>
          </p:nvSpPr>
          <p:spPr bwMode="auto">
            <a:xfrm>
              <a:off x="430" y="2586"/>
              <a:ext cx="454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9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～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449771" name="Text Box 235"/>
            <p:cNvSpPr txBox="1">
              <a:spLocks noChangeArrowheads="1"/>
            </p:cNvSpPr>
            <p:nvPr/>
          </p:nvSpPr>
          <p:spPr bwMode="auto">
            <a:xfrm>
              <a:off x="431" y="3267"/>
              <a:ext cx="453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8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7</a:t>
              </a:r>
              <a:r>
                <a:rPr lang="zh-CN" altLang="en-US" sz="1800" b="1" u="none">
                  <a:latin typeface="宋体" panose="02010600030101010101" pitchFamily="2" charset="-122"/>
                </a:rPr>
                <a:t>～</a:t>
              </a:r>
              <a:r>
                <a:rPr lang="en-US" altLang="zh-CN" sz="1800" b="1" u="none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>
                  <a:latin typeface="宋体" panose="02010600030101010101" pitchFamily="2" charset="-122"/>
                </a:rPr>
                <a:t>4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449772" name="Rectangle 236"/>
            <p:cNvSpPr>
              <a:spLocks noChangeArrowheads="1"/>
            </p:cNvSpPr>
            <p:nvPr/>
          </p:nvSpPr>
          <p:spPr bwMode="auto">
            <a:xfrm>
              <a:off x="1247" y="2069"/>
              <a:ext cx="4173" cy="149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9773" name="Line 237"/>
            <p:cNvSpPr>
              <a:spLocks noChangeShapeType="1"/>
            </p:cNvSpPr>
            <p:nvPr/>
          </p:nvSpPr>
          <p:spPr bwMode="auto">
            <a:xfrm flipH="1" flipV="1">
              <a:off x="929" y="2387"/>
              <a:ext cx="317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774" name="Line 238"/>
            <p:cNvSpPr>
              <a:spLocks noChangeShapeType="1"/>
            </p:cNvSpPr>
            <p:nvPr/>
          </p:nvSpPr>
          <p:spPr bwMode="auto">
            <a:xfrm flipH="1" flipV="1">
              <a:off x="929" y="2704"/>
              <a:ext cx="318" cy="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775" name="Line 239"/>
            <p:cNvSpPr>
              <a:spLocks noChangeShapeType="1"/>
            </p:cNvSpPr>
            <p:nvPr/>
          </p:nvSpPr>
          <p:spPr bwMode="auto">
            <a:xfrm flipH="1" flipV="1">
              <a:off x="1156" y="2160"/>
              <a:ext cx="91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776" name="Line 240"/>
            <p:cNvSpPr>
              <a:spLocks noChangeShapeType="1"/>
            </p:cNvSpPr>
            <p:nvPr/>
          </p:nvSpPr>
          <p:spPr bwMode="auto">
            <a:xfrm flipH="1" flipV="1">
              <a:off x="1156" y="3476"/>
              <a:ext cx="91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777" name="Line 241"/>
            <p:cNvSpPr>
              <a:spLocks noChangeShapeType="1"/>
            </p:cNvSpPr>
            <p:nvPr/>
          </p:nvSpPr>
          <p:spPr bwMode="auto">
            <a:xfrm flipH="1" flipV="1">
              <a:off x="929" y="3249"/>
              <a:ext cx="318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778" name="Line 242"/>
            <p:cNvSpPr>
              <a:spLocks noChangeShapeType="1"/>
            </p:cNvSpPr>
            <p:nvPr/>
          </p:nvSpPr>
          <p:spPr bwMode="auto">
            <a:xfrm flipH="1" flipV="1">
              <a:off x="929" y="3339"/>
              <a:ext cx="318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49779" name="Group 243"/>
            <p:cNvGrpSpPr/>
            <p:nvPr/>
          </p:nvGrpSpPr>
          <p:grpSpPr bwMode="auto">
            <a:xfrm>
              <a:off x="974" y="3412"/>
              <a:ext cx="181" cy="136"/>
              <a:chOff x="657" y="1389"/>
              <a:chExt cx="181" cy="136"/>
            </a:xfrm>
          </p:grpSpPr>
          <p:sp>
            <p:nvSpPr>
              <p:cNvPr id="449780" name="Text Box 244"/>
              <p:cNvSpPr txBox="1">
                <a:spLocks noChangeArrowheads="1"/>
              </p:cNvSpPr>
              <p:nvPr/>
            </p:nvSpPr>
            <p:spPr bwMode="auto">
              <a:xfrm>
                <a:off x="657" y="1389"/>
                <a:ext cx="181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>
                    <a:latin typeface="宋体" panose="02010600030101010101" pitchFamily="2" charset="-122"/>
                  </a:rPr>
                  <a:t>WE</a:t>
                </a:r>
                <a:endParaRPr lang="en-US" altLang="zh-CN" sz="1800" b="1" u="none">
                  <a:latin typeface="宋体" panose="02010600030101010101" pitchFamily="2" charset="-122"/>
                </a:endParaRPr>
              </a:p>
            </p:txBody>
          </p:sp>
          <p:sp>
            <p:nvSpPr>
              <p:cNvPr id="449781" name="Line 245"/>
              <p:cNvSpPr>
                <a:spLocks noChangeShapeType="1"/>
              </p:cNvSpPr>
              <p:nvPr/>
            </p:nvSpPr>
            <p:spPr bwMode="auto">
              <a:xfrm>
                <a:off x="669" y="1401"/>
                <a:ext cx="148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9782" name="Text Box 246"/>
            <p:cNvSpPr txBox="1">
              <a:spLocks noChangeArrowheads="1"/>
            </p:cNvSpPr>
            <p:nvPr/>
          </p:nvSpPr>
          <p:spPr bwMode="auto">
            <a:xfrm>
              <a:off x="2244" y="2795"/>
              <a:ext cx="635" cy="363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1K×4b</a:t>
              </a:r>
              <a:endParaRPr lang="en-US" altLang="zh-CN" sz="1800" b="1" u="none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ROM(1#)</a:t>
              </a:r>
              <a:endParaRPr lang="en-US" altLang="zh-CN" sz="1800" b="1" u="none">
                <a:latin typeface="宋体" panose="02010600030101010101" pitchFamily="2" charset="-122"/>
              </a:endParaRPr>
            </a:p>
          </p:txBody>
        </p:sp>
        <p:grpSp>
          <p:nvGrpSpPr>
            <p:cNvPr id="449783" name="Group 247"/>
            <p:cNvGrpSpPr/>
            <p:nvPr/>
          </p:nvGrpSpPr>
          <p:grpSpPr bwMode="auto">
            <a:xfrm>
              <a:off x="975" y="2088"/>
              <a:ext cx="181" cy="136"/>
              <a:chOff x="657" y="1389"/>
              <a:chExt cx="181" cy="136"/>
            </a:xfrm>
          </p:grpSpPr>
          <p:sp>
            <p:nvSpPr>
              <p:cNvPr id="449784" name="Text Box 248"/>
              <p:cNvSpPr txBox="1">
                <a:spLocks noChangeArrowheads="1"/>
              </p:cNvSpPr>
              <p:nvPr/>
            </p:nvSpPr>
            <p:spPr bwMode="auto">
              <a:xfrm>
                <a:off x="657" y="1389"/>
                <a:ext cx="181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>
                    <a:latin typeface="宋体" panose="02010600030101010101" pitchFamily="2" charset="-122"/>
                  </a:rPr>
                  <a:t>CS</a:t>
                </a:r>
                <a:endParaRPr lang="en-US" altLang="zh-CN" sz="1800" b="1" u="none">
                  <a:latin typeface="宋体" panose="02010600030101010101" pitchFamily="2" charset="-122"/>
                </a:endParaRPr>
              </a:p>
            </p:txBody>
          </p:sp>
          <p:sp>
            <p:nvSpPr>
              <p:cNvPr id="449785" name="Line 249"/>
              <p:cNvSpPr>
                <a:spLocks noChangeShapeType="1"/>
              </p:cNvSpPr>
              <p:nvPr/>
            </p:nvSpPr>
            <p:spPr bwMode="auto">
              <a:xfrm>
                <a:off x="669" y="1401"/>
                <a:ext cx="148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9786" name="Text Box 250"/>
            <p:cNvSpPr txBox="1">
              <a:spLocks noChangeArrowheads="1"/>
            </p:cNvSpPr>
            <p:nvPr/>
          </p:nvSpPr>
          <p:spPr bwMode="auto">
            <a:xfrm>
              <a:off x="3015" y="2795"/>
              <a:ext cx="635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1K×8b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SRAM(1#)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49787" name="Text Box 251"/>
            <p:cNvSpPr txBox="1">
              <a:spLocks noChangeArrowheads="1"/>
            </p:cNvSpPr>
            <p:nvPr/>
          </p:nvSpPr>
          <p:spPr bwMode="auto">
            <a:xfrm>
              <a:off x="3787" y="2795"/>
              <a:ext cx="635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1K×8b</a:t>
              </a:r>
              <a:endParaRPr lang="en-US" altLang="zh-CN" sz="1800" b="1" u="none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SRAM(2#)</a:t>
              </a:r>
              <a:endParaRPr lang="en-US" altLang="zh-CN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449788" name="Text Box 252"/>
            <p:cNvSpPr txBox="1">
              <a:spLocks noChangeArrowheads="1"/>
            </p:cNvSpPr>
            <p:nvPr/>
          </p:nvSpPr>
          <p:spPr bwMode="auto">
            <a:xfrm>
              <a:off x="4557" y="2795"/>
              <a:ext cx="635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1K×8b</a:t>
              </a:r>
              <a:endParaRPr lang="en-US" altLang="zh-CN" sz="1800" b="1" u="none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SRAM(3#)</a:t>
              </a:r>
              <a:endParaRPr lang="en-US" altLang="zh-CN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449789" name="Text Box 253"/>
            <p:cNvSpPr txBox="1">
              <a:spLocks noChangeArrowheads="1"/>
            </p:cNvSpPr>
            <p:nvPr/>
          </p:nvSpPr>
          <p:spPr bwMode="auto">
            <a:xfrm>
              <a:off x="1473" y="2795"/>
              <a:ext cx="635" cy="363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1K×4b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ROM(0#)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49790" name="Line 254"/>
            <p:cNvSpPr>
              <a:spLocks noChangeShapeType="1"/>
            </p:cNvSpPr>
            <p:nvPr/>
          </p:nvSpPr>
          <p:spPr bwMode="auto">
            <a:xfrm flipH="1" flipV="1">
              <a:off x="929" y="2568"/>
              <a:ext cx="317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9847" name="AutoShape 31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2124572" y="3573465"/>
            <a:ext cx="6337300" cy="792163"/>
            <a:chOff x="2124572" y="3933281"/>
            <a:chExt cx="6337300" cy="792163"/>
          </a:xfrm>
        </p:grpSpPr>
        <p:sp>
          <p:nvSpPr>
            <p:cNvPr id="449814" name="Line 278"/>
            <p:cNvSpPr>
              <a:spLocks noChangeShapeType="1"/>
            </p:cNvSpPr>
            <p:nvPr/>
          </p:nvSpPr>
          <p:spPr bwMode="auto">
            <a:xfrm flipH="1" flipV="1">
              <a:off x="3492997" y="4220619"/>
              <a:ext cx="1295400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821" name="Text Box 285"/>
            <p:cNvSpPr txBox="1">
              <a:spLocks noChangeArrowheads="1"/>
            </p:cNvSpPr>
            <p:nvPr/>
          </p:nvSpPr>
          <p:spPr bwMode="auto">
            <a:xfrm>
              <a:off x="2484935" y="4149181"/>
              <a:ext cx="792163" cy="576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2:4</a:t>
              </a:r>
              <a:endParaRPr lang="en-US" altLang="zh-CN" sz="1800" b="1" u="none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800" b="1" u="none">
                  <a:latin typeface="宋体" panose="02010600030101010101" pitchFamily="2" charset="-122"/>
                </a:rPr>
                <a:t>译码器</a:t>
              </a:r>
              <a:endParaRPr lang="zh-CN" altLang="en-US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449822" name="Oval 286"/>
            <p:cNvSpPr>
              <a:spLocks noChangeArrowheads="1"/>
            </p:cNvSpPr>
            <p:nvPr/>
          </p:nvSpPr>
          <p:spPr bwMode="auto">
            <a:xfrm>
              <a:off x="3277097" y="4179344"/>
              <a:ext cx="71438" cy="714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9823" name="Line 287"/>
            <p:cNvSpPr>
              <a:spLocks noChangeShapeType="1"/>
            </p:cNvSpPr>
            <p:nvPr/>
          </p:nvSpPr>
          <p:spPr bwMode="auto">
            <a:xfrm>
              <a:off x="2269035" y="4293644"/>
              <a:ext cx="2159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824" name="Line 288"/>
            <p:cNvSpPr>
              <a:spLocks noChangeShapeType="1"/>
            </p:cNvSpPr>
            <p:nvPr/>
          </p:nvSpPr>
          <p:spPr bwMode="auto">
            <a:xfrm>
              <a:off x="2269035" y="4580981"/>
              <a:ext cx="2159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825" name="Line 289"/>
            <p:cNvSpPr>
              <a:spLocks noChangeShapeType="1"/>
            </p:cNvSpPr>
            <p:nvPr/>
          </p:nvSpPr>
          <p:spPr bwMode="auto">
            <a:xfrm>
              <a:off x="2845297" y="3933281"/>
              <a:ext cx="0" cy="2159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826" name="Line 290"/>
            <p:cNvSpPr>
              <a:spLocks noChangeShapeType="1"/>
            </p:cNvSpPr>
            <p:nvPr/>
          </p:nvSpPr>
          <p:spPr bwMode="auto">
            <a:xfrm>
              <a:off x="3348535" y="4220619"/>
              <a:ext cx="1444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827" name="Line 291"/>
            <p:cNvSpPr>
              <a:spLocks noChangeShapeType="1"/>
            </p:cNvSpPr>
            <p:nvPr/>
          </p:nvSpPr>
          <p:spPr bwMode="auto">
            <a:xfrm>
              <a:off x="3348535" y="4365081"/>
              <a:ext cx="1444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828" name="Line 292"/>
            <p:cNvSpPr>
              <a:spLocks noChangeShapeType="1"/>
            </p:cNvSpPr>
            <p:nvPr/>
          </p:nvSpPr>
          <p:spPr bwMode="auto">
            <a:xfrm>
              <a:off x="3348535" y="4509544"/>
              <a:ext cx="1444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829" name="Line 293"/>
            <p:cNvSpPr>
              <a:spLocks noChangeShapeType="1"/>
            </p:cNvSpPr>
            <p:nvPr/>
          </p:nvSpPr>
          <p:spPr bwMode="auto">
            <a:xfrm>
              <a:off x="3348535" y="4654006"/>
              <a:ext cx="1444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830" name="Oval 294"/>
            <p:cNvSpPr>
              <a:spLocks noChangeArrowheads="1"/>
            </p:cNvSpPr>
            <p:nvPr/>
          </p:nvSpPr>
          <p:spPr bwMode="auto">
            <a:xfrm>
              <a:off x="3277097" y="4328569"/>
              <a:ext cx="71438" cy="714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9831" name="Oval 295"/>
            <p:cNvSpPr>
              <a:spLocks noChangeArrowheads="1"/>
            </p:cNvSpPr>
            <p:nvPr/>
          </p:nvSpPr>
          <p:spPr bwMode="auto">
            <a:xfrm>
              <a:off x="3277097" y="4466681"/>
              <a:ext cx="71438" cy="714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9832" name="Oval 296"/>
            <p:cNvSpPr>
              <a:spLocks noChangeArrowheads="1"/>
            </p:cNvSpPr>
            <p:nvPr/>
          </p:nvSpPr>
          <p:spPr bwMode="auto">
            <a:xfrm>
              <a:off x="3277097" y="4615906"/>
              <a:ext cx="71438" cy="714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49833" name="Group 297"/>
            <p:cNvGrpSpPr/>
            <p:nvPr/>
          </p:nvGrpSpPr>
          <p:grpSpPr bwMode="auto">
            <a:xfrm>
              <a:off x="3277097" y="3933281"/>
              <a:ext cx="287338" cy="287338"/>
              <a:chOff x="2336" y="1842"/>
              <a:chExt cx="181" cy="181"/>
            </a:xfrm>
          </p:grpSpPr>
          <p:sp>
            <p:nvSpPr>
              <p:cNvPr id="449834" name="Text Box 298"/>
              <p:cNvSpPr txBox="1">
                <a:spLocks noChangeArrowheads="1"/>
              </p:cNvSpPr>
              <p:nvPr/>
            </p:nvSpPr>
            <p:spPr bwMode="auto">
              <a:xfrm>
                <a:off x="2336" y="1842"/>
                <a:ext cx="181" cy="181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b="1" u="none">
                    <a:latin typeface="宋体" panose="02010600030101010101" pitchFamily="2" charset="-122"/>
                  </a:rPr>
                  <a:t>Y</a:t>
                </a:r>
                <a:r>
                  <a:rPr lang="en-US" altLang="zh-CN" sz="1800" b="1" u="none" baseline="-18000">
                    <a:latin typeface="宋体" panose="02010600030101010101" pitchFamily="2" charset="-122"/>
                  </a:rPr>
                  <a:t>0</a:t>
                </a:r>
                <a:endParaRPr lang="en-US" altLang="zh-CN" sz="1800" b="1" u="none">
                  <a:latin typeface="宋体" panose="02010600030101010101" pitchFamily="2" charset="-122"/>
                </a:endParaRPr>
              </a:p>
            </p:txBody>
          </p:sp>
          <p:sp>
            <p:nvSpPr>
              <p:cNvPr id="449835" name="Line 299"/>
              <p:cNvSpPr>
                <a:spLocks noChangeShapeType="1"/>
              </p:cNvSpPr>
              <p:nvPr/>
            </p:nvSpPr>
            <p:spPr bwMode="auto">
              <a:xfrm>
                <a:off x="2363" y="1860"/>
                <a:ext cx="91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9836" name="Text Box 300"/>
            <p:cNvSpPr txBox="1">
              <a:spLocks noChangeArrowheads="1"/>
            </p:cNvSpPr>
            <p:nvPr/>
          </p:nvSpPr>
          <p:spPr bwMode="auto">
            <a:xfrm>
              <a:off x="2269035" y="4077744"/>
              <a:ext cx="215900" cy="5048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B</a:t>
              </a:r>
              <a:endParaRPr lang="en-US" altLang="zh-CN" sz="1600" b="1" u="none" baseline="-18000">
                <a:latin typeface="宋体" panose="02010600030101010101" pitchFamily="2" charset="-122"/>
              </a:endParaRPr>
            </a:p>
            <a:p>
              <a:pPr algn="ctr">
                <a:lnSpc>
                  <a:spcPct val="115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A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449837" name="Line 301"/>
            <p:cNvSpPr>
              <a:spLocks noChangeShapeType="1"/>
            </p:cNvSpPr>
            <p:nvPr/>
          </p:nvSpPr>
          <p:spPr bwMode="auto">
            <a:xfrm>
              <a:off x="2124572" y="3933281"/>
              <a:ext cx="720725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49838" name="Group 302"/>
            <p:cNvGrpSpPr/>
            <p:nvPr/>
          </p:nvGrpSpPr>
          <p:grpSpPr bwMode="auto">
            <a:xfrm>
              <a:off x="2845297" y="3933281"/>
              <a:ext cx="287338" cy="215900"/>
              <a:chOff x="657" y="1389"/>
              <a:chExt cx="181" cy="136"/>
            </a:xfrm>
          </p:grpSpPr>
          <p:sp>
            <p:nvSpPr>
              <p:cNvPr id="449839" name="Text Box 303"/>
              <p:cNvSpPr txBox="1">
                <a:spLocks noChangeArrowheads="1"/>
              </p:cNvSpPr>
              <p:nvPr/>
            </p:nvSpPr>
            <p:spPr bwMode="auto">
              <a:xfrm>
                <a:off x="657" y="1389"/>
                <a:ext cx="181" cy="136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>
                    <a:latin typeface="宋体" panose="02010600030101010101" pitchFamily="2" charset="-122"/>
                  </a:rPr>
                  <a:t>GE</a:t>
                </a:r>
                <a:endParaRPr lang="en-US" altLang="zh-CN" sz="1800" b="1" u="none">
                  <a:latin typeface="宋体" panose="02010600030101010101" pitchFamily="2" charset="-122"/>
                </a:endParaRPr>
              </a:p>
            </p:txBody>
          </p:sp>
          <p:sp>
            <p:nvSpPr>
              <p:cNvPr id="449840" name="Line 304"/>
              <p:cNvSpPr>
                <a:spLocks noChangeShapeType="1"/>
              </p:cNvSpPr>
              <p:nvPr/>
            </p:nvSpPr>
            <p:spPr bwMode="auto">
              <a:xfrm>
                <a:off x="669" y="1401"/>
                <a:ext cx="148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9841" name="Line 305"/>
            <p:cNvSpPr>
              <a:spLocks noChangeShapeType="1"/>
            </p:cNvSpPr>
            <p:nvPr/>
          </p:nvSpPr>
          <p:spPr bwMode="auto">
            <a:xfrm flipH="1" flipV="1">
              <a:off x="2124572" y="4293644"/>
              <a:ext cx="142875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842" name="Line 306"/>
            <p:cNvSpPr>
              <a:spLocks noChangeShapeType="1"/>
            </p:cNvSpPr>
            <p:nvPr/>
          </p:nvSpPr>
          <p:spPr bwMode="auto">
            <a:xfrm flipH="1" flipV="1">
              <a:off x="2124572" y="4580981"/>
              <a:ext cx="142875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843" name="Line 307"/>
            <p:cNvSpPr>
              <a:spLocks noChangeShapeType="1"/>
            </p:cNvSpPr>
            <p:nvPr/>
          </p:nvSpPr>
          <p:spPr bwMode="auto">
            <a:xfrm flipH="1" flipV="1">
              <a:off x="3492997" y="4365081"/>
              <a:ext cx="2519363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844" name="Line 308"/>
            <p:cNvSpPr>
              <a:spLocks noChangeShapeType="1"/>
            </p:cNvSpPr>
            <p:nvPr/>
          </p:nvSpPr>
          <p:spPr bwMode="auto">
            <a:xfrm flipH="1" flipV="1">
              <a:off x="3492997" y="4509544"/>
              <a:ext cx="3744913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845" name="Line 309"/>
            <p:cNvSpPr>
              <a:spLocks noChangeShapeType="1"/>
            </p:cNvSpPr>
            <p:nvPr/>
          </p:nvSpPr>
          <p:spPr bwMode="auto">
            <a:xfrm flipH="1" flipV="1">
              <a:off x="3492997" y="4654006"/>
              <a:ext cx="4968875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124571" y="3861247"/>
            <a:ext cx="6337301" cy="1800225"/>
            <a:chOff x="2124571" y="4221063"/>
            <a:chExt cx="6337301" cy="1800225"/>
          </a:xfrm>
        </p:grpSpPr>
        <p:sp>
          <p:nvSpPr>
            <p:cNvPr id="449792" name="Line 256"/>
            <p:cNvSpPr>
              <a:spLocks noChangeShapeType="1"/>
            </p:cNvSpPr>
            <p:nvPr/>
          </p:nvSpPr>
          <p:spPr bwMode="auto">
            <a:xfrm flipH="1" flipV="1">
              <a:off x="2124572" y="5662499"/>
              <a:ext cx="5543649" cy="12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793" name="Line 257"/>
            <p:cNvSpPr>
              <a:spLocks noChangeShapeType="1"/>
            </p:cNvSpPr>
            <p:nvPr/>
          </p:nvSpPr>
          <p:spPr bwMode="auto">
            <a:xfrm flipH="1" flipV="1">
              <a:off x="2843808" y="5518037"/>
              <a:ext cx="0" cy="144462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794" name="Line 258"/>
            <p:cNvSpPr>
              <a:spLocks noChangeShapeType="1"/>
            </p:cNvSpPr>
            <p:nvPr/>
          </p:nvSpPr>
          <p:spPr bwMode="auto">
            <a:xfrm flipH="1" flipV="1">
              <a:off x="5364088" y="5518037"/>
              <a:ext cx="0" cy="28733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795" name="Line 259"/>
            <p:cNvSpPr>
              <a:spLocks noChangeShapeType="1"/>
            </p:cNvSpPr>
            <p:nvPr/>
          </p:nvSpPr>
          <p:spPr bwMode="auto">
            <a:xfrm flipH="1" flipV="1">
              <a:off x="7668221" y="5518037"/>
              <a:ext cx="0" cy="144462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796" name="Line 260"/>
            <p:cNvSpPr>
              <a:spLocks noChangeShapeType="1"/>
            </p:cNvSpPr>
            <p:nvPr/>
          </p:nvSpPr>
          <p:spPr bwMode="auto">
            <a:xfrm flipH="1" flipV="1">
              <a:off x="7812360" y="5518037"/>
              <a:ext cx="0" cy="28733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797" name="Line 261"/>
            <p:cNvSpPr>
              <a:spLocks noChangeShapeType="1"/>
            </p:cNvSpPr>
            <p:nvPr/>
          </p:nvSpPr>
          <p:spPr bwMode="auto">
            <a:xfrm flipH="1" flipV="1">
              <a:off x="2124571" y="5805374"/>
              <a:ext cx="5688236" cy="12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798" name="Line 262"/>
            <p:cNvSpPr>
              <a:spLocks noChangeShapeType="1"/>
            </p:cNvSpPr>
            <p:nvPr/>
          </p:nvSpPr>
          <p:spPr bwMode="auto">
            <a:xfrm flipH="1" flipV="1">
              <a:off x="5220296" y="5518037"/>
              <a:ext cx="0" cy="144462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799" name="Line 263"/>
            <p:cNvSpPr>
              <a:spLocks noChangeShapeType="1"/>
            </p:cNvSpPr>
            <p:nvPr/>
          </p:nvSpPr>
          <p:spPr bwMode="auto">
            <a:xfrm flipH="1" flipV="1">
              <a:off x="4067771" y="5518037"/>
              <a:ext cx="0" cy="28733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800" name="Line 264"/>
            <p:cNvSpPr>
              <a:spLocks noChangeShapeType="1"/>
            </p:cNvSpPr>
            <p:nvPr/>
          </p:nvSpPr>
          <p:spPr bwMode="auto">
            <a:xfrm flipH="1" flipV="1">
              <a:off x="6588224" y="5518037"/>
              <a:ext cx="0" cy="28733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801" name="Line 265"/>
            <p:cNvSpPr>
              <a:spLocks noChangeShapeType="1"/>
            </p:cNvSpPr>
            <p:nvPr/>
          </p:nvSpPr>
          <p:spPr bwMode="auto">
            <a:xfrm flipH="1" flipV="1">
              <a:off x="6444258" y="5518037"/>
              <a:ext cx="0" cy="144462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803" name="Line 267"/>
            <p:cNvSpPr>
              <a:spLocks noChangeShapeType="1"/>
            </p:cNvSpPr>
            <p:nvPr/>
          </p:nvSpPr>
          <p:spPr bwMode="auto">
            <a:xfrm flipH="1" flipV="1">
              <a:off x="2124572" y="4797314"/>
              <a:ext cx="5688235" cy="806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804" name="Line 268"/>
            <p:cNvSpPr>
              <a:spLocks noChangeShapeType="1"/>
            </p:cNvSpPr>
            <p:nvPr/>
          </p:nvSpPr>
          <p:spPr bwMode="auto">
            <a:xfrm flipH="1" flipV="1">
              <a:off x="3059832" y="4797314"/>
              <a:ext cx="0" cy="144462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805" name="Line 269"/>
            <p:cNvSpPr>
              <a:spLocks noChangeShapeType="1"/>
            </p:cNvSpPr>
            <p:nvPr/>
          </p:nvSpPr>
          <p:spPr bwMode="auto">
            <a:xfrm flipH="1" flipV="1">
              <a:off x="4283795" y="4797314"/>
              <a:ext cx="0" cy="144462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806" name="Line 270"/>
            <p:cNvSpPr>
              <a:spLocks noChangeShapeType="1"/>
            </p:cNvSpPr>
            <p:nvPr/>
          </p:nvSpPr>
          <p:spPr bwMode="auto">
            <a:xfrm flipH="1" flipV="1">
              <a:off x="5363295" y="4797314"/>
              <a:ext cx="0" cy="144462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807" name="Line 271"/>
            <p:cNvSpPr>
              <a:spLocks noChangeShapeType="1"/>
            </p:cNvSpPr>
            <p:nvPr/>
          </p:nvSpPr>
          <p:spPr bwMode="auto">
            <a:xfrm flipH="1" flipV="1">
              <a:off x="7812807" y="4797314"/>
              <a:ext cx="0" cy="144462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817" name="Line 281"/>
            <p:cNvSpPr>
              <a:spLocks noChangeShapeType="1"/>
            </p:cNvSpPr>
            <p:nvPr/>
          </p:nvSpPr>
          <p:spPr bwMode="auto">
            <a:xfrm flipH="1" flipV="1">
              <a:off x="6586983" y="4797314"/>
              <a:ext cx="0" cy="144462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273"/>
            <p:cNvSpPr>
              <a:spLocks noChangeShapeType="1"/>
            </p:cNvSpPr>
            <p:nvPr/>
          </p:nvSpPr>
          <p:spPr bwMode="auto">
            <a:xfrm flipH="1" flipV="1">
              <a:off x="2124572" y="6021288"/>
              <a:ext cx="6121076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275"/>
            <p:cNvSpPr>
              <a:spLocks noChangeShapeType="1"/>
            </p:cNvSpPr>
            <p:nvPr/>
          </p:nvSpPr>
          <p:spPr bwMode="auto">
            <a:xfrm flipH="1" flipV="1">
              <a:off x="5796136" y="5516463"/>
              <a:ext cx="0" cy="504825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276"/>
            <p:cNvSpPr>
              <a:spLocks noChangeShapeType="1"/>
            </p:cNvSpPr>
            <p:nvPr/>
          </p:nvSpPr>
          <p:spPr bwMode="auto">
            <a:xfrm flipH="1" flipV="1">
              <a:off x="7021686" y="5516463"/>
              <a:ext cx="0" cy="504825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277"/>
            <p:cNvSpPr>
              <a:spLocks noChangeShapeType="1"/>
            </p:cNvSpPr>
            <p:nvPr/>
          </p:nvSpPr>
          <p:spPr bwMode="auto">
            <a:xfrm flipH="1" flipV="1">
              <a:off x="8245648" y="5516463"/>
              <a:ext cx="0" cy="504825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279"/>
            <p:cNvSpPr>
              <a:spLocks noChangeShapeType="1"/>
            </p:cNvSpPr>
            <p:nvPr/>
          </p:nvSpPr>
          <p:spPr bwMode="auto">
            <a:xfrm flipH="1" flipV="1">
              <a:off x="4788396" y="4221063"/>
              <a:ext cx="1" cy="1008853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282"/>
            <p:cNvSpPr>
              <a:spLocks noChangeShapeType="1"/>
            </p:cNvSpPr>
            <p:nvPr/>
          </p:nvSpPr>
          <p:spPr bwMode="auto">
            <a:xfrm flipH="1" flipV="1">
              <a:off x="6012360" y="4365525"/>
              <a:ext cx="0" cy="864393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283"/>
            <p:cNvSpPr>
              <a:spLocks noChangeShapeType="1"/>
            </p:cNvSpPr>
            <p:nvPr/>
          </p:nvSpPr>
          <p:spPr bwMode="auto">
            <a:xfrm flipH="1" flipV="1">
              <a:off x="7237910" y="4509988"/>
              <a:ext cx="0" cy="71992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284"/>
            <p:cNvSpPr>
              <a:spLocks noChangeShapeType="1"/>
            </p:cNvSpPr>
            <p:nvPr/>
          </p:nvSpPr>
          <p:spPr bwMode="auto">
            <a:xfrm flipH="1" flipV="1">
              <a:off x="8461872" y="4654451"/>
              <a:ext cx="0" cy="575464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07" name="直接连接符 4"/>
            <p:cNvCxnSpPr/>
            <p:nvPr/>
          </p:nvCxnSpPr>
          <p:spPr bwMode="auto">
            <a:xfrm rot="10800000" flipV="1">
              <a:off x="3491411" y="4873117"/>
              <a:ext cx="1296987" cy="355858"/>
            </a:xfrm>
            <a:prstGeom prst="bentConnector3">
              <a:avLst>
                <a:gd name="adj1" fmla="val 92693"/>
              </a:avLst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109" name="Line 292"/>
            <p:cNvSpPr>
              <a:spLocks noChangeShapeType="1"/>
            </p:cNvSpPr>
            <p:nvPr/>
          </p:nvSpPr>
          <p:spPr bwMode="auto">
            <a:xfrm>
              <a:off x="4716017" y="5229200"/>
              <a:ext cx="72382" cy="274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292"/>
            <p:cNvSpPr>
              <a:spLocks noChangeShapeType="1"/>
            </p:cNvSpPr>
            <p:nvPr/>
          </p:nvSpPr>
          <p:spPr bwMode="auto">
            <a:xfrm>
              <a:off x="5939778" y="5229200"/>
              <a:ext cx="72382" cy="274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292"/>
            <p:cNvSpPr>
              <a:spLocks noChangeShapeType="1"/>
            </p:cNvSpPr>
            <p:nvPr/>
          </p:nvSpPr>
          <p:spPr bwMode="auto">
            <a:xfrm>
              <a:off x="7163914" y="5229200"/>
              <a:ext cx="72382" cy="274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292"/>
            <p:cNvSpPr>
              <a:spLocks noChangeShapeType="1"/>
            </p:cNvSpPr>
            <p:nvPr/>
          </p:nvSpPr>
          <p:spPr bwMode="auto">
            <a:xfrm>
              <a:off x="8388050" y="5229200"/>
              <a:ext cx="72382" cy="274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4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4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49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44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49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749" grpId="0" autoUpdateAnimBg="0"/>
      <p:bldP spid="449750" grpId="0"/>
      <p:bldP spid="44975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Box 625"/>
          <p:cNvSpPr txBox="1">
            <a:spLocks noChangeArrowheads="1"/>
          </p:cNvSpPr>
          <p:nvPr/>
        </p:nvSpPr>
        <p:spPr bwMode="auto">
          <a:xfrm>
            <a:off x="179512" y="2769458"/>
            <a:ext cx="2540191" cy="23228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*地址线：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*数据线：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*控制线：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操作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类型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响应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状态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48" name="Text Box 625"/>
          <p:cNvSpPr txBox="1">
            <a:spLocks noChangeArrowheads="1"/>
          </p:cNvSpPr>
          <p:nvPr/>
        </p:nvSpPr>
        <p:spPr bwMode="auto">
          <a:xfrm>
            <a:off x="827583" y="2795007"/>
            <a:ext cx="8137029" cy="2284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      位数</a:t>
            </a:r>
            <a:r>
              <a:rPr lang="en-US" altLang="zh-CN" sz="2200" b="1" i="1" u="none" dirty="0" smtClean="0">
                <a:latin typeface="+mn-lt"/>
              </a:rPr>
              <a:t>n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＝</a:t>
            </a:r>
            <a:r>
              <a:rPr lang="zh-CN" altLang="en-US" sz="2200" b="1" u="none" spc="-100" dirty="0" smtClean="0">
                <a:latin typeface="宋体" panose="02010600030101010101" pitchFamily="2" charset="-122"/>
              </a:rPr>
              <a:t>可</a:t>
            </a:r>
            <a:r>
              <a:rPr lang="zh-CN" altLang="en-US" sz="2200" b="1" u="none" spc="-100" dirty="0">
                <a:latin typeface="宋体" panose="02010600030101010101" pitchFamily="2" charset="-122"/>
              </a:rPr>
              <a:t>寻址</a:t>
            </a:r>
            <a:r>
              <a:rPr lang="zh-CN" altLang="en-US" sz="2200" b="1" u="none" spc="-100" dirty="0" smtClean="0">
                <a:latin typeface="宋体" panose="02010600030101010101" pitchFamily="2" charset="-122"/>
              </a:rPr>
              <a:t>空间大小</a:t>
            </a:r>
            <a:r>
              <a:rPr lang="zh-CN" altLang="en-US" sz="2200" b="1" u="none" spc="-100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常＝</a:t>
            </a:r>
            <a:r>
              <a:rPr lang="zh-CN" altLang="en-US" sz="2200" b="1" u="none" spc="-100" dirty="0" smtClean="0">
                <a:latin typeface="宋体" panose="02010600030101010101" pitchFamily="2" charset="-122"/>
              </a:rPr>
              <a:t>主存地址位数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最大容量时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      位数</a:t>
            </a:r>
            <a:r>
              <a:rPr lang="en-US" altLang="zh-CN" sz="2200" b="1" i="1" u="none" dirty="0" smtClean="0"/>
              <a:t>w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应＝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主存单元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长度</a:t>
            </a:r>
            <a:r>
              <a:rPr lang="zh-CN" altLang="en-US" sz="2200" b="1" u="none" spc="-100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可＝</a:t>
            </a:r>
            <a:r>
              <a:rPr lang="en-US" altLang="zh-CN" sz="2200" b="1" i="1" u="none" spc="-100" dirty="0" smtClean="0">
                <a:solidFill>
                  <a:srgbClr val="FF3399"/>
                </a:solidFill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en-US" sz="2200" b="1" u="none" spc="-100" dirty="0" smtClean="0">
                <a:solidFill>
                  <a:srgbClr val="FF3399"/>
                </a:solidFill>
                <a:cs typeface="Times New Roman" panose="02020603050405020304" pitchFamily="18" charset="0"/>
                <a:sym typeface="+mn-ea"/>
              </a:rPr>
              <a:t>×</a:t>
            </a:r>
            <a:r>
              <a:rPr lang="en-US" altLang="zh-CN" sz="2200" b="1" i="1" u="none" spc="-100" dirty="0" smtClean="0">
                <a:solidFill>
                  <a:srgbClr val="FF3399"/>
                </a:solidFill>
                <a:cs typeface="Times New Roman" panose="02020603050405020304" pitchFamily="18" charset="0"/>
                <a:sym typeface="+mn-ea"/>
              </a:rPr>
              <a:t>w</a:t>
            </a:r>
            <a:r>
              <a:rPr lang="en-US" altLang="zh-CN" sz="1800" b="1" u="none" dirty="0" smtClean="0">
                <a:latin typeface="+mn-ea"/>
                <a:ea typeface="+mn-ea"/>
                <a:sym typeface="+mn-ea"/>
              </a:rPr>
              <a:t>(</a:t>
            </a:r>
            <a:r>
              <a:rPr lang="zh-CN" altLang="en-US" sz="1800" b="1" u="none" dirty="0" smtClean="0"/>
              <a:t>提高性能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，</a:t>
            </a:r>
            <a:r>
              <a:rPr lang="en-US" altLang="zh-CN" sz="1800" b="1" i="1" u="none" dirty="0" smtClean="0"/>
              <a:t>n</a:t>
            </a:r>
            <a:r>
              <a:rPr lang="zh-CN" altLang="en-US" sz="1800" b="1" u="none" dirty="0" smtClean="0"/>
              <a:t>相应缩小</a:t>
            </a:r>
            <a:r>
              <a:rPr lang="en-US" altLang="zh-CN" sz="1800" b="1" u="none" dirty="0" smtClean="0">
                <a:latin typeface="+mn-ea"/>
                <a:ea typeface="+mn-ea"/>
              </a:rPr>
              <a:t>)</a:t>
            </a:r>
            <a:r>
              <a:rPr lang="zh-CN" altLang="en-US" b="1" u="none" dirty="0" smtClean="0"/>
              <a:t> 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      表示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所有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操作类型、响应状态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 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          MEM</a:t>
            </a:r>
            <a:r>
              <a:rPr lang="zh-CN" altLang="en-US" sz="2200" b="1" u="none" dirty="0">
                <a:latin typeface="宋体" panose="02010600030101010101" pitchFamily="2" charset="-122"/>
              </a:rPr>
              <a:t>操作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如读</a:t>
            </a:r>
            <a:r>
              <a:rPr lang="en-US" altLang="zh-CN" sz="1800" b="1" u="none" dirty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>
                <a:latin typeface="宋体" panose="02010600030101010101" pitchFamily="2" charset="-122"/>
              </a:rPr>
              <a:t>写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200" b="1" u="none" dirty="0">
                <a:latin typeface="宋体" panose="02010600030101010101" pitchFamily="2" charset="-122"/>
              </a:rPr>
              <a:t>IO</a:t>
            </a:r>
            <a:r>
              <a:rPr lang="zh-CN" altLang="en-US" sz="2200" b="1" u="none" dirty="0">
                <a:latin typeface="宋体" panose="02010600030101010101" pitchFamily="2" charset="-122"/>
              </a:rPr>
              <a:t>操作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如</a:t>
            </a:r>
            <a:r>
              <a:rPr lang="en-US" altLang="zh-CN" sz="1800" b="1" u="none" dirty="0">
                <a:latin typeface="宋体" panose="02010600030101010101" pitchFamily="2" charset="-122"/>
              </a:rPr>
              <a:t>I/O)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，无操作  </a:t>
            </a:r>
            <a:r>
              <a:rPr lang="en-US" altLang="zh-CN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根</a:t>
            </a:r>
            <a:r>
              <a:rPr lang="en-US" altLang="zh-CN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)</a:t>
            </a:r>
            <a:endParaRPr lang="en-US" altLang="zh-CN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          就绪</a:t>
            </a:r>
            <a:r>
              <a:rPr lang="en-US" altLang="zh-CN" sz="2200" b="1" u="none" dirty="0">
                <a:latin typeface="宋体" panose="02010600030101010101" pitchFamily="2" charset="-122"/>
              </a:rPr>
              <a:t>/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等待                             </a:t>
            </a:r>
            <a:r>
              <a:rPr lang="en-US" altLang="zh-CN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根</a:t>
            </a:r>
            <a:r>
              <a:rPr lang="en-US" altLang="zh-CN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7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C644C-72AC-43E7-9615-851824A27D0F}" type="slidenum">
              <a:rPr lang="en-US" altLang="zh-CN"/>
            </a:fld>
            <a:endParaRPr lang="en-US" altLang="zh-CN"/>
          </a:p>
        </p:txBody>
      </p:sp>
      <p:sp>
        <p:nvSpPr>
          <p:cNvPr id="325180" name="Text Box 572"/>
          <p:cNvSpPr txBox="1">
            <a:spLocks noChangeArrowheads="1"/>
          </p:cNvSpPr>
          <p:nvPr/>
        </p:nvSpPr>
        <p:spPr bwMode="auto">
          <a:xfrm>
            <a:off x="179388" y="423775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defRPr b="1" u="none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三、主存与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的连接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5181" name="Text Box 573"/>
          <p:cNvSpPr txBox="1">
            <a:spLocks noChangeArrowheads="1"/>
          </p:cNvSpPr>
          <p:nvPr/>
        </p:nvSpPr>
        <p:spPr bwMode="auto">
          <a:xfrm>
            <a:off x="179388" y="908720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的存储器接口</a:t>
            </a:r>
            <a:endParaRPr lang="en-US" altLang="zh-CN" b="1" u="none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外部访问需求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按地址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访问</a:t>
            </a:r>
            <a:r>
              <a:rPr lang="zh-CN" altLang="en-US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存储器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设备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 </a:t>
            </a:r>
            <a:endParaRPr lang="en-US" altLang="zh-CN" b="1" u="none" dirty="0" smtClean="0">
              <a:latin typeface="宋体" panose="02010600030101010101" pitchFamily="2" charset="-122"/>
            </a:endParaRPr>
          </a:p>
        </p:txBody>
      </p:sp>
      <p:sp>
        <p:nvSpPr>
          <p:cNvPr id="55" name="AutoShape 766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7" name="组合 46"/>
          <p:cNvGrpSpPr/>
          <p:nvPr/>
        </p:nvGrpSpPr>
        <p:grpSpPr>
          <a:xfrm>
            <a:off x="1042476" y="1916832"/>
            <a:ext cx="7273548" cy="864096"/>
            <a:chOff x="448120" y="2432335"/>
            <a:chExt cx="7273548" cy="864096"/>
          </a:xfrm>
        </p:grpSpPr>
        <p:grpSp>
          <p:nvGrpSpPr>
            <p:cNvPr id="49" name="组合 48"/>
            <p:cNvGrpSpPr/>
            <p:nvPr/>
          </p:nvGrpSpPr>
          <p:grpSpPr>
            <a:xfrm>
              <a:off x="448120" y="2432407"/>
              <a:ext cx="3384000" cy="864023"/>
              <a:chOff x="448120" y="2432407"/>
              <a:chExt cx="3384000" cy="864023"/>
            </a:xfrm>
          </p:grpSpPr>
          <p:sp>
            <p:nvSpPr>
              <p:cNvPr id="67" name="Line 651"/>
              <p:cNvSpPr>
                <a:spLocks noChangeShapeType="1"/>
              </p:cNvSpPr>
              <p:nvPr/>
            </p:nvSpPr>
            <p:spPr bwMode="auto">
              <a:xfrm>
                <a:off x="898971" y="3080430"/>
                <a:ext cx="0" cy="216000"/>
              </a:xfrm>
              <a:prstGeom prst="line">
                <a:avLst/>
              </a:prstGeom>
              <a:noFill/>
              <a:ln w="25400" cmpd="sng">
                <a:solidFill>
                  <a:srgbClr val="CC3300"/>
                </a:solidFill>
                <a:round/>
                <a:headEnd w="med" len="sm"/>
                <a:tailEnd type="triangle" w="med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Line 652"/>
              <p:cNvSpPr>
                <a:spLocks noChangeShapeType="1"/>
              </p:cNvSpPr>
              <p:nvPr/>
            </p:nvSpPr>
            <p:spPr bwMode="auto">
              <a:xfrm>
                <a:off x="3429111" y="3080430"/>
                <a:ext cx="0" cy="216000"/>
              </a:xfrm>
              <a:prstGeom prst="line">
                <a:avLst/>
              </a:prstGeom>
              <a:noFill/>
              <a:ln w="25400" cmpd="sng">
                <a:solidFill>
                  <a:schemeClr val="accent2"/>
                </a:solidFill>
                <a:round/>
                <a:headEnd type="triangle" w="med" len="sm"/>
                <a:tailEnd type="triangle" w="med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Line 653"/>
              <p:cNvSpPr>
                <a:spLocks noChangeShapeType="1"/>
              </p:cNvSpPr>
              <p:nvPr/>
            </p:nvSpPr>
            <p:spPr bwMode="auto">
              <a:xfrm>
                <a:off x="1556903" y="3080430"/>
                <a:ext cx="0" cy="216000"/>
              </a:xfrm>
              <a:prstGeom prst="line">
                <a:avLst/>
              </a:prstGeom>
              <a:noFill/>
              <a:ln w="12700">
                <a:solidFill>
                  <a:srgbClr val="FF3399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" name="Line 654"/>
              <p:cNvSpPr>
                <a:spLocks noChangeShapeType="1"/>
              </p:cNvSpPr>
              <p:nvPr/>
            </p:nvSpPr>
            <p:spPr bwMode="auto">
              <a:xfrm>
                <a:off x="1916943" y="3080430"/>
                <a:ext cx="0" cy="216000"/>
              </a:xfrm>
              <a:prstGeom prst="line">
                <a:avLst/>
              </a:prstGeom>
              <a:noFill/>
              <a:ln w="12700">
                <a:solidFill>
                  <a:srgbClr val="FF3399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" name="Line 655"/>
              <p:cNvSpPr>
                <a:spLocks noChangeShapeType="1"/>
              </p:cNvSpPr>
              <p:nvPr/>
            </p:nvSpPr>
            <p:spPr bwMode="auto">
              <a:xfrm>
                <a:off x="2276983" y="3080430"/>
                <a:ext cx="0" cy="216000"/>
              </a:xfrm>
              <a:prstGeom prst="line">
                <a:avLst/>
              </a:prstGeom>
              <a:noFill/>
              <a:ln w="12700">
                <a:solidFill>
                  <a:srgbClr val="FF3399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Line 656"/>
              <p:cNvSpPr>
                <a:spLocks noChangeShapeType="1"/>
              </p:cNvSpPr>
              <p:nvPr/>
            </p:nvSpPr>
            <p:spPr bwMode="auto">
              <a:xfrm flipV="1">
                <a:off x="2709031" y="3080430"/>
                <a:ext cx="0" cy="216000"/>
              </a:xfrm>
              <a:prstGeom prst="line">
                <a:avLst/>
              </a:prstGeom>
              <a:noFill/>
              <a:ln w="12700">
                <a:solidFill>
                  <a:srgbClr val="990099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Text Box 638"/>
              <p:cNvSpPr txBox="1">
                <a:spLocks noChangeArrowheads="1"/>
              </p:cNvSpPr>
              <p:nvPr/>
            </p:nvSpPr>
            <p:spPr bwMode="auto">
              <a:xfrm>
                <a:off x="448120" y="2432407"/>
                <a:ext cx="3384000" cy="648000"/>
              </a:xfrm>
              <a:prstGeom prst="rect">
                <a:avLst/>
              </a:prstGeom>
              <a:solidFill>
                <a:srgbClr val="FFCCFF">
                  <a:alpha val="60000"/>
                </a:srgbClr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lIns="36000" tIns="10800" rIns="18000" bIns="0" anchor="b" anchorCtr="0"/>
              <a:lstStyle/>
              <a:p>
                <a:pPr algn="ctr"/>
                <a:r>
                  <a:rPr lang="en-US" altLang="zh-CN" sz="2000" b="1" u="none" dirty="0" smtClean="0">
                    <a:latin typeface="宋体" panose="02010600030101010101" pitchFamily="2" charset="-122"/>
                  </a:rPr>
                  <a:t>CPU</a:t>
                </a:r>
                <a:r>
                  <a:rPr lang="en-US" altLang="zh-CN" sz="1800" b="1" u="none" dirty="0" smtClean="0">
                    <a:latin typeface="宋体" panose="02010600030101010101" pitchFamily="2" charset="-122"/>
                  </a:rPr>
                  <a:t>(</a:t>
                </a:r>
                <a:r>
                  <a:rPr lang="zh-CN" altLang="en-US" sz="1800" b="1" u="none" dirty="0" smtClean="0">
                    <a:latin typeface="宋体" panose="02010600030101010101" pitchFamily="2" charset="-122"/>
                  </a:rPr>
                  <a:t>如</a:t>
                </a:r>
                <a:r>
                  <a:rPr lang="en-US" altLang="zh-CN" sz="1800" b="1" u="none" dirty="0" smtClean="0">
                    <a:latin typeface="宋体" panose="02010600030101010101" pitchFamily="2" charset="-122"/>
                  </a:rPr>
                  <a:t>Intel 8088)</a:t>
                </a:r>
                <a:endParaRPr lang="en-US" altLang="zh-CN" sz="1800" b="1" u="none" dirty="0" smtClean="0">
                  <a:latin typeface="宋体" panose="02010600030101010101" pitchFamily="2" charset="-122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A</a:t>
                </a:r>
                <a:r>
                  <a:rPr lang="en-US" altLang="zh-CN" sz="1600" b="1" u="none" baseline="-20000" dirty="0">
                    <a:latin typeface="宋体" panose="02010600030101010101" pitchFamily="2" charset="-122"/>
                  </a:rPr>
                  <a:t>n</a:t>
                </a:r>
                <a:r>
                  <a:rPr lang="en-US" altLang="zh-CN" sz="1600" b="1" u="none" baseline="-20000" dirty="0" smtClean="0">
                    <a:latin typeface="宋体" panose="02010600030101010101" pitchFamily="2" charset="-122"/>
                  </a:rPr>
                  <a:t>-1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～</a:t>
                </a: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A</a:t>
                </a:r>
                <a:r>
                  <a:rPr lang="en-US" altLang="zh-CN" sz="1600" b="1" u="none" baseline="-20000" dirty="0" smtClean="0">
                    <a:latin typeface="宋体" panose="02010600030101010101" pitchFamily="2" charset="-122"/>
                  </a:rPr>
                  <a:t>0</a:t>
                </a: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IO</a:t>
                </a:r>
                <a:r>
                  <a:rPr lang="en-US" altLang="zh-CN" sz="1600" b="1" u="none" dirty="0"/>
                  <a:t>/</a:t>
                </a:r>
                <a:r>
                  <a:rPr lang="en-US" altLang="zh-CN" sz="1600" b="1" u="none" baseline="-25000" dirty="0"/>
                  <a:t> </a:t>
                </a: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M RD WR READY D</a:t>
                </a:r>
                <a:r>
                  <a:rPr lang="en-US" altLang="zh-CN" sz="1600" b="1" u="none" baseline="-20000" dirty="0" smtClean="0">
                    <a:latin typeface="宋体" panose="02010600030101010101" pitchFamily="2" charset="-122"/>
                  </a:rPr>
                  <a:t>w-1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～</a:t>
                </a: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D</a:t>
                </a:r>
                <a:r>
                  <a:rPr lang="en-US" altLang="zh-CN" sz="1600" b="1" u="none" baseline="-20000" dirty="0" smtClean="0">
                    <a:latin typeface="宋体" panose="02010600030101010101" pitchFamily="2" charset="-122"/>
                  </a:rPr>
                  <a:t>0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74" name="Line 643"/>
              <p:cNvSpPr>
                <a:spLocks noChangeShapeType="1"/>
              </p:cNvSpPr>
              <p:nvPr/>
            </p:nvSpPr>
            <p:spPr bwMode="auto">
              <a:xfrm>
                <a:off x="2125347" y="2829863"/>
                <a:ext cx="216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Line 646"/>
              <p:cNvSpPr>
                <a:spLocks noChangeShapeType="1"/>
              </p:cNvSpPr>
              <p:nvPr/>
            </p:nvSpPr>
            <p:spPr bwMode="auto">
              <a:xfrm>
                <a:off x="1829695" y="2829863"/>
                <a:ext cx="198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Line 649"/>
              <p:cNvSpPr>
                <a:spLocks noChangeShapeType="1"/>
              </p:cNvSpPr>
              <p:nvPr/>
            </p:nvSpPr>
            <p:spPr bwMode="auto">
              <a:xfrm flipV="1">
                <a:off x="1620923" y="2826688"/>
                <a:ext cx="108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4193668" y="2432335"/>
              <a:ext cx="3528000" cy="864096"/>
              <a:chOff x="159695" y="2415652"/>
              <a:chExt cx="3528000" cy="864096"/>
            </a:xfrm>
          </p:grpSpPr>
          <p:sp>
            <p:nvSpPr>
              <p:cNvPr id="51" name="Line 651"/>
              <p:cNvSpPr>
                <a:spLocks noChangeShapeType="1"/>
              </p:cNvSpPr>
              <p:nvPr/>
            </p:nvSpPr>
            <p:spPr bwMode="auto">
              <a:xfrm>
                <a:off x="610547" y="3063748"/>
                <a:ext cx="0" cy="216000"/>
              </a:xfrm>
              <a:prstGeom prst="line">
                <a:avLst/>
              </a:prstGeom>
              <a:noFill/>
              <a:ln w="25400" cmpd="sng">
                <a:solidFill>
                  <a:srgbClr val="CC3300"/>
                </a:solidFill>
                <a:round/>
                <a:headEnd w="med" len="sm"/>
                <a:tailEnd type="triangle" w="med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Line 652"/>
              <p:cNvSpPr>
                <a:spLocks noChangeShapeType="1"/>
              </p:cNvSpPr>
              <p:nvPr/>
            </p:nvSpPr>
            <p:spPr bwMode="auto">
              <a:xfrm>
                <a:off x="3355186" y="3063747"/>
                <a:ext cx="0" cy="216000"/>
              </a:xfrm>
              <a:prstGeom prst="line">
                <a:avLst/>
              </a:prstGeom>
              <a:noFill/>
              <a:ln w="25400" cmpd="sng">
                <a:solidFill>
                  <a:schemeClr val="accent2"/>
                </a:solidFill>
                <a:round/>
                <a:headEnd type="triangle" w="med" len="sm"/>
                <a:tailEnd type="triangle" w="med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Line 653"/>
              <p:cNvSpPr>
                <a:spLocks noChangeShapeType="1"/>
              </p:cNvSpPr>
              <p:nvPr/>
            </p:nvSpPr>
            <p:spPr bwMode="auto">
              <a:xfrm>
                <a:off x="1266954" y="3063747"/>
                <a:ext cx="0" cy="216000"/>
              </a:xfrm>
              <a:prstGeom prst="line">
                <a:avLst/>
              </a:prstGeom>
              <a:noFill/>
              <a:ln w="12700">
                <a:solidFill>
                  <a:srgbClr val="FF3399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Line 654"/>
              <p:cNvSpPr>
                <a:spLocks noChangeShapeType="1"/>
              </p:cNvSpPr>
              <p:nvPr/>
            </p:nvSpPr>
            <p:spPr bwMode="auto">
              <a:xfrm>
                <a:off x="1699002" y="3063747"/>
                <a:ext cx="0" cy="216000"/>
              </a:xfrm>
              <a:prstGeom prst="line">
                <a:avLst/>
              </a:prstGeom>
              <a:noFill/>
              <a:ln w="12700">
                <a:solidFill>
                  <a:srgbClr val="FF3399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Line 655"/>
              <p:cNvSpPr>
                <a:spLocks noChangeShapeType="1"/>
              </p:cNvSpPr>
              <p:nvPr/>
            </p:nvSpPr>
            <p:spPr bwMode="auto">
              <a:xfrm>
                <a:off x="2059042" y="3063747"/>
                <a:ext cx="0" cy="216000"/>
              </a:xfrm>
              <a:prstGeom prst="line">
                <a:avLst/>
              </a:prstGeom>
              <a:noFill/>
              <a:ln w="12700">
                <a:solidFill>
                  <a:srgbClr val="FF3399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Line 656"/>
              <p:cNvSpPr>
                <a:spLocks noChangeShapeType="1"/>
              </p:cNvSpPr>
              <p:nvPr/>
            </p:nvSpPr>
            <p:spPr bwMode="auto">
              <a:xfrm flipV="1">
                <a:off x="2563098" y="3063747"/>
                <a:ext cx="0" cy="216000"/>
              </a:xfrm>
              <a:prstGeom prst="line">
                <a:avLst/>
              </a:prstGeom>
              <a:noFill/>
              <a:ln w="12700">
                <a:solidFill>
                  <a:srgbClr val="990099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Text Box 638"/>
              <p:cNvSpPr txBox="1">
                <a:spLocks noChangeArrowheads="1"/>
              </p:cNvSpPr>
              <p:nvPr/>
            </p:nvSpPr>
            <p:spPr bwMode="auto">
              <a:xfrm>
                <a:off x="159695" y="2415652"/>
                <a:ext cx="3528000" cy="648000"/>
              </a:xfrm>
              <a:prstGeom prst="rect">
                <a:avLst/>
              </a:prstGeom>
              <a:solidFill>
                <a:srgbClr val="FFCCFF">
                  <a:alpha val="60000"/>
                </a:srgbClr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lIns="36000" tIns="10800" rIns="18000" bIns="0" anchor="b" anchorCtr="0"/>
              <a:lstStyle/>
              <a:p>
                <a:pPr algn="ctr"/>
                <a:r>
                  <a:rPr lang="en-US" altLang="zh-CN" sz="2000" b="1" u="none" dirty="0" smtClean="0">
                    <a:latin typeface="宋体" panose="02010600030101010101" pitchFamily="2" charset="-122"/>
                  </a:rPr>
                  <a:t>CPU</a:t>
                </a:r>
                <a:r>
                  <a:rPr lang="en-US" altLang="zh-CN" sz="1800" b="1" u="none" dirty="0" smtClean="0">
                    <a:latin typeface="宋体" panose="02010600030101010101" pitchFamily="2" charset="-122"/>
                  </a:rPr>
                  <a:t>(</a:t>
                </a:r>
                <a:r>
                  <a:rPr lang="zh-CN" altLang="en-US" sz="1800" b="1" u="none" dirty="0" smtClean="0">
                    <a:latin typeface="宋体" panose="02010600030101010101" pitchFamily="2" charset="-122"/>
                  </a:rPr>
                  <a:t>如</a:t>
                </a:r>
                <a:r>
                  <a:rPr lang="en-US" altLang="zh-CN" sz="1800" b="1" u="none" dirty="0" smtClean="0">
                    <a:latin typeface="宋体" panose="02010600030101010101" pitchFamily="2" charset="-122"/>
                  </a:rPr>
                  <a:t>Intel 80386)</a:t>
                </a:r>
                <a:endParaRPr lang="en-US" altLang="zh-CN" sz="1800" b="1" u="none" dirty="0" smtClean="0">
                  <a:latin typeface="宋体" panose="02010600030101010101" pitchFamily="2" charset="-122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A</a:t>
                </a:r>
                <a:r>
                  <a:rPr lang="en-US" altLang="zh-CN" sz="1600" b="1" u="none" baseline="-20000" dirty="0" smtClean="0">
                    <a:latin typeface="宋体" panose="02010600030101010101" pitchFamily="2" charset="-122"/>
                  </a:rPr>
                  <a:t>n-1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～</a:t>
                </a: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A</a:t>
                </a:r>
                <a:r>
                  <a:rPr lang="en-US" altLang="zh-CN" sz="1600" b="1" u="none" baseline="-20000" dirty="0" smtClean="0">
                    <a:latin typeface="宋体" panose="02010600030101010101" pitchFamily="2" charset="-122"/>
                  </a:rPr>
                  <a:t>0</a:t>
                </a: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IO</a:t>
                </a:r>
                <a:r>
                  <a:rPr lang="en-US" altLang="zh-CN" sz="1600" b="1" u="none" dirty="0"/>
                  <a:t>/</a:t>
                </a:r>
                <a:r>
                  <a:rPr lang="en-US" altLang="zh-CN" sz="1600" b="1" u="none" baseline="-25000" dirty="0"/>
                  <a:t> </a:t>
                </a: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M W</a:t>
                </a:r>
                <a:r>
                  <a:rPr lang="en-US" altLang="zh-CN" sz="1600" b="1" u="none" dirty="0" smtClean="0">
                    <a:latin typeface="+mn-lt"/>
                  </a:rPr>
                  <a:t>/</a:t>
                </a: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R ADS READY D</a:t>
                </a:r>
                <a:r>
                  <a:rPr lang="en-US" altLang="zh-CN" sz="1600" b="1" u="none" baseline="-20000" dirty="0" smtClean="0">
                    <a:latin typeface="宋体" panose="02010600030101010101" pitchFamily="2" charset="-122"/>
                  </a:rPr>
                  <a:t>w-1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～</a:t>
                </a: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D</a:t>
                </a:r>
                <a:r>
                  <a:rPr lang="en-US" altLang="zh-CN" sz="1600" b="1" u="none" baseline="-20000" dirty="0" smtClean="0">
                    <a:latin typeface="宋体" panose="02010600030101010101" pitchFamily="2" charset="-122"/>
                  </a:rPr>
                  <a:t>0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64" name="Line 643"/>
              <p:cNvSpPr>
                <a:spLocks noChangeShapeType="1"/>
              </p:cNvSpPr>
              <p:nvPr/>
            </p:nvSpPr>
            <p:spPr bwMode="auto">
              <a:xfrm>
                <a:off x="1892166" y="2807465"/>
                <a:ext cx="3169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Line 646"/>
              <p:cNvSpPr>
                <a:spLocks noChangeShapeType="1"/>
              </p:cNvSpPr>
              <p:nvPr/>
            </p:nvSpPr>
            <p:spPr bwMode="auto">
              <a:xfrm>
                <a:off x="1683761" y="2807465"/>
                <a:ext cx="108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Line 649"/>
              <p:cNvSpPr>
                <a:spLocks noChangeShapeType="1"/>
              </p:cNvSpPr>
              <p:nvPr/>
            </p:nvSpPr>
            <p:spPr bwMode="auto">
              <a:xfrm flipV="1">
                <a:off x="1035690" y="2807465"/>
                <a:ext cx="1968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77" name="组合 76"/>
          <p:cNvGrpSpPr/>
          <p:nvPr/>
        </p:nvGrpSpPr>
        <p:grpSpPr>
          <a:xfrm>
            <a:off x="900456" y="5085216"/>
            <a:ext cx="7776000" cy="576000"/>
            <a:chOff x="827584" y="2853000"/>
            <a:chExt cx="7776000" cy="576000"/>
          </a:xfrm>
        </p:grpSpPr>
        <p:sp>
          <p:nvSpPr>
            <p:cNvPr id="78" name="Text Box 234"/>
            <p:cNvSpPr txBox="1">
              <a:spLocks noChangeArrowheads="1"/>
            </p:cNvSpPr>
            <p:nvPr/>
          </p:nvSpPr>
          <p:spPr bwMode="auto">
            <a:xfrm>
              <a:off x="827584" y="2853000"/>
              <a:ext cx="7776000" cy="57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8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8088</a:t>
              </a:r>
              <a:r>
                <a:rPr lang="zh-CN" altLang="en-US" sz="18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信号功能约定：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IO/M—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访问对象类型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低为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MEM)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， 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RD—MEM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读或外设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In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，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                 READY—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对象响应状态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高为就绪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)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，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WR—MEM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写或外设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Out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2" name="Line 649"/>
            <p:cNvSpPr>
              <a:spLocks noChangeShapeType="1"/>
            </p:cNvSpPr>
            <p:nvPr/>
          </p:nvSpPr>
          <p:spPr bwMode="auto">
            <a:xfrm flipV="1">
              <a:off x="3275128" y="2878336"/>
              <a:ext cx="10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643"/>
            <p:cNvSpPr>
              <a:spLocks noChangeShapeType="1"/>
            </p:cNvSpPr>
            <p:nvPr/>
          </p:nvSpPr>
          <p:spPr bwMode="auto">
            <a:xfrm>
              <a:off x="6371128" y="3167784"/>
              <a:ext cx="23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646"/>
            <p:cNvSpPr>
              <a:spLocks noChangeShapeType="1"/>
            </p:cNvSpPr>
            <p:nvPr/>
          </p:nvSpPr>
          <p:spPr bwMode="auto">
            <a:xfrm>
              <a:off x="6371128" y="2878400"/>
              <a:ext cx="23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8" name="Text Box 726"/>
          <p:cNvSpPr txBox="1">
            <a:spLocks noChangeArrowheads="1"/>
          </p:cNvSpPr>
          <p:nvPr/>
        </p:nvSpPr>
        <p:spPr bwMode="auto">
          <a:xfrm>
            <a:off x="899592" y="5733328"/>
            <a:ext cx="5472608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r>
              <a:rPr lang="zh-CN" altLang="en-US" sz="1800" dirty="0" smtClean="0"/>
              <a:t>思考：</a:t>
            </a:r>
            <a:r>
              <a:rPr lang="en-US" altLang="zh-CN" sz="1800" dirty="0">
                <a:solidFill>
                  <a:schemeClr val="tx1"/>
                </a:solidFill>
              </a:rPr>
              <a:t>Intel 8088 </a:t>
            </a:r>
            <a:r>
              <a:rPr lang="en-US" altLang="zh-CN" sz="1800" dirty="0" smtClean="0">
                <a:solidFill>
                  <a:schemeClr val="tx1"/>
                </a:solidFill>
              </a:rPr>
              <a:t>CPU</a:t>
            </a:r>
            <a:r>
              <a:rPr lang="zh-CN" altLang="en-US" sz="1800" spc="-100" dirty="0" smtClean="0">
                <a:solidFill>
                  <a:schemeClr val="tx1"/>
                </a:solidFill>
              </a:rPr>
              <a:t>如何</a:t>
            </a:r>
            <a:r>
              <a:rPr lang="zh-CN" altLang="en-US" sz="1800" spc="-100" dirty="0">
                <a:solidFill>
                  <a:schemeClr val="tx1"/>
                </a:solidFill>
              </a:rPr>
              <a:t>表示无操作、有访存操作</a:t>
            </a:r>
            <a:r>
              <a:rPr lang="zh-CN" altLang="en-US" sz="1800" dirty="0">
                <a:solidFill>
                  <a:schemeClr val="tx1"/>
                </a:solidFill>
              </a:rPr>
              <a:t>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6516216" y="6093328"/>
            <a:ext cx="2088000" cy="288000"/>
            <a:chOff x="2843808" y="5893933"/>
            <a:chExt cx="2088000" cy="288000"/>
          </a:xfrm>
        </p:grpSpPr>
        <p:sp>
          <p:nvSpPr>
            <p:cNvPr id="100" name="Text Box 625"/>
            <p:cNvSpPr txBox="1">
              <a:spLocks noChangeArrowheads="1"/>
            </p:cNvSpPr>
            <p:nvPr/>
          </p:nvSpPr>
          <p:spPr bwMode="auto">
            <a:xfrm>
              <a:off x="2843808" y="5893933"/>
              <a:ext cx="2088000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spAutoFit/>
            </a:bodyPr>
            <a:lstStyle/>
            <a:p>
              <a:r>
                <a:rPr lang="en-US" altLang="zh-CN" sz="1800" b="1" u="none" dirty="0" smtClean="0">
                  <a:latin typeface="宋体" panose="02010600030101010101" pitchFamily="2" charset="-122"/>
                  <a:sym typeface="Symbol" panose="05050102010706020507"/>
                </a:rPr>
                <a:t>(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RD</a:t>
              </a:r>
              <a:r>
                <a:rPr lang="en-US" altLang="zh-CN" sz="1800" b="1" u="none" dirty="0"/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  <a:sym typeface="Symbol" panose="05050102010706020507"/>
                </a:rPr>
                <a:t></a:t>
              </a:r>
              <a:r>
                <a:rPr lang="en-US" altLang="zh-CN" sz="1800" b="1" u="none" dirty="0">
                  <a:sym typeface="Symbol" panose="05050102010706020507"/>
                </a:rPr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  <a:sym typeface="Symbol" panose="05050102010706020507"/>
                </a:rPr>
                <a:t>WR</a:t>
              </a:r>
              <a:r>
                <a:rPr lang="en-US" altLang="zh-CN" sz="1800" b="1" u="none" dirty="0" smtClean="0">
                  <a:latin typeface="宋体" panose="02010600030101010101" pitchFamily="2" charset="-122"/>
                  <a:sym typeface="Symbol" panose="05050102010706020507"/>
                </a:rPr>
                <a:t>)</a:t>
              </a:r>
              <a:r>
                <a:rPr lang="en-US" altLang="zh-CN" sz="1800" b="1" u="none" dirty="0" smtClean="0">
                  <a:latin typeface="+mn-lt"/>
                  <a:sym typeface="Symbol" panose="05050102010706020507"/>
                </a:rPr>
                <a:t>·</a:t>
              </a:r>
              <a:r>
                <a:rPr lang="en-US" altLang="zh-CN" sz="1800" b="1" u="none" dirty="0" smtClean="0">
                  <a:latin typeface="宋体" panose="02010600030101010101" pitchFamily="2" charset="-122"/>
                  <a:sym typeface="Symbol" panose="05050102010706020507"/>
                </a:rPr>
                <a:t>IO/</a:t>
              </a:r>
              <a:r>
                <a:rPr lang="en-US" altLang="zh-CN" sz="1800" b="1" u="none" dirty="0" smtClean="0">
                  <a:latin typeface="+mn-lt"/>
                  <a:sym typeface="Symbol" panose="05050102010706020507"/>
                </a:rPr>
                <a:t> </a:t>
              </a:r>
              <a:r>
                <a:rPr lang="en-US" altLang="zh-CN" sz="1800" b="1" u="none" dirty="0" smtClean="0">
                  <a:latin typeface="宋体" panose="02010600030101010101" pitchFamily="2" charset="-122"/>
                  <a:sym typeface="Symbol" panose="05050102010706020507"/>
                </a:rPr>
                <a:t>M</a:t>
              </a:r>
              <a:r>
                <a:rPr lang="en-US" altLang="zh-CN" sz="1800" b="1" u="none" dirty="0" smtClean="0">
                  <a:latin typeface="+mn-lt"/>
                  <a:sym typeface="Symbol" panose="05050102010706020507"/>
                </a:rPr>
                <a:t> </a:t>
              </a:r>
              <a:r>
                <a:rPr lang="zh-CN" altLang="en-US" sz="1800" b="1" u="none" dirty="0" smtClean="0">
                  <a:latin typeface="宋体" panose="02010600030101010101" pitchFamily="2" charset="-122"/>
                  <a:sym typeface="Symbol" panose="05050102010706020507"/>
                </a:rPr>
                <a:t>＝</a:t>
              </a:r>
              <a:r>
                <a:rPr lang="en-US" altLang="zh-CN" sz="1800" b="1" u="none" dirty="0" smtClean="0">
                  <a:latin typeface="宋体" panose="02010600030101010101" pitchFamily="2" charset="-122"/>
                  <a:sym typeface="Symbol" panose="05050102010706020507"/>
                </a:rPr>
                <a:t>1</a:t>
              </a:r>
              <a:endParaRPr lang="en-US" altLang="zh-CN" sz="1800" b="1" u="none" dirty="0" smtClean="0">
                <a:latin typeface="宋体" panose="02010600030101010101" pitchFamily="2" charset="-122"/>
                <a:sym typeface="Symbol" panose="05050102010706020507"/>
              </a:endParaRPr>
            </a:p>
          </p:txBody>
        </p:sp>
        <p:cxnSp>
          <p:nvCxnSpPr>
            <p:cNvPr id="101" name="直接连接符 100"/>
            <p:cNvCxnSpPr/>
            <p:nvPr/>
          </p:nvCxnSpPr>
          <p:spPr bwMode="auto">
            <a:xfrm>
              <a:off x="2969592" y="5923584"/>
              <a:ext cx="23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接连接符 101"/>
            <p:cNvCxnSpPr/>
            <p:nvPr/>
          </p:nvCxnSpPr>
          <p:spPr bwMode="auto">
            <a:xfrm>
              <a:off x="3495971" y="5923584"/>
              <a:ext cx="23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" name="直接连接符 102"/>
            <p:cNvCxnSpPr/>
            <p:nvPr/>
          </p:nvCxnSpPr>
          <p:spPr bwMode="auto">
            <a:xfrm>
              <a:off x="4333116" y="5935707"/>
              <a:ext cx="10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直接连接符 103"/>
            <p:cNvCxnSpPr/>
            <p:nvPr/>
          </p:nvCxnSpPr>
          <p:spPr bwMode="auto">
            <a:xfrm>
              <a:off x="3961680" y="5899338"/>
              <a:ext cx="50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05" name="组合 104"/>
          <p:cNvGrpSpPr/>
          <p:nvPr/>
        </p:nvGrpSpPr>
        <p:grpSpPr>
          <a:xfrm>
            <a:off x="6552024" y="5733288"/>
            <a:ext cx="1224000" cy="288000"/>
            <a:chOff x="2843808" y="5323274"/>
            <a:chExt cx="1224000" cy="288000"/>
          </a:xfrm>
        </p:grpSpPr>
        <p:sp>
          <p:nvSpPr>
            <p:cNvPr id="106" name="Text Box 625"/>
            <p:cNvSpPr txBox="1">
              <a:spLocks noChangeArrowheads="1"/>
            </p:cNvSpPr>
            <p:nvPr/>
          </p:nvSpPr>
          <p:spPr bwMode="auto">
            <a:xfrm>
              <a:off x="2843808" y="5323274"/>
              <a:ext cx="1224000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r>
                <a:rPr lang="en-US" altLang="zh-CN" sz="1800" b="1" u="none" dirty="0" smtClean="0">
                  <a:latin typeface="宋体" panose="02010600030101010101" pitchFamily="2" charset="-122"/>
                </a:rPr>
                <a:t>RD</a:t>
              </a:r>
              <a:r>
                <a:rPr lang="en-US" altLang="zh-CN" sz="1800" b="1" u="none" dirty="0" smtClean="0">
                  <a:latin typeface="+mn-lt"/>
                </a:rPr>
                <a:t> </a:t>
              </a:r>
              <a:r>
                <a:rPr lang="en-US" altLang="zh-CN" sz="1800" b="1" u="none" dirty="0" smtClean="0">
                  <a:latin typeface="宋体" panose="02010600030101010101" pitchFamily="2" charset="-122"/>
                  <a:sym typeface="Symbol" panose="05050102010706020507"/>
                </a:rPr>
                <a:t></a:t>
              </a:r>
              <a:r>
                <a:rPr lang="en-US" altLang="zh-CN" sz="1800" b="1" u="none" dirty="0" smtClean="0">
                  <a:latin typeface="+mn-lt"/>
                  <a:sym typeface="Symbol" panose="05050102010706020507"/>
                </a:rPr>
                <a:t> </a:t>
              </a:r>
              <a:r>
                <a:rPr lang="en-US" altLang="zh-CN" sz="1800" b="1" u="none" dirty="0" smtClean="0">
                  <a:latin typeface="宋体" panose="02010600030101010101" pitchFamily="2" charset="-122"/>
                  <a:sym typeface="Symbol" panose="05050102010706020507"/>
                </a:rPr>
                <a:t>WR</a:t>
              </a:r>
              <a:r>
                <a:rPr lang="zh-CN" altLang="en-US" sz="1800" b="1" u="none" dirty="0" smtClean="0">
                  <a:latin typeface="宋体" panose="02010600030101010101" pitchFamily="2" charset="-122"/>
                  <a:sym typeface="Symbol" panose="05050102010706020507"/>
                </a:rPr>
                <a:t>＝</a:t>
              </a:r>
              <a:r>
                <a:rPr lang="en-US" altLang="zh-CN" sz="1800" b="1" u="none" dirty="0" smtClean="0">
                  <a:latin typeface="宋体" panose="02010600030101010101" pitchFamily="2" charset="-122"/>
                  <a:sym typeface="Symbol" panose="05050102010706020507"/>
                </a:rPr>
                <a:t>0</a:t>
              </a:r>
              <a:endParaRPr lang="en-US" altLang="zh-CN" sz="1800" b="1" u="none" dirty="0" smtClean="0">
                <a:latin typeface="宋体" panose="02010600030101010101" pitchFamily="2" charset="-122"/>
                <a:sym typeface="Symbol" panose="05050102010706020507"/>
              </a:endParaRPr>
            </a:p>
          </p:txBody>
        </p:sp>
        <p:cxnSp>
          <p:nvCxnSpPr>
            <p:cNvPr id="107" name="直接连接符 106"/>
            <p:cNvCxnSpPr/>
            <p:nvPr/>
          </p:nvCxnSpPr>
          <p:spPr bwMode="auto">
            <a:xfrm>
              <a:off x="2874202" y="5350982"/>
              <a:ext cx="23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直接连接符 107"/>
            <p:cNvCxnSpPr/>
            <p:nvPr/>
          </p:nvCxnSpPr>
          <p:spPr bwMode="auto">
            <a:xfrm>
              <a:off x="3382498" y="5350982"/>
              <a:ext cx="23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9" name="AutoShape 65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AutoShape 331"/>
          <p:cNvSpPr/>
          <p:nvPr/>
        </p:nvSpPr>
        <p:spPr bwMode="auto">
          <a:xfrm>
            <a:off x="7524000" y="3744000"/>
            <a:ext cx="1368000" cy="252000"/>
          </a:xfrm>
          <a:prstGeom prst="borderCallout2">
            <a:avLst>
              <a:gd name="adj1" fmla="val 52327"/>
              <a:gd name="adj2" fmla="val 385"/>
              <a:gd name="adj3" fmla="val 52075"/>
              <a:gd name="adj4" fmla="val -11776"/>
              <a:gd name="adj5" fmla="val -32269"/>
              <a:gd name="adj6" fmla="val -21895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headEnd type="none" w="sm" len="med"/>
            <a:tailEnd type="arrow" w="med" len="sm"/>
          </a:ln>
          <a:effectLst/>
        </p:spPr>
        <p:txBody>
          <a:bodyPr lIns="18000" tIns="10800" rIns="18000" bIns="10800" anchor="ctr"/>
          <a:lstStyle/>
          <a:p>
            <a:pPr algn="ctr"/>
            <a:r>
              <a:rPr lang="zh-CN" altLang="en-US" sz="1600" b="1" u="none" dirty="0" smtClean="0">
                <a:latin typeface="+mn-ea"/>
                <a:ea typeface="+mn-ea"/>
              </a:rPr>
              <a:t>保持大小不变</a:t>
            </a:r>
            <a:endParaRPr lang="zh-CN" altLang="en-US" sz="1600" b="1" u="none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5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181" grpId="0"/>
      <p:bldP spid="98" grpId="0" bldLvl="0" animBg="1"/>
      <p:bldP spid="58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79333-414E-4186-9003-40B96CD1D372}" type="slidenum">
              <a:rPr lang="en-US" altLang="zh-CN"/>
            </a:fld>
            <a:endParaRPr lang="en-US" altLang="zh-CN"/>
          </a:p>
        </p:txBody>
      </p:sp>
      <p:sp>
        <p:nvSpPr>
          <p:cNvPr id="221" name="Text Box 768"/>
          <p:cNvSpPr txBox="1">
            <a:spLocks noChangeArrowheads="1"/>
          </p:cNvSpPr>
          <p:nvPr/>
        </p:nvSpPr>
        <p:spPr bwMode="auto">
          <a:xfrm>
            <a:off x="179263" y="5123656"/>
            <a:ext cx="8785225" cy="10541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提醒：</a:t>
            </a:r>
            <a:r>
              <a:rPr lang="zh-CN" altLang="en-US" b="1" u="none" dirty="0">
                <a:latin typeface="宋体" panose="02010600030101010101" pitchFamily="2" charset="-122"/>
              </a:rPr>
              <a:t>后续仅讨论</a:t>
            </a:r>
            <a:r>
              <a:rPr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主存</a:t>
            </a:r>
            <a:r>
              <a:rPr lang="zh-CN" altLang="en-US" b="1" u="none" dirty="0">
                <a:latin typeface="宋体" panose="02010600030101010101" pitchFamily="2" charset="-122"/>
              </a:rPr>
              <a:t>与</a:t>
            </a:r>
            <a:r>
              <a:rPr lang="en-US" altLang="zh-CN" b="1" u="none" dirty="0">
                <a:latin typeface="宋体" panose="02010600030101010101" pitchFamily="2" charset="-122"/>
              </a:rPr>
              <a:t>CPU</a:t>
            </a:r>
            <a:r>
              <a:rPr lang="zh-CN" altLang="en-US" b="1" u="none" dirty="0">
                <a:latin typeface="宋体" panose="02010600030101010101" pitchFamily="2" charset="-122"/>
              </a:rPr>
              <a:t>的连接   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不自找麻烦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*主存在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可寻址空间中的位置：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106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32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11" name="Text Box 625"/>
          <p:cNvSpPr txBox="1">
            <a:spLocks noChangeArrowheads="1"/>
          </p:cNvSpPr>
          <p:nvPr/>
        </p:nvSpPr>
        <p:spPr bwMode="auto">
          <a:xfrm>
            <a:off x="179263" y="1196752"/>
            <a:ext cx="4536753" cy="23228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主存的接口组织：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SRAM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主存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数据引脚：</a:t>
            </a:r>
            <a:endParaRPr lang="en-US" altLang="zh-CN" sz="22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      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地址引脚：</a:t>
            </a:r>
            <a:endParaRPr lang="en-US" altLang="zh-CN" sz="22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      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控制引脚：</a:t>
            </a:r>
            <a:endParaRPr lang="en-US" altLang="zh-CN" sz="22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DRAM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主存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13" name="Text Box 625"/>
          <p:cNvSpPr txBox="1">
            <a:spLocks noChangeArrowheads="1"/>
          </p:cNvSpPr>
          <p:nvPr/>
        </p:nvSpPr>
        <p:spPr bwMode="auto">
          <a:xfrm>
            <a:off x="2376000" y="1700808"/>
            <a:ext cx="6660000" cy="1822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  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     位数</a:t>
            </a:r>
            <a:r>
              <a:rPr lang="en-US" altLang="zh-CN" sz="2200" b="1" i="1" u="none" dirty="0"/>
              <a:t>w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CPU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数据线位数  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CPU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直接访问主存</a:t>
            </a:r>
            <a:endParaRPr lang="en-US" altLang="zh-CN" sz="18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  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     位数</a:t>
            </a:r>
            <a:r>
              <a:rPr lang="en-US" altLang="zh-CN" sz="2200" b="1" i="1" u="none" dirty="0">
                <a:latin typeface="+mn-lt"/>
              </a:rPr>
              <a:t>k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</a:rPr>
              <a:t>log</a:t>
            </a:r>
            <a:r>
              <a:rPr lang="en-US" altLang="zh-CN" sz="2200" b="1" u="none" baseline="-26000" dirty="0">
                <a:latin typeface="宋体" panose="02010600030101010101" pitchFamily="2" charset="-122"/>
              </a:rPr>
              <a:t>2</a:t>
            </a:r>
            <a:r>
              <a:rPr lang="en-US" altLang="zh-CN" sz="2200" b="1" u="none" dirty="0">
                <a:latin typeface="宋体" panose="02010600030101010101" pitchFamily="2" charset="-122"/>
              </a:rPr>
              <a:t>(</a:t>
            </a:r>
            <a:r>
              <a:rPr lang="zh-CN" altLang="en-US" sz="2000" b="1" u="none" dirty="0">
                <a:latin typeface="宋体" panose="02010600030101010101" pitchFamily="2" charset="-122"/>
              </a:rPr>
              <a:t>主存单元个数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≤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CPU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地址线数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   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    片选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</a:rPr>
              <a:t>1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根，操作≥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根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b="1" u="none" dirty="0" smtClean="0">
                <a:latin typeface="宋体" panose="02010600030101010101" pitchFamily="2" charset="-122"/>
              </a:rPr>
              <a:t>用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DRAMC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实现</a:t>
            </a:r>
            <a:r>
              <a:rPr lang="zh-CN" altLang="en-US" b="1" dirty="0" smtClean="0">
                <a:latin typeface="宋体" panose="02010600030101010101" pitchFamily="2" charset="-122"/>
              </a:rPr>
              <a:t>字扩展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地址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控制转换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，接口</a:t>
            </a:r>
            <a:r>
              <a:rPr lang="zh-CN" altLang="en-US" b="1" dirty="0" smtClean="0">
                <a:latin typeface="宋体" panose="02010600030101010101" pitchFamily="2" charset="-122"/>
              </a:rPr>
              <a:t>同</a:t>
            </a:r>
            <a:r>
              <a:rPr lang="en-US" altLang="zh-CN" b="1" dirty="0" smtClean="0">
                <a:latin typeface="宋体" panose="02010600030101010101" pitchFamily="2" charset="-122"/>
              </a:rPr>
              <a:t>SRAM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110" name="Text Box 641"/>
          <p:cNvSpPr txBox="1">
            <a:spLocks noChangeArrowheads="1"/>
          </p:cNvSpPr>
          <p:nvPr/>
        </p:nvSpPr>
        <p:spPr bwMode="auto">
          <a:xfrm>
            <a:off x="179387" y="332656"/>
            <a:ext cx="8857109" cy="490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主存与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连接    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主存容量可配置的处理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20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104" name="Text Box 726"/>
          <p:cNvSpPr txBox="1">
            <a:spLocks noChangeArrowheads="1"/>
          </p:cNvSpPr>
          <p:nvPr/>
        </p:nvSpPr>
        <p:spPr bwMode="auto">
          <a:xfrm>
            <a:off x="936822" y="900000"/>
            <a:ext cx="468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r>
              <a:rPr lang="zh-CN" altLang="en-US" sz="1800" dirty="0" smtClean="0"/>
              <a:t>思考：</a:t>
            </a:r>
            <a:r>
              <a:rPr lang="en-US" altLang="zh-CN" sz="1800" dirty="0" smtClean="0">
                <a:solidFill>
                  <a:schemeClr val="tx1"/>
                </a:solidFill>
              </a:rPr>
              <a:t>CPU</a:t>
            </a:r>
            <a:r>
              <a:rPr lang="zh-CN" altLang="en-US" sz="1800" dirty="0" smtClean="0">
                <a:solidFill>
                  <a:schemeClr val="tx1"/>
                </a:solidFill>
              </a:rPr>
              <a:t>传送地址时是</a:t>
            </a:r>
            <a:r>
              <a:rPr lang="en-US" altLang="zh-CN" sz="1800" dirty="0" smtClean="0">
                <a:solidFill>
                  <a:schemeClr val="tx1"/>
                </a:solidFill>
              </a:rPr>
              <a:t>1</a:t>
            </a:r>
            <a:r>
              <a:rPr lang="zh-CN" altLang="en-US" sz="1800" dirty="0" smtClean="0">
                <a:solidFill>
                  <a:schemeClr val="tx1"/>
                </a:solidFill>
              </a:rPr>
              <a:t>次</a:t>
            </a:r>
            <a:r>
              <a:rPr lang="en-US" altLang="zh-CN" sz="1800" dirty="0" smtClean="0">
                <a:solidFill>
                  <a:schemeClr val="tx1"/>
                </a:solidFill>
              </a:rPr>
              <a:t>/2</a:t>
            </a:r>
            <a:r>
              <a:rPr lang="zh-CN" altLang="en-US" sz="1800" dirty="0" smtClean="0">
                <a:solidFill>
                  <a:schemeClr val="tx1"/>
                </a:solidFill>
              </a:rPr>
              <a:t>次传送？原因？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105" name="Text Box 703"/>
          <p:cNvSpPr txBox="1">
            <a:spLocks noChangeArrowheads="1"/>
          </p:cNvSpPr>
          <p:nvPr/>
        </p:nvSpPr>
        <p:spPr bwMode="auto">
          <a:xfrm>
            <a:off x="5652120" y="936000"/>
            <a:ext cx="3337358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80000"/>
              </a:lnSpc>
            </a:pPr>
            <a:r>
              <a:rPr lang="zh-CN" altLang="en-US" sz="1800" b="1" u="none" dirty="0" smtClean="0">
                <a:latin typeface="+mn-ea"/>
                <a:ea typeface="+mn-ea"/>
              </a:rPr>
              <a:t>一次传送，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主存可为</a:t>
            </a:r>
            <a:r>
              <a:rPr lang="en-US" altLang="zh-CN" sz="1800" b="1" u="none" dirty="0">
                <a:latin typeface="宋体" panose="02010600030101010101" pitchFamily="2" charset="-122"/>
              </a:rPr>
              <a:t>SRAM</a:t>
            </a:r>
            <a:r>
              <a:rPr lang="zh-CN" altLang="en-US" sz="1800" b="1" u="none" dirty="0">
                <a:latin typeface="宋体" panose="02010600030101010101" pitchFamily="2" charset="-122"/>
              </a:rPr>
              <a:t>或</a:t>
            </a:r>
            <a:r>
              <a:rPr lang="en-US" altLang="zh-CN" sz="1800" b="1" u="none" dirty="0">
                <a:latin typeface="宋体" panose="02010600030101010101" pitchFamily="2" charset="-122"/>
              </a:rPr>
              <a:t>DRAM</a:t>
            </a:r>
            <a:endParaRPr lang="en-US" altLang="zh-CN" sz="1800" b="1" u="none" dirty="0">
              <a:latin typeface="+mn-ea"/>
              <a:ea typeface="+mn-ea"/>
            </a:endParaRPr>
          </a:p>
        </p:txBody>
      </p:sp>
      <p:sp>
        <p:nvSpPr>
          <p:cNvPr id="107" name="AutoShape 31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7944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2" name="组合 101"/>
          <p:cNvGrpSpPr/>
          <p:nvPr/>
        </p:nvGrpSpPr>
        <p:grpSpPr>
          <a:xfrm>
            <a:off x="2843807" y="3501008"/>
            <a:ext cx="5760641" cy="1585145"/>
            <a:chOff x="2843807" y="3789039"/>
            <a:chExt cx="5760641" cy="1585145"/>
          </a:xfrm>
        </p:grpSpPr>
        <p:sp>
          <p:nvSpPr>
            <p:cNvPr id="103" name="Line 684"/>
            <p:cNvSpPr>
              <a:spLocks noChangeShapeType="1"/>
            </p:cNvSpPr>
            <p:nvPr/>
          </p:nvSpPr>
          <p:spPr bwMode="auto">
            <a:xfrm>
              <a:off x="2843807" y="4075484"/>
              <a:ext cx="2664295" cy="0"/>
            </a:xfrm>
            <a:prstGeom prst="line">
              <a:avLst/>
            </a:prstGeom>
            <a:noFill/>
            <a:ln w="22225" cmpd="sng">
              <a:solidFill>
                <a:schemeClr val="accent2"/>
              </a:solidFill>
              <a:round/>
              <a:headEnd type="triangl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Text Box 685"/>
            <p:cNvSpPr txBox="1">
              <a:spLocks noChangeArrowheads="1"/>
            </p:cNvSpPr>
            <p:nvPr/>
          </p:nvSpPr>
          <p:spPr bwMode="auto">
            <a:xfrm>
              <a:off x="3059832" y="4149080"/>
              <a:ext cx="2092325" cy="100800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18</a:t>
              </a:r>
              <a:r>
                <a:rPr lang="en-US" altLang="zh-CN" sz="1800" b="1" u="none" dirty="0"/>
                <a:t>~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0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        A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8</a:t>
              </a:r>
              <a:r>
                <a:rPr lang="en-US" altLang="zh-CN" sz="1400" b="1" u="none" dirty="0"/>
                <a:t>~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18000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WE    </a:t>
              </a:r>
              <a:r>
                <a:rPr lang="en-US" altLang="zh-CN" sz="18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DRAM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     WE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     </a:t>
              </a:r>
              <a:r>
                <a:rPr lang="zh-CN" altLang="en-US" sz="18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控制器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  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RAS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18000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CS  CAS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1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 RAS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1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 CAS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09" name="Text Box 687"/>
            <p:cNvSpPr txBox="1">
              <a:spLocks noChangeArrowheads="1"/>
            </p:cNvSpPr>
            <p:nvPr/>
          </p:nvSpPr>
          <p:spPr bwMode="auto">
            <a:xfrm>
              <a:off x="5727377" y="3933192"/>
              <a:ext cx="1152000" cy="1224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7</a:t>
              </a:r>
              <a:r>
                <a:rPr lang="en-US" altLang="zh-CN" sz="1800" b="1" u="none" dirty="0"/>
                <a:t>~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18000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8</a:t>
              </a:r>
              <a:r>
                <a:rPr lang="en-US" altLang="zh-CN" sz="1800" b="1" u="none" dirty="0"/>
                <a:t>~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18000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WE    </a:t>
              </a:r>
              <a:r>
                <a:rPr lang="en-US" altLang="zh-CN" sz="18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0#</a:t>
              </a:r>
              <a:endParaRPr lang="en-US" altLang="zh-CN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RAS  </a:t>
              </a:r>
              <a:r>
                <a:rPr lang="en-US" altLang="zh-CN" sz="18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DRAM</a:t>
              </a:r>
              <a:endParaRPr lang="en-US" altLang="zh-CN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CAS  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模块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2" name="Line 690"/>
            <p:cNvSpPr>
              <a:spLocks noChangeShapeType="1"/>
            </p:cNvSpPr>
            <p:nvPr/>
          </p:nvSpPr>
          <p:spPr bwMode="auto">
            <a:xfrm>
              <a:off x="5149006" y="4581128"/>
              <a:ext cx="5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691"/>
            <p:cNvSpPr>
              <a:spLocks noChangeShapeType="1"/>
            </p:cNvSpPr>
            <p:nvPr/>
          </p:nvSpPr>
          <p:spPr bwMode="auto">
            <a:xfrm>
              <a:off x="5149006" y="4293096"/>
              <a:ext cx="576000" cy="0"/>
            </a:xfrm>
            <a:prstGeom prst="line">
              <a:avLst/>
            </a:prstGeom>
            <a:noFill/>
            <a:ln w="22225" cmpd="sng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692"/>
            <p:cNvSpPr>
              <a:spLocks noChangeShapeType="1"/>
            </p:cNvSpPr>
            <p:nvPr/>
          </p:nvSpPr>
          <p:spPr bwMode="auto">
            <a:xfrm>
              <a:off x="5149006" y="4797152"/>
              <a:ext cx="5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693"/>
            <p:cNvSpPr>
              <a:spLocks noChangeShapeType="1"/>
            </p:cNvSpPr>
            <p:nvPr/>
          </p:nvSpPr>
          <p:spPr bwMode="auto">
            <a:xfrm>
              <a:off x="5149006" y="5049144"/>
              <a:ext cx="5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701"/>
            <p:cNvSpPr>
              <a:spLocks noChangeShapeType="1"/>
            </p:cNvSpPr>
            <p:nvPr/>
          </p:nvSpPr>
          <p:spPr bwMode="auto">
            <a:xfrm flipV="1">
              <a:off x="2843832" y="5013176"/>
              <a:ext cx="21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702"/>
            <p:cNvSpPr>
              <a:spLocks noChangeShapeType="1"/>
            </p:cNvSpPr>
            <p:nvPr/>
          </p:nvSpPr>
          <p:spPr bwMode="auto">
            <a:xfrm>
              <a:off x="2843832" y="4509120"/>
              <a:ext cx="216000" cy="1588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Line 704"/>
            <p:cNvSpPr>
              <a:spLocks noChangeShapeType="1"/>
            </p:cNvSpPr>
            <p:nvPr/>
          </p:nvSpPr>
          <p:spPr bwMode="auto">
            <a:xfrm>
              <a:off x="7236320" y="4077072"/>
              <a:ext cx="216000" cy="0"/>
            </a:xfrm>
            <a:prstGeom prst="line">
              <a:avLst/>
            </a:prstGeom>
            <a:noFill/>
            <a:ln w="22225" cmpd="sng">
              <a:solidFill>
                <a:schemeClr val="accent2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705"/>
            <p:cNvSpPr>
              <a:spLocks noChangeShapeType="1"/>
            </p:cNvSpPr>
            <p:nvPr/>
          </p:nvSpPr>
          <p:spPr bwMode="auto">
            <a:xfrm>
              <a:off x="7020272" y="4581128"/>
              <a:ext cx="43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706"/>
            <p:cNvSpPr>
              <a:spLocks noChangeShapeType="1"/>
            </p:cNvSpPr>
            <p:nvPr/>
          </p:nvSpPr>
          <p:spPr bwMode="auto">
            <a:xfrm>
              <a:off x="7092328" y="4293096"/>
              <a:ext cx="360000" cy="0"/>
            </a:xfrm>
            <a:prstGeom prst="line">
              <a:avLst/>
            </a:prstGeom>
            <a:noFill/>
            <a:ln w="22225" cmpd="sng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707"/>
            <p:cNvSpPr>
              <a:spLocks noChangeShapeType="1"/>
            </p:cNvSpPr>
            <p:nvPr/>
          </p:nvSpPr>
          <p:spPr bwMode="auto">
            <a:xfrm>
              <a:off x="7092280" y="4797152"/>
              <a:ext cx="3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708"/>
            <p:cNvSpPr>
              <a:spLocks noChangeShapeType="1"/>
            </p:cNvSpPr>
            <p:nvPr/>
          </p:nvSpPr>
          <p:spPr bwMode="auto">
            <a:xfrm>
              <a:off x="7164288" y="5050556"/>
              <a:ext cx="28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709"/>
            <p:cNvSpPr>
              <a:spLocks noChangeShapeType="1"/>
            </p:cNvSpPr>
            <p:nvPr/>
          </p:nvSpPr>
          <p:spPr bwMode="auto">
            <a:xfrm>
              <a:off x="5508328" y="3789040"/>
              <a:ext cx="1728000" cy="0"/>
            </a:xfrm>
            <a:prstGeom prst="line">
              <a:avLst/>
            </a:prstGeom>
            <a:noFill/>
            <a:ln w="22225" cmpd="sng">
              <a:solidFill>
                <a:schemeClr val="accent2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Line 710"/>
            <p:cNvSpPr>
              <a:spLocks noChangeShapeType="1"/>
            </p:cNvSpPr>
            <p:nvPr/>
          </p:nvSpPr>
          <p:spPr bwMode="auto">
            <a:xfrm>
              <a:off x="7236296" y="3790429"/>
              <a:ext cx="0" cy="288000"/>
            </a:xfrm>
            <a:prstGeom prst="line">
              <a:avLst/>
            </a:prstGeom>
            <a:noFill/>
            <a:ln w="22225" cmpd="sng">
              <a:solidFill>
                <a:schemeClr val="accent2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711"/>
            <p:cNvSpPr>
              <a:spLocks noChangeShapeType="1"/>
            </p:cNvSpPr>
            <p:nvPr/>
          </p:nvSpPr>
          <p:spPr bwMode="auto">
            <a:xfrm>
              <a:off x="5364088" y="3861048"/>
              <a:ext cx="1728000" cy="0"/>
            </a:xfrm>
            <a:prstGeom prst="line">
              <a:avLst/>
            </a:prstGeom>
            <a:noFill/>
            <a:ln w="22225" cmpd="sng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712"/>
            <p:cNvSpPr>
              <a:spLocks noChangeShapeType="1"/>
            </p:cNvSpPr>
            <p:nvPr/>
          </p:nvSpPr>
          <p:spPr bwMode="auto">
            <a:xfrm flipV="1">
              <a:off x="7090692" y="3860973"/>
              <a:ext cx="1588" cy="432000"/>
            </a:xfrm>
            <a:prstGeom prst="line">
              <a:avLst/>
            </a:prstGeom>
            <a:noFill/>
            <a:ln w="22225" cmpd="sng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713"/>
            <p:cNvSpPr>
              <a:spLocks noChangeShapeType="1"/>
            </p:cNvSpPr>
            <p:nvPr/>
          </p:nvSpPr>
          <p:spPr bwMode="auto">
            <a:xfrm flipV="1">
              <a:off x="5364088" y="3860973"/>
              <a:ext cx="0" cy="432000"/>
            </a:xfrm>
            <a:prstGeom prst="line">
              <a:avLst/>
            </a:prstGeom>
            <a:noFill/>
            <a:ln w="22225" cmpd="sng">
              <a:solidFill>
                <a:srgbClr val="CC3300"/>
              </a:solidFill>
              <a:round/>
              <a:headEnd type="oval" w="sm" len="sm"/>
              <a:tailEnd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714"/>
            <p:cNvSpPr>
              <a:spLocks noChangeShapeType="1"/>
            </p:cNvSpPr>
            <p:nvPr/>
          </p:nvSpPr>
          <p:spPr bwMode="auto">
            <a:xfrm flipH="1">
              <a:off x="5508302" y="3789039"/>
              <a:ext cx="1" cy="286643"/>
            </a:xfrm>
            <a:prstGeom prst="line">
              <a:avLst/>
            </a:prstGeom>
            <a:noFill/>
            <a:ln w="22225" cmpd="sng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715"/>
            <p:cNvSpPr>
              <a:spLocks noChangeShapeType="1"/>
            </p:cNvSpPr>
            <p:nvPr/>
          </p:nvSpPr>
          <p:spPr bwMode="auto">
            <a:xfrm>
              <a:off x="5508104" y="4581126"/>
              <a:ext cx="0" cy="64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716"/>
            <p:cNvSpPr>
              <a:spLocks noChangeShapeType="1"/>
            </p:cNvSpPr>
            <p:nvPr/>
          </p:nvSpPr>
          <p:spPr bwMode="auto">
            <a:xfrm flipH="1" flipV="1">
              <a:off x="5508303" y="5229200"/>
              <a:ext cx="151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717"/>
            <p:cNvSpPr>
              <a:spLocks noChangeShapeType="1"/>
            </p:cNvSpPr>
            <p:nvPr/>
          </p:nvSpPr>
          <p:spPr bwMode="auto">
            <a:xfrm>
              <a:off x="7020272" y="4582071"/>
              <a:ext cx="0" cy="64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718"/>
            <p:cNvSpPr>
              <a:spLocks noChangeShapeType="1"/>
            </p:cNvSpPr>
            <p:nvPr/>
          </p:nvSpPr>
          <p:spPr bwMode="auto">
            <a:xfrm flipV="1">
              <a:off x="7092280" y="4796953"/>
              <a:ext cx="0" cy="504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719"/>
            <p:cNvSpPr>
              <a:spLocks noChangeShapeType="1"/>
            </p:cNvSpPr>
            <p:nvPr/>
          </p:nvSpPr>
          <p:spPr bwMode="auto">
            <a:xfrm flipV="1">
              <a:off x="7164288" y="5049216"/>
              <a:ext cx="0" cy="324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Line 720"/>
            <p:cNvSpPr>
              <a:spLocks noChangeShapeType="1"/>
            </p:cNvSpPr>
            <p:nvPr/>
          </p:nvSpPr>
          <p:spPr bwMode="auto">
            <a:xfrm flipV="1">
              <a:off x="4356124" y="5301208"/>
              <a:ext cx="273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721"/>
            <p:cNvSpPr>
              <a:spLocks noChangeShapeType="1"/>
            </p:cNvSpPr>
            <p:nvPr/>
          </p:nvSpPr>
          <p:spPr bwMode="auto">
            <a:xfrm flipV="1">
              <a:off x="3780432" y="5373216"/>
              <a:ext cx="338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746"/>
            <p:cNvSpPr>
              <a:spLocks noChangeShapeType="1"/>
            </p:cNvSpPr>
            <p:nvPr/>
          </p:nvSpPr>
          <p:spPr bwMode="auto">
            <a:xfrm flipV="1">
              <a:off x="4355778" y="5156490"/>
              <a:ext cx="0" cy="144463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747"/>
            <p:cNvSpPr>
              <a:spLocks noChangeShapeType="1"/>
            </p:cNvSpPr>
            <p:nvPr/>
          </p:nvSpPr>
          <p:spPr bwMode="auto">
            <a:xfrm flipV="1">
              <a:off x="3779912" y="5158184"/>
              <a:ext cx="0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Text Box 687"/>
            <p:cNvSpPr txBox="1">
              <a:spLocks noChangeArrowheads="1"/>
            </p:cNvSpPr>
            <p:nvPr/>
          </p:nvSpPr>
          <p:spPr bwMode="auto">
            <a:xfrm>
              <a:off x="7452448" y="3933192"/>
              <a:ext cx="1152000" cy="1224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7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～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18000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8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～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18000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WE    </a:t>
              </a:r>
              <a:r>
                <a:rPr lang="en-US" altLang="zh-CN" sz="18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8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#</a:t>
              </a:r>
              <a:endParaRPr lang="en-US" altLang="zh-CN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RAS  </a:t>
              </a:r>
              <a:r>
                <a:rPr lang="en-US" altLang="zh-CN" sz="18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DRAM</a:t>
              </a:r>
              <a:endParaRPr lang="en-US" altLang="zh-CN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CAS  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模块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9" name="Line 704"/>
            <p:cNvSpPr>
              <a:spLocks noChangeShapeType="1"/>
            </p:cNvSpPr>
            <p:nvPr/>
          </p:nvSpPr>
          <p:spPr bwMode="auto">
            <a:xfrm>
              <a:off x="5508128" y="4077072"/>
              <a:ext cx="216000" cy="0"/>
            </a:xfrm>
            <a:prstGeom prst="line">
              <a:avLst/>
            </a:prstGeom>
            <a:noFill/>
            <a:ln w="22225" cmpd="sng">
              <a:solidFill>
                <a:schemeClr val="accent2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Line 706"/>
            <p:cNvSpPr>
              <a:spLocks noChangeShapeType="1"/>
            </p:cNvSpPr>
            <p:nvPr/>
          </p:nvSpPr>
          <p:spPr bwMode="auto">
            <a:xfrm>
              <a:off x="2843832" y="4293096"/>
              <a:ext cx="216000" cy="0"/>
            </a:xfrm>
            <a:prstGeom prst="line">
              <a:avLst/>
            </a:prstGeom>
            <a:noFill/>
            <a:ln w="22225" cmpd="sng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Line 696"/>
            <p:cNvSpPr>
              <a:spLocks noChangeShapeType="1"/>
            </p:cNvSpPr>
            <p:nvPr/>
          </p:nvSpPr>
          <p:spPr bwMode="auto">
            <a:xfrm>
              <a:off x="5751836" y="4450966"/>
              <a:ext cx="23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Line 742"/>
            <p:cNvSpPr>
              <a:spLocks noChangeShapeType="1"/>
            </p:cNvSpPr>
            <p:nvPr/>
          </p:nvSpPr>
          <p:spPr bwMode="auto">
            <a:xfrm>
              <a:off x="3578818" y="4920387"/>
              <a:ext cx="39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Line 742"/>
            <p:cNvSpPr>
              <a:spLocks noChangeShapeType="1"/>
            </p:cNvSpPr>
            <p:nvPr/>
          </p:nvSpPr>
          <p:spPr bwMode="auto">
            <a:xfrm>
              <a:off x="4103992" y="4920387"/>
              <a:ext cx="39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742"/>
            <p:cNvSpPr>
              <a:spLocks noChangeShapeType="1"/>
            </p:cNvSpPr>
            <p:nvPr/>
          </p:nvSpPr>
          <p:spPr bwMode="auto">
            <a:xfrm>
              <a:off x="4644008" y="4920387"/>
              <a:ext cx="39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742"/>
            <p:cNvSpPr>
              <a:spLocks noChangeShapeType="1"/>
            </p:cNvSpPr>
            <p:nvPr/>
          </p:nvSpPr>
          <p:spPr bwMode="auto">
            <a:xfrm>
              <a:off x="4644008" y="4666990"/>
              <a:ext cx="39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Line 699"/>
            <p:cNvSpPr>
              <a:spLocks noChangeShapeType="1"/>
            </p:cNvSpPr>
            <p:nvPr/>
          </p:nvSpPr>
          <p:spPr bwMode="auto">
            <a:xfrm>
              <a:off x="3104256" y="4920387"/>
              <a:ext cx="23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Line 699"/>
            <p:cNvSpPr>
              <a:spLocks noChangeShapeType="1"/>
            </p:cNvSpPr>
            <p:nvPr/>
          </p:nvSpPr>
          <p:spPr bwMode="auto">
            <a:xfrm>
              <a:off x="3094467" y="4430185"/>
              <a:ext cx="23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Line 699"/>
            <p:cNvSpPr>
              <a:spLocks noChangeShapeType="1"/>
            </p:cNvSpPr>
            <p:nvPr/>
          </p:nvSpPr>
          <p:spPr bwMode="auto">
            <a:xfrm>
              <a:off x="4835129" y="4430185"/>
              <a:ext cx="23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742"/>
            <p:cNvSpPr>
              <a:spLocks noChangeShapeType="1"/>
            </p:cNvSpPr>
            <p:nvPr/>
          </p:nvSpPr>
          <p:spPr bwMode="auto">
            <a:xfrm>
              <a:off x="5744909" y="4948095"/>
              <a:ext cx="36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Line 742"/>
            <p:cNvSpPr>
              <a:spLocks noChangeShapeType="1"/>
            </p:cNvSpPr>
            <p:nvPr/>
          </p:nvSpPr>
          <p:spPr bwMode="auto">
            <a:xfrm>
              <a:off x="5751836" y="4704363"/>
              <a:ext cx="36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Line 696"/>
            <p:cNvSpPr>
              <a:spLocks noChangeShapeType="1"/>
            </p:cNvSpPr>
            <p:nvPr/>
          </p:nvSpPr>
          <p:spPr bwMode="auto">
            <a:xfrm>
              <a:off x="7480028" y="4450966"/>
              <a:ext cx="23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Line 742"/>
            <p:cNvSpPr>
              <a:spLocks noChangeShapeType="1"/>
            </p:cNvSpPr>
            <p:nvPr/>
          </p:nvSpPr>
          <p:spPr bwMode="auto">
            <a:xfrm>
              <a:off x="7473101" y="4948095"/>
              <a:ext cx="36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742"/>
            <p:cNvSpPr>
              <a:spLocks noChangeShapeType="1"/>
            </p:cNvSpPr>
            <p:nvPr/>
          </p:nvSpPr>
          <p:spPr bwMode="auto">
            <a:xfrm>
              <a:off x="7480028" y="4704363"/>
              <a:ext cx="36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4" name="组合 163"/>
          <p:cNvGrpSpPr/>
          <p:nvPr/>
        </p:nvGrpSpPr>
        <p:grpSpPr>
          <a:xfrm>
            <a:off x="1259632" y="3645025"/>
            <a:ext cx="1365186" cy="1224000"/>
            <a:chOff x="1259632" y="3933056"/>
            <a:chExt cx="1365186" cy="1224000"/>
          </a:xfrm>
        </p:grpSpPr>
        <p:sp>
          <p:nvSpPr>
            <p:cNvPr id="165" name="Text Box 687"/>
            <p:cNvSpPr txBox="1">
              <a:spLocks noChangeArrowheads="1"/>
            </p:cNvSpPr>
            <p:nvPr/>
          </p:nvSpPr>
          <p:spPr bwMode="auto">
            <a:xfrm>
              <a:off x="1472818" y="3933056"/>
              <a:ext cx="1152000" cy="1224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7</a:t>
              </a:r>
              <a:r>
                <a:rPr lang="en-US" altLang="zh-CN" sz="1800" b="1" u="none" dirty="0"/>
                <a:t>~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18000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18</a:t>
              </a:r>
              <a:r>
                <a:rPr lang="en-US" altLang="zh-CN" sz="1800" b="1" u="none" dirty="0" smtClean="0"/>
                <a:t>~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18000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WE  </a:t>
              </a:r>
              <a:r>
                <a:rPr lang="en-US" altLang="zh-CN" sz="18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SRAM</a:t>
              </a:r>
              <a:endParaRPr lang="en-US" altLang="zh-CN" sz="18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    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模块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CS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6" name="Line 701"/>
            <p:cNvSpPr>
              <a:spLocks noChangeShapeType="1"/>
            </p:cNvSpPr>
            <p:nvPr/>
          </p:nvSpPr>
          <p:spPr bwMode="auto">
            <a:xfrm flipV="1">
              <a:off x="1259632" y="5085184"/>
              <a:ext cx="21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Line 702"/>
            <p:cNvSpPr>
              <a:spLocks noChangeShapeType="1"/>
            </p:cNvSpPr>
            <p:nvPr/>
          </p:nvSpPr>
          <p:spPr bwMode="auto">
            <a:xfrm>
              <a:off x="1259632" y="4579540"/>
              <a:ext cx="216000" cy="1588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Line 706"/>
            <p:cNvSpPr>
              <a:spLocks noChangeShapeType="1"/>
            </p:cNvSpPr>
            <p:nvPr/>
          </p:nvSpPr>
          <p:spPr bwMode="auto">
            <a:xfrm>
              <a:off x="1259632" y="4293096"/>
              <a:ext cx="216000" cy="0"/>
            </a:xfrm>
            <a:prstGeom prst="line">
              <a:avLst/>
            </a:prstGeom>
            <a:noFill/>
            <a:ln w="22225" cmpd="sng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Line 706"/>
            <p:cNvSpPr>
              <a:spLocks noChangeShapeType="1"/>
            </p:cNvSpPr>
            <p:nvPr/>
          </p:nvSpPr>
          <p:spPr bwMode="auto">
            <a:xfrm>
              <a:off x="1259632" y="4077072"/>
              <a:ext cx="216000" cy="0"/>
            </a:xfrm>
            <a:prstGeom prst="line">
              <a:avLst/>
            </a:prstGeom>
            <a:noFill/>
            <a:ln w="22225" cmpd="sng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Line 699"/>
            <p:cNvSpPr>
              <a:spLocks noChangeShapeType="1"/>
            </p:cNvSpPr>
            <p:nvPr/>
          </p:nvSpPr>
          <p:spPr bwMode="auto">
            <a:xfrm>
              <a:off x="1499299" y="4948095"/>
              <a:ext cx="23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Line 699"/>
            <p:cNvSpPr>
              <a:spLocks noChangeShapeType="1"/>
            </p:cNvSpPr>
            <p:nvPr/>
          </p:nvSpPr>
          <p:spPr bwMode="auto">
            <a:xfrm>
              <a:off x="1496437" y="4450966"/>
              <a:ext cx="23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3" name="直接箭头连接符 2"/>
          <p:cNvCxnSpPr/>
          <p:nvPr/>
        </p:nvCxnSpPr>
        <p:spPr bwMode="auto">
          <a:xfrm flipH="1">
            <a:off x="4428272" y="2492896"/>
            <a:ext cx="2592000" cy="3240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5" name="矩形 4"/>
          <p:cNvSpPr/>
          <p:nvPr/>
        </p:nvSpPr>
        <p:spPr>
          <a:xfrm>
            <a:off x="4932000" y="5688000"/>
            <a:ext cx="39494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通常</a:t>
            </a:r>
            <a:r>
              <a:rPr lang="zh-CN" altLang="en-US" b="1" u="none" spc="-50" dirty="0" smtClean="0">
                <a:latin typeface="宋体" panose="02010600030101010101" pitchFamily="2" charset="-122"/>
              </a:rPr>
              <a:t>占用</a:t>
            </a:r>
            <a:r>
              <a:rPr lang="zh-CN" altLang="en-US" b="1" spc="-50" dirty="0" smtClean="0">
                <a:latin typeface="宋体" panose="02010600030101010101" pitchFamily="2" charset="-122"/>
              </a:rPr>
              <a:t>可</a:t>
            </a:r>
            <a:r>
              <a:rPr lang="zh-CN" altLang="en-US" b="1" spc="-50" dirty="0">
                <a:latin typeface="宋体" panose="02010600030101010101" pitchFamily="2" charset="-122"/>
              </a:rPr>
              <a:t>寻址空间的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低端</a:t>
            </a:r>
            <a:r>
              <a:rPr lang="zh-CN" altLang="en-US" b="1" u="none" dirty="0">
                <a:latin typeface="宋体" panose="02010600030101010101" pitchFamily="2" charset="-122"/>
              </a:rPr>
              <a:t> </a:t>
            </a:r>
            <a:endParaRPr lang="zh-CN" altLang="en-US" dirty="0"/>
          </a:p>
        </p:txBody>
      </p:sp>
      <p:sp>
        <p:nvSpPr>
          <p:cNvPr id="67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1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25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bldLvl="0" animBg="1"/>
      <p:bldP spid="105" grpId="0" bldLvl="0" animBg="1"/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D3524-2041-4779-B20E-7F4D690D0CDC}" type="slidenum">
              <a:rPr lang="en-US" altLang="zh-CN"/>
            </a:fld>
            <a:endParaRPr lang="en-US" altLang="zh-CN" dirty="0"/>
          </a:p>
        </p:txBody>
      </p:sp>
      <p:sp>
        <p:nvSpPr>
          <p:cNvPr id="451775" name="AutoShape 191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1" y="652425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35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17" name="Text Box 142"/>
          <p:cNvSpPr txBox="1">
            <a:spLocks noChangeArrowheads="1"/>
          </p:cNvSpPr>
          <p:nvPr/>
        </p:nvSpPr>
        <p:spPr bwMode="auto">
          <a:xfrm>
            <a:off x="179389" y="332656"/>
            <a:ext cx="3166406" cy="2284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*主存与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的连接：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数据引脚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地址引脚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800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控制引脚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20" name="Text Box 142"/>
          <p:cNvSpPr txBox="1">
            <a:spLocks noChangeArrowheads="1"/>
          </p:cNvSpPr>
          <p:nvPr/>
        </p:nvSpPr>
        <p:spPr bwMode="auto">
          <a:xfrm>
            <a:off x="2376000" y="801401"/>
            <a:ext cx="6696000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连接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CPU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数据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线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的全部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      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←两者位数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须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相等</a:t>
            </a:r>
            <a:endParaRPr lang="en-US" altLang="zh-CN" b="1" dirty="0" smtClean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连接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CPU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地址线的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低位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      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←占用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连续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地址空间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800" b="1" u="none" dirty="0" smtClean="0">
                <a:latin typeface="宋体" panose="02010600030101010101" pitchFamily="2" charset="-122"/>
              </a:rPr>
              <a:t>             </a:t>
            </a:r>
            <a:r>
              <a:rPr lang="zh-CN" altLang="en-US" sz="1800" u="none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→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地址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高位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用于判断目标地址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∈主存地址范围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121" name="组合 120"/>
          <p:cNvGrpSpPr/>
          <p:nvPr/>
        </p:nvGrpSpPr>
        <p:grpSpPr>
          <a:xfrm>
            <a:off x="2340000" y="2060848"/>
            <a:ext cx="6431915" cy="1014730"/>
            <a:chOff x="1763714" y="3421449"/>
            <a:chExt cx="6431915" cy="1014730"/>
          </a:xfrm>
        </p:grpSpPr>
        <p:sp>
          <p:nvSpPr>
            <p:cNvPr id="122" name="Text Box 53"/>
            <p:cNvSpPr txBox="1">
              <a:spLocks noChangeArrowheads="1"/>
            </p:cNvSpPr>
            <p:nvPr/>
          </p:nvSpPr>
          <p:spPr bwMode="auto">
            <a:xfrm>
              <a:off x="1763714" y="3421449"/>
              <a:ext cx="6431915" cy="10147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b="1" u="none" dirty="0" smtClean="0">
                  <a:latin typeface="宋体" panose="02010600030101010101" pitchFamily="2" charset="-122"/>
                </a:rPr>
                <a:t>CS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＝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(CPU</a:t>
              </a:r>
              <a:r>
                <a:rPr lang="zh-CN" altLang="en-US" sz="2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有</a:t>
              </a:r>
              <a:r>
                <a:rPr lang="en-US" altLang="zh-CN" sz="2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MEM</a:t>
              </a:r>
              <a:r>
                <a:rPr lang="zh-CN" altLang="en-US" sz="2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操作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)</a:t>
              </a:r>
              <a:r>
                <a:rPr lang="en-US" altLang="zh-CN" sz="2200" b="1" u="none" dirty="0" smtClean="0">
                  <a:latin typeface="+mn-lt"/>
                </a:rPr>
                <a:t>·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目标地址</a:t>
              </a:r>
              <a:r>
                <a:rPr lang="zh-CN" altLang="en-US" sz="22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∈</a:t>
              </a:r>
              <a:r>
                <a:rPr lang="zh-CN" altLang="en-US" sz="22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主存地址</a:t>
              </a:r>
              <a:r>
                <a:rPr lang="zh-CN" altLang="en-US" sz="2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范围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b="1" u="none" dirty="0" smtClean="0">
                  <a:latin typeface="宋体" panose="02010600030101010101" pitchFamily="2" charset="-122"/>
                </a:rPr>
                <a:t>WE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＝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(CPU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操作类型</a:t>
              </a:r>
              <a:r>
                <a:rPr lang="zh-CN" altLang="en-US" sz="2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为</a:t>
              </a:r>
              <a:r>
                <a:rPr lang="zh-CN" altLang="en-US" sz="2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写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)   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WE#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有效表示</a:t>
              </a:r>
              <a:r>
                <a:rPr lang="zh-CN" altLang="en-US" sz="18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写操作</a:t>
              </a:r>
              <a:endPara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6" name="Line 643"/>
            <p:cNvSpPr>
              <a:spLocks noChangeShapeType="1"/>
            </p:cNvSpPr>
            <p:nvPr/>
          </p:nvSpPr>
          <p:spPr bwMode="auto">
            <a:xfrm>
              <a:off x="1871714" y="3574601"/>
              <a:ext cx="2881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643"/>
            <p:cNvSpPr>
              <a:spLocks noChangeShapeType="1"/>
            </p:cNvSpPr>
            <p:nvPr/>
          </p:nvSpPr>
          <p:spPr bwMode="auto">
            <a:xfrm>
              <a:off x="2524045" y="3556601"/>
              <a:ext cx="530964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643"/>
            <p:cNvSpPr>
              <a:spLocks noChangeShapeType="1"/>
            </p:cNvSpPr>
            <p:nvPr/>
          </p:nvSpPr>
          <p:spPr bwMode="auto">
            <a:xfrm>
              <a:off x="1853714" y="4024601"/>
              <a:ext cx="316945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643"/>
            <p:cNvSpPr>
              <a:spLocks noChangeShapeType="1"/>
            </p:cNvSpPr>
            <p:nvPr/>
          </p:nvSpPr>
          <p:spPr bwMode="auto">
            <a:xfrm>
              <a:off x="2555714" y="4006601"/>
              <a:ext cx="229285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4788248" y="4435891"/>
            <a:ext cx="3816200" cy="1512168"/>
            <a:chOff x="1403768" y="4437112"/>
            <a:chExt cx="3816200" cy="1512168"/>
          </a:xfrm>
        </p:grpSpPr>
        <p:sp>
          <p:nvSpPr>
            <p:cNvPr id="135" name="Rectangle 145"/>
            <p:cNvSpPr>
              <a:spLocks noChangeArrowheads="1"/>
            </p:cNvSpPr>
            <p:nvPr/>
          </p:nvSpPr>
          <p:spPr bwMode="auto">
            <a:xfrm>
              <a:off x="2627784" y="4509328"/>
              <a:ext cx="1512000" cy="1404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ysDot"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" name="Line 150"/>
            <p:cNvSpPr>
              <a:spLocks noChangeShapeType="1"/>
            </p:cNvSpPr>
            <p:nvPr/>
          </p:nvSpPr>
          <p:spPr bwMode="auto">
            <a:xfrm>
              <a:off x="2483024" y="5805264"/>
              <a:ext cx="432000" cy="0"/>
            </a:xfrm>
            <a:prstGeom prst="line">
              <a:avLst/>
            </a:prstGeom>
            <a:noFill/>
            <a:ln w="22225" cmpd="sng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164"/>
            <p:cNvSpPr>
              <a:spLocks noChangeShapeType="1"/>
            </p:cNvSpPr>
            <p:nvPr/>
          </p:nvSpPr>
          <p:spPr bwMode="auto">
            <a:xfrm flipV="1">
              <a:off x="2483024" y="4581128"/>
              <a:ext cx="432000" cy="0"/>
            </a:xfrm>
            <a:prstGeom prst="line">
              <a:avLst/>
            </a:prstGeom>
            <a:noFill/>
            <a:ln w="22225" cmpd="sng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Text Box 165"/>
            <p:cNvSpPr txBox="1">
              <a:spLocks noChangeArrowheads="1"/>
            </p:cNvSpPr>
            <p:nvPr/>
          </p:nvSpPr>
          <p:spPr bwMode="auto">
            <a:xfrm>
              <a:off x="1403768" y="4437112"/>
              <a:ext cx="1080000" cy="151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t" anchorCtr="0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7</a:t>
              </a:r>
              <a:r>
                <a:rPr lang="en-US" altLang="zh-CN" sz="1800" b="1" u="none" dirty="0"/>
                <a:t>~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WR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RD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IO/M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19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18</a:t>
              </a:r>
              <a:r>
                <a:rPr lang="en-US" altLang="zh-CN" sz="1800" b="1" u="none" dirty="0" smtClean="0">
                  <a:latin typeface="+mn-lt"/>
                </a:rPr>
                <a:t>~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9" name="Line 182"/>
            <p:cNvSpPr>
              <a:spLocks noChangeShapeType="1"/>
            </p:cNvSpPr>
            <p:nvPr/>
          </p:nvSpPr>
          <p:spPr bwMode="auto">
            <a:xfrm flipV="1">
              <a:off x="2483768" y="5085184"/>
              <a:ext cx="43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187"/>
            <p:cNvSpPr>
              <a:spLocks noChangeShapeType="1"/>
            </p:cNvSpPr>
            <p:nvPr/>
          </p:nvSpPr>
          <p:spPr bwMode="auto">
            <a:xfrm flipV="1">
              <a:off x="2483768" y="5301208"/>
              <a:ext cx="43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149"/>
            <p:cNvSpPr>
              <a:spLocks noChangeShapeType="1"/>
            </p:cNvSpPr>
            <p:nvPr/>
          </p:nvSpPr>
          <p:spPr bwMode="auto">
            <a:xfrm>
              <a:off x="4069184" y="5301208"/>
              <a:ext cx="21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152"/>
            <p:cNvSpPr>
              <a:spLocks noChangeShapeType="1"/>
            </p:cNvSpPr>
            <p:nvPr/>
          </p:nvSpPr>
          <p:spPr bwMode="auto">
            <a:xfrm>
              <a:off x="2483768" y="5589240"/>
              <a:ext cx="432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179"/>
            <p:cNvSpPr>
              <a:spLocks noChangeShapeType="1"/>
            </p:cNvSpPr>
            <p:nvPr/>
          </p:nvSpPr>
          <p:spPr bwMode="auto">
            <a:xfrm flipV="1">
              <a:off x="4033688" y="4797400"/>
              <a:ext cx="250279" cy="139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Text Box 197"/>
            <p:cNvSpPr txBox="1">
              <a:spLocks noChangeArrowheads="1"/>
            </p:cNvSpPr>
            <p:nvPr/>
          </p:nvSpPr>
          <p:spPr bwMode="auto">
            <a:xfrm>
              <a:off x="1475712" y="4797152"/>
              <a:ext cx="504000" cy="50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8088</a:t>
              </a:r>
              <a:endParaRPr lang="en-US" altLang="zh-CN" sz="16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CPU</a:t>
              </a:r>
              <a:endParaRPr lang="en-US" altLang="zh-CN" sz="16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5" name="Text Box 165"/>
            <p:cNvSpPr txBox="1">
              <a:spLocks noChangeArrowheads="1"/>
            </p:cNvSpPr>
            <p:nvPr/>
          </p:nvSpPr>
          <p:spPr bwMode="auto">
            <a:xfrm>
              <a:off x="4283968" y="4437280"/>
              <a:ext cx="936000" cy="15120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7</a:t>
              </a:r>
              <a:r>
                <a:rPr lang="en-US" altLang="zh-CN" sz="1800" b="1" u="none" dirty="0"/>
                <a:t>~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WE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 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CS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18</a:t>
              </a:r>
              <a:r>
                <a:rPr lang="en-US" altLang="zh-CN" sz="1800" b="1" u="none" dirty="0"/>
                <a:t>~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20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6" name="Text Box 197"/>
            <p:cNvSpPr txBox="1">
              <a:spLocks noChangeArrowheads="1"/>
            </p:cNvSpPr>
            <p:nvPr/>
          </p:nvSpPr>
          <p:spPr bwMode="auto">
            <a:xfrm>
              <a:off x="4896064" y="4941224"/>
              <a:ext cx="252000" cy="50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主存</a:t>
              </a:r>
              <a:endParaRPr lang="en-US" altLang="zh-CN" sz="1600" b="1" u="none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7" name="Line 699"/>
            <p:cNvSpPr>
              <a:spLocks noChangeShapeType="1"/>
            </p:cNvSpPr>
            <p:nvPr/>
          </p:nvSpPr>
          <p:spPr bwMode="auto">
            <a:xfrm>
              <a:off x="4316140" y="5217476"/>
              <a:ext cx="23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699"/>
            <p:cNvSpPr>
              <a:spLocks noChangeShapeType="1"/>
            </p:cNvSpPr>
            <p:nvPr/>
          </p:nvSpPr>
          <p:spPr bwMode="auto">
            <a:xfrm>
              <a:off x="4313278" y="4720347"/>
              <a:ext cx="23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Line 699"/>
            <p:cNvSpPr>
              <a:spLocks noChangeShapeType="1"/>
            </p:cNvSpPr>
            <p:nvPr/>
          </p:nvSpPr>
          <p:spPr bwMode="auto">
            <a:xfrm>
              <a:off x="2195736" y="4960418"/>
              <a:ext cx="23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Line 699"/>
            <p:cNvSpPr>
              <a:spLocks noChangeShapeType="1"/>
            </p:cNvSpPr>
            <p:nvPr/>
          </p:nvSpPr>
          <p:spPr bwMode="auto">
            <a:xfrm>
              <a:off x="2195736" y="4713420"/>
              <a:ext cx="23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Line 699"/>
            <p:cNvSpPr>
              <a:spLocks noChangeShapeType="1"/>
            </p:cNvSpPr>
            <p:nvPr/>
          </p:nvSpPr>
          <p:spPr bwMode="auto">
            <a:xfrm>
              <a:off x="2333412" y="5205752"/>
              <a:ext cx="10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Line 179"/>
            <p:cNvSpPr>
              <a:spLocks noChangeShapeType="1"/>
            </p:cNvSpPr>
            <p:nvPr/>
          </p:nvSpPr>
          <p:spPr bwMode="auto">
            <a:xfrm>
              <a:off x="2476859" y="4795614"/>
              <a:ext cx="438909" cy="3176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Line 150"/>
            <p:cNvSpPr>
              <a:spLocks noChangeShapeType="1"/>
            </p:cNvSpPr>
            <p:nvPr/>
          </p:nvSpPr>
          <p:spPr bwMode="auto">
            <a:xfrm>
              <a:off x="4067944" y="5805264"/>
              <a:ext cx="216000" cy="0"/>
            </a:xfrm>
            <a:prstGeom prst="line">
              <a:avLst/>
            </a:prstGeom>
            <a:noFill/>
            <a:ln w="22225" cmpd="sng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164"/>
            <p:cNvSpPr>
              <a:spLocks noChangeShapeType="1"/>
            </p:cNvSpPr>
            <p:nvPr/>
          </p:nvSpPr>
          <p:spPr bwMode="auto">
            <a:xfrm flipV="1">
              <a:off x="3995936" y="4581128"/>
              <a:ext cx="288000" cy="0"/>
            </a:xfrm>
            <a:prstGeom prst="line">
              <a:avLst/>
            </a:prstGeom>
            <a:noFill/>
            <a:ln w="22225" cmpd="sng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5" name="Line 150"/>
          <p:cNvSpPr>
            <a:spLocks noChangeShapeType="1"/>
          </p:cNvSpPr>
          <p:nvPr/>
        </p:nvSpPr>
        <p:spPr bwMode="auto">
          <a:xfrm>
            <a:off x="6228288" y="5804043"/>
            <a:ext cx="1224000" cy="0"/>
          </a:xfrm>
          <a:prstGeom prst="line">
            <a:avLst/>
          </a:prstGeom>
          <a:noFill/>
          <a:ln w="22225" cmpd="sng">
            <a:solidFill>
              <a:schemeClr val="tx1"/>
            </a:solidFill>
            <a:round/>
            <a:tailEnd type="non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6" name="Line 150"/>
          <p:cNvSpPr>
            <a:spLocks noChangeShapeType="1"/>
          </p:cNvSpPr>
          <p:nvPr/>
        </p:nvSpPr>
        <p:spPr bwMode="auto">
          <a:xfrm>
            <a:off x="6228288" y="4579907"/>
            <a:ext cx="1224000" cy="0"/>
          </a:xfrm>
          <a:prstGeom prst="line">
            <a:avLst/>
          </a:prstGeom>
          <a:noFill/>
          <a:ln w="22225" cmpd="sng">
            <a:solidFill>
              <a:schemeClr val="tx1"/>
            </a:solidFill>
            <a:round/>
            <a:tailEnd type="non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7" name="Text Box 52"/>
          <p:cNvSpPr txBox="1">
            <a:spLocks noChangeArrowheads="1"/>
          </p:cNvSpPr>
          <p:nvPr/>
        </p:nvSpPr>
        <p:spPr bwMode="auto">
          <a:xfrm>
            <a:off x="1478099" y="3068960"/>
            <a:ext cx="6334037" cy="12126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u="none" dirty="0" smtClean="0">
                <a:latin typeface="宋体" panose="02010600030101010101" pitchFamily="2" charset="-122"/>
              </a:rPr>
              <a:t>示例中：</a:t>
            </a:r>
            <a:r>
              <a:rPr lang="zh-CN" altLang="en-US" sz="2000" b="1" u="none" dirty="0" smtClean="0">
                <a:solidFill>
                  <a:srgbClr val="0070C0"/>
                </a:solidFill>
                <a:latin typeface="+mn-ea"/>
                <a:ea typeface="+mn-ea"/>
              </a:rPr>
              <a:t>有操作</a:t>
            </a:r>
            <a:r>
              <a:rPr lang="zh-CN" altLang="en-US" sz="2000" b="1" u="none" dirty="0" smtClean="0">
                <a:latin typeface="+mn-ea"/>
                <a:ea typeface="+mn-ea"/>
              </a:rPr>
              <a:t>的</a:t>
            </a:r>
            <a:r>
              <a:rPr lang="zh-CN" altLang="en-US" sz="2000" b="1" u="none" dirty="0">
                <a:latin typeface="+mn-ea"/>
                <a:ea typeface="+mn-ea"/>
              </a:rPr>
              <a:t>表示</a:t>
            </a:r>
            <a:r>
              <a:rPr lang="zh-CN" altLang="en-US" sz="2000" b="1" u="none" dirty="0" smtClean="0">
                <a:latin typeface="+mn-ea"/>
                <a:ea typeface="+mn-ea"/>
              </a:rPr>
              <a:t>： </a:t>
            </a:r>
            <a:r>
              <a:rPr lang="en-US" altLang="zh-CN" sz="2000" b="1" u="none" dirty="0" smtClean="0">
                <a:latin typeface="+mn-ea"/>
                <a:ea typeface="+mn-ea"/>
              </a:rPr>
              <a:t>        </a:t>
            </a:r>
            <a:r>
              <a:rPr lang="zh-CN" altLang="en-US" sz="2000" b="1" u="none" dirty="0" smtClean="0">
                <a:latin typeface="+mn-ea"/>
                <a:ea typeface="+mn-ea"/>
              </a:rPr>
              <a:t>，</a:t>
            </a:r>
            <a:r>
              <a:rPr lang="zh-CN" altLang="en-US" sz="2000" b="1" u="none" dirty="0" smtClean="0">
                <a:solidFill>
                  <a:srgbClr val="0070C0"/>
                </a:solidFill>
                <a:latin typeface="+mn-ea"/>
                <a:ea typeface="+mn-ea"/>
              </a:rPr>
              <a:t>写操作</a:t>
            </a:r>
            <a:r>
              <a:rPr lang="zh-CN" altLang="en-US" sz="2000" b="1" u="none" dirty="0" smtClean="0">
                <a:latin typeface="+mn-ea"/>
                <a:ea typeface="+mn-ea"/>
              </a:rPr>
              <a:t>的表示：</a:t>
            </a:r>
            <a:endParaRPr lang="en-US" altLang="zh-CN" sz="2000" b="1" u="none" dirty="0" smtClean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 smtClean="0">
                <a:latin typeface="+mn-ea"/>
              </a:rPr>
              <a:t>        </a:t>
            </a:r>
            <a:r>
              <a:rPr lang="zh-CN" altLang="en-US" sz="2000" b="1" u="none" dirty="0" smtClean="0">
                <a:latin typeface="+mn-ea"/>
              </a:rPr>
              <a:t>访问</a:t>
            </a:r>
            <a:r>
              <a:rPr lang="zh-CN" altLang="en-US" sz="2000" b="1" u="none" dirty="0" smtClean="0">
                <a:solidFill>
                  <a:srgbClr val="0070C0"/>
                </a:solidFill>
                <a:latin typeface="+mn-ea"/>
              </a:rPr>
              <a:t>部件为</a:t>
            </a:r>
            <a:r>
              <a:rPr lang="en-US" altLang="zh-CN" sz="2000" b="1" u="none" dirty="0" smtClean="0">
                <a:solidFill>
                  <a:srgbClr val="0070C0"/>
                </a:solidFill>
                <a:latin typeface="+mn-ea"/>
              </a:rPr>
              <a:t>MEM</a:t>
            </a:r>
            <a:r>
              <a:rPr lang="zh-CN" altLang="en-US" sz="2000" b="1" u="none" dirty="0" smtClean="0">
                <a:latin typeface="+mn-ea"/>
              </a:rPr>
              <a:t>的表示：</a:t>
            </a:r>
            <a:endParaRPr lang="en-US" altLang="zh-CN" sz="2000" b="1" u="none" dirty="0" smtClean="0">
              <a:latin typeface="+mn-ea"/>
              <a:ea typeface="+mn-ea"/>
            </a:endParaRPr>
          </a:p>
          <a:p>
            <a:pPr>
              <a:lnSpc>
                <a:spcPct val="114000"/>
              </a:lnSpc>
            </a:pPr>
            <a:r>
              <a:rPr lang="zh-CN" altLang="en-US" sz="2000" b="1" u="none" dirty="0" smtClean="0">
                <a:latin typeface="+mn-ea"/>
                <a:ea typeface="+mn-ea"/>
              </a:rPr>
              <a:t>        目标地址</a:t>
            </a:r>
            <a:r>
              <a:rPr lang="zh-CN" altLang="en-US" sz="2000" b="1" u="none" dirty="0">
                <a:solidFill>
                  <a:srgbClr val="0070C0"/>
                </a:solidFill>
                <a:latin typeface="+mn-ea"/>
                <a:ea typeface="+mn-ea"/>
              </a:rPr>
              <a:t>∈主存地址</a:t>
            </a:r>
            <a:r>
              <a:rPr lang="zh-CN" altLang="en-US" sz="2000" b="1" u="none" dirty="0" smtClean="0">
                <a:solidFill>
                  <a:srgbClr val="0070C0"/>
                </a:solidFill>
                <a:latin typeface="+mn-ea"/>
                <a:ea typeface="+mn-ea"/>
              </a:rPr>
              <a:t>范围</a:t>
            </a:r>
            <a:r>
              <a:rPr lang="zh-CN" altLang="en-US" sz="2000" b="1" u="none" dirty="0" smtClean="0">
                <a:latin typeface="+mn-ea"/>
                <a:ea typeface="+mn-ea"/>
              </a:rPr>
              <a:t>的表示：</a:t>
            </a:r>
            <a:endParaRPr lang="en-US" altLang="zh-CN" sz="2000" b="1" u="none" dirty="0">
              <a:latin typeface="+mn-ea"/>
              <a:ea typeface="+mn-ea"/>
            </a:endParaRPr>
          </a:p>
        </p:txBody>
      </p:sp>
      <p:grpSp>
        <p:nvGrpSpPr>
          <p:cNvPr id="158" name="组合 157"/>
          <p:cNvGrpSpPr/>
          <p:nvPr/>
        </p:nvGrpSpPr>
        <p:grpSpPr>
          <a:xfrm>
            <a:off x="971600" y="4365176"/>
            <a:ext cx="3312008" cy="1584104"/>
            <a:chOff x="1187872" y="4293096"/>
            <a:chExt cx="3312008" cy="1584104"/>
          </a:xfrm>
        </p:grpSpPr>
        <p:sp>
          <p:nvSpPr>
            <p:cNvPr id="159" name="Text Box 194"/>
            <p:cNvSpPr txBox="1">
              <a:spLocks noChangeArrowheads="1"/>
            </p:cNvSpPr>
            <p:nvPr/>
          </p:nvSpPr>
          <p:spPr bwMode="auto">
            <a:xfrm>
              <a:off x="2337795" y="5229200"/>
              <a:ext cx="1008000" cy="648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0" name="Rectangle 198"/>
            <p:cNvSpPr>
              <a:spLocks noChangeArrowheads="1"/>
            </p:cNvSpPr>
            <p:nvPr/>
          </p:nvSpPr>
          <p:spPr bwMode="auto">
            <a:xfrm>
              <a:off x="1547888" y="4581012"/>
              <a:ext cx="180000" cy="129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noFill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" name="Rectangle 199"/>
            <p:cNvSpPr>
              <a:spLocks noChangeArrowheads="1"/>
            </p:cNvSpPr>
            <p:nvPr/>
          </p:nvSpPr>
          <p:spPr bwMode="auto">
            <a:xfrm>
              <a:off x="1763912" y="4581086"/>
              <a:ext cx="540000" cy="648000"/>
            </a:xfrm>
            <a:prstGeom prst="rect">
              <a:avLst/>
            </a:prstGeom>
            <a:solidFill>
              <a:srgbClr val="FFCC99"/>
            </a:solidFill>
            <a:ln w="19050">
              <a:noFill/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2" name="Text Box 200"/>
            <p:cNvSpPr txBox="1">
              <a:spLocks noChangeArrowheads="1"/>
            </p:cNvSpPr>
            <p:nvPr/>
          </p:nvSpPr>
          <p:spPr bwMode="auto">
            <a:xfrm>
              <a:off x="1547888" y="4579995"/>
              <a:ext cx="756000" cy="129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spc="500" dirty="0" smtClean="0">
                  <a:latin typeface="宋体" panose="02010600030101010101" pitchFamily="2" charset="-122"/>
                </a:rPr>
                <a:t>…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   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  <a:spcBef>
                  <a:spcPts val="60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spc="500" dirty="0" smtClean="0">
                  <a:latin typeface="宋体" panose="02010600030101010101" pitchFamily="2" charset="-122"/>
                </a:rPr>
                <a:t>…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spc="500" dirty="0" smtClean="0">
                  <a:latin typeface="宋体" panose="02010600030101010101" pitchFamily="2" charset="-122"/>
                </a:rPr>
                <a:t>…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   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  <a:spcBef>
                  <a:spcPts val="60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spc="500" dirty="0" smtClean="0">
                  <a:latin typeface="宋体" panose="02010600030101010101" pitchFamily="2" charset="-122"/>
                </a:rPr>
                <a:t>…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3" name="Text Box 192"/>
            <p:cNvSpPr txBox="1">
              <a:spLocks noChangeArrowheads="1"/>
            </p:cNvSpPr>
            <p:nvPr/>
          </p:nvSpPr>
          <p:spPr bwMode="auto">
            <a:xfrm>
              <a:off x="1475976" y="4329128"/>
              <a:ext cx="864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</a:rPr>
                <a:t>19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</a:rPr>
                <a:t>18</a:t>
              </a:r>
              <a:r>
                <a:rPr lang="en-US" altLang="zh-CN" sz="1200" b="1" u="none" dirty="0" smtClean="0">
                  <a:latin typeface="宋体" panose="02010600030101010101" pitchFamily="2" charset="-122"/>
                </a:rPr>
                <a:t>…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4" name="Text Box 193"/>
            <p:cNvSpPr txBox="1">
              <a:spLocks noChangeArrowheads="1"/>
            </p:cNvSpPr>
            <p:nvPr/>
          </p:nvSpPr>
          <p:spPr bwMode="auto">
            <a:xfrm>
              <a:off x="2337795" y="4581241"/>
              <a:ext cx="1008000" cy="6480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512KB SRAM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5" name="Text Box 196"/>
            <p:cNvSpPr txBox="1">
              <a:spLocks noChangeArrowheads="1"/>
            </p:cNvSpPr>
            <p:nvPr/>
          </p:nvSpPr>
          <p:spPr bwMode="auto">
            <a:xfrm>
              <a:off x="1187872" y="4437112"/>
              <a:ext cx="216000" cy="144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r"/>
              <a:r>
                <a:rPr lang="en-US" altLang="zh-CN" sz="1600" b="1" u="none" dirty="0" smtClean="0">
                  <a:latin typeface="宋体" panose="02010600030101010101" pitchFamily="2" charset="-122"/>
                </a:rPr>
                <a:t>CPU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可寻址空间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66" name="AutoShape 201"/>
            <p:cNvSpPr/>
            <p:nvPr/>
          </p:nvSpPr>
          <p:spPr bwMode="auto">
            <a:xfrm>
              <a:off x="1402855" y="4559125"/>
              <a:ext cx="73025" cy="1296000"/>
            </a:xfrm>
            <a:prstGeom prst="leftBrace">
              <a:avLst>
                <a:gd name="adj1" fmla="val 7590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" name="Text Box 202"/>
            <p:cNvSpPr txBox="1">
              <a:spLocks noChangeArrowheads="1"/>
            </p:cNvSpPr>
            <p:nvPr/>
          </p:nvSpPr>
          <p:spPr bwMode="auto">
            <a:xfrm>
              <a:off x="1908598" y="4775025"/>
              <a:ext cx="287338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8" name="Text Box 203"/>
            <p:cNvSpPr txBox="1">
              <a:spLocks noChangeArrowheads="1"/>
            </p:cNvSpPr>
            <p:nvPr/>
          </p:nvSpPr>
          <p:spPr bwMode="auto">
            <a:xfrm>
              <a:off x="1908598" y="5445224"/>
              <a:ext cx="287338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9" name="Text Box 194"/>
            <p:cNvSpPr txBox="1">
              <a:spLocks noChangeArrowheads="1"/>
            </p:cNvSpPr>
            <p:nvPr/>
          </p:nvSpPr>
          <p:spPr bwMode="auto">
            <a:xfrm>
              <a:off x="3491880" y="4581160"/>
              <a:ext cx="1008000" cy="288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64KB</a:t>
              </a:r>
              <a:r>
                <a:rPr lang="en-US" altLang="zh-CN" sz="1800" b="1" u="none" baseline="-180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I/O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0" name="Text Box 197"/>
            <p:cNvSpPr txBox="1">
              <a:spLocks noChangeArrowheads="1"/>
            </p:cNvSpPr>
            <p:nvPr/>
          </p:nvSpPr>
          <p:spPr bwMode="auto">
            <a:xfrm>
              <a:off x="2339752" y="4293096"/>
              <a:ext cx="1008000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 smtClean="0">
                  <a:latin typeface="宋体" panose="02010600030101010101" pitchFamily="2" charset="-122"/>
                </a:rPr>
                <a:t>主存空间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71" name="Text Box 197"/>
            <p:cNvSpPr txBox="1">
              <a:spLocks noChangeArrowheads="1"/>
            </p:cNvSpPr>
            <p:nvPr/>
          </p:nvSpPr>
          <p:spPr bwMode="auto">
            <a:xfrm>
              <a:off x="3491880" y="4293096"/>
              <a:ext cx="1008000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空间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72" name="AutoShape 331"/>
            <p:cNvSpPr/>
            <p:nvPr/>
          </p:nvSpPr>
          <p:spPr bwMode="auto">
            <a:xfrm>
              <a:off x="3635976" y="5085184"/>
              <a:ext cx="720000" cy="756000"/>
            </a:xfrm>
            <a:prstGeom prst="borderCallout2">
              <a:avLst>
                <a:gd name="adj1" fmla="val 50061"/>
                <a:gd name="adj2" fmla="val 82"/>
                <a:gd name="adj3" fmla="val 50399"/>
                <a:gd name="adj4" fmla="val -20134"/>
                <a:gd name="adj5" fmla="val -19855"/>
                <a:gd name="adj6" fmla="val -54900"/>
              </a:avLst>
            </a:prstGeom>
            <a:noFill/>
            <a:ln w="12700">
              <a:solidFill>
                <a:srgbClr val="990099"/>
              </a:solidFill>
              <a:prstDash val="sysDash"/>
              <a:miter lim="800000"/>
              <a:headEnd type="none" w="sm" len="med"/>
              <a:tailEnd type="arrow" w="sm" len="sm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 smtClean="0">
                  <a:latin typeface="+mn-ea"/>
                  <a:ea typeface="+mn-ea"/>
                </a:rPr>
                <a:t>配置的</a:t>
              </a:r>
              <a:endParaRPr lang="en-US" altLang="zh-CN" sz="1600" b="1" u="none" dirty="0" smtClean="0">
                <a:latin typeface="+mn-ea"/>
                <a:ea typeface="+mn-ea"/>
              </a:endParaRPr>
            </a:p>
            <a:p>
              <a:pPr algn="ctr"/>
              <a:r>
                <a:rPr lang="zh-CN" altLang="en-US" sz="1600" b="1" u="none" dirty="0" smtClean="0">
                  <a:latin typeface="+mn-ea"/>
                  <a:ea typeface="+mn-ea"/>
                </a:rPr>
                <a:t>主存</a:t>
              </a:r>
              <a:endParaRPr lang="en-US" altLang="zh-CN" sz="1600" b="1" u="none" dirty="0" smtClean="0">
                <a:latin typeface="+mn-ea"/>
                <a:ea typeface="+mn-ea"/>
              </a:endParaRPr>
            </a:p>
            <a:p>
              <a:pPr algn="ctr"/>
              <a:r>
                <a:rPr lang="zh-CN" altLang="en-US" sz="1600" b="1" u="none" dirty="0" smtClean="0">
                  <a:latin typeface="+mn-ea"/>
                  <a:ea typeface="+mn-ea"/>
                </a:rPr>
                <a:t>空间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</p:grpSp>
      <p:grpSp>
        <p:nvGrpSpPr>
          <p:cNvPr id="173" name="组合 172"/>
          <p:cNvGrpSpPr/>
          <p:nvPr/>
        </p:nvGrpSpPr>
        <p:grpSpPr>
          <a:xfrm>
            <a:off x="6084272" y="4795931"/>
            <a:ext cx="1370410" cy="864295"/>
            <a:chOff x="2699792" y="4797152"/>
            <a:chExt cx="1370410" cy="864295"/>
          </a:xfrm>
        </p:grpSpPr>
        <p:sp>
          <p:nvSpPr>
            <p:cNvPr id="174" name="Text Box 181"/>
            <p:cNvSpPr txBox="1">
              <a:spLocks noChangeArrowheads="1"/>
            </p:cNvSpPr>
            <p:nvPr/>
          </p:nvSpPr>
          <p:spPr bwMode="auto">
            <a:xfrm>
              <a:off x="2915692" y="4869160"/>
              <a:ext cx="216000" cy="2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r"/>
              <a:r>
                <a:rPr lang="en-US" altLang="zh-CN" sz="1600" b="1" u="none" dirty="0">
                  <a:latin typeface="宋体" panose="02010600030101010101" pitchFamily="2" charset="-122"/>
                </a:rPr>
                <a:t>=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75" name="Line 183"/>
            <p:cNvSpPr>
              <a:spLocks noChangeShapeType="1"/>
            </p:cNvSpPr>
            <p:nvPr/>
          </p:nvSpPr>
          <p:spPr bwMode="auto">
            <a:xfrm flipV="1">
              <a:off x="2699792" y="4941168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184"/>
            <p:cNvSpPr>
              <a:spLocks noChangeShapeType="1"/>
            </p:cNvSpPr>
            <p:nvPr/>
          </p:nvSpPr>
          <p:spPr bwMode="auto">
            <a:xfrm>
              <a:off x="2699792" y="4797152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Line 185"/>
            <p:cNvSpPr>
              <a:spLocks noChangeShapeType="1"/>
            </p:cNvSpPr>
            <p:nvPr/>
          </p:nvSpPr>
          <p:spPr bwMode="auto">
            <a:xfrm flipV="1">
              <a:off x="3133081" y="5013176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Text Box 186"/>
            <p:cNvSpPr txBox="1">
              <a:spLocks noChangeArrowheads="1"/>
            </p:cNvSpPr>
            <p:nvPr/>
          </p:nvSpPr>
          <p:spPr bwMode="auto">
            <a:xfrm>
              <a:off x="3349105" y="4941168"/>
              <a:ext cx="216000" cy="43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9" name="Oval 188"/>
            <p:cNvSpPr>
              <a:spLocks noChangeArrowheads="1"/>
            </p:cNvSpPr>
            <p:nvPr/>
          </p:nvSpPr>
          <p:spPr bwMode="auto">
            <a:xfrm>
              <a:off x="3277097" y="5270234"/>
              <a:ext cx="73025" cy="71438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" name="Oval 151"/>
            <p:cNvSpPr>
              <a:spLocks noChangeArrowheads="1"/>
            </p:cNvSpPr>
            <p:nvPr/>
          </p:nvSpPr>
          <p:spPr bwMode="auto">
            <a:xfrm>
              <a:off x="3997177" y="5270234"/>
              <a:ext cx="73025" cy="71438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" name="Oval 153"/>
            <p:cNvSpPr>
              <a:spLocks noChangeArrowheads="1"/>
            </p:cNvSpPr>
            <p:nvPr/>
          </p:nvSpPr>
          <p:spPr bwMode="auto">
            <a:xfrm>
              <a:off x="3709145" y="5558266"/>
              <a:ext cx="73025" cy="71438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" name="Text Box 154"/>
            <p:cNvSpPr txBox="1">
              <a:spLocks noChangeArrowheads="1"/>
            </p:cNvSpPr>
            <p:nvPr/>
          </p:nvSpPr>
          <p:spPr bwMode="auto">
            <a:xfrm>
              <a:off x="3781153" y="5085184"/>
              <a:ext cx="216000" cy="57626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&amp;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183" name="Line 178"/>
            <p:cNvSpPr>
              <a:spLocks noChangeShapeType="1"/>
            </p:cNvSpPr>
            <p:nvPr/>
          </p:nvSpPr>
          <p:spPr bwMode="auto">
            <a:xfrm flipV="1">
              <a:off x="3565129" y="5157192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179"/>
            <p:cNvSpPr>
              <a:spLocks noChangeShapeType="1"/>
            </p:cNvSpPr>
            <p:nvPr/>
          </p:nvSpPr>
          <p:spPr bwMode="auto">
            <a:xfrm>
              <a:off x="2843808" y="4798542"/>
              <a:ext cx="1224000" cy="2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179"/>
            <p:cNvSpPr>
              <a:spLocks noChangeShapeType="1"/>
            </p:cNvSpPr>
            <p:nvPr/>
          </p:nvSpPr>
          <p:spPr bwMode="auto">
            <a:xfrm>
              <a:off x="2843808" y="5588992"/>
              <a:ext cx="864000" cy="2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Line 179"/>
            <p:cNvSpPr>
              <a:spLocks noChangeShapeType="1"/>
            </p:cNvSpPr>
            <p:nvPr/>
          </p:nvSpPr>
          <p:spPr bwMode="auto">
            <a:xfrm>
              <a:off x="2843808" y="5301208"/>
              <a:ext cx="432000" cy="2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7" name="组合 186"/>
          <p:cNvGrpSpPr/>
          <p:nvPr/>
        </p:nvGrpSpPr>
        <p:grpSpPr>
          <a:xfrm>
            <a:off x="4283968" y="3080456"/>
            <a:ext cx="4104456" cy="1212640"/>
            <a:chOff x="4283968" y="3008448"/>
            <a:chExt cx="4104456" cy="1212640"/>
          </a:xfrm>
        </p:grpSpPr>
        <p:sp>
          <p:nvSpPr>
            <p:cNvPr id="188" name="Text Box 52"/>
            <p:cNvSpPr txBox="1">
              <a:spLocks noChangeArrowheads="1"/>
            </p:cNvSpPr>
            <p:nvPr/>
          </p:nvSpPr>
          <p:spPr bwMode="auto">
            <a:xfrm>
              <a:off x="4283968" y="3008448"/>
              <a:ext cx="4104456" cy="12126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sz="2000" b="1" u="none" dirty="0" smtClean="0">
                  <a:latin typeface="+mn-ea"/>
                  <a:ea typeface="+mn-ea"/>
                </a:rPr>
                <a:t>RD</a:t>
              </a:r>
              <a:r>
                <a:rPr lang="en-US" altLang="zh-CN" sz="2000" b="1" u="none" dirty="0">
                  <a:latin typeface="+mn-ea"/>
                  <a:ea typeface="+mn-ea"/>
                  <a:sym typeface="Symbol" panose="05050102010706020507"/>
                </a:rPr>
                <a:t></a:t>
              </a:r>
              <a:r>
                <a:rPr lang="en-US" altLang="zh-CN" sz="2000" b="1" u="none" dirty="0" smtClean="0">
                  <a:latin typeface="+mn-ea"/>
                  <a:ea typeface="+mn-ea"/>
                </a:rPr>
                <a:t>WR</a:t>
              </a:r>
              <a:r>
                <a:rPr lang="zh-CN" altLang="en-US" sz="2000" b="1" u="none" dirty="0" smtClean="0">
                  <a:latin typeface="+mn-ea"/>
                  <a:ea typeface="+mn-ea"/>
                </a:rPr>
                <a:t>＝</a:t>
              </a:r>
              <a:r>
                <a:rPr lang="en-US" altLang="zh-CN" sz="2000" b="1" u="none" dirty="0" smtClean="0">
                  <a:latin typeface="+mn-ea"/>
                  <a:ea typeface="+mn-ea"/>
                </a:rPr>
                <a:t>1</a:t>
              </a:r>
              <a:r>
                <a:rPr lang="zh-CN" altLang="en-US" sz="2000" b="1" u="none" dirty="0" smtClean="0">
                  <a:solidFill>
                    <a:srgbClr val="0070C0"/>
                  </a:solidFill>
                  <a:latin typeface="+mn-ea"/>
                  <a:ea typeface="+mn-ea"/>
                </a:rPr>
                <a:t>                </a:t>
              </a:r>
              <a:r>
                <a:rPr lang="en-US" altLang="zh-CN" sz="2000" b="1" u="none" dirty="0" smtClean="0">
                  <a:latin typeface="+mn-ea"/>
                  <a:ea typeface="+mn-ea"/>
                </a:rPr>
                <a:t>WR</a:t>
              </a:r>
              <a:r>
                <a:rPr lang="zh-CN" altLang="en-US" sz="2000" b="1" u="none" dirty="0" smtClean="0">
                  <a:latin typeface="+mn-ea"/>
                  <a:ea typeface="+mn-ea"/>
                </a:rPr>
                <a:t>＝</a:t>
              </a:r>
              <a:r>
                <a:rPr lang="en-US" altLang="zh-CN" sz="2000" b="1" u="none" dirty="0" smtClean="0">
                  <a:latin typeface="+mn-ea"/>
                  <a:ea typeface="+mn-ea"/>
                </a:rPr>
                <a:t>0</a:t>
              </a:r>
              <a:endParaRPr lang="en-US" altLang="zh-CN" sz="2000" b="1" u="none" dirty="0" smtClean="0">
                <a:latin typeface="+mn-ea"/>
                <a:ea typeface="+mn-ea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2000" b="1" u="none" dirty="0" smtClean="0">
                  <a:latin typeface="+mn-ea"/>
                  <a:ea typeface="+mn-ea"/>
                </a:rPr>
                <a:t>       IO/M</a:t>
              </a:r>
              <a:r>
                <a:rPr lang="zh-CN" altLang="en-US" sz="2000" b="1" u="none" dirty="0" smtClean="0">
                  <a:latin typeface="+mn-ea"/>
                  <a:ea typeface="+mn-ea"/>
                </a:rPr>
                <a:t>＝</a:t>
              </a:r>
              <a:r>
                <a:rPr lang="en-US" altLang="zh-CN" sz="2000" b="1" u="none" dirty="0" smtClean="0">
                  <a:latin typeface="+mn-ea"/>
                  <a:ea typeface="+mn-ea"/>
                </a:rPr>
                <a:t>0</a:t>
              </a:r>
              <a:endParaRPr lang="en-US" altLang="zh-CN" sz="2000" b="1" u="none" dirty="0" smtClean="0">
                <a:latin typeface="+mn-ea"/>
                <a:ea typeface="+mn-ea"/>
              </a:endParaRPr>
            </a:p>
            <a:p>
              <a:pPr>
                <a:lnSpc>
                  <a:spcPct val="114000"/>
                </a:lnSpc>
              </a:pPr>
              <a:r>
                <a:rPr lang="en-US" altLang="zh-CN" sz="2000" b="1" u="none" dirty="0" smtClean="0">
                  <a:latin typeface="+mn-ea"/>
                  <a:ea typeface="+mn-ea"/>
                </a:rPr>
                <a:t>                A</a:t>
              </a:r>
              <a:r>
                <a:rPr lang="en-US" altLang="zh-CN" sz="2000" b="1" u="none" baseline="-18000" dirty="0" smtClean="0">
                  <a:latin typeface="+mn-ea"/>
                  <a:ea typeface="+mn-ea"/>
                </a:rPr>
                <a:t>19</a:t>
              </a:r>
              <a:r>
                <a:rPr lang="zh-CN" altLang="en-US" sz="2000" b="1" u="none" dirty="0" smtClean="0">
                  <a:latin typeface="+mn-ea"/>
                  <a:ea typeface="+mn-ea"/>
                </a:rPr>
                <a:t>＝</a:t>
              </a:r>
              <a:r>
                <a:rPr lang="en-US" altLang="zh-CN" sz="2000" b="1" u="none" dirty="0" smtClean="0">
                  <a:latin typeface="+mn-ea"/>
                  <a:ea typeface="+mn-ea"/>
                </a:rPr>
                <a:t>0</a:t>
              </a:r>
              <a:endParaRPr lang="en-US" altLang="zh-CN" sz="2000" b="1" u="none" dirty="0">
                <a:latin typeface="+mn-ea"/>
                <a:ea typeface="+mn-ea"/>
              </a:endParaRPr>
            </a:p>
          </p:txBody>
        </p:sp>
        <p:sp>
          <p:nvSpPr>
            <p:cNvPr id="189" name="Line 643"/>
            <p:cNvSpPr>
              <a:spLocks noChangeShapeType="1"/>
            </p:cNvSpPr>
            <p:nvPr/>
          </p:nvSpPr>
          <p:spPr bwMode="auto">
            <a:xfrm>
              <a:off x="4381693" y="3149992"/>
              <a:ext cx="26193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Line 643"/>
            <p:cNvSpPr>
              <a:spLocks noChangeShapeType="1"/>
            </p:cNvSpPr>
            <p:nvPr/>
          </p:nvSpPr>
          <p:spPr bwMode="auto">
            <a:xfrm>
              <a:off x="4824000" y="3149992"/>
              <a:ext cx="26193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Line 643"/>
            <p:cNvSpPr>
              <a:spLocks noChangeShapeType="1"/>
            </p:cNvSpPr>
            <p:nvPr/>
          </p:nvSpPr>
          <p:spPr bwMode="auto">
            <a:xfrm>
              <a:off x="5670000" y="3527992"/>
              <a:ext cx="14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Line 643"/>
            <p:cNvSpPr>
              <a:spLocks noChangeShapeType="1"/>
            </p:cNvSpPr>
            <p:nvPr/>
          </p:nvSpPr>
          <p:spPr bwMode="auto">
            <a:xfrm>
              <a:off x="7524000" y="3149992"/>
              <a:ext cx="2628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75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75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animBg="1"/>
      <p:bldP spid="156" grpId="0" animBg="1"/>
      <p:bldP spid="15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92676-1262-4DAD-807E-48E875256232}" type="slidenum">
              <a:rPr lang="en-US" altLang="zh-CN"/>
            </a:fld>
            <a:endParaRPr lang="en-US" altLang="zh-CN"/>
          </a:p>
        </p:txBody>
      </p:sp>
      <p:grpSp>
        <p:nvGrpSpPr>
          <p:cNvPr id="337326" name="Group 430"/>
          <p:cNvGrpSpPr/>
          <p:nvPr/>
        </p:nvGrpSpPr>
        <p:grpSpPr bwMode="auto">
          <a:xfrm>
            <a:off x="179388" y="344065"/>
            <a:ext cx="8785225" cy="2862263"/>
            <a:chOff x="113" y="81"/>
            <a:chExt cx="5534" cy="1803"/>
          </a:xfrm>
        </p:grpSpPr>
        <p:sp>
          <p:nvSpPr>
            <p:cNvPr id="337312" name="Text Box 416"/>
            <p:cNvSpPr txBox="1">
              <a:spLocks noChangeArrowheads="1"/>
            </p:cNvSpPr>
            <p:nvPr/>
          </p:nvSpPr>
          <p:spPr bwMode="auto">
            <a:xfrm>
              <a:off x="113" y="81"/>
              <a:ext cx="5534" cy="180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  </a:t>
              </a:r>
              <a:r>
                <a:rPr lang="zh-CN" altLang="en-US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例</a:t>
              </a:r>
              <a:r>
                <a:rPr lang="en-US" altLang="zh-CN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—</a:t>
              </a:r>
              <a:r>
                <a:rPr lang="zh-CN" altLang="en-US" b="1" u="none" dirty="0">
                  <a:latin typeface="宋体" panose="02010600030101010101" pitchFamily="2" charset="-122"/>
                </a:rPr>
                <a:t>某</a:t>
              </a:r>
              <a:r>
                <a:rPr lang="en-US" altLang="zh-CN" b="1" u="none" dirty="0">
                  <a:latin typeface="宋体" panose="02010600030101010101" pitchFamily="2" charset="-122"/>
                </a:rPr>
                <a:t>CPU</a:t>
              </a:r>
              <a:r>
                <a:rPr lang="zh-CN" altLang="en-US" b="1" u="none" dirty="0">
                  <a:latin typeface="宋体" panose="02010600030101010101" pitchFamily="2" charset="-122"/>
                </a:rPr>
                <a:t>有</a:t>
              </a:r>
              <a:r>
                <a:rPr lang="en-US" altLang="zh-CN" b="1" u="none" dirty="0">
                  <a:latin typeface="宋体" panose="02010600030101010101" pitchFamily="2" charset="-122"/>
                </a:rPr>
                <a:t>16</a:t>
              </a:r>
              <a:r>
                <a:rPr lang="zh-CN" altLang="en-US" b="1" u="none" dirty="0">
                  <a:latin typeface="宋体" panose="02010600030101010101" pitchFamily="2" charset="-122"/>
                </a:rPr>
                <a:t>根地址线、</a:t>
              </a:r>
              <a:r>
                <a:rPr lang="en-US" altLang="zh-CN" b="1" u="none" dirty="0">
                  <a:latin typeface="宋体" panose="02010600030101010101" pitchFamily="2" charset="-122"/>
                </a:rPr>
                <a:t>8</a:t>
              </a:r>
              <a:r>
                <a:rPr lang="zh-CN" altLang="en-US" b="1" u="none" dirty="0">
                  <a:latin typeface="宋体" panose="02010600030101010101" pitchFamily="2" charset="-122"/>
                </a:rPr>
                <a:t>根数据线，命令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线为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IO/M</a:t>
              </a:r>
              <a:r>
                <a:rPr lang="zh-CN" altLang="en-US" b="1" u="none" dirty="0">
                  <a:latin typeface="宋体" panose="02010600030101010101" pitchFamily="2" charset="-122"/>
                </a:rPr>
                <a:t>、</a:t>
              </a:r>
              <a:r>
                <a:rPr lang="en-US" altLang="zh-CN" b="1" u="none" dirty="0">
                  <a:latin typeface="宋体" panose="02010600030101010101" pitchFamily="2" charset="-122"/>
                </a:rPr>
                <a:t>RD</a:t>
              </a:r>
              <a:r>
                <a:rPr lang="zh-CN" altLang="en-US" b="1" u="none" dirty="0">
                  <a:latin typeface="宋体" panose="02010600030101010101" pitchFamily="2" charset="-122"/>
                </a:rPr>
                <a:t>、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WR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。欲配置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16KB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主存</a:t>
              </a:r>
              <a:r>
                <a:rPr lang="en-US" altLang="zh-CN" sz="20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2000" b="1" u="none" dirty="0" smtClean="0">
                  <a:latin typeface="宋体" panose="02010600030101010101" pitchFamily="2" charset="-122"/>
                </a:rPr>
                <a:t>前</a:t>
              </a:r>
              <a:r>
                <a:rPr lang="en-US" altLang="zh-CN" sz="2000" b="1" u="none" dirty="0" smtClean="0">
                  <a:latin typeface="宋体" panose="02010600030101010101" pitchFamily="2" charset="-122"/>
                </a:rPr>
                <a:t>4KB</a:t>
              </a:r>
              <a:r>
                <a:rPr lang="zh-CN" altLang="en-US" sz="2000" b="1" u="none" dirty="0" smtClean="0">
                  <a:latin typeface="宋体" panose="02010600030101010101" pitchFamily="2" charset="-122"/>
                </a:rPr>
                <a:t>为只读空间</a:t>
              </a:r>
              <a:r>
                <a:rPr lang="en-US" altLang="zh-CN" sz="2000" b="1" u="none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，可用芯片有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2K×8b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ROM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及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4K×4b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SRAM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。⑴主存由几片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ROM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及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RAM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组成？⑵写出主存中各芯片所占空间及其片选逻辑</a:t>
              </a:r>
              <a:r>
                <a:rPr lang="zh-CN" altLang="en-US" b="1" u="none" dirty="0">
                  <a:latin typeface="宋体" panose="02010600030101010101" pitchFamily="2" charset="-122"/>
                </a:rPr>
                <a:t>；⑶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画</a:t>
              </a:r>
              <a:r>
                <a:rPr lang="zh-CN" altLang="en-US" b="1" u="none" dirty="0">
                  <a:latin typeface="宋体" panose="02010600030101010101" pitchFamily="2" charset="-122"/>
                </a:rPr>
                <a:t>出主存内部的连接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图；⑷画出主存与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CPU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的连接图。</a:t>
              </a:r>
              <a:endParaRPr lang="en-US" altLang="zh-CN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  </a:t>
              </a:r>
              <a:r>
                <a:rPr lang="zh-CN" altLang="en-US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解</a:t>
              </a:r>
              <a:r>
                <a:rPr lang="zh-CN" altLang="en-US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：</a:t>
              </a:r>
              <a:endParaRPr lang="zh-CN" altLang="en-US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37323" name="Line 427"/>
            <p:cNvSpPr>
              <a:spLocks noChangeShapeType="1"/>
            </p:cNvSpPr>
            <p:nvPr/>
          </p:nvSpPr>
          <p:spPr bwMode="auto">
            <a:xfrm>
              <a:off x="4915" y="163"/>
              <a:ext cx="109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324" name="Line 428"/>
            <p:cNvSpPr>
              <a:spLocks noChangeShapeType="1"/>
            </p:cNvSpPr>
            <p:nvPr/>
          </p:nvSpPr>
          <p:spPr bwMode="auto">
            <a:xfrm>
              <a:off x="5205" y="163"/>
              <a:ext cx="18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325" name="Line 429"/>
            <p:cNvSpPr>
              <a:spLocks noChangeShapeType="1"/>
            </p:cNvSpPr>
            <p:nvPr/>
          </p:nvSpPr>
          <p:spPr bwMode="auto">
            <a:xfrm>
              <a:off x="176" y="444"/>
              <a:ext cx="18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7327" name="Text Box 431"/>
          <p:cNvSpPr txBox="1">
            <a:spLocks noChangeArrowheads="1"/>
          </p:cNvSpPr>
          <p:nvPr/>
        </p:nvSpPr>
        <p:spPr bwMode="auto">
          <a:xfrm>
            <a:off x="1259507" y="2636912"/>
            <a:ext cx="770510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⑴</a:t>
            </a:r>
            <a:r>
              <a:rPr lang="zh-CN" altLang="en-US" b="1" u="none" dirty="0">
                <a:latin typeface="宋体" panose="02010600030101010101" pitchFamily="2" charset="-122"/>
              </a:rPr>
              <a:t>所需</a:t>
            </a: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芯片数量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ROM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2</a:t>
            </a:r>
            <a:r>
              <a:rPr lang="zh-CN" altLang="en-US" b="1" u="none" dirty="0">
                <a:latin typeface="宋体" panose="02010600030101010101" pitchFamily="2" charset="-122"/>
              </a:rPr>
              <a:t>块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RAM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6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块  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←主存数据线为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8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位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sp>
        <p:nvSpPr>
          <p:cNvPr id="337330" name="Text Box 434"/>
          <p:cNvSpPr txBox="1">
            <a:spLocks noChangeArrowheads="1"/>
          </p:cNvSpPr>
          <p:nvPr/>
        </p:nvSpPr>
        <p:spPr bwMode="auto">
          <a:xfrm>
            <a:off x="179388" y="3140968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latin typeface="宋体" panose="02010600030101010101" pitchFamily="2" charset="-122"/>
              </a:rPr>
              <a:t>   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⑵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芯片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所占空间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地址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/</a:t>
            </a:r>
            <a:r>
              <a:rPr lang="zh-CN" altLang="en-US" b="1" u="none" dirty="0">
                <a:latin typeface="宋体" panose="02010600030101010101" pitchFamily="2" charset="-122"/>
              </a:rPr>
              <a:t>字内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范围不同，主存地址线为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14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根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芯片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片选逻辑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latin typeface="宋体" panose="02010600030101010101" pitchFamily="2" charset="-122"/>
            </a:endParaRPr>
          </a:p>
        </p:txBody>
      </p:sp>
      <p:graphicFrame>
        <p:nvGraphicFramePr>
          <p:cNvPr id="337473" name="Group 577"/>
          <p:cNvGraphicFramePr>
            <a:graphicFrameLocks noGrp="1"/>
          </p:cNvGraphicFramePr>
          <p:nvPr/>
        </p:nvGraphicFramePr>
        <p:xfrm>
          <a:off x="5652120" y="4360784"/>
          <a:ext cx="2088232" cy="1731838"/>
        </p:xfrm>
        <a:graphic>
          <a:graphicData uri="http://schemas.openxmlformats.org/drawingml/2006/table">
            <a:tbl>
              <a:tblPr/>
              <a:tblGrid>
                <a:gridCol w="1296144"/>
                <a:gridCol w="792088"/>
              </a:tblGrid>
              <a:tr h="21130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片选逻辑</a:t>
                      </a:r>
                      <a:r>
                        <a:rPr kumimoji="1" lang="en-US" altLang="zh-CN" sz="1600" b="1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地址部分</a:t>
                      </a:r>
                      <a:r>
                        <a:rPr kumimoji="1" lang="en-US" altLang="zh-CN" sz="1600" b="1" i="0" u="none" strike="noStrike" cap="none" spc="-10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zh-CN" altLang="en-US" sz="1600" b="1" i="0" u="none" strike="noStrike" cap="none" spc="-10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 hMerge="1">
                  <a:tcPr/>
                </a:tc>
              </a:tr>
              <a:tr h="24838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=00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2323">
                <a:tc vMerge="1">
                  <a:tcPr marL="90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39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=01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264774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264774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=11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337475" name="AutoShape 57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7476" name="AutoShape 580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37499" name="Group 603"/>
          <p:cNvGrpSpPr/>
          <p:nvPr/>
        </p:nvGrpSpPr>
        <p:grpSpPr bwMode="auto">
          <a:xfrm>
            <a:off x="3195737" y="4221088"/>
            <a:ext cx="2017714" cy="1654176"/>
            <a:chOff x="-749" y="2361"/>
            <a:chExt cx="1271" cy="1042"/>
          </a:xfrm>
        </p:grpSpPr>
        <p:sp>
          <p:nvSpPr>
            <p:cNvPr id="337500" name="Text Box 604"/>
            <p:cNvSpPr txBox="1">
              <a:spLocks noChangeArrowheads="1"/>
            </p:cNvSpPr>
            <p:nvPr/>
          </p:nvSpPr>
          <p:spPr bwMode="auto">
            <a:xfrm>
              <a:off x="-749" y="2361"/>
              <a:ext cx="635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～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4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37501" name="Rectangle 605"/>
            <p:cNvSpPr>
              <a:spLocks noChangeArrowheads="1"/>
            </p:cNvSpPr>
            <p:nvPr/>
          </p:nvSpPr>
          <p:spPr bwMode="auto">
            <a:xfrm>
              <a:off x="-748" y="2860"/>
              <a:ext cx="635" cy="18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1# SRAM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37502" name="Text Box 606"/>
            <p:cNvSpPr txBox="1">
              <a:spLocks noChangeArrowheads="1"/>
            </p:cNvSpPr>
            <p:nvPr/>
          </p:nvSpPr>
          <p:spPr bwMode="auto">
            <a:xfrm>
              <a:off x="-114" y="2361"/>
              <a:ext cx="635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～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37503" name="Rectangle 607"/>
            <p:cNvSpPr>
              <a:spLocks noChangeArrowheads="1"/>
            </p:cNvSpPr>
            <p:nvPr/>
          </p:nvSpPr>
          <p:spPr bwMode="auto">
            <a:xfrm>
              <a:off x="-114" y="2860"/>
              <a:ext cx="635" cy="18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0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# SRAM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37504" name="Rectangle 608"/>
            <p:cNvSpPr>
              <a:spLocks noChangeArrowheads="1"/>
            </p:cNvSpPr>
            <p:nvPr/>
          </p:nvSpPr>
          <p:spPr bwMode="auto">
            <a:xfrm>
              <a:off x="-748" y="3041"/>
              <a:ext cx="635" cy="18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3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# SRAM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37505" name="Rectangle 609"/>
            <p:cNvSpPr>
              <a:spLocks noChangeArrowheads="1"/>
            </p:cNvSpPr>
            <p:nvPr/>
          </p:nvSpPr>
          <p:spPr bwMode="auto">
            <a:xfrm>
              <a:off x="-114" y="3041"/>
              <a:ext cx="635" cy="18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# SRAM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37506" name="Rectangle 610"/>
            <p:cNvSpPr>
              <a:spLocks noChangeArrowheads="1"/>
            </p:cNvSpPr>
            <p:nvPr/>
          </p:nvSpPr>
          <p:spPr bwMode="auto">
            <a:xfrm>
              <a:off x="-748" y="2497"/>
              <a:ext cx="1270" cy="181"/>
            </a:xfrm>
            <a:prstGeom prst="rect">
              <a:avLst/>
            </a:prstGeom>
            <a:solidFill>
              <a:schemeClr val="hlink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0# ROM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37507" name="Rectangle 611"/>
            <p:cNvSpPr>
              <a:spLocks noChangeArrowheads="1"/>
            </p:cNvSpPr>
            <p:nvPr/>
          </p:nvSpPr>
          <p:spPr bwMode="auto">
            <a:xfrm>
              <a:off x="-748" y="2674"/>
              <a:ext cx="1270" cy="181"/>
            </a:xfrm>
            <a:prstGeom prst="rect">
              <a:avLst/>
            </a:prstGeom>
            <a:solidFill>
              <a:schemeClr val="hlink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1# ROM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37508" name="Rectangle 612"/>
            <p:cNvSpPr>
              <a:spLocks noChangeArrowheads="1"/>
            </p:cNvSpPr>
            <p:nvPr/>
          </p:nvSpPr>
          <p:spPr bwMode="auto">
            <a:xfrm>
              <a:off x="-748" y="3222"/>
              <a:ext cx="635" cy="18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5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# SRAM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37509" name="Rectangle 613"/>
            <p:cNvSpPr>
              <a:spLocks noChangeArrowheads="1"/>
            </p:cNvSpPr>
            <p:nvPr/>
          </p:nvSpPr>
          <p:spPr bwMode="auto">
            <a:xfrm>
              <a:off x="-114" y="3222"/>
              <a:ext cx="635" cy="18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4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# SRAM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</p:grpSp>
      <p:sp>
        <p:nvSpPr>
          <p:cNvPr id="36" name="Text Box 434"/>
          <p:cNvSpPr txBox="1">
            <a:spLocks noChangeArrowheads="1"/>
          </p:cNvSpPr>
          <p:nvPr/>
        </p:nvSpPr>
        <p:spPr bwMode="auto">
          <a:xfrm>
            <a:off x="3203847" y="3595082"/>
            <a:ext cx="576076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主存被选中、引脚线地址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∈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芯片地址</a:t>
            </a:r>
            <a:r>
              <a:rPr lang="zh-CN" altLang="en-US" b="1" u="none" dirty="0">
                <a:latin typeface="宋体" panose="02010600030101010101" pitchFamily="2" charset="-122"/>
              </a:rPr>
              <a:t>范围</a:t>
            </a:r>
            <a:endParaRPr lang="en-US" altLang="zh-CN" b="1" u="none" dirty="0" smtClean="0">
              <a:latin typeface="宋体" panose="02010600030101010101" pitchFamily="2" charset="-122"/>
            </a:endParaRPr>
          </a:p>
        </p:txBody>
      </p:sp>
      <p:cxnSp>
        <p:nvCxnSpPr>
          <p:cNvPr id="4" name="直接箭头连接符 3"/>
          <p:cNvCxnSpPr/>
          <p:nvPr/>
        </p:nvCxnSpPr>
        <p:spPr bwMode="auto">
          <a:xfrm flipH="1" flipV="1">
            <a:off x="5508104" y="764704"/>
            <a:ext cx="2970164" cy="201622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990099"/>
            </a:solidFill>
            <a:prstDash val="sysDash"/>
            <a:round/>
            <a:headEnd type="arrow" w="med" len="sm"/>
            <a:tailEnd type="arrow" w="med" len="sm"/>
          </a:ln>
          <a:effectLst/>
        </p:spPr>
      </p:cxnSp>
      <p:grpSp>
        <p:nvGrpSpPr>
          <p:cNvPr id="53" name="组合 52"/>
          <p:cNvGrpSpPr/>
          <p:nvPr/>
        </p:nvGrpSpPr>
        <p:grpSpPr>
          <a:xfrm>
            <a:off x="1403648" y="4292446"/>
            <a:ext cx="1728000" cy="1583992"/>
            <a:chOff x="547315" y="4437136"/>
            <a:chExt cx="1728000" cy="1583992"/>
          </a:xfrm>
        </p:grpSpPr>
        <p:sp>
          <p:nvSpPr>
            <p:cNvPr id="54" name="Text Box 226"/>
            <p:cNvSpPr txBox="1">
              <a:spLocks noChangeArrowheads="1"/>
            </p:cNvSpPr>
            <p:nvPr/>
          </p:nvSpPr>
          <p:spPr bwMode="auto">
            <a:xfrm>
              <a:off x="611560" y="4581128"/>
              <a:ext cx="1656000" cy="144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000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X XXXXXXXXXX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zh-CN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001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X XXXXXXXXXX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110000"/>
                </a:lnSpc>
                <a:spcBef>
                  <a:spcPts val="300"/>
                </a:spcBef>
              </a:pPr>
              <a:r>
                <a:rPr lang="en-US" altLang="zh-CN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01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XX XXXXXXXXXX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110000"/>
                </a:lnSpc>
                <a:spcBef>
                  <a:spcPts val="600"/>
                </a:spcBef>
              </a:pPr>
              <a:r>
                <a:rPr lang="en-US" altLang="zh-CN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10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XX XXXXXXXXXX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110000"/>
                </a:lnSpc>
                <a:spcBef>
                  <a:spcPts val="300"/>
                </a:spcBef>
              </a:pPr>
              <a:r>
                <a:rPr lang="en-US" altLang="zh-CN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11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XX XXXXXXXXXX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5" name="Text Box 604"/>
            <p:cNvSpPr txBox="1">
              <a:spLocks noChangeArrowheads="1"/>
            </p:cNvSpPr>
            <p:nvPr/>
          </p:nvSpPr>
          <p:spPr bwMode="auto">
            <a:xfrm>
              <a:off x="547315" y="4437136"/>
              <a:ext cx="172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</a:rPr>
                <a:t>13</a:t>
              </a:r>
              <a:r>
                <a:rPr lang="en-US" altLang="zh-CN" sz="1600" b="1" u="none" dirty="0" smtClean="0"/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</a:rPr>
                <a:t>10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</a:t>
              </a:r>
              <a:r>
                <a:rPr lang="en-US" altLang="zh-CN" sz="1600" b="1" u="none" dirty="0" smtClean="0"/>
                <a:t>~    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29" name="AutoShape 331"/>
          <p:cNvSpPr/>
          <p:nvPr/>
        </p:nvSpPr>
        <p:spPr bwMode="auto">
          <a:xfrm>
            <a:off x="4211960" y="2384912"/>
            <a:ext cx="2160000" cy="252000"/>
          </a:xfrm>
          <a:prstGeom prst="borderCallout2">
            <a:avLst>
              <a:gd name="adj1" fmla="val 53155"/>
              <a:gd name="adj2" fmla="val 100036"/>
              <a:gd name="adj3" fmla="val 51608"/>
              <a:gd name="adj4" fmla="val 109107"/>
              <a:gd name="adj5" fmla="val 345147"/>
              <a:gd name="adj6" fmla="val 131444"/>
            </a:avLst>
          </a:prstGeom>
          <a:solidFill>
            <a:schemeClr val="bg1"/>
          </a:solidFill>
          <a:ln w="12700">
            <a:solidFill>
              <a:srgbClr val="990099"/>
            </a:solidFill>
            <a:prstDash val="sysDash"/>
            <a:miter lim="800000"/>
            <a:headEnd type="none" w="sm" len="med"/>
            <a:tailEnd type="arrow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u="none" dirty="0">
                <a:latin typeface="宋体" panose="02010600030101010101" pitchFamily="2" charset="-122"/>
              </a:rPr>
              <a:t>与</a:t>
            </a:r>
            <a:r>
              <a:rPr lang="en-US" altLang="zh-CN" sz="1600" b="1" u="none" dirty="0">
                <a:latin typeface="宋体" panose="02010600030101010101" pitchFamily="2" charset="-122"/>
              </a:rPr>
              <a:t>CPU</a:t>
            </a:r>
            <a:r>
              <a:rPr lang="zh-CN" altLang="en-US" sz="1600" b="1" u="none" dirty="0">
                <a:latin typeface="宋体" panose="02010600030101010101" pitchFamily="2" charset="-122"/>
              </a:rPr>
              <a:t>可寻址空间无关</a:t>
            </a:r>
            <a:endParaRPr lang="zh-CN" altLang="en-US" sz="1600" b="1" u="none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37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37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37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327" grpId="0" autoUpdateAnimBg="0"/>
      <p:bldP spid="337330" grpId="0"/>
      <p:bldP spid="36" grpId="0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33790" y="2564904"/>
            <a:ext cx="5042814" cy="1800200"/>
            <a:chOff x="3633790" y="2636912"/>
            <a:chExt cx="5042814" cy="1800200"/>
          </a:xfrm>
        </p:grpSpPr>
        <p:sp>
          <p:nvSpPr>
            <p:cNvPr id="126" name="Text Box 381"/>
            <p:cNvSpPr txBox="1">
              <a:spLocks noChangeArrowheads="1"/>
            </p:cNvSpPr>
            <p:nvPr/>
          </p:nvSpPr>
          <p:spPr bwMode="auto">
            <a:xfrm>
              <a:off x="3633790" y="2636912"/>
              <a:ext cx="1584324" cy="18002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990099"/>
              </a:solidFill>
              <a:prstDash val="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7" name="Text Box 381"/>
            <p:cNvSpPr txBox="1">
              <a:spLocks noChangeArrowheads="1"/>
            </p:cNvSpPr>
            <p:nvPr/>
          </p:nvSpPr>
          <p:spPr bwMode="auto">
            <a:xfrm>
              <a:off x="5364088" y="2636912"/>
              <a:ext cx="1584324" cy="18002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990099"/>
              </a:solidFill>
              <a:prstDash val="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8" name="Text Box 381"/>
            <p:cNvSpPr txBox="1">
              <a:spLocks noChangeArrowheads="1"/>
            </p:cNvSpPr>
            <p:nvPr/>
          </p:nvSpPr>
          <p:spPr bwMode="auto">
            <a:xfrm>
              <a:off x="7092280" y="2636912"/>
              <a:ext cx="1584324" cy="18002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990099"/>
              </a:solidFill>
              <a:prstDash val="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</p:grpSp>
      <p:sp>
        <p:nvSpPr>
          <p:cNvPr id="452612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13787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latin typeface="+mn-ea"/>
                <a:ea typeface="+mn-ea"/>
              </a:rPr>
              <a:t>   ⑶</a:t>
            </a:r>
            <a:r>
              <a:rPr lang="zh-CN" altLang="en-US" b="1" u="none" dirty="0" smtClean="0">
                <a:latin typeface="+mn-ea"/>
                <a:ea typeface="+mn-ea"/>
              </a:rPr>
              <a:t>主存</a:t>
            </a:r>
            <a:r>
              <a:rPr lang="zh-CN" altLang="en-US" b="1" u="none" dirty="0" smtClean="0">
                <a:solidFill>
                  <a:schemeClr val="accent2"/>
                </a:solidFill>
                <a:latin typeface="+mn-ea"/>
                <a:ea typeface="+mn-ea"/>
              </a:rPr>
              <a:t>内部的连接图</a:t>
            </a:r>
            <a:r>
              <a:rPr lang="en-US" altLang="zh-CN" b="1" u="none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b="1" u="none" dirty="0">
                <a:latin typeface="宋体" panose="02010600030101010101" pitchFamily="2" charset="-122"/>
              </a:rPr>
              <a:t>先位扩展、后字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扩展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grpSp>
        <p:nvGrpSpPr>
          <p:cNvPr id="452912" name="Group 304"/>
          <p:cNvGrpSpPr/>
          <p:nvPr/>
        </p:nvGrpSpPr>
        <p:grpSpPr bwMode="auto">
          <a:xfrm>
            <a:off x="395288" y="908050"/>
            <a:ext cx="8424863" cy="3673475"/>
            <a:chOff x="159" y="618"/>
            <a:chExt cx="5307" cy="2314"/>
          </a:xfrm>
        </p:grpSpPr>
        <p:sp>
          <p:nvSpPr>
            <p:cNvPr id="452913" name="Rectangle 305"/>
            <p:cNvSpPr>
              <a:spLocks noChangeArrowheads="1"/>
            </p:cNvSpPr>
            <p:nvPr/>
          </p:nvSpPr>
          <p:spPr bwMode="auto">
            <a:xfrm>
              <a:off x="793" y="618"/>
              <a:ext cx="4673" cy="231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2914" name="Text Box 306"/>
            <p:cNvSpPr txBox="1">
              <a:spLocks noChangeArrowheads="1"/>
            </p:cNvSpPr>
            <p:nvPr/>
          </p:nvSpPr>
          <p:spPr bwMode="auto">
            <a:xfrm>
              <a:off x="1155" y="2069"/>
              <a:ext cx="40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0#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2000" b="1" u="none" dirty="0">
                  <a:latin typeface="宋体" panose="02010600030101010101" pitchFamily="2" charset="-122"/>
                </a:rPr>
                <a:t>ROM</a:t>
              </a:r>
              <a:endParaRPr lang="en-US" altLang="zh-CN" sz="2000" b="1" u="none" dirty="0">
                <a:latin typeface="宋体" panose="02010600030101010101" pitchFamily="2" charset="-122"/>
              </a:endParaRPr>
            </a:p>
          </p:txBody>
        </p:sp>
        <p:grpSp>
          <p:nvGrpSpPr>
            <p:cNvPr id="452915" name="Group 307"/>
            <p:cNvGrpSpPr/>
            <p:nvPr/>
          </p:nvGrpSpPr>
          <p:grpSpPr bwMode="auto">
            <a:xfrm>
              <a:off x="476" y="2735"/>
              <a:ext cx="181" cy="181"/>
              <a:chOff x="3198" y="2599"/>
              <a:chExt cx="181" cy="181"/>
            </a:xfrm>
          </p:grpSpPr>
          <p:sp>
            <p:nvSpPr>
              <p:cNvPr id="452916" name="Text Box 308"/>
              <p:cNvSpPr txBox="1">
                <a:spLocks noChangeArrowheads="1"/>
              </p:cNvSpPr>
              <p:nvPr/>
            </p:nvSpPr>
            <p:spPr bwMode="auto">
              <a:xfrm>
                <a:off x="3198" y="2599"/>
                <a:ext cx="181" cy="18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r>
                  <a:rPr lang="en-US" altLang="zh-CN" sz="1800" b="1" u="none" dirty="0">
                    <a:latin typeface="宋体" panose="02010600030101010101" pitchFamily="2" charset="-122"/>
                  </a:rPr>
                  <a:t>WE</a:t>
                </a:r>
                <a:endParaRPr lang="en-US" altLang="zh-CN" sz="18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52917" name="Line 309"/>
              <p:cNvSpPr>
                <a:spLocks noChangeShapeType="1"/>
              </p:cNvSpPr>
              <p:nvPr/>
            </p:nvSpPr>
            <p:spPr bwMode="auto">
              <a:xfrm>
                <a:off x="3207" y="2629"/>
                <a:ext cx="13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2918" name="Text Box 310"/>
            <p:cNvSpPr txBox="1">
              <a:spLocks noChangeArrowheads="1"/>
            </p:cNvSpPr>
            <p:nvPr/>
          </p:nvSpPr>
          <p:spPr bwMode="auto">
            <a:xfrm>
              <a:off x="1700" y="2069"/>
              <a:ext cx="408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anose="02010600030101010101" pitchFamily="2" charset="-122"/>
                </a:rPr>
                <a:t>1#</a:t>
              </a:r>
              <a:endParaRPr lang="en-US" altLang="zh-CN" sz="20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anose="02010600030101010101" pitchFamily="2" charset="-122"/>
                </a:rPr>
                <a:t>ROM</a:t>
              </a:r>
              <a:endParaRPr lang="en-US" altLang="zh-CN" sz="2000" b="1" u="none">
                <a:latin typeface="宋体" panose="02010600030101010101" pitchFamily="2" charset="-122"/>
              </a:endParaRPr>
            </a:p>
          </p:txBody>
        </p:sp>
        <p:sp>
          <p:nvSpPr>
            <p:cNvPr id="452919" name="Text Box 311"/>
            <p:cNvSpPr txBox="1">
              <a:spLocks noChangeArrowheads="1"/>
            </p:cNvSpPr>
            <p:nvPr/>
          </p:nvSpPr>
          <p:spPr bwMode="auto">
            <a:xfrm>
              <a:off x="2243" y="2069"/>
              <a:ext cx="40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anose="02010600030101010101" pitchFamily="2" charset="-122"/>
                </a:rPr>
                <a:t>0#</a:t>
              </a:r>
              <a:endParaRPr lang="en-US" altLang="zh-CN" sz="20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anose="02010600030101010101" pitchFamily="2" charset="-122"/>
                </a:rPr>
                <a:t>SRAM</a:t>
              </a:r>
              <a:endParaRPr lang="en-US" altLang="zh-CN" sz="2000" b="1" u="none">
                <a:latin typeface="宋体" panose="02010600030101010101" pitchFamily="2" charset="-122"/>
              </a:endParaRPr>
            </a:p>
          </p:txBody>
        </p:sp>
        <p:sp>
          <p:nvSpPr>
            <p:cNvPr id="452920" name="Text Box 312"/>
            <p:cNvSpPr txBox="1">
              <a:spLocks noChangeArrowheads="1"/>
            </p:cNvSpPr>
            <p:nvPr/>
          </p:nvSpPr>
          <p:spPr bwMode="auto">
            <a:xfrm>
              <a:off x="2745" y="2069"/>
              <a:ext cx="40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anose="02010600030101010101" pitchFamily="2" charset="-122"/>
                </a:rPr>
                <a:t>1#</a:t>
              </a:r>
              <a:endParaRPr lang="en-US" altLang="zh-CN" sz="20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anose="02010600030101010101" pitchFamily="2" charset="-122"/>
                </a:rPr>
                <a:t>SRAM</a:t>
              </a:r>
              <a:endParaRPr lang="en-US" altLang="zh-CN" sz="2000" b="1" u="none">
                <a:latin typeface="宋体" panose="02010600030101010101" pitchFamily="2" charset="-122"/>
              </a:endParaRPr>
            </a:p>
          </p:txBody>
        </p:sp>
        <p:sp>
          <p:nvSpPr>
            <p:cNvPr id="452921" name="Text Box 313"/>
            <p:cNvSpPr txBox="1">
              <a:spLocks noChangeArrowheads="1"/>
            </p:cNvSpPr>
            <p:nvPr/>
          </p:nvSpPr>
          <p:spPr bwMode="auto">
            <a:xfrm>
              <a:off x="3331" y="2069"/>
              <a:ext cx="40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anose="02010600030101010101" pitchFamily="2" charset="-122"/>
                </a:rPr>
                <a:t>2#</a:t>
              </a:r>
              <a:endParaRPr lang="en-US" altLang="zh-CN" sz="20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anose="02010600030101010101" pitchFamily="2" charset="-122"/>
                </a:rPr>
                <a:t>SRAM</a:t>
              </a:r>
              <a:endParaRPr lang="en-US" altLang="zh-CN" sz="2000" b="1" u="none">
                <a:latin typeface="宋体" panose="02010600030101010101" pitchFamily="2" charset="-122"/>
              </a:endParaRPr>
            </a:p>
          </p:txBody>
        </p:sp>
        <p:sp>
          <p:nvSpPr>
            <p:cNvPr id="452922" name="Text Box 314"/>
            <p:cNvSpPr txBox="1">
              <a:spLocks noChangeArrowheads="1"/>
            </p:cNvSpPr>
            <p:nvPr/>
          </p:nvSpPr>
          <p:spPr bwMode="auto">
            <a:xfrm>
              <a:off x="3833" y="2069"/>
              <a:ext cx="40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anose="02010600030101010101" pitchFamily="2" charset="-122"/>
                </a:rPr>
                <a:t>3#</a:t>
              </a:r>
              <a:endParaRPr lang="en-US" altLang="zh-CN" sz="20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anose="02010600030101010101" pitchFamily="2" charset="-122"/>
                </a:rPr>
                <a:t>SRAM</a:t>
              </a:r>
              <a:endParaRPr lang="en-US" altLang="zh-CN" sz="2000" b="1" u="none">
                <a:latin typeface="宋体" panose="02010600030101010101" pitchFamily="2" charset="-122"/>
              </a:endParaRPr>
            </a:p>
          </p:txBody>
        </p:sp>
        <p:sp>
          <p:nvSpPr>
            <p:cNvPr id="452923" name="Text Box 315"/>
            <p:cNvSpPr txBox="1">
              <a:spLocks noChangeArrowheads="1"/>
            </p:cNvSpPr>
            <p:nvPr/>
          </p:nvSpPr>
          <p:spPr bwMode="auto">
            <a:xfrm>
              <a:off x="4420" y="2069"/>
              <a:ext cx="40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anose="02010600030101010101" pitchFamily="2" charset="-122"/>
                </a:rPr>
                <a:t>4#</a:t>
              </a:r>
              <a:endParaRPr lang="en-US" altLang="zh-CN" sz="20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anose="02010600030101010101" pitchFamily="2" charset="-122"/>
                </a:rPr>
                <a:t>SRAM</a:t>
              </a:r>
              <a:endParaRPr lang="en-US" altLang="zh-CN" sz="2000" b="1" u="none">
                <a:latin typeface="宋体" panose="02010600030101010101" pitchFamily="2" charset="-122"/>
              </a:endParaRPr>
            </a:p>
          </p:txBody>
        </p:sp>
        <p:sp>
          <p:nvSpPr>
            <p:cNvPr id="452924" name="Text Box 316"/>
            <p:cNvSpPr txBox="1">
              <a:spLocks noChangeArrowheads="1"/>
            </p:cNvSpPr>
            <p:nvPr/>
          </p:nvSpPr>
          <p:spPr bwMode="auto">
            <a:xfrm>
              <a:off x="4922" y="2069"/>
              <a:ext cx="40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anose="02010600030101010101" pitchFamily="2" charset="-122"/>
                </a:rPr>
                <a:t>5#</a:t>
              </a:r>
              <a:endParaRPr lang="en-US" altLang="zh-CN" sz="20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anose="02010600030101010101" pitchFamily="2" charset="-122"/>
                </a:rPr>
                <a:t>SRAM</a:t>
              </a:r>
              <a:endParaRPr lang="en-US" altLang="zh-CN" sz="2000" b="1" u="none">
                <a:latin typeface="宋体" panose="02010600030101010101" pitchFamily="2" charset="-122"/>
              </a:endParaRPr>
            </a:p>
          </p:txBody>
        </p:sp>
        <p:sp>
          <p:nvSpPr>
            <p:cNvPr id="452925" name="Text Box 317"/>
            <p:cNvSpPr txBox="1">
              <a:spLocks noChangeArrowheads="1"/>
            </p:cNvSpPr>
            <p:nvPr/>
          </p:nvSpPr>
          <p:spPr bwMode="auto">
            <a:xfrm>
              <a:off x="159" y="1843"/>
              <a:ext cx="499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>
                  <a:latin typeface="宋体" panose="02010600030101010101" pitchFamily="2" charset="-122"/>
                </a:rPr>
                <a:t>10</a:t>
              </a:r>
              <a:r>
                <a:rPr lang="zh-CN" altLang="en-US" sz="1800" b="1" u="none">
                  <a:latin typeface="宋体" panose="02010600030101010101" pitchFamily="2" charset="-122"/>
                </a:rPr>
                <a:t>～</a:t>
              </a:r>
              <a:r>
                <a:rPr lang="en-US" altLang="zh-CN" sz="1800" b="1" u="none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18000">
                <a:latin typeface="宋体" panose="02010600030101010101" pitchFamily="2" charset="-122"/>
              </a:endParaRPr>
            </a:p>
          </p:txBody>
        </p:sp>
        <p:sp>
          <p:nvSpPr>
            <p:cNvPr id="452926" name="Text Box 318"/>
            <p:cNvSpPr txBox="1">
              <a:spLocks noChangeArrowheads="1"/>
            </p:cNvSpPr>
            <p:nvPr/>
          </p:nvSpPr>
          <p:spPr bwMode="auto">
            <a:xfrm>
              <a:off x="205" y="2115"/>
              <a:ext cx="453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18000">
                  <a:latin typeface="宋体" panose="02010600030101010101" pitchFamily="2" charset="-122"/>
                </a:rPr>
                <a:t>3</a:t>
              </a:r>
              <a:r>
                <a:rPr lang="zh-CN" altLang="en-US" sz="1800" b="1" u="none">
                  <a:latin typeface="宋体" panose="02010600030101010101" pitchFamily="2" charset="-122"/>
                </a:rPr>
                <a:t>～</a:t>
              </a:r>
              <a:r>
                <a:rPr lang="en-US" altLang="zh-CN" sz="1800" b="1" u="none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1800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18000">
                <a:latin typeface="宋体" panose="02010600030101010101" pitchFamily="2" charset="-122"/>
              </a:endParaRPr>
            </a:p>
          </p:txBody>
        </p:sp>
        <p:sp>
          <p:nvSpPr>
            <p:cNvPr id="452927" name="Text Box 319"/>
            <p:cNvSpPr txBox="1">
              <a:spLocks noChangeArrowheads="1"/>
            </p:cNvSpPr>
            <p:nvPr/>
          </p:nvSpPr>
          <p:spPr bwMode="auto">
            <a:xfrm>
              <a:off x="205" y="2342"/>
              <a:ext cx="453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18000">
                  <a:latin typeface="宋体" panose="02010600030101010101" pitchFamily="2" charset="-122"/>
                </a:rPr>
                <a:t>7</a:t>
              </a:r>
              <a:r>
                <a:rPr lang="zh-CN" altLang="en-US" sz="1800" b="1" u="none">
                  <a:latin typeface="宋体" panose="02010600030101010101" pitchFamily="2" charset="-122"/>
                </a:rPr>
                <a:t>～</a:t>
              </a:r>
              <a:r>
                <a:rPr lang="en-US" altLang="zh-CN" sz="1800" b="1" u="none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18000">
                  <a:latin typeface="宋体" panose="02010600030101010101" pitchFamily="2" charset="-122"/>
                </a:rPr>
                <a:t>4</a:t>
              </a:r>
              <a:endParaRPr lang="en-US" altLang="zh-CN" sz="1800" b="1" u="none" baseline="-18000">
                <a:latin typeface="宋体" panose="02010600030101010101" pitchFamily="2" charset="-122"/>
              </a:endParaRPr>
            </a:p>
          </p:txBody>
        </p:sp>
        <p:sp>
          <p:nvSpPr>
            <p:cNvPr id="452928" name="Text Box 320"/>
            <p:cNvSpPr txBox="1">
              <a:spLocks noChangeArrowheads="1"/>
            </p:cNvSpPr>
            <p:nvPr/>
          </p:nvSpPr>
          <p:spPr bwMode="auto">
            <a:xfrm>
              <a:off x="431" y="935"/>
              <a:ext cx="227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13</a:t>
              </a:r>
              <a:endParaRPr lang="en-US" altLang="zh-CN" sz="18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452929" name="Text Box 321"/>
            <p:cNvSpPr txBox="1">
              <a:spLocks noChangeArrowheads="1"/>
            </p:cNvSpPr>
            <p:nvPr/>
          </p:nvSpPr>
          <p:spPr bwMode="auto">
            <a:xfrm>
              <a:off x="431" y="1116"/>
              <a:ext cx="227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>
                  <a:latin typeface="宋体" panose="02010600030101010101" pitchFamily="2" charset="-122"/>
                </a:rPr>
                <a:t>12</a:t>
              </a:r>
              <a:endParaRPr lang="en-US" altLang="zh-CN" sz="1800" b="1" u="none" baseline="-18000">
                <a:latin typeface="宋体" panose="02010600030101010101" pitchFamily="2" charset="-122"/>
              </a:endParaRPr>
            </a:p>
          </p:txBody>
        </p:sp>
        <p:sp>
          <p:nvSpPr>
            <p:cNvPr id="452930" name="Text Box 322"/>
            <p:cNvSpPr txBox="1">
              <a:spLocks noChangeArrowheads="1"/>
            </p:cNvSpPr>
            <p:nvPr/>
          </p:nvSpPr>
          <p:spPr bwMode="auto">
            <a:xfrm>
              <a:off x="431" y="1706"/>
              <a:ext cx="227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11</a:t>
              </a:r>
              <a:endParaRPr lang="en-US" altLang="zh-CN" sz="1800" b="1" u="none" baseline="-18000" dirty="0">
                <a:latin typeface="宋体" panose="02010600030101010101" pitchFamily="2" charset="-122"/>
              </a:endParaRPr>
            </a:p>
          </p:txBody>
        </p:sp>
        <p:grpSp>
          <p:nvGrpSpPr>
            <p:cNvPr id="452931" name="Group 323"/>
            <p:cNvGrpSpPr/>
            <p:nvPr/>
          </p:nvGrpSpPr>
          <p:grpSpPr bwMode="auto">
            <a:xfrm>
              <a:off x="476" y="754"/>
              <a:ext cx="181" cy="181"/>
              <a:chOff x="3198" y="2523"/>
              <a:chExt cx="181" cy="181"/>
            </a:xfrm>
          </p:grpSpPr>
          <p:sp>
            <p:nvSpPr>
              <p:cNvPr id="452932" name="Text Box 324"/>
              <p:cNvSpPr txBox="1">
                <a:spLocks noChangeArrowheads="1"/>
              </p:cNvSpPr>
              <p:nvPr/>
            </p:nvSpPr>
            <p:spPr bwMode="auto">
              <a:xfrm>
                <a:off x="3198" y="2523"/>
                <a:ext cx="181" cy="18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r>
                  <a:rPr lang="en-US" altLang="zh-CN" sz="1800" b="1" u="none">
                    <a:latin typeface="宋体" panose="02010600030101010101" pitchFamily="2" charset="-122"/>
                  </a:rPr>
                  <a:t>CS</a:t>
                </a:r>
                <a:endParaRPr lang="en-US" altLang="zh-CN" sz="1800" b="1" u="none">
                  <a:latin typeface="宋体" panose="02010600030101010101" pitchFamily="2" charset="-122"/>
                </a:endParaRPr>
              </a:p>
            </p:txBody>
          </p:sp>
          <p:sp>
            <p:nvSpPr>
              <p:cNvPr id="452933" name="Line 325"/>
              <p:cNvSpPr>
                <a:spLocks noChangeShapeType="1"/>
              </p:cNvSpPr>
              <p:nvPr/>
            </p:nvSpPr>
            <p:spPr bwMode="auto">
              <a:xfrm>
                <a:off x="3207" y="2550"/>
                <a:ext cx="13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2934" name="Line 326"/>
            <p:cNvSpPr>
              <a:spLocks noChangeShapeType="1"/>
            </p:cNvSpPr>
            <p:nvPr/>
          </p:nvSpPr>
          <p:spPr bwMode="auto">
            <a:xfrm>
              <a:off x="657" y="1207"/>
              <a:ext cx="136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35" name="Line 327"/>
            <p:cNvSpPr>
              <a:spLocks noChangeShapeType="1"/>
            </p:cNvSpPr>
            <p:nvPr/>
          </p:nvSpPr>
          <p:spPr bwMode="auto">
            <a:xfrm>
              <a:off x="657" y="1026"/>
              <a:ext cx="136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36" name="Line 328"/>
            <p:cNvSpPr>
              <a:spLocks noChangeShapeType="1"/>
            </p:cNvSpPr>
            <p:nvPr/>
          </p:nvSpPr>
          <p:spPr bwMode="auto">
            <a:xfrm>
              <a:off x="657" y="845"/>
              <a:ext cx="136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37" name="Line 329"/>
            <p:cNvSpPr>
              <a:spLocks noChangeShapeType="1"/>
            </p:cNvSpPr>
            <p:nvPr/>
          </p:nvSpPr>
          <p:spPr bwMode="auto">
            <a:xfrm flipV="1">
              <a:off x="657" y="2432"/>
              <a:ext cx="137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38" name="Line 330"/>
            <p:cNvSpPr>
              <a:spLocks noChangeShapeType="1"/>
            </p:cNvSpPr>
            <p:nvPr/>
          </p:nvSpPr>
          <p:spPr bwMode="auto">
            <a:xfrm flipV="1">
              <a:off x="657" y="2205"/>
              <a:ext cx="137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39" name="Line 331"/>
            <p:cNvSpPr>
              <a:spLocks noChangeShapeType="1"/>
            </p:cNvSpPr>
            <p:nvPr/>
          </p:nvSpPr>
          <p:spPr bwMode="auto">
            <a:xfrm flipV="1">
              <a:off x="657" y="1933"/>
              <a:ext cx="137" cy="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40" name="Line 332"/>
            <p:cNvSpPr>
              <a:spLocks noChangeShapeType="1"/>
            </p:cNvSpPr>
            <p:nvPr/>
          </p:nvSpPr>
          <p:spPr bwMode="auto">
            <a:xfrm>
              <a:off x="657" y="1797"/>
              <a:ext cx="136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41" name="Line 333"/>
            <p:cNvSpPr>
              <a:spLocks noChangeShapeType="1"/>
            </p:cNvSpPr>
            <p:nvPr/>
          </p:nvSpPr>
          <p:spPr bwMode="auto">
            <a:xfrm>
              <a:off x="657" y="2841"/>
              <a:ext cx="136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3074" name="AutoShape 46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7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3075" name="AutoShape 46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53078" name="Group 470"/>
          <p:cNvGrpSpPr/>
          <p:nvPr/>
        </p:nvGrpSpPr>
        <p:grpSpPr bwMode="auto">
          <a:xfrm>
            <a:off x="1401763" y="1052513"/>
            <a:ext cx="7273925" cy="1727200"/>
            <a:chOff x="883" y="891"/>
            <a:chExt cx="4582" cy="1088"/>
          </a:xfrm>
        </p:grpSpPr>
        <p:sp>
          <p:nvSpPr>
            <p:cNvPr id="452974" name="Text Box 366"/>
            <p:cNvSpPr txBox="1">
              <a:spLocks noChangeArrowheads="1"/>
            </p:cNvSpPr>
            <p:nvPr/>
          </p:nvSpPr>
          <p:spPr bwMode="auto">
            <a:xfrm>
              <a:off x="1791" y="891"/>
              <a:ext cx="3674" cy="589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2000" b="1" u="none">
                  <a:latin typeface="宋体" panose="02010600030101010101" pitchFamily="2" charset="-122"/>
                </a:rPr>
                <a:t>2:4</a:t>
              </a:r>
              <a:r>
                <a:rPr lang="zh-CN" altLang="en-US" sz="2000" b="1" u="none">
                  <a:latin typeface="宋体" panose="02010600030101010101" pitchFamily="2" charset="-122"/>
                </a:rPr>
                <a:t>译码器</a:t>
              </a:r>
              <a:endParaRPr lang="zh-CN" altLang="en-US" sz="2000" b="1" u="none">
                <a:latin typeface="宋体" panose="02010600030101010101" pitchFamily="2" charset="-122"/>
              </a:endParaRPr>
            </a:p>
          </p:txBody>
        </p:sp>
        <p:sp>
          <p:nvSpPr>
            <p:cNvPr id="452975" name="Text Box 367"/>
            <p:cNvSpPr txBox="1">
              <a:spLocks noChangeArrowheads="1"/>
            </p:cNvSpPr>
            <p:nvPr/>
          </p:nvSpPr>
          <p:spPr bwMode="auto">
            <a:xfrm>
              <a:off x="1837" y="1117"/>
              <a:ext cx="136" cy="36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B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A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grpSp>
          <p:nvGrpSpPr>
            <p:cNvPr id="452976" name="Group 368"/>
            <p:cNvGrpSpPr/>
            <p:nvPr/>
          </p:nvGrpSpPr>
          <p:grpSpPr bwMode="auto">
            <a:xfrm>
              <a:off x="1791" y="936"/>
              <a:ext cx="226" cy="181"/>
              <a:chOff x="2336" y="2659"/>
              <a:chExt cx="226" cy="181"/>
            </a:xfrm>
          </p:grpSpPr>
          <p:sp>
            <p:nvSpPr>
              <p:cNvPr id="452977" name="Text Box 369"/>
              <p:cNvSpPr txBox="1">
                <a:spLocks noChangeArrowheads="1"/>
              </p:cNvSpPr>
              <p:nvPr/>
            </p:nvSpPr>
            <p:spPr bwMode="auto">
              <a:xfrm>
                <a:off x="2336" y="2659"/>
                <a:ext cx="226" cy="18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 dirty="0">
                    <a:latin typeface="宋体" panose="02010600030101010101" pitchFamily="2" charset="-122"/>
                  </a:rPr>
                  <a:t>GE</a:t>
                </a:r>
                <a:endParaRPr lang="en-US" altLang="zh-CN" sz="18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52978" name="Line 370"/>
              <p:cNvSpPr>
                <a:spLocks noChangeShapeType="1"/>
              </p:cNvSpPr>
              <p:nvPr/>
            </p:nvSpPr>
            <p:spPr bwMode="auto">
              <a:xfrm>
                <a:off x="2372" y="2686"/>
                <a:ext cx="13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2979" name="Group 371"/>
            <p:cNvGrpSpPr/>
            <p:nvPr/>
          </p:nvGrpSpPr>
          <p:grpSpPr bwMode="auto">
            <a:xfrm>
              <a:off x="2108" y="1281"/>
              <a:ext cx="181" cy="181"/>
              <a:chOff x="4332" y="2614"/>
              <a:chExt cx="181" cy="181"/>
            </a:xfrm>
          </p:grpSpPr>
          <p:sp>
            <p:nvSpPr>
              <p:cNvPr id="452980" name="Text Box 372"/>
              <p:cNvSpPr txBox="1">
                <a:spLocks noChangeArrowheads="1"/>
              </p:cNvSpPr>
              <p:nvPr/>
            </p:nvSpPr>
            <p:spPr bwMode="auto">
              <a:xfrm>
                <a:off x="4332" y="2614"/>
                <a:ext cx="181" cy="18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 dirty="0">
                    <a:latin typeface="宋体" panose="02010600030101010101" pitchFamily="2" charset="-122"/>
                  </a:rPr>
                  <a:t>Y</a:t>
                </a:r>
                <a:r>
                  <a:rPr lang="en-US" altLang="zh-CN" sz="1800" b="1" u="none" baseline="-18000" dirty="0">
                    <a:latin typeface="宋体" panose="02010600030101010101" pitchFamily="2" charset="-122"/>
                  </a:rPr>
                  <a:t>0</a:t>
                </a:r>
                <a:endParaRPr lang="en-US" altLang="zh-CN" sz="1800" b="1" u="none" baseline="-18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52981" name="Line 373"/>
              <p:cNvSpPr>
                <a:spLocks noChangeShapeType="1"/>
              </p:cNvSpPr>
              <p:nvPr/>
            </p:nvSpPr>
            <p:spPr bwMode="auto">
              <a:xfrm>
                <a:off x="4350" y="2641"/>
                <a:ext cx="1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2982" name="Group 374"/>
            <p:cNvGrpSpPr/>
            <p:nvPr/>
          </p:nvGrpSpPr>
          <p:grpSpPr bwMode="auto">
            <a:xfrm>
              <a:off x="4149" y="1281"/>
              <a:ext cx="181" cy="181"/>
              <a:chOff x="4332" y="2614"/>
              <a:chExt cx="181" cy="181"/>
            </a:xfrm>
          </p:grpSpPr>
          <p:sp>
            <p:nvSpPr>
              <p:cNvPr id="452983" name="Text Box 375"/>
              <p:cNvSpPr txBox="1">
                <a:spLocks noChangeArrowheads="1"/>
              </p:cNvSpPr>
              <p:nvPr/>
            </p:nvSpPr>
            <p:spPr bwMode="auto">
              <a:xfrm>
                <a:off x="4332" y="2614"/>
                <a:ext cx="181" cy="18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>
                    <a:latin typeface="宋体" panose="02010600030101010101" pitchFamily="2" charset="-122"/>
                  </a:rPr>
                  <a:t>Y</a:t>
                </a:r>
                <a:r>
                  <a:rPr lang="en-US" altLang="zh-CN" sz="1800" b="1" u="none" baseline="-18000">
                    <a:latin typeface="宋体" panose="02010600030101010101" pitchFamily="2" charset="-122"/>
                  </a:rPr>
                  <a:t>2</a:t>
                </a:r>
                <a:endParaRPr lang="en-US" altLang="zh-CN" sz="1800" b="1" u="none" baseline="-18000">
                  <a:latin typeface="宋体" panose="02010600030101010101" pitchFamily="2" charset="-122"/>
                </a:endParaRPr>
              </a:p>
            </p:txBody>
          </p:sp>
          <p:sp>
            <p:nvSpPr>
              <p:cNvPr id="452984" name="Line 376"/>
              <p:cNvSpPr>
                <a:spLocks noChangeShapeType="1"/>
              </p:cNvSpPr>
              <p:nvPr/>
            </p:nvSpPr>
            <p:spPr bwMode="auto">
              <a:xfrm>
                <a:off x="4350" y="2641"/>
                <a:ext cx="1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2985" name="Line 377"/>
            <p:cNvSpPr>
              <a:spLocks noChangeShapeType="1"/>
            </p:cNvSpPr>
            <p:nvPr/>
          </p:nvSpPr>
          <p:spPr bwMode="auto">
            <a:xfrm flipV="1">
              <a:off x="883" y="1027"/>
              <a:ext cx="908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52986" name="Group 378"/>
            <p:cNvGrpSpPr/>
            <p:nvPr/>
          </p:nvGrpSpPr>
          <p:grpSpPr bwMode="auto">
            <a:xfrm>
              <a:off x="3106" y="1281"/>
              <a:ext cx="181" cy="181"/>
              <a:chOff x="4332" y="2614"/>
              <a:chExt cx="181" cy="181"/>
            </a:xfrm>
          </p:grpSpPr>
          <p:sp>
            <p:nvSpPr>
              <p:cNvPr id="452987" name="Text Box 379"/>
              <p:cNvSpPr txBox="1">
                <a:spLocks noChangeArrowheads="1"/>
              </p:cNvSpPr>
              <p:nvPr/>
            </p:nvSpPr>
            <p:spPr bwMode="auto">
              <a:xfrm>
                <a:off x="4332" y="2614"/>
                <a:ext cx="181" cy="18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>
                    <a:latin typeface="宋体" panose="02010600030101010101" pitchFamily="2" charset="-122"/>
                  </a:rPr>
                  <a:t>Y</a:t>
                </a:r>
                <a:r>
                  <a:rPr lang="en-US" altLang="zh-CN" sz="1800" b="1" u="none" baseline="-18000">
                    <a:latin typeface="宋体" panose="02010600030101010101" pitchFamily="2" charset="-122"/>
                  </a:rPr>
                  <a:t>1</a:t>
                </a:r>
                <a:endParaRPr lang="en-US" altLang="zh-CN" sz="1800" b="1" u="none" baseline="-18000">
                  <a:latin typeface="宋体" panose="02010600030101010101" pitchFamily="2" charset="-122"/>
                </a:endParaRPr>
              </a:p>
            </p:txBody>
          </p:sp>
          <p:sp>
            <p:nvSpPr>
              <p:cNvPr id="452988" name="Line 380"/>
              <p:cNvSpPr>
                <a:spLocks noChangeShapeType="1"/>
              </p:cNvSpPr>
              <p:nvPr/>
            </p:nvSpPr>
            <p:spPr bwMode="auto">
              <a:xfrm>
                <a:off x="4350" y="2641"/>
                <a:ext cx="1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2989" name="Text Box 381"/>
            <p:cNvSpPr txBox="1">
              <a:spLocks noChangeArrowheads="1"/>
            </p:cNvSpPr>
            <p:nvPr/>
          </p:nvSpPr>
          <p:spPr bwMode="auto">
            <a:xfrm>
              <a:off x="1428" y="1752"/>
              <a:ext cx="273" cy="1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&amp;</a:t>
              </a:r>
              <a:endParaRPr lang="en-US" altLang="zh-CN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452990" name="Oval 382"/>
            <p:cNvSpPr>
              <a:spLocks noChangeArrowheads="1"/>
            </p:cNvSpPr>
            <p:nvPr/>
          </p:nvSpPr>
          <p:spPr bwMode="auto">
            <a:xfrm>
              <a:off x="1541" y="1888"/>
              <a:ext cx="46" cy="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2991" name="Line 383"/>
            <p:cNvSpPr>
              <a:spLocks noChangeShapeType="1"/>
            </p:cNvSpPr>
            <p:nvPr/>
          </p:nvSpPr>
          <p:spPr bwMode="auto">
            <a:xfrm>
              <a:off x="1473" y="1617"/>
              <a:ext cx="1" cy="91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92" name="Line 384"/>
            <p:cNvSpPr>
              <a:spLocks noChangeShapeType="1"/>
            </p:cNvSpPr>
            <p:nvPr/>
          </p:nvSpPr>
          <p:spPr bwMode="auto">
            <a:xfrm>
              <a:off x="1655" y="1572"/>
              <a:ext cx="0" cy="134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93" name="Oval 385"/>
            <p:cNvSpPr>
              <a:spLocks noChangeArrowheads="1"/>
            </p:cNvSpPr>
            <p:nvPr/>
          </p:nvSpPr>
          <p:spPr bwMode="auto">
            <a:xfrm>
              <a:off x="1450" y="1703"/>
              <a:ext cx="46" cy="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2994" name="Text Box 386"/>
            <p:cNvSpPr txBox="1">
              <a:spLocks noChangeArrowheads="1"/>
            </p:cNvSpPr>
            <p:nvPr/>
          </p:nvSpPr>
          <p:spPr bwMode="auto">
            <a:xfrm>
              <a:off x="1972" y="1752"/>
              <a:ext cx="273" cy="1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&amp;</a:t>
              </a:r>
              <a:endParaRPr lang="en-US" altLang="zh-CN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452995" name="Oval 387"/>
            <p:cNvSpPr>
              <a:spLocks noChangeArrowheads="1"/>
            </p:cNvSpPr>
            <p:nvPr/>
          </p:nvSpPr>
          <p:spPr bwMode="auto">
            <a:xfrm>
              <a:off x="2085" y="1888"/>
              <a:ext cx="46" cy="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2996" name="Line 388"/>
            <p:cNvSpPr>
              <a:spLocks noChangeShapeType="1"/>
            </p:cNvSpPr>
            <p:nvPr/>
          </p:nvSpPr>
          <p:spPr bwMode="auto">
            <a:xfrm>
              <a:off x="2018" y="1617"/>
              <a:ext cx="1" cy="136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97" name="Line 389"/>
            <p:cNvSpPr>
              <a:spLocks noChangeShapeType="1"/>
            </p:cNvSpPr>
            <p:nvPr/>
          </p:nvSpPr>
          <p:spPr bwMode="auto">
            <a:xfrm>
              <a:off x="2199" y="1481"/>
              <a:ext cx="1" cy="225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98" name="Line 390"/>
            <p:cNvSpPr>
              <a:spLocks noChangeShapeType="1"/>
            </p:cNvSpPr>
            <p:nvPr/>
          </p:nvSpPr>
          <p:spPr bwMode="auto">
            <a:xfrm>
              <a:off x="1655" y="1571"/>
              <a:ext cx="544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99" name="Line 391"/>
            <p:cNvSpPr>
              <a:spLocks noChangeShapeType="1"/>
            </p:cNvSpPr>
            <p:nvPr/>
          </p:nvSpPr>
          <p:spPr bwMode="auto">
            <a:xfrm>
              <a:off x="883" y="1208"/>
              <a:ext cx="908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00" name="Line 392"/>
            <p:cNvSpPr>
              <a:spLocks noChangeShapeType="1"/>
            </p:cNvSpPr>
            <p:nvPr/>
          </p:nvSpPr>
          <p:spPr bwMode="auto">
            <a:xfrm>
              <a:off x="883" y="1389"/>
              <a:ext cx="908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15" name="Line 407"/>
            <p:cNvSpPr>
              <a:spLocks noChangeShapeType="1"/>
            </p:cNvSpPr>
            <p:nvPr/>
          </p:nvSpPr>
          <p:spPr bwMode="auto">
            <a:xfrm flipV="1">
              <a:off x="1337" y="1616"/>
              <a:ext cx="0" cy="3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16" name="Line 408"/>
            <p:cNvSpPr>
              <a:spLocks noChangeShapeType="1"/>
            </p:cNvSpPr>
            <p:nvPr/>
          </p:nvSpPr>
          <p:spPr bwMode="auto">
            <a:xfrm>
              <a:off x="1337" y="1617"/>
              <a:ext cx="136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17" name="Line 409"/>
            <p:cNvSpPr>
              <a:spLocks noChangeShapeType="1"/>
            </p:cNvSpPr>
            <p:nvPr/>
          </p:nvSpPr>
          <p:spPr bwMode="auto">
            <a:xfrm flipV="1">
              <a:off x="1881" y="1616"/>
              <a:ext cx="0" cy="3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18" name="Line 410"/>
            <p:cNvSpPr>
              <a:spLocks noChangeShapeType="1"/>
            </p:cNvSpPr>
            <p:nvPr/>
          </p:nvSpPr>
          <p:spPr bwMode="auto">
            <a:xfrm>
              <a:off x="1881" y="1617"/>
              <a:ext cx="137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53022" name="Group 414"/>
            <p:cNvGrpSpPr/>
            <p:nvPr/>
          </p:nvGrpSpPr>
          <p:grpSpPr bwMode="auto">
            <a:xfrm>
              <a:off x="5284" y="1281"/>
              <a:ext cx="181" cy="181"/>
              <a:chOff x="4332" y="2614"/>
              <a:chExt cx="181" cy="181"/>
            </a:xfrm>
          </p:grpSpPr>
          <p:sp>
            <p:nvSpPr>
              <p:cNvPr id="453023" name="Text Box 415"/>
              <p:cNvSpPr txBox="1">
                <a:spLocks noChangeArrowheads="1"/>
              </p:cNvSpPr>
              <p:nvPr/>
            </p:nvSpPr>
            <p:spPr bwMode="auto">
              <a:xfrm>
                <a:off x="4332" y="2614"/>
                <a:ext cx="181" cy="18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>
                    <a:latin typeface="宋体" panose="02010600030101010101" pitchFamily="2" charset="-122"/>
                  </a:rPr>
                  <a:t>Y</a:t>
                </a:r>
                <a:r>
                  <a:rPr lang="en-US" altLang="zh-CN" sz="1800" b="1" u="none" baseline="-18000">
                    <a:latin typeface="宋体" panose="02010600030101010101" pitchFamily="2" charset="-122"/>
                  </a:rPr>
                  <a:t>3</a:t>
                </a:r>
                <a:endParaRPr lang="en-US" altLang="zh-CN" sz="1800" b="1" u="none" baseline="-18000">
                  <a:latin typeface="宋体" panose="02010600030101010101" pitchFamily="2" charset="-122"/>
                </a:endParaRPr>
              </a:p>
            </p:txBody>
          </p:sp>
          <p:sp>
            <p:nvSpPr>
              <p:cNvPr id="453024" name="Line 416"/>
              <p:cNvSpPr>
                <a:spLocks noChangeShapeType="1"/>
              </p:cNvSpPr>
              <p:nvPr/>
            </p:nvSpPr>
            <p:spPr bwMode="auto">
              <a:xfrm>
                <a:off x="4350" y="2641"/>
                <a:ext cx="1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3076" name="Oval 468"/>
            <p:cNvSpPr>
              <a:spLocks noChangeArrowheads="1"/>
            </p:cNvSpPr>
            <p:nvPr/>
          </p:nvSpPr>
          <p:spPr bwMode="auto">
            <a:xfrm>
              <a:off x="1633" y="1706"/>
              <a:ext cx="46" cy="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3077" name="Oval 469"/>
            <p:cNvSpPr>
              <a:spLocks noChangeArrowheads="1"/>
            </p:cNvSpPr>
            <p:nvPr/>
          </p:nvSpPr>
          <p:spPr bwMode="auto">
            <a:xfrm>
              <a:off x="2178" y="1706"/>
              <a:ext cx="46" cy="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</p:spPr>
        <p:txBody>
          <a:bodyPr/>
          <a:lstStyle/>
          <a:p>
            <a:fld id="{DC092676-1262-4DAD-807E-48E875256232}" type="slidenum">
              <a:rPr lang="en-US" altLang="zh-CN"/>
            </a:fld>
            <a:endParaRPr lang="en-US" altLang="zh-CN"/>
          </a:p>
        </p:txBody>
      </p:sp>
      <p:grpSp>
        <p:nvGrpSpPr>
          <p:cNvPr id="4" name="组合 3"/>
          <p:cNvGrpSpPr/>
          <p:nvPr/>
        </p:nvGrpSpPr>
        <p:grpSpPr>
          <a:xfrm>
            <a:off x="1401763" y="1987551"/>
            <a:ext cx="7129463" cy="2449561"/>
            <a:chOff x="1401763" y="1987551"/>
            <a:chExt cx="7129463" cy="2449561"/>
          </a:xfrm>
        </p:grpSpPr>
        <p:sp>
          <p:nvSpPr>
            <p:cNvPr id="452943" name="Line 335"/>
            <p:cNvSpPr>
              <a:spLocks noChangeShapeType="1"/>
            </p:cNvSpPr>
            <p:nvPr/>
          </p:nvSpPr>
          <p:spPr bwMode="auto">
            <a:xfrm flipV="1">
              <a:off x="1401763" y="2994025"/>
              <a:ext cx="6913563" cy="1588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44" name="Line 336"/>
            <p:cNvSpPr>
              <a:spLocks noChangeShapeType="1"/>
            </p:cNvSpPr>
            <p:nvPr/>
          </p:nvSpPr>
          <p:spPr bwMode="auto">
            <a:xfrm>
              <a:off x="1762126" y="4003675"/>
              <a:ext cx="5686425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45" name="Line 337"/>
            <p:cNvSpPr>
              <a:spLocks noChangeShapeType="1"/>
            </p:cNvSpPr>
            <p:nvPr/>
          </p:nvSpPr>
          <p:spPr bwMode="auto">
            <a:xfrm flipH="1" flipV="1">
              <a:off x="2120901" y="3787775"/>
              <a:ext cx="0" cy="360362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46" name="Line 338"/>
            <p:cNvSpPr>
              <a:spLocks noChangeShapeType="1"/>
            </p:cNvSpPr>
            <p:nvPr/>
          </p:nvSpPr>
          <p:spPr bwMode="auto">
            <a:xfrm flipV="1">
              <a:off x="1542418" y="4148137"/>
              <a:ext cx="6701470" cy="1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47" name="Line 339"/>
            <p:cNvSpPr>
              <a:spLocks noChangeShapeType="1"/>
            </p:cNvSpPr>
            <p:nvPr/>
          </p:nvSpPr>
          <p:spPr bwMode="auto">
            <a:xfrm flipH="1" flipV="1">
              <a:off x="2265363" y="3787775"/>
              <a:ext cx="0" cy="21590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48" name="Line 340"/>
            <p:cNvSpPr>
              <a:spLocks noChangeShapeType="1"/>
            </p:cNvSpPr>
            <p:nvPr/>
          </p:nvSpPr>
          <p:spPr bwMode="auto">
            <a:xfrm flipV="1">
              <a:off x="3128963" y="3787775"/>
              <a:ext cx="0" cy="21590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49" name="Line 341"/>
            <p:cNvSpPr>
              <a:spLocks noChangeShapeType="1"/>
            </p:cNvSpPr>
            <p:nvPr/>
          </p:nvSpPr>
          <p:spPr bwMode="auto">
            <a:xfrm flipH="1" flipV="1">
              <a:off x="4787901" y="3787775"/>
              <a:ext cx="1588" cy="360362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50" name="Line 342"/>
            <p:cNvSpPr>
              <a:spLocks noChangeShapeType="1"/>
            </p:cNvSpPr>
            <p:nvPr/>
          </p:nvSpPr>
          <p:spPr bwMode="auto">
            <a:xfrm flipH="1" flipV="1">
              <a:off x="5719763" y="3787775"/>
              <a:ext cx="1588" cy="21748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51" name="Line 343"/>
            <p:cNvSpPr>
              <a:spLocks noChangeShapeType="1"/>
            </p:cNvSpPr>
            <p:nvPr/>
          </p:nvSpPr>
          <p:spPr bwMode="auto">
            <a:xfrm flipH="1" flipV="1">
              <a:off x="8243888" y="3787775"/>
              <a:ext cx="1588" cy="360362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52" name="Line 344"/>
            <p:cNvSpPr>
              <a:spLocks noChangeShapeType="1"/>
            </p:cNvSpPr>
            <p:nvPr/>
          </p:nvSpPr>
          <p:spPr bwMode="auto">
            <a:xfrm>
              <a:off x="2266951" y="2995613"/>
              <a:ext cx="0" cy="214312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53" name="Line 345"/>
            <p:cNvSpPr>
              <a:spLocks noChangeShapeType="1"/>
            </p:cNvSpPr>
            <p:nvPr/>
          </p:nvSpPr>
          <p:spPr bwMode="auto">
            <a:xfrm>
              <a:off x="3130551" y="2995613"/>
              <a:ext cx="0" cy="214312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54" name="Line 346"/>
            <p:cNvSpPr>
              <a:spLocks noChangeShapeType="1"/>
            </p:cNvSpPr>
            <p:nvPr/>
          </p:nvSpPr>
          <p:spPr bwMode="auto">
            <a:xfrm>
              <a:off x="4067176" y="2995613"/>
              <a:ext cx="0" cy="214312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55" name="Line 347"/>
            <p:cNvSpPr>
              <a:spLocks noChangeShapeType="1"/>
            </p:cNvSpPr>
            <p:nvPr/>
          </p:nvSpPr>
          <p:spPr bwMode="auto">
            <a:xfrm>
              <a:off x="5724526" y="2995613"/>
              <a:ext cx="0" cy="21590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56" name="Line 348"/>
            <p:cNvSpPr>
              <a:spLocks noChangeShapeType="1"/>
            </p:cNvSpPr>
            <p:nvPr/>
          </p:nvSpPr>
          <p:spPr bwMode="auto">
            <a:xfrm flipH="1">
              <a:off x="6586538" y="2995613"/>
              <a:ext cx="1588" cy="21590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57" name="Line 349"/>
            <p:cNvSpPr>
              <a:spLocks noChangeShapeType="1"/>
            </p:cNvSpPr>
            <p:nvPr/>
          </p:nvSpPr>
          <p:spPr bwMode="auto">
            <a:xfrm flipH="1">
              <a:off x="7451726" y="2995613"/>
              <a:ext cx="1588" cy="21590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58" name="Line 350"/>
            <p:cNvSpPr>
              <a:spLocks noChangeShapeType="1"/>
            </p:cNvSpPr>
            <p:nvPr/>
          </p:nvSpPr>
          <p:spPr bwMode="auto">
            <a:xfrm flipH="1" flipV="1">
              <a:off x="2986088" y="3787775"/>
              <a:ext cx="0" cy="360362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59" name="Line 351"/>
            <p:cNvSpPr>
              <a:spLocks noChangeShapeType="1"/>
            </p:cNvSpPr>
            <p:nvPr/>
          </p:nvSpPr>
          <p:spPr bwMode="auto">
            <a:xfrm flipH="1" flipV="1">
              <a:off x="3994151" y="3787775"/>
              <a:ext cx="1588" cy="21748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60" name="Line 352"/>
            <p:cNvSpPr>
              <a:spLocks noChangeShapeType="1"/>
            </p:cNvSpPr>
            <p:nvPr/>
          </p:nvSpPr>
          <p:spPr bwMode="auto">
            <a:xfrm flipH="1">
              <a:off x="3922713" y="2779713"/>
              <a:ext cx="0" cy="4318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61" name="Line 353"/>
            <p:cNvSpPr>
              <a:spLocks noChangeShapeType="1"/>
            </p:cNvSpPr>
            <p:nvPr/>
          </p:nvSpPr>
          <p:spPr bwMode="auto">
            <a:xfrm>
              <a:off x="1401763" y="2779712"/>
              <a:ext cx="6769101" cy="2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62" name="Line 354"/>
            <p:cNvSpPr>
              <a:spLocks noChangeShapeType="1"/>
            </p:cNvSpPr>
            <p:nvPr/>
          </p:nvSpPr>
          <p:spPr bwMode="auto">
            <a:xfrm>
              <a:off x="1401763" y="4437112"/>
              <a:ext cx="7058669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65" name="Line 357"/>
            <p:cNvSpPr>
              <a:spLocks noChangeShapeType="1"/>
            </p:cNvSpPr>
            <p:nvPr/>
          </p:nvSpPr>
          <p:spPr bwMode="auto">
            <a:xfrm flipH="1" flipV="1">
              <a:off x="4210051" y="3789363"/>
              <a:ext cx="1588" cy="50323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66" name="Line 358"/>
            <p:cNvSpPr>
              <a:spLocks noChangeShapeType="1"/>
            </p:cNvSpPr>
            <p:nvPr/>
          </p:nvSpPr>
          <p:spPr bwMode="auto">
            <a:xfrm flipH="1" flipV="1">
              <a:off x="5003801" y="3789362"/>
              <a:ext cx="1588" cy="647699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67" name="Line 359"/>
            <p:cNvSpPr>
              <a:spLocks noChangeShapeType="1"/>
            </p:cNvSpPr>
            <p:nvPr/>
          </p:nvSpPr>
          <p:spPr bwMode="auto">
            <a:xfrm flipV="1">
              <a:off x="5940426" y="3789363"/>
              <a:ext cx="0" cy="50323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68" name="Line 360"/>
            <p:cNvSpPr>
              <a:spLocks noChangeShapeType="1"/>
            </p:cNvSpPr>
            <p:nvPr/>
          </p:nvSpPr>
          <p:spPr bwMode="auto">
            <a:xfrm flipH="1" flipV="1">
              <a:off x="8459788" y="3789362"/>
              <a:ext cx="0" cy="647749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01" name="Line 393"/>
            <p:cNvSpPr>
              <a:spLocks noChangeShapeType="1"/>
            </p:cNvSpPr>
            <p:nvPr/>
          </p:nvSpPr>
          <p:spPr bwMode="auto">
            <a:xfrm flipH="1" flipV="1">
              <a:off x="6516688" y="3787775"/>
              <a:ext cx="1588" cy="360362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02" name="Line 394"/>
            <p:cNvSpPr>
              <a:spLocks noChangeShapeType="1"/>
            </p:cNvSpPr>
            <p:nvPr/>
          </p:nvSpPr>
          <p:spPr bwMode="auto">
            <a:xfrm flipH="1" flipV="1">
              <a:off x="7448551" y="3787775"/>
              <a:ext cx="1588" cy="21748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03" name="Line 395"/>
            <p:cNvSpPr>
              <a:spLocks noChangeShapeType="1"/>
            </p:cNvSpPr>
            <p:nvPr/>
          </p:nvSpPr>
          <p:spPr bwMode="auto">
            <a:xfrm flipH="1" flipV="1">
              <a:off x="6732588" y="3789362"/>
              <a:ext cx="1588" cy="6477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04" name="Line 396"/>
            <p:cNvSpPr>
              <a:spLocks noChangeShapeType="1"/>
            </p:cNvSpPr>
            <p:nvPr/>
          </p:nvSpPr>
          <p:spPr bwMode="auto">
            <a:xfrm flipV="1">
              <a:off x="7666038" y="3789363"/>
              <a:ext cx="0" cy="50323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05" name="Line 397"/>
            <p:cNvSpPr>
              <a:spLocks noChangeShapeType="1"/>
            </p:cNvSpPr>
            <p:nvPr/>
          </p:nvSpPr>
          <p:spPr bwMode="auto">
            <a:xfrm>
              <a:off x="4859338" y="2995613"/>
              <a:ext cx="0" cy="21590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06" name="Line 398"/>
            <p:cNvSpPr>
              <a:spLocks noChangeShapeType="1"/>
            </p:cNvSpPr>
            <p:nvPr/>
          </p:nvSpPr>
          <p:spPr bwMode="auto">
            <a:xfrm>
              <a:off x="8315326" y="2995613"/>
              <a:ext cx="0" cy="21590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09" name="Line 401"/>
            <p:cNvSpPr>
              <a:spLocks noChangeShapeType="1"/>
            </p:cNvSpPr>
            <p:nvPr/>
          </p:nvSpPr>
          <p:spPr bwMode="auto">
            <a:xfrm flipH="1">
              <a:off x="4714876" y="2779713"/>
              <a:ext cx="1588" cy="42862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13" name="Line 405"/>
            <p:cNvSpPr>
              <a:spLocks noChangeShapeType="1"/>
            </p:cNvSpPr>
            <p:nvPr/>
          </p:nvSpPr>
          <p:spPr bwMode="auto">
            <a:xfrm flipH="1">
              <a:off x="6442076" y="2779713"/>
              <a:ext cx="1588" cy="42862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14" name="Line 406"/>
            <p:cNvSpPr>
              <a:spLocks noChangeShapeType="1"/>
            </p:cNvSpPr>
            <p:nvPr/>
          </p:nvSpPr>
          <p:spPr bwMode="auto">
            <a:xfrm flipH="1">
              <a:off x="5578476" y="2779713"/>
              <a:ext cx="0" cy="42862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20" name="Line 412"/>
            <p:cNvSpPr>
              <a:spLocks noChangeShapeType="1"/>
            </p:cNvSpPr>
            <p:nvPr/>
          </p:nvSpPr>
          <p:spPr bwMode="auto">
            <a:xfrm flipH="1">
              <a:off x="7307263" y="2779713"/>
              <a:ext cx="1588" cy="42862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21" name="Line 413"/>
            <p:cNvSpPr>
              <a:spLocks noChangeShapeType="1"/>
            </p:cNvSpPr>
            <p:nvPr/>
          </p:nvSpPr>
          <p:spPr bwMode="auto">
            <a:xfrm flipH="1">
              <a:off x="8169276" y="2779713"/>
              <a:ext cx="1588" cy="42862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25" name="Line 417"/>
            <p:cNvSpPr>
              <a:spLocks noChangeShapeType="1"/>
            </p:cNvSpPr>
            <p:nvPr/>
          </p:nvSpPr>
          <p:spPr bwMode="auto">
            <a:xfrm>
              <a:off x="1401763" y="3427413"/>
              <a:ext cx="360363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26" name="Line 418"/>
            <p:cNvSpPr>
              <a:spLocks noChangeShapeType="1"/>
            </p:cNvSpPr>
            <p:nvPr/>
          </p:nvSpPr>
          <p:spPr bwMode="auto">
            <a:xfrm>
              <a:off x="1762126" y="3427413"/>
              <a:ext cx="1588" cy="57785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27" name="Line 419"/>
            <p:cNvSpPr>
              <a:spLocks noChangeShapeType="1"/>
            </p:cNvSpPr>
            <p:nvPr/>
          </p:nvSpPr>
          <p:spPr bwMode="auto">
            <a:xfrm flipV="1">
              <a:off x="1401763" y="3786188"/>
              <a:ext cx="144463" cy="158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28" name="Line 420"/>
            <p:cNvSpPr>
              <a:spLocks noChangeShapeType="1"/>
            </p:cNvSpPr>
            <p:nvPr/>
          </p:nvSpPr>
          <p:spPr bwMode="auto">
            <a:xfrm>
              <a:off x="1546226" y="3786188"/>
              <a:ext cx="0" cy="36195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361"/>
            <p:cNvSpPr>
              <a:spLocks noChangeShapeType="1"/>
            </p:cNvSpPr>
            <p:nvPr/>
          </p:nvSpPr>
          <p:spPr bwMode="auto">
            <a:xfrm>
              <a:off x="8531226" y="1987551"/>
              <a:ext cx="0" cy="1223963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362"/>
            <p:cNvSpPr>
              <a:spLocks noChangeShapeType="1"/>
            </p:cNvSpPr>
            <p:nvPr/>
          </p:nvSpPr>
          <p:spPr bwMode="auto">
            <a:xfrm flipH="1">
              <a:off x="7739063" y="2636912"/>
              <a:ext cx="0" cy="57460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363"/>
            <p:cNvSpPr>
              <a:spLocks noChangeShapeType="1"/>
            </p:cNvSpPr>
            <p:nvPr/>
          </p:nvSpPr>
          <p:spPr bwMode="auto">
            <a:xfrm flipH="1">
              <a:off x="3346451" y="2708276"/>
              <a:ext cx="0" cy="503238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364"/>
            <p:cNvSpPr>
              <a:spLocks noChangeShapeType="1"/>
            </p:cNvSpPr>
            <p:nvPr/>
          </p:nvSpPr>
          <p:spPr bwMode="auto">
            <a:xfrm>
              <a:off x="2482851" y="2708276"/>
              <a:ext cx="0" cy="503238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365"/>
            <p:cNvSpPr>
              <a:spLocks noChangeShapeType="1"/>
            </p:cNvSpPr>
            <p:nvPr/>
          </p:nvSpPr>
          <p:spPr bwMode="auto">
            <a:xfrm>
              <a:off x="4283076" y="2636912"/>
              <a:ext cx="0" cy="57460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Line 399"/>
            <p:cNvSpPr>
              <a:spLocks noChangeShapeType="1"/>
            </p:cNvSpPr>
            <p:nvPr/>
          </p:nvSpPr>
          <p:spPr bwMode="auto">
            <a:xfrm>
              <a:off x="4283076" y="2636912"/>
              <a:ext cx="792163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400"/>
            <p:cNvSpPr>
              <a:spLocks noChangeShapeType="1"/>
            </p:cNvSpPr>
            <p:nvPr/>
          </p:nvSpPr>
          <p:spPr bwMode="auto">
            <a:xfrm>
              <a:off x="5075238" y="1987551"/>
              <a:ext cx="0" cy="1222375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402"/>
            <p:cNvSpPr>
              <a:spLocks noChangeShapeType="1"/>
            </p:cNvSpPr>
            <p:nvPr/>
          </p:nvSpPr>
          <p:spPr bwMode="auto">
            <a:xfrm>
              <a:off x="6011863" y="2635250"/>
              <a:ext cx="0" cy="576263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403"/>
            <p:cNvSpPr>
              <a:spLocks noChangeShapeType="1"/>
            </p:cNvSpPr>
            <p:nvPr/>
          </p:nvSpPr>
          <p:spPr bwMode="auto">
            <a:xfrm flipV="1">
              <a:off x="6011863" y="2635324"/>
              <a:ext cx="719138" cy="1588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404"/>
            <p:cNvSpPr>
              <a:spLocks noChangeShapeType="1"/>
            </p:cNvSpPr>
            <p:nvPr/>
          </p:nvSpPr>
          <p:spPr bwMode="auto">
            <a:xfrm>
              <a:off x="6731001" y="1987551"/>
              <a:ext cx="0" cy="1222375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411"/>
            <p:cNvSpPr>
              <a:spLocks noChangeShapeType="1"/>
            </p:cNvSpPr>
            <p:nvPr/>
          </p:nvSpPr>
          <p:spPr bwMode="auto">
            <a:xfrm flipV="1">
              <a:off x="7739063" y="2635324"/>
              <a:ext cx="792163" cy="1588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357"/>
            <p:cNvSpPr>
              <a:spLocks noChangeShapeType="1"/>
            </p:cNvSpPr>
            <p:nvPr/>
          </p:nvSpPr>
          <p:spPr bwMode="auto">
            <a:xfrm flipH="1" flipV="1">
              <a:off x="4217533" y="4293095"/>
              <a:ext cx="787855" cy="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Line 357"/>
            <p:cNvSpPr>
              <a:spLocks noChangeShapeType="1"/>
            </p:cNvSpPr>
            <p:nvPr/>
          </p:nvSpPr>
          <p:spPr bwMode="auto">
            <a:xfrm flipH="1" flipV="1">
              <a:off x="5944385" y="4293095"/>
              <a:ext cx="787855" cy="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Line 357"/>
            <p:cNvSpPr>
              <a:spLocks noChangeShapeType="1"/>
            </p:cNvSpPr>
            <p:nvPr/>
          </p:nvSpPr>
          <p:spPr bwMode="auto">
            <a:xfrm flipH="1" flipV="1">
              <a:off x="7672577" y="4293096"/>
              <a:ext cx="787855" cy="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546226" y="5589240"/>
            <a:ext cx="5227637" cy="819090"/>
            <a:chOff x="1546226" y="5274206"/>
            <a:chExt cx="5227637" cy="819090"/>
          </a:xfrm>
        </p:grpSpPr>
        <p:sp>
          <p:nvSpPr>
            <p:cNvPr id="146" name="Text Box 4"/>
            <p:cNvSpPr txBox="1">
              <a:spLocks noChangeArrowheads="1"/>
            </p:cNvSpPr>
            <p:nvPr/>
          </p:nvSpPr>
          <p:spPr bwMode="auto">
            <a:xfrm>
              <a:off x="1546226" y="5274206"/>
              <a:ext cx="5227637" cy="81909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36000" rIns="18000" bIns="10800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sz="2000" b="1" u="none" dirty="0" smtClean="0">
                  <a:latin typeface="+mn-ea"/>
                  <a:ea typeface="+mn-ea"/>
                </a:rPr>
                <a:t>ROM ― </a:t>
              </a:r>
              <a:r>
                <a:rPr lang="zh-CN" altLang="en-US" sz="2000" b="1" u="none" dirty="0" smtClean="0">
                  <a:latin typeface="+mn-ea"/>
                  <a:ea typeface="+mn-ea"/>
                </a:rPr>
                <a:t>第</a:t>
              </a:r>
              <a:r>
                <a:rPr lang="en-US" altLang="zh-CN" sz="2000" b="1" u="none" dirty="0" smtClean="0">
                  <a:latin typeface="+mn-ea"/>
                  <a:ea typeface="+mn-ea"/>
                </a:rPr>
                <a:t>1</a:t>
              </a:r>
              <a:r>
                <a:rPr lang="zh-CN" altLang="en-US" sz="2000" b="1" u="none" dirty="0" smtClean="0">
                  <a:latin typeface="+mn-ea"/>
                  <a:ea typeface="+mn-ea"/>
                </a:rPr>
                <a:t>片</a:t>
              </a:r>
              <a:r>
                <a:rPr lang="en-US" altLang="zh-CN" sz="2000" b="1" u="none" dirty="0" smtClean="0">
                  <a:latin typeface="+mn-ea"/>
                  <a:ea typeface="+mn-ea"/>
                </a:rPr>
                <a:t>CS</a:t>
              </a:r>
              <a:r>
                <a:rPr lang="zh-CN" altLang="en-US" sz="2000" b="1" u="none" dirty="0" smtClean="0">
                  <a:latin typeface="+mn-ea"/>
                </a:rPr>
                <a:t>＝</a:t>
              </a:r>
              <a:r>
                <a:rPr lang="en-US" altLang="zh-CN" sz="2000" b="1" u="none" dirty="0" smtClean="0">
                  <a:latin typeface="+mn-ea"/>
                  <a:ea typeface="+mn-ea"/>
                </a:rPr>
                <a:t>Y</a:t>
              </a:r>
              <a:r>
                <a:rPr lang="en-US" altLang="zh-CN" sz="2000" b="1" u="none" baseline="-18000" dirty="0" smtClean="0">
                  <a:latin typeface="+mn-ea"/>
                  <a:ea typeface="+mn-ea"/>
                </a:rPr>
                <a:t>0</a:t>
              </a:r>
              <a:r>
                <a:rPr lang="zh-CN" altLang="en-US" sz="2000" b="1" u="none" dirty="0" smtClean="0">
                  <a:latin typeface="+mn-ea"/>
                  <a:ea typeface="+mn-ea"/>
                </a:rPr>
                <a:t>，第</a:t>
              </a:r>
              <a:r>
                <a:rPr lang="en-US" altLang="zh-CN" sz="2000" b="1" u="none" dirty="0" smtClean="0">
                  <a:latin typeface="+mn-ea"/>
                  <a:ea typeface="+mn-ea"/>
                </a:rPr>
                <a:t>2</a:t>
              </a:r>
              <a:r>
                <a:rPr lang="zh-CN" altLang="en-US" sz="2000" b="1" u="none" dirty="0" smtClean="0">
                  <a:latin typeface="+mn-ea"/>
                  <a:ea typeface="+mn-ea"/>
                </a:rPr>
                <a:t>片</a:t>
              </a:r>
              <a:r>
                <a:rPr lang="en-US" altLang="zh-CN" sz="2000" b="1" u="none" dirty="0" smtClean="0">
                  <a:latin typeface="+mn-ea"/>
                </a:rPr>
                <a:t>CS</a:t>
              </a:r>
              <a:r>
                <a:rPr lang="zh-CN" altLang="en-US" sz="2000" b="1" u="none" dirty="0" smtClean="0">
                  <a:latin typeface="+mn-ea"/>
                </a:rPr>
                <a:t>＝</a:t>
              </a:r>
              <a:r>
                <a:rPr lang="en-US" altLang="zh-CN" sz="2000" b="1" u="none" dirty="0" smtClean="0">
                  <a:latin typeface="+mn-ea"/>
                  <a:ea typeface="+mn-ea"/>
                </a:rPr>
                <a:t>Y</a:t>
              </a:r>
              <a:r>
                <a:rPr lang="en-US" altLang="zh-CN" sz="2000" b="1" u="none" baseline="-18000" dirty="0" smtClean="0">
                  <a:latin typeface="+mn-ea"/>
                  <a:ea typeface="+mn-ea"/>
                </a:rPr>
                <a:t>1</a:t>
              </a:r>
              <a:endParaRPr lang="en-US" altLang="zh-CN" sz="2000" b="1" u="none" baseline="-18000" dirty="0" smtClean="0">
                <a:latin typeface="+mn-ea"/>
                <a:ea typeface="+mn-ea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2000" b="1" u="none" dirty="0" smtClean="0">
                  <a:latin typeface="+mn-ea"/>
                  <a:ea typeface="+mn-ea"/>
                </a:rPr>
                <a:t>SRAM― </a:t>
              </a:r>
              <a:r>
                <a:rPr lang="zh-CN" altLang="en-US" sz="2000" b="1" u="none" dirty="0" smtClean="0">
                  <a:latin typeface="+mn-ea"/>
                  <a:ea typeface="+mn-ea"/>
                </a:rPr>
                <a:t>第</a:t>
              </a:r>
              <a:r>
                <a:rPr lang="en-US" altLang="zh-CN" sz="2000" b="1" u="none" dirty="0" smtClean="0">
                  <a:latin typeface="+mn-ea"/>
                  <a:ea typeface="+mn-ea"/>
                </a:rPr>
                <a:t>1</a:t>
              </a:r>
              <a:r>
                <a:rPr lang="zh-CN" altLang="en-US" sz="2000" b="1" u="none" dirty="0" smtClean="0">
                  <a:latin typeface="+mn-ea"/>
                  <a:ea typeface="+mn-ea"/>
                </a:rPr>
                <a:t>组</a:t>
              </a:r>
              <a:r>
                <a:rPr lang="en-US" altLang="zh-CN" sz="2000" b="1" u="none" dirty="0" smtClean="0">
                  <a:latin typeface="+mn-ea"/>
                  <a:ea typeface="+mn-ea"/>
                </a:rPr>
                <a:t>CS</a:t>
              </a:r>
              <a:r>
                <a:rPr lang="zh-CN" altLang="en-US" sz="2000" b="1" u="none" dirty="0" smtClean="0">
                  <a:latin typeface="+mn-ea"/>
                  <a:ea typeface="+mn-ea"/>
                </a:rPr>
                <a:t>＝</a:t>
              </a:r>
              <a:r>
                <a:rPr lang="en-US" altLang="zh-CN" sz="2000" b="1" u="none" dirty="0" smtClean="0">
                  <a:latin typeface="+mn-ea"/>
                  <a:ea typeface="+mn-ea"/>
                </a:rPr>
                <a:t>Y</a:t>
              </a:r>
              <a:r>
                <a:rPr lang="en-US" altLang="zh-CN" sz="2000" b="1" u="none" baseline="-18000" dirty="0" smtClean="0">
                  <a:latin typeface="+mn-ea"/>
                  <a:ea typeface="+mn-ea"/>
                </a:rPr>
                <a:t>2</a:t>
              </a:r>
              <a:r>
                <a:rPr lang="en-US" altLang="zh-CN" sz="2000" b="1" u="none" dirty="0" smtClean="0">
                  <a:latin typeface="+mn-ea"/>
                  <a:ea typeface="+mn-ea"/>
                  <a:sym typeface="Symbol" panose="05050102010706020507"/>
                </a:rPr>
                <a:t></a:t>
              </a:r>
              <a:r>
                <a:rPr lang="en-US" altLang="zh-CN" sz="2000" b="1" u="none" dirty="0" smtClean="0">
                  <a:latin typeface="+mn-ea"/>
                  <a:ea typeface="+mn-ea"/>
                </a:rPr>
                <a:t>Y</a:t>
              </a:r>
              <a:r>
                <a:rPr lang="en-US" altLang="zh-CN" sz="2000" b="1" u="none" baseline="-18000" dirty="0" smtClean="0">
                  <a:latin typeface="+mn-ea"/>
                  <a:ea typeface="+mn-ea"/>
                </a:rPr>
                <a:t>3</a:t>
              </a:r>
              <a:r>
                <a:rPr lang="zh-CN" altLang="en-US" sz="2000" b="1" u="none" dirty="0" smtClean="0">
                  <a:latin typeface="+mn-ea"/>
                </a:rPr>
                <a:t>，其余类似</a:t>
              </a:r>
              <a:endParaRPr lang="en-US" altLang="zh-CN" sz="2000" b="1" u="none" dirty="0">
                <a:latin typeface="+mn-ea"/>
                <a:ea typeface="+mn-ea"/>
              </a:endParaRPr>
            </a:p>
          </p:txBody>
        </p:sp>
        <p:sp>
          <p:nvSpPr>
            <p:cNvPr id="142" name="Line 325"/>
            <p:cNvSpPr>
              <a:spLocks noChangeShapeType="1"/>
            </p:cNvSpPr>
            <p:nvPr/>
          </p:nvSpPr>
          <p:spPr bwMode="auto">
            <a:xfrm>
              <a:off x="3615656" y="5786966"/>
              <a:ext cx="19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325"/>
            <p:cNvSpPr>
              <a:spLocks noChangeShapeType="1"/>
            </p:cNvSpPr>
            <p:nvPr/>
          </p:nvSpPr>
          <p:spPr bwMode="auto">
            <a:xfrm>
              <a:off x="4026619" y="5786966"/>
              <a:ext cx="19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Line 325"/>
            <p:cNvSpPr>
              <a:spLocks noChangeShapeType="1"/>
            </p:cNvSpPr>
            <p:nvPr/>
          </p:nvSpPr>
          <p:spPr bwMode="auto">
            <a:xfrm>
              <a:off x="3608030" y="5732966"/>
              <a:ext cx="63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325"/>
            <p:cNvSpPr>
              <a:spLocks noChangeShapeType="1"/>
            </p:cNvSpPr>
            <p:nvPr/>
          </p:nvSpPr>
          <p:spPr bwMode="auto">
            <a:xfrm>
              <a:off x="3127462" y="5768966"/>
              <a:ext cx="23749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Line 325"/>
            <p:cNvSpPr>
              <a:spLocks noChangeShapeType="1"/>
            </p:cNvSpPr>
            <p:nvPr/>
          </p:nvSpPr>
          <p:spPr bwMode="auto">
            <a:xfrm>
              <a:off x="3600000" y="5408966"/>
              <a:ext cx="19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Line 325"/>
            <p:cNvSpPr>
              <a:spLocks noChangeShapeType="1"/>
            </p:cNvSpPr>
            <p:nvPr/>
          </p:nvSpPr>
          <p:spPr bwMode="auto">
            <a:xfrm>
              <a:off x="3125534" y="5408966"/>
              <a:ext cx="23749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325"/>
            <p:cNvSpPr>
              <a:spLocks noChangeShapeType="1"/>
            </p:cNvSpPr>
            <p:nvPr/>
          </p:nvSpPr>
          <p:spPr bwMode="auto">
            <a:xfrm>
              <a:off x="5220000" y="5408966"/>
              <a:ext cx="19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325"/>
            <p:cNvSpPr>
              <a:spLocks noChangeShapeType="1"/>
            </p:cNvSpPr>
            <p:nvPr/>
          </p:nvSpPr>
          <p:spPr bwMode="auto">
            <a:xfrm>
              <a:off x="4716000" y="5408966"/>
              <a:ext cx="23749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7164288" y="4653136"/>
            <a:ext cx="1368152" cy="1279121"/>
            <a:chOff x="2123728" y="1933161"/>
            <a:chExt cx="1368152" cy="1279121"/>
          </a:xfrm>
        </p:grpSpPr>
        <p:grpSp>
          <p:nvGrpSpPr>
            <p:cNvPr id="158" name="Group 371"/>
            <p:cNvGrpSpPr/>
            <p:nvPr/>
          </p:nvGrpSpPr>
          <p:grpSpPr bwMode="auto">
            <a:xfrm>
              <a:off x="2529255" y="1933161"/>
              <a:ext cx="287338" cy="287338"/>
              <a:chOff x="4332" y="2614"/>
              <a:chExt cx="181" cy="181"/>
            </a:xfrm>
          </p:grpSpPr>
          <p:sp>
            <p:nvSpPr>
              <p:cNvPr id="180" name="Text Box 372"/>
              <p:cNvSpPr txBox="1">
                <a:spLocks noChangeArrowheads="1"/>
              </p:cNvSpPr>
              <p:nvPr/>
            </p:nvSpPr>
            <p:spPr bwMode="auto">
              <a:xfrm>
                <a:off x="4332" y="2614"/>
                <a:ext cx="181" cy="18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600" b="1" u="none" dirty="0">
                    <a:latin typeface="宋体" panose="02010600030101010101" pitchFamily="2" charset="-122"/>
                  </a:rPr>
                  <a:t>Y</a:t>
                </a:r>
                <a:r>
                  <a:rPr lang="en-US" altLang="zh-CN" sz="1600" b="1" u="none" baseline="-18000" dirty="0">
                    <a:latin typeface="宋体" panose="02010600030101010101" pitchFamily="2" charset="-122"/>
                  </a:rPr>
                  <a:t>0</a:t>
                </a:r>
                <a:endParaRPr lang="en-US" altLang="zh-CN" sz="1600" b="1" u="none" baseline="-18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81" name="Line 373"/>
              <p:cNvSpPr>
                <a:spLocks noChangeShapeType="1"/>
              </p:cNvSpPr>
              <p:nvPr/>
            </p:nvSpPr>
            <p:spPr bwMode="auto">
              <a:xfrm>
                <a:off x="4350" y="2641"/>
                <a:ext cx="1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9" name="Text Box 381"/>
            <p:cNvSpPr txBox="1">
              <a:spLocks noChangeArrowheads="1"/>
            </p:cNvSpPr>
            <p:nvPr/>
          </p:nvSpPr>
          <p:spPr bwMode="auto">
            <a:xfrm>
              <a:off x="2195736" y="2419351"/>
              <a:ext cx="504603" cy="215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&amp;</a:t>
              </a:r>
              <a:endParaRPr lang="en-US" altLang="zh-CN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160" name="Oval 382"/>
            <p:cNvSpPr>
              <a:spLocks noChangeArrowheads="1"/>
            </p:cNvSpPr>
            <p:nvPr/>
          </p:nvSpPr>
          <p:spPr bwMode="auto">
            <a:xfrm>
              <a:off x="2446338" y="2635251"/>
              <a:ext cx="73025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" name="Line 383"/>
            <p:cNvSpPr>
              <a:spLocks noChangeShapeType="1"/>
            </p:cNvSpPr>
            <p:nvPr/>
          </p:nvSpPr>
          <p:spPr bwMode="auto">
            <a:xfrm>
              <a:off x="2267744" y="2205038"/>
              <a:ext cx="1588" cy="1444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Line 384"/>
            <p:cNvSpPr>
              <a:spLocks noChangeShapeType="1"/>
            </p:cNvSpPr>
            <p:nvPr/>
          </p:nvSpPr>
          <p:spPr bwMode="auto">
            <a:xfrm>
              <a:off x="2627313" y="2205038"/>
              <a:ext cx="0" cy="141288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Oval 385"/>
            <p:cNvSpPr>
              <a:spLocks noChangeArrowheads="1"/>
            </p:cNvSpPr>
            <p:nvPr/>
          </p:nvSpPr>
          <p:spPr bwMode="auto">
            <a:xfrm>
              <a:off x="2235086" y="2341563"/>
              <a:ext cx="73025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" name="Text Box 386"/>
            <p:cNvSpPr txBox="1">
              <a:spLocks noChangeArrowheads="1"/>
            </p:cNvSpPr>
            <p:nvPr/>
          </p:nvSpPr>
          <p:spPr bwMode="auto">
            <a:xfrm>
              <a:off x="2989288" y="2419351"/>
              <a:ext cx="254001" cy="215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5" name="Oval 387"/>
            <p:cNvSpPr>
              <a:spLocks noChangeArrowheads="1"/>
            </p:cNvSpPr>
            <p:nvPr/>
          </p:nvSpPr>
          <p:spPr bwMode="auto">
            <a:xfrm>
              <a:off x="3095378" y="2635251"/>
              <a:ext cx="73025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" name="Line 388"/>
            <p:cNvSpPr>
              <a:spLocks noChangeShapeType="1"/>
            </p:cNvSpPr>
            <p:nvPr/>
          </p:nvSpPr>
          <p:spPr bwMode="auto">
            <a:xfrm>
              <a:off x="3131716" y="2277268"/>
              <a:ext cx="1588" cy="143669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Line 409"/>
            <p:cNvSpPr>
              <a:spLocks noChangeShapeType="1"/>
            </p:cNvSpPr>
            <p:nvPr/>
          </p:nvSpPr>
          <p:spPr bwMode="auto">
            <a:xfrm flipV="1">
              <a:off x="2845272" y="2277267"/>
              <a:ext cx="0" cy="50366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none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Line 410"/>
            <p:cNvSpPr>
              <a:spLocks noChangeShapeType="1"/>
            </p:cNvSpPr>
            <p:nvPr/>
          </p:nvSpPr>
          <p:spPr bwMode="auto">
            <a:xfrm>
              <a:off x="2843808" y="2276872"/>
              <a:ext cx="288702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Oval 468"/>
            <p:cNvSpPr>
              <a:spLocks noChangeArrowheads="1"/>
            </p:cNvSpPr>
            <p:nvPr/>
          </p:nvSpPr>
          <p:spPr bwMode="auto">
            <a:xfrm>
              <a:off x="2592388" y="2346326"/>
              <a:ext cx="73025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0" name="Line 409"/>
            <p:cNvSpPr>
              <a:spLocks noChangeShapeType="1"/>
            </p:cNvSpPr>
            <p:nvPr/>
          </p:nvSpPr>
          <p:spPr bwMode="auto">
            <a:xfrm>
              <a:off x="2482851" y="2780928"/>
              <a:ext cx="362422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Line 364"/>
            <p:cNvSpPr>
              <a:spLocks noChangeShapeType="1"/>
            </p:cNvSpPr>
            <p:nvPr/>
          </p:nvSpPr>
          <p:spPr bwMode="auto">
            <a:xfrm>
              <a:off x="2482851" y="2708276"/>
              <a:ext cx="794" cy="251619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Line 364"/>
            <p:cNvSpPr>
              <a:spLocks noChangeShapeType="1"/>
            </p:cNvSpPr>
            <p:nvPr/>
          </p:nvSpPr>
          <p:spPr bwMode="auto">
            <a:xfrm flipH="1">
              <a:off x="3131716" y="2708920"/>
              <a:ext cx="124" cy="250975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Text Box 322"/>
            <p:cNvSpPr txBox="1">
              <a:spLocks noChangeArrowheads="1"/>
            </p:cNvSpPr>
            <p:nvPr/>
          </p:nvSpPr>
          <p:spPr bwMode="auto">
            <a:xfrm>
              <a:off x="2195736" y="1988964"/>
              <a:ext cx="323627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11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grpSp>
          <p:nvGrpSpPr>
            <p:cNvPr id="174" name="Group 371"/>
            <p:cNvGrpSpPr/>
            <p:nvPr/>
          </p:nvGrpSpPr>
          <p:grpSpPr bwMode="auto">
            <a:xfrm>
              <a:off x="2123728" y="2924944"/>
              <a:ext cx="620714" cy="287338"/>
              <a:chOff x="4332" y="2614"/>
              <a:chExt cx="391" cy="181"/>
            </a:xfrm>
          </p:grpSpPr>
          <p:sp>
            <p:nvSpPr>
              <p:cNvPr id="178" name="Text Box 372"/>
              <p:cNvSpPr txBox="1">
                <a:spLocks noChangeArrowheads="1"/>
              </p:cNvSpPr>
              <p:nvPr/>
            </p:nvSpPr>
            <p:spPr bwMode="auto">
              <a:xfrm>
                <a:off x="4332" y="2614"/>
                <a:ext cx="391" cy="18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CS</a:t>
                </a:r>
                <a:r>
                  <a:rPr lang="en-US" altLang="zh-CN" sz="1600" b="1" u="none" baseline="-18000" dirty="0" smtClean="0">
                    <a:latin typeface="宋体" panose="02010600030101010101" pitchFamily="2" charset="-122"/>
                  </a:rPr>
                  <a:t>0#ROM</a:t>
                </a:r>
                <a:endParaRPr lang="en-US" altLang="zh-CN" sz="1600" b="1" u="none" baseline="-18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79" name="Line 373"/>
              <p:cNvSpPr>
                <a:spLocks noChangeShapeType="1"/>
              </p:cNvSpPr>
              <p:nvPr/>
            </p:nvSpPr>
            <p:spPr bwMode="auto">
              <a:xfrm>
                <a:off x="4350" y="2645"/>
                <a:ext cx="345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 sz="1600"/>
              </a:p>
            </p:txBody>
          </p:sp>
        </p:grpSp>
        <p:grpSp>
          <p:nvGrpSpPr>
            <p:cNvPr id="175" name="Group 371"/>
            <p:cNvGrpSpPr/>
            <p:nvPr/>
          </p:nvGrpSpPr>
          <p:grpSpPr bwMode="auto">
            <a:xfrm>
              <a:off x="2871166" y="2924944"/>
              <a:ext cx="620714" cy="287338"/>
              <a:chOff x="4332" y="2614"/>
              <a:chExt cx="391" cy="181"/>
            </a:xfrm>
          </p:grpSpPr>
          <p:sp>
            <p:nvSpPr>
              <p:cNvPr id="176" name="Text Box 372"/>
              <p:cNvSpPr txBox="1">
                <a:spLocks noChangeArrowheads="1"/>
              </p:cNvSpPr>
              <p:nvPr/>
            </p:nvSpPr>
            <p:spPr bwMode="auto">
              <a:xfrm>
                <a:off x="4332" y="2614"/>
                <a:ext cx="391" cy="18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CS</a:t>
                </a:r>
                <a:r>
                  <a:rPr lang="en-US" altLang="zh-CN" sz="1600" b="1" u="none" baseline="-18000" dirty="0" smtClean="0">
                    <a:latin typeface="宋体" panose="02010600030101010101" pitchFamily="2" charset="-122"/>
                  </a:rPr>
                  <a:t>1#ROM</a:t>
                </a:r>
                <a:endParaRPr lang="en-US" altLang="zh-CN" sz="1600" b="1" u="none" baseline="-18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77" name="Line 373"/>
              <p:cNvSpPr>
                <a:spLocks noChangeShapeType="1"/>
              </p:cNvSpPr>
              <p:nvPr/>
            </p:nvSpPr>
            <p:spPr bwMode="auto">
              <a:xfrm>
                <a:off x="4350" y="2645"/>
                <a:ext cx="345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 sz="1600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971601" y="4706997"/>
            <a:ext cx="4787850" cy="369332"/>
            <a:chOff x="1187624" y="4706997"/>
            <a:chExt cx="4787850" cy="369332"/>
          </a:xfrm>
        </p:grpSpPr>
        <p:sp>
          <p:nvSpPr>
            <p:cNvPr id="156" name="Text Box 77"/>
            <p:cNvSpPr txBox="1">
              <a:spLocks noChangeArrowheads="1"/>
            </p:cNvSpPr>
            <p:nvPr/>
          </p:nvSpPr>
          <p:spPr bwMode="auto">
            <a:xfrm>
              <a:off x="1187624" y="4706997"/>
              <a:ext cx="4787850" cy="369332"/>
            </a:xfrm>
            <a:prstGeom prst="rect">
              <a:avLst/>
            </a:prstGeom>
            <a:noFill/>
            <a:ln w="12700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wrap="square" anchor="ctr" anchorCtr="0">
              <a:spAutoFit/>
            </a:bodyPr>
            <a:lstStyle/>
            <a:p>
              <a:r>
                <a:rPr lang="zh-CN" altLang="en-US" sz="18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思考①：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ROM</a:t>
              </a:r>
              <a:r>
                <a:rPr lang="en-US" altLang="zh-CN" sz="1800" b="1" u="none" baseline="-250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CS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线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的逻辑可以如右图吗</a:t>
              </a:r>
              <a:r>
                <a:rPr lang="zh-CN" altLang="en-US" sz="1800" b="1" u="none" dirty="0" smtClean="0">
                  <a:latin typeface="+mn-ea"/>
                </a:rPr>
                <a:t>？</a:t>
              </a:r>
              <a:endParaRPr lang="en-US" altLang="zh-CN" sz="1800" b="1" u="none" dirty="0">
                <a:latin typeface="+mn-ea"/>
              </a:endParaRPr>
            </a:p>
          </p:txBody>
        </p:sp>
        <p:sp>
          <p:nvSpPr>
            <p:cNvPr id="182" name="Line 325"/>
            <p:cNvSpPr>
              <a:spLocks noChangeShapeType="1"/>
            </p:cNvSpPr>
            <p:nvPr/>
          </p:nvSpPr>
          <p:spPr bwMode="auto">
            <a:xfrm>
              <a:off x="2604561" y="4762388"/>
              <a:ext cx="235139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 sz="200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971600" y="5204519"/>
            <a:ext cx="5902276" cy="369332"/>
            <a:chOff x="971600" y="5204519"/>
            <a:chExt cx="5902276" cy="369332"/>
          </a:xfrm>
        </p:grpSpPr>
        <p:sp>
          <p:nvSpPr>
            <p:cNvPr id="151" name="Text Box 77"/>
            <p:cNvSpPr txBox="1">
              <a:spLocks noChangeArrowheads="1"/>
            </p:cNvSpPr>
            <p:nvPr/>
          </p:nvSpPr>
          <p:spPr bwMode="auto">
            <a:xfrm>
              <a:off x="971600" y="5204519"/>
              <a:ext cx="5902276" cy="369332"/>
            </a:xfrm>
            <a:prstGeom prst="rect">
              <a:avLst/>
            </a:prstGeom>
            <a:noFill/>
            <a:ln w="12700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wrap="square" anchor="ctr" anchorCtr="0">
              <a:spAutoFit/>
            </a:bodyPr>
            <a:lstStyle/>
            <a:p>
              <a:r>
                <a:rPr lang="zh-CN" altLang="en-US" sz="18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思考②：</a:t>
              </a:r>
              <a:r>
                <a:rPr lang="zh-CN" altLang="en-US" sz="1800" b="1" u="none" dirty="0" smtClean="0">
                  <a:latin typeface="+mn-ea"/>
                </a:rPr>
                <a:t>用</a:t>
              </a:r>
              <a:r>
                <a:rPr lang="en-US" altLang="zh-CN" sz="1800" b="1" u="none" dirty="0">
                  <a:latin typeface="+mn-ea"/>
                </a:rPr>
                <a:t>3:8</a:t>
              </a:r>
              <a:r>
                <a:rPr lang="zh-CN" altLang="en-US" sz="1800" b="1" u="none" dirty="0">
                  <a:latin typeface="+mn-ea"/>
                </a:rPr>
                <a:t>译码器实现时</a:t>
              </a:r>
              <a:r>
                <a:rPr lang="zh-CN" altLang="en-US" sz="1800" b="1" u="none" dirty="0" smtClean="0">
                  <a:latin typeface="+mn-ea"/>
                </a:rPr>
                <a:t>，各芯片的</a:t>
              </a:r>
              <a:r>
                <a:rPr lang="en-US" altLang="zh-CN" sz="1800" b="1" u="none" dirty="0" smtClean="0">
                  <a:latin typeface="+mn-ea"/>
                </a:rPr>
                <a:t>CS</a:t>
              </a:r>
              <a:r>
                <a:rPr lang="zh-CN" altLang="en-US" sz="1800" b="1" u="none" dirty="0" smtClean="0">
                  <a:latin typeface="+mn-ea"/>
                </a:rPr>
                <a:t>线如何</a:t>
              </a:r>
              <a:r>
                <a:rPr lang="zh-CN" altLang="en-US" sz="1800" b="1" u="none" dirty="0">
                  <a:latin typeface="+mn-ea"/>
                </a:rPr>
                <a:t>连接？</a:t>
              </a:r>
              <a:endParaRPr lang="en-US" altLang="zh-CN" sz="1800" b="1" u="none" dirty="0">
                <a:latin typeface="+mn-ea"/>
              </a:endParaRPr>
            </a:p>
          </p:txBody>
        </p:sp>
        <p:sp>
          <p:nvSpPr>
            <p:cNvPr id="183" name="Line 325"/>
            <p:cNvSpPr>
              <a:spLocks noChangeShapeType="1"/>
            </p:cNvSpPr>
            <p:nvPr/>
          </p:nvSpPr>
          <p:spPr bwMode="auto">
            <a:xfrm>
              <a:off x="5098443" y="5276352"/>
              <a:ext cx="23749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 sz="2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5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762B-1201-4EBA-A120-C0B41B94483E}" type="slidenum">
              <a:rPr lang="en-US" altLang="zh-CN"/>
            </a:fld>
            <a:endParaRPr lang="en-US" altLang="zh-CN"/>
          </a:p>
        </p:txBody>
      </p:sp>
      <p:sp>
        <p:nvSpPr>
          <p:cNvPr id="454660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857108" cy="490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latin typeface="+mn-ea"/>
                <a:ea typeface="+mn-ea"/>
              </a:rPr>
              <a:t>   ⑷</a:t>
            </a:r>
            <a:r>
              <a:rPr lang="zh-CN" altLang="en-US" b="1" u="none" dirty="0">
                <a:latin typeface="+mn-ea"/>
                <a:ea typeface="+mn-ea"/>
              </a:rPr>
              <a:t>主存</a:t>
            </a:r>
            <a:r>
              <a:rPr lang="zh-CN" altLang="en-US" b="1" u="none" dirty="0">
                <a:solidFill>
                  <a:schemeClr val="accent2"/>
                </a:solidFill>
                <a:latin typeface="+mn-ea"/>
                <a:ea typeface="+mn-ea"/>
              </a:rPr>
              <a:t>与</a:t>
            </a:r>
            <a:r>
              <a:rPr lang="en-US" altLang="zh-CN" b="1" u="none" dirty="0">
                <a:solidFill>
                  <a:schemeClr val="accent2"/>
                </a:solidFill>
                <a:latin typeface="+mn-ea"/>
                <a:ea typeface="+mn-ea"/>
              </a:rPr>
              <a:t>CPU</a:t>
            </a:r>
            <a:r>
              <a:rPr lang="zh-CN" altLang="en-US" b="1" u="none" dirty="0">
                <a:solidFill>
                  <a:schemeClr val="accent2"/>
                </a:solidFill>
                <a:latin typeface="+mn-ea"/>
                <a:ea typeface="+mn-ea"/>
              </a:rPr>
              <a:t>的</a:t>
            </a:r>
            <a:r>
              <a:rPr lang="zh-CN" altLang="en-US" b="1" u="none" dirty="0" smtClean="0">
                <a:solidFill>
                  <a:schemeClr val="accent2"/>
                </a:solidFill>
                <a:latin typeface="+mn-ea"/>
                <a:ea typeface="+mn-ea"/>
              </a:rPr>
              <a:t>连接图</a:t>
            </a:r>
            <a:r>
              <a:rPr lang="en-US" altLang="zh-CN" b="1" u="none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b="1" u="none" dirty="0" smtClean="0">
                <a:latin typeface="+mn-ea"/>
                <a:ea typeface="+mn-ea"/>
              </a:rPr>
              <a:t>假设主存地址从</a:t>
            </a:r>
            <a:r>
              <a:rPr lang="en-US" altLang="zh-CN" b="1" u="none" dirty="0" smtClean="0">
                <a:latin typeface="+mn-ea"/>
                <a:ea typeface="+mn-ea"/>
              </a:rPr>
              <a:t>0</a:t>
            </a:r>
            <a:r>
              <a:rPr lang="zh-CN" altLang="en-US" b="1" u="none" dirty="0" smtClean="0">
                <a:latin typeface="+mn-ea"/>
                <a:ea typeface="+mn-ea"/>
              </a:rPr>
              <a:t>开始</a:t>
            </a:r>
            <a:endParaRPr lang="zh-CN" altLang="en-US" b="1" u="none" dirty="0">
              <a:latin typeface="+mn-ea"/>
              <a:ea typeface="+mn-ea"/>
            </a:endParaRPr>
          </a:p>
        </p:txBody>
      </p:sp>
      <p:sp>
        <p:nvSpPr>
          <p:cNvPr id="454774" name="Text Box 118"/>
          <p:cNvSpPr txBox="1">
            <a:spLocks noChangeArrowheads="1"/>
          </p:cNvSpPr>
          <p:nvPr/>
        </p:nvSpPr>
        <p:spPr bwMode="auto">
          <a:xfrm>
            <a:off x="179388" y="3438215"/>
            <a:ext cx="8785225" cy="17851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练习</a:t>
            </a: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某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16</a:t>
            </a:r>
            <a:r>
              <a:rPr lang="zh-CN" altLang="en-US" sz="2200" b="1" u="none" dirty="0">
                <a:latin typeface="宋体" panose="02010600030101010101" pitchFamily="2" charset="-122"/>
              </a:rPr>
              <a:t>位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CPU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中，存储器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按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字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编址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，可寻址空间为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20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位，数据引脚宽度等于存储单元长度。欲配置</a:t>
            </a:r>
            <a:r>
              <a:rPr lang="en-US" altLang="zh-CN" sz="2200" b="1" u="none" dirty="0">
                <a:latin typeface="宋体" panose="02010600030101010101" pitchFamily="2" charset="-122"/>
              </a:rPr>
              <a:t>512KB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主存</a:t>
            </a:r>
            <a:r>
              <a:rPr lang="en-US" altLang="zh-CN" sz="2200" b="1" u="none" dirty="0">
                <a:latin typeface="宋体" panose="02010600030101010101" pitchFamily="2" charset="-122"/>
              </a:rPr>
              <a:t>(</a:t>
            </a:r>
            <a:r>
              <a:rPr lang="zh-CN" altLang="en-US" sz="2200" b="1" u="none" dirty="0">
                <a:latin typeface="宋体" panose="02010600030101010101" pitchFamily="2" charset="-122"/>
              </a:rPr>
              <a:t>前</a:t>
            </a:r>
            <a:r>
              <a:rPr lang="en-US" altLang="zh-CN" sz="2200" b="1" u="none" dirty="0">
                <a:latin typeface="宋体" panose="02010600030101010101" pitchFamily="2" charset="-122"/>
              </a:rPr>
              <a:t>128KB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为只读空间</a:t>
            </a:r>
            <a:r>
              <a:rPr lang="en-US" altLang="zh-CN" sz="22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，可用的芯片有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64K×8b ROM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64K×16b SRAM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。画出主存中各芯片所占主存空间图、主存</a:t>
            </a:r>
            <a:r>
              <a:rPr lang="zh-CN" altLang="en-US" sz="2200" b="1" u="none" dirty="0">
                <a:latin typeface="宋体" panose="02010600030101010101" pitchFamily="2" charset="-122"/>
              </a:rPr>
              <a:t>内部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的芯片连接图，以及主存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与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CPU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的连接图。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grpSp>
        <p:nvGrpSpPr>
          <p:cNvPr id="454781" name="Group 125"/>
          <p:cNvGrpSpPr/>
          <p:nvPr/>
        </p:nvGrpSpPr>
        <p:grpSpPr bwMode="auto">
          <a:xfrm>
            <a:off x="1115616" y="953939"/>
            <a:ext cx="5761038" cy="2058988"/>
            <a:chOff x="793" y="527"/>
            <a:chExt cx="3629" cy="1297"/>
          </a:xfrm>
        </p:grpSpPr>
        <p:sp>
          <p:nvSpPr>
            <p:cNvPr id="454661" name="Rectangle 5"/>
            <p:cNvSpPr>
              <a:spLocks noChangeArrowheads="1"/>
            </p:cNvSpPr>
            <p:nvPr/>
          </p:nvSpPr>
          <p:spPr bwMode="auto">
            <a:xfrm>
              <a:off x="1746" y="527"/>
              <a:ext cx="1361" cy="129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ysDot"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54773" name="Group 117"/>
            <p:cNvGrpSpPr/>
            <p:nvPr/>
          </p:nvGrpSpPr>
          <p:grpSpPr bwMode="auto">
            <a:xfrm>
              <a:off x="3470" y="935"/>
              <a:ext cx="952" cy="889"/>
              <a:chOff x="3470" y="935"/>
              <a:chExt cx="952" cy="889"/>
            </a:xfrm>
          </p:grpSpPr>
          <p:sp>
            <p:nvSpPr>
              <p:cNvPr id="454669" name="Text Box 13"/>
              <p:cNvSpPr txBox="1">
                <a:spLocks noChangeArrowheads="1"/>
              </p:cNvSpPr>
              <p:nvPr/>
            </p:nvSpPr>
            <p:spPr bwMode="auto">
              <a:xfrm>
                <a:off x="3470" y="935"/>
                <a:ext cx="952" cy="889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r>
                  <a:rPr lang="en-US" altLang="zh-CN" b="1" u="none" dirty="0">
                    <a:latin typeface="宋体" panose="02010600030101010101" pitchFamily="2" charset="-122"/>
                  </a:rPr>
                  <a:t>       </a:t>
                </a:r>
                <a:r>
                  <a:rPr lang="zh-CN" altLang="en-US" b="1" u="none" dirty="0">
                    <a:latin typeface="宋体" panose="02010600030101010101" pitchFamily="2" charset="-122"/>
                  </a:rPr>
                  <a:t>主</a:t>
                </a:r>
                <a:endParaRPr lang="zh-CN" altLang="en-US" b="1" u="none" dirty="0">
                  <a:latin typeface="宋体" panose="02010600030101010101" pitchFamily="2" charset="-122"/>
                </a:endParaRPr>
              </a:p>
              <a:p>
                <a:r>
                  <a:rPr lang="zh-CN" altLang="en-US" b="1" u="none" dirty="0">
                    <a:latin typeface="宋体" panose="02010600030101010101" pitchFamily="2" charset="-122"/>
                  </a:rPr>
                  <a:t>       存</a:t>
                </a:r>
                <a:endParaRPr lang="zh-CN" altLang="en-US" b="1" u="none" dirty="0">
                  <a:latin typeface="宋体" panose="02010600030101010101" pitchFamily="2" charset="-122"/>
                </a:endParaRPr>
              </a:p>
            </p:txBody>
          </p:sp>
          <p:grpSp>
            <p:nvGrpSpPr>
              <p:cNvPr id="454670" name="Group 14"/>
              <p:cNvGrpSpPr/>
              <p:nvPr/>
            </p:nvGrpSpPr>
            <p:grpSpPr bwMode="auto">
              <a:xfrm>
                <a:off x="3515" y="981"/>
                <a:ext cx="181" cy="181"/>
                <a:chOff x="3198" y="2523"/>
                <a:chExt cx="181" cy="181"/>
              </a:xfrm>
            </p:grpSpPr>
            <p:sp>
              <p:nvSpPr>
                <p:cNvPr id="454671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3198" y="2523"/>
                  <a:ext cx="181" cy="18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lIns="18000" tIns="10800" rIns="18000" bIns="10800" anchor="ctr"/>
                <a:lstStyle/>
                <a:p>
                  <a:r>
                    <a:rPr lang="en-US" altLang="zh-CN" sz="1800" b="1" u="none">
                      <a:latin typeface="宋体" panose="02010600030101010101" pitchFamily="2" charset="-122"/>
                    </a:rPr>
                    <a:t>CS</a:t>
                  </a:r>
                  <a:endParaRPr lang="en-US" altLang="zh-CN" sz="1800" b="1" u="none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454672" name="Line 16"/>
                <p:cNvSpPr>
                  <a:spLocks noChangeShapeType="1"/>
                </p:cNvSpPr>
                <p:nvPr/>
              </p:nvSpPr>
              <p:spPr bwMode="auto">
                <a:xfrm>
                  <a:off x="3213" y="2550"/>
                  <a:ext cx="136" cy="0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54673" name="Group 17"/>
              <p:cNvGrpSpPr/>
              <p:nvPr/>
            </p:nvGrpSpPr>
            <p:grpSpPr bwMode="auto">
              <a:xfrm>
                <a:off x="3515" y="1312"/>
                <a:ext cx="181" cy="181"/>
                <a:chOff x="3198" y="1448"/>
                <a:chExt cx="181" cy="181"/>
              </a:xfrm>
            </p:grpSpPr>
            <p:sp>
              <p:nvSpPr>
                <p:cNvPr id="454674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3198" y="1448"/>
                  <a:ext cx="181" cy="18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lIns="18000" tIns="10800" rIns="18000" bIns="10800" anchor="ctr"/>
                <a:lstStyle/>
                <a:p>
                  <a:r>
                    <a:rPr lang="en-US" altLang="zh-CN" sz="1800" b="1" u="none" dirty="0">
                      <a:latin typeface="宋体" panose="02010600030101010101" pitchFamily="2" charset="-122"/>
                    </a:rPr>
                    <a:t>WE</a:t>
                  </a:r>
                  <a:endParaRPr lang="en-US" altLang="zh-CN" sz="1800" b="1" u="none" dirty="0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454675" name="Line 19"/>
                <p:cNvSpPr>
                  <a:spLocks noChangeShapeType="1"/>
                </p:cNvSpPr>
                <p:nvPr/>
              </p:nvSpPr>
              <p:spPr bwMode="auto">
                <a:xfrm>
                  <a:off x="3200" y="1475"/>
                  <a:ext cx="150" cy="0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54769" name="Text Box 113"/>
              <p:cNvSpPr txBox="1">
                <a:spLocks noChangeArrowheads="1"/>
              </p:cNvSpPr>
              <p:nvPr/>
            </p:nvSpPr>
            <p:spPr bwMode="auto">
              <a:xfrm>
                <a:off x="3515" y="1480"/>
                <a:ext cx="499" cy="13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800" b="1" u="none" dirty="0" smtClean="0">
                    <a:latin typeface="宋体" panose="02010600030101010101" pitchFamily="2" charset="-122"/>
                  </a:rPr>
                  <a:t>A</a:t>
                </a:r>
                <a:r>
                  <a:rPr lang="en-US" altLang="zh-CN" sz="1800" b="1" u="none" baseline="-18000" dirty="0" smtClean="0">
                    <a:latin typeface="宋体" panose="02010600030101010101" pitchFamily="2" charset="-122"/>
                  </a:rPr>
                  <a:t>13</a:t>
                </a:r>
                <a:r>
                  <a:rPr lang="zh-CN" altLang="en-US" sz="1800" b="1" u="none" dirty="0" smtClean="0">
                    <a:latin typeface="宋体" panose="02010600030101010101" pitchFamily="2" charset="-122"/>
                  </a:rPr>
                  <a:t>～</a:t>
                </a:r>
                <a:r>
                  <a:rPr lang="en-US" altLang="zh-CN" sz="18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800" b="1" u="none" baseline="-18000" dirty="0">
                    <a:latin typeface="宋体" panose="02010600030101010101" pitchFamily="2" charset="-122"/>
                  </a:rPr>
                  <a:t>0</a:t>
                </a:r>
                <a:endParaRPr lang="en-US" altLang="zh-CN" sz="1800" b="1" u="none" baseline="-18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54770" name="Text Box 114"/>
              <p:cNvSpPr txBox="1">
                <a:spLocks noChangeArrowheads="1"/>
              </p:cNvSpPr>
              <p:nvPr/>
            </p:nvSpPr>
            <p:spPr bwMode="auto">
              <a:xfrm>
                <a:off x="3515" y="1661"/>
                <a:ext cx="453" cy="13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800" b="1" u="none" dirty="0" smtClean="0">
                    <a:latin typeface="宋体" panose="02010600030101010101" pitchFamily="2" charset="-122"/>
                  </a:rPr>
                  <a:t>D</a:t>
                </a:r>
                <a:r>
                  <a:rPr lang="en-US" altLang="zh-CN" sz="1800" b="1" u="none" baseline="-18000" dirty="0" smtClean="0">
                    <a:latin typeface="宋体" panose="02010600030101010101" pitchFamily="2" charset="-122"/>
                  </a:rPr>
                  <a:t>7</a:t>
                </a:r>
                <a:r>
                  <a:rPr lang="zh-CN" altLang="en-US" sz="1800" b="1" u="none" dirty="0" smtClean="0">
                    <a:latin typeface="宋体" panose="02010600030101010101" pitchFamily="2" charset="-122"/>
                  </a:rPr>
                  <a:t>～</a:t>
                </a:r>
                <a:r>
                  <a:rPr lang="en-US" altLang="zh-CN" sz="1800" b="1" u="none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800" b="1" u="none" baseline="-18000" dirty="0">
                    <a:latin typeface="宋体" panose="02010600030101010101" pitchFamily="2" charset="-122"/>
                  </a:rPr>
                  <a:t>0</a:t>
                </a:r>
                <a:endParaRPr lang="en-US" altLang="zh-CN" sz="1800" b="1" u="none" baseline="-18000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454778" name="Group 122"/>
            <p:cNvGrpSpPr/>
            <p:nvPr/>
          </p:nvGrpSpPr>
          <p:grpSpPr bwMode="auto">
            <a:xfrm>
              <a:off x="793" y="527"/>
              <a:ext cx="772" cy="1297"/>
              <a:chOff x="793" y="527"/>
              <a:chExt cx="772" cy="1297"/>
            </a:xfrm>
          </p:grpSpPr>
          <p:sp>
            <p:nvSpPr>
              <p:cNvPr id="454703" name="Text Box 47"/>
              <p:cNvSpPr txBox="1">
                <a:spLocks noChangeArrowheads="1"/>
              </p:cNvSpPr>
              <p:nvPr/>
            </p:nvSpPr>
            <p:spPr bwMode="auto">
              <a:xfrm>
                <a:off x="793" y="527"/>
                <a:ext cx="772" cy="1297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r>
                  <a:rPr lang="en-US" altLang="zh-CN" b="1" u="none" dirty="0" smtClean="0">
                    <a:latin typeface="宋体" panose="02010600030101010101" pitchFamily="2" charset="-122"/>
                  </a:rPr>
                  <a:t> CPU</a:t>
                </a:r>
                <a:endParaRPr lang="en-US" altLang="zh-CN" sz="18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54706" name="Text Box 50"/>
              <p:cNvSpPr txBox="1">
                <a:spLocks noChangeArrowheads="1"/>
              </p:cNvSpPr>
              <p:nvPr/>
            </p:nvSpPr>
            <p:spPr bwMode="auto">
              <a:xfrm>
                <a:off x="1338" y="1298"/>
                <a:ext cx="227" cy="13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800" b="1" u="none">
                    <a:latin typeface="宋体" panose="02010600030101010101" pitchFamily="2" charset="-122"/>
                  </a:rPr>
                  <a:t>A</a:t>
                </a:r>
                <a:r>
                  <a:rPr lang="en-US" altLang="zh-CN" sz="1800" b="1" u="none" baseline="-18000">
                    <a:latin typeface="宋体" panose="02010600030101010101" pitchFamily="2" charset="-122"/>
                  </a:rPr>
                  <a:t>14</a:t>
                </a:r>
                <a:endParaRPr lang="en-US" altLang="zh-CN" sz="1800" b="1" u="none" baseline="-18000">
                  <a:latin typeface="宋体" panose="02010600030101010101" pitchFamily="2" charset="-122"/>
                </a:endParaRPr>
              </a:p>
            </p:txBody>
          </p:sp>
          <p:sp>
            <p:nvSpPr>
              <p:cNvPr id="454707" name="Text Box 51"/>
              <p:cNvSpPr txBox="1">
                <a:spLocks noChangeArrowheads="1"/>
              </p:cNvSpPr>
              <p:nvPr/>
            </p:nvSpPr>
            <p:spPr bwMode="auto">
              <a:xfrm>
                <a:off x="1338" y="1162"/>
                <a:ext cx="227" cy="13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8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800" b="1" u="none" baseline="-18000" dirty="0">
                    <a:latin typeface="宋体" panose="02010600030101010101" pitchFamily="2" charset="-122"/>
                  </a:rPr>
                  <a:t>15</a:t>
                </a:r>
                <a:endParaRPr lang="en-US" altLang="zh-CN" sz="1800" b="1" u="none" baseline="-18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54709" name="Text Box 53"/>
              <p:cNvSpPr txBox="1">
                <a:spLocks noChangeArrowheads="1"/>
              </p:cNvSpPr>
              <p:nvPr/>
            </p:nvSpPr>
            <p:spPr bwMode="auto">
              <a:xfrm>
                <a:off x="1066" y="1480"/>
                <a:ext cx="499" cy="13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800" b="1" u="none" dirty="0" smtClean="0">
                    <a:latin typeface="宋体" panose="02010600030101010101" pitchFamily="2" charset="-122"/>
                  </a:rPr>
                  <a:t>A</a:t>
                </a:r>
                <a:r>
                  <a:rPr lang="en-US" altLang="zh-CN" sz="1800" b="1" u="none" baseline="-18000" dirty="0" smtClean="0">
                    <a:latin typeface="宋体" panose="02010600030101010101" pitchFamily="2" charset="-122"/>
                  </a:rPr>
                  <a:t>13</a:t>
                </a:r>
                <a:r>
                  <a:rPr lang="zh-CN" altLang="en-US" sz="1800" b="1" u="none" dirty="0" smtClean="0">
                    <a:latin typeface="宋体" panose="02010600030101010101" pitchFamily="2" charset="-122"/>
                  </a:rPr>
                  <a:t>～</a:t>
                </a:r>
                <a:r>
                  <a:rPr lang="en-US" altLang="zh-CN" sz="1800" b="1" u="none" dirty="0">
                    <a:latin typeface="宋体" panose="02010600030101010101" pitchFamily="2" charset="-122"/>
                  </a:rPr>
                  <a:t>A</a:t>
                </a:r>
                <a:r>
                  <a:rPr lang="en-US" altLang="zh-CN" sz="1800" b="1" u="none" baseline="-18000" dirty="0">
                    <a:latin typeface="宋体" panose="02010600030101010101" pitchFamily="2" charset="-122"/>
                  </a:rPr>
                  <a:t>0</a:t>
                </a:r>
                <a:endParaRPr lang="en-US" altLang="zh-CN" sz="1800" b="1" u="none" baseline="-18000" dirty="0">
                  <a:latin typeface="宋体" panose="02010600030101010101" pitchFamily="2" charset="-122"/>
                </a:endParaRPr>
              </a:p>
            </p:txBody>
          </p:sp>
          <p:grpSp>
            <p:nvGrpSpPr>
              <p:cNvPr id="454710" name="Group 54"/>
              <p:cNvGrpSpPr/>
              <p:nvPr/>
            </p:nvGrpSpPr>
            <p:grpSpPr bwMode="auto">
              <a:xfrm>
                <a:off x="1340" y="754"/>
                <a:ext cx="181" cy="181"/>
                <a:chOff x="3198" y="2523"/>
                <a:chExt cx="181" cy="181"/>
              </a:xfrm>
            </p:grpSpPr>
            <p:sp>
              <p:nvSpPr>
                <p:cNvPr id="454711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3198" y="2523"/>
                  <a:ext cx="181" cy="18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lIns="18000" tIns="10800" rIns="18000" bIns="10800" anchor="ctr"/>
                <a:lstStyle/>
                <a:p>
                  <a:r>
                    <a:rPr lang="en-US" altLang="zh-CN" sz="1800" b="1" u="none">
                      <a:latin typeface="宋体" panose="02010600030101010101" pitchFamily="2" charset="-122"/>
                    </a:rPr>
                    <a:t>RD</a:t>
                  </a:r>
                  <a:endParaRPr lang="en-US" altLang="zh-CN" sz="1800" b="1" u="none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454712" name="Line 56"/>
                <p:cNvSpPr>
                  <a:spLocks noChangeShapeType="1"/>
                </p:cNvSpPr>
                <p:nvPr/>
              </p:nvSpPr>
              <p:spPr bwMode="auto">
                <a:xfrm>
                  <a:off x="3216" y="2550"/>
                  <a:ext cx="136" cy="0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54713" name="Group 57"/>
              <p:cNvGrpSpPr/>
              <p:nvPr/>
            </p:nvGrpSpPr>
            <p:grpSpPr bwMode="auto">
              <a:xfrm>
                <a:off x="1340" y="935"/>
                <a:ext cx="181" cy="181"/>
                <a:chOff x="3198" y="2523"/>
                <a:chExt cx="181" cy="181"/>
              </a:xfrm>
            </p:grpSpPr>
            <p:sp>
              <p:nvSpPr>
                <p:cNvPr id="454714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3198" y="2523"/>
                  <a:ext cx="181" cy="18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lIns="18000" tIns="10800" rIns="18000" bIns="10800" anchor="ctr"/>
                <a:lstStyle/>
                <a:p>
                  <a:r>
                    <a:rPr lang="en-US" altLang="zh-CN" sz="1800" b="1" u="none">
                      <a:latin typeface="宋体" panose="02010600030101010101" pitchFamily="2" charset="-122"/>
                    </a:rPr>
                    <a:t>WR</a:t>
                  </a:r>
                  <a:endParaRPr lang="en-US" altLang="zh-CN" sz="1800" b="1" u="none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454715" name="Line 59"/>
                <p:cNvSpPr>
                  <a:spLocks noChangeShapeType="1"/>
                </p:cNvSpPr>
                <p:nvPr/>
              </p:nvSpPr>
              <p:spPr bwMode="auto">
                <a:xfrm>
                  <a:off x="3206" y="2550"/>
                  <a:ext cx="150" cy="0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54719" name="Text Box 63"/>
              <p:cNvSpPr txBox="1">
                <a:spLocks noChangeArrowheads="1"/>
              </p:cNvSpPr>
              <p:nvPr/>
            </p:nvSpPr>
            <p:spPr bwMode="auto">
              <a:xfrm>
                <a:off x="1112" y="1661"/>
                <a:ext cx="453" cy="13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800" b="1" u="none" dirty="0" smtClean="0">
                    <a:latin typeface="宋体" panose="02010600030101010101" pitchFamily="2" charset="-122"/>
                  </a:rPr>
                  <a:t>D</a:t>
                </a:r>
                <a:r>
                  <a:rPr lang="en-US" altLang="zh-CN" sz="1800" b="1" u="none" baseline="-18000" dirty="0" smtClean="0">
                    <a:latin typeface="宋体" panose="02010600030101010101" pitchFamily="2" charset="-122"/>
                  </a:rPr>
                  <a:t>7</a:t>
                </a:r>
                <a:r>
                  <a:rPr lang="zh-CN" altLang="en-US" sz="1800" b="1" u="none" dirty="0" smtClean="0">
                    <a:latin typeface="宋体" panose="02010600030101010101" pitchFamily="2" charset="-122"/>
                  </a:rPr>
                  <a:t>～</a:t>
                </a:r>
                <a:r>
                  <a:rPr lang="en-US" altLang="zh-CN" sz="1800" b="1" u="none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800" b="1" u="none" baseline="-18000" dirty="0">
                    <a:latin typeface="宋体" panose="02010600030101010101" pitchFamily="2" charset="-122"/>
                  </a:rPr>
                  <a:t>0</a:t>
                </a:r>
                <a:endParaRPr lang="en-US" altLang="zh-CN" sz="1800" b="1" u="none" baseline="-18000" dirty="0">
                  <a:latin typeface="宋体" panose="02010600030101010101" pitchFamily="2" charset="-122"/>
                </a:endParaRPr>
              </a:p>
            </p:txBody>
          </p:sp>
          <p:grpSp>
            <p:nvGrpSpPr>
              <p:cNvPr id="454775" name="Group 119"/>
              <p:cNvGrpSpPr/>
              <p:nvPr/>
            </p:nvGrpSpPr>
            <p:grpSpPr bwMode="auto">
              <a:xfrm>
                <a:off x="1156" y="574"/>
                <a:ext cx="363" cy="135"/>
                <a:chOff x="657" y="3067"/>
                <a:chExt cx="363" cy="135"/>
              </a:xfrm>
            </p:grpSpPr>
            <p:sp>
              <p:nvSpPr>
                <p:cNvPr id="454776" name="Text Box 120"/>
                <p:cNvSpPr txBox="1">
                  <a:spLocks noChangeArrowheads="1"/>
                </p:cNvSpPr>
                <p:nvPr/>
              </p:nvSpPr>
              <p:spPr bwMode="auto">
                <a:xfrm>
                  <a:off x="657" y="3067"/>
                  <a:ext cx="363" cy="135"/>
                </a:xfrm>
                <a:prstGeom prst="rect">
                  <a:avLst/>
                </a:prstGeom>
                <a:noFill/>
                <a:ln w="19050">
                  <a:noFill/>
                  <a:miter lim="800000"/>
                </a:ln>
                <a:effectLst/>
              </p:spPr>
              <p:txBody>
                <a:bodyPr lIns="18000" tIns="10800" rIns="18000" bIns="10800" anchor="ctr"/>
                <a:lstStyle/>
                <a:p>
                  <a:pPr algn="ctr"/>
                  <a:r>
                    <a:rPr lang="en-US" altLang="zh-CN" sz="1800" b="1" u="none">
                      <a:latin typeface="宋体" panose="02010600030101010101" pitchFamily="2" charset="-122"/>
                    </a:rPr>
                    <a:t>IO/M</a:t>
                  </a:r>
                  <a:endParaRPr lang="en-US" altLang="zh-CN" sz="1800" b="1" u="none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454777" name="Line 121"/>
                <p:cNvSpPr>
                  <a:spLocks noChangeShapeType="1"/>
                </p:cNvSpPr>
                <p:nvPr/>
              </p:nvSpPr>
              <p:spPr bwMode="auto">
                <a:xfrm flipV="1">
                  <a:off x="914" y="3073"/>
                  <a:ext cx="79" cy="0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54779" name="Text Box 123"/>
          <p:cNvSpPr txBox="1">
            <a:spLocks noChangeArrowheads="1"/>
          </p:cNvSpPr>
          <p:nvPr/>
        </p:nvSpPr>
        <p:spPr bwMode="auto">
          <a:xfrm>
            <a:off x="179388" y="5706467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引子</a:t>
            </a:r>
            <a:r>
              <a:rPr lang="en-US" altLang="zh-CN" sz="20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不改变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连接电路时，如何实现主存容量的可配置？</a:t>
            </a:r>
            <a:endParaRPr lang="zh-CN" altLang="en-US" sz="2000" b="1" u="none" dirty="0" smtClean="0">
              <a:latin typeface="宋体" panose="02010600030101010101" pitchFamily="2" charset="-122"/>
            </a:endParaRPr>
          </a:p>
        </p:txBody>
      </p:sp>
      <p:grpSp>
        <p:nvGrpSpPr>
          <p:cNvPr id="454809" name="Group 153"/>
          <p:cNvGrpSpPr/>
          <p:nvPr/>
        </p:nvGrpSpPr>
        <p:grpSpPr bwMode="auto">
          <a:xfrm>
            <a:off x="2844404" y="1674018"/>
            <a:ext cx="2522538" cy="720725"/>
            <a:chOff x="1882" y="1026"/>
            <a:chExt cx="1589" cy="454"/>
          </a:xfrm>
        </p:grpSpPr>
        <p:sp>
          <p:nvSpPr>
            <p:cNvPr id="454789" name="Line 133"/>
            <p:cNvSpPr>
              <a:spLocks noChangeShapeType="1"/>
            </p:cNvSpPr>
            <p:nvPr/>
          </p:nvSpPr>
          <p:spPr bwMode="auto">
            <a:xfrm>
              <a:off x="1882" y="1026"/>
              <a:ext cx="0" cy="454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oval" w="med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794" name="Line 138"/>
            <p:cNvSpPr>
              <a:spLocks noChangeShapeType="1"/>
            </p:cNvSpPr>
            <p:nvPr/>
          </p:nvSpPr>
          <p:spPr bwMode="auto">
            <a:xfrm flipV="1">
              <a:off x="1882" y="1480"/>
              <a:ext cx="1589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4808" name="Group 152"/>
          <p:cNvGrpSpPr/>
          <p:nvPr/>
        </p:nvGrpSpPr>
        <p:grpSpPr bwMode="auto">
          <a:xfrm>
            <a:off x="2341166" y="1242566"/>
            <a:ext cx="3024188" cy="1079500"/>
            <a:chOff x="1565" y="754"/>
            <a:chExt cx="1905" cy="680"/>
          </a:xfrm>
        </p:grpSpPr>
        <p:sp>
          <p:nvSpPr>
            <p:cNvPr id="454783" name="Text Box 127"/>
            <p:cNvSpPr txBox="1">
              <a:spLocks noChangeArrowheads="1"/>
            </p:cNvSpPr>
            <p:nvPr/>
          </p:nvSpPr>
          <p:spPr bwMode="auto">
            <a:xfrm>
              <a:off x="2789" y="754"/>
              <a:ext cx="182" cy="6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&amp;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454785" name="Line 129"/>
            <p:cNvSpPr>
              <a:spLocks noChangeShapeType="1"/>
            </p:cNvSpPr>
            <p:nvPr/>
          </p:nvSpPr>
          <p:spPr bwMode="auto">
            <a:xfrm flipV="1">
              <a:off x="1565" y="1253"/>
              <a:ext cx="1179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798" name="Line 142"/>
            <p:cNvSpPr>
              <a:spLocks noChangeShapeType="1"/>
            </p:cNvSpPr>
            <p:nvPr/>
          </p:nvSpPr>
          <p:spPr bwMode="auto">
            <a:xfrm flipV="1">
              <a:off x="1565" y="1389"/>
              <a:ext cx="1179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799" name="Oval 143"/>
            <p:cNvSpPr>
              <a:spLocks noChangeArrowheads="1"/>
            </p:cNvSpPr>
            <p:nvPr/>
          </p:nvSpPr>
          <p:spPr bwMode="auto">
            <a:xfrm>
              <a:off x="2743" y="1232"/>
              <a:ext cx="46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4800" name="Oval 144"/>
            <p:cNvSpPr>
              <a:spLocks noChangeArrowheads="1"/>
            </p:cNvSpPr>
            <p:nvPr/>
          </p:nvSpPr>
          <p:spPr bwMode="auto">
            <a:xfrm>
              <a:off x="2740" y="1368"/>
              <a:ext cx="46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4801" name="Oval 145"/>
            <p:cNvSpPr>
              <a:spLocks noChangeArrowheads="1"/>
            </p:cNvSpPr>
            <p:nvPr/>
          </p:nvSpPr>
          <p:spPr bwMode="auto">
            <a:xfrm>
              <a:off x="2970" y="1093"/>
              <a:ext cx="46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4802" name="Line 146"/>
            <p:cNvSpPr>
              <a:spLocks noChangeShapeType="1"/>
            </p:cNvSpPr>
            <p:nvPr/>
          </p:nvSpPr>
          <p:spPr bwMode="auto">
            <a:xfrm flipV="1">
              <a:off x="3016" y="1117"/>
              <a:ext cx="454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4806" name="Line 150"/>
          <p:cNvSpPr>
            <a:spLocks noChangeShapeType="1"/>
          </p:cNvSpPr>
          <p:nvPr/>
        </p:nvSpPr>
        <p:spPr bwMode="auto">
          <a:xfrm flipV="1">
            <a:off x="2341166" y="2610123"/>
            <a:ext cx="3024188" cy="0"/>
          </a:xfrm>
          <a:prstGeom prst="line">
            <a:avLst/>
          </a:prstGeom>
          <a:noFill/>
          <a:ln w="38100" cmpd="dbl">
            <a:solidFill>
              <a:srgbClr val="CC3300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54826" name="AutoShape 17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75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334883" y="1026666"/>
            <a:ext cx="1949386" cy="719137"/>
            <a:chOff x="2576557" y="981447"/>
            <a:chExt cx="1949386" cy="719137"/>
          </a:xfrm>
        </p:grpSpPr>
        <p:sp>
          <p:nvSpPr>
            <p:cNvPr id="454786" name="Text Box 130"/>
            <p:cNvSpPr txBox="1">
              <a:spLocks noChangeArrowheads="1"/>
            </p:cNvSpPr>
            <p:nvPr/>
          </p:nvSpPr>
          <p:spPr bwMode="auto">
            <a:xfrm>
              <a:off x="3301980" y="1268784"/>
              <a:ext cx="288925" cy="431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=1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454787" name="Line 131"/>
            <p:cNvSpPr>
              <a:spLocks noChangeShapeType="1"/>
            </p:cNvSpPr>
            <p:nvPr/>
          </p:nvSpPr>
          <p:spPr bwMode="auto">
            <a:xfrm flipV="1">
              <a:off x="2582842" y="1341809"/>
              <a:ext cx="719138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790" name="Line 134"/>
            <p:cNvSpPr>
              <a:spLocks noChangeShapeType="1"/>
            </p:cNvSpPr>
            <p:nvPr/>
          </p:nvSpPr>
          <p:spPr bwMode="auto">
            <a:xfrm flipV="1">
              <a:off x="3590905" y="1484684"/>
              <a:ext cx="215900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791" name="Text Box 135"/>
            <p:cNvSpPr txBox="1">
              <a:spLocks noChangeArrowheads="1"/>
            </p:cNvSpPr>
            <p:nvPr/>
          </p:nvSpPr>
          <p:spPr bwMode="auto">
            <a:xfrm>
              <a:off x="3806805" y="981447"/>
              <a:ext cx="288925" cy="576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>
                  <a:latin typeface="宋体" panose="02010600030101010101" pitchFamily="2" charset="-122"/>
                </a:rPr>
                <a:t>&amp;</a:t>
              </a:r>
              <a:endParaRPr lang="en-US" altLang="zh-CN" sz="18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454792" name="Line 136"/>
            <p:cNvSpPr>
              <a:spLocks noChangeShapeType="1"/>
            </p:cNvSpPr>
            <p:nvPr/>
          </p:nvSpPr>
          <p:spPr bwMode="auto">
            <a:xfrm flipV="1">
              <a:off x="2582842" y="1052884"/>
              <a:ext cx="1150938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793" name="Oval 137"/>
            <p:cNvSpPr>
              <a:spLocks noChangeArrowheads="1"/>
            </p:cNvSpPr>
            <p:nvPr/>
          </p:nvSpPr>
          <p:spPr bwMode="auto">
            <a:xfrm>
              <a:off x="3733780" y="1014784"/>
              <a:ext cx="73025" cy="7143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4795" name="Line 139"/>
            <p:cNvSpPr>
              <a:spLocks noChangeShapeType="1"/>
            </p:cNvSpPr>
            <p:nvPr/>
          </p:nvSpPr>
          <p:spPr bwMode="auto">
            <a:xfrm flipV="1">
              <a:off x="4094143" y="1268784"/>
              <a:ext cx="431800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132"/>
            <p:cNvSpPr>
              <a:spLocks noChangeShapeType="1"/>
            </p:cNvSpPr>
            <p:nvPr/>
          </p:nvSpPr>
          <p:spPr bwMode="auto">
            <a:xfrm flipV="1">
              <a:off x="2576557" y="1628800"/>
              <a:ext cx="719138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238734" y="956789"/>
            <a:ext cx="3221698" cy="357190"/>
            <a:chOff x="5238734" y="908422"/>
            <a:chExt cx="3221698" cy="357190"/>
          </a:xfrm>
        </p:grpSpPr>
        <p:sp>
          <p:nvSpPr>
            <p:cNvPr id="79" name="Text Box 237"/>
            <p:cNvSpPr txBox="1">
              <a:spLocks noChangeArrowheads="1"/>
            </p:cNvSpPr>
            <p:nvPr/>
          </p:nvSpPr>
          <p:spPr bwMode="auto">
            <a:xfrm>
              <a:off x="5238734" y="908422"/>
              <a:ext cx="3221698" cy="357190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 lim="800000"/>
            </a:ln>
            <a:effectLst/>
          </p:spPr>
          <p:txBody>
            <a:bodyPr vert="horz" lIns="18000" tIns="54000" rIns="18000" bIns="10800" anchor="ctr" anchorCtr="0"/>
            <a:lstStyle/>
            <a:p>
              <a:r>
                <a:rPr lang="en-US" altLang="zh-CN" sz="1800" b="1" u="none" dirty="0" smtClean="0">
                  <a:latin typeface="宋体" panose="02010600030101010101" pitchFamily="2" charset="-122"/>
                </a:rPr>
                <a:t>CS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＝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((RD⊕WR)</a:t>
              </a:r>
              <a:r>
                <a:rPr lang="en-US" altLang="zh-CN" sz="1800" b="1" u="none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•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IO</a:t>
              </a:r>
              <a:r>
                <a:rPr lang="en-US" altLang="zh-CN" sz="1800" b="1" u="none" dirty="0" smtClean="0"/>
                <a:t>/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M)</a:t>
              </a:r>
              <a:r>
                <a:rPr lang="en-US" altLang="zh-CN" sz="1800" b="1" u="none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•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(A</a:t>
              </a:r>
              <a:r>
                <a:rPr lang="en-US" altLang="zh-CN" sz="2000" b="1" u="none" baseline="-14000" dirty="0" smtClean="0">
                  <a:latin typeface="宋体" panose="02010600030101010101" pitchFamily="2" charset="-122"/>
                </a:rPr>
                <a:t>15</a:t>
              </a:r>
              <a:r>
                <a:rPr lang="en-US" altLang="zh-CN" sz="1600" b="1" u="none" dirty="0">
                  <a:latin typeface="宋体" panose="02010600030101010101" pitchFamily="2" charset="-122"/>
                  <a:ea typeface="宋体" panose="02010600030101010101" pitchFamily="2" charset="-122"/>
                </a:rPr>
                <a:t>•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2000" b="1" u="none" baseline="-14000" dirty="0" smtClean="0">
                  <a:latin typeface="宋体" panose="02010600030101010101" pitchFamily="2" charset="-122"/>
                </a:rPr>
                <a:t>14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85" name="直接连接符 84"/>
            <p:cNvCxnSpPr/>
            <p:nvPr/>
          </p:nvCxnSpPr>
          <p:spPr bwMode="auto">
            <a:xfrm>
              <a:off x="5958000" y="977633"/>
              <a:ext cx="212727" cy="794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9" name="直接连接符 88"/>
            <p:cNvCxnSpPr/>
            <p:nvPr/>
          </p:nvCxnSpPr>
          <p:spPr bwMode="auto">
            <a:xfrm flipV="1">
              <a:off x="7164000" y="995633"/>
              <a:ext cx="121229" cy="0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" name="直接连接符 90"/>
            <p:cNvCxnSpPr/>
            <p:nvPr/>
          </p:nvCxnSpPr>
          <p:spPr bwMode="auto">
            <a:xfrm>
              <a:off x="6894000" y="969547"/>
              <a:ext cx="401005" cy="0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" name="直接连接符 94"/>
            <p:cNvCxnSpPr/>
            <p:nvPr/>
          </p:nvCxnSpPr>
          <p:spPr bwMode="auto">
            <a:xfrm>
              <a:off x="5760000" y="928906"/>
              <a:ext cx="2628000" cy="794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7" name="直接连接符 96"/>
            <p:cNvCxnSpPr/>
            <p:nvPr/>
          </p:nvCxnSpPr>
          <p:spPr bwMode="auto">
            <a:xfrm flipV="1">
              <a:off x="5264578" y="995853"/>
              <a:ext cx="221624" cy="298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直接连接符 92"/>
            <p:cNvCxnSpPr/>
            <p:nvPr/>
          </p:nvCxnSpPr>
          <p:spPr bwMode="auto">
            <a:xfrm>
              <a:off x="6408000" y="977633"/>
              <a:ext cx="212727" cy="794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直接连接符 95"/>
            <p:cNvCxnSpPr/>
            <p:nvPr/>
          </p:nvCxnSpPr>
          <p:spPr bwMode="auto">
            <a:xfrm>
              <a:off x="7632000" y="980755"/>
              <a:ext cx="234000" cy="794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直接连接符 98"/>
            <p:cNvCxnSpPr/>
            <p:nvPr/>
          </p:nvCxnSpPr>
          <p:spPr bwMode="auto">
            <a:xfrm>
              <a:off x="8028000" y="981549"/>
              <a:ext cx="234000" cy="794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92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524252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38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8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4252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37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3" name="AutoShape 331"/>
          <p:cNvSpPr/>
          <p:nvPr/>
        </p:nvSpPr>
        <p:spPr bwMode="auto">
          <a:xfrm>
            <a:off x="899592" y="3114179"/>
            <a:ext cx="3244556" cy="324036"/>
          </a:xfrm>
          <a:prstGeom prst="borderCallout2">
            <a:avLst>
              <a:gd name="adj1" fmla="val 49492"/>
              <a:gd name="adj2" fmla="val 100525"/>
              <a:gd name="adj3" fmla="val 50962"/>
              <a:gd name="adj4" fmla="val 105398"/>
              <a:gd name="adj5" fmla="val 126274"/>
              <a:gd name="adj6" fmla="val 119775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headEnd type="none" w="sm" len="med"/>
            <a:tailEnd type="arrow" w="med" len="sm"/>
          </a:ln>
          <a:effectLst/>
        </p:spPr>
        <p:txBody>
          <a:bodyPr lIns="18000" tIns="10800" rIns="18000" bIns="10800" anchor="ctr"/>
          <a:lstStyle/>
          <a:p>
            <a:pPr algn="ctr"/>
            <a:r>
              <a:rPr lang="zh-CN" altLang="en-US" sz="1800" b="1" u="none" dirty="0" smtClean="0">
                <a:solidFill>
                  <a:srgbClr val="990099"/>
                </a:solidFill>
                <a:latin typeface="+mn-ea"/>
                <a:ea typeface="+mn-ea"/>
              </a:rPr>
              <a:t>与</a:t>
            </a:r>
            <a:r>
              <a:rPr lang="en-US" altLang="zh-CN" sz="1800" b="1" u="none" dirty="0" smtClean="0">
                <a:solidFill>
                  <a:srgbClr val="990099"/>
                </a:solidFill>
                <a:latin typeface="+mn-ea"/>
                <a:ea typeface="+mn-ea"/>
              </a:rPr>
              <a:t>CPU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+mn-ea"/>
                <a:ea typeface="+mn-ea"/>
              </a:rPr>
              <a:t>相关的字长</a:t>
            </a:r>
            <a:r>
              <a:rPr lang="zh-CN" altLang="en-US" sz="1800" b="1" u="none" dirty="0" smtClean="0">
                <a:latin typeface="+mn-ea"/>
                <a:ea typeface="+mn-ea"/>
              </a:rPr>
              <a:t>均指</a:t>
            </a:r>
            <a:r>
              <a:rPr lang="zh-CN" altLang="en-US" sz="1800" b="1" dirty="0" smtClean="0">
                <a:latin typeface="+mn-ea"/>
                <a:ea typeface="+mn-ea"/>
              </a:rPr>
              <a:t>机器字长</a:t>
            </a:r>
            <a:endParaRPr lang="zh-CN" altLang="en-US" sz="1800" b="1" dirty="0">
              <a:latin typeface="+mn-ea"/>
              <a:ea typeface="+mn-ea"/>
            </a:endParaRPr>
          </a:p>
        </p:txBody>
      </p:sp>
      <p:sp>
        <p:nvSpPr>
          <p:cNvPr id="74" name="Line 150"/>
          <p:cNvSpPr>
            <a:spLocks noChangeShapeType="1"/>
          </p:cNvSpPr>
          <p:nvPr/>
        </p:nvSpPr>
        <p:spPr bwMode="auto">
          <a:xfrm flipV="1">
            <a:off x="2339900" y="2826147"/>
            <a:ext cx="3024188" cy="0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headEnd type="triangle"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7" name="AutoShape 331"/>
          <p:cNvSpPr/>
          <p:nvPr/>
        </p:nvSpPr>
        <p:spPr bwMode="auto">
          <a:xfrm>
            <a:off x="5618016" y="3114215"/>
            <a:ext cx="2482376" cy="324000"/>
          </a:xfrm>
          <a:prstGeom prst="borderCallout2">
            <a:avLst>
              <a:gd name="adj1" fmla="val 50505"/>
              <a:gd name="adj2" fmla="val -4"/>
              <a:gd name="adj3" fmla="val 49711"/>
              <a:gd name="adj4" fmla="val -6448"/>
              <a:gd name="adj5" fmla="val 128675"/>
              <a:gd name="adj6" fmla="val -15719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headEnd type="none" w="sm" len="med"/>
            <a:tailEnd type="arrow" w="med" len="sm"/>
          </a:ln>
          <a:effectLst/>
        </p:spPr>
        <p:txBody>
          <a:bodyPr lIns="18000" tIns="10800" rIns="18000" bIns="10800" anchor="ctr"/>
          <a:lstStyle/>
          <a:p>
            <a:pPr algn="ctr"/>
            <a:r>
              <a:rPr lang="zh-CN" altLang="en-US" sz="1800" b="1" u="none" dirty="0" smtClean="0">
                <a:solidFill>
                  <a:srgbClr val="990099"/>
                </a:solidFill>
                <a:latin typeface="+mn-ea"/>
                <a:ea typeface="+mn-ea"/>
              </a:rPr>
              <a:t>编址</a:t>
            </a:r>
            <a:r>
              <a:rPr lang="zh-CN" altLang="en-US" sz="1800" b="1" u="none" dirty="0" smtClean="0">
                <a:latin typeface="+mn-ea"/>
                <a:ea typeface="+mn-ea"/>
              </a:rPr>
              <a:t>针对</a:t>
            </a:r>
            <a:r>
              <a:rPr lang="zh-CN" altLang="en-US" sz="1800" b="1" dirty="0" smtClean="0">
                <a:latin typeface="+mn-ea"/>
                <a:ea typeface="+mn-ea"/>
              </a:rPr>
              <a:t>存储单元</a:t>
            </a:r>
            <a:r>
              <a:rPr lang="zh-CN" altLang="en-US" sz="1800" b="1" u="none" dirty="0" smtClean="0">
                <a:latin typeface="+mn-ea"/>
                <a:ea typeface="+mn-ea"/>
              </a:rPr>
              <a:t>进行</a:t>
            </a:r>
            <a:endParaRPr lang="zh-CN" altLang="en-US" sz="1800" b="1" u="none" dirty="0">
              <a:latin typeface="+mn-ea"/>
              <a:ea typeface="+mn-ea"/>
            </a:endParaRPr>
          </a:p>
        </p:txBody>
      </p:sp>
      <p:sp>
        <p:nvSpPr>
          <p:cNvPr id="84" name="AutoShape 331"/>
          <p:cNvSpPr/>
          <p:nvPr/>
        </p:nvSpPr>
        <p:spPr bwMode="auto">
          <a:xfrm>
            <a:off x="7333726" y="1674019"/>
            <a:ext cx="1558754" cy="720724"/>
          </a:xfrm>
          <a:prstGeom prst="borderCallout2">
            <a:avLst>
              <a:gd name="adj1" fmla="val 50505"/>
              <a:gd name="adj2" fmla="val -4"/>
              <a:gd name="adj3" fmla="val 51353"/>
              <a:gd name="adj4" fmla="val -13511"/>
              <a:gd name="adj5" fmla="val 108973"/>
              <a:gd name="adj6" fmla="val -35143"/>
            </a:avLst>
          </a:prstGeom>
          <a:solidFill>
            <a:srgbClr val="CCFFFF"/>
          </a:solidFill>
          <a:ln w="12700">
            <a:solidFill>
              <a:srgbClr val="FF3399"/>
            </a:solidFill>
            <a:prstDash val="sysDash"/>
            <a:miter lim="800000"/>
            <a:headEnd type="none" w="sm" len="med"/>
            <a:tailEnd type="arrow" w="med" len="sm"/>
          </a:ln>
          <a:effectLst/>
        </p:spPr>
        <p:txBody>
          <a:bodyPr lIns="18000" tIns="10800" rIns="18000" bIns="10800" anchor="ctr"/>
          <a:lstStyle/>
          <a:p>
            <a:pPr algn="ctr"/>
            <a:r>
              <a:rPr lang="zh-CN" altLang="en-US" sz="1800" b="1" u="none" dirty="0" smtClean="0">
                <a:latin typeface="+mn-ea"/>
                <a:ea typeface="+mn-ea"/>
              </a:rPr>
              <a:t>连接时</a:t>
            </a:r>
            <a:r>
              <a:rPr lang="zh-CN" altLang="en-US" sz="1800" b="1" u="none" dirty="0" smtClean="0">
                <a:solidFill>
                  <a:srgbClr val="FF3399"/>
                </a:solidFill>
                <a:latin typeface="+mn-ea"/>
                <a:ea typeface="+mn-ea"/>
              </a:rPr>
              <a:t>不关心</a:t>
            </a:r>
            <a:r>
              <a:rPr lang="zh-CN" altLang="en-US" sz="1800" b="1" u="none" dirty="0" smtClean="0">
                <a:latin typeface="+mn-ea"/>
                <a:ea typeface="+mn-ea"/>
              </a:rPr>
              <a:t>内部组成</a:t>
            </a:r>
            <a:r>
              <a:rPr lang="zh-CN" altLang="en-US" sz="1800" b="1" u="none" dirty="0" smtClean="0">
                <a:solidFill>
                  <a:srgbClr val="FF3399"/>
                </a:solidFill>
                <a:latin typeface="+mn-ea"/>
                <a:ea typeface="+mn-ea"/>
              </a:rPr>
              <a:t>！</a:t>
            </a:r>
            <a:endParaRPr lang="zh-CN" altLang="en-US" sz="1800" b="1" u="none" dirty="0">
              <a:solidFill>
                <a:srgbClr val="FF3399"/>
              </a:solidFill>
              <a:latin typeface="+mn-ea"/>
              <a:ea typeface="+mn-ea"/>
            </a:endParaRPr>
          </a:p>
        </p:txBody>
      </p:sp>
      <p:sp>
        <p:nvSpPr>
          <p:cNvPr id="71" name="Text Box 77"/>
          <p:cNvSpPr txBox="1">
            <a:spLocks noChangeArrowheads="1"/>
          </p:cNvSpPr>
          <p:nvPr/>
        </p:nvSpPr>
        <p:spPr bwMode="auto">
          <a:xfrm>
            <a:off x="971600" y="5276527"/>
            <a:ext cx="6332900" cy="369332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anchor="ctr" anchorCtr="0">
            <a:spAutoFit/>
          </a:bodyPr>
          <a:lstStyle/>
          <a:p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主存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-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总线连接和主存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-CPU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连接，接线上有什么差别</a:t>
            </a:r>
            <a:r>
              <a:rPr lang="zh-CN" altLang="en-US" sz="1800" b="1" u="none" dirty="0" smtClean="0">
                <a:latin typeface="+mn-ea"/>
              </a:rPr>
              <a:t>？</a:t>
            </a:r>
            <a:endParaRPr lang="en-US" altLang="zh-CN" sz="1800" b="1" u="none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5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54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54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54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774" grpId="0"/>
      <p:bldP spid="454779" grpId="0" bldLvl="0" animBg="1"/>
      <p:bldP spid="454806" grpId="0" animBg="1"/>
      <p:bldP spid="83" grpId="0" animBg="1"/>
      <p:bldP spid="74" grpId="0" animBg="1"/>
      <p:bldP spid="77" grpId="0" animBg="1"/>
      <p:bldP spid="7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Box 571"/>
          <p:cNvSpPr txBox="1">
            <a:spLocks noChangeArrowheads="1"/>
          </p:cNvSpPr>
          <p:nvPr/>
        </p:nvSpPr>
        <p:spPr bwMode="auto">
          <a:xfrm>
            <a:off x="179387" y="2132856"/>
            <a:ext cx="8713093" cy="18053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、增强的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DRAM     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--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优化方法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1(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改进工艺</a:t>
            </a:r>
            <a:r>
              <a:rPr lang="zh-CN" altLang="en-US" sz="1800" b="1" u="none" dirty="0">
                <a:latin typeface="宋体" panose="02010600030101010101" pitchFamily="2" charset="-122"/>
              </a:rPr>
              <a:t>或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组成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zh-CN" altLang="en-US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(1)FPM DRAM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（</a:t>
            </a:r>
            <a:r>
              <a:rPr lang="en-US" altLang="zh-CN" sz="2000" u="none" dirty="0" smtClean="0">
                <a:latin typeface="+mn-lt"/>
              </a:rPr>
              <a:t>Fast </a:t>
            </a:r>
            <a:r>
              <a:rPr lang="en-US" altLang="zh-CN" sz="2000" u="none" dirty="0" smtClean="0">
                <a:solidFill>
                  <a:srgbClr val="990099"/>
                </a:solidFill>
                <a:latin typeface="+mn-lt"/>
              </a:rPr>
              <a:t>Page</a:t>
            </a:r>
            <a:r>
              <a:rPr lang="en-US" altLang="zh-CN" sz="2000" u="none" dirty="0" smtClean="0">
                <a:latin typeface="+mn-lt"/>
              </a:rPr>
              <a:t> Mode</a:t>
            </a:r>
            <a:r>
              <a:rPr lang="en-US" altLang="zh-CN" sz="2000" u="none" dirty="0" smtClean="0">
                <a:latin typeface="宋体" panose="02010600030101010101" pitchFamily="2" charset="-122"/>
              </a:rPr>
              <a:t> 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DRAM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）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 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u="none" dirty="0" smtClean="0">
                <a:latin typeface="宋体" panose="02010600030101010101" pitchFamily="2" charset="-122"/>
              </a:rPr>
              <a:t>                      </a:t>
            </a:r>
            <a:r>
              <a:rPr lang="zh-CN" altLang="en-US" sz="1800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←页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指存储</a:t>
            </a:r>
            <a:r>
              <a:rPr lang="zh-CN" altLang="en-US" sz="1800" b="1" u="none" dirty="0">
                <a:latin typeface="宋体" panose="02010600030101010101" pitchFamily="2" charset="-122"/>
              </a:rPr>
              <a:t>矩阵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中同一行的所有单元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优化原理：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7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5FBBE-7F63-43A3-A0BB-BD5DE415E0B6}" type="slidenum">
              <a:rPr lang="en-US" altLang="zh-CN"/>
            </a:fld>
            <a:endParaRPr lang="en-US" altLang="zh-CN"/>
          </a:p>
        </p:txBody>
      </p:sp>
      <p:sp>
        <p:nvSpPr>
          <p:cNvPr id="455748" name="Text Box 68"/>
          <p:cNvSpPr txBox="1">
            <a:spLocks noChangeArrowheads="1"/>
          </p:cNvSpPr>
          <p:nvPr/>
        </p:nvSpPr>
        <p:spPr bwMode="auto">
          <a:xfrm>
            <a:off x="179388" y="337183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defRPr sz="2600" b="1" u="none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四、提高访存速度的技术      </a:t>
            </a:r>
            <a:r>
              <a:rPr lang="en-US" altLang="zh-CN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--</a:t>
            </a:r>
            <a:r>
              <a:rPr lang="zh-CN" alt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主存的优化设计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5813" name="AutoShape 133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7824" y="6519262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" name="AutoShape 13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878" y="651941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" name="Text Box 69"/>
          <p:cNvSpPr txBox="1">
            <a:spLocks noChangeArrowheads="1"/>
          </p:cNvSpPr>
          <p:nvPr/>
        </p:nvSpPr>
        <p:spPr bwMode="auto">
          <a:xfrm>
            <a:off x="179512" y="5517232"/>
            <a:ext cx="2232247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性能分析：</a:t>
            </a:r>
            <a:endParaRPr lang="zh-CN" altLang="en-US" b="1" u="none" dirty="0">
              <a:solidFill>
                <a:schemeClr val="accent2"/>
              </a:solidFill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58600" y="3933056"/>
            <a:ext cx="7833880" cy="1516073"/>
            <a:chOff x="1058600" y="3933056"/>
            <a:chExt cx="7833880" cy="1516073"/>
          </a:xfrm>
        </p:grpSpPr>
        <p:sp>
          <p:nvSpPr>
            <p:cNvPr id="286" name="Line 267"/>
            <p:cNvSpPr>
              <a:spLocks noChangeShapeType="1"/>
            </p:cNvSpPr>
            <p:nvPr/>
          </p:nvSpPr>
          <p:spPr bwMode="auto">
            <a:xfrm>
              <a:off x="1679437" y="3933952"/>
              <a:ext cx="142875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Line 268"/>
            <p:cNvSpPr>
              <a:spLocks noChangeShapeType="1"/>
            </p:cNvSpPr>
            <p:nvPr/>
          </p:nvSpPr>
          <p:spPr bwMode="auto">
            <a:xfrm>
              <a:off x="1679437" y="4150769"/>
              <a:ext cx="142875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Line 271"/>
            <p:cNvSpPr>
              <a:spLocks noChangeShapeType="1"/>
            </p:cNvSpPr>
            <p:nvPr/>
          </p:nvSpPr>
          <p:spPr bwMode="auto">
            <a:xfrm flipV="1">
              <a:off x="1679437" y="4221088"/>
              <a:ext cx="376976" cy="1685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Line 272"/>
            <p:cNvSpPr>
              <a:spLocks noChangeShapeType="1"/>
            </p:cNvSpPr>
            <p:nvPr/>
          </p:nvSpPr>
          <p:spPr bwMode="auto">
            <a:xfrm flipV="1">
              <a:off x="1678296" y="5336667"/>
              <a:ext cx="1873597" cy="134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Line 273"/>
            <p:cNvSpPr>
              <a:spLocks noChangeShapeType="1"/>
            </p:cNvSpPr>
            <p:nvPr/>
          </p:nvSpPr>
          <p:spPr bwMode="auto">
            <a:xfrm flipV="1">
              <a:off x="2182352" y="4437111"/>
              <a:ext cx="6264695" cy="218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Text Box 344"/>
            <p:cNvSpPr txBox="1">
              <a:spLocks noChangeArrowheads="1"/>
            </p:cNvSpPr>
            <p:nvPr/>
          </p:nvSpPr>
          <p:spPr bwMode="auto">
            <a:xfrm>
              <a:off x="1966328" y="3933952"/>
              <a:ext cx="469167" cy="2160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0" tIns="10800" rIns="0" bIns="10800" anchor="ctr" anchorCtr="0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92" name="Text Box 404"/>
            <p:cNvSpPr txBox="1">
              <a:spLocks noChangeArrowheads="1"/>
            </p:cNvSpPr>
            <p:nvPr/>
          </p:nvSpPr>
          <p:spPr bwMode="auto">
            <a:xfrm>
              <a:off x="1174240" y="4222774"/>
              <a:ext cx="431800" cy="2141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RAS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93" name="Line 405"/>
            <p:cNvSpPr>
              <a:spLocks noChangeShapeType="1"/>
            </p:cNvSpPr>
            <p:nvPr/>
          </p:nvSpPr>
          <p:spPr bwMode="auto">
            <a:xfrm>
              <a:off x="1231008" y="4221088"/>
              <a:ext cx="35083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" name="Line 437"/>
            <p:cNvSpPr>
              <a:spLocks noChangeShapeType="1"/>
            </p:cNvSpPr>
            <p:nvPr/>
          </p:nvSpPr>
          <p:spPr bwMode="auto">
            <a:xfrm flipV="1">
              <a:off x="1333496" y="4800769"/>
              <a:ext cx="23151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/>
              <a:endParaRPr lang="zh-CN" altLang="en-US"/>
            </a:p>
          </p:txBody>
        </p:sp>
        <p:sp>
          <p:nvSpPr>
            <p:cNvPr id="295" name="Line 699"/>
            <p:cNvSpPr>
              <a:spLocks noChangeShapeType="1"/>
            </p:cNvSpPr>
            <p:nvPr/>
          </p:nvSpPr>
          <p:spPr bwMode="auto">
            <a:xfrm flipV="1">
              <a:off x="1823454" y="3933057"/>
              <a:ext cx="142690" cy="216917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Line 700"/>
            <p:cNvSpPr>
              <a:spLocks noChangeShapeType="1"/>
            </p:cNvSpPr>
            <p:nvPr/>
          </p:nvSpPr>
          <p:spPr bwMode="auto">
            <a:xfrm>
              <a:off x="1822065" y="3933058"/>
              <a:ext cx="144264" cy="21691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" name="Text Box 691"/>
            <p:cNvSpPr txBox="1">
              <a:spLocks noChangeArrowheads="1"/>
            </p:cNvSpPr>
            <p:nvPr/>
          </p:nvSpPr>
          <p:spPr bwMode="auto">
            <a:xfrm>
              <a:off x="1058600" y="3933056"/>
              <a:ext cx="547688" cy="2162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6000" dirty="0" smtClean="0">
                  <a:latin typeface="宋体" panose="02010600030101010101" pitchFamily="2" charset="-122"/>
                </a:rPr>
                <a:t>4</a:t>
              </a:r>
              <a:r>
                <a:rPr lang="en-US" altLang="zh-CN" sz="1800" b="1" u="none" dirty="0" smtClean="0">
                  <a:latin typeface="+mn-lt"/>
                </a:rPr>
                <a:t>~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800" b="1" u="none" baseline="-16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298" name="Line 358"/>
            <p:cNvSpPr>
              <a:spLocks noChangeShapeType="1"/>
            </p:cNvSpPr>
            <p:nvPr/>
          </p:nvSpPr>
          <p:spPr bwMode="auto">
            <a:xfrm flipH="1">
              <a:off x="2066711" y="4153129"/>
              <a:ext cx="2829" cy="129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Line 267"/>
            <p:cNvSpPr>
              <a:spLocks noChangeShapeType="1"/>
            </p:cNvSpPr>
            <p:nvPr/>
          </p:nvSpPr>
          <p:spPr bwMode="auto">
            <a:xfrm>
              <a:off x="3118456" y="4041166"/>
              <a:ext cx="1009501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Line 269"/>
            <p:cNvSpPr>
              <a:spLocks noChangeShapeType="1"/>
            </p:cNvSpPr>
            <p:nvPr/>
          </p:nvSpPr>
          <p:spPr bwMode="auto">
            <a:xfrm flipV="1">
              <a:off x="2581227" y="3933057"/>
              <a:ext cx="465221" cy="89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" name="Line 270"/>
            <p:cNvSpPr>
              <a:spLocks noChangeShapeType="1"/>
            </p:cNvSpPr>
            <p:nvPr/>
          </p:nvSpPr>
          <p:spPr bwMode="auto">
            <a:xfrm flipV="1">
              <a:off x="2583459" y="4149280"/>
              <a:ext cx="462989" cy="1589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" name="Text Box 344"/>
            <p:cNvSpPr txBox="1">
              <a:spLocks noChangeArrowheads="1"/>
            </p:cNvSpPr>
            <p:nvPr/>
          </p:nvSpPr>
          <p:spPr bwMode="auto">
            <a:xfrm>
              <a:off x="2580359" y="3934847"/>
              <a:ext cx="466089" cy="2160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0" tIns="10800" rIns="0" bIns="10800" anchor="ctr" anchorCtr="0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1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03" name="Line 699"/>
            <p:cNvSpPr>
              <a:spLocks noChangeShapeType="1"/>
            </p:cNvSpPr>
            <p:nvPr/>
          </p:nvSpPr>
          <p:spPr bwMode="auto">
            <a:xfrm flipV="1">
              <a:off x="2437485" y="3933952"/>
              <a:ext cx="142690" cy="216917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Line 700"/>
            <p:cNvSpPr>
              <a:spLocks noChangeShapeType="1"/>
            </p:cNvSpPr>
            <p:nvPr/>
          </p:nvSpPr>
          <p:spPr bwMode="auto">
            <a:xfrm>
              <a:off x="2436096" y="3933953"/>
              <a:ext cx="144264" cy="21691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Line 699"/>
            <p:cNvSpPr>
              <a:spLocks noChangeShapeType="1"/>
            </p:cNvSpPr>
            <p:nvPr/>
          </p:nvSpPr>
          <p:spPr bwMode="auto">
            <a:xfrm flipV="1">
              <a:off x="3047837" y="4042409"/>
              <a:ext cx="71345" cy="10935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Line 700"/>
            <p:cNvSpPr>
              <a:spLocks noChangeShapeType="1"/>
            </p:cNvSpPr>
            <p:nvPr/>
          </p:nvSpPr>
          <p:spPr bwMode="auto">
            <a:xfrm>
              <a:off x="3046448" y="3934847"/>
              <a:ext cx="72734" cy="10846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Line 271"/>
            <p:cNvSpPr>
              <a:spLocks noChangeShapeType="1"/>
            </p:cNvSpPr>
            <p:nvPr/>
          </p:nvSpPr>
          <p:spPr bwMode="auto">
            <a:xfrm>
              <a:off x="1678297" y="4512985"/>
              <a:ext cx="936104" cy="2396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Line 273"/>
            <p:cNvSpPr>
              <a:spLocks noChangeShapeType="1"/>
            </p:cNvSpPr>
            <p:nvPr/>
          </p:nvSpPr>
          <p:spPr bwMode="auto">
            <a:xfrm flipV="1">
              <a:off x="2740340" y="4728900"/>
              <a:ext cx="957009" cy="605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Line 318"/>
            <p:cNvSpPr>
              <a:spLocks noChangeShapeType="1"/>
            </p:cNvSpPr>
            <p:nvPr/>
          </p:nvSpPr>
          <p:spPr bwMode="auto">
            <a:xfrm>
              <a:off x="2614400" y="4511301"/>
              <a:ext cx="125940" cy="217033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Text Box 404"/>
            <p:cNvSpPr txBox="1">
              <a:spLocks noChangeArrowheads="1"/>
            </p:cNvSpPr>
            <p:nvPr/>
          </p:nvSpPr>
          <p:spPr bwMode="auto">
            <a:xfrm>
              <a:off x="1174240" y="4513200"/>
              <a:ext cx="431800" cy="2141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8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CAS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11" name="Line 405"/>
            <p:cNvSpPr>
              <a:spLocks noChangeShapeType="1"/>
            </p:cNvSpPr>
            <p:nvPr/>
          </p:nvSpPr>
          <p:spPr bwMode="auto">
            <a:xfrm>
              <a:off x="1231008" y="4511514"/>
              <a:ext cx="35083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" name="Line 271"/>
            <p:cNvSpPr>
              <a:spLocks noChangeShapeType="1"/>
            </p:cNvSpPr>
            <p:nvPr/>
          </p:nvSpPr>
          <p:spPr bwMode="auto">
            <a:xfrm>
              <a:off x="1678297" y="5016791"/>
              <a:ext cx="936798" cy="2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Line 273"/>
            <p:cNvSpPr>
              <a:spLocks noChangeShapeType="1"/>
            </p:cNvSpPr>
            <p:nvPr/>
          </p:nvSpPr>
          <p:spPr bwMode="auto">
            <a:xfrm>
              <a:off x="2745032" y="4797153"/>
              <a:ext cx="5702015" cy="408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Text Box 404"/>
            <p:cNvSpPr txBox="1">
              <a:spLocks noChangeArrowheads="1"/>
            </p:cNvSpPr>
            <p:nvPr/>
          </p:nvSpPr>
          <p:spPr bwMode="auto">
            <a:xfrm>
              <a:off x="1318256" y="4802668"/>
              <a:ext cx="277936" cy="2141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8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WE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15" name="Text Box 691"/>
            <p:cNvSpPr txBox="1">
              <a:spLocks noChangeArrowheads="1"/>
            </p:cNvSpPr>
            <p:nvPr/>
          </p:nvSpPr>
          <p:spPr bwMode="auto">
            <a:xfrm>
              <a:off x="1058600" y="5226667"/>
              <a:ext cx="547688" cy="2162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16000" dirty="0" smtClean="0">
                  <a:latin typeface="宋体" panose="02010600030101010101" pitchFamily="2" charset="-122"/>
                </a:rPr>
                <a:t>3</a:t>
              </a:r>
              <a:r>
                <a:rPr lang="en-US" altLang="zh-CN" sz="1800" b="1" u="none" dirty="0" smtClean="0">
                  <a:latin typeface="+mn-lt"/>
                </a:rPr>
                <a:t>~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800" b="1" u="none" baseline="-16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316" name="Line 269"/>
            <p:cNvSpPr>
              <a:spLocks noChangeShapeType="1"/>
            </p:cNvSpPr>
            <p:nvPr/>
          </p:nvSpPr>
          <p:spPr bwMode="auto">
            <a:xfrm>
              <a:off x="3624106" y="5225081"/>
              <a:ext cx="287164" cy="89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" name="Line 270"/>
            <p:cNvSpPr>
              <a:spLocks noChangeShapeType="1"/>
            </p:cNvSpPr>
            <p:nvPr/>
          </p:nvSpPr>
          <p:spPr bwMode="auto">
            <a:xfrm>
              <a:off x="3626339" y="5441997"/>
              <a:ext cx="290340" cy="14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" name="Text Box 344"/>
            <p:cNvSpPr txBox="1">
              <a:spLocks noChangeArrowheads="1"/>
            </p:cNvSpPr>
            <p:nvPr/>
          </p:nvSpPr>
          <p:spPr bwMode="auto">
            <a:xfrm>
              <a:off x="3623238" y="5226868"/>
              <a:ext cx="293442" cy="2160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0" tIns="10800" rIns="0" bIns="10800" anchor="ctr" anchorCtr="0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1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19" name="Line 699"/>
            <p:cNvSpPr>
              <a:spLocks noChangeShapeType="1"/>
            </p:cNvSpPr>
            <p:nvPr/>
          </p:nvSpPr>
          <p:spPr bwMode="auto">
            <a:xfrm flipV="1">
              <a:off x="3912659" y="5333538"/>
              <a:ext cx="71345" cy="10935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" name="Line 700"/>
            <p:cNvSpPr>
              <a:spLocks noChangeShapeType="1"/>
            </p:cNvSpPr>
            <p:nvPr/>
          </p:nvSpPr>
          <p:spPr bwMode="auto">
            <a:xfrm>
              <a:off x="3911270" y="5225976"/>
              <a:ext cx="72734" cy="10846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" name="Line 699"/>
            <p:cNvSpPr>
              <a:spLocks noChangeShapeType="1"/>
            </p:cNvSpPr>
            <p:nvPr/>
          </p:nvSpPr>
          <p:spPr bwMode="auto">
            <a:xfrm flipV="1">
              <a:off x="3551893" y="5226868"/>
              <a:ext cx="71345" cy="10935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" name="Line 700"/>
            <p:cNvSpPr>
              <a:spLocks noChangeShapeType="1"/>
            </p:cNvSpPr>
            <p:nvPr/>
          </p:nvSpPr>
          <p:spPr bwMode="auto">
            <a:xfrm>
              <a:off x="3550504" y="5334432"/>
              <a:ext cx="72734" cy="10846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" name="Line 358"/>
            <p:cNvSpPr>
              <a:spLocks noChangeShapeType="1"/>
            </p:cNvSpPr>
            <p:nvPr/>
          </p:nvSpPr>
          <p:spPr bwMode="auto">
            <a:xfrm flipH="1">
              <a:off x="2689236" y="4149976"/>
              <a:ext cx="0" cy="129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4" name="Line 274"/>
            <p:cNvSpPr>
              <a:spLocks noChangeShapeType="1"/>
            </p:cNvSpPr>
            <p:nvPr/>
          </p:nvSpPr>
          <p:spPr bwMode="auto">
            <a:xfrm flipV="1">
              <a:off x="3694520" y="4509120"/>
              <a:ext cx="130632" cy="218205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Line 275"/>
            <p:cNvSpPr>
              <a:spLocks noChangeShapeType="1"/>
            </p:cNvSpPr>
            <p:nvPr/>
          </p:nvSpPr>
          <p:spPr bwMode="auto">
            <a:xfrm>
              <a:off x="3825152" y="4513200"/>
              <a:ext cx="517440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Line 699"/>
            <p:cNvSpPr>
              <a:spLocks noChangeShapeType="1"/>
            </p:cNvSpPr>
            <p:nvPr/>
          </p:nvSpPr>
          <p:spPr bwMode="auto">
            <a:xfrm flipV="1">
              <a:off x="4127957" y="3933952"/>
              <a:ext cx="71345" cy="109354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Line 700"/>
            <p:cNvSpPr>
              <a:spLocks noChangeShapeType="1"/>
            </p:cNvSpPr>
            <p:nvPr/>
          </p:nvSpPr>
          <p:spPr bwMode="auto">
            <a:xfrm>
              <a:off x="4126568" y="4041516"/>
              <a:ext cx="72734" cy="10846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Line 273"/>
            <p:cNvSpPr>
              <a:spLocks noChangeShapeType="1"/>
            </p:cNvSpPr>
            <p:nvPr/>
          </p:nvSpPr>
          <p:spPr bwMode="auto">
            <a:xfrm>
              <a:off x="4472181" y="4729506"/>
              <a:ext cx="806515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Line 318"/>
            <p:cNvSpPr>
              <a:spLocks noChangeShapeType="1"/>
            </p:cNvSpPr>
            <p:nvPr/>
          </p:nvSpPr>
          <p:spPr bwMode="auto">
            <a:xfrm>
              <a:off x="4342592" y="4510594"/>
              <a:ext cx="129590" cy="217033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0" name="Line 358"/>
            <p:cNvSpPr>
              <a:spLocks noChangeShapeType="1"/>
            </p:cNvSpPr>
            <p:nvPr/>
          </p:nvSpPr>
          <p:spPr bwMode="auto">
            <a:xfrm>
              <a:off x="4414598" y="4149976"/>
              <a:ext cx="2" cy="129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1" name="Line 272"/>
            <p:cNvSpPr>
              <a:spLocks noChangeShapeType="1"/>
            </p:cNvSpPr>
            <p:nvPr/>
          </p:nvSpPr>
          <p:spPr bwMode="auto">
            <a:xfrm>
              <a:off x="3982554" y="5329203"/>
              <a:ext cx="1153516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" name="Line 269"/>
            <p:cNvSpPr>
              <a:spLocks noChangeShapeType="1"/>
            </p:cNvSpPr>
            <p:nvPr/>
          </p:nvSpPr>
          <p:spPr bwMode="auto">
            <a:xfrm flipV="1">
              <a:off x="1966328" y="3933057"/>
              <a:ext cx="465221" cy="89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Line 269"/>
            <p:cNvSpPr>
              <a:spLocks noChangeShapeType="1"/>
            </p:cNvSpPr>
            <p:nvPr/>
          </p:nvSpPr>
          <p:spPr bwMode="auto">
            <a:xfrm flipV="1">
              <a:off x="1966328" y="4149081"/>
              <a:ext cx="465221" cy="89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Line 269"/>
            <p:cNvSpPr>
              <a:spLocks noChangeShapeType="1"/>
            </p:cNvSpPr>
            <p:nvPr/>
          </p:nvSpPr>
          <p:spPr bwMode="auto">
            <a:xfrm flipV="1">
              <a:off x="4199444" y="3933952"/>
              <a:ext cx="465221" cy="89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" name="Line 270"/>
            <p:cNvSpPr>
              <a:spLocks noChangeShapeType="1"/>
            </p:cNvSpPr>
            <p:nvPr/>
          </p:nvSpPr>
          <p:spPr bwMode="auto">
            <a:xfrm flipV="1">
              <a:off x="4201676" y="4150175"/>
              <a:ext cx="462989" cy="1589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" name="Text Box 344"/>
            <p:cNvSpPr txBox="1">
              <a:spLocks noChangeArrowheads="1"/>
            </p:cNvSpPr>
            <p:nvPr/>
          </p:nvSpPr>
          <p:spPr bwMode="auto">
            <a:xfrm>
              <a:off x="4198576" y="3935742"/>
              <a:ext cx="466089" cy="2160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0" tIns="10800" rIns="0" bIns="10800" anchor="ctr" anchorCtr="0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列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A4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37" name="Line 699"/>
            <p:cNvSpPr>
              <a:spLocks noChangeShapeType="1"/>
            </p:cNvSpPr>
            <p:nvPr/>
          </p:nvSpPr>
          <p:spPr bwMode="auto">
            <a:xfrm flipV="1">
              <a:off x="4666054" y="4043304"/>
              <a:ext cx="71345" cy="10935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" name="Line 700"/>
            <p:cNvSpPr>
              <a:spLocks noChangeShapeType="1"/>
            </p:cNvSpPr>
            <p:nvPr/>
          </p:nvSpPr>
          <p:spPr bwMode="auto">
            <a:xfrm>
              <a:off x="4664665" y="3935742"/>
              <a:ext cx="72734" cy="10846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" name="Line 267"/>
            <p:cNvSpPr>
              <a:spLocks noChangeShapeType="1"/>
            </p:cNvSpPr>
            <p:nvPr/>
          </p:nvSpPr>
          <p:spPr bwMode="auto">
            <a:xfrm>
              <a:off x="4739873" y="4041166"/>
              <a:ext cx="1009501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" name="Line 699"/>
            <p:cNvSpPr>
              <a:spLocks noChangeShapeType="1"/>
            </p:cNvSpPr>
            <p:nvPr/>
          </p:nvSpPr>
          <p:spPr bwMode="auto">
            <a:xfrm flipV="1">
              <a:off x="5749374" y="3933952"/>
              <a:ext cx="71345" cy="109354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" name="Line 700"/>
            <p:cNvSpPr>
              <a:spLocks noChangeShapeType="1"/>
            </p:cNvSpPr>
            <p:nvPr/>
          </p:nvSpPr>
          <p:spPr bwMode="auto">
            <a:xfrm>
              <a:off x="5747985" y="4041516"/>
              <a:ext cx="72734" cy="10846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" name="Line 269"/>
            <p:cNvSpPr>
              <a:spLocks noChangeShapeType="1"/>
            </p:cNvSpPr>
            <p:nvPr/>
          </p:nvSpPr>
          <p:spPr bwMode="auto">
            <a:xfrm flipV="1">
              <a:off x="5820861" y="3933952"/>
              <a:ext cx="465221" cy="89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" name="Line 270"/>
            <p:cNvSpPr>
              <a:spLocks noChangeShapeType="1"/>
            </p:cNvSpPr>
            <p:nvPr/>
          </p:nvSpPr>
          <p:spPr bwMode="auto">
            <a:xfrm flipV="1">
              <a:off x="5823093" y="4150175"/>
              <a:ext cx="462989" cy="1589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4" name="Text Box 344"/>
            <p:cNvSpPr txBox="1">
              <a:spLocks noChangeArrowheads="1"/>
            </p:cNvSpPr>
            <p:nvPr/>
          </p:nvSpPr>
          <p:spPr bwMode="auto">
            <a:xfrm>
              <a:off x="5819993" y="3935742"/>
              <a:ext cx="466089" cy="2160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0" tIns="10800" rIns="0" bIns="10800" anchor="ctr" anchorCtr="0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列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A3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45" name="Line 699"/>
            <p:cNvSpPr>
              <a:spLocks noChangeShapeType="1"/>
            </p:cNvSpPr>
            <p:nvPr/>
          </p:nvSpPr>
          <p:spPr bwMode="auto">
            <a:xfrm flipV="1">
              <a:off x="6287471" y="4043304"/>
              <a:ext cx="71345" cy="10935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" name="Line 700"/>
            <p:cNvSpPr>
              <a:spLocks noChangeShapeType="1"/>
            </p:cNvSpPr>
            <p:nvPr/>
          </p:nvSpPr>
          <p:spPr bwMode="auto">
            <a:xfrm>
              <a:off x="6286082" y="3935742"/>
              <a:ext cx="72734" cy="10846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7" name="Line 269"/>
            <p:cNvSpPr>
              <a:spLocks noChangeShapeType="1"/>
            </p:cNvSpPr>
            <p:nvPr/>
          </p:nvSpPr>
          <p:spPr bwMode="auto">
            <a:xfrm>
              <a:off x="5208282" y="5226868"/>
              <a:ext cx="287164" cy="89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" name="Line 270"/>
            <p:cNvSpPr>
              <a:spLocks noChangeShapeType="1"/>
            </p:cNvSpPr>
            <p:nvPr/>
          </p:nvSpPr>
          <p:spPr bwMode="auto">
            <a:xfrm>
              <a:off x="5210515" y="5443784"/>
              <a:ext cx="290340" cy="14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" name="Text Box 344"/>
            <p:cNvSpPr txBox="1">
              <a:spLocks noChangeArrowheads="1"/>
            </p:cNvSpPr>
            <p:nvPr/>
          </p:nvSpPr>
          <p:spPr bwMode="auto">
            <a:xfrm>
              <a:off x="5207414" y="5228655"/>
              <a:ext cx="293442" cy="2160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0" tIns="10800" rIns="0" bIns="10800" anchor="ctr" anchorCtr="0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D4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50" name="Line 699"/>
            <p:cNvSpPr>
              <a:spLocks noChangeShapeType="1"/>
            </p:cNvSpPr>
            <p:nvPr/>
          </p:nvSpPr>
          <p:spPr bwMode="auto">
            <a:xfrm flipV="1">
              <a:off x="5496835" y="5335325"/>
              <a:ext cx="71345" cy="10935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1" name="Line 700"/>
            <p:cNvSpPr>
              <a:spLocks noChangeShapeType="1"/>
            </p:cNvSpPr>
            <p:nvPr/>
          </p:nvSpPr>
          <p:spPr bwMode="auto">
            <a:xfrm>
              <a:off x="5495446" y="5227763"/>
              <a:ext cx="72734" cy="10846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" name="Line 699"/>
            <p:cNvSpPr>
              <a:spLocks noChangeShapeType="1"/>
            </p:cNvSpPr>
            <p:nvPr/>
          </p:nvSpPr>
          <p:spPr bwMode="auto">
            <a:xfrm flipV="1">
              <a:off x="5136069" y="5228655"/>
              <a:ext cx="71345" cy="10935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3" name="Line 700"/>
            <p:cNvSpPr>
              <a:spLocks noChangeShapeType="1"/>
            </p:cNvSpPr>
            <p:nvPr/>
          </p:nvSpPr>
          <p:spPr bwMode="auto">
            <a:xfrm>
              <a:off x="5134680" y="5336219"/>
              <a:ext cx="72734" cy="10846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4" name="Line 272"/>
            <p:cNvSpPr>
              <a:spLocks noChangeShapeType="1"/>
            </p:cNvSpPr>
            <p:nvPr/>
          </p:nvSpPr>
          <p:spPr bwMode="auto">
            <a:xfrm>
              <a:off x="5566728" y="5329203"/>
              <a:ext cx="1153516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5" name="Line 269"/>
            <p:cNvSpPr>
              <a:spLocks noChangeShapeType="1"/>
            </p:cNvSpPr>
            <p:nvPr/>
          </p:nvSpPr>
          <p:spPr bwMode="auto">
            <a:xfrm>
              <a:off x="6792456" y="5226868"/>
              <a:ext cx="287164" cy="89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6" name="Line 270"/>
            <p:cNvSpPr>
              <a:spLocks noChangeShapeType="1"/>
            </p:cNvSpPr>
            <p:nvPr/>
          </p:nvSpPr>
          <p:spPr bwMode="auto">
            <a:xfrm>
              <a:off x="6794689" y="5443784"/>
              <a:ext cx="290340" cy="14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7" name="Text Box 344"/>
            <p:cNvSpPr txBox="1">
              <a:spLocks noChangeArrowheads="1"/>
            </p:cNvSpPr>
            <p:nvPr/>
          </p:nvSpPr>
          <p:spPr bwMode="auto">
            <a:xfrm>
              <a:off x="6791588" y="5228655"/>
              <a:ext cx="293442" cy="2160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0" tIns="10800" rIns="0" bIns="10800" anchor="ctr" anchorCtr="0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D3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58" name="Line 699"/>
            <p:cNvSpPr>
              <a:spLocks noChangeShapeType="1"/>
            </p:cNvSpPr>
            <p:nvPr/>
          </p:nvSpPr>
          <p:spPr bwMode="auto">
            <a:xfrm flipV="1">
              <a:off x="7081009" y="5335325"/>
              <a:ext cx="71345" cy="10935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" name="Line 700"/>
            <p:cNvSpPr>
              <a:spLocks noChangeShapeType="1"/>
            </p:cNvSpPr>
            <p:nvPr/>
          </p:nvSpPr>
          <p:spPr bwMode="auto">
            <a:xfrm>
              <a:off x="7079620" y="5227763"/>
              <a:ext cx="72734" cy="10846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0" name="Line 699"/>
            <p:cNvSpPr>
              <a:spLocks noChangeShapeType="1"/>
            </p:cNvSpPr>
            <p:nvPr/>
          </p:nvSpPr>
          <p:spPr bwMode="auto">
            <a:xfrm flipV="1">
              <a:off x="6720243" y="5228655"/>
              <a:ext cx="71345" cy="10935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1" name="Line 700"/>
            <p:cNvSpPr>
              <a:spLocks noChangeShapeType="1"/>
            </p:cNvSpPr>
            <p:nvPr/>
          </p:nvSpPr>
          <p:spPr bwMode="auto">
            <a:xfrm>
              <a:off x="6718854" y="5336219"/>
              <a:ext cx="72734" cy="10846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2" name="Line 267"/>
            <p:cNvSpPr>
              <a:spLocks noChangeShapeType="1"/>
            </p:cNvSpPr>
            <p:nvPr/>
          </p:nvSpPr>
          <p:spPr bwMode="auto">
            <a:xfrm>
              <a:off x="6358816" y="4041166"/>
              <a:ext cx="1009501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3" name="Line 699"/>
            <p:cNvSpPr>
              <a:spLocks noChangeShapeType="1"/>
            </p:cNvSpPr>
            <p:nvPr/>
          </p:nvSpPr>
          <p:spPr bwMode="auto">
            <a:xfrm flipV="1">
              <a:off x="7368317" y="3933952"/>
              <a:ext cx="71345" cy="109354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" name="Line 700"/>
            <p:cNvSpPr>
              <a:spLocks noChangeShapeType="1"/>
            </p:cNvSpPr>
            <p:nvPr/>
          </p:nvSpPr>
          <p:spPr bwMode="auto">
            <a:xfrm>
              <a:off x="7366928" y="4041516"/>
              <a:ext cx="72734" cy="10846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5" name="Line 269"/>
            <p:cNvSpPr>
              <a:spLocks noChangeShapeType="1"/>
            </p:cNvSpPr>
            <p:nvPr/>
          </p:nvSpPr>
          <p:spPr bwMode="auto">
            <a:xfrm flipV="1">
              <a:off x="7439804" y="3933952"/>
              <a:ext cx="465221" cy="895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" name="Line 270"/>
            <p:cNvSpPr>
              <a:spLocks noChangeShapeType="1"/>
            </p:cNvSpPr>
            <p:nvPr/>
          </p:nvSpPr>
          <p:spPr bwMode="auto">
            <a:xfrm flipV="1">
              <a:off x="7442036" y="4150175"/>
              <a:ext cx="462989" cy="1589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Text Box 344"/>
            <p:cNvSpPr txBox="1">
              <a:spLocks noChangeArrowheads="1"/>
            </p:cNvSpPr>
            <p:nvPr/>
          </p:nvSpPr>
          <p:spPr bwMode="auto">
            <a:xfrm>
              <a:off x="7438936" y="3935742"/>
              <a:ext cx="466089" cy="2160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0" tIns="10800" rIns="0" bIns="10800" anchor="ctr" anchorCtr="0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列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A2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68" name="Line 699"/>
            <p:cNvSpPr>
              <a:spLocks noChangeShapeType="1"/>
            </p:cNvSpPr>
            <p:nvPr/>
          </p:nvSpPr>
          <p:spPr bwMode="auto">
            <a:xfrm flipV="1">
              <a:off x="7906414" y="4043304"/>
              <a:ext cx="71345" cy="10935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Line 700"/>
            <p:cNvSpPr>
              <a:spLocks noChangeShapeType="1"/>
            </p:cNvSpPr>
            <p:nvPr/>
          </p:nvSpPr>
          <p:spPr bwMode="auto">
            <a:xfrm>
              <a:off x="7905025" y="3935742"/>
              <a:ext cx="72734" cy="10846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" name="Line 272"/>
            <p:cNvSpPr>
              <a:spLocks noChangeShapeType="1"/>
            </p:cNvSpPr>
            <p:nvPr/>
          </p:nvSpPr>
          <p:spPr bwMode="auto">
            <a:xfrm>
              <a:off x="7149454" y="5329203"/>
              <a:ext cx="1153516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1" name="Line 269"/>
            <p:cNvSpPr>
              <a:spLocks noChangeShapeType="1"/>
            </p:cNvSpPr>
            <p:nvPr/>
          </p:nvSpPr>
          <p:spPr bwMode="auto">
            <a:xfrm>
              <a:off x="8375182" y="5226868"/>
              <a:ext cx="287164" cy="89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2" name="Line 270"/>
            <p:cNvSpPr>
              <a:spLocks noChangeShapeType="1"/>
            </p:cNvSpPr>
            <p:nvPr/>
          </p:nvSpPr>
          <p:spPr bwMode="auto">
            <a:xfrm>
              <a:off x="8377415" y="5443784"/>
              <a:ext cx="290340" cy="14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3" name="Text Box 344"/>
            <p:cNvSpPr txBox="1">
              <a:spLocks noChangeArrowheads="1"/>
            </p:cNvSpPr>
            <p:nvPr/>
          </p:nvSpPr>
          <p:spPr bwMode="auto">
            <a:xfrm>
              <a:off x="8374314" y="5228655"/>
              <a:ext cx="293442" cy="2160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0" tIns="10800" rIns="0" bIns="10800" anchor="ctr" anchorCtr="0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D2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74" name="Line 699"/>
            <p:cNvSpPr>
              <a:spLocks noChangeShapeType="1"/>
            </p:cNvSpPr>
            <p:nvPr/>
          </p:nvSpPr>
          <p:spPr bwMode="auto">
            <a:xfrm flipV="1">
              <a:off x="8663735" y="5335325"/>
              <a:ext cx="71345" cy="10935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5" name="Line 700"/>
            <p:cNvSpPr>
              <a:spLocks noChangeShapeType="1"/>
            </p:cNvSpPr>
            <p:nvPr/>
          </p:nvSpPr>
          <p:spPr bwMode="auto">
            <a:xfrm>
              <a:off x="8662346" y="5227763"/>
              <a:ext cx="72734" cy="10846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6" name="Line 699"/>
            <p:cNvSpPr>
              <a:spLocks noChangeShapeType="1"/>
            </p:cNvSpPr>
            <p:nvPr/>
          </p:nvSpPr>
          <p:spPr bwMode="auto">
            <a:xfrm flipV="1">
              <a:off x="8302969" y="5228655"/>
              <a:ext cx="71345" cy="10935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7" name="Line 700"/>
            <p:cNvSpPr>
              <a:spLocks noChangeShapeType="1"/>
            </p:cNvSpPr>
            <p:nvPr/>
          </p:nvSpPr>
          <p:spPr bwMode="auto">
            <a:xfrm>
              <a:off x="8301580" y="5336219"/>
              <a:ext cx="72734" cy="10846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" name="Line 358"/>
            <p:cNvSpPr>
              <a:spLocks noChangeShapeType="1"/>
            </p:cNvSpPr>
            <p:nvPr/>
          </p:nvSpPr>
          <p:spPr bwMode="auto">
            <a:xfrm flipH="1">
              <a:off x="5998775" y="4149976"/>
              <a:ext cx="0" cy="129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" name="Line 358"/>
            <p:cNvSpPr>
              <a:spLocks noChangeShapeType="1"/>
            </p:cNvSpPr>
            <p:nvPr/>
          </p:nvSpPr>
          <p:spPr bwMode="auto">
            <a:xfrm flipH="1">
              <a:off x="7652130" y="4149976"/>
              <a:ext cx="0" cy="129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" name="Line 274"/>
            <p:cNvSpPr>
              <a:spLocks noChangeShapeType="1"/>
            </p:cNvSpPr>
            <p:nvPr/>
          </p:nvSpPr>
          <p:spPr bwMode="auto">
            <a:xfrm flipV="1">
              <a:off x="5278696" y="4511301"/>
              <a:ext cx="130632" cy="218205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" name="Line 275"/>
            <p:cNvSpPr>
              <a:spLocks noChangeShapeType="1"/>
            </p:cNvSpPr>
            <p:nvPr/>
          </p:nvSpPr>
          <p:spPr bwMode="auto">
            <a:xfrm>
              <a:off x="5409328" y="4515381"/>
              <a:ext cx="517440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2" name="Line 318"/>
            <p:cNvSpPr>
              <a:spLocks noChangeShapeType="1"/>
            </p:cNvSpPr>
            <p:nvPr/>
          </p:nvSpPr>
          <p:spPr bwMode="auto">
            <a:xfrm>
              <a:off x="5926768" y="4512775"/>
              <a:ext cx="126269" cy="212973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3" name="Line 358"/>
            <p:cNvSpPr>
              <a:spLocks noChangeShapeType="1"/>
            </p:cNvSpPr>
            <p:nvPr/>
          </p:nvSpPr>
          <p:spPr bwMode="auto">
            <a:xfrm flipH="1">
              <a:off x="3767602" y="4513200"/>
              <a:ext cx="0" cy="72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4" name="Line 358"/>
            <p:cNvSpPr>
              <a:spLocks noChangeShapeType="1"/>
            </p:cNvSpPr>
            <p:nvPr/>
          </p:nvSpPr>
          <p:spPr bwMode="auto">
            <a:xfrm flipH="1">
              <a:off x="5342894" y="4509120"/>
              <a:ext cx="0" cy="72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" name="Line 273"/>
            <p:cNvSpPr>
              <a:spLocks noChangeShapeType="1"/>
            </p:cNvSpPr>
            <p:nvPr/>
          </p:nvSpPr>
          <p:spPr bwMode="auto">
            <a:xfrm>
              <a:off x="6053471" y="4729506"/>
              <a:ext cx="809400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" name="Line 274"/>
            <p:cNvSpPr>
              <a:spLocks noChangeShapeType="1"/>
            </p:cNvSpPr>
            <p:nvPr/>
          </p:nvSpPr>
          <p:spPr bwMode="auto">
            <a:xfrm flipV="1">
              <a:off x="6862871" y="4511301"/>
              <a:ext cx="130632" cy="218205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7" name="Line 275"/>
            <p:cNvSpPr>
              <a:spLocks noChangeShapeType="1"/>
            </p:cNvSpPr>
            <p:nvPr/>
          </p:nvSpPr>
          <p:spPr bwMode="auto">
            <a:xfrm flipV="1">
              <a:off x="6993502" y="4510594"/>
              <a:ext cx="589447" cy="478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" name="Line 318"/>
            <p:cNvSpPr>
              <a:spLocks noChangeShapeType="1"/>
            </p:cNvSpPr>
            <p:nvPr/>
          </p:nvSpPr>
          <p:spPr bwMode="auto">
            <a:xfrm>
              <a:off x="7582952" y="4512775"/>
              <a:ext cx="119633" cy="212973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" name="Line 358"/>
            <p:cNvSpPr>
              <a:spLocks noChangeShapeType="1"/>
            </p:cNvSpPr>
            <p:nvPr/>
          </p:nvSpPr>
          <p:spPr bwMode="auto">
            <a:xfrm>
              <a:off x="6934878" y="4509120"/>
              <a:ext cx="1159" cy="72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" name="Line 273"/>
            <p:cNvSpPr>
              <a:spLocks noChangeShapeType="1"/>
            </p:cNvSpPr>
            <p:nvPr/>
          </p:nvSpPr>
          <p:spPr bwMode="auto">
            <a:xfrm>
              <a:off x="7702585" y="4727627"/>
              <a:ext cx="744462" cy="1878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1" name="Line 274"/>
            <p:cNvSpPr>
              <a:spLocks noChangeShapeType="1"/>
            </p:cNvSpPr>
            <p:nvPr/>
          </p:nvSpPr>
          <p:spPr bwMode="auto">
            <a:xfrm flipV="1">
              <a:off x="8447048" y="4511301"/>
              <a:ext cx="130632" cy="218205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" name="Line 275"/>
            <p:cNvSpPr>
              <a:spLocks noChangeShapeType="1"/>
            </p:cNvSpPr>
            <p:nvPr/>
          </p:nvSpPr>
          <p:spPr bwMode="auto">
            <a:xfrm>
              <a:off x="8577680" y="4515381"/>
              <a:ext cx="301416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3" name="Line 358"/>
            <p:cNvSpPr>
              <a:spLocks noChangeShapeType="1"/>
            </p:cNvSpPr>
            <p:nvPr/>
          </p:nvSpPr>
          <p:spPr bwMode="auto">
            <a:xfrm flipH="1">
              <a:off x="8511245" y="3933056"/>
              <a:ext cx="0" cy="129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4" name="Line 274"/>
            <p:cNvSpPr>
              <a:spLocks noChangeShapeType="1"/>
            </p:cNvSpPr>
            <p:nvPr/>
          </p:nvSpPr>
          <p:spPr bwMode="auto">
            <a:xfrm flipV="1">
              <a:off x="8447048" y="4221088"/>
              <a:ext cx="130632" cy="218205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5" name="Line 275"/>
            <p:cNvSpPr>
              <a:spLocks noChangeShapeType="1"/>
            </p:cNvSpPr>
            <p:nvPr/>
          </p:nvSpPr>
          <p:spPr bwMode="auto">
            <a:xfrm>
              <a:off x="8577680" y="4225168"/>
              <a:ext cx="301416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" name="Line 318"/>
            <p:cNvSpPr>
              <a:spLocks noChangeShapeType="1"/>
            </p:cNvSpPr>
            <p:nvPr/>
          </p:nvSpPr>
          <p:spPr bwMode="auto">
            <a:xfrm>
              <a:off x="8447047" y="4797152"/>
              <a:ext cx="144018" cy="21964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7" name="Line 274"/>
            <p:cNvSpPr>
              <a:spLocks noChangeShapeType="1"/>
            </p:cNvSpPr>
            <p:nvPr/>
          </p:nvSpPr>
          <p:spPr bwMode="auto">
            <a:xfrm flipV="1">
              <a:off x="2614400" y="4798588"/>
              <a:ext cx="130632" cy="218205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8" name="Line 318"/>
            <p:cNvSpPr>
              <a:spLocks noChangeShapeType="1"/>
            </p:cNvSpPr>
            <p:nvPr/>
          </p:nvSpPr>
          <p:spPr bwMode="auto">
            <a:xfrm>
              <a:off x="2056412" y="4221088"/>
              <a:ext cx="125940" cy="217033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" name="Line 275"/>
            <p:cNvSpPr>
              <a:spLocks noChangeShapeType="1"/>
            </p:cNvSpPr>
            <p:nvPr/>
          </p:nvSpPr>
          <p:spPr bwMode="auto">
            <a:xfrm>
              <a:off x="8591064" y="5016793"/>
              <a:ext cx="301416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" name="Line 272"/>
            <p:cNvSpPr>
              <a:spLocks noChangeShapeType="1"/>
            </p:cNvSpPr>
            <p:nvPr/>
          </p:nvSpPr>
          <p:spPr bwMode="auto">
            <a:xfrm>
              <a:off x="8735080" y="5333166"/>
              <a:ext cx="143952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1" name="Line 267"/>
            <p:cNvSpPr>
              <a:spLocks noChangeShapeType="1"/>
            </p:cNvSpPr>
            <p:nvPr/>
          </p:nvSpPr>
          <p:spPr bwMode="auto">
            <a:xfrm>
              <a:off x="7977759" y="4043285"/>
              <a:ext cx="901337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2" name="Text Box 326"/>
            <p:cNvSpPr txBox="1">
              <a:spLocks noChangeArrowheads="1"/>
            </p:cNvSpPr>
            <p:nvPr/>
          </p:nvSpPr>
          <p:spPr bwMode="auto">
            <a:xfrm>
              <a:off x="2938524" y="5033937"/>
              <a:ext cx="431800" cy="19526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>
                  <a:latin typeface="宋体" panose="02010600030101010101" pitchFamily="2" charset="-122"/>
                </a:rPr>
                <a:t>CAC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403" name="Line 327"/>
            <p:cNvSpPr>
              <a:spLocks noChangeShapeType="1"/>
            </p:cNvSpPr>
            <p:nvPr/>
          </p:nvSpPr>
          <p:spPr bwMode="auto">
            <a:xfrm flipV="1">
              <a:off x="3364863" y="5157192"/>
              <a:ext cx="25764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4" name="Line 328"/>
            <p:cNvSpPr>
              <a:spLocks noChangeShapeType="1"/>
            </p:cNvSpPr>
            <p:nvPr/>
          </p:nvSpPr>
          <p:spPr bwMode="auto">
            <a:xfrm flipH="1" flipV="1">
              <a:off x="2686408" y="5157192"/>
              <a:ext cx="25231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" name="Line 358"/>
            <p:cNvSpPr>
              <a:spLocks noChangeShapeType="1"/>
            </p:cNvSpPr>
            <p:nvPr/>
          </p:nvSpPr>
          <p:spPr bwMode="auto">
            <a:xfrm flipH="1">
              <a:off x="3622512" y="5085184"/>
              <a:ext cx="0" cy="1232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6" name="Text Box 326"/>
            <p:cNvSpPr txBox="1">
              <a:spLocks noChangeArrowheads="1"/>
            </p:cNvSpPr>
            <p:nvPr/>
          </p:nvSpPr>
          <p:spPr bwMode="auto">
            <a:xfrm>
              <a:off x="2210728" y="5033937"/>
              <a:ext cx="360486" cy="19526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 smtClean="0">
                  <a:latin typeface="宋体" panose="02010600030101010101" pitchFamily="2" charset="-122"/>
                </a:rPr>
                <a:t>RCL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407" name="Line 327"/>
            <p:cNvSpPr>
              <a:spLocks noChangeShapeType="1"/>
            </p:cNvSpPr>
            <p:nvPr/>
          </p:nvSpPr>
          <p:spPr bwMode="auto">
            <a:xfrm flipV="1">
              <a:off x="2570768" y="5157192"/>
              <a:ext cx="1036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8" name="Line 328"/>
            <p:cNvSpPr>
              <a:spLocks noChangeShapeType="1"/>
            </p:cNvSpPr>
            <p:nvPr/>
          </p:nvSpPr>
          <p:spPr bwMode="auto">
            <a:xfrm flipH="1" flipV="1">
              <a:off x="2066712" y="5157192"/>
              <a:ext cx="1261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0" name="Text Box 70"/>
          <p:cNvSpPr txBox="1">
            <a:spLocks noChangeArrowheads="1"/>
          </p:cNvSpPr>
          <p:nvPr/>
        </p:nvSpPr>
        <p:spPr bwMode="auto">
          <a:xfrm>
            <a:off x="179388" y="836712"/>
            <a:ext cx="2232371" cy="12399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访存需求：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 </a:t>
            </a:r>
            <a:endParaRPr lang="en-US" altLang="zh-CN" sz="22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1800" b="1" u="none" dirty="0" smtClean="0">
                <a:latin typeface="宋体" panose="02010600030101010101" pitchFamily="2" charset="-122"/>
              </a:rPr>
              <a:t> 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优化方法：</a:t>
            </a:r>
            <a:endParaRPr lang="zh-CN" altLang="en-US" sz="1800" u="none" dirty="0">
              <a:latin typeface="宋体" panose="02010600030101010101" pitchFamily="2" charset="-122"/>
            </a:endParaRPr>
          </a:p>
        </p:txBody>
      </p:sp>
      <p:sp>
        <p:nvSpPr>
          <p:cNvPr id="141" name="Text Box 70"/>
          <p:cNvSpPr txBox="1">
            <a:spLocks noChangeArrowheads="1"/>
          </p:cNvSpPr>
          <p:nvPr/>
        </p:nvSpPr>
        <p:spPr bwMode="auto">
          <a:xfrm>
            <a:off x="2051471" y="836712"/>
            <a:ext cx="6841009" cy="13034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一次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访问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多个连续单元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多次</a:t>
            </a:r>
            <a:r>
              <a:rPr lang="zh-CN" altLang="en-US" b="1" u="none" dirty="0">
                <a:latin typeface="宋体" panose="02010600030101010101" pitchFamily="2" charset="-122"/>
              </a:rPr>
              <a:t>访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存的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地址连续</a:t>
            </a:r>
            <a:endParaRPr lang="en-US" altLang="zh-CN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1800" b="1" u="none" dirty="0" smtClean="0">
                <a:latin typeface="宋体" panose="02010600030101010101" pitchFamily="2" charset="-122"/>
              </a:rPr>
              <a:t>      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数据长度＝</a:t>
            </a:r>
            <a:r>
              <a:rPr lang="en-US" altLang="zh-CN" sz="1800" b="1" i="1" u="none" dirty="0" smtClean="0">
                <a:latin typeface="+mn-lt"/>
              </a:rPr>
              <a:t>x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个单元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          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程序访问局部性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b="1" u="none" dirty="0">
                <a:latin typeface="宋体" panose="02010600030101010101" pitchFamily="2" charset="-122"/>
              </a:rPr>
              <a:t>改进工艺、并行处理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多个</a:t>
            </a:r>
            <a:r>
              <a:rPr lang="en-US" altLang="zh-CN" sz="1800" b="1" u="none" dirty="0">
                <a:latin typeface="宋体" panose="02010600030101010101" pitchFamily="2" charset="-122"/>
              </a:rPr>
              <a:t>MEM)</a:t>
            </a:r>
            <a:r>
              <a:rPr lang="zh-CN" altLang="en-US" b="1" u="none" dirty="0">
                <a:latin typeface="宋体" panose="02010600030101010101" pitchFamily="2" charset="-122"/>
              </a:rPr>
              <a:t>、层次结构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多种</a:t>
            </a:r>
            <a:r>
              <a:rPr lang="en-US" altLang="zh-CN" sz="1800" b="1" u="none" dirty="0">
                <a:latin typeface="宋体" panose="02010600030101010101" pitchFamily="2" charset="-122"/>
              </a:rPr>
              <a:t>MEM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b="1" u="none" dirty="0">
              <a:latin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051720" y="3356992"/>
            <a:ext cx="6769001" cy="553998"/>
            <a:chOff x="2195611" y="3304233"/>
            <a:chExt cx="6769001" cy="553998"/>
          </a:xfrm>
        </p:grpSpPr>
        <p:sp>
          <p:nvSpPr>
            <p:cNvPr id="146" name="Text Box 571"/>
            <p:cNvSpPr txBox="1">
              <a:spLocks noChangeArrowheads="1"/>
            </p:cNvSpPr>
            <p:nvPr/>
          </p:nvSpPr>
          <p:spPr bwMode="auto">
            <a:xfrm>
              <a:off x="2195611" y="3304233"/>
              <a:ext cx="6769001" cy="55399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b="1" u="none" dirty="0" smtClean="0">
                  <a:latin typeface="宋体" panose="02010600030101010101" pitchFamily="2" charset="-122"/>
                </a:rPr>
                <a:t>同一行的操作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列地址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可不连续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，可</a:t>
              </a:r>
              <a:r>
                <a:rPr lang="zh-CN" altLang="en-US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共用</a:t>
              </a:r>
              <a:r>
                <a:rPr lang="en-US" altLang="zh-CN" b="1" u="none" dirty="0" smtClean="0">
                  <a:latin typeface="宋体" panose="02010600030101010101" pitchFamily="2" charset="-122"/>
                </a:rPr>
                <a:t>RAS</a:t>
              </a:r>
              <a:r>
                <a:rPr lang="zh-CN" altLang="en-US" b="1" u="none" dirty="0" smtClean="0">
                  <a:latin typeface="宋体" panose="02010600030101010101" pitchFamily="2" charset="-122"/>
                </a:rPr>
                <a:t>信号</a:t>
              </a:r>
              <a:endParaRPr lang="en-US" altLang="zh-CN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78" name="直接连接符 77"/>
            <p:cNvCxnSpPr/>
            <p:nvPr/>
          </p:nvCxnSpPr>
          <p:spPr bwMode="auto">
            <a:xfrm>
              <a:off x="7217891" y="3457241"/>
              <a:ext cx="4068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8" name="Text Box 69"/>
          <p:cNvSpPr txBox="1">
            <a:spLocks noChangeArrowheads="1"/>
          </p:cNvSpPr>
          <p:nvPr/>
        </p:nvSpPr>
        <p:spPr bwMode="auto">
          <a:xfrm>
            <a:off x="2051720" y="5517232"/>
            <a:ext cx="6624738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i="1" u="none" dirty="0" smtClean="0"/>
              <a:t>T</a:t>
            </a:r>
            <a:r>
              <a:rPr lang="en-US" altLang="zh-CN" b="1" u="none" baseline="-18000" dirty="0" smtClean="0">
                <a:latin typeface="+mn-ea"/>
                <a:ea typeface="+mn-ea"/>
              </a:rPr>
              <a:t>DRAM</a:t>
            </a:r>
            <a:r>
              <a:rPr lang="zh-CN" altLang="en-US" b="1" u="none" dirty="0" smtClean="0">
                <a:latin typeface="+mn-ea"/>
              </a:rPr>
              <a:t>＝</a:t>
            </a:r>
            <a:r>
              <a:rPr lang="en-US" altLang="zh-CN" b="1" i="1" u="none" dirty="0" smtClean="0">
                <a:solidFill>
                  <a:srgbClr val="990099"/>
                </a:solidFill>
              </a:rPr>
              <a:t>n·</a:t>
            </a:r>
            <a:r>
              <a:rPr lang="en-US" altLang="zh-CN" b="1" u="none" dirty="0" smtClean="0">
                <a:latin typeface="+mn-ea"/>
                <a:ea typeface="+mn-ea"/>
              </a:rPr>
              <a:t>(</a:t>
            </a:r>
            <a:r>
              <a:rPr lang="en-US" altLang="zh-CN" b="1" i="1" u="none" dirty="0" err="1" smtClean="0">
                <a:solidFill>
                  <a:srgbClr val="990099"/>
                </a:solidFill>
              </a:rPr>
              <a:t>t</a:t>
            </a:r>
            <a:r>
              <a:rPr lang="en-US" altLang="zh-CN" b="1" u="none" baseline="-18000" dirty="0" err="1" smtClean="0">
                <a:solidFill>
                  <a:srgbClr val="990099"/>
                </a:solidFill>
                <a:latin typeface="+mn-ea"/>
              </a:rPr>
              <a:t>RCL</a:t>
            </a:r>
            <a:r>
              <a:rPr lang="en-US" altLang="zh-CN" b="1" u="none" dirty="0" err="1" smtClean="0">
                <a:latin typeface="+mn-ea"/>
              </a:rPr>
              <a:t>+</a:t>
            </a:r>
            <a:r>
              <a:rPr lang="en-US" altLang="zh-CN" b="1" i="1" u="none" dirty="0" err="1" smtClean="0"/>
              <a:t>t</a:t>
            </a:r>
            <a:r>
              <a:rPr lang="en-US" altLang="zh-CN" b="1" u="none" baseline="-18000" dirty="0" err="1" smtClean="0">
                <a:latin typeface="+mn-ea"/>
              </a:rPr>
              <a:t>CAC</a:t>
            </a:r>
            <a:r>
              <a:rPr lang="en-US" altLang="zh-CN" b="1" u="none" dirty="0" err="1" smtClean="0">
                <a:latin typeface="+mn-ea"/>
              </a:rPr>
              <a:t>+</a:t>
            </a:r>
            <a:r>
              <a:rPr lang="en-US" altLang="zh-CN" b="1" i="1" u="none" dirty="0" err="1" smtClean="0"/>
              <a:t>t</a:t>
            </a:r>
            <a:r>
              <a:rPr lang="zh-CN" altLang="en-US" b="1" u="none" baseline="-18000" dirty="0">
                <a:latin typeface="+mn-ea"/>
              </a:rPr>
              <a:t>传送</a:t>
            </a:r>
            <a:r>
              <a:rPr lang="en-US" altLang="zh-CN" b="1" u="none" dirty="0" smtClean="0">
                <a:latin typeface="+mn-ea"/>
              </a:rPr>
              <a:t>)</a:t>
            </a:r>
            <a:r>
              <a:rPr lang="zh-CN" altLang="en-US" b="1" u="none" dirty="0" smtClean="0">
                <a:latin typeface="+mn-ea"/>
              </a:rPr>
              <a:t>，</a:t>
            </a:r>
            <a:r>
              <a:rPr lang="en-US" altLang="zh-CN" b="1" i="1" u="none" dirty="0" smtClean="0">
                <a:latin typeface="+mn-lt"/>
              </a:rPr>
              <a:t>T</a:t>
            </a:r>
            <a:r>
              <a:rPr lang="en-US" altLang="zh-CN" b="1" u="none" baseline="-18000" dirty="0" smtClean="0">
                <a:latin typeface="+mn-ea"/>
                <a:ea typeface="+mn-ea"/>
              </a:rPr>
              <a:t>FPM</a:t>
            </a:r>
            <a:r>
              <a:rPr lang="zh-CN" altLang="en-US" b="1" u="none" dirty="0" smtClean="0">
                <a:latin typeface="+mn-ea"/>
              </a:rPr>
              <a:t>＝</a:t>
            </a:r>
            <a:r>
              <a:rPr lang="en-US" altLang="zh-CN" b="1" i="1" u="none" dirty="0" err="1" smtClean="0">
                <a:solidFill>
                  <a:srgbClr val="990099"/>
                </a:solidFill>
                <a:latin typeface="+mn-lt"/>
              </a:rPr>
              <a:t>t</a:t>
            </a:r>
            <a:r>
              <a:rPr lang="en-US" altLang="zh-CN" b="1" u="none" baseline="-18000" dirty="0" err="1" smtClean="0">
                <a:solidFill>
                  <a:srgbClr val="990099"/>
                </a:solidFill>
                <a:latin typeface="+mn-ea"/>
              </a:rPr>
              <a:t>RCL</a:t>
            </a:r>
            <a:r>
              <a:rPr lang="en-US" altLang="zh-CN" b="1" u="none" dirty="0" err="1" smtClean="0">
                <a:solidFill>
                  <a:srgbClr val="990099"/>
                </a:solidFill>
                <a:latin typeface="+mn-ea"/>
              </a:rPr>
              <a:t>+</a:t>
            </a:r>
            <a:r>
              <a:rPr lang="en-US" altLang="zh-CN" b="1" i="1" u="none" dirty="0" err="1" smtClean="0">
                <a:latin typeface="+mn-lt"/>
              </a:rPr>
              <a:t>n</a:t>
            </a:r>
            <a:r>
              <a:rPr lang="en-US" altLang="zh-CN" b="1" i="1" u="none" dirty="0" smtClean="0">
                <a:latin typeface="+mn-lt"/>
              </a:rPr>
              <a:t>·</a:t>
            </a:r>
            <a:r>
              <a:rPr lang="en-US" altLang="zh-CN" b="1" u="none" dirty="0" smtClean="0">
                <a:latin typeface="+mn-ea"/>
              </a:rPr>
              <a:t>(</a:t>
            </a:r>
            <a:r>
              <a:rPr lang="en-US" altLang="zh-CN" b="1" i="1" u="none" dirty="0" err="1" smtClean="0">
                <a:latin typeface="+mn-lt"/>
              </a:rPr>
              <a:t>t</a:t>
            </a:r>
            <a:r>
              <a:rPr lang="en-US" altLang="zh-CN" b="1" u="none" baseline="-18000" dirty="0" err="1" smtClean="0">
                <a:latin typeface="+mn-ea"/>
              </a:rPr>
              <a:t>CAC</a:t>
            </a:r>
            <a:r>
              <a:rPr lang="en-US" altLang="zh-CN" b="1" u="none" dirty="0" err="1" smtClean="0">
                <a:latin typeface="+mn-ea"/>
              </a:rPr>
              <a:t>+</a:t>
            </a:r>
            <a:r>
              <a:rPr lang="en-US" altLang="zh-CN" b="1" i="1" u="none" dirty="0" err="1" smtClean="0">
                <a:latin typeface="+mn-lt"/>
              </a:rPr>
              <a:t>t</a:t>
            </a:r>
            <a:r>
              <a:rPr lang="zh-CN" altLang="en-US" b="1" u="none" baseline="-18000" dirty="0" smtClean="0">
                <a:latin typeface="+mn-ea"/>
              </a:rPr>
              <a:t>传送</a:t>
            </a:r>
            <a:r>
              <a:rPr lang="en-US" altLang="zh-CN" b="1" u="none" dirty="0" smtClean="0">
                <a:latin typeface="+mn-ea"/>
              </a:rPr>
              <a:t>)</a:t>
            </a:r>
            <a:endParaRPr lang="zh-CN" altLang="en-US" b="1" u="none" dirty="0">
              <a:latin typeface="+mn-ea"/>
            </a:endParaRPr>
          </a:p>
        </p:txBody>
      </p:sp>
      <p:sp>
        <p:nvSpPr>
          <p:cNvPr id="139" name="AutoShape 13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65" y="651941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/>
      <p:bldP spid="14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50" name="AutoShape 46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64" y="6525344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1" name="AutoShape 13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4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6156524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5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43" name="Text Box 426"/>
          <p:cNvSpPr txBox="1">
            <a:spLocks noChangeArrowheads="1"/>
          </p:cNvSpPr>
          <p:nvPr/>
        </p:nvSpPr>
        <p:spPr bwMode="auto">
          <a:xfrm>
            <a:off x="179388" y="332656"/>
            <a:ext cx="4032224" cy="52491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</a:t>
            </a: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2)SDRAM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（</a:t>
            </a:r>
            <a:r>
              <a:rPr lang="en-US" altLang="zh-CN" sz="2000" u="none" dirty="0" smtClean="0">
                <a:latin typeface="+mn-lt"/>
              </a:rPr>
              <a:t>Synchronous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 DRAM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）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优化原理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u="none" dirty="0" smtClean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800" b="1" u="none" dirty="0" smtClean="0">
                <a:latin typeface="宋体" panose="02010600030101010101" pitchFamily="2" charset="-122"/>
              </a:rPr>
              <a:t> 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*优化原理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b="1" u="none" dirty="0">
              <a:latin typeface="宋体" panose="02010600030101010101" pitchFamily="2" charset="-122"/>
            </a:endParaRPr>
          </a:p>
        </p:txBody>
      </p:sp>
      <p:sp>
        <p:nvSpPr>
          <p:cNvPr id="244" name="Text Box 726"/>
          <p:cNvSpPr txBox="1">
            <a:spLocks noChangeArrowheads="1"/>
          </p:cNvSpPr>
          <p:nvPr/>
        </p:nvSpPr>
        <p:spPr bwMode="auto">
          <a:xfrm>
            <a:off x="899592" y="980704"/>
            <a:ext cx="331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 smtClean="0"/>
              <a:t>思考①：</a:t>
            </a:r>
            <a:r>
              <a:rPr lang="en-US" altLang="zh-CN" sz="1800" dirty="0" smtClean="0">
                <a:solidFill>
                  <a:schemeClr val="tx1"/>
                </a:solidFill>
              </a:rPr>
              <a:t>CPU</a:t>
            </a:r>
            <a:r>
              <a:rPr lang="zh-CN" altLang="en-US" sz="1800" dirty="0" smtClean="0">
                <a:solidFill>
                  <a:schemeClr val="tx1"/>
                </a:solidFill>
              </a:rPr>
              <a:t>读</a:t>
            </a:r>
            <a:r>
              <a:rPr lang="en-US" altLang="zh-CN" sz="1800" dirty="0" smtClean="0">
                <a:solidFill>
                  <a:schemeClr val="tx1"/>
                </a:solidFill>
              </a:rPr>
              <a:t>MEM</a:t>
            </a:r>
            <a:r>
              <a:rPr lang="zh-CN" altLang="en-US" sz="1800" dirty="0" smtClean="0">
                <a:solidFill>
                  <a:schemeClr val="tx1"/>
                </a:solidFill>
              </a:rPr>
              <a:t>有哪些</a:t>
            </a:r>
            <a:r>
              <a:rPr lang="zh-CN" altLang="en-US" sz="1800" dirty="0">
                <a:solidFill>
                  <a:schemeClr val="tx1"/>
                </a:solidFill>
              </a:rPr>
              <a:t>环节</a:t>
            </a:r>
            <a:r>
              <a:rPr lang="zh-CN" altLang="en-US" sz="1800" dirty="0" smtClean="0">
                <a:solidFill>
                  <a:schemeClr val="tx1"/>
                </a:solidFill>
              </a:rPr>
              <a:t>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245" name="组合 244"/>
          <p:cNvGrpSpPr/>
          <p:nvPr/>
        </p:nvGrpSpPr>
        <p:grpSpPr>
          <a:xfrm>
            <a:off x="4283968" y="620688"/>
            <a:ext cx="4680296" cy="720080"/>
            <a:chOff x="4356200" y="692720"/>
            <a:chExt cx="4680296" cy="720080"/>
          </a:xfrm>
        </p:grpSpPr>
        <p:sp>
          <p:nvSpPr>
            <p:cNvPr id="248" name="Line 514"/>
            <p:cNvSpPr>
              <a:spLocks noChangeShapeType="1"/>
            </p:cNvSpPr>
            <p:nvPr/>
          </p:nvSpPr>
          <p:spPr bwMode="auto">
            <a:xfrm>
              <a:off x="4500552" y="1340768"/>
              <a:ext cx="295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Line 467"/>
            <p:cNvSpPr>
              <a:spLocks noChangeShapeType="1"/>
            </p:cNvSpPr>
            <p:nvPr/>
          </p:nvSpPr>
          <p:spPr bwMode="auto">
            <a:xfrm flipH="1" flipV="1">
              <a:off x="4788846" y="908776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7" name="Text Box 509"/>
            <p:cNvSpPr txBox="1">
              <a:spLocks noChangeArrowheads="1"/>
            </p:cNvSpPr>
            <p:nvPr/>
          </p:nvSpPr>
          <p:spPr bwMode="auto">
            <a:xfrm>
              <a:off x="4356200" y="692752"/>
              <a:ext cx="432000" cy="50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CPU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BUSMEM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60" name="Text Box 509"/>
            <p:cNvSpPr txBox="1">
              <a:spLocks noChangeArrowheads="1"/>
            </p:cNvSpPr>
            <p:nvPr/>
          </p:nvSpPr>
          <p:spPr bwMode="auto">
            <a:xfrm>
              <a:off x="7452496" y="692720"/>
              <a:ext cx="1584000" cy="7200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①发出地址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命令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marL="266700" indent="-266700">
                <a:lnSpc>
                  <a:spcPct val="90000"/>
                </a:lnSpc>
                <a:spcBef>
                  <a:spcPts val="300"/>
                </a:spcBef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②接收数据、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marL="266700" indent="-266700">
                <a:lnSpc>
                  <a:spcPct val="90000"/>
                </a:lnSpc>
                <a:spcBef>
                  <a:spcPts val="30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撤销命令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61" name="Line 467"/>
            <p:cNvSpPr>
              <a:spLocks noChangeShapeType="1"/>
            </p:cNvSpPr>
            <p:nvPr/>
          </p:nvSpPr>
          <p:spPr bwMode="auto">
            <a:xfrm flipH="1" flipV="1">
              <a:off x="5580288" y="1340776"/>
              <a:ext cx="0" cy="7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" name="Text Box 509"/>
            <p:cNvSpPr txBox="1">
              <a:spLocks noChangeArrowheads="1"/>
            </p:cNvSpPr>
            <p:nvPr/>
          </p:nvSpPr>
          <p:spPr bwMode="auto">
            <a:xfrm>
              <a:off x="5580288" y="1124768"/>
              <a:ext cx="936000" cy="216000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响应操作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63" name="Text Box 509"/>
            <p:cNvSpPr txBox="1">
              <a:spLocks noChangeArrowheads="1"/>
            </p:cNvSpPr>
            <p:nvPr/>
          </p:nvSpPr>
          <p:spPr bwMode="auto">
            <a:xfrm>
              <a:off x="5076336" y="908744"/>
              <a:ext cx="504000" cy="216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传输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64" name="Text Box 509"/>
            <p:cNvSpPr txBox="1">
              <a:spLocks noChangeArrowheads="1"/>
            </p:cNvSpPr>
            <p:nvPr/>
          </p:nvSpPr>
          <p:spPr bwMode="auto">
            <a:xfrm>
              <a:off x="4788200" y="692720"/>
              <a:ext cx="28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①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65" name="Line 467"/>
            <p:cNvSpPr>
              <a:spLocks noChangeShapeType="1"/>
            </p:cNvSpPr>
            <p:nvPr/>
          </p:nvSpPr>
          <p:spPr bwMode="auto">
            <a:xfrm flipH="1" flipV="1">
              <a:off x="5075586" y="1124744"/>
              <a:ext cx="646" cy="28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6" name="Line 467"/>
            <p:cNvSpPr>
              <a:spLocks noChangeShapeType="1"/>
            </p:cNvSpPr>
            <p:nvPr/>
          </p:nvSpPr>
          <p:spPr bwMode="auto">
            <a:xfrm flipH="1" flipV="1">
              <a:off x="7020448" y="1124800"/>
              <a:ext cx="0" cy="28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7" name="Text Box 509"/>
            <p:cNvSpPr txBox="1">
              <a:spLocks noChangeArrowheads="1"/>
            </p:cNvSpPr>
            <p:nvPr/>
          </p:nvSpPr>
          <p:spPr bwMode="auto">
            <a:xfrm>
              <a:off x="6517142" y="908744"/>
              <a:ext cx="504000" cy="216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传输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68" name="Line 467"/>
            <p:cNvSpPr>
              <a:spLocks noChangeShapeType="1"/>
            </p:cNvSpPr>
            <p:nvPr/>
          </p:nvSpPr>
          <p:spPr bwMode="auto">
            <a:xfrm flipH="1" flipV="1">
              <a:off x="6516392" y="1340800"/>
              <a:ext cx="646" cy="7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9" name="Text Box 509"/>
            <p:cNvSpPr txBox="1">
              <a:spLocks noChangeArrowheads="1"/>
            </p:cNvSpPr>
            <p:nvPr/>
          </p:nvSpPr>
          <p:spPr bwMode="auto">
            <a:xfrm>
              <a:off x="7020480" y="692720"/>
              <a:ext cx="28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②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70" name="Line 467"/>
            <p:cNvSpPr>
              <a:spLocks noChangeShapeType="1"/>
            </p:cNvSpPr>
            <p:nvPr/>
          </p:nvSpPr>
          <p:spPr bwMode="auto">
            <a:xfrm flipH="1" flipV="1">
              <a:off x="7308480" y="908776"/>
              <a:ext cx="0" cy="50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" name="Line 514"/>
            <p:cNvSpPr>
              <a:spLocks noChangeShapeType="1"/>
            </p:cNvSpPr>
            <p:nvPr/>
          </p:nvSpPr>
          <p:spPr bwMode="auto">
            <a:xfrm>
              <a:off x="5580112" y="1052736"/>
              <a:ext cx="93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" name="Text Box 707"/>
            <p:cNvSpPr txBox="1">
              <a:spLocks noChangeArrowheads="1"/>
            </p:cNvSpPr>
            <p:nvPr/>
          </p:nvSpPr>
          <p:spPr bwMode="auto">
            <a:xfrm>
              <a:off x="5868144" y="836720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70000"/>
                </a:lnSpc>
              </a:pP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 smtClean="0">
                  <a:latin typeface="宋体" panose="02010600030101010101" pitchFamily="2" charset="-122"/>
                </a:rPr>
                <a:t>A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73" name="组合 472"/>
          <p:cNvGrpSpPr/>
          <p:nvPr/>
        </p:nvGrpSpPr>
        <p:grpSpPr>
          <a:xfrm>
            <a:off x="3491880" y="2204864"/>
            <a:ext cx="2591661" cy="1944184"/>
            <a:chOff x="5148064" y="2276872"/>
            <a:chExt cx="2591661" cy="1944184"/>
          </a:xfrm>
        </p:grpSpPr>
        <p:sp>
          <p:nvSpPr>
            <p:cNvPr id="474" name="Text Box 691"/>
            <p:cNvSpPr txBox="1">
              <a:spLocks noChangeArrowheads="1"/>
            </p:cNvSpPr>
            <p:nvPr/>
          </p:nvSpPr>
          <p:spPr bwMode="auto">
            <a:xfrm>
              <a:off x="6422444" y="2492896"/>
              <a:ext cx="72000" cy="21600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75" name="Text Box 691"/>
            <p:cNvSpPr txBox="1">
              <a:spLocks noChangeArrowheads="1"/>
            </p:cNvSpPr>
            <p:nvPr/>
          </p:nvSpPr>
          <p:spPr bwMode="auto">
            <a:xfrm>
              <a:off x="7271412" y="3645048"/>
              <a:ext cx="72000" cy="216000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92" name="Text Box 691"/>
            <p:cNvSpPr txBox="1">
              <a:spLocks noChangeArrowheads="1"/>
            </p:cNvSpPr>
            <p:nvPr/>
          </p:nvSpPr>
          <p:spPr bwMode="auto">
            <a:xfrm>
              <a:off x="6990906" y="3645048"/>
              <a:ext cx="72000" cy="21600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93" name="Text Box 691"/>
            <p:cNvSpPr txBox="1">
              <a:spLocks noChangeArrowheads="1"/>
            </p:cNvSpPr>
            <p:nvPr/>
          </p:nvSpPr>
          <p:spPr bwMode="auto">
            <a:xfrm>
              <a:off x="6422436" y="3357016"/>
              <a:ext cx="72000" cy="21600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94" name="Text Box 691"/>
            <p:cNvSpPr txBox="1">
              <a:spLocks noChangeArrowheads="1"/>
            </p:cNvSpPr>
            <p:nvPr/>
          </p:nvSpPr>
          <p:spPr bwMode="auto">
            <a:xfrm>
              <a:off x="6134412" y="2492920"/>
              <a:ext cx="72000" cy="21600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95" name="Line 661"/>
            <p:cNvSpPr>
              <a:spLocks noChangeShapeType="1"/>
            </p:cNvSpPr>
            <p:nvPr/>
          </p:nvSpPr>
          <p:spPr bwMode="auto">
            <a:xfrm flipV="1">
              <a:off x="5724216" y="3753868"/>
              <a:ext cx="1224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" name="Line 665"/>
            <p:cNvSpPr>
              <a:spLocks noChangeShapeType="1"/>
            </p:cNvSpPr>
            <p:nvPr/>
          </p:nvSpPr>
          <p:spPr bwMode="auto">
            <a:xfrm>
              <a:off x="7021473" y="3649718"/>
              <a:ext cx="504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7" name="Line 666"/>
            <p:cNvSpPr>
              <a:spLocks noChangeShapeType="1"/>
            </p:cNvSpPr>
            <p:nvPr/>
          </p:nvSpPr>
          <p:spPr bwMode="auto">
            <a:xfrm flipV="1">
              <a:off x="7021473" y="3861892"/>
              <a:ext cx="504000" cy="1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8" name="Line 675"/>
            <p:cNvSpPr>
              <a:spLocks noChangeShapeType="1"/>
            </p:cNvSpPr>
            <p:nvPr/>
          </p:nvSpPr>
          <p:spPr bwMode="auto">
            <a:xfrm flipV="1">
              <a:off x="5940152" y="2493916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9" name="Line 676"/>
            <p:cNvSpPr>
              <a:spLocks noChangeShapeType="1"/>
            </p:cNvSpPr>
            <p:nvPr/>
          </p:nvSpPr>
          <p:spPr bwMode="auto">
            <a:xfrm flipV="1">
              <a:off x="6732384" y="2600052"/>
              <a:ext cx="792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0" name="Line 678"/>
            <p:cNvSpPr>
              <a:spLocks noChangeShapeType="1"/>
            </p:cNvSpPr>
            <p:nvPr/>
          </p:nvSpPr>
          <p:spPr bwMode="auto">
            <a:xfrm>
              <a:off x="7308248" y="2420888"/>
              <a:ext cx="0" cy="1224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" name="Text Box 691"/>
            <p:cNvSpPr txBox="1">
              <a:spLocks noChangeArrowheads="1"/>
            </p:cNvSpPr>
            <p:nvPr/>
          </p:nvSpPr>
          <p:spPr bwMode="auto">
            <a:xfrm>
              <a:off x="5148064" y="3645024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数据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02" name="Line 692"/>
            <p:cNvSpPr>
              <a:spLocks noChangeShapeType="1"/>
            </p:cNvSpPr>
            <p:nvPr/>
          </p:nvSpPr>
          <p:spPr bwMode="auto">
            <a:xfrm flipV="1">
              <a:off x="5724216" y="3357836"/>
              <a:ext cx="180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3" name="Text Box 694"/>
            <p:cNvSpPr txBox="1">
              <a:spLocks noChangeArrowheads="1"/>
            </p:cNvSpPr>
            <p:nvPr/>
          </p:nvSpPr>
          <p:spPr bwMode="auto">
            <a:xfrm>
              <a:off x="5364726" y="3357836"/>
              <a:ext cx="28733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04" name="Line 695"/>
            <p:cNvSpPr>
              <a:spLocks noChangeShapeType="1"/>
            </p:cNvSpPr>
            <p:nvPr/>
          </p:nvSpPr>
          <p:spPr bwMode="auto">
            <a:xfrm>
              <a:off x="5364032" y="3357836"/>
              <a:ext cx="2381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5" name="Line 706"/>
            <p:cNvSpPr>
              <a:spLocks noChangeShapeType="1"/>
            </p:cNvSpPr>
            <p:nvPr/>
          </p:nvSpPr>
          <p:spPr bwMode="auto">
            <a:xfrm flipH="1">
              <a:off x="5867194" y="2420888"/>
              <a:ext cx="0" cy="144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6" name="Text Box 715"/>
            <p:cNvSpPr txBox="1">
              <a:spLocks noChangeArrowheads="1"/>
            </p:cNvSpPr>
            <p:nvPr/>
          </p:nvSpPr>
          <p:spPr bwMode="auto">
            <a:xfrm>
              <a:off x="7020208" y="3652463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输出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07" name="Text Box 691"/>
            <p:cNvSpPr txBox="1">
              <a:spLocks noChangeArrowheads="1"/>
            </p:cNvSpPr>
            <p:nvPr/>
          </p:nvSpPr>
          <p:spPr bwMode="auto">
            <a:xfrm>
              <a:off x="5148064" y="2493764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508" name="Line 660"/>
            <p:cNvSpPr>
              <a:spLocks noChangeShapeType="1"/>
            </p:cNvSpPr>
            <p:nvPr/>
          </p:nvSpPr>
          <p:spPr bwMode="auto">
            <a:xfrm flipV="1">
              <a:off x="5724120" y="3573860"/>
              <a:ext cx="504000" cy="892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9" name="Line 663"/>
            <p:cNvSpPr>
              <a:spLocks noChangeShapeType="1"/>
            </p:cNvSpPr>
            <p:nvPr/>
          </p:nvSpPr>
          <p:spPr bwMode="auto">
            <a:xfrm flipV="1">
              <a:off x="6948208" y="3649718"/>
              <a:ext cx="7200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0" name="Line 663"/>
            <p:cNvSpPr>
              <a:spLocks noChangeShapeType="1"/>
            </p:cNvSpPr>
            <p:nvPr/>
          </p:nvSpPr>
          <p:spPr bwMode="auto">
            <a:xfrm flipH="1" flipV="1">
              <a:off x="6948208" y="3753892"/>
              <a:ext cx="7200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1" name="Line 699"/>
            <p:cNvSpPr>
              <a:spLocks noChangeShapeType="1"/>
            </p:cNvSpPr>
            <p:nvPr/>
          </p:nvSpPr>
          <p:spPr bwMode="auto">
            <a:xfrm flipV="1">
              <a:off x="6660232" y="2600920"/>
              <a:ext cx="72000" cy="108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" name="Line 700"/>
            <p:cNvSpPr>
              <a:spLocks noChangeShapeType="1"/>
            </p:cNvSpPr>
            <p:nvPr/>
          </p:nvSpPr>
          <p:spPr bwMode="auto">
            <a:xfrm>
              <a:off x="6660232" y="2492896"/>
              <a:ext cx="72000" cy="108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" name="Line 660"/>
            <p:cNvSpPr>
              <a:spLocks noChangeShapeType="1"/>
            </p:cNvSpPr>
            <p:nvPr/>
          </p:nvSpPr>
          <p:spPr bwMode="auto">
            <a:xfrm>
              <a:off x="6804248" y="3573860"/>
              <a:ext cx="72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" name="Line 714"/>
            <p:cNvSpPr>
              <a:spLocks noChangeShapeType="1"/>
            </p:cNvSpPr>
            <p:nvPr/>
          </p:nvSpPr>
          <p:spPr bwMode="auto">
            <a:xfrm>
              <a:off x="6660232" y="3357836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" name="Line 680"/>
            <p:cNvSpPr>
              <a:spLocks noChangeShapeType="1"/>
            </p:cNvSpPr>
            <p:nvPr/>
          </p:nvSpPr>
          <p:spPr bwMode="auto">
            <a:xfrm>
              <a:off x="7020216" y="2420888"/>
              <a:ext cx="0" cy="12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" name="Line 663"/>
            <p:cNvSpPr>
              <a:spLocks noChangeShapeType="1"/>
            </p:cNvSpPr>
            <p:nvPr/>
          </p:nvSpPr>
          <p:spPr bwMode="auto">
            <a:xfrm flipV="1">
              <a:off x="6085309" y="3357836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" name="Line 678"/>
            <p:cNvSpPr>
              <a:spLocks noChangeShapeType="1"/>
            </p:cNvSpPr>
            <p:nvPr/>
          </p:nvSpPr>
          <p:spPr bwMode="auto">
            <a:xfrm flipH="1">
              <a:off x="6156120" y="2420888"/>
              <a:ext cx="0" cy="115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" name="Line 656"/>
            <p:cNvSpPr>
              <a:spLocks noChangeShapeType="1"/>
            </p:cNvSpPr>
            <p:nvPr/>
          </p:nvSpPr>
          <p:spPr bwMode="auto">
            <a:xfrm>
              <a:off x="5725213" y="2420888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9" name="Line 656"/>
            <p:cNvSpPr>
              <a:spLocks noChangeShapeType="1"/>
            </p:cNvSpPr>
            <p:nvPr/>
          </p:nvSpPr>
          <p:spPr bwMode="auto">
            <a:xfrm flipV="1">
              <a:off x="5868088" y="2276872"/>
              <a:ext cx="0" cy="144016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0" name="Line 656"/>
            <p:cNvSpPr>
              <a:spLocks noChangeShapeType="1"/>
            </p:cNvSpPr>
            <p:nvPr/>
          </p:nvSpPr>
          <p:spPr bwMode="auto">
            <a:xfrm>
              <a:off x="5868088" y="2276872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1" name="Line 656"/>
            <p:cNvSpPr>
              <a:spLocks noChangeShapeType="1"/>
            </p:cNvSpPr>
            <p:nvPr/>
          </p:nvSpPr>
          <p:spPr bwMode="auto">
            <a:xfrm flipV="1">
              <a:off x="6012104" y="2276872"/>
              <a:ext cx="0" cy="144016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" name="Line 656"/>
            <p:cNvSpPr>
              <a:spLocks noChangeShapeType="1"/>
            </p:cNvSpPr>
            <p:nvPr/>
          </p:nvSpPr>
          <p:spPr bwMode="auto">
            <a:xfrm>
              <a:off x="6012104" y="2429272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" name="Line 656"/>
            <p:cNvSpPr>
              <a:spLocks noChangeShapeType="1"/>
            </p:cNvSpPr>
            <p:nvPr/>
          </p:nvSpPr>
          <p:spPr bwMode="auto">
            <a:xfrm flipV="1">
              <a:off x="6156120" y="2276872"/>
              <a:ext cx="0" cy="144016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4" name="Line 656"/>
            <p:cNvSpPr>
              <a:spLocks noChangeShapeType="1"/>
            </p:cNvSpPr>
            <p:nvPr/>
          </p:nvSpPr>
          <p:spPr bwMode="auto">
            <a:xfrm>
              <a:off x="6156120" y="2276872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" name="Line 656"/>
            <p:cNvSpPr>
              <a:spLocks noChangeShapeType="1"/>
            </p:cNvSpPr>
            <p:nvPr/>
          </p:nvSpPr>
          <p:spPr bwMode="auto">
            <a:xfrm flipV="1">
              <a:off x="6300136" y="2276872"/>
              <a:ext cx="0" cy="144016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" name="Line 656"/>
            <p:cNvSpPr>
              <a:spLocks noChangeShapeType="1"/>
            </p:cNvSpPr>
            <p:nvPr/>
          </p:nvSpPr>
          <p:spPr bwMode="auto">
            <a:xfrm>
              <a:off x="6300136" y="2429272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7" name="Line 656"/>
            <p:cNvSpPr>
              <a:spLocks noChangeShapeType="1"/>
            </p:cNvSpPr>
            <p:nvPr/>
          </p:nvSpPr>
          <p:spPr bwMode="auto">
            <a:xfrm flipV="1">
              <a:off x="6445293" y="2276872"/>
              <a:ext cx="0" cy="144016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8" name="Line 656"/>
            <p:cNvSpPr>
              <a:spLocks noChangeShapeType="1"/>
            </p:cNvSpPr>
            <p:nvPr/>
          </p:nvSpPr>
          <p:spPr bwMode="auto">
            <a:xfrm>
              <a:off x="6445293" y="2276872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9" name="Line 656"/>
            <p:cNvSpPr>
              <a:spLocks noChangeShapeType="1"/>
            </p:cNvSpPr>
            <p:nvPr/>
          </p:nvSpPr>
          <p:spPr bwMode="auto">
            <a:xfrm flipV="1">
              <a:off x="6589309" y="2276872"/>
              <a:ext cx="0" cy="144016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0" name="Line 656"/>
            <p:cNvSpPr>
              <a:spLocks noChangeShapeType="1"/>
            </p:cNvSpPr>
            <p:nvPr/>
          </p:nvSpPr>
          <p:spPr bwMode="auto">
            <a:xfrm>
              <a:off x="6589309" y="2429272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1" name="Line 656"/>
            <p:cNvSpPr>
              <a:spLocks noChangeShapeType="1"/>
            </p:cNvSpPr>
            <p:nvPr/>
          </p:nvSpPr>
          <p:spPr bwMode="auto">
            <a:xfrm flipV="1">
              <a:off x="6733325" y="2276872"/>
              <a:ext cx="0" cy="144016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" name="Line 656"/>
            <p:cNvSpPr>
              <a:spLocks noChangeShapeType="1"/>
            </p:cNvSpPr>
            <p:nvPr/>
          </p:nvSpPr>
          <p:spPr bwMode="auto">
            <a:xfrm>
              <a:off x="6733325" y="2276872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" name="Line 656"/>
            <p:cNvSpPr>
              <a:spLocks noChangeShapeType="1"/>
            </p:cNvSpPr>
            <p:nvPr/>
          </p:nvSpPr>
          <p:spPr bwMode="auto">
            <a:xfrm flipV="1">
              <a:off x="6877341" y="2276872"/>
              <a:ext cx="0" cy="144016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4" name="Line 656"/>
            <p:cNvSpPr>
              <a:spLocks noChangeShapeType="1"/>
            </p:cNvSpPr>
            <p:nvPr/>
          </p:nvSpPr>
          <p:spPr bwMode="auto">
            <a:xfrm>
              <a:off x="6877341" y="2429272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" name="Line 656"/>
            <p:cNvSpPr>
              <a:spLocks noChangeShapeType="1"/>
            </p:cNvSpPr>
            <p:nvPr/>
          </p:nvSpPr>
          <p:spPr bwMode="auto">
            <a:xfrm flipV="1">
              <a:off x="7020216" y="2276872"/>
              <a:ext cx="0" cy="144016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6" name="Line 656"/>
            <p:cNvSpPr>
              <a:spLocks noChangeShapeType="1"/>
            </p:cNvSpPr>
            <p:nvPr/>
          </p:nvSpPr>
          <p:spPr bwMode="auto">
            <a:xfrm>
              <a:off x="7020216" y="2276872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7" name="Line 656"/>
            <p:cNvSpPr>
              <a:spLocks noChangeShapeType="1"/>
            </p:cNvSpPr>
            <p:nvPr/>
          </p:nvSpPr>
          <p:spPr bwMode="auto">
            <a:xfrm flipV="1">
              <a:off x="7164232" y="2276872"/>
              <a:ext cx="0" cy="144016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8" name="Line 656"/>
            <p:cNvSpPr>
              <a:spLocks noChangeShapeType="1"/>
            </p:cNvSpPr>
            <p:nvPr/>
          </p:nvSpPr>
          <p:spPr bwMode="auto">
            <a:xfrm>
              <a:off x="7164232" y="2429272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9" name="Line 656"/>
            <p:cNvSpPr>
              <a:spLocks noChangeShapeType="1"/>
            </p:cNvSpPr>
            <p:nvPr/>
          </p:nvSpPr>
          <p:spPr bwMode="auto">
            <a:xfrm flipV="1">
              <a:off x="7309389" y="2276872"/>
              <a:ext cx="0" cy="144016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0" name="Line 656"/>
            <p:cNvSpPr>
              <a:spLocks noChangeShapeType="1"/>
            </p:cNvSpPr>
            <p:nvPr/>
          </p:nvSpPr>
          <p:spPr bwMode="auto">
            <a:xfrm>
              <a:off x="7452264" y="2420888"/>
              <a:ext cx="72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1" name="Line 656"/>
            <p:cNvSpPr>
              <a:spLocks noChangeShapeType="1"/>
            </p:cNvSpPr>
            <p:nvPr/>
          </p:nvSpPr>
          <p:spPr bwMode="auto">
            <a:xfrm>
              <a:off x="5940152" y="2708920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" name="Line 663"/>
            <p:cNvSpPr>
              <a:spLocks noChangeShapeType="1"/>
            </p:cNvSpPr>
            <p:nvPr/>
          </p:nvSpPr>
          <p:spPr bwMode="auto">
            <a:xfrm flipV="1">
              <a:off x="5941293" y="3356992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" name="Line 663"/>
            <p:cNvSpPr>
              <a:spLocks noChangeShapeType="1"/>
            </p:cNvSpPr>
            <p:nvPr/>
          </p:nvSpPr>
          <p:spPr bwMode="auto">
            <a:xfrm flipV="1">
              <a:off x="5797277" y="3356992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4" name="Line 714"/>
            <p:cNvSpPr>
              <a:spLocks noChangeShapeType="1"/>
            </p:cNvSpPr>
            <p:nvPr/>
          </p:nvSpPr>
          <p:spPr bwMode="auto">
            <a:xfrm>
              <a:off x="6804248" y="3356992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5" name="Line 714"/>
            <p:cNvSpPr>
              <a:spLocks noChangeShapeType="1"/>
            </p:cNvSpPr>
            <p:nvPr/>
          </p:nvSpPr>
          <p:spPr bwMode="auto">
            <a:xfrm>
              <a:off x="6948264" y="3356992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6" name="Line 714"/>
            <p:cNvSpPr>
              <a:spLocks noChangeShapeType="1"/>
            </p:cNvSpPr>
            <p:nvPr/>
          </p:nvSpPr>
          <p:spPr bwMode="auto">
            <a:xfrm>
              <a:off x="7092280" y="3357836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7" name="Line 714"/>
            <p:cNvSpPr>
              <a:spLocks noChangeShapeType="1"/>
            </p:cNvSpPr>
            <p:nvPr/>
          </p:nvSpPr>
          <p:spPr bwMode="auto">
            <a:xfrm>
              <a:off x="7236296" y="3356992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8" name="Line 714"/>
            <p:cNvSpPr>
              <a:spLocks noChangeShapeType="1"/>
            </p:cNvSpPr>
            <p:nvPr/>
          </p:nvSpPr>
          <p:spPr bwMode="auto">
            <a:xfrm>
              <a:off x="7380312" y="3356992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9" name="Line 656"/>
            <p:cNvSpPr>
              <a:spLocks noChangeShapeType="1"/>
            </p:cNvSpPr>
            <p:nvPr/>
          </p:nvSpPr>
          <p:spPr bwMode="auto">
            <a:xfrm>
              <a:off x="7308248" y="2276872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0" name="Line 656"/>
            <p:cNvSpPr>
              <a:spLocks noChangeShapeType="1"/>
            </p:cNvSpPr>
            <p:nvPr/>
          </p:nvSpPr>
          <p:spPr bwMode="auto">
            <a:xfrm flipV="1">
              <a:off x="7452264" y="2276872"/>
              <a:ext cx="0" cy="144016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1" name="Text Box 707"/>
            <p:cNvSpPr txBox="1">
              <a:spLocks noChangeArrowheads="1"/>
            </p:cNvSpPr>
            <p:nvPr/>
          </p:nvSpPr>
          <p:spPr bwMode="auto">
            <a:xfrm>
              <a:off x="5291453" y="3933056"/>
              <a:ext cx="2448272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同步控制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信号</a:t>
              </a:r>
              <a:r>
                <a:rPr lang="zh-CN" altLang="en-US" sz="16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无需保持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552" name="Text Box 691"/>
            <p:cNvSpPr txBox="1">
              <a:spLocks noChangeArrowheads="1"/>
            </p:cNvSpPr>
            <p:nvPr/>
          </p:nvSpPr>
          <p:spPr bwMode="auto">
            <a:xfrm>
              <a:off x="5220064" y="2276872"/>
              <a:ext cx="432000" cy="1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CLK</a:t>
              </a:r>
              <a:endParaRPr lang="en-US" altLang="zh-CN" sz="1600" b="1" u="none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53" name="Line 692"/>
            <p:cNvSpPr>
              <a:spLocks noChangeShapeType="1"/>
            </p:cNvSpPr>
            <p:nvPr/>
          </p:nvSpPr>
          <p:spPr bwMode="auto">
            <a:xfrm flipV="1">
              <a:off x="6372200" y="2780928"/>
              <a:ext cx="115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" name="Line 660"/>
            <p:cNvSpPr>
              <a:spLocks noChangeShapeType="1"/>
            </p:cNvSpPr>
            <p:nvPr/>
          </p:nvSpPr>
          <p:spPr bwMode="auto">
            <a:xfrm flipV="1">
              <a:off x="5724129" y="2788038"/>
              <a:ext cx="216000" cy="892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5" name="Line 714"/>
            <p:cNvSpPr>
              <a:spLocks noChangeShapeType="1"/>
            </p:cNvSpPr>
            <p:nvPr/>
          </p:nvSpPr>
          <p:spPr bwMode="auto">
            <a:xfrm>
              <a:off x="5940152" y="2788038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6" name="Line 663"/>
            <p:cNvSpPr>
              <a:spLocks noChangeShapeType="1"/>
            </p:cNvSpPr>
            <p:nvPr/>
          </p:nvSpPr>
          <p:spPr bwMode="auto">
            <a:xfrm flipV="1">
              <a:off x="6228184" y="2788038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7" name="Line 692"/>
            <p:cNvSpPr>
              <a:spLocks noChangeShapeType="1"/>
            </p:cNvSpPr>
            <p:nvPr/>
          </p:nvSpPr>
          <p:spPr bwMode="auto">
            <a:xfrm flipV="1">
              <a:off x="6372200" y="3292094"/>
              <a:ext cx="28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8" name="Line 660"/>
            <p:cNvSpPr>
              <a:spLocks noChangeShapeType="1"/>
            </p:cNvSpPr>
            <p:nvPr/>
          </p:nvSpPr>
          <p:spPr bwMode="auto">
            <a:xfrm flipV="1">
              <a:off x="5724129" y="3076070"/>
              <a:ext cx="504000" cy="892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9" name="Line 714"/>
            <p:cNvSpPr>
              <a:spLocks noChangeShapeType="1"/>
            </p:cNvSpPr>
            <p:nvPr/>
          </p:nvSpPr>
          <p:spPr bwMode="auto">
            <a:xfrm>
              <a:off x="6228184" y="307607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0" name="Line 663"/>
            <p:cNvSpPr>
              <a:spLocks noChangeShapeType="1"/>
            </p:cNvSpPr>
            <p:nvPr/>
          </p:nvSpPr>
          <p:spPr bwMode="auto">
            <a:xfrm flipV="1">
              <a:off x="6660232" y="3076070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1" name="Text Box 694"/>
            <p:cNvSpPr txBox="1">
              <a:spLocks noChangeArrowheads="1"/>
            </p:cNvSpPr>
            <p:nvPr/>
          </p:nvSpPr>
          <p:spPr bwMode="auto">
            <a:xfrm>
              <a:off x="5292081" y="2780928"/>
              <a:ext cx="360000" cy="2434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RAS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62" name="Text Box 694"/>
            <p:cNvSpPr txBox="1">
              <a:spLocks noChangeArrowheads="1"/>
            </p:cNvSpPr>
            <p:nvPr/>
          </p:nvSpPr>
          <p:spPr bwMode="auto">
            <a:xfrm>
              <a:off x="5292081" y="3055255"/>
              <a:ext cx="360000" cy="2434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RAS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63" name="Line 695"/>
            <p:cNvSpPr>
              <a:spLocks noChangeShapeType="1"/>
            </p:cNvSpPr>
            <p:nvPr/>
          </p:nvSpPr>
          <p:spPr bwMode="auto">
            <a:xfrm>
              <a:off x="5292080" y="2805495"/>
              <a:ext cx="32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" name="Line 695"/>
            <p:cNvSpPr>
              <a:spLocks noChangeShapeType="1"/>
            </p:cNvSpPr>
            <p:nvPr/>
          </p:nvSpPr>
          <p:spPr bwMode="auto">
            <a:xfrm>
              <a:off x="5292081" y="3066312"/>
              <a:ext cx="32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5" name="Line 656"/>
            <p:cNvSpPr>
              <a:spLocks noChangeShapeType="1"/>
            </p:cNvSpPr>
            <p:nvPr/>
          </p:nvSpPr>
          <p:spPr bwMode="auto">
            <a:xfrm>
              <a:off x="5652120" y="2492896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" name="Line 657"/>
            <p:cNvSpPr>
              <a:spLocks noChangeShapeType="1"/>
            </p:cNvSpPr>
            <p:nvPr/>
          </p:nvSpPr>
          <p:spPr bwMode="auto">
            <a:xfrm>
              <a:off x="5652120" y="2708920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" name="Line 699"/>
            <p:cNvSpPr>
              <a:spLocks noChangeShapeType="1"/>
            </p:cNvSpPr>
            <p:nvPr/>
          </p:nvSpPr>
          <p:spPr bwMode="auto">
            <a:xfrm flipV="1">
              <a:off x="5797277" y="2492920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8" name="Line 700"/>
            <p:cNvSpPr>
              <a:spLocks noChangeShapeType="1"/>
            </p:cNvSpPr>
            <p:nvPr/>
          </p:nvSpPr>
          <p:spPr bwMode="auto">
            <a:xfrm>
              <a:off x="5797277" y="2492920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9" name="Line 699"/>
            <p:cNvSpPr>
              <a:spLocks noChangeShapeType="1"/>
            </p:cNvSpPr>
            <p:nvPr/>
          </p:nvSpPr>
          <p:spPr bwMode="auto">
            <a:xfrm flipV="1">
              <a:off x="6228184" y="2492896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0" name="Line 700"/>
            <p:cNvSpPr>
              <a:spLocks noChangeShapeType="1"/>
            </p:cNvSpPr>
            <p:nvPr/>
          </p:nvSpPr>
          <p:spPr bwMode="auto">
            <a:xfrm>
              <a:off x="6228184" y="2492896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1" name="Line 675"/>
            <p:cNvSpPr>
              <a:spLocks noChangeShapeType="1"/>
            </p:cNvSpPr>
            <p:nvPr/>
          </p:nvSpPr>
          <p:spPr bwMode="auto">
            <a:xfrm flipV="1">
              <a:off x="6372200" y="2492896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2" name="Line 656"/>
            <p:cNvSpPr>
              <a:spLocks noChangeShapeType="1"/>
            </p:cNvSpPr>
            <p:nvPr/>
          </p:nvSpPr>
          <p:spPr bwMode="auto">
            <a:xfrm>
              <a:off x="6372200" y="2707900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" name="Line 678"/>
            <p:cNvSpPr>
              <a:spLocks noChangeShapeType="1"/>
            </p:cNvSpPr>
            <p:nvPr/>
          </p:nvSpPr>
          <p:spPr bwMode="auto">
            <a:xfrm flipH="1">
              <a:off x="6444208" y="2420888"/>
              <a:ext cx="0" cy="115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" name="Line 660"/>
            <p:cNvSpPr>
              <a:spLocks noChangeShapeType="1"/>
            </p:cNvSpPr>
            <p:nvPr/>
          </p:nvSpPr>
          <p:spPr bwMode="auto">
            <a:xfrm>
              <a:off x="6084168" y="2996952"/>
              <a:ext cx="1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5" name="Line 692"/>
            <p:cNvSpPr>
              <a:spLocks noChangeShapeType="1"/>
            </p:cNvSpPr>
            <p:nvPr/>
          </p:nvSpPr>
          <p:spPr bwMode="auto">
            <a:xfrm flipV="1">
              <a:off x="6804368" y="3068960"/>
              <a:ext cx="72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6" name="Line 663"/>
            <p:cNvSpPr>
              <a:spLocks noChangeShapeType="1"/>
            </p:cNvSpPr>
            <p:nvPr/>
          </p:nvSpPr>
          <p:spPr bwMode="auto">
            <a:xfrm flipV="1">
              <a:off x="6229325" y="3356992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77" name="Text Box 409"/>
          <p:cNvSpPr txBox="1">
            <a:spLocks noChangeArrowheads="1"/>
          </p:cNvSpPr>
          <p:nvPr/>
        </p:nvSpPr>
        <p:spPr bwMode="auto">
          <a:xfrm>
            <a:off x="2123728" y="1340768"/>
            <a:ext cx="6912768" cy="110337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b="1" u="none" dirty="0">
                <a:latin typeface="宋体" panose="02010600030101010101" pitchFamily="2" charset="-122"/>
              </a:rPr>
              <a:t>采用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同步工作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方式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I/O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与时钟</a:t>
            </a:r>
            <a:r>
              <a:rPr lang="zh-CN" altLang="en-US" sz="1800" b="1" u="none" dirty="0">
                <a:latin typeface="宋体" panose="02010600030101010101" pitchFamily="2" charset="-122"/>
              </a:rPr>
              <a:t>同步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，可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简化</a:t>
            </a:r>
            <a:r>
              <a:rPr lang="zh-CN" altLang="en-US" b="1" dirty="0" smtClean="0">
                <a:latin typeface="宋体" panose="02010600030101010101" pitchFamily="2" charset="-122"/>
              </a:rPr>
              <a:t>操作控制</a:t>
            </a:r>
            <a:endParaRPr lang="en-US" altLang="zh-CN" b="1" u="none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zh-CN" altLang="en-US" sz="1600" b="1" u="none" dirty="0" smtClean="0">
                <a:latin typeface="宋体" panose="02010600030101010101" pitchFamily="2" charset="-122"/>
              </a:rPr>
              <a:t>            </a:t>
            </a:r>
            <a:r>
              <a:rPr lang="zh-CN" altLang="en-US" sz="1600" u="none" dirty="0" smtClean="0">
                <a:latin typeface="宋体" panose="02010600030101010101" pitchFamily="2" charset="-122"/>
              </a:rPr>
              <a:t>└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→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SDRAM</a:t>
            </a: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锁存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I/O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信号→</a:t>
            </a: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约定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操作时延→</a:t>
            </a:r>
            <a:r>
              <a:rPr lang="zh-CN" altLang="en-US" sz="1600" u="none" dirty="0" smtClean="0">
                <a:latin typeface="宋体" panose="02010600030101010101" pitchFamily="2" charset="-122"/>
              </a:rPr>
              <a:t>┘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     </a:t>
            </a:r>
            <a:r>
              <a:rPr lang="zh-CN" altLang="en-US" sz="16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↑</a:t>
            </a:r>
            <a:endParaRPr lang="en-US" altLang="zh-CN" sz="16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zh-CN" altLang="en-US" sz="1800" b="1" u="none" dirty="0" smtClean="0">
                <a:latin typeface="宋体" panose="02010600030101010101" pitchFamily="2" charset="-122"/>
              </a:rPr>
              <a:t>                                         称为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同步控制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方式</a:t>
            </a:r>
            <a:endParaRPr lang="en-US" altLang="zh-CN" sz="1800" u="none" dirty="0" smtClean="0">
              <a:latin typeface="宋体" panose="02010600030101010101" pitchFamily="2" charset="-122"/>
            </a:endParaRPr>
          </a:p>
        </p:txBody>
      </p:sp>
      <p:sp>
        <p:nvSpPr>
          <p:cNvPr id="578" name="Text Box 726"/>
          <p:cNvSpPr txBox="1">
            <a:spLocks noChangeArrowheads="1"/>
          </p:cNvSpPr>
          <p:nvPr/>
        </p:nvSpPr>
        <p:spPr bwMode="auto">
          <a:xfrm>
            <a:off x="6300552" y="2474900"/>
            <a:ext cx="2664000" cy="59406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marL="990600" indent="-990600">
              <a:lnSpc>
                <a:spcPct val="90000"/>
              </a:lnSpc>
            </a:pPr>
            <a:r>
              <a:rPr lang="zh-CN" altLang="en-US" sz="1800" dirty="0" smtClean="0"/>
              <a:t>思考②：</a:t>
            </a:r>
            <a:r>
              <a:rPr lang="zh-CN" altLang="en-US" sz="1800" dirty="0" smtClean="0">
                <a:solidFill>
                  <a:schemeClr val="tx1"/>
                </a:solidFill>
              </a:rPr>
              <a:t>同步控制方式的好处？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579" name="Text Box 707"/>
          <p:cNvSpPr txBox="1">
            <a:spLocks noChangeArrowheads="1"/>
          </p:cNvSpPr>
          <p:nvPr/>
        </p:nvSpPr>
        <p:spPr bwMode="auto">
          <a:xfrm>
            <a:off x="6660568" y="3159004"/>
            <a:ext cx="1871872" cy="57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90000"/>
              </a:lnSpc>
            </a:pPr>
            <a:r>
              <a:rPr lang="zh-CN" altLang="en-US" sz="1600" b="1" u="none" dirty="0" smtClean="0">
                <a:latin typeface="宋体" panose="02010600030101010101" pitchFamily="2" charset="-122"/>
              </a:rPr>
              <a:t>操作者</a:t>
            </a:r>
            <a:r>
              <a:rPr lang="zh-CN" altLang="en-US" sz="16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中途可离开</a:t>
            </a:r>
            <a:endParaRPr lang="en-US" altLang="zh-CN" sz="16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1600" b="1" u="none" dirty="0" smtClean="0">
                <a:latin typeface="宋体" panose="02010600030101010101" pitchFamily="2" charset="-122"/>
              </a:rPr>
              <a:t>     (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做其他工作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endParaRPr lang="en-US" altLang="zh-CN" sz="1600" b="1" u="none" dirty="0">
              <a:latin typeface="宋体" panose="02010600030101010101" pitchFamily="2" charset="-122"/>
            </a:endParaRPr>
          </a:p>
        </p:txBody>
      </p:sp>
      <p:sp>
        <p:nvSpPr>
          <p:cNvPr id="580" name="Text Box 409"/>
          <p:cNvSpPr txBox="1">
            <a:spLocks noChangeArrowheads="1"/>
          </p:cNvSpPr>
          <p:nvPr/>
        </p:nvSpPr>
        <p:spPr bwMode="auto">
          <a:xfrm>
            <a:off x="2195736" y="4149080"/>
            <a:ext cx="6750744" cy="7740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b="1" u="none" dirty="0" smtClean="0">
                <a:latin typeface="宋体" panose="02010600030101010101" pitchFamily="2" charset="-122"/>
              </a:rPr>
              <a:t>支持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突发传输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模式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多个</a:t>
            </a:r>
            <a:r>
              <a:rPr lang="zh-CN" altLang="en-US" sz="1800" b="1" u="none" dirty="0">
                <a:latin typeface="宋体" panose="02010600030101010101" pitchFamily="2" charset="-122"/>
              </a:rPr>
              <a:t>连续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数据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</a:t>
            </a:r>
            <a:r>
              <a:rPr lang="zh-CN" altLang="en-US" b="1" u="none" dirty="0">
                <a:latin typeface="宋体" panose="02010600030101010101" pitchFamily="2" charset="-122"/>
              </a:rPr>
              <a:t>可</a:t>
            </a: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提高</a:t>
            </a:r>
            <a:r>
              <a:rPr lang="en-US" altLang="zh-CN" b="1" dirty="0">
                <a:latin typeface="宋体" panose="02010600030101010101" pitchFamily="2" charset="-122"/>
              </a:rPr>
              <a:t>MEM</a:t>
            </a:r>
            <a:r>
              <a:rPr lang="zh-CN" altLang="en-US" b="1" dirty="0">
                <a:latin typeface="宋体" panose="02010600030101010101" pitchFamily="2" charset="-122"/>
              </a:rPr>
              <a:t>带宽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CN" sz="1600" b="1" u="none" dirty="0" smtClean="0">
                <a:latin typeface="宋体" panose="02010600030101010101" pitchFamily="2" charset="-122"/>
              </a:rPr>
              <a:t>         </a:t>
            </a:r>
            <a:r>
              <a:rPr lang="zh-CN" altLang="en-US" sz="1600" u="none" dirty="0" smtClean="0">
                <a:latin typeface="宋体" panose="02010600030101010101" pitchFamily="2" charset="-122"/>
              </a:rPr>
              <a:t>└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→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SDRAM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用</a:t>
            </a: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计数器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改变地址</a:t>
            </a:r>
            <a:r>
              <a:rPr lang="zh-CN" altLang="en-US" sz="1600" u="none" dirty="0" smtClean="0">
                <a:latin typeface="宋体" panose="02010600030101010101" pitchFamily="2" charset="-122"/>
              </a:rPr>
              <a:t>  </a:t>
            </a:r>
            <a:r>
              <a:rPr lang="en-US" altLang="zh-CN" sz="1600" u="none" dirty="0" smtClean="0">
                <a:latin typeface="宋体" panose="02010600030101010101" pitchFamily="2" charset="-122"/>
              </a:rPr>
              <a:t>    </a:t>
            </a:r>
            <a:r>
              <a:rPr lang="zh-CN" altLang="en-US" sz="1600" u="none" dirty="0" smtClean="0">
                <a:latin typeface="宋体" panose="02010600030101010101" pitchFamily="2" charset="-122"/>
              </a:rPr>
              <a:t> 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←需同步工作方式支持</a:t>
            </a:r>
            <a:endParaRPr lang="en-US" altLang="zh-CN" sz="1600" b="1" u="none" dirty="0">
              <a:latin typeface="宋体" panose="02010600030101010101" pitchFamily="2" charset="-122"/>
            </a:endParaRPr>
          </a:p>
        </p:txBody>
      </p:sp>
      <p:grpSp>
        <p:nvGrpSpPr>
          <p:cNvPr id="581" name="组合 580"/>
          <p:cNvGrpSpPr/>
          <p:nvPr/>
        </p:nvGrpSpPr>
        <p:grpSpPr>
          <a:xfrm>
            <a:off x="683568" y="4941168"/>
            <a:ext cx="4392699" cy="1193024"/>
            <a:chOff x="611640" y="4437112"/>
            <a:chExt cx="4392699" cy="1193024"/>
          </a:xfrm>
        </p:grpSpPr>
        <p:sp>
          <p:nvSpPr>
            <p:cNvPr id="582" name="Line 461"/>
            <p:cNvSpPr>
              <a:spLocks noChangeShapeType="1"/>
            </p:cNvSpPr>
            <p:nvPr/>
          </p:nvSpPr>
          <p:spPr bwMode="auto">
            <a:xfrm flipH="1">
              <a:off x="1475656" y="4653136"/>
              <a:ext cx="0" cy="64800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" name="Line 466"/>
            <p:cNvSpPr>
              <a:spLocks noChangeShapeType="1"/>
            </p:cNvSpPr>
            <p:nvPr/>
          </p:nvSpPr>
          <p:spPr bwMode="auto">
            <a:xfrm>
              <a:off x="1331640" y="4653136"/>
              <a:ext cx="1428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" name="Line 467"/>
            <p:cNvSpPr>
              <a:spLocks noChangeShapeType="1"/>
            </p:cNvSpPr>
            <p:nvPr/>
          </p:nvSpPr>
          <p:spPr bwMode="auto">
            <a:xfrm flipH="1" flipV="1">
              <a:off x="1690388" y="4437113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" name="六边形 584"/>
            <p:cNvSpPr/>
            <p:nvPr/>
          </p:nvSpPr>
          <p:spPr bwMode="auto">
            <a:xfrm>
              <a:off x="1474515" y="4725144"/>
              <a:ext cx="432595" cy="216000"/>
            </a:xfrm>
            <a:prstGeom prst="hexagon">
              <a:avLst>
                <a:gd name="adj" fmla="val 38228"/>
                <a:gd name="vf" fmla="val 115470"/>
              </a:avLst>
            </a:prstGeom>
            <a:solidFill>
              <a:srgbClr val="FFCC99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A1</a:t>
              </a:r>
              <a:endParaRPr kumimoji="1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586" name="Line 514"/>
            <p:cNvSpPr>
              <a:spLocks noChangeShapeType="1"/>
            </p:cNvSpPr>
            <p:nvPr/>
          </p:nvSpPr>
          <p:spPr bwMode="auto">
            <a:xfrm>
              <a:off x="1331640" y="4833144"/>
              <a:ext cx="1453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7" name="Line 514"/>
            <p:cNvSpPr>
              <a:spLocks noChangeShapeType="1"/>
            </p:cNvSpPr>
            <p:nvPr/>
          </p:nvSpPr>
          <p:spPr bwMode="auto">
            <a:xfrm>
              <a:off x="1475680" y="4437113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8" name="六边形 587"/>
            <p:cNvSpPr/>
            <p:nvPr/>
          </p:nvSpPr>
          <p:spPr bwMode="auto">
            <a:xfrm>
              <a:off x="2774979" y="5013200"/>
              <a:ext cx="432000" cy="216000"/>
            </a:xfrm>
            <a:prstGeom prst="hexagon">
              <a:avLst>
                <a:gd name="adj" fmla="val 38228"/>
                <a:gd name="vf" fmla="val 115470"/>
              </a:avLst>
            </a:prstGeom>
            <a:solidFill>
              <a:srgbClr val="CCE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D1</a:t>
              </a:r>
              <a:endParaRPr kumimoji="1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589" name="Line 467"/>
            <p:cNvSpPr>
              <a:spLocks noChangeShapeType="1"/>
            </p:cNvSpPr>
            <p:nvPr/>
          </p:nvSpPr>
          <p:spPr bwMode="auto">
            <a:xfrm flipH="1" flipV="1">
              <a:off x="1474364" y="4437112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0" name="Line 514"/>
            <p:cNvSpPr>
              <a:spLocks noChangeShapeType="1"/>
            </p:cNvSpPr>
            <p:nvPr/>
          </p:nvSpPr>
          <p:spPr bwMode="auto">
            <a:xfrm>
              <a:off x="1691680" y="4653136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1" name="Line 514"/>
            <p:cNvSpPr>
              <a:spLocks noChangeShapeType="1"/>
            </p:cNvSpPr>
            <p:nvPr/>
          </p:nvSpPr>
          <p:spPr bwMode="auto">
            <a:xfrm>
              <a:off x="1907704" y="4833144"/>
              <a:ext cx="129500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2" name="六边形 591"/>
            <p:cNvSpPr/>
            <p:nvPr/>
          </p:nvSpPr>
          <p:spPr bwMode="auto">
            <a:xfrm>
              <a:off x="3203600" y="4725144"/>
              <a:ext cx="432595" cy="216000"/>
            </a:xfrm>
            <a:prstGeom prst="hexagon">
              <a:avLst>
                <a:gd name="adj" fmla="val 38228"/>
                <a:gd name="vf" fmla="val 115470"/>
              </a:avLst>
            </a:prstGeom>
            <a:solidFill>
              <a:srgbClr val="FFCC99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A2</a:t>
              </a:r>
              <a:endParaRPr kumimoji="1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593" name="Line 461"/>
            <p:cNvSpPr>
              <a:spLocks noChangeShapeType="1"/>
            </p:cNvSpPr>
            <p:nvPr/>
          </p:nvSpPr>
          <p:spPr bwMode="auto">
            <a:xfrm>
              <a:off x="2771800" y="4653136"/>
              <a:ext cx="0" cy="64800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" name="Line 461"/>
            <p:cNvSpPr>
              <a:spLocks noChangeShapeType="1"/>
            </p:cNvSpPr>
            <p:nvPr/>
          </p:nvSpPr>
          <p:spPr bwMode="auto">
            <a:xfrm>
              <a:off x="3204146" y="4653136"/>
              <a:ext cx="0" cy="64800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5" name="六边形 594"/>
            <p:cNvSpPr/>
            <p:nvPr/>
          </p:nvSpPr>
          <p:spPr bwMode="auto">
            <a:xfrm>
              <a:off x="4498704" y="5013176"/>
              <a:ext cx="432343" cy="216000"/>
            </a:xfrm>
            <a:prstGeom prst="hexagon">
              <a:avLst>
                <a:gd name="adj" fmla="val 38228"/>
                <a:gd name="vf" fmla="val 115470"/>
              </a:avLst>
            </a:prstGeom>
            <a:solidFill>
              <a:srgbClr val="CCE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D2</a:t>
              </a:r>
              <a:endParaRPr kumimoji="1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596" name="Line 461"/>
            <p:cNvSpPr>
              <a:spLocks noChangeShapeType="1"/>
            </p:cNvSpPr>
            <p:nvPr/>
          </p:nvSpPr>
          <p:spPr bwMode="auto">
            <a:xfrm>
              <a:off x="4500291" y="4653136"/>
              <a:ext cx="0" cy="64800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7" name="Line 514"/>
            <p:cNvSpPr>
              <a:spLocks noChangeShapeType="1"/>
            </p:cNvSpPr>
            <p:nvPr/>
          </p:nvSpPr>
          <p:spPr bwMode="auto">
            <a:xfrm>
              <a:off x="4932339" y="4437112"/>
              <a:ext cx="72000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8" name="Line 514"/>
            <p:cNvSpPr>
              <a:spLocks noChangeShapeType="1"/>
            </p:cNvSpPr>
            <p:nvPr/>
          </p:nvSpPr>
          <p:spPr bwMode="auto">
            <a:xfrm>
              <a:off x="1331640" y="5121176"/>
              <a:ext cx="1440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9" name="Line 514"/>
            <p:cNvSpPr>
              <a:spLocks noChangeShapeType="1"/>
            </p:cNvSpPr>
            <p:nvPr/>
          </p:nvSpPr>
          <p:spPr bwMode="auto">
            <a:xfrm>
              <a:off x="3203848" y="5121176"/>
              <a:ext cx="129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0" name="Line 514"/>
            <p:cNvSpPr>
              <a:spLocks noChangeShapeType="1"/>
            </p:cNvSpPr>
            <p:nvPr/>
          </p:nvSpPr>
          <p:spPr bwMode="auto">
            <a:xfrm>
              <a:off x="3635896" y="4833144"/>
              <a:ext cx="1368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1" name="Line 514"/>
            <p:cNvSpPr>
              <a:spLocks noChangeShapeType="1"/>
            </p:cNvSpPr>
            <p:nvPr/>
          </p:nvSpPr>
          <p:spPr bwMode="auto">
            <a:xfrm>
              <a:off x="4932040" y="5121176"/>
              <a:ext cx="72000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2" name="Text Box 509"/>
            <p:cNvSpPr txBox="1">
              <a:spLocks noChangeArrowheads="1"/>
            </p:cNvSpPr>
            <p:nvPr/>
          </p:nvSpPr>
          <p:spPr bwMode="auto">
            <a:xfrm>
              <a:off x="611640" y="4438749"/>
              <a:ext cx="720000" cy="79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CLK</a:t>
              </a:r>
              <a:r>
                <a:rPr lang="zh-CN" altLang="en-US" sz="1600" b="1" u="none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线</a:t>
              </a:r>
              <a:endParaRPr lang="en-US" altLang="zh-CN" sz="16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125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地址线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125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数据线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03" name="Text Box 533"/>
            <p:cNvSpPr txBox="1">
              <a:spLocks noChangeArrowheads="1"/>
            </p:cNvSpPr>
            <p:nvPr/>
          </p:nvSpPr>
          <p:spPr bwMode="auto">
            <a:xfrm>
              <a:off x="1979744" y="5121208"/>
              <a:ext cx="288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i="1" u="none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smtClean="0">
                  <a:latin typeface="宋体" panose="02010600030101010101" pitchFamily="2" charset="-122"/>
                </a:rPr>
                <a:t>M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04" name="Line 461"/>
            <p:cNvSpPr>
              <a:spLocks noChangeShapeType="1"/>
            </p:cNvSpPr>
            <p:nvPr/>
          </p:nvSpPr>
          <p:spPr bwMode="auto">
            <a:xfrm>
              <a:off x="2303800" y="5229200"/>
              <a:ext cx="46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" name="Line 461"/>
            <p:cNvSpPr>
              <a:spLocks noChangeShapeType="1"/>
            </p:cNvSpPr>
            <p:nvPr/>
          </p:nvSpPr>
          <p:spPr bwMode="auto">
            <a:xfrm flipH="1">
              <a:off x="1475954" y="5229200"/>
              <a:ext cx="50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6" name="Text Box 533"/>
            <p:cNvSpPr txBox="1">
              <a:spLocks noChangeArrowheads="1"/>
            </p:cNvSpPr>
            <p:nvPr/>
          </p:nvSpPr>
          <p:spPr bwMode="auto">
            <a:xfrm>
              <a:off x="3708725" y="5121208"/>
              <a:ext cx="288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i="1" u="none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smtClean="0">
                  <a:latin typeface="宋体" panose="02010600030101010101" pitchFamily="2" charset="-122"/>
                </a:rPr>
                <a:t>M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07" name="Line 461"/>
            <p:cNvSpPr>
              <a:spLocks noChangeShapeType="1"/>
            </p:cNvSpPr>
            <p:nvPr/>
          </p:nvSpPr>
          <p:spPr bwMode="auto">
            <a:xfrm>
              <a:off x="4031992" y="5229200"/>
              <a:ext cx="46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8" name="Line 461"/>
            <p:cNvSpPr>
              <a:spLocks noChangeShapeType="1"/>
            </p:cNvSpPr>
            <p:nvPr/>
          </p:nvSpPr>
          <p:spPr bwMode="auto">
            <a:xfrm flipH="1">
              <a:off x="3204146" y="5229200"/>
              <a:ext cx="50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9" name="Text Box 509"/>
            <p:cNvSpPr txBox="1">
              <a:spLocks noChangeArrowheads="1"/>
            </p:cNvSpPr>
            <p:nvPr/>
          </p:nvSpPr>
          <p:spPr bwMode="auto">
            <a:xfrm>
              <a:off x="1619663" y="5342136"/>
              <a:ext cx="2808000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zh-CN" altLang="en-US" sz="1800" b="1" u="none" dirty="0" smtClean="0">
                  <a:latin typeface="宋体" panose="02010600030101010101" pitchFamily="2" charset="-122"/>
                </a:rPr>
                <a:t>常规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传输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模式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带宽＝</a:t>
              </a:r>
              <a:r>
                <a:rPr lang="en-US" altLang="zh-CN" sz="1600" b="1" i="1" u="none" dirty="0" smtClean="0">
                  <a:solidFill>
                    <a:srgbClr val="0070C0"/>
                  </a:solidFill>
                  <a:latin typeface="+mn-lt"/>
                </a:rPr>
                <a:t>w</a:t>
              </a:r>
              <a:r>
                <a:rPr lang="en-US" altLang="zh-CN" sz="16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/</a:t>
              </a:r>
              <a:r>
                <a:rPr lang="en-US" altLang="zh-CN" sz="1600" b="1" i="1" u="none" dirty="0" smtClean="0">
                  <a:solidFill>
                    <a:srgbClr val="0070C0"/>
                  </a:solidFill>
                  <a:latin typeface="+mn-ea"/>
                  <a:ea typeface="+mn-ea"/>
                </a:rPr>
                <a:t>T</a:t>
              </a:r>
              <a:r>
                <a:rPr lang="en-US" altLang="zh-CN" sz="1600" b="1" u="none" baseline="-18000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10" name="Line 461"/>
            <p:cNvSpPr>
              <a:spLocks noChangeShapeType="1"/>
            </p:cNvSpPr>
            <p:nvPr/>
          </p:nvSpPr>
          <p:spPr bwMode="auto">
            <a:xfrm>
              <a:off x="4932040" y="4653136"/>
              <a:ext cx="0" cy="64800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1" name="Line 467"/>
            <p:cNvSpPr>
              <a:spLocks noChangeShapeType="1"/>
            </p:cNvSpPr>
            <p:nvPr/>
          </p:nvSpPr>
          <p:spPr bwMode="auto">
            <a:xfrm flipH="1" flipV="1">
              <a:off x="2122460" y="4437113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2" name="Line 514"/>
            <p:cNvSpPr>
              <a:spLocks noChangeShapeType="1"/>
            </p:cNvSpPr>
            <p:nvPr/>
          </p:nvSpPr>
          <p:spPr bwMode="auto">
            <a:xfrm>
              <a:off x="1907752" y="4437113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3" name="Line 467"/>
            <p:cNvSpPr>
              <a:spLocks noChangeShapeType="1"/>
            </p:cNvSpPr>
            <p:nvPr/>
          </p:nvSpPr>
          <p:spPr bwMode="auto">
            <a:xfrm flipH="1" flipV="1">
              <a:off x="1906436" y="4437112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" name="Line 514"/>
            <p:cNvSpPr>
              <a:spLocks noChangeShapeType="1"/>
            </p:cNvSpPr>
            <p:nvPr/>
          </p:nvSpPr>
          <p:spPr bwMode="auto">
            <a:xfrm>
              <a:off x="2123752" y="4653136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" name="Line 467"/>
            <p:cNvSpPr>
              <a:spLocks noChangeShapeType="1"/>
            </p:cNvSpPr>
            <p:nvPr/>
          </p:nvSpPr>
          <p:spPr bwMode="auto">
            <a:xfrm flipH="1" flipV="1">
              <a:off x="2555776" y="4437113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" name="Line 514"/>
            <p:cNvSpPr>
              <a:spLocks noChangeShapeType="1"/>
            </p:cNvSpPr>
            <p:nvPr/>
          </p:nvSpPr>
          <p:spPr bwMode="auto">
            <a:xfrm>
              <a:off x="2341068" y="4437113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" name="Line 467"/>
            <p:cNvSpPr>
              <a:spLocks noChangeShapeType="1"/>
            </p:cNvSpPr>
            <p:nvPr/>
          </p:nvSpPr>
          <p:spPr bwMode="auto">
            <a:xfrm flipH="1" flipV="1">
              <a:off x="2339752" y="4437112"/>
              <a:ext cx="0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" name="Line 514"/>
            <p:cNvSpPr>
              <a:spLocks noChangeShapeType="1"/>
            </p:cNvSpPr>
            <p:nvPr/>
          </p:nvSpPr>
          <p:spPr bwMode="auto">
            <a:xfrm>
              <a:off x="2557068" y="4653136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" name="Line 467"/>
            <p:cNvSpPr>
              <a:spLocks noChangeShapeType="1"/>
            </p:cNvSpPr>
            <p:nvPr/>
          </p:nvSpPr>
          <p:spPr bwMode="auto">
            <a:xfrm flipH="1" flipV="1">
              <a:off x="2987848" y="4437113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0" name="Line 514"/>
            <p:cNvSpPr>
              <a:spLocks noChangeShapeType="1"/>
            </p:cNvSpPr>
            <p:nvPr/>
          </p:nvSpPr>
          <p:spPr bwMode="auto">
            <a:xfrm>
              <a:off x="2773140" y="4437113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1" name="Line 467"/>
            <p:cNvSpPr>
              <a:spLocks noChangeShapeType="1"/>
            </p:cNvSpPr>
            <p:nvPr/>
          </p:nvSpPr>
          <p:spPr bwMode="auto">
            <a:xfrm flipH="1" flipV="1">
              <a:off x="2771824" y="4437112"/>
              <a:ext cx="0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2" name="Line 514"/>
            <p:cNvSpPr>
              <a:spLocks noChangeShapeType="1"/>
            </p:cNvSpPr>
            <p:nvPr/>
          </p:nvSpPr>
          <p:spPr bwMode="auto">
            <a:xfrm>
              <a:off x="2989140" y="4653136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3" name="Line 467"/>
            <p:cNvSpPr>
              <a:spLocks noChangeShapeType="1"/>
            </p:cNvSpPr>
            <p:nvPr/>
          </p:nvSpPr>
          <p:spPr bwMode="auto">
            <a:xfrm flipH="1" flipV="1">
              <a:off x="3417288" y="4437113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" name="Line 514"/>
            <p:cNvSpPr>
              <a:spLocks noChangeShapeType="1"/>
            </p:cNvSpPr>
            <p:nvPr/>
          </p:nvSpPr>
          <p:spPr bwMode="auto">
            <a:xfrm>
              <a:off x="3202580" y="4437113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" name="Line 467"/>
            <p:cNvSpPr>
              <a:spLocks noChangeShapeType="1"/>
            </p:cNvSpPr>
            <p:nvPr/>
          </p:nvSpPr>
          <p:spPr bwMode="auto">
            <a:xfrm flipH="1" flipV="1">
              <a:off x="3201264" y="4437112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6" name="Line 514"/>
            <p:cNvSpPr>
              <a:spLocks noChangeShapeType="1"/>
            </p:cNvSpPr>
            <p:nvPr/>
          </p:nvSpPr>
          <p:spPr bwMode="auto">
            <a:xfrm>
              <a:off x="3418580" y="4653136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7" name="Line 467"/>
            <p:cNvSpPr>
              <a:spLocks noChangeShapeType="1"/>
            </p:cNvSpPr>
            <p:nvPr/>
          </p:nvSpPr>
          <p:spPr bwMode="auto">
            <a:xfrm flipH="1" flipV="1">
              <a:off x="3849360" y="4437113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8" name="Line 514"/>
            <p:cNvSpPr>
              <a:spLocks noChangeShapeType="1"/>
            </p:cNvSpPr>
            <p:nvPr/>
          </p:nvSpPr>
          <p:spPr bwMode="auto">
            <a:xfrm>
              <a:off x="3634652" y="4437113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9" name="Line 467"/>
            <p:cNvSpPr>
              <a:spLocks noChangeShapeType="1"/>
            </p:cNvSpPr>
            <p:nvPr/>
          </p:nvSpPr>
          <p:spPr bwMode="auto">
            <a:xfrm flipH="1" flipV="1">
              <a:off x="3633336" y="4437112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0" name="Line 514"/>
            <p:cNvSpPr>
              <a:spLocks noChangeShapeType="1"/>
            </p:cNvSpPr>
            <p:nvPr/>
          </p:nvSpPr>
          <p:spPr bwMode="auto">
            <a:xfrm>
              <a:off x="3850652" y="4653136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1" name="Line 467"/>
            <p:cNvSpPr>
              <a:spLocks noChangeShapeType="1"/>
            </p:cNvSpPr>
            <p:nvPr/>
          </p:nvSpPr>
          <p:spPr bwMode="auto">
            <a:xfrm flipH="1" flipV="1">
              <a:off x="4282676" y="4437113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2" name="Line 514"/>
            <p:cNvSpPr>
              <a:spLocks noChangeShapeType="1"/>
            </p:cNvSpPr>
            <p:nvPr/>
          </p:nvSpPr>
          <p:spPr bwMode="auto">
            <a:xfrm>
              <a:off x="4067968" y="4437113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3" name="Line 467"/>
            <p:cNvSpPr>
              <a:spLocks noChangeShapeType="1"/>
            </p:cNvSpPr>
            <p:nvPr/>
          </p:nvSpPr>
          <p:spPr bwMode="auto">
            <a:xfrm flipH="1" flipV="1">
              <a:off x="4066652" y="4437112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4" name="Line 514"/>
            <p:cNvSpPr>
              <a:spLocks noChangeShapeType="1"/>
            </p:cNvSpPr>
            <p:nvPr/>
          </p:nvSpPr>
          <p:spPr bwMode="auto">
            <a:xfrm>
              <a:off x="4283968" y="4653136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" name="Line 467"/>
            <p:cNvSpPr>
              <a:spLocks noChangeShapeType="1"/>
            </p:cNvSpPr>
            <p:nvPr/>
          </p:nvSpPr>
          <p:spPr bwMode="auto">
            <a:xfrm flipH="1" flipV="1">
              <a:off x="4714748" y="4437113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6" name="Line 514"/>
            <p:cNvSpPr>
              <a:spLocks noChangeShapeType="1"/>
            </p:cNvSpPr>
            <p:nvPr/>
          </p:nvSpPr>
          <p:spPr bwMode="auto">
            <a:xfrm>
              <a:off x="4500040" y="4437113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7" name="Line 467"/>
            <p:cNvSpPr>
              <a:spLocks noChangeShapeType="1"/>
            </p:cNvSpPr>
            <p:nvPr/>
          </p:nvSpPr>
          <p:spPr bwMode="auto">
            <a:xfrm flipH="1" flipV="1">
              <a:off x="4498724" y="4437112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8" name="Line 514"/>
            <p:cNvSpPr>
              <a:spLocks noChangeShapeType="1"/>
            </p:cNvSpPr>
            <p:nvPr/>
          </p:nvSpPr>
          <p:spPr bwMode="auto">
            <a:xfrm>
              <a:off x="4716040" y="4653136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9" name="Line 467"/>
            <p:cNvSpPr>
              <a:spLocks noChangeShapeType="1"/>
            </p:cNvSpPr>
            <p:nvPr/>
          </p:nvSpPr>
          <p:spPr bwMode="auto">
            <a:xfrm flipH="1" flipV="1">
              <a:off x="4930748" y="4437112"/>
              <a:ext cx="0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40" name="组合 639"/>
          <p:cNvGrpSpPr/>
          <p:nvPr/>
        </p:nvGrpSpPr>
        <p:grpSpPr>
          <a:xfrm>
            <a:off x="5364008" y="4941168"/>
            <a:ext cx="3240352" cy="1193024"/>
            <a:chOff x="5292080" y="4437112"/>
            <a:chExt cx="3240352" cy="1193024"/>
          </a:xfrm>
        </p:grpSpPr>
        <p:sp>
          <p:nvSpPr>
            <p:cNvPr id="641" name="Line 461"/>
            <p:cNvSpPr>
              <a:spLocks noChangeShapeType="1"/>
            </p:cNvSpPr>
            <p:nvPr/>
          </p:nvSpPr>
          <p:spPr bwMode="auto">
            <a:xfrm flipH="1">
              <a:off x="5436096" y="4653136"/>
              <a:ext cx="0" cy="64800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2" name="Line 466"/>
            <p:cNvSpPr>
              <a:spLocks noChangeShapeType="1"/>
            </p:cNvSpPr>
            <p:nvPr/>
          </p:nvSpPr>
          <p:spPr bwMode="auto">
            <a:xfrm>
              <a:off x="5292080" y="4653136"/>
              <a:ext cx="1428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3" name="Line 467"/>
            <p:cNvSpPr>
              <a:spLocks noChangeShapeType="1"/>
            </p:cNvSpPr>
            <p:nvPr/>
          </p:nvSpPr>
          <p:spPr bwMode="auto">
            <a:xfrm flipH="1" flipV="1">
              <a:off x="5650828" y="4437113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4" name="六边形 643"/>
            <p:cNvSpPr/>
            <p:nvPr/>
          </p:nvSpPr>
          <p:spPr bwMode="auto">
            <a:xfrm>
              <a:off x="5434955" y="4725144"/>
              <a:ext cx="432595" cy="216000"/>
            </a:xfrm>
            <a:prstGeom prst="hexagon">
              <a:avLst>
                <a:gd name="adj" fmla="val 38228"/>
                <a:gd name="vf" fmla="val 115470"/>
              </a:avLst>
            </a:prstGeom>
            <a:solidFill>
              <a:srgbClr val="FFCC99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A1</a:t>
              </a:r>
              <a:endParaRPr kumimoji="1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645" name="Line 514"/>
            <p:cNvSpPr>
              <a:spLocks noChangeShapeType="1"/>
            </p:cNvSpPr>
            <p:nvPr/>
          </p:nvSpPr>
          <p:spPr bwMode="auto">
            <a:xfrm>
              <a:off x="5292080" y="4833144"/>
              <a:ext cx="1453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" name="Line 514"/>
            <p:cNvSpPr>
              <a:spLocks noChangeShapeType="1"/>
            </p:cNvSpPr>
            <p:nvPr/>
          </p:nvSpPr>
          <p:spPr bwMode="auto">
            <a:xfrm>
              <a:off x="5436120" y="4437113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7" name="六边形 646"/>
            <p:cNvSpPr/>
            <p:nvPr/>
          </p:nvSpPr>
          <p:spPr bwMode="auto">
            <a:xfrm>
              <a:off x="6735419" y="5013200"/>
              <a:ext cx="432000" cy="216000"/>
            </a:xfrm>
            <a:prstGeom prst="hexagon">
              <a:avLst>
                <a:gd name="adj" fmla="val 38228"/>
                <a:gd name="vf" fmla="val 115470"/>
              </a:avLst>
            </a:prstGeom>
            <a:solidFill>
              <a:srgbClr val="CCE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D1</a:t>
              </a:r>
              <a:endParaRPr kumimoji="1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648" name="Line 467"/>
            <p:cNvSpPr>
              <a:spLocks noChangeShapeType="1"/>
            </p:cNvSpPr>
            <p:nvPr/>
          </p:nvSpPr>
          <p:spPr bwMode="auto">
            <a:xfrm flipH="1" flipV="1">
              <a:off x="5434804" y="4437112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9" name="Line 514"/>
            <p:cNvSpPr>
              <a:spLocks noChangeShapeType="1"/>
            </p:cNvSpPr>
            <p:nvPr/>
          </p:nvSpPr>
          <p:spPr bwMode="auto">
            <a:xfrm>
              <a:off x="5652120" y="4653136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0" name="Line 514"/>
            <p:cNvSpPr>
              <a:spLocks noChangeShapeType="1"/>
            </p:cNvSpPr>
            <p:nvPr/>
          </p:nvSpPr>
          <p:spPr bwMode="auto">
            <a:xfrm>
              <a:off x="5868143" y="4833144"/>
              <a:ext cx="2664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1" name="Line 461"/>
            <p:cNvSpPr>
              <a:spLocks noChangeShapeType="1"/>
            </p:cNvSpPr>
            <p:nvPr/>
          </p:nvSpPr>
          <p:spPr bwMode="auto">
            <a:xfrm>
              <a:off x="6732240" y="4653136"/>
              <a:ext cx="0" cy="64800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2" name="Line 461"/>
            <p:cNvSpPr>
              <a:spLocks noChangeShapeType="1"/>
            </p:cNvSpPr>
            <p:nvPr/>
          </p:nvSpPr>
          <p:spPr bwMode="auto">
            <a:xfrm>
              <a:off x="7164586" y="4653136"/>
              <a:ext cx="0" cy="64800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3" name="六边形 652"/>
            <p:cNvSpPr/>
            <p:nvPr/>
          </p:nvSpPr>
          <p:spPr bwMode="auto">
            <a:xfrm>
              <a:off x="7164288" y="5013176"/>
              <a:ext cx="432343" cy="216000"/>
            </a:xfrm>
            <a:prstGeom prst="hexagon">
              <a:avLst>
                <a:gd name="adj" fmla="val 38228"/>
                <a:gd name="vf" fmla="val 115470"/>
              </a:avLst>
            </a:prstGeom>
            <a:solidFill>
              <a:srgbClr val="CCE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D2</a:t>
              </a:r>
              <a:endParaRPr kumimoji="1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654" name="Line 514"/>
            <p:cNvSpPr>
              <a:spLocks noChangeShapeType="1"/>
            </p:cNvSpPr>
            <p:nvPr/>
          </p:nvSpPr>
          <p:spPr bwMode="auto">
            <a:xfrm>
              <a:off x="8460432" y="4437112"/>
              <a:ext cx="72000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" name="Line 514"/>
            <p:cNvSpPr>
              <a:spLocks noChangeShapeType="1"/>
            </p:cNvSpPr>
            <p:nvPr/>
          </p:nvSpPr>
          <p:spPr bwMode="auto">
            <a:xfrm>
              <a:off x="5292080" y="5121176"/>
              <a:ext cx="1440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" name="Line 514"/>
            <p:cNvSpPr>
              <a:spLocks noChangeShapeType="1"/>
            </p:cNvSpPr>
            <p:nvPr/>
          </p:nvSpPr>
          <p:spPr bwMode="auto">
            <a:xfrm>
              <a:off x="8460432" y="5121176"/>
              <a:ext cx="72000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7" name="Text Box 533"/>
            <p:cNvSpPr txBox="1">
              <a:spLocks noChangeArrowheads="1"/>
            </p:cNvSpPr>
            <p:nvPr/>
          </p:nvSpPr>
          <p:spPr bwMode="auto">
            <a:xfrm>
              <a:off x="5940184" y="5121208"/>
              <a:ext cx="288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i="1" u="none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smtClean="0">
                  <a:latin typeface="宋体" panose="02010600030101010101" pitchFamily="2" charset="-122"/>
                </a:rPr>
                <a:t>M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58" name="Line 461"/>
            <p:cNvSpPr>
              <a:spLocks noChangeShapeType="1"/>
            </p:cNvSpPr>
            <p:nvPr/>
          </p:nvSpPr>
          <p:spPr bwMode="auto">
            <a:xfrm>
              <a:off x="6264240" y="5229200"/>
              <a:ext cx="46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9" name="Line 461"/>
            <p:cNvSpPr>
              <a:spLocks noChangeShapeType="1"/>
            </p:cNvSpPr>
            <p:nvPr/>
          </p:nvSpPr>
          <p:spPr bwMode="auto">
            <a:xfrm flipH="1">
              <a:off x="5436394" y="5229200"/>
              <a:ext cx="504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tailEnd type="triangle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" name="Text Box 509"/>
            <p:cNvSpPr txBox="1">
              <a:spLocks noChangeArrowheads="1"/>
            </p:cNvSpPr>
            <p:nvPr/>
          </p:nvSpPr>
          <p:spPr bwMode="auto">
            <a:xfrm>
              <a:off x="5508096" y="5342136"/>
              <a:ext cx="2880312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zh-CN" altLang="en-US" sz="1800" b="1" u="none" dirty="0" smtClean="0">
                  <a:latin typeface="宋体" panose="02010600030101010101" pitchFamily="2" charset="-122"/>
                </a:rPr>
                <a:t>突发传输模式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带宽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＝</a:t>
              </a:r>
              <a:r>
                <a:rPr lang="en-US" altLang="zh-CN" sz="1600" b="1" i="1" u="none" dirty="0" err="1" smtClean="0">
                  <a:solidFill>
                    <a:srgbClr val="0070C0"/>
                  </a:solidFill>
                  <a:latin typeface="+mn-lt"/>
                </a:rPr>
                <a:t>n</a:t>
              </a:r>
              <a:r>
                <a:rPr lang="en-US" altLang="zh-CN" sz="1600" b="1" u="none" dirty="0" err="1" smtClean="0">
                  <a:solidFill>
                    <a:srgbClr val="0070C0"/>
                  </a:solidFill>
                  <a:latin typeface="+mn-lt"/>
                  <a:sym typeface="Symbol" panose="05050102010706020507"/>
                </a:rPr>
                <a:t></a:t>
              </a:r>
              <a:r>
                <a:rPr lang="en-US" altLang="zh-CN" sz="1600" b="1" i="1" u="none" dirty="0" err="1" smtClean="0">
                  <a:solidFill>
                    <a:srgbClr val="0070C0"/>
                  </a:solidFill>
                </a:rPr>
                <a:t>w</a:t>
              </a:r>
              <a:r>
                <a:rPr lang="en-US" altLang="zh-CN" sz="16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/</a:t>
              </a:r>
              <a:r>
                <a:rPr lang="en-US" altLang="zh-CN" sz="1600" b="1" i="1" u="none" dirty="0" smtClean="0">
                  <a:solidFill>
                    <a:srgbClr val="0070C0"/>
                  </a:solidFill>
                  <a:latin typeface="+mn-ea"/>
                </a:rPr>
                <a:t>T</a:t>
              </a:r>
              <a:r>
                <a:rPr lang="en-US" altLang="zh-CN" sz="1600" b="1" u="none" baseline="-18000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1" name="Line 461"/>
            <p:cNvSpPr>
              <a:spLocks noChangeShapeType="1"/>
            </p:cNvSpPr>
            <p:nvPr/>
          </p:nvSpPr>
          <p:spPr bwMode="auto">
            <a:xfrm>
              <a:off x="8460432" y="4653136"/>
              <a:ext cx="0" cy="64800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2" name="Line 467"/>
            <p:cNvSpPr>
              <a:spLocks noChangeShapeType="1"/>
            </p:cNvSpPr>
            <p:nvPr/>
          </p:nvSpPr>
          <p:spPr bwMode="auto">
            <a:xfrm flipH="1" flipV="1">
              <a:off x="6082900" y="4437113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3" name="Line 514"/>
            <p:cNvSpPr>
              <a:spLocks noChangeShapeType="1"/>
            </p:cNvSpPr>
            <p:nvPr/>
          </p:nvSpPr>
          <p:spPr bwMode="auto">
            <a:xfrm>
              <a:off x="5868192" y="4437113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4" name="Line 467"/>
            <p:cNvSpPr>
              <a:spLocks noChangeShapeType="1"/>
            </p:cNvSpPr>
            <p:nvPr/>
          </p:nvSpPr>
          <p:spPr bwMode="auto">
            <a:xfrm flipH="1" flipV="1">
              <a:off x="5866876" y="4437112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" name="Line 514"/>
            <p:cNvSpPr>
              <a:spLocks noChangeShapeType="1"/>
            </p:cNvSpPr>
            <p:nvPr/>
          </p:nvSpPr>
          <p:spPr bwMode="auto">
            <a:xfrm>
              <a:off x="6084192" y="4653136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" name="Line 467"/>
            <p:cNvSpPr>
              <a:spLocks noChangeShapeType="1"/>
            </p:cNvSpPr>
            <p:nvPr/>
          </p:nvSpPr>
          <p:spPr bwMode="auto">
            <a:xfrm flipH="1" flipV="1">
              <a:off x="6516216" y="4437113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7" name="Line 514"/>
            <p:cNvSpPr>
              <a:spLocks noChangeShapeType="1"/>
            </p:cNvSpPr>
            <p:nvPr/>
          </p:nvSpPr>
          <p:spPr bwMode="auto">
            <a:xfrm>
              <a:off x="6301508" y="4437113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8" name="Line 467"/>
            <p:cNvSpPr>
              <a:spLocks noChangeShapeType="1"/>
            </p:cNvSpPr>
            <p:nvPr/>
          </p:nvSpPr>
          <p:spPr bwMode="auto">
            <a:xfrm flipH="1" flipV="1">
              <a:off x="6300192" y="4437112"/>
              <a:ext cx="0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9" name="Line 514"/>
            <p:cNvSpPr>
              <a:spLocks noChangeShapeType="1"/>
            </p:cNvSpPr>
            <p:nvPr/>
          </p:nvSpPr>
          <p:spPr bwMode="auto">
            <a:xfrm>
              <a:off x="6517508" y="4653136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0" name="Line 467"/>
            <p:cNvSpPr>
              <a:spLocks noChangeShapeType="1"/>
            </p:cNvSpPr>
            <p:nvPr/>
          </p:nvSpPr>
          <p:spPr bwMode="auto">
            <a:xfrm flipH="1" flipV="1">
              <a:off x="6948288" y="4437113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1" name="Line 514"/>
            <p:cNvSpPr>
              <a:spLocks noChangeShapeType="1"/>
            </p:cNvSpPr>
            <p:nvPr/>
          </p:nvSpPr>
          <p:spPr bwMode="auto">
            <a:xfrm>
              <a:off x="6733580" y="4437113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2" name="Line 467"/>
            <p:cNvSpPr>
              <a:spLocks noChangeShapeType="1"/>
            </p:cNvSpPr>
            <p:nvPr/>
          </p:nvSpPr>
          <p:spPr bwMode="auto">
            <a:xfrm flipH="1" flipV="1">
              <a:off x="6732264" y="4437112"/>
              <a:ext cx="0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3" name="Line 514"/>
            <p:cNvSpPr>
              <a:spLocks noChangeShapeType="1"/>
            </p:cNvSpPr>
            <p:nvPr/>
          </p:nvSpPr>
          <p:spPr bwMode="auto">
            <a:xfrm>
              <a:off x="6949580" y="4653136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4" name="Line 467"/>
            <p:cNvSpPr>
              <a:spLocks noChangeShapeType="1"/>
            </p:cNvSpPr>
            <p:nvPr/>
          </p:nvSpPr>
          <p:spPr bwMode="auto">
            <a:xfrm flipH="1" flipV="1">
              <a:off x="7377728" y="4437113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" name="Line 514"/>
            <p:cNvSpPr>
              <a:spLocks noChangeShapeType="1"/>
            </p:cNvSpPr>
            <p:nvPr/>
          </p:nvSpPr>
          <p:spPr bwMode="auto">
            <a:xfrm>
              <a:off x="7163020" y="4437113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" name="Line 467"/>
            <p:cNvSpPr>
              <a:spLocks noChangeShapeType="1"/>
            </p:cNvSpPr>
            <p:nvPr/>
          </p:nvSpPr>
          <p:spPr bwMode="auto">
            <a:xfrm flipH="1" flipV="1">
              <a:off x="7161704" y="4437112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7" name="Line 514"/>
            <p:cNvSpPr>
              <a:spLocks noChangeShapeType="1"/>
            </p:cNvSpPr>
            <p:nvPr/>
          </p:nvSpPr>
          <p:spPr bwMode="auto">
            <a:xfrm>
              <a:off x="7379020" y="4653136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8" name="Line 467"/>
            <p:cNvSpPr>
              <a:spLocks noChangeShapeType="1"/>
            </p:cNvSpPr>
            <p:nvPr/>
          </p:nvSpPr>
          <p:spPr bwMode="auto">
            <a:xfrm flipH="1" flipV="1">
              <a:off x="7809800" y="4437113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9" name="Line 514"/>
            <p:cNvSpPr>
              <a:spLocks noChangeShapeType="1"/>
            </p:cNvSpPr>
            <p:nvPr/>
          </p:nvSpPr>
          <p:spPr bwMode="auto">
            <a:xfrm>
              <a:off x="7595092" y="4437113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0" name="Line 467"/>
            <p:cNvSpPr>
              <a:spLocks noChangeShapeType="1"/>
            </p:cNvSpPr>
            <p:nvPr/>
          </p:nvSpPr>
          <p:spPr bwMode="auto">
            <a:xfrm flipH="1" flipV="1">
              <a:off x="7593776" y="4437112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1" name="Line 514"/>
            <p:cNvSpPr>
              <a:spLocks noChangeShapeType="1"/>
            </p:cNvSpPr>
            <p:nvPr/>
          </p:nvSpPr>
          <p:spPr bwMode="auto">
            <a:xfrm>
              <a:off x="7811092" y="4653136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2" name="Line 467"/>
            <p:cNvSpPr>
              <a:spLocks noChangeShapeType="1"/>
            </p:cNvSpPr>
            <p:nvPr/>
          </p:nvSpPr>
          <p:spPr bwMode="auto">
            <a:xfrm flipH="1" flipV="1">
              <a:off x="8243116" y="4437113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3" name="Line 514"/>
            <p:cNvSpPr>
              <a:spLocks noChangeShapeType="1"/>
            </p:cNvSpPr>
            <p:nvPr/>
          </p:nvSpPr>
          <p:spPr bwMode="auto">
            <a:xfrm>
              <a:off x="8028408" y="4437113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4" name="Line 467"/>
            <p:cNvSpPr>
              <a:spLocks noChangeShapeType="1"/>
            </p:cNvSpPr>
            <p:nvPr/>
          </p:nvSpPr>
          <p:spPr bwMode="auto">
            <a:xfrm flipH="1" flipV="1">
              <a:off x="8027092" y="4437112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5" name="Line 514"/>
            <p:cNvSpPr>
              <a:spLocks noChangeShapeType="1"/>
            </p:cNvSpPr>
            <p:nvPr/>
          </p:nvSpPr>
          <p:spPr bwMode="auto">
            <a:xfrm>
              <a:off x="8244408" y="4653136"/>
              <a:ext cx="216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" name="Line 467"/>
            <p:cNvSpPr>
              <a:spLocks noChangeShapeType="1"/>
            </p:cNvSpPr>
            <p:nvPr/>
          </p:nvSpPr>
          <p:spPr bwMode="auto">
            <a:xfrm flipH="1" flipV="1">
              <a:off x="8459164" y="4437112"/>
              <a:ext cx="1292" cy="21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" name="六边形 686"/>
            <p:cNvSpPr/>
            <p:nvPr/>
          </p:nvSpPr>
          <p:spPr bwMode="auto">
            <a:xfrm>
              <a:off x="7596336" y="5013200"/>
              <a:ext cx="432000" cy="216000"/>
            </a:xfrm>
            <a:prstGeom prst="hexagon">
              <a:avLst>
                <a:gd name="adj" fmla="val 38228"/>
                <a:gd name="vf" fmla="val 115470"/>
              </a:avLst>
            </a:prstGeom>
            <a:solidFill>
              <a:srgbClr val="CCE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D3</a:t>
              </a:r>
              <a:endParaRPr kumimoji="1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688" name="六边形 687"/>
            <p:cNvSpPr/>
            <p:nvPr/>
          </p:nvSpPr>
          <p:spPr bwMode="auto">
            <a:xfrm>
              <a:off x="8025205" y="5013176"/>
              <a:ext cx="432343" cy="216000"/>
            </a:xfrm>
            <a:prstGeom prst="hexagon">
              <a:avLst>
                <a:gd name="adj" fmla="val 38228"/>
                <a:gd name="vf" fmla="val 115470"/>
              </a:avLst>
            </a:prstGeom>
            <a:solidFill>
              <a:srgbClr val="CCE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D4</a:t>
              </a:r>
              <a:endParaRPr kumimoji="1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</p:grpSp>
      <p:grpSp>
        <p:nvGrpSpPr>
          <p:cNvPr id="689" name="组合 688"/>
          <p:cNvGrpSpPr/>
          <p:nvPr/>
        </p:nvGrpSpPr>
        <p:grpSpPr>
          <a:xfrm>
            <a:off x="827584" y="2186868"/>
            <a:ext cx="2519952" cy="1962212"/>
            <a:chOff x="827584" y="2276872"/>
            <a:chExt cx="2519952" cy="1962212"/>
          </a:xfrm>
        </p:grpSpPr>
        <p:sp>
          <p:nvSpPr>
            <p:cNvPr id="690" name="Text Box 691"/>
            <p:cNvSpPr txBox="1">
              <a:spLocks noChangeArrowheads="1"/>
            </p:cNvSpPr>
            <p:nvPr/>
          </p:nvSpPr>
          <p:spPr bwMode="auto">
            <a:xfrm>
              <a:off x="2966060" y="3656449"/>
              <a:ext cx="72000" cy="216000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1" name="Text Box 715"/>
            <p:cNvSpPr txBox="1">
              <a:spLocks noChangeArrowheads="1"/>
            </p:cNvSpPr>
            <p:nvPr/>
          </p:nvSpPr>
          <p:spPr bwMode="auto">
            <a:xfrm>
              <a:off x="2699728" y="3663044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输出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2" name="Line 656"/>
            <p:cNvSpPr>
              <a:spLocks noChangeShapeType="1"/>
            </p:cNvSpPr>
            <p:nvPr/>
          </p:nvSpPr>
          <p:spPr bwMode="auto">
            <a:xfrm>
              <a:off x="1331584" y="2510892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3" name="Line 657"/>
            <p:cNvSpPr>
              <a:spLocks noChangeShapeType="1"/>
            </p:cNvSpPr>
            <p:nvPr/>
          </p:nvSpPr>
          <p:spPr bwMode="auto">
            <a:xfrm>
              <a:off x="1331584" y="2726916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4" name="Line 658"/>
            <p:cNvSpPr>
              <a:spLocks noChangeShapeType="1"/>
            </p:cNvSpPr>
            <p:nvPr/>
          </p:nvSpPr>
          <p:spPr bwMode="auto">
            <a:xfrm>
              <a:off x="2051872" y="2510892"/>
              <a:ext cx="936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5" name="Line 659"/>
            <p:cNvSpPr>
              <a:spLocks noChangeShapeType="1"/>
            </p:cNvSpPr>
            <p:nvPr/>
          </p:nvSpPr>
          <p:spPr bwMode="auto">
            <a:xfrm>
              <a:off x="2051872" y="2726916"/>
              <a:ext cx="936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" name="Line 661"/>
            <p:cNvSpPr>
              <a:spLocks noChangeShapeType="1"/>
            </p:cNvSpPr>
            <p:nvPr/>
          </p:nvSpPr>
          <p:spPr bwMode="auto">
            <a:xfrm flipV="1">
              <a:off x="1329282" y="3764449"/>
              <a:ext cx="1296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" name="Line 665"/>
            <p:cNvSpPr>
              <a:spLocks noChangeShapeType="1"/>
            </p:cNvSpPr>
            <p:nvPr/>
          </p:nvSpPr>
          <p:spPr bwMode="auto">
            <a:xfrm>
              <a:off x="2700993" y="3663020"/>
              <a:ext cx="504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8" name="Line 666"/>
            <p:cNvSpPr>
              <a:spLocks noChangeShapeType="1"/>
            </p:cNvSpPr>
            <p:nvPr/>
          </p:nvSpPr>
          <p:spPr bwMode="auto">
            <a:xfrm flipV="1">
              <a:off x="2700993" y="3872473"/>
              <a:ext cx="504000" cy="1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9" name="Line 675"/>
            <p:cNvSpPr>
              <a:spLocks noChangeShapeType="1"/>
            </p:cNvSpPr>
            <p:nvPr/>
          </p:nvSpPr>
          <p:spPr bwMode="auto">
            <a:xfrm flipV="1">
              <a:off x="3131230" y="2510892"/>
              <a:ext cx="72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0" name="Line 676"/>
            <p:cNvSpPr>
              <a:spLocks noChangeShapeType="1"/>
            </p:cNvSpPr>
            <p:nvPr/>
          </p:nvSpPr>
          <p:spPr bwMode="auto">
            <a:xfrm flipV="1">
              <a:off x="3131800" y="2727760"/>
              <a:ext cx="72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1" name="Text Box 691"/>
            <p:cNvSpPr txBox="1">
              <a:spLocks noChangeArrowheads="1"/>
            </p:cNvSpPr>
            <p:nvPr/>
          </p:nvSpPr>
          <p:spPr bwMode="auto">
            <a:xfrm>
              <a:off x="827584" y="3663020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数据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02" name="Line 692"/>
            <p:cNvSpPr>
              <a:spLocks noChangeShapeType="1"/>
            </p:cNvSpPr>
            <p:nvPr/>
          </p:nvSpPr>
          <p:spPr bwMode="auto">
            <a:xfrm flipV="1">
              <a:off x="1977482" y="3368417"/>
              <a:ext cx="93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3" name="Text Box 694"/>
            <p:cNvSpPr txBox="1">
              <a:spLocks noChangeArrowheads="1"/>
            </p:cNvSpPr>
            <p:nvPr/>
          </p:nvSpPr>
          <p:spPr bwMode="auto">
            <a:xfrm>
              <a:off x="969936" y="3374988"/>
              <a:ext cx="28733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704" name="Line 695"/>
            <p:cNvSpPr>
              <a:spLocks noChangeShapeType="1"/>
            </p:cNvSpPr>
            <p:nvPr/>
          </p:nvSpPr>
          <p:spPr bwMode="auto">
            <a:xfrm>
              <a:off x="969242" y="3374988"/>
              <a:ext cx="2381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5" name="Line 699"/>
            <p:cNvSpPr>
              <a:spLocks noChangeShapeType="1"/>
            </p:cNvSpPr>
            <p:nvPr/>
          </p:nvSpPr>
          <p:spPr bwMode="auto">
            <a:xfrm flipV="1">
              <a:off x="1476741" y="2510916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" name="Line 700"/>
            <p:cNvSpPr>
              <a:spLocks noChangeShapeType="1"/>
            </p:cNvSpPr>
            <p:nvPr/>
          </p:nvSpPr>
          <p:spPr bwMode="auto">
            <a:xfrm>
              <a:off x="1476741" y="2510916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" name="Line 706"/>
            <p:cNvSpPr>
              <a:spLocks noChangeShapeType="1"/>
            </p:cNvSpPr>
            <p:nvPr/>
          </p:nvSpPr>
          <p:spPr bwMode="auto">
            <a:xfrm flipH="1">
              <a:off x="1546714" y="2493008"/>
              <a:ext cx="0" cy="136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8" name="Text Box 707"/>
            <p:cNvSpPr txBox="1">
              <a:spLocks noChangeArrowheads="1"/>
            </p:cNvSpPr>
            <p:nvPr/>
          </p:nvSpPr>
          <p:spPr bwMode="auto">
            <a:xfrm>
              <a:off x="2123760" y="2294868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70000"/>
                </a:lnSpc>
              </a:pP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18000" dirty="0" err="1" smtClean="0">
                  <a:latin typeface="宋体" panose="02010600030101010101" pitchFamily="2" charset="-122"/>
                </a:rPr>
                <a:t>A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709" name="Line 708"/>
            <p:cNvSpPr>
              <a:spLocks noChangeShapeType="1"/>
            </p:cNvSpPr>
            <p:nvPr/>
          </p:nvSpPr>
          <p:spPr bwMode="auto">
            <a:xfrm>
              <a:off x="2411704" y="2379854"/>
              <a:ext cx="28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0" name="Line 709"/>
            <p:cNvSpPr>
              <a:spLocks noChangeShapeType="1"/>
            </p:cNvSpPr>
            <p:nvPr/>
          </p:nvSpPr>
          <p:spPr bwMode="auto">
            <a:xfrm flipH="1" flipV="1">
              <a:off x="1835728" y="2379854"/>
              <a:ext cx="28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1" name="Text Box 691"/>
            <p:cNvSpPr txBox="1">
              <a:spLocks noChangeArrowheads="1"/>
            </p:cNvSpPr>
            <p:nvPr/>
          </p:nvSpPr>
          <p:spPr bwMode="auto">
            <a:xfrm>
              <a:off x="827584" y="2492920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712" name="Line 660"/>
            <p:cNvSpPr>
              <a:spLocks noChangeShapeType="1"/>
            </p:cNvSpPr>
            <p:nvPr/>
          </p:nvSpPr>
          <p:spPr bwMode="auto">
            <a:xfrm flipV="1">
              <a:off x="1332725" y="3584441"/>
              <a:ext cx="50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3" name="Line 663"/>
            <p:cNvSpPr>
              <a:spLocks noChangeShapeType="1"/>
            </p:cNvSpPr>
            <p:nvPr/>
          </p:nvSpPr>
          <p:spPr bwMode="auto">
            <a:xfrm flipV="1">
              <a:off x="2627728" y="3660299"/>
              <a:ext cx="7200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4" name="Line 663"/>
            <p:cNvSpPr>
              <a:spLocks noChangeShapeType="1"/>
            </p:cNvSpPr>
            <p:nvPr/>
          </p:nvSpPr>
          <p:spPr bwMode="auto">
            <a:xfrm flipH="1" flipV="1">
              <a:off x="2627728" y="3764473"/>
              <a:ext cx="7200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5" name="Line 699"/>
            <p:cNvSpPr>
              <a:spLocks noChangeShapeType="1"/>
            </p:cNvSpPr>
            <p:nvPr/>
          </p:nvSpPr>
          <p:spPr bwMode="auto">
            <a:xfrm flipV="1">
              <a:off x="2988355" y="2511760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" name="Line 700"/>
            <p:cNvSpPr>
              <a:spLocks noChangeShapeType="1"/>
            </p:cNvSpPr>
            <p:nvPr/>
          </p:nvSpPr>
          <p:spPr bwMode="auto">
            <a:xfrm>
              <a:off x="2988355" y="2511760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" name="Line 660"/>
            <p:cNvSpPr>
              <a:spLocks noChangeShapeType="1"/>
            </p:cNvSpPr>
            <p:nvPr/>
          </p:nvSpPr>
          <p:spPr bwMode="auto">
            <a:xfrm>
              <a:off x="3059832" y="3584441"/>
              <a:ext cx="1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" name="Line 714"/>
            <p:cNvSpPr>
              <a:spLocks noChangeShapeType="1"/>
            </p:cNvSpPr>
            <p:nvPr/>
          </p:nvSpPr>
          <p:spPr bwMode="auto">
            <a:xfrm>
              <a:off x="2915816" y="3368417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" name="Line 680"/>
            <p:cNvSpPr>
              <a:spLocks noChangeShapeType="1"/>
            </p:cNvSpPr>
            <p:nvPr/>
          </p:nvSpPr>
          <p:spPr bwMode="auto">
            <a:xfrm>
              <a:off x="2699736" y="2295020"/>
              <a:ext cx="1" cy="136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" name="Line 663"/>
            <p:cNvSpPr>
              <a:spLocks noChangeShapeType="1"/>
            </p:cNvSpPr>
            <p:nvPr/>
          </p:nvSpPr>
          <p:spPr bwMode="auto">
            <a:xfrm flipV="1">
              <a:off x="1833338" y="3368417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" name="Line 678"/>
            <p:cNvSpPr>
              <a:spLocks noChangeShapeType="1"/>
            </p:cNvSpPr>
            <p:nvPr/>
          </p:nvSpPr>
          <p:spPr bwMode="auto">
            <a:xfrm flipH="1">
              <a:off x="1835696" y="2295012"/>
              <a:ext cx="0" cy="129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" name="Line 680"/>
            <p:cNvSpPr>
              <a:spLocks noChangeShapeType="1"/>
            </p:cNvSpPr>
            <p:nvPr/>
          </p:nvSpPr>
          <p:spPr bwMode="auto">
            <a:xfrm>
              <a:off x="2987768" y="2294868"/>
              <a:ext cx="0" cy="1368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" name="Text Box 707"/>
            <p:cNvSpPr txBox="1">
              <a:spLocks noChangeArrowheads="1"/>
            </p:cNvSpPr>
            <p:nvPr/>
          </p:nvSpPr>
          <p:spPr bwMode="auto">
            <a:xfrm>
              <a:off x="2699768" y="2276872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7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t</a:t>
              </a:r>
              <a:r>
                <a:rPr lang="zh-CN" altLang="en-US" sz="1600" b="1" u="none" baseline="-18000" dirty="0" smtClean="0">
                  <a:latin typeface="宋体" panose="02010600030101010101" pitchFamily="2" charset="-122"/>
                </a:rPr>
                <a:t>传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724" name="Text Box 707"/>
            <p:cNvSpPr txBox="1">
              <a:spLocks noChangeArrowheads="1"/>
            </p:cNvSpPr>
            <p:nvPr/>
          </p:nvSpPr>
          <p:spPr bwMode="auto">
            <a:xfrm>
              <a:off x="899536" y="3951084"/>
              <a:ext cx="2448000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异步控制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信号</a:t>
              </a:r>
              <a:r>
                <a:rPr lang="zh-CN" altLang="en-US" sz="16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一直保持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725" name="Line 692"/>
            <p:cNvSpPr>
              <a:spLocks noChangeShapeType="1"/>
            </p:cNvSpPr>
            <p:nvPr/>
          </p:nvSpPr>
          <p:spPr bwMode="auto">
            <a:xfrm flipV="1">
              <a:off x="1832197" y="3008377"/>
              <a:ext cx="108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" name="Line 660"/>
            <p:cNvSpPr>
              <a:spLocks noChangeShapeType="1"/>
            </p:cNvSpPr>
            <p:nvPr/>
          </p:nvSpPr>
          <p:spPr bwMode="auto">
            <a:xfrm flipV="1">
              <a:off x="1329282" y="2792353"/>
              <a:ext cx="360000" cy="892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" name="Line 660"/>
            <p:cNvSpPr>
              <a:spLocks noChangeShapeType="1"/>
            </p:cNvSpPr>
            <p:nvPr/>
          </p:nvSpPr>
          <p:spPr bwMode="auto">
            <a:xfrm>
              <a:off x="3059832" y="2798924"/>
              <a:ext cx="1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" name="Line 714"/>
            <p:cNvSpPr>
              <a:spLocks noChangeShapeType="1"/>
            </p:cNvSpPr>
            <p:nvPr/>
          </p:nvSpPr>
          <p:spPr bwMode="auto">
            <a:xfrm>
              <a:off x="1689322" y="2792353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" name="Line 663"/>
            <p:cNvSpPr>
              <a:spLocks noChangeShapeType="1"/>
            </p:cNvSpPr>
            <p:nvPr/>
          </p:nvSpPr>
          <p:spPr bwMode="auto">
            <a:xfrm flipV="1">
              <a:off x="2915816" y="2792353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0" name="Line 692"/>
            <p:cNvSpPr>
              <a:spLocks noChangeShapeType="1"/>
            </p:cNvSpPr>
            <p:nvPr/>
          </p:nvSpPr>
          <p:spPr bwMode="auto">
            <a:xfrm flipV="1">
              <a:off x="2121498" y="3296409"/>
              <a:ext cx="79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1" name="Line 660"/>
            <p:cNvSpPr>
              <a:spLocks noChangeShapeType="1"/>
            </p:cNvSpPr>
            <p:nvPr/>
          </p:nvSpPr>
          <p:spPr bwMode="auto">
            <a:xfrm flipV="1">
              <a:off x="1329282" y="3080385"/>
              <a:ext cx="648000" cy="892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2" name="Line 660"/>
            <p:cNvSpPr>
              <a:spLocks noChangeShapeType="1"/>
            </p:cNvSpPr>
            <p:nvPr/>
          </p:nvSpPr>
          <p:spPr bwMode="auto">
            <a:xfrm>
              <a:off x="3059832" y="3080385"/>
              <a:ext cx="1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3" name="Line 714"/>
            <p:cNvSpPr>
              <a:spLocks noChangeShapeType="1"/>
            </p:cNvSpPr>
            <p:nvPr/>
          </p:nvSpPr>
          <p:spPr bwMode="auto">
            <a:xfrm>
              <a:off x="1978495" y="3080385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4" name="Line 663"/>
            <p:cNvSpPr>
              <a:spLocks noChangeShapeType="1"/>
            </p:cNvSpPr>
            <p:nvPr/>
          </p:nvSpPr>
          <p:spPr bwMode="auto">
            <a:xfrm flipV="1">
              <a:off x="2915816" y="3080385"/>
              <a:ext cx="14287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5" name="Text Box 694"/>
            <p:cNvSpPr txBox="1">
              <a:spLocks noChangeArrowheads="1"/>
            </p:cNvSpPr>
            <p:nvPr/>
          </p:nvSpPr>
          <p:spPr bwMode="auto">
            <a:xfrm>
              <a:off x="897234" y="2785243"/>
              <a:ext cx="360000" cy="2434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RAS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736" name="Text Box 694"/>
            <p:cNvSpPr txBox="1">
              <a:spLocks noChangeArrowheads="1"/>
            </p:cNvSpPr>
            <p:nvPr/>
          </p:nvSpPr>
          <p:spPr bwMode="auto">
            <a:xfrm>
              <a:off x="897234" y="3059570"/>
              <a:ext cx="360000" cy="2434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RAS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737" name="Line 695"/>
            <p:cNvSpPr>
              <a:spLocks noChangeShapeType="1"/>
            </p:cNvSpPr>
            <p:nvPr/>
          </p:nvSpPr>
          <p:spPr bwMode="auto">
            <a:xfrm>
              <a:off x="897233" y="2809810"/>
              <a:ext cx="32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" name="Line 695"/>
            <p:cNvSpPr>
              <a:spLocks noChangeShapeType="1"/>
            </p:cNvSpPr>
            <p:nvPr/>
          </p:nvSpPr>
          <p:spPr bwMode="auto">
            <a:xfrm>
              <a:off x="897234" y="3070627"/>
              <a:ext cx="32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9" name="Line 675"/>
            <p:cNvSpPr>
              <a:spLocks noChangeShapeType="1"/>
            </p:cNvSpPr>
            <p:nvPr/>
          </p:nvSpPr>
          <p:spPr bwMode="auto">
            <a:xfrm flipV="1">
              <a:off x="1619672" y="2511912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0" name="Line 656"/>
            <p:cNvSpPr>
              <a:spLocks noChangeShapeType="1"/>
            </p:cNvSpPr>
            <p:nvPr/>
          </p:nvSpPr>
          <p:spPr bwMode="auto">
            <a:xfrm>
              <a:off x="1619672" y="2726916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1" name="Line 699"/>
            <p:cNvSpPr>
              <a:spLocks noChangeShapeType="1"/>
            </p:cNvSpPr>
            <p:nvPr/>
          </p:nvSpPr>
          <p:spPr bwMode="auto">
            <a:xfrm flipV="1">
              <a:off x="1907704" y="2510892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2" name="Line 700"/>
            <p:cNvSpPr>
              <a:spLocks noChangeShapeType="1"/>
            </p:cNvSpPr>
            <p:nvPr/>
          </p:nvSpPr>
          <p:spPr bwMode="auto">
            <a:xfrm>
              <a:off x="1907704" y="2510892"/>
              <a:ext cx="142875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3" name="Line 678"/>
            <p:cNvSpPr>
              <a:spLocks noChangeShapeType="1"/>
            </p:cNvSpPr>
            <p:nvPr/>
          </p:nvSpPr>
          <p:spPr bwMode="auto">
            <a:xfrm flipH="1">
              <a:off x="2123728" y="2709048"/>
              <a:ext cx="0" cy="90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" grpId="0" animBg="1"/>
      <p:bldP spid="57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1440000" y="942125"/>
            <a:ext cx="6660515" cy="1260475"/>
            <a:chOff x="1983" y="4932"/>
            <a:chExt cx="10489" cy="1985"/>
          </a:xfrm>
        </p:grpSpPr>
        <p:sp>
          <p:nvSpPr>
            <p:cNvPr id="3" name="Rectangle 343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2947" y="4933"/>
              <a:ext cx="8561" cy="1984"/>
            </a:xfrm>
            <a:prstGeom prst="rect">
              <a:avLst/>
            </a:prstGeom>
            <a:solidFill>
              <a:srgbClr val="CCFFFF">
                <a:alpha val="6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4" name="Text Box 372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210" y="4932"/>
              <a:ext cx="567" cy="153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CLKCE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" name="Text Box 376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83" y="6463"/>
              <a:ext cx="85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 smtClean="0">
                  <a:latin typeface="+mn-lt"/>
                </a:rPr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200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52" name="直接箭头连接符 51"/>
            <p:cNvCxnSpPr/>
            <p:nvPr>
              <p:custDataLst>
                <p:tags r:id="rId4"/>
              </p:custDataLst>
            </p:nvPr>
          </p:nvCxnSpPr>
          <p:spPr bwMode="auto">
            <a:xfrm>
              <a:off x="2833" y="5103"/>
              <a:ext cx="340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" name="直接箭头连接符 11"/>
            <p:cNvCxnSpPr/>
            <p:nvPr>
              <p:custDataLst>
                <p:tags r:id="rId5"/>
              </p:custDataLst>
            </p:nvPr>
          </p:nvCxnSpPr>
          <p:spPr bwMode="auto">
            <a:xfrm>
              <a:off x="2834" y="6634"/>
              <a:ext cx="2665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" name="直接箭头连接符 13"/>
            <p:cNvCxnSpPr/>
            <p:nvPr>
              <p:custDataLst>
                <p:tags r:id="rId6"/>
              </p:custDataLst>
            </p:nvPr>
          </p:nvCxnSpPr>
          <p:spPr bwMode="auto">
            <a:xfrm>
              <a:off x="2833" y="5386"/>
              <a:ext cx="340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" name="直接箭头连接符 14"/>
            <p:cNvCxnSpPr/>
            <p:nvPr>
              <p:custDataLst>
                <p:tags r:id="rId7"/>
              </p:custDataLst>
            </p:nvPr>
          </p:nvCxnSpPr>
          <p:spPr bwMode="auto">
            <a:xfrm>
              <a:off x="2833" y="5670"/>
              <a:ext cx="340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" name="直接箭头连接符 15"/>
            <p:cNvCxnSpPr/>
            <p:nvPr>
              <p:custDataLst>
                <p:tags r:id="rId8"/>
              </p:custDataLst>
            </p:nvPr>
          </p:nvCxnSpPr>
          <p:spPr bwMode="auto">
            <a:xfrm>
              <a:off x="2833" y="6010"/>
              <a:ext cx="340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" name="直接箭头连接符 16"/>
            <p:cNvCxnSpPr/>
            <p:nvPr>
              <p:custDataLst>
                <p:tags r:id="rId9"/>
              </p:custDataLst>
            </p:nvPr>
          </p:nvCxnSpPr>
          <p:spPr bwMode="auto">
            <a:xfrm>
              <a:off x="2835" y="6293"/>
              <a:ext cx="340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1" name="直接箭头连接符 150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2266" y="6151"/>
              <a:ext cx="48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2" name="直接箭头连接符 21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2266" y="5839"/>
              <a:ext cx="48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3" name="直接箭头连接符 22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2437" y="5539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4" name="直接箭头连接符 23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2437" y="5244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6" name="Text Box 344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309" y="5046"/>
              <a:ext cx="737" cy="1361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工作方式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REG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" name="Text Box 36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1622" y="5669"/>
              <a:ext cx="85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 smtClean="0">
                  <a:latin typeface="+mn-lt"/>
                </a:rPr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8" name="Text Box 389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175" y="5046"/>
              <a:ext cx="794" cy="1361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>
                  <a:latin typeface="宋体" panose="02010600030101010101" pitchFamily="2" charset="-122"/>
                </a:rPr>
                <a:t>控制</a:t>
              </a:r>
              <a:endParaRPr lang="zh-CN" altLang="en-US" sz="16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>
                  <a:latin typeface="宋体" panose="02010600030101010101" pitchFamily="2" charset="-122"/>
                </a:rPr>
                <a:t>逻辑</a:t>
              </a:r>
              <a:endParaRPr lang="zh-CN" altLang="en-US" sz="1600" b="1" u="none">
                <a:latin typeface="宋体" panose="02010600030101010101" pitchFamily="2" charset="-122"/>
              </a:endParaRPr>
            </a:p>
          </p:txBody>
        </p:sp>
        <p:cxnSp>
          <p:nvCxnSpPr>
            <p:cNvPr id="9" name="直接箭头连接符 8"/>
            <p:cNvCxnSpPr/>
            <p:nvPr>
              <p:custDataLst>
                <p:tags r:id="rId17"/>
              </p:custDataLst>
            </p:nvPr>
          </p:nvCxnSpPr>
          <p:spPr bwMode="auto">
            <a:xfrm>
              <a:off x="11339" y="5839"/>
              <a:ext cx="340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10" name="Text Box 345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498" y="6463"/>
              <a:ext cx="2041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行地址锁存器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" name="Text Box 346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498" y="5842"/>
              <a:ext cx="2041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列地址锁存器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355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8673" y="6010"/>
              <a:ext cx="1928" cy="79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1M×8b DRAM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8" name="Text Box 356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7880" y="6010"/>
              <a:ext cx="794" cy="794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/>
                <a:t>行译码器</a:t>
              </a:r>
              <a:endParaRPr lang="zh-CN" altLang="en-US" sz="1600" b="1" u="none" dirty="0"/>
            </a:p>
          </p:txBody>
        </p:sp>
        <p:sp>
          <p:nvSpPr>
            <p:cNvPr id="19" name="Text Box 358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8676" y="5048"/>
              <a:ext cx="1928" cy="340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/>
                <a:t>列译码器</a:t>
              </a:r>
              <a:endParaRPr lang="zh-CN" altLang="en-US" sz="1600" b="1" u="none" dirty="0"/>
            </a:p>
          </p:txBody>
        </p:sp>
        <p:sp>
          <p:nvSpPr>
            <p:cNvPr id="20" name="Text Box 359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8673" y="5670"/>
              <a:ext cx="1928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读放和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门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1" name="Text Box 360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0942" y="5046"/>
              <a:ext cx="397" cy="158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缓冲器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5" name="Text Box 405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5498" y="5046"/>
              <a:ext cx="2381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/>
                <a:t>成组传送计数器</a:t>
              </a:r>
              <a:endParaRPr lang="zh-CN" altLang="en-US" sz="1600" b="1" u="none" dirty="0" smtClean="0"/>
            </a:p>
          </p:txBody>
        </p:sp>
        <p:sp>
          <p:nvSpPr>
            <p:cNvPr id="26" name="Text Box 36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9467" y="5387"/>
              <a:ext cx="454" cy="2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43" name="直接箭头连接符 42"/>
            <p:cNvCxnSpPr/>
            <p:nvPr>
              <p:custDataLst>
                <p:tags r:id="rId27"/>
              </p:custDataLst>
            </p:nvPr>
          </p:nvCxnSpPr>
          <p:spPr bwMode="auto">
            <a:xfrm>
              <a:off x="10601" y="5840"/>
              <a:ext cx="340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27" name="直接箭头连接符 26"/>
            <p:cNvCxnSpPr/>
            <p:nvPr>
              <p:custDataLst>
                <p:tags r:id="rId28"/>
              </p:custDataLst>
            </p:nvPr>
          </p:nvCxnSpPr>
          <p:spPr bwMode="auto">
            <a:xfrm flipH="1">
              <a:off x="5216" y="6011"/>
              <a:ext cx="0" cy="624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28" name="直接箭头连接符 27"/>
            <p:cNvCxnSpPr/>
            <p:nvPr>
              <p:custDataLst>
                <p:tags r:id="rId29"/>
              </p:custDataLst>
            </p:nvPr>
          </p:nvCxnSpPr>
          <p:spPr bwMode="auto">
            <a:xfrm>
              <a:off x="9297" y="5387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" name="直接箭头连接符 29"/>
            <p:cNvCxnSpPr/>
            <p:nvPr>
              <p:custDataLst>
                <p:tags r:id="rId30"/>
              </p:custDataLst>
            </p:nvPr>
          </p:nvCxnSpPr>
          <p:spPr bwMode="auto">
            <a:xfrm>
              <a:off x="10091" y="5387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1" name="直接箭头连接符 30"/>
            <p:cNvCxnSpPr/>
            <p:nvPr>
              <p:custDataLst>
                <p:tags r:id="rId31"/>
              </p:custDataLst>
            </p:nvPr>
          </p:nvCxnSpPr>
          <p:spPr bwMode="auto">
            <a:xfrm>
              <a:off x="7540" y="6633"/>
              <a:ext cx="340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" name="直接箭头连接符 31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6575" y="5387"/>
              <a:ext cx="0" cy="454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3" name="直接箭头连接符 32"/>
            <p:cNvCxnSpPr/>
            <p:nvPr>
              <p:custDataLst>
                <p:tags r:id="rId33"/>
              </p:custDataLst>
            </p:nvPr>
          </p:nvCxnSpPr>
          <p:spPr bwMode="auto">
            <a:xfrm>
              <a:off x="7880" y="5216"/>
              <a:ext cx="794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4" name="直接箭头连接符 33"/>
            <p:cNvCxnSpPr/>
            <p:nvPr>
              <p:custDataLst>
                <p:tags r:id="rId34"/>
              </p:custDataLst>
            </p:nvPr>
          </p:nvCxnSpPr>
          <p:spPr bwMode="auto">
            <a:xfrm>
              <a:off x="5216" y="6010"/>
              <a:ext cx="283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5" name="直接箭头连接符 34"/>
            <p:cNvCxnSpPr/>
            <p:nvPr>
              <p:custDataLst>
                <p:tags r:id="rId35"/>
              </p:custDataLst>
            </p:nvPr>
          </p:nvCxnSpPr>
          <p:spPr bwMode="auto">
            <a:xfrm flipH="1" flipV="1">
              <a:off x="4649" y="6407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36" name="直接箭头连接符 35"/>
            <p:cNvCxnSpPr/>
            <p:nvPr>
              <p:custDataLst>
                <p:tags r:id="rId36"/>
              </p:custDataLst>
            </p:nvPr>
          </p:nvCxnSpPr>
          <p:spPr bwMode="auto">
            <a:xfrm>
              <a:off x="3970" y="5740"/>
              <a:ext cx="340" cy="2"/>
            </a:xfrm>
            <a:prstGeom prst="straightConnector1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44" name="AutoShape 46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Text Box 409"/>
          <p:cNvSpPr txBox="1">
            <a:spLocks noChangeArrowheads="1"/>
          </p:cNvSpPr>
          <p:nvPr/>
        </p:nvSpPr>
        <p:spPr bwMode="auto">
          <a:xfrm>
            <a:off x="179388" y="332656"/>
            <a:ext cx="8208838" cy="5036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*SDRAM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组成示例：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DRAM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基础上，增设</a:t>
            </a:r>
            <a:r>
              <a:rPr lang="zh-CN" altLang="en-US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锁存器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、</a:t>
            </a:r>
            <a:r>
              <a:rPr lang="zh-CN" altLang="en-US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计数器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等</a:t>
            </a: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同步</a:t>
            </a:r>
            <a:r>
              <a:rPr lang="zh-CN" altLang="en-US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工作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原理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8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数据传送方式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 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操作控制过程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控制过程：</a:t>
            </a:r>
            <a:endParaRPr lang="en-US" altLang="zh-CN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过程优化：</a:t>
            </a:r>
            <a:endParaRPr lang="en-US" altLang="zh-CN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12" name="Text Box 409"/>
          <p:cNvSpPr txBox="1">
            <a:spLocks noChangeArrowheads="1"/>
          </p:cNvSpPr>
          <p:nvPr/>
        </p:nvSpPr>
        <p:spPr bwMode="auto">
          <a:xfrm>
            <a:off x="2988000" y="2205876"/>
            <a:ext cx="6048000" cy="15792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同步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于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CLK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</a:t>
            </a:r>
            <a:r>
              <a:rPr lang="zh-CN" altLang="en-US" b="1" dirty="0">
                <a:latin typeface="宋体" panose="02010600030101010101" pitchFamily="2" charset="-122"/>
              </a:rPr>
              <a:t>内部操作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异步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u="none" dirty="0">
                <a:latin typeface="宋体" panose="02010600030101010101" pitchFamily="2" charset="-122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</a:rPr>
              <a:t>     </a:t>
            </a:r>
            <a:r>
              <a:rPr lang="zh-CN" altLang="en-US" sz="1800" u="none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→</a:t>
            </a:r>
            <a:r>
              <a:rPr lang="zh-CN" altLang="en-US" sz="1800" b="1" u="none" dirty="0">
                <a:latin typeface="宋体" panose="02010600030101010101" pitchFamily="2" charset="-122"/>
              </a:rPr>
              <a:t>地址</a:t>
            </a:r>
            <a:r>
              <a:rPr lang="en-US" altLang="zh-CN" sz="1800" b="1" u="none" dirty="0">
                <a:latin typeface="宋体" panose="02010600030101010101" pitchFamily="2" charset="-122"/>
              </a:rPr>
              <a:t>&amp;</a:t>
            </a:r>
            <a:r>
              <a:rPr lang="zh-CN" altLang="en-US" sz="1800" b="1" u="none" dirty="0">
                <a:latin typeface="宋体" panose="02010600030101010101" pitchFamily="2" charset="-122"/>
              </a:rPr>
              <a:t>数据需锁存</a:t>
            </a:r>
            <a:endParaRPr lang="en-US" altLang="zh-CN" sz="1800" b="1" u="none" dirty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仅支持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突发传输方式，列地址</a:t>
            </a:r>
            <a:r>
              <a:rPr lang="zh-CN" altLang="en-US" b="1" u="none" dirty="0">
                <a:latin typeface="宋体" panose="02010600030101010101" pitchFamily="2" charset="-122"/>
              </a:rPr>
              <a:t>用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计数器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改变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1800" b="1" u="none" dirty="0" smtClean="0">
                <a:latin typeface="宋体" panose="02010600030101010101" pitchFamily="2" charset="-122"/>
              </a:rPr>
              <a:t>  </a:t>
            </a:r>
            <a:r>
              <a:rPr lang="zh-CN" altLang="en-US" sz="1800" u="none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←常规</a:t>
            </a:r>
            <a:r>
              <a:rPr lang="zh-CN" altLang="en-US" sz="1800" b="1" u="none" dirty="0">
                <a:latin typeface="宋体" panose="02010600030101010101" pitchFamily="2" charset="-122"/>
              </a:rPr>
              <a:t>传输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时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BL1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，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BL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有几种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 </a:t>
            </a:r>
            <a:endParaRPr lang="en-US" altLang="zh-CN" b="1" u="none" dirty="0" smtClean="0">
              <a:latin typeface="宋体" panose="02010600030101010101" pitchFamily="2" charset="-122"/>
            </a:endParaRPr>
          </a:p>
        </p:txBody>
      </p:sp>
      <p:sp>
        <p:nvSpPr>
          <p:cNvPr id="113" name="Text Box 409"/>
          <p:cNvSpPr txBox="1">
            <a:spLocks noChangeArrowheads="1"/>
          </p:cNvSpPr>
          <p:nvPr/>
        </p:nvSpPr>
        <p:spPr bwMode="auto">
          <a:xfrm>
            <a:off x="2627784" y="4316310"/>
            <a:ext cx="6372000" cy="13049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①</a:t>
            </a:r>
            <a:r>
              <a:rPr lang="zh-CN" altLang="en-US" b="1" u="none" dirty="0">
                <a:latin typeface="宋体" panose="02010600030101010101" pitchFamily="2" charset="-122"/>
              </a:rPr>
              <a:t>设置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BL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 ②</a:t>
            </a:r>
            <a:r>
              <a:rPr lang="zh-CN" altLang="en-US" b="1" u="none" dirty="0">
                <a:latin typeface="宋体" panose="02010600030101010101" pitchFamily="2" charset="-122"/>
              </a:rPr>
              <a:t>启动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操作 ③传送数据 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←常规仅②③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>
                <a:latin typeface="宋体" panose="02010600030101010101" pitchFamily="2" charset="-122"/>
              </a:rPr>
              <a:t>当前操作与上一操作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BL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相同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时，</a:t>
            </a:r>
            <a:r>
              <a:rPr lang="zh-CN" altLang="en-US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缺省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第①步 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u="none" dirty="0" smtClean="0">
                <a:latin typeface="宋体" panose="02010600030101010101" pitchFamily="2" charset="-122"/>
              </a:rPr>
              <a:t>                          </a:t>
            </a:r>
            <a:r>
              <a:rPr lang="zh-CN" altLang="en-US" sz="1800" u="none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←同一操作者</a:t>
            </a:r>
            <a:r>
              <a:rPr lang="zh-CN" altLang="en-US" sz="1800" b="1" u="none" dirty="0">
                <a:latin typeface="宋体" panose="02010600030101010101" pitchFamily="2" charset="-122"/>
              </a:rPr>
              <a:t>自知</a:t>
            </a:r>
            <a:endParaRPr lang="en-US" altLang="zh-CN" sz="1800" u="none" dirty="0" smtClean="0">
              <a:latin typeface="宋体" panose="02010600030101010101" pitchFamily="2" charset="-122"/>
            </a:endParaRPr>
          </a:p>
        </p:txBody>
      </p:sp>
      <p:sp>
        <p:nvSpPr>
          <p:cNvPr id="58" name="Text Box 726"/>
          <p:cNvSpPr txBox="1">
            <a:spLocks noChangeArrowheads="1"/>
          </p:cNvSpPr>
          <p:nvPr/>
        </p:nvSpPr>
        <p:spPr bwMode="auto">
          <a:xfrm>
            <a:off x="1259632" y="5688000"/>
            <a:ext cx="518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 smtClean="0"/>
              <a:t>思考②：</a:t>
            </a:r>
            <a:r>
              <a:rPr lang="zh-CN" altLang="en-US" sz="1800" dirty="0" smtClean="0">
                <a:solidFill>
                  <a:schemeClr val="tx1"/>
                </a:solidFill>
              </a:rPr>
              <a:t>第①步缺省时，</a:t>
            </a:r>
            <a:r>
              <a:rPr lang="en-US" altLang="zh-CN" sz="1800" dirty="0" smtClean="0">
                <a:solidFill>
                  <a:schemeClr val="tx1"/>
                </a:solidFill>
              </a:rPr>
              <a:t>SDRAM</a:t>
            </a:r>
            <a:r>
              <a:rPr lang="zh-CN" altLang="en-US" sz="1800" dirty="0" smtClean="0">
                <a:solidFill>
                  <a:schemeClr val="tx1"/>
                </a:solidFill>
              </a:rPr>
              <a:t>如何知道当前的</a:t>
            </a:r>
            <a:r>
              <a:rPr lang="en-US" altLang="zh-CN" sz="1800" dirty="0" smtClean="0">
                <a:solidFill>
                  <a:schemeClr val="tx1"/>
                </a:solidFill>
              </a:rPr>
              <a:t>BL</a:t>
            </a:r>
            <a:r>
              <a:rPr lang="zh-CN" altLang="en-US" sz="1800" dirty="0" smtClean="0">
                <a:solidFill>
                  <a:schemeClr val="tx1"/>
                </a:solidFill>
              </a:rPr>
              <a:t>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70" name="Text Box 707"/>
          <p:cNvSpPr txBox="1">
            <a:spLocks noChangeArrowheads="1"/>
          </p:cNvSpPr>
          <p:nvPr/>
        </p:nvSpPr>
        <p:spPr bwMode="auto">
          <a:xfrm>
            <a:off x="6588224" y="5688000"/>
            <a:ext cx="2250144" cy="25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90000"/>
              </a:lnSpc>
            </a:pPr>
            <a:r>
              <a:rPr lang="en-US" altLang="zh-CN" sz="1600" b="1" u="none" dirty="0" smtClean="0">
                <a:latin typeface="宋体" panose="02010600030101010101" pitchFamily="2" charset="-122"/>
              </a:rPr>
              <a:t>BL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保存在工作方式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REG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中</a:t>
            </a:r>
            <a:endParaRPr lang="en-US" altLang="zh-CN" sz="1600" b="1" u="none" dirty="0">
              <a:latin typeface="宋体" panose="02010600030101010101" pitchFamily="2" charset="-122"/>
            </a:endParaRPr>
          </a:p>
        </p:txBody>
      </p:sp>
      <p:sp>
        <p:nvSpPr>
          <p:cNvPr id="54" name="Text Box 726"/>
          <p:cNvSpPr txBox="1">
            <a:spLocks noChangeArrowheads="1"/>
          </p:cNvSpPr>
          <p:nvPr/>
        </p:nvSpPr>
        <p:spPr bwMode="auto">
          <a:xfrm>
            <a:off x="3203847" y="3780000"/>
            <a:ext cx="4680521" cy="25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 smtClean="0"/>
              <a:t>思考①：</a:t>
            </a:r>
            <a:r>
              <a:rPr lang="zh-CN" altLang="en-US" sz="1800" dirty="0" smtClean="0">
                <a:solidFill>
                  <a:schemeClr val="tx1"/>
                </a:solidFill>
              </a:rPr>
              <a:t>突发传输时数据间隔很短，为什么？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55" name="Text Box 726"/>
          <p:cNvSpPr txBox="1">
            <a:spLocks noChangeArrowheads="1"/>
          </p:cNvSpPr>
          <p:nvPr/>
        </p:nvSpPr>
        <p:spPr bwMode="auto">
          <a:xfrm>
            <a:off x="1115808" y="3456000"/>
            <a:ext cx="1584000" cy="252000"/>
          </a:xfrm>
          <a:prstGeom prst="rect">
            <a:avLst/>
          </a:prstGeom>
          <a:noFill/>
          <a:ln w="12700">
            <a:solidFill>
              <a:srgbClr val="C00000"/>
            </a:solidFill>
            <a:prstDash val="dashDot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en-US" altLang="zh-CN" sz="1600" dirty="0" smtClean="0">
                <a:solidFill>
                  <a:schemeClr val="tx1"/>
                </a:solidFill>
              </a:rPr>
              <a:t>BL—</a:t>
            </a:r>
            <a:r>
              <a:rPr lang="en-US" altLang="zh-CN" sz="1600" b="0" dirty="0" smtClean="0">
                <a:solidFill>
                  <a:schemeClr val="tx1"/>
                </a:solidFill>
                <a:latin typeface="+mn-lt"/>
              </a:rPr>
              <a:t>Burst </a:t>
            </a:r>
            <a:r>
              <a:rPr lang="en-US" altLang="zh-CN" sz="1600" b="0" dirty="0">
                <a:solidFill>
                  <a:schemeClr val="tx1"/>
                </a:solidFill>
                <a:latin typeface="+mn-lt"/>
              </a:rPr>
              <a:t>Length</a:t>
            </a:r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70" grpId="0" bldLvl="0" animBg="1"/>
      <p:bldP spid="54" grpId="0" bldLvl="0" animBg="1"/>
      <p:bldP spid="55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Text Box 301"/>
          <p:cNvSpPr txBox="1">
            <a:spLocks noChangeArrowheads="1"/>
          </p:cNvSpPr>
          <p:nvPr/>
        </p:nvSpPr>
        <p:spPr bwMode="auto">
          <a:xfrm>
            <a:off x="179388" y="332656"/>
            <a:ext cx="8785225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(3)DDR </a:t>
            </a: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SDRAM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（</a:t>
            </a:r>
            <a:r>
              <a:rPr lang="en-US" altLang="zh-CN" sz="2000" u="none" dirty="0" smtClean="0">
                <a:latin typeface="+mn-lt"/>
              </a:rPr>
              <a:t>Double </a:t>
            </a:r>
            <a:r>
              <a:rPr lang="en-US" altLang="zh-CN" sz="2000" u="none" dirty="0">
                <a:latin typeface="+mn-lt"/>
              </a:rPr>
              <a:t>Data Rate </a:t>
            </a:r>
            <a:r>
              <a:rPr lang="en-US" altLang="zh-CN" sz="2000" b="1" u="none" dirty="0" smtClean="0">
                <a:latin typeface="+mn-ea"/>
                <a:ea typeface="+mn-ea"/>
              </a:rPr>
              <a:t>SDRAM</a:t>
            </a:r>
            <a:r>
              <a:rPr lang="zh-CN" altLang="en-US" sz="2000" b="1" u="none" dirty="0" smtClean="0">
                <a:latin typeface="+mn-ea"/>
                <a:ea typeface="+mn-ea"/>
              </a:rPr>
              <a:t>）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优化原理：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DDR SDRAM</a:t>
            </a:r>
            <a:r>
              <a:rPr lang="zh-CN" altLang="en-US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组成：</a:t>
            </a:r>
            <a:endParaRPr lang="en-US" altLang="zh-CN" b="1" u="none" dirty="0">
              <a:latin typeface="宋体" panose="02010600030101010101" pitchFamily="2" charset="-122"/>
            </a:endParaRPr>
          </a:p>
        </p:txBody>
      </p:sp>
      <p:sp>
        <p:nvSpPr>
          <p:cNvPr id="4" name="Text Box 303"/>
          <p:cNvSpPr txBox="1">
            <a:spLocks noChangeArrowheads="1"/>
          </p:cNvSpPr>
          <p:nvPr/>
        </p:nvSpPr>
        <p:spPr bwMode="auto">
          <a:xfrm>
            <a:off x="2051720" y="799544"/>
            <a:ext cx="6805635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latin typeface="宋体" panose="02010600030101010101" pitchFamily="2" charset="-122"/>
              </a:rPr>
              <a:t>CLK</a:t>
            </a:r>
            <a:r>
              <a:rPr lang="zh-CN" altLang="en-US" b="1" u="none" dirty="0">
                <a:latin typeface="宋体" panose="02010600030101010101" pitchFamily="2" charset="-122"/>
              </a:rPr>
              <a:t>的</a:t>
            </a: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上升沿及下降沿</a:t>
            </a:r>
            <a:r>
              <a:rPr lang="zh-CN" altLang="en-US" b="1" u="none" dirty="0">
                <a:latin typeface="宋体" panose="02010600030101010101" pitchFamily="2" charset="-122"/>
              </a:rPr>
              <a:t>都</a:t>
            </a:r>
            <a:r>
              <a:rPr lang="en-US" altLang="zh-CN" b="1" u="none" dirty="0">
                <a:latin typeface="宋体" panose="02010600030101010101" pitchFamily="2" charset="-122"/>
              </a:rPr>
              <a:t>I/O       </a:t>
            </a:r>
            <a:r>
              <a:rPr lang="zh-CN" altLang="en-US" sz="1800" b="1" u="none" dirty="0">
                <a:latin typeface="宋体" panose="02010600030101010101" pitchFamily="2" charset="-122"/>
              </a:rPr>
              <a:t>←</a:t>
            </a:r>
            <a:r>
              <a:rPr lang="en-US" altLang="zh-CN" sz="1800" b="1" u="none" dirty="0">
                <a:latin typeface="宋体" panose="02010600030101010101" pitchFamily="2" charset="-122"/>
              </a:rPr>
              <a:t>SDRAM</a:t>
            </a:r>
            <a:r>
              <a:rPr lang="zh-CN" altLang="en-US" sz="1800" b="1" u="none" dirty="0">
                <a:latin typeface="宋体" panose="02010600030101010101" pitchFamily="2" charset="-122"/>
              </a:rPr>
              <a:t>仅上升沿</a:t>
            </a:r>
            <a:endParaRPr lang="en-US" altLang="zh-CN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     </a:t>
            </a:r>
            <a:r>
              <a:rPr lang="zh-CN" altLang="en-US" b="1" dirty="0" smtClean="0">
                <a:latin typeface="宋体" panose="02010600030101010101" pitchFamily="2" charset="-122"/>
              </a:rPr>
              <a:t>存储矩阵中单元宽度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是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I/O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宽度的</a:t>
            </a:r>
            <a:r>
              <a:rPr lang="en-US" altLang="zh-CN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倍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latin typeface="宋体" panose="02010600030101010101" pitchFamily="2" charset="-122"/>
              </a:rPr>
              <a:t>     I/O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时需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拆分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/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合并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；工作频率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＝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核心频率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endParaRPr lang="zh-CN" altLang="en-US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12" name="Text Box 303"/>
          <p:cNvSpPr txBox="1">
            <a:spLocks noChangeArrowheads="1"/>
          </p:cNvSpPr>
          <p:nvPr/>
        </p:nvSpPr>
        <p:spPr bwMode="auto">
          <a:xfrm>
            <a:off x="179512" y="3866272"/>
            <a:ext cx="4680520" cy="19389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*DDR2 SDRAM</a:t>
            </a:r>
            <a:r>
              <a:rPr lang="zh-CN" altLang="en-US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组成：</a:t>
            </a:r>
            <a:endParaRPr lang="en-US" altLang="zh-CN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u="none" dirty="0" smtClean="0">
                <a:latin typeface="宋体" panose="02010600030101010101" pitchFamily="2" charset="-122"/>
              </a:rPr>
              <a:t>    存储矩阵中单元宽度是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I/O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宽度的</a:t>
            </a:r>
            <a:r>
              <a:rPr lang="en-US" altLang="zh-CN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4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倍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，</a:t>
            </a:r>
            <a:r>
              <a:rPr lang="en-US" altLang="zh-CN" b="1" u="none" dirty="0" smtClean="0">
                <a:latin typeface="宋体" panose="02010600030101010101" pitchFamily="2" charset="-122"/>
              </a:rPr>
              <a:t>I/O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时需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拆分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/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合并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；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u="none" dirty="0" smtClean="0">
                <a:latin typeface="宋体" panose="02010600030101010101" pitchFamily="2" charset="-122"/>
              </a:rPr>
              <a:t>    </a:t>
            </a:r>
            <a:r>
              <a:rPr lang="zh-CN" altLang="en-US" b="1" u="none" dirty="0" smtClean="0">
                <a:latin typeface="宋体" panose="02010600030101010101" pitchFamily="2" charset="-122"/>
              </a:rPr>
              <a:t>工作频率＝核心频率</a:t>
            </a:r>
            <a:r>
              <a:rPr lang="en-US" altLang="zh-CN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×2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endParaRPr lang="zh-CN" altLang="en-US" b="1" u="none" dirty="0">
              <a:latin typeface="宋体" panose="02010600030101010101" pitchFamily="2" charset="-122"/>
            </a:endParaRPr>
          </a:p>
        </p:txBody>
      </p:sp>
      <p:grpSp>
        <p:nvGrpSpPr>
          <p:cNvPr id="122" name="组合 121"/>
          <p:cNvGrpSpPr/>
          <p:nvPr/>
        </p:nvGrpSpPr>
        <p:grpSpPr>
          <a:xfrm>
            <a:off x="5148464" y="2276904"/>
            <a:ext cx="3600000" cy="1512136"/>
            <a:chOff x="4716416" y="2420888"/>
            <a:chExt cx="3600000" cy="1512136"/>
          </a:xfrm>
        </p:grpSpPr>
        <p:sp>
          <p:nvSpPr>
            <p:cNvPr id="123" name="Text Box 392"/>
            <p:cNvSpPr txBox="1">
              <a:spLocks noChangeArrowheads="1"/>
            </p:cNvSpPr>
            <p:nvPr/>
          </p:nvSpPr>
          <p:spPr bwMode="auto">
            <a:xfrm>
              <a:off x="4716416" y="2420888"/>
              <a:ext cx="360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1600" b="1" u="none" dirty="0" smtClean="0">
                  <a:latin typeface="+mn-ea"/>
                  <a:ea typeface="+mn-ea"/>
                </a:rPr>
                <a:t>核心频率</a:t>
              </a:r>
              <a:r>
                <a:rPr lang="en-US" altLang="zh-CN" sz="1600" b="1" u="none" dirty="0">
                  <a:latin typeface="+mn-ea"/>
                  <a:ea typeface="+mn-ea"/>
                </a:rPr>
                <a:t>(100MHz</a:t>
              </a:r>
              <a:r>
                <a:rPr lang="en-US" altLang="zh-CN" sz="1600" b="1" u="none" dirty="0" smtClean="0">
                  <a:latin typeface="+mn-ea"/>
                  <a:ea typeface="+mn-ea"/>
                </a:rPr>
                <a:t>)</a:t>
              </a:r>
              <a:r>
                <a:rPr lang="zh-CN" altLang="en-US" sz="1600" b="1" u="none" dirty="0" smtClean="0">
                  <a:latin typeface="+mn-ea"/>
                  <a:ea typeface="+mn-ea"/>
                </a:rPr>
                <a:t> </a:t>
              </a:r>
              <a:r>
                <a:rPr lang="zh-CN" altLang="en-US" sz="1600" b="1" u="none" dirty="0">
                  <a:latin typeface="+mn-ea"/>
                  <a:ea typeface="+mn-ea"/>
                </a:rPr>
                <a:t> </a:t>
              </a:r>
              <a:r>
                <a:rPr lang="zh-CN" altLang="en-US" sz="1600" b="1" u="none" dirty="0" smtClean="0">
                  <a:latin typeface="+mn-ea"/>
                  <a:ea typeface="+mn-ea"/>
                </a:rPr>
                <a:t>工作频率</a:t>
              </a:r>
              <a:r>
                <a:rPr lang="en-US" altLang="zh-CN" sz="1600" b="1" u="none" dirty="0" smtClean="0">
                  <a:latin typeface="+mn-ea"/>
                  <a:ea typeface="+mn-ea"/>
                </a:rPr>
                <a:t>(</a:t>
              </a:r>
              <a:r>
                <a:rPr lang="en-US" altLang="zh-CN" sz="1600" b="1" u="none" dirty="0" smtClean="0">
                  <a:solidFill>
                    <a:srgbClr val="990099"/>
                  </a:solidFill>
                  <a:latin typeface="+mn-ea"/>
                  <a:ea typeface="+mn-ea"/>
                </a:rPr>
                <a:t>100MHz</a:t>
              </a:r>
              <a:r>
                <a:rPr lang="en-US" altLang="zh-CN" sz="1600" b="1" u="none" dirty="0" smtClean="0">
                  <a:latin typeface="+mn-ea"/>
                  <a:ea typeface="+mn-ea"/>
                </a:rPr>
                <a:t>)</a:t>
              </a:r>
              <a:endParaRPr lang="en-US" altLang="zh-CN" sz="1600" b="1" u="none" dirty="0">
                <a:latin typeface="+mn-ea"/>
                <a:ea typeface="+mn-ea"/>
              </a:endParaRPr>
            </a:p>
          </p:txBody>
        </p:sp>
        <p:sp>
          <p:nvSpPr>
            <p:cNvPr id="124" name="Line 397"/>
            <p:cNvSpPr>
              <a:spLocks noChangeShapeType="1"/>
            </p:cNvSpPr>
            <p:nvPr/>
          </p:nvSpPr>
          <p:spPr bwMode="auto">
            <a:xfrm>
              <a:off x="5509100" y="27077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400"/>
            <p:cNvSpPr>
              <a:spLocks noChangeShapeType="1"/>
            </p:cNvSpPr>
            <p:nvPr/>
          </p:nvSpPr>
          <p:spPr bwMode="auto">
            <a:xfrm>
              <a:off x="4930956" y="27077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401"/>
            <p:cNvSpPr>
              <a:spLocks noChangeShapeType="1"/>
            </p:cNvSpPr>
            <p:nvPr/>
          </p:nvSpPr>
          <p:spPr bwMode="auto">
            <a:xfrm>
              <a:off x="5221068" y="27077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402"/>
            <p:cNvSpPr>
              <a:spLocks noChangeShapeType="1"/>
            </p:cNvSpPr>
            <p:nvPr/>
          </p:nvSpPr>
          <p:spPr bwMode="auto">
            <a:xfrm flipH="1" flipV="1">
              <a:off x="4931826" y="2708920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Line 404"/>
            <p:cNvSpPr>
              <a:spLocks noChangeShapeType="1"/>
            </p:cNvSpPr>
            <p:nvPr/>
          </p:nvSpPr>
          <p:spPr bwMode="auto">
            <a:xfrm>
              <a:off x="7164688" y="2707110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405"/>
            <p:cNvSpPr>
              <a:spLocks noChangeShapeType="1"/>
            </p:cNvSpPr>
            <p:nvPr/>
          </p:nvSpPr>
          <p:spPr bwMode="auto">
            <a:xfrm flipH="1">
              <a:off x="6876656" y="270646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406"/>
            <p:cNvSpPr>
              <a:spLocks noChangeShapeType="1"/>
            </p:cNvSpPr>
            <p:nvPr/>
          </p:nvSpPr>
          <p:spPr bwMode="auto">
            <a:xfrm flipH="1">
              <a:off x="7164688" y="292494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407"/>
            <p:cNvSpPr>
              <a:spLocks noChangeShapeType="1"/>
            </p:cNvSpPr>
            <p:nvPr/>
          </p:nvSpPr>
          <p:spPr bwMode="auto">
            <a:xfrm flipH="1">
              <a:off x="7740752" y="2707110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408"/>
            <p:cNvSpPr>
              <a:spLocks noChangeShapeType="1"/>
            </p:cNvSpPr>
            <p:nvPr/>
          </p:nvSpPr>
          <p:spPr bwMode="auto">
            <a:xfrm flipH="1">
              <a:off x="6805439" y="2924944"/>
              <a:ext cx="72353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409"/>
            <p:cNvSpPr>
              <a:spLocks noChangeShapeType="1"/>
            </p:cNvSpPr>
            <p:nvPr/>
          </p:nvSpPr>
          <p:spPr bwMode="auto">
            <a:xfrm flipH="1">
              <a:off x="7452720" y="270646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Rectangle 414"/>
            <p:cNvSpPr>
              <a:spLocks noChangeArrowheads="1"/>
            </p:cNvSpPr>
            <p:nvPr/>
          </p:nvSpPr>
          <p:spPr bwMode="auto">
            <a:xfrm>
              <a:off x="4716416" y="2994818"/>
              <a:ext cx="2592000" cy="93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" name="Text Box 415"/>
            <p:cNvSpPr txBox="1">
              <a:spLocks noChangeArrowheads="1"/>
            </p:cNvSpPr>
            <p:nvPr/>
          </p:nvSpPr>
          <p:spPr bwMode="auto">
            <a:xfrm>
              <a:off x="5508104" y="3645024"/>
              <a:ext cx="1296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en-US" altLang="zh-CN" sz="1800" b="1" u="none" dirty="0" smtClean="0">
                  <a:latin typeface="宋体" panose="02010600030101010101" pitchFamily="2" charset="-122"/>
                </a:rPr>
                <a:t>DDR SDRAM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6" name="Text Box 416"/>
            <p:cNvSpPr txBox="1">
              <a:spLocks noChangeArrowheads="1"/>
            </p:cNvSpPr>
            <p:nvPr/>
          </p:nvSpPr>
          <p:spPr bwMode="auto">
            <a:xfrm>
              <a:off x="4790357" y="3068067"/>
              <a:ext cx="1080000" cy="5760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 smtClean="0"/>
                <a:t>存储矩阵</a:t>
              </a:r>
              <a:endParaRPr lang="en-US" altLang="zh-CN" sz="1800" b="1" u="none" dirty="0" smtClean="0"/>
            </a:p>
            <a:p>
              <a:pPr algn="ctr"/>
              <a:r>
                <a:rPr lang="en-US" altLang="zh-CN" sz="2000" b="1" u="none" dirty="0" smtClean="0">
                  <a:solidFill>
                    <a:srgbClr val="CC3300"/>
                  </a:solidFill>
                  <a:latin typeface="+mn-lt"/>
                  <a:ea typeface="+mn-ea"/>
                </a:rPr>
                <a:t> </a:t>
              </a:r>
              <a:endParaRPr lang="zh-CN" altLang="en-US" sz="2000" b="1" u="none" dirty="0">
                <a:solidFill>
                  <a:srgbClr val="CC3300"/>
                </a:solidFill>
                <a:latin typeface="+mn-lt"/>
              </a:endParaRPr>
            </a:p>
          </p:txBody>
        </p:sp>
        <p:sp>
          <p:nvSpPr>
            <p:cNvPr id="137" name="Text Box 417"/>
            <p:cNvSpPr txBox="1">
              <a:spLocks noChangeArrowheads="1"/>
            </p:cNvSpPr>
            <p:nvPr/>
          </p:nvSpPr>
          <p:spPr bwMode="auto">
            <a:xfrm>
              <a:off x="6588624" y="3068067"/>
              <a:ext cx="576000" cy="57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I/O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缓冲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8" name="Line 418"/>
            <p:cNvSpPr>
              <a:spLocks noChangeShapeType="1"/>
            </p:cNvSpPr>
            <p:nvPr/>
          </p:nvSpPr>
          <p:spPr bwMode="auto">
            <a:xfrm flipV="1">
              <a:off x="5868544" y="3427313"/>
              <a:ext cx="720000" cy="79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422"/>
            <p:cNvSpPr>
              <a:spLocks noChangeShapeType="1"/>
            </p:cNvSpPr>
            <p:nvPr/>
          </p:nvSpPr>
          <p:spPr bwMode="auto">
            <a:xfrm flipH="1">
              <a:off x="4860432" y="2924944"/>
              <a:ext cx="72232" cy="39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423"/>
            <p:cNvSpPr>
              <a:spLocks noChangeShapeType="1"/>
            </p:cNvSpPr>
            <p:nvPr/>
          </p:nvSpPr>
          <p:spPr bwMode="auto">
            <a:xfrm flipH="1">
              <a:off x="5221067" y="292494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429"/>
            <p:cNvSpPr>
              <a:spLocks noChangeShapeType="1"/>
            </p:cNvSpPr>
            <p:nvPr/>
          </p:nvSpPr>
          <p:spPr bwMode="auto">
            <a:xfrm flipH="1">
              <a:off x="6300762" y="3355652"/>
              <a:ext cx="71438" cy="144463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436"/>
            <p:cNvSpPr>
              <a:spLocks noChangeShapeType="1"/>
            </p:cNvSpPr>
            <p:nvPr/>
          </p:nvSpPr>
          <p:spPr bwMode="auto">
            <a:xfrm flipH="1">
              <a:off x="7560800" y="3355652"/>
              <a:ext cx="71438" cy="144463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632"/>
            <p:cNvSpPr>
              <a:spLocks noChangeShapeType="1"/>
            </p:cNvSpPr>
            <p:nvPr/>
          </p:nvSpPr>
          <p:spPr bwMode="auto">
            <a:xfrm>
              <a:off x="5797131" y="27077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Line 633"/>
            <p:cNvSpPr>
              <a:spLocks noChangeShapeType="1"/>
            </p:cNvSpPr>
            <p:nvPr/>
          </p:nvSpPr>
          <p:spPr bwMode="auto">
            <a:xfrm flipH="1">
              <a:off x="5509099" y="270646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413"/>
            <p:cNvSpPr>
              <a:spLocks noChangeShapeType="1"/>
            </p:cNvSpPr>
            <p:nvPr/>
          </p:nvSpPr>
          <p:spPr bwMode="auto">
            <a:xfrm>
              <a:off x="7164688" y="3426519"/>
              <a:ext cx="648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422"/>
            <p:cNvSpPr>
              <a:spLocks noChangeShapeType="1"/>
            </p:cNvSpPr>
            <p:nvPr/>
          </p:nvSpPr>
          <p:spPr bwMode="auto">
            <a:xfrm flipH="1">
              <a:off x="5798247" y="2924944"/>
              <a:ext cx="72232" cy="39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Line 408"/>
            <p:cNvSpPr>
              <a:spLocks noChangeShapeType="1"/>
            </p:cNvSpPr>
            <p:nvPr/>
          </p:nvSpPr>
          <p:spPr bwMode="auto">
            <a:xfrm flipH="1" flipV="1">
              <a:off x="7740752" y="2924944"/>
              <a:ext cx="72008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404"/>
            <p:cNvSpPr>
              <a:spLocks noChangeShapeType="1"/>
            </p:cNvSpPr>
            <p:nvPr/>
          </p:nvSpPr>
          <p:spPr bwMode="auto">
            <a:xfrm>
              <a:off x="6876656" y="2708920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410"/>
            <p:cNvSpPr>
              <a:spLocks noChangeShapeType="1"/>
            </p:cNvSpPr>
            <p:nvPr/>
          </p:nvSpPr>
          <p:spPr bwMode="auto">
            <a:xfrm>
              <a:off x="6876656" y="2779489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404"/>
            <p:cNvSpPr>
              <a:spLocks noChangeShapeType="1"/>
            </p:cNvSpPr>
            <p:nvPr/>
          </p:nvSpPr>
          <p:spPr bwMode="auto">
            <a:xfrm>
              <a:off x="7452720" y="2708920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410"/>
            <p:cNvSpPr>
              <a:spLocks noChangeShapeType="1"/>
            </p:cNvSpPr>
            <p:nvPr/>
          </p:nvSpPr>
          <p:spPr bwMode="auto">
            <a:xfrm>
              <a:off x="7452720" y="2779489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Text Box 424"/>
            <p:cNvSpPr txBox="1">
              <a:spLocks noChangeArrowheads="1"/>
            </p:cNvSpPr>
            <p:nvPr/>
          </p:nvSpPr>
          <p:spPr bwMode="auto">
            <a:xfrm>
              <a:off x="7416808" y="3177000"/>
              <a:ext cx="216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 smtClean="0">
                  <a:solidFill>
                    <a:schemeClr val="accent2"/>
                  </a:solidFill>
                  <a:latin typeface="+mn-lt"/>
                </a:rPr>
                <a:t>w</a:t>
              </a:r>
              <a:endParaRPr lang="en-US" altLang="zh-CN" sz="1800" b="1" u="none" dirty="0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183" name="Line 412"/>
            <p:cNvSpPr>
              <a:spLocks noChangeShapeType="1"/>
            </p:cNvSpPr>
            <p:nvPr/>
          </p:nvSpPr>
          <p:spPr bwMode="auto">
            <a:xfrm flipV="1">
              <a:off x="7164288" y="2708920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412"/>
            <p:cNvSpPr>
              <a:spLocks noChangeShapeType="1"/>
            </p:cNvSpPr>
            <p:nvPr/>
          </p:nvSpPr>
          <p:spPr bwMode="auto">
            <a:xfrm flipV="1">
              <a:off x="7740352" y="2708920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5" name="组合 184"/>
          <p:cNvGrpSpPr/>
          <p:nvPr/>
        </p:nvGrpSpPr>
        <p:grpSpPr>
          <a:xfrm>
            <a:off x="1116016" y="2276904"/>
            <a:ext cx="3600000" cy="1512136"/>
            <a:chOff x="827584" y="2420888"/>
            <a:chExt cx="3600000" cy="1512136"/>
          </a:xfrm>
        </p:grpSpPr>
        <p:sp>
          <p:nvSpPr>
            <p:cNvPr id="186" name="Text Box 392"/>
            <p:cNvSpPr txBox="1">
              <a:spLocks noChangeArrowheads="1"/>
            </p:cNvSpPr>
            <p:nvPr/>
          </p:nvSpPr>
          <p:spPr bwMode="auto">
            <a:xfrm>
              <a:off x="827584" y="2420888"/>
              <a:ext cx="360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1600" b="1" u="none" dirty="0" smtClean="0">
                  <a:latin typeface="+mn-ea"/>
                  <a:ea typeface="+mn-ea"/>
                </a:rPr>
                <a:t>核心频率</a:t>
              </a:r>
              <a:r>
                <a:rPr lang="en-US" altLang="zh-CN" sz="1600" b="1" u="none" dirty="0">
                  <a:latin typeface="+mn-ea"/>
                  <a:ea typeface="+mn-ea"/>
                </a:rPr>
                <a:t>(100MHz</a:t>
              </a:r>
              <a:r>
                <a:rPr lang="en-US" altLang="zh-CN" sz="1600" b="1" u="none" dirty="0" smtClean="0">
                  <a:latin typeface="+mn-ea"/>
                  <a:ea typeface="+mn-ea"/>
                </a:rPr>
                <a:t>)</a:t>
              </a:r>
              <a:r>
                <a:rPr lang="zh-CN" altLang="en-US" sz="1600" b="1" u="none" dirty="0" smtClean="0">
                  <a:latin typeface="+mn-ea"/>
                  <a:ea typeface="+mn-ea"/>
                </a:rPr>
                <a:t> </a:t>
              </a:r>
              <a:r>
                <a:rPr lang="zh-CN" altLang="en-US" sz="1600" b="1" u="none" dirty="0">
                  <a:latin typeface="+mn-ea"/>
                  <a:ea typeface="+mn-ea"/>
                </a:rPr>
                <a:t> </a:t>
              </a:r>
              <a:r>
                <a:rPr lang="zh-CN" altLang="en-US" sz="1600" b="1" u="none" dirty="0" smtClean="0">
                  <a:latin typeface="+mn-ea"/>
                  <a:ea typeface="+mn-ea"/>
                </a:rPr>
                <a:t>工作频率</a:t>
              </a:r>
              <a:r>
                <a:rPr lang="en-US" altLang="zh-CN" sz="1600" b="1" u="none" dirty="0" smtClean="0">
                  <a:latin typeface="+mn-ea"/>
                  <a:ea typeface="+mn-ea"/>
                </a:rPr>
                <a:t>(100MHz)</a:t>
              </a:r>
              <a:endParaRPr lang="en-US" altLang="zh-CN" sz="1600" b="1" u="none" dirty="0">
                <a:latin typeface="+mn-ea"/>
                <a:ea typeface="+mn-ea"/>
              </a:endParaRPr>
            </a:p>
          </p:txBody>
        </p:sp>
        <p:sp>
          <p:nvSpPr>
            <p:cNvPr id="187" name="Line 397"/>
            <p:cNvSpPr>
              <a:spLocks noChangeShapeType="1"/>
            </p:cNvSpPr>
            <p:nvPr/>
          </p:nvSpPr>
          <p:spPr bwMode="auto">
            <a:xfrm>
              <a:off x="1620268" y="27077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Line 400"/>
            <p:cNvSpPr>
              <a:spLocks noChangeShapeType="1"/>
            </p:cNvSpPr>
            <p:nvPr/>
          </p:nvSpPr>
          <p:spPr bwMode="auto">
            <a:xfrm>
              <a:off x="1042124" y="27077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Line 401"/>
            <p:cNvSpPr>
              <a:spLocks noChangeShapeType="1"/>
            </p:cNvSpPr>
            <p:nvPr/>
          </p:nvSpPr>
          <p:spPr bwMode="auto">
            <a:xfrm>
              <a:off x="1332236" y="27077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Line 402"/>
            <p:cNvSpPr>
              <a:spLocks noChangeShapeType="1"/>
            </p:cNvSpPr>
            <p:nvPr/>
          </p:nvSpPr>
          <p:spPr bwMode="auto">
            <a:xfrm flipH="1" flipV="1">
              <a:off x="1042994" y="2708920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Line 404"/>
            <p:cNvSpPr>
              <a:spLocks noChangeShapeType="1"/>
            </p:cNvSpPr>
            <p:nvPr/>
          </p:nvSpPr>
          <p:spPr bwMode="auto">
            <a:xfrm>
              <a:off x="3275856" y="2707110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Line 405"/>
            <p:cNvSpPr>
              <a:spLocks noChangeShapeType="1"/>
            </p:cNvSpPr>
            <p:nvPr/>
          </p:nvSpPr>
          <p:spPr bwMode="auto">
            <a:xfrm flipH="1">
              <a:off x="2987824" y="270646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Line 406"/>
            <p:cNvSpPr>
              <a:spLocks noChangeShapeType="1"/>
            </p:cNvSpPr>
            <p:nvPr/>
          </p:nvSpPr>
          <p:spPr bwMode="auto">
            <a:xfrm flipH="1">
              <a:off x="3275856" y="292494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Line 407"/>
            <p:cNvSpPr>
              <a:spLocks noChangeShapeType="1"/>
            </p:cNvSpPr>
            <p:nvPr/>
          </p:nvSpPr>
          <p:spPr bwMode="auto">
            <a:xfrm flipH="1">
              <a:off x="3851920" y="2707110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Line 408"/>
            <p:cNvSpPr>
              <a:spLocks noChangeShapeType="1"/>
            </p:cNvSpPr>
            <p:nvPr/>
          </p:nvSpPr>
          <p:spPr bwMode="auto">
            <a:xfrm flipH="1">
              <a:off x="2916607" y="2924944"/>
              <a:ext cx="72353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Line 409"/>
            <p:cNvSpPr>
              <a:spLocks noChangeShapeType="1"/>
            </p:cNvSpPr>
            <p:nvPr/>
          </p:nvSpPr>
          <p:spPr bwMode="auto">
            <a:xfrm flipH="1">
              <a:off x="3563888" y="270646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Rectangle 414"/>
            <p:cNvSpPr>
              <a:spLocks noChangeArrowheads="1"/>
            </p:cNvSpPr>
            <p:nvPr/>
          </p:nvSpPr>
          <p:spPr bwMode="auto">
            <a:xfrm>
              <a:off x="827584" y="2994818"/>
              <a:ext cx="2592000" cy="93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" name="Text Box 415"/>
            <p:cNvSpPr txBox="1">
              <a:spLocks noChangeArrowheads="1"/>
            </p:cNvSpPr>
            <p:nvPr/>
          </p:nvSpPr>
          <p:spPr bwMode="auto">
            <a:xfrm>
              <a:off x="1619672" y="3645024"/>
              <a:ext cx="1296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zh-CN" altLang="en-US" sz="1800" b="1" u="none" dirty="0" smtClean="0">
                  <a:latin typeface="宋体" panose="02010600030101010101" pitchFamily="2" charset="-122"/>
                </a:rPr>
                <a:t>基本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SDRAM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99" name="Text Box 416"/>
            <p:cNvSpPr txBox="1">
              <a:spLocks noChangeArrowheads="1"/>
            </p:cNvSpPr>
            <p:nvPr/>
          </p:nvSpPr>
          <p:spPr bwMode="auto">
            <a:xfrm>
              <a:off x="901525" y="3068067"/>
              <a:ext cx="1080000" cy="5760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 smtClean="0"/>
                <a:t>存储</a:t>
              </a:r>
              <a:r>
                <a:rPr lang="zh-CN" altLang="en-US" sz="1800" b="1" u="none" dirty="0"/>
                <a:t>矩阵</a:t>
              </a:r>
              <a:endParaRPr lang="en-US" altLang="zh-CN" sz="1800" b="1" u="none" dirty="0" smtClean="0"/>
            </a:p>
            <a:p>
              <a:pPr algn="ctr"/>
              <a:r>
                <a:rPr lang="en-US" altLang="zh-CN" sz="1800" b="1" u="none" dirty="0" smtClean="0">
                  <a:solidFill>
                    <a:srgbClr val="CC3300"/>
                  </a:solidFill>
                  <a:latin typeface="+mn-lt"/>
                  <a:ea typeface="+mn-ea"/>
                </a:rPr>
                <a:t>2</a:t>
              </a:r>
              <a:r>
                <a:rPr lang="en-US" altLang="zh-CN" sz="1800" b="1" u="none" baseline="30000" dirty="0" smtClean="0">
                  <a:solidFill>
                    <a:srgbClr val="CC3300"/>
                  </a:solidFill>
                  <a:latin typeface="+mn-lt"/>
                </a:rPr>
                <a:t>n</a:t>
              </a:r>
              <a:r>
                <a:rPr lang="en-US" altLang="zh-CN" sz="1800" b="1" u="none" dirty="0" smtClean="0">
                  <a:solidFill>
                    <a:srgbClr val="CC3300"/>
                  </a:solidFill>
                  <a:latin typeface="+mn-lt"/>
                </a:rPr>
                <a:t>×w</a:t>
              </a:r>
              <a:endParaRPr lang="zh-CN" altLang="en-US" sz="1800" b="1" u="none" dirty="0">
                <a:solidFill>
                  <a:srgbClr val="CC3300"/>
                </a:solidFill>
                <a:latin typeface="+mn-lt"/>
              </a:endParaRPr>
            </a:p>
          </p:txBody>
        </p:sp>
        <p:sp>
          <p:nvSpPr>
            <p:cNvPr id="200" name="Text Box 417"/>
            <p:cNvSpPr txBox="1">
              <a:spLocks noChangeArrowheads="1"/>
            </p:cNvSpPr>
            <p:nvPr/>
          </p:nvSpPr>
          <p:spPr bwMode="auto">
            <a:xfrm>
              <a:off x="2699792" y="3068067"/>
              <a:ext cx="576000" cy="57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I/O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缓冲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01" name="Line 418"/>
            <p:cNvSpPr>
              <a:spLocks noChangeShapeType="1"/>
            </p:cNvSpPr>
            <p:nvPr/>
          </p:nvSpPr>
          <p:spPr bwMode="auto">
            <a:xfrm flipV="1">
              <a:off x="1979712" y="3427313"/>
              <a:ext cx="720000" cy="79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Line 422"/>
            <p:cNvSpPr>
              <a:spLocks noChangeShapeType="1"/>
            </p:cNvSpPr>
            <p:nvPr/>
          </p:nvSpPr>
          <p:spPr bwMode="auto">
            <a:xfrm flipH="1">
              <a:off x="971600" y="2924944"/>
              <a:ext cx="72232" cy="39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Line 423"/>
            <p:cNvSpPr>
              <a:spLocks noChangeShapeType="1"/>
            </p:cNvSpPr>
            <p:nvPr/>
          </p:nvSpPr>
          <p:spPr bwMode="auto">
            <a:xfrm flipH="1">
              <a:off x="1332235" y="292494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Text Box 424"/>
            <p:cNvSpPr txBox="1">
              <a:spLocks noChangeArrowheads="1"/>
            </p:cNvSpPr>
            <p:nvPr/>
          </p:nvSpPr>
          <p:spPr bwMode="auto">
            <a:xfrm>
              <a:off x="2195736" y="3177000"/>
              <a:ext cx="288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 smtClean="0">
                  <a:solidFill>
                    <a:schemeClr val="accent2"/>
                  </a:solidFill>
                  <a:latin typeface="+mn-lt"/>
                </a:rPr>
                <a:t>w</a:t>
              </a:r>
              <a:endParaRPr lang="en-US" altLang="zh-CN" sz="1800" b="1" u="none" dirty="0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205" name="Line 429"/>
            <p:cNvSpPr>
              <a:spLocks noChangeShapeType="1"/>
            </p:cNvSpPr>
            <p:nvPr/>
          </p:nvSpPr>
          <p:spPr bwMode="auto">
            <a:xfrm flipH="1">
              <a:off x="2412330" y="3355652"/>
              <a:ext cx="71438" cy="144463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436"/>
            <p:cNvSpPr>
              <a:spLocks noChangeShapeType="1"/>
            </p:cNvSpPr>
            <p:nvPr/>
          </p:nvSpPr>
          <p:spPr bwMode="auto">
            <a:xfrm flipH="1">
              <a:off x="3671968" y="3355652"/>
              <a:ext cx="71438" cy="144463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632"/>
            <p:cNvSpPr>
              <a:spLocks noChangeShapeType="1"/>
            </p:cNvSpPr>
            <p:nvPr/>
          </p:nvSpPr>
          <p:spPr bwMode="auto">
            <a:xfrm>
              <a:off x="1908299" y="27077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Line 633"/>
            <p:cNvSpPr>
              <a:spLocks noChangeShapeType="1"/>
            </p:cNvSpPr>
            <p:nvPr/>
          </p:nvSpPr>
          <p:spPr bwMode="auto">
            <a:xfrm flipH="1">
              <a:off x="1620267" y="270646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413"/>
            <p:cNvSpPr>
              <a:spLocks noChangeShapeType="1"/>
            </p:cNvSpPr>
            <p:nvPr/>
          </p:nvSpPr>
          <p:spPr bwMode="auto">
            <a:xfrm>
              <a:off x="3275856" y="3426519"/>
              <a:ext cx="648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Line 422"/>
            <p:cNvSpPr>
              <a:spLocks noChangeShapeType="1"/>
            </p:cNvSpPr>
            <p:nvPr/>
          </p:nvSpPr>
          <p:spPr bwMode="auto">
            <a:xfrm flipH="1">
              <a:off x="1909415" y="2924944"/>
              <a:ext cx="72232" cy="39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Line 408"/>
            <p:cNvSpPr>
              <a:spLocks noChangeShapeType="1"/>
            </p:cNvSpPr>
            <p:nvPr/>
          </p:nvSpPr>
          <p:spPr bwMode="auto">
            <a:xfrm flipH="1" flipV="1">
              <a:off x="3851920" y="2924944"/>
              <a:ext cx="72008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Line 404"/>
            <p:cNvSpPr>
              <a:spLocks noChangeShapeType="1"/>
            </p:cNvSpPr>
            <p:nvPr/>
          </p:nvSpPr>
          <p:spPr bwMode="auto">
            <a:xfrm>
              <a:off x="2987824" y="2708920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Line 410"/>
            <p:cNvSpPr>
              <a:spLocks noChangeShapeType="1"/>
            </p:cNvSpPr>
            <p:nvPr/>
          </p:nvSpPr>
          <p:spPr bwMode="auto">
            <a:xfrm>
              <a:off x="2987824" y="2779489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Line 404"/>
            <p:cNvSpPr>
              <a:spLocks noChangeShapeType="1"/>
            </p:cNvSpPr>
            <p:nvPr/>
          </p:nvSpPr>
          <p:spPr bwMode="auto">
            <a:xfrm>
              <a:off x="3563888" y="2708920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Line 410"/>
            <p:cNvSpPr>
              <a:spLocks noChangeShapeType="1"/>
            </p:cNvSpPr>
            <p:nvPr/>
          </p:nvSpPr>
          <p:spPr bwMode="auto">
            <a:xfrm>
              <a:off x="3563888" y="2779489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2" name="Text Box 424"/>
            <p:cNvSpPr txBox="1">
              <a:spLocks noChangeArrowheads="1"/>
            </p:cNvSpPr>
            <p:nvPr/>
          </p:nvSpPr>
          <p:spPr bwMode="auto">
            <a:xfrm>
              <a:off x="3527976" y="3177000"/>
              <a:ext cx="216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 smtClean="0">
                  <a:solidFill>
                    <a:schemeClr val="accent2"/>
                  </a:solidFill>
                  <a:latin typeface="+mn-lt"/>
                </a:rPr>
                <a:t>w</a:t>
              </a:r>
              <a:endParaRPr lang="en-US" altLang="zh-CN" sz="1800" b="1" u="none" dirty="0">
                <a:solidFill>
                  <a:schemeClr val="accent2"/>
                </a:solidFill>
                <a:latin typeface="+mn-lt"/>
              </a:endParaRPr>
            </a:p>
          </p:txBody>
        </p:sp>
      </p:grpSp>
      <p:grpSp>
        <p:nvGrpSpPr>
          <p:cNvPr id="293" name="组合 292"/>
          <p:cNvGrpSpPr/>
          <p:nvPr/>
        </p:nvGrpSpPr>
        <p:grpSpPr>
          <a:xfrm>
            <a:off x="5218652" y="3033016"/>
            <a:ext cx="1585596" cy="424567"/>
            <a:chOff x="5004048" y="3177000"/>
            <a:chExt cx="1585596" cy="424567"/>
          </a:xfrm>
        </p:grpSpPr>
        <p:sp>
          <p:nvSpPr>
            <p:cNvPr id="295" name="Text Box 424"/>
            <p:cNvSpPr txBox="1">
              <a:spLocks noChangeArrowheads="1"/>
            </p:cNvSpPr>
            <p:nvPr/>
          </p:nvSpPr>
          <p:spPr bwMode="auto">
            <a:xfrm>
              <a:off x="5004048" y="3385567"/>
              <a:ext cx="100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solidFill>
                    <a:srgbClr val="CC3300"/>
                  </a:solidFill>
                </a:rPr>
                <a:t>2</a:t>
              </a:r>
              <a:r>
                <a:rPr lang="en-US" altLang="zh-CN" sz="1800" b="1" u="none" baseline="38000" dirty="0">
                  <a:solidFill>
                    <a:srgbClr val="CC3300"/>
                  </a:solidFill>
                </a:rPr>
                <a:t>n</a:t>
              </a:r>
              <a:r>
                <a:rPr lang="en-US" altLang="zh-CN" sz="1800" b="1" u="none" baseline="38000" dirty="0">
                  <a:solidFill>
                    <a:srgbClr val="CC3300"/>
                  </a:solidFill>
                  <a:latin typeface="+mn-ea"/>
                </a:rPr>
                <a:t>-1</a:t>
              </a:r>
              <a:r>
                <a:rPr lang="en-US" altLang="zh-CN" sz="1800" b="1" u="none" dirty="0">
                  <a:solidFill>
                    <a:srgbClr val="CC3300"/>
                  </a:solidFill>
                </a:rPr>
                <a:t>×2w</a:t>
              </a:r>
              <a:endParaRPr lang="zh-CN" altLang="en-US" sz="1800" b="1" u="none" dirty="0">
                <a:solidFill>
                  <a:srgbClr val="CC3300"/>
                </a:solidFill>
              </a:endParaRPr>
            </a:p>
          </p:txBody>
        </p:sp>
        <p:sp>
          <p:nvSpPr>
            <p:cNvPr id="297" name="Text Box 424"/>
            <p:cNvSpPr txBox="1">
              <a:spLocks noChangeArrowheads="1"/>
            </p:cNvSpPr>
            <p:nvPr/>
          </p:nvSpPr>
          <p:spPr bwMode="auto">
            <a:xfrm>
              <a:off x="6229644" y="3177000"/>
              <a:ext cx="360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2</a:t>
              </a:r>
              <a:r>
                <a:rPr lang="en-US" altLang="zh-CN" sz="1800" b="1" u="none" dirty="0">
                  <a:solidFill>
                    <a:schemeClr val="accent2"/>
                  </a:solidFill>
                  <a:latin typeface="+mn-lt"/>
                </a:rPr>
                <a:t>w</a:t>
              </a:r>
              <a:endParaRPr lang="en-US" altLang="zh-CN" sz="1800" b="1" u="none" dirty="0">
                <a:solidFill>
                  <a:schemeClr val="accent2"/>
                </a:solidFill>
                <a:latin typeface="+mn-lt"/>
              </a:endParaRPr>
            </a:p>
          </p:txBody>
        </p:sp>
      </p:grpSp>
      <p:grpSp>
        <p:nvGrpSpPr>
          <p:cNvPr id="298" name="组合 297"/>
          <p:cNvGrpSpPr/>
          <p:nvPr/>
        </p:nvGrpSpPr>
        <p:grpSpPr>
          <a:xfrm>
            <a:off x="5148464" y="4149112"/>
            <a:ext cx="3600000" cy="1512136"/>
            <a:chOff x="827584" y="4149112"/>
            <a:chExt cx="3600000" cy="1512136"/>
          </a:xfrm>
        </p:grpSpPr>
        <p:sp>
          <p:nvSpPr>
            <p:cNvPr id="299" name="Text Box 392"/>
            <p:cNvSpPr txBox="1">
              <a:spLocks noChangeArrowheads="1"/>
            </p:cNvSpPr>
            <p:nvPr/>
          </p:nvSpPr>
          <p:spPr bwMode="auto">
            <a:xfrm>
              <a:off x="827584" y="4149112"/>
              <a:ext cx="360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1600" b="1" u="none" dirty="0" smtClean="0">
                  <a:latin typeface="+mn-ea"/>
                  <a:ea typeface="+mn-ea"/>
                </a:rPr>
                <a:t>核心频率</a:t>
              </a:r>
              <a:r>
                <a:rPr lang="en-US" altLang="zh-CN" sz="1600" b="1" u="none" dirty="0">
                  <a:latin typeface="+mn-ea"/>
                  <a:ea typeface="+mn-ea"/>
                </a:rPr>
                <a:t>(100MHz</a:t>
              </a:r>
              <a:r>
                <a:rPr lang="en-US" altLang="zh-CN" sz="1600" b="1" u="none" dirty="0" smtClean="0">
                  <a:latin typeface="+mn-ea"/>
                  <a:ea typeface="+mn-ea"/>
                </a:rPr>
                <a:t>)</a:t>
              </a:r>
              <a:r>
                <a:rPr lang="zh-CN" altLang="en-US" sz="1600" b="1" u="none" dirty="0" smtClean="0">
                  <a:latin typeface="+mn-ea"/>
                  <a:ea typeface="+mn-ea"/>
                </a:rPr>
                <a:t> </a:t>
              </a:r>
              <a:r>
                <a:rPr lang="zh-CN" altLang="en-US" sz="1600" b="1" u="none" dirty="0">
                  <a:latin typeface="+mn-ea"/>
                  <a:ea typeface="+mn-ea"/>
                </a:rPr>
                <a:t> </a:t>
              </a:r>
              <a:r>
                <a:rPr lang="zh-CN" altLang="en-US" sz="1600" b="1" u="none" dirty="0" smtClean="0">
                  <a:latin typeface="+mn-ea"/>
                  <a:ea typeface="+mn-ea"/>
                </a:rPr>
                <a:t>工作频率</a:t>
              </a:r>
              <a:r>
                <a:rPr lang="en-US" altLang="zh-CN" sz="1600" b="1" u="none" dirty="0" smtClean="0">
                  <a:latin typeface="+mn-ea"/>
                  <a:ea typeface="+mn-ea"/>
                </a:rPr>
                <a:t>(</a:t>
              </a:r>
              <a:r>
                <a:rPr lang="en-US" altLang="zh-CN" sz="1600" b="1" u="none" dirty="0" smtClean="0">
                  <a:solidFill>
                    <a:srgbClr val="990099"/>
                  </a:solidFill>
                  <a:latin typeface="+mn-ea"/>
                  <a:ea typeface="+mn-ea"/>
                </a:rPr>
                <a:t>200MHz</a:t>
              </a:r>
              <a:r>
                <a:rPr lang="en-US" altLang="zh-CN" sz="1600" b="1" u="none" dirty="0" smtClean="0">
                  <a:latin typeface="+mn-ea"/>
                  <a:ea typeface="+mn-ea"/>
                </a:rPr>
                <a:t>)</a:t>
              </a:r>
              <a:endParaRPr lang="en-US" altLang="zh-CN" sz="1600" b="1" u="none" dirty="0">
                <a:latin typeface="+mn-ea"/>
                <a:ea typeface="+mn-ea"/>
              </a:endParaRPr>
            </a:p>
          </p:txBody>
        </p:sp>
        <p:sp>
          <p:nvSpPr>
            <p:cNvPr id="300" name="Line 397"/>
            <p:cNvSpPr>
              <a:spLocks noChangeShapeType="1"/>
            </p:cNvSpPr>
            <p:nvPr/>
          </p:nvSpPr>
          <p:spPr bwMode="auto">
            <a:xfrm>
              <a:off x="1620268" y="4435978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" name="Line 400"/>
            <p:cNvSpPr>
              <a:spLocks noChangeShapeType="1"/>
            </p:cNvSpPr>
            <p:nvPr/>
          </p:nvSpPr>
          <p:spPr bwMode="auto">
            <a:xfrm>
              <a:off x="1042124" y="4435978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" name="Line 401"/>
            <p:cNvSpPr>
              <a:spLocks noChangeShapeType="1"/>
            </p:cNvSpPr>
            <p:nvPr/>
          </p:nvSpPr>
          <p:spPr bwMode="auto">
            <a:xfrm>
              <a:off x="1332236" y="4435978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Line 402"/>
            <p:cNvSpPr>
              <a:spLocks noChangeShapeType="1"/>
            </p:cNvSpPr>
            <p:nvPr/>
          </p:nvSpPr>
          <p:spPr bwMode="auto">
            <a:xfrm flipH="1" flipV="1">
              <a:off x="1042994" y="4437144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Line 404"/>
            <p:cNvSpPr>
              <a:spLocks noChangeShapeType="1"/>
            </p:cNvSpPr>
            <p:nvPr/>
          </p:nvSpPr>
          <p:spPr bwMode="auto">
            <a:xfrm>
              <a:off x="3131840" y="4437112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Line 405"/>
            <p:cNvSpPr>
              <a:spLocks noChangeShapeType="1"/>
            </p:cNvSpPr>
            <p:nvPr/>
          </p:nvSpPr>
          <p:spPr bwMode="auto">
            <a:xfrm flipH="1">
              <a:off x="2987824" y="4434688"/>
              <a:ext cx="144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Line 406"/>
            <p:cNvSpPr>
              <a:spLocks noChangeShapeType="1"/>
            </p:cNvSpPr>
            <p:nvPr/>
          </p:nvSpPr>
          <p:spPr bwMode="auto">
            <a:xfrm flipH="1">
              <a:off x="3131840" y="4654946"/>
              <a:ext cx="144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Line 408"/>
            <p:cNvSpPr>
              <a:spLocks noChangeShapeType="1"/>
            </p:cNvSpPr>
            <p:nvPr/>
          </p:nvSpPr>
          <p:spPr bwMode="auto">
            <a:xfrm flipH="1">
              <a:off x="2916607" y="4653168"/>
              <a:ext cx="72353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Rectangle 414"/>
            <p:cNvSpPr>
              <a:spLocks noChangeArrowheads="1"/>
            </p:cNvSpPr>
            <p:nvPr/>
          </p:nvSpPr>
          <p:spPr bwMode="auto">
            <a:xfrm>
              <a:off x="827584" y="4723042"/>
              <a:ext cx="2592000" cy="93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" name="Text Box 415"/>
            <p:cNvSpPr txBox="1">
              <a:spLocks noChangeArrowheads="1"/>
            </p:cNvSpPr>
            <p:nvPr/>
          </p:nvSpPr>
          <p:spPr bwMode="auto">
            <a:xfrm>
              <a:off x="1619672" y="5373248"/>
              <a:ext cx="1296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en-US" altLang="zh-CN" sz="1800" b="1" u="none" dirty="0" smtClean="0">
                  <a:latin typeface="宋体" panose="02010600030101010101" pitchFamily="2" charset="-122"/>
                </a:rPr>
                <a:t>DDR2 SDRAM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10" name="Text Box 416"/>
            <p:cNvSpPr txBox="1">
              <a:spLocks noChangeArrowheads="1"/>
            </p:cNvSpPr>
            <p:nvPr/>
          </p:nvSpPr>
          <p:spPr bwMode="auto">
            <a:xfrm>
              <a:off x="901525" y="4796291"/>
              <a:ext cx="1080000" cy="5760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 smtClean="0"/>
                <a:t>存储矩阵</a:t>
              </a:r>
              <a:endParaRPr lang="en-US" altLang="zh-CN" sz="1800" b="1" u="none" dirty="0" smtClean="0"/>
            </a:p>
            <a:p>
              <a:pPr algn="ctr"/>
              <a:r>
                <a:rPr lang="en-US" altLang="zh-CN" sz="1800" b="1" u="none" dirty="0" smtClean="0">
                  <a:solidFill>
                    <a:srgbClr val="CC3300"/>
                  </a:solidFill>
                  <a:latin typeface="+mn-lt"/>
                  <a:ea typeface="+mn-ea"/>
                </a:rPr>
                <a:t>2</a:t>
              </a:r>
              <a:r>
                <a:rPr lang="en-US" altLang="zh-CN" sz="1800" b="1" u="none" baseline="38000" dirty="0" smtClean="0">
                  <a:solidFill>
                    <a:srgbClr val="CC3300"/>
                  </a:solidFill>
                  <a:latin typeface="+mn-lt"/>
                </a:rPr>
                <a:t>n-2</a:t>
              </a:r>
              <a:r>
                <a:rPr lang="en-US" altLang="zh-CN" sz="1800" b="1" u="none" dirty="0" smtClean="0">
                  <a:solidFill>
                    <a:srgbClr val="CC3300"/>
                  </a:solidFill>
                  <a:latin typeface="+mn-lt"/>
                </a:rPr>
                <a:t>×4w</a:t>
              </a:r>
              <a:endParaRPr lang="zh-CN" altLang="en-US" sz="1800" b="1" u="none" dirty="0">
                <a:solidFill>
                  <a:srgbClr val="CC3300"/>
                </a:solidFill>
                <a:latin typeface="+mn-lt"/>
              </a:endParaRPr>
            </a:p>
          </p:txBody>
        </p:sp>
        <p:sp>
          <p:nvSpPr>
            <p:cNvPr id="311" name="Text Box 417"/>
            <p:cNvSpPr txBox="1">
              <a:spLocks noChangeArrowheads="1"/>
            </p:cNvSpPr>
            <p:nvPr/>
          </p:nvSpPr>
          <p:spPr bwMode="auto">
            <a:xfrm>
              <a:off x="2699792" y="4796291"/>
              <a:ext cx="576000" cy="57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I/O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缓冲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12" name="Line 418"/>
            <p:cNvSpPr>
              <a:spLocks noChangeShapeType="1"/>
            </p:cNvSpPr>
            <p:nvPr/>
          </p:nvSpPr>
          <p:spPr bwMode="auto">
            <a:xfrm flipV="1">
              <a:off x="1979712" y="5155537"/>
              <a:ext cx="720000" cy="79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Line 422"/>
            <p:cNvSpPr>
              <a:spLocks noChangeShapeType="1"/>
            </p:cNvSpPr>
            <p:nvPr/>
          </p:nvSpPr>
          <p:spPr bwMode="auto">
            <a:xfrm flipH="1">
              <a:off x="971600" y="4653168"/>
              <a:ext cx="72232" cy="39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4" name="Line 423"/>
            <p:cNvSpPr>
              <a:spLocks noChangeShapeType="1"/>
            </p:cNvSpPr>
            <p:nvPr/>
          </p:nvSpPr>
          <p:spPr bwMode="auto">
            <a:xfrm flipH="1">
              <a:off x="1332235" y="4653168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5" name="Text Box 424"/>
            <p:cNvSpPr txBox="1">
              <a:spLocks noChangeArrowheads="1"/>
            </p:cNvSpPr>
            <p:nvPr/>
          </p:nvSpPr>
          <p:spPr bwMode="auto">
            <a:xfrm>
              <a:off x="2123768" y="4905224"/>
              <a:ext cx="360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 smtClean="0">
                  <a:solidFill>
                    <a:schemeClr val="accent2"/>
                  </a:solidFill>
                  <a:latin typeface="+mn-lt"/>
                </a:rPr>
                <a:t>4w</a:t>
              </a:r>
              <a:endParaRPr lang="en-US" altLang="zh-CN" sz="1800" b="1" u="none" dirty="0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316" name="Line 429"/>
            <p:cNvSpPr>
              <a:spLocks noChangeShapeType="1"/>
            </p:cNvSpPr>
            <p:nvPr/>
          </p:nvSpPr>
          <p:spPr bwMode="auto">
            <a:xfrm flipH="1">
              <a:off x="2412330" y="5083876"/>
              <a:ext cx="71438" cy="144463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" name="Line 436"/>
            <p:cNvSpPr>
              <a:spLocks noChangeShapeType="1"/>
            </p:cNvSpPr>
            <p:nvPr/>
          </p:nvSpPr>
          <p:spPr bwMode="auto">
            <a:xfrm flipH="1">
              <a:off x="3671968" y="5083876"/>
              <a:ext cx="71438" cy="144463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" name="Line 632"/>
            <p:cNvSpPr>
              <a:spLocks noChangeShapeType="1"/>
            </p:cNvSpPr>
            <p:nvPr/>
          </p:nvSpPr>
          <p:spPr bwMode="auto">
            <a:xfrm>
              <a:off x="1908299" y="4435978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" name="Line 633"/>
            <p:cNvSpPr>
              <a:spLocks noChangeShapeType="1"/>
            </p:cNvSpPr>
            <p:nvPr/>
          </p:nvSpPr>
          <p:spPr bwMode="auto">
            <a:xfrm flipH="1">
              <a:off x="1620267" y="4434688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0" name="Line 413"/>
            <p:cNvSpPr>
              <a:spLocks noChangeShapeType="1"/>
            </p:cNvSpPr>
            <p:nvPr/>
          </p:nvSpPr>
          <p:spPr bwMode="auto">
            <a:xfrm>
              <a:off x="3275856" y="5154743"/>
              <a:ext cx="648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" name="Line 422"/>
            <p:cNvSpPr>
              <a:spLocks noChangeShapeType="1"/>
            </p:cNvSpPr>
            <p:nvPr/>
          </p:nvSpPr>
          <p:spPr bwMode="auto">
            <a:xfrm flipH="1">
              <a:off x="1909415" y="4653168"/>
              <a:ext cx="72232" cy="39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" name="Line 404"/>
            <p:cNvSpPr>
              <a:spLocks noChangeShapeType="1"/>
            </p:cNvSpPr>
            <p:nvPr/>
          </p:nvSpPr>
          <p:spPr bwMode="auto">
            <a:xfrm>
              <a:off x="2987824" y="443714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" name="Line 410"/>
            <p:cNvSpPr>
              <a:spLocks noChangeShapeType="1"/>
            </p:cNvSpPr>
            <p:nvPr/>
          </p:nvSpPr>
          <p:spPr bwMode="auto">
            <a:xfrm>
              <a:off x="2987824" y="4507713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4" name="Text Box 424"/>
            <p:cNvSpPr txBox="1">
              <a:spLocks noChangeArrowheads="1"/>
            </p:cNvSpPr>
            <p:nvPr/>
          </p:nvSpPr>
          <p:spPr bwMode="auto">
            <a:xfrm>
              <a:off x="3527976" y="4905224"/>
              <a:ext cx="216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 smtClean="0">
                  <a:solidFill>
                    <a:schemeClr val="accent2"/>
                  </a:solidFill>
                  <a:latin typeface="+mn-lt"/>
                </a:rPr>
                <a:t>w</a:t>
              </a:r>
              <a:endParaRPr lang="en-US" altLang="zh-CN" sz="1800" b="1" u="none" dirty="0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325" name="Line 412"/>
            <p:cNvSpPr>
              <a:spLocks noChangeShapeType="1"/>
            </p:cNvSpPr>
            <p:nvPr/>
          </p:nvSpPr>
          <p:spPr bwMode="auto">
            <a:xfrm flipV="1">
              <a:off x="3131840" y="4437112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Line 404"/>
            <p:cNvSpPr>
              <a:spLocks noChangeShapeType="1"/>
            </p:cNvSpPr>
            <p:nvPr/>
          </p:nvSpPr>
          <p:spPr bwMode="auto">
            <a:xfrm>
              <a:off x="3419888" y="4439536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Line 405"/>
            <p:cNvSpPr>
              <a:spLocks noChangeShapeType="1"/>
            </p:cNvSpPr>
            <p:nvPr/>
          </p:nvSpPr>
          <p:spPr bwMode="auto">
            <a:xfrm flipH="1">
              <a:off x="3275872" y="4437112"/>
              <a:ext cx="144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Line 406"/>
            <p:cNvSpPr>
              <a:spLocks noChangeShapeType="1"/>
            </p:cNvSpPr>
            <p:nvPr/>
          </p:nvSpPr>
          <p:spPr bwMode="auto">
            <a:xfrm flipH="1">
              <a:off x="3419888" y="4657370"/>
              <a:ext cx="144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Line 404"/>
            <p:cNvSpPr>
              <a:spLocks noChangeShapeType="1"/>
            </p:cNvSpPr>
            <p:nvPr/>
          </p:nvSpPr>
          <p:spPr bwMode="auto">
            <a:xfrm>
              <a:off x="3275872" y="4439568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0" name="Line 410"/>
            <p:cNvSpPr>
              <a:spLocks noChangeShapeType="1"/>
            </p:cNvSpPr>
            <p:nvPr/>
          </p:nvSpPr>
          <p:spPr bwMode="auto">
            <a:xfrm>
              <a:off x="3275872" y="4510137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1" name="Line 412"/>
            <p:cNvSpPr>
              <a:spLocks noChangeShapeType="1"/>
            </p:cNvSpPr>
            <p:nvPr/>
          </p:nvSpPr>
          <p:spPr bwMode="auto">
            <a:xfrm flipV="1">
              <a:off x="3419888" y="4439536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" name="Line 404"/>
            <p:cNvSpPr>
              <a:spLocks noChangeShapeType="1"/>
            </p:cNvSpPr>
            <p:nvPr/>
          </p:nvSpPr>
          <p:spPr bwMode="auto">
            <a:xfrm>
              <a:off x="3707904" y="4439536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3" name="Line 405"/>
            <p:cNvSpPr>
              <a:spLocks noChangeShapeType="1"/>
            </p:cNvSpPr>
            <p:nvPr/>
          </p:nvSpPr>
          <p:spPr bwMode="auto">
            <a:xfrm flipH="1">
              <a:off x="3563888" y="4437112"/>
              <a:ext cx="144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" name="Line 406"/>
            <p:cNvSpPr>
              <a:spLocks noChangeShapeType="1"/>
            </p:cNvSpPr>
            <p:nvPr/>
          </p:nvSpPr>
          <p:spPr bwMode="auto">
            <a:xfrm flipH="1">
              <a:off x="3707904" y="4657370"/>
              <a:ext cx="144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" name="Line 404"/>
            <p:cNvSpPr>
              <a:spLocks noChangeShapeType="1"/>
            </p:cNvSpPr>
            <p:nvPr/>
          </p:nvSpPr>
          <p:spPr bwMode="auto">
            <a:xfrm>
              <a:off x="3563888" y="4439568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" name="Line 410"/>
            <p:cNvSpPr>
              <a:spLocks noChangeShapeType="1"/>
            </p:cNvSpPr>
            <p:nvPr/>
          </p:nvSpPr>
          <p:spPr bwMode="auto">
            <a:xfrm>
              <a:off x="3563888" y="4510137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" name="Line 412"/>
            <p:cNvSpPr>
              <a:spLocks noChangeShapeType="1"/>
            </p:cNvSpPr>
            <p:nvPr/>
          </p:nvSpPr>
          <p:spPr bwMode="auto">
            <a:xfrm flipV="1">
              <a:off x="3707904" y="4439536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" name="Line 405"/>
            <p:cNvSpPr>
              <a:spLocks noChangeShapeType="1"/>
            </p:cNvSpPr>
            <p:nvPr/>
          </p:nvSpPr>
          <p:spPr bwMode="auto">
            <a:xfrm flipH="1">
              <a:off x="3851936" y="4439536"/>
              <a:ext cx="72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" name="Line 404"/>
            <p:cNvSpPr>
              <a:spLocks noChangeShapeType="1"/>
            </p:cNvSpPr>
            <p:nvPr/>
          </p:nvSpPr>
          <p:spPr bwMode="auto">
            <a:xfrm>
              <a:off x="3851936" y="4441992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" name="Line 410"/>
            <p:cNvSpPr>
              <a:spLocks noChangeShapeType="1"/>
            </p:cNvSpPr>
            <p:nvPr/>
          </p:nvSpPr>
          <p:spPr bwMode="auto">
            <a:xfrm>
              <a:off x="3851936" y="4512561"/>
              <a:ext cx="0" cy="144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0" name="Text Box 72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24000" y="5867510"/>
            <a:ext cx="313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sz="1800" dirty="0" smtClean="0"/>
              <a:t>思考：</a:t>
            </a:r>
            <a:r>
              <a:rPr lang="en-US" altLang="zh-CN" sz="1800" dirty="0" smtClean="0">
                <a:solidFill>
                  <a:schemeClr val="tx1"/>
                </a:solidFill>
              </a:rPr>
              <a:t>DDR3 SDRA</a:t>
            </a:r>
            <a:r>
              <a:rPr lang="zh-CN" altLang="en-US" sz="1800" dirty="0" smtClean="0">
                <a:solidFill>
                  <a:schemeClr val="tx1"/>
                </a:solidFill>
              </a:rPr>
              <a:t>的内部结构？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75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/>
      <p:bldP spid="230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Box 77"/>
          <p:cNvSpPr txBox="1">
            <a:spLocks noChangeArrowheads="1"/>
          </p:cNvSpPr>
          <p:nvPr/>
        </p:nvSpPr>
        <p:spPr bwMode="auto">
          <a:xfrm>
            <a:off x="179388" y="1620000"/>
            <a:ext cx="3502835" cy="39770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多体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的编址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方式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应用选择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交叉编址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工作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方式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75"/>
          <p:cNvSpPr txBox="1">
            <a:spLocks noChangeArrowheads="1"/>
          </p:cNvSpPr>
          <p:nvPr/>
        </p:nvSpPr>
        <p:spPr bwMode="auto">
          <a:xfrm>
            <a:off x="179388" y="332656"/>
            <a:ext cx="8785225" cy="9759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、多体交叉存储器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--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优化方法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2(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并行处理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[</a:t>
            </a:r>
            <a:r>
              <a:rPr lang="zh-CN" altLang="en-US" sz="1800" b="1" u="none" dirty="0">
                <a:latin typeface="宋体" panose="02010600030101010101" pitchFamily="2" charset="-122"/>
              </a:rPr>
              <a:t>多个</a:t>
            </a:r>
            <a:r>
              <a:rPr lang="en-US" altLang="zh-CN" sz="1800" b="1" u="none" dirty="0">
                <a:latin typeface="宋体" panose="02010600030101010101" pitchFamily="2" charset="-122"/>
              </a:rPr>
              <a:t>MEM])</a:t>
            </a:r>
            <a:endParaRPr lang="en-US" altLang="zh-CN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存储体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u="none" spc="-30" dirty="0" smtClean="0">
                <a:latin typeface="宋体" panose="02010600030101010101" pitchFamily="2" charset="-122"/>
              </a:rPr>
              <a:t>指具有存储矩阵、译码电路、读写电路的</a:t>
            </a:r>
            <a:r>
              <a:rPr lang="zh-CN" altLang="en-US" sz="2200" b="1" spc="-30" dirty="0" smtClean="0">
                <a:latin typeface="宋体" panose="02010600030101010101" pitchFamily="2" charset="-122"/>
              </a:rPr>
              <a:t>存储模块</a:t>
            </a:r>
            <a:endParaRPr lang="en-US" altLang="zh-CN" sz="2200" b="1" spc="-30" dirty="0" smtClean="0">
              <a:latin typeface="宋体" panose="02010600030101010101" pitchFamily="2" charset="-122"/>
            </a:endParaRPr>
          </a:p>
        </p:txBody>
      </p:sp>
      <p:sp>
        <p:nvSpPr>
          <p:cNvPr id="62" name="Text Box 76"/>
          <p:cNvSpPr txBox="1">
            <a:spLocks noChangeArrowheads="1"/>
          </p:cNvSpPr>
          <p:nvPr/>
        </p:nvSpPr>
        <p:spPr bwMode="auto">
          <a:xfrm>
            <a:off x="1475656" y="3888000"/>
            <a:ext cx="6912768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交叉编址方式</a:t>
            </a:r>
            <a:r>
              <a:rPr lang="zh-CN" altLang="en-US" sz="1800" b="1" u="none" dirty="0">
                <a:latin typeface="宋体" panose="02010600030101010101" pitchFamily="2" charset="-122"/>
              </a:rPr>
              <a:t>实现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时，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MEM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的内部连线与顺序编址有何不同？</a:t>
            </a:r>
            <a:endParaRPr lang="en-US" altLang="zh-CN" sz="1800" b="1" u="none" dirty="0" smtClean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63" name="Text Box 76"/>
          <p:cNvSpPr txBox="1">
            <a:spLocks noChangeArrowheads="1"/>
          </p:cNvSpPr>
          <p:nvPr/>
        </p:nvSpPr>
        <p:spPr bwMode="auto">
          <a:xfrm>
            <a:off x="2196000" y="4212000"/>
            <a:ext cx="6624987" cy="1637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容量扩展时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，采用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顺序编址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；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性能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优化时，采用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交叉编址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各体同一单元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地址连续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 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      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交叉访问方式、并行</a:t>
            </a:r>
            <a:r>
              <a:rPr lang="zh-CN" altLang="en-US" sz="2200" b="1" u="none" smtClean="0">
                <a:latin typeface="宋体" panose="02010600030101010101" pitchFamily="2" charset="-122"/>
                <a:sym typeface="+mn-ea"/>
              </a:rPr>
              <a:t>访问方式</a:t>
            </a:r>
            <a:endParaRPr lang="zh-CN" altLang="en-US" sz="2200" b="1" u="none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             </a:t>
            </a:r>
            <a:r>
              <a:rPr lang="zh-CN" altLang="en-US" sz="18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称为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多体交叉</a:t>
            </a:r>
            <a:r>
              <a:rPr lang="en-US" altLang="zh-CN" sz="18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MEM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8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有称多体并行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MEM</a:t>
            </a:r>
            <a:endParaRPr lang="en-US" altLang="zh-CN" sz="1800" b="1" u="none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76" name="AutoShape 13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622887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425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31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0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52425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41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2" name="Text Box 76"/>
          <p:cNvSpPr txBox="1">
            <a:spLocks noChangeArrowheads="1"/>
          </p:cNvSpPr>
          <p:nvPr/>
        </p:nvSpPr>
        <p:spPr bwMode="auto">
          <a:xfrm>
            <a:off x="917786" y="1296000"/>
            <a:ext cx="5724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dashDot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访存需求：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一次访问</a:t>
            </a:r>
            <a:r>
              <a:rPr lang="zh-CN" altLang="en-US" sz="1800" b="1" dirty="0">
                <a:latin typeface="宋体" panose="02010600030101010101" pitchFamily="2" charset="-122"/>
              </a:rPr>
              <a:t>多个连续单元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，多次访存</a:t>
            </a:r>
            <a:r>
              <a:rPr lang="zh-CN" altLang="en-US" sz="1800" b="1" dirty="0">
                <a:latin typeface="宋体" panose="02010600030101010101" pitchFamily="2" charset="-122"/>
              </a:rPr>
              <a:t>地址连续</a:t>
            </a:r>
            <a:endParaRPr lang="en-US" altLang="zh-CN" sz="1200" b="1" dirty="0">
              <a:latin typeface="宋体" panose="02010600030101010101" pitchFamily="2" charset="-122"/>
            </a:endParaRPr>
          </a:p>
        </p:txBody>
      </p:sp>
      <p:grpSp>
        <p:nvGrpSpPr>
          <p:cNvPr id="119" name="组合 118"/>
          <p:cNvGrpSpPr/>
          <p:nvPr/>
        </p:nvGrpSpPr>
        <p:grpSpPr>
          <a:xfrm>
            <a:off x="1116596" y="2086530"/>
            <a:ext cx="6840539" cy="1797325"/>
            <a:chOff x="1547813" y="1839560"/>
            <a:chExt cx="6840539" cy="1797325"/>
          </a:xfrm>
        </p:grpSpPr>
        <p:sp>
          <p:nvSpPr>
            <p:cNvPr id="120" name="Text Box 79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555952" y="3347960"/>
              <a:ext cx="5148000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r>
                <a:rPr lang="en-US" altLang="zh-CN" sz="1600" b="1" u="none" dirty="0" smtClean="0">
                  <a:latin typeface="宋体" panose="02010600030101010101" pitchFamily="2" charset="-122"/>
                </a:rPr>
                <a:t>(a)</a:t>
              </a:r>
              <a:r>
                <a:rPr lang="zh-CN" altLang="en-US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顺序编址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方式           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  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(b)</a:t>
              </a:r>
              <a:r>
                <a:rPr lang="zh-CN" altLang="en-US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交叉编址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方式    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21" name="Text Box 80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619672" y="3068960"/>
              <a:ext cx="11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90000"/>
                </a:lnSpc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模块地址：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2" name="Text Box 8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372200" y="3068960"/>
              <a:ext cx="1656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778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体内地址  </a:t>
              </a:r>
              <a:r>
                <a:rPr lang="zh-CN" altLang="en-US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体号</a:t>
              </a:r>
              <a:endParaRPr lang="zh-CN" altLang="en-US" sz="1600" b="1" u="none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3" name="Line 85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7451952" y="3068960"/>
              <a:ext cx="0" cy="2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24" name="Text Box 8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885114" y="2090311"/>
              <a:ext cx="431800" cy="86518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25" name="Line 87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7881939" y="2306211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26" name="Line 88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7881939" y="2522111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27" name="Line 89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7881939" y="2739598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28" name="Text Box 90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092952" y="2090311"/>
              <a:ext cx="431800" cy="86518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29" name="Line 91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7092952" y="2306211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30" name="Line 92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7092952" y="2522111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31" name="Line 93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7092952" y="2739598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32" name="Text Box 94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6300789" y="2090311"/>
              <a:ext cx="431800" cy="86518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33" name="Line 95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6300789" y="2306211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34" name="Line 96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6300789" y="2522111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35" name="Line 97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6300789" y="2739598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36" name="Text Box 98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508626" y="2090311"/>
              <a:ext cx="431800" cy="86518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37" name="Line 99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5508626" y="2306211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38" name="Line 100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5508626" y="2522111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39" name="Line 101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5508626" y="2739598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40" name="Text Box 102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5508626" y="1839560"/>
              <a:ext cx="2879726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800" b="1" u="none" dirty="0">
                  <a:latin typeface="宋体" panose="02010600030101010101" pitchFamily="2" charset="-122"/>
                </a:rPr>
                <a:t> M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3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  </a:t>
              </a:r>
              <a:r>
                <a:rPr lang="en-US" altLang="zh-CN" sz="1800" b="1" u="none" dirty="0"/>
                <a:t>   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2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    M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1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    M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41" name="Text Box 103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7596189" y="2090311"/>
              <a:ext cx="288925" cy="8651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0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4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8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12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42" name="Text Box 104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6804027" y="2090311"/>
              <a:ext cx="287338" cy="8651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1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5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9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13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43" name="Text Box 105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6011864" y="2090311"/>
              <a:ext cx="287338" cy="8651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2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6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10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14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44" name="Text Box 106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148264" y="2090311"/>
              <a:ext cx="287338" cy="8651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3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7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15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5" name="Text Box 107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771801" y="3068960"/>
              <a:ext cx="1656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778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u="none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体</a:t>
              </a:r>
              <a:r>
                <a:rPr lang="zh-CN" altLang="en-US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号  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体内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6" name="Line 111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3347864" y="3068960"/>
              <a:ext cx="0" cy="2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47" name="Text Box 112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4284663" y="2090311"/>
              <a:ext cx="431800" cy="86518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48" name="Line 113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4281488" y="2306211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49" name="Line 114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>
              <a:off x="4281488" y="2522111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50" name="Line 115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4281488" y="2739598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51" name="Text Box 116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3492501" y="2090311"/>
              <a:ext cx="431800" cy="86518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52" name="Line 117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>
              <a:off x="3492501" y="2306211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53" name="Line 118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>
              <a:off x="3492501" y="2522111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54" name="Line 119"/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>
              <a:off x="3492501" y="2739598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55" name="Text Box 120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2700338" y="2090311"/>
              <a:ext cx="431800" cy="86518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56" name="Line 121"/>
            <p:cNvSpPr>
              <a:spLocks noChangeShapeType="1"/>
            </p:cNvSpPr>
            <p:nvPr>
              <p:custDataLst>
                <p:tags r:id="rId39"/>
              </p:custDataLst>
            </p:nvPr>
          </p:nvSpPr>
          <p:spPr bwMode="auto">
            <a:xfrm>
              <a:off x="2700338" y="2306211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57" name="Line 122"/>
            <p:cNvSpPr>
              <a:spLocks noChangeShapeType="1"/>
            </p:cNvSpPr>
            <p:nvPr>
              <p:custDataLst>
                <p:tags r:id="rId40"/>
              </p:custDataLst>
            </p:nvPr>
          </p:nvSpPr>
          <p:spPr bwMode="auto">
            <a:xfrm>
              <a:off x="2700338" y="2522111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58" name="Line 123"/>
            <p:cNvSpPr>
              <a:spLocks noChangeShapeType="1"/>
            </p:cNvSpPr>
            <p:nvPr>
              <p:custDataLst>
                <p:tags r:id="rId41"/>
              </p:custDataLst>
            </p:nvPr>
          </p:nvSpPr>
          <p:spPr bwMode="auto">
            <a:xfrm>
              <a:off x="2700338" y="2739598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59" name="Text Box 124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908175" y="2090311"/>
              <a:ext cx="431800" cy="86518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60" name="Line 125"/>
            <p:cNvSpPr>
              <a:spLocks noChangeShapeType="1"/>
            </p:cNvSpPr>
            <p:nvPr>
              <p:custDataLst>
                <p:tags r:id="rId43"/>
              </p:custDataLst>
            </p:nvPr>
          </p:nvSpPr>
          <p:spPr bwMode="auto">
            <a:xfrm>
              <a:off x="1908175" y="2306211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61" name="Line 126"/>
            <p:cNvSpPr>
              <a:spLocks noChangeShapeType="1"/>
            </p:cNvSpPr>
            <p:nvPr>
              <p:custDataLst>
                <p:tags r:id="rId44"/>
              </p:custDataLst>
            </p:nvPr>
          </p:nvSpPr>
          <p:spPr bwMode="auto">
            <a:xfrm>
              <a:off x="1908175" y="2522111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62" name="Line 127"/>
            <p:cNvSpPr>
              <a:spLocks noChangeShapeType="1"/>
            </p:cNvSpPr>
            <p:nvPr>
              <p:custDataLst>
                <p:tags r:id="rId45"/>
              </p:custDataLst>
            </p:nvPr>
          </p:nvSpPr>
          <p:spPr bwMode="auto">
            <a:xfrm>
              <a:off x="1908175" y="2739598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63" name="Text Box 128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1908175" y="1844948"/>
              <a:ext cx="2879726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800" b="1" u="none" dirty="0">
                  <a:latin typeface="宋体" panose="02010600030101010101" pitchFamily="2" charset="-122"/>
                </a:rPr>
                <a:t> M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3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  </a:t>
              </a:r>
              <a:r>
                <a:rPr lang="en-US" altLang="zh-CN" sz="1800" b="1" u="none" dirty="0"/>
                <a:t>   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2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    M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1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     M</a:t>
              </a:r>
              <a:r>
                <a:rPr lang="en-US" altLang="zh-CN" sz="18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4" name="Text Box 129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3995738" y="2090311"/>
              <a:ext cx="288925" cy="8651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0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1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2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3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65" name="Text Box 130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3203576" y="2090311"/>
              <a:ext cx="287338" cy="8651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4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5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6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7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6" name="Text Box 131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2411413" y="2090311"/>
              <a:ext cx="287338" cy="8651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8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9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7" name="Text Box 132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1547813" y="2090311"/>
              <a:ext cx="287338" cy="8651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12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13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14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15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8" name="Text Box 80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5220245" y="3068960"/>
              <a:ext cx="11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90000"/>
                </a:lnSpc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模块地址：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1512000" y="2556000"/>
            <a:ext cx="6339035" cy="186361"/>
            <a:chOff x="1733242" y="2321172"/>
            <a:chExt cx="6339035" cy="186361"/>
          </a:xfrm>
        </p:grpSpPr>
        <p:sp>
          <p:nvSpPr>
            <p:cNvPr id="99" name="Text Box 81"/>
            <p:cNvSpPr txBox="1">
              <a:spLocks noChangeArrowheads="1"/>
            </p:cNvSpPr>
            <p:nvPr/>
          </p:nvSpPr>
          <p:spPr bwMode="auto">
            <a:xfrm>
              <a:off x="5331207" y="2326214"/>
              <a:ext cx="360000" cy="180000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  </a:t>
              </a:r>
              <a:endPara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0" name="Text Box 81"/>
            <p:cNvSpPr txBox="1">
              <a:spLocks noChangeArrowheads="1"/>
            </p:cNvSpPr>
            <p:nvPr/>
          </p:nvSpPr>
          <p:spPr bwMode="auto">
            <a:xfrm>
              <a:off x="6123021" y="2321278"/>
              <a:ext cx="360000" cy="180000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  </a:t>
              </a:r>
              <a:endPara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1" name="Text Box 81"/>
            <p:cNvSpPr txBox="1">
              <a:spLocks noChangeArrowheads="1"/>
            </p:cNvSpPr>
            <p:nvPr/>
          </p:nvSpPr>
          <p:spPr bwMode="auto">
            <a:xfrm>
              <a:off x="6920189" y="2322453"/>
              <a:ext cx="360000" cy="180000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u="none" dirty="0">
                  <a:latin typeface="宋体" panose="02010600030101010101" pitchFamily="2" charset="-122"/>
                </a:rPr>
                <a:t>   </a:t>
              </a:r>
              <a:endParaRPr lang="zh-CN" altLang="en-US" sz="1800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2" name="Text Box 81"/>
            <p:cNvSpPr txBox="1">
              <a:spLocks noChangeArrowheads="1"/>
            </p:cNvSpPr>
            <p:nvPr/>
          </p:nvSpPr>
          <p:spPr bwMode="auto">
            <a:xfrm>
              <a:off x="7712277" y="2327533"/>
              <a:ext cx="360000" cy="180000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  </a:t>
              </a:r>
              <a:endPara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4" name="Text Box 81"/>
            <p:cNvSpPr txBox="1">
              <a:spLocks noChangeArrowheads="1"/>
            </p:cNvSpPr>
            <p:nvPr/>
          </p:nvSpPr>
          <p:spPr bwMode="auto">
            <a:xfrm>
              <a:off x="1733242" y="2326108"/>
              <a:ext cx="360000" cy="180000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  </a:t>
              </a:r>
              <a:endPara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5" name="Text Box 81"/>
            <p:cNvSpPr txBox="1">
              <a:spLocks noChangeArrowheads="1"/>
            </p:cNvSpPr>
            <p:nvPr/>
          </p:nvSpPr>
          <p:spPr bwMode="auto">
            <a:xfrm>
              <a:off x="2525056" y="2321172"/>
              <a:ext cx="360000" cy="180000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  </a:t>
              </a:r>
              <a:endPara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6" name="Text Box 81"/>
            <p:cNvSpPr txBox="1">
              <a:spLocks noChangeArrowheads="1"/>
            </p:cNvSpPr>
            <p:nvPr/>
          </p:nvSpPr>
          <p:spPr bwMode="auto">
            <a:xfrm>
              <a:off x="3322224" y="2322347"/>
              <a:ext cx="360000" cy="180000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u="none" dirty="0">
                  <a:latin typeface="宋体" panose="02010600030101010101" pitchFamily="2" charset="-122"/>
                </a:rPr>
                <a:t>   </a:t>
              </a:r>
              <a:endParaRPr lang="zh-CN" altLang="en-US" sz="1800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7" name="Text Box 81"/>
            <p:cNvSpPr txBox="1">
              <a:spLocks noChangeArrowheads="1"/>
            </p:cNvSpPr>
            <p:nvPr/>
          </p:nvSpPr>
          <p:spPr bwMode="auto">
            <a:xfrm>
              <a:off x="4114312" y="2327427"/>
              <a:ext cx="360000" cy="180000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   </a:t>
              </a:r>
              <a:endPara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/>
          </a:p>
        </p:txBody>
      </p:sp>
      <p:sp>
        <p:nvSpPr>
          <p:cNvPr id="339" name="AutoShape 46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6228878" y="6513395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0" name="AutoShape 13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7824" y="6511808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7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24000"/>
            <a:ext cx="4970145" cy="5638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交叉访问方式</a:t>
            </a:r>
            <a:r>
              <a:rPr lang="en-US" altLang="zh-CN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称为多体交叉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MEM)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优化思路：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*MEM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结构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工作原理：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性能分析：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与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的连接：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Text Box 7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2000" y="791845"/>
            <a:ext cx="7333615" cy="12528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轮流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访问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有重叠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各个体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≤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，各个体</a:t>
            </a:r>
            <a:r>
              <a:rPr lang="zh-CN" altLang="en-US" sz="22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分时</a:t>
            </a:r>
            <a:r>
              <a:rPr lang="en-US" altLang="zh-CN" sz="22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I/O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突发传输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18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T</a:t>
            </a:r>
            <a:r>
              <a:rPr lang="zh-CN" altLang="en-US" sz="1800" b="1" u="none" baseline="-16000" dirty="0" smtClean="0">
                <a:latin typeface="宋体" panose="02010600030101010101" pitchFamily="2" charset="-122"/>
                <a:sym typeface="+mn-ea"/>
              </a:rPr>
              <a:t>启动间隔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800" b="1" u="none" baseline="-16000" dirty="0" smtClean="0">
                <a:latin typeface="宋体" panose="02010600030101010101" pitchFamily="2" charset="-122"/>
                <a:sym typeface="+mn-ea"/>
              </a:rPr>
              <a:t>M</a:t>
            </a:r>
            <a:r>
              <a:rPr lang="en-US" altLang="zh-CN" sz="18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/m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     </a:t>
            </a:r>
            <a:r>
              <a:rPr lang="en-US" altLang="zh-CN" sz="1800" u="none" dirty="0" smtClean="0">
                <a:latin typeface="宋体" panose="02010600030101010101" pitchFamily="2" charset="-122"/>
                <a:sym typeface="+mn-ea"/>
              </a:rPr>
              <a:t>                 </a:t>
            </a:r>
            <a:r>
              <a:rPr lang="en-US" altLang="zh-CN" sz="1800" b="1" u="none" dirty="0" err="1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8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←数据引脚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W</a:t>
            </a:r>
            <a:r>
              <a:rPr lang="zh-CN" altLang="en-US" sz="1800" b="1" u="none" dirty="0">
                <a:latin typeface="宋体" panose="02010600030101010101" pitchFamily="2" charset="-122"/>
                <a:sym typeface="Symbol" panose="05050102010706020507"/>
              </a:rPr>
              <a:t>＝</a:t>
            </a:r>
            <a:r>
              <a:rPr lang="en-US" altLang="zh-CN" sz="18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w</a:t>
            </a:r>
            <a:endParaRPr lang="en-US" altLang="zh-CN" sz="1800" b="1" u="none" baseline="-16000" dirty="0" err="1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采用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同步</a:t>
            </a:r>
            <a:r>
              <a:rPr lang="en-US" altLang="zh-CN" sz="2200" b="1" u="sng" dirty="0" smtClean="0">
                <a:latin typeface="宋体" panose="02010600030101010101" pitchFamily="2" charset="-122"/>
              </a:rPr>
              <a:t>RAM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接口，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首个体号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用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地址低位表示</a:t>
            </a:r>
            <a:endParaRPr lang="zh-CN" altLang="en-US" sz="2200" b="1" u="sng" dirty="0" smtClean="0">
              <a:latin typeface="宋体" panose="02010600030101010101" pitchFamily="2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1440815" y="2087510"/>
            <a:ext cx="3780155" cy="1656295"/>
            <a:chOff x="2608" y="4309"/>
            <a:chExt cx="5953" cy="2608"/>
          </a:xfrm>
        </p:grpSpPr>
        <p:sp>
          <p:nvSpPr>
            <p:cNvPr id="8" name="Text Box 140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572" y="4309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9" name="Rectangle 14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665" y="4706"/>
              <a:ext cx="5783" cy="2211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0" name="Text Box 162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107" y="4309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WE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" name="Text Box 164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005" y="4876"/>
              <a:ext cx="5159" cy="3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存储器控制部件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" name="Text Box 140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608" y="4309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11</a:t>
              </a:r>
              <a:r>
                <a:rPr lang="en-US" altLang="zh-CN" sz="1600" b="1" u="none" dirty="0" smtClean="0"/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2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140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649" y="4309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 smtClean="0"/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162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427" y="4309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CS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" name="Text Box 16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839" y="4309"/>
              <a:ext cx="567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CLK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6" name="直接箭头连接符 15"/>
            <p:cNvCxnSpPr/>
            <p:nvPr>
              <p:custDataLst>
                <p:tags r:id="rId11"/>
              </p:custDataLst>
            </p:nvPr>
          </p:nvCxnSpPr>
          <p:spPr bwMode="auto">
            <a:xfrm>
              <a:off x="2778" y="6803"/>
              <a:ext cx="4535" cy="2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" name="Text Box 146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004" y="5216"/>
              <a:ext cx="22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8" name="Text Box 143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891" y="5499"/>
              <a:ext cx="1247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CS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18000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3</a:t>
              </a:r>
              <a:endParaRPr lang="en-US" altLang="zh-CN" sz="1800" b="1" u="none" baseline="-18000" dirty="0" smtClean="0">
                <a:solidFill>
                  <a:srgbClr val="FF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WE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21" name="直接箭头连接符 120"/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3230" y="5329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19" name="直接箭头连接符 18"/>
            <p:cNvCxnSpPr/>
            <p:nvPr>
              <p:custDataLst>
                <p:tags r:id="rId15"/>
              </p:custDataLst>
            </p:nvPr>
          </p:nvCxnSpPr>
          <p:spPr bwMode="auto">
            <a:xfrm>
              <a:off x="3287" y="5216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直接箭头连接符 19"/>
            <p:cNvCxnSpPr/>
            <p:nvPr>
              <p:custDataLst>
                <p:tags r:id="rId16"/>
              </p:custDataLst>
            </p:nvPr>
          </p:nvCxnSpPr>
          <p:spPr bwMode="auto">
            <a:xfrm>
              <a:off x="3969" y="5216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箭头连接符 20"/>
            <p:cNvCxnSpPr/>
            <p:nvPr>
              <p:custDataLst>
                <p:tags r:id="rId17"/>
              </p:custDataLst>
            </p:nvPr>
          </p:nvCxnSpPr>
          <p:spPr bwMode="auto">
            <a:xfrm flipH="1" flipV="1">
              <a:off x="3231" y="6520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22" name="直接箭头连接符 21"/>
            <p:cNvCxnSpPr/>
            <p:nvPr>
              <p:custDataLst>
                <p:tags r:id="rId18"/>
              </p:custDataLst>
            </p:nvPr>
          </p:nvCxnSpPr>
          <p:spPr bwMode="auto">
            <a:xfrm>
              <a:off x="3969" y="6520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直接箭头连接符 22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3798" y="5545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4" name="直接箭头连接符 23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3798" y="6197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6" name="直接箭头连接符 25"/>
            <p:cNvCxnSpPr/>
            <p:nvPr>
              <p:custDataLst>
                <p:tags r:id="rId21"/>
              </p:custDataLst>
            </p:nvPr>
          </p:nvCxnSpPr>
          <p:spPr bwMode="auto">
            <a:xfrm>
              <a:off x="3969" y="6690"/>
              <a:ext cx="4365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箭头连接符 26"/>
            <p:cNvCxnSpPr/>
            <p:nvPr>
              <p:custDataLst>
                <p:tags r:id="rId22"/>
              </p:custDataLst>
            </p:nvPr>
          </p:nvCxnSpPr>
          <p:spPr bwMode="auto">
            <a:xfrm>
              <a:off x="2778" y="4592"/>
              <a:ext cx="0" cy="2211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" name="Text Box 146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364" y="5216"/>
              <a:ext cx="22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9" name="Text Box 143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252" y="5499"/>
              <a:ext cx="1247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CS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18000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2</a:t>
              </a:r>
              <a:endParaRPr lang="en-US" altLang="zh-CN" sz="1800" b="1" u="none" baseline="-18000" dirty="0" smtClean="0">
                <a:solidFill>
                  <a:srgbClr val="FF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WE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30" name="直接箭头连接符 29"/>
            <p:cNvCxnSpPr/>
            <p:nvPr>
              <p:custDataLst>
                <p:tags r:id="rId25"/>
              </p:custDataLst>
            </p:nvPr>
          </p:nvCxnSpPr>
          <p:spPr bwMode="auto">
            <a:xfrm flipH="1">
              <a:off x="4591" y="5329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31" name="直接箭头连接符 30"/>
            <p:cNvCxnSpPr/>
            <p:nvPr>
              <p:custDataLst>
                <p:tags r:id="rId26"/>
              </p:custDataLst>
            </p:nvPr>
          </p:nvCxnSpPr>
          <p:spPr bwMode="auto">
            <a:xfrm>
              <a:off x="4648" y="5216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箭头连接符 32"/>
            <p:cNvCxnSpPr/>
            <p:nvPr>
              <p:custDataLst>
                <p:tags r:id="rId27"/>
              </p:custDataLst>
            </p:nvPr>
          </p:nvCxnSpPr>
          <p:spPr bwMode="auto">
            <a:xfrm>
              <a:off x="5330" y="5216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直接箭头连接符 33"/>
            <p:cNvCxnSpPr/>
            <p:nvPr>
              <p:custDataLst>
                <p:tags r:id="rId28"/>
              </p:custDataLst>
            </p:nvPr>
          </p:nvCxnSpPr>
          <p:spPr bwMode="auto">
            <a:xfrm flipH="1" flipV="1">
              <a:off x="4592" y="6520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35" name="直接箭头连接符 34"/>
            <p:cNvCxnSpPr/>
            <p:nvPr>
              <p:custDataLst>
                <p:tags r:id="rId29"/>
              </p:custDataLst>
            </p:nvPr>
          </p:nvCxnSpPr>
          <p:spPr bwMode="auto">
            <a:xfrm>
              <a:off x="5330" y="6520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36" name="直接箭头连接符 35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5159" y="5545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7" name="直接箭头连接符 36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5159" y="6197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38" name="Text Box 146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725" y="5216"/>
              <a:ext cx="22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39" name="Text Box 143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5613" y="5499"/>
              <a:ext cx="1247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CS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18000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800" b="1" u="none" baseline="-18000" dirty="0" smtClean="0">
                <a:solidFill>
                  <a:srgbClr val="FF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WE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40" name="直接箭头连接符 39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5952" y="5329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35"/>
              </p:custDataLst>
            </p:nvPr>
          </p:nvCxnSpPr>
          <p:spPr bwMode="auto">
            <a:xfrm>
              <a:off x="6008" y="5216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直接箭头连接符 41"/>
            <p:cNvCxnSpPr/>
            <p:nvPr>
              <p:custDataLst>
                <p:tags r:id="rId36"/>
              </p:custDataLst>
            </p:nvPr>
          </p:nvCxnSpPr>
          <p:spPr bwMode="auto">
            <a:xfrm>
              <a:off x="6691" y="5216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直接箭头连接符 42"/>
            <p:cNvCxnSpPr/>
            <p:nvPr>
              <p:custDataLst>
                <p:tags r:id="rId37"/>
              </p:custDataLst>
            </p:nvPr>
          </p:nvCxnSpPr>
          <p:spPr bwMode="auto">
            <a:xfrm flipH="1" flipV="1">
              <a:off x="5953" y="6520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44" name="直接箭头连接符 43"/>
            <p:cNvCxnSpPr/>
            <p:nvPr>
              <p:custDataLst>
                <p:tags r:id="rId38"/>
              </p:custDataLst>
            </p:nvPr>
          </p:nvCxnSpPr>
          <p:spPr bwMode="auto">
            <a:xfrm>
              <a:off x="6691" y="6520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45" name="直接箭头连接符 44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6520" y="5545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6" name="直接箭头连接符 45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6520" y="6197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47" name="Text Box 146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7085" y="5216"/>
              <a:ext cx="22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48" name="Text Box 143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6973" y="5499"/>
              <a:ext cx="1247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CS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18000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800" b="1" u="none" baseline="-18000" dirty="0" smtClean="0">
                <a:solidFill>
                  <a:srgbClr val="FF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WE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49" name="直接箭头连接符 48"/>
            <p:cNvCxnSpPr/>
            <p:nvPr>
              <p:custDataLst>
                <p:tags r:id="rId43"/>
              </p:custDataLst>
            </p:nvPr>
          </p:nvCxnSpPr>
          <p:spPr bwMode="auto">
            <a:xfrm flipH="1">
              <a:off x="7312" y="5329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50" name="直接箭头连接符 49"/>
            <p:cNvCxnSpPr/>
            <p:nvPr>
              <p:custDataLst>
                <p:tags r:id="rId44"/>
              </p:custDataLst>
            </p:nvPr>
          </p:nvCxnSpPr>
          <p:spPr bwMode="auto">
            <a:xfrm>
              <a:off x="7369" y="5216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直接箭头连接符 50"/>
            <p:cNvCxnSpPr/>
            <p:nvPr>
              <p:custDataLst>
                <p:tags r:id="rId45"/>
              </p:custDataLst>
            </p:nvPr>
          </p:nvCxnSpPr>
          <p:spPr bwMode="auto">
            <a:xfrm>
              <a:off x="8051" y="5216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直接箭头连接符 51"/>
            <p:cNvCxnSpPr/>
            <p:nvPr>
              <p:custDataLst>
                <p:tags r:id="rId46"/>
              </p:custDataLst>
            </p:nvPr>
          </p:nvCxnSpPr>
          <p:spPr bwMode="auto">
            <a:xfrm flipH="1" flipV="1">
              <a:off x="7313" y="6520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4" name="直接箭头连接符 53"/>
            <p:cNvCxnSpPr/>
            <p:nvPr>
              <p:custDataLst>
                <p:tags r:id="rId47"/>
              </p:custDataLst>
            </p:nvPr>
          </p:nvCxnSpPr>
          <p:spPr bwMode="auto">
            <a:xfrm>
              <a:off x="8051" y="6520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55" name="直接箭头连接符 54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7880" y="5545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6" name="直接箭头连接符 55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7880" y="6197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7" name="直接箭头连接符 56"/>
            <p:cNvCxnSpPr/>
            <p:nvPr>
              <p:custDataLst>
                <p:tags r:id="rId50"/>
              </p:custDataLst>
            </p:nvPr>
          </p:nvCxnSpPr>
          <p:spPr bwMode="auto">
            <a:xfrm>
              <a:off x="8334" y="4592"/>
              <a:ext cx="0" cy="2098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直接箭头连接符 57"/>
            <p:cNvCxnSpPr/>
            <p:nvPr>
              <p:custDataLst>
                <p:tags r:id="rId51"/>
              </p:custDataLst>
            </p:nvPr>
          </p:nvCxnSpPr>
          <p:spPr bwMode="auto">
            <a:xfrm>
              <a:off x="3912" y="4592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直接箭头连接符 58"/>
            <p:cNvCxnSpPr/>
            <p:nvPr>
              <p:custDataLst>
                <p:tags r:id="rId52"/>
              </p:custDataLst>
            </p:nvPr>
          </p:nvCxnSpPr>
          <p:spPr bwMode="auto">
            <a:xfrm>
              <a:off x="4989" y="4592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直接箭头连接符 59"/>
            <p:cNvCxnSpPr/>
            <p:nvPr>
              <p:custDataLst>
                <p:tags r:id="rId53"/>
              </p:custDataLst>
            </p:nvPr>
          </p:nvCxnSpPr>
          <p:spPr bwMode="auto">
            <a:xfrm>
              <a:off x="6093" y="4592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直接箭头连接符 60"/>
            <p:cNvCxnSpPr/>
            <p:nvPr>
              <p:custDataLst>
                <p:tags r:id="rId54"/>
              </p:custDataLst>
            </p:nvPr>
          </p:nvCxnSpPr>
          <p:spPr bwMode="auto">
            <a:xfrm>
              <a:off x="7654" y="4592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直接箭头连接符 61"/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7483" y="4309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63" name="直接箭头连接符 62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8164" y="4309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64" name="Text Box 146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4706" y="4649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W</a:t>
              </a:r>
              <a:endParaRPr lang="en-US" altLang="zh-CN" sz="1600" b="1" u="none" baseline="-18000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5" name="直接箭头连接符 64"/>
            <p:cNvCxnSpPr/>
            <p:nvPr>
              <p:custDataLst>
                <p:tags r:id="rId58"/>
              </p:custDataLst>
            </p:nvPr>
          </p:nvCxnSpPr>
          <p:spPr bwMode="auto">
            <a:xfrm flipH="1">
              <a:off x="4932" y="4706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</p:grpSp>
      <p:sp>
        <p:nvSpPr>
          <p:cNvPr id="66" name="Text Box 73"/>
          <p:cNvSpPr txBox="1">
            <a:spLocks noChangeArrowheads="1"/>
          </p:cNvSpPr>
          <p:nvPr>
            <p:custDataLst>
              <p:tags r:id="rId59"/>
            </p:custDataLst>
          </p:nvPr>
        </p:nvSpPr>
        <p:spPr bwMode="auto">
          <a:xfrm>
            <a:off x="864000" y="3708000"/>
            <a:ext cx="4931410" cy="220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   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同步</a:t>
            </a:r>
            <a:r>
              <a:rPr lang="zh-CN" altLang="en-US" sz="1800" b="1" u="none" dirty="0">
                <a:latin typeface="宋体" panose="02010600030101010101" pitchFamily="2" charset="-122"/>
              </a:rPr>
              <a:t>工作方式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20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endParaRPr lang="en-US" altLang="zh-CN" sz="20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 smtClean="0">
                <a:latin typeface="宋体" panose="02010600030101010101" pitchFamily="2" charset="-122"/>
              </a:rPr>
              <a:t>每隔</a:t>
            </a:r>
            <a:r>
              <a:rPr lang="en-US" altLang="zh-CN" sz="2200" b="1" u="sng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u="sng" baseline="-16000" dirty="0" smtClean="0">
                <a:latin typeface="宋体" panose="02010600030101010101" pitchFamily="2" charset="-122"/>
              </a:rPr>
              <a:t>M</a:t>
            </a:r>
            <a:r>
              <a:rPr lang="en-US" altLang="zh-CN" sz="2200" b="1" u="sng" dirty="0" smtClean="0">
                <a:latin typeface="宋体" panose="02010600030101010101" pitchFamily="2" charset="-122"/>
              </a:rPr>
              <a:t>/m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启动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一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个体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(T</a:t>
            </a:r>
            <a:r>
              <a:rPr lang="en-US" altLang="zh-CN" sz="1800" b="1" u="none" baseline="-16000" dirty="0" smtClean="0">
                <a:latin typeface="宋体" panose="02010600030101010101" pitchFamily="2" charset="-122"/>
              </a:rPr>
              <a:t>M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后即可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I/O)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I/O</a:t>
            </a:r>
            <a:r>
              <a:rPr lang="zh-CN" altLang="en-US" sz="2200" b="1" u="none" dirty="0">
                <a:latin typeface="宋体" panose="02010600030101010101" pitchFamily="2" charset="-122"/>
              </a:rPr>
              <a:t>采用</a:t>
            </a:r>
            <a:r>
              <a:rPr lang="zh-CN" altLang="en-US" sz="2200" b="1" u="sng" dirty="0">
                <a:latin typeface="宋体" panose="02010600030101010101" pitchFamily="2" charset="-122"/>
              </a:rPr>
              <a:t>突发传输</a:t>
            </a:r>
            <a:r>
              <a:rPr lang="zh-CN" altLang="en-US" sz="2200" b="1" u="none" dirty="0">
                <a:latin typeface="宋体" panose="02010600030101010101" pitchFamily="2" charset="-122"/>
              </a:rPr>
              <a:t>方式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间隔同启动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    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2200" b="1" u="none" baseline="-16000" dirty="0">
                <a:latin typeface="宋体" panose="02010600030101010101" pitchFamily="2" charset="-122"/>
                <a:sym typeface="+mn-ea"/>
              </a:rPr>
              <a:t>M</a:t>
            </a:r>
            <a:r>
              <a:rPr lang="en-US" altLang="zh-CN" sz="2200" b="1" u="none" dirty="0">
                <a:latin typeface="宋体" panose="02010600030101010101" pitchFamily="2" charset="-122"/>
                <a:sym typeface="Symbol" panose="05050102010706020507"/>
              </a:rPr>
              <a:t>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(2-1/m)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×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2200" b="1" u="none" baseline="-16000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B</a:t>
            </a:r>
            <a:r>
              <a:rPr lang="en-US" altLang="zh-CN" sz="2200" b="1" u="none" baseline="-16000" dirty="0">
                <a:latin typeface="宋体" panose="02010600030101010101" pitchFamily="2" charset="-122"/>
                <a:sym typeface="+mn-ea"/>
              </a:rPr>
              <a:t>M</a:t>
            </a:r>
            <a:r>
              <a:rPr lang="en-US" altLang="zh-CN" sz="2200" b="1" u="none" dirty="0">
                <a:latin typeface="宋体" panose="02010600030101010101" pitchFamily="2" charset="-122"/>
                <a:sym typeface="Symbol" panose="05050102010706020507"/>
              </a:rPr>
              <a:t>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×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B</a:t>
            </a:r>
            <a:r>
              <a:rPr lang="en-US" altLang="zh-CN" sz="2200" b="1" u="none" baseline="-16000" dirty="0">
                <a:latin typeface="宋体" panose="02010600030101010101" pitchFamily="2" charset="-122"/>
                <a:sym typeface="+mn-ea"/>
              </a:rPr>
              <a:t>M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与同步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RAM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相同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</p:txBody>
      </p:sp>
      <p:grpSp>
        <p:nvGrpSpPr>
          <p:cNvPr id="126" name="组合 125"/>
          <p:cNvGrpSpPr/>
          <p:nvPr/>
        </p:nvGrpSpPr>
        <p:grpSpPr>
          <a:xfrm>
            <a:off x="5472000" y="3383510"/>
            <a:ext cx="3094355" cy="1475740"/>
            <a:chOff x="2327" y="3515"/>
            <a:chExt cx="4873" cy="2324"/>
          </a:xfrm>
        </p:grpSpPr>
        <p:sp>
          <p:nvSpPr>
            <p:cNvPr id="127" name="六边形 126"/>
            <p:cNvSpPr/>
            <p:nvPr>
              <p:custDataLst>
                <p:tags r:id="rId60"/>
              </p:custDataLst>
            </p:nvPr>
          </p:nvSpPr>
          <p:spPr bwMode="auto">
            <a:xfrm>
              <a:off x="5216" y="5160"/>
              <a:ext cx="454" cy="283"/>
            </a:xfrm>
            <a:prstGeom prst="hexagon">
              <a:avLst>
                <a:gd name="adj" fmla="val 23111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D0</a:t>
              </a:r>
              <a:endParaRPr kumimoji="1" lang="en-US" altLang="zh-CN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28" name="六边形 127"/>
            <p:cNvSpPr/>
            <p:nvPr>
              <p:custDataLst>
                <p:tags r:id="rId61"/>
              </p:custDataLst>
            </p:nvPr>
          </p:nvSpPr>
          <p:spPr bwMode="auto">
            <a:xfrm>
              <a:off x="5669" y="5160"/>
              <a:ext cx="454" cy="283"/>
            </a:xfrm>
            <a:prstGeom prst="hexagon">
              <a:avLst>
                <a:gd name="adj" fmla="val 23111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D1</a:t>
              </a:r>
              <a:endParaRPr kumimoji="1" lang="en-US" altLang="zh-CN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29" name="六边形 128"/>
            <p:cNvSpPr/>
            <p:nvPr>
              <p:custDataLst>
                <p:tags r:id="rId62"/>
              </p:custDataLst>
            </p:nvPr>
          </p:nvSpPr>
          <p:spPr bwMode="auto">
            <a:xfrm>
              <a:off x="6123" y="5160"/>
              <a:ext cx="454" cy="283"/>
            </a:xfrm>
            <a:prstGeom prst="hexagon">
              <a:avLst>
                <a:gd name="adj" fmla="val 23111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D2</a:t>
              </a:r>
              <a:endParaRPr kumimoji="1" lang="en-US" altLang="zh-CN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30" name="六边形 129"/>
            <p:cNvSpPr/>
            <p:nvPr>
              <p:custDataLst>
                <p:tags r:id="rId63"/>
              </p:custDataLst>
            </p:nvPr>
          </p:nvSpPr>
          <p:spPr bwMode="auto">
            <a:xfrm>
              <a:off x="6576" y="5160"/>
              <a:ext cx="454" cy="283"/>
            </a:xfrm>
            <a:prstGeom prst="hexagon">
              <a:avLst>
                <a:gd name="adj" fmla="val 23111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D3</a:t>
              </a:r>
              <a:endParaRPr kumimoji="1" lang="en-US" altLang="zh-CN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31" name="Text Box 252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2327" y="5159"/>
              <a:ext cx="844" cy="6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输出</a:t>
              </a:r>
              <a:endParaRPr lang="en-US" altLang="zh-CN" sz="1600" b="1" u="none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zh-CN" altLang="en-US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输入</a:t>
              </a:r>
              <a:endParaRPr lang="zh-CN" altLang="en-US" sz="1600" b="1" u="none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2" name="六边形 131"/>
            <p:cNvSpPr/>
            <p:nvPr>
              <p:custDataLst>
                <p:tags r:id="rId65"/>
              </p:custDataLst>
            </p:nvPr>
          </p:nvSpPr>
          <p:spPr bwMode="auto">
            <a:xfrm>
              <a:off x="3402" y="5556"/>
              <a:ext cx="454" cy="283"/>
            </a:xfrm>
            <a:prstGeom prst="hexagon">
              <a:avLst>
                <a:gd name="adj" fmla="val 23111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D0</a:t>
              </a:r>
              <a:endParaRPr kumimoji="1" lang="en-US" altLang="zh-CN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33" name="六边形 132"/>
            <p:cNvSpPr/>
            <p:nvPr>
              <p:custDataLst>
                <p:tags r:id="rId66"/>
              </p:custDataLst>
            </p:nvPr>
          </p:nvSpPr>
          <p:spPr bwMode="auto">
            <a:xfrm>
              <a:off x="3855" y="5556"/>
              <a:ext cx="454" cy="283"/>
            </a:xfrm>
            <a:prstGeom prst="hexagon">
              <a:avLst>
                <a:gd name="adj" fmla="val 23111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D1</a:t>
              </a:r>
              <a:endParaRPr kumimoji="1" lang="en-US" altLang="zh-CN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34" name="六边形 133"/>
            <p:cNvSpPr/>
            <p:nvPr>
              <p:custDataLst>
                <p:tags r:id="rId67"/>
              </p:custDataLst>
            </p:nvPr>
          </p:nvSpPr>
          <p:spPr bwMode="auto">
            <a:xfrm>
              <a:off x="4309" y="5556"/>
              <a:ext cx="454" cy="283"/>
            </a:xfrm>
            <a:prstGeom prst="hexagon">
              <a:avLst>
                <a:gd name="adj" fmla="val 23111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D2</a:t>
              </a:r>
              <a:endParaRPr kumimoji="1" lang="en-US" altLang="zh-CN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35" name="六边形 134"/>
            <p:cNvSpPr/>
            <p:nvPr>
              <p:custDataLst>
                <p:tags r:id="rId68"/>
              </p:custDataLst>
            </p:nvPr>
          </p:nvSpPr>
          <p:spPr bwMode="auto">
            <a:xfrm>
              <a:off x="4762" y="5556"/>
              <a:ext cx="454" cy="283"/>
            </a:xfrm>
            <a:prstGeom prst="hexagon">
              <a:avLst>
                <a:gd name="adj" fmla="val 23111"/>
                <a:gd name="vf" fmla="val 115470"/>
              </a:avLst>
            </a:prstGeom>
            <a:solidFill>
              <a:srgbClr val="CCE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1" compatLnSpc="1"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D3</a:t>
              </a:r>
              <a:endParaRPr kumimoji="1" lang="en-US" altLang="zh-CN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136" name="直接连接符 135"/>
            <p:cNvCxnSpPr/>
            <p:nvPr>
              <p:custDataLst>
                <p:tags r:id="rId69"/>
              </p:custDataLst>
            </p:nvPr>
          </p:nvCxnSpPr>
          <p:spPr>
            <a:xfrm>
              <a:off x="3231" y="5698"/>
              <a:ext cx="17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>
              <p:custDataLst>
                <p:tags r:id="rId70"/>
              </p:custDataLst>
            </p:nvPr>
          </p:nvCxnSpPr>
          <p:spPr>
            <a:xfrm>
              <a:off x="3231" y="5301"/>
              <a:ext cx="1984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>
              <p:custDataLst>
                <p:tags r:id="rId71"/>
              </p:custDataLst>
            </p:nvPr>
          </p:nvCxnSpPr>
          <p:spPr>
            <a:xfrm>
              <a:off x="7030" y="5301"/>
              <a:ext cx="17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>
              <p:custDataLst>
                <p:tags r:id="rId72"/>
              </p:custDataLst>
            </p:nvPr>
          </p:nvCxnSpPr>
          <p:spPr>
            <a:xfrm>
              <a:off x="5216" y="5698"/>
              <a:ext cx="1984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>
              <p:custDataLst>
                <p:tags r:id="rId73"/>
              </p:custDataLst>
            </p:nvPr>
          </p:nvCxnSpPr>
          <p:spPr>
            <a:xfrm>
              <a:off x="5218" y="3515"/>
              <a:ext cx="227" cy="0"/>
            </a:xfrm>
            <a:prstGeom prst="line">
              <a:avLst/>
            </a:prstGeom>
            <a:ln w="9525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>
              <p:custDataLst>
                <p:tags r:id="rId74"/>
              </p:custDataLst>
            </p:nvPr>
          </p:nvCxnSpPr>
          <p:spPr>
            <a:xfrm>
              <a:off x="5443" y="3515"/>
              <a:ext cx="0" cy="1644"/>
            </a:xfrm>
            <a:prstGeom prst="line">
              <a:avLst/>
            </a:prstGeom>
            <a:ln w="9525">
              <a:solidFill>
                <a:schemeClr val="accent2"/>
              </a:solidFill>
              <a:prstDash val="sysDash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>
              <p:custDataLst>
                <p:tags r:id="rId75"/>
              </p:custDataLst>
            </p:nvPr>
          </p:nvCxnSpPr>
          <p:spPr>
            <a:xfrm>
              <a:off x="5669" y="3855"/>
              <a:ext cx="227" cy="0"/>
            </a:xfrm>
            <a:prstGeom prst="line">
              <a:avLst/>
            </a:prstGeom>
            <a:ln w="9525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>
              <p:custDataLst>
                <p:tags r:id="rId76"/>
              </p:custDataLst>
            </p:nvPr>
          </p:nvCxnSpPr>
          <p:spPr>
            <a:xfrm>
              <a:off x="5896" y="3855"/>
              <a:ext cx="0" cy="1304"/>
            </a:xfrm>
            <a:prstGeom prst="line">
              <a:avLst/>
            </a:prstGeom>
            <a:ln w="9525">
              <a:solidFill>
                <a:schemeClr val="accent2"/>
              </a:solidFill>
              <a:prstDash val="sysDash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>
              <p:custDataLst>
                <p:tags r:id="rId77"/>
              </p:custDataLst>
            </p:nvPr>
          </p:nvCxnSpPr>
          <p:spPr>
            <a:xfrm>
              <a:off x="6123" y="4195"/>
              <a:ext cx="227" cy="0"/>
            </a:xfrm>
            <a:prstGeom prst="line">
              <a:avLst/>
            </a:prstGeom>
            <a:ln w="9525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>
              <p:custDataLst>
                <p:tags r:id="rId78"/>
              </p:custDataLst>
            </p:nvPr>
          </p:nvCxnSpPr>
          <p:spPr>
            <a:xfrm>
              <a:off x="6350" y="4195"/>
              <a:ext cx="0" cy="964"/>
            </a:xfrm>
            <a:prstGeom prst="line">
              <a:avLst/>
            </a:prstGeom>
            <a:ln w="9525">
              <a:solidFill>
                <a:schemeClr val="accent2"/>
              </a:solidFill>
              <a:prstDash val="sysDash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>
              <p:custDataLst>
                <p:tags r:id="rId79"/>
              </p:custDataLst>
            </p:nvPr>
          </p:nvCxnSpPr>
          <p:spPr>
            <a:xfrm>
              <a:off x="6576" y="4535"/>
              <a:ext cx="227" cy="0"/>
            </a:xfrm>
            <a:prstGeom prst="line">
              <a:avLst/>
            </a:prstGeom>
            <a:ln w="9525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>
              <p:custDataLst>
                <p:tags r:id="rId80"/>
              </p:custDataLst>
            </p:nvPr>
          </p:nvCxnSpPr>
          <p:spPr>
            <a:xfrm>
              <a:off x="6803" y="4535"/>
              <a:ext cx="0" cy="624"/>
            </a:xfrm>
            <a:prstGeom prst="line">
              <a:avLst/>
            </a:prstGeom>
            <a:ln w="9525">
              <a:solidFill>
                <a:schemeClr val="accent2"/>
              </a:solidFill>
              <a:prstDash val="sysDash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组合 147"/>
          <p:cNvGrpSpPr/>
          <p:nvPr/>
        </p:nvGrpSpPr>
        <p:grpSpPr>
          <a:xfrm>
            <a:off x="5616000" y="2843510"/>
            <a:ext cx="3095625" cy="1511935"/>
            <a:chOff x="2551" y="2665"/>
            <a:chExt cx="4875" cy="2381"/>
          </a:xfrm>
        </p:grpSpPr>
        <p:sp>
          <p:nvSpPr>
            <p:cNvPr id="149" name="Rectangle 784"/>
            <p:cNvSpPr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3404" y="3402"/>
              <a:ext cx="1814" cy="227"/>
            </a:xfrm>
            <a:prstGeom prst="rect">
              <a:avLst/>
            </a:prstGeom>
            <a:solidFill>
              <a:srgbClr val="99CCFF"/>
            </a:solidFill>
            <a:ln w="15875">
              <a:noFill/>
              <a:prstDash val="sysDash"/>
              <a:miter lim="800000"/>
            </a:ln>
            <a:effectLst/>
          </p:spPr>
          <p:txBody>
            <a:bodyPr wrap="none" anchor="ctr"/>
            <a:p>
              <a:pPr algn="ctr"/>
              <a:r>
                <a:rPr lang="zh-CN" altLang="en-US" sz="1400" u="none" dirty="0" smtClean="0"/>
                <a:t>响应</a:t>
              </a:r>
              <a:endParaRPr lang="zh-CN" altLang="en-US" sz="1400" u="none" dirty="0" smtClean="0"/>
            </a:p>
          </p:txBody>
        </p:sp>
        <p:sp>
          <p:nvSpPr>
            <p:cNvPr id="150" name="Rectangle 784"/>
            <p:cNvSpPr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3855" y="3742"/>
              <a:ext cx="1814" cy="227"/>
            </a:xfrm>
            <a:prstGeom prst="rect">
              <a:avLst/>
            </a:prstGeom>
            <a:solidFill>
              <a:srgbClr val="99CCFF"/>
            </a:solidFill>
            <a:ln w="15875">
              <a:noFill/>
              <a:prstDash val="sysDash"/>
              <a:miter lim="800000"/>
            </a:ln>
            <a:effectLst/>
          </p:spPr>
          <p:txBody>
            <a:bodyPr wrap="none" anchor="ctr"/>
            <a:p>
              <a:pPr algn="ctr"/>
              <a:endParaRPr lang="zh-CN" altLang="en-US" sz="1400" u="none" dirty="0" smtClean="0"/>
            </a:p>
          </p:txBody>
        </p:sp>
        <p:sp>
          <p:nvSpPr>
            <p:cNvPr id="151" name="Rectangle 784"/>
            <p:cNvSpPr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4309" y="4082"/>
              <a:ext cx="1814" cy="227"/>
            </a:xfrm>
            <a:prstGeom prst="rect">
              <a:avLst/>
            </a:prstGeom>
            <a:solidFill>
              <a:srgbClr val="99CCFF"/>
            </a:solidFill>
            <a:ln w="15875">
              <a:noFill/>
              <a:prstDash val="sysDash"/>
              <a:miter lim="800000"/>
            </a:ln>
            <a:effectLst/>
          </p:spPr>
          <p:txBody>
            <a:bodyPr wrap="none" anchor="ctr"/>
            <a:p>
              <a:pPr algn="ctr"/>
              <a:endParaRPr lang="zh-CN" altLang="en-US" sz="1400" u="none" dirty="0" smtClean="0"/>
            </a:p>
          </p:txBody>
        </p:sp>
        <p:sp>
          <p:nvSpPr>
            <p:cNvPr id="152" name="Rectangle 784"/>
            <p:cNvSpPr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4762" y="4422"/>
              <a:ext cx="1814" cy="227"/>
            </a:xfrm>
            <a:prstGeom prst="rect">
              <a:avLst/>
            </a:prstGeom>
            <a:solidFill>
              <a:srgbClr val="99CCFF"/>
            </a:solidFill>
            <a:ln w="15875">
              <a:noFill/>
              <a:prstDash val="sysDash"/>
              <a:miter lim="800000"/>
            </a:ln>
            <a:effectLst/>
          </p:spPr>
          <p:txBody>
            <a:bodyPr wrap="none" anchor="ctr"/>
            <a:p>
              <a:pPr algn="ctr"/>
              <a:endParaRPr lang="zh-CN" altLang="en-US" sz="1400" u="none" dirty="0" smtClean="0"/>
            </a:p>
          </p:txBody>
        </p:sp>
        <p:sp>
          <p:nvSpPr>
            <p:cNvPr id="153" name="Text Box 108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2551" y="2665"/>
              <a:ext cx="680" cy="204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CLK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CS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 smtClean="0">
                  <a:latin typeface="宋体" panose="02010600030101010101" pitchFamily="2" charset="-122"/>
                </a:rPr>
                <a:t>体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</a:t>
              </a:r>
              <a:r>
                <a:rPr lang="en-US" altLang="zh-CN" sz="1600" b="1" baseline="-14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 smtClean="0">
                  <a:latin typeface="宋体" panose="02010600030101010101" pitchFamily="2" charset="-122"/>
                </a:rPr>
                <a:t>体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</a:t>
              </a:r>
              <a:r>
                <a:rPr lang="en-US" altLang="zh-CN" sz="1600" b="1" baseline="-14000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 smtClean="0">
                  <a:latin typeface="宋体" panose="02010600030101010101" pitchFamily="2" charset="-122"/>
                </a:rPr>
                <a:t>体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</a:t>
              </a:r>
              <a:r>
                <a:rPr lang="en-US" altLang="zh-CN" sz="1600" b="1" baseline="-14000" dirty="0" smtClean="0">
                  <a:latin typeface="宋体" panose="02010600030101010101" pitchFamily="2" charset="-122"/>
                </a:rPr>
                <a:t>2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 smtClean="0">
                  <a:latin typeface="宋体" panose="02010600030101010101" pitchFamily="2" charset="-122"/>
                </a:rPr>
                <a:t>体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</a:t>
              </a:r>
              <a:r>
                <a:rPr lang="en-US" altLang="zh-CN" sz="1600" b="1" baseline="-14000" dirty="0" smtClean="0">
                  <a:latin typeface="宋体" panose="02010600030101010101" pitchFamily="2" charset="-122"/>
                </a:rPr>
                <a:t>3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baseline="-140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54" name="直接连接符 153"/>
            <p:cNvCxnSpPr/>
            <p:nvPr>
              <p:custDataLst>
                <p:tags r:id="rId86"/>
              </p:custDataLst>
            </p:nvPr>
          </p:nvCxnSpPr>
          <p:spPr>
            <a:xfrm>
              <a:off x="7030" y="2948"/>
              <a:ext cx="0" cy="2098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>
              <p:custDataLst>
                <p:tags r:id="rId87"/>
              </p:custDataLst>
            </p:nvPr>
          </p:nvCxnSpPr>
          <p:spPr>
            <a:xfrm>
              <a:off x="3401" y="2948"/>
              <a:ext cx="0" cy="2098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>
              <p:custDataLst>
                <p:tags r:id="rId88"/>
              </p:custDataLst>
            </p:nvPr>
          </p:nvCxnSpPr>
          <p:spPr>
            <a:xfrm>
              <a:off x="5216" y="2948"/>
              <a:ext cx="0" cy="2098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>
              <p:custDataLst>
                <p:tags r:id="rId89"/>
              </p:custDataLst>
            </p:nvPr>
          </p:nvCxnSpPr>
          <p:spPr>
            <a:xfrm>
              <a:off x="3855" y="340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>
              <p:custDataLst>
                <p:tags r:id="rId90"/>
              </p:custDataLst>
            </p:nvPr>
          </p:nvCxnSpPr>
          <p:spPr>
            <a:xfrm>
              <a:off x="3401" y="3628"/>
              <a:ext cx="454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>
              <p:custDataLst>
                <p:tags r:id="rId91"/>
              </p:custDataLst>
            </p:nvPr>
          </p:nvCxnSpPr>
          <p:spPr>
            <a:xfrm>
              <a:off x="3401" y="340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>
              <p:custDataLst>
                <p:tags r:id="rId92"/>
              </p:custDataLst>
            </p:nvPr>
          </p:nvCxnSpPr>
          <p:spPr>
            <a:xfrm>
              <a:off x="3229" y="3402"/>
              <a:ext cx="17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>
              <p:custDataLst>
                <p:tags r:id="rId93"/>
              </p:custDataLst>
            </p:nvPr>
          </p:nvCxnSpPr>
          <p:spPr>
            <a:xfrm>
              <a:off x="3855" y="3402"/>
              <a:ext cx="1361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>
              <p:custDataLst>
                <p:tags r:id="rId94"/>
              </p:custDataLst>
            </p:nvPr>
          </p:nvCxnSpPr>
          <p:spPr>
            <a:xfrm>
              <a:off x="5216" y="340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>
              <p:custDataLst>
                <p:tags r:id="rId95"/>
              </p:custDataLst>
            </p:nvPr>
          </p:nvCxnSpPr>
          <p:spPr>
            <a:xfrm>
              <a:off x="5669" y="3402"/>
              <a:ext cx="1531" cy="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>
              <p:custDataLst>
                <p:tags r:id="rId96"/>
              </p:custDataLst>
            </p:nvPr>
          </p:nvCxnSpPr>
          <p:spPr>
            <a:xfrm>
              <a:off x="5669" y="340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>
              <p:custDataLst>
                <p:tags r:id="rId97"/>
              </p:custDataLst>
            </p:nvPr>
          </p:nvCxnSpPr>
          <p:spPr>
            <a:xfrm>
              <a:off x="5216" y="3628"/>
              <a:ext cx="454" cy="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>
              <p:custDataLst>
                <p:tags r:id="rId98"/>
              </p:custDataLst>
            </p:nvPr>
          </p:nvCxnSpPr>
          <p:spPr>
            <a:xfrm>
              <a:off x="3229" y="2949"/>
              <a:ext cx="170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/>
            <p:cNvCxnSpPr/>
            <p:nvPr>
              <p:custDataLst>
                <p:tags r:id="rId99"/>
              </p:custDataLst>
            </p:nvPr>
          </p:nvCxnSpPr>
          <p:spPr>
            <a:xfrm>
              <a:off x="3628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>
              <p:custDataLst>
                <p:tags r:id="rId100"/>
              </p:custDataLst>
            </p:nvPr>
          </p:nvCxnSpPr>
          <p:spPr>
            <a:xfrm>
              <a:off x="3401" y="2722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>
              <p:custDataLst>
                <p:tags r:id="rId101"/>
              </p:custDataLst>
            </p:nvPr>
          </p:nvCxnSpPr>
          <p:spPr>
            <a:xfrm>
              <a:off x="3401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/>
            <p:nvPr>
              <p:custDataLst>
                <p:tags r:id="rId102"/>
              </p:custDataLst>
            </p:nvPr>
          </p:nvCxnSpPr>
          <p:spPr>
            <a:xfrm>
              <a:off x="3628" y="2949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/>
            <p:cNvCxnSpPr/>
            <p:nvPr>
              <p:custDataLst>
                <p:tags r:id="rId103"/>
              </p:custDataLst>
            </p:nvPr>
          </p:nvCxnSpPr>
          <p:spPr>
            <a:xfrm>
              <a:off x="4082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>
              <p:custDataLst>
                <p:tags r:id="rId104"/>
              </p:custDataLst>
            </p:nvPr>
          </p:nvCxnSpPr>
          <p:spPr>
            <a:xfrm>
              <a:off x="3855" y="2722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>
              <p:custDataLst>
                <p:tags r:id="rId105"/>
              </p:custDataLst>
            </p:nvPr>
          </p:nvCxnSpPr>
          <p:spPr>
            <a:xfrm>
              <a:off x="3855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>
              <p:custDataLst>
                <p:tags r:id="rId106"/>
              </p:custDataLst>
            </p:nvPr>
          </p:nvCxnSpPr>
          <p:spPr>
            <a:xfrm>
              <a:off x="4082" y="2949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>
              <p:custDataLst>
                <p:tags r:id="rId107"/>
              </p:custDataLst>
            </p:nvPr>
          </p:nvCxnSpPr>
          <p:spPr>
            <a:xfrm>
              <a:off x="4535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>
              <p:custDataLst>
                <p:tags r:id="rId108"/>
              </p:custDataLst>
            </p:nvPr>
          </p:nvCxnSpPr>
          <p:spPr>
            <a:xfrm>
              <a:off x="4308" y="2722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>
              <p:custDataLst>
                <p:tags r:id="rId109"/>
              </p:custDataLst>
            </p:nvPr>
          </p:nvCxnSpPr>
          <p:spPr>
            <a:xfrm>
              <a:off x="4308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/>
            <p:cNvCxnSpPr/>
            <p:nvPr>
              <p:custDataLst>
                <p:tags r:id="rId110"/>
              </p:custDataLst>
            </p:nvPr>
          </p:nvCxnSpPr>
          <p:spPr>
            <a:xfrm>
              <a:off x="4535" y="2949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>
              <p:custDataLst>
                <p:tags r:id="rId111"/>
              </p:custDataLst>
            </p:nvPr>
          </p:nvCxnSpPr>
          <p:spPr>
            <a:xfrm>
              <a:off x="4989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/>
            <p:cNvCxnSpPr/>
            <p:nvPr>
              <p:custDataLst>
                <p:tags r:id="rId112"/>
              </p:custDataLst>
            </p:nvPr>
          </p:nvCxnSpPr>
          <p:spPr>
            <a:xfrm>
              <a:off x="4759" y="2722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/>
            <p:cNvCxnSpPr/>
            <p:nvPr>
              <p:custDataLst>
                <p:tags r:id="rId113"/>
              </p:custDataLst>
            </p:nvPr>
          </p:nvCxnSpPr>
          <p:spPr>
            <a:xfrm>
              <a:off x="4759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>
              <p:custDataLst>
                <p:tags r:id="rId114"/>
              </p:custDataLst>
            </p:nvPr>
          </p:nvCxnSpPr>
          <p:spPr>
            <a:xfrm>
              <a:off x="4989" y="2949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>
              <p:custDataLst>
                <p:tags r:id="rId115"/>
              </p:custDataLst>
            </p:nvPr>
          </p:nvCxnSpPr>
          <p:spPr>
            <a:xfrm>
              <a:off x="5443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/>
            <p:cNvCxnSpPr/>
            <p:nvPr>
              <p:custDataLst>
                <p:tags r:id="rId116"/>
              </p:custDataLst>
            </p:nvPr>
          </p:nvCxnSpPr>
          <p:spPr>
            <a:xfrm>
              <a:off x="5216" y="2722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/>
            <p:cNvCxnSpPr/>
            <p:nvPr>
              <p:custDataLst>
                <p:tags r:id="rId117"/>
              </p:custDataLst>
            </p:nvPr>
          </p:nvCxnSpPr>
          <p:spPr>
            <a:xfrm>
              <a:off x="5216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/>
            <p:cNvCxnSpPr/>
            <p:nvPr>
              <p:custDataLst>
                <p:tags r:id="rId118"/>
              </p:custDataLst>
            </p:nvPr>
          </p:nvCxnSpPr>
          <p:spPr>
            <a:xfrm>
              <a:off x="5443" y="2949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/>
            <p:nvPr>
              <p:custDataLst>
                <p:tags r:id="rId119"/>
              </p:custDataLst>
            </p:nvPr>
          </p:nvCxnSpPr>
          <p:spPr>
            <a:xfrm>
              <a:off x="5897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/>
            <p:nvPr>
              <p:custDataLst>
                <p:tags r:id="rId120"/>
              </p:custDataLst>
            </p:nvPr>
          </p:nvCxnSpPr>
          <p:spPr>
            <a:xfrm>
              <a:off x="5670" y="2722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/>
            <p:cNvCxnSpPr/>
            <p:nvPr>
              <p:custDataLst>
                <p:tags r:id="rId121"/>
              </p:custDataLst>
            </p:nvPr>
          </p:nvCxnSpPr>
          <p:spPr>
            <a:xfrm>
              <a:off x="5670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>
              <p:custDataLst>
                <p:tags r:id="rId122"/>
              </p:custDataLst>
            </p:nvPr>
          </p:nvCxnSpPr>
          <p:spPr>
            <a:xfrm>
              <a:off x="5897" y="2949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>
              <p:custDataLst>
                <p:tags r:id="rId123"/>
              </p:custDataLst>
            </p:nvPr>
          </p:nvCxnSpPr>
          <p:spPr>
            <a:xfrm>
              <a:off x="6350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/>
            <p:cNvCxnSpPr/>
            <p:nvPr>
              <p:custDataLst>
                <p:tags r:id="rId124"/>
              </p:custDataLst>
            </p:nvPr>
          </p:nvCxnSpPr>
          <p:spPr>
            <a:xfrm>
              <a:off x="6123" y="2722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>
              <p:custDataLst>
                <p:tags r:id="rId125"/>
              </p:custDataLst>
            </p:nvPr>
          </p:nvCxnSpPr>
          <p:spPr>
            <a:xfrm>
              <a:off x="6123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/>
            <p:nvPr>
              <p:custDataLst>
                <p:tags r:id="rId126"/>
              </p:custDataLst>
            </p:nvPr>
          </p:nvCxnSpPr>
          <p:spPr>
            <a:xfrm>
              <a:off x="6350" y="2949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>
              <p:custDataLst>
                <p:tags r:id="rId127"/>
              </p:custDataLst>
            </p:nvPr>
          </p:nvCxnSpPr>
          <p:spPr>
            <a:xfrm>
              <a:off x="6804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/>
            <p:cNvCxnSpPr/>
            <p:nvPr>
              <p:custDataLst>
                <p:tags r:id="rId128"/>
              </p:custDataLst>
            </p:nvPr>
          </p:nvCxnSpPr>
          <p:spPr>
            <a:xfrm>
              <a:off x="6574" y="2722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>
              <p:custDataLst>
                <p:tags r:id="rId129"/>
              </p:custDataLst>
            </p:nvPr>
          </p:nvCxnSpPr>
          <p:spPr>
            <a:xfrm>
              <a:off x="6574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>
              <p:custDataLst>
                <p:tags r:id="rId130"/>
              </p:custDataLst>
            </p:nvPr>
          </p:nvCxnSpPr>
          <p:spPr>
            <a:xfrm>
              <a:off x="6804" y="2949"/>
              <a:ext cx="227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>
              <p:custDataLst>
                <p:tags r:id="rId131"/>
              </p:custDataLst>
            </p:nvPr>
          </p:nvCxnSpPr>
          <p:spPr>
            <a:xfrm>
              <a:off x="7030" y="2722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>
              <p:custDataLst>
                <p:tags r:id="rId132"/>
              </p:custDataLst>
            </p:nvPr>
          </p:nvCxnSpPr>
          <p:spPr>
            <a:xfrm>
              <a:off x="7030" y="2722"/>
              <a:ext cx="170" cy="0"/>
            </a:xfrm>
            <a:prstGeom prst="line">
              <a:avLst/>
            </a:prstGeom>
            <a:ln w="12700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>
              <p:custDataLst>
                <p:tags r:id="rId133"/>
              </p:custDataLst>
            </p:nvPr>
          </p:nvCxnSpPr>
          <p:spPr>
            <a:xfrm>
              <a:off x="4311" y="374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>
              <p:custDataLst>
                <p:tags r:id="rId134"/>
              </p:custDataLst>
            </p:nvPr>
          </p:nvCxnSpPr>
          <p:spPr>
            <a:xfrm>
              <a:off x="3857" y="3968"/>
              <a:ext cx="454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>
              <p:custDataLst>
                <p:tags r:id="rId135"/>
              </p:custDataLst>
            </p:nvPr>
          </p:nvCxnSpPr>
          <p:spPr>
            <a:xfrm>
              <a:off x="3857" y="374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>
              <p:custDataLst>
                <p:tags r:id="rId136"/>
              </p:custDataLst>
            </p:nvPr>
          </p:nvCxnSpPr>
          <p:spPr>
            <a:xfrm>
              <a:off x="3233" y="3742"/>
              <a:ext cx="624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>
              <p:custDataLst>
                <p:tags r:id="rId137"/>
              </p:custDataLst>
            </p:nvPr>
          </p:nvCxnSpPr>
          <p:spPr>
            <a:xfrm>
              <a:off x="4311" y="3742"/>
              <a:ext cx="1361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>
              <p:custDataLst>
                <p:tags r:id="rId138"/>
              </p:custDataLst>
            </p:nvPr>
          </p:nvCxnSpPr>
          <p:spPr>
            <a:xfrm>
              <a:off x="5672" y="374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>
              <p:custDataLst>
                <p:tags r:id="rId139"/>
              </p:custDataLst>
            </p:nvPr>
          </p:nvCxnSpPr>
          <p:spPr>
            <a:xfrm>
              <a:off x="6125" y="3742"/>
              <a:ext cx="1077" cy="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>
              <p:custDataLst>
                <p:tags r:id="rId140"/>
              </p:custDataLst>
            </p:nvPr>
          </p:nvCxnSpPr>
          <p:spPr>
            <a:xfrm>
              <a:off x="6125" y="374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>
              <p:custDataLst>
                <p:tags r:id="rId141"/>
              </p:custDataLst>
            </p:nvPr>
          </p:nvCxnSpPr>
          <p:spPr>
            <a:xfrm>
              <a:off x="5672" y="3968"/>
              <a:ext cx="454" cy="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>
              <p:custDataLst>
                <p:tags r:id="rId142"/>
              </p:custDataLst>
            </p:nvPr>
          </p:nvCxnSpPr>
          <p:spPr>
            <a:xfrm>
              <a:off x="4765" y="408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>
              <p:custDataLst>
                <p:tags r:id="rId143"/>
              </p:custDataLst>
            </p:nvPr>
          </p:nvCxnSpPr>
          <p:spPr>
            <a:xfrm>
              <a:off x="4311" y="4308"/>
              <a:ext cx="454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>
              <p:custDataLst>
                <p:tags r:id="rId144"/>
              </p:custDataLst>
            </p:nvPr>
          </p:nvCxnSpPr>
          <p:spPr>
            <a:xfrm>
              <a:off x="4311" y="408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>
              <p:custDataLst>
                <p:tags r:id="rId145"/>
              </p:custDataLst>
            </p:nvPr>
          </p:nvCxnSpPr>
          <p:spPr>
            <a:xfrm>
              <a:off x="3235" y="4082"/>
              <a:ext cx="1077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>
              <p:custDataLst>
                <p:tags r:id="rId146"/>
              </p:custDataLst>
            </p:nvPr>
          </p:nvCxnSpPr>
          <p:spPr>
            <a:xfrm>
              <a:off x="4765" y="4082"/>
              <a:ext cx="1361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>
              <p:custDataLst>
                <p:tags r:id="rId147"/>
              </p:custDataLst>
            </p:nvPr>
          </p:nvCxnSpPr>
          <p:spPr>
            <a:xfrm>
              <a:off x="6126" y="408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/>
            <p:cNvCxnSpPr/>
            <p:nvPr>
              <p:custDataLst>
                <p:tags r:id="rId148"/>
              </p:custDataLst>
            </p:nvPr>
          </p:nvCxnSpPr>
          <p:spPr>
            <a:xfrm>
              <a:off x="6579" y="4082"/>
              <a:ext cx="624" cy="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>
              <p:custDataLst>
                <p:tags r:id="rId149"/>
              </p:custDataLst>
            </p:nvPr>
          </p:nvCxnSpPr>
          <p:spPr>
            <a:xfrm>
              <a:off x="6579" y="408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/>
            <p:cNvCxnSpPr/>
            <p:nvPr>
              <p:custDataLst>
                <p:tags r:id="rId150"/>
              </p:custDataLst>
            </p:nvPr>
          </p:nvCxnSpPr>
          <p:spPr>
            <a:xfrm>
              <a:off x="6126" y="4308"/>
              <a:ext cx="454" cy="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/>
            <p:cNvCxnSpPr/>
            <p:nvPr>
              <p:custDataLst>
                <p:tags r:id="rId151"/>
              </p:custDataLst>
            </p:nvPr>
          </p:nvCxnSpPr>
          <p:spPr>
            <a:xfrm>
              <a:off x="5218" y="442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>
              <p:custDataLst>
                <p:tags r:id="rId152"/>
              </p:custDataLst>
            </p:nvPr>
          </p:nvCxnSpPr>
          <p:spPr>
            <a:xfrm>
              <a:off x="4764" y="4648"/>
              <a:ext cx="454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>
              <p:custDataLst>
                <p:tags r:id="rId153"/>
              </p:custDataLst>
            </p:nvPr>
          </p:nvCxnSpPr>
          <p:spPr>
            <a:xfrm>
              <a:off x="4764" y="442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>
              <p:custDataLst>
                <p:tags r:id="rId154"/>
              </p:custDataLst>
            </p:nvPr>
          </p:nvCxnSpPr>
          <p:spPr>
            <a:xfrm>
              <a:off x="3236" y="4422"/>
              <a:ext cx="1531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155"/>
              </p:custDataLst>
            </p:nvPr>
          </p:nvCxnSpPr>
          <p:spPr>
            <a:xfrm>
              <a:off x="5218" y="4422"/>
              <a:ext cx="1361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156"/>
              </p:custDataLst>
            </p:nvPr>
          </p:nvCxnSpPr>
          <p:spPr>
            <a:xfrm>
              <a:off x="6579" y="442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>
              <p:custDataLst>
                <p:tags r:id="rId157"/>
              </p:custDataLst>
            </p:nvPr>
          </p:nvCxnSpPr>
          <p:spPr>
            <a:xfrm>
              <a:off x="7032" y="4422"/>
              <a:ext cx="170" cy="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>
              <p:custDataLst>
                <p:tags r:id="rId158"/>
              </p:custDataLst>
            </p:nvPr>
          </p:nvCxnSpPr>
          <p:spPr>
            <a:xfrm>
              <a:off x="7032" y="4422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159"/>
              </p:custDataLst>
            </p:nvPr>
          </p:nvCxnSpPr>
          <p:spPr>
            <a:xfrm>
              <a:off x="6579" y="4648"/>
              <a:ext cx="454" cy="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160"/>
              </p:custDataLst>
            </p:nvPr>
          </p:nvCxnSpPr>
          <p:spPr>
            <a:xfrm>
              <a:off x="3231" y="4706"/>
              <a:ext cx="3969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 Box 213"/>
            <p:cNvSpPr txBox="1">
              <a:spLocks noChangeArrowheads="1"/>
            </p:cNvSpPr>
            <p:nvPr>
              <p:custDataLst>
                <p:tags r:id="rId161"/>
              </p:custDataLst>
            </p:nvPr>
          </p:nvSpPr>
          <p:spPr bwMode="auto">
            <a:xfrm>
              <a:off x="4139" y="4763"/>
              <a:ext cx="2381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r>
                <a:rPr lang="en-US" altLang="zh-CN" sz="1600" b="1" u="none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     </a:t>
              </a:r>
              <a:r>
                <a:rPr lang="en-US" altLang="zh-CN" sz="1600" b="1" u="none" dirty="0" smtClean="0"/>
                <a:t>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M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96" name="直接连接符 95"/>
            <p:cNvCxnSpPr/>
            <p:nvPr>
              <p:custDataLst>
                <p:tags r:id="rId162"/>
              </p:custDataLst>
            </p:nvPr>
          </p:nvCxnSpPr>
          <p:spPr>
            <a:xfrm>
              <a:off x="4535" y="4932"/>
              <a:ext cx="680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>
              <p:custDataLst>
                <p:tags r:id="rId163"/>
              </p:custDataLst>
            </p:nvPr>
          </p:nvCxnSpPr>
          <p:spPr>
            <a:xfrm flipH="1">
              <a:off x="3401" y="4932"/>
              <a:ext cx="680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>
              <p:custDataLst>
                <p:tags r:id="rId164"/>
              </p:custDataLst>
            </p:nvPr>
          </p:nvCxnSpPr>
          <p:spPr>
            <a:xfrm>
              <a:off x="6350" y="4932"/>
              <a:ext cx="680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>
              <p:custDataLst>
                <p:tags r:id="rId165"/>
              </p:custDataLst>
            </p:nvPr>
          </p:nvCxnSpPr>
          <p:spPr>
            <a:xfrm flipH="1">
              <a:off x="5216" y="4932"/>
              <a:ext cx="680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 Box 231"/>
            <p:cNvSpPr txBox="1">
              <a:spLocks noChangeArrowheads="1"/>
            </p:cNvSpPr>
            <p:nvPr>
              <p:custDataLst>
                <p:tags r:id="rId166"/>
              </p:custDataLst>
            </p:nvPr>
          </p:nvSpPr>
          <p:spPr bwMode="auto">
            <a:xfrm>
              <a:off x="7200" y="4535"/>
              <a:ext cx="226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>
                  <a:latin typeface="+mn-ea"/>
                  <a:ea typeface="+mn-ea"/>
                </a:rPr>
                <a:t>t</a:t>
              </a:r>
              <a:endParaRPr lang="en-US" altLang="zh-CN" sz="1800" b="1" u="none" dirty="0">
                <a:latin typeface="+mn-ea"/>
                <a:ea typeface="+mn-ea"/>
              </a:endParaRPr>
            </a:p>
          </p:txBody>
        </p:sp>
        <p:cxnSp>
          <p:nvCxnSpPr>
            <p:cNvPr id="101" name="直接连接符 100"/>
            <p:cNvCxnSpPr/>
            <p:nvPr>
              <p:custDataLst>
                <p:tags r:id="rId167"/>
              </p:custDataLst>
            </p:nvPr>
          </p:nvCxnSpPr>
          <p:spPr>
            <a:xfrm>
              <a:off x="7030" y="3061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>
              <p:custDataLst>
                <p:tags r:id="rId168"/>
              </p:custDataLst>
            </p:nvPr>
          </p:nvCxnSpPr>
          <p:spPr>
            <a:xfrm>
              <a:off x="3402" y="3288"/>
              <a:ext cx="3628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169"/>
              </p:custDataLst>
            </p:nvPr>
          </p:nvCxnSpPr>
          <p:spPr>
            <a:xfrm>
              <a:off x="3402" y="3061"/>
              <a:ext cx="0" cy="227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170"/>
              </p:custDataLst>
            </p:nvPr>
          </p:nvCxnSpPr>
          <p:spPr>
            <a:xfrm>
              <a:off x="3231" y="3061"/>
              <a:ext cx="17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>
              <p:custDataLst>
                <p:tags r:id="rId171"/>
              </p:custDataLst>
            </p:nvPr>
          </p:nvCxnSpPr>
          <p:spPr>
            <a:xfrm>
              <a:off x="7030" y="3061"/>
              <a:ext cx="170" cy="0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>
              <p:custDataLst>
                <p:tags r:id="rId172"/>
              </p:custDataLst>
            </p:nvPr>
          </p:nvCxnSpPr>
          <p:spPr>
            <a:xfrm>
              <a:off x="2891" y="3033"/>
              <a:ext cx="283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 Box 77"/>
          <p:cNvSpPr txBox="1">
            <a:spLocks noChangeArrowheads="1"/>
          </p:cNvSpPr>
          <p:nvPr>
            <p:custDataLst>
              <p:tags r:id="rId173"/>
            </p:custDataLst>
          </p:nvPr>
        </p:nvSpPr>
        <p:spPr bwMode="auto">
          <a:xfrm>
            <a:off x="5508000" y="2123510"/>
            <a:ext cx="320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MEM</a:t>
            </a:r>
            <a:r>
              <a:rPr lang="zh-CN" sz="1800" b="1" dirty="0" smtClean="0">
                <a:latin typeface="+mn-ea"/>
                <a:sym typeface="+mn-ea"/>
              </a:rPr>
              <a:t>如何知道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突发个数</a:t>
            </a:r>
            <a:r>
              <a:rPr lang="zh-CN" altLang="en-US" sz="1800" b="1" u="none" dirty="0" smtClean="0">
                <a:latin typeface="+mn-ea"/>
              </a:rPr>
              <a:t>？</a:t>
            </a:r>
            <a:endParaRPr lang="en-US" altLang="zh-CN" sz="1800" b="1" u="none" dirty="0">
              <a:latin typeface="+mn-ea"/>
            </a:endParaRPr>
          </a:p>
        </p:txBody>
      </p:sp>
      <p:sp>
        <p:nvSpPr>
          <p:cNvPr id="109" name="AutoShape 331"/>
          <p:cNvSpPr/>
          <p:nvPr>
            <p:custDataLst>
              <p:tags r:id="rId174"/>
            </p:custDataLst>
          </p:nvPr>
        </p:nvSpPr>
        <p:spPr bwMode="auto">
          <a:xfrm>
            <a:off x="5509895" y="2519510"/>
            <a:ext cx="2376000" cy="252000"/>
          </a:xfrm>
          <a:prstGeom prst="borderCallout2">
            <a:avLst>
              <a:gd name="adj1" fmla="val 49066"/>
              <a:gd name="adj2" fmla="val 100502"/>
              <a:gd name="adj3" fmla="val 47373"/>
              <a:gd name="adj4" fmla="val 108265"/>
              <a:gd name="adj5" fmla="val 388375"/>
              <a:gd name="adj6" fmla="val 116924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med" len="sm"/>
          </a:ln>
          <a:effectLst/>
        </p:spPr>
        <p:txBody>
          <a:bodyPr lIns="18000" tIns="10800" rIns="18000" bIns="10800" anchor="ctr"/>
          <a:p>
            <a:pPr algn="ctr">
              <a:lnSpc>
                <a:spcPct val="90000"/>
              </a:lnSpc>
            </a:pP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某些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MEM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支持突发长度＞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</a:t>
            </a:r>
            <a:endParaRPr lang="en-US" altLang="zh-CN" sz="1600" b="1" u="none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888105" y="1224280"/>
            <a:ext cx="2988310" cy="502920"/>
            <a:chOff x="6123" y="1928"/>
            <a:chExt cx="4706" cy="792"/>
          </a:xfrm>
        </p:grpSpPr>
        <p:cxnSp>
          <p:nvCxnSpPr>
            <p:cNvPr id="107" name="直接箭头连接符 106"/>
            <p:cNvCxnSpPr/>
            <p:nvPr>
              <p:custDataLst>
                <p:tags r:id="rId175"/>
              </p:custDataLst>
            </p:nvPr>
          </p:nvCxnSpPr>
          <p:spPr bwMode="auto">
            <a:xfrm flipH="1">
              <a:off x="6123" y="1984"/>
              <a:ext cx="4706" cy="73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10" name="直接箭头连接符 109"/>
            <p:cNvCxnSpPr/>
            <p:nvPr>
              <p:custDataLst>
                <p:tags r:id="rId176"/>
              </p:custDataLst>
            </p:nvPr>
          </p:nvCxnSpPr>
          <p:spPr bwMode="auto">
            <a:xfrm flipH="1">
              <a:off x="7427" y="1928"/>
              <a:ext cx="510" cy="73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bldLvl="0" animBg="1"/>
      <p:bldP spid="109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08" name="Text Box 7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24000"/>
            <a:ext cx="4824730" cy="4300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并行访问方式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有称多体并行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MEM)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优化原理：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6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结构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工作原理：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与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的连接：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76" name="Text Box 7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2000" y="791845"/>
            <a:ext cx="7308000" cy="11836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同时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访问各个体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≤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，各个体</a:t>
            </a:r>
            <a:r>
              <a:rPr lang="zh-CN" altLang="en-US" sz="22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同时</a:t>
            </a:r>
            <a:r>
              <a:rPr lang="en-US" altLang="zh-CN" sz="22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I/O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常规传输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16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600" b="1" u="none" baseline="-16000" dirty="0">
                <a:latin typeface="宋体" panose="02010600030101010101" pitchFamily="2" charset="-122"/>
                <a:sym typeface="+mn-ea"/>
              </a:rPr>
              <a:t>M</a:t>
            </a:r>
            <a:r>
              <a:rPr lang="en-US" altLang="zh-CN" sz="1600" b="1" u="none" dirty="0">
                <a:latin typeface="宋体" panose="02010600030101010101" pitchFamily="2" charset="-122"/>
                <a:sym typeface="Symbol" panose="05050102010706020507"/>
              </a:rPr>
              <a:t>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600" b="1" u="none" baseline="-1600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b="1" u="none" dirty="0" err="1" smtClean="0">
                <a:latin typeface="宋体" panose="02010600030101010101" pitchFamily="2" charset="-122"/>
                <a:sym typeface="+mn-ea"/>
              </a:rPr>
              <a:t>                           </a:t>
            </a:r>
            <a:r>
              <a:rPr lang="zh-CN" altLang="en-US" sz="16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←数据引脚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W</a:t>
            </a:r>
            <a:r>
              <a:rPr lang="zh-CN" altLang="en-US" sz="1600" b="1" u="none" dirty="0">
                <a:latin typeface="宋体" panose="02010600030101010101" pitchFamily="2" charset="-122"/>
                <a:sym typeface="Symbol" panose="05050102010706020507"/>
              </a:rPr>
              <a:t>＝</a:t>
            </a:r>
            <a:r>
              <a:rPr lang="en-US" altLang="zh-CN" sz="1600" b="1" u="none" dirty="0">
                <a:solidFill>
                  <a:srgbClr val="990099"/>
                </a:solidFill>
                <a:latin typeface="宋体" panose="02010600030101010101" pitchFamily="2" charset="-122"/>
                <a:sym typeface="Symbol" panose="05050102010706020507"/>
              </a:rPr>
              <a:t>m</a:t>
            </a:r>
            <a:r>
              <a:rPr lang="zh-CN" altLang="en-US" sz="1600" b="1" u="none" dirty="0">
                <a:solidFill>
                  <a:srgbClr val="990099"/>
                </a:solidFill>
                <a:latin typeface="宋体" panose="02010600030101010101" pitchFamily="2" charset="-122"/>
                <a:sym typeface="Symbol" panose="05050102010706020507"/>
              </a:rPr>
              <a:t>×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w</a:t>
            </a:r>
            <a:endParaRPr lang="en-US" altLang="zh-CN" sz="1600" b="1" baseline="-16000" dirty="0" err="1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增设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数据掩码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引脚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指明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需写入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体号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1800" b="1" u="none" dirty="0" smtClean="0">
                <a:latin typeface="+mn-ea"/>
                <a:sym typeface="+mn-ea"/>
              </a:rPr>
              <a:t>←</a:t>
            </a:r>
            <a:r>
              <a:rPr lang="zh-CN" altLang="en-US" sz="1800" b="1" u="none" dirty="0">
                <a:latin typeface="+mn-ea"/>
                <a:sym typeface="+mn-ea"/>
              </a:rPr>
              <a:t>读出体号</a:t>
            </a:r>
            <a:r>
              <a:rPr lang="zh-CN" altLang="en-US" sz="1800" b="1" u="none" dirty="0" smtClean="0">
                <a:latin typeface="+mn-ea"/>
                <a:sym typeface="+mn-ea"/>
              </a:rPr>
              <a:t>处理放在</a:t>
            </a:r>
            <a:r>
              <a:rPr lang="en-US" altLang="zh-CN" sz="1800" b="1" u="none" dirty="0" smtClean="0">
                <a:solidFill>
                  <a:srgbClr val="0070C0"/>
                </a:solidFill>
                <a:latin typeface="+mn-ea"/>
                <a:sym typeface="+mn-ea"/>
              </a:rPr>
              <a:t>CPU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+mn-ea"/>
                <a:sym typeface="+mn-ea"/>
              </a:rPr>
              <a:t>中</a:t>
            </a:r>
            <a:endParaRPr lang="zh-CN" altLang="en-US" sz="1800" b="1" u="none" dirty="0" smtClean="0">
              <a:solidFill>
                <a:srgbClr val="0070C0"/>
              </a:solidFill>
              <a:latin typeface="+mn-ea"/>
              <a:sym typeface="+mn-ea"/>
            </a:endParaRPr>
          </a:p>
        </p:txBody>
      </p:sp>
      <p:cxnSp>
        <p:nvCxnSpPr>
          <p:cNvPr id="288" name="直接箭头连接符 287"/>
          <p:cNvCxnSpPr/>
          <p:nvPr>
            <p:custDataLst>
              <p:tags r:id="rId3"/>
            </p:custDataLst>
          </p:nvPr>
        </p:nvCxnSpPr>
        <p:spPr bwMode="auto">
          <a:xfrm>
            <a:off x="3707765" y="1188000"/>
            <a:ext cx="1440180" cy="360000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/>
          </a:ln>
          <a:effectLst/>
        </p:spPr>
      </p:cxnSp>
      <p:grpSp>
        <p:nvGrpSpPr>
          <p:cNvPr id="453" name="组合 452"/>
          <p:cNvGrpSpPr/>
          <p:nvPr/>
        </p:nvGrpSpPr>
        <p:grpSpPr>
          <a:xfrm>
            <a:off x="1152000" y="2015755"/>
            <a:ext cx="4679950" cy="1655445"/>
            <a:chOff x="1304" y="6463"/>
            <a:chExt cx="7370" cy="2607"/>
          </a:xfrm>
        </p:grpSpPr>
        <p:sp>
          <p:nvSpPr>
            <p:cNvPr id="109" name="Rectangle 14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326" y="6860"/>
              <a:ext cx="5783" cy="2211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10" name="Text Box 162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220" y="6802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WE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1" name="Text Box 140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304" y="7030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 smtClean="0">
                  <a:latin typeface="宋体" panose="02010600030101010101" pitchFamily="2" charset="-122"/>
                </a:rPr>
                <a:t>11</a:t>
              </a:r>
              <a:r>
                <a:rPr lang="en-US" altLang="zh-CN" sz="1600" b="1" u="none" dirty="0" smtClean="0"/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2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12" name="Text Box 140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746" y="6463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 smtClean="0"/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13" name="Text Box 162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218" y="7254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CS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14" name="直接箭头连接符 113"/>
            <p:cNvCxnSpPr/>
            <p:nvPr>
              <p:custDataLst>
                <p:tags r:id="rId9"/>
              </p:custDataLst>
            </p:nvPr>
          </p:nvCxnSpPr>
          <p:spPr bwMode="auto">
            <a:xfrm>
              <a:off x="2439" y="8957"/>
              <a:ext cx="4535" cy="2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5" name="Text Box 146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665" y="7370"/>
              <a:ext cx="22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16" name="Text Box 143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552" y="7653"/>
              <a:ext cx="1247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WE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18000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3</a:t>
              </a:r>
              <a:endParaRPr lang="en-US" altLang="zh-CN" sz="1800" b="1" u="none" baseline="-18000" dirty="0" smtClean="0">
                <a:solidFill>
                  <a:srgbClr val="FF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CS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17" name="直接箭头连接符 116"/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2891" y="7483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118" name="直接箭头连接符 117"/>
            <p:cNvCxnSpPr/>
            <p:nvPr>
              <p:custDataLst>
                <p:tags r:id="rId13"/>
              </p:custDataLst>
            </p:nvPr>
          </p:nvCxnSpPr>
          <p:spPr bwMode="auto">
            <a:xfrm>
              <a:off x="2948" y="6746"/>
              <a:ext cx="0" cy="90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9" name="直接箭头连接符 118"/>
            <p:cNvCxnSpPr/>
            <p:nvPr>
              <p:custDataLst>
                <p:tags r:id="rId14"/>
              </p:custDataLst>
            </p:nvPr>
          </p:nvCxnSpPr>
          <p:spPr bwMode="auto">
            <a:xfrm>
              <a:off x="3572" y="7427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0" name="直接箭头连接符 119"/>
            <p:cNvCxnSpPr/>
            <p:nvPr>
              <p:custDataLst>
                <p:tags r:id="rId15"/>
              </p:custDataLst>
            </p:nvPr>
          </p:nvCxnSpPr>
          <p:spPr bwMode="auto">
            <a:xfrm flipH="1" flipV="1">
              <a:off x="2892" y="8674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121" name="直接箭头连接符 120"/>
            <p:cNvCxnSpPr/>
            <p:nvPr>
              <p:custDataLst>
                <p:tags r:id="rId16"/>
              </p:custDataLst>
            </p:nvPr>
          </p:nvCxnSpPr>
          <p:spPr bwMode="auto">
            <a:xfrm>
              <a:off x="3630" y="8674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2" name="直接箭头连接符 121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3459" y="7699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23" name="直接箭头连接符 122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3459" y="8351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24" name="直接箭头连接符 123"/>
            <p:cNvCxnSpPr/>
            <p:nvPr>
              <p:custDataLst>
                <p:tags r:id="rId19"/>
              </p:custDataLst>
            </p:nvPr>
          </p:nvCxnSpPr>
          <p:spPr bwMode="auto">
            <a:xfrm>
              <a:off x="3630" y="8844"/>
              <a:ext cx="4365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5" name="直接箭头连接符 124"/>
            <p:cNvCxnSpPr/>
            <p:nvPr>
              <p:custDataLst>
                <p:tags r:id="rId20"/>
              </p:custDataLst>
            </p:nvPr>
          </p:nvCxnSpPr>
          <p:spPr bwMode="auto">
            <a:xfrm>
              <a:off x="2439" y="7143"/>
              <a:ext cx="0" cy="1814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6" name="Text Box 146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025" y="7370"/>
              <a:ext cx="22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27" name="Text Box 143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913" y="7653"/>
              <a:ext cx="1247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WE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18000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2</a:t>
              </a:r>
              <a:endParaRPr lang="en-US" altLang="zh-CN" sz="1800" b="1" u="none" baseline="-18000" dirty="0" smtClean="0">
                <a:solidFill>
                  <a:srgbClr val="FF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CS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28" name="直接箭头连接符 127"/>
            <p:cNvCxnSpPr/>
            <p:nvPr>
              <p:custDataLst>
                <p:tags r:id="rId23"/>
              </p:custDataLst>
            </p:nvPr>
          </p:nvCxnSpPr>
          <p:spPr bwMode="auto">
            <a:xfrm flipH="1">
              <a:off x="4252" y="7483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129" name="直接箭头连接符 128"/>
            <p:cNvCxnSpPr/>
            <p:nvPr>
              <p:custDataLst>
                <p:tags r:id="rId24"/>
              </p:custDataLst>
            </p:nvPr>
          </p:nvCxnSpPr>
          <p:spPr bwMode="auto">
            <a:xfrm>
              <a:off x="4309" y="6746"/>
              <a:ext cx="0" cy="90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0" name="直接箭头连接符 129"/>
            <p:cNvCxnSpPr/>
            <p:nvPr>
              <p:custDataLst>
                <p:tags r:id="rId25"/>
              </p:custDataLst>
            </p:nvPr>
          </p:nvCxnSpPr>
          <p:spPr bwMode="auto">
            <a:xfrm>
              <a:off x="4932" y="7427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1" name="直接箭头连接符 130"/>
            <p:cNvCxnSpPr/>
            <p:nvPr>
              <p:custDataLst>
                <p:tags r:id="rId26"/>
              </p:custDataLst>
            </p:nvPr>
          </p:nvCxnSpPr>
          <p:spPr bwMode="auto">
            <a:xfrm flipH="1" flipV="1">
              <a:off x="4253" y="8674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132" name="直接箭头连接符 131"/>
            <p:cNvCxnSpPr/>
            <p:nvPr>
              <p:custDataLst>
                <p:tags r:id="rId27"/>
              </p:custDataLst>
            </p:nvPr>
          </p:nvCxnSpPr>
          <p:spPr bwMode="auto">
            <a:xfrm>
              <a:off x="4991" y="8674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33" name="直接箭头连接符 132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4820" y="7699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34" name="直接箭头连接符 133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4820" y="8351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35" name="Text Box 146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5386" y="7370"/>
              <a:ext cx="22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36" name="Text Box 143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5274" y="7653"/>
              <a:ext cx="1247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WE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18000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800" b="1" u="none" baseline="-18000" dirty="0" smtClean="0">
                <a:solidFill>
                  <a:srgbClr val="FF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CS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37" name="直接箭头连接符 136"/>
            <p:cNvCxnSpPr/>
            <p:nvPr>
              <p:custDataLst>
                <p:tags r:id="rId32"/>
              </p:custDataLst>
            </p:nvPr>
          </p:nvCxnSpPr>
          <p:spPr bwMode="auto">
            <a:xfrm flipH="1">
              <a:off x="5613" y="7483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138" name="直接箭头连接符 137"/>
            <p:cNvCxnSpPr/>
            <p:nvPr>
              <p:custDataLst>
                <p:tags r:id="rId33"/>
              </p:custDataLst>
            </p:nvPr>
          </p:nvCxnSpPr>
          <p:spPr bwMode="auto">
            <a:xfrm>
              <a:off x="5669" y="6746"/>
              <a:ext cx="0" cy="90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9" name="直接箭头连接符 138"/>
            <p:cNvCxnSpPr/>
            <p:nvPr>
              <p:custDataLst>
                <p:tags r:id="rId34"/>
              </p:custDataLst>
            </p:nvPr>
          </p:nvCxnSpPr>
          <p:spPr bwMode="auto">
            <a:xfrm>
              <a:off x="6293" y="7427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直接箭头连接符 139"/>
            <p:cNvCxnSpPr/>
            <p:nvPr>
              <p:custDataLst>
                <p:tags r:id="rId35"/>
              </p:custDataLst>
            </p:nvPr>
          </p:nvCxnSpPr>
          <p:spPr bwMode="auto">
            <a:xfrm flipH="1" flipV="1">
              <a:off x="5614" y="8674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141" name="直接箭头连接符 140"/>
            <p:cNvCxnSpPr/>
            <p:nvPr>
              <p:custDataLst>
                <p:tags r:id="rId36"/>
              </p:custDataLst>
            </p:nvPr>
          </p:nvCxnSpPr>
          <p:spPr bwMode="auto">
            <a:xfrm>
              <a:off x="6352" y="8674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42" name="直接箭头连接符 141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6181" y="7699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3" name="直接箭头连接符 142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6181" y="8351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44" name="Text Box 146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6746" y="7370"/>
              <a:ext cx="22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w</a:t>
              </a:r>
              <a:endParaRPr lang="en-US" altLang="zh-CN" sz="16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45" name="Text Box 143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6634" y="7653"/>
              <a:ext cx="1247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WE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800" b="1" u="none" baseline="-18000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800" b="1" u="none" baseline="-18000" dirty="0" smtClean="0">
                <a:solidFill>
                  <a:srgbClr val="FF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CS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46" name="直接箭头连接符 145"/>
            <p:cNvCxnSpPr/>
            <p:nvPr>
              <p:custDataLst>
                <p:tags r:id="rId41"/>
              </p:custDataLst>
            </p:nvPr>
          </p:nvCxnSpPr>
          <p:spPr bwMode="auto">
            <a:xfrm flipH="1">
              <a:off x="6973" y="7483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147" name="直接箭头连接符 146"/>
            <p:cNvCxnSpPr/>
            <p:nvPr>
              <p:custDataLst>
                <p:tags r:id="rId42"/>
              </p:custDataLst>
            </p:nvPr>
          </p:nvCxnSpPr>
          <p:spPr bwMode="auto">
            <a:xfrm>
              <a:off x="7030" y="6746"/>
              <a:ext cx="0" cy="907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直接箭头连接符 147"/>
            <p:cNvCxnSpPr/>
            <p:nvPr>
              <p:custDataLst>
                <p:tags r:id="rId43"/>
              </p:custDataLst>
            </p:nvPr>
          </p:nvCxnSpPr>
          <p:spPr bwMode="auto">
            <a:xfrm>
              <a:off x="7654" y="7427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直接箭头连接符 148"/>
            <p:cNvCxnSpPr/>
            <p:nvPr>
              <p:custDataLst>
                <p:tags r:id="rId44"/>
              </p:custDataLst>
            </p:nvPr>
          </p:nvCxnSpPr>
          <p:spPr bwMode="auto">
            <a:xfrm flipH="1" flipV="1">
              <a:off x="6974" y="8674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0" name="直接箭头连接符 149"/>
            <p:cNvCxnSpPr/>
            <p:nvPr>
              <p:custDataLst>
                <p:tags r:id="rId45"/>
              </p:custDataLst>
            </p:nvPr>
          </p:nvCxnSpPr>
          <p:spPr bwMode="auto">
            <a:xfrm>
              <a:off x="7712" y="8674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51" name="直接箭头连接符 150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7541" y="7699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52" name="直接箭头连接符 151"/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7541" y="8351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53" name="直接箭头连接符 152"/>
            <p:cNvCxnSpPr/>
            <p:nvPr>
              <p:custDataLst>
                <p:tags r:id="rId48"/>
              </p:custDataLst>
            </p:nvPr>
          </p:nvCxnSpPr>
          <p:spPr bwMode="auto">
            <a:xfrm>
              <a:off x="7995" y="7370"/>
              <a:ext cx="0" cy="147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7" name="直接箭头连接符 216"/>
            <p:cNvCxnSpPr/>
            <p:nvPr>
              <p:custDataLst>
                <p:tags r:id="rId49"/>
              </p:custDataLst>
            </p:nvPr>
          </p:nvCxnSpPr>
          <p:spPr bwMode="auto">
            <a:xfrm flipH="1" flipV="1">
              <a:off x="7994" y="7370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8" name="直接箭头连接符 217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8274" y="7254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19" name="直接箭头连接符 218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8277" y="6802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40" name="直接箭头连接符 339"/>
            <p:cNvCxnSpPr/>
            <p:nvPr>
              <p:custDataLst>
                <p:tags r:id="rId52"/>
              </p:custDataLst>
            </p:nvPr>
          </p:nvCxnSpPr>
          <p:spPr bwMode="auto">
            <a:xfrm>
              <a:off x="3458" y="6973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6" name="Text Box 381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3345" y="7200"/>
              <a:ext cx="454" cy="22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>
                  <a:latin typeface="宋体" panose="02010600030101010101" pitchFamily="2" charset="-122"/>
                </a:rPr>
                <a:t>&amp;</a:t>
              </a:r>
              <a:endParaRPr lang="en-US" altLang="zh-CN" sz="1400" b="1" u="none">
                <a:latin typeface="宋体" panose="02010600030101010101" pitchFamily="2" charset="-122"/>
              </a:endParaRPr>
            </a:p>
          </p:txBody>
        </p:sp>
        <p:sp>
          <p:nvSpPr>
            <p:cNvPr id="154" name="Oval 382"/>
            <p:cNvSpPr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3515" y="7426"/>
              <a:ext cx="115" cy="11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339" name="Oval 382"/>
            <p:cNvSpPr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3402" y="7087"/>
              <a:ext cx="115" cy="11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361" name="直接箭头连接符 360"/>
            <p:cNvCxnSpPr/>
            <p:nvPr>
              <p:custDataLst>
                <p:tags r:id="rId56"/>
              </p:custDataLst>
            </p:nvPr>
          </p:nvCxnSpPr>
          <p:spPr bwMode="auto">
            <a:xfrm>
              <a:off x="4819" y="6973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362" name="Text Box 381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4706" y="7200"/>
              <a:ext cx="454" cy="22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>
                  <a:latin typeface="宋体" panose="02010600030101010101" pitchFamily="2" charset="-122"/>
                </a:rPr>
                <a:t>&amp;</a:t>
              </a:r>
              <a:endParaRPr lang="en-US" altLang="zh-CN" sz="1400" b="1" u="none">
                <a:latin typeface="宋体" panose="02010600030101010101" pitchFamily="2" charset="-122"/>
              </a:endParaRPr>
            </a:p>
          </p:txBody>
        </p:sp>
        <p:sp>
          <p:nvSpPr>
            <p:cNvPr id="363" name="Oval 382"/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4875" y="7426"/>
              <a:ext cx="115" cy="11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364" name="Oval 382"/>
            <p:cNvSpPr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4762" y="7086"/>
              <a:ext cx="115" cy="11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366" name="直接箭头连接符 365"/>
            <p:cNvCxnSpPr/>
            <p:nvPr>
              <p:custDataLst>
                <p:tags r:id="rId60"/>
              </p:custDataLst>
            </p:nvPr>
          </p:nvCxnSpPr>
          <p:spPr bwMode="auto">
            <a:xfrm>
              <a:off x="6180" y="6973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367" name="Text Box 381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6066" y="7200"/>
              <a:ext cx="454" cy="22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>
                  <a:latin typeface="宋体" panose="02010600030101010101" pitchFamily="2" charset="-122"/>
                </a:rPr>
                <a:t>&amp;</a:t>
              </a:r>
              <a:endParaRPr lang="en-US" altLang="zh-CN" sz="1400" b="1" u="none">
                <a:latin typeface="宋体" panose="02010600030101010101" pitchFamily="2" charset="-122"/>
              </a:endParaRPr>
            </a:p>
          </p:txBody>
        </p:sp>
        <p:sp>
          <p:nvSpPr>
            <p:cNvPr id="368" name="Oval 382"/>
            <p:cNvSpPr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6236" y="7426"/>
              <a:ext cx="115" cy="11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373" name="Oval 382"/>
            <p:cNvSpPr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6123" y="7086"/>
              <a:ext cx="115" cy="11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436" name="直接箭头连接符 435"/>
            <p:cNvCxnSpPr/>
            <p:nvPr>
              <p:custDataLst>
                <p:tags r:id="rId64"/>
              </p:custDataLst>
            </p:nvPr>
          </p:nvCxnSpPr>
          <p:spPr bwMode="auto">
            <a:xfrm>
              <a:off x="7541" y="6973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437" name="Text Box 381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7427" y="7200"/>
              <a:ext cx="454" cy="22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>
                  <a:latin typeface="宋体" panose="02010600030101010101" pitchFamily="2" charset="-122"/>
                </a:rPr>
                <a:t>&amp;</a:t>
              </a:r>
              <a:endParaRPr lang="en-US" altLang="zh-CN" sz="1400" b="1" u="none">
                <a:latin typeface="宋体" panose="02010600030101010101" pitchFamily="2" charset="-122"/>
              </a:endParaRPr>
            </a:p>
          </p:txBody>
        </p:sp>
        <p:sp>
          <p:nvSpPr>
            <p:cNvPr id="438" name="Oval 382"/>
            <p:cNvSpPr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7597" y="7426"/>
              <a:ext cx="115" cy="11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439" name="Oval 382"/>
            <p:cNvSpPr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7484" y="7086"/>
              <a:ext cx="115" cy="11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440" name="直接箭头连接符 439"/>
            <p:cNvCxnSpPr/>
            <p:nvPr>
              <p:custDataLst>
                <p:tags r:id="rId68"/>
              </p:custDataLst>
            </p:nvPr>
          </p:nvCxnSpPr>
          <p:spPr bwMode="auto">
            <a:xfrm>
              <a:off x="3458" y="6973"/>
              <a:ext cx="4762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1" name="直接箭头连接符 440"/>
            <p:cNvCxnSpPr/>
            <p:nvPr>
              <p:custDataLst>
                <p:tags r:id="rId69"/>
              </p:custDataLst>
            </p:nvPr>
          </p:nvCxnSpPr>
          <p:spPr bwMode="auto">
            <a:xfrm flipV="1">
              <a:off x="2211" y="7143"/>
              <a:ext cx="227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42" name="Text Box 140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7540" y="6463"/>
              <a:ext cx="510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baseline="-16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600" b="1" u="none" baseline="-16000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43" name="直接箭头连接符 442"/>
            <p:cNvCxnSpPr/>
            <p:nvPr>
              <p:custDataLst>
                <p:tags r:id="rId71"/>
              </p:custDataLst>
            </p:nvPr>
          </p:nvCxnSpPr>
          <p:spPr bwMode="auto">
            <a:xfrm>
              <a:off x="7767" y="6746"/>
              <a:ext cx="0" cy="454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44" name="Text Box 140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5329" y="6463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15</a:t>
              </a:r>
              <a:r>
                <a:rPr lang="en-US" altLang="zh-CN" sz="1600" b="1" u="none" dirty="0" smtClean="0"/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8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445" name="Text Box 140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6180" y="6463"/>
              <a:ext cx="510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baseline="-16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600" b="1" u="none" baseline="-16000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46" name="直接箭头连接符 445"/>
            <p:cNvCxnSpPr/>
            <p:nvPr>
              <p:custDataLst>
                <p:tags r:id="rId74"/>
              </p:custDataLst>
            </p:nvPr>
          </p:nvCxnSpPr>
          <p:spPr bwMode="auto">
            <a:xfrm>
              <a:off x="6406" y="6746"/>
              <a:ext cx="0" cy="454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47" name="Text Box 140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3855" y="6463"/>
              <a:ext cx="1020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23</a:t>
              </a:r>
              <a:r>
                <a:rPr lang="en-US" altLang="zh-CN" sz="1600" b="1" u="none" dirty="0" smtClean="0"/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16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448" name="Text Box 140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4819" y="6463"/>
              <a:ext cx="510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baseline="-16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2</a:t>
              </a:r>
              <a:endParaRPr lang="en-US" altLang="zh-CN" sz="1600" b="1" u="none" baseline="-16000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49" name="直接箭头连接符 448"/>
            <p:cNvCxnSpPr/>
            <p:nvPr>
              <p:custDataLst>
                <p:tags r:id="rId77"/>
              </p:custDataLst>
            </p:nvPr>
          </p:nvCxnSpPr>
          <p:spPr bwMode="auto">
            <a:xfrm>
              <a:off x="5046" y="6746"/>
              <a:ext cx="0" cy="454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50" name="Text Box 140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2324" y="6463"/>
              <a:ext cx="1020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23</a:t>
              </a:r>
              <a:r>
                <a:rPr lang="en-US" altLang="zh-CN" sz="1600" b="1" u="none" dirty="0" smtClean="0"/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16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451" name="Text Box 140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3345" y="6463"/>
              <a:ext cx="510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baseline="-16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3</a:t>
              </a:r>
              <a:endParaRPr lang="en-US" altLang="zh-CN" sz="1600" b="1" u="none" baseline="-16000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52" name="直接箭头连接符 451"/>
            <p:cNvCxnSpPr/>
            <p:nvPr>
              <p:custDataLst>
                <p:tags r:id="rId80"/>
              </p:custDataLst>
            </p:nvPr>
          </p:nvCxnSpPr>
          <p:spPr bwMode="auto">
            <a:xfrm>
              <a:off x="3685" y="6746"/>
              <a:ext cx="0" cy="454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155" name="Group 321"/>
          <p:cNvGraphicFramePr>
            <a:graphicFrameLocks noGrp="1"/>
          </p:cNvGraphicFramePr>
          <p:nvPr>
            <p:custDataLst>
              <p:tags r:id="rId81"/>
            </p:custDataLst>
          </p:nvPr>
        </p:nvGraphicFramePr>
        <p:xfrm>
          <a:off x="6192000" y="2015755"/>
          <a:ext cx="2448560" cy="1273175"/>
        </p:xfrm>
        <a:graphic>
          <a:graphicData uri="http://schemas.openxmlformats.org/drawingml/2006/table">
            <a:tbl>
              <a:tblPr/>
              <a:tblGrid>
                <a:gridCol w="835025"/>
                <a:gridCol w="730250"/>
                <a:gridCol w="883285"/>
              </a:tblGrid>
              <a:tr h="254635"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</a:t>
                      </a:r>
                      <a:r>
                        <a:rPr kumimoji="1" lang="en-US" altLang="zh-CN" sz="16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DM</a:t>
                      </a:r>
                      <a:r>
                        <a:rPr kumimoji="1" lang="en-US" altLang="zh-CN" sz="16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-18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读长度</a:t>
                      </a:r>
                      <a:endParaRPr kumimoji="1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写长度</a:t>
                      </a:r>
                      <a:endParaRPr kumimoji="1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</a:tr>
              <a:tr h="254635"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1111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rowSpan="4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4B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4B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</a:t>
                      </a:r>
                      <a:r>
                        <a:rPr kumimoji="1" lang="en-US" altLang="zh-CN" sz="16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起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635"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2B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</a:t>
                      </a:r>
                      <a:r>
                        <a:rPr kumimoji="1" lang="en-US" altLang="zh-CN" sz="1600" b="1" i="0" u="none" strike="noStrike" kern="1200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起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635"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1100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2B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</a:t>
                      </a:r>
                      <a:r>
                        <a:rPr kumimoji="1" lang="en-US" altLang="zh-CN" sz="1600" b="1" i="0" u="none" strike="noStrike" kern="1200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起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635"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某位为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1B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1600" b="1" i="0" u="none" strike="noStrike" kern="1200" cap="none" normalizeH="0" baseline="-18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i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6" name="文本框 155"/>
          <p:cNvSpPr txBox="1"/>
          <p:nvPr/>
        </p:nvSpPr>
        <p:spPr>
          <a:xfrm>
            <a:off x="1872000" y="3636000"/>
            <a:ext cx="7236000" cy="1296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t">
            <a:noAutofit/>
          </a:bodyPr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同时启动各个体，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采用常规传输方式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(B</a:t>
            </a:r>
            <a:r>
              <a:rPr lang="en-US" altLang="zh-CN" sz="2200" b="1" u="none" baseline="-16000" dirty="0">
                <a:latin typeface="宋体" panose="02010600030101010101" pitchFamily="2" charset="-122"/>
                <a:sym typeface="+mn-ea"/>
              </a:rPr>
              <a:t>M</a:t>
            </a:r>
            <a:r>
              <a:rPr lang="en-US" altLang="zh-CN" sz="2200" b="1" u="none" dirty="0">
                <a:latin typeface="宋体" panose="02010600030101010101" pitchFamily="2" charset="-122"/>
                <a:sym typeface="Symbol" panose="05050102010706020507"/>
              </a:rPr>
              <a:t>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×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B</a:t>
            </a:r>
            <a:r>
              <a:rPr lang="en-US" altLang="zh-CN" sz="2200" b="1" u="none" baseline="-16000" dirty="0">
                <a:latin typeface="宋体" panose="02010600030101010101" pitchFamily="2" charset="-122"/>
                <a:sym typeface="+mn-ea"/>
              </a:rPr>
              <a:t>M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CPU—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数据宽度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Symbol" panose="05050102010706020507"/>
              </a:rPr>
              <a:t>m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Symbol" panose="05050102010706020507"/>
              </a:rPr>
              <a:t>×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w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，有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数据掩码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、无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地址低位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引脚</a:t>
            </a:r>
            <a:endParaRPr lang="zh-CN" altLang="en-US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DRAMC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默认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地址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低位为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0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，其余同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DRAM</a:t>
            </a:r>
            <a:endParaRPr lang="en-US" altLang="zh-CN" sz="22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57" name="Text Box 76"/>
          <p:cNvSpPr txBox="1">
            <a:spLocks noChangeArrowheads="1"/>
          </p:cNvSpPr>
          <p:nvPr>
            <p:custDataLst>
              <p:tags r:id="rId82"/>
            </p:custDataLst>
          </p:nvPr>
        </p:nvSpPr>
        <p:spPr bwMode="auto">
          <a:xfrm>
            <a:off x="5976000" y="3383755"/>
            <a:ext cx="284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为何没有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地址</a:t>
            </a:r>
            <a:r>
              <a:rPr lang="zh-CN" sz="1800" b="1" u="none" dirty="0">
                <a:latin typeface="宋体" panose="02010600030101010101" pitchFamily="2" charset="-122"/>
              </a:rPr>
              <a:t>低位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？</a:t>
            </a:r>
            <a:endParaRPr lang="en-US" altLang="zh-CN" sz="1800" b="1" u="none" dirty="0" smtClean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grpSp>
        <p:nvGrpSpPr>
          <p:cNvPr id="167" name="组合 166"/>
          <p:cNvGrpSpPr/>
          <p:nvPr/>
        </p:nvGrpSpPr>
        <p:grpSpPr>
          <a:xfrm>
            <a:off x="2661920" y="4968000"/>
            <a:ext cx="4355465" cy="1583690"/>
            <a:chOff x="3175" y="7710"/>
            <a:chExt cx="6859" cy="2494"/>
          </a:xfrm>
        </p:grpSpPr>
        <p:sp>
          <p:nvSpPr>
            <p:cNvPr id="457" name="Text Box 368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8674" y="7823"/>
              <a:ext cx="1361" cy="113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0#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BANK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内存条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58" name="Text Box 369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8674" y="9070"/>
              <a:ext cx="1361" cy="113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1#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BANK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内存条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59" name="Text Box 385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6123" y="7823"/>
              <a:ext cx="1247" cy="238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10800" rIns="36195" bIns="10800" anchor="t" anchorCtr="0"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</a:rPr>
                <a:t>15</a:t>
              </a:r>
              <a:r>
                <a:rPr lang="en-US" altLang="zh-CN" sz="1600" b="1" u="none" dirty="0" smtClean="0"/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20000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BE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>
                  <a:cs typeface="Times New Roman" panose="02020603050405020304" pitchFamily="18" charset="0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BE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RAS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1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WE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60" name="Text Box 197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6180" y="8447"/>
              <a:ext cx="340" cy="175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/>
              <a:r>
                <a:rPr lang="en-US" altLang="zh-CN" sz="1600" b="1" u="none" dirty="0" smtClean="0">
                  <a:latin typeface="宋体" panose="02010600030101010101" pitchFamily="2" charset="-122"/>
                </a:rPr>
                <a:t>DRAMC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461" name="直接箭头连接符 460"/>
            <p:cNvCxnSpPr/>
            <p:nvPr>
              <p:custDataLst>
                <p:tags r:id="rId87"/>
              </p:custDataLst>
            </p:nvPr>
          </p:nvCxnSpPr>
          <p:spPr bwMode="auto">
            <a:xfrm>
              <a:off x="7370" y="7993"/>
              <a:ext cx="794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2" name="直接箭头连接符 461"/>
            <p:cNvCxnSpPr/>
            <p:nvPr>
              <p:custDataLst>
                <p:tags r:id="rId88"/>
              </p:custDataLst>
            </p:nvPr>
          </p:nvCxnSpPr>
          <p:spPr bwMode="auto">
            <a:xfrm>
              <a:off x="8164" y="9524"/>
              <a:ext cx="510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63" name="直接箭头连接符 462"/>
            <p:cNvCxnSpPr/>
            <p:nvPr>
              <p:custDataLst>
                <p:tags r:id="rId89"/>
              </p:custDataLst>
            </p:nvPr>
          </p:nvCxnSpPr>
          <p:spPr bwMode="auto">
            <a:xfrm>
              <a:off x="8447" y="7937"/>
              <a:ext cx="227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464" name="直接箭头连接符 463"/>
            <p:cNvCxnSpPr/>
            <p:nvPr>
              <p:custDataLst>
                <p:tags r:id="rId90"/>
              </p:custDataLst>
            </p:nvPr>
          </p:nvCxnSpPr>
          <p:spPr bwMode="auto">
            <a:xfrm>
              <a:off x="8447" y="7710"/>
              <a:ext cx="0" cy="1474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5" name="直接箭头连接符 464"/>
            <p:cNvCxnSpPr/>
            <p:nvPr>
              <p:custDataLst>
                <p:tags r:id="rId91"/>
              </p:custDataLst>
            </p:nvPr>
          </p:nvCxnSpPr>
          <p:spPr bwMode="auto">
            <a:xfrm>
              <a:off x="8447" y="9184"/>
              <a:ext cx="227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6" name="直接箭头连接符 465"/>
            <p:cNvCxnSpPr/>
            <p:nvPr>
              <p:custDataLst>
                <p:tags r:id="rId92"/>
              </p:custDataLst>
            </p:nvPr>
          </p:nvCxnSpPr>
          <p:spPr bwMode="auto">
            <a:xfrm>
              <a:off x="7710" y="8617"/>
              <a:ext cx="96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67" name="直接箭头连接符 466"/>
            <p:cNvCxnSpPr/>
            <p:nvPr>
              <p:custDataLst>
                <p:tags r:id="rId93"/>
              </p:custDataLst>
            </p:nvPr>
          </p:nvCxnSpPr>
          <p:spPr bwMode="auto">
            <a:xfrm>
              <a:off x="7937" y="8787"/>
              <a:ext cx="73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68" name="直接箭头连接符 467"/>
            <p:cNvCxnSpPr/>
            <p:nvPr>
              <p:custDataLst>
                <p:tags r:id="rId94"/>
              </p:custDataLst>
            </p:nvPr>
          </p:nvCxnSpPr>
          <p:spPr bwMode="auto">
            <a:xfrm>
              <a:off x="7370" y="10034"/>
              <a:ext cx="130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69" name="直接箭头连接符 468"/>
            <p:cNvCxnSpPr/>
            <p:nvPr>
              <p:custDataLst>
                <p:tags r:id="rId95"/>
              </p:custDataLst>
            </p:nvPr>
          </p:nvCxnSpPr>
          <p:spPr bwMode="auto">
            <a:xfrm flipH="1">
              <a:off x="8164" y="7993"/>
              <a:ext cx="0" cy="1531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470" name="直接箭头连接符 469"/>
            <p:cNvCxnSpPr/>
            <p:nvPr>
              <p:custDataLst>
                <p:tags r:id="rId96"/>
              </p:custDataLst>
            </p:nvPr>
          </p:nvCxnSpPr>
          <p:spPr bwMode="auto">
            <a:xfrm flipV="1">
              <a:off x="7937" y="8787"/>
              <a:ext cx="0" cy="124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471" name="直接箭头连接符 470"/>
            <p:cNvCxnSpPr/>
            <p:nvPr>
              <p:custDataLst>
                <p:tags r:id="rId97"/>
              </p:custDataLst>
            </p:nvPr>
          </p:nvCxnSpPr>
          <p:spPr bwMode="auto">
            <a:xfrm>
              <a:off x="7710" y="9694"/>
              <a:ext cx="96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72" name="直接箭头连接符 471"/>
            <p:cNvCxnSpPr/>
            <p:nvPr>
              <p:custDataLst>
                <p:tags r:id="rId98"/>
              </p:custDataLst>
            </p:nvPr>
          </p:nvCxnSpPr>
          <p:spPr bwMode="auto">
            <a:xfrm>
              <a:off x="7370" y="8674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3" name="直接箭头连接符 472"/>
            <p:cNvCxnSpPr/>
            <p:nvPr>
              <p:custDataLst>
                <p:tags r:id="rId99"/>
              </p:custDataLst>
            </p:nvPr>
          </p:nvCxnSpPr>
          <p:spPr bwMode="auto">
            <a:xfrm>
              <a:off x="7370" y="9014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4" name="直接箭头连接符 473"/>
            <p:cNvCxnSpPr/>
            <p:nvPr>
              <p:custDataLst>
                <p:tags r:id="rId100"/>
              </p:custDataLst>
            </p:nvPr>
          </p:nvCxnSpPr>
          <p:spPr bwMode="auto">
            <a:xfrm flipH="1">
              <a:off x="7710" y="8617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5" name="直接箭头连接符 474"/>
            <p:cNvCxnSpPr/>
            <p:nvPr>
              <p:custDataLst>
                <p:tags r:id="rId101"/>
              </p:custDataLst>
            </p:nvPr>
          </p:nvCxnSpPr>
          <p:spPr bwMode="auto">
            <a:xfrm flipH="1">
              <a:off x="7597" y="8447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6" name="直接箭头连接符 475"/>
            <p:cNvCxnSpPr/>
            <p:nvPr>
              <p:custDataLst>
                <p:tags r:id="rId102"/>
              </p:custDataLst>
            </p:nvPr>
          </p:nvCxnSpPr>
          <p:spPr bwMode="auto">
            <a:xfrm>
              <a:off x="5046" y="7710"/>
              <a:ext cx="3402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7" name="直接箭头连接符 476"/>
            <p:cNvCxnSpPr/>
            <p:nvPr>
              <p:custDataLst>
                <p:tags r:id="rId103"/>
              </p:custDataLst>
            </p:nvPr>
          </p:nvCxnSpPr>
          <p:spPr bwMode="auto">
            <a:xfrm>
              <a:off x="4762" y="7993"/>
              <a:ext cx="283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8" name="直接箭头连接符 477"/>
            <p:cNvCxnSpPr/>
            <p:nvPr>
              <p:custDataLst>
                <p:tags r:id="rId104"/>
              </p:custDataLst>
            </p:nvPr>
          </p:nvCxnSpPr>
          <p:spPr bwMode="auto">
            <a:xfrm>
              <a:off x="5046" y="7710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9" name="直接箭头连接符 478"/>
            <p:cNvCxnSpPr/>
            <p:nvPr>
              <p:custDataLst>
                <p:tags r:id="rId105"/>
              </p:custDataLst>
            </p:nvPr>
          </p:nvCxnSpPr>
          <p:spPr bwMode="auto">
            <a:xfrm>
              <a:off x="7597" y="9864"/>
              <a:ext cx="107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80" name="直接箭头连接符 479"/>
            <p:cNvCxnSpPr/>
            <p:nvPr>
              <p:custDataLst>
                <p:tags r:id="rId106"/>
              </p:custDataLst>
            </p:nvPr>
          </p:nvCxnSpPr>
          <p:spPr bwMode="auto">
            <a:xfrm>
              <a:off x="7597" y="8447"/>
              <a:ext cx="107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81" name="直接箭头连接符 480"/>
            <p:cNvCxnSpPr/>
            <p:nvPr>
              <p:custDataLst>
                <p:tags r:id="rId107"/>
              </p:custDataLst>
            </p:nvPr>
          </p:nvCxnSpPr>
          <p:spPr bwMode="auto">
            <a:xfrm>
              <a:off x="8334" y="9354"/>
              <a:ext cx="340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82" name="直接箭头连接符 481"/>
            <p:cNvCxnSpPr/>
            <p:nvPr>
              <p:custDataLst>
                <p:tags r:id="rId108"/>
              </p:custDataLst>
            </p:nvPr>
          </p:nvCxnSpPr>
          <p:spPr bwMode="auto">
            <a:xfrm>
              <a:off x="7597" y="8107"/>
              <a:ext cx="107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83" name="直接箭头连接符 482"/>
            <p:cNvCxnSpPr/>
            <p:nvPr>
              <p:custDataLst>
                <p:tags r:id="rId109"/>
              </p:custDataLst>
            </p:nvPr>
          </p:nvCxnSpPr>
          <p:spPr bwMode="auto">
            <a:xfrm>
              <a:off x="8164" y="8277"/>
              <a:ext cx="510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484" name="直接箭头连接符 483"/>
            <p:cNvCxnSpPr/>
            <p:nvPr>
              <p:custDataLst>
                <p:tags r:id="rId110"/>
              </p:custDataLst>
            </p:nvPr>
          </p:nvCxnSpPr>
          <p:spPr bwMode="auto">
            <a:xfrm>
              <a:off x="7370" y="8333"/>
              <a:ext cx="22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5" name="直接箭头连接符 484"/>
            <p:cNvCxnSpPr/>
            <p:nvPr>
              <p:custDataLst>
                <p:tags r:id="rId111"/>
              </p:custDataLst>
            </p:nvPr>
          </p:nvCxnSpPr>
          <p:spPr bwMode="auto">
            <a:xfrm>
              <a:off x="8334" y="8107"/>
              <a:ext cx="0" cy="1247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486" name="直接箭头连接符 485"/>
            <p:cNvCxnSpPr/>
            <p:nvPr>
              <p:custDataLst>
                <p:tags r:id="rId112"/>
              </p:custDataLst>
            </p:nvPr>
          </p:nvCxnSpPr>
          <p:spPr bwMode="auto">
            <a:xfrm flipH="1">
              <a:off x="7597" y="8107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7" name="直接箭头连接符 486"/>
            <p:cNvCxnSpPr/>
            <p:nvPr>
              <p:custDataLst>
                <p:tags r:id="rId113"/>
              </p:custDataLst>
            </p:nvPr>
          </p:nvCxnSpPr>
          <p:spPr bwMode="auto">
            <a:xfrm>
              <a:off x="7370" y="9354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8" name="直接箭头连接符 487"/>
            <p:cNvCxnSpPr/>
            <p:nvPr>
              <p:custDataLst>
                <p:tags r:id="rId114"/>
              </p:custDataLst>
            </p:nvPr>
          </p:nvCxnSpPr>
          <p:spPr bwMode="auto">
            <a:xfrm>
              <a:off x="7370" y="9751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9" name="直接箭头连接符 488"/>
            <p:cNvCxnSpPr/>
            <p:nvPr>
              <p:custDataLst>
                <p:tags r:id="rId115"/>
              </p:custDataLst>
            </p:nvPr>
          </p:nvCxnSpPr>
          <p:spPr bwMode="auto">
            <a:xfrm flipH="1">
              <a:off x="7597" y="9751"/>
              <a:ext cx="0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0" name="直接箭头连接符 489"/>
            <p:cNvCxnSpPr/>
            <p:nvPr>
              <p:custDataLst>
                <p:tags r:id="rId116"/>
              </p:custDataLst>
            </p:nvPr>
          </p:nvCxnSpPr>
          <p:spPr bwMode="auto">
            <a:xfrm flipH="1">
              <a:off x="7710" y="9354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1" name="直接箭头连接符 490"/>
            <p:cNvCxnSpPr/>
            <p:nvPr>
              <p:custDataLst>
                <p:tags r:id="rId117"/>
              </p:custDataLst>
            </p:nvPr>
          </p:nvCxnSpPr>
          <p:spPr bwMode="auto">
            <a:xfrm>
              <a:off x="5669" y="10034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92" name="直接箭头连接符 491"/>
            <p:cNvCxnSpPr/>
            <p:nvPr>
              <p:custDataLst>
                <p:tags r:id="rId118"/>
              </p:custDataLst>
            </p:nvPr>
          </p:nvCxnSpPr>
          <p:spPr bwMode="auto">
            <a:xfrm>
              <a:off x="5669" y="9694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93" name="直接箭头连接符 492"/>
            <p:cNvCxnSpPr/>
            <p:nvPr>
              <p:custDataLst>
                <p:tags r:id="rId119"/>
              </p:custDataLst>
            </p:nvPr>
          </p:nvCxnSpPr>
          <p:spPr bwMode="auto">
            <a:xfrm>
              <a:off x="5669" y="9354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94" name="直接箭头连接符 493"/>
            <p:cNvCxnSpPr/>
            <p:nvPr>
              <p:custDataLst>
                <p:tags r:id="rId120"/>
              </p:custDataLst>
            </p:nvPr>
          </p:nvCxnSpPr>
          <p:spPr bwMode="auto">
            <a:xfrm>
              <a:off x="5669" y="8333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95" name="直接箭头连接符 494"/>
            <p:cNvCxnSpPr/>
            <p:nvPr>
              <p:custDataLst>
                <p:tags r:id="rId121"/>
              </p:custDataLst>
            </p:nvPr>
          </p:nvCxnSpPr>
          <p:spPr bwMode="auto">
            <a:xfrm>
              <a:off x="5669" y="8674"/>
              <a:ext cx="454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96" name="直接箭头连接符 495"/>
            <p:cNvCxnSpPr/>
            <p:nvPr>
              <p:custDataLst>
                <p:tags r:id="rId122"/>
              </p:custDataLst>
            </p:nvPr>
          </p:nvCxnSpPr>
          <p:spPr bwMode="auto">
            <a:xfrm flipV="1">
              <a:off x="6990" y="9909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97" name="直接箭头连接符 496"/>
            <p:cNvCxnSpPr/>
            <p:nvPr>
              <p:custDataLst>
                <p:tags r:id="rId123"/>
              </p:custDataLst>
            </p:nvPr>
          </p:nvCxnSpPr>
          <p:spPr bwMode="auto">
            <a:xfrm flipV="1">
              <a:off x="6718" y="9581"/>
              <a:ext cx="5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98" name="直接箭头连接符 497"/>
            <p:cNvCxnSpPr/>
            <p:nvPr>
              <p:custDataLst>
                <p:tags r:id="rId124"/>
              </p:custDataLst>
            </p:nvPr>
          </p:nvCxnSpPr>
          <p:spPr bwMode="auto">
            <a:xfrm flipV="1">
              <a:off x="6718" y="9240"/>
              <a:ext cx="5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99" name="直接箭头连接符 498"/>
            <p:cNvCxnSpPr/>
            <p:nvPr>
              <p:custDataLst>
                <p:tags r:id="rId125"/>
              </p:custDataLst>
            </p:nvPr>
          </p:nvCxnSpPr>
          <p:spPr bwMode="auto">
            <a:xfrm flipV="1">
              <a:off x="6718" y="8872"/>
              <a:ext cx="5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00" name="直接箭头连接符 499"/>
            <p:cNvCxnSpPr/>
            <p:nvPr>
              <p:custDataLst>
                <p:tags r:id="rId126"/>
              </p:custDataLst>
            </p:nvPr>
          </p:nvCxnSpPr>
          <p:spPr bwMode="auto">
            <a:xfrm flipV="1">
              <a:off x="6718" y="8532"/>
              <a:ext cx="5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01" name="直接箭头连接符 500"/>
            <p:cNvCxnSpPr/>
            <p:nvPr>
              <p:custDataLst>
                <p:tags r:id="rId127"/>
              </p:custDataLst>
            </p:nvPr>
          </p:nvCxnSpPr>
          <p:spPr bwMode="auto">
            <a:xfrm flipV="1">
              <a:off x="6293" y="8188"/>
              <a:ext cx="39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02" name="直接箭头连接符 501"/>
            <p:cNvCxnSpPr/>
            <p:nvPr>
              <p:custDataLst>
                <p:tags r:id="rId128"/>
              </p:custDataLst>
            </p:nvPr>
          </p:nvCxnSpPr>
          <p:spPr bwMode="auto">
            <a:xfrm flipV="1">
              <a:off x="6888" y="8186"/>
              <a:ext cx="39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455" name="Text Box 110"/>
            <p:cNvSpPr txBox="1">
              <a:spLocks noChangeArrowheads="1"/>
            </p:cNvSpPr>
            <p:nvPr>
              <p:custDataLst>
                <p:tags r:id="rId129"/>
              </p:custDataLst>
            </p:nvPr>
          </p:nvSpPr>
          <p:spPr bwMode="auto">
            <a:xfrm>
              <a:off x="3175" y="7823"/>
              <a:ext cx="1587" cy="2381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  </a:t>
              </a:r>
              <a:endParaRPr lang="en-US" altLang="zh-CN" sz="16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D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31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BE</a:t>
              </a:r>
              <a:r>
                <a:rPr lang="en-US" altLang="zh-CN" sz="1600" b="1" baseline="-25000" dirty="0">
                  <a:latin typeface="宋体" panose="02010600030101010101" pitchFamily="2" charset="-122"/>
                  <a:sym typeface="+mn-ea"/>
                </a:rPr>
                <a:t>3</a:t>
              </a:r>
              <a:r>
                <a:rPr lang="en-US" altLang="zh-CN" sz="1600" b="1" dirty="0">
                  <a:cs typeface="Times New Roman" panose="02020603050405020304" pitchFamily="18" charset="0"/>
                  <a:sym typeface="+mn-ea"/>
                </a:rPr>
                <a:t>~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BE</a:t>
              </a:r>
              <a:r>
                <a:rPr lang="en-US" altLang="zh-CN" sz="1600" b="1" baseline="-25000" dirty="0">
                  <a:latin typeface="宋体" panose="02010600030101010101" pitchFamily="2" charset="-122"/>
                  <a:sym typeface="+mn-ea"/>
                </a:rPr>
                <a:t>0</a:t>
              </a:r>
              <a:endParaRPr lang="en-US" altLang="zh-CN" sz="1600" b="1" baseline="-25000" dirty="0">
                <a:latin typeface="宋体" panose="02010600030101010101" pitchFamily="2" charset="-122"/>
                <a:sym typeface="+mn-ea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A</a:t>
              </a:r>
              <a:r>
                <a:rPr lang="en-US" altLang="zh-CN" sz="1600" b="1" baseline="-20000" dirty="0" smtClean="0">
                  <a:latin typeface="宋体" panose="02010600030101010101" pitchFamily="2" charset="-122"/>
                  <a:sym typeface="+mn-ea"/>
                </a:rPr>
                <a:t>31</a:t>
              </a:r>
              <a:r>
                <a:rPr lang="en-US" altLang="zh-CN" sz="1600" b="1" dirty="0" smtClean="0">
                  <a:sym typeface="+mn-ea"/>
                </a:rPr>
                <a:t>~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A</a:t>
              </a:r>
              <a:r>
                <a:rPr lang="en-US" altLang="zh-CN" sz="1600" b="1" baseline="-20000" dirty="0" smtClean="0">
                  <a:latin typeface="宋体" panose="02010600030101010101" pitchFamily="2" charset="-122"/>
                  <a:sym typeface="+mn-ea"/>
                </a:rPr>
                <a:t>2</a:t>
              </a:r>
              <a:endParaRPr lang="en-US" altLang="zh-CN" sz="1600" b="1" baseline="-20000" dirty="0" smtClean="0">
                <a:latin typeface="宋体" panose="02010600030101010101" pitchFamily="2" charset="-122"/>
                <a:sym typeface="+mn-ea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 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ADS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M/IO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W/R</a:t>
              </a:r>
              <a:endParaRPr lang="en-US" altLang="zh-CN" sz="1600" b="1" u="none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endParaRPr lang="en-US" altLang="zh-CN" sz="1600" b="1" u="none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56" name="Text Box 197"/>
            <p:cNvSpPr txBox="1">
              <a:spLocks noChangeArrowheads="1"/>
            </p:cNvSpPr>
            <p:nvPr>
              <p:custDataLst>
                <p:tags r:id="rId130"/>
              </p:custDataLst>
            </p:nvPr>
          </p:nvSpPr>
          <p:spPr bwMode="auto">
            <a:xfrm>
              <a:off x="3232" y="8900"/>
              <a:ext cx="907" cy="7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80386</a:t>
              </a:r>
              <a:endParaRPr lang="en-US" altLang="zh-CN" sz="16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CPU</a:t>
              </a:r>
              <a:endParaRPr lang="en-US" altLang="zh-CN" sz="16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03" name="直接箭头连接符 502"/>
            <p:cNvCxnSpPr/>
            <p:nvPr>
              <p:custDataLst>
                <p:tags r:id="rId131"/>
              </p:custDataLst>
            </p:nvPr>
          </p:nvCxnSpPr>
          <p:spPr bwMode="auto">
            <a:xfrm flipV="1">
              <a:off x="4536" y="9883"/>
              <a:ext cx="17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04" name="直接箭头连接符 503"/>
            <p:cNvCxnSpPr/>
            <p:nvPr>
              <p:custDataLst>
                <p:tags r:id="rId132"/>
              </p:custDataLst>
            </p:nvPr>
          </p:nvCxnSpPr>
          <p:spPr bwMode="auto">
            <a:xfrm flipV="1">
              <a:off x="4422" y="9524"/>
              <a:ext cx="283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05" name="直接箭头连接符 504"/>
            <p:cNvCxnSpPr/>
            <p:nvPr>
              <p:custDataLst>
                <p:tags r:id="rId133"/>
              </p:custDataLst>
            </p:nvPr>
          </p:nvCxnSpPr>
          <p:spPr bwMode="auto">
            <a:xfrm flipV="1">
              <a:off x="4241" y="9184"/>
              <a:ext cx="454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06" name="直接箭头连接符 505"/>
            <p:cNvCxnSpPr/>
            <p:nvPr>
              <p:custDataLst>
                <p:tags r:id="rId134"/>
              </p:custDataLst>
            </p:nvPr>
          </p:nvCxnSpPr>
          <p:spPr bwMode="auto">
            <a:xfrm flipV="1">
              <a:off x="3685" y="8162"/>
              <a:ext cx="39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07" name="直接箭头连接符 506"/>
            <p:cNvCxnSpPr/>
            <p:nvPr>
              <p:custDataLst>
                <p:tags r:id="rId135"/>
              </p:custDataLst>
            </p:nvPr>
          </p:nvCxnSpPr>
          <p:spPr bwMode="auto">
            <a:xfrm flipV="1">
              <a:off x="4281" y="8160"/>
              <a:ext cx="39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58" name="Rectangle 5"/>
            <p:cNvSpPr>
              <a:spLocks noChangeArrowheads="1"/>
            </p:cNvSpPr>
            <p:nvPr>
              <p:custDataLst>
                <p:tags r:id="rId136"/>
              </p:custDataLst>
            </p:nvPr>
          </p:nvSpPr>
          <p:spPr bwMode="auto">
            <a:xfrm>
              <a:off x="5216" y="8220"/>
              <a:ext cx="454" cy="192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  <a:tailEnd type="none" w="sm" len="med"/>
            </a:ln>
            <a:effectLst/>
          </p:spPr>
          <p:txBody>
            <a:bodyPr vert="eaVert" wrap="none" anchor="ctr"/>
            <a:p>
              <a:pPr algn="ctr"/>
              <a:r>
                <a:rPr lang="zh-CN" altLang="en-US" sz="1600" b="1" u="none" dirty="0" smtClean="0"/>
                <a:t>连接电路</a:t>
              </a:r>
              <a:endParaRPr lang="zh-CN" altLang="en-US" sz="1600" b="1" u="none" dirty="0" smtClean="0"/>
            </a:p>
          </p:txBody>
        </p:sp>
        <p:cxnSp>
          <p:nvCxnSpPr>
            <p:cNvPr id="162" name="直接箭头连接符 161"/>
            <p:cNvCxnSpPr/>
            <p:nvPr>
              <p:custDataLst>
                <p:tags r:id="rId137"/>
              </p:custDataLst>
            </p:nvPr>
          </p:nvCxnSpPr>
          <p:spPr bwMode="auto">
            <a:xfrm>
              <a:off x="4762" y="10035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3" name="直接箭头连接符 162"/>
            <p:cNvCxnSpPr/>
            <p:nvPr>
              <p:custDataLst>
                <p:tags r:id="rId138"/>
              </p:custDataLst>
            </p:nvPr>
          </p:nvCxnSpPr>
          <p:spPr bwMode="auto">
            <a:xfrm>
              <a:off x="4762" y="9695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4" name="直接箭头连接符 163"/>
            <p:cNvCxnSpPr/>
            <p:nvPr>
              <p:custDataLst>
                <p:tags r:id="rId139"/>
              </p:custDataLst>
            </p:nvPr>
          </p:nvCxnSpPr>
          <p:spPr bwMode="auto">
            <a:xfrm>
              <a:off x="4762" y="9355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5" name="直接箭头连接符 164"/>
            <p:cNvCxnSpPr/>
            <p:nvPr>
              <p:custDataLst>
                <p:tags r:id="rId140"/>
              </p:custDataLst>
            </p:nvPr>
          </p:nvCxnSpPr>
          <p:spPr bwMode="auto">
            <a:xfrm>
              <a:off x="4762" y="8334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6" name="直接箭头连接符 165"/>
            <p:cNvCxnSpPr/>
            <p:nvPr>
              <p:custDataLst>
                <p:tags r:id="rId141"/>
              </p:custDataLst>
            </p:nvPr>
          </p:nvCxnSpPr>
          <p:spPr bwMode="auto">
            <a:xfrm>
              <a:off x="4762" y="8675"/>
              <a:ext cx="454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1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2BC1B-969B-43BB-8BE4-C288F023884C}" type="slidenum">
              <a:rPr lang="en-US" altLang="zh-CN"/>
            </a:fld>
            <a:endParaRPr lang="en-US" altLang="zh-CN"/>
          </a:p>
        </p:txBody>
      </p:sp>
      <p:sp>
        <p:nvSpPr>
          <p:cNvPr id="192656" name="Text Box 144"/>
          <p:cNvSpPr txBox="1">
            <a:spLocks noChangeArrowheads="1"/>
          </p:cNvSpPr>
          <p:nvPr/>
        </p:nvSpPr>
        <p:spPr bwMode="auto">
          <a:xfrm>
            <a:off x="899469" y="5301967"/>
            <a:ext cx="3420000" cy="39878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000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3-2</a:t>
            </a:r>
            <a:r>
              <a:rPr lang="zh-CN" altLang="en-US" sz="2000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P137—13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17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20</a:t>
            </a:r>
            <a:endParaRPr lang="en-US" altLang="zh-CN" sz="20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91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41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4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08" name="Text Box 301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705" y="323850"/>
            <a:ext cx="7391400" cy="47078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、双端口</a:t>
            </a:r>
            <a:r>
              <a:rPr lang="en-US" altLang="zh-CN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ME</a:t>
            </a: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M       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--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优化方法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2(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并行处理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多个操作并行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])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优化原理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结构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存储元的连接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>
              <a:solidFill>
                <a:schemeClr val="accent2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冲突检测逻辑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>
              <a:solidFill>
                <a:schemeClr val="accent2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应用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510" name="Text Box 73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693225" y="792000"/>
            <a:ext cx="6732363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同时处理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个访问请求，即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W</a:t>
            </a:r>
            <a:r>
              <a:rPr lang="en-US" altLang="zh-CN" sz="2200" b="1" u="none" dirty="0">
                <a:latin typeface="宋体" panose="02010600030101010101" pitchFamily="2" charset="-122"/>
                <a:sym typeface="Symbol" panose="05050102010706020507"/>
              </a:rPr>
              <a:t>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Symbol" panose="05050102010706020507"/>
              </a:rPr>
              <a:t>＝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w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w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2200" b="1" u="none" dirty="0">
                <a:latin typeface="宋体" panose="02010600030101010101" pitchFamily="2" charset="-122"/>
                <a:sym typeface="Symbol" panose="05050102010706020507"/>
              </a:rPr>
              <a:t></a:t>
            </a:r>
            <a:r>
              <a:rPr lang="en-US" altLang="zh-CN" sz="2200" b="1" u="none" baseline="-16000" dirty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2200" b="1" u="none" baseline="-1600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M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增设译码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及读写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电路、冲突判断电路</a:t>
            </a:r>
            <a:endParaRPr lang="zh-CN" altLang="en-US" sz="2200" b="1" u="none" dirty="0" smtClean="0">
              <a:latin typeface="+mn-ea"/>
              <a:sym typeface="+mn-ea"/>
            </a:endParaRPr>
          </a:p>
        </p:txBody>
      </p:sp>
      <p:grpSp>
        <p:nvGrpSpPr>
          <p:cNvPr id="511" name="组合 510"/>
          <p:cNvGrpSpPr/>
          <p:nvPr/>
        </p:nvGrpSpPr>
        <p:grpSpPr>
          <a:xfrm>
            <a:off x="1513205" y="1764000"/>
            <a:ext cx="5831840" cy="1871980"/>
            <a:chOff x="2835" y="1757"/>
            <a:chExt cx="9184" cy="2948"/>
          </a:xfrm>
        </p:grpSpPr>
        <p:sp>
          <p:nvSpPr>
            <p:cNvPr id="2" name="Rectangle 106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082" y="1757"/>
              <a:ext cx="6690" cy="294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3" name="Text Box 6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520" y="2948"/>
              <a:ext cx="1814" cy="90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2K×8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600" b="1" u="none" dirty="0" smtClean="0">
                  <a:latin typeface="宋体" panose="02010600030101010101" pitchFamily="2" charset="-122"/>
                </a:rPr>
                <a:t>SRAM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阵列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" name="Text Box 7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520" y="3969"/>
              <a:ext cx="1814" cy="452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/>
                <a:t>判断</a:t>
              </a:r>
              <a:r>
                <a:rPr lang="zh-CN" altLang="en-US" sz="1600" b="1" u="none" dirty="0" smtClean="0"/>
                <a:t>逻辑</a:t>
              </a:r>
              <a:endParaRPr lang="zh-CN" altLang="en-US" sz="1600" b="1" u="none" dirty="0"/>
            </a:p>
          </p:txBody>
        </p:sp>
        <p:sp>
          <p:nvSpPr>
            <p:cNvPr id="5" name="Text Box 7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103" y="2211"/>
              <a:ext cx="1474" cy="452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>
                  <a:latin typeface="宋体" panose="02010600030101010101" pitchFamily="2" charset="-122"/>
                </a:rPr>
                <a:t>读写电路</a:t>
              </a:r>
              <a:endParaRPr lang="zh-CN" altLang="en-US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6" name="Text Box 8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180" y="1871"/>
              <a:ext cx="1248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>
                  <a:latin typeface="宋体" panose="02010600030101010101" pitchFamily="2" charset="-122"/>
                </a:rPr>
                <a:t>列选择</a:t>
              </a:r>
              <a:endParaRPr lang="zh-CN" altLang="en-US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7" name="Text Box 95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805" y="2211"/>
              <a:ext cx="1248" cy="452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I/O</a:t>
              </a:r>
              <a:r>
                <a:rPr lang="zh-CN" altLang="en-US" sz="1600" b="1" u="none">
                  <a:latin typeface="宋体" panose="02010600030101010101" pitchFamily="2" charset="-122"/>
                </a:rPr>
                <a:t>电路</a:t>
              </a:r>
              <a:endParaRPr lang="zh-CN" altLang="en-US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8" name="Text Box 96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427" y="1871"/>
              <a:ext cx="1248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列选择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512" name="直接箭头连接符 511"/>
            <p:cNvCxnSpPr/>
            <p:nvPr>
              <p:custDataLst>
                <p:tags r:id="rId12"/>
              </p:custDataLst>
            </p:nvPr>
          </p:nvCxnSpPr>
          <p:spPr bwMode="auto">
            <a:xfrm>
              <a:off x="6577" y="2436"/>
              <a:ext cx="227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3" name="直接箭头连接符 512"/>
            <p:cNvCxnSpPr/>
            <p:nvPr>
              <p:custDataLst>
                <p:tags r:id="rId13"/>
              </p:custDataLst>
            </p:nvPr>
          </p:nvCxnSpPr>
          <p:spPr bwMode="auto">
            <a:xfrm>
              <a:off x="5613" y="1928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4" name="直接箭头连接符 513"/>
            <p:cNvCxnSpPr/>
            <p:nvPr>
              <p:custDataLst>
                <p:tags r:id="rId14"/>
              </p:custDataLst>
            </p:nvPr>
          </p:nvCxnSpPr>
          <p:spPr bwMode="auto">
            <a:xfrm>
              <a:off x="4535" y="2268"/>
              <a:ext cx="45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15" name="直接箭头连接符 514"/>
            <p:cNvCxnSpPr/>
            <p:nvPr>
              <p:custDataLst>
                <p:tags r:id="rId15"/>
              </p:custDataLst>
            </p:nvPr>
          </p:nvCxnSpPr>
          <p:spPr bwMode="auto">
            <a:xfrm>
              <a:off x="4195" y="2608"/>
              <a:ext cx="90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16" name="直接箭头连接符 515"/>
            <p:cNvCxnSpPr/>
            <p:nvPr>
              <p:custDataLst>
                <p:tags r:id="rId16"/>
              </p:custDataLst>
            </p:nvPr>
          </p:nvCxnSpPr>
          <p:spPr bwMode="auto">
            <a:xfrm>
              <a:off x="3969" y="2438"/>
              <a:ext cx="113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17" name="直接箭头连接符 516"/>
            <p:cNvCxnSpPr/>
            <p:nvPr>
              <p:custDataLst>
                <p:tags r:id="rId17"/>
              </p:custDataLst>
            </p:nvPr>
          </p:nvCxnSpPr>
          <p:spPr bwMode="auto">
            <a:xfrm>
              <a:off x="4365" y="2041"/>
              <a:ext cx="1814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18" name="直接箭头连接符 517"/>
            <p:cNvCxnSpPr/>
            <p:nvPr>
              <p:custDataLst>
                <p:tags r:id="rId18"/>
              </p:custDataLst>
            </p:nvPr>
          </p:nvCxnSpPr>
          <p:spPr bwMode="auto">
            <a:xfrm>
              <a:off x="10488" y="2041"/>
              <a:ext cx="0" cy="1984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519" name="直接箭头连接符 518"/>
            <p:cNvCxnSpPr/>
            <p:nvPr>
              <p:custDataLst>
                <p:tags r:id="rId19"/>
              </p:custDataLst>
            </p:nvPr>
          </p:nvCxnSpPr>
          <p:spPr bwMode="auto">
            <a:xfrm>
              <a:off x="7143" y="2665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0" name="直接箭头连接符 519"/>
            <p:cNvCxnSpPr/>
            <p:nvPr>
              <p:custDataLst>
                <p:tags r:id="rId20"/>
              </p:custDataLst>
            </p:nvPr>
          </p:nvCxnSpPr>
          <p:spPr bwMode="auto">
            <a:xfrm>
              <a:off x="7710" y="2665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21" name="Text Box 140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7200" y="2665"/>
              <a:ext cx="453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…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522" name="Text Box 79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8277" y="2211"/>
              <a:ext cx="1474" cy="45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>
                  <a:latin typeface="宋体" panose="02010600030101010101" pitchFamily="2" charset="-122"/>
                </a:rPr>
                <a:t>读写电路</a:t>
              </a:r>
              <a:endParaRPr lang="zh-CN" altLang="en-US" sz="1600" b="1" u="none">
                <a:latin typeface="宋体" panose="02010600030101010101" pitchFamily="2" charset="-122"/>
              </a:endParaRPr>
            </a:p>
          </p:txBody>
        </p:sp>
        <p:cxnSp>
          <p:nvCxnSpPr>
            <p:cNvPr id="523" name="直接箭头连接符 522"/>
            <p:cNvCxnSpPr/>
            <p:nvPr>
              <p:custDataLst>
                <p:tags r:id="rId23"/>
              </p:custDataLst>
            </p:nvPr>
          </p:nvCxnSpPr>
          <p:spPr bwMode="auto">
            <a:xfrm>
              <a:off x="3969" y="1928"/>
              <a:ext cx="1644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24" name="组合 523"/>
            <p:cNvGrpSpPr/>
            <p:nvPr/>
          </p:nvGrpSpPr>
          <p:grpSpPr>
            <a:xfrm>
              <a:off x="5669" y="2778"/>
              <a:ext cx="851" cy="1076"/>
              <a:chOff x="5669" y="2778"/>
              <a:chExt cx="851" cy="1076"/>
            </a:xfrm>
          </p:grpSpPr>
          <p:sp>
            <p:nvSpPr>
              <p:cNvPr id="9" name="Text Box 81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5669" y="2778"/>
                <a:ext cx="398" cy="107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eaVert" lIns="18000" tIns="10800" rIns="18000" bIns="10800" anchor="ctr"/>
              <a:p>
                <a:pPr algn="ctr"/>
                <a:r>
                  <a:rPr lang="zh-CN" altLang="en-US" sz="1600" b="1" u="none">
                    <a:latin typeface="宋体" panose="02010600030101010101" pitchFamily="2" charset="-122"/>
                  </a:rPr>
                  <a:t>行选择</a:t>
                </a:r>
                <a:endParaRPr lang="zh-CN" altLang="en-US" sz="1600" b="1" u="none">
                  <a:latin typeface="宋体" panose="02010600030101010101" pitchFamily="2" charset="-122"/>
                </a:endParaRPr>
              </a:p>
            </p:txBody>
          </p:sp>
          <p:sp>
            <p:nvSpPr>
              <p:cNvPr id="10" name="Text Box 140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6122" y="3175"/>
                <a:ext cx="340" cy="454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vert="eaVert" lIns="18000" tIns="10800" rIns="36195" bIns="10800" anchor="ctr"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>
                    <a:latin typeface="宋体" panose="02010600030101010101" pitchFamily="2" charset="-122"/>
                  </a:rPr>
                  <a:t>…</a:t>
                </a:r>
                <a:endParaRPr lang="en-US" altLang="zh-CN" sz="1600" b="1" u="none" baseline="-2000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525" name="直接箭头连接符 524"/>
              <p:cNvCxnSpPr/>
              <p:nvPr>
                <p:custDataLst>
                  <p:tags r:id="rId26"/>
                </p:custDataLst>
              </p:nvPr>
            </p:nvCxnSpPr>
            <p:spPr bwMode="auto">
              <a:xfrm>
                <a:off x="6066" y="3118"/>
                <a:ext cx="454" cy="2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526" name="直接箭头连接符 525"/>
              <p:cNvCxnSpPr/>
              <p:nvPr>
                <p:custDataLst>
                  <p:tags r:id="rId27"/>
                </p:custDataLst>
              </p:nvPr>
            </p:nvCxnSpPr>
            <p:spPr bwMode="auto">
              <a:xfrm>
                <a:off x="6066" y="3685"/>
                <a:ext cx="454" cy="2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</p:grpSp>
        <p:cxnSp>
          <p:nvCxnSpPr>
            <p:cNvPr id="527" name="直接箭头连接符 526"/>
            <p:cNvCxnSpPr/>
            <p:nvPr>
              <p:custDataLst>
                <p:tags r:id="rId28"/>
              </p:custDataLst>
            </p:nvPr>
          </p:nvCxnSpPr>
          <p:spPr bwMode="auto">
            <a:xfrm>
              <a:off x="3969" y="3288"/>
              <a:ext cx="1701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grpSp>
          <p:nvGrpSpPr>
            <p:cNvPr id="528" name="组合 527"/>
            <p:cNvGrpSpPr/>
            <p:nvPr/>
          </p:nvGrpSpPr>
          <p:grpSpPr>
            <a:xfrm>
              <a:off x="8334" y="2778"/>
              <a:ext cx="851" cy="1077"/>
              <a:chOff x="6066" y="2778"/>
              <a:chExt cx="851" cy="1077"/>
            </a:xfrm>
          </p:grpSpPr>
          <p:sp>
            <p:nvSpPr>
              <p:cNvPr id="529" name="Text Box 81"/>
              <p:cNvSpPr txBox="1"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6519" y="2778"/>
                <a:ext cx="398" cy="107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eaVert" lIns="18000" tIns="10800" rIns="18000" bIns="10800" anchor="ctr"/>
              <a:p>
                <a:pPr algn="ctr"/>
                <a:r>
                  <a:rPr lang="zh-CN" altLang="en-US" sz="1600" b="1" u="none">
                    <a:latin typeface="宋体" panose="02010600030101010101" pitchFamily="2" charset="-122"/>
                  </a:rPr>
                  <a:t>行选择</a:t>
                </a:r>
                <a:endParaRPr lang="zh-CN" altLang="en-US" sz="1600" b="1" u="none">
                  <a:latin typeface="宋体" panose="02010600030101010101" pitchFamily="2" charset="-122"/>
                </a:endParaRPr>
              </a:p>
            </p:txBody>
          </p:sp>
          <p:sp>
            <p:nvSpPr>
              <p:cNvPr id="530" name="Text Box 140"/>
              <p:cNvSpPr txBox="1">
                <a:spLocks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6122" y="3175"/>
                <a:ext cx="340" cy="454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vert="eaVert" lIns="18000" tIns="10800" rIns="36195" bIns="10800" anchor="ctr"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>
                    <a:latin typeface="宋体" panose="02010600030101010101" pitchFamily="2" charset="-122"/>
                  </a:rPr>
                  <a:t>…</a:t>
                </a:r>
                <a:endParaRPr lang="en-US" altLang="zh-CN" sz="1600" b="1" u="none" baseline="-2000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531" name="直接箭头连接符 530"/>
              <p:cNvCxnSpPr/>
              <p:nvPr>
                <p:custDataLst>
                  <p:tags r:id="rId31"/>
                </p:custDataLst>
              </p:nvPr>
            </p:nvCxnSpPr>
            <p:spPr bwMode="auto">
              <a:xfrm>
                <a:off x="6066" y="3118"/>
                <a:ext cx="454" cy="2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</p:spPr>
          </p:cxnSp>
          <p:cxnSp>
            <p:nvCxnSpPr>
              <p:cNvPr id="532" name="直接箭头连接符 531"/>
              <p:cNvCxnSpPr/>
              <p:nvPr>
                <p:custDataLst>
                  <p:tags r:id="rId32"/>
                </p:custDataLst>
              </p:nvPr>
            </p:nvCxnSpPr>
            <p:spPr bwMode="auto">
              <a:xfrm>
                <a:off x="6066" y="3685"/>
                <a:ext cx="454" cy="2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</p:spPr>
          </p:cxnSp>
        </p:grpSp>
        <p:cxnSp>
          <p:nvCxnSpPr>
            <p:cNvPr id="533" name="直接箭头连接符 532"/>
            <p:cNvCxnSpPr/>
            <p:nvPr>
              <p:custDataLst>
                <p:tags r:id="rId33"/>
              </p:custDataLst>
            </p:nvPr>
          </p:nvCxnSpPr>
          <p:spPr bwMode="auto">
            <a:xfrm>
              <a:off x="8050" y="2438"/>
              <a:ext cx="227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4" name="直接箭头连接符 533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8675" y="2041"/>
              <a:ext cx="1814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35" name="直接箭头连接符 534"/>
            <p:cNvCxnSpPr/>
            <p:nvPr>
              <p:custDataLst>
                <p:tags r:id="rId35"/>
              </p:custDataLst>
            </p:nvPr>
          </p:nvCxnSpPr>
          <p:spPr bwMode="auto">
            <a:xfrm flipH="1">
              <a:off x="9865" y="2268"/>
              <a:ext cx="45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36" name="直接箭头连接符 535"/>
            <p:cNvCxnSpPr/>
            <p:nvPr>
              <p:custDataLst>
                <p:tags r:id="rId36"/>
              </p:custDataLst>
            </p:nvPr>
          </p:nvCxnSpPr>
          <p:spPr bwMode="auto">
            <a:xfrm flipH="1">
              <a:off x="9751" y="2608"/>
              <a:ext cx="90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37" name="直接箭头连接符 536"/>
            <p:cNvCxnSpPr/>
            <p:nvPr>
              <p:custDataLst>
                <p:tags r:id="rId37"/>
              </p:custDataLst>
            </p:nvPr>
          </p:nvCxnSpPr>
          <p:spPr bwMode="auto">
            <a:xfrm flipH="1">
              <a:off x="9751" y="2438"/>
              <a:ext cx="113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38" name="直接箭头连接符 537"/>
            <p:cNvCxnSpPr/>
            <p:nvPr>
              <p:custDataLst>
                <p:tags r:id="rId38"/>
              </p:custDataLst>
            </p:nvPr>
          </p:nvCxnSpPr>
          <p:spPr bwMode="auto">
            <a:xfrm>
              <a:off x="9298" y="1928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9" name="直接箭头连接符 538"/>
            <p:cNvCxnSpPr/>
            <p:nvPr>
              <p:custDataLst>
                <p:tags r:id="rId39"/>
              </p:custDataLst>
            </p:nvPr>
          </p:nvCxnSpPr>
          <p:spPr bwMode="auto">
            <a:xfrm>
              <a:off x="9298" y="1928"/>
              <a:ext cx="1587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0" name="直接箭头连接符 539"/>
            <p:cNvCxnSpPr/>
            <p:nvPr>
              <p:custDataLst>
                <p:tags r:id="rId40"/>
              </p:custDataLst>
            </p:nvPr>
          </p:nvCxnSpPr>
          <p:spPr bwMode="auto">
            <a:xfrm flipH="1">
              <a:off x="9184" y="3288"/>
              <a:ext cx="1701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1" name="直接箭头连接符 540"/>
            <p:cNvCxnSpPr/>
            <p:nvPr>
              <p:custDataLst>
                <p:tags r:id="rId41"/>
              </p:custDataLst>
            </p:nvPr>
          </p:nvCxnSpPr>
          <p:spPr bwMode="auto">
            <a:xfrm>
              <a:off x="3969" y="4025"/>
              <a:ext cx="2551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2" name="直接箭头连接符 541"/>
            <p:cNvCxnSpPr/>
            <p:nvPr>
              <p:custDataLst>
                <p:tags r:id="rId42"/>
              </p:custDataLst>
            </p:nvPr>
          </p:nvCxnSpPr>
          <p:spPr bwMode="auto">
            <a:xfrm>
              <a:off x="4876" y="4195"/>
              <a:ext cx="164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3" name="直接箭头连接符 542"/>
            <p:cNvCxnSpPr/>
            <p:nvPr>
              <p:custDataLst>
                <p:tags r:id="rId43"/>
              </p:custDataLst>
            </p:nvPr>
          </p:nvCxnSpPr>
          <p:spPr bwMode="auto">
            <a:xfrm>
              <a:off x="4706" y="4365"/>
              <a:ext cx="181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4" name="直接箭头连接符 543"/>
            <p:cNvCxnSpPr/>
            <p:nvPr>
              <p:custDataLst>
                <p:tags r:id="rId44"/>
              </p:custDataLst>
            </p:nvPr>
          </p:nvCxnSpPr>
          <p:spPr bwMode="auto">
            <a:xfrm flipH="1">
              <a:off x="8334" y="4195"/>
              <a:ext cx="164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5" name="直接箭头连接符 544"/>
            <p:cNvCxnSpPr/>
            <p:nvPr>
              <p:custDataLst>
                <p:tags r:id="rId45"/>
              </p:custDataLst>
            </p:nvPr>
          </p:nvCxnSpPr>
          <p:spPr bwMode="auto">
            <a:xfrm flipH="1">
              <a:off x="8334" y="4365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6" name="直接箭头连接符 545"/>
            <p:cNvCxnSpPr/>
            <p:nvPr>
              <p:custDataLst>
                <p:tags r:id="rId46"/>
              </p:custDataLst>
            </p:nvPr>
          </p:nvCxnSpPr>
          <p:spPr bwMode="auto">
            <a:xfrm flipH="1">
              <a:off x="8334" y="4025"/>
              <a:ext cx="2551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7" name="直接箭头连接符 546"/>
            <p:cNvCxnSpPr/>
            <p:nvPr>
              <p:custDataLst>
                <p:tags r:id="rId47"/>
              </p:custDataLst>
            </p:nvPr>
          </p:nvCxnSpPr>
          <p:spPr bwMode="auto">
            <a:xfrm>
              <a:off x="6917" y="4422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8" name="直接箭头连接符 547"/>
            <p:cNvCxnSpPr/>
            <p:nvPr>
              <p:custDataLst>
                <p:tags r:id="rId48"/>
              </p:custDataLst>
            </p:nvPr>
          </p:nvCxnSpPr>
          <p:spPr bwMode="auto">
            <a:xfrm>
              <a:off x="3969" y="4592"/>
              <a:ext cx="2948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9" name="直接箭头连接符 548"/>
            <p:cNvCxnSpPr/>
            <p:nvPr>
              <p:custDataLst>
                <p:tags r:id="rId49"/>
              </p:custDataLst>
            </p:nvPr>
          </p:nvCxnSpPr>
          <p:spPr bwMode="auto">
            <a:xfrm>
              <a:off x="7994" y="4422"/>
              <a:ext cx="0" cy="17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0" name="直接箭头连接符 549"/>
            <p:cNvCxnSpPr/>
            <p:nvPr>
              <p:custDataLst>
                <p:tags r:id="rId50"/>
              </p:custDataLst>
            </p:nvPr>
          </p:nvCxnSpPr>
          <p:spPr bwMode="auto">
            <a:xfrm>
              <a:off x="7994" y="4592"/>
              <a:ext cx="2891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1" name="直接箭头连接符 550"/>
            <p:cNvCxnSpPr/>
            <p:nvPr>
              <p:custDataLst>
                <p:tags r:id="rId51"/>
              </p:custDataLst>
            </p:nvPr>
          </p:nvCxnSpPr>
          <p:spPr bwMode="auto">
            <a:xfrm>
              <a:off x="9978" y="2610"/>
              <a:ext cx="0" cy="158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552" name="直接箭头连接符 551"/>
            <p:cNvCxnSpPr/>
            <p:nvPr>
              <p:custDataLst>
                <p:tags r:id="rId52"/>
              </p:custDataLst>
            </p:nvPr>
          </p:nvCxnSpPr>
          <p:spPr bwMode="auto">
            <a:xfrm>
              <a:off x="10148" y="2438"/>
              <a:ext cx="0" cy="1928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553" name="直接箭头连接符 552"/>
            <p:cNvCxnSpPr/>
            <p:nvPr>
              <p:custDataLst>
                <p:tags r:id="rId53"/>
              </p:custDataLst>
            </p:nvPr>
          </p:nvCxnSpPr>
          <p:spPr bwMode="auto">
            <a:xfrm>
              <a:off x="10318" y="2268"/>
              <a:ext cx="0" cy="2324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cxnSp>
          <p:nvCxnSpPr>
            <p:cNvPr id="554" name="直接箭头连接符 553"/>
            <p:cNvCxnSpPr/>
            <p:nvPr>
              <p:custDataLst>
                <p:tags r:id="rId54"/>
              </p:custDataLst>
            </p:nvPr>
          </p:nvCxnSpPr>
          <p:spPr bwMode="auto">
            <a:xfrm>
              <a:off x="4365" y="2041"/>
              <a:ext cx="0" cy="1984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555" name="直接箭头连接符 554"/>
            <p:cNvCxnSpPr/>
            <p:nvPr>
              <p:custDataLst>
                <p:tags r:id="rId55"/>
              </p:custDataLst>
            </p:nvPr>
          </p:nvCxnSpPr>
          <p:spPr bwMode="auto">
            <a:xfrm>
              <a:off x="4876" y="2608"/>
              <a:ext cx="0" cy="158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556" name="直接箭头连接符 555"/>
            <p:cNvCxnSpPr/>
            <p:nvPr>
              <p:custDataLst>
                <p:tags r:id="rId56"/>
              </p:custDataLst>
            </p:nvPr>
          </p:nvCxnSpPr>
          <p:spPr bwMode="auto">
            <a:xfrm>
              <a:off x="4706" y="2438"/>
              <a:ext cx="0" cy="1928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557" name="直接箭头连接符 556"/>
            <p:cNvCxnSpPr/>
            <p:nvPr>
              <p:custDataLst>
                <p:tags r:id="rId57"/>
              </p:custDataLst>
            </p:nvPr>
          </p:nvCxnSpPr>
          <p:spPr bwMode="auto">
            <a:xfrm>
              <a:off x="4535" y="2268"/>
              <a:ext cx="0" cy="2324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oval" w="sm" len="sm"/>
            </a:ln>
            <a:effectLst/>
          </p:spPr>
        </p:cxnSp>
        <p:cxnSp>
          <p:nvCxnSpPr>
            <p:cNvPr id="558" name="直接箭头连接符 557"/>
            <p:cNvCxnSpPr/>
            <p:nvPr>
              <p:custDataLst>
                <p:tags r:id="rId58"/>
              </p:custDataLst>
            </p:nvPr>
          </p:nvCxnSpPr>
          <p:spPr bwMode="auto">
            <a:xfrm>
              <a:off x="4195" y="2608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559" name="Oval 382"/>
            <p:cNvSpPr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4989" y="2211"/>
              <a:ext cx="115" cy="11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560" name="直接箭头连接符 559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3969" y="2891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561" name="Oval 382"/>
            <p:cNvSpPr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9751" y="2211"/>
              <a:ext cx="115" cy="11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562" name="直接箭头连接符 561"/>
            <p:cNvCxnSpPr/>
            <p:nvPr>
              <p:custDataLst>
                <p:tags r:id="rId62"/>
              </p:custDataLst>
            </p:nvPr>
          </p:nvCxnSpPr>
          <p:spPr bwMode="auto">
            <a:xfrm>
              <a:off x="10658" y="2608"/>
              <a:ext cx="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63" name="直接箭头连接符 562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10658" y="2891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1" name="Text Box 68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2948" y="3855"/>
              <a:ext cx="102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3L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0L</a:t>
              </a:r>
              <a:endParaRPr lang="en-US" altLang="zh-CN" sz="1600" b="1" u="none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" name="Text Box 72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2948" y="1814"/>
              <a:ext cx="102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7L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0L</a:t>
              </a:r>
              <a:endParaRPr lang="en-US" altLang="zh-CN" sz="1600" b="1" u="none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" name="Text Box 74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3458" y="2721"/>
              <a:ext cx="51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WE</a:t>
              </a:r>
              <a:r>
                <a:rPr lang="en-US" altLang="zh-CN" sz="1600" b="1" u="none" baseline="-20000">
                  <a:latin typeface="宋体" panose="02010600030101010101" pitchFamily="2" charset="-122"/>
                </a:rPr>
                <a:t>L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14" name="Text Box 77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3118" y="4365"/>
              <a:ext cx="85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BUSY</a:t>
              </a:r>
              <a:r>
                <a:rPr lang="en-US" altLang="zh-CN" sz="1600" b="1" u="none" baseline="-20000">
                  <a:latin typeface="宋体" panose="02010600030101010101" pitchFamily="2" charset="-122"/>
                </a:rPr>
                <a:t>L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15" name="Text Box 84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2835" y="3118"/>
              <a:ext cx="113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10L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4L</a:t>
              </a:r>
              <a:endParaRPr lang="en-US" altLang="zh-CN" sz="1600" b="1" u="none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" name="Text Box 116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3458" y="2248"/>
              <a:ext cx="51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CS</a:t>
              </a:r>
              <a:r>
                <a:rPr lang="en-US" altLang="zh-CN" sz="1600" b="1" u="none" baseline="-20000">
                  <a:latin typeface="宋体" panose="02010600030101010101" pitchFamily="2" charset="-122"/>
                </a:rPr>
                <a:t>L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cxnSp>
          <p:nvCxnSpPr>
            <p:cNvPr id="564" name="直接箭头连接符 563"/>
            <p:cNvCxnSpPr/>
            <p:nvPr>
              <p:custDataLst>
                <p:tags r:id="rId70"/>
              </p:custDataLst>
            </p:nvPr>
          </p:nvCxnSpPr>
          <p:spPr bwMode="auto">
            <a:xfrm flipV="1">
              <a:off x="3487" y="2750"/>
              <a:ext cx="34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65" name="直接箭头连接符 564"/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3487" y="2268"/>
              <a:ext cx="34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566" name="Text Box 68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10885" y="3855"/>
              <a:ext cx="102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3R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0R</a:t>
              </a:r>
              <a:endParaRPr lang="en-US" altLang="zh-CN" sz="1600" b="1" u="none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67" name="Text Box 72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10885" y="1814"/>
              <a:ext cx="102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7R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0R</a:t>
              </a:r>
              <a:endParaRPr lang="en-US" altLang="zh-CN" sz="1600" b="1" u="none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68" name="Text Box 74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10885" y="2721"/>
              <a:ext cx="51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WE</a:t>
              </a:r>
              <a:r>
                <a:rPr lang="en-US" altLang="zh-CN" sz="1600" b="1" u="none" baseline="-20000">
                  <a:latin typeface="宋体" panose="02010600030101010101" pitchFamily="2" charset="-122"/>
                </a:rPr>
                <a:t>R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569" name="Text Box 77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10885" y="4365"/>
              <a:ext cx="85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BUSY</a:t>
              </a:r>
              <a:r>
                <a:rPr lang="en-US" altLang="zh-CN" sz="1600" b="1" u="none" baseline="-20000">
                  <a:latin typeface="宋体" panose="02010600030101010101" pitchFamily="2" charset="-122"/>
                </a:rPr>
                <a:t>R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sp>
          <p:nvSpPr>
            <p:cNvPr id="570" name="Text Box 84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10885" y="3118"/>
              <a:ext cx="113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10R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4R</a:t>
              </a:r>
              <a:endParaRPr lang="en-US" altLang="zh-CN" sz="1600" b="1" u="none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71" name="Text Box 116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10885" y="2248"/>
              <a:ext cx="51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CS</a:t>
              </a:r>
              <a:r>
                <a:rPr lang="en-US" altLang="zh-CN" sz="1600" b="1" u="none" baseline="-20000">
                  <a:latin typeface="宋体" panose="02010600030101010101" pitchFamily="2" charset="-122"/>
                </a:rPr>
                <a:t>R</a:t>
              </a:r>
              <a:endParaRPr lang="en-US" altLang="zh-CN" sz="1600" b="1" u="none" baseline="-20000">
                <a:latin typeface="宋体" panose="02010600030101010101" pitchFamily="2" charset="-122"/>
              </a:endParaRPr>
            </a:p>
          </p:txBody>
        </p:sp>
        <p:cxnSp>
          <p:nvCxnSpPr>
            <p:cNvPr id="572" name="直接箭头连接符 571"/>
            <p:cNvCxnSpPr/>
            <p:nvPr>
              <p:custDataLst>
                <p:tags r:id="rId78"/>
              </p:custDataLst>
            </p:nvPr>
          </p:nvCxnSpPr>
          <p:spPr bwMode="auto">
            <a:xfrm flipV="1">
              <a:off x="10913" y="2750"/>
              <a:ext cx="34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73" name="直接箭头连接符 572"/>
            <p:cNvCxnSpPr/>
            <p:nvPr>
              <p:custDataLst>
                <p:tags r:id="rId79"/>
              </p:custDataLst>
            </p:nvPr>
          </p:nvCxnSpPr>
          <p:spPr bwMode="auto">
            <a:xfrm flipV="1">
              <a:off x="10913" y="2268"/>
              <a:ext cx="34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  <p:sp>
        <p:nvSpPr>
          <p:cNvPr id="574" name="Text Box 141"/>
          <p:cNvSpPr txBox="1">
            <a:spLocks noChangeArrowheads="1"/>
          </p:cNvSpPr>
          <p:nvPr>
            <p:custDataLst>
              <p:tags r:id="rId80"/>
            </p:custDataLst>
          </p:nvPr>
        </p:nvSpPr>
        <p:spPr bwMode="auto">
          <a:xfrm>
            <a:off x="1296000" y="3636000"/>
            <a:ext cx="6386195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有</a:t>
            </a: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个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字选择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线</a:t>
            </a: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       A</a:t>
            </a:r>
            <a:r>
              <a:rPr lang="zh-CN" altLang="en-US" sz="2200" b="1" u="none" baseline="-25000" dirty="0" smtClean="0">
                <a:latin typeface="宋体" panose="02010600030101010101" pitchFamily="2" charset="-122"/>
                <a:sym typeface="+mn-ea"/>
              </a:rPr>
              <a:t>列</a:t>
            </a:r>
            <a:r>
              <a:rPr lang="en-US" altLang="zh-CN" sz="2200" b="1" u="none" baseline="-25000" dirty="0" smtClean="0">
                <a:latin typeface="宋体" panose="02010600030101010101" pitchFamily="2" charset="-122"/>
                <a:sym typeface="+mn-ea"/>
              </a:rPr>
              <a:t>L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A</a:t>
            </a:r>
            <a:r>
              <a:rPr lang="zh-CN" altLang="en-US" sz="2200" b="1" u="none" baseline="-25000" dirty="0" smtClean="0">
                <a:latin typeface="宋体" panose="02010600030101010101" pitchFamily="2" charset="-122"/>
                <a:sym typeface="+mn-ea"/>
              </a:rPr>
              <a:t>列</a:t>
            </a:r>
            <a:r>
              <a:rPr lang="en-US" altLang="zh-CN" sz="2200" b="1" u="none" baseline="-25000" dirty="0" smtClean="0">
                <a:latin typeface="宋体" panose="02010600030101010101" pitchFamily="2" charset="-122"/>
                <a:sym typeface="+mn-ea"/>
              </a:rPr>
              <a:t>R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时有冲突，使某个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BUSY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有效</a:t>
            </a: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常用于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Cache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查找与更新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u="none" dirty="0" smtClean="0"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92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656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53803" name="Text Box 17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8639810" cy="5713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现代计算机的主存子系统组成：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不作要求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   ①DRAMC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支持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有限数量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20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主存</a:t>
            </a:r>
            <a:r>
              <a:rPr lang="zh-CN" altLang="en-US" sz="20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模块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u="none" dirty="0" smtClean="0">
                <a:solidFill>
                  <a:srgbClr val="0070C0"/>
                </a:solidFill>
                <a:latin typeface="+mn-ea"/>
                <a:sym typeface="+mn-ea"/>
              </a:rPr>
              <a:t>DRAM</a:t>
            </a:r>
            <a:r>
              <a:rPr lang="zh-CN" altLang="en-US" sz="1600" b="1" u="none" dirty="0">
                <a:solidFill>
                  <a:srgbClr val="0070C0"/>
                </a:solidFill>
                <a:latin typeface="+mn-ea"/>
                <a:sym typeface="+mn-ea"/>
              </a:rPr>
              <a:t>字</a:t>
            </a:r>
            <a:r>
              <a:rPr lang="zh-CN" altLang="en-US" sz="1600" b="1" u="none" dirty="0" smtClean="0">
                <a:solidFill>
                  <a:srgbClr val="0070C0"/>
                </a:solidFill>
                <a:latin typeface="+mn-ea"/>
                <a:sym typeface="+mn-ea"/>
              </a:rPr>
              <a:t>扩展</a:t>
            </a:r>
            <a:r>
              <a:rPr lang="zh-CN" altLang="en-US" sz="1600" b="1" u="none" dirty="0" smtClean="0">
                <a:latin typeface="+mn-ea"/>
                <a:sym typeface="+mn-ea"/>
              </a:rPr>
              <a:t>方法所致</a:t>
            </a: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                 </a:t>
            </a:r>
            <a:r>
              <a:rPr lang="en-US" altLang="zh-CN" sz="1600" b="1" u="none" dirty="0" smtClean="0">
                <a:latin typeface="+mn-ea"/>
                <a:ea typeface="+mn-ea"/>
                <a:sym typeface="+mn-ea"/>
              </a:rPr>
              <a:t>(</a:t>
            </a:r>
            <a:r>
              <a:rPr lang="zh-CN" altLang="en-US" sz="1600" b="1" u="none" dirty="0" smtClean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≤</a:t>
            </a:r>
            <a:r>
              <a:rPr lang="en-US" altLang="zh-CN" sz="1600" b="1" u="none" dirty="0" smtClean="0">
                <a:latin typeface="+mn-ea"/>
                <a:ea typeface="+mn-ea"/>
                <a:sym typeface="+mn-ea"/>
              </a:rPr>
              <a:t>BANK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插槽数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  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内存条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 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1600" b="1" u="none" baseline="-25000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←容量</a:t>
            </a:r>
            <a:r>
              <a:rPr lang="zh-CN" altLang="en-US" sz="16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可选配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所致</a:t>
            </a:r>
            <a:endParaRPr lang="zh-CN" altLang="en-US" sz="16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</a:pPr>
            <a:endParaRPr lang="zh-CN" altLang="en-US" sz="20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</a:pPr>
            <a:endParaRPr lang="zh-CN" altLang="en-US" sz="20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</a:pPr>
            <a:endParaRPr lang="zh-CN" altLang="en-US" sz="20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</a:pPr>
            <a:endParaRPr lang="zh-CN" altLang="en-US" sz="16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</a:pPr>
            <a:endParaRPr lang="zh-CN" altLang="en-US" sz="16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5000"/>
              </a:lnSpc>
            </a:pPr>
            <a:endParaRPr lang="zh-CN" altLang="en-US" sz="16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②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主存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模块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接口统一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容量可变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←提高灵活性、容量可配置</a:t>
            </a:r>
            <a:endParaRPr lang="zh-CN" altLang="en-US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                    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16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早期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168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线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DIMM 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、目前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288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线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DIMM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，均支持</a:t>
            </a:r>
            <a:r>
              <a:rPr lang="zh-CN" altLang="en-US" sz="16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多体并行</a:t>
            </a:r>
            <a:r>
              <a:rPr lang="en-US" altLang="zh-CN" sz="16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方式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③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系统启动时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BIOS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检测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内存条容量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分配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内存条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地址范围</a:t>
            </a:r>
            <a:endParaRPr lang="en-US" altLang="zh-CN" sz="20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硬件</a:t>
            </a:r>
            <a:r>
              <a:rPr lang="zh-CN" altLang="en-US" sz="20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支持</a:t>
            </a:r>
            <a:r>
              <a:rPr lang="en-US" altLang="zh-CN" sz="20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容量</a:t>
            </a:r>
            <a:r>
              <a:rPr lang="zh-CN" altLang="en-US" sz="20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检测</a:t>
            </a:r>
            <a:r>
              <a:rPr lang="en-US" altLang="zh-CN" sz="20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zh-CN" sz="16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地址</a:t>
            </a:r>
            <a:r>
              <a:rPr lang="zh-CN" altLang="en-US" sz="20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分配</a:t>
            </a: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000" b="1" u="none" dirty="0">
              <a:latin typeface="宋体" panose="02010600030101010101" pitchFamily="2" charset="-122"/>
            </a:endParaRPr>
          </a:p>
          <a:p>
            <a:pPr marL="5381625" indent="-5381625">
              <a:lnSpc>
                <a:spcPct val="125000"/>
              </a:lnSpc>
            </a:pP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④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系统工作时，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DRAMC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根据所接收地址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选择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内存条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使</a:t>
            </a:r>
            <a:r>
              <a:rPr lang="en-US" altLang="zh-CN" sz="1600" b="1" u="none" dirty="0" err="1" smtClean="0">
                <a:latin typeface="宋体" panose="02010600030101010101" pitchFamily="2" charset="-122"/>
                <a:sym typeface="+mn-ea"/>
              </a:rPr>
              <a:t>RAS</a:t>
            </a:r>
            <a:r>
              <a:rPr lang="en-US" altLang="zh-CN" sz="1600" b="1" u="none" baseline="-16000" dirty="0" err="1" smtClean="0">
                <a:latin typeface="宋体" panose="02010600030101010101" pitchFamily="2" charset="-122"/>
                <a:sym typeface="+mn-ea"/>
              </a:rPr>
              <a:t>i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有效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中转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操作</a:t>
            </a:r>
            <a:endParaRPr lang="en-US" altLang="zh-CN" sz="1600" b="1" u="none" dirty="0" smtClean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154" name="组合 153"/>
          <p:cNvGrpSpPr/>
          <p:nvPr/>
        </p:nvGrpSpPr>
        <p:grpSpPr>
          <a:xfrm>
            <a:off x="1222375" y="1548000"/>
            <a:ext cx="3923665" cy="1583690"/>
            <a:chOff x="1247" y="5216"/>
            <a:chExt cx="6179" cy="2494"/>
          </a:xfrm>
        </p:grpSpPr>
        <p:sp>
          <p:nvSpPr>
            <p:cNvPr id="71" name="Text Box 110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247" y="5329"/>
              <a:ext cx="1587" cy="2381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  </a:t>
              </a:r>
              <a:endParaRPr lang="en-US" altLang="zh-CN" sz="16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D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31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BE</a:t>
              </a:r>
              <a:r>
                <a:rPr lang="en-US" altLang="zh-CN" sz="1600" b="1" u="none" baseline="-25000" dirty="0">
                  <a:latin typeface="宋体" panose="02010600030101010101" pitchFamily="2" charset="-122"/>
                  <a:sym typeface="+mn-ea"/>
                </a:rPr>
                <a:t>3</a:t>
              </a:r>
              <a:r>
                <a:rPr lang="en-US" altLang="zh-CN" sz="1600" b="1" u="none" dirty="0">
                  <a:cs typeface="Times New Roman" panose="02020603050405020304" pitchFamily="18" charset="0"/>
                  <a:sym typeface="+mn-ea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BE</a:t>
              </a:r>
              <a:r>
                <a:rPr lang="en-US" altLang="zh-CN" sz="1600" b="1" u="none" baseline="-25000" dirty="0">
                  <a:latin typeface="宋体" panose="02010600030101010101" pitchFamily="2" charset="-122"/>
                  <a:sym typeface="+mn-ea"/>
                </a:rPr>
                <a:t>0</a:t>
              </a:r>
              <a:endParaRPr lang="en-US" altLang="zh-CN" sz="1600" b="1" baseline="-25000" dirty="0">
                <a:latin typeface="宋体" panose="02010600030101010101" pitchFamily="2" charset="-122"/>
                <a:sym typeface="+mn-ea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A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  <a:sym typeface="+mn-ea"/>
                </a:rPr>
                <a:t>31</a:t>
              </a:r>
              <a:r>
                <a:rPr lang="en-US" altLang="zh-CN" sz="1600" b="1" u="none" dirty="0" smtClean="0">
                  <a:sym typeface="+mn-ea"/>
                </a:rPr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A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  <a:sym typeface="+mn-ea"/>
                </a:rPr>
                <a:t>2</a:t>
              </a:r>
              <a:endParaRPr lang="en-US" altLang="zh-CN" sz="1600" b="1" baseline="-20000" dirty="0" smtClean="0">
                <a:latin typeface="宋体" panose="02010600030101010101" pitchFamily="2" charset="-122"/>
                <a:sym typeface="+mn-ea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 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ADS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M/IO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W/R</a:t>
              </a:r>
              <a:endParaRPr lang="en-US" altLang="zh-CN" sz="1600" b="1" u="none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endParaRPr lang="en-US" altLang="zh-CN" sz="1600" b="1" u="none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2" name="Text Box 197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304" y="6406"/>
              <a:ext cx="907" cy="7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80386</a:t>
              </a:r>
              <a:endParaRPr lang="en-US" altLang="zh-CN" sz="16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CPU</a:t>
              </a:r>
              <a:endParaRPr lang="en-US" altLang="zh-CN" sz="16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" name="Text Box 368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066" y="5329"/>
              <a:ext cx="1361" cy="113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0#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BANK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内存条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5" name="Text Box 369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066" y="6576"/>
              <a:ext cx="1361" cy="113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1#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BANK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内存条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82" name="Text Box 385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515" y="5329"/>
              <a:ext cx="1247" cy="238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10800" rIns="36195" bIns="10800" anchor="t" anchorCtr="0"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</a:rPr>
                <a:t>15</a:t>
              </a:r>
              <a:r>
                <a:rPr lang="en-US" altLang="zh-CN" sz="1600" b="1" u="none" dirty="0" smtClean="0"/>
                <a:t>~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20000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BE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u="none" dirty="0">
                  <a:cs typeface="Times New Roman" panose="02020603050405020304" pitchFamily="18" charset="0"/>
                </a:rPr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BE</a:t>
              </a:r>
              <a:r>
                <a:rPr lang="en-US" altLang="zh-CN" sz="1600" b="1" u="none" baseline="-25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RAS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RAS</a:t>
              </a:r>
              <a:r>
                <a:rPr lang="en-US" altLang="zh-CN" sz="1600" b="1" u="none" baseline="-20000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CAS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1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WE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83" name="Text Box 197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572" y="5953"/>
              <a:ext cx="340" cy="175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/>
              <a:r>
                <a:rPr lang="en-US" altLang="zh-CN" sz="1600" b="1" u="none" dirty="0" smtClean="0">
                  <a:latin typeface="宋体" panose="02010600030101010101" pitchFamily="2" charset="-122"/>
                </a:rPr>
                <a:t>DRAM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控制器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42" name="直接箭头连接符 41"/>
            <p:cNvCxnSpPr/>
            <p:nvPr>
              <p:custDataLst>
                <p:tags r:id="rId8"/>
              </p:custDataLst>
            </p:nvPr>
          </p:nvCxnSpPr>
          <p:spPr bwMode="auto">
            <a:xfrm>
              <a:off x="4762" y="5499"/>
              <a:ext cx="794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直接箭头连接符 42"/>
            <p:cNvCxnSpPr/>
            <p:nvPr>
              <p:custDataLst>
                <p:tags r:id="rId9"/>
              </p:custDataLst>
            </p:nvPr>
          </p:nvCxnSpPr>
          <p:spPr bwMode="auto">
            <a:xfrm>
              <a:off x="5556" y="7030"/>
              <a:ext cx="510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4" name="直接箭头连接符 43"/>
            <p:cNvCxnSpPr/>
            <p:nvPr>
              <p:custDataLst>
                <p:tags r:id="rId10"/>
              </p:custDataLst>
            </p:nvPr>
          </p:nvCxnSpPr>
          <p:spPr bwMode="auto">
            <a:xfrm>
              <a:off x="5839" y="5443"/>
              <a:ext cx="227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45" name="直接箭头连接符 44"/>
            <p:cNvCxnSpPr/>
            <p:nvPr>
              <p:custDataLst>
                <p:tags r:id="rId11"/>
              </p:custDataLst>
            </p:nvPr>
          </p:nvCxnSpPr>
          <p:spPr bwMode="auto">
            <a:xfrm>
              <a:off x="5839" y="5216"/>
              <a:ext cx="0" cy="1474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接箭头连接符 45"/>
            <p:cNvCxnSpPr/>
            <p:nvPr>
              <p:custDataLst>
                <p:tags r:id="rId12"/>
              </p:custDataLst>
            </p:nvPr>
          </p:nvCxnSpPr>
          <p:spPr bwMode="auto">
            <a:xfrm>
              <a:off x="5839" y="6690"/>
              <a:ext cx="227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接箭头连接符 46"/>
            <p:cNvCxnSpPr/>
            <p:nvPr>
              <p:custDataLst>
                <p:tags r:id="rId13"/>
              </p:custDataLst>
            </p:nvPr>
          </p:nvCxnSpPr>
          <p:spPr bwMode="auto">
            <a:xfrm>
              <a:off x="5102" y="6123"/>
              <a:ext cx="96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8" name="直接箭头连接符 47"/>
            <p:cNvCxnSpPr/>
            <p:nvPr>
              <p:custDataLst>
                <p:tags r:id="rId14"/>
              </p:custDataLst>
            </p:nvPr>
          </p:nvCxnSpPr>
          <p:spPr bwMode="auto">
            <a:xfrm>
              <a:off x="5329" y="6293"/>
              <a:ext cx="73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9" name="直接箭头连接符 48"/>
            <p:cNvCxnSpPr/>
            <p:nvPr>
              <p:custDataLst>
                <p:tags r:id="rId15"/>
              </p:custDataLst>
            </p:nvPr>
          </p:nvCxnSpPr>
          <p:spPr bwMode="auto">
            <a:xfrm>
              <a:off x="4762" y="7540"/>
              <a:ext cx="130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0" name="直接箭头连接符 49"/>
            <p:cNvCxnSpPr/>
            <p:nvPr>
              <p:custDataLst>
                <p:tags r:id="rId16"/>
              </p:custDataLst>
            </p:nvPr>
          </p:nvCxnSpPr>
          <p:spPr bwMode="auto">
            <a:xfrm flipH="1">
              <a:off x="5556" y="5499"/>
              <a:ext cx="0" cy="1531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51" name="直接箭头连接符 50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5329" y="6293"/>
              <a:ext cx="0" cy="124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52" name="直接箭头连接符 51"/>
            <p:cNvCxnSpPr/>
            <p:nvPr>
              <p:custDataLst>
                <p:tags r:id="rId18"/>
              </p:custDataLst>
            </p:nvPr>
          </p:nvCxnSpPr>
          <p:spPr bwMode="auto">
            <a:xfrm>
              <a:off x="5102" y="7200"/>
              <a:ext cx="964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" name="直接箭头连接符 53"/>
            <p:cNvCxnSpPr/>
            <p:nvPr>
              <p:custDataLst>
                <p:tags r:id="rId19"/>
              </p:custDataLst>
            </p:nvPr>
          </p:nvCxnSpPr>
          <p:spPr bwMode="auto">
            <a:xfrm>
              <a:off x="4762" y="6180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" name="直接箭头连接符 54"/>
            <p:cNvCxnSpPr/>
            <p:nvPr>
              <p:custDataLst>
                <p:tags r:id="rId20"/>
              </p:custDataLst>
            </p:nvPr>
          </p:nvCxnSpPr>
          <p:spPr bwMode="auto">
            <a:xfrm>
              <a:off x="4762" y="6520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直接箭头连接符 55"/>
            <p:cNvCxnSpPr/>
            <p:nvPr>
              <p:custDataLst>
                <p:tags r:id="rId21"/>
              </p:custDataLst>
            </p:nvPr>
          </p:nvCxnSpPr>
          <p:spPr bwMode="auto">
            <a:xfrm flipH="1">
              <a:off x="5102" y="6123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" name="直接箭头连接符 56"/>
            <p:cNvCxnSpPr/>
            <p:nvPr>
              <p:custDataLst>
                <p:tags r:id="rId22"/>
              </p:custDataLst>
            </p:nvPr>
          </p:nvCxnSpPr>
          <p:spPr bwMode="auto">
            <a:xfrm flipH="1">
              <a:off x="4989" y="5953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直接箭头连接符 57"/>
            <p:cNvCxnSpPr/>
            <p:nvPr>
              <p:custDataLst>
                <p:tags r:id="rId23"/>
              </p:custDataLst>
            </p:nvPr>
          </p:nvCxnSpPr>
          <p:spPr bwMode="auto">
            <a:xfrm>
              <a:off x="3118" y="5216"/>
              <a:ext cx="2721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直接箭头连接符 58"/>
            <p:cNvCxnSpPr/>
            <p:nvPr>
              <p:custDataLst>
                <p:tags r:id="rId24"/>
              </p:custDataLst>
            </p:nvPr>
          </p:nvCxnSpPr>
          <p:spPr bwMode="auto">
            <a:xfrm>
              <a:off x="2834" y="5499"/>
              <a:ext cx="283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直接箭头连接符 59"/>
            <p:cNvCxnSpPr/>
            <p:nvPr>
              <p:custDataLst>
                <p:tags r:id="rId25"/>
              </p:custDataLst>
            </p:nvPr>
          </p:nvCxnSpPr>
          <p:spPr bwMode="auto">
            <a:xfrm>
              <a:off x="3118" y="5216"/>
              <a:ext cx="0" cy="283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直接箭头连接符 60"/>
            <p:cNvCxnSpPr/>
            <p:nvPr>
              <p:custDataLst>
                <p:tags r:id="rId26"/>
              </p:custDataLst>
            </p:nvPr>
          </p:nvCxnSpPr>
          <p:spPr bwMode="auto">
            <a:xfrm>
              <a:off x="4989" y="7370"/>
              <a:ext cx="107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2" name="直接箭头连接符 61"/>
            <p:cNvCxnSpPr/>
            <p:nvPr>
              <p:custDataLst>
                <p:tags r:id="rId27"/>
              </p:custDataLst>
            </p:nvPr>
          </p:nvCxnSpPr>
          <p:spPr bwMode="auto">
            <a:xfrm>
              <a:off x="4989" y="5953"/>
              <a:ext cx="107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3" name="直接箭头连接符 62"/>
            <p:cNvCxnSpPr/>
            <p:nvPr>
              <p:custDataLst>
                <p:tags r:id="rId28"/>
              </p:custDataLst>
            </p:nvPr>
          </p:nvCxnSpPr>
          <p:spPr bwMode="auto">
            <a:xfrm>
              <a:off x="5726" y="6860"/>
              <a:ext cx="340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4" name="直接箭头连接符 63"/>
            <p:cNvCxnSpPr/>
            <p:nvPr>
              <p:custDataLst>
                <p:tags r:id="rId29"/>
              </p:custDataLst>
            </p:nvPr>
          </p:nvCxnSpPr>
          <p:spPr bwMode="auto">
            <a:xfrm>
              <a:off x="4989" y="5613"/>
              <a:ext cx="107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5" name="直接箭头连接符 64"/>
            <p:cNvCxnSpPr/>
            <p:nvPr>
              <p:custDataLst>
                <p:tags r:id="rId30"/>
              </p:custDataLst>
            </p:nvPr>
          </p:nvCxnSpPr>
          <p:spPr bwMode="auto">
            <a:xfrm>
              <a:off x="5556" y="5783"/>
              <a:ext cx="510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66" name="直接箭头连接符 65"/>
            <p:cNvCxnSpPr/>
            <p:nvPr>
              <p:custDataLst>
                <p:tags r:id="rId31"/>
              </p:custDataLst>
            </p:nvPr>
          </p:nvCxnSpPr>
          <p:spPr bwMode="auto">
            <a:xfrm>
              <a:off x="4762" y="5839"/>
              <a:ext cx="22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直接箭头连接符 66"/>
            <p:cNvCxnSpPr/>
            <p:nvPr>
              <p:custDataLst>
                <p:tags r:id="rId32"/>
              </p:custDataLst>
            </p:nvPr>
          </p:nvCxnSpPr>
          <p:spPr bwMode="auto">
            <a:xfrm>
              <a:off x="5726" y="5613"/>
              <a:ext cx="0" cy="1247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68" name="直接箭头连接符 67"/>
            <p:cNvCxnSpPr/>
            <p:nvPr>
              <p:custDataLst>
                <p:tags r:id="rId33"/>
              </p:custDataLst>
            </p:nvPr>
          </p:nvCxnSpPr>
          <p:spPr bwMode="auto">
            <a:xfrm flipH="1">
              <a:off x="4989" y="5613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直接箭头连接符 68"/>
            <p:cNvCxnSpPr/>
            <p:nvPr>
              <p:custDataLst>
                <p:tags r:id="rId34"/>
              </p:custDataLst>
            </p:nvPr>
          </p:nvCxnSpPr>
          <p:spPr bwMode="auto">
            <a:xfrm>
              <a:off x="4762" y="6860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4" name="直接箭头连接符 133"/>
            <p:cNvCxnSpPr/>
            <p:nvPr>
              <p:custDataLst>
                <p:tags r:id="rId35"/>
              </p:custDataLst>
            </p:nvPr>
          </p:nvCxnSpPr>
          <p:spPr bwMode="auto">
            <a:xfrm>
              <a:off x="4762" y="7257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直接箭头连接符 134"/>
            <p:cNvCxnSpPr/>
            <p:nvPr>
              <p:custDataLst>
                <p:tags r:id="rId36"/>
              </p:custDataLst>
            </p:nvPr>
          </p:nvCxnSpPr>
          <p:spPr bwMode="auto">
            <a:xfrm flipH="1">
              <a:off x="4989" y="7257"/>
              <a:ext cx="0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6" name="直接箭头连接符 135"/>
            <p:cNvCxnSpPr/>
            <p:nvPr>
              <p:custDataLst>
                <p:tags r:id="rId37"/>
              </p:custDataLst>
            </p:nvPr>
          </p:nvCxnSpPr>
          <p:spPr bwMode="auto">
            <a:xfrm flipH="1">
              <a:off x="5102" y="6860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7" name="直接箭头连接符 136"/>
            <p:cNvCxnSpPr/>
            <p:nvPr>
              <p:custDataLst>
                <p:tags r:id="rId38"/>
              </p:custDataLst>
            </p:nvPr>
          </p:nvCxnSpPr>
          <p:spPr bwMode="auto">
            <a:xfrm>
              <a:off x="2834" y="7540"/>
              <a:ext cx="680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8" name="直接箭头连接符 137"/>
            <p:cNvCxnSpPr/>
            <p:nvPr>
              <p:custDataLst>
                <p:tags r:id="rId39"/>
              </p:custDataLst>
            </p:nvPr>
          </p:nvCxnSpPr>
          <p:spPr bwMode="auto">
            <a:xfrm>
              <a:off x="2834" y="7200"/>
              <a:ext cx="680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9" name="直接箭头连接符 138"/>
            <p:cNvCxnSpPr/>
            <p:nvPr>
              <p:custDataLst>
                <p:tags r:id="rId40"/>
              </p:custDataLst>
            </p:nvPr>
          </p:nvCxnSpPr>
          <p:spPr bwMode="auto">
            <a:xfrm>
              <a:off x="2834" y="6860"/>
              <a:ext cx="680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0" name="直接箭头连接符 139"/>
            <p:cNvCxnSpPr/>
            <p:nvPr>
              <p:custDataLst>
                <p:tags r:id="rId41"/>
              </p:custDataLst>
            </p:nvPr>
          </p:nvCxnSpPr>
          <p:spPr bwMode="auto">
            <a:xfrm>
              <a:off x="2834" y="5839"/>
              <a:ext cx="680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1" name="直接箭头连接符 140"/>
            <p:cNvCxnSpPr/>
            <p:nvPr>
              <p:custDataLst>
                <p:tags r:id="rId42"/>
              </p:custDataLst>
            </p:nvPr>
          </p:nvCxnSpPr>
          <p:spPr bwMode="auto">
            <a:xfrm>
              <a:off x="2834" y="6180"/>
              <a:ext cx="680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2" name="直接箭头连接符 141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4382" y="7415"/>
              <a:ext cx="312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3" name="直接箭头连接符 142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4110" y="7087"/>
              <a:ext cx="5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4" name="直接箭头连接符 143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4110" y="6746"/>
              <a:ext cx="5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5" name="直接箭头连接符 144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4110" y="6378"/>
              <a:ext cx="5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6" name="直接箭头连接符 145"/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4110" y="6038"/>
              <a:ext cx="5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7" name="直接箭头连接符 146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3685" y="5694"/>
              <a:ext cx="39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8" name="直接箭头连接符 147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4280" y="5692"/>
              <a:ext cx="39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9" name="直接箭头连接符 148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2608" y="7389"/>
              <a:ext cx="17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50" name="直接箭头连接符 149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2494" y="7030"/>
              <a:ext cx="283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51" name="直接箭头连接符 150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2313" y="6690"/>
              <a:ext cx="454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52" name="直接箭头连接符 151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1757" y="5668"/>
              <a:ext cx="39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53" name="直接箭头连接符 152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2353" y="5666"/>
              <a:ext cx="39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  <p:grpSp>
        <p:nvGrpSpPr>
          <p:cNvPr id="254" name="组合 253"/>
          <p:cNvGrpSpPr/>
          <p:nvPr/>
        </p:nvGrpSpPr>
        <p:grpSpPr>
          <a:xfrm>
            <a:off x="5146530" y="1548000"/>
            <a:ext cx="647900" cy="1584325"/>
            <a:chOff x="7427" y="5216"/>
            <a:chExt cx="1020" cy="2495"/>
          </a:xfrm>
        </p:grpSpPr>
        <p:sp>
          <p:nvSpPr>
            <p:cNvPr id="453869" name="Text Box 237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8107" y="5216"/>
              <a:ext cx="340" cy="249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/>
              <a:r>
                <a:rPr lang="zh-CN" altLang="en-US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系统管理总线</a:t>
              </a:r>
              <a:r>
                <a:rPr lang="en-US" altLang="zh-CN" sz="16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SMB</a:t>
              </a:r>
              <a:endParaRPr lang="en-US" altLang="zh-CN" sz="1600" b="1" u="none" baseline="-20000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55" name="直接箭头连接符 154"/>
            <p:cNvCxnSpPr/>
            <p:nvPr>
              <p:custDataLst>
                <p:tags r:id="rId56"/>
              </p:custDataLst>
            </p:nvPr>
          </p:nvCxnSpPr>
          <p:spPr bwMode="auto">
            <a:xfrm>
              <a:off x="7427" y="5669"/>
              <a:ext cx="283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3" name="直接箭头连接符 182"/>
            <p:cNvCxnSpPr/>
            <p:nvPr>
              <p:custDataLst>
                <p:tags r:id="rId57"/>
              </p:custDataLst>
            </p:nvPr>
          </p:nvCxnSpPr>
          <p:spPr bwMode="auto">
            <a:xfrm>
              <a:off x="7427" y="5953"/>
              <a:ext cx="624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84" name="直接箭头连接符 183"/>
            <p:cNvCxnSpPr/>
            <p:nvPr>
              <p:custDataLst>
                <p:tags r:id="rId58"/>
              </p:custDataLst>
            </p:nvPr>
          </p:nvCxnSpPr>
          <p:spPr bwMode="auto">
            <a:xfrm>
              <a:off x="7427" y="6917"/>
              <a:ext cx="397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5" name="直接箭头连接符 184"/>
            <p:cNvCxnSpPr/>
            <p:nvPr>
              <p:custDataLst>
                <p:tags r:id="rId59"/>
              </p:custDataLst>
            </p:nvPr>
          </p:nvCxnSpPr>
          <p:spPr bwMode="auto">
            <a:xfrm>
              <a:off x="7427" y="7143"/>
              <a:ext cx="624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86" name="直接箭头连接符 185"/>
            <p:cNvCxnSpPr/>
            <p:nvPr>
              <p:custDataLst>
                <p:tags r:id="rId60"/>
              </p:custDataLst>
            </p:nvPr>
          </p:nvCxnSpPr>
          <p:spPr bwMode="auto">
            <a:xfrm flipH="1">
              <a:off x="7710" y="5272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252" name="直接箭头连接符 251"/>
            <p:cNvCxnSpPr/>
            <p:nvPr>
              <p:custDataLst>
                <p:tags r:id="rId61"/>
              </p:custDataLst>
            </p:nvPr>
          </p:nvCxnSpPr>
          <p:spPr bwMode="auto">
            <a:xfrm flipH="1">
              <a:off x="7824" y="5272"/>
              <a:ext cx="0" cy="1644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253" name="直接箭头连接符 252"/>
            <p:cNvCxnSpPr/>
            <p:nvPr>
              <p:custDataLst>
                <p:tags r:id="rId62"/>
              </p:custDataLst>
            </p:nvPr>
          </p:nvCxnSpPr>
          <p:spPr bwMode="auto">
            <a:xfrm>
              <a:off x="8050" y="5272"/>
              <a:ext cx="0" cy="2381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453905" name="Picture 273"/>
          <p:cNvPicPr>
            <a:picLocks noChangeAspect="1" noChangeArrowheads="1"/>
          </p:cNvPicPr>
          <p:nvPr>
            <p:custDataLst>
              <p:tags r:id="rId63"/>
            </p:custDataLst>
          </p:nvPr>
        </p:nvPicPr>
        <p:blipFill>
          <a:blip r:embed="rId64" cstate="print"/>
          <a:srcRect/>
          <a:stretch>
            <a:fillRect/>
          </a:stretch>
        </p:blipFill>
        <p:spPr bwMode="auto">
          <a:xfrm>
            <a:off x="6264275" y="1583690"/>
            <a:ext cx="1835785" cy="935990"/>
          </a:xfrm>
          <a:prstGeom prst="rect">
            <a:avLst/>
          </a:prstGeom>
          <a:noFill/>
        </p:spPr>
      </p:pic>
      <p:pic>
        <p:nvPicPr>
          <p:cNvPr id="453904" name="Picture 272"/>
          <p:cNvPicPr>
            <a:picLocks noChangeAspect="1" noChangeArrowheads="1"/>
          </p:cNvPicPr>
          <p:nvPr>
            <p:custDataLst>
              <p:tags r:id="rId65"/>
            </p:custDataLst>
          </p:nvPr>
        </p:nvPicPr>
        <p:blipFill>
          <a:blip r:embed="rId66" cstate="print"/>
          <a:srcRect/>
          <a:stretch>
            <a:fillRect/>
          </a:stretch>
        </p:blipFill>
        <p:spPr bwMode="auto">
          <a:xfrm>
            <a:off x="6224905" y="2628000"/>
            <a:ext cx="2578022" cy="540000"/>
          </a:xfrm>
          <a:prstGeom prst="rect">
            <a:avLst/>
          </a:prstGeom>
          <a:noFill/>
        </p:spPr>
      </p:pic>
      <p:sp>
        <p:nvSpPr>
          <p:cNvPr id="343306" name="Text Box 266"/>
          <p:cNvSpPr txBox="1">
            <a:spLocks noChangeArrowheads="1"/>
          </p:cNvSpPr>
          <p:nvPr>
            <p:custDataLst>
              <p:tags r:id="rId67"/>
            </p:custDataLst>
          </p:nvPr>
        </p:nvSpPr>
        <p:spPr bwMode="auto">
          <a:xfrm>
            <a:off x="2268855" y="4140200"/>
            <a:ext cx="4340225" cy="14401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noAutofit/>
          </a:bodyPr>
          <a:p>
            <a:pPr>
              <a:lnSpc>
                <a:spcPct val="125000"/>
              </a:lnSpc>
            </a:pPr>
            <a:r>
              <a:rPr lang="zh-CN" altLang="en-US" sz="2000" b="1" u="none" dirty="0" smtClean="0">
                <a:latin typeface="宋体" panose="02010600030101010101" pitchFamily="2" charset="-122"/>
              </a:rPr>
              <a:t>内存条包含</a:t>
            </a:r>
            <a:r>
              <a:rPr lang="en-US" altLang="zh-CN" sz="20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SPD</a:t>
            </a:r>
            <a:r>
              <a:rPr lang="zh-CN" altLang="en-US" sz="20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芯片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、连接</a:t>
            </a:r>
            <a:r>
              <a:rPr lang="en-US" altLang="zh-CN" sz="20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SMB</a:t>
            </a:r>
            <a:endParaRPr lang="zh-CN" altLang="en-US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依次</a:t>
            </a:r>
            <a:r>
              <a:rPr lang="zh-CN" altLang="en-US" sz="2000" b="1" u="none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读取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各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BANK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中内存条的容量</a:t>
            </a:r>
            <a:endParaRPr lang="en-US" altLang="zh-CN" sz="20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6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←轮流选中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SPD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芯片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u="none" spc="-50" dirty="0">
                <a:latin typeface="宋体" panose="02010600030101010101" pitchFamily="2" charset="-122"/>
                <a:sym typeface="+mn-ea"/>
              </a:rPr>
              <a:t>按</a:t>
            </a:r>
            <a:r>
              <a:rPr lang="en-US" altLang="zh-CN" sz="2000" b="1" u="none" spc="-50" dirty="0">
                <a:latin typeface="宋体" panose="02010600030101010101" pitchFamily="2" charset="-122"/>
                <a:sym typeface="+mn-ea"/>
              </a:rPr>
              <a:t>BANK</a:t>
            </a:r>
            <a:r>
              <a:rPr lang="zh-CN" altLang="en-US" sz="2000" b="1" u="none" spc="-50" dirty="0" smtClean="0">
                <a:latin typeface="宋体" panose="02010600030101010101" pitchFamily="2" charset="-122"/>
                <a:sym typeface="+mn-ea"/>
              </a:rPr>
              <a:t>顺序</a:t>
            </a:r>
            <a:r>
              <a:rPr lang="zh-CN" altLang="en-US" sz="2000" b="1" u="none" spc="-50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约定</a:t>
            </a:r>
            <a:r>
              <a:rPr lang="zh-CN" altLang="en-US" sz="2000" b="1" u="none" spc="-50" dirty="0" smtClean="0">
                <a:latin typeface="宋体" panose="02010600030101010101" pitchFamily="2" charset="-122"/>
                <a:sym typeface="+mn-ea"/>
              </a:rPr>
              <a:t>各</a:t>
            </a:r>
            <a:r>
              <a:rPr lang="zh-CN" altLang="en-US" sz="2000" b="1" u="none" spc="-50" dirty="0">
                <a:latin typeface="宋体" panose="02010600030101010101" pitchFamily="2" charset="-122"/>
                <a:sym typeface="+mn-ea"/>
              </a:rPr>
              <a:t>内存条的地址</a:t>
            </a:r>
            <a:r>
              <a:rPr lang="zh-CN" altLang="en-US" sz="2000" b="1" u="none" spc="-50" dirty="0" smtClean="0">
                <a:latin typeface="宋体" panose="02010600030101010101" pitchFamily="2" charset="-122"/>
                <a:sym typeface="+mn-ea"/>
              </a:rPr>
              <a:t>范围</a:t>
            </a:r>
            <a:endParaRPr lang="zh-CN" altLang="en-US" sz="2000" b="1" u="none" spc="-50" dirty="0">
              <a:latin typeface="宋体" panose="02010600030101010101" pitchFamily="2" charset="-122"/>
            </a:endParaRPr>
          </a:p>
        </p:txBody>
      </p:sp>
      <p:sp>
        <p:nvSpPr>
          <p:cNvPr id="255" name="Text Box 140"/>
          <p:cNvSpPr txBox="1">
            <a:spLocks noChangeArrowheads="1"/>
          </p:cNvSpPr>
          <p:nvPr>
            <p:custDataLst>
              <p:tags r:id="rId68"/>
            </p:custDataLst>
          </p:nvPr>
        </p:nvSpPr>
        <p:spPr bwMode="auto">
          <a:xfrm>
            <a:off x="6290310" y="4288790"/>
            <a:ext cx="2700000" cy="468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54000" tIns="10800" rIns="54000" bIns="10800" anchor="ctr"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 smtClean="0">
                <a:solidFill>
                  <a:srgbClr val="C00000"/>
                </a:solidFill>
                <a:latin typeface="+mn-ea"/>
              </a:rPr>
              <a:t>SPD—</a:t>
            </a:r>
            <a:r>
              <a:rPr lang="en-US" sz="1600" u="none" dirty="0" smtClean="0">
                <a:latin typeface="+mn-lt"/>
                <a:sym typeface="+mn-ea"/>
              </a:rPr>
              <a:t>Serial Presence Detect</a:t>
            </a:r>
            <a:endParaRPr lang="en-US" sz="1600" dirty="0" smtClean="0">
              <a:latin typeface="+mn-lt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SMB</a:t>
            </a:r>
            <a:r>
              <a:rPr lang="en-US" altLang="zh-CN" sz="16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1600" u="none" dirty="0" smtClean="0">
                <a:latin typeface="+mn-lt"/>
                <a:sym typeface="+mn-ea"/>
              </a:rPr>
              <a:t>System Management Bus</a:t>
            </a:r>
            <a:endParaRPr lang="en-US" altLang="zh-CN" sz="1600" b="1" u="none" spc="-100" dirty="0" smtClean="0">
              <a:solidFill>
                <a:srgbClr val="C00000"/>
              </a:solidFill>
              <a:latin typeface="+mn-lt"/>
              <a:sym typeface="+mn-ea"/>
            </a:endParaRPr>
          </a:p>
        </p:txBody>
      </p:sp>
      <p:sp>
        <p:nvSpPr>
          <p:cNvPr id="585" name="Text Box 123"/>
          <p:cNvSpPr txBox="1">
            <a:spLocks noChangeArrowheads="1"/>
          </p:cNvSpPr>
          <p:nvPr>
            <p:custDataLst>
              <p:tags r:id="rId69"/>
            </p:custDataLst>
          </p:nvPr>
        </p:nvSpPr>
        <p:spPr bwMode="auto">
          <a:xfrm>
            <a:off x="899343" y="6063426"/>
            <a:ext cx="7631883" cy="368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引子</a:t>
            </a:r>
            <a:r>
              <a:rPr lang="en-US" altLang="zh-CN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不满意主存速度时，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可采用优化方法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3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多种</a:t>
            </a:r>
            <a:r>
              <a:rPr lang="en-US" altLang="zh-CN" sz="1800" b="1" u="none" dirty="0">
                <a:latin typeface="宋体" panose="02010600030101010101" pitchFamily="2" charset="-122"/>
              </a:rPr>
              <a:t>MEM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层次结构</a:t>
            </a:r>
            <a:r>
              <a:rPr lang="en-US" altLang="zh-CN" sz="1800" b="1" u="none" dirty="0">
                <a:latin typeface="宋体" panose="02010600030101010101" pitchFamily="2" charset="-122"/>
              </a:rPr>
              <a:t>])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3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53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5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53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538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45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538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538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538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538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43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43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43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43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80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5380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" grpId="0" bldLvl="0" animBg="1"/>
      <p:bldP spid="585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183" name="Text Box 6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1224000"/>
            <a:ext cx="3284220" cy="1676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uFillTx/>
                <a:latin typeface="宋体" panose="02010600030101010101" pitchFamily="2" charset="-122"/>
                <a:sym typeface="+mn-ea"/>
              </a:rPr>
              <a:t> *MEM</a:t>
            </a:r>
            <a:r>
              <a:rPr lang="zh-CN" altLang="en-US" sz="2200" b="1" u="none" dirty="0">
                <a:solidFill>
                  <a:srgbClr val="C00000"/>
                </a:solidFill>
                <a:uFillTx/>
                <a:latin typeface="宋体" panose="02010600030101010101" pitchFamily="2" charset="-122"/>
                <a:sym typeface="+mn-ea"/>
              </a:rPr>
              <a:t>的层次结构回顾：</a:t>
            </a:r>
            <a:endParaRPr lang="zh-CN" altLang="en-US" sz="2200" b="1" u="none" dirty="0">
              <a:solidFill>
                <a:srgbClr val="C00000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rgbClr val="C00000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u="none" dirty="0">
              <a:solidFill>
                <a:srgbClr val="C00000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    Cache-</a:t>
            </a:r>
            <a:r>
              <a:rPr lang="zh-CN" altLang="en-US" sz="2200" b="1" u="none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主存层次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 smtClean="0">
              <a:solidFill>
                <a:srgbClr val="C00000"/>
              </a:solidFill>
              <a:uFillTx/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18801" name="Text Box 1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55650" y="1224000"/>
            <a:ext cx="8263255" cy="1676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多种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按速度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分层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级联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，各层之间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协调</a:t>
            </a: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工作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层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间</a:t>
            </a:r>
            <a:r>
              <a:rPr lang="zh-CN" altLang="en-US" sz="1600" b="1" u="none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透明地传递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信息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200" b="1" u="none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u="none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18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en-US" altLang="zh-CN" sz="1800" b="1" u="none" baseline="-2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M(i)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&lt;&lt;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en-US" altLang="zh-CN" sz="1800" b="1" u="none" baseline="-20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M(i</a:t>
            </a:r>
            <a:r>
              <a:rPr lang="en-US" altLang="zh-CN" sz="1800" b="1" u="none" baseline="-2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+1</a:t>
            </a:r>
            <a:r>
              <a:rPr lang="en-US" altLang="zh-CN" sz="1800" b="1" u="none" baseline="-20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1800" b="1" u="none" baseline="-2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M(i)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&lt;&lt;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1800" b="1" u="none" baseline="-20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M(i</a:t>
            </a:r>
            <a:r>
              <a:rPr lang="en-US" altLang="zh-CN" sz="1800" b="1" u="none" baseline="-20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+1</a:t>
            </a:r>
            <a:r>
              <a:rPr lang="en-US" altLang="zh-CN" sz="1800" b="1" u="none" baseline="-20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8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</a:t>
            </a:r>
            <a:r>
              <a:rPr lang="en-US" altLang="zh-CN" sz="18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中信息为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</a:t>
            </a:r>
            <a:r>
              <a:rPr lang="en-US" altLang="zh-CN" sz="18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i+1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副本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改后</a:t>
            </a: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需写回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</a:t>
            </a:r>
            <a:r>
              <a:rPr lang="en-US" altLang="zh-CN" sz="18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i+1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800" b="1" u="none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</a:t>
            </a:r>
            <a:r>
              <a:rPr 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提高访存速度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地址变换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层间管理由硬件实现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sz="1800" b="1" u="none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1" name="Rectangle 41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39135" y="3924000"/>
            <a:ext cx="2952000" cy="972000"/>
          </a:xfrm>
          <a:prstGeom prst="rect">
            <a:avLst/>
          </a:prstGeom>
          <a:solidFill>
            <a:srgbClr val="FFCC99">
              <a:alpha val="80000"/>
            </a:srgbClr>
          </a:solidFill>
          <a:ln w="15875">
            <a:solidFill>
              <a:schemeClr val="tx1"/>
            </a:solidFill>
            <a:miter lim="800000"/>
          </a:ln>
          <a:effectLst/>
        </p:spPr>
        <p:txBody>
          <a:bodyPr wrap="none" anchor="ctr"/>
          <a:p>
            <a:pPr algn="ctr"/>
            <a:endParaRPr lang="zh-CN" altLang="zh-CN" u="none"/>
          </a:p>
        </p:txBody>
      </p:sp>
      <p:grpSp>
        <p:nvGrpSpPr>
          <p:cNvPr id="74" name="组合 73"/>
          <p:cNvGrpSpPr/>
          <p:nvPr/>
        </p:nvGrpSpPr>
        <p:grpSpPr>
          <a:xfrm>
            <a:off x="1655445" y="3850530"/>
            <a:ext cx="6372225" cy="1151890"/>
            <a:chOff x="2268" y="3855"/>
            <a:chExt cx="10035" cy="1814"/>
          </a:xfrm>
        </p:grpSpPr>
        <p:sp>
          <p:nvSpPr>
            <p:cNvPr id="75" name="Rectangle 419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649" y="3855"/>
              <a:ext cx="7654" cy="181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p>
              <a:pPr algn="ctr"/>
              <a:endParaRPr lang="zh-CN" altLang="zh-CN" u="none"/>
            </a:p>
          </p:txBody>
        </p:sp>
        <p:sp>
          <p:nvSpPr>
            <p:cNvPr id="76" name="Rectangle 427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386" y="4989"/>
              <a:ext cx="3402" cy="454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p>
              <a:pPr algn="ctr"/>
              <a:r>
                <a:rPr lang="en-US" altLang="zh-CN" sz="1800" b="1" u="none" dirty="0" smtClean="0">
                  <a:latin typeface="宋体" panose="02010600030101010101" pitchFamily="2" charset="-122"/>
                </a:rPr>
                <a:t>Cache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存储体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800" b="1" u="none" dirty="0" smtClean="0">
                  <a:solidFill>
                    <a:srgbClr val="FF33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SRAM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7" name="Rectangle 428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932" y="4139"/>
              <a:ext cx="4309" cy="45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800" b="1" u="none" dirty="0" smtClean="0"/>
                <a:t>控制器</a:t>
              </a:r>
              <a:r>
                <a:rPr lang="en-US" altLang="zh-CN" sz="1600" b="1" u="none" dirty="0" smtClean="0">
                  <a:latin typeface="+mn-ea"/>
                  <a:ea typeface="+mn-ea"/>
                </a:rPr>
                <a:t>(</a:t>
              </a:r>
              <a:r>
                <a:rPr lang="zh-CN" altLang="en-US" sz="1600" b="1" u="none" dirty="0" smtClean="0">
                  <a:latin typeface="+mn-ea"/>
                  <a:ea typeface="+mn-ea"/>
                </a:rPr>
                <a:t>地址变换</a:t>
              </a:r>
              <a:r>
                <a:rPr lang="en-US" altLang="zh-CN" sz="1600" b="1" u="none" dirty="0" smtClean="0">
                  <a:latin typeface="+mn-ea"/>
                  <a:ea typeface="+mn-ea"/>
                </a:rPr>
                <a:t>+</a:t>
              </a:r>
              <a:r>
                <a:rPr lang="zh-CN" altLang="en-US" sz="1600" b="1" u="none" dirty="0" smtClean="0">
                  <a:latin typeface="+mn-ea"/>
                  <a:ea typeface="+mn-ea"/>
                </a:rPr>
                <a:t>层次管理</a:t>
              </a:r>
              <a:r>
                <a:rPr lang="en-US" altLang="zh-CN" sz="1600" b="1" u="none" dirty="0" smtClean="0">
                  <a:latin typeface="+mn-ea"/>
                  <a:ea typeface="+mn-ea"/>
                </a:rPr>
                <a:t>)</a:t>
              </a:r>
              <a:endParaRPr lang="zh-CN" altLang="en-US" sz="1800" b="1" u="none" dirty="0">
                <a:latin typeface="+mn-ea"/>
                <a:ea typeface="+mn-ea"/>
              </a:endParaRPr>
            </a:p>
          </p:txBody>
        </p:sp>
        <p:sp>
          <p:nvSpPr>
            <p:cNvPr id="78" name="Text Box 43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443" y="4607"/>
              <a:ext cx="158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Cache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9" name="Text Box 433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268" y="4003"/>
              <a:ext cx="794" cy="79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2000" b="1" u="none">
                  <a:latin typeface="宋体" panose="02010600030101010101" pitchFamily="2" charset="-122"/>
                </a:rPr>
                <a:t>CPU</a:t>
              </a:r>
              <a:endParaRPr lang="en-US" altLang="zh-CN" sz="2000" b="1" u="none">
                <a:latin typeface="宋体" panose="02010600030101010101" pitchFamily="2" charset="-122"/>
              </a:endParaRPr>
            </a:p>
          </p:txBody>
        </p:sp>
        <p:sp>
          <p:nvSpPr>
            <p:cNvPr id="80" name="Text Box 434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0942" y="4139"/>
              <a:ext cx="1247" cy="113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800" b="1" u="none" dirty="0" smtClean="0">
                  <a:latin typeface="宋体" panose="02010600030101010101" pitchFamily="2" charset="-122"/>
                </a:rPr>
                <a:t>主存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 dirty="0" smtClean="0">
                  <a:latin typeface="宋体" panose="02010600030101010101" pitchFamily="2" charset="-122"/>
                </a:rPr>
                <a:t>(DRAM)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81" name="Text Box 45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175" y="3912"/>
              <a:ext cx="136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2" name="Text Box 45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9411" y="3912"/>
              <a:ext cx="136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83" name="直接箭头连接符 82"/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7087" y="4592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4" name="直接箭头连接符 83"/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7313" y="4592"/>
              <a:ext cx="0" cy="39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5" name="直接箭头连接符 84"/>
            <p:cNvCxnSpPr/>
            <p:nvPr>
              <p:custDataLst>
                <p:tags r:id="rId14"/>
              </p:custDataLst>
            </p:nvPr>
          </p:nvCxnSpPr>
          <p:spPr bwMode="auto">
            <a:xfrm>
              <a:off x="3061" y="4252"/>
              <a:ext cx="1871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6" name="直接箭头连接符 85"/>
            <p:cNvCxnSpPr/>
            <p:nvPr>
              <p:custDataLst>
                <p:tags r:id="rId15"/>
              </p:custDataLst>
            </p:nvPr>
          </p:nvCxnSpPr>
          <p:spPr bwMode="auto">
            <a:xfrm>
              <a:off x="3061" y="4479"/>
              <a:ext cx="1871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7" name="直接箭头连接符 86"/>
            <p:cNvCxnSpPr/>
            <p:nvPr>
              <p:custDataLst>
                <p:tags r:id="rId16"/>
              </p:custDataLst>
            </p:nvPr>
          </p:nvCxnSpPr>
          <p:spPr bwMode="auto">
            <a:xfrm>
              <a:off x="9241" y="4252"/>
              <a:ext cx="1701" cy="2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8" name="直接箭头连接符 87"/>
            <p:cNvCxnSpPr/>
            <p:nvPr>
              <p:custDataLst>
                <p:tags r:id="rId17"/>
              </p:custDataLst>
            </p:nvPr>
          </p:nvCxnSpPr>
          <p:spPr bwMode="auto">
            <a:xfrm>
              <a:off x="9241" y="4479"/>
              <a:ext cx="1701" cy="2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9" name="直接箭头连接符 88"/>
            <p:cNvCxnSpPr/>
            <p:nvPr>
              <p:custDataLst>
                <p:tags r:id="rId18"/>
              </p:custDataLst>
            </p:nvPr>
          </p:nvCxnSpPr>
          <p:spPr bwMode="auto">
            <a:xfrm>
              <a:off x="4989" y="4706"/>
              <a:ext cx="0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0" name="直接箭头连接符 89"/>
            <p:cNvCxnSpPr/>
            <p:nvPr>
              <p:custDataLst>
                <p:tags r:id="rId19"/>
              </p:custDataLst>
            </p:nvPr>
          </p:nvCxnSpPr>
          <p:spPr bwMode="auto">
            <a:xfrm>
              <a:off x="3061" y="4706"/>
              <a:ext cx="1928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91" name="直接箭头连接符 90"/>
            <p:cNvCxnSpPr/>
            <p:nvPr>
              <p:custDataLst>
                <p:tags r:id="rId20"/>
              </p:custDataLst>
            </p:nvPr>
          </p:nvCxnSpPr>
          <p:spPr bwMode="auto">
            <a:xfrm flipH="1">
              <a:off x="4989" y="5216"/>
              <a:ext cx="397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92" name="直接箭头连接符 91"/>
            <p:cNvCxnSpPr/>
            <p:nvPr>
              <p:custDataLst>
                <p:tags r:id="rId21"/>
              </p:custDataLst>
            </p:nvPr>
          </p:nvCxnSpPr>
          <p:spPr bwMode="auto">
            <a:xfrm>
              <a:off x="9184" y="4706"/>
              <a:ext cx="0" cy="51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直接箭头连接符 92"/>
            <p:cNvCxnSpPr/>
            <p:nvPr>
              <p:custDataLst>
                <p:tags r:id="rId22"/>
              </p:custDataLst>
            </p:nvPr>
          </p:nvCxnSpPr>
          <p:spPr bwMode="auto">
            <a:xfrm>
              <a:off x="8787" y="5216"/>
              <a:ext cx="397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94" name="直接箭头连接符 93"/>
            <p:cNvCxnSpPr/>
            <p:nvPr>
              <p:custDataLst>
                <p:tags r:id="rId23"/>
              </p:custDataLst>
            </p:nvPr>
          </p:nvCxnSpPr>
          <p:spPr bwMode="auto">
            <a:xfrm flipH="1">
              <a:off x="9184" y="4706"/>
              <a:ext cx="1757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  <p:sp>
        <p:nvSpPr>
          <p:cNvPr id="459217" name="Text Box 465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1908175" y="5184000"/>
            <a:ext cx="7057390" cy="1276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H</a:t>
            </a: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en-US" altLang="zh-CN" sz="2200" b="1" u="none" baseline="-16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Cache</a:t>
            </a: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/(</a:t>
            </a:r>
            <a:r>
              <a:rPr lang="en-US" altLang="zh-CN" sz="2200" b="1" u="none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en-US" altLang="zh-CN" sz="2200" b="1" u="none" baseline="-16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Cache</a:t>
            </a: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+N</a:t>
            </a:r>
            <a:r>
              <a:rPr lang="en-US" altLang="zh-CN" sz="2200" b="1" u="none" baseline="-16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MM</a:t>
            </a: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sz="20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命中</a:t>
            </a:r>
            <a:r>
              <a:rPr lang="en-US" altLang="zh-CN" sz="20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Cache</a:t>
            </a:r>
            <a:r>
              <a:rPr lang="zh-CN" altLang="en-US" sz="20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次数</a:t>
            </a:r>
            <a:r>
              <a:rPr lang="en-US" altLang="zh-CN" sz="20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访存总次数</a:t>
            </a:r>
            <a:endParaRPr lang="en-US" altLang="zh-CN" sz="2200" b="1" u="none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 T</a:t>
            </a:r>
            <a:r>
              <a:rPr lang="en-US" altLang="zh-CN" sz="2200" b="1" u="none" baseline="-16000" dirty="0" smtClean="0">
                <a:latin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200" b="1" u="none" dirty="0" err="1">
                <a:latin typeface="宋体" panose="02010600030101010101" pitchFamily="2" charset="-122"/>
                <a:cs typeface="宋体" panose="02010600030101010101" pitchFamily="2" charset="-122"/>
              </a:rPr>
              <a:t>H</a:t>
            </a:r>
            <a:r>
              <a:rPr lang="en-US" altLang="zh-CN" sz="2200" u="none" dirty="0" smtClean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•</a:t>
            </a:r>
            <a:r>
              <a:rPr lang="en-US" altLang="zh-CN" sz="2200" b="1" u="none" dirty="0" err="1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200" b="1" u="none" baseline="-16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Cache</a:t>
            </a: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+(1-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H</a:t>
            </a: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)(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200" b="1" u="none" baseline="-16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Cache</a:t>
            </a: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200" b="1" u="none" baseline="-16000" dirty="0" smtClean="0">
                <a:latin typeface="宋体" panose="02010600030101010101" pitchFamily="2" charset="-122"/>
                <a:cs typeface="宋体" panose="02010600030101010101" pitchFamily="2" charset="-122"/>
              </a:rPr>
              <a:t>MM</a:t>
            </a: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200" b="1" u="none" baseline="-16000" dirty="0" smtClean="0">
                <a:latin typeface="宋体" panose="02010600030101010101" pitchFamily="2" charset="-122"/>
                <a:cs typeface="宋体" panose="02010600030101010101" pitchFamily="2" charset="-122"/>
              </a:rPr>
              <a:t>Cache</a:t>
            </a: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(1-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H</a:t>
            </a: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200" b="1" u="none" baseline="-16000" dirty="0" smtClean="0">
                <a:latin typeface="宋体" panose="02010600030101010101" pitchFamily="2" charset="-122"/>
                <a:cs typeface="宋体" panose="02010600030101010101" pitchFamily="2" charset="-122"/>
              </a:rPr>
              <a:t>MM</a:t>
            </a: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2200" b="1" u="none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zh-CN" altLang="en-US" sz="2200" b="1" u="none" baseline="-16000" dirty="0" smtClean="0">
                <a:latin typeface="宋体" panose="02010600030101010101" pitchFamily="2" charset="-122"/>
                <a:cs typeface="宋体" panose="02010600030101010101" pitchFamily="2" charset="-122"/>
              </a:rPr>
              <a:t>命中</a:t>
            </a: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+(1-H)T</a:t>
            </a:r>
            <a:r>
              <a:rPr lang="zh-CN" altLang="en-US" sz="2200" b="1" u="none" baseline="-16000" dirty="0" smtClean="0">
                <a:latin typeface="宋体" panose="02010600030101010101" pitchFamily="2" charset="-122"/>
                <a:cs typeface="宋体" panose="02010600030101010101" pitchFamily="2" charset="-122"/>
              </a:rPr>
              <a:t>缺失</a:t>
            </a: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zh-CN" altLang="en-US" sz="1600" b="1" u="none" baseline="-16000" dirty="0" smtClean="0">
                <a:latin typeface="宋体" panose="02010600030101010101" pitchFamily="2" charset="-122"/>
                <a:cs typeface="宋体" panose="02010600030101010101" pitchFamily="2" charset="-122"/>
              </a:rPr>
              <a:t>缺失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指</a:t>
            </a:r>
            <a:r>
              <a:rPr lang="zh-CN" altLang="en-US" sz="1600" b="1" u="none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停顿</a:t>
            </a:r>
            <a:r>
              <a:rPr lang="zh-CN" altLang="en-US" sz="1600" b="1" u="none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时间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如调入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替换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b="1" u="none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3456305" y="4788000"/>
            <a:ext cx="2592000" cy="935805"/>
            <a:chOff x="5443" y="7483"/>
            <a:chExt cx="4081" cy="1374"/>
          </a:xfrm>
        </p:grpSpPr>
        <p:cxnSp>
          <p:nvCxnSpPr>
            <p:cNvPr id="97" name="直接箭头连接符 96"/>
            <p:cNvCxnSpPr/>
            <p:nvPr>
              <p:custDataLst>
                <p:tags r:id="rId25"/>
              </p:custDataLst>
            </p:nvPr>
          </p:nvCxnSpPr>
          <p:spPr bwMode="auto">
            <a:xfrm>
              <a:off x="5443" y="7483"/>
              <a:ext cx="737" cy="1374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8" name="直接箭头连接符 97"/>
            <p:cNvCxnSpPr/>
            <p:nvPr>
              <p:custDataLst>
                <p:tags r:id="rId26"/>
              </p:custDataLst>
            </p:nvPr>
          </p:nvCxnSpPr>
          <p:spPr bwMode="auto">
            <a:xfrm>
              <a:off x="9354" y="7483"/>
              <a:ext cx="170" cy="1374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459156" name="Text Box 404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algn="ctr"/>
            <a:r>
              <a:rPr lang="en-US" altLang="zh-CN" sz="2800" b="1" u="none" dirty="0">
                <a:latin typeface="宋体" panose="02010600030101010101" pitchFamily="2" charset="-122"/>
              </a:rPr>
              <a:t>§3.4  </a:t>
            </a:r>
            <a:r>
              <a:rPr lang="zh-CN" altLang="en-US" sz="2800" b="1" u="none" dirty="0">
                <a:latin typeface="宋体" panose="02010600030101010101" pitchFamily="2" charset="-122"/>
              </a:rPr>
              <a:t>高速缓冲存储器</a:t>
            </a:r>
            <a:endParaRPr lang="zh-CN" altLang="en-US" sz="2800" b="1" u="none" dirty="0">
              <a:latin typeface="宋体" panose="02010600030101010101" pitchFamily="2" charset="-122"/>
            </a:endParaRPr>
          </a:p>
        </p:txBody>
      </p:sp>
      <p:sp>
        <p:nvSpPr>
          <p:cNvPr id="33" name="Text Box 526"/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179512" y="864000"/>
            <a:ext cx="8785101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en-US" altLang="zh-CN" sz="2000" b="1" u="none" dirty="0">
                <a:solidFill>
                  <a:srgbClr val="FF3399"/>
                </a:solidFill>
                <a:latin typeface="+mn-ea"/>
                <a:ea typeface="+mn-ea"/>
              </a:rPr>
              <a:t> </a:t>
            </a:r>
            <a:r>
              <a:rPr lang="en-US" altLang="zh-CN" sz="2000" b="1" u="none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000" b="1" u="none" dirty="0" smtClean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的组成、工作流程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实现技术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映射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替换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写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1800" b="1" u="none" dirty="0" smtClean="0"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37" name="线形标注 2 36"/>
          <p:cNvSpPr/>
          <p:nvPr>
            <p:custDataLst>
              <p:tags r:id="rId29"/>
            </p:custDataLst>
          </p:nvPr>
        </p:nvSpPr>
        <p:spPr bwMode="auto">
          <a:xfrm>
            <a:off x="6155417" y="5040000"/>
            <a:ext cx="1404000" cy="252000"/>
          </a:xfrm>
          <a:prstGeom prst="borderCallout2">
            <a:avLst>
              <a:gd name="adj1" fmla="val 49976"/>
              <a:gd name="adj2" fmla="val -540"/>
              <a:gd name="adj3" fmla="val 52837"/>
              <a:gd name="adj4" fmla="val -25262"/>
              <a:gd name="adj5" fmla="val 298774"/>
              <a:gd name="adj6" fmla="val -19699"/>
            </a:avLst>
          </a:prstGeom>
          <a:noFill/>
          <a:ln w="12700" cap="flat" cmpd="sng" algn="ctr">
            <a:solidFill>
              <a:srgbClr val="990099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p>
            <a:pPr algn="ctr"/>
            <a:r>
              <a:rPr kumimoji="1" lang="zh-CN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层间级联所致</a:t>
            </a:r>
            <a:endParaRPr kumimoji="1" lang="zh-CN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9157" name="Text Box 405"/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179388" y="2880645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p>
            <a:r>
              <a:rPr lang="zh-CN" altLang="en-US" b="1" u="none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一、</a:t>
            </a:r>
            <a:r>
              <a:rPr lang="en-US" altLang="zh-CN" b="1" u="none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Cache</a:t>
            </a:r>
            <a:r>
              <a:rPr lang="zh-CN" altLang="en-US" b="1" u="none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的基本原理</a:t>
            </a:r>
            <a:endParaRPr lang="zh-CN" altLang="en-US" b="1" u="none" dirty="0">
              <a:solidFill>
                <a:srgbClr val="FF33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 Box 63"/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179705" y="3348000"/>
            <a:ext cx="2880000" cy="28225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uFillTx/>
                <a:latin typeface="宋体" panose="02010600030101010101" pitchFamily="2" charset="-122"/>
                <a:sym typeface="+mn-ea"/>
              </a:rPr>
              <a:t> *Cache</a:t>
            </a:r>
            <a:r>
              <a:rPr lang="zh-CN" altLang="en-US" sz="2200" b="1" u="none" dirty="0">
                <a:solidFill>
                  <a:srgbClr val="C00000"/>
                </a:solidFill>
                <a:uFillTx/>
                <a:latin typeface="宋体" panose="02010600030101010101" pitchFamily="2" charset="-122"/>
                <a:sym typeface="+mn-ea"/>
              </a:rPr>
              <a:t>的外部接口：</a:t>
            </a:r>
            <a:endParaRPr lang="zh-CN" altLang="en-US" sz="2200" b="1" u="none" dirty="0">
              <a:solidFill>
                <a:srgbClr val="C00000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solidFill>
                <a:schemeClr val="accent2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u="none" dirty="0" smtClean="0">
              <a:solidFill>
                <a:schemeClr val="accent2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u="none" dirty="0" smtClean="0">
              <a:solidFill>
                <a:schemeClr val="accent2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uFillTx/>
                <a:latin typeface="宋体" panose="02010600030101010101" pitchFamily="2" charset="-122"/>
                <a:sym typeface="+mn-ea"/>
              </a:rPr>
              <a:t> *Cache</a:t>
            </a:r>
            <a:r>
              <a:rPr lang="zh-CN" altLang="en-US" sz="2200" b="1" u="none" dirty="0" smtClean="0">
                <a:solidFill>
                  <a:srgbClr val="C00000"/>
                </a:solidFill>
                <a:uFillTx/>
                <a:latin typeface="宋体" panose="02010600030101010101" pitchFamily="2" charset="-122"/>
                <a:sym typeface="+mn-ea"/>
              </a:rPr>
              <a:t>的性能指标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命中率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平均访问时间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 smtClean="0">
              <a:solidFill>
                <a:srgbClr val="C00000"/>
              </a:solidFill>
              <a:uFillTx/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4" name="Text Box 17"/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2951755" y="3348000"/>
            <a:ext cx="436816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由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SRAM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组成，</a:t>
            </a:r>
            <a:r>
              <a:rPr 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按主存地址访问</a:t>
            </a:r>
            <a:endParaRPr lang="zh-CN" sz="1800" b="1" u="none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88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88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88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5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59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5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45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bldLvl="0" animBg="1"/>
      <p:bldP spid="37" grpId="0" bldLvl="0" animBg="1"/>
      <p:bldP spid="459157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08" name="Text Box 30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4189095" cy="319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的存储空间管理</a:t>
            </a:r>
            <a:endParaRPr lang="zh-CN" altLang="en-US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主存的信息交换单位：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分析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结果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存储空间管理：</a:t>
            </a: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编址单位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交换管理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510" name="Text Box 7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21155" y="756285"/>
            <a:ext cx="7200000" cy="19583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目标是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减小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1800" b="1" u="none" baseline="-18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1800" b="1" u="none" baseline="-18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800" b="1" u="none" baseline="-18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命中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(1-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H)T</a:t>
            </a:r>
            <a:r>
              <a:rPr lang="zh-CN" altLang="en-US" sz="1800" b="1" u="none" baseline="-16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缺失</a:t>
            </a: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200" b="1" u="none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相邻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信息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一起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放入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，采用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突发传输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方式</a:t>
            </a: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16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←可</a:t>
            </a:r>
            <a:r>
              <a:rPr lang="zh-CN" altLang="en-US" sz="16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提高</a:t>
            </a:r>
            <a:r>
              <a:rPr lang="en-US" altLang="zh-CN" sz="16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H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←利用局部性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16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←可</a:t>
            </a:r>
            <a:r>
              <a:rPr lang="zh-CN" altLang="en-US" sz="16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减少</a:t>
            </a:r>
            <a:r>
              <a:rPr lang="en-US" altLang="zh-CN" sz="1600" b="1" u="none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600" b="1" u="none" baseline="-18000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缺失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600" b="1" u="none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突发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600" b="1" u="none" baseline="-18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存取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en-US" altLang="zh-CN" sz="1600" b="1" u="none" dirty="0" err="1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en-US" altLang="zh-CN" sz="1600" b="1" u="none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600" b="1" u="none" baseline="-18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传送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1600" b="1" u="none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块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600" u="none" dirty="0" smtClean="0">
                <a:cs typeface="Times New Roman" panose="02020603050405020304" pitchFamily="18" charset="0"/>
                <a:sym typeface="+mn-ea"/>
              </a:rPr>
              <a:t>Block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，块大小＝</a:t>
            </a: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个主存字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主存单元中内容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为常数</a:t>
            </a:r>
            <a:endParaRPr lang="zh-CN" altLang="en-US" sz="2200" b="1" u="none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面向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CPU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的访问和主存交换</a:t>
            </a:r>
            <a:endParaRPr lang="zh-CN" altLang="en-US" sz="1800" b="1" u="none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62855" name="Text Box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95830" y="2664000"/>
            <a:ext cx="6807200" cy="15043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同主存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(Cache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仅为主存的缓冲器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)                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面向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CPU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的访问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①</a:t>
            </a:r>
            <a:r>
              <a:rPr lang="zh-CN" altLang="en-US" sz="2200" b="1" u="none" spc="-50" dirty="0" smtClean="0">
                <a:latin typeface="宋体" panose="02010600030101010101" pitchFamily="2" charset="-122"/>
              </a:rPr>
              <a:t>主存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与</a:t>
            </a:r>
            <a:r>
              <a:rPr lang="en-US" altLang="zh-CN" sz="2200" b="1" u="none" spc="-50" dirty="0" smtClean="0">
                <a:latin typeface="宋体" panose="02010600030101010101" pitchFamily="2" charset="-122"/>
              </a:rPr>
              <a:t>Cache</a:t>
            </a:r>
            <a:r>
              <a:rPr lang="zh-CN" altLang="en-US" sz="2200" b="1" u="none" spc="-50" dirty="0" smtClean="0">
                <a:latin typeface="宋体" panose="02010600030101010101" pitchFamily="2" charset="-122"/>
              </a:rPr>
              <a:t>的空间，都</a:t>
            </a:r>
            <a:r>
              <a:rPr lang="zh-CN" altLang="en-US" sz="2200" b="1" spc="-5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按</a:t>
            </a:r>
            <a:r>
              <a:rPr lang="zh-CN" altLang="en-US" sz="2200" b="1" spc="-5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块大小</a:t>
            </a:r>
            <a:r>
              <a:rPr lang="zh-CN" altLang="en-US" sz="2200" b="1" u="none" spc="-50" dirty="0" smtClean="0">
                <a:solidFill>
                  <a:schemeClr val="tx1"/>
                </a:solidFill>
                <a:latin typeface="宋体" panose="02010600030101010101" pitchFamily="2" charset="-122"/>
              </a:rPr>
              <a:t>划分</a:t>
            </a:r>
            <a:r>
              <a:rPr lang="zh-CN" altLang="en-US" sz="2200" b="1" u="none" spc="-50" dirty="0" smtClean="0">
                <a:latin typeface="宋体" panose="02010600030101010101" pitchFamily="2" charset="-122"/>
              </a:rPr>
              <a:t>成若干区域</a:t>
            </a:r>
            <a:endParaRPr lang="zh-CN" altLang="en-US" sz="2200" b="1" u="none" spc="-50" dirty="0" smtClean="0"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②Cache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每行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设置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有效位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(V)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标记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(Tag)</a:t>
            </a:r>
            <a:endParaRPr lang="en-US" altLang="zh-CN" sz="2200" b="1" u="none" dirty="0" smtClean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表示行中</a:t>
            </a:r>
            <a:r>
              <a:rPr lang="zh-CN" altLang="en-US" sz="16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是</a:t>
            </a:r>
            <a:r>
              <a:rPr lang="en-US" altLang="zh-CN" sz="16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否有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数据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600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┘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16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←表示数据</a:t>
            </a:r>
            <a:r>
              <a:rPr lang="zh-CN" altLang="en-US" sz="16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来自</a:t>
            </a:r>
            <a:r>
              <a:rPr lang="zh-CN" altLang="en-US" sz="16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哪个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主存块</a:t>
            </a:r>
            <a:endParaRPr lang="zh-CN" altLang="en-US" sz="1600" b="1" u="none" spc="-50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3919855" y="4140000"/>
            <a:ext cx="935990" cy="1258570"/>
            <a:chOff x="4252" y="1531"/>
            <a:chExt cx="1474" cy="1982"/>
          </a:xfrm>
        </p:grpSpPr>
        <p:sp>
          <p:nvSpPr>
            <p:cNvPr id="143" name="Text Box 283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252" y="1531"/>
              <a:ext cx="1474" cy="340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</a:ln>
            <a:effectLst/>
          </p:spPr>
          <p:txBody>
            <a:bodyPr lIns="18000" tIns="17780" rIns="18000" bIns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有效</a:t>
              </a:r>
              <a:r>
                <a:rPr lang="zh-CN" altLang="en-US" sz="1600" b="1" u="none" dirty="0" smtClean="0"/>
                <a:t> 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标记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4" name="Text Box 28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876" y="1871"/>
              <a:ext cx="794" cy="283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80000"/>
                </a:lnSpc>
              </a:pPr>
              <a:endParaRPr lang="zh-CN" altLang="zh-CN" sz="1800" b="1" u="none">
                <a:solidFill>
                  <a:srgbClr val="FF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5" name="Text Box 285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422" y="1871"/>
              <a:ext cx="454" cy="28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80000"/>
                </a:lnSpc>
              </a:pPr>
              <a:endParaRPr lang="zh-CN" altLang="zh-CN" sz="1800" b="1" u="none">
                <a:solidFill>
                  <a:srgbClr val="FF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6" name="Text Box 28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870" y="2801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8" name="Text Box 284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876" y="3231"/>
              <a:ext cx="794" cy="283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80000"/>
                </a:lnSpc>
              </a:pPr>
              <a:endParaRPr lang="zh-CN" altLang="zh-CN" sz="1800" b="1" u="none">
                <a:solidFill>
                  <a:srgbClr val="FF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9" name="Text Box 285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422" y="3231"/>
              <a:ext cx="454" cy="28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80000"/>
                </a:lnSpc>
              </a:pPr>
              <a:endParaRPr lang="zh-CN" altLang="zh-CN" sz="1800" b="1" u="none">
                <a:solidFill>
                  <a:srgbClr val="FF33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3164205" y="4104000"/>
            <a:ext cx="5687060" cy="2340610"/>
            <a:chOff x="3062" y="1473"/>
            <a:chExt cx="8956" cy="3686"/>
          </a:xfrm>
        </p:grpSpPr>
        <p:sp>
          <p:nvSpPr>
            <p:cNvPr id="113" name="Text Box 16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062" y="2098"/>
              <a:ext cx="102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u="none" dirty="0" smtClean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4" name="Text Box 163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062" y="3460"/>
              <a:ext cx="102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u="none" dirty="0" smtClean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baseline="36000" dirty="0" smtClean="0">
                  <a:latin typeface="宋体" panose="02010600030101010101" pitchFamily="2" charset="-122"/>
                </a:rPr>
                <a:t>c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-1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" name="AutoShape 175"/>
            <p:cNvSpPr/>
            <p:nvPr>
              <p:custDataLst>
                <p:tags r:id="rId12"/>
              </p:custDataLst>
            </p:nvPr>
          </p:nvSpPr>
          <p:spPr bwMode="auto">
            <a:xfrm>
              <a:off x="4088" y="1871"/>
              <a:ext cx="113" cy="794"/>
            </a:xfrm>
            <a:prstGeom prst="leftBrace">
              <a:avLst>
                <a:gd name="adj1" fmla="val 6722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15" name="Text Box 164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840" y="1473"/>
              <a:ext cx="1134" cy="3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Cache</a:t>
              </a:r>
              <a:endParaRPr lang="en-US" altLang="zh-CN" sz="1800" b="1" u="none" baseline="-20000" dirty="0" smtClean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" name="Text Box 166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839" y="1871"/>
              <a:ext cx="1134" cy="79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0" name="Text Box 169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6973" y="1871"/>
              <a:ext cx="567" cy="7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0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…  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400" b="1" u="none" baseline="30000" dirty="0">
                  <a:latin typeface="宋体" panose="02010600030101010101" pitchFamily="2" charset="-122"/>
                </a:rPr>
                <a:t>b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-1</a:t>
              </a:r>
              <a:endParaRPr lang="en-US" altLang="zh-CN" sz="14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1" name="直接箭头连接符 20"/>
            <p:cNvCxnSpPr/>
            <p:nvPr>
              <p:custDataLst>
                <p:tags r:id="rId16"/>
              </p:custDataLst>
            </p:nvPr>
          </p:nvCxnSpPr>
          <p:spPr bwMode="auto">
            <a:xfrm>
              <a:off x="5839" y="2098"/>
              <a:ext cx="1134" cy="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直接箭头连接符 21"/>
            <p:cNvCxnSpPr/>
            <p:nvPr>
              <p:custDataLst>
                <p:tags r:id="rId17"/>
              </p:custDataLst>
            </p:nvPr>
          </p:nvCxnSpPr>
          <p:spPr bwMode="auto">
            <a:xfrm>
              <a:off x="5839" y="2438"/>
              <a:ext cx="1134" cy="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" name="Text Box 166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839" y="2665"/>
              <a:ext cx="1134" cy="56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4" name="Text Box 166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839" y="3231"/>
              <a:ext cx="1134" cy="79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5" name="Text Box 169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6973" y="3231"/>
              <a:ext cx="567" cy="7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0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…  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400" b="1" u="none" baseline="30000" dirty="0">
                  <a:latin typeface="宋体" panose="02010600030101010101" pitchFamily="2" charset="-122"/>
                </a:rPr>
                <a:t>b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-1</a:t>
              </a:r>
              <a:endParaRPr lang="en-US" altLang="zh-CN" sz="14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6" name="直接箭头连接符 25"/>
            <p:cNvCxnSpPr/>
            <p:nvPr>
              <p:custDataLst>
                <p:tags r:id="rId21"/>
              </p:custDataLst>
            </p:nvPr>
          </p:nvCxnSpPr>
          <p:spPr bwMode="auto">
            <a:xfrm>
              <a:off x="5839" y="3458"/>
              <a:ext cx="1134" cy="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箭头连接符 26"/>
            <p:cNvCxnSpPr/>
            <p:nvPr>
              <p:custDataLst>
                <p:tags r:id="rId22"/>
              </p:custDataLst>
            </p:nvPr>
          </p:nvCxnSpPr>
          <p:spPr bwMode="auto">
            <a:xfrm>
              <a:off x="5839" y="3798"/>
              <a:ext cx="1134" cy="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AutoShape 175"/>
            <p:cNvSpPr/>
            <p:nvPr>
              <p:custDataLst>
                <p:tags r:id="rId23"/>
              </p:custDataLst>
            </p:nvPr>
          </p:nvSpPr>
          <p:spPr bwMode="auto">
            <a:xfrm>
              <a:off x="4082" y="3231"/>
              <a:ext cx="113" cy="794"/>
            </a:xfrm>
            <a:prstGeom prst="leftBrace">
              <a:avLst>
                <a:gd name="adj1" fmla="val 6722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32" name="Text Box 268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762" y="4875"/>
              <a:ext cx="2098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c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位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        </a:t>
              </a:r>
              <a:r>
                <a:rPr lang="en-US" altLang="zh-CN" sz="1400" b="1" u="none" dirty="0">
                  <a:latin typeface="宋体" panose="02010600030101010101" pitchFamily="2" charset="-122"/>
                  <a:sym typeface="+mn-ea"/>
                </a:rPr>
                <a:t>b</a:t>
              </a:r>
              <a:r>
                <a:rPr lang="zh-CN" altLang="en-US" sz="1400" b="1" u="none" dirty="0">
                  <a:latin typeface="宋体" panose="02010600030101010101" pitchFamily="2" charset="-122"/>
                  <a:sym typeface="+mn-ea"/>
                </a:rPr>
                <a:t>位</a:t>
              </a:r>
              <a:endParaRPr lang="zh-CN" altLang="en-US" sz="1400" b="1" u="none" dirty="0">
                <a:latin typeface="宋体" panose="02010600030101010101" pitchFamily="2" charset="-122"/>
                <a:sym typeface="+mn-ea"/>
              </a:endParaRPr>
            </a:p>
          </p:txBody>
        </p:sp>
        <p:sp>
          <p:nvSpPr>
            <p:cNvPr id="138" name="Text Box 274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231" y="4422"/>
              <a:ext cx="907" cy="6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Cache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9" name="Text Box 275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138" y="4535"/>
              <a:ext cx="1701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Cache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行号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0" name="Text Box 276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839" y="4535"/>
              <a:ext cx="1361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内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33" name="直接箭头连接符 32"/>
            <p:cNvCxnSpPr/>
            <p:nvPr>
              <p:custDataLst>
                <p:tags r:id="rId28"/>
              </p:custDataLst>
            </p:nvPr>
          </p:nvCxnSpPr>
          <p:spPr bwMode="auto">
            <a:xfrm>
              <a:off x="4139" y="4932"/>
              <a:ext cx="0" cy="227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直接箭头连接符 35"/>
            <p:cNvCxnSpPr/>
            <p:nvPr>
              <p:custDataLst>
                <p:tags r:id="rId29"/>
              </p:custDataLst>
            </p:nvPr>
          </p:nvCxnSpPr>
          <p:spPr bwMode="auto">
            <a:xfrm>
              <a:off x="5840" y="4932"/>
              <a:ext cx="0" cy="227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直接箭头连接符 36"/>
            <p:cNvCxnSpPr/>
            <p:nvPr>
              <p:custDataLst>
                <p:tags r:id="rId30"/>
              </p:custDataLst>
            </p:nvPr>
          </p:nvCxnSpPr>
          <p:spPr bwMode="auto">
            <a:xfrm>
              <a:off x="7200" y="4932"/>
              <a:ext cx="0" cy="227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直接箭头连接符 38"/>
            <p:cNvCxnSpPr/>
            <p:nvPr>
              <p:custDataLst>
                <p:tags r:id="rId31"/>
              </p:custDataLst>
            </p:nvPr>
          </p:nvCxnSpPr>
          <p:spPr bwMode="auto">
            <a:xfrm>
              <a:off x="6803" y="5045"/>
              <a:ext cx="39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32"/>
              </p:custDataLst>
            </p:nvPr>
          </p:nvCxnSpPr>
          <p:spPr bwMode="auto">
            <a:xfrm flipH="1">
              <a:off x="5840" y="5045"/>
              <a:ext cx="454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2" name="直接箭头连接符 41"/>
            <p:cNvCxnSpPr/>
            <p:nvPr>
              <p:custDataLst>
                <p:tags r:id="rId33"/>
              </p:custDataLst>
            </p:nvPr>
          </p:nvCxnSpPr>
          <p:spPr bwMode="auto">
            <a:xfrm>
              <a:off x="5272" y="5045"/>
              <a:ext cx="5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4" name="直接箭头连接符 43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4138" y="5045"/>
              <a:ext cx="5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7" name="Text Box 164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9093" y="1473"/>
              <a:ext cx="1134" cy="3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主存</a:t>
              </a:r>
              <a:endParaRPr lang="zh-CN" altLang="en-US" sz="18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8" name="Text Box 166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9071" y="1872"/>
              <a:ext cx="1134" cy="794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9" name="Text Box 169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0205" y="1872"/>
              <a:ext cx="567" cy="7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0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…  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400" b="1" u="none" baseline="30000" dirty="0">
                  <a:latin typeface="宋体" panose="02010600030101010101" pitchFamily="2" charset="-122"/>
                </a:rPr>
                <a:t>b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-1</a:t>
              </a:r>
              <a:endParaRPr lang="en-US" altLang="zh-CN" sz="14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50" name="直接箭头连接符 49"/>
            <p:cNvCxnSpPr/>
            <p:nvPr>
              <p:custDataLst>
                <p:tags r:id="rId38"/>
              </p:custDataLst>
            </p:nvPr>
          </p:nvCxnSpPr>
          <p:spPr bwMode="auto">
            <a:xfrm>
              <a:off x="9071" y="2099"/>
              <a:ext cx="1134" cy="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直接箭头连接符 50"/>
            <p:cNvCxnSpPr/>
            <p:nvPr>
              <p:custDataLst>
                <p:tags r:id="rId39"/>
              </p:custDataLst>
            </p:nvPr>
          </p:nvCxnSpPr>
          <p:spPr bwMode="auto">
            <a:xfrm>
              <a:off x="9071" y="2439"/>
              <a:ext cx="1134" cy="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3" name="Text Box 166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9071" y="2666"/>
              <a:ext cx="1134" cy="90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4" name="Text Box 166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9071" y="3572"/>
              <a:ext cx="1134" cy="794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5" name="Text Box 169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0205" y="3572"/>
              <a:ext cx="567" cy="7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0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…  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400" b="1" u="none" baseline="30000" dirty="0">
                  <a:latin typeface="宋体" panose="02010600030101010101" pitchFamily="2" charset="-122"/>
                </a:rPr>
                <a:t>b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-1</a:t>
              </a:r>
              <a:endParaRPr lang="en-US" altLang="zh-CN" sz="14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56" name="直接箭头连接符 55"/>
            <p:cNvCxnSpPr/>
            <p:nvPr>
              <p:custDataLst>
                <p:tags r:id="rId43"/>
              </p:custDataLst>
            </p:nvPr>
          </p:nvCxnSpPr>
          <p:spPr bwMode="auto">
            <a:xfrm>
              <a:off x="9071" y="3799"/>
              <a:ext cx="1134" cy="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" name="直接箭头连接符 56"/>
            <p:cNvCxnSpPr/>
            <p:nvPr>
              <p:custDataLst>
                <p:tags r:id="rId44"/>
              </p:custDataLst>
            </p:nvPr>
          </p:nvCxnSpPr>
          <p:spPr bwMode="auto">
            <a:xfrm>
              <a:off x="9071" y="4139"/>
              <a:ext cx="1134" cy="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8" name="Text Box 180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10998" y="2161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9" name="Text Box 181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10998" y="3798"/>
              <a:ext cx="102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baseline="36000" dirty="0"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2" name="AutoShape 193"/>
            <p:cNvSpPr/>
            <p:nvPr>
              <p:custDataLst>
                <p:tags r:id="rId47"/>
              </p:custDataLst>
            </p:nvPr>
          </p:nvSpPr>
          <p:spPr bwMode="auto">
            <a:xfrm>
              <a:off x="10885" y="1928"/>
              <a:ext cx="113" cy="794"/>
            </a:xfrm>
            <a:prstGeom prst="rightBrace">
              <a:avLst>
                <a:gd name="adj1" fmla="val 67222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73" name="AutoShape 194"/>
            <p:cNvSpPr/>
            <p:nvPr>
              <p:custDataLst>
                <p:tags r:id="rId48"/>
              </p:custDataLst>
            </p:nvPr>
          </p:nvSpPr>
          <p:spPr bwMode="auto">
            <a:xfrm>
              <a:off x="10885" y="3572"/>
              <a:ext cx="113" cy="794"/>
            </a:xfrm>
            <a:prstGeom prst="rightBrace">
              <a:avLst>
                <a:gd name="adj1" fmla="val 67037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74" name="Text Box 268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9184" y="4875"/>
              <a:ext cx="2098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m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位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        </a:t>
              </a:r>
              <a:r>
                <a:rPr lang="en-US" altLang="zh-CN" sz="1400" b="1" u="none" dirty="0">
                  <a:latin typeface="宋体" panose="02010600030101010101" pitchFamily="2" charset="-122"/>
                  <a:sym typeface="+mn-ea"/>
                </a:rPr>
                <a:t>b</a:t>
              </a:r>
              <a:r>
                <a:rPr lang="zh-CN" altLang="en-US" sz="1400" b="1" u="none" dirty="0">
                  <a:latin typeface="宋体" panose="02010600030101010101" pitchFamily="2" charset="-122"/>
                  <a:sym typeface="+mn-ea"/>
                </a:rPr>
                <a:t>位</a:t>
              </a:r>
              <a:endParaRPr lang="zh-CN" altLang="en-US" sz="1400" b="1" u="none" dirty="0">
                <a:latin typeface="宋体" panose="02010600030101010101" pitchFamily="2" charset="-122"/>
                <a:sym typeface="+mn-ea"/>
              </a:endParaRPr>
            </a:p>
          </p:txBody>
        </p:sp>
        <p:sp>
          <p:nvSpPr>
            <p:cNvPr id="75" name="Text Box 274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7824" y="4422"/>
              <a:ext cx="737" cy="6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6" name="Text Box 275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8561" y="4535"/>
              <a:ext cx="1701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u="none" dirty="0" smtClean="0">
                  <a:latin typeface="宋体" panose="02010600030101010101" pitchFamily="2" charset="-122"/>
                </a:rPr>
                <a:t>主存块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号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7" name="Text Box 276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10261" y="4535"/>
              <a:ext cx="1361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内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78" name="直接箭头连接符 77"/>
            <p:cNvCxnSpPr/>
            <p:nvPr>
              <p:custDataLst>
                <p:tags r:id="rId53"/>
              </p:custDataLst>
            </p:nvPr>
          </p:nvCxnSpPr>
          <p:spPr bwMode="auto">
            <a:xfrm>
              <a:off x="8561" y="4932"/>
              <a:ext cx="0" cy="227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直接箭头连接符 78"/>
            <p:cNvCxnSpPr/>
            <p:nvPr>
              <p:custDataLst>
                <p:tags r:id="rId54"/>
              </p:custDataLst>
            </p:nvPr>
          </p:nvCxnSpPr>
          <p:spPr bwMode="auto">
            <a:xfrm>
              <a:off x="10262" y="4932"/>
              <a:ext cx="0" cy="227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0" name="直接箭头连接符 79"/>
            <p:cNvCxnSpPr/>
            <p:nvPr>
              <p:custDataLst>
                <p:tags r:id="rId55"/>
              </p:custDataLst>
            </p:nvPr>
          </p:nvCxnSpPr>
          <p:spPr bwMode="auto">
            <a:xfrm>
              <a:off x="11622" y="4932"/>
              <a:ext cx="0" cy="227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直接箭头连接符 80"/>
            <p:cNvCxnSpPr/>
            <p:nvPr>
              <p:custDataLst>
                <p:tags r:id="rId56"/>
              </p:custDataLst>
            </p:nvPr>
          </p:nvCxnSpPr>
          <p:spPr bwMode="auto">
            <a:xfrm>
              <a:off x="11225" y="5045"/>
              <a:ext cx="39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2" name="直接箭头连接符 81"/>
            <p:cNvCxnSpPr/>
            <p:nvPr>
              <p:custDataLst>
                <p:tags r:id="rId57"/>
              </p:custDataLst>
            </p:nvPr>
          </p:nvCxnSpPr>
          <p:spPr bwMode="auto">
            <a:xfrm flipH="1">
              <a:off x="10262" y="5045"/>
              <a:ext cx="454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3" name="直接箭头连接符 82"/>
            <p:cNvCxnSpPr/>
            <p:nvPr>
              <p:custDataLst>
                <p:tags r:id="rId58"/>
              </p:custDataLst>
            </p:nvPr>
          </p:nvCxnSpPr>
          <p:spPr bwMode="auto">
            <a:xfrm>
              <a:off x="9694" y="5045"/>
              <a:ext cx="5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4" name="直接箭头连接符 83"/>
            <p:cNvCxnSpPr/>
            <p:nvPr>
              <p:custDataLst>
                <p:tags r:id="rId59"/>
              </p:custDataLst>
            </p:nvPr>
          </p:nvCxnSpPr>
          <p:spPr bwMode="auto">
            <a:xfrm flipH="1">
              <a:off x="8561" y="5045"/>
              <a:ext cx="5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463141" name="Rectangle 293"/>
          <p:cNvSpPr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6871679" y="4914000"/>
            <a:ext cx="720000" cy="504000"/>
          </a:xfrm>
          <a:prstGeom prst="rect">
            <a:avLst/>
          </a:prstGeom>
          <a:solidFill>
            <a:srgbClr val="99CCFF">
              <a:alpha val="80000"/>
            </a:srgbClr>
          </a:solidFill>
          <a:ln w="15875">
            <a:solidFill>
              <a:schemeClr val="tx1"/>
            </a:solidFill>
            <a:miter lim="800000"/>
            <a:tailEnd type="none" w="sm" len="med"/>
          </a:ln>
          <a:effectLst/>
        </p:spPr>
        <p:txBody>
          <a:bodyPr wrap="none" anchor="ctr"/>
          <a:p>
            <a:pPr algn="ctr"/>
            <a:r>
              <a:rPr lang="zh-CN" altLang="en-US" sz="2000" b="1" u="none" dirty="0" smtClean="0">
                <a:latin typeface="+mn-ea"/>
                <a:ea typeface="+mn-ea"/>
              </a:rPr>
              <a:t>块</a:t>
            </a:r>
            <a:r>
              <a:rPr lang="en-US" altLang="zh-CN" sz="2000" b="1" u="none" dirty="0" err="1" smtClean="0">
                <a:latin typeface="+mn-ea"/>
                <a:ea typeface="+mn-ea"/>
              </a:rPr>
              <a:t>i</a:t>
            </a:r>
            <a:endParaRPr lang="zh-CN" altLang="en-US" b="1" u="none" dirty="0">
              <a:latin typeface="+mn-ea"/>
              <a:ea typeface="+mn-ea"/>
            </a:endParaRPr>
          </a:p>
        </p:txBody>
      </p:sp>
      <p:sp>
        <p:nvSpPr>
          <p:cNvPr id="463142" name="Text Box 294"/>
          <p:cNvSpPr txBox="1">
            <a:spLocks noChangeArrowheads="1"/>
          </p:cNvSpPr>
          <p:nvPr>
            <p:custDataLst>
              <p:tags r:id="rId61"/>
            </p:custDataLst>
          </p:nvPr>
        </p:nvSpPr>
        <p:spPr bwMode="auto">
          <a:xfrm>
            <a:off x="4135835" y="4356000"/>
            <a:ext cx="576000" cy="180000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lIns="0" tIns="10800" rIns="18000" bIns="0" anchor="ctr"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 smtClean="0">
                <a:solidFill>
                  <a:srgbClr val="FF3300"/>
                </a:solidFill>
                <a:latin typeface="宋体" panose="02010600030101010101" pitchFamily="2" charset="-122"/>
              </a:rPr>
              <a:t>1   </a:t>
            </a:r>
            <a:r>
              <a:rPr lang="en-US" altLang="zh-CN" sz="1600" b="1" u="none" dirty="0" err="1" smtClean="0">
                <a:solidFill>
                  <a:srgbClr val="FF3300"/>
                </a:solidFill>
                <a:latin typeface="宋体" panose="02010600030101010101" pitchFamily="2" charset="-122"/>
              </a:rPr>
              <a:t>i</a:t>
            </a:r>
            <a:endParaRPr lang="en-US" altLang="zh-CN" sz="1600" b="1" u="none" dirty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90" name="Text Box 163"/>
          <p:cNvSpPr txBox="1">
            <a:spLocks noChangeArrowheads="1"/>
          </p:cNvSpPr>
          <p:nvPr>
            <p:custDataLst>
              <p:tags r:id="rId62"/>
            </p:custDataLst>
          </p:nvPr>
        </p:nvSpPr>
        <p:spPr bwMode="auto">
          <a:xfrm>
            <a:off x="252095" y="4248000"/>
            <a:ext cx="2700000" cy="82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lIns="18000" tIns="10800" rIns="18000" bIns="10800" anchor="t" anchorCtr="0"/>
          <a:p>
            <a:pPr marL="257175" indent="-257175" algn="l"/>
            <a:r>
              <a:rPr lang="zh-CN" altLang="en-US" sz="1800" b="1" u="none" dirty="0" smtClean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思考①：</a:t>
            </a:r>
            <a:r>
              <a:rPr lang="zh-CN" altLang="en-US" sz="1800" b="1" u="none" dirty="0" smtClean="0">
                <a:latin typeface="+mn-ea"/>
                <a:ea typeface="+mn-ea"/>
                <a:sym typeface="+mn-ea"/>
              </a:rPr>
              <a:t>主存块内的</a:t>
            </a:r>
            <a:r>
              <a:rPr lang="en-US" altLang="zh-CN" sz="1800" b="1" u="none" dirty="0" smtClean="0">
                <a:latin typeface="+mn-ea"/>
                <a:ea typeface="+mn-ea"/>
                <a:sym typeface="+mn-ea"/>
              </a:rPr>
              <a:t>2#</a:t>
            </a:r>
            <a:r>
              <a:rPr lang="zh-CN" altLang="en-US" sz="1800" b="1" u="none" dirty="0" smtClean="0">
                <a:latin typeface="+mn-ea"/>
                <a:ea typeface="+mn-ea"/>
                <a:sym typeface="+mn-ea"/>
              </a:rPr>
              <a:t>单元，在</a:t>
            </a:r>
            <a:r>
              <a:rPr lang="en-US" altLang="zh-CN" sz="1800" b="1" u="none" dirty="0" smtClean="0">
                <a:latin typeface="+mn-ea"/>
                <a:ea typeface="+mn-ea"/>
                <a:sym typeface="+mn-ea"/>
              </a:rPr>
              <a:t>Cache</a:t>
            </a:r>
            <a:r>
              <a:rPr lang="zh-CN" altLang="en-US" sz="1800" b="1" u="none" dirty="0" smtClean="0">
                <a:latin typeface="+mn-ea"/>
                <a:ea typeface="+mn-ea"/>
                <a:sym typeface="+mn-ea"/>
              </a:rPr>
              <a:t>行中会是第几号单元？</a:t>
            </a:r>
            <a:endParaRPr lang="zh-CN" altLang="en-US" sz="1800" b="1" u="none" dirty="0" smtClean="0">
              <a:latin typeface="+mn-ea"/>
              <a:ea typeface="+mn-ea"/>
              <a:sym typeface="+mn-ea"/>
            </a:endParaRPr>
          </a:p>
        </p:txBody>
      </p:sp>
      <p:sp>
        <p:nvSpPr>
          <p:cNvPr id="92" name="Text Box 163"/>
          <p:cNvSpPr txBox="1">
            <a:spLocks noChangeArrowheads="1"/>
          </p:cNvSpPr>
          <p:nvPr>
            <p:custDataLst>
              <p:tags r:id="rId63"/>
            </p:custDataLst>
          </p:nvPr>
        </p:nvSpPr>
        <p:spPr bwMode="auto">
          <a:xfrm>
            <a:off x="252000" y="5220000"/>
            <a:ext cx="2700000" cy="82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lIns="18000" tIns="10800" rIns="18000" bIns="10800" anchor="t" anchorCtr="0"/>
          <a:p>
            <a:pPr marL="264160" indent="-26416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思考②：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若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CPU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访存地址为</a:t>
            </a:r>
            <a:r>
              <a:rPr lang="en-US" altLang="zh-CN" sz="1800" b="1" u="none" dirty="0" smtClean="0">
                <a:latin typeface="+mn-ea"/>
                <a:ea typeface="+mn-ea"/>
                <a:sym typeface="+mn-ea"/>
              </a:rPr>
              <a:t>a#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块的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b#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单元</a:t>
            </a:r>
            <a:r>
              <a:rPr lang="zh-CN" altLang="en-US" sz="1800" b="1" u="none" dirty="0" smtClean="0">
                <a:latin typeface="+mn-ea"/>
                <a:ea typeface="+mn-ea"/>
                <a:sym typeface="+mn-ea"/>
              </a:rPr>
              <a:t>，</a:t>
            </a:r>
            <a:r>
              <a:rPr lang="en-US" altLang="zh-CN" sz="1800" b="1" u="none" dirty="0" smtClean="0">
                <a:latin typeface="+mn-ea"/>
                <a:ea typeface="+mn-ea"/>
                <a:sym typeface="+mn-ea"/>
              </a:rPr>
              <a:t>Cache</a:t>
            </a:r>
            <a:r>
              <a:rPr lang="zh-CN" altLang="en-US" sz="1800" b="1" u="none" dirty="0" smtClean="0">
                <a:latin typeface="+mn-ea"/>
                <a:ea typeface="+mn-ea"/>
                <a:sym typeface="+mn-ea"/>
              </a:rPr>
              <a:t>怎知其是</a:t>
            </a:r>
            <a:r>
              <a:rPr lang="en-US" altLang="zh-CN" sz="1800" b="1" u="none" dirty="0" smtClean="0">
                <a:latin typeface="+mn-ea"/>
                <a:ea typeface="+mn-ea"/>
                <a:sym typeface="+mn-ea"/>
              </a:rPr>
              <a:t>/</a:t>
            </a:r>
            <a:r>
              <a:rPr lang="zh-CN" altLang="en-US" sz="1800" b="1" u="none" dirty="0" smtClean="0">
                <a:latin typeface="+mn-ea"/>
                <a:ea typeface="+mn-ea"/>
                <a:sym typeface="+mn-ea"/>
              </a:rPr>
              <a:t>否在行</a:t>
            </a:r>
            <a:r>
              <a:rPr lang="en-US" altLang="zh-CN" sz="1800" b="1" u="none" dirty="0" smtClean="0">
                <a:latin typeface="+mn-ea"/>
                <a:ea typeface="+mn-ea"/>
                <a:sym typeface="+mn-ea"/>
              </a:rPr>
              <a:t>j</a:t>
            </a:r>
            <a:r>
              <a:rPr lang="zh-CN" altLang="en-US" sz="1800" b="1" u="none" dirty="0" smtClean="0">
                <a:latin typeface="+mn-ea"/>
                <a:ea typeface="+mn-ea"/>
                <a:sym typeface="+mn-ea"/>
              </a:rPr>
              <a:t>中</a:t>
            </a:r>
            <a:r>
              <a:rPr lang="zh-CN" altLang="en-US" sz="1800" b="1" u="none" dirty="0" smtClean="0">
                <a:latin typeface="+mn-ea"/>
                <a:ea typeface="+mn-ea"/>
                <a:sym typeface="+mn-ea"/>
              </a:rPr>
              <a:t>？</a:t>
            </a:r>
            <a:endParaRPr lang="zh-CN" altLang="en-US" sz="1800" b="1" u="none" dirty="0" smtClean="0">
              <a:latin typeface="+mn-ea"/>
              <a:ea typeface="+mn-ea"/>
              <a:sym typeface="+mn-ea"/>
            </a:endParaRPr>
          </a:p>
        </p:txBody>
      </p:sp>
      <p:sp>
        <p:nvSpPr>
          <p:cNvPr id="226" name="AutoShape 466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64"/>
            </p:custDataLst>
          </p:nvPr>
        </p:nvSpPr>
        <p:spPr bwMode="auto">
          <a:xfrm rot="10800000">
            <a:off x="298851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62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62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628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628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500"/>
                                        <p:tgtEl>
                                          <p:spTgt spid="463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6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8889 0.00138889 L -0.212361 -0.0813889 " pathEditMode="relative" rAng="0" ptsTypes="">
                                      <p:cBhvr>
                                        <p:cTn id="54" dur="1500" fill="hold"/>
                                        <p:tgtEl>
                                          <p:spTgt spid="463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" y="-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463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141" grpId="0" bldLvl="0" animBg="1"/>
      <p:bldP spid="463141" grpId="1" bldLvl="0" animBg="1"/>
      <p:bldP spid="463142" grpId="0" bldLvl="0" animBg="1"/>
      <p:bldP spid="90" grpId="0" bldLvl="0" animBg="1"/>
      <p:bldP spid="92" grpId="0" bldLvl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08" name="Text Box 30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8488680" cy="54940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*Cache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结构抽象：</a:t>
            </a: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 ①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行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的数组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，每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行包含缓存块、管理信息</a:t>
            </a: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u="none" dirty="0" smtClean="0">
                <a:latin typeface="宋体" panose="02010600030101010101" pitchFamily="2" charset="-122"/>
                <a:sym typeface="+mn-ea"/>
              </a:rPr>
              <a:t>                                       </a:t>
            </a:r>
            <a:r>
              <a:rPr lang="zh-CN" altLang="en-US" sz="16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←大小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编址单位均都</a:t>
            </a:r>
            <a:r>
              <a:rPr lang="zh-CN" altLang="en-US" sz="16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与主存块相同</a:t>
            </a:r>
            <a:endParaRPr lang="zh-CN" altLang="en-US" sz="16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 ②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控制器为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操作处理机构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查找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替换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读写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处理访问请求</a:t>
            </a:r>
            <a:endParaRPr lang="zh-CN" altLang="en-US" sz="22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u="none" dirty="0" smtClean="0">
                <a:latin typeface="宋体" panose="02010600030101010101" pitchFamily="2" charset="-122"/>
                <a:sym typeface="+mn-ea"/>
              </a:rPr>
              <a:t>                            </a:t>
            </a:r>
            <a:r>
              <a:rPr lang="zh-CN" altLang="en-US" sz="16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sz="1600" b="1" u="none" dirty="0" smtClean="0">
                <a:latin typeface="宋体" panose="02010600030101010101" pitchFamily="2" charset="-122"/>
                <a:sym typeface="+mn-ea"/>
              </a:rPr>
              <a:t>实现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地址变换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层间管理</a:t>
            </a:r>
            <a:endParaRPr lang="zh-CN" altLang="en-US" sz="16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1189062" y="1583020"/>
            <a:ext cx="5760728" cy="1368000"/>
            <a:chOff x="1331640" y="1365626"/>
            <a:chExt cx="5760728" cy="1368000"/>
          </a:xfrm>
        </p:grpSpPr>
        <p:sp>
          <p:nvSpPr>
            <p:cNvPr id="512099" name="Rectangle 99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268368" y="1365626"/>
              <a:ext cx="4824000" cy="1368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p>
              <a:endParaRPr lang="zh-CN" altLang="en-US" u="none"/>
            </a:p>
          </p:txBody>
        </p:sp>
        <p:sp>
          <p:nvSpPr>
            <p:cNvPr id="512100" name="Text Box 100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133427" y="1437482"/>
              <a:ext cx="864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标记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12101" name="Text Box 10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340372" y="1437482"/>
              <a:ext cx="720000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有效位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12103" name="Text Box 103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069531" y="1437482"/>
              <a:ext cx="720000" cy="252000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状态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12104" name="Text Box 104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131840" y="1786401"/>
              <a:ext cx="864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标记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12105" name="Text Box 105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338784" y="1786401"/>
              <a:ext cx="720000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有效位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12107" name="Text Box 107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067944" y="1786401"/>
              <a:ext cx="720000" cy="252000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状态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12108" name="Text Box 108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131840" y="2432886"/>
              <a:ext cx="864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标记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12109" name="Text Box 109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338784" y="2432886"/>
              <a:ext cx="720000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有效位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12110" name="Text Box 110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932040" y="2434473"/>
              <a:ext cx="2088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缓存块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～字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baseline="30000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-1)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12111" name="Text Box 11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067944" y="2432886"/>
              <a:ext cx="720000" cy="252000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状态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12112" name="Text Box 112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491880" y="2110409"/>
              <a:ext cx="288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b="1" u="none" dirty="0"/>
                <a:t>…</a:t>
              </a:r>
              <a:endParaRPr lang="en-US" altLang="zh-CN" sz="1800" b="1" u="none" baseline="-20000" dirty="0"/>
            </a:p>
          </p:txBody>
        </p:sp>
        <p:sp>
          <p:nvSpPr>
            <p:cNvPr id="512113" name="Text Box 113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626122" y="2110409"/>
              <a:ext cx="288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b="1" u="none" dirty="0"/>
                <a:t>…</a:t>
              </a:r>
              <a:endParaRPr lang="en-US" altLang="zh-CN" sz="1800" b="1" u="none" baseline="-20000" dirty="0"/>
            </a:p>
          </p:txBody>
        </p:sp>
        <p:sp>
          <p:nvSpPr>
            <p:cNvPr id="512114" name="Text Box 114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355976" y="2110409"/>
              <a:ext cx="288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b="1" u="none"/>
                <a:t>…</a:t>
              </a:r>
              <a:endParaRPr lang="en-US" altLang="zh-CN" sz="1800" b="1" u="none" baseline="-20000"/>
            </a:p>
          </p:txBody>
        </p:sp>
        <p:sp>
          <p:nvSpPr>
            <p:cNvPr id="512115" name="Text Box 115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796136" y="2085554"/>
              <a:ext cx="288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b="1" u="none" dirty="0"/>
                <a:t>…</a:t>
              </a:r>
              <a:endParaRPr lang="en-US" altLang="zh-CN" sz="1800" b="1" u="none" baseline="-20000" dirty="0"/>
            </a:p>
          </p:txBody>
        </p:sp>
        <p:sp>
          <p:nvSpPr>
            <p:cNvPr id="512117" name="Text Box 117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475736" y="1437482"/>
              <a:ext cx="720000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r"/>
              <a:r>
                <a:rPr lang="zh-CN" altLang="en-US" sz="1600" b="1" u="none" dirty="0">
                  <a:latin typeface="宋体" panose="02010600030101010101" pitchFamily="2" charset="-122"/>
                </a:rPr>
                <a:t>第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12118" name="Text Box 118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331640" y="2409618"/>
              <a:ext cx="864000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r"/>
              <a:r>
                <a:rPr lang="zh-CN" altLang="en-US" sz="1600" b="1" u="none" dirty="0">
                  <a:latin typeface="宋体" panose="02010600030101010101" pitchFamily="2" charset="-122"/>
                </a:rPr>
                <a:t>第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baseline="30000" dirty="0">
                  <a:latin typeface="宋体" panose="02010600030101010101" pitchFamily="2" charset="-122"/>
                </a:rPr>
                <a:t>c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-1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12121" name="Text Box 12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935215" y="1439070"/>
              <a:ext cx="2088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缓存块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～字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baseline="30000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-1)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12122" name="Text Box 122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932272" y="1761546"/>
              <a:ext cx="2088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缓存块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～字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baseline="30000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-1)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2125339" y="1583020"/>
            <a:ext cx="4824115" cy="1692000"/>
            <a:chOff x="2267917" y="1365474"/>
            <a:chExt cx="4824115" cy="1692000"/>
          </a:xfrm>
        </p:grpSpPr>
        <p:cxnSp>
          <p:nvCxnSpPr>
            <p:cNvPr id="75" name="直接连接符 74"/>
            <p:cNvCxnSpPr/>
            <p:nvPr>
              <p:custDataLst>
                <p:tags r:id="rId21"/>
              </p:custDataLst>
            </p:nvPr>
          </p:nvCxnSpPr>
          <p:spPr bwMode="auto">
            <a:xfrm>
              <a:off x="4860032" y="1365474"/>
              <a:ext cx="0" cy="136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6" name="Text Box 182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5650578" y="2841474"/>
              <a:ext cx="72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数据区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7" name="Text Box 182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094578" y="2841474"/>
              <a:ext cx="151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管理区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目录表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8" name="AutoShape 28"/>
            <p:cNvSpPr/>
            <p:nvPr>
              <p:custDataLst>
                <p:tags r:id="rId24"/>
              </p:custDataLst>
            </p:nvPr>
          </p:nvSpPr>
          <p:spPr bwMode="auto">
            <a:xfrm rot="16200000">
              <a:off x="5940032" y="1674429"/>
              <a:ext cx="72000" cy="2232000"/>
            </a:xfrm>
            <a:prstGeom prst="rightBrace">
              <a:avLst>
                <a:gd name="adj1" fmla="val 76674"/>
                <a:gd name="adj2" fmla="val 50000"/>
              </a:avLst>
            </a:prstGeom>
            <a:noFill/>
            <a:ln w="12700">
              <a:solidFill>
                <a:srgbClr val="990099"/>
              </a:solidFill>
              <a:round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wrap="none" anchor="ctr"/>
            <a:p>
              <a:endParaRPr lang="zh-CN" altLang="en-US" u="none"/>
            </a:p>
          </p:txBody>
        </p:sp>
        <p:sp>
          <p:nvSpPr>
            <p:cNvPr id="79" name="AutoShape 28"/>
            <p:cNvSpPr/>
            <p:nvPr>
              <p:custDataLst>
                <p:tags r:id="rId25"/>
              </p:custDataLst>
            </p:nvPr>
          </p:nvSpPr>
          <p:spPr bwMode="auto">
            <a:xfrm rot="16200000">
              <a:off x="3509917" y="1516459"/>
              <a:ext cx="72000" cy="2556000"/>
            </a:xfrm>
            <a:prstGeom prst="rightBrace">
              <a:avLst>
                <a:gd name="adj1" fmla="val 86438"/>
                <a:gd name="adj2" fmla="val 50000"/>
              </a:avLst>
            </a:prstGeom>
            <a:noFill/>
            <a:ln w="12700">
              <a:solidFill>
                <a:srgbClr val="990099"/>
              </a:solidFill>
              <a:round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wrap="none" anchor="ctr"/>
            <a:p>
              <a:endParaRPr lang="zh-CN" altLang="en-US" u="none"/>
            </a:p>
          </p:txBody>
        </p:sp>
      </p:grpSp>
      <p:sp>
        <p:nvSpPr>
          <p:cNvPr id="81" name="Text Box 124"/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1692945" y="3705795"/>
            <a:ext cx="5328000" cy="576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100000"/>
              </a:lnSpc>
            </a:pPr>
            <a:r>
              <a:rPr lang="en-US" altLang="zh-CN" sz="18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18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18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容量</a:t>
            </a:r>
            <a:r>
              <a:rPr lang="en-US" altLang="zh-CN" sz="18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指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数据区的容量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18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总容量</a:t>
            </a:r>
            <a:r>
              <a:rPr lang="en-US" altLang="zh-CN" sz="18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指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数据区＋管理区的容量之和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37" name="AutoShape 331"/>
          <p:cNvSpPr/>
          <p:nvPr>
            <p:custDataLst>
              <p:tags r:id="rId27"/>
            </p:custDataLst>
          </p:nvPr>
        </p:nvSpPr>
        <p:spPr bwMode="auto">
          <a:xfrm>
            <a:off x="5005739" y="3312000"/>
            <a:ext cx="2376000" cy="252000"/>
          </a:xfrm>
          <a:prstGeom prst="borderCallout2">
            <a:avLst>
              <a:gd name="adj1" fmla="val 50645"/>
              <a:gd name="adj2" fmla="val -304"/>
              <a:gd name="adj3" fmla="val 52610"/>
              <a:gd name="adj4" fmla="val -8222"/>
              <a:gd name="adj5" fmla="val -204197"/>
              <a:gd name="adj6" fmla="val -19760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sm" len="sm"/>
          </a:ln>
          <a:effectLst/>
        </p:spPr>
        <p:txBody>
          <a:bodyPr lIns="18000" tIns="10800" rIns="18000" bIns="10800" anchor="ctr"/>
          <a:p>
            <a:pPr algn="ctr"/>
            <a:r>
              <a:rPr lang="zh-CN" altLang="en-US" sz="1600" b="1" u="none" dirty="0" smtClean="0">
                <a:latin typeface="+mn-ea"/>
                <a:ea typeface="+mn-ea"/>
              </a:rPr>
              <a:t>存放</a:t>
            </a:r>
            <a:r>
              <a:rPr lang="zh-CN" altLang="en-US" sz="1600" b="1" u="none" dirty="0" smtClean="0">
                <a:solidFill>
                  <a:srgbClr val="C00000"/>
                </a:solidFill>
                <a:latin typeface="+mn-ea"/>
                <a:ea typeface="+mn-ea"/>
              </a:rPr>
              <a:t>层间管理</a:t>
            </a:r>
            <a:r>
              <a:rPr lang="zh-CN" altLang="en-US" sz="1600" b="1" u="none" dirty="0" smtClean="0">
                <a:latin typeface="+mn-ea"/>
                <a:ea typeface="+mn-ea"/>
              </a:rPr>
              <a:t>的其余信息</a:t>
            </a:r>
            <a:endParaRPr lang="zh-CN" altLang="en-US" sz="1600" b="1" u="none" dirty="0">
              <a:latin typeface="+mn-ea"/>
              <a:ea typeface="+mn-ea"/>
            </a:endParaRPr>
          </a:p>
        </p:txBody>
      </p:sp>
      <p:sp>
        <p:nvSpPr>
          <p:cNvPr id="3" name="AutoShape 233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 rot="5400000">
            <a:off x="2987824" y="6526037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9" name="Text Box 163"/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1331595" y="4391025"/>
            <a:ext cx="6768000" cy="683895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lIns="18000" tIns="10800" rIns="18000" bIns="10800" anchor="t" anchorCtr="0"/>
          <a:p>
            <a:pPr marL="271780" indent="-27178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u="none" dirty="0" smtClean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示例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：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主存按字节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编址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地址空间为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1M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，主存块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16B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容量为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8KB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。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有多少行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？行号多少位？</a:t>
            </a:r>
            <a:r>
              <a:rPr lang="zh-CN" sz="1800" b="1" u="none" dirty="0">
                <a:latin typeface="宋体" panose="02010600030101010101" pitchFamily="2" charset="-122"/>
                <a:sym typeface="+mn-ea"/>
              </a:rPr>
              <a:t>块内地址多少位？</a:t>
            </a:r>
            <a:endParaRPr lang="zh-CN" sz="1800" b="1" u="none" dirty="0" smtClean="0">
              <a:latin typeface="宋体" panose="02010600030101010101" pitchFamily="2" charset="-122"/>
              <a:ea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0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bldLvl="0" animBg="1"/>
      <p:bldP spid="9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1E1D3-7BEF-40B7-B6BC-F12FCC1EE449}" type="slidenum">
              <a:rPr lang="en-US" altLang="zh-CN"/>
            </a:fld>
            <a:endParaRPr lang="en-US" altLang="zh-CN"/>
          </a:p>
        </p:txBody>
      </p:sp>
      <p:sp>
        <p:nvSpPr>
          <p:cNvPr id="64" name="AutoShape 97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Text Box 10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388" y="360000"/>
            <a:ext cx="3096467" cy="50082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bIns="0">
            <a:spAutoFit/>
          </a:bodyPr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的工作原理</a:t>
            </a:r>
            <a:endParaRPr lang="en-US" altLang="zh-CN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操作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过程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0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18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*实现技术：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Text Box 10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11023" y="792000"/>
            <a:ext cx="6120144" cy="8045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①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地址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变换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，②数据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访问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，③数据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写回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主存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u="none" dirty="0" smtClean="0">
                <a:latin typeface="+mn-ea"/>
              </a:rPr>
              <a:t> (</a:t>
            </a:r>
            <a:r>
              <a:rPr lang="zh-CN" altLang="en-US" sz="1800" b="1" u="none" dirty="0" smtClean="0">
                <a:latin typeface="+mn-ea"/>
              </a:rPr>
              <a:t>查找</a:t>
            </a:r>
            <a:r>
              <a:rPr lang="zh-CN" altLang="en-US" sz="1800" b="1" u="none" dirty="0">
                <a:latin typeface="+mn-ea"/>
              </a:rPr>
              <a:t>目标行</a:t>
            </a:r>
            <a:r>
              <a:rPr lang="en-US" altLang="zh-CN" sz="1800" b="1" u="none" dirty="0" smtClean="0">
                <a:latin typeface="+mn-ea"/>
              </a:rPr>
              <a:t>)  (</a:t>
            </a:r>
            <a:r>
              <a:rPr lang="zh-CN" altLang="en-US" sz="1800" b="1" u="none" dirty="0" smtClean="0">
                <a:latin typeface="+mn-ea"/>
              </a:rPr>
              <a:t>访问行中数据</a:t>
            </a:r>
            <a:r>
              <a:rPr lang="en-US" altLang="zh-CN" sz="1800" b="1" u="none" dirty="0" smtClean="0">
                <a:latin typeface="+mn-ea"/>
              </a:rPr>
              <a:t>)  (</a:t>
            </a:r>
            <a:r>
              <a:rPr lang="zh-CN" altLang="en-US" sz="1800" b="1" u="none" dirty="0" smtClean="0">
                <a:latin typeface="+mn-ea"/>
              </a:rPr>
              <a:t>保持层次一致性</a:t>
            </a:r>
            <a:r>
              <a:rPr lang="en-US" altLang="zh-CN" sz="1800" b="1" u="none" dirty="0" smtClean="0">
                <a:latin typeface="+mn-ea"/>
              </a:rPr>
              <a:t>)</a:t>
            </a:r>
            <a:endParaRPr lang="en-US" altLang="zh-CN" sz="1800" b="1" u="none" dirty="0" smtClean="0">
              <a:latin typeface="+mn-ea"/>
              <a:ea typeface="+mn-ea"/>
            </a:endParaRPr>
          </a:p>
        </p:txBody>
      </p:sp>
      <p:sp>
        <p:nvSpPr>
          <p:cNvPr id="5" name="Text Box 20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092280" y="1629109"/>
            <a:ext cx="1872208" cy="50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  <a:tabLst>
                <a:tab pos="85725" algn="l"/>
              </a:tabLst>
            </a:pPr>
            <a:r>
              <a:rPr lang="zh-CN" altLang="en-US" sz="1600" b="1" u="none" dirty="0" smtClean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rPr>
              <a:t>类比：</a:t>
            </a:r>
            <a:r>
              <a:rPr lang="zh-CN" altLang="en-US" sz="1600" b="1" u="none" dirty="0" smtClean="0">
                <a:latin typeface="+mn-ea"/>
                <a:ea typeface="+mn-ea"/>
                <a:cs typeface="Times New Roman" panose="02020603050405020304" pitchFamily="18" charset="0"/>
              </a:rPr>
              <a:t>学生迟到时，</a:t>
            </a:r>
            <a:endParaRPr lang="en-US" altLang="zh-CN" sz="1600" b="1" u="none" dirty="0" smtClean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tabLst>
                <a:tab pos="85725" algn="l"/>
              </a:tabLst>
            </a:pPr>
            <a:r>
              <a:rPr lang="en-US" altLang="zh-CN" sz="1600" b="1" u="none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600" b="1" u="none" dirty="0" smtClean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1600" b="1" u="none" dirty="0" smtClean="0">
                <a:latin typeface="+mn-ea"/>
                <a:ea typeface="+mn-ea"/>
                <a:cs typeface="Times New Roman" panose="02020603050405020304" pitchFamily="18" charset="0"/>
              </a:rPr>
              <a:t>如何安排座位？</a:t>
            </a:r>
            <a:endParaRPr lang="en-US" altLang="zh-CN" sz="1600" b="1" u="none" dirty="0" smtClean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11560" y="1916073"/>
            <a:ext cx="1682984" cy="1152128"/>
            <a:chOff x="296728" y="1844824"/>
            <a:chExt cx="1682984" cy="1152128"/>
          </a:xfrm>
        </p:grpSpPr>
        <p:sp>
          <p:nvSpPr>
            <p:cNvPr id="7" name="Text Box 10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29627" y="2060848"/>
              <a:ext cx="913879" cy="64807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" name="Text Box 453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26203" y="1844824"/>
              <a:ext cx="720725" cy="196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8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Cache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" name="Text Box 10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29628" y="2060848"/>
              <a:ext cx="122388" cy="64878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" name="Text Box 10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52015" y="2060848"/>
              <a:ext cx="215230" cy="648072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" name="Text Box 10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68038" y="2060848"/>
              <a:ext cx="143665" cy="648072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" name="Text Box 10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012054" y="2060848"/>
              <a:ext cx="431452" cy="648072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3" name="直接连接符 12"/>
            <p:cNvCxnSpPr/>
            <p:nvPr>
              <p:custDataLst>
                <p:tags r:id="rId11"/>
              </p:custDataLst>
            </p:nvPr>
          </p:nvCxnSpPr>
          <p:spPr bwMode="auto">
            <a:xfrm>
              <a:off x="529627" y="2189624"/>
              <a:ext cx="91387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直接连接符 13"/>
            <p:cNvCxnSpPr/>
            <p:nvPr>
              <p:custDataLst>
                <p:tags r:id="rId12"/>
              </p:custDataLst>
            </p:nvPr>
          </p:nvCxnSpPr>
          <p:spPr bwMode="auto">
            <a:xfrm>
              <a:off x="530223" y="2318400"/>
              <a:ext cx="91387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接连接符 14"/>
            <p:cNvCxnSpPr/>
            <p:nvPr>
              <p:custDataLst>
                <p:tags r:id="rId13"/>
              </p:custDataLst>
            </p:nvPr>
          </p:nvCxnSpPr>
          <p:spPr bwMode="auto">
            <a:xfrm>
              <a:off x="530858" y="2574176"/>
              <a:ext cx="91387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" name="Text Box 105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748548" y="2077576"/>
              <a:ext cx="231164" cy="60703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主存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" name="Line 420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 flipV="1">
              <a:off x="301941" y="2348880"/>
              <a:ext cx="222471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w="sm" len="sm"/>
              <a:tailEnd type="triangle" w="sm" len="sm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9" name="Line 422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301942" y="2420888"/>
              <a:ext cx="221239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triangle" w="sm" len="sm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0" name="Line 422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296728" y="2492896"/>
              <a:ext cx="221239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triangle" w="sm" len="sm"/>
              <a:tailEnd type="triangle" w="sm" len="sm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1" name="Line 420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V="1">
              <a:off x="1444737" y="2348880"/>
              <a:ext cx="303811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w="sm" len="sm"/>
              <a:tailEnd type="triangle" w="sm" len="sm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2" name="Line 422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1443506" y="2420888"/>
              <a:ext cx="303811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triangle" w="sm" len="sm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3" name="Line 422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1449150" y="2492896"/>
              <a:ext cx="292953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triangle" w="sm" len="sm"/>
              <a:tailEnd type="triangle" w="sm" len="sm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4" name="Text Box 453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778603" y="2800693"/>
              <a:ext cx="1085527" cy="196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8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层次结构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331933" y="3428976"/>
            <a:ext cx="1106626" cy="397515"/>
            <a:chOff x="6084168" y="1845320"/>
            <a:chExt cx="1106626" cy="397515"/>
          </a:xfrm>
        </p:grpSpPr>
        <p:sp>
          <p:nvSpPr>
            <p:cNvPr id="26" name="Text Box 148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6084168" y="1845320"/>
              <a:ext cx="792000" cy="252000"/>
            </a:xfrm>
            <a:prstGeom prst="rect">
              <a:avLst/>
            </a:prstGeom>
            <a:noFill/>
            <a:ln w="12700" cmpd="sng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写策略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7" name="直接箭头连接符 66"/>
            <p:cNvCxnSpPr>
              <a:stCxn id="26" idx="3"/>
            </p:cNvCxnSpPr>
            <p:nvPr>
              <p:custDataLst>
                <p:tags r:id="rId23"/>
              </p:custDataLst>
            </p:nvPr>
          </p:nvCxnSpPr>
          <p:spPr bwMode="auto">
            <a:xfrm>
              <a:off x="6876168" y="1971320"/>
              <a:ext cx="314626" cy="27151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  <p:cxnSp>
        <p:nvCxnSpPr>
          <p:cNvPr id="28" name="直接箭头连接符 166"/>
          <p:cNvCxnSpPr/>
          <p:nvPr>
            <p:custDataLst>
              <p:tags r:id="rId24"/>
            </p:custDataLst>
          </p:nvPr>
        </p:nvCxnSpPr>
        <p:spPr bwMode="auto">
          <a:xfrm rot="5400000">
            <a:off x="7236376" y="2349213"/>
            <a:ext cx="936000" cy="504000"/>
          </a:xfrm>
          <a:prstGeom prst="bentConnector3">
            <a:avLst>
              <a:gd name="adj1" fmla="val 100094"/>
            </a:avLst>
          </a:prstGeom>
          <a:solidFill>
            <a:schemeClr val="accent1"/>
          </a:solidFill>
          <a:ln w="12700" cap="flat" cmpd="sng" algn="ctr">
            <a:solidFill>
              <a:srgbClr val="990099"/>
            </a:solidFill>
            <a:prstDash val="sysDash"/>
            <a:round/>
            <a:headEnd type="arrow" w="sm" len="sm"/>
            <a:tailEnd type="arrow" w="sm" len="sm"/>
          </a:ln>
          <a:effectLst/>
        </p:spPr>
      </p:cxnSp>
      <p:grpSp>
        <p:nvGrpSpPr>
          <p:cNvPr id="29" name="组合 28"/>
          <p:cNvGrpSpPr/>
          <p:nvPr/>
        </p:nvGrpSpPr>
        <p:grpSpPr>
          <a:xfrm>
            <a:off x="2915990" y="1620000"/>
            <a:ext cx="1584002" cy="2952304"/>
            <a:chOff x="2843807" y="1415572"/>
            <a:chExt cx="1584002" cy="2952304"/>
          </a:xfrm>
        </p:grpSpPr>
        <p:sp>
          <p:nvSpPr>
            <p:cNvPr id="30" name="AutoShape 141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843807" y="1415572"/>
              <a:ext cx="1584000" cy="216000"/>
            </a:xfrm>
            <a:prstGeom prst="hexagon">
              <a:avLst>
                <a:gd name="adj" fmla="val 57468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36195" tIns="17780" rIns="36195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接收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主存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1" name="AutoShape 145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2843809" y="4151876"/>
              <a:ext cx="1584000" cy="216000"/>
            </a:xfrm>
            <a:prstGeom prst="hexagon">
              <a:avLst>
                <a:gd name="adj" fmla="val 52248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36195" tIns="17780" rIns="36195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通知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操作完成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32" name="直接箭头连接符 31"/>
            <p:cNvCxnSpPr/>
            <p:nvPr>
              <p:custDataLst>
                <p:tags r:id="rId27"/>
              </p:custDataLst>
            </p:nvPr>
          </p:nvCxnSpPr>
          <p:spPr bwMode="auto">
            <a:xfrm>
              <a:off x="3635897" y="1631572"/>
              <a:ext cx="0" cy="21748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" name="直接箭头连接符 32"/>
            <p:cNvCxnSpPr/>
            <p:nvPr>
              <p:custDataLst>
                <p:tags r:id="rId28"/>
              </p:custDataLst>
            </p:nvPr>
          </p:nvCxnSpPr>
          <p:spPr bwMode="auto">
            <a:xfrm>
              <a:off x="3635897" y="3071732"/>
              <a:ext cx="1017" cy="10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34" name="组合 33"/>
          <p:cNvGrpSpPr/>
          <p:nvPr/>
        </p:nvGrpSpPr>
        <p:grpSpPr>
          <a:xfrm>
            <a:off x="2844304" y="2052000"/>
            <a:ext cx="4608016" cy="2520072"/>
            <a:chOff x="2771993" y="2311405"/>
            <a:chExt cx="4608016" cy="2520072"/>
          </a:xfrm>
        </p:grpSpPr>
        <p:sp>
          <p:nvSpPr>
            <p:cNvPr id="35" name="Rectangle 111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644009" y="2959477"/>
              <a:ext cx="2736000" cy="187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  <a:tailEnd type="none" w="sm" len="med"/>
            </a:ln>
            <a:effectLst/>
          </p:spPr>
          <p:txBody>
            <a:bodyPr wrap="none" anchor="ctr"/>
            <a:p>
              <a:endParaRPr lang="zh-CN" altLang="en-US" sz="2000"/>
            </a:p>
          </p:txBody>
        </p:sp>
        <p:sp>
          <p:nvSpPr>
            <p:cNvPr id="36" name="Text Box 132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4283985" y="2671469"/>
              <a:ext cx="14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/>
              <a:r>
                <a:rPr lang="en-US" altLang="zh-CN" sz="1400" b="1" u="none" dirty="0">
                  <a:latin typeface="宋体" panose="02010600030101010101" pitchFamily="2" charset="-122"/>
                </a:rPr>
                <a:t>N</a:t>
              </a:r>
              <a:endParaRPr lang="en-US" altLang="zh-CN" sz="14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7" name="Text Box 133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2843809" y="2311405"/>
              <a:ext cx="158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查找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目标主存块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8" name="AutoShape 134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059832" y="2743453"/>
              <a:ext cx="1152000" cy="288000"/>
            </a:xfrm>
            <a:prstGeom prst="flowChartDecision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r>
                <a:rPr lang="zh-CN" altLang="en-US" sz="1600" b="1" u="none" dirty="0" smtClean="0"/>
                <a:t>命中？</a:t>
              </a:r>
              <a:endParaRPr lang="zh-CN" altLang="en-US" sz="1600" b="1" u="none" dirty="0"/>
            </a:p>
          </p:txBody>
        </p:sp>
        <p:sp>
          <p:nvSpPr>
            <p:cNvPr id="39" name="Text Box 139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3491897" y="3031509"/>
              <a:ext cx="14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/>
              <a:r>
                <a:rPr lang="en-US" altLang="zh-CN" sz="1400" b="1" u="none" dirty="0">
                  <a:latin typeface="宋体" panose="02010600030101010101" pitchFamily="2" charset="-122"/>
                </a:rPr>
                <a:t>Y</a:t>
              </a:r>
              <a:endParaRPr lang="en-US" altLang="zh-CN" sz="14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40" name="Text Box 143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2771993" y="3319541"/>
              <a:ext cx="1728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访问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目标行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41" name="直接箭头连接符 40"/>
            <p:cNvCxnSpPr>
              <a:stCxn id="38" idx="2"/>
              <a:endCxn id="40" idx="0"/>
            </p:cNvCxnSpPr>
            <p:nvPr>
              <p:custDataLst>
                <p:tags r:id="rId35"/>
              </p:custDataLst>
            </p:nvPr>
          </p:nvCxnSpPr>
          <p:spPr bwMode="auto">
            <a:xfrm>
              <a:off x="3635832" y="3031453"/>
              <a:ext cx="161" cy="28808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2" name="直接箭头连接符 41"/>
            <p:cNvCxnSpPr>
              <a:stCxn id="37" idx="2"/>
              <a:endCxn id="38" idx="0"/>
            </p:cNvCxnSpPr>
            <p:nvPr>
              <p:custDataLst>
                <p:tags r:id="rId36"/>
              </p:custDataLst>
            </p:nvPr>
          </p:nvCxnSpPr>
          <p:spPr bwMode="auto">
            <a:xfrm>
              <a:off x="3635809" y="2527405"/>
              <a:ext cx="23" cy="21604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3" name="直接箭头连接符 64"/>
            <p:cNvCxnSpPr/>
            <p:nvPr>
              <p:custDataLst>
                <p:tags r:id="rId37"/>
              </p:custDataLst>
            </p:nvPr>
          </p:nvCxnSpPr>
          <p:spPr bwMode="auto">
            <a:xfrm>
              <a:off x="4211961" y="2887469"/>
              <a:ext cx="1512000" cy="216000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4" name="Line 140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 flipH="1" flipV="1">
              <a:off x="3635897" y="3175501"/>
              <a:ext cx="108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 sz="2000"/>
            </a:p>
          </p:txBody>
        </p:sp>
        <p:sp>
          <p:nvSpPr>
            <p:cNvPr id="45" name="Text Box 12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6804249" y="4327629"/>
              <a:ext cx="504056" cy="43204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400" b="1" u="none" dirty="0" smtClean="0">
                  <a:latin typeface="宋体" panose="02010600030101010101" pitchFamily="2" charset="-122"/>
                </a:rPr>
                <a:t>缺失</a:t>
              </a:r>
              <a:endParaRPr lang="en-US" altLang="zh-CN" sz="1400" b="1" u="none" dirty="0" smtClean="0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400" b="1" u="none" dirty="0" smtClean="0">
                  <a:latin typeface="宋体" panose="02010600030101010101" pitchFamily="2" charset="-122"/>
                </a:rPr>
                <a:t>处理</a:t>
              </a:r>
              <a:endParaRPr lang="zh-CN" altLang="en-US" sz="1400" b="1" u="none" baseline="-200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88024" y="2772000"/>
            <a:ext cx="2592288" cy="1728200"/>
            <a:chOff x="5292079" y="2707449"/>
            <a:chExt cx="2592288" cy="1728200"/>
          </a:xfrm>
        </p:grpSpPr>
        <p:sp>
          <p:nvSpPr>
            <p:cNvPr id="47" name="AutoShape 114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5508279" y="2779457"/>
              <a:ext cx="1584000" cy="288000"/>
            </a:xfrm>
            <a:prstGeom prst="flowChartDecision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有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空闲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?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48" name="Text Box 115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5436095" y="4075601"/>
              <a:ext cx="1728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调入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目标块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到行</a:t>
              </a:r>
              <a:r>
                <a:rPr lang="en-US" altLang="zh-CN" sz="1400" b="1" u="none" dirty="0" err="1">
                  <a:latin typeface="宋体" panose="02010600030101010101" pitchFamily="2" charset="-122"/>
                </a:rPr>
                <a:t>i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)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9" name="Text Box 117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5331550" y="3163525"/>
              <a:ext cx="9360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4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400" b="1" u="none" dirty="0" smtClean="0">
                  <a:latin typeface="宋体" panose="02010600030101010101" pitchFamily="2" charset="-122"/>
                </a:rPr>
                <a:t>假设</a:t>
              </a:r>
              <a:r>
                <a:rPr lang="en-US" altLang="zh-CN" sz="1400" b="1" u="none" dirty="0" smtClean="0">
                  <a:latin typeface="宋体" panose="02010600030101010101" pitchFamily="2" charset="-122"/>
                </a:rPr>
                <a:t>=</a:t>
              </a:r>
              <a:r>
                <a:rPr lang="en-US" altLang="zh-CN" sz="1400" b="1" u="none" dirty="0" err="1" smtClean="0">
                  <a:latin typeface="宋体" panose="02010600030101010101" pitchFamily="2" charset="-122"/>
                </a:rPr>
                <a:t>i</a:t>
              </a:r>
              <a:r>
                <a:rPr lang="en-US" altLang="zh-CN" sz="1400" b="1" u="none" dirty="0" smtClean="0">
                  <a:latin typeface="宋体" panose="02010600030101010101" pitchFamily="2" charset="-122"/>
                </a:rPr>
                <a:t>) Y</a:t>
              </a:r>
              <a:endParaRPr lang="en-US" altLang="zh-CN" sz="14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0" name="Line 118"/>
            <p:cNvSpPr>
              <a:spLocks noChangeShapeType="1"/>
            </p:cNvSpPr>
            <p:nvPr>
              <p:custDataLst>
                <p:tags r:id="rId43"/>
              </p:custDataLst>
            </p:nvPr>
          </p:nvSpPr>
          <p:spPr bwMode="auto">
            <a:xfrm>
              <a:off x="5292079" y="2851649"/>
              <a:ext cx="694" cy="158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51" name="Text Box 121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7092279" y="2707449"/>
              <a:ext cx="14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400" b="1" u="none" dirty="0">
                  <a:latin typeface="宋体" panose="02010600030101010101" pitchFamily="2" charset="-122"/>
                </a:rPr>
                <a:t>N</a:t>
              </a:r>
              <a:endParaRPr lang="en-US" altLang="zh-CN" sz="14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2" name="Text Box 124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6516215" y="3139521"/>
              <a:ext cx="1368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选出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牺牲行</a:t>
              </a:r>
              <a:r>
                <a:rPr lang="en-US" altLang="zh-CN" sz="1400" b="1" u="none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400" b="1" u="none" dirty="0" err="1" smtClean="0">
                  <a:latin typeface="宋体" panose="02010600030101010101" pitchFamily="2" charset="-122"/>
                </a:rPr>
                <a:t>i</a:t>
              </a:r>
              <a:r>
                <a:rPr lang="en-US" altLang="zh-CN" sz="14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53" name="直接箭头连接符 52"/>
            <p:cNvCxnSpPr>
              <a:stCxn id="47" idx="2"/>
              <a:endCxn id="48" idx="0"/>
            </p:cNvCxnSpPr>
            <p:nvPr>
              <p:custDataLst>
                <p:tags r:id="rId46"/>
              </p:custDataLst>
            </p:nvPr>
          </p:nvCxnSpPr>
          <p:spPr bwMode="auto">
            <a:xfrm flipH="1">
              <a:off x="6300095" y="3067457"/>
              <a:ext cx="184" cy="100814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" name="直接箭头连接符 75"/>
            <p:cNvCxnSpPr>
              <a:stCxn id="47" idx="3"/>
              <a:endCxn id="52" idx="0"/>
            </p:cNvCxnSpPr>
            <p:nvPr>
              <p:custDataLst>
                <p:tags r:id="rId47"/>
              </p:custDataLst>
            </p:nvPr>
          </p:nvCxnSpPr>
          <p:spPr bwMode="auto">
            <a:xfrm>
              <a:off x="7092279" y="2923457"/>
              <a:ext cx="107936" cy="216064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" name="直接箭头连接符 54"/>
            <p:cNvCxnSpPr>
              <a:stCxn id="52" idx="2"/>
              <a:endCxn id="60" idx="0"/>
            </p:cNvCxnSpPr>
            <p:nvPr>
              <p:custDataLst>
                <p:tags r:id="rId48"/>
              </p:custDataLst>
            </p:nvPr>
          </p:nvCxnSpPr>
          <p:spPr bwMode="auto">
            <a:xfrm>
              <a:off x="7200215" y="3355521"/>
              <a:ext cx="0" cy="2160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" name="直接箭头连接符 81"/>
            <p:cNvCxnSpPr>
              <a:stCxn id="60" idx="2"/>
            </p:cNvCxnSpPr>
            <p:nvPr>
              <p:custDataLst>
                <p:tags r:id="rId49"/>
              </p:custDataLst>
            </p:nvPr>
          </p:nvCxnSpPr>
          <p:spPr bwMode="auto">
            <a:xfrm rot="5400000">
              <a:off x="6678215" y="3409545"/>
              <a:ext cx="144000" cy="900000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" name="直接箭头连接符 81"/>
            <p:cNvCxnSpPr>
              <a:stCxn id="48" idx="2"/>
            </p:cNvCxnSpPr>
            <p:nvPr>
              <p:custDataLst>
                <p:tags r:id="rId50"/>
              </p:custDataLst>
            </p:nvPr>
          </p:nvCxnSpPr>
          <p:spPr bwMode="auto">
            <a:xfrm rot="5400000">
              <a:off x="5724090" y="3859596"/>
              <a:ext cx="144000" cy="1008010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8" name="Text Box 126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6516215" y="3571569"/>
              <a:ext cx="68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zh-CN" altLang="en-US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9" name="Text Box 126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7200367" y="3571545"/>
              <a:ext cx="684000" cy="216000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zh-CN" altLang="en-US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0" name="Text Box 126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6516215" y="3571545"/>
              <a:ext cx="1368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腾空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行中内容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1979864" y="3276000"/>
            <a:ext cx="2376112" cy="858431"/>
            <a:chOff x="2019721" y="3470480"/>
            <a:chExt cx="2376112" cy="858431"/>
          </a:xfrm>
        </p:grpSpPr>
        <p:sp>
          <p:nvSpPr>
            <p:cNvPr id="62" name="Text Box 105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2019721" y="4010480"/>
              <a:ext cx="1368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写回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主存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3" name="Text Box 107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2955689" y="3614520"/>
              <a:ext cx="14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/>
              <a:r>
                <a:rPr lang="en-US" altLang="zh-CN" sz="1400" b="1" u="none" dirty="0">
                  <a:latin typeface="宋体" panose="02010600030101010101" pitchFamily="2" charset="-122"/>
                </a:rPr>
                <a:t>Y</a:t>
              </a:r>
              <a:endParaRPr lang="en-US" altLang="zh-CN" sz="14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65" name="直接箭头连接符 82"/>
            <p:cNvCxnSpPr>
              <a:stCxn id="69" idx="1"/>
              <a:endCxn id="62" idx="0"/>
            </p:cNvCxnSpPr>
            <p:nvPr>
              <p:custDataLst>
                <p:tags r:id="rId56"/>
              </p:custDataLst>
            </p:nvPr>
          </p:nvCxnSpPr>
          <p:spPr bwMode="auto">
            <a:xfrm rot="10800000" flipV="1">
              <a:off x="2703682" y="3830490"/>
              <a:ext cx="396240" cy="179705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66" name="Text Box 132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3603761" y="3974568"/>
              <a:ext cx="14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/>
              <a:r>
                <a:rPr lang="en-US" altLang="zh-CN" sz="1400" b="1" u="none" dirty="0">
                  <a:latin typeface="宋体" panose="02010600030101010101" pitchFamily="2" charset="-122"/>
                </a:rPr>
                <a:t>N</a:t>
              </a:r>
              <a:endParaRPr lang="en-US" altLang="zh-CN" sz="14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67" name="直接箭头连接符 129"/>
            <p:cNvCxnSpPr>
              <a:stCxn id="62" idx="2"/>
            </p:cNvCxnSpPr>
            <p:nvPr>
              <p:custDataLst>
                <p:tags r:id="rId58"/>
              </p:custDataLst>
            </p:nvPr>
          </p:nvCxnSpPr>
          <p:spPr bwMode="auto">
            <a:xfrm rot="16200000" flipH="1">
              <a:off x="3174452" y="3755642"/>
              <a:ext cx="102538" cy="1044000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8" name="直接箭头连接符 67"/>
            <p:cNvCxnSpPr>
              <a:endCxn id="69" idx="0"/>
            </p:cNvCxnSpPr>
            <p:nvPr>
              <p:custDataLst>
                <p:tags r:id="rId59"/>
              </p:custDataLst>
            </p:nvPr>
          </p:nvCxnSpPr>
          <p:spPr bwMode="auto">
            <a:xfrm>
              <a:off x="3747833" y="3470480"/>
              <a:ext cx="0" cy="21605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9" name="AutoShape 103"/>
            <p:cNvSpPr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3099833" y="3686536"/>
              <a:ext cx="1296000" cy="288000"/>
            </a:xfrm>
            <a:prstGeom prst="flowChartDecision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FF3399"/>
                  </a:solidFill>
                </a:rPr>
                <a:t>是</a:t>
              </a:r>
              <a:r>
                <a:rPr lang="zh-CN" altLang="en-US" sz="1600" b="1" u="none" dirty="0" smtClean="0"/>
                <a:t>写？</a:t>
              </a:r>
              <a:endParaRPr lang="zh-CN" altLang="en-US" sz="1600" b="1" u="none" dirty="0"/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5584272" y="1845077"/>
            <a:ext cx="936000" cy="1080120"/>
            <a:chOff x="6079975" y="2060848"/>
            <a:chExt cx="936000" cy="1080120"/>
          </a:xfrm>
        </p:grpSpPr>
        <p:sp>
          <p:nvSpPr>
            <p:cNvPr id="71" name="Text Box 148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6079975" y="2060848"/>
              <a:ext cx="936000" cy="252000"/>
            </a:xfrm>
            <a:prstGeom prst="rect">
              <a:avLst/>
            </a:prstGeom>
            <a:noFill/>
            <a:ln w="12700" cmpd="sng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映射规则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72" name="直接箭头连接符 71"/>
            <p:cNvCxnSpPr/>
            <p:nvPr>
              <p:custDataLst>
                <p:tags r:id="rId62"/>
              </p:custDataLst>
            </p:nvPr>
          </p:nvCxnSpPr>
          <p:spPr bwMode="auto">
            <a:xfrm flipH="1">
              <a:off x="6660231" y="2330110"/>
              <a:ext cx="1" cy="81085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73" name="组合 72"/>
          <p:cNvGrpSpPr/>
          <p:nvPr/>
        </p:nvGrpSpPr>
        <p:grpSpPr>
          <a:xfrm>
            <a:off x="6372304" y="2236954"/>
            <a:ext cx="936000" cy="940259"/>
            <a:chOff x="5984497" y="1845320"/>
            <a:chExt cx="936000" cy="940259"/>
          </a:xfrm>
        </p:grpSpPr>
        <p:sp>
          <p:nvSpPr>
            <p:cNvPr id="74" name="Text Box 148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5984497" y="1845320"/>
              <a:ext cx="936000" cy="252000"/>
            </a:xfrm>
            <a:prstGeom prst="rect">
              <a:avLst/>
            </a:prstGeom>
            <a:noFill/>
            <a:ln w="12700" cmpd="sng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替换算法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76" name="直接箭头连接符 75"/>
            <p:cNvCxnSpPr>
              <a:stCxn id="74" idx="2"/>
            </p:cNvCxnSpPr>
            <p:nvPr>
              <p:custDataLst>
                <p:tags r:id="rId64"/>
              </p:custDataLst>
            </p:nvPr>
          </p:nvCxnSpPr>
          <p:spPr bwMode="auto">
            <a:xfrm>
              <a:off x="6452497" y="2097320"/>
              <a:ext cx="0" cy="68825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77" name="组合 76"/>
          <p:cNvGrpSpPr/>
          <p:nvPr/>
        </p:nvGrpSpPr>
        <p:grpSpPr>
          <a:xfrm>
            <a:off x="7263096" y="3610727"/>
            <a:ext cx="701076" cy="756000"/>
            <a:chOff x="5796137" y="1379153"/>
            <a:chExt cx="701076" cy="756000"/>
          </a:xfrm>
        </p:grpSpPr>
        <p:sp>
          <p:nvSpPr>
            <p:cNvPr id="78" name="Text Box 148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6209213" y="1379153"/>
              <a:ext cx="288000" cy="756000"/>
            </a:xfrm>
            <a:prstGeom prst="rect">
              <a:avLst/>
            </a:prstGeom>
            <a:noFill/>
            <a:ln w="12700" cmpd="sng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写策略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79" name="直接箭头连接符 66"/>
            <p:cNvCxnSpPr>
              <a:stCxn id="78" idx="1"/>
            </p:cNvCxnSpPr>
            <p:nvPr>
              <p:custDataLst>
                <p:tags r:id="rId66"/>
              </p:custDataLst>
            </p:nvPr>
          </p:nvCxnSpPr>
          <p:spPr bwMode="auto">
            <a:xfrm flipH="1" flipV="1">
              <a:off x="5796137" y="1703211"/>
              <a:ext cx="413076" cy="5394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80" name="组合 79"/>
          <p:cNvGrpSpPr/>
          <p:nvPr/>
        </p:nvGrpSpPr>
        <p:grpSpPr>
          <a:xfrm>
            <a:off x="4500120" y="1989093"/>
            <a:ext cx="1295912" cy="936104"/>
            <a:chOff x="4644136" y="1988840"/>
            <a:chExt cx="1295912" cy="936104"/>
          </a:xfrm>
        </p:grpSpPr>
        <p:cxnSp>
          <p:nvCxnSpPr>
            <p:cNvPr id="81" name="直接箭头连接符 80"/>
            <p:cNvCxnSpPr/>
            <p:nvPr>
              <p:custDataLst>
                <p:tags r:id="rId67"/>
              </p:custDataLst>
            </p:nvPr>
          </p:nvCxnSpPr>
          <p:spPr bwMode="auto">
            <a:xfrm flipH="1" flipV="1">
              <a:off x="4644136" y="2186840"/>
              <a:ext cx="359912" cy="9003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sp>
          <p:nvSpPr>
            <p:cNvPr id="82" name="Text Box 148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5004048" y="2204864"/>
              <a:ext cx="936000" cy="252000"/>
            </a:xfrm>
            <a:prstGeom prst="rect">
              <a:avLst/>
            </a:prstGeom>
            <a:noFill/>
            <a:ln w="12700" cmpd="sng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查找方法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83" name="直接箭头连接符 82"/>
            <p:cNvCxnSpPr/>
            <p:nvPr>
              <p:custDataLst>
                <p:tags r:id="rId69"/>
              </p:custDataLst>
            </p:nvPr>
          </p:nvCxnSpPr>
          <p:spPr bwMode="auto">
            <a:xfrm>
              <a:off x="5580112" y="2456944"/>
              <a:ext cx="0" cy="46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85" name="直接箭头连接符 84"/>
            <p:cNvCxnSpPr/>
            <p:nvPr>
              <p:custDataLst>
                <p:tags r:id="rId70"/>
              </p:custDataLst>
            </p:nvPr>
          </p:nvCxnSpPr>
          <p:spPr bwMode="auto">
            <a:xfrm flipH="1">
              <a:off x="5364088" y="1988840"/>
              <a:ext cx="360000" cy="21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86" name="组合 85"/>
          <p:cNvGrpSpPr/>
          <p:nvPr/>
        </p:nvGrpSpPr>
        <p:grpSpPr>
          <a:xfrm>
            <a:off x="467544" y="1628065"/>
            <a:ext cx="1620176" cy="792000"/>
            <a:chOff x="467544" y="1412800"/>
            <a:chExt cx="1620176" cy="792000"/>
          </a:xfrm>
        </p:grpSpPr>
        <p:sp>
          <p:nvSpPr>
            <p:cNvPr id="95" name="Text Box 221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467544" y="1412800"/>
              <a:ext cx="828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主存块号</a:t>
              </a:r>
              <a:endParaRPr lang="zh-CN" altLang="en-US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6" name="Text Box 222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1295720" y="1412800"/>
              <a:ext cx="792000" cy="216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块</a:t>
              </a:r>
              <a:r>
                <a:rPr lang="zh-CN" altLang="en-US" sz="1400" b="1" u="none" dirty="0" smtClean="0">
                  <a:latin typeface="宋体" panose="02010600030101010101" pitchFamily="2" charset="-122"/>
                </a:rPr>
                <a:t>内地址</a:t>
              </a:r>
              <a:endParaRPr lang="zh-CN" altLang="en-US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7" name="Line 422"/>
            <p:cNvSpPr>
              <a:spLocks noChangeShapeType="1"/>
            </p:cNvSpPr>
            <p:nvPr>
              <p:custDataLst>
                <p:tags r:id="rId73"/>
              </p:custDataLst>
            </p:nvPr>
          </p:nvSpPr>
          <p:spPr bwMode="auto">
            <a:xfrm>
              <a:off x="683568" y="1628800"/>
              <a:ext cx="0" cy="57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headEnd type="none" w="sm" len="sm"/>
              <a:tailEnd type="triangle" w="sm" len="sm"/>
            </a:ln>
            <a:effectLst/>
          </p:spPr>
          <p:txBody>
            <a:bodyPr/>
            <a:p>
              <a:endParaRPr lang="zh-CN" altLang="en-US"/>
            </a:p>
          </p:txBody>
        </p:sp>
      </p:grpSp>
      <p:sp>
        <p:nvSpPr>
          <p:cNvPr id="98" name="Text Box 158"/>
          <p:cNvSpPr txBox="1">
            <a:spLocks noChangeArrowheads="1"/>
          </p:cNvSpPr>
          <p:nvPr>
            <p:custDataLst>
              <p:tags r:id="rId74"/>
            </p:custDataLst>
          </p:nvPr>
        </p:nvSpPr>
        <p:spPr bwMode="auto">
          <a:xfrm>
            <a:off x="1907961" y="4859265"/>
            <a:ext cx="6769001" cy="1214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3048000" indent="-3048000"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映射规则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块可调入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哪些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行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 marL="3048000" indent="-3048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u="none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1800" u="none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└──</a:t>
            </a:r>
            <a:r>
              <a:rPr lang="zh-CN" altLang="en-US" sz="1800" b="1" u="none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→常放在一起处理←</a:t>
            </a:r>
            <a:r>
              <a:rPr lang="zh-CN" altLang="en-US" sz="1800" u="none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──┘</a:t>
            </a:r>
            <a:endParaRPr lang="zh-CN" altLang="en-US" sz="1800" b="1" u="none" dirty="0" smtClean="0">
              <a:solidFill>
                <a:schemeClr val="tx1"/>
              </a:solidFill>
              <a:uFillTx/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替换算法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如何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选择牺牲</a:t>
            </a:r>
            <a:r>
              <a:rPr lang="zh-CN" altLang="en-US" sz="1600" b="1" u="none" dirty="0">
                <a:latin typeface="宋体" panose="02010600030101010101" pitchFamily="2" charset="-122"/>
              </a:rPr>
              <a:t>行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sp>
        <p:nvSpPr>
          <p:cNvPr id="99" name="Text Box 158"/>
          <p:cNvSpPr txBox="1">
            <a:spLocks noChangeArrowheads="1"/>
          </p:cNvSpPr>
          <p:nvPr>
            <p:custDataLst>
              <p:tags r:id="rId75"/>
            </p:custDataLst>
          </p:nvPr>
        </p:nvSpPr>
        <p:spPr bwMode="auto">
          <a:xfrm>
            <a:off x="4923790" y="4859020"/>
            <a:ext cx="3437890" cy="1214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3048000" indent="-3048000"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  查找</a:t>
            </a:r>
            <a:r>
              <a:rPr lang="zh-CN" altLang="en-US" sz="2200" b="1" u="none" dirty="0">
                <a:latin typeface="宋体" panose="02010600030101010101" pitchFamily="2" charset="-122"/>
              </a:rPr>
              <a:t>方法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</a:rPr>
              <a:t>如何找到目标行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 marL="3048000" indent="-3048000">
              <a:lnSpc>
                <a:spcPct val="100000"/>
              </a:lnSpc>
              <a:spcBef>
                <a:spcPts val="0"/>
              </a:spcBef>
            </a:pPr>
            <a:endParaRPr lang="zh-CN" altLang="en-US" sz="1800" b="1" u="none" dirty="0" smtClean="0"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写策略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何时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/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如何写回主存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100" name="AutoShape 331"/>
          <p:cNvSpPr/>
          <p:nvPr/>
        </p:nvSpPr>
        <p:spPr bwMode="auto">
          <a:xfrm>
            <a:off x="4867944" y="4680000"/>
            <a:ext cx="1152000" cy="252000"/>
          </a:xfrm>
          <a:prstGeom prst="borderCallout2">
            <a:avLst>
              <a:gd name="adj1" fmla="val 50645"/>
              <a:gd name="adj2" fmla="val -304"/>
              <a:gd name="adj3" fmla="val 52728"/>
              <a:gd name="adj4" fmla="val -16815"/>
              <a:gd name="adj5" fmla="val 132019"/>
              <a:gd name="adj6" fmla="val -29548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sm" len="sm"/>
          </a:ln>
          <a:effectLst/>
        </p:spPr>
        <p:txBody>
          <a:bodyPr lIns="18000" tIns="10800" rIns="18000" bIns="10800" anchor="ctr"/>
          <a:p>
            <a:pPr algn="ctr"/>
            <a:r>
              <a:rPr lang="zh-CN" altLang="en-US" sz="1600" b="1" u="none" dirty="0" smtClean="0">
                <a:latin typeface="+mn-ea"/>
                <a:ea typeface="+mn-ea"/>
              </a:rPr>
              <a:t>称为候选行</a:t>
            </a:r>
            <a:endParaRPr lang="zh-CN" altLang="en-US" sz="1600" b="1" u="none" dirty="0">
              <a:latin typeface="+mn-ea"/>
              <a:ea typeface="+mn-ea"/>
            </a:endParaRPr>
          </a:p>
        </p:txBody>
      </p:sp>
      <p:sp>
        <p:nvSpPr>
          <p:cNvPr id="105" name="AutoShape 331"/>
          <p:cNvSpPr/>
          <p:nvPr>
            <p:custDataLst>
              <p:tags r:id="rId76"/>
            </p:custDataLst>
          </p:nvPr>
        </p:nvSpPr>
        <p:spPr bwMode="auto">
          <a:xfrm>
            <a:off x="7164005" y="5364000"/>
            <a:ext cx="1368000" cy="252000"/>
          </a:xfrm>
          <a:prstGeom prst="borderCallout2">
            <a:avLst>
              <a:gd name="adj1" fmla="val 50645"/>
              <a:gd name="adj2" fmla="val -304"/>
              <a:gd name="adj3" fmla="val 52728"/>
              <a:gd name="adj4" fmla="val -16815"/>
              <a:gd name="adj5" fmla="val -38825"/>
              <a:gd name="adj6" fmla="val -30074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sm" len="sm"/>
          </a:ln>
          <a:effectLst/>
        </p:spPr>
        <p:txBody>
          <a:bodyPr lIns="18000" tIns="10800" rIns="18000" bIns="10800" anchor="ctr"/>
          <a:p>
            <a:pPr algn="ctr"/>
            <a:r>
              <a:rPr lang="zh-CN" altLang="en-US" sz="1600" b="1" u="none" dirty="0" smtClean="0">
                <a:latin typeface="+mn-ea"/>
                <a:ea typeface="+mn-ea"/>
              </a:rPr>
              <a:t>在候选行中找</a:t>
            </a:r>
            <a:endParaRPr lang="zh-CN" altLang="en-US" sz="1600" b="1" u="none" dirty="0">
              <a:latin typeface="+mn-ea"/>
              <a:ea typeface="+mn-ea"/>
            </a:endParaRPr>
          </a:p>
        </p:txBody>
      </p:sp>
      <p:sp>
        <p:nvSpPr>
          <p:cNvPr id="158018" name="AutoShape 322">
            <a:hlinkClick r:id="rId77" action="ppaction://hlinksldjump" highlightClick="1"/>
          </p:cNvPr>
          <p:cNvSpPr>
            <a:spLocks noChangeArrowheads="1"/>
          </p:cNvSpPr>
          <p:nvPr>
            <p:custDataLst>
              <p:tags r:id="rId78"/>
            </p:custDataLst>
          </p:nvPr>
        </p:nvSpPr>
        <p:spPr bwMode="auto">
          <a:xfrm rot="10800000">
            <a:off x="4067945" y="6524302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6" presetClass="entr" presetSubtype="2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6" presetClass="entr" presetSubtype="2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6" presetClass="entr" presetSubtype="2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100" grpId="0" animBg="1"/>
      <p:bldP spid="105" grpId="0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42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388" y="332656"/>
            <a:ext cx="8770622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3048000" indent="-3048000"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的基本结构</a:t>
            </a:r>
            <a:endParaRPr lang="en-US" altLang="zh-CN" sz="2200" b="1" u="none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*基本组成：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存储体＋控制器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映射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[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含查找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]/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替换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读写机构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67" name="Text Box 189"/>
          <p:cNvSpPr txBox="1">
            <a:spLocks noChangeArrowheads="1"/>
          </p:cNvSpPr>
          <p:nvPr/>
        </p:nvSpPr>
        <p:spPr bwMode="auto">
          <a:xfrm>
            <a:off x="165100" y="4020820"/>
            <a:ext cx="5149850" cy="18992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3048000" indent="-3048000"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操作状态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控制器组成：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相关环节中讨论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800" b="1" u="none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694167" y="1277576"/>
            <a:ext cx="7982289" cy="2800761"/>
            <a:chOff x="694167" y="1276311"/>
            <a:chExt cx="7982289" cy="2800761"/>
          </a:xfrm>
        </p:grpSpPr>
        <p:sp>
          <p:nvSpPr>
            <p:cNvPr id="69" name="Rectangle 19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555776" y="1276311"/>
              <a:ext cx="5040560" cy="1792649"/>
            </a:xfrm>
            <a:prstGeom prst="rect">
              <a:avLst/>
            </a:prstGeom>
            <a:solidFill>
              <a:srgbClr val="FFCC99">
                <a:alpha val="7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70" name="Rectangle 19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017173" y="1916832"/>
              <a:ext cx="602499" cy="36031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2000" b="1" u="none" dirty="0">
                  <a:latin typeface="宋体" panose="02010600030101010101" pitchFamily="2" charset="-122"/>
                </a:rPr>
                <a:t>CPU</a:t>
              </a:r>
              <a:endParaRPr lang="en-US" altLang="zh-CN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2" name="Text Box 19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496733" y="1456320"/>
              <a:ext cx="864791" cy="2881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主存地址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3" name="Text Box 19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823817" y="3115891"/>
              <a:ext cx="972319" cy="3131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系统总线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4" name="Rectangle 197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699841" y="1557114"/>
              <a:ext cx="1008063" cy="1082948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2000" b="1" u="none" dirty="0" smtClean="0">
                  <a:latin typeface="宋体" panose="02010600030101010101" pitchFamily="2" charset="-122"/>
                </a:rPr>
                <a:t>Cache</a:t>
              </a:r>
              <a:endParaRPr lang="en-US" altLang="zh-CN" sz="2000" b="1" u="none" dirty="0" smtClean="0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2000" b="1" u="none" dirty="0" smtClean="0">
                  <a:latin typeface="宋体" panose="02010600030101010101" pitchFamily="2" charset="-122"/>
                </a:rPr>
                <a:t>存储体</a:t>
              </a:r>
              <a:endParaRPr lang="en-US" altLang="zh-CN" sz="2000" b="1" u="none" dirty="0" smtClean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 dirty="0" smtClean="0">
                  <a:latin typeface="宋体" panose="02010600030101010101" pitchFamily="2" charset="-122"/>
                </a:rPr>
                <a:t>(SRAM)</a:t>
              </a:r>
              <a:endParaRPr lang="zh-CN" altLang="en-US" sz="20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5" name="Rectangle 199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932042" y="1557486"/>
              <a:ext cx="1758306" cy="287338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800" b="1" u="none" dirty="0" smtClean="0"/>
                <a:t>地址映射机构</a:t>
              </a:r>
              <a:endParaRPr lang="zh-CN" altLang="en-US" sz="1800" b="1" u="none" dirty="0"/>
            </a:p>
          </p:txBody>
        </p:sp>
        <p:sp>
          <p:nvSpPr>
            <p:cNvPr id="76" name="Text Box 20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690588" y="1844824"/>
              <a:ext cx="865188" cy="53838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14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次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7" name="Rectangle 212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884369" y="1484784"/>
              <a:ext cx="792087" cy="1511968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2000" b="1" u="none" dirty="0">
                  <a:latin typeface="宋体" panose="02010600030101010101" pitchFamily="2" charset="-122"/>
                </a:rPr>
                <a:t>主存</a:t>
              </a:r>
              <a:endParaRPr lang="zh-CN" altLang="en-US" b="1" u="none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(DRAM)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8" name="Rectangle 215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652120" y="2564781"/>
              <a:ext cx="1008000" cy="289772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800" b="1" u="none" dirty="0"/>
                <a:t>替换机构</a:t>
              </a:r>
              <a:endParaRPr lang="zh-CN" altLang="en-US" sz="1800" b="1" u="none" dirty="0"/>
            </a:p>
          </p:txBody>
        </p:sp>
        <p:sp>
          <p:nvSpPr>
            <p:cNvPr id="79" name="Text Box 23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94167" y="1341463"/>
              <a:ext cx="504825" cy="21532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命令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0" name="Text Box 232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700536" y="3116585"/>
              <a:ext cx="1295400" cy="24040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数据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次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1" name="Text Box 233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803058" y="3115890"/>
              <a:ext cx="505246" cy="24110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2" name="Text Box 234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452320" y="3114427"/>
              <a:ext cx="503238" cy="2425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命令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3" name="Rectangle 199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 rot="5400000">
              <a:off x="4786314" y="2350591"/>
              <a:ext cx="554184" cy="26273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+mn-ea"/>
                  <a:ea typeface="+mn-ea"/>
                </a:rPr>
                <a:t>MUX</a:t>
              </a:r>
              <a:endParaRPr lang="zh-CN" altLang="en-US" sz="1800" b="1" u="none" dirty="0">
                <a:latin typeface="+mn-ea"/>
                <a:ea typeface="+mn-ea"/>
              </a:endParaRPr>
            </a:p>
          </p:txBody>
        </p:sp>
        <p:cxnSp>
          <p:nvCxnSpPr>
            <p:cNvPr id="84" name="直接箭头连接符 192"/>
            <p:cNvCxnSpPr/>
            <p:nvPr>
              <p:custDataLst>
                <p:tags r:id="rId16"/>
              </p:custDataLst>
            </p:nvPr>
          </p:nvCxnSpPr>
          <p:spPr bwMode="auto">
            <a:xfrm rot="10800000" flipV="1">
              <a:off x="5194773" y="1844824"/>
              <a:ext cx="457349" cy="432320"/>
            </a:xfrm>
            <a:prstGeom prst="bentConnector3">
              <a:avLst>
                <a:gd name="adj1" fmla="val -1174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5" name="直接箭头连接符 192"/>
            <p:cNvCxnSpPr>
              <a:stCxn id="83" idx="2"/>
            </p:cNvCxnSpPr>
            <p:nvPr>
              <p:custDataLst>
                <p:tags r:id="rId17"/>
              </p:custDataLst>
            </p:nvPr>
          </p:nvCxnSpPr>
          <p:spPr bwMode="auto">
            <a:xfrm flipH="1">
              <a:off x="4211960" y="2481956"/>
              <a:ext cx="720081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6" name="直接箭头连接符 192"/>
            <p:cNvCxnSpPr/>
            <p:nvPr>
              <p:custDataLst>
                <p:tags r:id="rId18"/>
              </p:custDataLst>
            </p:nvPr>
          </p:nvCxnSpPr>
          <p:spPr bwMode="auto">
            <a:xfrm flipH="1">
              <a:off x="4211961" y="1701155"/>
              <a:ext cx="72007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7" name="Text Box 235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355976" y="1457916"/>
              <a:ext cx="468052" cy="5040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命中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88" name="直接箭头连接符 192"/>
            <p:cNvCxnSpPr>
              <a:stCxn id="78" idx="1"/>
            </p:cNvCxnSpPr>
            <p:nvPr>
              <p:custDataLst>
                <p:tags r:id="rId20"/>
              </p:custDataLst>
            </p:nvPr>
          </p:nvCxnSpPr>
          <p:spPr bwMode="auto">
            <a:xfrm flipH="1" flipV="1">
              <a:off x="5194772" y="2708399"/>
              <a:ext cx="457348" cy="126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9" name="直接箭头连接符 192"/>
            <p:cNvCxnSpPr/>
            <p:nvPr>
              <p:custDataLst>
                <p:tags r:id="rId21"/>
              </p:custDataLst>
            </p:nvPr>
          </p:nvCxnSpPr>
          <p:spPr bwMode="auto">
            <a:xfrm>
              <a:off x="6357142" y="1844824"/>
              <a:ext cx="0" cy="71995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90" name="Text Box 235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6012160" y="1844824"/>
              <a:ext cx="344982" cy="7034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12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候选行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91" name="直接箭头连接符 192"/>
            <p:cNvCxnSpPr>
              <a:endCxn id="83" idx="1"/>
            </p:cNvCxnSpPr>
            <p:nvPr>
              <p:custDataLst>
                <p:tags r:id="rId23"/>
              </p:custDataLst>
            </p:nvPr>
          </p:nvCxnSpPr>
          <p:spPr bwMode="auto">
            <a:xfrm>
              <a:off x="5063406" y="1846931"/>
              <a:ext cx="0" cy="35793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92" name="直接箭头连接符 192"/>
            <p:cNvCxnSpPr/>
            <p:nvPr>
              <p:custDataLst>
                <p:tags r:id="rId24"/>
              </p:custDataLst>
            </p:nvPr>
          </p:nvCxnSpPr>
          <p:spPr bwMode="auto">
            <a:xfrm>
              <a:off x="1474961" y="1412132"/>
              <a:ext cx="5833343" cy="434800"/>
            </a:xfrm>
            <a:prstGeom prst="bentConnector3">
              <a:avLst>
                <a:gd name="adj1" fmla="val 100041"/>
              </a:avLst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3" name="Rectangle 199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 rot="5400000">
              <a:off x="3612765" y="1965586"/>
              <a:ext cx="935659" cy="26273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+mn-ea"/>
                  <a:ea typeface="+mn-ea"/>
                </a:rPr>
                <a:t>MUX</a:t>
              </a:r>
              <a:endParaRPr lang="zh-CN" altLang="en-US" sz="1800" b="1" u="none" dirty="0">
                <a:latin typeface="+mn-ea"/>
                <a:ea typeface="+mn-ea"/>
              </a:endParaRPr>
            </a:p>
          </p:txBody>
        </p:sp>
        <p:cxnSp>
          <p:nvCxnSpPr>
            <p:cNvPr id="94" name="直接箭头连接符 192"/>
            <p:cNvCxnSpPr>
              <a:stCxn id="93" idx="2"/>
              <a:endCxn id="74" idx="3"/>
            </p:cNvCxnSpPr>
            <p:nvPr>
              <p:custDataLst>
                <p:tags r:id="rId26"/>
              </p:custDataLst>
            </p:nvPr>
          </p:nvCxnSpPr>
          <p:spPr bwMode="auto">
            <a:xfrm flipH="1">
              <a:off x="3707904" y="2096952"/>
              <a:ext cx="241326" cy="163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5" name="Text Box 235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355976" y="2215160"/>
              <a:ext cx="468052" cy="50720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所选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6" name="Rectangle 199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7180138" y="1846933"/>
              <a:ext cx="344190" cy="115002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/>
              <a:r>
                <a:rPr lang="zh-CN" altLang="en-US" sz="1800" b="1" u="none" dirty="0" smtClean="0"/>
                <a:t>读写机构</a:t>
              </a:r>
              <a:endParaRPr lang="zh-CN" altLang="en-US" sz="1800" b="1" u="none" dirty="0"/>
            </a:p>
          </p:txBody>
        </p:sp>
        <p:cxnSp>
          <p:nvCxnSpPr>
            <p:cNvPr id="97" name="直接箭头连接符 192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6660232" y="2708399"/>
              <a:ext cx="534226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98" name="直接箭头连接符 192"/>
            <p:cNvCxnSpPr/>
            <p:nvPr>
              <p:custDataLst>
                <p:tags r:id="rId30"/>
              </p:custDataLst>
            </p:nvPr>
          </p:nvCxnSpPr>
          <p:spPr bwMode="auto">
            <a:xfrm>
              <a:off x="5495456" y="2709668"/>
              <a:ext cx="1684682" cy="215276"/>
            </a:xfrm>
            <a:prstGeom prst="bentConnector3">
              <a:avLst>
                <a:gd name="adj1" fmla="val -77"/>
              </a:avLst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99" name="直接箭头连接符 192"/>
            <p:cNvCxnSpPr/>
            <p:nvPr>
              <p:custDataLst>
                <p:tags r:id="rId31"/>
              </p:custDataLst>
            </p:nvPr>
          </p:nvCxnSpPr>
          <p:spPr bwMode="auto">
            <a:xfrm>
              <a:off x="1187623" y="1340124"/>
              <a:ext cx="6252295" cy="504700"/>
            </a:xfrm>
            <a:prstGeom prst="bentConnector3">
              <a:avLst>
                <a:gd name="adj1" fmla="val 99969"/>
              </a:avLst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0" name="直接箭头连接符 192"/>
            <p:cNvCxnSpPr/>
            <p:nvPr>
              <p:custDataLst>
                <p:tags r:id="rId32"/>
              </p:custDataLst>
            </p:nvPr>
          </p:nvCxnSpPr>
          <p:spPr bwMode="auto">
            <a:xfrm>
              <a:off x="7452320" y="2996752"/>
              <a:ext cx="0" cy="43224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1" name="直接箭头连接符 192"/>
            <p:cNvCxnSpPr/>
            <p:nvPr>
              <p:custDataLst>
                <p:tags r:id="rId33"/>
              </p:custDataLst>
            </p:nvPr>
          </p:nvCxnSpPr>
          <p:spPr bwMode="auto">
            <a:xfrm>
              <a:off x="7308304" y="2996952"/>
              <a:ext cx="0" cy="43204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2" name="直接箭头连接符 192"/>
            <p:cNvCxnSpPr/>
            <p:nvPr>
              <p:custDataLst>
                <p:tags r:id="rId34"/>
              </p:custDataLst>
            </p:nvPr>
          </p:nvCxnSpPr>
          <p:spPr bwMode="auto">
            <a:xfrm>
              <a:off x="5868144" y="1412776"/>
              <a:ext cx="0" cy="14471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03" name="直接箭头连接符 192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1187623" y="1340124"/>
              <a:ext cx="1" cy="57670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4" name="直接箭头连接符 192"/>
            <p:cNvCxnSpPr>
              <a:stCxn id="74" idx="2"/>
            </p:cNvCxnSpPr>
            <p:nvPr>
              <p:custDataLst>
                <p:tags r:id="rId36"/>
              </p:custDataLst>
            </p:nvPr>
          </p:nvCxnSpPr>
          <p:spPr bwMode="auto">
            <a:xfrm flipH="1">
              <a:off x="3203872" y="2640062"/>
              <a:ext cx="1" cy="788938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05" name="直接箭头连接符 192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8316416" y="2998770"/>
              <a:ext cx="0" cy="4302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6" name="直接箭头连接符 192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8100392" y="2996752"/>
              <a:ext cx="0" cy="432249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7" name="直接箭头连接符 192"/>
            <p:cNvCxnSpPr/>
            <p:nvPr>
              <p:custDataLst>
                <p:tags r:id="rId39"/>
              </p:custDataLst>
            </p:nvPr>
          </p:nvCxnSpPr>
          <p:spPr bwMode="auto">
            <a:xfrm>
              <a:off x="8532440" y="2996752"/>
              <a:ext cx="0" cy="432248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08" name="直接箭头连接符 192"/>
            <p:cNvCxnSpPr/>
            <p:nvPr>
              <p:custDataLst>
                <p:tags r:id="rId40"/>
              </p:custDataLst>
            </p:nvPr>
          </p:nvCxnSpPr>
          <p:spPr bwMode="auto">
            <a:xfrm>
              <a:off x="2195736" y="3429000"/>
              <a:ext cx="6480720" cy="0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9" name="直接箭头连接符 192"/>
            <p:cNvCxnSpPr>
              <a:stCxn id="70" idx="3"/>
              <a:endCxn id="74" idx="1"/>
            </p:cNvCxnSpPr>
            <p:nvPr>
              <p:custDataLst>
                <p:tags r:id="rId41"/>
              </p:custDataLst>
            </p:nvPr>
          </p:nvCxnSpPr>
          <p:spPr bwMode="auto">
            <a:xfrm>
              <a:off x="1619672" y="2096988"/>
              <a:ext cx="1080169" cy="1600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10" name="直接箭头连接符 192"/>
            <p:cNvCxnSpPr/>
            <p:nvPr>
              <p:custDataLst>
                <p:tags r:id="rId42"/>
              </p:custDataLst>
            </p:nvPr>
          </p:nvCxnSpPr>
          <p:spPr bwMode="auto">
            <a:xfrm flipH="1" flipV="1">
              <a:off x="1474962" y="1411488"/>
              <a:ext cx="694" cy="50534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1" name="直接箭头连接符 192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5364088" y="2060848"/>
              <a:ext cx="183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/>
            </a:ln>
            <a:effectLst/>
          </p:spPr>
        </p:cxnSp>
        <p:sp>
          <p:nvSpPr>
            <p:cNvPr id="112" name="Text Box 235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1403648" y="3501008"/>
              <a:ext cx="7128792" cy="57606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800" b="1" u="none" dirty="0" smtClean="0">
                  <a:latin typeface="宋体" panose="02010600030101010101" pitchFamily="2" charset="-122"/>
                </a:rPr>
                <a:t>图注：①是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否命中  ②是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否有空行  ③是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否需写回  ④是否需调入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>
                <a:spcBef>
                  <a:spcPts val="300"/>
                </a:spcBef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      </a:t>
              </a:r>
              <a:r>
                <a:rPr lang="zh-CN" altLang="en-US" sz="900" b="1" u="none" dirty="0" smtClean="0">
                  <a:latin typeface="宋体" panose="02010600030101010101" pitchFamily="2" charset="-122"/>
                </a:rPr>
                <a:t>■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、□表示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MUX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控制端信号为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1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、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0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所选择的入端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13" name="直接箭头连接符 192"/>
            <p:cNvCxnSpPr>
              <a:endCxn id="93" idx="3"/>
            </p:cNvCxnSpPr>
            <p:nvPr>
              <p:custDataLst>
                <p:tags r:id="rId45"/>
              </p:custDataLst>
            </p:nvPr>
          </p:nvCxnSpPr>
          <p:spPr bwMode="auto">
            <a:xfrm flipV="1">
              <a:off x="4080595" y="2564781"/>
              <a:ext cx="0" cy="36016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14" name="Text Box 235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5076056" y="1901769"/>
              <a:ext cx="288032" cy="24427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12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②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5" name="Text Box 235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6781549" y="2464126"/>
              <a:ext cx="288033" cy="24427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12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③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6" name="Text Box 235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6732240" y="1816576"/>
              <a:ext cx="288033" cy="24427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12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④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7" name="Text Box 235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4102673" y="2661818"/>
              <a:ext cx="262730" cy="24427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12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①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18" name="直接箭头连接符 192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3851920" y="1276311"/>
              <a:ext cx="0" cy="179265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sp>
          <p:nvSpPr>
            <p:cNvPr id="119" name="矩形 118"/>
            <p:cNvSpPr/>
            <p:nvPr>
              <p:custDataLst>
                <p:tags r:id="rId51"/>
              </p:custDataLst>
            </p:nvPr>
          </p:nvSpPr>
          <p:spPr bwMode="auto">
            <a:xfrm>
              <a:off x="4156964" y="1658693"/>
              <a:ext cx="45719" cy="72008"/>
            </a:xfrm>
            <a:prstGeom prst="rect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rtlCol="0" anchor="ctr"/>
            <a:p>
              <a:pPr algn="ctr"/>
              <a:endParaRPr lang="zh-CN" altLang="en-US"/>
            </a:p>
          </p:txBody>
        </p:sp>
        <p:sp>
          <p:nvSpPr>
            <p:cNvPr id="120" name="矩形 119"/>
            <p:cNvSpPr/>
            <p:nvPr>
              <p:custDataLst>
                <p:tags r:id="rId52"/>
              </p:custDataLst>
            </p:nvPr>
          </p:nvSpPr>
          <p:spPr bwMode="auto">
            <a:xfrm>
              <a:off x="4156964" y="2450659"/>
              <a:ext cx="45719" cy="7200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rtlCol="0" anchor="ctr"/>
            <a:p>
              <a:pPr algn="ctr"/>
              <a:endParaRPr lang="zh-CN" altLang="en-US"/>
            </a:p>
          </p:txBody>
        </p:sp>
        <p:sp>
          <p:nvSpPr>
            <p:cNvPr id="121" name="矩形 120"/>
            <p:cNvSpPr/>
            <p:nvPr>
              <p:custDataLst>
                <p:tags r:id="rId53"/>
              </p:custDataLst>
            </p:nvPr>
          </p:nvSpPr>
          <p:spPr bwMode="auto">
            <a:xfrm>
              <a:off x="5136076" y="2234757"/>
              <a:ext cx="45719" cy="72008"/>
            </a:xfrm>
            <a:prstGeom prst="rect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rtlCol="0" anchor="ctr"/>
            <a:p>
              <a:pPr algn="ctr"/>
              <a:endParaRPr lang="zh-CN" altLang="en-US"/>
            </a:p>
          </p:txBody>
        </p:sp>
        <p:sp>
          <p:nvSpPr>
            <p:cNvPr id="122" name="矩形 121"/>
            <p:cNvSpPr/>
            <p:nvPr>
              <p:custDataLst>
                <p:tags r:id="rId54"/>
              </p:custDataLst>
            </p:nvPr>
          </p:nvSpPr>
          <p:spPr bwMode="auto">
            <a:xfrm>
              <a:off x="5140329" y="2674896"/>
              <a:ext cx="45719" cy="7200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rtlCol="0" anchor="ctr"/>
            <a:p>
              <a:pPr algn="ctr"/>
              <a:endParaRPr lang="zh-CN" altLang="en-US"/>
            </a:p>
          </p:txBody>
        </p:sp>
        <p:cxnSp>
          <p:nvCxnSpPr>
            <p:cNvPr id="123" name="直接箭头连接符 192"/>
            <p:cNvCxnSpPr/>
            <p:nvPr>
              <p:custDataLst>
                <p:tags r:id="rId55"/>
              </p:custDataLst>
            </p:nvPr>
          </p:nvCxnSpPr>
          <p:spPr bwMode="auto">
            <a:xfrm rot="10800000" flipV="1">
              <a:off x="4068639" y="1844824"/>
              <a:ext cx="1308101" cy="1080120"/>
            </a:xfrm>
            <a:prstGeom prst="bentConnector3">
              <a:avLst>
                <a:gd name="adj1" fmla="val 996"/>
              </a:avLst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aphicFrame>
        <p:nvGraphicFramePr>
          <p:cNvPr id="124" name="表格 123"/>
          <p:cNvGraphicFramePr>
            <a:graphicFrameLocks noGrp="1"/>
          </p:cNvGraphicFramePr>
          <p:nvPr>
            <p:custDataLst>
              <p:tags r:id="rId56"/>
            </p:custDataLst>
          </p:nvPr>
        </p:nvGraphicFramePr>
        <p:xfrm>
          <a:off x="2462530" y="4176000"/>
          <a:ext cx="6558915" cy="123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170"/>
                <a:gridCol w="1000125"/>
                <a:gridCol w="1482090"/>
                <a:gridCol w="3097530"/>
              </a:tblGrid>
              <a:tr h="309880">
                <a:tc gridSpan="3">
                  <a:txBody>
                    <a:bodyPr/>
                    <a:p>
                      <a:r>
                        <a:rPr lang="en-US" altLang="zh-CN" sz="1800" b="1" dirty="0" smtClean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lang="zh-CN" altLang="en-US" sz="1800" b="1" dirty="0" smtClean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命中</a:t>
                      </a:r>
                      <a:endParaRPr lang="zh-CN" altLang="en-US" sz="1800" b="1" dirty="0" smtClean="0">
                        <a:solidFill>
                          <a:srgbClr val="FF33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000" marR="36000" marT="18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h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 b="1" u="none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①</a:t>
                      </a:r>
                      <a:r>
                        <a:rPr lang="en-US" altLang="zh-CN" sz="1800" b="1" u="none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</a:t>
                      </a:r>
                      <a:r>
                        <a:rPr lang="en-US" altLang="zh-CN" sz="1800" b="1" u="none" dirty="0" smtClean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altLang="en-US" sz="1800" b="1" u="none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      ③无效、④无效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880">
                <a:tc rowSpan="3">
                  <a:txBody>
                    <a:bodyPr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缺失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需调入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gridSpan="2">
                  <a:txBody>
                    <a:bodyPr/>
                    <a:p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有空闲行</a:t>
                      </a:r>
                      <a:endParaRPr lang="zh-CN" altLang="en-US" sz="1800" b="1" dirty="0" smtClean="0">
                        <a:solidFill>
                          <a:srgbClr val="9900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h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800" b="1" u="none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①</a:t>
                      </a:r>
                      <a:r>
                        <a:rPr lang="en-US" altLang="zh-CN" sz="1800" b="1" u="none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</a:t>
                      </a:r>
                      <a:r>
                        <a:rPr lang="en-US" altLang="zh-CN" sz="1800" b="1" u="none" dirty="0" smtClean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altLang="en-US" sz="1800" b="1" u="none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、②</a:t>
                      </a:r>
                      <a:r>
                        <a:rPr lang="en-US" altLang="zh-CN" sz="1800" b="1" u="none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</a:t>
                      </a:r>
                      <a:r>
                        <a:rPr lang="en-US" altLang="zh-CN" sz="1800" b="1" u="none" dirty="0" smtClean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altLang="en-US" sz="1800" b="1" u="none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、③无效、④</a:t>
                      </a:r>
                      <a:r>
                        <a:rPr lang="zh-CN" altLang="en-US" sz="1800" b="1" u="none" dirty="0" smtClean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有效</a:t>
                      </a:r>
                      <a:endParaRPr lang="zh-CN" altLang="en-US" sz="1800" b="1" dirty="0">
                        <a:solidFill>
                          <a:schemeClr val="accent2"/>
                        </a:solidFill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880">
                <a:tc v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无空闲行</a:t>
                      </a:r>
                      <a:endParaRPr lang="zh-CN" altLang="en-US" sz="1800" b="1" dirty="0" smtClean="0">
                        <a:solidFill>
                          <a:srgbClr val="CC33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需替换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牺牲块未改过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 b="1" u="none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①</a:t>
                      </a:r>
                      <a:r>
                        <a:rPr lang="en-US" altLang="zh-CN" sz="1800" b="1" u="none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</a:t>
                      </a:r>
                      <a:r>
                        <a:rPr lang="en-US" altLang="zh-CN" sz="1800" b="1" u="none" dirty="0" smtClean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altLang="en-US" sz="1800" b="1" u="none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、②</a:t>
                      </a:r>
                      <a:r>
                        <a:rPr lang="en-US" altLang="zh-CN" sz="1800" b="1" u="none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</a:t>
                      </a:r>
                      <a:r>
                        <a:rPr lang="en-US" altLang="zh-CN" sz="1800" b="1" u="none" dirty="0" smtClean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altLang="en-US" sz="1800" b="1" u="none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、③无效、④</a:t>
                      </a:r>
                      <a:r>
                        <a:rPr lang="zh-CN" altLang="en-US" sz="1800" b="1" u="none" dirty="0" smtClean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有效</a:t>
                      </a:r>
                      <a:r>
                        <a:rPr lang="zh-CN" altLang="en-US" sz="1800" b="1" u="none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880">
                <a:tc v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牺牲块</a:t>
                      </a: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已改过</a:t>
                      </a:r>
                      <a:endParaRPr lang="zh-CN" altLang="en-US" sz="1800" b="1" dirty="0" smtClean="0">
                        <a:solidFill>
                          <a:srgbClr val="9900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 b="1" u="none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①</a:t>
                      </a:r>
                      <a:r>
                        <a:rPr lang="en-US" altLang="zh-CN" sz="1800" b="1" u="none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</a:t>
                      </a:r>
                      <a:r>
                        <a:rPr lang="en-US" altLang="zh-CN" sz="1800" b="1" u="none" dirty="0" smtClean="0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altLang="en-US" sz="1800" b="1" u="none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、②</a:t>
                      </a:r>
                      <a:r>
                        <a:rPr lang="en-US" altLang="zh-CN" sz="1800" b="1" u="none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=</a:t>
                      </a:r>
                      <a:r>
                        <a:rPr lang="en-US" altLang="zh-CN" sz="1800" b="1" u="none" dirty="0" smtClean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altLang="en-US" sz="1800" b="1" u="none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、③</a:t>
                      </a:r>
                      <a:r>
                        <a:rPr lang="zh-CN" altLang="en-US" sz="1800" b="1" u="none" dirty="0" smtClean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有效</a:t>
                      </a:r>
                      <a:r>
                        <a:rPr lang="zh-CN" altLang="en-US" sz="1800" b="1" u="none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、④</a:t>
                      </a:r>
                      <a:r>
                        <a:rPr lang="zh-CN" altLang="en-US" sz="1800" b="1" u="none" dirty="0" smtClean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有效</a:t>
                      </a:r>
                      <a:r>
                        <a:rPr lang="zh-CN" altLang="en-US" sz="1800" b="1" u="none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zh-CN" altLang="en-US" sz="1800" dirty="0">
                        <a:solidFill>
                          <a:schemeClr val="tx1"/>
                        </a:solidFill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/>
          </a:p>
        </p:txBody>
      </p:sp>
      <p:sp>
        <p:nvSpPr>
          <p:cNvPr id="1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Text Box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263" y="360645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defRPr b="1" u="none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Cache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的地址映射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 Box 128"/>
          <p:cNvSpPr txBox="1">
            <a:spLocks noChangeArrowheads="1"/>
          </p:cNvSpPr>
          <p:nvPr/>
        </p:nvSpPr>
        <p:spPr bwMode="auto">
          <a:xfrm>
            <a:off x="179705" y="828000"/>
            <a:ext cx="2656205" cy="57080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任务：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endParaRPr lang="zh-CN" altLang="en-US" sz="18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映射方式：</a:t>
            </a:r>
            <a:endParaRPr lang="zh-CN" altLang="en-US" sz="22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查找组织：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①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划分地址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②比较标记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性能指标：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34" name="Text Box 12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327785" y="828000"/>
            <a:ext cx="7635240" cy="26327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确定一个主存块可放到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哪些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行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，如何查找该主存块</a:t>
            </a: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                     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称为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候选行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800" u="none" dirty="0" smtClean="0">
                <a:latin typeface="宋体" panose="02010600030101010101" pitchFamily="2" charset="-122"/>
                <a:sym typeface="+mn-ea"/>
              </a:rPr>
              <a:t>┴←</a:t>
            </a:r>
            <a:r>
              <a:rPr lang="zh-CN" sz="1800" b="1" u="none" dirty="0" smtClean="0">
                <a:latin typeface="宋体" panose="02010600030101010101" pitchFamily="2" charset="-122"/>
                <a:sym typeface="+mn-ea"/>
              </a:rPr>
              <a:t>取决于映射方式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                 </a:t>
            </a:r>
            <a:endParaRPr lang="zh-CN" altLang="en-US" sz="18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直接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(1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行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、全相联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所有行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、组相联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(n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行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 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候选行数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不同</a:t>
            </a:r>
            <a:endParaRPr lang="zh-CN" altLang="en-US" sz="22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</a:t>
            </a:r>
            <a:r>
              <a:rPr lang="en-US" altLang="zh-CN" sz="1800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候选行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地址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由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主存块号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决定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┘</a:t>
            </a:r>
            <a:endParaRPr lang="en-US" altLang="zh-CN" sz="18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主存块号＝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&lt;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标记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,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索引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&gt;</a:t>
            </a:r>
            <a:endParaRPr lang="en-US" altLang="zh-CN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在候选行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索引指定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中比较</a:t>
            </a:r>
            <a:endParaRPr lang="zh-CN" altLang="en-US" sz="22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722620" y="2054225"/>
            <a:ext cx="3348355" cy="2087880"/>
            <a:chOff x="8334" y="4365"/>
            <a:chExt cx="5273" cy="3288"/>
          </a:xfrm>
        </p:grpSpPr>
        <p:cxnSp>
          <p:nvCxnSpPr>
            <p:cNvPr id="50" name="直接箭头连接符 49"/>
            <p:cNvCxnSpPr/>
            <p:nvPr>
              <p:custDataLst>
                <p:tags r:id="rId3"/>
              </p:custDataLst>
            </p:nvPr>
          </p:nvCxnSpPr>
          <p:spPr bwMode="auto">
            <a:xfrm flipH="1">
              <a:off x="11055" y="4875"/>
              <a:ext cx="567" cy="45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1" name="直接箭头连接符 50"/>
            <p:cNvCxnSpPr/>
            <p:nvPr>
              <p:custDataLst>
                <p:tags r:id="rId4"/>
              </p:custDataLst>
            </p:nvPr>
          </p:nvCxnSpPr>
          <p:spPr bwMode="auto">
            <a:xfrm flipH="1" flipV="1">
              <a:off x="11056" y="5443"/>
              <a:ext cx="567" cy="147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52" name="Rectangle 38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9241" y="5215"/>
              <a:ext cx="737" cy="1531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 sz="2000"/>
            </a:p>
          </p:txBody>
        </p:sp>
        <p:sp>
          <p:nvSpPr>
            <p:cNvPr id="53" name="Text Box 39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334" y="6463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36195" bIns="0" anchor="ctr"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G-1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4" name="Text Box 40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9239" y="5212"/>
              <a:ext cx="1814" cy="153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标记</a:t>
              </a:r>
              <a:r>
                <a:rPr lang="zh-CN" altLang="en-US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缓存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5" name="Text Box 44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9581" y="4876"/>
              <a:ext cx="102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Cache</a:t>
              </a:r>
              <a:endParaRPr lang="en-US" altLang="zh-CN" sz="1600" b="1" u="none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6" name="Text Box 45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0254" y="5499"/>
              <a:ext cx="34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7" name="Text Box 49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8334" y="5840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36195" bIns="0" anchor="ctr"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j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8" name="Text Box 50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8334" y="5211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36195" bIns="0" anchor="ctr"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59" name="直接箭头连接符 58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9241" y="5514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直接箭头连接符 59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9240" y="5840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直接箭头连接符 60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9240" y="6123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直接箭头连接符 61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9240" y="6463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3" name="Text Box 45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0261" y="6123"/>
              <a:ext cx="34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64" name="直接箭头连接符 63"/>
            <p:cNvCxnSpPr/>
            <p:nvPr>
              <p:custDataLst>
                <p:tags r:id="rId17"/>
              </p:custDataLst>
            </p:nvPr>
          </p:nvCxnSpPr>
          <p:spPr bwMode="auto">
            <a:xfrm flipH="1" flipV="1">
              <a:off x="11056" y="5386"/>
              <a:ext cx="567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grpSp>
          <p:nvGrpSpPr>
            <p:cNvPr id="65" name="组合 64"/>
            <p:cNvGrpSpPr/>
            <p:nvPr/>
          </p:nvGrpSpPr>
          <p:grpSpPr>
            <a:xfrm>
              <a:off x="11622" y="4365"/>
              <a:ext cx="1985" cy="3288"/>
              <a:chOff x="11735" y="4365"/>
              <a:chExt cx="1985" cy="3288"/>
            </a:xfrm>
          </p:grpSpPr>
          <p:sp>
            <p:nvSpPr>
              <p:cNvPr id="66" name="Text Box 276"/>
              <p:cNvSpPr txBox="1"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11736" y="6406"/>
                <a:ext cx="964" cy="397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 anchorCtr="0"/>
              <a:p>
                <a:pPr algn="ctr">
                  <a:lnSpc>
                    <a:spcPct val="80000"/>
                  </a:lnSpc>
                </a:pPr>
                <a:r>
                  <a:rPr lang="en-US" altLang="zh-CN" sz="1600" b="1" u="none" dirty="0">
                    <a:latin typeface="宋体" panose="02010600030101010101" pitchFamily="2" charset="-122"/>
                  </a:rPr>
                  <a:t>…</a:t>
                </a:r>
                <a:endParaRPr lang="en-US" altLang="zh-CN" sz="16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26" name="Text Box 277"/>
              <p:cNvSpPr txBox="1"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11736" y="4365"/>
                <a:ext cx="96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0" anchor="ctr"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1" u="none" dirty="0" smtClean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主存</a:t>
                </a:r>
                <a:endParaRPr lang="zh-CN" altLang="en-US" sz="18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127" name="AutoShape 297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12699" y="6803"/>
                <a:ext cx="113" cy="850"/>
              </a:xfrm>
              <a:prstGeom prst="rightBrace">
                <a:avLst>
                  <a:gd name="adj1" fmla="val 41944"/>
                  <a:gd name="adj2" fmla="val 50000"/>
                </a:avLst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132" name="Text Box 298"/>
              <p:cNvSpPr txBox="1"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12756" y="7029"/>
                <a:ext cx="96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36195" tIns="10800" rIns="18000" bIns="10800" anchor="ctr"/>
              <a:p>
                <a:r>
                  <a:rPr lang="zh-CN" altLang="en-US" sz="1600" b="1" u="none" dirty="0">
                    <a:latin typeface="宋体" panose="02010600030101010101" pitchFamily="2" charset="-122"/>
                  </a:rPr>
                  <a:t>区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M-1</a:t>
                </a:r>
                <a:endParaRPr lang="en-US" altLang="zh-CN" sz="16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33" name="AutoShape 274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12699" y="4691"/>
                <a:ext cx="113" cy="850"/>
              </a:xfrm>
              <a:prstGeom prst="rightBrace">
                <a:avLst>
                  <a:gd name="adj1" fmla="val 42037"/>
                  <a:gd name="adj2" fmla="val 50000"/>
                </a:avLst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168" name="Text Box 275"/>
              <p:cNvSpPr txBox="1"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2756" y="4932"/>
                <a:ext cx="68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36195" tIns="10800" rIns="18000" bIns="10800" anchor="ctr"/>
              <a:p>
                <a:r>
                  <a:rPr lang="zh-CN" altLang="en-US" sz="1600" b="1" u="none" dirty="0">
                    <a:latin typeface="宋体" panose="02010600030101010101" pitchFamily="2" charset="-122"/>
                  </a:rPr>
                  <a:t>区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0</a:t>
                </a:r>
                <a:endParaRPr lang="en-US" altLang="zh-CN" sz="16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69" name="Text Box 292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11735" y="4705"/>
                <a:ext cx="961" cy="850"/>
              </a:xfrm>
              <a:prstGeom prst="rect">
                <a:avLst/>
              </a:prstGeom>
              <a:solidFill>
                <a:srgbClr val="FFCC99">
                  <a:alpha val="7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36195" tIns="0" rIns="18000" bIns="0"/>
              <a:p>
                <a:pPr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块</a:t>
                </a:r>
                <a:r>
                  <a:rPr lang="en-US" altLang="zh-CN" sz="16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0</a:t>
                </a:r>
                <a:endPara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ctr"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…</a:t>
                </a:r>
                <a:endPara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块</a:t>
                </a:r>
                <a:r>
                  <a:rPr lang="en-US" altLang="zh-CN" sz="1600" b="1" u="none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G</a:t>
                </a:r>
                <a:r>
                  <a:rPr lang="en-US" altLang="zh-CN" sz="16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-1</a:t>
                </a:r>
                <a:endParaRPr lang="en-US" altLang="zh-CN" sz="1600" b="1" u="none" baseline="300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170" name="直接箭头连接符 169"/>
              <p:cNvCxnSpPr/>
              <p:nvPr>
                <p:custDataLst>
                  <p:tags r:id="rId25"/>
                </p:custDataLst>
              </p:nvPr>
            </p:nvCxnSpPr>
            <p:spPr bwMode="auto">
              <a:xfrm flipV="1">
                <a:off x="11736" y="4988"/>
                <a:ext cx="964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1" name="直接箭头连接符 170"/>
              <p:cNvCxnSpPr/>
              <p:nvPr>
                <p:custDataLst>
                  <p:tags r:id="rId26"/>
                </p:custDataLst>
              </p:nvPr>
            </p:nvCxnSpPr>
            <p:spPr bwMode="auto">
              <a:xfrm flipV="1">
                <a:off x="11735" y="5272"/>
                <a:ext cx="964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2" name="AutoShape 274"/>
              <p:cNvSpPr/>
              <p:nvPr>
                <p:custDataLst>
                  <p:tags r:id="rId27"/>
                </p:custDataLst>
              </p:nvPr>
            </p:nvSpPr>
            <p:spPr bwMode="auto">
              <a:xfrm>
                <a:off x="12699" y="5555"/>
                <a:ext cx="113" cy="850"/>
              </a:xfrm>
              <a:prstGeom prst="rightBrace">
                <a:avLst>
                  <a:gd name="adj1" fmla="val 42037"/>
                  <a:gd name="adj2" fmla="val 50000"/>
                </a:avLst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p>
                <a:endParaRPr lang="zh-CN" altLang="en-US"/>
              </a:p>
            </p:txBody>
          </p:sp>
          <p:sp>
            <p:nvSpPr>
              <p:cNvPr id="173" name="Text Box 275"/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12756" y="5796"/>
                <a:ext cx="68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36195" tIns="10800" rIns="18000" bIns="10800" anchor="ctr"/>
              <a:p>
                <a:r>
                  <a:rPr lang="zh-CN" altLang="en-US" sz="1600" b="1" u="none" dirty="0">
                    <a:latin typeface="宋体" panose="02010600030101010101" pitchFamily="2" charset="-122"/>
                  </a:rPr>
                  <a:t>区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1</a:t>
                </a:r>
                <a:endParaRPr lang="en-US" altLang="zh-CN" sz="16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74" name="Text Box 292"/>
              <p:cNvSpPr txBox="1"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11735" y="5555"/>
                <a:ext cx="961" cy="85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36195" tIns="0" rIns="18000" bIns="0"/>
              <a:p>
                <a:pPr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块</a:t>
                </a:r>
                <a:r>
                  <a:rPr lang="en-US" altLang="zh-CN" sz="16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0</a:t>
                </a:r>
                <a:endPara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ctr"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…</a:t>
                </a:r>
                <a:endPara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块</a:t>
                </a:r>
                <a:r>
                  <a:rPr lang="en-US" altLang="zh-CN" sz="1600" b="1" u="none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G</a:t>
                </a:r>
                <a:r>
                  <a:rPr lang="en-US" altLang="zh-CN" sz="16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-1</a:t>
                </a:r>
                <a:endParaRPr lang="en-US" altLang="zh-CN" sz="1600" b="1" u="none" baseline="300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175" name="直接箭头连接符 174"/>
              <p:cNvCxnSpPr/>
              <p:nvPr>
                <p:custDataLst>
                  <p:tags r:id="rId30"/>
                </p:custDataLst>
              </p:nvPr>
            </p:nvCxnSpPr>
            <p:spPr bwMode="auto">
              <a:xfrm flipV="1">
                <a:off x="11736" y="5852"/>
                <a:ext cx="964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6" name="直接箭头连接符 175"/>
              <p:cNvCxnSpPr/>
              <p:nvPr>
                <p:custDataLst>
                  <p:tags r:id="rId31"/>
                </p:custDataLst>
              </p:nvPr>
            </p:nvCxnSpPr>
            <p:spPr bwMode="auto">
              <a:xfrm flipV="1">
                <a:off x="11735" y="6136"/>
                <a:ext cx="964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7" name="Text Box 292"/>
              <p:cNvSpPr txBox="1"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11735" y="6803"/>
                <a:ext cx="961" cy="850"/>
              </a:xfrm>
              <a:prstGeom prst="rect">
                <a:avLst/>
              </a:prstGeom>
              <a:solidFill>
                <a:srgbClr val="FFCC99">
                  <a:alpha val="7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36195" tIns="0" rIns="18000" bIns="0"/>
              <a:p>
                <a:pPr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块</a:t>
                </a:r>
                <a:r>
                  <a:rPr lang="en-US" altLang="zh-CN" sz="16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0</a:t>
                </a:r>
                <a:endPara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ctr"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…</a:t>
                </a:r>
                <a:endPara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6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块</a:t>
                </a:r>
                <a:r>
                  <a:rPr lang="en-US" altLang="zh-CN" sz="1600" b="1" u="none" dirty="0">
                    <a:solidFill>
                      <a:srgbClr val="990099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G</a:t>
                </a:r>
                <a:r>
                  <a:rPr lang="en-US" altLang="zh-CN" sz="1600" b="1" u="none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-1</a:t>
                </a:r>
                <a:endParaRPr lang="en-US" altLang="zh-CN" sz="1600" b="1" u="none" baseline="30000" dirty="0"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178" name="直接箭头连接符 177"/>
              <p:cNvCxnSpPr/>
              <p:nvPr>
                <p:custDataLst>
                  <p:tags r:id="rId33"/>
                </p:custDataLst>
              </p:nvPr>
            </p:nvCxnSpPr>
            <p:spPr bwMode="auto">
              <a:xfrm flipV="1">
                <a:off x="11736" y="7086"/>
                <a:ext cx="964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9" name="直接箭头连接符 178"/>
              <p:cNvCxnSpPr/>
              <p:nvPr>
                <p:custDataLst>
                  <p:tags r:id="rId34"/>
                </p:custDataLst>
              </p:nvPr>
            </p:nvCxnSpPr>
            <p:spPr bwMode="auto">
              <a:xfrm flipV="1">
                <a:off x="11735" y="7370"/>
                <a:ext cx="964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181" name="Text Box 39"/>
          <p:cNvSpPr txBox="1">
            <a:spLocks noChangeArrowheads="1"/>
          </p:cNvSpPr>
          <p:nvPr/>
        </p:nvSpPr>
        <p:spPr bwMode="auto">
          <a:xfrm>
            <a:off x="6064885" y="3602355"/>
            <a:ext cx="1619885" cy="50419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36195" bIns="0" anchor="ctr"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u="none" dirty="0" smtClean="0">
                <a:latin typeface="宋体" panose="02010600030101010101" pitchFamily="2" charset="-122"/>
              </a:rPr>
              <a:t>主存块号＝</a:t>
            </a:r>
            <a:endParaRPr lang="zh-CN" sz="1600" b="1" u="none" dirty="0" smtClean="0">
              <a:latin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 smtClean="0">
                <a:latin typeface="宋体" panose="02010600030101010101" pitchFamily="2" charset="-122"/>
              </a:rPr>
              <a:t>&lt;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区号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,</a:t>
            </a:r>
            <a:r>
              <a:rPr lang="zh-CN" altLang="en-US" sz="1600" b="1" u="none" dirty="0" smtClean="0">
                <a:highlight>
                  <a:srgbClr val="FFFF00"/>
                </a:highlight>
                <a:latin typeface="宋体" panose="02010600030101010101" pitchFamily="2" charset="-122"/>
              </a:rPr>
              <a:t>区内块号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&gt;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</p:txBody>
      </p:sp>
      <p:grpSp>
        <p:nvGrpSpPr>
          <p:cNvPr id="241" name="组合 240"/>
          <p:cNvGrpSpPr/>
          <p:nvPr/>
        </p:nvGrpSpPr>
        <p:grpSpPr>
          <a:xfrm>
            <a:off x="1152000" y="3924490"/>
            <a:ext cx="2780385" cy="1224000"/>
            <a:chOff x="1979711" y="3429016"/>
            <a:chExt cx="2780385" cy="1224000"/>
          </a:xfrm>
        </p:grpSpPr>
        <p:cxnSp>
          <p:nvCxnSpPr>
            <p:cNvPr id="242" name="直接箭头连接符 158"/>
            <p:cNvCxnSpPr/>
            <p:nvPr>
              <p:custDataLst>
                <p:tags r:id="rId35"/>
              </p:custDataLst>
            </p:nvPr>
          </p:nvCxnSpPr>
          <p:spPr bwMode="auto">
            <a:xfrm rot="16200000" flipH="1">
              <a:off x="1637711" y="3987009"/>
              <a:ext cx="828000" cy="144000"/>
            </a:xfrm>
            <a:prstGeom prst="bentConnector3">
              <a:avLst>
                <a:gd name="adj1" fmla="val 99947"/>
              </a:avLst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43" name="Text Box 309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2190151" y="4293016"/>
              <a:ext cx="648000" cy="360000"/>
            </a:xfrm>
            <a:prstGeom prst="rect">
              <a:avLst/>
            </a:prstGeom>
            <a:solidFill>
              <a:srgbClr val="FFCC99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zh-CN" altLang="en-US" sz="1800" b="1" u="none" dirty="0"/>
            </a:p>
          </p:txBody>
        </p:sp>
        <p:sp>
          <p:nvSpPr>
            <p:cNvPr id="244" name="AutoShape 178"/>
            <p:cNvSpPr/>
            <p:nvPr>
              <p:custDataLst>
                <p:tags r:id="rId37"/>
              </p:custDataLst>
            </p:nvPr>
          </p:nvSpPr>
          <p:spPr bwMode="auto">
            <a:xfrm>
              <a:off x="2123728" y="4293016"/>
              <a:ext cx="72008" cy="360000"/>
            </a:xfrm>
            <a:prstGeom prst="leftBrace">
              <a:avLst>
                <a:gd name="adj1" fmla="val 67222"/>
                <a:gd name="adj2" fmla="val 50000"/>
              </a:avLst>
            </a:prstGeom>
            <a:noFill/>
            <a:ln w="9525">
              <a:solidFill>
                <a:srgbClr val="C00000"/>
              </a:solidFill>
              <a:round/>
              <a:tailEnd type="none" w="sm" len="med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245" name="Line 121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 flipH="1">
              <a:off x="1988096" y="3645016"/>
              <a:ext cx="2772000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46" name="Line 121"/>
            <p:cNvSpPr>
              <a:spLocks noChangeShapeType="1"/>
            </p:cNvSpPr>
            <p:nvPr>
              <p:custDataLst>
                <p:tags r:id="rId39"/>
              </p:custDataLst>
            </p:nvPr>
          </p:nvSpPr>
          <p:spPr bwMode="auto">
            <a:xfrm flipH="1">
              <a:off x="4751711" y="3429016"/>
              <a:ext cx="0" cy="21600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47" name="组合 246"/>
          <p:cNvGrpSpPr/>
          <p:nvPr/>
        </p:nvGrpSpPr>
        <p:grpSpPr>
          <a:xfrm>
            <a:off x="2268000" y="3492490"/>
            <a:ext cx="2952000" cy="432024"/>
            <a:chOff x="3312907" y="1844824"/>
            <a:chExt cx="2952000" cy="432024"/>
          </a:xfrm>
        </p:grpSpPr>
        <p:sp>
          <p:nvSpPr>
            <p:cNvPr id="248" name="Text Box 382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5328907" y="1844848"/>
              <a:ext cx="936000" cy="43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49" name="Text Box 383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3312907" y="1844848"/>
              <a:ext cx="540000" cy="43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主存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50" name="Text Box 257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3851920" y="1844824"/>
              <a:ext cx="1476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主存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块号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</p:grpSp>
      <p:grpSp>
        <p:nvGrpSpPr>
          <p:cNvPr id="251" name="组合 250"/>
          <p:cNvGrpSpPr/>
          <p:nvPr/>
        </p:nvGrpSpPr>
        <p:grpSpPr>
          <a:xfrm>
            <a:off x="2808000" y="3708490"/>
            <a:ext cx="1476375" cy="215900"/>
            <a:chOff x="6066" y="5041"/>
            <a:chExt cx="2325" cy="340"/>
          </a:xfrm>
        </p:grpSpPr>
        <p:sp>
          <p:nvSpPr>
            <p:cNvPr id="252" name="Text Box 384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7200" y="5041"/>
              <a:ext cx="119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sz="1600" b="1" u="none" dirty="0" smtClean="0">
                  <a:latin typeface="宋体" panose="02010600030101010101" pitchFamily="2" charset="-122"/>
                </a:rPr>
                <a:t>索引</a:t>
              </a:r>
              <a:endParaRPr 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53" name="Text Box 385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6066" y="5041"/>
              <a:ext cx="1134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sz="1600" b="1" u="none" dirty="0">
                  <a:latin typeface="宋体" panose="02010600030101010101" pitchFamily="2" charset="-122"/>
                </a:rPr>
                <a:t>标记</a:t>
              </a:r>
              <a:endParaRPr lang="zh-CN" sz="16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82" name="组合 181"/>
          <p:cNvGrpSpPr/>
          <p:nvPr/>
        </p:nvGrpSpPr>
        <p:grpSpPr>
          <a:xfrm>
            <a:off x="1477932" y="4176490"/>
            <a:ext cx="4104417" cy="1296173"/>
            <a:chOff x="2195735" y="3645048"/>
            <a:chExt cx="4104417" cy="1296173"/>
          </a:xfrm>
        </p:grpSpPr>
        <p:sp>
          <p:nvSpPr>
            <p:cNvPr id="183" name="Text Box 275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2195735" y="3861072"/>
              <a:ext cx="72072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4" name="Text Box 276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2195736" y="4725144"/>
              <a:ext cx="72072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baseline="30000" dirty="0">
                  <a:latin typeface="宋体" panose="02010600030101010101" pitchFamily="2" charset="-122"/>
                </a:rPr>
                <a:t>c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5" name="Text Box 277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2195736" y="4293096"/>
              <a:ext cx="72072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j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6" name="Text Box 290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4499992" y="3861048"/>
              <a:ext cx="576000" cy="1080000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87" name="Text Box 278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2916461" y="3861048"/>
              <a:ext cx="648000" cy="108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88" name="Text Box 279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2916152" y="3645048"/>
              <a:ext cx="338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u="none" dirty="0" smtClean="0">
                  <a:latin typeface="宋体" panose="02010600030101010101" pitchFamily="2" charset="-122"/>
                </a:rPr>
                <a:t>有效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V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  标记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Tag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  状态    缓存块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9" name="Text Box 280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5147593" y="3861048"/>
              <a:ext cx="1152000" cy="108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zh-CN" altLang="zh-CN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190" name="Line 281"/>
            <p:cNvSpPr>
              <a:spLocks noChangeShapeType="1"/>
            </p:cNvSpPr>
            <p:nvPr>
              <p:custDataLst>
                <p:tags r:id="rId52"/>
              </p:custDataLst>
            </p:nvPr>
          </p:nvSpPr>
          <p:spPr bwMode="auto">
            <a:xfrm>
              <a:off x="5148064" y="4077072"/>
              <a:ext cx="11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91" name="Line 282"/>
            <p:cNvSpPr>
              <a:spLocks noChangeShapeType="1"/>
            </p:cNvSpPr>
            <p:nvPr>
              <p:custDataLst>
                <p:tags r:id="rId53"/>
              </p:custDataLst>
            </p:nvPr>
          </p:nvSpPr>
          <p:spPr bwMode="auto">
            <a:xfrm>
              <a:off x="5148064" y="4293096"/>
              <a:ext cx="11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92" name="Line 283"/>
            <p:cNvSpPr>
              <a:spLocks noChangeShapeType="1"/>
            </p:cNvSpPr>
            <p:nvPr>
              <p:custDataLst>
                <p:tags r:id="rId54"/>
              </p:custDataLst>
            </p:nvPr>
          </p:nvSpPr>
          <p:spPr bwMode="auto">
            <a:xfrm>
              <a:off x="5148064" y="4509120"/>
              <a:ext cx="11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93" name="Line 284"/>
            <p:cNvSpPr>
              <a:spLocks noChangeShapeType="1"/>
            </p:cNvSpPr>
            <p:nvPr>
              <p:custDataLst>
                <p:tags r:id="rId55"/>
              </p:custDataLst>
            </p:nvPr>
          </p:nvSpPr>
          <p:spPr bwMode="auto">
            <a:xfrm>
              <a:off x="5148064" y="4725144"/>
              <a:ext cx="11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94" name="Line 285"/>
            <p:cNvSpPr>
              <a:spLocks noChangeShapeType="1"/>
            </p:cNvSpPr>
            <p:nvPr>
              <p:custDataLst>
                <p:tags r:id="rId56"/>
              </p:custDataLst>
            </p:nvPr>
          </p:nvSpPr>
          <p:spPr bwMode="auto">
            <a:xfrm>
              <a:off x="5364088" y="3861221"/>
              <a:ext cx="0" cy="10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95" name="Line 286"/>
            <p:cNvSpPr>
              <a:spLocks noChangeShapeType="1"/>
            </p:cNvSpPr>
            <p:nvPr>
              <p:custDataLst>
                <p:tags r:id="rId57"/>
              </p:custDataLst>
            </p:nvPr>
          </p:nvSpPr>
          <p:spPr bwMode="auto">
            <a:xfrm>
              <a:off x="6084168" y="3861168"/>
              <a:ext cx="0" cy="10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96" name="Text Box 290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3563984" y="3861048"/>
              <a:ext cx="936000" cy="1080000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97" name="Line 291"/>
            <p:cNvSpPr>
              <a:spLocks noChangeShapeType="1"/>
            </p:cNvSpPr>
            <p:nvPr>
              <p:custDataLst>
                <p:tags r:id="rId59"/>
              </p:custDataLst>
            </p:nvPr>
          </p:nvSpPr>
          <p:spPr bwMode="auto">
            <a:xfrm>
              <a:off x="2916461" y="4077072"/>
              <a:ext cx="216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13" name="Line 292"/>
            <p:cNvSpPr>
              <a:spLocks noChangeShapeType="1"/>
            </p:cNvSpPr>
            <p:nvPr>
              <p:custDataLst>
                <p:tags r:id="rId60"/>
              </p:custDataLst>
            </p:nvPr>
          </p:nvSpPr>
          <p:spPr bwMode="auto">
            <a:xfrm flipV="1">
              <a:off x="2916461" y="4293096"/>
              <a:ext cx="216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14" name="Line 293"/>
            <p:cNvSpPr>
              <a:spLocks noChangeShapeType="1"/>
            </p:cNvSpPr>
            <p:nvPr>
              <p:custDataLst>
                <p:tags r:id="rId61"/>
              </p:custDataLst>
            </p:nvPr>
          </p:nvSpPr>
          <p:spPr bwMode="auto">
            <a:xfrm flipV="1">
              <a:off x="2916461" y="4509120"/>
              <a:ext cx="216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21" name="Line 294"/>
            <p:cNvSpPr>
              <a:spLocks noChangeShapeType="1"/>
            </p:cNvSpPr>
            <p:nvPr>
              <p:custDataLst>
                <p:tags r:id="rId62"/>
              </p:custDataLst>
            </p:nvPr>
          </p:nvSpPr>
          <p:spPr bwMode="auto">
            <a:xfrm>
              <a:off x="2916461" y="4725144"/>
              <a:ext cx="216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22" name="Text Box 295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3923960" y="4077096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60000"/>
                </a:lnSpc>
              </a:pPr>
              <a:r>
                <a:rPr lang="en-US" altLang="zh-CN" sz="1600" b="1" u="none" dirty="0"/>
                <a:t>…</a:t>
              </a:r>
              <a:endParaRPr lang="en-US" altLang="zh-CN" sz="1600" b="1" u="none" dirty="0"/>
            </a:p>
          </p:txBody>
        </p:sp>
        <p:sp>
          <p:nvSpPr>
            <p:cNvPr id="232" name="Text Box 297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3132361" y="3861048"/>
              <a:ext cx="187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      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      s3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3" name="Text Box 298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3132361" y="4293096"/>
              <a:ext cx="187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       </a:t>
              </a: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i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  s0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6" name="Text Box 299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3132361" y="4725144"/>
              <a:ext cx="187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      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b      s1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8" name="Text Box 295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3923928" y="4509144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60000"/>
                </a:lnSpc>
              </a:pPr>
              <a:r>
                <a:rPr lang="en-US" altLang="zh-CN" sz="1600" b="1" u="none" dirty="0"/>
                <a:t>…</a:t>
              </a:r>
              <a:endParaRPr lang="en-US" altLang="zh-CN" sz="1600" b="1" u="none" dirty="0"/>
            </a:p>
          </p:txBody>
        </p:sp>
        <p:sp>
          <p:nvSpPr>
            <p:cNvPr id="239" name="Text Box 295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5652152" y="4077096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60000"/>
                </a:lnSpc>
              </a:pPr>
              <a:r>
                <a:rPr lang="en-US" altLang="zh-CN" sz="1600" b="1" u="none" dirty="0"/>
                <a:t>…</a:t>
              </a:r>
              <a:endParaRPr lang="en-US" altLang="zh-CN" sz="1600" b="1" u="none" dirty="0"/>
            </a:p>
          </p:txBody>
        </p:sp>
        <p:sp>
          <p:nvSpPr>
            <p:cNvPr id="240" name="Text Box 295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5652152" y="4509144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60000"/>
                </a:lnSpc>
              </a:pPr>
              <a:r>
                <a:rPr lang="en-US" altLang="zh-CN" sz="1600" b="1" u="none" dirty="0"/>
                <a:t>…</a:t>
              </a:r>
              <a:endParaRPr lang="en-US" altLang="zh-CN" sz="1600" b="1" u="none" dirty="0"/>
            </a:p>
          </p:txBody>
        </p:sp>
      </p:grpSp>
      <p:sp>
        <p:nvSpPr>
          <p:cNvPr id="267" name="Text Box 163"/>
          <p:cNvSpPr txBox="1">
            <a:spLocks noChangeArrowheads="1"/>
          </p:cNvSpPr>
          <p:nvPr>
            <p:custDataLst>
              <p:tags r:id="rId70"/>
            </p:custDataLst>
          </p:nvPr>
        </p:nvSpPr>
        <p:spPr bwMode="auto">
          <a:xfrm>
            <a:off x="6444000" y="4356130"/>
            <a:ext cx="2448000" cy="61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lIns="18000" tIns="10800" rIns="18000" bIns="10800" anchor="t" anchorCtr="0"/>
          <a:p>
            <a:pPr marL="267335" indent="-267335" algn="l"/>
            <a:r>
              <a:rPr lang="zh-CN" altLang="en-US" sz="1800" b="1" u="none" dirty="0" smtClean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思考：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命中时如何访问块内数据</a:t>
            </a:r>
            <a:r>
              <a:rPr lang="zh-CN" altLang="en-US" sz="1800" b="1" u="none" dirty="0" smtClean="0">
                <a:latin typeface="+mn-ea"/>
                <a:ea typeface="+mn-ea"/>
                <a:sym typeface="+mn-ea"/>
              </a:rPr>
              <a:t>？</a:t>
            </a:r>
            <a:endParaRPr lang="zh-CN" altLang="en-US" sz="1800" b="1" u="none" dirty="0" smtClean="0">
              <a:latin typeface="+mn-ea"/>
              <a:ea typeface="+mn-ea"/>
              <a:sym typeface="+mn-ea"/>
            </a:endParaRPr>
          </a:p>
        </p:txBody>
      </p:sp>
      <p:grpSp>
        <p:nvGrpSpPr>
          <p:cNvPr id="285" name="组合 284"/>
          <p:cNvGrpSpPr/>
          <p:nvPr/>
        </p:nvGrpSpPr>
        <p:grpSpPr>
          <a:xfrm>
            <a:off x="4788000" y="3924000"/>
            <a:ext cx="1980465" cy="2124375"/>
            <a:chOff x="7540" y="6180"/>
            <a:chExt cx="3119" cy="3345"/>
          </a:xfrm>
        </p:grpSpPr>
        <p:sp>
          <p:nvSpPr>
            <p:cNvPr id="269" name="Line 121"/>
            <p:cNvSpPr>
              <a:spLocks noChangeShapeType="1"/>
            </p:cNvSpPr>
            <p:nvPr>
              <p:custDataLst>
                <p:tags r:id="rId71"/>
              </p:custDataLst>
            </p:nvPr>
          </p:nvSpPr>
          <p:spPr bwMode="auto">
            <a:xfrm flipH="1">
              <a:off x="7767" y="8618"/>
              <a:ext cx="0" cy="56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70" name="等腰三角形 269"/>
            <p:cNvSpPr/>
            <p:nvPr>
              <p:custDataLst>
                <p:tags r:id="rId72"/>
              </p:custDataLst>
            </p:nvPr>
          </p:nvSpPr>
          <p:spPr bwMode="auto">
            <a:xfrm rot="5400000">
              <a:off x="7654" y="8787"/>
              <a:ext cx="227" cy="227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1" name="Line 121"/>
            <p:cNvSpPr>
              <a:spLocks noChangeShapeType="1"/>
            </p:cNvSpPr>
            <p:nvPr>
              <p:custDataLst>
                <p:tags r:id="rId73"/>
              </p:custDataLst>
            </p:nvPr>
          </p:nvSpPr>
          <p:spPr bwMode="auto">
            <a:xfrm>
              <a:off x="7767" y="9185"/>
              <a:ext cx="62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80" name="Line 154"/>
            <p:cNvSpPr>
              <a:spLocks noChangeShapeType="1"/>
            </p:cNvSpPr>
            <p:nvPr>
              <p:custDataLst>
                <p:tags r:id="rId74"/>
              </p:custDataLst>
            </p:nvPr>
          </p:nvSpPr>
          <p:spPr bwMode="auto">
            <a:xfrm flipH="1">
              <a:off x="9241" y="6406"/>
              <a:ext cx="0" cy="232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72" name="Text Box 306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8391" y="8731"/>
              <a:ext cx="227" cy="79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270" lIns="18000" tIns="10800" rIns="18000" bIns="10800" anchor="ctr"/>
            <a:p>
              <a:pPr algn="ctr"/>
              <a:r>
                <a:rPr lang="en-US" altLang="zh-CN" sz="1400" b="1" u="none" dirty="0" smtClean="0">
                  <a:latin typeface="宋体" panose="02010600030101010101" pitchFamily="2" charset="-122"/>
                </a:rPr>
                <a:t>…</a:t>
              </a:r>
              <a:endParaRPr lang="zh-CN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73" name="Line 311"/>
            <p:cNvSpPr>
              <a:spLocks noChangeShapeType="1"/>
            </p:cNvSpPr>
            <p:nvPr>
              <p:custDataLst>
                <p:tags r:id="rId76"/>
              </p:custDataLst>
            </p:nvPr>
          </p:nvSpPr>
          <p:spPr bwMode="auto">
            <a:xfrm>
              <a:off x="8391" y="8930"/>
              <a:ext cx="227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74" name="Line 311"/>
            <p:cNvSpPr>
              <a:spLocks noChangeShapeType="1"/>
            </p:cNvSpPr>
            <p:nvPr>
              <p:custDataLst>
                <p:tags r:id="rId77"/>
              </p:custDataLst>
            </p:nvPr>
          </p:nvSpPr>
          <p:spPr bwMode="auto">
            <a:xfrm>
              <a:off x="8391" y="9302"/>
              <a:ext cx="227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75" name="Text Box 120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9058" y="8731"/>
              <a:ext cx="340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270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+mn-ea"/>
                  <a:ea typeface="+mn-ea"/>
                </a:rPr>
                <a:t>MUX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76" name="Text Box 136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8618" y="8957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vert270" wrap="none"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77" name="Line 121"/>
            <p:cNvSpPr>
              <a:spLocks noChangeShapeType="1"/>
            </p:cNvSpPr>
            <p:nvPr>
              <p:custDataLst>
                <p:tags r:id="rId80"/>
              </p:custDataLst>
            </p:nvPr>
          </p:nvSpPr>
          <p:spPr bwMode="auto">
            <a:xfrm>
              <a:off x="8618" y="8844"/>
              <a:ext cx="45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78" name="Line 121"/>
            <p:cNvSpPr>
              <a:spLocks noChangeShapeType="1"/>
            </p:cNvSpPr>
            <p:nvPr>
              <p:custDataLst>
                <p:tags r:id="rId81"/>
              </p:custDataLst>
            </p:nvPr>
          </p:nvSpPr>
          <p:spPr bwMode="auto">
            <a:xfrm>
              <a:off x="8617" y="9411"/>
              <a:ext cx="45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79" name="Text Box 329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9865" y="8957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数据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81" name="Line 121"/>
            <p:cNvSpPr>
              <a:spLocks noChangeShapeType="1"/>
            </p:cNvSpPr>
            <p:nvPr>
              <p:custDataLst>
                <p:tags r:id="rId83"/>
              </p:custDataLst>
            </p:nvPr>
          </p:nvSpPr>
          <p:spPr bwMode="auto">
            <a:xfrm flipV="1">
              <a:off x="9411" y="9127"/>
              <a:ext cx="454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none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82" name="Line 121"/>
            <p:cNvSpPr>
              <a:spLocks noChangeShapeType="1"/>
            </p:cNvSpPr>
            <p:nvPr>
              <p:custDataLst>
                <p:tags r:id="rId84"/>
              </p:custDataLst>
            </p:nvPr>
          </p:nvSpPr>
          <p:spPr bwMode="auto">
            <a:xfrm flipH="1">
              <a:off x="7540" y="6180"/>
              <a:ext cx="0" cy="227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83" name="Line 121"/>
            <p:cNvSpPr>
              <a:spLocks noChangeShapeType="1"/>
            </p:cNvSpPr>
            <p:nvPr>
              <p:custDataLst>
                <p:tags r:id="rId85"/>
              </p:custDataLst>
            </p:nvPr>
          </p:nvSpPr>
          <p:spPr bwMode="auto">
            <a:xfrm>
              <a:off x="7540" y="6406"/>
              <a:ext cx="1701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89" name="组合 288"/>
          <p:cNvGrpSpPr/>
          <p:nvPr/>
        </p:nvGrpSpPr>
        <p:grpSpPr>
          <a:xfrm>
            <a:off x="1007745" y="3924300"/>
            <a:ext cx="3887470" cy="1997075"/>
            <a:chOff x="1587" y="6180"/>
            <a:chExt cx="6122" cy="3145"/>
          </a:xfrm>
        </p:grpSpPr>
        <p:sp>
          <p:nvSpPr>
            <p:cNvPr id="255" name="Text Box 358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3742" y="8788"/>
              <a:ext cx="1247" cy="51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/>
                <a:t>比较器</a:t>
              </a:r>
              <a:endParaRPr lang="zh-CN" altLang="en-US" sz="1600" b="1" u="none" dirty="0"/>
            </a:p>
          </p:txBody>
        </p:sp>
        <p:sp>
          <p:nvSpPr>
            <p:cNvPr id="256" name="Line 360"/>
            <p:cNvSpPr>
              <a:spLocks noChangeShapeType="1"/>
            </p:cNvSpPr>
            <p:nvPr>
              <p:custDataLst>
                <p:tags r:id="rId87"/>
              </p:custDataLst>
            </p:nvPr>
          </p:nvSpPr>
          <p:spPr bwMode="auto">
            <a:xfrm flipH="1">
              <a:off x="4763" y="7768"/>
              <a:ext cx="0" cy="102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7" name="Line 361"/>
            <p:cNvSpPr>
              <a:spLocks noChangeShapeType="1"/>
            </p:cNvSpPr>
            <p:nvPr>
              <p:custDataLst>
                <p:tags r:id="rId88"/>
              </p:custDataLst>
            </p:nvPr>
          </p:nvSpPr>
          <p:spPr bwMode="auto">
            <a:xfrm>
              <a:off x="4139" y="7768"/>
              <a:ext cx="0" cy="102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cxnSp>
          <p:nvCxnSpPr>
            <p:cNvPr id="258" name="直接箭头连接符 69"/>
            <p:cNvCxnSpPr/>
            <p:nvPr>
              <p:custDataLst>
                <p:tags r:id="rId89"/>
              </p:custDataLst>
            </p:nvPr>
          </p:nvCxnSpPr>
          <p:spPr bwMode="auto">
            <a:xfrm>
              <a:off x="4989" y="8902"/>
              <a:ext cx="2721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59" name="Line 121"/>
            <p:cNvSpPr>
              <a:spLocks noChangeShapeType="1"/>
            </p:cNvSpPr>
            <p:nvPr>
              <p:custDataLst>
                <p:tags r:id="rId90"/>
              </p:custDataLst>
            </p:nvPr>
          </p:nvSpPr>
          <p:spPr bwMode="auto">
            <a:xfrm flipH="1">
              <a:off x="1587" y="9128"/>
              <a:ext cx="2154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triangle"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60" name="Line 121"/>
            <p:cNvSpPr>
              <a:spLocks noChangeShapeType="1"/>
            </p:cNvSpPr>
            <p:nvPr>
              <p:custDataLst>
                <p:tags r:id="rId91"/>
              </p:custDataLst>
            </p:nvPr>
          </p:nvSpPr>
          <p:spPr bwMode="auto">
            <a:xfrm flipH="1" flipV="1">
              <a:off x="1587" y="6407"/>
              <a:ext cx="0" cy="2721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61" name="Line 121"/>
            <p:cNvSpPr>
              <a:spLocks noChangeShapeType="1"/>
            </p:cNvSpPr>
            <p:nvPr>
              <p:custDataLst>
                <p:tags r:id="rId92"/>
              </p:custDataLst>
            </p:nvPr>
          </p:nvSpPr>
          <p:spPr bwMode="auto">
            <a:xfrm flipH="1">
              <a:off x="5046" y="6180"/>
              <a:ext cx="0" cy="227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62" name="Line 121"/>
            <p:cNvSpPr>
              <a:spLocks noChangeShapeType="1"/>
            </p:cNvSpPr>
            <p:nvPr>
              <p:custDataLst>
                <p:tags r:id="rId93"/>
              </p:custDataLst>
            </p:nvPr>
          </p:nvSpPr>
          <p:spPr bwMode="auto">
            <a:xfrm flipH="1">
              <a:off x="1587" y="6407"/>
              <a:ext cx="3458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64" name="Line 360"/>
            <p:cNvSpPr>
              <a:spLocks noChangeShapeType="1"/>
            </p:cNvSpPr>
            <p:nvPr>
              <p:custDataLst>
                <p:tags r:id="rId94"/>
              </p:custDataLst>
            </p:nvPr>
          </p:nvSpPr>
          <p:spPr bwMode="auto">
            <a:xfrm flipV="1">
              <a:off x="3345" y="8901"/>
              <a:ext cx="39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65" name="Text Box 276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3118" y="8787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86" name="Line 363"/>
            <p:cNvSpPr>
              <a:spLocks noChangeShapeType="1"/>
            </p:cNvSpPr>
            <p:nvPr>
              <p:custDataLst>
                <p:tags r:id="rId96"/>
              </p:custDataLst>
            </p:nvPr>
          </p:nvSpPr>
          <p:spPr bwMode="auto">
            <a:xfrm flipV="1">
              <a:off x="4989" y="9241"/>
              <a:ext cx="68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tailEnd type="triangle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87" name="Line 363"/>
            <p:cNvSpPr>
              <a:spLocks noChangeShapeType="1"/>
            </p:cNvSpPr>
            <p:nvPr>
              <p:custDataLst>
                <p:tags r:id="rId97"/>
              </p:custDataLst>
            </p:nvPr>
          </p:nvSpPr>
          <p:spPr bwMode="auto">
            <a:xfrm flipV="1">
              <a:off x="4989" y="9071"/>
              <a:ext cx="68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triangle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88" name="Text Box 329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5669" y="8589"/>
              <a:ext cx="1644" cy="73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28800" rIns="18000" bIns="10800" anchor="t" anchorCtr="0"/>
            <a:p>
              <a:pPr>
                <a:lnSpc>
                  <a:spcPct val="90000"/>
                </a:lnSpc>
              </a:pPr>
              <a:r>
                <a:rPr lang="zh-CN" altLang="en-US" sz="14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命中</a:t>
              </a:r>
              <a:r>
                <a:rPr lang="en-US" altLang="zh-CN" sz="14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/</a:t>
              </a:r>
              <a:r>
                <a:rPr lang="zh-CN" altLang="en-US" sz="14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缺失</a:t>
              </a:r>
              <a:endParaRPr lang="en-US" altLang="zh-CN" sz="14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</a:pPr>
              <a:r>
                <a:rPr lang="zh-CN" altLang="en-US" sz="14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有</a:t>
              </a:r>
              <a:r>
                <a:rPr lang="en-US" altLang="zh-CN" sz="14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/</a:t>
              </a:r>
              <a:r>
                <a:rPr lang="zh-CN" altLang="en-US" sz="14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无</a:t>
              </a:r>
              <a:r>
                <a:rPr lang="zh-CN" altLang="en-US" sz="1400" b="1" u="none" dirty="0" smtClean="0">
                  <a:latin typeface="宋体" panose="02010600030101010101" pitchFamily="2" charset="-122"/>
                </a:rPr>
                <a:t>空闲行</a:t>
              </a:r>
              <a:endParaRPr lang="zh-CN" altLang="en-US" sz="1400" b="1" u="none" dirty="0" smtClean="0">
                <a:latin typeface="宋体" panose="02010600030101010101" pitchFamily="2" charset="-122"/>
              </a:endParaRPr>
            </a:p>
          </p:txBody>
        </p:sp>
      </p:grpSp>
      <p:sp>
        <p:nvSpPr>
          <p:cNvPr id="290" name="文本框 289"/>
          <p:cNvSpPr txBox="1"/>
          <p:nvPr/>
        </p:nvSpPr>
        <p:spPr>
          <a:xfrm>
            <a:off x="1908000" y="6048000"/>
            <a:ext cx="641731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200" b="1" u="none" spc="-100" dirty="0" smtClean="0">
                <a:latin typeface="宋体" panose="02010600030101010101" pitchFamily="2" charset="-122"/>
                <a:sym typeface="+mn-ea"/>
              </a:rPr>
              <a:t>块</a:t>
            </a:r>
            <a:r>
              <a:rPr lang="zh-CN" altLang="en-US" sz="2200" b="1" u="none" spc="-100" dirty="0" smtClean="0">
                <a:latin typeface="宋体" panose="02010600030101010101" pitchFamily="2" charset="-122"/>
                <a:sym typeface="+mn-ea"/>
              </a:rPr>
              <a:t>调入的</a:t>
            </a:r>
            <a:r>
              <a:rPr lang="zh-CN" altLang="en-US" sz="2200" b="1" spc="-100" dirty="0" smtClean="0">
                <a:solidFill>
                  <a:srgbClr val="990099"/>
                </a:solidFill>
                <a:sym typeface="+mn-ea"/>
              </a:rPr>
              <a:t>冲突率</a:t>
            </a:r>
            <a:r>
              <a:rPr lang="en-US" altLang="zh-CN" sz="1600" b="1" u="none" spc="-100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≠命中率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访问时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]</a:t>
            </a:r>
            <a:r>
              <a:rPr lang="en-US" altLang="zh-CN" sz="1600" b="1" u="none" spc="-100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spc="-100" dirty="0" smtClean="0">
                <a:sym typeface="+mn-ea"/>
              </a:rPr>
              <a:t>，查找</a:t>
            </a:r>
            <a:r>
              <a:rPr lang="zh-CN" altLang="en-US" sz="2200" b="1" u="none" spc="-100" dirty="0">
                <a:sym typeface="+mn-ea"/>
              </a:rPr>
              <a:t>的</a:t>
            </a:r>
            <a:r>
              <a:rPr lang="zh-CN" altLang="en-US" sz="2200" b="1" u="none" spc="-100" dirty="0">
                <a:solidFill>
                  <a:srgbClr val="990099"/>
                </a:solidFill>
                <a:sym typeface="+mn-ea"/>
              </a:rPr>
              <a:t>速度与成本</a:t>
            </a:r>
            <a:endParaRPr lang="zh-CN" altLang="en-US" sz="2200" b="1" u="none" spc="-100" dirty="0">
              <a:solidFill>
                <a:srgbClr val="990099"/>
              </a:solidFill>
              <a:sym typeface="+mn-ea"/>
            </a:endParaRPr>
          </a:p>
        </p:txBody>
      </p:sp>
      <p:sp>
        <p:nvSpPr>
          <p:cNvPr id="291" name="AutoShape 62">
            <a:hlinkClick r:id="rId99" action="ppaction://hlinksldjump"/>
          </p:cNvPr>
          <p:cNvSpPr>
            <a:spLocks noChangeArrowheads="1"/>
          </p:cNvSpPr>
          <p:nvPr>
            <p:custDataLst>
              <p:tags r:id="rId100"/>
            </p:custDataLst>
          </p:nvPr>
        </p:nvSpPr>
        <p:spPr bwMode="auto">
          <a:xfrm rot="16200000">
            <a:off x="406829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53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92" name="AutoShape 16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101"/>
            </p:custDataLst>
          </p:nvPr>
        </p:nvSpPr>
        <p:spPr bwMode="auto">
          <a:xfrm rot="10800000">
            <a:off x="514875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" grpId="0" bldLvl="0" animBg="1"/>
      <p:bldP spid="181" grpId="0" animBg="1"/>
      <p:bldP spid="29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B013C-6D66-4466-93B5-267E3532D361}" type="slidenum">
              <a:rPr lang="en-US" altLang="zh-CN"/>
            </a:fld>
            <a:endParaRPr lang="en-US" altLang="zh-CN" dirty="0"/>
          </a:p>
        </p:txBody>
      </p:sp>
      <p:sp>
        <p:nvSpPr>
          <p:cNvPr id="158017" name="AutoShape 32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302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018" name="AutoShape 322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302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Text Box 207"/>
          <p:cNvSpPr txBox="1">
            <a:spLocks noChangeArrowheads="1"/>
          </p:cNvSpPr>
          <p:nvPr/>
        </p:nvSpPr>
        <p:spPr bwMode="auto">
          <a:xfrm>
            <a:off x="179388" y="360000"/>
            <a:ext cx="8497068" cy="30149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060575" indent="-2060575"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、直接映射</a:t>
            </a:r>
            <a:r>
              <a:rPr lang="en-US" altLang="zh-CN" sz="1800" b="1" u="none" dirty="0" smtClean="0">
                <a:latin typeface="+mn-ea"/>
                <a:ea typeface="+mn-ea"/>
              </a:rPr>
              <a:t>(</a:t>
            </a:r>
            <a:r>
              <a:rPr lang="en-US" altLang="zh-CN" sz="1800" u="none" dirty="0" smtClean="0">
                <a:latin typeface="+mn-lt"/>
              </a:rPr>
              <a:t>Direct</a:t>
            </a:r>
            <a:r>
              <a:rPr lang="en-US" altLang="zh-CN" sz="1800" u="none" dirty="0" smtClean="0">
                <a:latin typeface="+mn-ea"/>
                <a:ea typeface="+mn-ea"/>
              </a:rPr>
              <a:t> </a:t>
            </a:r>
            <a:r>
              <a:rPr lang="en-US" altLang="zh-CN" sz="1800" u="none" dirty="0" smtClean="0">
                <a:latin typeface="+mn-lt"/>
              </a:rPr>
              <a:t>mapping</a:t>
            </a:r>
            <a:r>
              <a:rPr lang="en-US" altLang="zh-CN" sz="1800" b="1" u="none" dirty="0" smtClean="0">
                <a:latin typeface="+mn-ea"/>
                <a:ea typeface="+mn-ea"/>
              </a:rPr>
              <a:t>)</a:t>
            </a:r>
            <a:endParaRPr lang="zh-CN" altLang="en-US" sz="2200" b="1" u="none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 marL="2060575" indent="-2060575">
              <a:lnSpc>
                <a:spcPct val="125000"/>
              </a:lnSpc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*映射规则：</a:t>
            </a:r>
            <a:r>
              <a:rPr lang="zh-CN" altLang="en-US" sz="2200" b="1" u="none" spc="-50" dirty="0" smtClean="0">
                <a:latin typeface="宋体" panose="02010600030101010101" pitchFamily="2" charset="-122"/>
              </a:rPr>
              <a:t>主存块</a:t>
            </a:r>
            <a:r>
              <a:rPr lang="en-US" altLang="zh-CN" sz="2200" b="1" u="none" spc="-50" dirty="0" err="1" smtClean="0">
                <a:latin typeface="宋体" panose="02010600030101010101" pitchFamily="2" charset="-122"/>
              </a:rPr>
              <a:t>i</a:t>
            </a:r>
            <a:r>
              <a:rPr lang="zh-CN" altLang="en-US" sz="2200" b="1" u="none" spc="-50" dirty="0" smtClean="0">
                <a:latin typeface="宋体" panose="02010600030101010101" pitchFamily="2" charset="-122"/>
              </a:rPr>
              <a:t>可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放</a:t>
            </a:r>
            <a:r>
              <a:rPr lang="zh-CN" altLang="en-US" sz="2200" b="1" u="none" spc="-50" dirty="0" smtClean="0">
                <a:latin typeface="宋体" panose="02010600030101010101" pitchFamily="2" charset="-122"/>
              </a:rPr>
              <a:t>到</a:t>
            </a:r>
            <a:r>
              <a:rPr lang="en-US" altLang="zh-CN" sz="2200" b="1" u="none" spc="-50" dirty="0" smtClean="0">
                <a:latin typeface="宋体" panose="02010600030101010101" pitchFamily="2" charset="-122"/>
              </a:rPr>
              <a:t>Cache</a:t>
            </a:r>
            <a:r>
              <a:rPr lang="zh-CN" altLang="en-US" sz="2200" b="1" u="none" spc="-50" dirty="0" smtClean="0">
                <a:latin typeface="宋体" panose="02010600030101010101" pitchFamily="2" charset="-122"/>
              </a:rPr>
              <a:t>的</a:t>
            </a:r>
            <a:r>
              <a:rPr lang="zh-CN" altLang="en-US" sz="2200" b="1" spc="-5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某个</a:t>
            </a:r>
            <a:r>
              <a:rPr lang="zh-CN" altLang="en-US" sz="2200" b="1" u="none" spc="-50" dirty="0" smtClean="0">
                <a:latin typeface="宋体" panose="02010600030101010101" pitchFamily="2" charset="-122"/>
              </a:rPr>
              <a:t>行</a:t>
            </a:r>
            <a:r>
              <a:rPr lang="en-US" altLang="zh-CN" sz="2200" b="1" u="none" spc="-50" dirty="0" smtClean="0">
                <a:latin typeface="宋体" panose="02010600030101010101" pitchFamily="2" charset="-122"/>
              </a:rPr>
              <a:t>j</a:t>
            </a:r>
            <a:r>
              <a:rPr lang="zh-CN" altLang="en-US" sz="2200" b="1" u="none" spc="-50" dirty="0" smtClean="0">
                <a:latin typeface="宋体" panose="02010600030101010101" pitchFamily="2" charset="-122"/>
              </a:rPr>
              <a:t>中，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j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 err="1" smtClean="0">
                <a:latin typeface="宋体" panose="02010600030101010101" pitchFamily="2" charset="-122"/>
              </a:rPr>
              <a:t>i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mod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G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地址划分：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</a:pP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</a:pPr>
            <a:endParaRPr lang="en-US" altLang="zh-CN" sz="2000" b="1" u="none" dirty="0"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索引＝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标记＝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62" name="Text Box 6"/>
          <p:cNvSpPr txBox="1">
            <a:spLocks noChangeArrowheads="1"/>
          </p:cNvSpPr>
          <p:nvPr/>
        </p:nvSpPr>
        <p:spPr bwMode="auto">
          <a:xfrm>
            <a:off x="1620000" y="2413225"/>
            <a:ext cx="2952328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区内块号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(=log</a:t>
            </a:r>
            <a:r>
              <a:rPr lang="en-US" altLang="zh-CN" sz="1800" b="1" u="none" baseline="-22000" dirty="0" smtClean="0">
                <a:latin typeface="宋体" panose="02010600030101010101" pitchFamily="2" charset="-122"/>
              </a:rPr>
              <a:t>2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G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位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区号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(=log</a:t>
            </a:r>
            <a:r>
              <a:rPr lang="en-US" altLang="zh-CN" sz="1800" b="1" u="none" baseline="-25000" dirty="0" smtClean="0">
                <a:latin typeface="宋体" panose="02010600030101010101" pitchFamily="2" charset="-122"/>
              </a:rPr>
              <a:t>2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M-log</a:t>
            </a:r>
            <a:r>
              <a:rPr lang="en-US" altLang="zh-CN" sz="1800" b="1" u="none" baseline="-25000" dirty="0" smtClean="0">
                <a:latin typeface="宋体" panose="02010600030101010101" pitchFamily="2" charset="-122"/>
              </a:rPr>
              <a:t>2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G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位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2" name="Text Box 27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795510" y="1301145"/>
            <a:ext cx="1584000" cy="252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lIns="18000" tIns="17780" rIns="18000" bIns="0" anchor="ctr" anchorCtr="0"/>
          <a:p>
            <a:pPr marL="0" indent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none" dirty="0" smtClean="0">
                <a:latin typeface="宋体" panose="02010600030101010101" pitchFamily="2" charset="-122"/>
              </a:rPr>
              <a:t>候选行数＝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1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行</a:t>
            </a:r>
            <a:endParaRPr lang="zh-CN" altLang="en-US" sz="1800" b="1" u="none" dirty="0" smtClean="0">
              <a:latin typeface="宋体" panose="02010600030101010101" pitchFamily="2" charset="-122"/>
            </a:endParaRPr>
          </a:p>
        </p:txBody>
      </p:sp>
      <p:grpSp>
        <p:nvGrpSpPr>
          <p:cNvPr id="133" name="组合 132"/>
          <p:cNvGrpSpPr/>
          <p:nvPr/>
        </p:nvGrpSpPr>
        <p:grpSpPr>
          <a:xfrm>
            <a:off x="5435600" y="1264920"/>
            <a:ext cx="3599180" cy="2087880"/>
            <a:chOff x="8334" y="4365"/>
            <a:chExt cx="5668" cy="3288"/>
          </a:xfrm>
        </p:grpSpPr>
        <p:cxnSp>
          <p:nvCxnSpPr>
            <p:cNvPr id="134" name="直接箭头连接符 133"/>
            <p:cNvCxnSpPr/>
            <p:nvPr>
              <p:custDataLst>
                <p:tags r:id="rId3"/>
              </p:custDataLst>
            </p:nvPr>
          </p:nvCxnSpPr>
          <p:spPr bwMode="auto">
            <a:xfrm flipH="1">
              <a:off x="11055" y="4875"/>
              <a:ext cx="680" cy="45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5" name="直接箭头连接符 134"/>
            <p:cNvCxnSpPr/>
            <p:nvPr>
              <p:custDataLst>
                <p:tags r:id="rId4"/>
              </p:custDataLst>
            </p:nvPr>
          </p:nvCxnSpPr>
          <p:spPr bwMode="auto">
            <a:xfrm flipH="1" flipV="1">
              <a:off x="11056" y="5443"/>
              <a:ext cx="679" cy="147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36" name="Rectangle 38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9241" y="5215"/>
              <a:ext cx="737" cy="1531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 sz="2000"/>
            </a:p>
          </p:txBody>
        </p:sp>
        <p:sp>
          <p:nvSpPr>
            <p:cNvPr id="137" name="Text Box 39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334" y="6463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36195" bIns="0" anchor="ctr"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G-1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8" name="Text Box 40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9239" y="5212"/>
              <a:ext cx="1814" cy="153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标记</a:t>
              </a:r>
              <a:r>
                <a:rPr lang="zh-CN" altLang="en-US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数据块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9" name="Text Box 44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9581" y="4876"/>
              <a:ext cx="102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Cache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0" name="Text Box 45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0254" y="5499"/>
              <a:ext cx="34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1" name="Text Box 49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8334" y="5840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36195" bIns="0" anchor="ctr"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j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2" name="Text Box 50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8334" y="5211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36195" bIns="0" anchor="ctr"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43" name="直接箭头连接符 142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9241" y="5514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4" name="直接箭头连接符 143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9240" y="5840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5" name="直接箭头连接符 144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9240" y="6123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直接箭头连接符 145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9240" y="6463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7" name="Text Box 45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0261" y="6123"/>
              <a:ext cx="34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48" name="直接箭头连接符 147"/>
            <p:cNvCxnSpPr/>
            <p:nvPr>
              <p:custDataLst>
                <p:tags r:id="rId17"/>
              </p:custDataLst>
            </p:nvPr>
          </p:nvCxnSpPr>
          <p:spPr bwMode="auto">
            <a:xfrm flipH="1" flipV="1">
              <a:off x="11056" y="5386"/>
              <a:ext cx="679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49" name="Text Box 276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1736" y="6406"/>
              <a:ext cx="964" cy="39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0" name="Text Box 277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1736" y="4365"/>
              <a:ext cx="96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主存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1" name="AutoShape 297"/>
            <p:cNvSpPr/>
            <p:nvPr>
              <p:custDataLst>
                <p:tags r:id="rId20"/>
              </p:custDataLst>
            </p:nvPr>
          </p:nvSpPr>
          <p:spPr bwMode="auto">
            <a:xfrm>
              <a:off x="12699" y="6803"/>
              <a:ext cx="113" cy="850"/>
            </a:xfrm>
            <a:prstGeom prst="rightBrace">
              <a:avLst>
                <a:gd name="adj1" fmla="val 41944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52" name="Text Box 298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2756" y="7029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36195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区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M/G-1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3" name="AutoShape 274"/>
            <p:cNvSpPr/>
            <p:nvPr>
              <p:custDataLst>
                <p:tags r:id="rId22"/>
              </p:custDataLst>
            </p:nvPr>
          </p:nvSpPr>
          <p:spPr bwMode="auto">
            <a:xfrm>
              <a:off x="12699" y="4691"/>
              <a:ext cx="113" cy="850"/>
            </a:xfrm>
            <a:prstGeom prst="rightBrace">
              <a:avLst>
                <a:gd name="adj1" fmla="val 42037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54" name="Text Box 275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2756" y="4932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36195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区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5" name="Text Box 292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1735" y="4705"/>
              <a:ext cx="961" cy="850"/>
            </a:xfrm>
            <a:prstGeom prst="rect">
              <a:avLst/>
            </a:prstGeom>
            <a:solidFill>
              <a:srgbClr val="FFCC99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0" rIns="18000" bIns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G</a:t>
              </a: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-1</a:t>
              </a:r>
              <a:endParaRPr lang="en-US" altLang="zh-CN" sz="1600" b="1" u="none" baseline="30000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56" name="直接箭头连接符 155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11736" y="4988"/>
              <a:ext cx="96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直接箭头连接符 156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11735" y="5272"/>
              <a:ext cx="96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8" name="AutoShape 274"/>
            <p:cNvSpPr/>
            <p:nvPr>
              <p:custDataLst>
                <p:tags r:id="rId27"/>
              </p:custDataLst>
            </p:nvPr>
          </p:nvSpPr>
          <p:spPr bwMode="auto">
            <a:xfrm>
              <a:off x="12699" y="5555"/>
              <a:ext cx="113" cy="850"/>
            </a:xfrm>
            <a:prstGeom prst="rightBrace">
              <a:avLst>
                <a:gd name="adj1" fmla="val 42037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59" name="Text Box 275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2756" y="5796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36195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区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0" name="Text Box 292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1735" y="5555"/>
              <a:ext cx="961" cy="85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0" rIns="18000" bIns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G</a:t>
              </a: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-1</a:t>
              </a:r>
              <a:endParaRPr lang="en-US" altLang="zh-CN" sz="1600" b="1" u="none" baseline="30000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61" name="直接箭头连接符 160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11736" y="5852"/>
              <a:ext cx="96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2" name="直接箭头连接符 161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11735" y="6136"/>
              <a:ext cx="96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3" name="Text Box 292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1735" y="6803"/>
              <a:ext cx="961" cy="850"/>
            </a:xfrm>
            <a:prstGeom prst="rect">
              <a:avLst/>
            </a:prstGeom>
            <a:solidFill>
              <a:srgbClr val="FFCC99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0" rIns="18000" bIns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G</a:t>
              </a: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-1</a:t>
              </a:r>
              <a:endParaRPr lang="en-US" altLang="zh-CN" sz="1600" b="1" u="none" baseline="30000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64" name="直接箭头连接符 163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11736" y="7086"/>
              <a:ext cx="96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5" name="直接箭头连接符 164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11735" y="7370"/>
              <a:ext cx="96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7" name="组合 76"/>
          <p:cNvGrpSpPr/>
          <p:nvPr/>
        </p:nvGrpSpPr>
        <p:grpSpPr>
          <a:xfrm>
            <a:off x="1872000" y="1440000"/>
            <a:ext cx="3456305" cy="935990"/>
            <a:chOff x="680" y="6463"/>
            <a:chExt cx="5443" cy="1474"/>
          </a:xfrm>
        </p:grpSpPr>
        <p:sp>
          <p:nvSpPr>
            <p:cNvPr id="78" name="Text Box 246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4422" y="6463"/>
              <a:ext cx="1701" cy="68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9" name="Text Box 256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680" y="6463"/>
              <a:ext cx="794" cy="6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0" name="Text Box 257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2608" y="6803"/>
              <a:ext cx="181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区内块号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j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1" name="Text Box 258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474" y="6803"/>
              <a:ext cx="1134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区号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r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2" name="Text Box 263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4422" y="7597"/>
              <a:ext cx="1701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7" name="Text Box 264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2608" y="7597"/>
              <a:ext cx="181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号 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1" name="Text Box 265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1021" y="7597"/>
              <a:ext cx="158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Cache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3" name="Text Box 267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5103" y="7200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 anchorCtr="0"/>
            <a:p>
              <a:pPr algn="ctr"/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直接</a:t>
              </a:r>
              <a:endParaRPr lang="zh-CN" altLang="en-US" sz="16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4" name="Text Box 318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1474" y="6463"/>
              <a:ext cx="2948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115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主存块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号   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26" name="直接箭头连接符 125"/>
            <p:cNvCxnSpPr/>
            <p:nvPr>
              <p:custDataLst>
                <p:tags r:id="rId44"/>
              </p:custDataLst>
            </p:nvPr>
          </p:nvCxnSpPr>
          <p:spPr bwMode="auto">
            <a:xfrm>
              <a:off x="5103" y="7143"/>
              <a:ext cx="0" cy="454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27" name="组合 126"/>
          <p:cNvGrpSpPr/>
          <p:nvPr/>
        </p:nvGrpSpPr>
        <p:grpSpPr>
          <a:xfrm>
            <a:off x="3595370" y="1872000"/>
            <a:ext cx="504190" cy="504190"/>
            <a:chOff x="3402" y="7143"/>
            <a:chExt cx="794" cy="794"/>
          </a:xfrm>
        </p:grpSpPr>
        <p:sp>
          <p:nvSpPr>
            <p:cNvPr id="129" name="Text Box 267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3402" y="7200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 anchorCtr="0"/>
            <a:p>
              <a:pPr algn="ctr"/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直接</a:t>
              </a:r>
              <a:endParaRPr lang="zh-CN" altLang="en-US" sz="18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1" name="Text Box 267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3798" y="7597"/>
              <a:ext cx="34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 anchorCtr="0"/>
            <a:p>
              <a:pPr algn="ctr">
                <a:lnSpc>
                  <a:spcPct val="80000"/>
                </a:lnSpc>
              </a:pPr>
              <a:r>
                <a:rPr lang="en-US" altLang="zh-CN" sz="18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j</a:t>
              </a:r>
              <a:endParaRPr lang="zh-CN" altLang="en-US" sz="18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32" name="直接箭头连接符 131"/>
            <p:cNvCxnSpPr/>
            <p:nvPr>
              <p:custDataLst>
                <p:tags r:id="rId47"/>
              </p:custDataLst>
            </p:nvPr>
          </p:nvCxnSpPr>
          <p:spPr bwMode="auto">
            <a:xfrm>
              <a:off x="3402" y="7143"/>
              <a:ext cx="0" cy="454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76" name="Text Box 70"/>
          <p:cNvSpPr txBox="1">
            <a:spLocks noChangeArrowheads="1"/>
          </p:cNvSpPr>
          <p:nvPr/>
        </p:nvSpPr>
        <p:spPr bwMode="auto">
          <a:xfrm>
            <a:off x="394653" y="3348000"/>
            <a:ext cx="8532000" cy="30765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000" b="1" u="none" dirty="0">
                <a:latin typeface="宋体" panose="02010600030101010101" pitchFamily="2" charset="-122"/>
              </a:rPr>
              <a:t>主存按字节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编址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地址空间为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1M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，主存块</a:t>
            </a:r>
            <a:r>
              <a:rPr lang="zh-CN" altLang="en-US" sz="2000" b="1" u="none" dirty="0">
                <a:latin typeface="宋体" panose="02010600030101010101" pitchFamily="2" charset="-122"/>
              </a:rPr>
              <a:t>大小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16B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，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2000" b="1" u="none" dirty="0">
                <a:latin typeface="宋体" panose="02010600030101010101" pitchFamily="2" charset="-122"/>
              </a:rPr>
              <a:t>容量为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8KB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。采用</a:t>
            </a:r>
            <a:r>
              <a:rPr lang="zh-CN" altLang="en-US" sz="2000" b="1" u="none" dirty="0">
                <a:latin typeface="宋体" panose="02010600030101010101" pitchFamily="2" charset="-122"/>
              </a:rPr>
              <a:t>直接映射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方式时，⑴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行的标记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(</a:t>
            </a:r>
            <a:r>
              <a:rPr lang="en-US" altLang="zh-CN" sz="2000" b="1" u="none" dirty="0">
                <a:latin typeface="宋体" panose="02010600030101010101" pitchFamily="2" charset="-122"/>
              </a:rPr>
              <a:t>Tag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为几位？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⑵</a:t>
            </a:r>
            <a:r>
              <a:rPr lang="zh-CN" altLang="en-US" sz="2000" b="1" u="none" dirty="0">
                <a:latin typeface="宋体" panose="02010600030101010101" pitchFamily="2" charset="-122"/>
              </a:rPr>
              <a:t>访存地址为</a:t>
            </a:r>
            <a:r>
              <a:rPr lang="en-US" altLang="zh-CN" sz="2000" b="1" u="none" dirty="0">
                <a:latin typeface="宋体" panose="02010600030101010101" pitchFamily="2" charset="-122"/>
              </a:rPr>
              <a:t>36454H</a:t>
            </a:r>
            <a:r>
              <a:rPr lang="zh-CN" altLang="en-US" sz="2000" b="1" u="none" dirty="0">
                <a:latin typeface="宋体" panose="02010600030101010101" pitchFamily="2" charset="-122"/>
              </a:rPr>
              <a:t>时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，可能</a:t>
            </a:r>
            <a:r>
              <a:rPr lang="zh-CN" altLang="en-US" sz="2000" b="1" u="none" dirty="0">
                <a:latin typeface="宋体" panose="02010600030101010101" pitchFamily="2" charset="-122"/>
              </a:rPr>
              <a:t>命中的</a:t>
            </a:r>
            <a:r>
              <a:rPr lang="en-US" altLang="zh-CN" sz="20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2000" b="1" u="none" dirty="0">
                <a:latin typeface="宋体" panose="02010600030101010101" pitchFamily="2" charset="-122"/>
              </a:rPr>
              <a:t>行号？命中时目标行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的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V(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有效位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Tag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的值？</a:t>
            </a:r>
            <a:endParaRPr lang="zh-CN" altLang="en-US" sz="20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解</a:t>
            </a:r>
            <a:r>
              <a:rPr lang="zh-CN" altLang="en-US" sz="20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⑴</a:t>
            </a:r>
            <a:r>
              <a:rPr lang="zh-CN" altLang="en-US" sz="2000" b="1" u="none" spc="-50" dirty="0" smtClean="0">
                <a:latin typeface="宋体" panose="02010600030101010101" pitchFamily="2" charset="-122"/>
                <a:sym typeface="+mn-ea"/>
              </a:rPr>
              <a:t>主存</a:t>
            </a:r>
            <a:r>
              <a:rPr lang="zh-CN" altLang="en-US" sz="2000" b="1" u="none" spc="-50" dirty="0">
                <a:latin typeface="宋体" panose="02010600030101010101" pitchFamily="2" charset="-122"/>
                <a:sym typeface="+mn-ea"/>
              </a:rPr>
              <a:t>地址为</a:t>
            </a:r>
            <a:r>
              <a:rPr lang="en-US" altLang="zh-CN" sz="2000" b="1" spc="-50" dirty="0">
                <a:latin typeface="宋体" panose="02010600030101010101" pitchFamily="2" charset="-122"/>
                <a:sym typeface="+mn-ea"/>
              </a:rPr>
              <a:t>             </a:t>
            </a:r>
            <a:r>
              <a:rPr lang="zh-CN" altLang="en-US" sz="2000" b="1" u="none" spc="-50" dirty="0">
                <a:latin typeface="宋体" panose="02010600030101010101" pitchFamily="2" charset="-122"/>
                <a:sym typeface="+mn-ea"/>
              </a:rPr>
              <a:t>位，块内地址为</a:t>
            </a:r>
            <a:r>
              <a:rPr lang="en-US" altLang="zh-CN" sz="2000" b="1" spc="-50" dirty="0">
                <a:latin typeface="宋体" panose="02010600030101010101" pitchFamily="2" charset="-122"/>
                <a:sym typeface="+mn-ea"/>
              </a:rPr>
              <a:t>                </a:t>
            </a:r>
            <a:r>
              <a:rPr lang="zh-CN" altLang="en-US" sz="2000" b="1" u="none" spc="-50" dirty="0" smtClean="0">
                <a:latin typeface="宋体" panose="02010600030101010101" pitchFamily="2" charset="-122"/>
                <a:sym typeface="+mn-ea"/>
              </a:rPr>
              <a:t>位，</a:t>
            </a:r>
            <a:endParaRPr lang="en-US" altLang="zh-CN" sz="2000" b="1" u="none" spc="-50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          Cache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行号为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            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位，</a:t>
            </a:r>
            <a:r>
              <a:rPr lang="zh-CN" altLang="en-US" sz="2000" b="1" u="none" dirty="0" smtClean="0">
                <a:latin typeface="+mn-ea"/>
                <a:ea typeface="+mn-ea"/>
                <a:sym typeface="+mn-ea"/>
              </a:rPr>
              <a:t>标记</a:t>
            </a:r>
            <a:r>
              <a:rPr lang="zh-CN" altLang="en-US" sz="2000" b="1" u="none" spc="-50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spc="-50" dirty="0" smtClean="0"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2000" b="1" u="none" spc="-50" dirty="0" smtClean="0">
                <a:latin typeface="宋体" panose="02010600030101010101" pitchFamily="2" charset="-122"/>
                <a:sym typeface="+mn-ea"/>
              </a:rPr>
              <a:t>位；</a:t>
            </a:r>
            <a:endParaRPr lang="zh-CN" altLang="en-US" sz="2000" b="1" u="none" spc="-50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⑵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访存地址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36454H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dirty="0" smtClean="0">
                <a:sym typeface="+mn-ea"/>
              </a:rPr>
              <a:t> 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0011</a:t>
            </a:r>
            <a:r>
              <a:rPr lang="en-US" altLang="zh-CN" sz="2000" b="1" u="none" dirty="0">
                <a:sym typeface="+mn-ea"/>
              </a:rPr>
              <a:t> 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0110</a:t>
            </a:r>
            <a:r>
              <a:rPr lang="en-US" altLang="zh-CN" sz="2000" b="1" u="none" dirty="0">
                <a:sym typeface="+mn-ea"/>
              </a:rPr>
              <a:t> 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0100</a:t>
            </a:r>
            <a:r>
              <a:rPr lang="en-US" altLang="zh-CN" sz="2000" b="1" u="none" dirty="0">
                <a:sym typeface="+mn-ea"/>
              </a:rPr>
              <a:t> 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0101</a:t>
            </a:r>
            <a:r>
              <a:rPr lang="en-US" altLang="zh-CN" sz="2000" b="1" u="none" dirty="0">
                <a:sym typeface="+mn-ea"/>
              </a:rPr>
              <a:t> 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0100</a:t>
            </a:r>
            <a:r>
              <a:rPr lang="en-US" altLang="zh-CN" sz="2000" b="1" u="none" baseline="-18000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B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，</a:t>
            </a:r>
            <a:endParaRPr lang="en-US" altLang="zh-CN" sz="20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可能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命中的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行号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             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，</a:t>
            </a:r>
            <a:endParaRPr lang="en-US" altLang="zh-CN" sz="20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命中时目标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行的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V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Tag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。</a:t>
            </a:r>
            <a:endParaRPr lang="zh-CN" altLang="en-US" sz="2000" b="1" u="none" dirty="0" smtClean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6" name="Text Box 169"/>
          <p:cNvSpPr txBox="1"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2952115" y="4392295"/>
            <a:ext cx="5535930" cy="20148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spc="-50" dirty="0">
                <a:latin typeface="宋体" panose="02010600030101010101" pitchFamily="2" charset="-122"/>
                <a:sym typeface="+mn-ea"/>
              </a:rPr>
              <a:t>log</a:t>
            </a:r>
            <a:r>
              <a:rPr lang="en-US" altLang="zh-CN" sz="2000" b="1" u="none" spc="-50" baseline="-18000" dirty="0"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2000" b="1" u="none" spc="-50" dirty="0">
                <a:latin typeface="宋体" panose="02010600030101010101" pitchFamily="2" charset="-122"/>
                <a:sym typeface="+mn-ea"/>
              </a:rPr>
              <a:t>(1M)</a:t>
            </a:r>
            <a:r>
              <a:rPr lang="zh-CN" altLang="en-US" sz="2000" b="1" u="none" spc="-50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spc="-50" dirty="0">
                <a:latin typeface="宋体" panose="02010600030101010101" pitchFamily="2" charset="-122"/>
                <a:sym typeface="+mn-ea"/>
              </a:rPr>
              <a:t>20                log</a:t>
            </a:r>
            <a:r>
              <a:rPr lang="en-US" altLang="zh-CN" sz="2000" b="1" u="none" spc="-50" baseline="-18000" dirty="0"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2000" b="1" u="none" spc="-50" dirty="0">
                <a:latin typeface="宋体" panose="02010600030101010101" pitchFamily="2" charset="-122"/>
                <a:sym typeface="+mn-ea"/>
              </a:rPr>
              <a:t>(16B/1B)</a:t>
            </a:r>
            <a:r>
              <a:rPr lang="zh-CN" altLang="en-US" sz="2000" b="1" u="none" spc="-50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spc="-50" dirty="0">
                <a:latin typeface="宋体" panose="02010600030101010101" pitchFamily="2" charset="-122"/>
                <a:sym typeface="+mn-ea"/>
              </a:rPr>
              <a:t>4</a:t>
            </a:r>
            <a:endParaRPr lang="en-US" altLang="zh-CN" sz="2000" b="1" u="none" spc="-5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log</a:t>
            </a:r>
            <a:r>
              <a:rPr lang="en-US" altLang="zh-CN" sz="2000" b="1" u="none" baseline="-18000" dirty="0" smtClean="0"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(8KB/16B)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9           20-4-9</a:t>
            </a:r>
            <a:r>
              <a:rPr lang="zh-CN" altLang="en-US" sz="2000" b="1" u="none" spc="-50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spc="-50" dirty="0">
                <a:latin typeface="宋体" panose="02010600030101010101" pitchFamily="2" charset="-122"/>
                <a:sym typeface="+mn-ea"/>
              </a:rPr>
              <a:t>7</a:t>
            </a:r>
            <a:endParaRPr lang="en-US" altLang="zh-CN" sz="2000" b="1" u="none" spc="-5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u="none" dirty="0" smtClean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          </a:t>
            </a:r>
            <a:r>
              <a:rPr lang="en-US" altLang="zh-CN" sz="1600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000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000" b="1" u="none" dirty="0" smtClean="0">
                <a:solidFill>
                  <a:srgbClr val="CC3300"/>
                </a:solidFill>
              </a:rPr>
              <a:t> </a:t>
            </a:r>
            <a:r>
              <a:rPr lang="en-US" altLang="zh-CN" sz="2000" b="1" u="none" dirty="0">
                <a:solidFill>
                  <a:srgbClr val="CC3300"/>
                </a:solidFill>
                <a:latin typeface="宋体" panose="02010600030101010101" pitchFamily="2" charset="-122"/>
              </a:rPr>
              <a:t>0100</a:t>
            </a:r>
            <a:r>
              <a:rPr lang="en-US" altLang="zh-CN" sz="2000" b="1" u="none" dirty="0">
                <a:solidFill>
                  <a:srgbClr val="CC3300"/>
                </a:solidFill>
              </a:rPr>
              <a:t> </a:t>
            </a:r>
            <a:r>
              <a:rPr lang="en-US" altLang="zh-CN" sz="2000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0101B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045H</a:t>
            </a:r>
            <a:endParaRPr lang="zh-CN" altLang="en-US" sz="20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1      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20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0011</a:t>
            </a:r>
            <a:r>
              <a:rPr lang="en-US" altLang="zh-CN" sz="2000" b="1" u="none" dirty="0" smtClean="0">
                <a:solidFill>
                  <a:srgbClr val="990099"/>
                </a:solidFill>
                <a:sym typeface="+mn-ea"/>
              </a:rPr>
              <a:t> </a:t>
            </a:r>
            <a:r>
              <a:rPr lang="en-US" altLang="zh-CN" sz="20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011B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1BH</a:t>
            </a:r>
            <a:endParaRPr lang="en-US" altLang="zh-CN" sz="2000" b="1" u="none" dirty="0" smtClean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469131" name="AutoShape 139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9"/>
            </p:custDataLst>
          </p:nvPr>
        </p:nvSpPr>
        <p:spPr bwMode="auto">
          <a:xfrm rot="5400000">
            <a:off x="5148000" y="6525889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16C3A-F5DB-4C6B-A704-10B2F3A2938D}" type="slidenum">
              <a:rPr lang="en-US" altLang="zh-CN"/>
            </a:fld>
            <a:endParaRPr lang="en-US" altLang="zh-CN"/>
          </a:p>
        </p:txBody>
      </p:sp>
      <p:sp>
        <p:nvSpPr>
          <p:cNvPr id="469131" name="AutoShape 13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16510" y="6525889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9132" name="AutoShape 14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302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Text Box 2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32740"/>
            <a:ext cx="4149725" cy="53619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地址变换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候选行只有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1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行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查找方法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查找处理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数据访问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映射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性能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60905" y="764540"/>
            <a:ext cx="6800215" cy="13614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46800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用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个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比较器进行比较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命中条件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为候选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行的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V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Tag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＝主存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地址中区号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；</a:t>
            </a: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有空闲行条件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为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候选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行的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V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0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空闲行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＝候选行</a:t>
            </a: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7" name="Text Box 371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08980" y="4716000"/>
            <a:ext cx="6663055" cy="1245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3324225" indent="-3324225"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  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变换时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读缓存块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仅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1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个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变换后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读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/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写存储单元</a:t>
            </a: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 marL="3324225" indent="-3324225"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冲突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率</a:t>
            </a:r>
            <a:r>
              <a:rPr lang="zh-CN" altLang="en-US" sz="22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最高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，地址变换速度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最快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、成本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最低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endParaRPr lang="en-US" altLang="zh-CN" sz="22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3324225" indent="-3324225">
              <a:lnSpc>
                <a:spcPct val="125000"/>
              </a:lnSpc>
            </a:pPr>
            <a:r>
              <a:rPr lang="en-US" altLang="zh-CN" sz="1600" u="none" dirty="0" smtClean="0"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16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思考：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为什么？怎么优化？</a:t>
            </a:r>
            <a:endParaRPr lang="zh-CN" altLang="en-US" sz="16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907703" y="2556000"/>
            <a:ext cx="3176385" cy="1224136"/>
            <a:chOff x="1979711" y="3357016"/>
            <a:chExt cx="3176385" cy="1224136"/>
          </a:xfrm>
        </p:grpSpPr>
        <p:cxnSp>
          <p:nvCxnSpPr>
            <p:cNvPr id="9" name="直接箭头连接符 158"/>
            <p:cNvCxnSpPr/>
            <p:nvPr>
              <p:custDataLst>
                <p:tags r:id="rId4"/>
              </p:custDataLst>
            </p:nvPr>
          </p:nvCxnSpPr>
          <p:spPr bwMode="auto">
            <a:xfrm rot="16200000" flipH="1">
              <a:off x="1637711" y="3987009"/>
              <a:ext cx="828000" cy="144000"/>
            </a:xfrm>
            <a:prstGeom prst="bentConnector3">
              <a:avLst>
                <a:gd name="adj1" fmla="val 99947"/>
              </a:avLst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" name="Text Box 309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190151" y="4365152"/>
              <a:ext cx="648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zh-CN" altLang="en-US" sz="1800" b="1" u="none" dirty="0"/>
            </a:p>
          </p:txBody>
        </p:sp>
        <p:sp>
          <p:nvSpPr>
            <p:cNvPr id="11" name="AutoShape 178"/>
            <p:cNvSpPr/>
            <p:nvPr>
              <p:custDataLst>
                <p:tags r:id="rId6"/>
              </p:custDataLst>
            </p:nvPr>
          </p:nvSpPr>
          <p:spPr bwMode="auto">
            <a:xfrm>
              <a:off x="2123728" y="4365152"/>
              <a:ext cx="72008" cy="216000"/>
            </a:xfrm>
            <a:prstGeom prst="leftBrace">
              <a:avLst>
                <a:gd name="adj1" fmla="val 67222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2" name="Line 121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 flipH="1">
              <a:off x="1988096" y="3645048"/>
              <a:ext cx="3168000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3" name="Line 121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 flipH="1">
              <a:off x="5148064" y="3357016"/>
              <a:ext cx="0" cy="28800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123727" y="2916000"/>
            <a:ext cx="4104417" cy="1296173"/>
            <a:chOff x="2195735" y="3645048"/>
            <a:chExt cx="4104417" cy="1296173"/>
          </a:xfrm>
        </p:grpSpPr>
        <p:sp>
          <p:nvSpPr>
            <p:cNvPr id="15" name="Text Box 275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195735" y="3861072"/>
              <a:ext cx="72072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" name="Text Box 276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195736" y="4725144"/>
              <a:ext cx="72072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baseline="30000" dirty="0">
                  <a:latin typeface="宋体" panose="02010600030101010101" pitchFamily="2" charset="-122"/>
                </a:rPr>
                <a:t>c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7" name="Text Box 277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195736" y="4293096"/>
              <a:ext cx="72072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j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" name="Text Box 290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499992" y="3861048"/>
              <a:ext cx="576000" cy="1080000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9" name="Text Box 278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916461" y="3861048"/>
              <a:ext cx="648000" cy="108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20" name="Text Box 279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916152" y="3645048"/>
              <a:ext cx="338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u="none" dirty="0" smtClean="0">
                  <a:latin typeface="宋体" panose="02010600030101010101" pitchFamily="2" charset="-122"/>
                </a:rPr>
                <a:t>有效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V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  标记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Tag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  状态    缓存块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1" name="Text Box 280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147593" y="3861048"/>
              <a:ext cx="1152000" cy="108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zh-CN" altLang="zh-CN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22" name="Line 281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5148064" y="4077072"/>
              <a:ext cx="11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3" name="Line 282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5148064" y="4293096"/>
              <a:ext cx="11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4" name="Line 283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5148064" y="4509120"/>
              <a:ext cx="11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" name="Line 284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5148064" y="4725144"/>
              <a:ext cx="11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6" name="Line 285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5364088" y="3861221"/>
              <a:ext cx="0" cy="10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7" name="Line 286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6084168" y="3861168"/>
              <a:ext cx="0" cy="10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8" name="Text Box 290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563984" y="3861048"/>
              <a:ext cx="936000" cy="1080000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80000"/>
                </a:lnSpc>
              </a:pP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29" name="Line 291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2916461" y="4077072"/>
              <a:ext cx="216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0" name="Line 292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 flipV="1">
              <a:off x="2916461" y="4293096"/>
              <a:ext cx="216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1" name="Line 293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 flipV="1">
              <a:off x="2916461" y="4509120"/>
              <a:ext cx="216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2" name="Line 294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>
              <a:off x="2916461" y="4725144"/>
              <a:ext cx="216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3" name="Text Box 295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923960" y="4077096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60000"/>
                </a:lnSpc>
              </a:pPr>
              <a:r>
                <a:rPr lang="en-US" altLang="zh-CN" sz="1600" b="1" u="none" dirty="0"/>
                <a:t>…</a:t>
              </a:r>
              <a:endParaRPr lang="en-US" altLang="zh-CN" sz="1600" b="1" u="none" dirty="0"/>
            </a:p>
          </p:txBody>
        </p:sp>
        <p:sp>
          <p:nvSpPr>
            <p:cNvPr id="34" name="Text Box 297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3132361" y="3861048"/>
              <a:ext cx="187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      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      s3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5" name="Text Box 298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3132361" y="4293096"/>
              <a:ext cx="187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       </a:t>
              </a: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i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  s0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6" name="Text Box 299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132361" y="4725144"/>
              <a:ext cx="187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      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b      s1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7" name="Text Box 295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923928" y="4509144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60000"/>
                </a:lnSpc>
              </a:pPr>
              <a:r>
                <a:rPr lang="en-US" altLang="zh-CN" sz="1600" b="1" u="none" dirty="0"/>
                <a:t>…</a:t>
              </a:r>
              <a:endParaRPr lang="en-US" altLang="zh-CN" sz="1600" b="1" u="none" dirty="0"/>
            </a:p>
          </p:txBody>
        </p:sp>
        <p:sp>
          <p:nvSpPr>
            <p:cNvPr id="38" name="Text Box 295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652152" y="4077096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60000"/>
                </a:lnSpc>
              </a:pPr>
              <a:r>
                <a:rPr lang="en-US" altLang="zh-CN" sz="1600" b="1" u="none" dirty="0"/>
                <a:t>…</a:t>
              </a:r>
              <a:endParaRPr lang="en-US" altLang="zh-CN" sz="1600" b="1" u="none" dirty="0"/>
            </a:p>
          </p:txBody>
        </p:sp>
        <p:sp>
          <p:nvSpPr>
            <p:cNvPr id="39" name="Text Box 295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5652152" y="4509144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60000"/>
                </a:lnSpc>
              </a:pPr>
              <a:r>
                <a:rPr lang="en-US" altLang="zh-CN" sz="1600" b="1" u="none" dirty="0"/>
                <a:t>…</a:t>
              </a:r>
              <a:endParaRPr lang="en-US" altLang="zh-CN" sz="1600" b="1" u="none" dirty="0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305707" y="2124000"/>
            <a:ext cx="3498541" cy="648048"/>
            <a:chOff x="3305707" y="1844824"/>
            <a:chExt cx="3498541" cy="648048"/>
          </a:xfrm>
        </p:grpSpPr>
        <p:sp>
          <p:nvSpPr>
            <p:cNvPr id="41" name="Text Box 382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5724248" y="1844848"/>
              <a:ext cx="1080000" cy="43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2" name="Text Box 383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3305707" y="1844848"/>
              <a:ext cx="546151" cy="43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主存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3" name="Text Box 384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4571904" y="2060824"/>
              <a:ext cx="115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区内块号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g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4" name="Text Box 385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3852184" y="2060824"/>
              <a:ext cx="72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区号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r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5" name="Text Box 257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3851920" y="1844824"/>
              <a:ext cx="1872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主存</a:t>
              </a:r>
              <a:r>
                <a:rPr lang="zh-CN" altLang="en-US" sz="1400" b="1" u="none" dirty="0" smtClean="0">
                  <a:latin typeface="宋体" panose="02010600030101010101" pitchFamily="2" charset="-122"/>
                </a:rPr>
                <a:t>块号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6" name="Text Box 255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5148064" y="2261769"/>
              <a:ext cx="43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索引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7" name="Text Box 255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4139952" y="2276872"/>
              <a:ext cx="43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标记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5508200" y="2556000"/>
            <a:ext cx="2376168" cy="2160240"/>
            <a:chOff x="5508200" y="2204864"/>
            <a:chExt cx="2376168" cy="2160240"/>
          </a:xfrm>
        </p:grpSpPr>
        <p:sp>
          <p:nvSpPr>
            <p:cNvPr id="49" name="Line 121"/>
            <p:cNvSpPr>
              <a:spLocks noChangeShapeType="1"/>
            </p:cNvSpPr>
            <p:nvPr>
              <p:custDataLst>
                <p:tags r:id="rId41"/>
              </p:custDataLst>
            </p:nvPr>
          </p:nvSpPr>
          <p:spPr bwMode="auto">
            <a:xfrm flipH="1">
              <a:off x="5580040" y="3861056"/>
              <a:ext cx="0" cy="3600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50" name="等腰三角形 49"/>
            <p:cNvSpPr/>
            <p:nvPr>
              <p:custDataLst>
                <p:tags r:id="rId42"/>
              </p:custDataLst>
            </p:nvPr>
          </p:nvSpPr>
          <p:spPr bwMode="auto">
            <a:xfrm rot="5400000">
              <a:off x="5508200" y="4005080"/>
              <a:ext cx="144000" cy="144000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" name="Line 121"/>
            <p:cNvSpPr>
              <a:spLocks noChangeShapeType="1"/>
            </p:cNvSpPr>
            <p:nvPr>
              <p:custDataLst>
                <p:tags r:id="rId43"/>
              </p:custDataLst>
            </p:nvPr>
          </p:nvSpPr>
          <p:spPr bwMode="auto">
            <a:xfrm>
              <a:off x="5580208" y="4221040"/>
              <a:ext cx="864000" cy="4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52" name="Text Box 306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6444208" y="3861104"/>
              <a:ext cx="144000" cy="504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270" lIns="18000" tIns="10800" rIns="18000" bIns="10800" anchor="ctr"/>
            <a:p>
              <a:pPr algn="ctr"/>
              <a:r>
                <a:rPr lang="en-US" altLang="zh-CN" sz="1400" b="1" u="none" dirty="0" smtClean="0">
                  <a:latin typeface="宋体" panose="02010600030101010101" pitchFamily="2" charset="-122"/>
                </a:rPr>
                <a:t>…</a:t>
              </a:r>
              <a:endParaRPr lang="zh-CN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3" name="Line 311"/>
            <p:cNvSpPr>
              <a:spLocks noChangeShapeType="1"/>
            </p:cNvSpPr>
            <p:nvPr>
              <p:custDataLst>
                <p:tags r:id="rId45"/>
              </p:custDataLst>
            </p:nvPr>
          </p:nvSpPr>
          <p:spPr bwMode="auto">
            <a:xfrm>
              <a:off x="6444223" y="3987387"/>
              <a:ext cx="14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54" name="Line 311"/>
            <p:cNvSpPr>
              <a:spLocks noChangeShapeType="1"/>
            </p:cNvSpPr>
            <p:nvPr>
              <p:custDataLst>
                <p:tags r:id="rId46"/>
              </p:custDataLst>
            </p:nvPr>
          </p:nvSpPr>
          <p:spPr bwMode="auto">
            <a:xfrm>
              <a:off x="6444223" y="4224155"/>
              <a:ext cx="14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55" name="Text Box 120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6868144" y="3861048"/>
              <a:ext cx="216000" cy="50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270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+mn-ea"/>
                  <a:ea typeface="+mn-ea"/>
                </a:rPr>
                <a:t>MUX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56" name="Text Box 136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6588320" y="4005008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vert270" wrap="none"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7" name="Line 121"/>
            <p:cNvSpPr>
              <a:spLocks noChangeShapeType="1"/>
            </p:cNvSpPr>
            <p:nvPr>
              <p:custDataLst>
                <p:tags r:id="rId49"/>
              </p:custDataLst>
            </p:nvPr>
          </p:nvSpPr>
          <p:spPr bwMode="auto">
            <a:xfrm>
              <a:off x="6588328" y="3933000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58" name="Line 121"/>
            <p:cNvSpPr>
              <a:spLocks noChangeShapeType="1"/>
            </p:cNvSpPr>
            <p:nvPr>
              <p:custDataLst>
                <p:tags r:id="rId50"/>
              </p:custDataLst>
            </p:nvPr>
          </p:nvSpPr>
          <p:spPr bwMode="auto">
            <a:xfrm>
              <a:off x="6588296" y="4293040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59" name="Text Box 329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7380368" y="4004928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数据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0" name="Line 154"/>
            <p:cNvSpPr>
              <a:spLocks noChangeShapeType="1"/>
            </p:cNvSpPr>
            <p:nvPr>
              <p:custDataLst>
                <p:tags r:id="rId52"/>
              </p:custDataLst>
            </p:nvPr>
          </p:nvSpPr>
          <p:spPr bwMode="auto">
            <a:xfrm flipH="1">
              <a:off x="6984256" y="2348880"/>
              <a:ext cx="0" cy="1512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61" name="Line 121"/>
            <p:cNvSpPr>
              <a:spLocks noChangeShapeType="1"/>
            </p:cNvSpPr>
            <p:nvPr>
              <p:custDataLst>
                <p:tags r:id="rId53"/>
              </p:custDataLst>
            </p:nvPr>
          </p:nvSpPr>
          <p:spPr bwMode="auto">
            <a:xfrm flipV="1">
              <a:off x="7092296" y="4113048"/>
              <a:ext cx="288000" cy="16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none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62" name="Line 121"/>
            <p:cNvSpPr>
              <a:spLocks noChangeShapeType="1"/>
            </p:cNvSpPr>
            <p:nvPr>
              <p:custDataLst>
                <p:tags r:id="rId54"/>
              </p:custDataLst>
            </p:nvPr>
          </p:nvSpPr>
          <p:spPr bwMode="auto">
            <a:xfrm flipH="1">
              <a:off x="6228280" y="2204864"/>
              <a:ext cx="0" cy="144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63" name="Line 121"/>
            <p:cNvSpPr>
              <a:spLocks noChangeShapeType="1"/>
            </p:cNvSpPr>
            <p:nvPr>
              <p:custDataLst>
                <p:tags r:id="rId55"/>
              </p:custDataLst>
            </p:nvPr>
          </p:nvSpPr>
          <p:spPr bwMode="auto">
            <a:xfrm>
              <a:off x="6228184" y="2348880"/>
              <a:ext cx="756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89" name="组合 288"/>
          <p:cNvGrpSpPr/>
          <p:nvPr/>
        </p:nvGrpSpPr>
        <p:grpSpPr>
          <a:xfrm>
            <a:off x="1797050" y="2556050"/>
            <a:ext cx="3743960" cy="2105660"/>
            <a:chOff x="1587" y="6010"/>
            <a:chExt cx="5896" cy="3316"/>
          </a:xfrm>
        </p:grpSpPr>
        <p:sp>
          <p:nvSpPr>
            <p:cNvPr id="255" name="Text Box 358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3742" y="8788"/>
              <a:ext cx="1247" cy="51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/>
                <a:t>比较器</a:t>
              </a:r>
              <a:endParaRPr lang="zh-CN" altLang="en-US" sz="1600" b="1" u="none" dirty="0"/>
            </a:p>
          </p:txBody>
        </p:sp>
        <p:sp>
          <p:nvSpPr>
            <p:cNvPr id="256" name="Line 360"/>
            <p:cNvSpPr>
              <a:spLocks noChangeShapeType="1"/>
            </p:cNvSpPr>
            <p:nvPr>
              <p:custDataLst>
                <p:tags r:id="rId57"/>
              </p:custDataLst>
            </p:nvPr>
          </p:nvSpPr>
          <p:spPr bwMode="auto">
            <a:xfrm flipH="1">
              <a:off x="4763" y="7768"/>
              <a:ext cx="0" cy="102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7" name="Line 361"/>
            <p:cNvSpPr>
              <a:spLocks noChangeShapeType="1"/>
            </p:cNvSpPr>
            <p:nvPr>
              <p:custDataLst>
                <p:tags r:id="rId58"/>
              </p:custDataLst>
            </p:nvPr>
          </p:nvSpPr>
          <p:spPr bwMode="auto">
            <a:xfrm>
              <a:off x="4139" y="7768"/>
              <a:ext cx="0" cy="102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cxnSp>
          <p:nvCxnSpPr>
            <p:cNvPr id="258" name="直接箭头连接符 69"/>
            <p:cNvCxnSpPr/>
            <p:nvPr>
              <p:custDataLst>
                <p:tags r:id="rId59"/>
              </p:custDataLst>
            </p:nvPr>
          </p:nvCxnSpPr>
          <p:spPr bwMode="auto">
            <a:xfrm>
              <a:off x="4989" y="8902"/>
              <a:ext cx="249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59" name="Line 121"/>
            <p:cNvSpPr>
              <a:spLocks noChangeShapeType="1"/>
            </p:cNvSpPr>
            <p:nvPr>
              <p:custDataLst>
                <p:tags r:id="rId60"/>
              </p:custDataLst>
            </p:nvPr>
          </p:nvSpPr>
          <p:spPr bwMode="auto">
            <a:xfrm flipH="1">
              <a:off x="1587" y="9128"/>
              <a:ext cx="2154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triangle"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60" name="Line 121"/>
            <p:cNvSpPr>
              <a:spLocks noChangeShapeType="1"/>
            </p:cNvSpPr>
            <p:nvPr>
              <p:custDataLst>
                <p:tags r:id="rId61"/>
              </p:custDataLst>
            </p:nvPr>
          </p:nvSpPr>
          <p:spPr bwMode="auto">
            <a:xfrm flipH="1" flipV="1">
              <a:off x="1587" y="6237"/>
              <a:ext cx="0" cy="2891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61" name="Line 121"/>
            <p:cNvSpPr>
              <a:spLocks noChangeShapeType="1"/>
            </p:cNvSpPr>
            <p:nvPr>
              <p:custDataLst>
                <p:tags r:id="rId62"/>
              </p:custDataLst>
            </p:nvPr>
          </p:nvSpPr>
          <p:spPr bwMode="auto">
            <a:xfrm flipH="1">
              <a:off x="5277" y="6010"/>
              <a:ext cx="0" cy="227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62" name="Line 121"/>
            <p:cNvSpPr>
              <a:spLocks noChangeShapeType="1"/>
            </p:cNvSpPr>
            <p:nvPr>
              <p:custDataLst>
                <p:tags r:id="rId63"/>
              </p:custDataLst>
            </p:nvPr>
          </p:nvSpPr>
          <p:spPr bwMode="auto">
            <a:xfrm flipH="1">
              <a:off x="1587" y="6237"/>
              <a:ext cx="3685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64" name="Line 360"/>
            <p:cNvSpPr>
              <a:spLocks noChangeShapeType="1"/>
            </p:cNvSpPr>
            <p:nvPr>
              <p:custDataLst>
                <p:tags r:id="rId64"/>
              </p:custDataLst>
            </p:nvPr>
          </p:nvSpPr>
          <p:spPr bwMode="auto">
            <a:xfrm flipV="1">
              <a:off x="3345" y="8901"/>
              <a:ext cx="39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65" name="Text Box 276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3118" y="8787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86" name="Line 363"/>
            <p:cNvSpPr>
              <a:spLocks noChangeShapeType="1"/>
            </p:cNvSpPr>
            <p:nvPr>
              <p:custDataLst>
                <p:tags r:id="rId66"/>
              </p:custDataLst>
            </p:nvPr>
          </p:nvSpPr>
          <p:spPr bwMode="auto">
            <a:xfrm flipV="1">
              <a:off x="4989" y="9241"/>
              <a:ext cx="68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prstDash val="sysDash"/>
              <a:round/>
              <a:tailEnd type="triangle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87" name="Line 363"/>
            <p:cNvSpPr>
              <a:spLocks noChangeShapeType="1"/>
            </p:cNvSpPr>
            <p:nvPr>
              <p:custDataLst>
                <p:tags r:id="rId67"/>
              </p:custDataLst>
            </p:nvPr>
          </p:nvSpPr>
          <p:spPr bwMode="auto">
            <a:xfrm flipV="1">
              <a:off x="4989" y="9071"/>
              <a:ext cx="68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triangle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88" name="Text Box 329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5669" y="8589"/>
              <a:ext cx="1644" cy="73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28800" rIns="18000" bIns="10800" anchor="t" anchorCtr="0"/>
            <a:p>
              <a:pPr>
                <a:lnSpc>
                  <a:spcPct val="90000"/>
                </a:lnSpc>
              </a:pPr>
              <a:r>
                <a:rPr lang="zh-CN" altLang="en-US" sz="14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命中</a:t>
              </a:r>
              <a:r>
                <a:rPr lang="en-US" altLang="zh-CN" sz="14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/</a:t>
              </a:r>
              <a:r>
                <a:rPr lang="zh-CN" altLang="en-US" sz="14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缺失</a:t>
              </a:r>
              <a:endParaRPr lang="en-US" altLang="zh-CN" sz="14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</a:pPr>
              <a:r>
                <a:rPr lang="zh-CN" altLang="en-US" sz="14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有</a:t>
              </a:r>
              <a:r>
                <a:rPr lang="en-US" altLang="zh-CN" sz="14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/</a:t>
              </a:r>
              <a:r>
                <a:rPr lang="zh-CN" altLang="en-US" sz="14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无</a:t>
              </a:r>
              <a:r>
                <a:rPr lang="zh-CN" altLang="en-US" sz="1400" b="1" u="none" dirty="0" smtClean="0">
                  <a:latin typeface="宋体" panose="02010600030101010101" pitchFamily="2" charset="-122"/>
                </a:rPr>
                <a:t>空闲行</a:t>
              </a:r>
              <a:endParaRPr lang="zh-CN" altLang="en-US" sz="1400" b="1" u="none" dirty="0" smtClean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2E60-756F-4736-B14E-A4E3BB6D91AA}" type="slidenum">
              <a:rPr lang="en-US" altLang="zh-CN"/>
            </a:fld>
            <a:endParaRPr lang="en-US" altLang="zh-CN"/>
          </a:p>
        </p:txBody>
      </p:sp>
      <p:sp>
        <p:nvSpPr>
          <p:cNvPr id="129" name="AutoShape 14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302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AutoShape 164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388" y="360000"/>
            <a:ext cx="8785100" cy="61493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060575" indent="-2060575"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、全相联映射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en-US" altLang="zh-CN" sz="1800" u="none" dirty="0"/>
              <a:t>Fully</a:t>
            </a:r>
            <a:r>
              <a:rPr lang="en-US" altLang="zh-CN" sz="1800" u="none" dirty="0">
                <a:latin typeface="+mn-ea"/>
                <a:ea typeface="+mn-ea"/>
              </a:rPr>
              <a:t> </a:t>
            </a:r>
            <a:r>
              <a:rPr lang="en-US" altLang="zh-CN" sz="1800" u="none" dirty="0"/>
              <a:t>associate</a:t>
            </a:r>
            <a:r>
              <a:rPr lang="en-US" altLang="zh-CN" sz="1800" u="none" dirty="0">
                <a:latin typeface="+mn-ea"/>
                <a:ea typeface="+mn-ea"/>
              </a:rPr>
              <a:t> </a:t>
            </a:r>
            <a:r>
              <a:rPr lang="en-US" altLang="zh-CN" sz="1800" u="none" dirty="0"/>
              <a:t>mapping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zh-CN" altLang="en-US" sz="2200" b="1" u="none" dirty="0"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映射规则：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2060575" indent="-2060575"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地址划分：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2060575" indent="-2060575">
              <a:lnSpc>
                <a:spcPct val="125000"/>
              </a:lnSpc>
            </a:pPr>
            <a:endParaRPr lang="zh-CN" altLang="en-US" sz="16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</a:pPr>
            <a:endParaRPr lang="zh-CN" altLang="en-US" sz="18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索引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18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200" b="1" u="none" baseline="-25000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标记＝</a:t>
            </a:r>
            <a:endParaRPr lang="zh-CN" altLang="en-US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地址变换： 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候选行有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G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[=Cache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行数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])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 marL="2060575" indent="-206057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查找方法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查找处理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</a:pPr>
            <a:endParaRPr lang="zh-CN" altLang="en-US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数据访问</a:t>
            </a:r>
            <a:r>
              <a:rPr lang="en-US" altLang="zh-CN" sz="20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0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060575" indent="-206057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映射性能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85315" y="774065"/>
            <a:ext cx="675068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060575" indent="-2060575"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主存块</a:t>
            </a:r>
            <a:r>
              <a:rPr lang="en-US" altLang="zh-CN" sz="2200" b="1" u="none" dirty="0" err="1">
                <a:latin typeface="宋体" panose="02010600030101010101" pitchFamily="2" charset="-122"/>
              </a:rPr>
              <a:t>i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可放到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任意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行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j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j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∈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{0,1,…,G-1}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 marL="2060575" indent="-206057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6" name="Group 75"/>
          <p:cNvGrpSpPr/>
          <p:nvPr/>
        </p:nvGrpSpPr>
        <p:grpSpPr bwMode="auto">
          <a:xfrm>
            <a:off x="2017225" y="1296000"/>
            <a:ext cx="3382963" cy="1009650"/>
            <a:chOff x="3379" y="799"/>
            <a:chExt cx="2131" cy="636"/>
          </a:xfrm>
        </p:grpSpPr>
        <p:sp>
          <p:nvSpPr>
            <p:cNvPr id="7" name="Line 11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5102" y="1072"/>
              <a:ext cx="0" cy="226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8" name="Text Box 12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102" y="1118"/>
              <a:ext cx="317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p>
              <a:pPr algn="ctr"/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直接</a:t>
              </a:r>
              <a:endParaRPr lang="zh-CN" altLang="en-US" sz="16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" name="Text Box 13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830" y="936"/>
              <a:ext cx="680" cy="136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" name="Line 14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4831" y="799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1" name="Line 18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 flipV="1">
              <a:off x="4422" y="845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2" name="Text Box 2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379" y="890"/>
              <a:ext cx="317" cy="27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2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696" y="936"/>
              <a:ext cx="1134" cy="136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主存块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号</a:t>
              </a:r>
              <a:r>
                <a:rPr lang="en-US" altLang="zh-CN" sz="1600" b="1" u="none" dirty="0" err="1">
                  <a:latin typeface="宋体" panose="02010600030101010101" pitchFamily="2" charset="-122"/>
                </a:rPr>
                <a:t>i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" name="Line 22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3696" y="799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5" name="Text Box 23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195" y="799"/>
              <a:ext cx="227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m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位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" name="Line 24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 flipH="1" flipV="1">
              <a:off x="3696" y="845"/>
              <a:ext cx="4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7" name="Text Box 25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830" y="1299"/>
              <a:ext cx="680" cy="136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" name="Text Box 26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105" y="1299"/>
              <a:ext cx="725" cy="136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行号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j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9" name="Text Box 2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470" y="1298"/>
              <a:ext cx="635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p>
              <a:pPr algn="ctr"/>
              <a:r>
                <a:rPr lang="en-US" altLang="zh-CN" sz="1600" b="1" u="none" dirty="0" smtClean="0">
                  <a:latin typeface="宋体" panose="02010600030101010101" pitchFamily="2" charset="-122"/>
                </a:rPr>
                <a:t>Cache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709225" y="1728000"/>
            <a:ext cx="720000" cy="360000"/>
            <a:chOff x="3059832" y="4066654"/>
            <a:chExt cx="720000" cy="360000"/>
          </a:xfrm>
        </p:grpSpPr>
        <p:sp>
          <p:nvSpPr>
            <p:cNvPr id="21" name="Text Box 267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059832" y="4138686"/>
              <a:ext cx="72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 anchorCtr="0"/>
            <a:p>
              <a:pPr algn="ctr"/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无关联</a:t>
              </a:r>
              <a:endParaRPr lang="zh-CN" altLang="en-US" sz="18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" name="Line 266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H="1">
              <a:off x="3059832" y="4066654"/>
              <a:ext cx="0" cy="36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sysDash"/>
              <a:round/>
              <a:headEnd type="triangle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</p:grpSp>
      <p:sp>
        <p:nvSpPr>
          <p:cNvPr id="23" name="Text Box 6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1621155" y="2268220"/>
            <a:ext cx="7343775" cy="13093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无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(=0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位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    </a:t>
            </a:r>
            <a:r>
              <a:rPr lang="en-US" altLang="zh-CN" sz="2200" b="1" u="none" baseline="-25000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主存</a:t>
            </a:r>
            <a:r>
              <a:rPr lang="zh-CN" altLang="en-US" sz="2200" b="1" u="none" dirty="0">
                <a:latin typeface="宋体" panose="02010600030101010101" pitchFamily="2" charset="-122"/>
              </a:rPr>
              <a:t>块号</a:t>
            </a:r>
            <a:r>
              <a:rPr lang="en-US" altLang="zh-CN" sz="1800" b="1" u="none" dirty="0">
                <a:latin typeface="宋体" panose="02010600030101010101" pitchFamily="2" charset="-122"/>
              </a:rPr>
              <a:t>(=m</a:t>
            </a:r>
            <a:r>
              <a:rPr lang="zh-CN" altLang="en-US" sz="1800" b="1" u="none" dirty="0">
                <a:latin typeface="宋体" panose="02010600030101010101" pitchFamily="2" charset="-122"/>
              </a:rPr>
              <a:t>位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用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G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个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比较器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同时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比较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T</a:t>
            </a:r>
            <a:r>
              <a:rPr lang="zh-CN" altLang="en-US" sz="1800" b="1" u="none" baseline="-16000" dirty="0" smtClean="0">
                <a:latin typeface="宋体" panose="02010600030101010101" pitchFamily="2" charset="-122"/>
                <a:sym typeface="+mn-ea"/>
              </a:rPr>
              <a:t>比较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800" u="none" dirty="0" err="1" smtClean="0">
                <a:sym typeface="+mn-ea"/>
              </a:rPr>
              <a:t>∆</a:t>
            </a:r>
            <a:r>
              <a:rPr lang="en-US" altLang="zh-CN" sz="1800" b="1" u="none" dirty="0" err="1" smtClean="0">
                <a:latin typeface="宋体" panose="02010600030101010101" pitchFamily="2" charset="-122"/>
                <a:sym typeface="+mn-ea"/>
              </a:rPr>
              <a:t>t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，肉疼；串行比较太慢</a:t>
            </a:r>
            <a:endParaRPr lang="zh-CN" altLang="en-US" sz="1800" b="1" u="none" dirty="0" smtClean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91" name="组合 90"/>
          <p:cNvGrpSpPr/>
          <p:nvPr/>
        </p:nvGrpSpPr>
        <p:grpSpPr>
          <a:xfrm>
            <a:off x="2808000" y="4140000"/>
            <a:ext cx="4896544" cy="504949"/>
            <a:chOff x="2555776" y="1484784"/>
            <a:chExt cx="4896544" cy="504949"/>
          </a:xfrm>
        </p:grpSpPr>
        <p:sp>
          <p:nvSpPr>
            <p:cNvPr id="92" name="Text Box 85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555816" y="1699915"/>
              <a:ext cx="360000" cy="288925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V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8" name="Text Box 93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2915816" y="1699915"/>
              <a:ext cx="720000" cy="28892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Tag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6" name="Text Box 94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635896" y="1699915"/>
              <a:ext cx="1080000" cy="28892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缓存块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7" name="Text Box 110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860032" y="1700808"/>
              <a:ext cx="288000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…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8" name="Text Box 85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292240" y="1700808"/>
              <a:ext cx="360000" cy="288925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V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9" name="Text Box 93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5652240" y="1700808"/>
              <a:ext cx="720000" cy="28892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Tag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0" name="Text Box 94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6372320" y="1700808"/>
              <a:ext cx="1080000" cy="28892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缓存块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1" name="Text Box 324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420120" y="1484808"/>
              <a:ext cx="4318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2" name="Text Box 325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084232" y="1484784"/>
              <a:ext cx="64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G-1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3" name="Line 327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2559753" y="1484784"/>
              <a:ext cx="0" cy="18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14" name="Line 328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>
              <a:off x="4716016" y="1484784"/>
              <a:ext cx="0" cy="18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15" name="Line 329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3888016" y="1591652"/>
              <a:ext cx="82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16" name="Line 331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 flipH="1">
              <a:off x="5292080" y="1484784"/>
              <a:ext cx="0" cy="18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17" name="Line 332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7452320" y="1484784"/>
              <a:ext cx="0" cy="18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18" name="Line 333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>
              <a:off x="6732240" y="1591651"/>
              <a:ext cx="72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19" name="Line 334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 flipH="1">
              <a:off x="5292080" y="1591651"/>
              <a:ext cx="72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20" name="Line 334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 flipH="1">
              <a:off x="2555776" y="1592792"/>
              <a:ext cx="82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21" name="组合 120"/>
          <p:cNvGrpSpPr/>
          <p:nvPr/>
        </p:nvGrpSpPr>
        <p:grpSpPr>
          <a:xfrm>
            <a:off x="3096000" y="3672000"/>
            <a:ext cx="3815725" cy="432048"/>
            <a:chOff x="612259" y="3068960"/>
            <a:chExt cx="3815725" cy="432048"/>
          </a:xfrm>
        </p:grpSpPr>
        <p:sp>
          <p:nvSpPr>
            <p:cNvPr id="24" name="Text Box 13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3348484" y="3070424"/>
              <a:ext cx="1079500" cy="2159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3" name="Text Box 21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548259" y="3070424"/>
              <a:ext cx="1800225" cy="2159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主存块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号</a:t>
              </a:r>
              <a:r>
                <a:rPr lang="en-US" altLang="zh-CN" sz="1600" b="1" u="none" dirty="0" err="1">
                  <a:latin typeface="宋体" panose="02010600030101010101" pitchFamily="2" charset="-122"/>
                </a:rPr>
                <a:t>i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4" name="Text Box 27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612259" y="3068960"/>
              <a:ext cx="9360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主存地址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5" name="Text Box 255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2555776" y="3285008"/>
              <a:ext cx="43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标记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2628000" y="3888000"/>
            <a:ext cx="4680264" cy="1368000"/>
            <a:chOff x="2375936" y="1808816"/>
            <a:chExt cx="4680264" cy="1368000"/>
          </a:xfrm>
        </p:grpSpPr>
        <p:sp>
          <p:nvSpPr>
            <p:cNvPr id="127" name="Text Box 358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2699896" y="2708816"/>
              <a:ext cx="936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/>
                <a:t>比较器</a:t>
              </a:r>
              <a:endParaRPr lang="zh-CN" altLang="en-US" sz="1600" b="1" u="none" dirty="0"/>
            </a:p>
          </p:txBody>
        </p:sp>
        <p:sp>
          <p:nvSpPr>
            <p:cNvPr id="128" name="Line 360"/>
            <p:cNvSpPr>
              <a:spLocks noChangeShapeType="1"/>
            </p:cNvSpPr>
            <p:nvPr>
              <p:custDataLst>
                <p:tags r:id="rId42"/>
              </p:custDataLst>
            </p:nvPr>
          </p:nvSpPr>
          <p:spPr bwMode="auto">
            <a:xfrm flipH="1">
              <a:off x="3491880" y="2492928"/>
              <a:ext cx="0" cy="216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" name="Line 361"/>
            <p:cNvSpPr>
              <a:spLocks noChangeShapeType="1"/>
            </p:cNvSpPr>
            <p:nvPr>
              <p:custDataLst>
                <p:tags r:id="rId43"/>
              </p:custDataLst>
            </p:nvPr>
          </p:nvSpPr>
          <p:spPr bwMode="auto">
            <a:xfrm>
              <a:off x="2807415" y="2493032"/>
              <a:ext cx="0" cy="216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cxnSp>
          <p:nvCxnSpPr>
            <p:cNvPr id="130" name="直接箭头连接符 69"/>
            <p:cNvCxnSpPr/>
            <p:nvPr>
              <p:custDataLst>
                <p:tags r:id="rId44"/>
              </p:custDataLst>
            </p:nvPr>
          </p:nvCxnSpPr>
          <p:spPr bwMode="auto">
            <a:xfrm>
              <a:off x="3635952" y="2780816"/>
              <a:ext cx="68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1" name="Line 121"/>
            <p:cNvSpPr>
              <a:spLocks noChangeShapeType="1"/>
            </p:cNvSpPr>
            <p:nvPr>
              <p:custDataLst>
                <p:tags r:id="rId45"/>
              </p:custDataLst>
            </p:nvPr>
          </p:nvSpPr>
          <p:spPr bwMode="auto">
            <a:xfrm flipH="1">
              <a:off x="2375936" y="3176816"/>
              <a:ext cx="38880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32" name="Line 121"/>
            <p:cNvSpPr>
              <a:spLocks noChangeShapeType="1"/>
            </p:cNvSpPr>
            <p:nvPr>
              <p:custDataLst>
                <p:tags r:id="rId46"/>
              </p:custDataLst>
            </p:nvPr>
          </p:nvSpPr>
          <p:spPr bwMode="auto">
            <a:xfrm flipH="1" flipV="1">
              <a:off x="2375936" y="1952816"/>
              <a:ext cx="0" cy="1224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33" name="Line 121"/>
            <p:cNvSpPr>
              <a:spLocks noChangeShapeType="1"/>
            </p:cNvSpPr>
            <p:nvPr>
              <p:custDataLst>
                <p:tags r:id="rId47"/>
              </p:custDataLst>
            </p:nvPr>
          </p:nvSpPr>
          <p:spPr bwMode="auto">
            <a:xfrm flipH="1">
              <a:off x="4752200" y="1808816"/>
              <a:ext cx="0" cy="144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34" name="Line 121"/>
            <p:cNvSpPr>
              <a:spLocks noChangeShapeType="1"/>
            </p:cNvSpPr>
            <p:nvPr>
              <p:custDataLst>
                <p:tags r:id="rId48"/>
              </p:custDataLst>
            </p:nvPr>
          </p:nvSpPr>
          <p:spPr bwMode="auto">
            <a:xfrm flipH="1">
              <a:off x="2375936" y="1952816"/>
              <a:ext cx="23760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35" name="Line 360"/>
            <p:cNvSpPr>
              <a:spLocks noChangeShapeType="1"/>
            </p:cNvSpPr>
            <p:nvPr>
              <p:custDataLst>
                <p:tags r:id="rId49"/>
              </p:custDataLst>
            </p:nvPr>
          </p:nvSpPr>
          <p:spPr bwMode="auto">
            <a:xfrm flipH="1" flipV="1">
              <a:off x="3491880" y="2924816"/>
              <a:ext cx="0" cy="252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36" name="Line 360"/>
            <p:cNvSpPr>
              <a:spLocks noChangeShapeType="1"/>
            </p:cNvSpPr>
            <p:nvPr>
              <p:custDataLst>
                <p:tags r:id="rId50"/>
              </p:custDataLst>
            </p:nvPr>
          </p:nvSpPr>
          <p:spPr bwMode="auto">
            <a:xfrm flipH="1" flipV="1">
              <a:off x="2807984" y="2924816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37" name="Text Box 276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2447944" y="2960816"/>
              <a:ext cx="144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8" name="Line 360"/>
            <p:cNvSpPr>
              <a:spLocks noChangeShapeType="1"/>
            </p:cNvSpPr>
            <p:nvPr>
              <p:custDataLst>
                <p:tags r:id="rId52"/>
              </p:custDataLst>
            </p:nvPr>
          </p:nvSpPr>
          <p:spPr bwMode="auto">
            <a:xfrm flipV="1">
              <a:off x="2591960" y="3068816"/>
              <a:ext cx="29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39" name="Text Box 358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5436096" y="2708816"/>
              <a:ext cx="936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/>
                <a:t>比较器</a:t>
              </a:r>
              <a:endParaRPr lang="zh-CN" altLang="en-US" sz="1600" b="1" u="none" dirty="0"/>
            </a:p>
          </p:txBody>
        </p:sp>
        <p:sp>
          <p:nvSpPr>
            <p:cNvPr id="140" name="Line 360"/>
            <p:cNvSpPr>
              <a:spLocks noChangeShapeType="1"/>
            </p:cNvSpPr>
            <p:nvPr>
              <p:custDataLst>
                <p:tags r:id="rId54"/>
              </p:custDataLst>
            </p:nvPr>
          </p:nvSpPr>
          <p:spPr bwMode="auto">
            <a:xfrm flipH="1">
              <a:off x="6264112" y="2492896"/>
              <a:ext cx="0" cy="216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41" name="Line 361"/>
            <p:cNvSpPr>
              <a:spLocks noChangeShapeType="1"/>
            </p:cNvSpPr>
            <p:nvPr>
              <p:custDataLst>
                <p:tags r:id="rId55"/>
              </p:custDataLst>
            </p:nvPr>
          </p:nvSpPr>
          <p:spPr bwMode="auto">
            <a:xfrm>
              <a:off x="5579647" y="2493000"/>
              <a:ext cx="0" cy="216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42" name="Line 360"/>
            <p:cNvSpPr>
              <a:spLocks noChangeShapeType="1"/>
            </p:cNvSpPr>
            <p:nvPr>
              <p:custDataLst>
                <p:tags r:id="rId56"/>
              </p:custDataLst>
            </p:nvPr>
          </p:nvSpPr>
          <p:spPr bwMode="auto">
            <a:xfrm flipH="1" flipV="1">
              <a:off x="6263936" y="2924816"/>
              <a:ext cx="0" cy="252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43" name="Line 360"/>
            <p:cNvSpPr>
              <a:spLocks noChangeShapeType="1"/>
            </p:cNvSpPr>
            <p:nvPr>
              <p:custDataLst>
                <p:tags r:id="rId57"/>
              </p:custDataLst>
            </p:nvPr>
          </p:nvSpPr>
          <p:spPr bwMode="auto">
            <a:xfrm flipH="1" flipV="1">
              <a:off x="5580216" y="2924816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cxnSp>
          <p:nvCxnSpPr>
            <p:cNvPr id="144" name="直接箭头连接符 69"/>
            <p:cNvCxnSpPr/>
            <p:nvPr>
              <p:custDataLst>
                <p:tags r:id="rId58"/>
              </p:custDataLst>
            </p:nvPr>
          </p:nvCxnSpPr>
          <p:spPr bwMode="auto">
            <a:xfrm>
              <a:off x="6372200" y="2780816"/>
              <a:ext cx="68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5" name="Text Box 110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4860032" y="2708816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…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54" name="组合 153"/>
          <p:cNvGrpSpPr/>
          <p:nvPr/>
        </p:nvGrpSpPr>
        <p:grpSpPr>
          <a:xfrm>
            <a:off x="4536000" y="3888000"/>
            <a:ext cx="4392110" cy="1980232"/>
            <a:chOff x="4283984" y="1880816"/>
            <a:chExt cx="4392110" cy="1980232"/>
          </a:xfrm>
        </p:grpSpPr>
        <p:sp>
          <p:nvSpPr>
            <p:cNvPr id="155" name="Line 121"/>
            <p:cNvSpPr>
              <a:spLocks noChangeShapeType="1"/>
            </p:cNvSpPr>
            <p:nvPr>
              <p:custDataLst>
                <p:tags r:id="rId60"/>
              </p:custDataLst>
            </p:nvPr>
          </p:nvSpPr>
          <p:spPr bwMode="auto">
            <a:xfrm flipH="1">
              <a:off x="4355824" y="2636816"/>
              <a:ext cx="0" cy="9360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56" name="等腰三角形 155"/>
            <p:cNvSpPr/>
            <p:nvPr>
              <p:custDataLst>
                <p:tags r:id="rId61"/>
              </p:custDataLst>
            </p:nvPr>
          </p:nvSpPr>
          <p:spPr bwMode="auto">
            <a:xfrm rot="5400000">
              <a:off x="4283984" y="2780944"/>
              <a:ext cx="144000" cy="144000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7" name="Line 121"/>
            <p:cNvSpPr>
              <a:spLocks noChangeShapeType="1"/>
            </p:cNvSpPr>
            <p:nvPr>
              <p:custDataLst>
                <p:tags r:id="rId62"/>
              </p:custDataLst>
            </p:nvPr>
          </p:nvSpPr>
          <p:spPr bwMode="auto">
            <a:xfrm>
              <a:off x="4356072" y="3572968"/>
              <a:ext cx="2952000" cy="4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58" name="Text Box 306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7308304" y="3357048"/>
              <a:ext cx="144000" cy="504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270" lIns="18000" tIns="10800" rIns="18000" bIns="10800" anchor="ctr"/>
            <a:p>
              <a:pPr algn="ctr"/>
              <a:r>
                <a:rPr lang="en-US" altLang="zh-CN" sz="1400" b="1" u="none" dirty="0" smtClean="0">
                  <a:latin typeface="宋体" panose="02010600030101010101" pitchFamily="2" charset="-122"/>
                </a:rPr>
                <a:t>…</a:t>
              </a:r>
              <a:endParaRPr lang="zh-CN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9" name="Line 311"/>
            <p:cNvSpPr>
              <a:spLocks noChangeShapeType="1"/>
            </p:cNvSpPr>
            <p:nvPr>
              <p:custDataLst>
                <p:tags r:id="rId64"/>
              </p:custDataLst>
            </p:nvPr>
          </p:nvSpPr>
          <p:spPr bwMode="auto">
            <a:xfrm>
              <a:off x="7308319" y="3483331"/>
              <a:ext cx="14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60" name="Line 311"/>
            <p:cNvSpPr>
              <a:spLocks noChangeShapeType="1"/>
            </p:cNvSpPr>
            <p:nvPr>
              <p:custDataLst>
                <p:tags r:id="rId65"/>
              </p:custDataLst>
            </p:nvPr>
          </p:nvSpPr>
          <p:spPr bwMode="auto">
            <a:xfrm>
              <a:off x="7308319" y="3720099"/>
              <a:ext cx="14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61" name="Text Box 120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7732240" y="3356992"/>
              <a:ext cx="216000" cy="50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270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+mn-ea"/>
                  <a:ea typeface="+mn-ea"/>
                </a:rPr>
                <a:t>MUX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162" name="Text Box 136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7452416" y="3500952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vert270" wrap="none"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3" name="Line 121"/>
            <p:cNvSpPr>
              <a:spLocks noChangeShapeType="1"/>
            </p:cNvSpPr>
            <p:nvPr>
              <p:custDataLst>
                <p:tags r:id="rId68"/>
              </p:custDataLst>
            </p:nvPr>
          </p:nvSpPr>
          <p:spPr bwMode="auto">
            <a:xfrm>
              <a:off x="7452424" y="3428944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64" name="Line 121"/>
            <p:cNvSpPr>
              <a:spLocks noChangeShapeType="1"/>
            </p:cNvSpPr>
            <p:nvPr>
              <p:custDataLst>
                <p:tags r:id="rId69"/>
              </p:custDataLst>
            </p:nvPr>
          </p:nvSpPr>
          <p:spPr bwMode="auto">
            <a:xfrm>
              <a:off x="7452392" y="3788984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65" name="Text Box 329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8172094" y="3500872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数据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6" name="Line 154"/>
            <p:cNvSpPr>
              <a:spLocks noChangeShapeType="1"/>
            </p:cNvSpPr>
            <p:nvPr>
              <p:custDataLst>
                <p:tags r:id="rId71"/>
              </p:custDataLst>
            </p:nvPr>
          </p:nvSpPr>
          <p:spPr bwMode="auto">
            <a:xfrm flipH="1">
              <a:off x="7848448" y="2024817"/>
              <a:ext cx="0" cy="1332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67" name="Line 121"/>
            <p:cNvSpPr>
              <a:spLocks noChangeShapeType="1"/>
            </p:cNvSpPr>
            <p:nvPr>
              <p:custDataLst>
                <p:tags r:id="rId72"/>
              </p:custDataLst>
            </p:nvPr>
          </p:nvSpPr>
          <p:spPr bwMode="auto">
            <a:xfrm flipV="1">
              <a:off x="7956392" y="3608992"/>
              <a:ext cx="216000" cy="16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none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68" name="Line 121"/>
            <p:cNvSpPr>
              <a:spLocks noChangeShapeType="1"/>
            </p:cNvSpPr>
            <p:nvPr>
              <p:custDataLst>
                <p:tags r:id="rId73"/>
              </p:custDataLst>
            </p:nvPr>
          </p:nvSpPr>
          <p:spPr bwMode="auto">
            <a:xfrm flipH="1">
              <a:off x="7092128" y="2636816"/>
              <a:ext cx="0" cy="9360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69" name="等腰三角形 168"/>
            <p:cNvSpPr/>
            <p:nvPr>
              <p:custDataLst>
                <p:tags r:id="rId74"/>
              </p:custDataLst>
            </p:nvPr>
          </p:nvSpPr>
          <p:spPr bwMode="auto">
            <a:xfrm rot="5400000">
              <a:off x="7020288" y="2780944"/>
              <a:ext cx="144000" cy="144000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0" name="Line 121"/>
            <p:cNvSpPr>
              <a:spLocks noChangeShapeType="1"/>
            </p:cNvSpPr>
            <p:nvPr>
              <p:custDataLst>
                <p:tags r:id="rId75"/>
              </p:custDataLst>
            </p:nvPr>
          </p:nvSpPr>
          <p:spPr bwMode="auto">
            <a:xfrm flipH="1">
              <a:off x="6228280" y="1880816"/>
              <a:ext cx="0" cy="144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71" name="Line 121"/>
            <p:cNvSpPr>
              <a:spLocks noChangeShapeType="1"/>
            </p:cNvSpPr>
            <p:nvPr>
              <p:custDataLst>
                <p:tags r:id="rId76"/>
              </p:custDataLst>
            </p:nvPr>
          </p:nvSpPr>
          <p:spPr bwMode="auto">
            <a:xfrm>
              <a:off x="6228184" y="2024817"/>
              <a:ext cx="1620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3960000" y="4860000"/>
            <a:ext cx="2808312" cy="1116000"/>
            <a:chOff x="2951640" y="3501016"/>
            <a:chExt cx="2808312" cy="1116000"/>
          </a:xfrm>
        </p:grpSpPr>
        <p:cxnSp>
          <p:nvCxnSpPr>
            <p:cNvPr id="178" name="直接箭头连接符 157"/>
            <p:cNvCxnSpPr/>
            <p:nvPr>
              <p:custDataLst>
                <p:tags r:id="rId77"/>
              </p:custDataLst>
            </p:nvPr>
          </p:nvCxnSpPr>
          <p:spPr bwMode="auto">
            <a:xfrm flipH="1">
              <a:off x="3023645" y="3501016"/>
              <a:ext cx="3" cy="61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179" name="Text Box 329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2951640" y="4113016"/>
              <a:ext cx="504056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400" b="1" u="none" dirty="0" smtClean="0">
                  <a:latin typeface="宋体" panose="02010600030101010101" pitchFamily="2" charset="-122"/>
                </a:rPr>
                <a:t>≥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0" name="Line 121"/>
            <p:cNvSpPr>
              <a:spLocks noChangeShapeType="1"/>
            </p:cNvSpPr>
            <p:nvPr>
              <p:custDataLst>
                <p:tags r:id="rId79"/>
              </p:custDataLst>
            </p:nvPr>
          </p:nvSpPr>
          <p:spPr bwMode="auto">
            <a:xfrm>
              <a:off x="3383688" y="3969016"/>
              <a:ext cx="0" cy="144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81" name="Text Box 136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3095656" y="3897016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2" name="Line 121"/>
            <p:cNvSpPr>
              <a:spLocks noChangeShapeType="1"/>
            </p:cNvSpPr>
            <p:nvPr>
              <p:custDataLst>
                <p:tags r:id="rId81"/>
              </p:custDataLst>
            </p:nvPr>
          </p:nvSpPr>
          <p:spPr bwMode="auto">
            <a:xfrm flipH="1">
              <a:off x="3383896" y="3969016"/>
              <a:ext cx="23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83" name="Line 121"/>
            <p:cNvSpPr>
              <a:spLocks noChangeShapeType="1"/>
            </p:cNvSpPr>
            <p:nvPr>
              <p:custDataLst>
                <p:tags r:id="rId82"/>
              </p:custDataLst>
            </p:nvPr>
          </p:nvSpPr>
          <p:spPr bwMode="auto">
            <a:xfrm>
              <a:off x="5759952" y="3501016"/>
              <a:ext cx="0" cy="46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84" name="Line 121"/>
            <p:cNvSpPr>
              <a:spLocks noChangeShapeType="1"/>
            </p:cNvSpPr>
            <p:nvPr>
              <p:custDataLst>
                <p:tags r:id="rId83"/>
              </p:custDataLst>
            </p:nvPr>
          </p:nvSpPr>
          <p:spPr bwMode="auto">
            <a:xfrm>
              <a:off x="3167664" y="4329016"/>
              <a:ext cx="0" cy="28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85" name="Text Box 329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3239672" y="4401016"/>
              <a:ext cx="1008112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命中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缺失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</p:grpSp>
      <p:sp>
        <p:nvSpPr>
          <p:cNvPr id="445" name="Text Box 371"/>
          <p:cNvSpPr txBox="1">
            <a:spLocks noChangeArrowheads="1"/>
          </p:cNvSpPr>
          <p:nvPr>
            <p:custDataLst>
              <p:tags r:id="rId85"/>
            </p:custDataLst>
          </p:nvPr>
        </p:nvSpPr>
        <p:spPr bwMode="auto">
          <a:xfrm>
            <a:off x="1835150" y="5976000"/>
            <a:ext cx="605917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3324225" indent="-3324225"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冲突</a:t>
            </a:r>
            <a:r>
              <a:rPr lang="zh-CN" altLang="en-US" sz="2200" b="1" u="none" dirty="0">
                <a:latin typeface="宋体" panose="02010600030101010101" pitchFamily="2" charset="-122"/>
              </a:rPr>
              <a:t>率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最低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，地址变换速度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较快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、成本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最高</a:t>
            </a:r>
            <a:endParaRPr lang="zh-CN" altLang="en-US" sz="2200" b="1" u="sng" dirty="0" smtClean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5796915" y="1368000"/>
            <a:ext cx="2807335" cy="1548765"/>
            <a:chOff x="9581" y="1984"/>
            <a:chExt cx="4421" cy="2439"/>
          </a:xfrm>
        </p:grpSpPr>
        <p:sp>
          <p:nvSpPr>
            <p:cNvPr id="70" name="Text Box 29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12982" y="2042"/>
              <a:ext cx="102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主存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1" name="Text Box 33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12982" y="2382"/>
              <a:ext cx="1020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3" name="Text Box 34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12982" y="4083"/>
              <a:ext cx="1020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r>
                <a:rPr lang="en-US" altLang="zh-CN" sz="1800" b="1" u="none" baseline="30000" dirty="0"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4" name="Text Box 35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12982" y="2722"/>
              <a:ext cx="1020" cy="45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>
                  <a:latin typeface="Times New Roman" panose="02020603050405020304"/>
                </a:rPr>
                <a:t>…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75" name="Text Box 36"/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12982" y="3516"/>
              <a:ext cx="1020" cy="56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>
                  <a:latin typeface="Times New Roman" panose="02020603050405020304"/>
                </a:rPr>
                <a:t>…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76" name="Text Box 37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12982" y="3175"/>
              <a:ext cx="1020" cy="34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en-US" altLang="zh-CN" sz="1600" b="1" u="none" dirty="0" err="1">
                  <a:latin typeface="宋体" panose="02010600030101010101" pitchFamily="2" charset="-122"/>
                </a:rPr>
                <a:t>i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77" name="直接箭头连接符 76"/>
            <p:cNvCxnSpPr/>
            <p:nvPr>
              <p:custDataLst>
                <p:tags r:id="rId92"/>
              </p:custDataLst>
            </p:nvPr>
          </p:nvCxnSpPr>
          <p:spPr bwMode="auto">
            <a:xfrm flipH="1" flipV="1">
              <a:off x="12302" y="3005"/>
              <a:ext cx="68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8" name="直接箭头连接符 77"/>
            <p:cNvCxnSpPr/>
            <p:nvPr>
              <p:custDataLst>
                <p:tags r:id="rId93"/>
              </p:custDataLst>
            </p:nvPr>
          </p:nvCxnSpPr>
          <p:spPr bwMode="auto">
            <a:xfrm flipH="1">
              <a:off x="12302" y="3346"/>
              <a:ext cx="680" cy="85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9" name="Rectangle 38"/>
            <p:cNvSpPr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10488" y="2833"/>
              <a:ext cx="737" cy="1531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 sz="2000"/>
            </a:p>
          </p:txBody>
        </p:sp>
        <p:sp>
          <p:nvSpPr>
            <p:cNvPr id="80" name="Text Box 39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9581" y="4081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36195" bIns="0" anchor="ctr"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G-1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1" name="Text Box 40"/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10486" y="2830"/>
              <a:ext cx="1814" cy="153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标记</a:t>
              </a:r>
              <a:r>
                <a:rPr lang="zh-CN" altLang="en-US" sz="16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数据块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2" name="Text Box 44"/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10828" y="2494"/>
              <a:ext cx="102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Cache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4" name="Text Box 45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11501" y="3117"/>
              <a:ext cx="34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7" name="Text Box 49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9581" y="3458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36195" bIns="0" anchor="ctr"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j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9" name="Text Box 50"/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9581" y="2829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36195" bIns="0" anchor="ctr"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60" name="直接箭头连接符 59"/>
            <p:cNvCxnSpPr/>
            <p:nvPr>
              <p:custDataLst>
                <p:tags r:id="rId101"/>
              </p:custDataLst>
            </p:nvPr>
          </p:nvCxnSpPr>
          <p:spPr bwMode="auto">
            <a:xfrm flipV="1">
              <a:off x="10488" y="3132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直接箭头连接符 60"/>
            <p:cNvCxnSpPr/>
            <p:nvPr>
              <p:custDataLst>
                <p:tags r:id="rId102"/>
              </p:custDataLst>
            </p:nvPr>
          </p:nvCxnSpPr>
          <p:spPr bwMode="auto">
            <a:xfrm flipV="1">
              <a:off x="10487" y="3458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直接箭头连接符 61"/>
            <p:cNvCxnSpPr/>
            <p:nvPr>
              <p:custDataLst>
                <p:tags r:id="rId103"/>
              </p:custDataLst>
            </p:nvPr>
          </p:nvCxnSpPr>
          <p:spPr bwMode="auto">
            <a:xfrm flipV="1">
              <a:off x="10487" y="3741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直接箭头连接符 62"/>
            <p:cNvCxnSpPr/>
            <p:nvPr>
              <p:custDataLst>
                <p:tags r:id="rId104"/>
              </p:custDataLst>
            </p:nvPr>
          </p:nvCxnSpPr>
          <p:spPr bwMode="auto">
            <a:xfrm flipV="1">
              <a:off x="10487" y="4081"/>
              <a:ext cx="181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4" name="Text Box 45"/>
            <p:cNvSpPr txBox="1">
              <a:spLocks noChangeArrowheads="1"/>
            </p:cNvSpPr>
            <p:nvPr>
              <p:custDataLst>
                <p:tags r:id="rId105"/>
              </p:custDataLst>
            </p:nvPr>
          </p:nvSpPr>
          <p:spPr bwMode="auto">
            <a:xfrm>
              <a:off x="11508" y="3741"/>
              <a:ext cx="34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65" name="直接箭头连接符 64"/>
            <p:cNvCxnSpPr/>
            <p:nvPr>
              <p:custDataLst>
                <p:tags r:id="rId106"/>
              </p:custDataLst>
            </p:nvPr>
          </p:nvCxnSpPr>
          <p:spPr bwMode="auto">
            <a:xfrm flipH="1">
              <a:off x="12302" y="3345"/>
              <a:ext cx="680" cy="28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66" name="Text Box 270"/>
            <p:cNvSpPr txBox="1">
              <a:spLocks noChangeArrowheads="1"/>
            </p:cNvSpPr>
            <p:nvPr>
              <p:custDataLst>
                <p:tags r:id="rId107"/>
              </p:custDataLst>
            </p:nvPr>
          </p:nvSpPr>
          <p:spPr bwMode="auto">
            <a:xfrm>
              <a:off x="10144" y="1984"/>
              <a:ext cx="2494" cy="454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候选行数＝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G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行</a:t>
              </a:r>
              <a:endParaRPr lang="zh-CN" altLang="en-US" sz="1800" b="1" u="none" dirty="0" smtClean="0">
                <a:latin typeface="宋体" panose="02010600030101010101" pitchFamily="2" charset="-122"/>
              </a:endParaRPr>
            </a:p>
          </p:txBody>
        </p:sp>
      </p:grpSp>
      <p:sp>
        <p:nvSpPr>
          <p:cNvPr id="232" name="Text Box 76"/>
          <p:cNvSpPr txBox="1">
            <a:spLocks noChangeArrowheads="1"/>
          </p:cNvSpPr>
          <p:nvPr>
            <p:custDataLst>
              <p:tags r:id="rId108"/>
            </p:custDataLst>
          </p:nvPr>
        </p:nvSpPr>
        <p:spPr bwMode="auto">
          <a:xfrm>
            <a:off x="360000" y="4176000"/>
            <a:ext cx="1915795" cy="50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21615" indent="-221615"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可能有多行命中吗？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26" name="Text Box 76"/>
          <p:cNvSpPr txBox="1">
            <a:spLocks noChangeArrowheads="1"/>
          </p:cNvSpPr>
          <p:nvPr>
            <p:custDataLst>
              <p:tags r:id="rId109"/>
            </p:custDataLst>
          </p:nvPr>
        </p:nvSpPr>
        <p:spPr bwMode="auto">
          <a:xfrm>
            <a:off x="360000" y="4824000"/>
            <a:ext cx="1915795" cy="50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21615" indent="-221615"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有空闲行的条件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？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469131" name="AutoShape 139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110"/>
            </p:custDataLst>
          </p:nvPr>
        </p:nvSpPr>
        <p:spPr bwMode="auto">
          <a:xfrm rot="5400000">
            <a:off x="4068000" y="6525889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" grpId="0" bldLvl="0" animBg="1"/>
      <p:bldP spid="232" grpId="0" bldLvl="0" animBg="1"/>
      <p:bldP spid="26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0FE12-8909-4749-9FB5-57793371441A}" type="slidenum">
              <a:rPr lang="en-US" altLang="zh-CN"/>
            </a:fld>
            <a:endParaRPr lang="en-US" altLang="zh-CN"/>
          </a:p>
        </p:txBody>
      </p:sp>
      <p:sp>
        <p:nvSpPr>
          <p:cNvPr id="380932" name="Text Box 4"/>
          <p:cNvSpPr txBox="1">
            <a:spLocks noChangeArrowheads="1"/>
          </p:cNvSpPr>
          <p:nvPr/>
        </p:nvSpPr>
        <p:spPr bwMode="auto">
          <a:xfrm>
            <a:off x="179388" y="339738"/>
            <a:ext cx="8785225" cy="1714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同例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（存储器</a:t>
            </a:r>
            <a:r>
              <a:rPr lang="zh-CN" altLang="en-US" sz="2200" b="1" u="none" dirty="0">
                <a:latin typeface="宋体" panose="02010600030101010101" pitchFamily="2" charset="-122"/>
              </a:rPr>
              <a:t>按字节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编址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CPU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可寻址空间为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1M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，主存块大小为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16B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数据区容量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为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8KB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）。采用</a:t>
            </a:r>
            <a:r>
              <a:rPr lang="zh-CN" altLang="en-US" sz="2200" b="1" u="none" dirty="0">
                <a:latin typeface="宋体" panose="02010600030101010101" pitchFamily="2" charset="-122"/>
              </a:rPr>
              <a:t>全相联映射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方式时，⑴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主存地址如何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划分？</a:t>
            </a:r>
            <a:r>
              <a:rPr lang="zh-CN" altLang="en-US" sz="2200" b="1" u="none" dirty="0">
                <a:latin typeface="宋体" panose="02010600030101010101" pitchFamily="2" charset="-122"/>
              </a:rPr>
              <a:t>⑵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行的标记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(Tag)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为几位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？⑶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CPU</a:t>
            </a:r>
            <a:r>
              <a:rPr lang="zh-CN" altLang="en-US" sz="2200" b="1" u="none" dirty="0">
                <a:latin typeface="宋体" panose="02010600030101010101" pitchFamily="2" charset="-122"/>
              </a:rPr>
              <a:t>访存地址为</a:t>
            </a:r>
            <a:r>
              <a:rPr lang="en-US" altLang="zh-CN" sz="2200" b="1" u="none" dirty="0">
                <a:latin typeface="宋体" panose="02010600030101010101" pitchFamily="2" charset="-122"/>
              </a:rPr>
              <a:t>36454H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时，</a:t>
            </a:r>
            <a:r>
              <a:rPr lang="zh-CN" altLang="en-US" sz="2200" b="1" u="none" dirty="0">
                <a:latin typeface="宋体" panose="02010600030101010101" pitchFamily="2" charset="-122"/>
              </a:rPr>
              <a:t>则命中时目标行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的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V</a:t>
            </a:r>
            <a:r>
              <a:rPr lang="en-US" altLang="zh-CN" sz="2200" b="1" u="none" dirty="0">
                <a:latin typeface="宋体" panose="02010600030101010101" pitchFamily="2" charset="-122"/>
              </a:rPr>
              <a:t>(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有效位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、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Tag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的值？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sp>
        <p:nvSpPr>
          <p:cNvPr id="380991" name="Text Box 63"/>
          <p:cNvSpPr txBox="1">
            <a:spLocks noChangeArrowheads="1"/>
          </p:cNvSpPr>
          <p:nvPr/>
        </p:nvSpPr>
        <p:spPr bwMode="auto">
          <a:xfrm>
            <a:off x="179388" y="3213229"/>
            <a:ext cx="878522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解：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⑴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主存</a:t>
            </a:r>
            <a:r>
              <a:rPr lang="zh-CN" altLang="en-US" sz="2200" b="1" u="none" spc="-50" dirty="0" smtClean="0">
                <a:latin typeface="宋体" panose="02010600030101010101" pitchFamily="2" charset="-122"/>
              </a:rPr>
              <a:t>地址</a:t>
            </a:r>
            <a:r>
              <a:rPr lang="en-US" altLang="zh-CN" sz="2200" b="1" u="none" spc="-50" dirty="0" smtClean="0">
                <a:latin typeface="宋体" panose="02010600030101010101" pitchFamily="2" charset="-122"/>
              </a:rPr>
              <a:t>(20</a:t>
            </a:r>
            <a:r>
              <a:rPr lang="zh-CN" altLang="en-US" sz="2200" b="1" u="none" spc="-50" dirty="0" smtClean="0">
                <a:latin typeface="宋体" panose="02010600030101010101" pitchFamily="2" charset="-122"/>
              </a:rPr>
              <a:t>位</a:t>
            </a:r>
            <a:r>
              <a:rPr lang="en-US" altLang="zh-CN" sz="2200" b="1" u="none" spc="-50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u="none" spc="-50" dirty="0" smtClean="0">
                <a:latin typeface="宋体" panose="02010600030101010101" pitchFamily="2" charset="-122"/>
              </a:rPr>
              <a:t>划分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如下</a:t>
            </a:r>
            <a:r>
              <a:rPr lang="zh-CN" altLang="en-US" sz="2200" b="1" u="none" spc="-50" dirty="0" smtClean="0">
                <a:latin typeface="宋体" panose="02010600030101010101" pitchFamily="2" charset="-122"/>
              </a:rPr>
              <a:t>：  </a:t>
            </a:r>
            <a:r>
              <a:rPr lang="en-US" altLang="zh-CN" sz="1800" b="1" u="none" spc="-50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spc="-50" dirty="0" smtClean="0">
                <a:latin typeface="宋体" panose="02010600030101010101" pitchFamily="2" charset="-122"/>
              </a:rPr>
              <a:t>块内地址为</a:t>
            </a:r>
            <a:r>
              <a:rPr lang="en-US" altLang="zh-CN" sz="1800" b="1" u="none" spc="-50" dirty="0" smtClean="0">
                <a:latin typeface="宋体" panose="02010600030101010101" pitchFamily="2" charset="-122"/>
              </a:rPr>
              <a:t>4</a:t>
            </a:r>
            <a:r>
              <a:rPr lang="zh-CN" altLang="en-US" sz="1800" b="1" u="none" spc="-50" dirty="0" smtClean="0">
                <a:latin typeface="宋体" panose="02010600030101010101" pitchFamily="2" charset="-122"/>
              </a:rPr>
              <a:t>位</a:t>
            </a:r>
            <a:r>
              <a:rPr lang="en-US" altLang="zh-CN" sz="1800" b="1" u="none" spc="-50" dirty="0" smtClean="0">
                <a:latin typeface="宋体" panose="02010600030101010101" pitchFamily="2" charset="-122"/>
              </a:rPr>
              <a:t>)</a:t>
            </a:r>
            <a:r>
              <a:rPr lang="en-US" altLang="zh-CN" sz="2200" b="1" u="none" spc="-50" dirty="0" smtClean="0">
                <a:latin typeface="宋体" panose="02010600030101010101" pitchFamily="2" charset="-122"/>
              </a:rPr>
              <a:t> 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</p:txBody>
      </p:sp>
      <p:grpSp>
        <p:nvGrpSpPr>
          <p:cNvPr id="381006" name="Group 78"/>
          <p:cNvGrpSpPr/>
          <p:nvPr/>
        </p:nvGrpSpPr>
        <p:grpSpPr bwMode="auto">
          <a:xfrm>
            <a:off x="2627038" y="3935790"/>
            <a:ext cx="3311525" cy="215900"/>
            <a:chOff x="2744" y="2342"/>
            <a:chExt cx="2086" cy="136"/>
          </a:xfrm>
        </p:grpSpPr>
        <p:sp>
          <p:nvSpPr>
            <p:cNvPr id="380993" name="Text Box 65"/>
            <p:cNvSpPr txBox="1">
              <a:spLocks noChangeArrowheads="1"/>
            </p:cNvSpPr>
            <p:nvPr/>
          </p:nvSpPr>
          <p:spPr bwMode="auto">
            <a:xfrm>
              <a:off x="4150" y="2342"/>
              <a:ext cx="680" cy="136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81000" name="Text Box 72"/>
            <p:cNvSpPr txBox="1">
              <a:spLocks noChangeArrowheads="1"/>
            </p:cNvSpPr>
            <p:nvPr/>
          </p:nvSpPr>
          <p:spPr bwMode="auto">
            <a:xfrm>
              <a:off x="2744" y="2342"/>
              <a:ext cx="1406" cy="136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主存块号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381007" name="Group 79"/>
          <p:cNvGrpSpPr/>
          <p:nvPr/>
        </p:nvGrpSpPr>
        <p:grpSpPr bwMode="auto">
          <a:xfrm>
            <a:off x="2627039" y="3680209"/>
            <a:ext cx="3313113" cy="252413"/>
            <a:chOff x="2744" y="2181"/>
            <a:chExt cx="2087" cy="159"/>
          </a:xfrm>
        </p:grpSpPr>
        <p:sp>
          <p:nvSpPr>
            <p:cNvPr id="380994" name="Line 66"/>
            <p:cNvSpPr>
              <a:spLocks noChangeShapeType="1"/>
            </p:cNvSpPr>
            <p:nvPr/>
          </p:nvSpPr>
          <p:spPr bwMode="auto">
            <a:xfrm>
              <a:off x="4151" y="2204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995" name="Line 67"/>
            <p:cNvSpPr>
              <a:spLocks noChangeShapeType="1"/>
            </p:cNvSpPr>
            <p:nvPr/>
          </p:nvSpPr>
          <p:spPr bwMode="auto">
            <a:xfrm>
              <a:off x="4831" y="2204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996" name="Text Box 68"/>
            <p:cNvSpPr txBox="1">
              <a:spLocks noChangeArrowheads="1"/>
            </p:cNvSpPr>
            <p:nvPr/>
          </p:nvSpPr>
          <p:spPr bwMode="auto">
            <a:xfrm>
              <a:off x="4377" y="2181"/>
              <a:ext cx="272" cy="1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4</a:t>
              </a:r>
              <a:r>
                <a:rPr lang="zh-CN" altLang="en-US" sz="18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位</a:t>
              </a:r>
              <a:endParaRPr lang="zh-CN" altLang="en-US" sz="18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80997" name="Line 69"/>
            <p:cNvSpPr>
              <a:spLocks noChangeShapeType="1"/>
            </p:cNvSpPr>
            <p:nvPr/>
          </p:nvSpPr>
          <p:spPr bwMode="auto">
            <a:xfrm>
              <a:off x="4649" y="2265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998" name="Line 70"/>
            <p:cNvSpPr>
              <a:spLocks noChangeShapeType="1"/>
            </p:cNvSpPr>
            <p:nvPr/>
          </p:nvSpPr>
          <p:spPr bwMode="auto">
            <a:xfrm>
              <a:off x="3727" y="2266"/>
              <a:ext cx="4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999" name="Line 71"/>
            <p:cNvSpPr>
              <a:spLocks noChangeShapeType="1"/>
            </p:cNvSpPr>
            <p:nvPr/>
          </p:nvSpPr>
          <p:spPr bwMode="auto">
            <a:xfrm flipH="1">
              <a:off x="4151" y="2265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001" name="Line 73"/>
            <p:cNvSpPr>
              <a:spLocks noChangeShapeType="1"/>
            </p:cNvSpPr>
            <p:nvPr/>
          </p:nvSpPr>
          <p:spPr bwMode="auto">
            <a:xfrm>
              <a:off x="2744" y="2204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002" name="Text Box 74"/>
            <p:cNvSpPr txBox="1">
              <a:spLocks noChangeArrowheads="1"/>
            </p:cNvSpPr>
            <p:nvPr/>
          </p:nvSpPr>
          <p:spPr bwMode="auto">
            <a:xfrm>
              <a:off x="3198" y="2204"/>
              <a:ext cx="499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20-4</a:t>
              </a:r>
              <a:r>
                <a:rPr lang="zh-CN" altLang="en-US" sz="1800" b="1" u="none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位</a:t>
              </a:r>
              <a:endParaRPr lang="zh-CN" altLang="en-US" sz="18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81003" name="Line 75"/>
            <p:cNvSpPr>
              <a:spLocks noChangeShapeType="1"/>
            </p:cNvSpPr>
            <p:nvPr/>
          </p:nvSpPr>
          <p:spPr bwMode="auto">
            <a:xfrm flipH="1">
              <a:off x="2744" y="2267"/>
              <a:ext cx="4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1008" name="Text Box 80"/>
          <p:cNvSpPr txBox="1">
            <a:spLocks noChangeArrowheads="1"/>
          </p:cNvSpPr>
          <p:nvPr/>
        </p:nvSpPr>
        <p:spPr bwMode="auto">
          <a:xfrm>
            <a:off x="179389" y="4149586"/>
            <a:ext cx="3456508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  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⑵Cache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行的标记</a:t>
            </a:r>
            <a:r>
              <a:rPr lang="zh-CN" altLang="en-US" sz="2200" b="1" u="none" spc="-50" dirty="0" smtClean="0">
                <a:latin typeface="宋体" panose="02010600030101010101" pitchFamily="2" charset="-122"/>
              </a:rPr>
              <a:t>＝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83874" y="4618910"/>
            <a:ext cx="8785225" cy="937260"/>
            <a:chOff x="179388" y="4716788"/>
            <a:chExt cx="8785225" cy="937260"/>
          </a:xfrm>
        </p:grpSpPr>
        <p:sp>
          <p:nvSpPr>
            <p:cNvPr id="381034" name="Rectangle 106"/>
            <p:cNvSpPr>
              <a:spLocks noChangeArrowheads="1"/>
            </p:cNvSpPr>
            <p:nvPr/>
          </p:nvSpPr>
          <p:spPr bwMode="auto">
            <a:xfrm>
              <a:off x="3415514" y="4813626"/>
              <a:ext cx="2520000" cy="35877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1035" name="Rectangle 107"/>
            <p:cNvSpPr>
              <a:spLocks noChangeArrowheads="1"/>
            </p:cNvSpPr>
            <p:nvPr/>
          </p:nvSpPr>
          <p:spPr bwMode="auto">
            <a:xfrm>
              <a:off x="5935514" y="4812038"/>
              <a:ext cx="612000" cy="36036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1036" name="Text Box 108"/>
            <p:cNvSpPr txBox="1">
              <a:spLocks noChangeArrowheads="1"/>
            </p:cNvSpPr>
            <p:nvPr/>
          </p:nvSpPr>
          <p:spPr bwMode="auto">
            <a:xfrm>
              <a:off x="179388" y="4716788"/>
              <a:ext cx="8785225" cy="93726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sz="2200" b="1" u="none" dirty="0">
                  <a:latin typeface="宋体" panose="02010600030101010101" pitchFamily="2" charset="-122"/>
                </a:rPr>
                <a:t>    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⑶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访存地址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36454H</a:t>
              </a:r>
              <a:r>
                <a:rPr lang="zh-CN" altLang="en-US" sz="2200" b="1" u="none" spc="-50" dirty="0" smtClean="0">
                  <a:latin typeface="宋体" panose="02010600030101010101" pitchFamily="2" charset="-122"/>
                </a:rPr>
                <a:t>＝</a:t>
              </a:r>
              <a:r>
                <a:rPr lang="en-US" altLang="zh-CN" sz="2200" b="1" u="none" dirty="0" smtClean="0"/>
                <a:t> 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0011</a:t>
              </a:r>
              <a:r>
                <a:rPr lang="en-US" altLang="zh-CN" sz="2200" b="1" u="none" dirty="0"/>
                <a:t> 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0110</a:t>
              </a:r>
              <a:r>
                <a:rPr lang="en-US" altLang="zh-CN" sz="2200" b="1" u="none" dirty="0"/>
                <a:t> 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0100</a:t>
              </a:r>
              <a:r>
                <a:rPr lang="en-US" altLang="zh-CN" sz="2200" b="1" u="none" dirty="0"/>
                <a:t> 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0101</a:t>
              </a:r>
              <a:r>
                <a:rPr lang="en-US" altLang="zh-CN" sz="2200" b="1" u="none" dirty="0"/>
                <a:t> 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0100</a:t>
              </a:r>
              <a:r>
                <a:rPr lang="en-US" altLang="zh-CN" sz="2200" b="1" u="none" baseline="-180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B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，</a:t>
              </a:r>
              <a:endParaRPr lang="en-US" altLang="zh-CN" sz="22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sz="2200" b="1" u="none" dirty="0" smtClean="0">
                  <a:latin typeface="宋体" panose="02010600030101010101" pitchFamily="2" charset="-122"/>
                </a:rPr>
                <a:t>      目标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行的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V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＝</a:t>
              </a:r>
              <a:r>
                <a:rPr lang="en-US" altLang="zh-CN" sz="2200" b="1" u="none" dirty="0" smtClean="0">
                  <a:latin typeface="宋体" panose="02010600030101010101" pitchFamily="2" charset="-122"/>
                </a:rPr>
                <a:t>  </a:t>
              </a:r>
              <a:r>
                <a:rPr lang="zh-CN" altLang="en-US" sz="2200" b="1" u="none" dirty="0" smtClean="0">
                  <a:latin typeface="宋体" panose="02010600030101010101" pitchFamily="2" charset="-122"/>
                </a:rPr>
                <a:t>、</a:t>
              </a:r>
              <a:r>
                <a:rPr lang="en-US" altLang="zh-CN" sz="2200" b="1" u="none" dirty="0">
                  <a:latin typeface="宋体" panose="02010600030101010101" pitchFamily="2" charset="-122"/>
                </a:rPr>
                <a:t>Tag</a:t>
              </a:r>
              <a:r>
                <a:rPr lang="zh-CN" altLang="en-US" sz="2200" b="1" u="none" dirty="0">
                  <a:latin typeface="宋体" panose="02010600030101010101" pitchFamily="2" charset="-122"/>
                </a:rPr>
                <a:t>＝</a:t>
              </a:r>
              <a:endParaRPr lang="zh-CN" altLang="en-US" sz="2200" b="1" u="none" dirty="0">
                <a:latin typeface="宋体" panose="02010600030101010101" pitchFamily="2" charset="-122"/>
              </a:endParaRPr>
            </a:p>
          </p:txBody>
        </p:sp>
      </p:grpSp>
      <p:sp>
        <p:nvSpPr>
          <p:cNvPr id="381037" name="Text Box 109"/>
          <p:cNvSpPr txBox="1">
            <a:spLocks noChangeArrowheads="1"/>
          </p:cNvSpPr>
          <p:nvPr/>
        </p:nvSpPr>
        <p:spPr bwMode="auto">
          <a:xfrm>
            <a:off x="2628418" y="5040000"/>
            <a:ext cx="2592413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1  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  3645H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31" name="Text Box 63"/>
          <p:cNvSpPr txBox="1">
            <a:spLocks noChangeArrowheads="1"/>
          </p:cNvSpPr>
          <p:nvPr/>
        </p:nvSpPr>
        <p:spPr bwMode="auto">
          <a:xfrm>
            <a:off x="1187624" y="2058036"/>
            <a:ext cx="5688000" cy="1083438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800" b="1" u="none" dirty="0">
                <a:latin typeface="宋体" panose="02010600030101010101" pitchFamily="2" charset="-122"/>
              </a:rPr>
              <a:t>①存储器编址单位＝主存编址单位＝程序</a:t>
            </a:r>
            <a:r>
              <a:rPr lang="en-US" altLang="zh-CN" sz="1800" b="1" u="none" dirty="0">
                <a:latin typeface="宋体" panose="02010600030101010101" pitchFamily="2" charset="-122"/>
              </a:rPr>
              <a:t>MEM</a:t>
            </a:r>
            <a:r>
              <a:rPr lang="zh-CN" altLang="en-US" sz="1800" b="1" u="none" dirty="0">
                <a:latin typeface="宋体" panose="02010600030101010101" pitchFamily="2" charset="-122"/>
              </a:rPr>
              <a:t>编址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单位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800" b="1" u="none" dirty="0" smtClean="0">
                <a:latin typeface="宋体" panose="02010600030101010101" pitchFamily="2" charset="-122"/>
              </a:rPr>
              <a:t>②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CPU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可寻址空间＝主存地址空间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800" b="1" u="none" dirty="0" smtClean="0">
                <a:latin typeface="宋体" panose="02010600030101010101" pitchFamily="2" charset="-122"/>
              </a:rPr>
              <a:t>③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数据区容量＝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容量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32" name="Text Box 109"/>
          <p:cNvSpPr txBox="1">
            <a:spLocks noChangeArrowheads="1"/>
          </p:cNvSpPr>
          <p:nvPr/>
        </p:nvSpPr>
        <p:spPr bwMode="auto">
          <a:xfrm>
            <a:off x="3132852" y="4149586"/>
            <a:ext cx="3203483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主存块号，</a:t>
            </a:r>
            <a:r>
              <a:rPr lang="en-US" altLang="zh-CN" sz="2200" b="1" u="none" dirty="0">
                <a:latin typeface="宋体" panose="02010600030101010101" pitchFamily="2" charset="-122"/>
              </a:rPr>
              <a:t>Tag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为</a:t>
            </a:r>
            <a:r>
              <a:rPr lang="en-US" altLang="zh-CN" sz="2200" b="1" u="none" dirty="0">
                <a:latin typeface="宋体" panose="02010600030101010101" pitchFamily="2" charset="-122"/>
              </a:rPr>
              <a:t>16</a:t>
            </a:r>
            <a:r>
              <a:rPr lang="zh-CN" altLang="en-US" sz="2200" b="1" u="none" dirty="0">
                <a:latin typeface="宋体" panose="02010600030101010101" pitchFamily="2" charset="-122"/>
              </a:rPr>
              <a:t>位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sp>
        <p:nvSpPr>
          <p:cNvPr id="451" name="AutoShape 69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5400000">
            <a:off x="2987825" y="6524450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0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8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8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8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8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008" grpId="0" bldLvl="0" animBg="1"/>
      <p:bldP spid="381037" grpId="0" bldLvl="0" animBg="1"/>
      <p:bldP spid="32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93B2C-2EF7-4B73-B5C2-9BF7701487A1}" type="slidenum">
              <a:rPr lang="en-US" altLang="zh-CN"/>
            </a:fld>
            <a:endParaRPr lang="en-US" altLang="zh-CN" dirty="0"/>
          </a:p>
        </p:txBody>
      </p:sp>
      <p:sp>
        <p:nvSpPr>
          <p:cNvPr id="524510" name="AutoShape 22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302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" name="AutoShape 227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18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208"/>
          <p:cNvGrpSpPr/>
          <p:nvPr/>
        </p:nvGrpSpPr>
        <p:grpSpPr bwMode="auto">
          <a:xfrm>
            <a:off x="4356980" y="827488"/>
            <a:ext cx="3851275" cy="360363"/>
            <a:chOff x="3152" y="458"/>
            <a:chExt cx="2426" cy="227"/>
          </a:xfrm>
        </p:grpSpPr>
        <p:sp>
          <p:nvSpPr>
            <p:cNvPr id="4" name="Text Box 16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535" y="458"/>
              <a:ext cx="1043" cy="18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称为</a:t>
              </a:r>
              <a:r>
                <a:rPr lang="en-US" altLang="zh-CN" sz="18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n</a:t>
              </a:r>
              <a:r>
                <a:rPr lang="zh-CN" altLang="en-US" sz="18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路组相联</a:t>
              </a:r>
              <a:endParaRPr lang="zh-CN" altLang="en-US" sz="18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" name="Rectangle 20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152" y="481"/>
              <a:ext cx="1134" cy="204"/>
            </a:xfrm>
            <a:prstGeom prst="rect">
              <a:avLst/>
            </a:prstGeom>
            <a:solidFill>
              <a:srgbClr val="CCFFFF">
                <a:alpha val="70000"/>
              </a:srgbClr>
            </a:solidFill>
            <a:ln w="15875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6" name="Line 207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4286" y="549"/>
              <a:ext cx="249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sysDash"/>
              <a:round/>
              <a:tailEnd type="arrow" w="med" len="med"/>
            </a:ln>
            <a:effectLst/>
          </p:spPr>
          <p:txBody>
            <a:bodyPr/>
            <a:p>
              <a:endParaRPr lang="zh-CN" altLang="en-US"/>
            </a:p>
          </p:txBody>
        </p:sp>
      </p:grpSp>
      <p:sp>
        <p:nvSpPr>
          <p:cNvPr id="7" name="Text Box 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79705" y="332740"/>
            <a:ext cx="8784590" cy="40074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、组相联映射方式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</a:t>
            </a:r>
            <a:r>
              <a:rPr lang="en-US" altLang="zh-CN" sz="1600" u="none" dirty="0"/>
              <a:t>Set</a:t>
            </a:r>
            <a:r>
              <a:rPr lang="en-US" altLang="zh-CN" sz="1600" u="none" dirty="0">
                <a:latin typeface="+mn-ea"/>
                <a:ea typeface="+mn-ea"/>
              </a:rPr>
              <a:t> </a:t>
            </a:r>
            <a:r>
              <a:rPr lang="en-US" altLang="zh-CN" sz="1600" u="none" dirty="0"/>
              <a:t>associate</a:t>
            </a:r>
            <a:r>
              <a:rPr lang="en-US" altLang="zh-CN" sz="1600" u="none" dirty="0">
                <a:latin typeface="+mn-ea"/>
                <a:ea typeface="+mn-ea"/>
              </a:rPr>
              <a:t> </a:t>
            </a:r>
            <a:r>
              <a:rPr lang="en-US" altLang="zh-CN" sz="1600" u="none" dirty="0"/>
              <a:t>mapping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映射规则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200" b="1" u="none" dirty="0">
                <a:latin typeface="宋体" panose="02010600030101010101" pitchFamily="2" charset="-122"/>
              </a:rPr>
              <a:t>将</a:t>
            </a:r>
            <a:r>
              <a:rPr lang="en-US" altLang="zh-CN" sz="2200" b="1" u="none" dirty="0"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的行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分组，每个</a:t>
            </a:r>
            <a:r>
              <a:rPr lang="zh-CN" altLang="en-US" sz="2200" b="1" u="none" dirty="0">
                <a:latin typeface="宋体" panose="02010600030101010101" pitchFamily="2" charset="-122"/>
              </a:rPr>
              <a:t>组有</a:t>
            </a:r>
            <a:r>
              <a:rPr lang="en-US" altLang="zh-CN" sz="2200" b="1" u="none" dirty="0">
                <a:latin typeface="宋体" panose="02010600030101010101" pitchFamily="2" charset="-122"/>
              </a:rPr>
              <a:t>n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个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行；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    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主存</a:t>
            </a:r>
            <a:r>
              <a:rPr lang="zh-CN" altLang="en-US" sz="2200" b="1" u="none" dirty="0">
                <a:latin typeface="宋体" panose="02010600030101010101" pitchFamily="2" charset="-122"/>
              </a:rPr>
              <a:t>块</a:t>
            </a:r>
            <a:r>
              <a:rPr lang="en-US" altLang="zh-CN" sz="2200" b="1" u="none" dirty="0" err="1">
                <a:latin typeface="宋体" panose="02010600030101010101" pitchFamily="2" charset="-122"/>
              </a:rPr>
              <a:t>i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可放到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某个组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j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任意</a:t>
            </a:r>
            <a:r>
              <a:rPr lang="zh-CN" altLang="en-US" sz="2200" b="1" u="none" dirty="0">
                <a:latin typeface="宋体" panose="02010600030101010101" pitchFamily="2" charset="-122"/>
              </a:rPr>
              <a:t>行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j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 err="1" smtClean="0">
                <a:latin typeface="宋体" panose="02010600030101010101" pitchFamily="2" charset="-122"/>
              </a:rPr>
              <a:t>i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mod</a:t>
            </a:r>
            <a:r>
              <a:rPr lang="en-US" altLang="zh-CN" sz="2200" b="1" u="none" dirty="0"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G/n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地址划分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endParaRPr lang="en-US" altLang="zh-CN" sz="18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endParaRPr lang="en-US" altLang="zh-CN" sz="18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索引＝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spcBef>
                <a:spcPts val="300"/>
              </a:spcBef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标记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＝</a:t>
            </a:r>
            <a:endParaRPr lang="zh-CN" altLang="en-US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线形标注 2 7"/>
          <p:cNvSpPr/>
          <p:nvPr>
            <p:custDataLst>
              <p:tags r:id="rId6"/>
            </p:custDataLst>
          </p:nvPr>
        </p:nvSpPr>
        <p:spPr bwMode="auto">
          <a:xfrm>
            <a:off x="2049780" y="1692000"/>
            <a:ext cx="2772000" cy="252000"/>
          </a:xfrm>
          <a:prstGeom prst="borderCallout2">
            <a:avLst>
              <a:gd name="adj1" fmla="val 56301"/>
              <a:gd name="adj2" fmla="val 100358"/>
              <a:gd name="adj3" fmla="val 55940"/>
              <a:gd name="adj4" fmla="val 107281"/>
              <a:gd name="adj5" fmla="val -16773"/>
              <a:gd name="adj6" fmla="val 121227"/>
            </a:avLst>
          </a:prstGeom>
          <a:solidFill>
            <a:srgbClr val="CCFFFF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0800" numCol="1" rtlCol="0" anchor="ctr" anchorCtr="0" compatLnSpc="1"/>
          <a:p>
            <a:pPr algn="ctr"/>
            <a:r>
              <a:rPr lang="zh-CN" altLang="en-US" sz="1600" b="1" u="none" dirty="0" smtClean="0">
                <a:latin typeface="宋体" panose="02010600030101010101" pitchFamily="2" charset="-122"/>
              </a:rPr>
              <a:t>块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→组</a:t>
            </a:r>
            <a:r>
              <a:rPr lang="en-US" altLang="zh-CN" sz="1400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4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直接</a:t>
            </a:r>
            <a:r>
              <a:rPr lang="en-US" altLang="zh-CN" sz="1400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1400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组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→行</a:t>
            </a:r>
            <a:r>
              <a:rPr lang="en-US" altLang="zh-CN" sz="14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400" b="1" u="none" dirty="0" smtClean="0">
                <a:latin typeface="宋体" panose="02010600030101010101" pitchFamily="2" charset="-122"/>
              </a:rPr>
              <a:t>全相联</a:t>
            </a:r>
            <a:r>
              <a:rPr lang="en-US" altLang="zh-CN" sz="1400" b="1" u="none" dirty="0" smtClean="0">
                <a:latin typeface="宋体" panose="02010600030101010101" pitchFamily="2" charset="-122"/>
              </a:rPr>
              <a:t>)</a:t>
            </a:r>
            <a:endParaRPr lang="en-US" altLang="zh-CN" sz="1400" b="1" u="none" dirty="0" smtClean="0">
              <a:latin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0000" y="2268000"/>
            <a:ext cx="3600344" cy="1008112"/>
            <a:chOff x="1043664" y="3861048"/>
            <a:chExt cx="3600344" cy="1008112"/>
          </a:xfrm>
        </p:grpSpPr>
        <p:sp>
          <p:nvSpPr>
            <p:cNvPr id="10" name="Text Box 24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563888" y="3861048"/>
              <a:ext cx="1080000" cy="43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" name="Text Box 256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43664" y="3861048"/>
              <a:ext cx="504000" cy="43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" name="Text Box 257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483888" y="4077072"/>
              <a:ext cx="108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群内块号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g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258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547664" y="4077072"/>
              <a:ext cx="936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群号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r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263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564008" y="4653160"/>
              <a:ext cx="1080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" name="Text Box 264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763688" y="4653160"/>
              <a:ext cx="72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 组号 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" name="Text Box 265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115688" y="4437112"/>
              <a:ext cx="648000" cy="43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Cache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7" name="Line 266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 flipH="1">
              <a:off x="3995936" y="4293096"/>
              <a:ext cx="0" cy="3600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8" name="Text Box 267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995936" y="4365128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 anchorCtr="0"/>
            <a:p>
              <a:pPr algn="ctr"/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直接</a:t>
              </a:r>
              <a:endParaRPr lang="zh-CN" altLang="en-US" sz="16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" name="Text Box 318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547664" y="3861072"/>
              <a:ext cx="2016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主存块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号   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0" name="Text Box 264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483768" y="4653136"/>
              <a:ext cx="1080000" cy="216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组内行号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s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 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764030" y="2700000"/>
            <a:ext cx="935990" cy="575310"/>
            <a:chOff x="2778" y="3969"/>
            <a:chExt cx="1474" cy="906"/>
          </a:xfrm>
        </p:grpSpPr>
        <p:sp>
          <p:nvSpPr>
            <p:cNvPr id="22" name="Text Box 267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458" y="4082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 anchorCtr="0"/>
            <a:p>
              <a:pPr algn="ctr"/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直接</a:t>
              </a:r>
              <a:endParaRPr lang="zh-CN" altLang="en-US" sz="18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" name="Line 266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flipH="1">
              <a:off x="2778" y="3969"/>
              <a:ext cx="907" cy="56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4" name="Text Box 267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778" y="4535"/>
              <a:ext cx="34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 anchorCtr="0"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g</a:t>
              </a:r>
              <a:endParaRPr lang="zh-CN" altLang="en-US" sz="18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5" name="Text Box 24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1477470" y="3420245"/>
            <a:ext cx="284400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群内</a:t>
            </a:r>
            <a:r>
              <a:rPr lang="zh-CN" altLang="en-US" sz="2200" b="1" u="none" dirty="0">
                <a:latin typeface="宋体" panose="02010600030101010101" pitchFamily="2" charset="-122"/>
              </a:rPr>
              <a:t>块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号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(=log</a:t>
            </a:r>
            <a:r>
              <a:rPr lang="en-US" altLang="zh-CN" sz="1600" b="1" u="none" baseline="-22000" dirty="0" smtClean="0">
                <a:latin typeface="宋体" panose="02010600030101010101" pitchFamily="2" charset="-122"/>
              </a:rPr>
              <a:t>2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[G/n]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位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群号</a:t>
            </a:r>
            <a:r>
              <a:rPr lang="en-US" altLang="zh-CN" sz="1600" b="1" u="none" dirty="0">
                <a:latin typeface="宋体" panose="02010600030101010101" pitchFamily="2" charset="-122"/>
              </a:rPr>
              <a:t>(=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log</a:t>
            </a:r>
            <a:r>
              <a:rPr lang="en-US" altLang="zh-CN" sz="1600" b="1" u="none" baseline="-25000" dirty="0" smtClean="0">
                <a:latin typeface="宋体" panose="02010600030101010101" pitchFamily="2" charset="-122"/>
              </a:rPr>
              <a:t>2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M-log</a:t>
            </a:r>
            <a:r>
              <a:rPr lang="en-US" altLang="zh-CN" sz="1600" b="1" u="none" baseline="-25000" dirty="0" smtClean="0">
                <a:latin typeface="宋体" panose="02010600030101010101" pitchFamily="2" charset="-122"/>
              </a:rPr>
              <a:t>2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[G/n]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位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26" name="线形标注 2 25"/>
          <p:cNvSpPr/>
          <p:nvPr>
            <p:custDataLst>
              <p:tags r:id="rId22"/>
            </p:custDataLst>
          </p:nvPr>
        </p:nvSpPr>
        <p:spPr bwMode="auto">
          <a:xfrm>
            <a:off x="7380694" y="3861316"/>
            <a:ext cx="1584000" cy="504000"/>
          </a:xfrm>
          <a:prstGeom prst="borderCallout2">
            <a:avLst>
              <a:gd name="adj1" fmla="val -480"/>
              <a:gd name="adj2" fmla="val 67142"/>
              <a:gd name="adj3" fmla="val -34750"/>
              <a:gd name="adj4" fmla="val 67142"/>
              <a:gd name="adj5" fmla="val -58814"/>
              <a:gd name="adj6" fmla="val 43209"/>
            </a:avLst>
          </a:prstGeom>
          <a:noFill/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0800" numCol="1" rtlCol="0" anchor="ctr" anchorCtr="0" compatLnSpc="1"/>
          <a:p>
            <a:pPr algn="ctr"/>
            <a:r>
              <a:rPr lang="zh-CN" altLang="en-US" sz="1400" b="1" u="none" dirty="0" smtClean="0">
                <a:latin typeface="+mn-ea"/>
                <a:ea typeface="+mn-ea"/>
              </a:rPr>
              <a:t>群、区非专用术语</a:t>
            </a:r>
            <a:endParaRPr lang="en-US" altLang="zh-CN" sz="1400" b="1" u="none" dirty="0" smtClean="0">
              <a:latin typeface="+mn-ea"/>
              <a:ea typeface="+mn-ea"/>
            </a:endParaRPr>
          </a:p>
          <a:p>
            <a:pPr algn="ctr"/>
            <a:r>
              <a:rPr lang="en-US" altLang="zh-CN" sz="1400" b="1" u="none" dirty="0" smtClean="0">
                <a:latin typeface="+mn-ea"/>
                <a:ea typeface="+mn-ea"/>
              </a:rPr>
              <a:t>(</a:t>
            </a:r>
            <a:r>
              <a:rPr lang="zh-CN" altLang="en-US" sz="1400" b="1" u="none" dirty="0" smtClean="0">
                <a:latin typeface="+mn-ea"/>
                <a:ea typeface="+mn-ea"/>
              </a:rPr>
              <a:t>为便于描述定义</a:t>
            </a:r>
            <a:r>
              <a:rPr lang="en-US" altLang="zh-CN" sz="1400" b="1" u="none" dirty="0" smtClean="0">
                <a:latin typeface="+mn-ea"/>
                <a:ea typeface="+mn-ea"/>
              </a:rPr>
              <a:t>)</a:t>
            </a:r>
            <a:endParaRPr lang="zh-CN" altLang="en-US" sz="1400" b="1" u="none" dirty="0">
              <a:latin typeface="+mn-ea"/>
              <a:ea typeface="+mn-ea"/>
            </a:endParaRPr>
          </a:p>
        </p:txBody>
      </p:sp>
      <p:sp>
        <p:nvSpPr>
          <p:cNvPr id="27" name="Text Box 76"/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612140" y="5473065"/>
            <a:ext cx="8341995" cy="756285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解：</a:t>
            </a:r>
            <a:r>
              <a:rPr lang="en-US" altLang="zh-CN" sz="20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Tag</a:t>
            </a:r>
            <a:r>
              <a:rPr lang="zh-CN" altLang="en-US" sz="20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sz="20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群号</a:t>
            </a:r>
            <a:r>
              <a:rPr lang="zh-CN" altLang="en-US" sz="20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20-log2(16B/1B)-log2((8KB/16B)/4)</a:t>
            </a:r>
            <a:r>
              <a:rPr lang="zh-CN" altLang="en-US" sz="20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20-4-7</a:t>
            </a:r>
            <a:r>
              <a:rPr lang="zh-CN" altLang="en-US" sz="20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9</a:t>
            </a:r>
            <a:r>
              <a:rPr lang="zh-CN" altLang="en-US" sz="20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endParaRPr lang="en-US" altLang="zh-CN" sz="2000" b="1" u="none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36454H</a:t>
            </a:r>
            <a:r>
              <a:rPr lang="zh-CN" altLang="en-US" sz="20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&lt;</a:t>
            </a:r>
            <a:r>
              <a:rPr lang="en-US" altLang="zh-CN" sz="2000" b="1" u="none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001101100,1000101,0100&gt;</a:t>
            </a:r>
            <a:r>
              <a:rPr lang="zh-CN" altLang="en-US" sz="2000" b="1" u="none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，命中时</a:t>
            </a:r>
            <a:r>
              <a:rPr lang="zh-CN" altLang="en-US" sz="2000" b="1" u="none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组号</a:t>
            </a:r>
            <a:r>
              <a:rPr lang="zh-CN" altLang="en-US" sz="20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45H</a:t>
            </a:r>
            <a:r>
              <a:rPr lang="zh-CN" altLang="en-US" sz="2000" b="1" u="none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u="none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Tag</a:t>
            </a:r>
            <a:r>
              <a:rPr lang="zh-CN" altLang="en-US" sz="20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06CH</a:t>
            </a:r>
            <a:endParaRPr lang="en-US" altLang="zh-CN" sz="2000" b="1" u="none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8" name="Text Box 270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076000" y="1908000"/>
            <a:ext cx="1620000" cy="288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lIns="18000" tIns="10800" rIns="18000" bIns="10800" anchor="ctr" anchorCtr="0"/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latin typeface="宋体" panose="02010600030101010101" pitchFamily="2" charset="-122"/>
              </a:rPr>
              <a:t>候选行数＝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n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行</a:t>
            </a:r>
            <a:endParaRPr lang="zh-CN" altLang="en-US" sz="1800" b="1" u="none" dirty="0" smtClean="0">
              <a:latin typeface="宋体" panose="02010600030101010101" pitchFamily="2" charset="-122"/>
            </a:endParaRPr>
          </a:p>
        </p:txBody>
      </p:sp>
      <p:grpSp>
        <p:nvGrpSpPr>
          <p:cNvPr id="150" name="组合 149"/>
          <p:cNvGrpSpPr/>
          <p:nvPr/>
        </p:nvGrpSpPr>
        <p:grpSpPr>
          <a:xfrm>
            <a:off x="3924000" y="2232735"/>
            <a:ext cx="2484120" cy="1548130"/>
            <a:chOff x="397" y="4365"/>
            <a:chExt cx="3912" cy="2438"/>
          </a:xfrm>
        </p:grpSpPr>
        <p:sp>
          <p:nvSpPr>
            <p:cNvPr id="131" name="Rectangle 183" descr="宽下对角线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288" y="5953"/>
              <a:ext cx="1020" cy="850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</a:ln>
            <a:effectLst/>
          </p:spPr>
          <p:txBody>
            <a:bodyPr wrap="none" anchor="ctr"/>
            <a:p>
              <a:pPr algn="ctr">
                <a:lnSpc>
                  <a:spcPct val="80000"/>
                </a:lnSpc>
              </a:pPr>
              <a:endParaRPr lang="en-US" altLang="zh-CN" sz="1600" b="1" u="none" dirty="0">
                <a:latin typeface="+mn-ea"/>
                <a:ea typeface="+mn-ea"/>
              </a:endParaRPr>
            </a:p>
          </p:txBody>
        </p:sp>
        <p:sp>
          <p:nvSpPr>
            <p:cNvPr id="122" name="Rectangle 183" descr="宽下对角线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289" y="4696"/>
              <a:ext cx="1020" cy="850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</a:ln>
            <a:effectLst/>
          </p:spPr>
          <p:txBody>
            <a:bodyPr wrap="none" anchor="ctr"/>
            <a:p>
              <a:pPr algn="ctr">
                <a:lnSpc>
                  <a:spcPct val="80000"/>
                </a:lnSpc>
              </a:pPr>
              <a:endParaRPr lang="en-US" altLang="zh-CN" sz="1600" b="1" u="none" dirty="0">
                <a:latin typeface="+mn-ea"/>
                <a:ea typeface="+mn-ea"/>
              </a:endParaRPr>
            </a:p>
          </p:txBody>
        </p:sp>
        <p:sp>
          <p:nvSpPr>
            <p:cNvPr id="123" name="AutoShape 185"/>
            <p:cNvSpPr/>
            <p:nvPr>
              <p:custDataLst>
                <p:tags r:id="rId27"/>
              </p:custDataLst>
            </p:nvPr>
          </p:nvSpPr>
          <p:spPr bwMode="auto">
            <a:xfrm>
              <a:off x="1701" y="4762"/>
              <a:ext cx="115" cy="624"/>
            </a:xfrm>
            <a:prstGeom prst="leftBrace">
              <a:avLst>
                <a:gd name="adj1" fmla="val 41944"/>
                <a:gd name="adj2" fmla="val 50000"/>
              </a:avLst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 anchor="ctr"/>
            <a:p>
              <a:endParaRPr lang="zh-CN" altLang="en-US"/>
            </a:p>
          </p:txBody>
        </p:sp>
        <p:sp>
          <p:nvSpPr>
            <p:cNvPr id="29" name="Text Box 186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964" y="4932"/>
              <a:ext cx="68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p>
              <a:pPr algn="r"/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组</a:t>
              </a: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0" name="Text Box 188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397" y="6123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>
              <a:spAutoFit/>
            </a:bodyPr>
            <a:p>
              <a:pPr algn="r"/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组</a:t>
              </a: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G/n-1</a:t>
              </a:r>
              <a:endParaRPr lang="en-US" altLang="zh-CN" sz="16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1" name="Text Box 194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2721" y="4365"/>
              <a:ext cx="158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Cache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2" name="Text Box 196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814" y="5272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8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n-1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3" name="Text Box 197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814" y="4705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8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4" name="AutoShape 185"/>
            <p:cNvSpPr/>
            <p:nvPr>
              <p:custDataLst>
                <p:tags r:id="rId33"/>
              </p:custDataLst>
            </p:nvPr>
          </p:nvSpPr>
          <p:spPr bwMode="auto">
            <a:xfrm>
              <a:off x="1701" y="6009"/>
              <a:ext cx="115" cy="624"/>
            </a:xfrm>
            <a:prstGeom prst="leftBrace">
              <a:avLst>
                <a:gd name="adj1" fmla="val 41944"/>
                <a:gd name="adj2" fmla="val 50000"/>
              </a:avLst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 anchor="ctr"/>
            <a:p>
              <a:endParaRPr lang="zh-CN" altLang="en-US"/>
            </a:p>
          </p:txBody>
        </p:sp>
        <p:sp>
          <p:nvSpPr>
            <p:cNvPr id="35" name="Text Box 196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814" y="6520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8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n-1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6" name="Text Box 197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814" y="5953"/>
              <a:ext cx="90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8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7" name="Text Box 190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2721" y="4705"/>
              <a:ext cx="1587" cy="209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/>
            <a:p>
              <a:pPr marL="0" indent="0" algn="l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    </a:t>
              </a:r>
              <a:r>
                <a:rPr lang="zh-CN" altLang="en-US" sz="1400" b="1" u="none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缓存块</a:t>
              </a:r>
              <a:endParaRPr lang="zh-CN" altLang="en-US" sz="1400" b="1" u="none" dirty="0" smtClean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indent="0" algn="l" eaLnBrk="1" latinLnBrk="0" hangingPunct="1">
                <a:lnSpc>
                  <a:spcPct val="80000"/>
                </a:lnSpc>
              </a:pPr>
              <a:r>
                <a:rPr lang="zh-CN" altLang="en-US" sz="1400" b="1" u="none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zh-CN" sz="1400" b="1" u="none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     </a:t>
              </a: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…</a:t>
              </a:r>
              <a:endParaRPr lang="en-US" altLang="zh-CN" sz="14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 marL="0" indent="0" algn="l" eaLnBrk="1" latinLnBrk="0" hangingPunct="1">
                <a:lnSpc>
                  <a:spcPct val="80000"/>
                </a:lnSpc>
              </a:pPr>
              <a:endParaRPr lang="zh-CN" altLang="en-US" sz="14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indent="0" algn="l" eaLnBrk="1" latinLnBrk="0" hangingPunct="1">
                <a:lnSpc>
                  <a:spcPct val="800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 …</a:t>
              </a:r>
              <a:endParaRPr lang="en-US" altLang="zh-CN" sz="14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pPr marL="0" indent="0" algn="l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4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marL="0" indent="0" algn="l" eaLnBrk="1" latinLnBrk="0" hangingPunct="1">
                <a:lnSpc>
                  <a:spcPct val="8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zh-CN" altLang="en-US" sz="1400" b="1" u="none" dirty="0" smtClean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 </a:t>
              </a:r>
              <a:r>
                <a:rPr lang="en-US" altLang="zh-CN" sz="1400" b="1" u="none" dirty="0" smtClean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</a:t>
              </a:r>
              <a:r>
                <a:rPr lang="en-US" altLang="zh-CN" sz="1400" b="1" u="none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…</a:t>
              </a:r>
              <a:endParaRPr lang="zh-CN" altLang="en-US" sz="14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8" name="Rectangle 189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2721" y="4705"/>
              <a:ext cx="567" cy="209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t" anchorCtr="0"/>
            <a:p>
              <a:pPr marL="0" indent="0" eaLnBrk="1" latinLnBrk="0" hangingPunct="1">
                <a:lnSpc>
                  <a:spcPct val="80000"/>
                </a:lnSpc>
              </a:pPr>
              <a:r>
                <a:rPr lang="zh-CN" altLang="en-US" sz="1400" b="1" u="none"/>
                <a:t>标记</a:t>
              </a:r>
              <a:endParaRPr lang="zh-CN" altLang="en-US" sz="1400" b="1" u="none"/>
            </a:p>
          </p:txBody>
        </p:sp>
        <p:cxnSp>
          <p:nvCxnSpPr>
            <p:cNvPr id="124" name="直接箭头连接符 123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2721" y="4989"/>
              <a:ext cx="158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5" name="直接箭头连接符 124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2721" y="5272"/>
              <a:ext cx="158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6" name="直接箭头连接符 125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2721" y="5556"/>
              <a:ext cx="158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直接箭头连接符 126"/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2721" y="5953"/>
              <a:ext cx="158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8" name="直接箭头连接符 127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2721" y="6236"/>
              <a:ext cx="158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9" name="直接箭头连接符 128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2721" y="6520"/>
              <a:ext cx="158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49" name="组合 148"/>
          <p:cNvGrpSpPr/>
          <p:nvPr/>
        </p:nvGrpSpPr>
        <p:grpSpPr>
          <a:xfrm>
            <a:off x="6408000" y="1692735"/>
            <a:ext cx="2628265" cy="2087880"/>
            <a:chOff x="4309" y="3515"/>
            <a:chExt cx="4139" cy="3288"/>
          </a:xfrm>
        </p:grpSpPr>
        <p:cxnSp>
          <p:nvCxnSpPr>
            <p:cNvPr id="39" name="直接箭头连接符 38"/>
            <p:cNvCxnSpPr/>
            <p:nvPr>
              <p:custDataLst>
                <p:tags r:id="rId44"/>
              </p:custDataLst>
            </p:nvPr>
          </p:nvCxnSpPr>
          <p:spPr bwMode="auto">
            <a:xfrm flipH="1">
              <a:off x="4706" y="4025"/>
              <a:ext cx="567" cy="102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0" name="直接箭头连接符 39"/>
            <p:cNvCxnSpPr/>
            <p:nvPr>
              <p:custDataLst>
                <p:tags r:id="rId45"/>
              </p:custDataLst>
            </p:nvPr>
          </p:nvCxnSpPr>
          <p:spPr bwMode="auto">
            <a:xfrm flipH="1" flipV="1">
              <a:off x="4706" y="5159"/>
              <a:ext cx="567" cy="90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46"/>
              </p:custDataLst>
            </p:nvPr>
          </p:nvCxnSpPr>
          <p:spPr bwMode="auto">
            <a:xfrm flipH="1">
              <a:off x="4706" y="4876"/>
              <a:ext cx="567" cy="255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2" name="Text Box 276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5273" y="5556"/>
              <a:ext cx="1247" cy="39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3" name="Text Box 277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5273" y="3515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主存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4" name="AutoShape 297"/>
            <p:cNvSpPr/>
            <p:nvPr>
              <p:custDataLst>
                <p:tags r:id="rId49"/>
              </p:custDataLst>
            </p:nvPr>
          </p:nvSpPr>
          <p:spPr bwMode="auto">
            <a:xfrm>
              <a:off x="6520" y="5953"/>
              <a:ext cx="113" cy="850"/>
            </a:xfrm>
            <a:prstGeom prst="rightBrace">
              <a:avLst>
                <a:gd name="adj1" fmla="val 41944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45" name="Text Box 298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6577" y="6179"/>
              <a:ext cx="187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36195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群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M/(G/n)-1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6" name="AutoShape 274"/>
            <p:cNvSpPr/>
            <p:nvPr>
              <p:custDataLst>
                <p:tags r:id="rId51"/>
              </p:custDataLst>
            </p:nvPr>
          </p:nvSpPr>
          <p:spPr bwMode="auto">
            <a:xfrm>
              <a:off x="6520" y="3841"/>
              <a:ext cx="113" cy="850"/>
            </a:xfrm>
            <a:prstGeom prst="rightBrace">
              <a:avLst>
                <a:gd name="adj1" fmla="val 42037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47" name="Text Box 275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6577" y="4082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36195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群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8" name="Text Box 292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5273" y="3855"/>
              <a:ext cx="1247" cy="850"/>
            </a:xfrm>
            <a:prstGeom prst="rect">
              <a:avLst/>
            </a:prstGeom>
            <a:solidFill>
              <a:srgbClr val="FFCC99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0" rIns="18000" bIns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G/n</a:t>
              </a: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-1</a:t>
              </a:r>
              <a:endParaRPr lang="en-US" altLang="zh-CN" sz="1600" b="1" u="none" baseline="30000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0" name="直接箭头连接符 49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5273" y="4138"/>
              <a:ext cx="124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直接箭头连接符 50"/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5272" y="4422"/>
              <a:ext cx="124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4" name="AutoShape 274"/>
            <p:cNvSpPr/>
            <p:nvPr>
              <p:custDataLst>
                <p:tags r:id="rId56"/>
              </p:custDataLst>
            </p:nvPr>
          </p:nvSpPr>
          <p:spPr bwMode="auto">
            <a:xfrm>
              <a:off x="6520" y="4705"/>
              <a:ext cx="113" cy="850"/>
            </a:xfrm>
            <a:prstGeom prst="rightBrace">
              <a:avLst>
                <a:gd name="adj1" fmla="val 42037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55" name="Text Box 275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6577" y="4946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36195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群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6" name="Text Box 292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5272" y="4705"/>
              <a:ext cx="1247" cy="85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0" rIns="18000" bIns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G/n</a:t>
              </a: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-1</a:t>
              </a:r>
              <a:endParaRPr lang="en-US" altLang="zh-CN" sz="1600" b="1" u="none" baseline="30000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7" name="直接箭头连接符 56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5273" y="5002"/>
              <a:ext cx="124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直接箭头连接符 57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5272" y="5286"/>
              <a:ext cx="124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2" name="Text Box 292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5273" y="5953"/>
              <a:ext cx="1247" cy="850"/>
            </a:xfrm>
            <a:prstGeom prst="rect">
              <a:avLst/>
            </a:prstGeom>
            <a:solidFill>
              <a:srgbClr val="FFCC99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0" rIns="18000" bIns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G/n</a:t>
              </a:r>
              <a:r>
                <a:rPr lang="en-US" altLang="zh-CN" sz="1600" b="1" u="none" dirty="0">
                  <a:latin typeface="宋体" panose="02010600030101010101" pitchFamily="2" charset="-122"/>
                  <a:cs typeface="宋体" panose="02010600030101010101" pitchFamily="2" charset="-122"/>
                </a:rPr>
                <a:t>-1</a:t>
              </a:r>
              <a:endParaRPr lang="en-US" altLang="zh-CN" sz="1600" b="1" u="none" baseline="30000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63" name="直接箭头连接符 62"/>
            <p:cNvCxnSpPr/>
            <p:nvPr>
              <p:custDataLst>
                <p:tags r:id="rId62"/>
              </p:custDataLst>
            </p:nvPr>
          </p:nvCxnSpPr>
          <p:spPr bwMode="auto">
            <a:xfrm flipV="1">
              <a:off x="5273" y="6236"/>
              <a:ext cx="124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箭头连接符 64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5272" y="6520"/>
              <a:ext cx="124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9" name="AutoShape 95"/>
            <p:cNvSpPr/>
            <p:nvPr>
              <p:custDataLst>
                <p:tags r:id="rId64"/>
              </p:custDataLst>
            </p:nvPr>
          </p:nvSpPr>
          <p:spPr bwMode="auto">
            <a:xfrm>
              <a:off x="4592" y="4762"/>
              <a:ext cx="115" cy="737"/>
            </a:xfrm>
            <a:prstGeom prst="rightBrace">
              <a:avLst>
                <a:gd name="adj1" fmla="val 42651"/>
                <a:gd name="adj2" fmla="val 45541"/>
              </a:avLst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132" name="直接箭头连接符 131"/>
            <p:cNvCxnSpPr/>
            <p:nvPr>
              <p:custDataLst>
                <p:tags r:id="rId65"/>
              </p:custDataLst>
            </p:nvPr>
          </p:nvCxnSpPr>
          <p:spPr bwMode="auto">
            <a:xfrm flipH="1" flipV="1">
              <a:off x="4309" y="4819"/>
              <a:ext cx="283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3" name="直接箭头连接符 132"/>
            <p:cNvCxnSpPr/>
            <p:nvPr>
              <p:custDataLst>
                <p:tags r:id="rId66"/>
              </p:custDataLst>
            </p:nvPr>
          </p:nvCxnSpPr>
          <p:spPr bwMode="auto">
            <a:xfrm flipH="1">
              <a:off x="4309" y="5046"/>
              <a:ext cx="283" cy="39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4" name="直接箭头连接符 133"/>
            <p:cNvCxnSpPr/>
            <p:nvPr>
              <p:custDataLst>
                <p:tags r:id="rId67"/>
              </p:custDataLst>
            </p:nvPr>
          </p:nvCxnSpPr>
          <p:spPr bwMode="auto">
            <a:xfrm flipH="1">
              <a:off x="4309" y="5046"/>
              <a:ext cx="283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7" name="直接箭头连接符 136"/>
            <p:cNvCxnSpPr/>
            <p:nvPr>
              <p:custDataLst>
                <p:tags r:id="rId68"/>
              </p:custDataLst>
            </p:nvPr>
          </p:nvCxnSpPr>
          <p:spPr bwMode="auto">
            <a:xfrm flipH="1" flipV="1">
              <a:off x="4309" y="6066"/>
              <a:ext cx="283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8" name="直接箭头连接符 137"/>
            <p:cNvCxnSpPr/>
            <p:nvPr>
              <p:custDataLst>
                <p:tags r:id="rId69"/>
              </p:custDataLst>
            </p:nvPr>
          </p:nvCxnSpPr>
          <p:spPr bwMode="auto">
            <a:xfrm flipH="1">
              <a:off x="4309" y="6293"/>
              <a:ext cx="283" cy="39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0" name="直接箭头连接符 139"/>
            <p:cNvCxnSpPr/>
            <p:nvPr>
              <p:custDataLst>
                <p:tags r:id="rId70"/>
              </p:custDataLst>
            </p:nvPr>
          </p:nvCxnSpPr>
          <p:spPr bwMode="auto">
            <a:xfrm flipH="1">
              <a:off x="4309" y="6293"/>
              <a:ext cx="283" cy="113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41" name="AutoShape 95"/>
            <p:cNvSpPr/>
            <p:nvPr>
              <p:custDataLst>
                <p:tags r:id="rId71"/>
              </p:custDataLst>
            </p:nvPr>
          </p:nvSpPr>
          <p:spPr bwMode="auto">
            <a:xfrm>
              <a:off x="4592" y="6009"/>
              <a:ext cx="115" cy="737"/>
            </a:xfrm>
            <a:prstGeom prst="rightBrace">
              <a:avLst>
                <a:gd name="adj1" fmla="val 42651"/>
                <a:gd name="adj2" fmla="val 45541"/>
              </a:avLst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146" name="直接箭头连接符 145"/>
            <p:cNvCxnSpPr/>
            <p:nvPr>
              <p:custDataLst>
                <p:tags r:id="rId72"/>
              </p:custDataLst>
            </p:nvPr>
          </p:nvCxnSpPr>
          <p:spPr bwMode="auto">
            <a:xfrm flipH="1">
              <a:off x="4706" y="4592"/>
              <a:ext cx="567" cy="164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7" name="直接箭头连接符 146"/>
            <p:cNvCxnSpPr/>
            <p:nvPr>
              <p:custDataLst>
                <p:tags r:id="rId73"/>
              </p:custDataLst>
            </p:nvPr>
          </p:nvCxnSpPr>
          <p:spPr bwMode="auto">
            <a:xfrm flipH="1" flipV="1">
              <a:off x="4706" y="6406"/>
              <a:ext cx="567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8" name="直接箭头连接符 147"/>
            <p:cNvCxnSpPr/>
            <p:nvPr>
              <p:custDataLst>
                <p:tags r:id="rId74"/>
              </p:custDataLst>
            </p:nvPr>
          </p:nvCxnSpPr>
          <p:spPr bwMode="auto">
            <a:xfrm flipH="1">
              <a:off x="4706" y="5442"/>
              <a:ext cx="567" cy="935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52" name="Text Box 163"/>
          <p:cNvSpPr txBox="1">
            <a:spLocks noChangeArrowheads="1"/>
          </p:cNvSpPr>
          <p:nvPr>
            <p:custDataLst>
              <p:tags r:id="rId75"/>
            </p:custDataLst>
          </p:nvPr>
        </p:nvSpPr>
        <p:spPr bwMode="auto">
          <a:xfrm>
            <a:off x="432000" y="4428980"/>
            <a:ext cx="8424000" cy="11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lIns="18000" tIns="10800" rIns="18000" bIns="10800" anchor="t" anchorCtr="0"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 smtClean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  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例</a:t>
            </a:r>
            <a:r>
              <a:rPr lang="en-US" altLang="zh-CN" sz="2000" b="1" u="none" dirty="0" smtClean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3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：</a:t>
            </a:r>
            <a:r>
              <a:rPr lang="zh-CN" altLang="en-US" sz="2000" b="1" u="none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同例</a:t>
            </a:r>
            <a:r>
              <a:rPr lang="en-US" altLang="zh-CN" sz="2000" b="1" u="none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1(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主存按字节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编址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地址为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20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位，块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大小为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16B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容量为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8KB)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。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路组相联映射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时，标记为几位？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访存地址为</a:t>
            </a:r>
            <a:r>
              <a:rPr lang="en-US" altLang="zh-CN" sz="2000" b="1" u="none" dirty="0">
                <a:latin typeface="宋体" panose="02010600030101010101" pitchFamily="2" charset="-122"/>
                <a:sym typeface="+mn-ea"/>
              </a:rPr>
              <a:t>36454H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时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命中时的组号、</a:t>
            </a:r>
            <a:r>
              <a:rPr lang="zh-CN" altLang="en-US" sz="2000" b="1" u="none" dirty="0">
                <a:latin typeface="宋体" panose="02010600030101010101" pitchFamily="2" charset="-122"/>
                <a:sym typeface="+mn-ea"/>
              </a:rPr>
              <a:t>目标行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的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Tag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值？</a:t>
            </a:r>
            <a:endParaRPr lang="zh-CN" altLang="en-US" sz="2000" b="1" u="none" dirty="0" smtClean="0">
              <a:latin typeface="宋体" panose="02010600030101010101" pitchFamily="2" charset="-122"/>
              <a:ea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26" grpId="0" bldLvl="0" animBg="1"/>
      <p:bldP spid="28" grpId="0" bldLvl="0" animBg="1"/>
      <p:bldP spid="52" grpId="0" bldLvl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5CE88-B27C-49E0-BA91-0D8234A555AD}" type="slidenum">
              <a:rPr lang="en-US" altLang="zh-CN"/>
            </a:fld>
            <a:endParaRPr lang="en-US" altLang="zh-CN" dirty="0"/>
          </a:p>
        </p:txBody>
      </p:sp>
      <p:sp>
        <p:nvSpPr>
          <p:cNvPr id="376072" name="AutoShape 26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7824" y="6524450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Text Box 2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5330190" cy="5428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bIns="36000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地址变换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候选行有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n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个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[=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组内行数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])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查找方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法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查找处理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100"/>
              </a:spcBef>
              <a:spcAft>
                <a:spcPts val="0"/>
              </a:spcAft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映射性能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4" name="Text Box 37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36000" y="5256000"/>
            <a:ext cx="6545580" cy="760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3324225" indent="-3324225"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冲突率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较低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，地址变换速度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较快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成本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较低</a:t>
            </a:r>
            <a:r>
              <a:rPr lang="en-US" altLang="zh-CN" sz="22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 </a:t>
            </a:r>
            <a:endParaRPr lang="en-US" altLang="zh-CN" sz="2200" b="1" dirty="0" smtClean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marL="3324225" indent="-3324225">
              <a:lnSpc>
                <a:spcPct val="100000"/>
              </a:lnSpc>
            </a:pP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sz="16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通常</a:t>
            </a:r>
            <a:r>
              <a:rPr lang="en-US" altLang="zh-CN" sz="16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≤8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，命中率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≈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全相联方式</a:t>
            </a:r>
            <a:endParaRPr lang="zh-CN" altLang="en-US" sz="1600" b="1" u="none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60905" y="791845"/>
            <a:ext cx="6790690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用</a:t>
            </a:r>
            <a:r>
              <a:rPr lang="en-US" alt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个</a:t>
            </a:r>
            <a:r>
              <a:rPr lang="zh-CN" altLang="en-US" sz="2200" b="1" u="none" dirty="0">
                <a:latin typeface="宋体" panose="02010600030101010101" pitchFamily="2" charset="-122"/>
              </a:rPr>
              <a:t>比较器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同时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比较       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T</a:t>
            </a:r>
            <a:r>
              <a:rPr lang="zh-CN" altLang="en-US" sz="1800" b="1" u="none" baseline="-16000" dirty="0">
                <a:latin typeface="宋体" panose="02010600030101010101" pitchFamily="2" charset="-122"/>
              </a:rPr>
              <a:t>比较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＝</a:t>
            </a:r>
            <a:r>
              <a:rPr lang="en-US" altLang="zh-CN" sz="1800" u="none" dirty="0" err="1"/>
              <a:t>∆</a:t>
            </a:r>
            <a:r>
              <a:rPr lang="en-US" altLang="zh-CN" sz="1800" b="1" u="none" dirty="0" err="1">
                <a:latin typeface="宋体" panose="02010600030101010101" pitchFamily="2" charset="-122"/>
              </a:rPr>
              <a:t>t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，成本尚好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命中条件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某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候选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行的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V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Tag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＝主存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地址中群号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；</a:t>
            </a: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有空闲行条件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某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候选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行的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V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0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空闲行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＝该候选行</a:t>
            </a:r>
            <a:endParaRPr lang="zh-CN" altLang="en-US" sz="2200" b="1" u="none" dirty="0" smtClean="0">
              <a:latin typeface="宋体" panose="02010600030101010101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827663" y="2635394"/>
            <a:ext cx="3176385" cy="1008088"/>
            <a:chOff x="1979711" y="3357016"/>
            <a:chExt cx="3176385" cy="1008088"/>
          </a:xfrm>
        </p:grpSpPr>
        <p:cxnSp>
          <p:nvCxnSpPr>
            <p:cNvPr id="7" name="直接箭头连接符 158"/>
            <p:cNvCxnSpPr/>
            <p:nvPr>
              <p:custDataLst>
                <p:tags r:id="rId4"/>
              </p:custDataLst>
            </p:nvPr>
          </p:nvCxnSpPr>
          <p:spPr bwMode="auto">
            <a:xfrm rot="16200000" flipH="1">
              <a:off x="1745711" y="3879024"/>
              <a:ext cx="612000" cy="144000"/>
            </a:xfrm>
            <a:prstGeom prst="bentConnector3">
              <a:avLst>
                <a:gd name="adj1" fmla="val 99947"/>
              </a:avLst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" name="Text Box 309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190151" y="4149104"/>
              <a:ext cx="43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zh-CN" altLang="en-US" sz="1800" b="1" u="none" dirty="0"/>
            </a:p>
          </p:txBody>
        </p:sp>
        <p:sp>
          <p:nvSpPr>
            <p:cNvPr id="9" name="AutoShape 178"/>
            <p:cNvSpPr/>
            <p:nvPr>
              <p:custDataLst>
                <p:tags r:id="rId6"/>
              </p:custDataLst>
            </p:nvPr>
          </p:nvSpPr>
          <p:spPr bwMode="auto">
            <a:xfrm>
              <a:off x="2123728" y="4149104"/>
              <a:ext cx="72008" cy="216000"/>
            </a:xfrm>
            <a:prstGeom prst="leftBrace">
              <a:avLst>
                <a:gd name="adj1" fmla="val 67222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0" name="Line 121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 flipH="1">
              <a:off x="1988096" y="3645048"/>
              <a:ext cx="3168000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1" name="Line 121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 flipH="1">
              <a:off x="5148064" y="3357016"/>
              <a:ext cx="0" cy="28800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051768" y="2995434"/>
            <a:ext cx="5328544" cy="864965"/>
            <a:chOff x="2123776" y="1700808"/>
            <a:chExt cx="5328544" cy="864965"/>
          </a:xfrm>
        </p:grpSpPr>
        <p:sp>
          <p:nvSpPr>
            <p:cNvPr id="13" name="Text Box 85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555816" y="1915939"/>
              <a:ext cx="360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93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915816" y="1915939"/>
              <a:ext cx="72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" name="Text Box 94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635896" y="1915939"/>
              <a:ext cx="1080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" name="Text Box 110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860032" y="1916832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…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02" name="Text Box 324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420120" y="1700832"/>
              <a:ext cx="4318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14" name="Text Box 325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084232" y="1700808"/>
              <a:ext cx="64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行</a:t>
              </a:r>
              <a:r>
                <a:rPr lang="en-US" altLang="zh-CN" sz="1600" i="1" u="none" dirty="0" smtClean="0">
                  <a:latin typeface="+mn-lt"/>
                </a:rPr>
                <a:t>n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-1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15" name="Line 327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2559753" y="1700808"/>
              <a:ext cx="0" cy="18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16" name="Line 328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4716016" y="1700808"/>
              <a:ext cx="0" cy="18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17" name="Line 329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3888016" y="1807676"/>
              <a:ext cx="82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18" name="Line 331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H="1">
              <a:off x="5292080" y="1700808"/>
              <a:ext cx="0" cy="18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19" name="Line 332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7452320" y="1700808"/>
              <a:ext cx="0" cy="18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20" name="Line 333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6732240" y="1807675"/>
              <a:ext cx="72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21" name="Line 334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H="1">
              <a:off x="5292080" y="1807675"/>
              <a:ext cx="72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22" name="Line 334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2555776" y="1808816"/>
              <a:ext cx="82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23" name="Text Box 277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123776" y="2132856"/>
              <a:ext cx="43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u="none" dirty="0" smtClean="0">
                  <a:latin typeface="宋体" panose="02010600030101010101" pitchFamily="2" charset="-122"/>
                </a:rPr>
                <a:t>组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g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4" name="Text Box 85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555776" y="2132856"/>
              <a:ext cx="360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V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5" name="Text Box 93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915776" y="2132856"/>
              <a:ext cx="72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Tag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6" name="Text Box 94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635856" y="2132856"/>
              <a:ext cx="1080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缓存块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7" name="Text Box 110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859992" y="2133749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…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8" name="Text Box 85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555776" y="2348880"/>
              <a:ext cx="360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9" name="Text Box 93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2915776" y="2348880"/>
              <a:ext cx="72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0" name="Text Box 94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635856" y="2348880"/>
              <a:ext cx="1080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1" name="Text Box 110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4859992" y="2349773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…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2" name="Text Box 85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292240" y="1916832"/>
              <a:ext cx="360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3" name="Text Box 93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5652240" y="1916832"/>
              <a:ext cx="72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4" name="Text Box 94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6372320" y="1916832"/>
              <a:ext cx="1080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5" name="Text Box 85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5292200" y="2133749"/>
              <a:ext cx="360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V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6" name="Text Box 93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5652200" y="2133749"/>
              <a:ext cx="72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Tag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7" name="Text Box 94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6372280" y="2133749"/>
              <a:ext cx="1080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缓存块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8" name="Text Box 85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5292200" y="2349773"/>
              <a:ext cx="360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9" name="Text Box 93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5652200" y="2349773"/>
              <a:ext cx="72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40" name="Text Box 94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6372280" y="2349773"/>
              <a:ext cx="1080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…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41" name="组合 240"/>
          <p:cNvGrpSpPr/>
          <p:nvPr/>
        </p:nvGrpSpPr>
        <p:grpSpPr>
          <a:xfrm>
            <a:off x="1691680" y="2635394"/>
            <a:ext cx="5292512" cy="1872208"/>
            <a:chOff x="1763688" y="1412776"/>
            <a:chExt cx="5292512" cy="1872208"/>
          </a:xfrm>
        </p:grpSpPr>
        <p:sp>
          <p:nvSpPr>
            <p:cNvPr id="242" name="Text Box 358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2699896" y="2780928"/>
              <a:ext cx="936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/>
                <a:t>比较器</a:t>
              </a:r>
              <a:endParaRPr lang="zh-CN" altLang="en-US" sz="1600" b="1" u="none" dirty="0"/>
            </a:p>
          </p:txBody>
        </p:sp>
        <p:sp>
          <p:nvSpPr>
            <p:cNvPr id="17" name="Line 360"/>
            <p:cNvSpPr>
              <a:spLocks noChangeShapeType="1"/>
            </p:cNvSpPr>
            <p:nvPr>
              <p:custDataLst>
                <p:tags r:id="rId42"/>
              </p:custDataLst>
            </p:nvPr>
          </p:nvSpPr>
          <p:spPr bwMode="auto">
            <a:xfrm flipH="1">
              <a:off x="3491880" y="2348912"/>
              <a:ext cx="0" cy="432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8" name="Line 361"/>
            <p:cNvSpPr>
              <a:spLocks noChangeShapeType="1"/>
            </p:cNvSpPr>
            <p:nvPr>
              <p:custDataLst>
                <p:tags r:id="rId43"/>
              </p:custDataLst>
            </p:nvPr>
          </p:nvSpPr>
          <p:spPr bwMode="auto">
            <a:xfrm>
              <a:off x="2807415" y="2349016"/>
              <a:ext cx="0" cy="432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cxnSp>
          <p:nvCxnSpPr>
            <p:cNvPr id="246" name="直接箭头连接符 69"/>
            <p:cNvCxnSpPr/>
            <p:nvPr>
              <p:custDataLst>
                <p:tags r:id="rId44"/>
              </p:custDataLst>
            </p:nvPr>
          </p:nvCxnSpPr>
          <p:spPr bwMode="auto">
            <a:xfrm>
              <a:off x="3635952" y="2852936"/>
              <a:ext cx="68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47" name="Line 121"/>
            <p:cNvSpPr>
              <a:spLocks noChangeShapeType="1"/>
            </p:cNvSpPr>
            <p:nvPr>
              <p:custDataLst>
                <p:tags r:id="rId45"/>
              </p:custDataLst>
            </p:nvPr>
          </p:nvSpPr>
          <p:spPr bwMode="auto">
            <a:xfrm flipH="1">
              <a:off x="1763688" y="3284984"/>
              <a:ext cx="45360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48" name="Line 121"/>
            <p:cNvSpPr>
              <a:spLocks noChangeShapeType="1"/>
            </p:cNvSpPr>
            <p:nvPr>
              <p:custDataLst>
                <p:tags r:id="rId46"/>
              </p:custDataLst>
            </p:nvPr>
          </p:nvSpPr>
          <p:spPr bwMode="auto">
            <a:xfrm flipH="1" flipV="1">
              <a:off x="1763688" y="1556792"/>
              <a:ext cx="0" cy="1728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49" name="Line 121"/>
            <p:cNvSpPr>
              <a:spLocks noChangeShapeType="1"/>
            </p:cNvSpPr>
            <p:nvPr>
              <p:custDataLst>
                <p:tags r:id="rId47"/>
              </p:custDataLst>
            </p:nvPr>
          </p:nvSpPr>
          <p:spPr bwMode="auto">
            <a:xfrm flipH="1">
              <a:off x="4139952" y="1412776"/>
              <a:ext cx="0" cy="144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0" name="Line 121"/>
            <p:cNvSpPr>
              <a:spLocks noChangeShapeType="1"/>
            </p:cNvSpPr>
            <p:nvPr>
              <p:custDataLst>
                <p:tags r:id="rId48"/>
              </p:custDataLst>
            </p:nvPr>
          </p:nvSpPr>
          <p:spPr bwMode="auto">
            <a:xfrm flipH="1">
              <a:off x="1763688" y="1556792"/>
              <a:ext cx="23760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1" name="Line 360"/>
            <p:cNvSpPr>
              <a:spLocks noChangeShapeType="1"/>
            </p:cNvSpPr>
            <p:nvPr>
              <p:custDataLst>
                <p:tags r:id="rId49"/>
              </p:custDataLst>
            </p:nvPr>
          </p:nvSpPr>
          <p:spPr bwMode="auto">
            <a:xfrm flipH="1" flipV="1">
              <a:off x="3491880" y="2996952"/>
              <a:ext cx="0" cy="288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2" name="Line 360"/>
            <p:cNvSpPr>
              <a:spLocks noChangeShapeType="1"/>
            </p:cNvSpPr>
            <p:nvPr>
              <p:custDataLst>
                <p:tags r:id="rId50"/>
              </p:custDataLst>
            </p:nvPr>
          </p:nvSpPr>
          <p:spPr bwMode="auto">
            <a:xfrm flipH="1" flipV="1">
              <a:off x="2807984" y="2996952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3" name="Text Box 276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2447944" y="3032976"/>
              <a:ext cx="144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54" name="Line 360"/>
            <p:cNvSpPr>
              <a:spLocks noChangeShapeType="1"/>
            </p:cNvSpPr>
            <p:nvPr>
              <p:custDataLst>
                <p:tags r:id="rId52"/>
              </p:custDataLst>
            </p:nvPr>
          </p:nvSpPr>
          <p:spPr bwMode="auto">
            <a:xfrm flipV="1">
              <a:off x="2591960" y="3140968"/>
              <a:ext cx="29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5" name="Text Box 358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5436096" y="2780896"/>
              <a:ext cx="936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/>
                <a:t>比较器</a:t>
              </a:r>
              <a:endParaRPr lang="zh-CN" altLang="en-US" sz="1600" b="1" u="none" dirty="0"/>
            </a:p>
          </p:txBody>
        </p:sp>
        <p:sp>
          <p:nvSpPr>
            <p:cNvPr id="256" name="Line 360"/>
            <p:cNvSpPr>
              <a:spLocks noChangeShapeType="1"/>
            </p:cNvSpPr>
            <p:nvPr>
              <p:custDataLst>
                <p:tags r:id="rId54"/>
              </p:custDataLst>
            </p:nvPr>
          </p:nvSpPr>
          <p:spPr bwMode="auto">
            <a:xfrm flipH="1">
              <a:off x="6264112" y="2348880"/>
              <a:ext cx="0" cy="432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7" name="Line 361"/>
            <p:cNvSpPr>
              <a:spLocks noChangeShapeType="1"/>
            </p:cNvSpPr>
            <p:nvPr>
              <p:custDataLst>
                <p:tags r:id="rId55"/>
              </p:custDataLst>
            </p:nvPr>
          </p:nvSpPr>
          <p:spPr bwMode="auto">
            <a:xfrm>
              <a:off x="5579647" y="2348984"/>
              <a:ext cx="0" cy="432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8" name="Line 360"/>
            <p:cNvSpPr>
              <a:spLocks noChangeShapeType="1"/>
            </p:cNvSpPr>
            <p:nvPr>
              <p:custDataLst>
                <p:tags r:id="rId56"/>
              </p:custDataLst>
            </p:nvPr>
          </p:nvSpPr>
          <p:spPr bwMode="auto">
            <a:xfrm flipH="1" flipV="1">
              <a:off x="6300192" y="2996920"/>
              <a:ext cx="0" cy="288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9" name="Line 360"/>
            <p:cNvSpPr>
              <a:spLocks noChangeShapeType="1"/>
            </p:cNvSpPr>
            <p:nvPr>
              <p:custDataLst>
                <p:tags r:id="rId57"/>
              </p:custDataLst>
            </p:nvPr>
          </p:nvSpPr>
          <p:spPr bwMode="auto">
            <a:xfrm flipH="1" flipV="1">
              <a:off x="5580216" y="2996920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cxnSp>
          <p:nvCxnSpPr>
            <p:cNvPr id="260" name="直接箭头连接符 69"/>
            <p:cNvCxnSpPr/>
            <p:nvPr>
              <p:custDataLst>
                <p:tags r:id="rId58"/>
              </p:custDataLst>
            </p:nvPr>
          </p:nvCxnSpPr>
          <p:spPr bwMode="auto">
            <a:xfrm>
              <a:off x="6372200" y="2852936"/>
              <a:ext cx="68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61" name="Text Box 110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4860032" y="2780952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…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211976" y="2627755"/>
            <a:ext cx="4464480" cy="2447007"/>
            <a:chOff x="4283984" y="1414041"/>
            <a:chExt cx="4464480" cy="2447007"/>
          </a:xfrm>
        </p:grpSpPr>
        <p:sp>
          <p:nvSpPr>
            <p:cNvPr id="20" name="Line 121"/>
            <p:cNvSpPr>
              <a:spLocks noChangeShapeType="1"/>
            </p:cNvSpPr>
            <p:nvPr>
              <p:custDataLst>
                <p:tags r:id="rId60"/>
              </p:custDataLst>
            </p:nvPr>
          </p:nvSpPr>
          <p:spPr bwMode="auto">
            <a:xfrm flipH="1">
              <a:off x="4355824" y="2637024"/>
              <a:ext cx="0" cy="9360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1" name="等腰三角形 20"/>
            <p:cNvSpPr/>
            <p:nvPr>
              <p:custDataLst>
                <p:tags r:id="rId61"/>
              </p:custDataLst>
            </p:nvPr>
          </p:nvSpPr>
          <p:spPr bwMode="auto">
            <a:xfrm rot="5400000">
              <a:off x="4283984" y="2780944"/>
              <a:ext cx="144000" cy="144000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Line 121"/>
            <p:cNvSpPr>
              <a:spLocks noChangeShapeType="1"/>
            </p:cNvSpPr>
            <p:nvPr>
              <p:custDataLst>
                <p:tags r:id="rId62"/>
              </p:custDataLst>
            </p:nvPr>
          </p:nvSpPr>
          <p:spPr bwMode="auto">
            <a:xfrm>
              <a:off x="4356072" y="3572968"/>
              <a:ext cx="2952000" cy="4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3" name="Text Box 306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7308304" y="3357048"/>
              <a:ext cx="144000" cy="504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270" lIns="18000" tIns="10800" rIns="18000" bIns="10800" anchor="ctr"/>
            <a:p>
              <a:pPr algn="ctr"/>
              <a:r>
                <a:rPr lang="en-US" altLang="zh-CN" sz="1400" b="1" u="none" dirty="0" smtClean="0">
                  <a:latin typeface="宋体" panose="02010600030101010101" pitchFamily="2" charset="-122"/>
                </a:rPr>
                <a:t>…</a:t>
              </a:r>
              <a:endParaRPr lang="zh-CN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4" name="Line 311"/>
            <p:cNvSpPr>
              <a:spLocks noChangeShapeType="1"/>
            </p:cNvSpPr>
            <p:nvPr>
              <p:custDataLst>
                <p:tags r:id="rId64"/>
              </p:custDataLst>
            </p:nvPr>
          </p:nvSpPr>
          <p:spPr bwMode="auto">
            <a:xfrm>
              <a:off x="7308319" y="3483331"/>
              <a:ext cx="14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" name="Line 311"/>
            <p:cNvSpPr>
              <a:spLocks noChangeShapeType="1"/>
            </p:cNvSpPr>
            <p:nvPr>
              <p:custDataLst>
                <p:tags r:id="rId65"/>
              </p:custDataLst>
            </p:nvPr>
          </p:nvSpPr>
          <p:spPr bwMode="auto">
            <a:xfrm>
              <a:off x="7308319" y="3720099"/>
              <a:ext cx="14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6" name="Text Box 120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7732240" y="3356992"/>
              <a:ext cx="216000" cy="50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270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+mn-ea"/>
                  <a:ea typeface="+mn-ea"/>
                </a:rPr>
                <a:t>MUX</a:t>
              </a: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27" name="Text Box 136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7452416" y="3500952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vert270" wrap="none"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8" name="Line 121"/>
            <p:cNvSpPr>
              <a:spLocks noChangeShapeType="1"/>
            </p:cNvSpPr>
            <p:nvPr>
              <p:custDataLst>
                <p:tags r:id="rId68"/>
              </p:custDataLst>
            </p:nvPr>
          </p:nvSpPr>
          <p:spPr bwMode="auto">
            <a:xfrm>
              <a:off x="7452424" y="3428944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9" name="Line 121"/>
            <p:cNvSpPr>
              <a:spLocks noChangeShapeType="1"/>
            </p:cNvSpPr>
            <p:nvPr>
              <p:custDataLst>
                <p:tags r:id="rId69"/>
              </p:custDataLst>
            </p:nvPr>
          </p:nvSpPr>
          <p:spPr bwMode="auto">
            <a:xfrm>
              <a:off x="7452392" y="3788984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0" name="Text Box 329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8244464" y="3500872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数据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1" name="Line 154"/>
            <p:cNvSpPr>
              <a:spLocks noChangeShapeType="1"/>
            </p:cNvSpPr>
            <p:nvPr>
              <p:custDataLst>
                <p:tags r:id="rId71"/>
              </p:custDataLst>
            </p:nvPr>
          </p:nvSpPr>
          <p:spPr bwMode="auto">
            <a:xfrm flipH="1">
              <a:off x="7848448" y="1558057"/>
              <a:ext cx="0" cy="1800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2" name="Line 121"/>
            <p:cNvSpPr>
              <a:spLocks noChangeShapeType="1"/>
            </p:cNvSpPr>
            <p:nvPr>
              <p:custDataLst>
                <p:tags r:id="rId72"/>
              </p:custDataLst>
            </p:nvPr>
          </p:nvSpPr>
          <p:spPr bwMode="auto">
            <a:xfrm flipV="1">
              <a:off x="7956392" y="3608992"/>
              <a:ext cx="288000" cy="16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none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3" name="Line 121"/>
            <p:cNvSpPr>
              <a:spLocks noChangeShapeType="1"/>
            </p:cNvSpPr>
            <p:nvPr>
              <p:custDataLst>
                <p:tags r:id="rId73"/>
              </p:custDataLst>
            </p:nvPr>
          </p:nvSpPr>
          <p:spPr bwMode="auto">
            <a:xfrm flipH="1">
              <a:off x="7092128" y="2637024"/>
              <a:ext cx="0" cy="9360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oval" w="sm" len="sm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4" name="等腰三角形 33"/>
            <p:cNvSpPr/>
            <p:nvPr>
              <p:custDataLst>
                <p:tags r:id="rId74"/>
              </p:custDataLst>
            </p:nvPr>
          </p:nvSpPr>
          <p:spPr bwMode="auto">
            <a:xfrm rot="5400000">
              <a:off x="7020288" y="2780944"/>
              <a:ext cx="144000" cy="144000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" name="Line 121"/>
            <p:cNvSpPr>
              <a:spLocks noChangeShapeType="1"/>
            </p:cNvSpPr>
            <p:nvPr>
              <p:custDataLst>
                <p:tags r:id="rId75"/>
              </p:custDataLst>
            </p:nvPr>
          </p:nvSpPr>
          <p:spPr bwMode="auto">
            <a:xfrm flipH="1">
              <a:off x="6228280" y="1414041"/>
              <a:ext cx="0" cy="144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6" name="Line 121"/>
            <p:cNvSpPr>
              <a:spLocks noChangeShapeType="1"/>
            </p:cNvSpPr>
            <p:nvPr>
              <p:custDataLst>
                <p:tags r:id="rId76"/>
              </p:custDataLst>
            </p:nvPr>
          </p:nvSpPr>
          <p:spPr bwMode="auto">
            <a:xfrm>
              <a:off x="6228184" y="1558057"/>
              <a:ext cx="1620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203848" y="2203346"/>
            <a:ext cx="3498541" cy="648072"/>
            <a:chOff x="3305707" y="1844824"/>
            <a:chExt cx="3498541" cy="648072"/>
          </a:xfrm>
        </p:grpSpPr>
        <p:sp>
          <p:nvSpPr>
            <p:cNvPr id="38" name="Text Box 382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5724248" y="1844848"/>
              <a:ext cx="1080000" cy="43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t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9" name="Text Box 383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3305707" y="1844848"/>
              <a:ext cx="546151" cy="43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主存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0" name="Text Box 384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4571904" y="2060824"/>
              <a:ext cx="115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群内块号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g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1" name="Text Box 385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3852184" y="2060824"/>
              <a:ext cx="72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群号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r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2" name="Text Box 257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3851920" y="1844824"/>
              <a:ext cx="1872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主存</a:t>
              </a:r>
              <a:r>
                <a:rPr lang="zh-CN" altLang="en-US" sz="1400" b="1" u="none" dirty="0" smtClean="0">
                  <a:latin typeface="宋体" panose="02010600030101010101" pitchFamily="2" charset="-122"/>
                </a:rPr>
                <a:t>块号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3" name="Text Box 255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5148064" y="2276896"/>
              <a:ext cx="43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索引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4" name="Text Box 255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4169803" y="2276872"/>
              <a:ext cx="43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标记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62" name="组合 261"/>
          <p:cNvGrpSpPr/>
          <p:nvPr/>
        </p:nvGrpSpPr>
        <p:grpSpPr>
          <a:xfrm>
            <a:off x="3635896" y="4075554"/>
            <a:ext cx="2808312" cy="1224136"/>
            <a:chOff x="3635896" y="3645024"/>
            <a:chExt cx="2808312" cy="1224136"/>
          </a:xfrm>
        </p:grpSpPr>
        <p:cxnSp>
          <p:nvCxnSpPr>
            <p:cNvPr id="45" name="直接箭头连接符 157"/>
            <p:cNvCxnSpPr/>
            <p:nvPr>
              <p:custDataLst>
                <p:tags r:id="rId84"/>
              </p:custDataLst>
            </p:nvPr>
          </p:nvCxnSpPr>
          <p:spPr bwMode="auto">
            <a:xfrm flipH="1">
              <a:off x="3707901" y="3645104"/>
              <a:ext cx="3" cy="72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46" name="Text Box 329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3635896" y="4365104"/>
              <a:ext cx="504056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400" b="1" u="none" dirty="0" smtClean="0">
                  <a:latin typeface="宋体" panose="02010600030101010101" pitchFamily="2" charset="-122"/>
                </a:rPr>
                <a:t>≥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7" name="Line 121"/>
            <p:cNvSpPr>
              <a:spLocks noChangeShapeType="1"/>
            </p:cNvSpPr>
            <p:nvPr>
              <p:custDataLst>
                <p:tags r:id="rId86"/>
              </p:custDataLst>
            </p:nvPr>
          </p:nvSpPr>
          <p:spPr bwMode="auto">
            <a:xfrm>
              <a:off x="4067944" y="4221088"/>
              <a:ext cx="0" cy="144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48" name="Text Box 136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3779912" y="4149080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9" name="Line 121"/>
            <p:cNvSpPr>
              <a:spLocks noChangeShapeType="1"/>
            </p:cNvSpPr>
            <p:nvPr>
              <p:custDataLst>
                <p:tags r:id="rId88"/>
              </p:custDataLst>
            </p:nvPr>
          </p:nvSpPr>
          <p:spPr bwMode="auto">
            <a:xfrm flipH="1">
              <a:off x="4068152" y="4221040"/>
              <a:ext cx="23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50" name="Line 121"/>
            <p:cNvSpPr>
              <a:spLocks noChangeShapeType="1"/>
            </p:cNvSpPr>
            <p:nvPr>
              <p:custDataLst>
                <p:tags r:id="rId89"/>
              </p:custDataLst>
            </p:nvPr>
          </p:nvSpPr>
          <p:spPr bwMode="auto">
            <a:xfrm>
              <a:off x="6444208" y="3645024"/>
              <a:ext cx="0" cy="57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51" name="Line 121"/>
            <p:cNvSpPr>
              <a:spLocks noChangeShapeType="1"/>
            </p:cNvSpPr>
            <p:nvPr>
              <p:custDataLst>
                <p:tags r:id="rId90"/>
              </p:custDataLst>
            </p:nvPr>
          </p:nvSpPr>
          <p:spPr bwMode="auto">
            <a:xfrm>
              <a:off x="3851920" y="4581128"/>
              <a:ext cx="0" cy="28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52" name="Text Box 329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3923928" y="4653160"/>
              <a:ext cx="1008112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命中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缺失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67" name="Text Box 351"/>
          <p:cNvSpPr txBox="1">
            <a:spLocks noChangeArrowheads="1"/>
          </p:cNvSpPr>
          <p:nvPr/>
        </p:nvSpPr>
        <p:spPr bwMode="auto">
          <a:xfrm>
            <a:off x="179388" y="3204667"/>
            <a:ext cx="8209036" cy="263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⑵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数据放</a:t>
            </a:r>
            <a:r>
              <a:rPr lang="zh-CN" altLang="en-US" sz="2200" b="1" u="none" dirty="0">
                <a:latin typeface="宋体" panose="02010600030101010101" pitchFamily="2" charset="-122"/>
              </a:rPr>
              <a:t>在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连续的  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Symbol" panose="05050102010706020507"/>
              </a:rPr>
              <a:t>              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个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主存块中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块调入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时，放在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～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 组中，有   次冲突；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访问时不命中的特征是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      Cache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命中率＝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⑶数据放在 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Symbol" panose="05050102010706020507"/>
              </a:rPr>
              <a:t>                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个块中，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H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＝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    ⑷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u="none" baseline="-18000" dirty="0" smtClean="0">
                <a:latin typeface="宋体" panose="02010600030101010101" pitchFamily="2" charset="-122"/>
              </a:rPr>
              <a:t>A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＝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3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F98BD-1638-410F-95F0-4036138D9928}" type="slidenum">
              <a:rPr lang="en-US" altLang="zh-CN"/>
            </a:fld>
            <a:endParaRPr lang="en-US" altLang="zh-CN"/>
          </a:p>
        </p:txBody>
      </p:sp>
      <p:sp>
        <p:nvSpPr>
          <p:cNvPr id="214329" name="Text Box 313"/>
          <p:cNvSpPr txBox="1">
            <a:spLocks noChangeArrowheads="1"/>
          </p:cNvSpPr>
          <p:nvPr/>
        </p:nvSpPr>
        <p:spPr bwMode="auto">
          <a:xfrm>
            <a:off x="179388" y="332656"/>
            <a:ext cx="8857108" cy="20370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主存按字节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编址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、地址空间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为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24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位；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>
                <a:latin typeface="宋体" panose="02010600030101010101" pitchFamily="2" charset="-122"/>
              </a:rPr>
              <a:t>容量为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8KB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，块大小</a:t>
            </a:r>
            <a:r>
              <a:rPr lang="en-US" altLang="zh-CN" sz="2200" b="1" u="none" dirty="0">
                <a:latin typeface="宋体" panose="02010600030101010101" pitchFamily="2" charset="-122"/>
              </a:rPr>
              <a:t>32B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，采用</a:t>
            </a:r>
            <a:r>
              <a:rPr lang="en-US" altLang="zh-CN" sz="2200" b="1" u="none" dirty="0">
                <a:latin typeface="宋体" panose="02010600030101010101" pitchFamily="2" charset="-122"/>
              </a:rPr>
              <a:t>4</a:t>
            </a:r>
            <a:r>
              <a:rPr lang="zh-CN" altLang="en-US" sz="2200" b="1" u="none" dirty="0">
                <a:latin typeface="宋体" panose="02010600030101010101" pitchFamily="2" charset="-122"/>
              </a:rPr>
              <a:t>路组相联映射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方式。⑴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主存地址如何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划分？ ⑵若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>
                <a:latin typeface="宋体" panose="02010600030101010101" pitchFamily="2" charset="-122"/>
              </a:rPr>
              <a:t>初态为空，</a:t>
            </a:r>
            <a:r>
              <a:rPr lang="en-US" altLang="zh-CN" sz="2200" b="1" u="none" dirty="0">
                <a:latin typeface="宋体" panose="02010600030101010101" pitchFamily="2" charset="-122"/>
              </a:rPr>
              <a:t>CPU</a:t>
            </a:r>
            <a:r>
              <a:rPr lang="zh-CN" altLang="en-US" sz="2200" b="1" u="none" dirty="0">
                <a:latin typeface="宋体" panose="02010600030101010101" pitchFamily="2" charset="-122"/>
              </a:rPr>
              <a:t>从</a:t>
            </a:r>
            <a:r>
              <a:rPr lang="en-US" altLang="zh-CN" sz="2200" b="1" u="none" dirty="0">
                <a:latin typeface="宋体" panose="02010600030101010101" pitchFamily="2" charset="-122"/>
              </a:rPr>
              <a:t>0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#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单元起连续读出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100B</a:t>
            </a:r>
            <a:r>
              <a:rPr lang="zh-CN" altLang="en-US" sz="2200" b="1" u="none" dirty="0">
                <a:latin typeface="宋体" panose="02010600030101010101" pitchFamily="2" charset="-122"/>
              </a:rPr>
              <a:t>数据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(1B/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次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命中率？ ⑶若⑵中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100B</a:t>
            </a:r>
            <a:r>
              <a:rPr lang="zh-CN" altLang="en-US" sz="2200" b="1" u="none" dirty="0">
                <a:latin typeface="宋体" panose="02010600030101010101" pitchFamily="2" charset="-122"/>
              </a:rPr>
              <a:t>数据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从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62#</a:t>
            </a:r>
            <a:r>
              <a:rPr lang="zh-CN" altLang="en-US" sz="2200" b="1" u="none" dirty="0">
                <a:latin typeface="宋体" panose="02010600030101010101" pitchFamily="2" charset="-122"/>
              </a:rPr>
              <a:t>单元起存储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>
                <a:latin typeface="宋体" panose="02010600030101010101" pitchFamily="2" charset="-122"/>
              </a:rPr>
              <a:t>命中率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？ ⑷若</a:t>
            </a:r>
            <a:r>
              <a:rPr lang="zh-CN" altLang="en-US" sz="2200" b="1" u="none" dirty="0">
                <a:latin typeface="宋体" panose="02010600030101010101" pitchFamily="2" charset="-122"/>
              </a:rPr>
              <a:t>⑵中</a:t>
            </a:r>
            <a:r>
              <a:rPr lang="en-US" altLang="zh-CN" sz="2200" b="1" u="none" dirty="0">
                <a:latin typeface="宋体" panose="02010600030101010101" pitchFamily="2" charset="-122"/>
              </a:rPr>
              <a:t>T</a:t>
            </a:r>
            <a:r>
              <a:rPr lang="zh-CN" altLang="en-US" sz="2200" b="1" u="none" baseline="-18000" dirty="0">
                <a:latin typeface="宋体" panose="02010600030101010101" pitchFamily="2" charset="-122"/>
              </a:rPr>
              <a:t>命中</a:t>
            </a:r>
            <a:r>
              <a:rPr lang="en-US" altLang="zh-CN" sz="2200" b="1" u="none" dirty="0">
                <a:latin typeface="宋体" panose="02010600030101010101" pitchFamily="2" charset="-122"/>
              </a:rPr>
              <a:t>=20ns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200" b="1" u="none" dirty="0">
                <a:latin typeface="宋体" panose="02010600030101010101" pitchFamily="2" charset="-122"/>
              </a:rPr>
              <a:t>T</a:t>
            </a:r>
            <a:r>
              <a:rPr lang="zh-CN" altLang="en-US" sz="2200" b="1" u="none" baseline="-18000" dirty="0">
                <a:latin typeface="宋体" panose="02010600030101010101" pitchFamily="2" charset="-122"/>
              </a:rPr>
              <a:t>缺失</a:t>
            </a:r>
            <a:r>
              <a:rPr lang="en-US" altLang="zh-CN" sz="2200" b="1" u="none" dirty="0">
                <a:latin typeface="宋体" panose="02010600030101010101" pitchFamily="2" charset="-122"/>
              </a:rPr>
              <a:t>=200ns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，平均访问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时间是多少？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sp>
        <p:nvSpPr>
          <p:cNvPr id="214330" name="Text Box 314"/>
          <p:cNvSpPr txBox="1">
            <a:spLocks noChangeArrowheads="1"/>
          </p:cNvSpPr>
          <p:nvPr/>
        </p:nvSpPr>
        <p:spPr bwMode="auto">
          <a:xfrm>
            <a:off x="179388" y="2298926"/>
            <a:ext cx="878522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解：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⑴主存</a:t>
            </a:r>
            <a:r>
              <a:rPr lang="zh-CN" altLang="en-US" sz="2200" b="1" u="none" dirty="0">
                <a:latin typeface="宋体" panose="02010600030101010101" pitchFamily="2" charset="-122"/>
              </a:rPr>
              <a:t>地址</a:t>
            </a:r>
            <a:r>
              <a:rPr lang="en-US" altLang="zh-CN" sz="2200" b="1" u="none" dirty="0">
                <a:latin typeface="宋体" panose="02010600030101010101" pitchFamily="2" charset="-122"/>
              </a:rPr>
              <a:t>(24</a:t>
            </a:r>
            <a:r>
              <a:rPr lang="zh-CN" altLang="en-US" sz="2200" b="1" u="none" dirty="0">
                <a:latin typeface="宋体" panose="02010600030101010101" pitchFamily="2" charset="-122"/>
              </a:rPr>
              <a:t>位</a:t>
            </a:r>
            <a:r>
              <a:rPr lang="en-US" altLang="zh-CN" sz="22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划分如下： </a:t>
            </a:r>
            <a:r>
              <a:rPr lang="en-US" altLang="zh-CN" sz="2000" b="1" u="none" dirty="0">
                <a:latin typeface="宋体" panose="02010600030101010101" pitchFamily="2" charset="-122"/>
              </a:rPr>
              <a:t>(</a:t>
            </a:r>
            <a:r>
              <a:rPr lang="zh-CN" altLang="en-US" sz="2000" b="1" u="none" dirty="0">
                <a:latin typeface="宋体" panose="02010600030101010101" pitchFamily="2" charset="-122"/>
              </a:rPr>
              <a:t>块内地址为</a:t>
            </a:r>
            <a:r>
              <a:rPr lang="en-US" altLang="zh-CN" sz="2000" b="1" u="none" dirty="0">
                <a:latin typeface="宋体" panose="02010600030101010101" pitchFamily="2" charset="-122"/>
              </a:rPr>
              <a:t>5</a:t>
            </a:r>
            <a:r>
              <a:rPr lang="zh-CN" altLang="en-US" sz="2000" b="1" u="none" dirty="0">
                <a:latin typeface="宋体" panose="02010600030101010101" pitchFamily="2" charset="-122"/>
              </a:rPr>
              <a:t>位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)</a:t>
            </a:r>
            <a:endParaRPr lang="en-US" altLang="zh-CN" sz="2000" b="1" u="none" dirty="0" smtClean="0">
              <a:latin typeface="宋体" panose="02010600030101010101" pitchFamily="2" charset="-122"/>
            </a:endParaRPr>
          </a:p>
        </p:txBody>
      </p:sp>
      <p:grpSp>
        <p:nvGrpSpPr>
          <p:cNvPr id="214383" name="Group 367"/>
          <p:cNvGrpSpPr/>
          <p:nvPr/>
        </p:nvGrpSpPr>
        <p:grpSpPr bwMode="auto">
          <a:xfrm>
            <a:off x="2555778" y="2772760"/>
            <a:ext cx="2303463" cy="287632"/>
            <a:chOff x="3334" y="2372"/>
            <a:chExt cx="1451" cy="261"/>
          </a:xfrm>
        </p:grpSpPr>
        <p:sp>
          <p:nvSpPr>
            <p:cNvPr id="214337" name="Line 321"/>
            <p:cNvSpPr>
              <a:spLocks noChangeShapeType="1"/>
            </p:cNvSpPr>
            <p:nvPr/>
          </p:nvSpPr>
          <p:spPr bwMode="auto">
            <a:xfrm flipV="1">
              <a:off x="3833" y="2478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  <p:sp>
          <p:nvSpPr>
            <p:cNvPr id="214340" name="Line 324"/>
            <p:cNvSpPr>
              <a:spLocks noChangeShapeType="1"/>
            </p:cNvSpPr>
            <p:nvPr/>
          </p:nvSpPr>
          <p:spPr bwMode="auto">
            <a:xfrm>
              <a:off x="3334" y="2437"/>
              <a:ext cx="0" cy="1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  <p:sp>
          <p:nvSpPr>
            <p:cNvPr id="214341" name="Text Box 325"/>
            <p:cNvSpPr txBox="1">
              <a:spLocks noChangeArrowheads="1"/>
            </p:cNvSpPr>
            <p:nvPr/>
          </p:nvSpPr>
          <p:spPr bwMode="auto">
            <a:xfrm>
              <a:off x="3515" y="2372"/>
              <a:ext cx="318" cy="19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13</a:t>
              </a: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位</a:t>
              </a:r>
              <a:endParaRPr lang="zh-CN" altLang="en-US" sz="16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4342" name="Line 326"/>
            <p:cNvSpPr>
              <a:spLocks noChangeShapeType="1"/>
            </p:cNvSpPr>
            <p:nvPr/>
          </p:nvSpPr>
          <p:spPr bwMode="auto">
            <a:xfrm flipH="1">
              <a:off x="3334" y="2478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  <p:sp>
          <p:nvSpPr>
            <p:cNvPr id="214344" name="Line 328"/>
            <p:cNvSpPr>
              <a:spLocks noChangeShapeType="1"/>
            </p:cNvSpPr>
            <p:nvPr/>
          </p:nvSpPr>
          <p:spPr bwMode="auto">
            <a:xfrm>
              <a:off x="4014" y="2437"/>
              <a:ext cx="0" cy="1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  <p:sp>
          <p:nvSpPr>
            <p:cNvPr id="214345" name="Line 329"/>
            <p:cNvSpPr>
              <a:spLocks noChangeShapeType="1"/>
            </p:cNvSpPr>
            <p:nvPr/>
          </p:nvSpPr>
          <p:spPr bwMode="auto">
            <a:xfrm flipV="1">
              <a:off x="4536" y="2478"/>
              <a:ext cx="2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  <p:sp>
          <p:nvSpPr>
            <p:cNvPr id="214346" name="Text Box 330"/>
            <p:cNvSpPr txBox="1">
              <a:spLocks noChangeArrowheads="1"/>
            </p:cNvSpPr>
            <p:nvPr/>
          </p:nvSpPr>
          <p:spPr bwMode="auto">
            <a:xfrm>
              <a:off x="4287" y="2372"/>
              <a:ext cx="272" cy="19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6</a:t>
              </a: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位</a:t>
              </a:r>
              <a:endParaRPr lang="zh-CN" altLang="en-US" sz="16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4347" name="Line 331"/>
            <p:cNvSpPr>
              <a:spLocks noChangeShapeType="1"/>
            </p:cNvSpPr>
            <p:nvPr/>
          </p:nvSpPr>
          <p:spPr bwMode="auto">
            <a:xfrm flipH="1">
              <a:off x="4014" y="2478"/>
              <a:ext cx="2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</p:grpSp>
      <p:grpSp>
        <p:nvGrpSpPr>
          <p:cNvPr id="214382" name="Group 366"/>
          <p:cNvGrpSpPr/>
          <p:nvPr/>
        </p:nvGrpSpPr>
        <p:grpSpPr bwMode="auto">
          <a:xfrm>
            <a:off x="2555776" y="2988643"/>
            <a:ext cx="3311525" cy="215900"/>
            <a:chOff x="1837" y="2523"/>
            <a:chExt cx="2086" cy="136"/>
          </a:xfrm>
        </p:grpSpPr>
        <p:sp>
          <p:nvSpPr>
            <p:cNvPr id="214332" name="Text Box 316"/>
            <p:cNvSpPr txBox="1">
              <a:spLocks noChangeArrowheads="1"/>
            </p:cNvSpPr>
            <p:nvPr/>
          </p:nvSpPr>
          <p:spPr bwMode="auto">
            <a:xfrm>
              <a:off x="3288" y="2523"/>
              <a:ext cx="635" cy="136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块内地址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14339" name="Text Box 323"/>
            <p:cNvSpPr txBox="1">
              <a:spLocks noChangeArrowheads="1"/>
            </p:cNvSpPr>
            <p:nvPr/>
          </p:nvSpPr>
          <p:spPr bwMode="auto">
            <a:xfrm>
              <a:off x="1837" y="2523"/>
              <a:ext cx="680" cy="136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群号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14343" name="Text Box 327"/>
            <p:cNvSpPr txBox="1">
              <a:spLocks noChangeArrowheads="1"/>
            </p:cNvSpPr>
            <p:nvPr/>
          </p:nvSpPr>
          <p:spPr bwMode="auto">
            <a:xfrm>
              <a:off x="2517" y="2523"/>
              <a:ext cx="771" cy="136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群内块号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</p:grpSp>
      <p:sp>
        <p:nvSpPr>
          <p:cNvPr id="214368" name="Text Box 352"/>
          <p:cNvSpPr txBox="1">
            <a:spLocks noChangeArrowheads="1"/>
          </p:cNvSpPr>
          <p:nvPr/>
        </p:nvSpPr>
        <p:spPr bwMode="auto">
          <a:xfrm>
            <a:off x="1548130" y="4860000"/>
            <a:ext cx="590613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  <a:sym typeface="Symbol" panose="05050102010706020507"/>
              </a:rPr>
              <a:t>     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Symbol" panose="05050102010706020507"/>
              </a:rPr>
              <a:t>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Symbol" panose="05050102010706020507"/>
              </a:rPr>
              <a:t>(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100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62</a:t>
            </a: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%32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)/32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Symbol" panose="05050102010706020507"/>
              </a:rPr>
              <a:t>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5            95%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T</a:t>
            </a:r>
            <a:r>
              <a:rPr lang="zh-CN" altLang="en-US" sz="2200" b="1" u="none" baseline="-18000" dirty="0" smtClean="0">
                <a:latin typeface="宋体" panose="02010600030101010101" pitchFamily="2" charset="-122"/>
              </a:rPr>
              <a:t>命中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＋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(1-H)T</a:t>
            </a:r>
            <a:r>
              <a:rPr lang="zh-CN" altLang="en-US" sz="2200" b="1" u="none" baseline="-18000" dirty="0">
                <a:latin typeface="宋体" panose="02010600030101010101" pitchFamily="2" charset="-122"/>
              </a:rPr>
              <a:t>缺失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20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＋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0.04*200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28ns</a:t>
            </a:r>
            <a:endParaRPr lang="en-US" altLang="zh-CN" sz="2200" b="1" u="none" dirty="0">
              <a:latin typeface="宋体" panose="02010600030101010101" pitchFamily="2" charset="-122"/>
            </a:endParaRPr>
          </a:p>
        </p:txBody>
      </p:sp>
      <p:sp>
        <p:nvSpPr>
          <p:cNvPr id="214376" name="Text Box 360"/>
          <p:cNvSpPr txBox="1">
            <a:spLocks noChangeArrowheads="1"/>
          </p:cNvSpPr>
          <p:nvPr/>
        </p:nvSpPr>
        <p:spPr bwMode="auto">
          <a:xfrm>
            <a:off x="2988583" y="3204667"/>
            <a:ext cx="4824000" cy="178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Symbol" panose="05050102010706020507"/>
              </a:rPr>
              <a:t>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Symbol" panose="05050102010706020507"/>
              </a:rPr>
              <a:t>(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100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＋</a:t>
            </a: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%32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)/32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Symbol" panose="05050102010706020507"/>
              </a:rPr>
              <a:t>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4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 0#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3#          0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每个块的块内地址＝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时缺失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(100-4)/100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96%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101404" y="3685898"/>
            <a:ext cx="576064" cy="1819232"/>
            <a:chOff x="8244408" y="3625991"/>
            <a:chExt cx="576064" cy="1819232"/>
          </a:xfrm>
        </p:grpSpPr>
        <p:sp>
          <p:nvSpPr>
            <p:cNvPr id="40" name="Text Box 316"/>
            <p:cNvSpPr txBox="1">
              <a:spLocks noChangeArrowheads="1"/>
            </p:cNvSpPr>
            <p:nvPr/>
          </p:nvSpPr>
          <p:spPr bwMode="auto">
            <a:xfrm>
              <a:off x="8532440" y="3645024"/>
              <a:ext cx="288032" cy="432048"/>
            </a:xfrm>
            <a:prstGeom prst="rect">
              <a:avLst/>
            </a:prstGeom>
            <a:solidFill>
              <a:srgbClr val="99CC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9" name="Text Box 316"/>
            <p:cNvSpPr txBox="1">
              <a:spLocks noChangeArrowheads="1"/>
            </p:cNvSpPr>
            <p:nvPr/>
          </p:nvSpPr>
          <p:spPr bwMode="auto">
            <a:xfrm>
              <a:off x="8532440" y="4941168"/>
              <a:ext cx="288032" cy="432048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8" name="Text Box 316"/>
            <p:cNvSpPr txBox="1">
              <a:spLocks noChangeArrowheads="1"/>
            </p:cNvSpPr>
            <p:nvPr/>
          </p:nvSpPr>
          <p:spPr bwMode="auto">
            <a:xfrm>
              <a:off x="8532440" y="4085580"/>
              <a:ext cx="288032" cy="864096"/>
            </a:xfrm>
            <a:prstGeom prst="rect">
              <a:avLst/>
            </a:prstGeom>
            <a:solidFill>
              <a:srgbClr val="FFCC99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8" name="Line 317"/>
            <p:cNvSpPr>
              <a:spLocks noChangeShapeType="1"/>
            </p:cNvSpPr>
            <p:nvPr/>
          </p:nvSpPr>
          <p:spPr bwMode="auto">
            <a:xfrm>
              <a:off x="8532192" y="3625991"/>
              <a:ext cx="248" cy="176929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317"/>
            <p:cNvSpPr>
              <a:spLocks noChangeShapeType="1"/>
            </p:cNvSpPr>
            <p:nvPr/>
          </p:nvSpPr>
          <p:spPr bwMode="auto">
            <a:xfrm>
              <a:off x="8532440" y="4085580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317"/>
            <p:cNvSpPr>
              <a:spLocks noChangeShapeType="1"/>
            </p:cNvSpPr>
            <p:nvPr/>
          </p:nvSpPr>
          <p:spPr bwMode="auto">
            <a:xfrm>
              <a:off x="8532440" y="4293096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317"/>
            <p:cNvSpPr>
              <a:spLocks noChangeShapeType="1"/>
            </p:cNvSpPr>
            <p:nvPr/>
          </p:nvSpPr>
          <p:spPr bwMode="auto">
            <a:xfrm>
              <a:off x="8532440" y="4949676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317"/>
            <p:cNvSpPr>
              <a:spLocks noChangeShapeType="1"/>
            </p:cNvSpPr>
            <p:nvPr/>
          </p:nvSpPr>
          <p:spPr bwMode="auto">
            <a:xfrm>
              <a:off x="8532440" y="5157192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319"/>
            <p:cNvSpPr txBox="1">
              <a:spLocks noChangeArrowheads="1"/>
            </p:cNvSpPr>
            <p:nvPr/>
          </p:nvSpPr>
          <p:spPr bwMode="auto">
            <a:xfrm>
              <a:off x="8244408" y="3645024"/>
              <a:ext cx="576064" cy="180019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5000"/>
                </a:lnSpc>
              </a:pPr>
              <a:r>
                <a:rPr lang="en-US" altLang="zh-CN" sz="1600" u="none" dirty="0" smtClean="0">
                  <a:latin typeface="宋体" panose="02010600030101010101" pitchFamily="2" charset="-122"/>
                </a:rPr>
                <a:t>…</a:t>
              </a:r>
              <a:endParaRPr lang="en-US" altLang="zh-CN" sz="1600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85000"/>
                </a:lnSpc>
              </a:pPr>
              <a:r>
                <a:rPr lang="en-US" altLang="zh-CN" sz="1600" u="none" dirty="0" smtClean="0">
                  <a:latin typeface="宋体" panose="02010600030101010101" pitchFamily="2" charset="-122"/>
                </a:rPr>
                <a:t>31</a:t>
              </a:r>
              <a:endParaRPr lang="en-US" altLang="zh-CN" sz="1600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u="none" dirty="0" smtClean="0">
                  <a:latin typeface="宋体" panose="02010600030101010101" pitchFamily="2" charset="-122"/>
                </a:rPr>
                <a:t>32</a:t>
              </a:r>
              <a:endParaRPr lang="en-US" altLang="zh-CN" sz="1600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u="none" dirty="0" smtClean="0">
                  <a:latin typeface="宋体" panose="02010600030101010101" pitchFamily="2" charset="-122"/>
                </a:rPr>
                <a:t>…</a:t>
              </a:r>
              <a:endParaRPr lang="en-US" altLang="zh-CN" sz="1600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u="none" dirty="0" smtClean="0">
                  <a:latin typeface="宋体" panose="02010600030101010101" pitchFamily="2" charset="-122"/>
                </a:rPr>
                <a:t>62</a:t>
              </a:r>
              <a:r>
                <a:rPr lang="en-US" altLang="zh-CN" sz="1600" u="none" spc="2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u="none" baseline="-18000" dirty="0" smtClean="0">
                  <a:latin typeface="宋体" panose="02010600030101010101" pitchFamily="2" charset="-122"/>
                </a:rPr>
                <a:t>0</a:t>
              </a:r>
              <a:endParaRPr lang="en-US" altLang="zh-CN" sz="1600" u="none" baseline="-18000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u="none" dirty="0" smtClean="0">
                  <a:latin typeface="宋体" panose="02010600030101010101" pitchFamily="2" charset="-122"/>
                </a:rPr>
                <a:t>63</a:t>
              </a:r>
              <a:r>
                <a:rPr lang="en-US" altLang="zh-CN" sz="1600" u="none" spc="2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u="none" baseline="-18000" dirty="0" smtClean="0">
                  <a:latin typeface="宋体" panose="02010600030101010101" pitchFamily="2" charset="-122"/>
                </a:rPr>
                <a:t>1</a:t>
              </a:r>
              <a:endParaRPr lang="en-US" altLang="zh-CN" sz="1600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u="none" dirty="0" smtClean="0">
                  <a:latin typeface="宋体" panose="02010600030101010101" pitchFamily="2" charset="-122"/>
                </a:rPr>
                <a:t>64</a:t>
              </a:r>
              <a:r>
                <a:rPr lang="en-US" altLang="zh-CN" sz="1600" u="none" spc="2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u="none" dirty="0" smtClean="0">
                  <a:latin typeface="宋体" panose="02010600030101010101" pitchFamily="2" charset="-122"/>
                </a:rPr>
                <a:t>D</a:t>
              </a:r>
              <a:r>
                <a:rPr lang="en-US" altLang="zh-CN" sz="1600" u="none" baseline="-18000" dirty="0" smtClean="0">
                  <a:latin typeface="宋体" panose="02010600030101010101" pitchFamily="2" charset="-122"/>
                </a:rPr>
                <a:t>2</a:t>
              </a:r>
              <a:endParaRPr lang="en-US" altLang="zh-CN" sz="1600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…</a:t>
              </a:r>
              <a:endParaRPr lang="zh-CN" altLang="en-US" sz="1600" u="none" dirty="0">
                <a:latin typeface="宋体" panose="02010600030101010101" pitchFamily="2" charset="-122"/>
              </a:endParaRPr>
            </a:p>
          </p:txBody>
        </p:sp>
        <p:sp>
          <p:nvSpPr>
            <p:cNvPr id="36" name="Line 317"/>
            <p:cNvSpPr>
              <a:spLocks noChangeShapeType="1"/>
            </p:cNvSpPr>
            <p:nvPr/>
          </p:nvSpPr>
          <p:spPr bwMode="auto">
            <a:xfrm>
              <a:off x="8532440" y="4517628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317"/>
            <p:cNvSpPr>
              <a:spLocks noChangeShapeType="1"/>
            </p:cNvSpPr>
            <p:nvPr/>
          </p:nvSpPr>
          <p:spPr bwMode="auto">
            <a:xfrm>
              <a:off x="8532440" y="4725144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317"/>
            <p:cNvSpPr>
              <a:spLocks noChangeShapeType="1"/>
            </p:cNvSpPr>
            <p:nvPr/>
          </p:nvSpPr>
          <p:spPr bwMode="auto">
            <a:xfrm>
              <a:off x="8532440" y="3861048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7504" y="3451347"/>
            <a:ext cx="504056" cy="1769291"/>
            <a:chOff x="-324544" y="3068960"/>
            <a:chExt cx="504056" cy="1769291"/>
          </a:xfrm>
        </p:grpSpPr>
        <p:sp>
          <p:nvSpPr>
            <p:cNvPr id="59" name="Text Box 316"/>
            <p:cNvSpPr txBox="1">
              <a:spLocks noChangeArrowheads="1"/>
            </p:cNvSpPr>
            <p:nvPr/>
          </p:nvSpPr>
          <p:spPr bwMode="auto">
            <a:xfrm>
              <a:off x="-108520" y="3933056"/>
              <a:ext cx="288032" cy="432048"/>
            </a:xfrm>
            <a:prstGeom prst="rect">
              <a:avLst/>
            </a:prstGeom>
            <a:solidFill>
              <a:srgbClr val="99CC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2" name="Text Box 319"/>
            <p:cNvSpPr txBox="1">
              <a:spLocks noChangeArrowheads="1"/>
            </p:cNvSpPr>
            <p:nvPr/>
          </p:nvSpPr>
          <p:spPr bwMode="auto">
            <a:xfrm>
              <a:off x="-324544" y="3068961"/>
              <a:ext cx="216024" cy="17281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78000"/>
                </a:lnSpc>
              </a:pPr>
              <a:r>
                <a:rPr lang="en-US" altLang="zh-CN" sz="1200" u="none" dirty="0" smtClean="0">
                  <a:latin typeface="宋体" panose="02010600030101010101" pitchFamily="2" charset="-122"/>
                </a:rPr>
                <a:t> 0</a:t>
              </a:r>
              <a:endParaRPr lang="en-US" altLang="zh-CN" sz="1200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 smtClean="0">
                  <a:latin typeface="宋体" panose="02010600030101010101" pitchFamily="2" charset="-122"/>
                </a:rPr>
                <a:t>…</a:t>
              </a:r>
              <a:endParaRPr lang="en-US" altLang="zh-CN" sz="1200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 smtClean="0">
                  <a:latin typeface="宋体" panose="02010600030101010101" pitchFamily="2" charset="-122"/>
                </a:rPr>
                <a:t>31</a:t>
              </a:r>
              <a:endParaRPr lang="en-US" altLang="zh-CN" sz="1200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 smtClean="0">
                  <a:latin typeface="宋体" panose="02010600030101010101" pitchFamily="2" charset="-122"/>
                </a:rPr>
                <a:t>32</a:t>
              </a:r>
              <a:endParaRPr lang="en-US" altLang="zh-CN" sz="1200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 smtClean="0">
                  <a:latin typeface="宋体" panose="02010600030101010101" pitchFamily="2" charset="-122"/>
                </a:rPr>
                <a:t>…</a:t>
              </a:r>
              <a:endParaRPr lang="en-US" altLang="zh-CN" sz="1200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 smtClean="0">
                  <a:latin typeface="宋体" panose="02010600030101010101" pitchFamily="2" charset="-122"/>
                </a:rPr>
                <a:t>63</a:t>
              </a:r>
              <a:endParaRPr lang="en-US" altLang="zh-CN" sz="1200" u="none" baseline="-18000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 smtClean="0">
                  <a:latin typeface="宋体" panose="02010600030101010101" pitchFamily="2" charset="-122"/>
                </a:rPr>
                <a:t>64</a:t>
              </a:r>
              <a:endParaRPr lang="en-US" altLang="zh-CN" sz="1200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 smtClean="0">
                  <a:latin typeface="宋体" panose="02010600030101010101" pitchFamily="2" charset="-122"/>
                </a:rPr>
                <a:t>…</a:t>
              </a:r>
              <a:endParaRPr lang="en-US" altLang="zh-CN" sz="1200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 smtClean="0">
                  <a:latin typeface="宋体" panose="02010600030101010101" pitchFamily="2" charset="-122"/>
                </a:rPr>
                <a:t>95</a:t>
              </a:r>
              <a:endParaRPr lang="en-US" altLang="zh-CN" sz="1200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 smtClean="0">
                  <a:latin typeface="宋体" panose="02010600030101010101" pitchFamily="2" charset="-122"/>
                </a:rPr>
                <a:t>96</a:t>
              </a:r>
              <a:endParaRPr lang="en-US" altLang="zh-CN" sz="1200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 smtClean="0">
                  <a:latin typeface="宋体" panose="02010600030101010101" pitchFamily="2" charset="-122"/>
                </a:rPr>
                <a:t>…</a:t>
              </a:r>
              <a:endParaRPr lang="en-US" altLang="zh-CN" sz="1200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78000"/>
                </a:lnSpc>
              </a:pPr>
              <a:r>
                <a:rPr lang="en-US" altLang="zh-CN" sz="1200" u="none" dirty="0" smtClean="0">
                  <a:latin typeface="宋体" panose="02010600030101010101" pitchFamily="2" charset="-122"/>
                </a:rPr>
                <a:t>99</a:t>
              </a:r>
              <a:endParaRPr lang="en-US" altLang="zh-CN" sz="1200" u="none" dirty="0">
                <a:latin typeface="宋体" panose="02010600030101010101" pitchFamily="2" charset="-122"/>
              </a:endParaRPr>
            </a:p>
          </p:txBody>
        </p:sp>
        <p:sp>
          <p:nvSpPr>
            <p:cNvPr id="44" name="Text Box 316"/>
            <p:cNvSpPr txBox="1">
              <a:spLocks noChangeArrowheads="1"/>
            </p:cNvSpPr>
            <p:nvPr/>
          </p:nvSpPr>
          <p:spPr bwMode="auto">
            <a:xfrm>
              <a:off x="-108644" y="3068960"/>
              <a:ext cx="288032" cy="432048"/>
            </a:xfrm>
            <a:prstGeom prst="rect">
              <a:avLst/>
            </a:prstGeom>
            <a:solidFill>
              <a:srgbClr val="99CC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5" name="Text Box 316"/>
            <p:cNvSpPr txBox="1">
              <a:spLocks noChangeArrowheads="1"/>
            </p:cNvSpPr>
            <p:nvPr/>
          </p:nvSpPr>
          <p:spPr bwMode="auto">
            <a:xfrm>
              <a:off x="-108644" y="4365104"/>
              <a:ext cx="288032" cy="432048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6" name="Text Box 316"/>
            <p:cNvSpPr txBox="1">
              <a:spLocks noChangeArrowheads="1"/>
            </p:cNvSpPr>
            <p:nvPr/>
          </p:nvSpPr>
          <p:spPr bwMode="auto">
            <a:xfrm>
              <a:off x="-108644" y="3501008"/>
              <a:ext cx="288032" cy="432048"/>
            </a:xfrm>
            <a:prstGeom prst="rect">
              <a:avLst/>
            </a:prstGeom>
            <a:solidFill>
              <a:srgbClr val="FFCC99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7" name="Line 317"/>
            <p:cNvSpPr>
              <a:spLocks noChangeShapeType="1"/>
            </p:cNvSpPr>
            <p:nvPr/>
          </p:nvSpPr>
          <p:spPr bwMode="auto">
            <a:xfrm>
              <a:off x="-108892" y="3068960"/>
              <a:ext cx="248" cy="176929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317"/>
            <p:cNvSpPr>
              <a:spLocks noChangeShapeType="1"/>
            </p:cNvSpPr>
            <p:nvPr/>
          </p:nvSpPr>
          <p:spPr bwMode="auto">
            <a:xfrm>
              <a:off x="-108644" y="3501008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317"/>
            <p:cNvSpPr>
              <a:spLocks noChangeShapeType="1"/>
            </p:cNvSpPr>
            <p:nvPr/>
          </p:nvSpPr>
          <p:spPr bwMode="auto">
            <a:xfrm>
              <a:off x="-108644" y="3645024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317"/>
            <p:cNvSpPr>
              <a:spLocks noChangeShapeType="1"/>
            </p:cNvSpPr>
            <p:nvPr/>
          </p:nvSpPr>
          <p:spPr bwMode="auto">
            <a:xfrm>
              <a:off x="-108644" y="4077072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317"/>
            <p:cNvSpPr>
              <a:spLocks noChangeShapeType="1"/>
            </p:cNvSpPr>
            <p:nvPr/>
          </p:nvSpPr>
          <p:spPr bwMode="auto">
            <a:xfrm>
              <a:off x="-108644" y="4653136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317"/>
            <p:cNvSpPr>
              <a:spLocks noChangeShapeType="1"/>
            </p:cNvSpPr>
            <p:nvPr/>
          </p:nvSpPr>
          <p:spPr bwMode="auto">
            <a:xfrm>
              <a:off x="-108644" y="3789040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317"/>
            <p:cNvSpPr>
              <a:spLocks noChangeShapeType="1"/>
            </p:cNvSpPr>
            <p:nvPr/>
          </p:nvSpPr>
          <p:spPr bwMode="auto">
            <a:xfrm>
              <a:off x="-108644" y="3933056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317"/>
            <p:cNvSpPr>
              <a:spLocks noChangeShapeType="1"/>
            </p:cNvSpPr>
            <p:nvPr/>
          </p:nvSpPr>
          <p:spPr bwMode="auto">
            <a:xfrm>
              <a:off x="-108644" y="3068960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317"/>
            <p:cNvSpPr>
              <a:spLocks noChangeShapeType="1"/>
            </p:cNvSpPr>
            <p:nvPr/>
          </p:nvSpPr>
          <p:spPr bwMode="auto">
            <a:xfrm>
              <a:off x="179264" y="3068960"/>
              <a:ext cx="248" cy="176929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317"/>
            <p:cNvSpPr>
              <a:spLocks noChangeShapeType="1"/>
            </p:cNvSpPr>
            <p:nvPr/>
          </p:nvSpPr>
          <p:spPr bwMode="auto">
            <a:xfrm>
              <a:off x="-108520" y="3212976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317"/>
            <p:cNvSpPr>
              <a:spLocks noChangeShapeType="1"/>
            </p:cNvSpPr>
            <p:nvPr/>
          </p:nvSpPr>
          <p:spPr bwMode="auto">
            <a:xfrm>
              <a:off x="-108520" y="3356992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317"/>
            <p:cNvSpPr>
              <a:spLocks noChangeShapeType="1"/>
            </p:cNvSpPr>
            <p:nvPr/>
          </p:nvSpPr>
          <p:spPr bwMode="auto">
            <a:xfrm>
              <a:off x="-108520" y="4509120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317"/>
            <p:cNvSpPr>
              <a:spLocks noChangeShapeType="1"/>
            </p:cNvSpPr>
            <p:nvPr/>
          </p:nvSpPr>
          <p:spPr bwMode="auto">
            <a:xfrm>
              <a:off x="-108520" y="4221088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317"/>
            <p:cNvSpPr>
              <a:spLocks noChangeShapeType="1"/>
            </p:cNvSpPr>
            <p:nvPr/>
          </p:nvSpPr>
          <p:spPr bwMode="auto">
            <a:xfrm>
              <a:off x="-108520" y="4365104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317"/>
            <p:cNvSpPr>
              <a:spLocks noChangeShapeType="1"/>
            </p:cNvSpPr>
            <p:nvPr/>
          </p:nvSpPr>
          <p:spPr bwMode="auto">
            <a:xfrm>
              <a:off x="-108520" y="4797152"/>
              <a:ext cx="2880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5" name="Text Box 319"/>
          <p:cNvSpPr txBox="1">
            <a:spLocks noChangeArrowheads="1"/>
          </p:cNvSpPr>
          <p:nvPr/>
        </p:nvSpPr>
        <p:spPr bwMode="auto">
          <a:xfrm>
            <a:off x="611560" y="3451348"/>
            <a:ext cx="216024" cy="17281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/>
          <a:lstStyle/>
          <a:p>
            <a:pPr algn="ctr">
              <a:lnSpc>
                <a:spcPct val="78000"/>
              </a:lnSpc>
            </a:pPr>
            <a:r>
              <a:rPr lang="en-US" altLang="zh-CN" sz="1200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×</a:t>
            </a:r>
            <a:endParaRPr lang="en-US" altLang="zh-CN" sz="1200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78000"/>
              </a:lnSpc>
            </a:pPr>
            <a:r>
              <a:rPr lang="zh-CN" altLang="en-US" sz="1200" u="none" dirty="0" smtClean="0">
                <a:latin typeface="宋体" panose="02010600030101010101" pitchFamily="2" charset="-122"/>
              </a:rPr>
              <a:t>√√</a:t>
            </a:r>
            <a:r>
              <a:rPr lang="en-US" altLang="zh-CN" sz="1200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×</a:t>
            </a:r>
            <a:r>
              <a:rPr lang="zh-CN" altLang="en-US" sz="1200" u="none" dirty="0" smtClean="0">
                <a:latin typeface="宋体" panose="02010600030101010101" pitchFamily="2" charset="-122"/>
              </a:rPr>
              <a:t>√√</a:t>
            </a:r>
            <a:r>
              <a:rPr lang="en-US" altLang="zh-CN" sz="1200" u="none" dirty="0">
                <a:latin typeface="宋体" panose="02010600030101010101" pitchFamily="2" charset="-122"/>
              </a:rPr>
              <a:t> </a:t>
            </a:r>
            <a:r>
              <a:rPr lang="en-US" altLang="zh-CN" sz="1200" u="none" dirty="0">
                <a:solidFill>
                  <a:srgbClr val="FF3399"/>
                </a:solidFill>
                <a:latin typeface="宋体" panose="02010600030101010101" pitchFamily="2" charset="-122"/>
              </a:rPr>
              <a:t>×</a:t>
            </a:r>
            <a:endParaRPr lang="en-US" altLang="zh-CN" sz="1200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78000"/>
              </a:lnSpc>
            </a:pPr>
            <a:r>
              <a:rPr lang="zh-CN" altLang="en-US" sz="1200" u="none" dirty="0">
                <a:latin typeface="宋体" panose="02010600030101010101" pitchFamily="2" charset="-122"/>
              </a:rPr>
              <a:t>√√</a:t>
            </a:r>
            <a:r>
              <a:rPr lang="en-US" altLang="zh-CN" sz="1200" u="none" dirty="0">
                <a:solidFill>
                  <a:srgbClr val="FF3399"/>
                </a:solidFill>
                <a:latin typeface="宋体" panose="02010600030101010101" pitchFamily="2" charset="-122"/>
              </a:rPr>
              <a:t>×</a:t>
            </a:r>
            <a:r>
              <a:rPr lang="zh-CN" altLang="en-US" sz="1200" u="none" dirty="0">
                <a:latin typeface="宋体" panose="02010600030101010101" pitchFamily="2" charset="-122"/>
              </a:rPr>
              <a:t>√√</a:t>
            </a:r>
            <a:endParaRPr lang="en-US" altLang="zh-CN" sz="1200" u="none" dirty="0">
              <a:latin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59238" y="2772744"/>
            <a:ext cx="1008906" cy="216003"/>
            <a:chOff x="4859238" y="3259924"/>
            <a:chExt cx="1008906" cy="311155"/>
          </a:xfrm>
        </p:grpSpPr>
        <p:sp>
          <p:nvSpPr>
            <p:cNvPr id="63" name="Line 317"/>
            <p:cNvSpPr>
              <a:spLocks noChangeShapeType="1"/>
            </p:cNvSpPr>
            <p:nvPr/>
          </p:nvSpPr>
          <p:spPr bwMode="auto">
            <a:xfrm>
              <a:off x="4859238" y="3259927"/>
              <a:ext cx="0" cy="3111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  <p:sp>
          <p:nvSpPr>
            <p:cNvPr id="66" name="Line 318"/>
            <p:cNvSpPr>
              <a:spLocks noChangeShapeType="1"/>
            </p:cNvSpPr>
            <p:nvPr/>
          </p:nvSpPr>
          <p:spPr bwMode="auto">
            <a:xfrm>
              <a:off x="5868144" y="3259928"/>
              <a:ext cx="0" cy="3111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  <p:sp>
          <p:nvSpPr>
            <p:cNvPr id="67" name="Text Box 319"/>
            <p:cNvSpPr txBox="1">
              <a:spLocks noChangeArrowheads="1"/>
            </p:cNvSpPr>
            <p:nvPr/>
          </p:nvSpPr>
          <p:spPr bwMode="auto">
            <a:xfrm>
              <a:off x="5148064" y="3259924"/>
              <a:ext cx="431800" cy="31114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5</a:t>
              </a: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位</a:t>
              </a:r>
              <a:endParaRPr lang="zh-CN" altLang="en-US" sz="1600" b="1" u="none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8" name="Line 320"/>
            <p:cNvSpPr>
              <a:spLocks noChangeShapeType="1"/>
            </p:cNvSpPr>
            <p:nvPr/>
          </p:nvSpPr>
          <p:spPr bwMode="auto">
            <a:xfrm>
              <a:off x="5579963" y="3428225"/>
              <a:ext cx="288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  <p:sp>
          <p:nvSpPr>
            <p:cNvPr id="69" name="Line 322"/>
            <p:cNvSpPr>
              <a:spLocks noChangeShapeType="1"/>
            </p:cNvSpPr>
            <p:nvPr/>
          </p:nvSpPr>
          <p:spPr bwMode="auto">
            <a:xfrm flipH="1">
              <a:off x="4859238" y="3428225"/>
              <a:ext cx="2889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anchor="ctr" anchorCtr="0"/>
            <a:lstStyle/>
            <a:p>
              <a:endParaRPr lang="zh-CN" altLang="en-US"/>
            </a:p>
          </p:txBody>
        </p:sp>
      </p:grpSp>
      <p:sp>
        <p:nvSpPr>
          <p:cNvPr id="71" name="Text Box 352"/>
          <p:cNvSpPr txBox="1">
            <a:spLocks noChangeArrowheads="1"/>
          </p:cNvSpPr>
          <p:nvPr/>
        </p:nvSpPr>
        <p:spPr bwMode="auto">
          <a:xfrm>
            <a:off x="2201555" y="5788422"/>
            <a:ext cx="374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为何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T</a:t>
            </a:r>
            <a:r>
              <a:rPr lang="en-US" altLang="zh-CN" sz="1800" b="1" u="none" baseline="-18000" dirty="0" smtClean="0">
                <a:latin typeface="宋体" panose="02010600030101010101" pitchFamily="2" charset="-122"/>
              </a:rPr>
              <a:t>A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≠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0.96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*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20+0.04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*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200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4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1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14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14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43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43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143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14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14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367" grpId="0" bldLvl="0" animBg="1"/>
      <p:bldP spid="65" grpId="0" bldLvl="0" animBg="1"/>
      <p:bldP spid="71" grpId="0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36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0975" y="3780000"/>
            <a:ext cx="2930525" cy="2476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映射方式抽象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查找的组织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应用选择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u="none" spc="-1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" name="Text Box 1360"/>
          <p:cNvSpPr txBox="1">
            <a:spLocks noChangeArrowheads="1"/>
          </p:cNvSpPr>
          <p:nvPr/>
        </p:nvSpPr>
        <p:spPr bwMode="auto">
          <a:xfrm>
            <a:off x="179512" y="332656"/>
            <a:ext cx="8785225" cy="8693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地址映射小结：</a:t>
            </a:r>
            <a:endParaRPr lang="en-US" altLang="zh-CN" sz="2200" b="1" u="none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2200" b="1" u="none" spc="-100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spc="-100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u="none" spc="-100" dirty="0" smtClean="0">
                <a:latin typeface="宋体" panose="02010600030101010101" pitchFamily="2" charset="-122"/>
              </a:rPr>
              <a:t>设主存块号为</a:t>
            </a:r>
            <a:r>
              <a:rPr lang="en-US" altLang="zh-CN" sz="2200" b="1" u="none" spc="-100" dirty="0" smtClean="0">
                <a:latin typeface="宋体" panose="02010600030101010101" pitchFamily="2" charset="-122"/>
              </a:rPr>
              <a:t>m</a:t>
            </a:r>
            <a:r>
              <a:rPr lang="zh-CN" altLang="en-US" sz="2200" b="1" u="none" spc="-100" dirty="0" smtClean="0">
                <a:latin typeface="宋体" panose="02010600030101010101" pitchFamily="2" charset="-122"/>
              </a:rPr>
              <a:t>位，</a:t>
            </a:r>
            <a:r>
              <a:rPr lang="en-US" altLang="zh-CN" sz="2200" b="1" u="none" spc="-100" dirty="0" smtClean="0">
                <a:latin typeface="宋体" panose="02010600030101010101" pitchFamily="2" charset="-122"/>
              </a:rPr>
              <a:t>Cache</a:t>
            </a:r>
            <a:r>
              <a:rPr lang="zh-CN" altLang="en-US" sz="2200" b="1" u="none" spc="-100" dirty="0" smtClean="0">
                <a:latin typeface="宋体" panose="02010600030101010101" pitchFamily="2" charset="-122"/>
              </a:rPr>
              <a:t>有</a:t>
            </a:r>
            <a:r>
              <a:rPr lang="en-US" altLang="zh-CN" sz="2200" b="1" u="none" spc="-100" dirty="0" smtClean="0">
                <a:latin typeface="宋体" panose="02010600030101010101" pitchFamily="2" charset="-122"/>
              </a:rPr>
              <a:t>G</a:t>
            </a:r>
            <a:r>
              <a:rPr lang="zh-CN" altLang="en-US" sz="2200" b="1" u="none" spc="-100" dirty="0" smtClean="0">
                <a:latin typeface="宋体" panose="02010600030101010101" pitchFamily="2" charset="-122"/>
              </a:rPr>
              <a:t>行</a:t>
            </a:r>
            <a:r>
              <a:rPr lang="en-US" altLang="zh-CN" sz="2200" b="1" u="none" spc="-100" dirty="0" smtClean="0">
                <a:latin typeface="宋体" panose="02010600030101010101" pitchFamily="2" charset="-122"/>
              </a:rPr>
              <a:t>(G</a:t>
            </a:r>
            <a:r>
              <a:rPr lang="zh-CN" altLang="en-US" sz="2200" b="1" u="none" spc="-100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u="none" spc="-100" dirty="0" smtClean="0">
                <a:latin typeface="宋体" panose="02010600030101010101" pitchFamily="2" charset="-122"/>
              </a:rPr>
              <a:t>2</a:t>
            </a:r>
            <a:r>
              <a:rPr lang="en-US" altLang="zh-CN" sz="2200" b="1" u="none" spc="-100" baseline="36000" dirty="0" smtClean="0">
                <a:latin typeface="宋体" panose="02010600030101010101" pitchFamily="2" charset="-122"/>
              </a:rPr>
              <a:t>c</a:t>
            </a:r>
            <a:r>
              <a:rPr lang="en-US" altLang="zh-CN" sz="2200" b="1" u="none" spc="-100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u="none" spc="-100" dirty="0" smtClean="0">
                <a:latin typeface="宋体" panose="02010600030101010101" pitchFamily="2" charset="-122"/>
              </a:rPr>
              <a:t>，主存块</a:t>
            </a:r>
            <a:r>
              <a:rPr lang="en-US" altLang="zh-CN" sz="2200" b="1" u="none" spc="-100" dirty="0" err="1" smtClean="0">
                <a:latin typeface="宋体" panose="02010600030101010101" pitchFamily="2" charset="-122"/>
              </a:rPr>
              <a:t>i</a:t>
            </a:r>
            <a:r>
              <a:rPr lang="zh-CN" altLang="en-US" sz="2200" b="1" u="none" spc="-100" dirty="0" smtClean="0">
                <a:latin typeface="宋体" panose="02010600030101010101" pitchFamily="2" charset="-122"/>
              </a:rPr>
              <a:t>调入</a:t>
            </a:r>
            <a:r>
              <a:rPr lang="en-US" altLang="zh-CN" sz="2200" b="1" u="none" spc="-100" dirty="0" smtClean="0">
                <a:latin typeface="宋体" panose="02010600030101010101" pitchFamily="2" charset="-122"/>
              </a:rPr>
              <a:t>Cache</a:t>
            </a:r>
            <a:r>
              <a:rPr lang="zh-CN" altLang="en-US" sz="2200" b="1" u="none" spc="-100" dirty="0" smtClean="0">
                <a:latin typeface="宋体" panose="02010600030101010101" pitchFamily="2" charset="-122"/>
              </a:rPr>
              <a:t>行</a:t>
            </a:r>
            <a:r>
              <a:rPr lang="en-US" altLang="zh-CN" sz="2200" b="1" u="none" spc="-100" dirty="0" smtClean="0">
                <a:latin typeface="宋体" panose="02010600030101010101" pitchFamily="2" charset="-122"/>
              </a:rPr>
              <a:t>j</a:t>
            </a:r>
            <a:endParaRPr lang="zh-CN" altLang="en-US" sz="2200" b="1" u="none" spc="-1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115868" y="1197005"/>
          <a:ext cx="7488833" cy="1725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1"/>
                <a:gridCol w="1584176"/>
                <a:gridCol w="1800200"/>
                <a:gridCol w="3024336"/>
              </a:tblGrid>
              <a:tr h="216024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直接映射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全相联映射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组相联映射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>
                        <a:alpha val="80000"/>
                      </a:srgbClr>
                    </a:solidFill>
                  </a:tcPr>
                </a:tc>
              </a:tr>
              <a:tr h="12172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候选行数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5596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映射规则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</a:t>
                      </a:r>
                      <a:r>
                        <a:rPr lang="zh-CN" altLang="en-US" sz="1800" b="1" u="none" dirty="0" smtClean="0"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mod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G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altLang="zh-CN" sz="1800" b="1" u="none" dirty="0" smtClean="0">
                          <a:latin typeface="+mn-ea"/>
                          <a:ea typeface="+mn-ea"/>
                        </a:rPr>
                        <a:t>j</a:t>
                      </a:r>
                      <a:r>
                        <a:rPr lang="zh-CN" altLang="en-US" sz="1800" b="1" u="none" dirty="0" smtClean="0">
                          <a:latin typeface="+mn-ea"/>
                          <a:ea typeface="+mn-ea"/>
                        </a:rPr>
                        <a:t>∈</a:t>
                      </a:r>
                      <a:r>
                        <a:rPr lang="en-US" altLang="zh-CN" sz="1800" b="1" u="none" dirty="0" smtClean="0">
                          <a:latin typeface="+mn-ea"/>
                          <a:ea typeface="+mn-ea"/>
                        </a:rPr>
                        <a:t>{0,1,…,G-1}</a:t>
                      </a:r>
                      <a:endParaRPr lang="en-US" altLang="zh-CN" sz="1800" b="1" u="none" dirty="0" smtClean="0">
                        <a:latin typeface="+mn-ea"/>
                        <a:ea typeface="+mn-ea"/>
                      </a:endParaRPr>
                    </a:p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altLang="zh-CN" sz="1800" b="1" u="none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(</a:t>
                      </a:r>
                      <a:r>
                        <a:rPr lang="zh-CN" altLang="en-US" sz="1800" b="1" u="none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与</a:t>
                      </a:r>
                      <a:r>
                        <a:rPr lang="en-US" altLang="zh-CN" sz="1800" b="1" u="none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zh-CN" altLang="en-US" sz="1800" b="1" u="none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无关</a:t>
                      </a:r>
                      <a:r>
                        <a:rPr lang="en-US" altLang="zh-CN" sz="1800" b="1" u="none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u="none" dirty="0" smtClean="0">
                          <a:latin typeface="+mn-ea"/>
                          <a:ea typeface="+mn-ea"/>
                        </a:rPr>
                        <a:t>j</a:t>
                      </a:r>
                      <a:r>
                        <a:rPr lang="zh-CN" altLang="en-US" sz="1800" b="1" u="none" dirty="0" smtClean="0"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u="none" dirty="0" smtClean="0">
                          <a:latin typeface="+mn-ea"/>
                          <a:ea typeface="+mn-ea"/>
                        </a:rPr>
                        <a:t>&lt;</a:t>
                      </a:r>
                      <a:r>
                        <a:rPr lang="en-US" altLang="zh-CN" sz="1800" b="1" u="none" dirty="0" err="1" smtClean="0">
                          <a:latin typeface="+mn-ea"/>
                          <a:ea typeface="+mn-ea"/>
                        </a:rPr>
                        <a:t>k,x</a:t>
                      </a:r>
                      <a:r>
                        <a:rPr lang="en-US" altLang="zh-CN" sz="1800" b="1" u="none" dirty="0" smtClean="0">
                          <a:latin typeface="+mn-ea"/>
                          <a:ea typeface="+mn-ea"/>
                        </a:rPr>
                        <a:t>&gt;</a:t>
                      </a:r>
                      <a:r>
                        <a:rPr lang="zh-CN" altLang="en-US" sz="1800" b="1" u="none" dirty="0" smtClean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800" b="1" u="none" dirty="0" smtClean="0">
                          <a:latin typeface="+mn-ea"/>
                          <a:ea typeface="+mn-ea"/>
                        </a:rPr>
                        <a:t>k</a:t>
                      </a:r>
                      <a:r>
                        <a:rPr lang="zh-CN" altLang="en-US" sz="1800" b="1" u="none" dirty="0" smtClean="0"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u="none" dirty="0" err="1" smtClean="0"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800" b="1" u="none" dirty="0" smtClean="0">
                          <a:latin typeface="+mn-ea"/>
                          <a:ea typeface="+mn-ea"/>
                        </a:rPr>
                        <a:t> mod G/n</a:t>
                      </a:r>
                      <a:endParaRPr lang="en-US" altLang="zh-CN" sz="1800" b="1" u="none" dirty="0" smtClean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u="none" dirty="0" smtClean="0">
                          <a:latin typeface="+mn-ea"/>
                          <a:ea typeface="+mn-ea"/>
                        </a:rPr>
                        <a:t>          x</a:t>
                      </a:r>
                      <a:r>
                        <a:rPr lang="zh-CN" altLang="en-US" sz="1800" b="1" u="none" dirty="0" smtClean="0"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u="none" dirty="0" smtClean="0">
                          <a:latin typeface="+mn-ea"/>
                          <a:ea typeface="+mn-ea"/>
                        </a:rPr>
                        <a:t>0</a:t>
                      </a:r>
                      <a:r>
                        <a:rPr lang="zh-CN" altLang="en-US" sz="1800" b="1" u="none" dirty="0" smtClean="0">
                          <a:latin typeface="+mn-ea"/>
                          <a:ea typeface="+mn-ea"/>
                        </a:rPr>
                        <a:t>～</a:t>
                      </a:r>
                      <a:r>
                        <a:rPr lang="en-US" altLang="zh-CN" sz="1800" b="1" u="none" dirty="0" smtClean="0">
                          <a:latin typeface="+mn-ea"/>
                          <a:ea typeface="+mn-ea"/>
                        </a:rPr>
                        <a:t>n-1</a:t>
                      </a:r>
                      <a:endParaRPr lang="en-US" altLang="zh-CN" sz="1800" b="1" u="none" dirty="0" smtClean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4288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索引位数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log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行号＝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0(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无索引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log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组号＝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c-log</a:t>
                      </a:r>
                      <a:r>
                        <a:rPr lang="en-US" altLang="zh-CN" sz="1800" b="1" baseline="-25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731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标记位数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log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区号＝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m-c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log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主存块号＝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log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群号＝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m-(</a:t>
                      </a:r>
                      <a:r>
                        <a:rPr lang="en-US" altLang="zh-CN" sz="18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c-log</a:t>
                      </a:r>
                      <a:r>
                        <a:rPr lang="en-US" altLang="zh-CN" sz="1800" b="1" baseline="-250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altLang="zh-CN" sz="18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 Box 1360"/>
          <p:cNvSpPr txBox="1">
            <a:spLocks noChangeArrowheads="1"/>
          </p:cNvSpPr>
          <p:nvPr/>
        </p:nvSpPr>
        <p:spPr bwMode="auto">
          <a:xfrm>
            <a:off x="2188845" y="3780155"/>
            <a:ext cx="6560185" cy="2476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均为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组相联映射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方式，路数、组数不同</a:t>
            </a: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使用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个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(n=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相联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度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比较器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同时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比较</a:t>
            </a: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常为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组相联方式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8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56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58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0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60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1332384" y="5004000"/>
            <a:ext cx="6696000" cy="288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18000" tIns="17780" rIns="18000" bIns="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相</a:t>
            </a:r>
            <a:r>
              <a:rPr lang="zh-CN" altLang="en-US" sz="18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联度</a:t>
            </a:r>
            <a:r>
              <a:rPr lang="en-US" altLang="zh-CN" sz="18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指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一个主存块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可映射到的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行数，即候选行数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路数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  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648000" y="1620000"/>
            <a:ext cx="360000" cy="2808000"/>
            <a:chOff x="395536" y="1772816"/>
            <a:chExt cx="360000" cy="2808000"/>
          </a:xfrm>
        </p:grpSpPr>
        <p:cxnSp>
          <p:nvCxnSpPr>
            <p:cNvPr id="13" name="直接箭头连接符 12"/>
            <p:cNvCxnSpPr/>
            <p:nvPr/>
          </p:nvCxnSpPr>
          <p:spPr bwMode="auto">
            <a:xfrm>
              <a:off x="395536" y="1772816"/>
              <a:ext cx="36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4" name="直接箭头连接符 13"/>
            <p:cNvCxnSpPr/>
            <p:nvPr/>
          </p:nvCxnSpPr>
          <p:spPr bwMode="auto">
            <a:xfrm>
              <a:off x="395536" y="4580816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5" name="直接箭头连接符 14"/>
            <p:cNvCxnSpPr/>
            <p:nvPr/>
          </p:nvCxnSpPr>
          <p:spPr bwMode="auto">
            <a:xfrm>
              <a:off x="395536" y="1772816"/>
              <a:ext cx="0" cy="28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12" name="组合 11"/>
          <p:cNvGrpSpPr/>
          <p:nvPr/>
        </p:nvGrpSpPr>
        <p:grpSpPr>
          <a:xfrm>
            <a:off x="1403901" y="2997205"/>
            <a:ext cx="7344816" cy="792088"/>
            <a:chOff x="1475656" y="2996952"/>
            <a:chExt cx="7344816" cy="792088"/>
          </a:xfrm>
        </p:grpSpPr>
        <p:sp>
          <p:nvSpPr>
            <p:cNvPr id="60" name="Text Box 246"/>
            <p:cNvSpPr txBox="1">
              <a:spLocks noChangeArrowheads="1"/>
            </p:cNvSpPr>
            <p:nvPr/>
          </p:nvSpPr>
          <p:spPr bwMode="auto">
            <a:xfrm>
              <a:off x="8388424" y="2996952"/>
              <a:ext cx="432048" cy="288032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内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1" name="Text Box 257"/>
            <p:cNvSpPr txBox="1">
              <a:spLocks noChangeArrowheads="1"/>
            </p:cNvSpPr>
            <p:nvPr/>
          </p:nvSpPr>
          <p:spPr bwMode="auto">
            <a:xfrm>
              <a:off x="7452320" y="2996952"/>
              <a:ext cx="936104" cy="28803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群内块号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2" name="Text Box 258"/>
            <p:cNvSpPr txBox="1">
              <a:spLocks noChangeArrowheads="1"/>
            </p:cNvSpPr>
            <p:nvPr/>
          </p:nvSpPr>
          <p:spPr bwMode="auto">
            <a:xfrm>
              <a:off x="6300192" y="2996952"/>
              <a:ext cx="1152128" cy="288032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群号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3" name="Text Box 263"/>
            <p:cNvSpPr txBox="1">
              <a:spLocks noChangeArrowheads="1"/>
            </p:cNvSpPr>
            <p:nvPr/>
          </p:nvSpPr>
          <p:spPr bwMode="auto">
            <a:xfrm>
              <a:off x="8388424" y="3501702"/>
              <a:ext cx="432048" cy="28733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内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4" name="Text Box 264"/>
            <p:cNvSpPr txBox="1">
              <a:spLocks noChangeArrowheads="1"/>
            </p:cNvSpPr>
            <p:nvPr/>
          </p:nvSpPr>
          <p:spPr bwMode="auto">
            <a:xfrm>
              <a:off x="6732240" y="3501702"/>
              <a:ext cx="792087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组号 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5" name="Line 266"/>
            <p:cNvSpPr>
              <a:spLocks noChangeShapeType="1"/>
            </p:cNvSpPr>
            <p:nvPr/>
          </p:nvSpPr>
          <p:spPr bwMode="auto">
            <a:xfrm flipH="1">
              <a:off x="8585630" y="3284984"/>
              <a:ext cx="0" cy="211831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Text Box 118"/>
            <p:cNvSpPr txBox="1">
              <a:spLocks noChangeArrowheads="1"/>
            </p:cNvSpPr>
            <p:nvPr/>
          </p:nvSpPr>
          <p:spPr bwMode="auto">
            <a:xfrm>
              <a:off x="7524328" y="3501008"/>
              <a:ext cx="864096" cy="288032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组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内行号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7" name="Line 266"/>
            <p:cNvSpPr>
              <a:spLocks noChangeShapeType="1"/>
            </p:cNvSpPr>
            <p:nvPr/>
          </p:nvSpPr>
          <p:spPr bwMode="auto">
            <a:xfrm flipH="1">
              <a:off x="7236296" y="3284984"/>
              <a:ext cx="576064" cy="21183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 Box 246"/>
            <p:cNvSpPr txBox="1">
              <a:spLocks noChangeArrowheads="1"/>
            </p:cNvSpPr>
            <p:nvPr/>
          </p:nvSpPr>
          <p:spPr bwMode="auto">
            <a:xfrm>
              <a:off x="5363505" y="2996952"/>
              <a:ext cx="432048" cy="288032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内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9" name="Text Box 258"/>
            <p:cNvSpPr txBox="1">
              <a:spLocks noChangeArrowheads="1"/>
            </p:cNvSpPr>
            <p:nvPr/>
          </p:nvSpPr>
          <p:spPr bwMode="auto">
            <a:xfrm>
              <a:off x="4067361" y="2996952"/>
              <a:ext cx="1296144" cy="288032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主存块号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0" name="Text Box 263"/>
            <p:cNvSpPr txBox="1">
              <a:spLocks noChangeArrowheads="1"/>
            </p:cNvSpPr>
            <p:nvPr/>
          </p:nvSpPr>
          <p:spPr bwMode="auto">
            <a:xfrm>
              <a:off x="5363505" y="3501702"/>
              <a:ext cx="432048" cy="28733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内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1" name="Text Box 264"/>
            <p:cNvSpPr txBox="1">
              <a:spLocks noChangeArrowheads="1"/>
            </p:cNvSpPr>
            <p:nvPr/>
          </p:nvSpPr>
          <p:spPr bwMode="auto">
            <a:xfrm>
              <a:off x="4283384" y="3501702"/>
              <a:ext cx="1080121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行号 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2" name="Line 266"/>
            <p:cNvSpPr>
              <a:spLocks noChangeShapeType="1"/>
            </p:cNvSpPr>
            <p:nvPr/>
          </p:nvSpPr>
          <p:spPr bwMode="auto">
            <a:xfrm flipH="1">
              <a:off x="5560711" y="3284984"/>
              <a:ext cx="0" cy="211832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 Box 246"/>
            <p:cNvSpPr txBox="1">
              <a:spLocks noChangeArrowheads="1"/>
            </p:cNvSpPr>
            <p:nvPr/>
          </p:nvSpPr>
          <p:spPr bwMode="auto">
            <a:xfrm>
              <a:off x="3275273" y="2996952"/>
              <a:ext cx="432048" cy="288032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内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4" name="Text Box 257"/>
            <p:cNvSpPr txBox="1">
              <a:spLocks noChangeArrowheads="1"/>
            </p:cNvSpPr>
            <p:nvPr/>
          </p:nvSpPr>
          <p:spPr bwMode="auto">
            <a:xfrm>
              <a:off x="2339169" y="2996952"/>
              <a:ext cx="936104" cy="28803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区内块号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5" name="Text Box 258"/>
            <p:cNvSpPr txBox="1">
              <a:spLocks noChangeArrowheads="1"/>
            </p:cNvSpPr>
            <p:nvPr/>
          </p:nvSpPr>
          <p:spPr bwMode="auto">
            <a:xfrm>
              <a:off x="1475656" y="2996952"/>
              <a:ext cx="863513" cy="288032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区号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6" name="Text Box 263"/>
            <p:cNvSpPr txBox="1">
              <a:spLocks noChangeArrowheads="1"/>
            </p:cNvSpPr>
            <p:nvPr/>
          </p:nvSpPr>
          <p:spPr bwMode="auto">
            <a:xfrm>
              <a:off x="3275273" y="3501702"/>
              <a:ext cx="432048" cy="28733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内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7" name="Line 266"/>
            <p:cNvSpPr>
              <a:spLocks noChangeShapeType="1"/>
            </p:cNvSpPr>
            <p:nvPr/>
          </p:nvSpPr>
          <p:spPr bwMode="auto">
            <a:xfrm flipH="1">
              <a:off x="3472479" y="3284984"/>
              <a:ext cx="0" cy="211832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266"/>
            <p:cNvSpPr>
              <a:spLocks noChangeShapeType="1"/>
            </p:cNvSpPr>
            <p:nvPr/>
          </p:nvSpPr>
          <p:spPr bwMode="auto">
            <a:xfrm flipH="1">
              <a:off x="2771217" y="3284984"/>
              <a:ext cx="0" cy="21183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Text Box 264"/>
            <p:cNvSpPr txBox="1">
              <a:spLocks noChangeArrowheads="1"/>
            </p:cNvSpPr>
            <p:nvPr/>
          </p:nvSpPr>
          <p:spPr bwMode="auto">
            <a:xfrm>
              <a:off x="2339169" y="3501008"/>
              <a:ext cx="936105" cy="28803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行号 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</p:grpSp>
      <p:sp>
        <p:nvSpPr>
          <p:cNvPr id="37" name="Text Box 6"/>
          <p:cNvSpPr txBox="1">
            <a:spLocks noChangeArrowheads="1"/>
          </p:cNvSpPr>
          <p:nvPr/>
        </p:nvSpPr>
        <p:spPr bwMode="auto">
          <a:xfrm>
            <a:off x="5488985" y="5873892"/>
            <a:ext cx="3384000" cy="269875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4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路组相联时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比较器个数？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graphicFrame>
        <p:nvGraphicFramePr>
          <p:cNvPr id="80" name="表格 79"/>
          <p:cNvGraphicFramePr>
            <a:graphicFrameLocks noGrp="1"/>
          </p:cNvGraphicFramePr>
          <p:nvPr/>
        </p:nvGraphicFramePr>
        <p:xfrm>
          <a:off x="1104821" y="4284000"/>
          <a:ext cx="6245225" cy="591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/>
                <a:gridCol w="1584325"/>
                <a:gridCol w="1816100"/>
                <a:gridCol w="1739900"/>
              </a:tblGrid>
              <a:tr h="29591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路  数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498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组  数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CN" sz="1800" b="1" u="none" dirty="0" smtClean="0"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u="none" dirty="0" smtClean="0">
                          <a:latin typeface="+mn-ea"/>
                          <a:ea typeface="+mn-ea"/>
                        </a:rPr>
                        <a:t>G/n</a:t>
                      </a:r>
                      <a:endParaRPr lang="en-US" altLang="zh-CN" sz="1800" b="1" u="none" dirty="0" smtClean="0">
                        <a:latin typeface="+mn-ea"/>
                        <a:ea typeface="+mn-ea"/>
                      </a:endParaRPr>
                    </a:p>
                  </a:txBody>
                  <a:tcPr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37" grpId="0" bldLvl="0" animBg="1"/>
      <p:bldP spid="7" grpId="0" bldLvl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Text Box 128"/>
          <p:cNvSpPr txBox="1">
            <a:spLocks noChangeArrowheads="1"/>
          </p:cNvSpPr>
          <p:nvPr/>
        </p:nvSpPr>
        <p:spPr bwMode="auto">
          <a:xfrm>
            <a:off x="179705" y="828040"/>
            <a:ext cx="4187825" cy="57391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任务：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endParaRPr lang="zh-CN" altLang="en-US" sz="16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性能指标：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最佳算法</a:t>
            </a:r>
            <a:r>
              <a:rPr lang="en-US" altLang="zh-CN" sz="20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0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常见替换算法：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sz="1800" b="1" u="none" dirty="0">
                <a:latin typeface="宋体" panose="02010600030101010101" pitchFamily="2" charset="-122"/>
                <a:sym typeface="+mn-ea"/>
              </a:rPr>
              <a:t>基于候选行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2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RAND</a:t>
            </a:r>
            <a:r>
              <a:rPr lang="en-US" altLang="zh-CN" sz="18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随机</a:t>
            </a:r>
            <a:r>
              <a:rPr lang="en-US" altLang="zh-CN" sz="18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FIFO</a:t>
            </a:r>
            <a:r>
              <a:rPr lang="en-US" altLang="zh-CN" sz="18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先进先出</a:t>
            </a:r>
            <a:r>
              <a:rPr lang="en-US" altLang="zh-CN" sz="18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LRU</a:t>
            </a:r>
            <a:r>
              <a:rPr lang="en-US" altLang="zh-CN" sz="18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最近最少使用</a:t>
            </a:r>
            <a:r>
              <a:rPr lang="en-US" altLang="zh-CN" sz="18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*LRU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算法的实现：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各块次序的表示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</a:pPr>
            <a:endParaRPr lang="en-US" altLang="zh-CN" sz="18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各块次序的更新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</a:pPr>
            <a:endParaRPr lang="en-US" altLang="zh-CN" sz="16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牺牲块的选择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263" y="375692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defRPr b="1" u="none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Cache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的替换算法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 Box 12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333500" y="828040"/>
            <a:ext cx="7630795" cy="3538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从</a:t>
            </a:r>
            <a:r>
              <a:rPr lang="zh-CN" altLang="en-US" sz="2200" b="1" dirty="0">
                <a:latin typeface="宋体" panose="02010600030101010101" pitchFamily="2" charset="-122"/>
              </a:rPr>
              <a:t>候选行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中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选出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个</a:t>
            </a:r>
            <a:r>
              <a:rPr lang="zh-CN" altLang="en-US" sz="2200" b="1" u="none" dirty="0">
                <a:latin typeface="宋体" panose="02010600030101010101" pitchFamily="2" charset="-122"/>
              </a:rPr>
              <a:t>牺牲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块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行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)     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  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←缺失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&amp;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无空闲行时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600" b="1" u="none" dirty="0" smtClean="0">
                <a:latin typeface="宋体" panose="02010600030101010101" pitchFamily="2" charset="-122"/>
              </a:rPr>
              <a:t>  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 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  </a:t>
            </a:r>
            <a:r>
              <a:rPr lang="zh-CN" altLang="en-US" sz="1600" u="none" dirty="0" smtClean="0">
                <a:latin typeface="宋体" panose="02010600030101010101" pitchFamily="2" charset="-122"/>
                <a:sym typeface="+mn-ea"/>
              </a:rPr>
              <a:t>└────┴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→适于</a:t>
            </a:r>
            <a:r>
              <a:rPr lang="zh-CN" altLang="en-US" sz="16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全相联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/</a:t>
            </a:r>
            <a:r>
              <a:rPr lang="zh-CN" altLang="en-US" sz="16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组相联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映射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         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←直接映射无需选</a:t>
            </a:r>
            <a:endParaRPr lang="en-US" altLang="zh-CN" sz="1600" b="1" u="none" spc="-100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对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命中率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H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影响程度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、算法的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实现开销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                    </a:t>
            </a:r>
            <a:r>
              <a:rPr lang="zh-CN" altLang="en-US" sz="1800" u="none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←替换是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否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遵循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访问局部性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，如增加相联度时</a:t>
            </a:r>
            <a:endParaRPr lang="zh-CN" altLang="en-US" sz="1800" b="1" u="none" spc="-50" dirty="0" smtClean="0">
              <a:latin typeface="宋体" panose="02010600030101010101" pitchFamily="2" charset="-122"/>
              <a:sym typeface="+mn-ea"/>
            </a:endParaRPr>
          </a:p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选择</a:t>
            </a:r>
            <a:r>
              <a:rPr lang="zh-CN" altLang="en-US" sz="20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最远将来使用的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块为牺牲块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无法实现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没长后眼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0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>
              <a:latin typeface="宋体" panose="02010600030101010101" pitchFamily="2" charset="-122"/>
            </a:endParaRPr>
          </a:p>
          <a:p>
            <a:pPr marL="0" indent="0"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牺牲块为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随机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的块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            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H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随机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,</a:t>
            </a:r>
            <a:r>
              <a:rPr lang="zh-CN" sz="1800" b="1" u="none" dirty="0">
                <a:latin typeface="宋体" panose="02010600030101010101" pitchFamily="2" charset="-122"/>
                <a:sym typeface="+mn-ea"/>
              </a:rPr>
              <a:t>适于全相联</a:t>
            </a: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牺牲块为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最早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调入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的块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H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随机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en-US" sz="1600" b="1" u="none" dirty="0">
                <a:latin typeface="宋体" panose="02010600030101010101" pitchFamily="2" charset="-122"/>
                <a:sym typeface="+mn-ea"/>
              </a:rPr>
              <a:t>≠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访问次序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en-US" altLang="zh-CN" sz="2200" b="1" u="none" baseline="-25000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牺牲块为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近期最少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使用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的块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H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随相联度增大</a:t>
            </a:r>
            <a:endParaRPr lang="en-US" altLang="zh-CN" sz="2200" b="1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Text Box 10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736215" y="4644000"/>
            <a:ext cx="6228080" cy="182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bIns="0">
            <a:spAutoFit/>
          </a:bodyPr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各行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用计数器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CNT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存放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值越大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表示</a:t>
            </a:r>
            <a:r>
              <a:rPr lang="zh-CN" altLang="en-US" sz="22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越久未用</a:t>
            </a:r>
            <a:endParaRPr lang="zh-CN" altLang="en-US" sz="22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访问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时，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目标块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CNT←0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其余块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CNT++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饱和计数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</a:pP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             </a:t>
            </a:r>
            <a:r>
              <a:rPr lang="zh-CN" altLang="en-US" sz="16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←块次序不变时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目标块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=0)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均不变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endParaRPr lang="zh-CN" altLang="en-US" sz="16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选择</a:t>
            </a:r>
            <a:r>
              <a:rPr lang="en-US" alt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CNT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最大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的块</a:t>
            </a:r>
            <a:endParaRPr lang="zh-CN" altLang="en-US" sz="22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780000" y="4392000"/>
            <a:ext cx="486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4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路组相联</a:t>
            </a:r>
            <a:r>
              <a:rPr lang="zh-CN" sz="1800" b="1" u="none" dirty="0" smtClean="0">
                <a:latin typeface="宋体" panose="02010600030101010101" pitchFamily="2" charset="-122"/>
              </a:rPr>
              <a:t>映射时，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每个行的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CNT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为几位？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692000" y="5148000"/>
            <a:ext cx="6551930" cy="288290"/>
            <a:chOff x="1587" y="8674"/>
            <a:chExt cx="10318" cy="454"/>
          </a:xfrm>
        </p:grpSpPr>
        <p:sp>
          <p:nvSpPr>
            <p:cNvPr id="64" name="Rectangle 1363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608" y="8674"/>
              <a:ext cx="7257" cy="45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  <a:tailEnd type="none" w="sm" len="med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65" name="Text Box 1364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587" y="8674"/>
              <a:ext cx="1020" cy="45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800" b="1" u="none" dirty="0" smtClean="0">
                  <a:latin typeface="宋体" panose="02010600030101010101" pitchFamily="2" charset="-122"/>
                </a:rPr>
                <a:t>第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i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组</a:t>
              </a:r>
              <a:endParaRPr lang="zh-CN" altLang="en-US" sz="18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88" name="Text Box 1387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009" y="8732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8" name="Text Box 1367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665" y="8732"/>
              <a:ext cx="340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V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69" name="Text Box 1368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005" y="8732"/>
              <a:ext cx="908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Tag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0" name="Text Box 1369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819" y="8732"/>
              <a:ext cx="1134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zh-CN" sz="1600" b="1" u="none">
                  <a:latin typeface="宋体" panose="02010600030101010101" pitchFamily="2" charset="-122"/>
                </a:rPr>
                <a:t>缓存块</a:t>
              </a: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76" name="Text Box 1375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912" y="8732"/>
              <a:ext cx="907" cy="340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LRU</a:t>
              </a:r>
              <a:endParaRPr lang="en-US" altLang="zh-CN" sz="16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9" name="Line 1371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4479" y="8733"/>
              <a:ext cx="0" cy="3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9" name="Text Box 138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9921" y="8731"/>
              <a:ext cx="198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/>
            <a:p>
              <a:r>
                <a:rPr lang="en-US" altLang="zh-CN" sz="1600" b="1" u="none" dirty="0" smtClean="0">
                  <a:latin typeface="宋体" panose="02010600030101010101" pitchFamily="2" charset="-122"/>
                </a:rPr>
                <a:t>LRU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＝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log</a:t>
              </a:r>
              <a:r>
                <a:rPr lang="en-US" altLang="zh-CN" sz="1600" b="1" u="none" baseline="-28000" dirty="0" smtClean="0">
                  <a:latin typeface="宋体" panose="02010600030101010101" pitchFamily="2" charset="-122"/>
                </a:rPr>
                <a:t>2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n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位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" name="Text Box 1367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520" y="8731"/>
              <a:ext cx="340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V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8" name="Text Box 1368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6860" y="8731"/>
              <a:ext cx="908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Tag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" name="Text Box 1369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8674" y="8731"/>
              <a:ext cx="1134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zh-CN" sz="1600" b="1" u="none">
                  <a:latin typeface="宋体" panose="02010600030101010101" pitchFamily="2" charset="-122"/>
                </a:rPr>
                <a:t>缓存块</a:t>
              </a:r>
              <a:endParaRPr lang="zh-CN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0" name="Text Box 1375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767" y="8731"/>
              <a:ext cx="907" cy="340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LRU</a:t>
              </a:r>
              <a:endParaRPr lang="en-US" altLang="zh-CN" sz="16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" name="Line 1371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8334" y="8732"/>
              <a:ext cx="0" cy="3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p>
              <a:endParaRPr lang="zh-CN" altLang="en-US"/>
            </a:p>
          </p:txBody>
        </p:sp>
      </p:grpSp>
      <p:sp>
        <p:nvSpPr>
          <p:cNvPr id="524510" name="AutoShape 222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 rot="10800000">
            <a:off x="2987824" y="6524302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25" name="Group 147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884795" y="1938655"/>
          <a:ext cx="935355" cy="1849120"/>
        </p:xfrm>
        <a:graphic>
          <a:graphicData uri="http://schemas.openxmlformats.org/drawingml/2006/table">
            <a:tbl>
              <a:tblPr/>
              <a:tblGrid>
                <a:gridCol w="287655"/>
                <a:gridCol w="361315"/>
                <a:gridCol w="286385"/>
              </a:tblGrid>
              <a:tr h="2641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41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41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41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4160">
                <a:tc gridSpan="3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160">
                <a:tc gridSpan="3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命中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264160">
                <a:tc gridSpan="3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命中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77385" name="Text Box 122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388" y="4151863"/>
            <a:ext cx="8785225" cy="4451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>
              <a:lnSpc>
                <a:spcPct val="115000"/>
              </a:lnSpc>
            </a:pP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0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每个块只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访问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次时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H</a:t>
            </a:r>
            <a:r>
              <a:rPr lang="zh-CN" altLang="en-US" sz="20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(7-5)/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7</a:t>
            </a:r>
            <a:r>
              <a:rPr lang="zh-CN" altLang="en-US" sz="20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2/7</a:t>
            </a:r>
            <a:r>
              <a:rPr lang="zh-CN" altLang="en-US" sz="20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连续访问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次时，</a:t>
            </a:r>
            <a:r>
              <a:rPr lang="en-US" altLang="zh-CN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H</a:t>
            </a:r>
            <a:r>
              <a:rPr lang="zh-CN" altLang="en-US" sz="20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23/</a:t>
            </a:r>
            <a:r>
              <a:rPr lang="en-US" sz="20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28</a:t>
            </a:r>
            <a:endParaRPr lang="en-US" sz="2000" b="1" u="none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4" name="Group 1473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2268220" y="1938655"/>
          <a:ext cx="1871345" cy="1849120"/>
        </p:xfrm>
        <a:graphic>
          <a:graphicData uri="http://schemas.openxmlformats.org/drawingml/2006/table">
            <a:tbl>
              <a:tblPr/>
              <a:tblGrid>
                <a:gridCol w="287655"/>
                <a:gridCol w="361315"/>
                <a:gridCol w="286385"/>
                <a:gridCol w="288290"/>
                <a:gridCol w="360045"/>
                <a:gridCol w="287655"/>
              </a:tblGrid>
              <a:tr h="2641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41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41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1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160">
                <a:tc gridSpan="3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160">
                <a:tc gridSpan="3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调入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调入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264160">
                <a:tc gridSpan="3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命中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命中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22" name="Group 1473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4140200" y="1938655"/>
          <a:ext cx="935355" cy="1849120"/>
        </p:xfrm>
        <a:graphic>
          <a:graphicData uri="http://schemas.openxmlformats.org/drawingml/2006/table">
            <a:tbl>
              <a:tblPr/>
              <a:tblGrid>
                <a:gridCol w="287655"/>
                <a:gridCol w="361315"/>
                <a:gridCol w="286385"/>
              </a:tblGrid>
              <a:tr h="2641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41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41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1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160">
                <a:tc gridSpan="3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160">
                <a:tc gridSpan="3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命中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264160">
                <a:tc gridSpan="3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命中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23" name="Group 1473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5076825" y="1938655"/>
          <a:ext cx="1871345" cy="1849120"/>
        </p:xfrm>
        <a:graphic>
          <a:graphicData uri="http://schemas.openxmlformats.org/drawingml/2006/table">
            <a:tbl>
              <a:tblPr/>
              <a:tblGrid>
                <a:gridCol w="287655"/>
                <a:gridCol w="361315"/>
                <a:gridCol w="286385"/>
                <a:gridCol w="288290"/>
                <a:gridCol w="360045"/>
                <a:gridCol w="287655"/>
              </a:tblGrid>
              <a:tr h="2641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41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41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41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4160">
                <a:tc gridSpan="3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160">
                <a:tc gridSpan="3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调入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调入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264160">
                <a:tc gridSpan="3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命中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命中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24" name="Group 1473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6948805" y="1938655"/>
          <a:ext cx="935355" cy="1849120"/>
        </p:xfrm>
        <a:graphic>
          <a:graphicData uri="http://schemas.openxmlformats.org/drawingml/2006/table">
            <a:tbl>
              <a:tblPr/>
              <a:tblGrid>
                <a:gridCol w="287655"/>
                <a:gridCol w="361315"/>
                <a:gridCol w="286385"/>
              </a:tblGrid>
              <a:tr h="2641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41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41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416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4160">
                <a:tc gridSpan="3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160">
                <a:tc gridSpan="3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替换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264160">
                <a:tc gridSpan="3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命中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26" name="Group 1473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539750" y="1270000"/>
          <a:ext cx="8281035" cy="2496820"/>
        </p:xfrm>
        <a:graphic>
          <a:graphicData uri="http://schemas.openxmlformats.org/drawingml/2006/table">
            <a:tbl>
              <a:tblPr/>
              <a:tblGrid>
                <a:gridCol w="791845"/>
                <a:gridCol w="288290"/>
                <a:gridCol w="360045"/>
                <a:gridCol w="288290"/>
                <a:gridCol w="287655"/>
                <a:gridCol w="361950"/>
                <a:gridCol w="286385"/>
                <a:gridCol w="287655"/>
                <a:gridCol w="360045"/>
                <a:gridCol w="288290"/>
                <a:gridCol w="288290"/>
                <a:gridCol w="360045"/>
                <a:gridCol w="287655"/>
                <a:gridCol w="288290"/>
                <a:gridCol w="360045"/>
                <a:gridCol w="287655"/>
                <a:gridCol w="288290"/>
                <a:gridCol w="360045"/>
                <a:gridCol w="287655"/>
                <a:gridCol w="288290"/>
                <a:gridCol w="360045"/>
                <a:gridCol w="288290"/>
                <a:gridCol w="287655"/>
                <a:gridCol w="360045"/>
                <a:gridCol w="288290"/>
              </a:tblGrid>
              <a:tr h="647700">
                <a:tc>
                  <a:txBody>
                    <a:bodyPr/>
                    <a:p>
                      <a:pPr marR="0" lvl="0" indent="0" algn="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状态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行号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标记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标记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T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标记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T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标记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T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标记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T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标记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T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标记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T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标记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T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160"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160"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160"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160"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160"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块地址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初始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sm" len="med"/>
                    </a:lnBlToTr>
                    <a:noFill/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64160">
                <a:tc rowSpan="2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状态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264160">
                <a:tc vMerge="1"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778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7" name="Text Box 977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79388" y="396000"/>
            <a:ext cx="8785225" cy="8299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000" b="1" u="none" dirty="0">
                <a:latin typeface="宋体" panose="02010600030101010101" pitchFamily="2" charset="-122"/>
              </a:rPr>
              <a:t>全相联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有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4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行，采用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LRU</a:t>
            </a:r>
            <a:r>
              <a:rPr lang="zh-CN" altLang="en-US" sz="2000" b="1" u="none" dirty="0">
                <a:latin typeface="宋体" panose="02010600030101010101" pitchFamily="2" charset="-122"/>
              </a:rPr>
              <a:t>替换算法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，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初态为空，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CPU</a:t>
            </a:r>
            <a:r>
              <a:rPr lang="zh-CN" altLang="en-US" sz="2000" b="1" u="none" dirty="0">
                <a:latin typeface="宋体" panose="02010600030101010101" pitchFamily="2" charset="-122"/>
              </a:rPr>
              <a:t>按下列</a:t>
            </a:r>
            <a:r>
              <a:rPr lang="zh-CN" altLang="en-US" sz="2000" b="1" dirty="0">
                <a:latin typeface="宋体" panose="02010600030101010101" pitchFamily="2" charset="-122"/>
              </a:rPr>
              <a:t>块地址流</a:t>
            </a:r>
            <a:r>
              <a:rPr lang="zh-CN" altLang="en-US" sz="2000" b="1" u="none" dirty="0">
                <a:latin typeface="宋体" panose="02010600030101010101" pitchFamily="2" charset="-122"/>
              </a:rPr>
              <a:t>访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存时，分别求每个</a:t>
            </a:r>
            <a:r>
              <a:rPr lang="zh-CN" altLang="en-US" sz="2000" b="1" u="none" dirty="0">
                <a:latin typeface="宋体" panose="02010600030101010101" pitchFamily="2" charset="-122"/>
              </a:rPr>
              <a:t>块只访问</a:t>
            </a:r>
            <a:r>
              <a:rPr lang="en-US" altLang="zh-CN" sz="2000" b="1" u="none" dirty="0">
                <a:latin typeface="宋体" panose="02010600030101010101" pitchFamily="2" charset="-122"/>
              </a:rPr>
              <a:t>1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次、连续访问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4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次时</a:t>
            </a:r>
            <a:r>
              <a:rPr lang="zh-CN" altLang="en-US" sz="2000" b="1" u="none" dirty="0">
                <a:latin typeface="宋体" panose="02010600030101010101" pitchFamily="2" charset="-122"/>
              </a:rPr>
              <a:t>的命中率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H</a:t>
            </a:r>
            <a:endParaRPr lang="en-US" altLang="zh-CN" sz="20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28" name="AutoShape 331"/>
          <p:cNvSpPr/>
          <p:nvPr>
            <p:custDataLst>
              <p:tags r:id="rId9"/>
            </p:custDataLst>
          </p:nvPr>
        </p:nvSpPr>
        <p:spPr bwMode="auto">
          <a:xfrm>
            <a:off x="2770282" y="3827863"/>
            <a:ext cx="6156000" cy="288000"/>
          </a:xfrm>
          <a:prstGeom prst="borderCallout2">
            <a:avLst>
              <a:gd name="adj1" fmla="val 50505"/>
              <a:gd name="adj2" fmla="val -4"/>
              <a:gd name="adj3" fmla="val 49711"/>
              <a:gd name="adj4" fmla="val -3793"/>
              <a:gd name="adj5" fmla="val -73230"/>
              <a:gd name="adj6" fmla="val -5793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sm" len="sm"/>
          </a:ln>
          <a:effectLst/>
        </p:spPr>
        <p:txBody>
          <a:bodyPr lIns="18000" tIns="17780" rIns="18000" bIns="0" anchor="ctr"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次序不变</a:t>
            </a: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时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(</a:t>
            </a:r>
            <a:r>
              <a:rPr lang="en-US" altLang="zh-CN" sz="1600" b="1" u="none" dirty="0" smtClean="0">
                <a:latin typeface="+mn-ea"/>
                <a:ea typeface="+mn-ea"/>
              </a:rPr>
              <a:t>CNT</a:t>
            </a:r>
            <a:r>
              <a:rPr lang="zh-CN" altLang="en-US" sz="1600" b="1" u="none" baseline="-18000" dirty="0" smtClean="0">
                <a:latin typeface="+mn-ea"/>
                <a:ea typeface="+mn-ea"/>
              </a:rPr>
              <a:t>目标块</a:t>
            </a:r>
            <a:r>
              <a:rPr lang="en-US" altLang="zh-CN" sz="1600" b="1" u="none" dirty="0" smtClean="0">
                <a:latin typeface="+mn-ea"/>
                <a:ea typeface="+mn-ea"/>
              </a:rPr>
              <a:t>=0)</a:t>
            </a:r>
            <a:r>
              <a:rPr lang="zh-CN" altLang="en-US" sz="1600" b="1" u="none" dirty="0" smtClean="0">
                <a:latin typeface="+mn-ea"/>
                <a:ea typeface="+mn-ea"/>
              </a:rPr>
              <a:t>，各</a:t>
            </a:r>
            <a:r>
              <a:rPr lang="en-US" altLang="zh-CN" sz="1600" b="1" u="none" dirty="0" smtClean="0">
                <a:latin typeface="+mn-ea"/>
                <a:ea typeface="+mn-ea"/>
              </a:rPr>
              <a:t>CNT</a:t>
            </a:r>
            <a:r>
              <a:rPr lang="zh-CN" altLang="en-US" sz="1600" b="1" u="none" dirty="0" smtClean="0">
                <a:latin typeface="+mn-ea"/>
                <a:ea typeface="+mn-ea"/>
              </a:rPr>
              <a:t>不变；</a:t>
            </a:r>
            <a:r>
              <a:rPr lang="en-US" altLang="zh-CN" sz="1600" b="1" u="none" dirty="0" smtClean="0">
                <a:latin typeface="+mn-ea"/>
              </a:rPr>
              <a:t>CNT</a:t>
            </a:r>
            <a:r>
              <a:rPr lang="en-US" altLang="zh-CN" sz="1600" b="1" u="none" dirty="0" smtClean="0">
                <a:latin typeface="+mn-ea"/>
                <a:ea typeface="+mn-ea"/>
              </a:rPr>
              <a:t>=3</a:t>
            </a:r>
            <a:r>
              <a:rPr lang="zh-CN" altLang="en-US" sz="1600" b="1" u="none" dirty="0" smtClean="0">
                <a:latin typeface="+mn-ea"/>
                <a:ea typeface="+mn-ea"/>
              </a:rPr>
              <a:t>时不再增加</a:t>
            </a:r>
            <a:r>
              <a:rPr lang="en-US" altLang="zh-CN" sz="1600" b="1" u="none" dirty="0" smtClean="0">
                <a:latin typeface="+mn-ea"/>
                <a:ea typeface="+mn-ea"/>
              </a:rPr>
              <a:t>(</a:t>
            </a:r>
            <a:r>
              <a:rPr lang="zh-CN" altLang="en-US" sz="1600" b="1" u="none" dirty="0" smtClean="0">
                <a:latin typeface="+mn-ea"/>
                <a:ea typeface="+mn-ea"/>
              </a:rPr>
              <a:t>饱和计数</a:t>
            </a:r>
            <a:r>
              <a:rPr lang="en-US" altLang="zh-CN" sz="1600" b="1" u="none" dirty="0" smtClean="0">
                <a:latin typeface="+mn-ea"/>
                <a:ea typeface="+mn-ea"/>
              </a:rPr>
              <a:t>)</a:t>
            </a:r>
            <a:endParaRPr lang="zh-CN" altLang="en-US" sz="1600" b="1" u="none" dirty="0">
              <a:latin typeface="+mn-ea"/>
              <a:ea typeface="+mn-ea"/>
            </a:endParaRPr>
          </a:p>
        </p:txBody>
      </p:sp>
      <p:sp>
        <p:nvSpPr>
          <p:cNvPr id="13" name="Text Box 6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045210" y="4613390"/>
            <a:ext cx="4176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增加相联度，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LRU</a:t>
            </a:r>
            <a:r>
              <a:rPr lang="zh-CN" sz="1800" b="1" u="none" dirty="0" smtClean="0">
                <a:latin typeface="宋体" panose="02010600030101010101" pitchFamily="2" charset="-122"/>
              </a:rPr>
              <a:t>算法能提高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H</a:t>
            </a:r>
            <a:r>
              <a:rPr lang="zh-CN" sz="1800" b="1" u="none" dirty="0" smtClean="0">
                <a:latin typeface="宋体" panose="02010600030101010101" pitchFamily="2" charset="-122"/>
              </a:rPr>
              <a:t>吗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451" name="AutoShape 69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 rot="5400000">
            <a:off x="2987825" y="6524450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77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  <p:bldP spid="13" grpId="0" bldLvl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Text Box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263" y="360645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defRPr b="1" u="none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Cache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的写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策略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 Box 10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705" y="829310"/>
            <a:ext cx="4208145" cy="47009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bIns="0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任务：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性能指标：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写策略类型：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按写命中来命名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25000"/>
              </a:lnSpc>
            </a:pP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写命中时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25000"/>
              </a:lnSpc>
            </a:pP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写缺失时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写命中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缺失的组合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包含写策略的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行组成：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2230" y="821690"/>
            <a:ext cx="7631430" cy="13220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确定写操作的数据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何时写回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主存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又称更新策略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>
                <a:latin typeface="宋体" panose="02010600030101010101" pitchFamily="2" charset="-122"/>
              </a:rPr>
              <a:t>对</a:t>
            </a:r>
            <a:r>
              <a:rPr lang="en-US" altLang="zh-CN" sz="2200" b="1" i="1" u="none" dirty="0" smtClean="0"/>
              <a:t>T</a:t>
            </a:r>
            <a:r>
              <a:rPr lang="en-US" altLang="zh-CN" sz="2200" b="1" u="none" baseline="-18000" dirty="0" smtClean="0">
                <a:latin typeface="宋体" panose="02010600030101010101" pitchFamily="2" charset="-122"/>
              </a:rPr>
              <a:t>A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、总线的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影响程度  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[</a:t>
            </a:r>
            <a:r>
              <a:rPr lang="en-US" altLang="zh-CN" sz="1800" b="1" i="1" u="none" dirty="0"/>
              <a:t>T</a:t>
            </a:r>
            <a:r>
              <a:rPr lang="en-US" altLang="zh-CN" sz="1800" b="1" u="none" baseline="-18000" dirty="0">
                <a:latin typeface="宋体" panose="02010600030101010101" pitchFamily="2" charset="-122"/>
              </a:rPr>
              <a:t>A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＝</a:t>
            </a:r>
            <a:r>
              <a:rPr lang="en-US" altLang="zh-CN" sz="1800" b="1" i="1" u="none" dirty="0"/>
              <a:t>T</a:t>
            </a:r>
            <a:r>
              <a:rPr lang="zh-CN" altLang="en-US" sz="1800" b="1" u="none" baseline="-18000" dirty="0">
                <a:latin typeface="宋体" panose="02010600030101010101" pitchFamily="2" charset="-122"/>
              </a:rPr>
              <a:t>命中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＋</a:t>
            </a:r>
            <a:r>
              <a:rPr lang="en-US" altLang="zh-CN" sz="1800" b="1" u="none" dirty="0">
                <a:latin typeface="宋体" panose="02010600030101010101" pitchFamily="2" charset="-122"/>
              </a:rPr>
              <a:t>(1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－</a:t>
            </a:r>
            <a:r>
              <a:rPr lang="en-US" altLang="zh-CN" sz="1800" b="1" i="1" u="none" dirty="0"/>
              <a:t>H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en-US" altLang="zh-CN" sz="1800" b="1" i="1" u="none" dirty="0"/>
              <a:t>T</a:t>
            </a:r>
            <a:r>
              <a:rPr lang="zh-CN" altLang="en-US" sz="1800" b="1" u="none" baseline="-18000" dirty="0">
                <a:latin typeface="宋体" panose="02010600030101010101" pitchFamily="2" charset="-122"/>
              </a:rPr>
              <a:t>缺失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]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37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008000" y="1330530"/>
            <a:ext cx="406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中数据为何要写回主存？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184140" y="1330325"/>
            <a:ext cx="3708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多个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共享主存、设备直接访问主存时</a:t>
            </a:r>
            <a:endParaRPr lang="zh-CN" altLang="en-US" sz="1600" b="1" u="none" dirty="0" smtClean="0">
              <a:latin typeface="宋体" panose="02010600030101010101" pitchFamily="2" charset="-122"/>
              <a:sym typeface="+mn-ea"/>
            </a:endParaRPr>
          </a:p>
        </p:txBody>
      </p:sp>
      <p:cxnSp>
        <p:nvCxnSpPr>
          <p:cNvPr id="16" name="直接箭头连接符 15"/>
          <p:cNvCxnSpPr/>
          <p:nvPr>
            <p:custDataLst>
              <p:tags r:id="rId6"/>
            </p:custDataLst>
          </p:nvPr>
        </p:nvCxnSpPr>
        <p:spPr bwMode="auto">
          <a:xfrm flipH="1">
            <a:off x="3275545" y="1618440"/>
            <a:ext cx="2164080" cy="1524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  <p:sp>
        <p:nvSpPr>
          <p:cNvPr id="7" name="Text Box 100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871980" y="2446655"/>
            <a:ext cx="7122160" cy="27539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bIns="0">
            <a:spAutoFit/>
          </a:bodyPr>
          <a:p>
            <a:pPr marL="0" indent="0"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全写法：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同时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写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和主存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(1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个字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sz="1600" b="1" u="none" dirty="0" smtClean="0"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保持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一致性</a:t>
            </a: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写回法：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只写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替换时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写主存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整个块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sz="1600" b="1" u="none" dirty="0" smtClean="0"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优化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18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endParaRPr lang="zh-CN" altLang="en-US" sz="1800" b="1" u="none" dirty="0" smtClean="0"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                              </a:t>
            </a:r>
            <a:r>
              <a:rPr lang="en-US" altLang="zh-CN" sz="18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块被改过时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才写</a:t>
            </a:r>
            <a:endParaRPr lang="en-US" altLang="zh-CN" sz="1800" b="1" u="none" dirty="0" smtClean="0"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写分配法：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目标块调入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主存，再按写命中处理</a:t>
            </a:r>
            <a:endParaRPr lang="zh-CN" altLang="en-US" sz="2000" b="1" u="none" dirty="0" smtClean="0"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非写分配法：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不调入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目标块，直接写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主存</a:t>
            </a: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全写法＋非写分配法，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写回法＋写分配法</a:t>
            </a: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       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反正要写主存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(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遵循访问局部性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600" b="1" u="none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008000" y="3382530"/>
            <a:ext cx="417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sz="1800" b="1" u="none" dirty="0" smtClean="0">
                <a:latin typeface="宋体" panose="02010600030101010101" pitchFamily="2" charset="-122"/>
              </a:rPr>
              <a:t>替换</a:t>
            </a:r>
            <a:r>
              <a:rPr lang="zh-CN" sz="1800" b="1" u="none" dirty="0" smtClean="0">
                <a:latin typeface="宋体" panose="02010600030101010101" pitchFamily="2" charset="-122"/>
              </a:rPr>
              <a:t>时块没改过也要写主存吗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255" name="Text Box 140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299510" y="5220000"/>
            <a:ext cx="2628000" cy="1008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54000" tIns="10800" rIns="54000" bIns="10800" anchor="ctr"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全写</a:t>
            </a:r>
            <a:r>
              <a:rPr lang="en-US" altLang="zh-CN" sz="1600" b="1" u="none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—</a:t>
            </a:r>
            <a:r>
              <a:rPr lang="en-US" altLang="zh-CN" sz="1600" u="none" dirty="0">
                <a:cs typeface="Times New Roman" panose="02020603050405020304" pitchFamily="18" charset="0"/>
                <a:sym typeface="+mn-ea"/>
              </a:rPr>
              <a:t>Write Through</a:t>
            </a:r>
            <a:endParaRPr lang="en-US" sz="1600" u="none" dirty="0" smtClean="0"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spc="-10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写回</a:t>
            </a:r>
            <a:r>
              <a:rPr lang="en-US" altLang="zh-CN" sz="1600" b="1" u="none" dirty="0" smtClean="0">
                <a:solidFill>
                  <a:srgbClr val="C00000"/>
                </a:solidFill>
                <a:cs typeface="Times New Roman" panose="02020603050405020304" pitchFamily="18" charset="0"/>
                <a:sym typeface="+mn-ea"/>
              </a:rPr>
              <a:t>—</a:t>
            </a:r>
            <a:r>
              <a:rPr lang="en-US" altLang="zh-CN" sz="1600" u="none" dirty="0">
                <a:cs typeface="Times New Roman" panose="02020603050405020304" pitchFamily="18" charset="0"/>
                <a:sym typeface="+mn-ea"/>
              </a:rPr>
              <a:t>Write Back</a:t>
            </a:r>
            <a:endParaRPr lang="en-US" altLang="zh-CN" sz="1600" u="none" dirty="0"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spc="-100" dirty="0" smtClean="0">
                <a:solidFill>
                  <a:srgbClr val="C00000"/>
                </a:solidFill>
                <a:cs typeface="Times New Roman" panose="02020603050405020304" pitchFamily="18" charset="0"/>
                <a:sym typeface="+mn-ea"/>
              </a:rPr>
              <a:t>写分配</a:t>
            </a:r>
            <a:r>
              <a:rPr lang="en-US" altLang="zh-CN" sz="1600" b="1" u="none" dirty="0" smtClean="0">
                <a:solidFill>
                  <a:srgbClr val="C00000"/>
                </a:solidFill>
                <a:cs typeface="Times New Roman" panose="02020603050405020304" pitchFamily="18" charset="0"/>
                <a:sym typeface="+mn-ea"/>
              </a:rPr>
              <a:t>—</a:t>
            </a:r>
            <a:r>
              <a:rPr lang="en-US" altLang="zh-CN" sz="1600" u="none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Write Allocate</a:t>
            </a:r>
            <a:endParaRPr lang="en-US" altLang="zh-CN" sz="1600" b="1" u="none" dirty="0" smtClean="0">
              <a:solidFill>
                <a:schemeClr val="tx1"/>
              </a:solidFill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spc="-100" dirty="0" smtClean="0">
                <a:solidFill>
                  <a:srgbClr val="C00000"/>
                </a:solidFill>
                <a:cs typeface="Times New Roman" panose="02020603050405020304" pitchFamily="18" charset="0"/>
                <a:sym typeface="+mn-ea"/>
              </a:rPr>
              <a:t>非写分配</a:t>
            </a:r>
            <a:r>
              <a:rPr lang="en-US" altLang="zh-CN" sz="1600" b="1" u="none" dirty="0" smtClean="0">
                <a:solidFill>
                  <a:srgbClr val="C00000"/>
                </a:solidFill>
                <a:cs typeface="Times New Roman" panose="02020603050405020304" pitchFamily="18" charset="0"/>
                <a:sym typeface="+mn-ea"/>
              </a:rPr>
              <a:t>—</a:t>
            </a:r>
            <a:r>
              <a:rPr lang="en-US" altLang="zh-CN" sz="1600" u="none" dirty="0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Not Write Allocate</a:t>
            </a:r>
            <a:endParaRPr lang="en-US" altLang="zh-CN" sz="1600" b="1" u="none" spc="-100" dirty="0" smtClean="0">
              <a:solidFill>
                <a:schemeClr val="tx1"/>
              </a:solidFill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00245" y="5544000"/>
            <a:ext cx="4356000" cy="288925"/>
            <a:chOff x="287624" y="6092403"/>
            <a:chExt cx="4356000" cy="288925"/>
          </a:xfrm>
        </p:grpSpPr>
        <p:sp>
          <p:nvSpPr>
            <p:cNvPr id="10" name="Text Box 136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87624" y="6092403"/>
              <a:ext cx="1836000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zh-CN" altLang="en-US" sz="1800" b="1" u="none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全写法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的行组成：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" name="Line 1365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3563665" y="6093990"/>
              <a:ext cx="0" cy="287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3" name="Text Box 1367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123803" y="6092403"/>
              <a:ext cx="288000" cy="288925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V</a:t>
              </a:r>
              <a:endParaRPr lang="zh-CN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1368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411624" y="6092403"/>
              <a:ext cx="576263" cy="28892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Tag</a:t>
              </a:r>
              <a:endParaRPr lang="zh-CN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2" name="Text Box 1369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779624" y="6092403"/>
              <a:ext cx="864000" cy="288925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zh-CN" sz="1800" b="1" u="none">
                  <a:latin typeface="宋体" panose="02010600030101010101" pitchFamily="2" charset="-122"/>
                </a:rPr>
                <a:t>缓存块</a:t>
              </a:r>
              <a:endParaRPr lang="zh-CN" altLang="zh-CN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63" name="Text Box 1375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987624" y="6092403"/>
              <a:ext cx="791418" cy="288925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LRU</a:t>
              </a:r>
              <a:r>
                <a:rPr lang="en-US" altLang="zh-CN" sz="18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8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4" name="Line 1371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3419624" y="6092973"/>
              <a:ext cx="0" cy="28733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900430" y="5940000"/>
            <a:ext cx="4355465" cy="288925"/>
            <a:chOff x="1531" y="9411"/>
            <a:chExt cx="6859" cy="455"/>
          </a:xfrm>
        </p:grpSpPr>
        <p:sp>
          <p:nvSpPr>
            <p:cNvPr id="17" name="Text Box 1364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31" y="9411"/>
              <a:ext cx="2891" cy="45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zh-CN" altLang="en-US" sz="1800" b="1" u="none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写回法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的行组成：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" name="Line 1365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6690" y="9414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9" name="Text Box 1367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422" y="9411"/>
              <a:ext cx="454" cy="455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V</a:t>
              </a:r>
              <a:endParaRPr lang="zh-CN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0" name="Text Box 1368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876" y="9411"/>
              <a:ext cx="908" cy="45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Tag</a:t>
              </a:r>
              <a:endParaRPr lang="zh-CN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1" name="Text Box 1369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7030" y="9411"/>
              <a:ext cx="1361" cy="455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zh-CN" sz="1800" b="1" u="none">
                  <a:latin typeface="宋体" panose="02010600030101010101" pitchFamily="2" charset="-122"/>
                </a:rPr>
                <a:t>缓存块</a:t>
              </a:r>
              <a:endParaRPr lang="zh-CN" altLang="zh-CN" sz="1800" b="1" u="none">
                <a:latin typeface="宋体" panose="02010600030101010101" pitchFamily="2" charset="-122"/>
              </a:endParaRPr>
            </a:p>
          </p:txBody>
        </p:sp>
        <p:sp>
          <p:nvSpPr>
            <p:cNvPr id="22" name="Text Box 1375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5783" y="9411"/>
              <a:ext cx="1246" cy="455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LRU </a:t>
              </a:r>
              <a:r>
                <a:rPr lang="en-US" altLang="zh-CN" sz="18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M </a:t>
              </a:r>
              <a:endParaRPr lang="en-US" altLang="zh-CN" sz="18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" name="Line 1371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6463" y="9412"/>
              <a:ext cx="0" cy="45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4" name="Line 1371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>
              <a:off x="6803" y="9411"/>
              <a:ext cx="0" cy="45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p>
              <a:endParaRPr lang="zh-CN" altLang="en-US"/>
            </a:p>
          </p:txBody>
        </p:sp>
      </p:grpSp>
      <p:sp>
        <p:nvSpPr>
          <p:cNvPr id="159" name="AutoShape 331"/>
          <p:cNvSpPr/>
          <p:nvPr>
            <p:custDataLst>
              <p:tags r:id="rId25"/>
            </p:custDataLst>
          </p:nvPr>
        </p:nvSpPr>
        <p:spPr bwMode="auto">
          <a:xfrm>
            <a:off x="4422140" y="6336000"/>
            <a:ext cx="2772000" cy="252095"/>
          </a:xfrm>
          <a:prstGeom prst="borderCallout2">
            <a:avLst>
              <a:gd name="adj1" fmla="val 50061"/>
              <a:gd name="adj2" fmla="val 82"/>
              <a:gd name="adj3" fmla="val 49118"/>
              <a:gd name="adj4" fmla="val -6505"/>
              <a:gd name="adj5" fmla="val -67254"/>
              <a:gd name="adj6" fmla="val -10079"/>
            </a:avLst>
          </a:prstGeom>
          <a:solidFill>
            <a:schemeClr val="bg1"/>
          </a:solidFill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med" len="med"/>
          </a:ln>
          <a:effectLst/>
        </p:spPr>
        <p:txBody>
          <a:bodyPr lIns="18000" tIns="10800" rIns="18000" bIns="10800" anchor="ctr"/>
          <a:p>
            <a:pPr algn="ctr">
              <a:lnSpc>
                <a:spcPct val="90000"/>
              </a:lnSpc>
            </a:pPr>
            <a:r>
              <a:rPr lang="zh-CN" sz="1600" b="1" u="none" dirty="0" smtClean="0">
                <a:latin typeface="+mn-ea"/>
                <a:ea typeface="+mn-ea"/>
              </a:rPr>
              <a:t>称为脏位</a:t>
            </a:r>
            <a:r>
              <a:rPr lang="en-US" altLang="zh-CN" sz="1600" b="1" u="none" dirty="0" smtClean="0">
                <a:latin typeface="+mn-ea"/>
                <a:ea typeface="+mn-ea"/>
              </a:rPr>
              <a:t>(</a:t>
            </a:r>
            <a:r>
              <a:rPr lang="zh-CN" altLang="en-US" sz="1600" b="1" u="none" dirty="0" smtClean="0">
                <a:latin typeface="+mn-ea"/>
                <a:ea typeface="+mn-ea"/>
              </a:rPr>
              <a:t>表示块是否改写过</a:t>
            </a:r>
            <a:r>
              <a:rPr lang="en-US" altLang="zh-CN" sz="1600" b="1" u="none" dirty="0" smtClean="0">
                <a:latin typeface="+mn-ea"/>
                <a:ea typeface="+mn-ea"/>
              </a:rPr>
              <a:t>)</a:t>
            </a:r>
            <a:endParaRPr lang="en-US" altLang="zh-CN" sz="1600" b="1" u="none" dirty="0" smtClean="0">
              <a:solidFill>
                <a:srgbClr val="FF3399"/>
              </a:solidFill>
              <a:latin typeface="+mn-ea"/>
              <a:ea typeface="+mn-ea"/>
            </a:endParaRPr>
          </a:p>
        </p:txBody>
      </p:sp>
      <p:sp>
        <p:nvSpPr>
          <p:cNvPr id="31" name="AutoShape 62">
            <a:hlinkClick r:id="rId26" action="ppaction://hlinksldjump"/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 rot="16200000">
            <a:off x="298817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53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4" name="AutoShape 57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ldLvl="0" animBg="1"/>
      <p:bldP spid="6" grpId="0" bldLvl="0" animBg="1"/>
      <p:bldP spid="8" grpId="0" bldLvl="0" animBg="1"/>
      <p:bldP spid="255" grpId="0" bldLvl="0" animBg="1"/>
      <p:bldP spid="159" grpId="0" bldLvl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" name="Text Box 10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2926080" cy="60090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bIns="0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操作过程：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性能分析：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写策略应用：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791845" y="900000"/>
            <a:ext cx="3636010" cy="3168015"/>
            <a:chOff x="1247" y="1531"/>
            <a:chExt cx="5726" cy="4989"/>
          </a:xfrm>
        </p:grpSpPr>
        <p:sp>
          <p:nvSpPr>
            <p:cNvPr id="21" name="Rectangle 111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252" y="1701"/>
              <a:ext cx="2721" cy="4819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prstDash val="dashDot"/>
              <a:miter lim="800000"/>
              <a:tailEnd type="none" w="sm" len="med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22" name="AutoShape 103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531" y="4535"/>
              <a:ext cx="2041" cy="397"/>
            </a:xfrm>
            <a:prstGeom prst="flowChartDecision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 anchorCtr="0"/>
            <a:p>
              <a:pPr marL="0" indent="0" eaLnBrk="1" latinLnBrk="0" hangingPunct="1"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FF3399"/>
                  </a:solidFill>
                </a:rPr>
                <a:t>是</a:t>
              </a:r>
              <a:r>
                <a:rPr lang="zh-CN" altLang="en-US" sz="1600" b="1" u="none" dirty="0" smtClean="0"/>
                <a:t>写？</a:t>
              </a:r>
              <a:endParaRPr lang="zh-CN" altLang="en-US" sz="1600" b="1" u="none" dirty="0"/>
            </a:p>
          </p:txBody>
        </p:sp>
        <p:sp>
          <p:nvSpPr>
            <p:cNvPr id="23" name="Text Box 10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531" y="5329"/>
              <a:ext cx="2041" cy="397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7780" rIns="0" bIns="0" anchor="ctr" anchorCtr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写回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主存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4" name="Text Box 107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268" y="4989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5" name="直接箭头连接符 24"/>
            <p:cNvCxnSpPr/>
            <p:nvPr>
              <p:custDataLst>
                <p:tags r:id="rId6"/>
              </p:custDataLst>
            </p:nvPr>
          </p:nvCxnSpPr>
          <p:spPr bwMode="auto">
            <a:xfrm>
              <a:off x="2552" y="4932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" name="直接箭头连接符 69"/>
            <p:cNvCxnSpPr/>
            <p:nvPr>
              <p:custDataLst>
                <p:tags r:id="rId7"/>
              </p:custDataLst>
            </p:nvPr>
          </p:nvCxnSpPr>
          <p:spPr bwMode="auto">
            <a:xfrm rot="10800000" flipH="1" flipV="1">
              <a:off x="1531" y="4734"/>
              <a:ext cx="1022" cy="1134"/>
            </a:xfrm>
            <a:prstGeom prst="bentConnector4">
              <a:avLst>
                <a:gd name="adj1" fmla="val -35219"/>
                <a:gd name="adj2" fmla="val 100534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7" name="Text Box 132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247" y="4791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8" name="直接箭头连接符 129"/>
            <p:cNvCxnSpPr>
              <a:stCxn id="23" idx="2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2550" y="5726"/>
              <a:ext cx="2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9" name="Text Box 13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458" y="2891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0" name="Text Box 133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361" y="2268"/>
              <a:ext cx="238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7780" rIns="0" bIns="0" anchor="ctr" anchorCtr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查找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目标主存块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1" name="AutoShape 13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644" y="2948"/>
              <a:ext cx="1814" cy="397"/>
            </a:xfrm>
            <a:prstGeom prst="flowChartDecision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 anchorCtr="0"/>
            <a:p>
              <a:pPr marL="0" indent="0" eaLnBrk="1" latinLnBrk="0" hangingPunct="1">
                <a:lnSpc>
                  <a:spcPct val="90000"/>
                </a:lnSpc>
              </a:pPr>
              <a:r>
                <a:rPr lang="zh-CN" altLang="en-US" sz="1600" b="1" u="none" dirty="0" smtClean="0"/>
                <a:t>命中？</a:t>
              </a:r>
              <a:endParaRPr lang="zh-CN" altLang="en-US" sz="1600" b="1" u="none" dirty="0"/>
            </a:p>
          </p:txBody>
        </p:sp>
        <p:sp>
          <p:nvSpPr>
            <p:cNvPr id="32" name="Text Box 139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219" y="3358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3" name="AutoShape 141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361" y="1531"/>
              <a:ext cx="2381" cy="397"/>
            </a:xfrm>
            <a:prstGeom prst="hexagon">
              <a:avLst>
                <a:gd name="adj" fmla="val 57468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0" tIns="17780" rIns="0" bIns="0" anchor="ctr" anchorCtr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接收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主存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4" name="Text Box 143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361" y="3798"/>
              <a:ext cx="2381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7780" rIns="0" bIns="0" anchor="ctr" anchorCtr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8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访问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目标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行</a:t>
              </a:r>
              <a:endParaRPr lang="zh-CN" altLang="en-US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35" name="AutoShape 145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361" y="6123"/>
              <a:ext cx="2381" cy="397"/>
            </a:xfrm>
            <a:prstGeom prst="hexagon">
              <a:avLst>
                <a:gd name="adj" fmla="val 52248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0" tIns="17780" rIns="0" bIns="0" anchor="ctr" anchorCtr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通知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操作完成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36" name="直接箭头连接符 35"/>
            <p:cNvCxnSpPr/>
            <p:nvPr>
              <p:custDataLst>
                <p:tags r:id="rId17"/>
              </p:custDataLst>
            </p:nvPr>
          </p:nvCxnSpPr>
          <p:spPr bwMode="auto">
            <a:xfrm>
              <a:off x="2551" y="3345"/>
              <a:ext cx="1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" name="直接箭头连接符 36"/>
            <p:cNvCxnSpPr/>
            <p:nvPr>
              <p:custDataLst>
                <p:tags r:id="rId18"/>
              </p:custDataLst>
            </p:nvPr>
          </p:nvCxnSpPr>
          <p:spPr bwMode="auto">
            <a:xfrm>
              <a:off x="2557" y="1941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8" name="直接箭头连接符 37"/>
            <p:cNvCxnSpPr/>
            <p:nvPr>
              <p:custDataLst>
                <p:tags r:id="rId19"/>
              </p:custDataLst>
            </p:nvPr>
          </p:nvCxnSpPr>
          <p:spPr bwMode="auto">
            <a:xfrm flipH="1">
              <a:off x="2551" y="2665"/>
              <a:ext cx="1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9" name="直接箭头连接符 38"/>
            <p:cNvCxnSpPr/>
            <p:nvPr>
              <p:custDataLst>
                <p:tags r:id="rId20"/>
              </p:custDataLst>
            </p:nvPr>
          </p:nvCxnSpPr>
          <p:spPr bwMode="auto">
            <a:xfrm>
              <a:off x="2552" y="4195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" name="直接箭头连接符 64"/>
            <p:cNvCxnSpPr/>
            <p:nvPr>
              <p:custDataLst>
                <p:tags r:id="rId21"/>
              </p:custDataLst>
            </p:nvPr>
          </p:nvCxnSpPr>
          <p:spPr bwMode="auto">
            <a:xfrm>
              <a:off x="4025" y="1587"/>
              <a:ext cx="1644" cy="283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1" name="Text Box 128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5726" y="6178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/>
            <a:p>
              <a:pPr algn="ctr"/>
              <a:r>
                <a:rPr lang="zh-CN" altLang="en-US" sz="1400" b="1" u="none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缺失处理</a:t>
              </a:r>
              <a:endParaRPr lang="zh-CN" altLang="en-US" sz="1400" b="1" u="none" baseline="-20000" dirty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cxnSp>
          <p:nvCxnSpPr>
            <p:cNvPr id="42" name="直接箭头连接符 64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3458" y="1587"/>
              <a:ext cx="567" cy="1559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" name="直接箭头连接符 42"/>
            <p:cNvCxnSpPr/>
            <p:nvPr>
              <p:custDataLst>
                <p:tags r:id="rId24"/>
              </p:custDataLst>
            </p:nvPr>
          </p:nvCxnSpPr>
          <p:spPr bwMode="auto">
            <a:xfrm flipH="1" flipV="1">
              <a:off x="2552" y="3515"/>
              <a:ext cx="198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44" name="组合 43"/>
          <p:cNvGrpSpPr/>
          <p:nvPr/>
        </p:nvGrpSpPr>
        <p:grpSpPr>
          <a:xfrm>
            <a:off x="1620000" y="1080000"/>
            <a:ext cx="2736215" cy="2844165"/>
            <a:chOff x="6406" y="1814"/>
            <a:chExt cx="4309" cy="4479"/>
          </a:xfrm>
        </p:grpSpPr>
        <p:sp>
          <p:nvSpPr>
            <p:cNvPr id="45" name="Text Box 126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8561" y="4932"/>
              <a:ext cx="1928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17780" rIns="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46" name="AutoShape 114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8561" y="2665"/>
              <a:ext cx="1928" cy="397"/>
            </a:xfrm>
            <a:prstGeom prst="flowChartDecision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有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空闲行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?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47" name="Text Box 115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8561" y="5726"/>
              <a:ext cx="1928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7780" rIns="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调入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目标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块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8" name="Text Box 117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9184" y="3118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49" name="Text Box 12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0431" y="2551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0" name="Text Box 124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8561" y="3458"/>
              <a:ext cx="1928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7780" rIns="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找出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牺牲行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51" name="直接箭头连接符 50"/>
            <p:cNvCxnSpPr/>
            <p:nvPr>
              <p:custDataLst>
                <p:tags r:id="rId31"/>
              </p:custDataLst>
            </p:nvPr>
          </p:nvCxnSpPr>
          <p:spPr bwMode="auto">
            <a:xfrm>
              <a:off x="9525" y="3061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" name="直接箭头连接符 51"/>
            <p:cNvCxnSpPr/>
            <p:nvPr>
              <p:custDataLst>
                <p:tags r:id="rId32"/>
              </p:custDataLst>
            </p:nvPr>
          </p:nvCxnSpPr>
          <p:spPr bwMode="auto">
            <a:xfrm>
              <a:off x="9524" y="4592"/>
              <a:ext cx="1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3" name="直接箭头连接符 81"/>
            <p:cNvCxnSpPr/>
            <p:nvPr>
              <p:custDataLst>
                <p:tags r:id="rId33"/>
              </p:custDataLst>
            </p:nvPr>
          </p:nvCxnSpPr>
          <p:spPr bwMode="auto">
            <a:xfrm>
              <a:off x="9525" y="5329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4" name="AutoShape 103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8617" y="1871"/>
              <a:ext cx="1814" cy="397"/>
            </a:xfrm>
            <a:prstGeom prst="flowChartDecision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solidFill>
                    <a:srgbClr val="FF3399"/>
                  </a:solidFill>
                </a:rPr>
                <a:t>是</a:t>
              </a:r>
              <a:r>
                <a:rPr lang="zh-CN" altLang="en-US" sz="1600" b="1" u="none" dirty="0" smtClean="0"/>
                <a:t>写？</a:t>
              </a:r>
              <a:endParaRPr lang="zh-CN" altLang="en-US" sz="1600" b="1" u="none" dirty="0"/>
            </a:p>
          </p:txBody>
        </p:sp>
        <p:cxnSp>
          <p:nvCxnSpPr>
            <p:cNvPr id="55" name="直接箭头连接符 54"/>
            <p:cNvCxnSpPr/>
            <p:nvPr>
              <p:custDataLst>
                <p:tags r:id="rId35"/>
              </p:custDataLst>
            </p:nvPr>
          </p:nvCxnSpPr>
          <p:spPr bwMode="auto">
            <a:xfrm>
              <a:off x="9524" y="2268"/>
              <a:ext cx="1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6" name="Text Box 121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9184" y="2324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7" name="Text Box 117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8334" y="1814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8" name="AutoShape 103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8617" y="4195"/>
              <a:ext cx="1814" cy="397"/>
            </a:xfrm>
            <a:prstGeom prst="flowChartDecision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17780" rIns="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u="none" dirty="0"/>
            </a:p>
          </p:txBody>
        </p:sp>
        <p:cxnSp>
          <p:nvCxnSpPr>
            <p:cNvPr id="59" name="直接箭头连接符 58"/>
            <p:cNvCxnSpPr/>
            <p:nvPr>
              <p:custDataLst>
                <p:tags r:id="rId39"/>
              </p:custDataLst>
            </p:nvPr>
          </p:nvCxnSpPr>
          <p:spPr bwMode="auto">
            <a:xfrm flipH="1">
              <a:off x="9524" y="3855"/>
              <a:ext cx="1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" name="直接箭头连接符 59"/>
            <p:cNvCxnSpPr/>
            <p:nvPr>
              <p:custDataLst>
                <p:tags r:id="rId40"/>
              </p:custDataLst>
            </p:nvPr>
          </p:nvCxnSpPr>
          <p:spPr bwMode="auto">
            <a:xfrm>
              <a:off x="8391" y="3515"/>
              <a:ext cx="1" cy="277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1" name="直接箭头连接符 60"/>
            <p:cNvCxnSpPr/>
            <p:nvPr>
              <p:custDataLst>
                <p:tags r:id="rId41"/>
              </p:custDataLst>
            </p:nvPr>
          </p:nvCxnSpPr>
          <p:spPr bwMode="auto">
            <a:xfrm>
              <a:off x="8391" y="6293"/>
              <a:ext cx="113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2" name="直接箭头连接符 61"/>
            <p:cNvCxnSpPr/>
            <p:nvPr>
              <p:custDataLst>
                <p:tags r:id="rId42"/>
              </p:custDataLst>
            </p:nvPr>
          </p:nvCxnSpPr>
          <p:spPr bwMode="auto">
            <a:xfrm>
              <a:off x="9523" y="6123"/>
              <a:ext cx="1" cy="17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3" name="直接箭头连接符 62"/>
            <p:cNvCxnSpPr/>
            <p:nvPr>
              <p:custDataLst>
                <p:tags r:id="rId43"/>
              </p:custDataLst>
            </p:nvPr>
          </p:nvCxnSpPr>
          <p:spPr bwMode="auto">
            <a:xfrm>
              <a:off x="10489" y="2863"/>
              <a:ext cx="22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4" name="直接箭头连接符 63"/>
            <p:cNvCxnSpPr/>
            <p:nvPr>
              <p:custDataLst>
                <p:tags r:id="rId44"/>
              </p:custDataLst>
            </p:nvPr>
          </p:nvCxnSpPr>
          <p:spPr bwMode="auto">
            <a:xfrm>
              <a:off x="10715" y="2863"/>
              <a:ext cx="1" cy="266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5" name="直接箭头连接符 64"/>
            <p:cNvCxnSpPr/>
            <p:nvPr>
              <p:custDataLst>
                <p:tags r:id="rId45"/>
              </p:custDataLst>
            </p:nvPr>
          </p:nvCxnSpPr>
          <p:spPr bwMode="auto">
            <a:xfrm flipH="1" flipV="1">
              <a:off x="9523" y="5513"/>
              <a:ext cx="119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6" name="直接箭头连接符 65"/>
            <p:cNvCxnSpPr/>
            <p:nvPr>
              <p:custDataLst>
                <p:tags r:id="rId46"/>
              </p:custDataLst>
            </p:nvPr>
          </p:nvCxnSpPr>
          <p:spPr bwMode="auto">
            <a:xfrm>
              <a:off x="8220" y="2069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7" name="直接箭头连接符 66"/>
            <p:cNvCxnSpPr/>
            <p:nvPr>
              <p:custDataLst>
                <p:tags r:id="rId47"/>
              </p:custDataLst>
            </p:nvPr>
          </p:nvCxnSpPr>
          <p:spPr bwMode="auto">
            <a:xfrm>
              <a:off x="8221" y="2069"/>
              <a:ext cx="1" cy="303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8" name="直接箭头连接符 67"/>
            <p:cNvCxnSpPr/>
            <p:nvPr>
              <p:custDataLst>
                <p:tags r:id="rId48"/>
              </p:custDataLst>
            </p:nvPr>
          </p:nvCxnSpPr>
          <p:spPr bwMode="auto">
            <a:xfrm flipH="1" flipV="1">
              <a:off x="6406" y="5102"/>
              <a:ext cx="181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69" name="组合 68"/>
          <p:cNvGrpSpPr/>
          <p:nvPr/>
        </p:nvGrpSpPr>
        <p:grpSpPr>
          <a:xfrm>
            <a:off x="4932390" y="900000"/>
            <a:ext cx="3563620" cy="3176905"/>
            <a:chOff x="1361" y="1531"/>
            <a:chExt cx="5612" cy="5003"/>
          </a:xfrm>
        </p:grpSpPr>
        <p:sp>
          <p:nvSpPr>
            <p:cNvPr id="70" name="Rectangle 111"/>
            <p:cNvSpPr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4252" y="1701"/>
              <a:ext cx="2721" cy="4819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prstDash val="dashDot"/>
              <a:miter lim="800000"/>
              <a:tailEnd type="none" w="sm" len="med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71" name="AutoShape 103"/>
            <p:cNvSpPr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1531" y="4535"/>
              <a:ext cx="2041" cy="397"/>
            </a:xfrm>
            <a:prstGeom prst="flowChartDecision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17780" rIns="0" bIns="0" anchor="ctr" anchorCtr="0"/>
            <a:p>
              <a:pPr marL="0" indent="0" eaLnBrk="1" latinLnBrk="0" hangingPunct="1">
                <a:lnSpc>
                  <a:spcPct val="90000"/>
                </a:lnSpc>
              </a:pPr>
              <a:endParaRPr lang="zh-CN" altLang="en-US" sz="1600" b="1" u="none" dirty="0"/>
            </a:p>
          </p:txBody>
        </p:sp>
        <p:sp>
          <p:nvSpPr>
            <p:cNvPr id="72" name="Text Box 105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1531" y="5343"/>
              <a:ext cx="2041" cy="397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17780" rIns="0" bIns="0" anchor="ctr" anchorCtr="0"/>
            <a:p>
              <a:pPr marL="0" indent="0" algn="ctr" eaLnBrk="1" latinLnBrk="0" hangingPunct="1">
                <a:lnSpc>
                  <a:spcPct val="90000"/>
                </a:lnSpc>
              </a:pP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75" name="直接箭头连接符 74"/>
            <p:cNvCxnSpPr/>
            <p:nvPr>
              <p:custDataLst>
                <p:tags r:id="rId52"/>
              </p:custDataLst>
            </p:nvPr>
          </p:nvCxnSpPr>
          <p:spPr bwMode="auto">
            <a:xfrm>
              <a:off x="2552" y="4932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8" name="直接箭头连接符 129"/>
            <p:cNvCxnSpPr>
              <a:stCxn id="72" idx="2"/>
            </p:cNvCxnSpPr>
            <p:nvPr>
              <p:custDataLst>
                <p:tags r:id="rId53"/>
              </p:custDataLst>
            </p:nvPr>
          </p:nvCxnSpPr>
          <p:spPr bwMode="auto">
            <a:xfrm flipH="1">
              <a:off x="2550" y="5740"/>
              <a:ext cx="2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2" name="Text Box 132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3458" y="2891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17" name="Text Box 133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1361" y="2268"/>
              <a:ext cx="238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7780" rIns="0" bIns="0" anchor="ctr" anchorCtr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查找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目标主存块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18" name="AutoShape 134"/>
            <p:cNvSpPr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1644" y="2948"/>
              <a:ext cx="1814" cy="397"/>
            </a:xfrm>
            <a:prstGeom prst="flowChartDecision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 anchorCtr="0"/>
            <a:p>
              <a:pPr marL="0" indent="0" eaLnBrk="1" latinLnBrk="0" hangingPunct="1">
                <a:lnSpc>
                  <a:spcPct val="90000"/>
                </a:lnSpc>
              </a:pPr>
              <a:r>
                <a:rPr lang="zh-CN" altLang="en-US" sz="1600" b="1" u="none" dirty="0" smtClean="0"/>
                <a:t>命中？</a:t>
              </a:r>
              <a:endParaRPr lang="zh-CN" altLang="en-US" sz="1600" b="1" u="none" dirty="0"/>
            </a:p>
          </p:txBody>
        </p:sp>
        <p:sp>
          <p:nvSpPr>
            <p:cNvPr id="119" name="Text Box 139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2219" y="3358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20" name="AutoShape 141"/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1361" y="1531"/>
              <a:ext cx="2381" cy="397"/>
            </a:xfrm>
            <a:prstGeom prst="hexagon">
              <a:avLst>
                <a:gd name="adj" fmla="val 57468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0" tIns="17780" rIns="0" bIns="0" anchor="ctr" anchorCtr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接收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主存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21" name="Text Box 143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1361" y="3798"/>
              <a:ext cx="2381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7780" rIns="0" bIns="0" anchor="ctr" anchorCtr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8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访问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目标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行</a:t>
              </a:r>
              <a:endParaRPr lang="zh-CN" altLang="en-US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27" name="AutoShape 145"/>
            <p:cNvSpPr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1361" y="6137"/>
              <a:ext cx="2381" cy="397"/>
            </a:xfrm>
            <a:prstGeom prst="hexagon">
              <a:avLst>
                <a:gd name="adj" fmla="val 52248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0" tIns="17780" rIns="0" bIns="0" anchor="ctr" anchorCtr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通知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操作完成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57" name="直接箭头连接符 156"/>
            <p:cNvCxnSpPr/>
            <p:nvPr>
              <p:custDataLst>
                <p:tags r:id="rId61"/>
              </p:custDataLst>
            </p:nvPr>
          </p:nvCxnSpPr>
          <p:spPr bwMode="auto">
            <a:xfrm>
              <a:off x="2551" y="3345"/>
              <a:ext cx="1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8" name="直接箭头连接符 157"/>
            <p:cNvCxnSpPr/>
            <p:nvPr>
              <p:custDataLst>
                <p:tags r:id="rId62"/>
              </p:custDataLst>
            </p:nvPr>
          </p:nvCxnSpPr>
          <p:spPr bwMode="auto">
            <a:xfrm>
              <a:off x="2557" y="1941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9" name="直接箭头连接符 158"/>
            <p:cNvCxnSpPr/>
            <p:nvPr>
              <p:custDataLst>
                <p:tags r:id="rId63"/>
              </p:custDataLst>
            </p:nvPr>
          </p:nvCxnSpPr>
          <p:spPr bwMode="auto">
            <a:xfrm flipH="1">
              <a:off x="2551" y="2665"/>
              <a:ext cx="1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0" name="直接箭头连接符 159"/>
            <p:cNvCxnSpPr/>
            <p:nvPr>
              <p:custDataLst>
                <p:tags r:id="rId64"/>
              </p:custDataLst>
            </p:nvPr>
          </p:nvCxnSpPr>
          <p:spPr bwMode="auto">
            <a:xfrm>
              <a:off x="2552" y="4195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1" name="直接箭头连接符 64"/>
            <p:cNvCxnSpPr/>
            <p:nvPr>
              <p:custDataLst>
                <p:tags r:id="rId65"/>
              </p:custDataLst>
            </p:nvPr>
          </p:nvCxnSpPr>
          <p:spPr bwMode="auto">
            <a:xfrm>
              <a:off x="4025" y="1587"/>
              <a:ext cx="1644" cy="283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2" name="Text Box 128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5726" y="6180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/>
            <a:p>
              <a:pPr algn="ctr"/>
              <a:r>
                <a:rPr lang="zh-CN" altLang="en-US" sz="1400" b="1" u="none" dirty="0">
                  <a:latin typeface="宋体" panose="02010600030101010101" pitchFamily="2" charset="-122"/>
                </a:rPr>
                <a:t>缺失处理</a:t>
              </a:r>
              <a:endParaRPr lang="zh-CN" altLang="en-US" sz="14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63" name="直接箭头连接符 64"/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3458" y="1587"/>
              <a:ext cx="567" cy="1559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4" name="直接箭头连接符 163"/>
            <p:cNvCxnSpPr/>
            <p:nvPr>
              <p:custDataLst>
                <p:tags r:id="rId68"/>
              </p:custDataLst>
            </p:nvPr>
          </p:nvCxnSpPr>
          <p:spPr bwMode="auto">
            <a:xfrm flipH="1" flipV="1">
              <a:off x="2552" y="3515"/>
              <a:ext cx="198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65" name="组合 164"/>
          <p:cNvGrpSpPr/>
          <p:nvPr/>
        </p:nvGrpSpPr>
        <p:grpSpPr>
          <a:xfrm>
            <a:off x="6948475" y="1116000"/>
            <a:ext cx="1476375" cy="2807970"/>
            <a:chOff x="8391" y="1871"/>
            <a:chExt cx="2325" cy="4422"/>
          </a:xfrm>
        </p:grpSpPr>
        <p:sp>
          <p:nvSpPr>
            <p:cNvPr id="166" name="Text Box 126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8561" y="4932"/>
              <a:ext cx="1928" cy="397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tIns="17780" rIns="0" bIns="0" anchor="ctr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  <a:sym typeface="+mn-ea"/>
                </a:rPr>
                <a:t>块</a:t>
              </a: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写回</a:t>
              </a:r>
              <a:r>
                <a:rPr lang="zh-CN" altLang="en-US" sz="1600" b="1" u="none" dirty="0" smtClean="0">
                  <a:latin typeface="宋体" panose="02010600030101010101" pitchFamily="2" charset="-122"/>
                  <a:sym typeface="+mn-ea"/>
                </a:rPr>
                <a:t>主存</a:t>
              </a:r>
              <a:endParaRPr lang="zh-CN" altLang="en-US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7" name="AutoShape 114"/>
            <p:cNvSpPr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8561" y="2665"/>
              <a:ext cx="1928" cy="397"/>
            </a:xfrm>
            <a:prstGeom prst="flowChartDecision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有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空闲行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?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8" name="Text Box 115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8561" y="5726"/>
              <a:ext cx="1928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7780" rIns="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调入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目标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块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9" name="Text Box 117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9184" y="3118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0" name="Text Box 121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10431" y="2551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1" name="Text Box 124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8561" y="3458"/>
              <a:ext cx="1928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7780" rIns="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找出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牺牲行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72" name="直接箭头连接符 171"/>
            <p:cNvCxnSpPr/>
            <p:nvPr>
              <p:custDataLst>
                <p:tags r:id="rId75"/>
              </p:custDataLst>
            </p:nvPr>
          </p:nvCxnSpPr>
          <p:spPr bwMode="auto">
            <a:xfrm>
              <a:off x="9525" y="3061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3" name="直接箭头连接符 172"/>
            <p:cNvCxnSpPr/>
            <p:nvPr>
              <p:custDataLst>
                <p:tags r:id="rId76"/>
              </p:custDataLst>
            </p:nvPr>
          </p:nvCxnSpPr>
          <p:spPr bwMode="auto">
            <a:xfrm>
              <a:off x="9524" y="4592"/>
              <a:ext cx="1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4" name="直接箭头连接符 81"/>
            <p:cNvCxnSpPr/>
            <p:nvPr>
              <p:custDataLst>
                <p:tags r:id="rId77"/>
              </p:custDataLst>
            </p:nvPr>
          </p:nvCxnSpPr>
          <p:spPr bwMode="auto">
            <a:xfrm>
              <a:off x="9525" y="5329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5" name="AutoShape 103"/>
            <p:cNvSpPr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8617" y="1871"/>
              <a:ext cx="1814" cy="397"/>
            </a:xfrm>
            <a:prstGeom prst="flowChartDecision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17780" rIns="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u="none" dirty="0"/>
            </a:p>
          </p:txBody>
        </p:sp>
        <p:cxnSp>
          <p:nvCxnSpPr>
            <p:cNvPr id="176" name="直接箭头连接符 175"/>
            <p:cNvCxnSpPr/>
            <p:nvPr>
              <p:custDataLst>
                <p:tags r:id="rId79"/>
              </p:custDataLst>
            </p:nvPr>
          </p:nvCxnSpPr>
          <p:spPr bwMode="auto">
            <a:xfrm>
              <a:off x="9524" y="2268"/>
              <a:ext cx="1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7" name="Text Box 121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10318" y="4138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8" name="Text Box 117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9241" y="4649"/>
              <a:ext cx="283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9" name="AutoShape 103"/>
            <p:cNvSpPr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8617" y="4195"/>
              <a:ext cx="1814" cy="397"/>
            </a:xfrm>
            <a:prstGeom prst="flowChartDecision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0" tIns="17780" rIns="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块</a:t>
              </a: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改过</a:t>
              </a:r>
              <a:r>
                <a:rPr lang="en-US" altLang="zh-CN" sz="1600" b="1" u="none" dirty="0" smtClean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?</a:t>
              </a:r>
              <a:endPara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80" name="直接箭头连接符 179"/>
            <p:cNvCxnSpPr/>
            <p:nvPr>
              <p:custDataLst>
                <p:tags r:id="rId83"/>
              </p:custDataLst>
            </p:nvPr>
          </p:nvCxnSpPr>
          <p:spPr bwMode="auto">
            <a:xfrm flipH="1">
              <a:off x="9524" y="3855"/>
              <a:ext cx="1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1" name="直接箭头连接符 180"/>
            <p:cNvCxnSpPr/>
            <p:nvPr>
              <p:custDataLst>
                <p:tags r:id="rId84"/>
              </p:custDataLst>
            </p:nvPr>
          </p:nvCxnSpPr>
          <p:spPr bwMode="auto">
            <a:xfrm>
              <a:off x="8391" y="3515"/>
              <a:ext cx="1" cy="277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2" name="直接箭头连接符 181"/>
            <p:cNvCxnSpPr/>
            <p:nvPr>
              <p:custDataLst>
                <p:tags r:id="rId85"/>
              </p:custDataLst>
            </p:nvPr>
          </p:nvCxnSpPr>
          <p:spPr bwMode="auto">
            <a:xfrm>
              <a:off x="8391" y="6293"/>
              <a:ext cx="113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3" name="直接箭头连接符 182"/>
            <p:cNvCxnSpPr/>
            <p:nvPr>
              <p:custDataLst>
                <p:tags r:id="rId86"/>
              </p:custDataLst>
            </p:nvPr>
          </p:nvCxnSpPr>
          <p:spPr bwMode="auto">
            <a:xfrm>
              <a:off x="9523" y="6123"/>
              <a:ext cx="1" cy="17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4" name="直接箭头连接符 183"/>
            <p:cNvCxnSpPr/>
            <p:nvPr>
              <p:custDataLst>
                <p:tags r:id="rId87"/>
              </p:custDataLst>
            </p:nvPr>
          </p:nvCxnSpPr>
          <p:spPr bwMode="auto">
            <a:xfrm>
              <a:off x="10489" y="2863"/>
              <a:ext cx="22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5" name="直接箭头连接符 184"/>
            <p:cNvCxnSpPr/>
            <p:nvPr>
              <p:custDataLst>
                <p:tags r:id="rId88"/>
              </p:custDataLst>
            </p:nvPr>
          </p:nvCxnSpPr>
          <p:spPr bwMode="auto">
            <a:xfrm>
              <a:off x="10715" y="2863"/>
              <a:ext cx="1" cy="266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6" name="直接箭头连接符 185"/>
            <p:cNvCxnSpPr/>
            <p:nvPr>
              <p:custDataLst>
                <p:tags r:id="rId89"/>
              </p:custDataLst>
            </p:nvPr>
          </p:nvCxnSpPr>
          <p:spPr bwMode="auto">
            <a:xfrm flipH="1" flipV="1">
              <a:off x="9523" y="5513"/>
              <a:ext cx="119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7" name="直接箭头连接符 186"/>
            <p:cNvCxnSpPr/>
            <p:nvPr>
              <p:custDataLst>
                <p:tags r:id="rId90"/>
              </p:custDataLst>
            </p:nvPr>
          </p:nvCxnSpPr>
          <p:spPr bwMode="auto">
            <a:xfrm>
              <a:off x="10431" y="4394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aphicFrame>
        <p:nvGraphicFramePr>
          <p:cNvPr id="191" name="表格 190"/>
          <p:cNvGraphicFramePr/>
          <p:nvPr>
            <p:custDataLst>
              <p:tags r:id="rId91"/>
            </p:custDataLst>
          </p:nvPr>
        </p:nvGraphicFramePr>
        <p:xfrm>
          <a:off x="1263650" y="4657090"/>
          <a:ext cx="7272020" cy="116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600"/>
                <a:gridCol w="962025"/>
                <a:gridCol w="1292860"/>
                <a:gridCol w="1273175"/>
                <a:gridCol w="1085850"/>
                <a:gridCol w="1794510"/>
              </a:tblGrid>
              <a:tr h="2921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T</a:t>
                      </a:r>
                      <a:r>
                        <a:rPr lang="zh-CN" altLang="en-US" sz="1800" b="1" baseline="-160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读命中</a:t>
                      </a:r>
                      <a:endParaRPr lang="zh-CN" altLang="en-US" sz="1800" b="1" baseline="-1600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T</a:t>
                      </a:r>
                      <a:r>
                        <a:rPr lang="zh-CN" altLang="en-US" sz="1800" b="1" baseline="-160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读</a:t>
                      </a:r>
                      <a:r>
                        <a:rPr lang="zh-CN" altLang="en-US" sz="1800" b="1" baseline="-16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缺失</a:t>
                      </a:r>
                      <a:endParaRPr lang="zh-CN" altLang="en-US" sz="1800" b="1" baseline="-16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T</a:t>
                      </a:r>
                      <a:r>
                        <a:rPr lang="zh-CN" altLang="en-US" sz="1800" b="1" baseline="-160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写</a:t>
                      </a:r>
                      <a:r>
                        <a:rPr lang="zh-CN" altLang="en-US" sz="1800" b="1" baseline="-160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命中</a:t>
                      </a:r>
                      <a:endParaRPr lang="zh-CN" altLang="en-US" sz="1800" b="1" baseline="-1600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T</a:t>
                      </a:r>
                      <a:r>
                        <a:rPr lang="zh-CN" altLang="en-US" sz="1800" b="1" baseline="-16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缺失</a:t>
                      </a:r>
                      <a:r>
                        <a:rPr lang="en-US" altLang="zh-CN" sz="1800" b="1" baseline="-160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zh-CN" altLang="en-US" sz="1800" b="1" baseline="-160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写</a:t>
                      </a:r>
                      <a:r>
                        <a:rPr lang="en-US" altLang="zh-CN" sz="1800" b="1" baseline="-160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endParaRPr lang="en-US" altLang="zh-CN" sz="1800" b="1" baseline="-1600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总线占用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</a:tr>
              <a:tr h="292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全写法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 dirty="0" err="1">
                          <a:latin typeface="+mn-ea"/>
                          <a:sym typeface="+mn-ea"/>
                        </a:rPr>
                        <a:t>＝</a:t>
                      </a:r>
                      <a:r>
                        <a:rPr lang="en-US" altLang="zh-CN" sz="1800" b="1" dirty="0" err="1">
                          <a:latin typeface="+mn-ea"/>
                          <a:sym typeface="+mn-ea"/>
                        </a:rPr>
                        <a:t>T</a:t>
                      </a:r>
                      <a:r>
                        <a:rPr lang="en-US" altLang="zh-CN" sz="1800" b="1" baseline="-16000" dirty="0" err="1">
                          <a:latin typeface="+mn-ea"/>
                          <a:sym typeface="+mn-ea"/>
                        </a:rPr>
                        <a:t>Cache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 b="1" dirty="0" err="1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 </a:t>
                      </a:r>
                      <a:r>
                        <a:rPr lang="zh-CN" altLang="en-US" sz="1800" b="1" dirty="0" err="1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＝</a:t>
                      </a:r>
                      <a:r>
                        <a:rPr lang="en-US" altLang="zh-CN" sz="1800" b="1" dirty="0" err="1">
                          <a:latin typeface="+mn-ea"/>
                          <a:sym typeface="+mn-ea"/>
                        </a:rPr>
                        <a:t>T</a:t>
                      </a:r>
                      <a:r>
                        <a:rPr lang="en-US" altLang="zh-CN" sz="1800" b="1" baseline="-16000" dirty="0" err="1">
                          <a:latin typeface="+mn-ea"/>
                          <a:sym typeface="+mn-ea"/>
                        </a:rPr>
                        <a:t>Mem</a:t>
                      </a:r>
                      <a:r>
                        <a:rPr lang="en-US" altLang="zh-CN" sz="1800" b="1" baseline="-16000" dirty="0">
                          <a:latin typeface="+mn-ea"/>
                          <a:sym typeface="+mn-ea"/>
                        </a:rPr>
                        <a:t>(</a:t>
                      </a:r>
                      <a:r>
                        <a:rPr lang="zh-CN" altLang="en-US" sz="1800" b="1" baseline="-16000" dirty="0">
                          <a:latin typeface="+mn-ea"/>
                          <a:sym typeface="+mn-ea"/>
                        </a:rPr>
                        <a:t>块</a:t>
                      </a:r>
                      <a:r>
                        <a:rPr lang="en-US" altLang="zh-CN" sz="1800" b="1" baseline="-16000" dirty="0" smtClean="0">
                          <a:latin typeface="+mn-ea"/>
                          <a:sym typeface="+mn-ea"/>
                        </a:rPr>
                        <a:t>)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 b="1" dirty="0" err="1">
                          <a:latin typeface="+mn-ea"/>
                          <a:sym typeface="+mn-ea"/>
                        </a:rPr>
                        <a:t> </a:t>
                      </a:r>
                      <a:r>
                        <a:rPr lang="zh-CN" altLang="en-US" sz="1800" b="1" dirty="0" err="1">
                          <a:latin typeface="+mn-ea"/>
                          <a:sym typeface="+mn-ea"/>
                        </a:rPr>
                        <a:t>＝</a:t>
                      </a:r>
                      <a:r>
                        <a:rPr lang="en-US" altLang="zh-CN" sz="1800" b="1" dirty="0" err="1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T</a:t>
                      </a:r>
                      <a:r>
                        <a:rPr lang="en-US" altLang="zh-CN" sz="1800" b="1" baseline="-16000" dirty="0" err="1" smtClean="0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Mem</a:t>
                      </a:r>
                      <a:r>
                        <a:rPr lang="en-US" altLang="zh-CN" sz="1800" b="1" baseline="-16000" dirty="0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(</a:t>
                      </a:r>
                      <a:r>
                        <a:rPr lang="zh-CN" altLang="en-US" sz="1800" b="1" baseline="-16000" dirty="0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字</a:t>
                      </a:r>
                      <a:r>
                        <a:rPr lang="en-US" altLang="zh-CN" sz="1800" b="1" baseline="-16000" dirty="0" smtClean="0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)</a:t>
                      </a:r>
                      <a:r>
                        <a:rPr lang="en-US" altLang="zh-CN" sz="1800" b="1" baseline="30000" dirty="0" smtClean="0">
                          <a:latin typeface="+mn-ea"/>
                          <a:sym typeface="+mn-ea"/>
                        </a:rPr>
                        <a:t>①</a:t>
                      </a:r>
                      <a:endParaRPr lang="en-US" altLang="zh-CN" sz="1800" b="1" baseline="30000" dirty="0" smtClean="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en-US" altLang="zh-CN" sz="1800" b="1" baseline="30000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②</a:t>
                      </a:r>
                      <a:endParaRPr lang="en-US" altLang="zh-CN" b="1" baseline="30000">
                        <a:solidFill>
                          <a:srgbClr val="9900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读缺失、</a:t>
                      </a:r>
                      <a:r>
                        <a:rPr lang="zh-CN" altLang="en-US" b="1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每次写</a:t>
                      </a:r>
                      <a:endParaRPr lang="zh-CN" altLang="en-US" b="1">
                        <a:solidFill>
                          <a:srgbClr val="9900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2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写回法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 dirty="0" err="1">
                          <a:latin typeface="+mn-ea"/>
                          <a:sym typeface="+mn-ea"/>
                        </a:rPr>
                        <a:t>＝</a:t>
                      </a:r>
                      <a:r>
                        <a:rPr lang="en-US" altLang="zh-CN" sz="1800" b="1" dirty="0" err="1">
                          <a:latin typeface="+mn-ea"/>
                          <a:sym typeface="+mn-ea"/>
                        </a:rPr>
                        <a:t>T</a:t>
                      </a:r>
                      <a:r>
                        <a:rPr lang="en-US" altLang="zh-CN" sz="1800" b="1" baseline="-16000" dirty="0" err="1">
                          <a:latin typeface="+mn-ea"/>
                          <a:sym typeface="+mn-ea"/>
                        </a:rPr>
                        <a:t>Cache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 ≥</a:t>
                      </a:r>
                      <a:r>
                        <a:rPr lang="en-US" altLang="zh-CN" sz="1800" b="1" dirty="0" err="1">
                          <a:latin typeface="+mn-ea"/>
                          <a:sym typeface="+mn-ea"/>
                        </a:rPr>
                        <a:t>T</a:t>
                      </a:r>
                      <a:r>
                        <a:rPr lang="en-US" altLang="zh-CN" sz="1800" b="1" baseline="-16000" dirty="0" err="1">
                          <a:latin typeface="+mn-ea"/>
                          <a:sym typeface="+mn-ea"/>
                        </a:rPr>
                        <a:t>Mem</a:t>
                      </a:r>
                      <a:r>
                        <a:rPr lang="en-US" altLang="zh-CN" sz="1800" b="1" baseline="-16000" dirty="0">
                          <a:latin typeface="+mn-ea"/>
                          <a:sym typeface="+mn-ea"/>
                        </a:rPr>
                        <a:t>(</a:t>
                      </a:r>
                      <a:r>
                        <a:rPr lang="zh-CN" altLang="en-US" sz="1800" b="1" baseline="-16000" dirty="0">
                          <a:latin typeface="+mn-ea"/>
                          <a:sym typeface="+mn-ea"/>
                        </a:rPr>
                        <a:t>块</a:t>
                      </a:r>
                      <a:r>
                        <a:rPr lang="en-US" altLang="zh-CN" sz="1800" b="1" baseline="-16000" dirty="0" smtClean="0">
                          <a:latin typeface="+mn-ea"/>
                          <a:sym typeface="+mn-ea"/>
                        </a:rPr>
                        <a:t>)</a:t>
                      </a:r>
                      <a:r>
                        <a:rPr lang="en-US" altLang="zh-CN" sz="1800" b="1" baseline="30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③</a:t>
                      </a:r>
                      <a:endParaRPr lang="en-US" altLang="zh-CN" sz="1800" b="1" baseline="3000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 b="1" dirty="0" err="1">
                          <a:latin typeface="+mn-ea"/>
                          <a:sym typeface="+mn-ea"/>
                        </a:rPr>
                        <a:t> </a:t>
                      </a:r>
                      <a:r>
                        <a:rPr lang="zh-CN" altLang="en-US" sz="1800" b="1" dirty="0" err="1">
                          <a:latin typeface="+mn-ea"/>
                          <a:sym typeface="+mn-ea"/>
                        </a:rPr>
                        <a:t>＝</a:t>
                      </a:r>
                      <a:r>
                        <a:rPr lang="en-US" altLang="zh-CN" sz="1800" b="1" dirty="0" err="1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T</a:t>
                      </a:r>
                      <a:r>
                        <a:rPr lang="en-US" altLang="zh-CN" sz="1800" b="1" baseline="-16000" dirty="0" err="1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Cache</a:t>
                      </a:r>
                      <a:endParaRPr lang="en-US" altLang="zh-CN" sz="1800" b="1" baseline="-16000" dirty="0" err="1">
                        <a:solidFill>
                          <a:srgbClr val="990099"/>
                        </a:solidFill>
                        <a:latin typeface="+mn-ea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≥</a:t>
                      </a:r>
                      <a:r>
                        <a:rPr lang="en-US" altLang="zh-CN" sz="1800" b="1" dirty="0" err="1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T</a:t>
                      </a:r>
                      <a:r>
                        <a:rPr lang="en-US" altLang="zh-CN" sz="1800" b="1" baseline="-16000" dirty="0" err="1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Mem</a:t>
                      </a:r>
                      <a:r>
                        <a:rPr lang="en-US" altLang="zh-CN" sz="1800" b="1" baseline="-16000" dirty="0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(</a:t>
                      </a:r>
                      <a:r>
                        <a:rPr lang="zh-CN" altLang="en-US" sz="1800" b="1" baseline="-16000" dirty="0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块</a:t>
                      </a:r>
                      <a:r>
                        <a:rPr lang="en-US" altLang="zh-CN" sz="1800" b="1" baseline="-16000" dirty="0" smtClean="0">
                          <a:solidFill>
                            <a:srgbClr val="990099"/>
                          </a:solidFill>
                          <a:latin typeface="+mn-ea"/>
                          <a:sym typeface="+mn-ea"/>
                        </a:rPr>
                        <a:t>)</a:t>
                      </a:r>
                      <a:endParaRPr lang="en-US" altLang="zh-CN" sz="1800" b="1" baseline="-16000" dirty="0" smtClean="0">
                        <a:solidFill>
                          <a:srgbClr val="990099"/>
                        </a:solidFill>
                        <a:latin typeface="+mn-ea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读缺失、</a:t>
                      </a:r>
                      <a:r>
                        <a:rPr lang="zh-CN" altLang="en-US" sz="1800" b="1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替换时</a:t>
                      </a:r>
                      <a:endParaRPr lang="zh-CN" altLang="en-US" sz="1800" b="1">
                        <a:solidFill>
                          <a:srgbClr val="9900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2100">
                <a:tc gridSpan="6"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注：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①</a:t>
                      </a:r>
                      <a:r>
                        <a:rPr lang="en-US" altLang="zh-CN" sz="1800" b="1" dirty="0" err="1">
                          <a:latin typeface="+mn-ea"/>
                          <a:sym typeface="+mn-ea"/>
                        </a:rPr>
                        <a:t>&gt;&gt;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T</a:t>
                      </a:r>
                      <a:r>
                        <a:rPr lang="en-US" altLang="zh-CN" sz="1800" b="1" baseline="-16000" dirty="0" err="1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Cache</a:t>
                      </a:r>
                      <a:r>
                        <a:rPr lang="zh-CN" altLang="en-US" sz="1800" b="1" dirty="0" err="1">
                          <a:latin typeface="+mn-ea"/>
                          <a:sym typeface="+mn-ea"/>
                        </a:rPr>
                        <a:t>；</a:t>
                      </a:r>
                      <a:r>
                        <a:rPr lang="zh-CN" altLang="en-US" sz="1800" b="1" dirty="0" err="1">
                          <a:latin typeface="+mn-ea"/>
                          <a:sym typeface="+mn-ea"/>
                        </a:rPr>
                        <a:t>②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T</a:t>
                      </a:r>
                      <a:r>
                        <a:rPr lang="zh-CN" altLang="en-US" sz="1800" b="1" baseline="-16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缺失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指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T</a:t>
                      </a:r>
                      <a:r>
                        <a:rPr lang="zh-CN" altLang="en-US" sz="1800" b="1" baseline="-16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停顿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即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T</a:t>
                      </a:r>
                      <a:r>
                        <a:rPr lang="zh-CN" altLang="en-US" sz="1800" b="1" baseline="-25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增加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altLang="en-US" sz="1800" b="1" dirty="0" err="1">
                          <a:latin typeface="+mn-ea"/>
                          <a:sym typeface="+mn-ea"/>
                        </a:rPr>
                        <a:t>；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③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替换时＞、仅调入</a:t>
                      </a:r>
                      <a:r>
                        <a:rPr lang="zh-CN" altLang="en-US" sz="1800" b="1" dirty="0" err="1">
                          <a:latin typeface="+mn-ea"/>
                          <a:sym typeface="+mn-ea"/>
                        </a:rPr>
                        <a:t>＝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2" name="Text Box 70"/>
          <p:cNvSpPr txBox="1">
            <a:spLocks noChangeArrowheads="1"/>
          </p:cNvSpPr>
          <p:nvPr>
            <p:custDataLst>
              <p:tags r:id="rId92"/>
            </p:custDataLst>
          </p:nvPr>
        </p:nvSpPr>
        <p:spPr bwMode="auto">
          <a:xfrm>
            <a:off x="2196000" y="5868000"/>
            <a:ext cx="418147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常采用写回法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600" b="1" baseline="-16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命中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小、占用总线少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9" name="AutoShape 24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93"/>
            </p:custDataLst>
          </p:nvPr>
        </p:nvSpPr>
        <p:spPr bwMode="auto">
          <a:xfrm rot="5400000">
            <a:off x="4067944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3" name="线形标注 2 2"/>
          <p:cNvSpPr/>
          <p:nvPr/>
        </p:nvSpPr>
        <p:spPr bwMode="auto">
          <a:xfrm>
            <a:off x="2880000" y="4176000"/>
            <a:ext cx="1728000" cy="252000"/>
          </a:xfrm>
          <a:prstGeom prst="borderCallout2">
            <a:avLst>
              <a:gd name="adj1" fmla="val 45415"/>
              <a:gd name="adj2" fmla="val 269"/>
              <a:gd name="adj3" fmla="val 49961"/>
              <a:gd name="adj4" fmla="val -12810"/>
              <a:gd name="adj5" fmla="val -393946"/>
              <a:gd name="adj6" fmla="val 12882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p>
            <a:pPr algn="ctr">
              <a:lnSpc>
                <a:spcPct val="90000"/>
              </a:lnSpc>
            </a:pPr>
            <a:r>
              <a:rPr lang="zh-CN" altLang="en-US" sz="1600" b="1" u="none" dirty="0" smtClean="0">
                <a:latin typeface="宋体" panose="02010600030101010101" pitchFamily="2" charset="-122"/>
              </a:rPr>
              <a:t>丢弃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与主存一致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bldLvl="0" animBg="1"/>
      <p:bldP spid="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55"/>
          <p:cNvSpPr txBox="1">
            <a:spLocks noChangeArrowheads="1"/>
          </p:cNvSpPr>
          <p:nvPr/>
        </p:nvSpPr>
        <p:spPr bwMode="auto">
          <a:xfrm>
            <a:off x="179388" y="360645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defRPr b="1" u="none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Cache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组织举例</a:t>
            </a:r>
            <a:endParaRPr lang="zh-CN" altLang="en-US" sz="2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9" name="Text Box 12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864000"/>
            <a:ext cx="5522595" cy="50850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新的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结构：</a:t>
            </a: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spc="-5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spc="-5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多级</a:t>
            </a:r>
            <a:r>
              <a:rPr lang="en-US" altLang="zh-CN" sz="2200" b="1" u="none" spc="-5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Cache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spc="-50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endParaRPr lang="zh-CN" altLang="en-US" sz="1800" b="1" u="none" spc="-50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endParaRPr lang="zh-CN" altLang="en-US" sz="1800" b="1" u="none" spc="-50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u="none" spc="-50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1600" b="1" u="none" spc="-50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spc="-5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u="none" spc="-5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优点：</a:t>
            </a:r>
            <a:endParaRPr lang="zh-CN" altLang="en-US" sz="2200" b="1" u="none" spc="-50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u="none" spc="-50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spc="-5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spc="-5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哈佛结构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endParaRPr lang="en-US" altLang="zh-CN" sz="1600" b="1" u="none" spc="-50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u="none" spc="-50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u="none" spc="-50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u="none" spc="-5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u="none" spc="-5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优点：</a:t>
            </a:r>
            <a:endParaRPr lang="en-US" altLang="zh-CN" sz="2200" b="1" u="none" spc="-50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7" name="Text Box 7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4000" y="1296035"/>
            <a:ext cx="7055485" cy="4638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用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层次结构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代替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单级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Cache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(L1$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是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L2$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的子集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                       </a:t>
            </a:r>
            <a:r>
              <a:rPr lang="en-US" altLang="zh-CN" sz="1600" u="none" dirty="0" smtClean="0">
                <a:latin typeface="宋体" panose="02010600030101010101" pitchFamily="2" charset="-122"/>
                <a:sym typeface="+mn-ea"/>
              </a:rPr>
              <a:t>├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容量大，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600" b="1" u="none" baseline="-18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命中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较大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6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≈nT</a:t>
            </a:r>
            <a:r>
              <a:rPr lang="en-US" altLang="zh-CN" sz="1600" b="1" u="none" baseline="-25000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C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F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较低</a:t>
            </a:r>
            <a:endParaRPr lang="en-US" altLang="zh-CN" sz="16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                       </a:t>
            </a:r>
            <a:r>
              <a:rPr lang="en-US" altLang="zh-CN" sz="16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相联度高，</a:t>
            </a:r>
            <a:r>
              <a:rPr lang="en-US" sz="1600" b="1" u="none" dirty="0" smtClean="0">
                <a:latin typeface="宋体" panose="02010600030101010101" pitchFamily="2" charset="-122"/>
                <a:sym typeface="+mn-ea"/>
              </a:rPr>
              <a:t>F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降低、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600" b="1" u="none" baseline="-18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命中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增大</a:t>
            </a:r>
            <a:endParaRPr lang="en-US" altLang="zh-CN" sz="16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18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200" b="1" u="none" baseline="-18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L1$</a:t>
            </a:r>
            <a:r>
              <a:rPr lang="zh-CN" altLang="en-US" sz="2200" b="1" u="none" baseline="-18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命中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u="none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较小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容量小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结构简单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en-US" altLang="zh-CN" sz="16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≈T</a:t>
            </a:r>
            <a:r>
              <a:rPr lang="en-US" altLang="zh-CN" sz="1600" b="1" u="none" baseline="-25000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C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</a:t>
            </a:r>
            <a:r>
              <a:rPr lang="en-US" altLang="zh-CN" sz="2200" b="1" u="none" baseline="-18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L2$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u="none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较低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提高相联度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zh-CN" altLang="en-US" sz="2200" b="1" u="none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地址变换与访问</a:t>
            </a: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L1$</a:t>
            </a: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u="none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并行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如同时读出管理信息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下一节讨论</a:t>
            </a:r>
            <a:endParaRPr lang="zh-CN" altLang="en-US" sz="2200" b="1" u="none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用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指令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＋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数据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代替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联合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Cache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                                        </a:t>
            </a:r>
            <a:r>
              <a:rPr lang="en-US" altLang="zh-CN" sz="16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又称为</a:t>
            </a:r>
            <a:r>
              <a:rPr lang="zh-CN" altLang="en-US" sz="16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冯</a:t>
            </a:r>
            <a:r>
              <a:rPr lang="en-US" altLang="zh-CN" sz="1600" u="none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•</a:t>
            </a:r>
            <a:r>
              <a:rPr lang="zh-CN" altLang="en-US" sz="16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诺依曼结构</a:t>
            </a:r>
            <a:endParaRPr lang="en-US" altLang="zh-CN" sz="16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取指令、访问数据可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并行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均缺失时才有冲突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  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特别适于</a:t>
            </a:r>
            <a:r>
              <a:rPr lang="zh-CN" altLang="en-US" sz="16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流水线</a:t>
            </a:r>
            <a:endParaRPr lang="zh-CN" altLang="en-US" sz="1600" b="1" u="none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3"/>
            </p:custDataLst>
          </p:nvPr>
        </p:nvSpPr>
        <p:spPr>
          <a:xfrm>
            <a:off x="4643755" y="1007745"/>
            <a:ext cx="3924000" cy="2880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</a:ln>
        </p:spPr>
        <p:txBody>
          <a:bodyPr wrap="square" lIns="36195" tIns="17780" rIns="36195" bIns="0" anchor="ctr" anchorCtr="0">
            <a:noAutofit/>
          </a:bodyPr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18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8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命中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(1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－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H)T</a:t>
            </a:r>
            <a:r>
              <a:rPr lang="zh-CN" altLang="en-US" sz="18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缺失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8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命中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8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缺失</a:t>
            </a:r>
            <a:endParaRPr lang="zh-CN" altLang="en-US" sz="1800" b="1" u="none" baseline="-18000" dirty="0" smtClean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160000" y="2340000"/>
            <a:ext cx="6048536" cy="576072"/>
            <a:chOff x="1547640" y="3429000"/>
            <a:chExt cx="6048536" cy="576072"/>
          </a:xfrm>
        </p:grpSpPr>
        <p:sp>
          <p:nvSpPr>
            <p:cNvPr id="7" name="Text Box 8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653075" y="3717064"/>
              <a:ext cx="648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L1$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" name="Text Box 82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948176" y="3429000"/>
              <a:ext cx="648000" cy="57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" name="Text Box 83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715992" y="3789064"/>
              <a:ext cx="576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CPU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" name="Text Box 84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300104" y="3573072"/>
              <a:ext cx="648000" cy="43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L2$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1" name="Text Box 85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131824" y="3429072"/>
              <a:ext cx="648000" cy="57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" name="Text Box 86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547640" y="3789064"/>
              <a:ext cx="576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CPU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87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483752" y="3573064"/>
              <a:ext cx="648000" cy="43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Cache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" name="AutoShape 88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067904" y="3645024"/>
              <a:ext cx="432000" cy="360040"/>
            </a:xfrm>
            <a:prstGeom prst="rightArrow">
              <a:avLst>
                <a:gd name="adj1" fmla="val 42861"/>
                <a:gd name="adj2" fmla="val 38109"/>
              </a:avLst>
            </a:prstGeom>
            <a:noFill/>
            <a:ln w="15875">
              <a:solidFill>
                <a:schemeClr val="tx1"/>
              </a:solidFill>
              <a:miter lim="800000"/>
            </a:ln>
          </p:spPr>
          <p:txBody>
            <a:bodyPr wrap="none" anchor="ctr"/>
            <a:p>
              <a:endParaRPr lang="zh-CN" altLang="zh-CN" sz="1800"/>
            </a:p>
          </p:txBody>
        </p:sp>
        <p:sp>
          <p:nvSpPr>
            <p:cNvPr id="28" name="Line 89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2124905" y="3893810"/>
              <a:ext cx="3587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29" name="Line 90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5292080" y="3893706"/>
              <a:ext cx="3587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p>
              <a:endParaRPr lang="zh-CN" altLang="en-US" sz="1800"/>
            </a:p>
          </p:txBody>
        </p:sp>
      </p:grpSp>
      <p:grpSp>
        <p:nvGrpSpPr>
          <p:cNvPr id="217" name="组合 216"/>
          <p:cNvGrpSpPr/>
          <p:nvPr/>
        </p:nvGrpSpPr>
        <p:grpSpPr>
          <a:xfrm>
            <a:off x="2160000" y="4643755"/>
            <a:ext cx="4752344" cy="864000"/>
            <a:chOff x="1835776" y="1413744"/>
            <a:chExt cx="4752344" cy="864000"/>
          </a:xfrm>
        </p:grpSpPr>
        <p:sp>
          <p:nvSpPr>
            <p:cNvPr id="216" name="Text Box 108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843808" y="1484709"/>
              <a:ext cx="1224000" cy="720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80000"/>
                </a:lnSpc>
              </a:pP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01" name="Text Box 8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 rot="10800000" flipV="1">
              <a:off x="1835776" y="1629768"/>
              <a:ext cx="720000" cy="43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 u="none" dirty="0">
                  <a:latin typeface="宋体" panose="02010600030101010101" pitchFamily="2" charset="-122"/>
                </a:rPr>
                <a:t>CPU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02" name="Line 83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 flipH="1" flipV="1">
              <a:off x="2556024" y="1989808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03" name="Text Box 89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987928" y="1557760"/>
              <a:ext cx="936000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I-Cache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04" name="Text Box 106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987928" y="1881824"/>
              <a:ext cx="936000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D-Cache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05" name="Line 107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flipH="1" flipV="1">
              <a:off x="2556024" y="1702718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06" name="Text Box 108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355976" y="1485231"/>
              <a:ext cx="936000" cy="720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8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L2 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Cache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07" name="Text Box 109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5652120" y="1413744"/>
              <a:ext cx="936000" cy="864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8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08" name="Line 110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3923928" y="1989683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09" name="Line 111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flipH="1" flipV="1">
              <a:off x="3923928" y="1701328"/>
              <a:ext cx="43654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10" name="Line 112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 flipH="1" flipV="1">
              <a:off x="5292080" y="1847181"/>
              <a:ext cx="360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069DB-60B0-4DFD-B351-9C45C9C06CF1}" type="slidenum">
              <a:rPr lang="en-US" altLang="zh-CN"/>
            </a:fld>
            <a:endParaRPr lang="en-US" altLang="zh-CN"/>
          </a:p>
        </p:txBody>
      </p:sp>
      <p:sp>
        <p:nvSpPr>
          <p:cNvPr id="2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00"/>
            <a:ext cx="6152515" cy="48158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*Pentium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的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组织：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结构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Cache</a:t>
            </a:r>
            <a:r>
              <a:rPr 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组成解析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18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35000"/>
              </a:lnSpc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内部结构：</a:t>
            </a:r>
            <a:endParaRPr lang="en-US" altLang="zh-CN" sz="20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0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地址映射：</a:t>
            </a:r>
            <a:r>
              <a:rPr lang="zh-CN" altLang="en-US" sz="20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组数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                  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标记＝</a:t>
            </a:r>
            <a:endParaRPr lang="en-US" altLang="zh-CN" sz="20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替换算法：</a:t>
            </a:r>
            <a:endParaRPr lang="en-US" altLang="zh-CN" sz="20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写 策 略：</a:t>
            </a:r>
            <a:endParaRPr lang="zh-CN" altLang="en-US" sz="2000" b="1" u="none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60000" y="792000"/>
            <a:ext cx="6696870" cy="1835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</a:rPr>
              <a:t>贯穿式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(L1$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与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L2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$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级联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级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Cache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       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←PII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为旁侧式</a:t>
            </a:r>
            <a:endParaRPr lang="zh-CN" altLang="en-US" sz="16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       (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以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L1-D$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为例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            ←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主存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按字节编址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、地址为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32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位</a:t>
            </a:r>
            <a:endParaRPr lang="en-US" altLang="zh-CN" sz="1600" b="1" u="none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91" name="表格 190"/>
          <p:cNvGraphicFramePr/>
          <p:nvPr>
            <p:custDataLst>
              <p:tags r:id="rId3"/>
            </p:custDataLst>
          </p:nvPr>
        </p:nvGraphicFramePr>
        <p:xfrm>
          <a:off x="810260" y="1296000"/>
          <a:ext cx="8047355" cy="876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980"/>
                <a:gridCol w="1153795"/>
                <a:gridCol w="888365"/>
                <a:gridCol w="826135"/>
                <a:gridCol w="1125220"/>
                <a:gridCol w="1008380"/>
                <a:gridCol w="2443480"/>
              </a:tblGrid>
              <a:tr h="2921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结构</a:t>
                      </a:r>
                      <a:endParaRPr lang="zh-CN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8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容量</a:t>
                      </a:r>
                      <a:endParaRPr lang="zh-CN" altLang="en-US" sz="1800" b="1" baseline="-1600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块大小</a:t>
                      </a:r>
                      <a:endParaRPr lang="zh-CN" sz="1800" b="1" baseline="-16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映射方式</a:t>
                      </a:r>
                      <a:endParaRPr lang="zh-CN" sz="1800" b="1" baseline="-1600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替换算法</a:t>
                      </a:r>
                      <a:endParaRPr lang="zh-CN" sz="1800" b="1" baseline="-1600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写策略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</a:tr>
              <a:tr h="292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L1$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哈佛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 dirty="0" smtClean="0">
                          <a:latin typeface="宋体" panose="02010600030101010101" pitchFamily="2" charset="-122"/>
                          <a:sym typeface="+mn-ea"/>
                        </a:rPr>
                        <a:t>各</a:t>
                      </a:r>
                      <a:r>
                        <a:rPr lang="en-US" altLang="zh-CN" sz="1800" b="1" dirty="0" smtClean="0">
                          <a:latin typeface="宋体" panose="02010600030101010101" pitchFamily="2" charset="-122"/>
                          <a:sym typeface="+mn-ea"/>
                        </a:rPr>
                        <a:t>8KB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 dirty="0" smtClean="0">
                          <a:latin typeface="宋体" panose="02010600030101010101" pitchFamily="2" charset="-122"/>
                          <a:sym typeface="+mn-ea"/>
                        </a:rPr>
                        <a:t>32B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sym typeface="+mn-ea"/>
                        </a:rPr>
                        <a:t>路组相联</a:t>
                      </a:r>
                      <a:endParaRPr lang="en-US" altLang="zh-CN" sz="1800" b="1" baseline="30000" dirty="0" smtClean="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LRU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L1-I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$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无，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L1-D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$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写回法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2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L2$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冯</a:t>
                      </a:r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Symbol" panose="05050102010706020507"/>
                        </a:rPr>
                        <a:t>•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诺依曼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 dirty="0">
                          <a:latin typeface="宋体" panose="02010600030101010101" pitchFamily="2" charset="-122"/>
                          <a:sym typeface="+mn-ea"/>
                        </a:rPr>
                        <a:t>≥256KB</a:t>
                      </a:r>
                      <a:endParaRPr lang="zh-CN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写回法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2412000" y="2700000"/>
            <a:ext cx="5086985" cy="1297940"/>
            <a:chOff x="2437" y="2211"/>
            <a:chExt cx="8011" cy="2044"/>
          </a:xfrm>
        </p:grpSpPr>
        <p:sp>
          <p:nvSpPr>
            <p:cNvPr id="146" name="Text Box 566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437" y="2211"/>
              <a:ext cx="3798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C00000"/>
                  </a:solidFill>
                </a:rPr>
                <a:t>组号 </a:t>
              </a:r>
              <a:r>
                <a:rPr lang="en-US" altLang="zh-CN" sz="1600" b="1" u="none" dirty="0" smtClean="0">
                  <a:solidFill>
                    <a:srgbClr val="C00000"/>
                  </a:solidFill>
                </a:rPr>
                <a:t>  </a:t>
              </a:r>
              <a:r>
                <a:rPr lang="zh-CN" altLang="en-US" sz="1600" b="1" u="none" dirty="0" smtClean="0"/>
                <a:t>标记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/>
                <a:t>状态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  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缓存块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5" name="Text Box 530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705" y="2551"/>
              <a:ext cx="1587" cy="136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0"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块数据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块数据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块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" name="Rectangle 54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231" y="2551"/>
              <a:ext cx="1021" cy="1361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0" tIns="0" rIns="0" bIns="0" anchor="t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00000H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11111H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  <a:sym typeface="+mn-ea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22222H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7" name="Rectangle 548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252" y="2551"/>
              <a:ext cx="449" cy="136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0" tIns="0" rIns="0" bIns="0" anchor="t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11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00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  <a:sym typeface="+mn-ea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10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97" name="Text Box 560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477" y="3968"/>
              <a:ext cx="567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8" name="直接箭头连接符 17"/>
            <p:cNvCxnSpPr/>
            <p:nvPr>
              <p:custDataLst>
                <p:tags r:id="rId9"/>
              </p:custDataLst>
            </p:nvPr>
          </p:nvCxnSpPr>
          <p:spPr bwMode="auto">
            <a:xfrm flipH="1" flipV="1">
              <a:off x="3231" y="4082"/>
              <a:ext cx="119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" name="直接箭头连接符 18"/>
            <p:cNvCxnSpPr/>
            <p:nvPr>
              <p:custDataLst>
                <p:tags r:id="rId10"/>
              </p:custDataLst>
            </p:nvPr>
          </p:nvCxnSpPr>
          <p:spPr bwMode="auto">
            <a:xfrm>
              <a:off x="5102" y="4082"/>
              <a:ext cx="119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" name="直接箭头连接符 19"/>
            <p:cNvCxnSpPr/>
            <p:nvPr>
              <p:custDataLst>
                <p:tags r:id="rId11"/>
              </p:custDataLst>
            </p:nvPr>
          </p:nvCxnSpPr>
          <p:spPr bwMode="auto">
            <a:xfrm flipH="1">
              <a:off x="3231" y="3968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" name="直接箭头连接符 20"/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6293" y="3973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" name="直接箭头连接符 21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3232" y="2891"/>
              <a:ext cx="3061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" name="直接箭头连接符 22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3231" y="3231"/>
              <a:ext cx="3061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" name="直接箭头连接符 23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3231" y="3572"/>
              <a:ext cx="3061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8" name="Text Box 566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496" y="2211"/>
              <a:ext cx="2835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u="none" dirty="0" smtClean="0"/>
                <a:t>标记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/>
                <a:t>状态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  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缓存块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9" name="Text Box 530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860" y="2551"/>
              <a:ext cx="1587" cy="136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0"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块数据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块数据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块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5" name="Rectangle 546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386" y="2551"/>
              <a:ext cx="1021" cy="1361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0" tIns="0" rIns="0" bIns="0" anchor="t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33333H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44444H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  <a:sym typeface="+mn-ea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55555H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31" name="Rectangle 548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407" y="2551"/>
              <a:ext cx="449" cy="136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0" tIns="0" rIns="0" bIns="0" anchor="t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00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10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  <a:sym typeface="+mn-ea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11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32" name="Text Box 560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8632" y="3968"/>
              <a:ext cx="567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33" name="直接箭头连接符 32"/>
            <p:cNvCxnSpPr/>
            <p:nvPr>
              <p:custDataLst>
                <p:tags r:id="rId21"/>
              </p:custDataLst>
            </p:nvPr>
          </p:nvCxnSpPr>
          <p:spPr bwMode="auto">
            <a:xfrm flipH="1" flipV="1">
              <a:off x="7386" y="4082"/>
              <a:ext cx="119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" name="直接箭头连接符 33"/>
            <p:cNvCxnSpPr/>
            <p:nvPr>
              <p:custDataLst>
                <p:tags r:id="rId22"/>
              </p:custDataLst>
            </p:nvPr>
          </p:nvCxnSpPr>
          <p:spPr bwMode="auto">
            <a:xfrm>
              <a:off x="9257" y="4082"/>
              <a:ext cx="119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直接箭头连接符 34"/>
            <p:cNvCxnSpPr/>
            <p:nvPr>
              <p:custDataLst>
                <p:tags r:id="rId23"/>
              </p:custDataLst>
            </p:nvPr>
          </p:nvCxnSpPr>
          <p:spPr bwMode="auto">
            <a:xfrm flipH="1">
              <a:off x="7386" y="3968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6" name="直接箭头连接符 35"/>
            <p:cNvCxnSpPr/>
            <p:nvPr>
              <p:custDataLst>
                <p:tags r:id="rId24"/>
              </p:custDataLst>
            </p:nvPr>
          </p:nvCxnSpPr>
          <p:spPr bwMode="auto">
            <a:xfrm flipH="1">
              <a:off x="10448" y="3973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7" name="直接箭头连接符 36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7387" y="2891"/>
              <a:ext cx="3061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" name="直接箭头连接符 37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7386" y="3231"/>
              <a:ext cx="3061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9" name="直接箭头连接符 38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7386" y="3572"/>
              <a:ext cx="3061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44" name="组合 43"/>
          <p:cNvGrpSpPr/>
          <p:nvPr/>
        </p:nvGrpSpPr>
        <p:grpSpPr>
          <a:xfrm>
            <a:off x="4932000" y="2700000"/>
            <a:ext cx="575310" cy="1079500"/>
            <a:chOff x="6405" y="2211"/>
            <a:chExt cx="906" cy="1700"/>
          </a:xfrm>
        </p:grpSpPr>
        <p:sp>
          <p:nvSpPr>
            <p:cNvPr id="91" name="Text Box 515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405" y="2211"/>
              <a:ext cx="90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LRU</a:t>
              </a: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位</a:t>
              </a:r>
              <a:endParaRPr lang="zh-CN" altLang="en-US" sz="16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2" name="Text Box 516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6578" y="2551"/>
              <a:ext cx="452" cy="136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/>
            <a:p>
              <a:pPr marL="0" indent="0" algn="ctr" eaLnBrk="1" latinLnBrk="0" hangingPunct="1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marL="0" indent="0" algn="ctr" eaLnBrk="1" latinLnBrk="0" hangingPunct="1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marL="0" indent="0" algn="ctr" eaLnBrk="1" latinLnBrk="0" hangingPunct="1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marL="0" indent="0" algn="ctr" eaLnBrk="1" latinLnBrk="0" hangingPunct="1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6" name="直接箭头连接符 25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6576" y="2891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2" name="直接箭头连接符 41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6576" y="3231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" name="直接箭头连接符 42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6576" y="3572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7" name="Text Box 494"/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2232000" y="3888000"/>
            <a:ext cx="6588349" cy="1245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u="none" dirty="0" smtClean="0">
                <a:latin typeface="宋体" panose="02010600030101010101" pitchFamily="2" charset="-122"/>
              </a:rPr>
              <a:t>      (</a:t>
            </a:r>
            <a:r>
              <a:rPr lang="en-US" altLang="zh-CN" sz="2000" b="1" u="none" dirty="0">
                <a:latin typeface="宋体" panose="02010600030101010101" pitchFamily="2" charset="-122"/>
              </a:rPr>
              <a:t>8KB/32B)/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2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128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，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      32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－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5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－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7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20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位</a:t>
            </a:r>
            <a:endParaRPr lang="en-US" altLang="zh-CN" sz="20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每组</a:t>
            </a:r>
            <a:r>
              <a:rPr lang="zh-CN" altLang="en-US" sz="2000" b="1" u="none" dirty="0">
                <a:latin typeface="宋体" panose="02010600030101010101" pitchFamily="2" charset="-122"/>
              </a:rPr>
              <a:t>设置</a:t>
            </a:r>
            <a:r>
              <a:rPr lang="en-US" altLang="zh-CN" sz="2000" b="1" u="none" dirty="0">
                <a:latin typeface="宋体" panose="02010600030101010101" pitchFamily="2" charset="-122"/>
              </a:rPr>
              <a:t>LRU</a:t>
            </a:r>
            <a:r>
              <a:rPr lang="zh-CN" altLang="en-US" sz="2000" b="1" u="none" dirty="0">
                <a:latin typeface="宋体" panose="02010600030101010101" pitchFamily="2" charset="-122"/>
              </a:rPr>
              <a:t>位</a:t>
            </a:r>
            <a:r>
              <a:rPr lang="en-US" altLang="zh-CN" sz="1600" b="1" u="none" dirty="0">
                <a:latin typeface="宋体" panose="02010600030101010101" pitchFamily="2" charset="-122"/>
              </a:rPr>
              <a:t>(log</a:t>
            </a:r>
            <a:r>
              <a:rPr lang="en-US" altLang="zh-CN" sz="1600" b="1" u="none" baseline="-25000" dirty="0">
                <a:latin typeface="宋体" panose="02010600030101010101" pitchFamily="2" charset="-122"/>
              </a:rPr>
              <a:t>2</a:t>
            </a:r>
            <a:r>
              <a:rPr lang="en-US" altLang="zh-CN" sz="1600" b="1" u="none" dirty="0">
                <a:latin typeface="宋体" panose="02010600030101010101" pitchFamily="2" charset="-122"/>
              </a:rPr>
              <a:t>2</a:t>
            </a:r>
            <a:r>
              <a:rPr lang="zh-CN" altLang="en-US" sz="1600" b="1" u="none" dirty="0">
                <a:latin typeface="宋体" panose="02010600030101010101" pitchFamily="2" charset="-122"/>
              </a:rPr>
              <a:t>＝</a:t>
            </a:r>
            <a:r>
              <a:rPr lang="en-US" altLang="zh-CN" sz="1600" b="1" u="none" dirty="0">
                <a:latin typeface="宋体" panose="02010600030101010101" pitchFamily="2" charset="-122"/>
              </a:rPr>
              <a:t>1</a:t>
            </a:r>
            <a:r>
              <a:rPr lang="zh-CN" altLang="en-US" sz="1600" b="1" u="none" dirty="0">
                <a:latin typeface="宋体" panose="02010600030101010101" pitchFamily="2" charset="-122"/>
              </a:rPr>
              <a:t>位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r>
              <a:rPr lang="en-US" altLang="zh-CN" sz="2000" b="1" u="none" dirty="0">
                <a:latin typeface="宋体" panose="02010600030101010101" pitchFamily="2" charset="-122"/>
              </a:rPr>
              <a:t>        </a:t>
            </a:r>
            <a:r>
              <a:rPr lang="zh-CN" altLang="en-US" sz="1600" b="1" u="none" dirty="0">
                <a:latin typeface="宋体" panose="02010600030101010101" pitchFamily="2" charset="-122"/>
              </a:rPr>
              <a:t>←值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互斥、可节省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1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个</a:t>
            </a:r>
            <a:endParaRPr lang="en-US" altLang="zh-CN" sz="20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每</a:t>
            </a:r>
            <a:r>
              <a:rPr lang="zh-CN" altLang="en-US" sz="2000" b="1" u="none" dirty="0">
                <a:solidFill>
                  <a:srgbClr val="0070C0"/>
                </a:solidFill>
                <a:latin typeface="宋体" panose="02010600030101010101" pitchFamily="2" charset="-122"/>
              </a:rPr>
              <a:t>行</a:t>
            </a:r>
            <a:r>
              <a:rPr lang="zh-CN" altLang="en-US" sz="2000" b="1" u="none" dirty="0">
                <a:latin typeface="宋体" panose="02010600030101010101" pitchFamily="2" charset="-122"/>
              </a:rPr>
              <a:t>设置脏位</a:t>
            </a:r>
            <a:r>
              <a:rPr lang="en-US" altLang="zh-CN" sz="1600" b="1" u="none" dirty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状态域低位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r>
              <a:rPr lang="zh-CN" altLang="en-US" sz="2000" b="1" u="none" dirty="0">
                <a:latin typeface="宋体" panose="02010600030101010101" pitchFamily="2" charset="-122"/>
              </a:rPr>
              <a:t>    </a:t>
            </a:r>
            <a:r>
              <a:rPr lang="en-US" altLang="zh-CN" sz="2000" b="1" u="none" dirty="0">
                <a:latin typeface="宋体" panose="02010600030101010101" pitchFamily="2" charset="-122"/>
              </a:rPr>
              <a:t>   </a:t>
            </a:r>
            <a:r>
              <a:rPr lang="en-US" altLang="zh-CN" sz="1800" b="1" u="none" dirty="0">
                <a:latin typeface="宋体" panose="02010600030101010101" pitchFamily="2" charset="-122"/>
              </a:rPr>
              <a:t> </a:t>
            </a:r>
            <a:r>
              <a:rPr lang="en-US" altLang="zh-CN" sz="1600" b="1" u="none" dirty="0">
                <a:latin typeface="宋体" panose="02010600030101010101" pitchFamily="2" charset="-122"/>
              </a:rPr>
              <a:t> </a:t>
            </a:r>
            <a:r>
              <a:rPr lang="zh-CN" altLang="en-US" sz="1600" b="1" u="none" dirty="0">
                <a:latin typeface="宋体" panose="02010600030101010101" pitchFamily="2" charset="-122"/>
              </a:rPr>
              <a:t>←状态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=&lt;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有效位</a:t>
            </a:r>
            <a:r>
              <a:rPr lang="en-US" altLang="zh-CN" sz="1600" b="1" u="none" dirty="0">
                <a:latin typeface="宋体" panose="02010600030101010101" pitchFamily="2" charset="-122"/>
              </a:rPr>
              <a:t>,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脏位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&gt;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86" name="Text Box 529"/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2448000" y="2916000"/>
            <a:ext cx="360000" cy="864000"/>
          </a:xfrm>
          <a:prstGeom prst="rect">
            <a:avLst/>
          </a:prstGeom>
          <a:solidFill>
            <a:srgbClr val="CCECFF"/>
          </a:solidFill>
          <a:ln w="19050">
            <a:noFill/>
            <a:miter lim="800000"/>
          </a:ln>
          <a:effectLst/>
        </p:spPr>
        <p:txBody>
          <a:bodyPr lIns="0" tIns="0" rIns="0" bIns="0"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0</a:t>
            </a:r>
            <a:endParaRPr lang="en-US" altLang="zh-CN" sz="1600" b="1" u="none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endParaRPr lang="en-US" altLang="zh-CN" sz="1600" b="1" u="none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…</a:t>
            </a:r>
            <a:endParaRPr lang="en-US" altLang="zh-CN" sz="1600" b="1" u="none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127</a:t>
            </a:r>
            <a:endParaRPr lang="en-US" altLang="zh-CN" sz="1600" b="1" u="none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44" name="Text Box 522"/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1044000" y="5148000"/>
            <a:ext cx="738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anchor="ctr" anchorCtr="0">
            <a:noAutofit/>
          </a:bodyPr>
          <a:p>
            <a:pPr marL="990600" indent="-990600"/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上图中，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若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LRU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位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=1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时替换行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1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，读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44444FE3H</a:t>
            </a:r>
            <a:r>
              <a:rPr lang="zh-CN" altLang="en-US" sz="1800" b="1" u="none" dirty="0">
                <a:latin typeface="宋体" panose="02010600030101010101" pitchFamily="2" charset="-122"/>
              </a:rPr>
              <a:t>号单元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的操作过程？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6"/>
            </p:custDataLst>
          </p:nvPr>
        </p:nvSpPr>
        <p:spPr>
          <a:xfrm>
            <a:off x="1116000" y="5436000"/>
            <a:ext cx="7632000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t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映射：主存地址的标记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=44444H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、群内块号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=1111111B=127(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映射到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127#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的任一行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u="none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查找：该组各行的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均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=1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、标记都不是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44444H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Cache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缺失；</a:t>
            </a:r>
            <a:endParaRPr lang="zh-CN" altLang="en-US" sz="1600" b="1" u="none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目标块调入改组的行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(V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均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=1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LRU=1)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，调入前先替换</a:t>
            </a:r>
            <a:r>
              <a:rPr 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行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的脏位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=1</a:t>
            </a:r>
            <a:r>
              <a:rPr lang="en-US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u="none" dirty="0" smtClean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bldLvl="0" animBg="1"/>
      <p:bldP spid="144" grpId="0" bldLvl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79388" y="360000"/>
            <a:ext cx="8785225" cy="220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200" b="1" u="none" dirty="0" err="1" smtClean="0">
                <a:solidFill>
                  <a:srgbClr val="C00000"/>
                </a:solidFill>
                <a:latin typeface="宋体" panose="02010600030101010101" pitchFamily="2" charset="-122"/>
              </a:rPr>
              <a:t>Kunpeng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鲲鹏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单个内核的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组织：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内核参数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机器字长为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64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位，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主存按字节编址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、容量≤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200" b="1" u="none" baseline="300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48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B</a:t>
            </a:r>
            <a:endParaRPr lang="en-US" altLang="zh-CN" sz="2200" b="1" u="none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结构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参数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338866" y="1189707"/>
            <a:ext cx="6841011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贯穿式</a:t>
            </a: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级</a:t>
            </a: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Cache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结构，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L1$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为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哈佛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结构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L2$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为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冯</a:t>
            </a:r>
            <a:r>
              <a:rPr lang="en-US" altLang="zh-CN" sz="2200" b="1" u="none" spc="-100" dirty="0">
                <a:solidFill>
                  <a:srgbClr val="990099"/>
                </a:solidFill>
              </a:rPr>
              <a:t>·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诺依曼结构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graphicFrame>
        <p:nvGraphicFramePr>
          <p:cNvPr id="39" name="表格 38"/>
          <p:cNvGraphicFramePr>
            <a:graphicFrameLocks noGrp="1"/>
          </p:cNvGraphicFramePr>
          <p:nvPr/>
        </p:nvGraphicFramePr>
        <p:xfrm>
          <a:off x="2627025" y="2133868"/>
          <a:ext cx="5616624" cy="1131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/>
                <a:gridCol w="792088"/>
                <a:gridCol w="792088"/>
                <a:gridCol w="1224136"/>
                <a:gridCol w="1008112"/>
                <a:gridCol w="1008112"/>
              </a:tblGrid>
              <a:tr h="28194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容量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块大小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映射方式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替换算法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写策略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</a:tr>
              <a:tr h="201966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L1-I$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64KB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64B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路组相联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LRU</a:t>
                      </a:r>
                      <a:endParaRPr lang="en-US" altLang="zh-CN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66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L1-D$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64KB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全写法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1966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L2$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512KB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128B</a:t>
                      </a:r>
                      <a:endParaRPr lang="zh-CN" altLang="en-US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路组相联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写回法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Text Box 493"/>
          <p:cNvSpPr txBox="1">
            <a:spLocks noChangeArrowheads="1"/>
          </p:cNvSpPr>
          <p:nvPr/>
        </p:nvSpPr>
        <p:spPr bwMode="auto">
          <a:xfrm>
            <a:off x="179388" y="3285996"/>
            <a:ext cx="8569076" cy="22326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Cache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组织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200" b="1" u="none" dirty="0">
                <a:latin typeface="宋体" panose="02010600030101010101" pitchFamily="2" charset="-122"/>
              </a:rPr>
              <a:t>--</a:t>
            </a:r>
            <a:r>
              <a:rPr lang="zh-CN" altLang="en-US" sz="2200" b="1" u="none" dirty="0">
                <a:latin typeface="宋体" panose="02010600030101010101" pitchFamily="2" charset="-122"/>
              </a:rPr>
              <a:t>以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L1-D</a:t>
            </a:r>
            <a:r>
              <a:rPr lang="en-US" altLang="zh-CN" sz="2200" b="1" u="none" dirty="0">
                <a:latin typeface="宋体" panose="02010600030101010101" pitchFamily="2" charset="-122"/>
              </a:rPr>
              <a:t>$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为例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内部结构：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有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组、每组有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行，每行有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等域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地址映射：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Tag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                      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位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替换算法：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每行的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LRU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位＝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  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位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写 策 略：</a:t>
            </a:r>
            <a:endParaRPr lang="zh-CN" altLang="en-US" sz="22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42" name="Text Box 494"/>
          <p:cNvSpPr txBox="1">
            <a:spLocks noChangeArrowheads="1"/>
          </p:cNvSpPr>
          <p:nvPr/>
        </p:nvSpPr>
        <p:spPr bwMode="auto">
          <a:xfrm>
            <a:off x="2339975" y="3780155"/>
            <a:ext cx="6536690" cy="17487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   256           4           V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Tag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      48-log</a:t>
            </a:r>
            <a:r>
              <a:rPr lang="en-US" altLang="zh-CN" sz="2200" b="1" u="none" baseline="-18000" dirty="0" smtClean="0">
                <a:latin typeface="宋体" panose="02010600030101010101" pitchFamily="2" charset="-122"/>
              </a:rPr>
              <a:t>2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(64B/1B</a:t>
            </a:r>
            <a:r>
              <a:rPr lang="en-US" altLang="zh-CN" sz="2200" b="1" u="none" dirty="0">
                <a:latin typeface="宋体" panose="02010600030101010101" pitchFamily="2" charset="-122"/>
              </a:rPr>
              <a:t>)-log</a:t>
            </a:r>
            <a:r>
              <a:rPr lang="en-US" altLang="zh-CN" sz="2200" b="1" u="none" baseline="-18000" dirty="0">
                <a:latin typeface="宋体" panose="02010600030101010101" pitchFamily="2" charset="-122"/>
              </a:rPr>
              <a:t>2</a:t>
            </a:r>
            <a:r>
              <a:rPr lang="en-US" altLang="zh-CN" sz="2200" b="1" u="none" dirty="0">
                <a:latin typeface="宋体" panose="02010600030101010101" pitchFamily="2" charset="-122"/>
              </a:rPr>
              <a:t>(256)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34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         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 log</a:t>
            </a:r>
            <a:r>
              <a:rPr lang="en-US" altLang="zh-CN" sz="2200" b="1" u="none" baseline="-18000" dirty="0" smtClean="0">
                <a:latin typeface="宋体" panose="02010600030101010101" pitchFamily="2" charset="-122"/>
              </a:rPr>
              <a:t>2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4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＝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2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无需增加硬件</a:t>
            </a:r>
            <a:endParaRPr lang="zh-CN" altLang="en-US" sz="2200" b="1" u="none" dirty="0">
              <a:latin typeface="宋体" panose="02010600030101010101" pitchFamily="2" charset="-122"/>
            </a:endParaRPr>
          </a:p>
        </p:txBody>
      </p:sp>
      <p:sp>
        <p:nvSpPr>
          <p:cNvPr id="8" name="Text Box 334"/>
          <p:cNvSpPr txBox="1">
            <a:spLocks noChangeArrowheads="1"/>
          </p:cNvSpPr>
          <p:nvPr/>
        </p:nvSpPr>
        <p:spPr bwMode="auto">
          <a:xfrm>
            <a:off x="827461" y="5877525"/>
            <a:ext cx="4500000" cy="39878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000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3-3</a:t>
            </a:r>
            <a:r>
              <a:rPr lang="zh-CN" altLang="en-US" sz="2000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P138—22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24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25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28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29</a:t>
            </a:r>
            <a:endParaRPr lang="en-US" altLang="zh-CN" sz="20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7" name="AutoShape 62">
            <a:hlinkClick r:id="rId1" action="ppaction://hlinksldjump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6200000">
            <a:off x="7452669" y="6236219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0" grpId="0" bldLvl="0" animBg="1"/>
      <p:bldP spid="8" grpId="0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/>
          </a:p>
        </p:txBody>
      </p:sp>
      <p:sp>
        <p:nvSpPr>
          <p:cNvPr id="5183" name="Text Box 6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1297305"/>
            <a:ext cx="3284220" cy="47390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程序的结构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存放：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程序空间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程序</a:t>
            </a:r>
            <a:r>
              <a:rPr lang="zh-CN" altLang="en-US" sz="2200" b="1" u="none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结构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solidFill>
                <a:srgbClr val="C00000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u="none" dirty="0">
              <a:solidFill>
                <a:srgbClr val="C00000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u="none" dirty="0">
              <a:solidFill>
                <a:srgbClr val="C00000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990099"/>
                </a:solidFill>
                <a:uFillTx/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u="none" dirty="0">
                <a:solidFill>
                  <a:srgbClr val="990099"/>
                </a:solidFill>
                <a:uFillTx/>
                <a:latin typeface="宋体" panose="02010600030101010101" pitchFamily="2" charset="-122"/>
                <a:sym typeface="+mn-ea"/>
              </a:rPr>
              <a:t>程序地址组成：</a:t>
            </a:r>
            <a:endParaRPr lang="en-US" altLang="zh-CN" sz="2200" b="1" u="none" dirty="0">
              <a:solidFill>
                <a:srgbClr val="990099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u="none" dirty="0">
              <a:solidFill>
                <a:schemeClr val="accent2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程序的</a:t>
            </a:r>
            <a:r>
              <a:rPr lang="zh-CN" sz="2200" b="1" u="none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存放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uFillTx/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41" name="文本框 140"/>
          <p:cNvSpPr txBox="1"/>
          <p:nvPr>
            <p:custDataLst>
              <p:tags r:id="rId2"/>
            </p:custDataLst>
          </p:nvPr>
        </p:nvSpPr>
        <p:spPr>
          <a:xfrm>
            <a:off x="2162175" y="1692000"/>
            <a:ext cx="6858635" cy="11836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t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大小＝</a:t>
            </a: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2200" b="1" u="none" baseline="50000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n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×主存单元长度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，由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ISA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约定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(2</a:t>
            </a:r>
            <a:r>
              <a:rPr lang="en-US" altLang="zh-CN" sz="1600" b="1" u="none" baseline="50000" dirty="0">
                <a:uFillTx/>
                <a:latin typeface="宋体" panose="02010600030101010101" pitchFamily="2" charset="-122"/>
                <a:sym typeface="+mn-ea"/>
              </a:rPr>
              <a:t>n</a:t>
            </a:r>
            <a:r>
              <a:rPr lang="zh-CN" altLang="en-US" sz="1600" b="1" u="none" dirty="0">
                <a:solidFill>
                  <a:srgbClr val="FF3399"/>
                </a:solidFill>
                <a:uFillTx/>
                <a:latin typeface="宋体" panose="02010600030101010101" pitchFamily="2" charset="-122"/>
                <a:sym typeface="+mn-ea"/>
              </a:rPr>
              <a:t>均＞</a:t>
            </a:r>
            <a:r>
              <a:rPr lang="zh-CN" altLang="en-US" sz="1600" b="1" u="none" dirty="0">
                <a:uFillTx/>
                <a:latin typeface="宋体" panose="02010600030101010101" pitchFamily="2" charset="-122"/>
                <a:sym typeface="+mn-ea"/>
              </a:rPr>
              <a:t>主存地址空间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u="none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en-US" sz="1600" u="none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└</a:t>
            </a:r>
            <a:r>
              <a:rPr lang="en-US" sz="1600" b="1" u="none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none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装入主存后地址</a:t>
            </a:r>
            <a:r>
              <a:rPr lang="zh-CN" altLang="en-US" sz="1600" b="1" u="none" dirty="0">
                <a:solidFill>
                  <a:srgbClr val="0070C0"/>
                </a:solidFill>
                <a:uFillTx/>
                <a:latin typeface="宋体" panose="02010600030101010101" pitchFamily="2" charset="-122"/>
                <a:sym typeface="+mn-ea"/>
              </a:rPr>
              <a:t>相对不变</a:t>
            </a:r>
            <a:endParaRPr lang="zh-CN" altLang="en-US" sz="1600" b="1" u="none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包含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多种段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每种可</a:t>
            </a:r>
            <a:r>
              <a:rPr lang="zh-CN" altLang="en-US" sz="16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多个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，各段的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访问权限不同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读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写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执行</a:t>
            </a:r>
            <a:r>
              <a:rPr lang="en-US" altLang="zh-CN" sz="16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101" name="组合 100"/>
          <p:cNvGrpSpPr/>
          <p:nvPr/>
        </p:nvGrpSpPr>
        <p:grpSpPr>
          <a:xfrm>
            <a:off x="1515745" y="2880000"/>
            <a:ext cx="3532505" cy="1961515"/>
            <a:chOff x="2726" y="3112"/>
            <a:chExt cx="5563" cy="3089"/>
          </a:xfrm>
        </p:grpSpPr>
        <p:sp>
          <p:nvSpPr>
            <p:cNvPr id="102" name="Text Box 36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726" y="3736"/>
              <a:ext cx="1928" cy="226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36195" tIns="0" rIns="0" bIns="0">
              <a:noAutofit/>
            </a:bodyPr>
            <a:p>
              <a:pPr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 smtClean="0">
                  <a:latin typeface="宋体" panose="02010600030101010101" pitchFamily="2" charset="-122"/>
                  <a:sym typeface="+mn-ea"/>
                </a:rPr>
                <a:t>C</a:t>
              </a:r>
              <a:r>
                <a:rPr lang="zh-CN" altLang="en-US" sz="1400" b="1" u="none" dirty="0" smtClean="0">
                  <a:latin typeface="宋体" panose="02010600030101010101" pitchFamily="2" charset="-122"/>
                  <a:sym typeface="+mn-ea"/>
                </a:rPr>
                <a:t>语言程序</a:t>
              </a:r>
              <a:r>
                <a:rPr lang="en-US" altLang="zh-CN" sz="1400" b="1" u="none" dirty="0" smtClean="0">
                  <a:latin typeface="宋体" panose="02010600030101010101" pitchFamily="2" charset="-122"/>
                  <a:sym typeface="+mn-ea"/>
                </a:rPr>
                <a:t>:</a:t>
              </a:r>
              <a:endParaRPr lang="zh-CN" altLang="en-US" sz="1400" b="1" u="none" dirty="0" smtClean="0">
                <a:latin typeface="宋体" panose="02010600030101010101" pitchFamily="2" charset="-122"/>
                <a:sym typeface="+mn-ea"/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void main(){</a:t>
              </a:r>
              <a:endParaRPr lang="en-US" altLang="zh-CN" sz="14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  int x,b,y;</a:t>
              </a:r>
              <a:endParaRPr lang="en-US" altLang="zh-CN" sz="14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  if (x==0)</a:t>
              </a:r>
              <a:endParaRPr lang="en-US" altLang="zh-CN" sz="14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     y=b;</a:t>
              </a:r>
              <a:endParaRPr lang="en-US" altLang="zh-CN" sz="14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  else</a:t>
              </a:r>
              <a:endParaRPr lang="en-US" altLang="zh-CN" sz="14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     y=b+2;</a:t>
              </a:r>
              <a:endParaRPr lang="en-US" altLang="zh-CN" sz="1400" b="1" u="none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}</a:t>
              </a:r>
              <a:endParaRPr lang="en-US" altLang="zh-CN" sz="1400" b="1" u="none" dirty="0" smtClean="0">
                <a:latin typeface="宋体" panose="02010600030101010101" pitchFamily="2" charset="-122"/>
              </a:endParaRPr>
            </a:p>
          </p:txBody>
        </p:sp>
        <p:grpSp>
          <p:nvGrpSpPr>
            <p:cNvPr id="103" name="组合 102"/>
            <p:cNvGrpSpPr/>
            <p:nvPr/>
          </p:nvGrpSpPr>
          <p:grpSpPr>
            <a:xfrm>
              <a:off x="4647" y="3112"/>
              <a:ext cx="3642" cy="3089"/>
              <a:chOff x="4082" y="5146"/>
              <a:chExt cx="3642" cy="3089"/>
            </a:xfrm>
          </p:grpSpPr>
          <p:sp>
            <p:nvSpPr>
              <p:cNvPr id="104" name="Text Box 36"/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4762" y="5514"/>
                <a:ext cx="2154" cy="2721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36195" tIns="10800" rIns="36195" bIns="10800">
                <a:noAutofit/>
              </a:bodyPr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R[1]</a:t>
                </a: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M[</a:t>
                </a:r>
                <a:r>
                  <a:rPr lang="en-US" altLang="zh-CN" sz="1400" b="1" u="none" dirty="0" smtClean="0">
                    <a:solidFill>
                      <a:srgbClr val="0070C0"/>
                    </a:solidFill>
                    <a:latin typeface="宋体" panose="02010600030101010101" pitchFamily="2" charset="-122"/>
                  </a:rPr>
                  <a:t>1000</a:t>
                </a: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]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R[2]</a:t>
                </a:r>
                <a:r>
                  <a:rPr lang="zh-CN" altLang="en-US" sz="1400" b="1" u="none" dirty="0" smtClean="0">
                    <a:latin typeface="宋体" panose="02010600030101010101" pitchFamily="2" charset="-122"/>
                    <a:sym typeface="+mn-ea"/>
                  </a:rPr>
                  <a:t>←</a:t>
                </a:r>
                <a:r>
                  <a:rPr lang="en-US" altLang="zh-CN" sz="1400" b="1" u="none" dirty="0" smtClean="0">
                    <a:latin typeface="宋体" panose="02010600030101010101" pitchFamily="2" charset="-122"/>
                    <a:sym typeface="+mn-ea"/>
                  </a:rPr>
                  <a:t>M[</a:t>
                </a:r>
                <a:r>
                  <a:rPr lang="en-US" altLang="zh-CN" sz="1400" b="1" u="none" dirty="0" smtClean="0">
                    <a:solidFill>
                      <a:srgbClr val="0070C0"/>
                    </a:solidFill>
                    <a:latin typeface="宋体" panose="02010600030101010101" pitchFamily="2" charset="-122"/>
                    <a:sym typeface="+mn-ea"/>
                  </a:rPr>
                  <a:t>1001</a:t>
                </a:r>
                <a:r>
                  <a:rPr lang="en-US" altLang="zh-CN" sz="1400" b="1" u="none" dirty="0" smtClean="0">
                    <a:latin typeface="宋体" panose="02010600030101010101" pitchFamily="2" charset="-122"/>
                    <a:sym typeface="+mn-ea"/>
                  </a:rPr>
                  <a:t>]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  <a:sym typeface="+mn-ea"/>
                  </a:rPr>
                  <a:t>JNE R[1], </a:t>
                </a:r>
                <a:r>
                  <a:rPr lang="en-US" altLang="zh-CN" sz="1400" b="1" u="none" dirty="0" smtClean="0">
                    <a:solidFill>
                      <a:srgbClr val="C00000"/>
                    </a:solidFill>
                    <a:latin typeface="宋体" panose="02010600030101010101" pitchFamily="2" charset="-122"/>
                    <a:sym typeface="+mn-ea"/>
                  </a:rPr>
                  <a:t>0004</a:t>
                </a:r>
                <a:endParaRPr lang="en-US" altLang="zh-CN" sz="1400" b="1" u="none" dirty="0" smtClean="0">
                  <a:latin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  <a:sym typeface="+mn-ea"/>
                  </a:rPr>
                  <a:t>R[2]</a:t>
                </a: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400" b="1" u="none" dirty="0" smtClean="0">
                    <a:latin typeface="宋体" panose="02010600030101010101" pitchFamily="2" charset="-122"/>
                    <a:sym typeface="+mn-ea"/>
                  </a:rPr>
                  <a:t>R[2]</a:t>
                </a:r>
                <a:r>
                  <a:rPr lang="en-US" sz="1400" b="1" u="none" dirty="0" smtClean="0">
                    <a:latin typeface="宋体" panose="02010600030101010101" pitchFamily="2" charset="-122"/>
                  </a:rPr>
                  <a:t>+2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M[</a:t>
                </a:r>
                <a:r>
                  <a:rPr lang="en-US" altLang="zh-CN" sz="1400" b="1" u="none" dirty="0" smtClean="0">
                    <a:solidFill>
                      <a:srgbClr val="0070C0"/>
                    </a:solidFill>
                    <a:latin typeface="宋体" panose="02010600030101010101" pitchFamily="2" charset="-122"/>
                  </a:rPr>
                  <a:t>1002</a:t>
                </a: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]</a:t>
                </a: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R[2]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HALT(</a:t>
                </a: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程序结束</a:t>
                </a: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)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  <a:p>
                <a:pPr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 x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 b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 y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05" name="直接连接符 104"/>
              <p:cNvCxnSpPr/>
              <p:nvPr>
                <p:custDataLst>
                  <p:tags r:id="rId5"/>
                </p:custDataLst>
              </p:nvPr>
            </p:nvCxnSpPr>
            <p:spPr bwMode="auto">
              <a:xfrm>
                <a:off x="4762" y="5828"/>
                <a:ext cx="2154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6" name="右大括号 105"/>
              <p:cNvSpPr/>
              <p:nvPr>
                <p:custDataLst>
                  <p:tags r:id="rId6"/>
                </p:custDataLst>
              </p:nvPr>
            </p:nvSpPr>
            <p:spPr>
              <a:xfrm>
                <a:off x="6973" y="7370"/>
                <a:ext cx="113" cy="794"/>
              </a:xfrm>
              <a:prstGeom prst="rightBrace">
                <a:avLst/>
              </a:prstGeom>
              <a:noFill/>
              <a:ln w="952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" name="右大括号 106"/>
              <p:cNvSpPr/>
              <p:nvPr>
                <p:custDataLst>
                  <p:tags r:id="rId7"/>
                </p:custDataLst>
              </p:nvPr>
            </p:nvSpPr>
            <p:spPr>
              <a:xfrm>
                <a:off x="6973" y="5556"/>
                <a:ext cx="113" cy="1701"/>
              </a:xfrm>
              <a:prstGeom prst="rightBrace">
                <a:avLst/>
              </a:prstGeom>
              <a:noFill/>
              <a:ln w="952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8" name="Text Box 36"/>
              <p:cNvSpPr txBox="1"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7044" y="6181"/>
                <a:ext cx="680" cy="1814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0" tIns="36195" rIns="0" bIns="0">
                <a:noAutofit/>
              </a:bodyPr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代码</a:t>
                </a:r>
                <a:endParaRPr lang="zh-CN" altLang="en-US" sz="1400" b="1" u="none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endParaRPr lang="zh-CN" altLang="en-US" sz="1400" b="1" u="none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endParaRPr lang="zh-CN" altLang="en-US" sz="1400" b="1" u="none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endParaRPr lang="zh-CN" altLang="en-US" sz="1400" b="1" u="none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  <a:spcBef>
                    <a:spcPts val="900"/>
                  </a:spcBef>
                  <a:spcAft>
                    <a:spcPts val="0"/>
                  </a:spcAft>
                </a:pPr>
                <a:r>
                  <a:rPr lang="zh-CN" altLang="en-US" sz="1400" b="1" u="none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数据</a:t>
                </a:r>
                <a:endParaRPr lang="zh-CN" altLang="en-US" sz="1400" b="1" u="none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109" name="Text Box 36"/>
              <p:cNvSpPr txBox="1"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4082" y="5514"/>
                <a:ext cx="737" cy="2721"/>
              </a:xfrm>
              <a:prstGeom prst="rect">
                <a:avLst/>
              </a:prstGeom>
              <a:noFill/>
              <a:ln w="15875">
                <a:noFill/>
                <a:miter lim="800000"/>
              </a:ln>
              <a:effectLst/>
            </p:spPr>
            <p:txBody>
              <a:bodyPr wrap="square" lIns="36195" tIns="10800" rIns="36195" bIns="10800">
                <a:noAutofit/>
              </a:bodyPr>
              <a:p>
                <a:pPr>
                  <a:lnSpc>
                    <a:spcPct val="90000"/>
                  </a:lnSpc>
                </a:pPr>
                <a:r>
                  <a:rPr lang="en-US" sz="1400" b="1" u="none" dirty="0" smtClean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0000</a:t>
                </a:r>
                <a:endParaRPr lang="en-US" altLang="zh-CN" sz="14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400" b="1" u="none" dirty="0" smtClean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0001</a:t>
                </a:r>
                <a:endParaRPr lang="en-US" altLang="zh-CN" sz="14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 smtClean="0">
                    <a:solidFill>
                      <a:srgbClr val="C00000"/>
                    </a:solidFill>
                    <a:latin typeface="宋体" panose="02010600030101010101" pitchFamily="2" charset="-122"/>
                    <a:sym typeface="+mn-ea"/>
                  </a:rPr>
                  <a:t>0002</a:t>
                </a:r>
                <a:endParaRPr lang="en-US" altLang="zh-CN" sz="1400" b="1" u="none" dirty="0" smtClean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400" b="1" u="none" dirty="0" smtClean="0">
                    <a:solidFill>
                      <a:srgbClr val="C00000"/>
                    </a:solidFill>
                    <a:latin typeface="宋体" panose="02010600030101010101" pitchFamily="2" charset="-122"/>
                    <a:sym typeface="+mn-ea"/>
                  </a:rPr>
                  <a:t>0003</a:t>
                </a:r>
                <a:endParaRPr lang="en-US" altLang="zh-CN" sz="14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400" b="1" u="none" dirty="0" smtClean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0004</a:t>
                </a:r>
                <a:endParaRPr lang="en-US" altLang="zh-CN" sz="14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400" b="1" u="none" dirty="0" smtClean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0005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 smtClean="0">
                    <a:solidFill>
                      <a:srgbClr val="0070C0"/>
                    </a:solidFill>
                    <a:latin typeface="宋体" panose="02010600030101010101" pitchFamily="2" charset="-122"/>
                  </a:rPr>
                  <a:t>1000</a:t>
                </a:r>
                <a:endParaRPr lang="en-US" altLang="zh-CN" sz="14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 smtClean="0">
                    <a:solidFill>
                      <a:srgbClr val="0070C0"/>
                    </a:solidFill>
                    <a:latin typeface="宋体" panose="02010600030101010101" pitchFamily="2" charset="-122"/>
                  </a:rPr>
                  <a:t>1001</a:t>
                </a:r>
                <a:endParaRPr lang="en-US" altLang="zh-CN" sz="14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u="none" dirty="0" smtClean="0">
                    <a:solidFill>
                      <a:srgbClr val="0070C0"/>
                    </a:solidFill>
                    <a:latin typeface="宋体" panose="02010600030101010101" pitchFamily="2" charset="-122"/>
                  </a:rPr>
                  <a:t>1002</a:t>
                </a:r>
                <a:endParaRPr lang="en-US" altLang="zh-CN" sz="14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endParaRPr>
              </a:p>
            </p:txBody>
          </p:sp>
          <p:cxnSp>
            <p:nvCxnSpPr>
              <p:cNvPr id="110" name="直接连接符 109"/>
              <p:cNvCxnSpPr/>
              <p:nvPr>
                <p:custDataLst>
                  <p:tags r:id="rId10"/>
                </p:custDataLst>
              </p:nvPr>
            </p:nvCxnSpPr>
            <p:spPr bwMode="auto">
              <a:xfrm>
                <a:off x="4762" y="6120"/>
                <a:ext cx="2154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1" name="直接连接符 110"/>
              <p:cNvCxnSpPr/>
              <p:nvPr>
                <p:custDataLst>
                  <p:tags r:id="rId11"/>
                </p:custDataLst>
              </p:nvPr>
            </p:nvCxnSpPr>
            <p:spPr bwMode="auto">
              <a:xfrm>
                <a:off x="4762" y="6423"/>
                <a:ext cx="2154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2" name="直接连接符 111"/>
              <p:cNvCxnSpPr/>
              <p:nvPr>
                <p:custDataLst>
                  <p:tags r:id="rId12"/>
                </p:custDataLst>
              </p:nvPr>
            </p:nvCxnSpPr>
            <p:spPr bwMode="auto">
              <a:xfrm>
                <a:off x="4762" y="6722"/>
                <a:ext cx="2154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3" name="直接连接符 112"/>
              <p:cNvCxnSpPr/>
              <p:nvPr>
                <p:custDataLst>
                  <p:tags r:id="rId13"/>
                </p:custDataLst>
              </p:nvPr>
            </p:nvCxnSpPr>
            <p:spPr bwMode="auto">
              <a:xfrm>
                <a:off x="4762" y="7024"/>
                <a:ext cx="2154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4" name="直接连接符 113"/>
              <p:cNvCxnSpPr/>
              <p:nvPr>
                <p:custDataLst>
                  <p:tags r:id="rId14"/>
                </p:custDataLst>
              </p:nvPr>
            </p:nvCxnSpPr>
            <p:spPr bwMode="auto">
              <a:xfrm>
                <a:off x="4762" y="7351"/>
                <a:ext cx="2154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5" name="直接连接符 114"/>
              <p:cNvCxnSpPr/>
              <p:nvPr>
                <p:custDataLst>
                  <p:tags r:id="rId15"/>
                </p:custDataLst>
              </p:nvPr>
            </p:nvCxnSpPr>
            <p:spPr bwMode="auto">
              <a:xfrm>
                <a:off x="4762" y="7640"/>
                <a:ext cx="2154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6" name="直接连接符 115"/>
              <p:cNvCxnSpPr/>
              <p:nvPr>
                <p:custDataLst>
                  <p:tags r:id="rId16"/>
                </p:custDataLst>
              </p:nvPr>
            </p:nvCxnSpPr>
            <p:spPr bwMode="auto">
              <a:xfrm>
                <a:off x="4762" y="7946"/>
                <a:ext cx="2154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17" name="Text Box 36"/>
              <p:cNvSpPr txBox="1"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4149" y="5146"/>
                <a:ext cx="2736" cy="34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36195" tIns="0" rIns="36195" bIns="0" anchor="ctr" anchorCtr="0">
                <a:noAutofit/>
              </a:bodyPr>
              <a:p>
                <a:pPr>
                  <a:lnSpc>
                    <a:spcPct val="90000"/>
                  </a:lnSpc>
                </a:pP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地址</a:t>
                </a: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    </a:t>
                </a:r>
                <a:r>
                  <a:rPr lang="zh-CN" altLang="en-US" sz="1600" b="1" u="none" dirty="0" smtClean="0">
                    <a:latin typeface="宋体" panose="02010600030101010101" pitchFamily="2" charset="-122"/>
                  </a:rPr>
                  <a:t>程序内容</a:t>
                </a:r>
                <a:endParaRPr lang="zh-CN" altLang="en-US" sz="1600" b="1" u="none" dirty="0" smtClean="0"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118" name="组合 117"/>
          <p:cNvGrpSpPr/>
          <p:nvPr/>
        </p:nvGrpSpPr>
        <p:grpSpPr>
          <a:xfrm>
            <a:off x="5616000" y="3096000"/>
            <a:ext cx="864235" cy="1224280"/>
            <a:chOff x="11225" y="1587"/>
            <a:chExt cx="1361" cy="1928"/>
          </a:xfrm>
        </p:grpSpPr>
        <p:sp>
          <p:nvSpPr>
            <p:cNvPr id="119" name="Text Box 127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1225" y="1587"/>
              <a:ext cx="1361" cy="45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400" b="1" u="none" spc="-100" dirty="0" smtClean="0">
                  <a:latin typeface="宋体" panose="02010600030101010101" pitchFamily="2" charset="-122"/>
                </a:rPr>
                <a:t>代码段</a:t>
              </a:r>
              <a:r>
                <a:rPr lang="en-US" altLang="zh-CN" sz="1400" b="1" u="none" spc="-100" dirty="0" smtClean="0">
                  <a:latin typeface="宋体" panose="02010600030101010101" pitchFamily="2" charset="-122"/>
                </a:rPr>
                <a:t>0</a:t>
              </a:r>
              <a:endParaRPr lang="en-US" altLang="zh-CN" sz="1400" b="1" u="none" spc="-1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20" name="Text Box 127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1225" y="2835"/>
              <a:ext cx="1361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400" b="1" u="none" spc="-100" dirty="0" smtClean="0">
                  <a:latin typeface="宋体" panose="02010600030101010101" pitchFamily="2" charset="-122"/>
                </a:rPr>
                <a:t>代码段</a:t>
              </a:r>
              <a:r>
                <a:rPr lang="en-US" altLang="zh-CN" sz="1400" b="1" u="none" spc="-100" dirty="0">
                  <a:latin typeface="宋体" panose="02010600030101010101" pitchFamily="2" charset="-122"/>
                </a:rPr>
                <a:t>1</a:t>
              </a:r>
              <a:endParaRPr lang="en-US" altLang="zh-CN" sz="1400" b="1" u="none" spc="-100" dirty="0">
                <a:latin typeface="宋体" panose="02010600030101010101" pitchFamily="2" charset="-122"/>
              </a:endParaRPr>
            </a:p>
          </p:txBody>
        </p:sp>
        <p:sp>
          <p:nvSpPr>
            <p:cNvPr id="121" name="Text Box 127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1225" y="2041"/>
              <a:ext cx="1361" cy="34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400" b="1" u="none" spc="-100" dirty="0" smtClean="0">
                  <a:latin typeface="宋体" panose="02010600030101010101" pitchFamily="2" charset="-122"/>
                </a:rPr>
                <a:t>数据段</a:t>
              </a:r>
              <a:r>
                <a:rPr lang="en-US" altLang="zh-CN" sz="1400" b="1" u="none" spc="-100" dirty="0" smtClean="0">
                  <a:latin typeface="宋体" panose="02010600030101010101" pitchFamily="2" charset="-122"/>
                </a:rPr>
                <a:t>0</a:t>
              </a:r>
              <a:endParaRPr lang="en-US" altLang="zh-CN" sz="1400" b="1" u="none" spc="-1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22" name="Text Box 127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1225" y="2494"/>
              <a:ext cx="1361" cy="283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400" b="1" u="none" spc="-100" dirty="0" smtClean="0">
                  <a:latin typeface="宋体" panose="02010600030101010101" pitchFamily="2" charset="-122"/>
                </a:rPr>
                <a:t>数据段</a:t>
              </a:r>
              <a:r>
                <a:rPr lang="en-US" altLang="zh-CN" sz="1400" b="1" u="none" spc="-100" dirty="0">
                  <a:latin typeface="宋体" panose="02010600030101010101" pitchFamily="2" charset="-122"/>
                </a:rPr>
                <a:t>1</a:t>
              </a:r>
              <a:endParaRPr lang="en-US" altLang="zh-CN" sz="1400" b="1" u="none" spc="-100" dirty="0">
                <a:latin typeface="宋体" panose="02010600030101010101" pitchFamily="2" charset="-122"/>
              </a:endParaRPr>
            </a:p>
          </p:txBody>
        </p:sp>
        <p:sp>
          <p:nvSpPr>
            <p:cNvPr id="123" name="Text Box 127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1225" y="3175"/>
              <a:ext cx="1361" cy="340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400" b="1" u="none" spc="-100" dirty="0" smtClean="0">
                  <a:latin typeface="宋体" panose="02010600030101010101" pitchFamily="2" charset="-122"/>
                </a:rPr>
                <a:t>堆栈段</a:t>
              </a:r>
              <a:r>
                <a:rPr lang="en-US" altLang="zh-CN" sz="1400" b="1" u="none" spc="-100" dirty="0" smtClean="0">
                  <a:latin typeface="宋体" panose="02010600030101010101" pitchFamily="2" charset="-122"/>
                </a:rPr>
                <a:t>0</a:t>
              </a:r>
              <a:endParaRPr lang="en-US" altLang="zh-CN" sz="1400" b="1" u="none" spc="-1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24" name="直接连接符 123"/>
            <p:cNvCxnSpPr/>
            <p:nvPr>
              <p:custDataLst>
                <p:tags r:id="rId23"/>
              </p:custDataLst>
            </p:nvPr>
          </p:nvCxnSpPr>
          <p:spPr bwMode="auto">
            <a:xfrm>
              <a:off x="11225" y="2381"/>
              <a:ext cx="0" cy="45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5" name="直接连接符 124"/>
            <p:cNvCxnSpPr/>
            <p:nvPr>
              <p:custDataLst>
                <p:tags r:id="rId24"/>
              </p:custDataLst>
            </p:nvPr>
          </p:nvCxnSpPr>
          <p:spPr bwMode="auto">
            <a:xfrm>
              <a:off x="12586" y="2381"/>
              <a:ext cx="0" cy="45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5" name="组合 134"/>
          <p:cNvGrpSpPr/>
          <p:nvPr/>
        </p:nvGrpSpPr>
        <p:grpSpPr>
          <a:xfrm>
            <a:off x="6838950" y="2880000"/>
            <a:ext cx="1226185" cy="1188085"/>
            <a:chOff x="10318" y="2494"/>
            <a:chExt cx="1931" cy="1871"/>
          </a:xfrm>
        </p:grpSpPr>
        <p:sp>
          <p:nvSpPr>
            <p:cNvPr id="136" name="Rectangle 955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0889" y="3118"/>
              <a:ext cx="1361" cy="1247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2700" cmpd="sng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horz" lIns="36000" tIns="18000" rIns="36000" bIns="18000" anchor="ctr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程序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内容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7" name="Text Box 343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0889" y="2834"/>
              <a:ext cx="1361" cy="283"/>
            </a:xfrm>
            <a:prstGeom prst="rect">
              <a:avLst/>
            </a:prstGeom>
            <a:solidFill>
              <a:srgbClr val="FFCCFF">
                <a:alpha val="90000"/>
              </a:srgbClr>
            </a:solidFill>
            <a:ln w="952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400" b="1" u="none" dirty="0">
                  <a:latin typeface="宋体" panose="02010600030101010101" pitchFamily="2" charset="-122"/>
                </a:rPr>
                <a:t>程序头表</a:t>
              </a:r>
              <a:endParaRPr lang="zh-CN" altLang="en-US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8" name="Text Box 127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0889" y="2494"/>
              <a:ext cx="136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文件空间</a:t>
              </a:r>
              <a:endParaRPr lang="zh-CN" altLang="en-US" sz="1600" b="1" u="none" spc="-100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9" name="Text Box 12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0318" y="2835"/>
              <a:ext cx="567" cy="15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0" bIns="0"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200" b="1" u="none" dirty="0" smtClean="0">
                <a:solidFill>
                  <a:srgbClr val="0070C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1200" b="1" u="none" dirty="0" smtClean="0">
                  <a:latin typeface="宋体" panose="02010600030101010101" pitchFamily="2" charset="-122"/>
                </a:rPr>
                <a:t>a</a:t>
              </a:r>
              <a:endParaRPr lang="en-US" altLang="zh-CN" sz="12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2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 smtClean="0">
                  <a:latin typeface="宋体" panose="02010600030101010101" pitchFamily="2" charset="-122"/>
                </a:rPr>
                <a:t>…</a:t>
              </a:r>
              <a:endParaRPr lang="en-US" altLang="zh-CN" sz="12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2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300"/>
                </a:spcBef>
                <a:spcAft>
                  <a:spcPts val="0"/>
                </a:spcAft>
              </a:pPr>
              <a:r>
                <a:rPr lang="en-US" altLang="zh-CN" sz="1200" b="1" u="none" dirty="0" smtClean="0">
                  <a:latin typeface="宋体" panose="02010600030101010101" pitchFamily="2" charset="-122"/>
                </a:rPr>
                <a:t>L+</a:t>
              </a:r>
              <a:r>
                <a:rPr lang="en-US" altLang="zh-CN" sz="12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200" b="1" u="none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42" name="矩形 141"/>
          <p:cNvSpPr/>
          <p:nvPr>
            <p:custDataLst>
              <p:tags r:id="rId29"/>
            </p:custDataLst>
          </p:nvPr>
        </p:nvSpPr>
        <p:spPr>
          <a:xfrm>
            <a:off x="2448560" y="4824095"/>
            <a:ext cx="6515735" cy="1431290"/>
          </a:xfrm>
          <a:prstGeom prst="rect">
            <a:avLst/>
          </a:prstGeom>
        </p:spPr>
        <p:txBody>
          <a:bodyPr wrap="square" tIns="46990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&lt;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段号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,</a:t>
            </a:r>
            <a:r>
              <a:rPr lang="en-US" altLang="zh-CN" sz="2200" b="1" u="none" dirty="0" smtClean="0">
                <a:latin typeface="+mn-lt"/>
                <a:sym typeface="+mn-ea"/>
              </a:rPr>
              <a:t> 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段内地址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&gt; 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或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段首址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段内地址</a:t>
            </a: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           </a:t>
            </a:r>
            <a:r>
              <a:rPr lang="en-US" altLang="zh-CN" sz="16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n-m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6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始于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0)  </a:t>
            </a:r>
            <a:r>
              <a:rPr lang="en-US" altLang="zh-CN" sz="16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←n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如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a</a:t>
            </a:r>
            <a:r>
              <a:rPr lang="zh-CN" altLang="en-US" sz="1600" b="1" u="none" dirty="0" smtClean="0">
                <a:latin typeface="+mn-ea"/>
                <a:ea typeface="+mn-ea"/>
                <a:sym typeface="+mn-ea"/>
              </a:rPr>
              <a:t>…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b0</a:t>
            </a:r>
            <a:r>
              <a:rPr lang="zh-CN" altLang="en-US" sz="1600" b="1" u="none" dirty="0" smtClean="0">
                <a:latin typeface="+mn-ea"/>
                <a:ea typeface="+mn-ea"/>
                <a:sym typeface="+mn-ea"/>
              </a:rPr>
              <a:t>…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0)</a:t>
            </a:r>
            <a:endParaRPr lang="en-US" altLang="zh-CN" sz="16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990099"/>
                </a:solidFill>
                <a:uFillTx/>
                <a:latin typeface="宋体" panose="02010600030101010101" pitchFamily="2" charset="-122"/>
                <a:sym typeface="+mn-ea"/>
              </a:rPr>
              <a:t>文件形式</a:t>
            </a:r>
            <a:r>
              <a:rPr lang="zh-CN" altLang="en-US" sz="2200" b="1" u="none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存于</a:t>
            </a:r>
            <a:r>
              <a:rPr lang="zh-CN" altLang="en-US" sz="22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辅存</a:t>
            </a:r>
            <a:r>
              <a:rPr lang="zh-CN" altLang="en-US" sz="2200" b="1" u="none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中，</a:t>
            </a:r>
            <a:r>
              <a:rPr lang="zh-CN" altLang="en-US" sz="2200" b="1" dirty="0" smtClean="0">
                <a:solidFill>
                  <a:srgbClr val="990099"/>
                </a:solidFill>
                <a:uFillTx/>
                <a:latin typeface="宋体" panose="02010600030101010101" pitchFamily="2" charset="-122"/>
                <a:sym typeface="+mn-ea"/>
              </a:rPr>
              <a:t>各段信息</a:t>
            </a:r>
            <a:r>
              <a:rPr lang="zh-CN" altLang="en-US" sz="2200" b="1" u="none" dirty="0" smtClean="0">
                <a:uFillTx/>
                <a:latin typeface="宋体" panose="02010600030101010101" pitchFamily="2" charset="-122"/>
                <a:sym typeface="+mn-ea"/>
              </a:rPr>
              <a:t>放在</a:t>
            </a:r>
            <a:r>
              <a:rPr lang="zh-CN" altLang="en-US" sz="22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程序头表</a:t>
            </a:r>
            <a:r>
              <a:rPr lang="zh-CN" altLang="en-US" sz="2200" b="1" u="none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中</a:t>
            </a:r>
            <a:endParaRPr lang="zh-CN" altLang="en-US" sz="2200" b="1" u="none" dirty="0" smtClean="0">
              <a:solidFill>
                <a:schemeClr val="tx1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 smtClean="0">
                <a:latin typeface="+mn-ea"/>
                <a:ea typeface="+mn-ea"/>
                <a:sym typeface="+mn-ea"/>
              </a:rPr>
              <a:t>                    &lt;</a:t>
            </a:r>
            <a:r>
              <a:rPr lang="zh-CN" altLang="en-US" sz="1600" b="1" u="none" dirty="0" smtClean="0">
                <a:latin typeface="+mn-ea"/>
                <a:ea typeface="+mn-ea"/>
                <a:sym typeface="+mn-ea"/>
              </a:rPr>
              <a:t>类型</a:t>
            </a:r>
            <a:r>
              <a:rPr lang="en-US" altLang="zh-CN" sz="1600" b="1" u="none" dirty="0" smtClean="0">
                <a:latin typeface="+mn-ea"/>
                <a:ea typeface="+mn-ea"/>
                <a:sym typeface="+mn-ea"/>
              </a:rPr>
              <a:t>,</a:t>
            </a:r>
            <a:r>
              <a:rPr lang="zh-CN" altLang="en-US" sz="1600" b="1" u="none" dirty="0" smtClean="0">
                <a:latin typeface="+mn-ea"/>
                <a:ea typeface="+mn-ea"/>
                <a:sym typeface="+mn-ea"/>
              </a:rPr>
              <a:t>长度</a:t>
            </a:r>
            <a:r>
              <a:rPr lang="en-US" altLang="zh-CN" sz="1600" b="1" u="none" dirty="0" smtClean="0">
                <a:latin typeface="+mn-ea"/>
                <a:ea typeface="+mn-ea"/>
                <a:sym typeface="+mn-ea"/>
              </a:rPr>
              <a:t>,</a:t>
            </a:r>
            <a:r>
              <a:rPr lang="zh-CN" altLang="en-US" sz="1600" b="1" u="none" dirty="0" smtClean="0">
                <a:latin typeface="+mn-ea"/>
                <a:ea typeface="+mn-ea"/>
                <a:sym typeface="+mn-ea"/>
              </a:rPr>
              <a:t>程序空间首址</a:t>
            </a:r>
            <a:r>
              <a:rPr lang="en-US" altLang="zh-CN" sz="1600" b="1" u="none" dirty="0" smtClean="0">
                <a:latin typeface="+mn-ea"/>
                <a:ea typeface="+mn-ea"/>
                <a:sym typeface="+mn-ea"/>
              </a:rPr>
              <a:t>,</a:t>
            </a:r>
            <a:r>
              <a:rPr lang="zh-CN" altLang="en-US" sz="1600" b="1" u="none" dirty="0" smtClean="0">
                <a:latin typeface="+mn-ea"/>
                <a:ea typeface="+mn-ea"/>
                <a:sym typeface="+mn-ea"/>
              </a:rPr>
              <a:t>文件空间首址</a:t>
            </a:r>
            <a:r>
              <a:rPr lang="en-US" altLang="zh-CN" sz="1600" b="1" u="none" dirty="0" smtClean="0">
                <a:latin typeface="+mn-ea"/>
                <a:ea typeface="+mn-ea"/>
                <a:sym typeface="+mn-ea"/>
              </a:rPr>
              <a:t>,</a:t>
            </a:r>
            <a:r>
              <a:rPr lang="zh-CN" altLang="en-US" sz="1600" b="1" u="none" dirty="0" smtClean="0">
                <a:latin typeface="+mn-ea"/>
                <a:ea typeface="+mn-ea"/>
                <a:sym typeface="+mn-ea"/>
              </a:rPr>
              <a:t>…</a:t>
            </a:r>
            <a:r>
              <a:rPr lang="en-US" altLang="zh-CN" sz="1600" b="1" u="none" dirty="0" smtClean="0">
                <a:latin typeface="+mn-ea"/>
                <a:ea typeface="+mn-ea"/>
                <a:sym typeface="+mn-ea"/>
              </a:rPr>
              <a:t>&gt;</a:t>
            </a:r>
            <a:endParaRPr lang="en-US" altLang="zh-CN" sz="1600" b="1" u="none" dirty="0" smtClean="0">
              <a:solidFill>
                <a:schemeClr val="tx1"/>
              </a:solidFill>
              <a:uFillTx/>
              <a:latin typeface="+mn-ea"/>
              <a:ea typeface="+mn-ea"/>
              <a:sym typeface="+mn-ea"/>
            </a:endParaRPr>
          </a:p>
        </p:txBody>
      </p:sp>
      <p:grpSp>
        <p:nvGrpSpPr>
          <p:cNvPr id="143" name="组合 142"/>
          <p:cNvGrpSpPr/>
          <p:nvPr/>
        </p:nvGrpSpPr>
        <p:grpSpPr>
          <a:xfrm>
            <a:off x="5256000" y="2880000"/>
            <a:ext cx="1224280" cy="1764030"/>
            <a:chOff x="10658" y="1247"/>
            <a:chExt cx="1928" cy="2778"/>
          </a:xfrm>
        </p:grpSpPr>
        <p:sp>
          <p:nvSpPr>
            <p:cNvPr id="144" name="Text Box 127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1225" y="1247"/>
              <a:ext cx="136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spc="-1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程序空间</a:t>
              </a:r>
              <a:endParaRPr lang="zh-CN" altLang="en-US" sz="1600" b="1" u="none" spc="-100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5" name="Text Box 12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0658" y="1587"/>
              <a:ext cx="567" cy="24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0" bIns="0"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0</a:t>
              </a:r>
              <a:r>
                <a:rPr lang="en-US" altLang="zh-CN" sz="1200" b="1" u="none" dirty="0" smtClean="0">
                  <a:latin typeface="宋体" panose="02010600030101010101" pitchFamily="2" charset="-122"/>
                </a:rPr>
                <a:t>…</a:t>
              </a:r>
              <a:r>
                <a:rPr lang="en-US" altLang="zh-CN" sz="12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200" b="1" u="none" dirty="0" smtClean="0">
                <a:solidFill>
                  <a:srgbClr val="0070C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 smtClean="0">
                  <a:latin typeface="宋体" panose="02010600030101010101" pitchFamily="2" charset="-122"/>
                </a:rPr>
                <a:t>…</a:t>
              </a:r>
              <a:endParaRPr lang="en-US" altLang="zh-CN" sz="12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 smtClean="0">
                  <a:latin typeface="宋体" panose="02010600030101010101" pitchFamily="2" charset="-122"/>
                </a:rPr>
                <a:t>a1</a:t>
              </a:r>
              <a:endParaRPr lang="en-US" altLang="zh-CN" sz="12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 smtClean="0">
                  <a:latin typeface="宋体" panose="02010600030101010101" pitchFamily="2" charset="-122"/>
                </a:rPr>
                <a:t>…</a:t>
              </a:r>
              <a:endParaRPr lang="en-US" altLang="zh-CN" sz="12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 smtClean="0">
                  <a:latin typeface="宋体" panose="02010600030101010101" pitchFamily="2" charset="-122"/>
                </a:rPr>
                <a:t>a2</a:t>
              </a:r>
              <a:endParaRPr lang="en-US" altLang="zh-CN" sz="12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>
                  <a:latin typeface="宋体" panose="02010600030101010101" pitchFamily="2" charset="-122"/>
                </a:rPr>
                <a:t>…</a:t>
              </a:r>
              <a:endParaRPr lang="en-US" altLang="zh-CN" sz="12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 smtClean="0">
                  <a:latin typeface="宋体" panose="02010600030101010101" pitchFamily="2" charset="-122"/>
                </a:rPr>
                <a:t>a3</a:t>
              </a:r>
              <a:endParaRPr lang="en-US" altLang="zh-CN" sz="12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 smtClean="0">
                  <a:latin typeface="宋体" panose="02010600030101010101" pitchFamily="2" charset="-122"/>
                </a:rPr>
                <a:t>…</a:t>
              </a:r>
              <a:endParaRPr lang="en-US" altLang="zh-CN" sz="12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 smtClean="0">
                  <a:latin typeface="宋体" panose="02010600030101010101" pitchFamily="2" charset="-122"/>
                </a:rPr>
                <a:t>a4</a:t>
              </a:r>
              <a:endParaRPr lang="en-US" altLang="zh-CN" sz="12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 smtClean="0">
                  <a:latin typeface="宋体" panose="02010600030101010101" pitchFamily="2" charset="-122"/>
                </a:rPr>
                <a:t>…</a:t>
              </a:r>
              <a:endParaRPr lang="en-US" altLang="zh-CN" sz="12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1…1</a:t>
              </a:r>
              <a:endParaRPr lang="en-US" altLang="zh-CN" sz="1200" b="1" u="none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9" name="Text Box 127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1225" y="1587"/>
              <a:ext cx="1361" cy="238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zh-CN" altLang="en-US" sz="1400" b="1" u="none" spc="-100" dirty="0" smtClean="0">
                <a:latin typeface="宋体" panose="02010600030101010101" pitchFamily="2" charset="-122"/>
              </a:endParaRPr>
            </a:p>
          </p:txBody>
        </p:sp>
      </p:grpSp>
      <p:sp>
        <p:nvSpPr>
          <p:cNvPr id="3" name="Text Box 46"/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849313" y="313492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algn="ctr"/>
            <a:r>
              <a:rPr lang="en-US" altLang="zh-CN" sz="2800" b="1" u="none" dirty="0">
                <a:latin typeface="宋体" panose="02010600030101010101" pitchFamily="2" charset="-122"/>
              </a:rPr>
              <a:t>§3.5  </a:t>
            </a:r>
            <a:r>
              <a:rPr lang="zh-CN" altLang="en-US" sz="2800" b="1" u="none" dirty="0">
                <a:latin typeface="宋体" panose="02010600030101010101" pitchFamily="2" charset="-122"/>
              </a:rPr>
              <a:t>虚拟存储器</a:t>
            </a:r>
            <a:endParaRPr lang="zh-CN" altLang="en-US" sz="2800" b="1" u="none" dirty="0">
              <a:latin typeface="宋体" panose="02010600030101010101" pitchFamily="2" charset="-122"/>
            </a:endParaRPr>
          </a:p>
        </p:txBody>
      </p:sp>
      <p:sp>
        <p:nvSpPr>
          <p:cNvPr id="20" name="Text Box 526"/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179512" y="864000"/>
            <a:ext cx="8785101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en-US" altLang="zh-CN" sz="2000" b="1" u="none" dirty="0">
                <a:solidFill>
                  <a:srgbClr val="FF3399"/>
                </a:solidFill>
                <a:latin typeface="+mn-ea"/>
                <a:ea typeface="+mn-ea"/>
              </a:rPr>
              <a:t> </a:t>
            </a:r>
            <a:r>
              <a:rPr lang="en-US" altLang="zh-CN" sz="2000" b="1" u="none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000" b="1" u="none" dirty="0" smtClean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u="none" dirty="0" smtClean="0">
                <a:solidFill>
                  <a:schemeClr val="tx1"/>
                </a:solidFill>
                <a:latin typeface="+mn-ea"/>
                <a:ea typeface="+mn-ea"/>
              </a:rPr>
              <a:t>存储管理</a:t>
            </a:r>
            <a:r>
              <a:rPr lang="zh-CN" altLang="en-US" sz="2000" b="1" u="none" dirty="0" smtClean="0">
                <a:latin typeface="+mn-ea"/>
                <a:ea typeface="+mn-ea"/>
              </a:rPr>
              <a:t>相关</a:t>
            </a:r>
            <a:r>
              <a:rPr lang="zh-CN" altLang="en-US" sz="2000" b="1" u="none" spc="-100" dirty="0" smtClean="0">
                <a:latin typeface="宋体" panose="02010600030101010101" pitchFamily="2" charset="-122"/>
              </a:rPr>
              <a:t>概念，虚存的组成、工作过程、地址变换步骤</a:t>
            </a:r>
            <a:endParaRPr lang="zh-CN" altLang="en-US" sz="2000" b="1" u="none" spc="-100" dirty="0" smtClean="0">
              <a:latin typeface="宋体" panose="02010600030101010101" pitchFamily="2" charset="-122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1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1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" name="Text Box 12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829225"/>
            <a:ext cx="5111750" cy="49104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、主存空间的分配</a:t>
            </a: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18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分区方式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u="none" spc="-50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spc="-5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spc="-5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特</a:t>
            </a:r>
            <a:r>
              <a:rPr lang="en-US" altLang="zh-CN" sz="2200" b="1" u="none" spc="-5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u="none" spc="-5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点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u="none" spc="-50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地址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变换方法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分页方式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特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点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地址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变换方法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spc="-50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" name="Text Box 4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388" y="360000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defRPr b="1" u="none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一、存储管理相关概念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指主存的管理</a:t>
            </a:r>
            <a:r>
              <a:rPr lang="en-US" altLang="zh-CN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sz="18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Text Box 10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08000" y="1584000"/>
            <a:ext cx="7120890" cy="22117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spc="-5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主存</a:t>
            </a:r>
            <a:r>
              <a:rPr lang="zh-CN" altLang="en-US" sz="2200" b="1" spc="-5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划分</a:t>
            </a:r>
            <a:r>
              <a:rPr lang="zh-CN" altLang="en-US" sz="2200" b="1" u="none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成若干个</a:t>
            </a:r>
            <a:r>
              <a:rPr lang="zh-CN" altLang="en-US" sz="2200" b="1" u="none" spc="-5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分区</a:t>
            </a:r>
            <a:r>
              <a:rPr lang="en-US" altLang="zh-CN" sz="1800" b="1" u="none" spc="-5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(S</a:t>
            </a:r>
            <a:r>
              <a:rPr lang="zh-CN" altLang="en-US" sz="1800" b="1" u="none" spc="-50" baseline="-1800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主存</a:t>
            </a:r>
            <a:r>
              <a:rPr lang="zh-CN" altLang="en-US" sz="1800" b="1" u="none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＝∑</a:t>
            </a:r>
            <a:r>
              <a:rPr lang="en-US" altLang="zh-CN" sz="1800" b="1" u="none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zh-CN" altLang="en-US" sz="1800" b="1" u="none" spc="-50" baseline="-1800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分区</a:t>
            </a:r>
            <a:r>
              <a:rPr lang="en-US" altLang="zh-CN" sz="1800" b="1" u="none" spc="-50" baseline="-18000" dirty="0" err="1" smtClean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1800" b="1" u="none" spc="-5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zh-CN" altLang="en-US" sz="1600" b="1" u="none" baseline="-18000" dirty="0">
                <a:latin typeface="宋体" panose="02010600030101010101" pitchFamily="2" charset="-122"/>
                <a:cs typeface="宋体" panose="02010600030101010101" pitchFamily="2" charset="-122"/>
              </a:rPr>
              <a:t>分区</a:t>
            </a:r>
            <a:r>
              <a:rPr lang="en-US" altLang="zh-CN" sz="1600" b="1" u="none" baseline="-18000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可不等</a:t>
            </a:r>
            <a:endParaRPr lang="en-US" altLang="zh-CN" sz="2200" b="1" u="none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spc="-50" dirty="0" smtClean="0">
                <a:latin typeface="宋体" panose="02010600030101010101" pitchFamily="2" charset="-122"/>
                <a:cs typeface="宋体" panose="02010600030101010101" pitchFamily="2" charset="-122"/>
              </a:rPr>
              <a:t>每个</a:t>
            </a:r>
            <a:r>
              <a:rPr lang="zh-CN" altLang="en-US" sz="2200" b="1" u="none" spc="-50" dirty="0">
                <a:latin typeface="宋体" panose="02010600030101010101" pitchFamily="2" charset="-122"/>
                <a:cs typeface="宋体" panose="02010600030101010101" pitchFamily="2" charset="-122"/>
              </a:rPr>
              <a:t>进程</a:t>
            </a:r>
            <a:r>
              <a:rPr lang="zh-CN" altLang="en-US" sz="2200" b="1" spc="-50" dirty="0" smtClean="0">
                <a:latin typeface="宋体" panose="02010600030101010101" pitchFamily="2" charset="-122"/>
                <a:cs typeface="宋体" panose="02010600030101010101" pitchFamily="2" charset="-122"/>
              </a:rPr>
              <a:t>分配</a:t>
            </a:r>
            <a:r>
              <a:rPr lang="zh-CN" altLang="en-US" sz="2200" b="1" u="none" spc="-50" dirty="0" smtClean="0">
                <a:latin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lang="en-US" altLang="zh-CN" sz="2200" b="1" u="none" spc="-5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200" b="1" u="none" spc="-5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lang="zh-CN" altLang="en-US" sz="2200" b="1" u="none" spc="-50" dirty="0" smtClean="0">
                <a:latin typeface="宋体" panose="02010600030101010101" pitchFamily="2" charset="-122"/>
                <a:cs typeface="宋体" panose="02010600030101010101" pitchFamily="2" charset="-122"/>
              </a:rPr>
              <a:t>分区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程序的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空间连续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20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zh-CN" altLang="en-US" sz="16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分区</a:t>
            </a:r>
            <a:r>
              <a:rPr lang="en-US" altLang="zh-CN" sz="1600" b="1" u="none" baseline="-18000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≥S</a:t>
            </a:r>
            <a:r>
              <a:rPr lang="zh-CN" sz="16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程序</a:t>
            </a:r>
            <a:endParaRPr lang="zh-CN" altLang="en-US" sz="1600" b="1" u="none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u="none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物理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地址＝基地址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＋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逻辑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地址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←指分区的基地址</a:t>
            </a:r>
            <a:endParaRPr lang="zh-CN" altLang="en-US" sz="1600" b="1" u="none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36" name="直接箭头连接符 35"/>
          <p:cNvCxnSpPr/>
          <p:nvPr>
            <p:custDataLst>
              <p:tags r:id="rId4"/>
            </p:custDataLst>
          </p:nvPr>
        </p:nvCxnSpPr>
        <p:spPr bwMode="auto">
          <a:xfrm flipH="1">
            <a:off x="5292000" y="2412000"/>
            <a:ext cx="684000" cy="1008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arrow" w="med" len="sm"/>
          </a:ln>
          <a:effectLst/>
        </p:spPr>
      </p:cxnSp>
      <p:graphicFrame>
        <p:nvGraphicFramePr>
          <p:cNvPr id="37" name="表格 36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2051685" y="2520000"/>
          <a:ext cx="618871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020"/>
                <a:gridCol w="2367280"/>
                <a:gridCol w="2772410"/>
              </a:tblGrid>
              <a:tr h="264160">
                <a:tc>
                  <a:txBody>
                    <a:bodyPr/>
                    <a:p>
                      <a:pPr indent="0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分区类型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17780" marT="18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固定分区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800" b="1" u="none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</a:t>
                      </a:r>
                      <a:r>
                        <a:rPr lang="zh-CN" altLang="en-US" sz="1800" b="1" u="none" baseline="-180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分区</a:t>
                      </a:r>
                      <a:r>
                        <a:rPr lang="en-US" altLang="zh-CN" sz="1800" b="1" u="none" baseline="-18000" dirty="0" err="1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</a:t>
                      </a:r>
                      <a:r>
                        <a:rPr lang="zh-CN" altLang="en-US" sz="1800" b="1" u="none" spc="-1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不变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000" marR="17780" marT="18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可变分区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合并</a:t>
                      </a:r>
                      <a:r>
                        <a:rPr lang="en-US" altLang="zh-CN" sz="1800" b="1" u="none" spc="-1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</a:t>
                      </a:r>
                      <a:r>
                        <a:rPr lang="zh-CN" altLang="en-US" sz="1800" b="1" u="none" spc="-1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移动分区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000" marR="17780" marT="18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160">
                <a:tc>
                  <a:txBody>
                    <a:bodyPr/>
                    <a:p>
                      <a:pPr marR="0" indent="0" algn="l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分配方法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17780" marT="18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90000"/>
                        </a:lnSpc>
                      </a:pPr>
                      <a:r>
                        <a:rPr lang="zh-CN" altLang="en-US" sz="1800" b="1" u="none" dirty="0" smtClean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选择</a:t>
                      </a:r>
                      <a:r>
                        <a:rPr lang="zh-CN" altLang="en-US" sz="1800" b="1" u="none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最接近</a:t>
                      </a:r>
                      <a:r>
                        <a:rPr lang="en-US" altLang="zh-CN" sz="1800" b="1" u="none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</a:t>
                      </a:r>
                      <a:r>
                        <a:rPr lang="zh-CN" altLang="en-US" sz="1800" b="1" u="none" baseline="-180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进程</a:t>
                      </a:r>
                      <a:r>
                        <a:rPr lang="zh-CN" altLang="en-US" sz="1800" b="1" u="none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的分区</a:t>
                      </a:r>
                      <a:endParaRPr lang="zh-CN" altLang="en-US" sz="1800" b="1" u="none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000" marR="17780" marT="18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R="0" indent="0" algn="l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切割</a:t>
                      </a:r>
                      <a:r>
                        <a:rPr lang="zh-CN" altLang="en-US" sz="1800" b="1" u="none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空闲分区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17780" marT="18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160"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特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点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000" marR="17780" marT="18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90000"/>
                        </a:lnSpc>
                      </a:pPr>
                      <a:r>
                        <a:rPr lang="zh-CN" altLang="en-US" sz="1800" b="1" u="none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产生的</a:t>
                      </a:r>
                      <a:r>
                        <a:rPr lang="zh-CN" altLang="en-US" sz="1800" b="1" u="none" dirty="0" smtClean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碎片较大</a:t>
                      </a:r>
                      <a:endParaRPr lang="zh-CN" altLang="en-US" sz="1800" b="1" u="none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17780" marT="18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R="0" indent="0" algn="l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u="none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管理</a:t>
                      </a:r>
                      <a:r>
                        <a:rPr lang="zh-CN" altLang="en-US" sz="1800" b="1" u="none" dirty="0" smtClean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开销较大</a:t>
                      </a:r>
                      <a:r>
                        <a:rPr lang="en-US" altLang="zh-CN" sz="1800" b="1" u="none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1800" b="1" u="none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合并</a:t>
                      </a:r>
                      <a:r>
                        <a:rPr lang="en-US" altLang="zh-CN" sz="1800" b="1" u="none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&amp;</a:t>
                      </a:r>
                      <a:r>
                        <a:rPr lang="zh-CN" altLang="en-US" sz="1800" b="1" u="none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移动</a:t>
                      </a:r>
                      <a:r>
                        <a:rPr lang="en-US" altLang="zh-CN" sz="1800" b="1" u="none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zh-CN" sz="1800" b="1" u="none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000" marR="17780" marT="18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8" name="Text Box 10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908000" y="3708000"/>
            <a:ext cx="7113270" cy="2365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u="none" spc="-5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程序、主存</a:t>
            </a:r>
            <a:r>
              <a:rPr lang="zh-CN" altLang="en-US" sz="2200" b="1" u="sng" spc="-5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划分</a:t>
            </a:r>
            <a:r>
              <a:rPr lang="zh-CN" altLang="en-US" sz="2200" b="1" u="none" spc="-5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成若干个页、页框</a:t>
            </a:r>
            <a:r>
              <a:rPr lang="en-US" altLang="zh-CN" sz="1800" b="1" u="none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(S</a:t>
            </a:r>
            <a:r>
              <a:rPr lang="zh-CN" altLang="en-US" sz="1800" b="1" u="none" spc="-50" baseline="-1800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页</a:t>
            </a:r>
            <a:r>
              <a:rPr lang="zh-CN" altLang="en-US" sz="1800" b="1" u="none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u="none" spc="-5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zh-CN" altLang="en-US" sz="1800" b="1" u="none" spc="-50" baseline="-18000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页框</a:t>
            </a:r>
            <a:r>
              <a:rPr lang="en-US" altLang="zh-CN" sz="1800" b="1" u="none" spc="-5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2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←如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zh-CN" altLang="en-US" sz="1600" b="1" u="none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页</a:t>
            </a:r>
            <a:r>
              <a:rPr lang="en-US" altLang="zh-CN" sz="16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=4KB</a:t>
            </a:r>
            <a:endParaRPr lang="en-US" altLang="zh-CN" sz="2200" b="1" u="none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u="none" spc="-50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                       </a:t>
            </a:r>
            <a:r>
              <a:rPr lang="en-US" altLang="zh-CN" sz="1800" u="none" spc="-50" dirty="0" smtClean="0"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en-US" altLang="zh-CN" sz="1800" b="1" u="none" spc="-50" dirty="0" smtClean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800" b="1" u="none" spc="-50" dirty="0" smtClean="0">
                <a:latin typeface="宋体" panose="02010600030101010101" pitchFamily="2" charset="-122"/>
                <a:cs typeface="宋体" panose="02010600030101010101" pitchFamily="2" charset="-122"/>
              </a:rPr>
              <a:t>逻辑地址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&lt;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逻辑页号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页内地址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&gt;</a:t>
            </a:r>
            <a:endParaRPr lang="en-US" altLang="zh-CN" sz="1800" b="1" u="none" spc="-50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spc="-50" dirty="0" smtClean="0">
                <a:latin typeface="宋体" panose="02010600030101010101" pitchFamily="2" charset="-122"/>
                <a:cs typeface="宋体" panose="02010600030101010101" pitchFamily="2" charset="-122"/>
              </a:rPr>
              <a:t>每个进程</a:t>
            </a:r>
            <a:r>
              <a:rPr lang="zh-CN" altLang="en-US" sz="2200" b="1" u="sng" spc="-50" dirty="0" smtClean="0">
                <a:latin typeface="宋体" panose="02010600030101010101" pitchFamily="2" charset="-122"/>
                <a:cs typeface="宋体" panose="02010600030101010101" pitchFamily="2" charset="-122"/>
              </a:rPr>
              <a:t>分配</a:t>
            </a:r>
            <a:r>
              <a:rPr lang="zh-CN" altLang="en-US" sz="2200" b="1" u="none" spc="-50" dirty="0" smtClean="0">
                <a:latin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lang="zh-CN" altLang="en-US" sz="2200" b="1" u="none" spc="-5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所需全部</a:t>
            </a:r>
            <a:r>
              <a:rPr lang="zh-CN" altLang="en-US" sz="2200" b="1" u="none" spc="-50" dirty="0" smtClean="0">
                <a:latin typeface="宋体" panose="02010600030101010101" pitchFamily="2" charset="-122"/>
                <a:cs typeface="宋体" panose="02010600030101010101" pitchFamily="2" charset="-122"/>
              </a:rPr>
              <a:t>页框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程序的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空间可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不连续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碎片小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(S</a:t>
            </a:r>
            <a:r>
              <a:rPr lang="zh-CN" altLang="en-US" sz="1800" b="1" u="none" baseline="-18000" dirty="0" smtClean="0">
                <a:latin typeface="宋体" panose="02010600030101010101" pitchFamily="2" charset="-122"/>
                <a:cs typeface="宋体" panose="02010600030101010101" pitchFamily="2" charset="-122"/>
              </a:rPr>
              <a:t>页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&lt;&lt;S</a:t>
            </a:r>
            <a:r>
              <a:rPr lang="zh-CN" altLang="en-US" sz="1800" b="1" u="none" baseline="-18000" dirty="0" smtClean="0">
                <a:latin typeface="宋体" panose="02010600030101010101" pitchFamily="2" charset="-122"/>
                <a:cs typeface="宋体" panose="02010600030101010101" pitchFamily="2" charset="-122"/>
              </a:rPr>
              <a:t>分区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，管理开销小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页表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管理页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页框映射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物理地址＝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&lt;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物理页号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</a:rPr>
              <a:t>页内地址</a:t>
            </a: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&gt;</a:t>
            </a:r>
            <a:endParaRPr lang="en-US" altLang="zh-CN" sz="2200" b="1" u="none" dirty="0" smtClean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物理页号＝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页表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zh-CN" altLang="en-US" sz="22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逻辑页号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endParaRPr lang="zh-CN" altLang="en-US" sz="2200" b="1" u="none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Text Box 8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48235" y="6120000"/>
            <a:ext cx="342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000" tIns="18000" rIns="36000" bIns="0" anchor="ctr" anchorCtr="0">
            <a:noAutofit/>
          </a:bodyPr>
          <a:p>
            <a:pPr marL="271780" indent="-2717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+mn-ea"/>
                <a:ea typeface="+mn-ea"/>
              </a:rPr>
              <a:t>思考②：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主存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分配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管理谁实施？</a:t>
            </a:r>
            <a:endParaRPr lang="zh-CN" altLang="en-US" sz="1800" b="1" u="none" baseline="-16000" dirty="0" smtClean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  <a:ea typeface="+mn-ea"/>
              <a:sym typeface="+mn-ea"/>
            </a:endParaRPr>
          </a:p>
        </p:txBody>
      </p:sp>
      <p:cxnSp>
        <p:nvCxnSpPr>
          <p:cNvPr id="43" name="直接箭头连接符 42"/>
          <p:cNvCxnSpPr/>
          <p:nvPr>
            <p:custDataLst>
              <p:tags r:id="rId8"/>
            </p:custDataLst>
          </p:nvPr>
        </p:nvCxnSpPr>
        <p:spPr bwMode="auto">
          <a:xfrm flipH="1">
            <a:off x="6372245" y="4788000"/>
            <a:ext cx="504000" cy="144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arrow" w="med" len="sm"/>
          </a:ln>
          <a:effectLst/>
        </p:spPr>
      </p:cxnSp>
      <p:sp>
        <p:nvSpPr>
          <p:cNvPr id="63" name="Text Box 8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83260" y="1332000"/>
            <a:ext cx="5940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000" tIns="18000" rIns="36000" bIns="0" anchor="ctr" anchorCtr="0">
            <a:noAutofit/>
          </a:bodyPr>
          <a:p>
            <a:pPr marL="271780" indent="-2717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+mn-ea"/>
                <a:ea typeface="+mn-ea"/>
              </a:rPr>
              <a:t>思考①：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程序装入主存后，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如何按逻辑地址访问主存？</a:t>
            </a:r>
            <a:endParaRPr lang="zh-CN" altLang="en-US" sz="1800" b="1" u="none" baseline="-16000" dirty="0" smtClean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  <a:ea typeface="+mn-ea"/>
              <a:sym typeface="+mn-ea"/>
            </a:endParaRPr>
          </a:p>
        </p:txBody>
      </p:sp>
      <p:sp>
        <p:nvSpPr>
          <p:cNvPr id="65" name="Text Box 8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732270" y="1332000"/>
            <a:ext cx="1728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36000" tIns="18000" rIns="36000" bIns="0" anchor="ctr" anchorCtr="0">
            <a:noAutofit/>
          </a:bodyPr>
          <a:p>
            <a:pPr marL="271780" indent="-2717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先进行地址变换</a:t>
            </a:r>
            <a:endParaRPr lang="zh-CN" altLang="en-US" sz="1800" b="1" u="none" baseline="-16000" dirty="0" smtClean="0">
              <a:solidFill>
                <a:schemeClr val="tx1"/>
              </a:solidFill>
              <a:latin typeface="宋体" panose="02010600030101010101" pitchFamily="2" charset="-122"/>
              <a:ea typeface="+mn-ea"/>
              <a:sym typeface="+mn-ea"/>
            </a:endParaRPr>
          </a:p>
        </p:txBody>
      </p:sp>
      <p:sp>
        <p:nvSpPr>
          <p:cNvPr id="66" name="Text Box 8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924000" y="6120000"/>
            <a:ext cx="352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000" tIns="18000" rIns="36000" bIns="0" anchor="ctr" anchorCtr="0">
            <a:noAutofit/>
          </a:bodyPr>
          <a:p>
            <a:pPr marL="271780" indent="-2717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+mn-ea"/>
                <a:ea typeface="+mn-ea"/>
              </a:rPr>
              <a:t>引子：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程序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大小＞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主存大小咋办？</a:t>
            </a:r>
            <a:endParaRPr lang="zh-CN" altLang="en-US" sz="1800" b="1" u="none" baseline="-16000" dirty="0" smtClean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  <a:ea typeface="+mn-ea"/>
              <a:sym typeface="+mn-ea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7686040" y="5255755"/>
            <a:ext cx="1080000" cy="935705"/>
            <a:chOff x="3855" y="1502"/>
            <a:chExt cx="1701" cy="1474"/>
          </a:xfrm>
        </p:grpSpPr>
        <p:sp>
          <p:nvSpPr>
            <p:cNvPr id="70" name="Text Box 36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536" y="1785"/>
              <a:ext cx="850" cy="119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36195" tIns="10800" rIns="36195" bIns="10800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sz="1400" b="1" u="none" dirty="0" smtClean="0">
                  <a:latin typeface="宋体" panose="02010600030101010101" pitchFamily="2" charset="-122"/>
                </a:rPr>
                <a:t>3</a:t>
              </a:r>
              <a:endParaRPr lang="en-US" sz="14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1400" b="1" u="none" dirty="0" smtClean="0">
                  <a:latin typeface="宋体" panose="02010600030101010101" pitchFamily="2" charset="-122"/>
                </a:rPr>
                <a:t>8</a:t>
              </a:r>
              <a:endParaRPr lang="zh-CN" altLang="en-US" sz="14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1</a:t>
              </a:r>
              <a:endParaRPr lang="en-US" altLang="zh-CN" sz="14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u="none" dirty="0" smtClean="0">
                  <a:solidFill>
                    <a:schemeClr val="tx1"/>
                  </a:solidFill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4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71" name="直接连接符 70"/>
            <p:cNvCxnSpPr/>
            <p:nvPr>
              <p:custDataLst>
                <p:tags r:id="rId13"/>
              </p:custDataLst>
            </p:nvPr>
          </p:nvCxnSpPr>
          <p:spPr bwMode="auto">
            <a:xfrm>
              <a:off x="4536" y="2099"/>
              <a:ext cx="85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2" name="Text Box 36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025" y="1785"/>
              <a:ext cx="397" cy="119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36195" tIns="10800" rIns="36195" bIns="10800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sz="14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0</a:t>
              </a:r>
              <a:endParaRPr lang="en-US" sz="1400" b="1" u="none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400" b="1" u="none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2</a:t>
              </a:r>
              <a:endParaRPr lang="en-US" altLang="zh-CN" sz="1400" b="1" u="none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400" b="1" u="none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73" name="直接连接符 72"/>
            <p:cNvCxnSpPr/>
            <p:nvPr>
              <p:custDataLst>
                <p:tags r:id="rId15"/>
              </p:custDataLst>
            </p:nvPr>
          </p:nvCxnSpPr>
          <p:spPr bwMode="auto">
            <a:xfrm>
              <a:off x="4536" y="2391"/>
              <a:ext cx="85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直接连接符 73"/>
            <p:cNvCxnSpPr/>
            <p:nvPr>
              <p:custDataLst>
                <p:tags r:id="rId16"/>
              </p:custDataLst>
            </p:nvPr>
          </p:nvCxnSpPr>
          <p:spPr bwMode="auto">
            <a:xfrm>
              <a:off x="4536" y="2694"/>
              <a:ext cx="85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5" name="Text Box 36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855" y="1502"/>
              <a:ext cx="170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36195" tIns="0" rIns="36195" bIns="0" anchor="ctr" anchorCtr="0">
              <a:noAutofit/>
            </a:bodyPr>
            <a:p>
              <a:pPr>
                <a:lnSpc>
                  <a:spcPct val="90000"/>
                </a:lnSpc>
              </a:pPr>
              <a:r>
                <a:rPr lang="zh-CN" altLang="en-US" sz="1400" b="1" u="none" dirty="0" smtClean="0">
                  <a:latin typeface="宋体" panose="02010600030101010101" pitchFamily="2" charset="-122"/>
                </a:rPr>
                <a:t>页号</a:t>
              </a:r>
              <a:r>
                <a:rPr lang="en-US" altLang="zh-CN" sz="1400" b="1" u="none" baseline="-25000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400" b="1" u="none" dirty="0" smtClean="0">
                  <a:latin typeface="宋体" panose="02010600030101010101" pitchFamily="2" charset="-122"/>
                </a:rPr>
                <a:t>页框号</a:t>
              </a:r>
              <a:endParaRPr lang="zh-CN" altLang="en-US" sz="1400" b="1" u="none" dirty="0" smtClean="0">
                <a:latin typeface="宋体" panose="02010600030101010101" pitchFamily="2" charset="-122"/>
              </a:endParaRPr>
            </a:p>
          </p:txBody>
        </p:sp>
      </p:grpSp>
      <p:sp>
        <p:nvSpPr>
          <p:cNvPr id="16" name="AutoShape 57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bldLvl="0" animBg="1"/>
      <p:bldP spid="63" grpId="0" bldLvl="0" animBg="1"/>
      <p:bldP spid="65" grpId="0" bldLvl="0" animBg="1"/>
      <p:bldP spid="66" grpId="0" bldLvl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/>
          </a:p>
        </p:txBody>
      </p:sp>
      <p:sp>
        <p:nvSpPr>
          <p:cNvPr id="9" name="AutoShape 24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7944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Text Box 12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5041900" cy="62591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(2)</a:t>
            </a:r>
            <a:r>
              <a:rPr lang="zh-CN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主存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空间的扩充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主存分配的优化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覆盖技术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适于分区分配方式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u="none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u="none" spc="-50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spc="-50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u="none" spc="-50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endParaRPr lang="zh-CN" altLang="en-US" sz="18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特点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交换技术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适于分区分配方式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特点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spc="-50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spc="-50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虚拟存储技术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覆盖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交换技术的发展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u="none" spc="-50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u="none" spc="-50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spc="-5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spc="-5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特点</a:t>
            </a: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spc="-50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8" name="Text Box 10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43940" y="1188085"/>
            <a:ext cx="7936230" cy="54127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程序划分</a:t>
            </a:r>
            <a:r>
              <a:rPr lang="zh-CN" altLang="en-US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x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个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不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可覆盖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程序段＋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y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个</a:t>
            </a:r>
            <a:r>
              <a:rPr lang="zh-CN" altLang="en-US" sz="2200" b="1" dirty="0">
                <a:latin typeface="宋体" panose="02010600030101010101" pitchFamily="2" charset="-122"/>
              </a:rPr>
              <a:t>可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覆盖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程序段</a:t>
            </a:r>
            <a:endParaRPr lang="en-US" altLang="zh-CN" sz="2200" b="1" i="1" u="none" dirty="0" smtClean="0"/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分配空间</a:t>
            </a:r>
            <a:r>
              <a:rPr lang="zh-CN" altLang="en-US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∑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S</a:t>
            </a:r>
            <a:r>
              <a:rPr lang="zh-CN" altLang="en-US" sz="2200" b="1" u="none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不可覆盖</a:t>
            </a:r>
            <a:r>
              <a:rPr lang="zh-CN" altLang="en-US" sz="2200" b="1" u="none" baseline="-25000" dirty="0" smtClean="0">
                <a:latin typeface="宋体" panose="02010600030101010101" pitchFamily="2" charset="-122"/>
              </a:rPr>
              <a:t>程序段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＋</a:t>
            </a: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max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(S</a:t>
            </a:r>
            <a:r>
              <a:rPr lang="zh-CN" altLang="en-US" sz="2200" b="1" u="none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可覆盖</a:t>
            </a:r>
            <a:r>
              <a:rPr lang="zh-CN" altLang="en-US" sz="2200" b="1" u="none" baseline="-25000" dirty="0" smtClean="0">
                <a:latin typeface="宋体" panose="02010600030101010101" pitchFamily="2" charset="-122"/>
              </a:rPr>
              <a:t>程序段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)      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←不可覆盖常驻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空间扩充</a:t>
            </a:r>
            <a:r>
              <a:rPr lang="zh-CN" altLang="en-US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sz="2200" b="1" spc="-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应用程序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先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将可覆盖程序段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调入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主存，再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执行</a:t>
            </a: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               </a:t>
            </a:r>
            <a:r>
              <a:rPr lang="en-US" altLang="zh-CN" sz="18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本来应该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OS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负责的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       </a:t>
            </a:r>
            <a:r>
              <a:rPr lang="en-US" altLang="zh-CN" sz="18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覆盖旧的程序段</a:t>
            </a:r>
            <a:endParaRPr lang="zh-CN" altLang="en-US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需应用程序员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协助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划分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程序段、计算程序段大小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←如程序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≤64KB</a:t>
            </a:r>
            <a:endParaRPr lang="en-US" altLang="zh-CN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进程状态</a:t>
            </a:r>
            <a:r>
              <a:rPr lang="zh-CN" altLang="en-US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x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个执行态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就绪态、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y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个等待态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通常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时间较长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2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空间扩充</a:t>
            </a:r>
            <a:r>
              <a:rPr lang="zh-CN" altLang="en-US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等待态可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换出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主存、就绪态可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调入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主存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←部分进程即可</a:t>
            </a:r>
            <a:endParaRPr lang="zh-CN" altLang="en-US" sz="22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对应用程序员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透明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操作系统负责换入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换出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u="none" dirty="0" smtClean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 smtClean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分配空间</a:t>
            </a:r>
            <a:r>
              <a:rPr lang="zh-CN" altLang="en-US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当前活跃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的程序段，其余放在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辅存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←基于局部性</a:t>
            </a:r>
            <a:endParaRPr lang="en-US" altLang="zh-CN" sz="2200" b="1" i="1" u="none" dirty="0" smtClean="0"/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空间扩充</a:t>
            </a:r>
            <a:r>
              <a:rPr lang="zh-CN" altLang="en-US" sz="2200" b="1" u="none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＝访问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缺失时，主存与辅存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自动交换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信息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←层次结构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对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应用程序员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透明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4FB7-CB1E-4F0D-A2FA-D910542F6C99}" type="slidenum">
              <a:rPr lang="en-US" altLang="zh-CN"/>
            </a:fld>
            <a:endParaRPr lang="en-US" altLang="zh-CN" dirty="0"/>
          </a:p>
        </p:txBody>
      </p:sp>
      <p:sp>
        <p:nvSpPr>
          <p:cNvPr id="38" name="Text Box 47"/>
          <p:cNvSpPr txBox="1">
            <a:spLocks noChangeArrowheads="1"/>
          </p:cNvSpPr>
          <p:nvPr/>
        </p:nvSpPr>
        <p:spPr bwMode="auto">
          <a:xfrm>
            <a:off x="179388" y="360000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defRPr b="1" u="none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二、虚拟存储器的基本原理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Text Box 14"/>
          <p:cNvSpPr txBox="1">
            <a:spLocks noChangeArrowheads="1"/>
          </p:cNvSpPr>
          <p:nvPr/>
        </p:nvSpPr>
        <p:spPr bwMode="auto">
          <a:xfrm>
            <a:off x="179512" y="792000"/>
            <a:ext cx="8784976" cy="1568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虚拟存储器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800" u="none" dirty="0">
                <a:solidFill>
                  <a:schemeClr val="tx1"/>
                </a:solidFill>
              </a:rPr>
              <a:t>Virtual Memory</a:t>
            </a:r>
            <a:r>
              <a:rPr lang="en-US" altLang="zh-CN" sz="18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,VM)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： 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—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又称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虚拟主存</a:t>
            </a:r>
            <a:endParaRPr lang="en-US" altLang="zh-CN" sz="22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    指</a:t>
            </a:r>
            <a:r>
              <a:rPr lang="zh-CN" altLang="en-US" sz="2200" b="1" u="none" spc="-100" dirty="0" smtClean="0">
                <a:latin typeface="宋体" panose="02010600030101010101" pitchFamily="2" charset="-122"/>
              </a:rPr>
              <a:t>以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透明</a:t>
            </a:r>
            <a:r>
              <a:rPr lang="zh-CN" altLang="en-US" sz="2200" b="1" u="none" spc="-100" dirty="0" smtClean="0">
                <a:latin typeface="宋体" panose="02010600030101010101" pitchFamily="2" charset="-122"/>
              </a:rPr>
              <a:t>方式</a:t>
            </a:r>
            <a:r>
              <a:rPr lang="zh-CN" altLang="en-US" sz="2200" b="1" u="none" spc="-100" dirty="0" smtClean="0">
                <a:latin typeface="+mn-lt"/>
              </a:rPr>
              <a:t> </a:t>
            </a:r>
            <a:r>
              <a:rPr lang="zh-CN" altLang="en-US" sz="2200" b="1" u="none" spc="-100" dirty="0">
                <a:latin typeface="+mn-lt"/>
              </a:rPr>
              <a:t>、</a:t>
            </a:r>
            <a:r>
              <a:rPr lang="zh-CN" altLang="en-US" sz="2200" b="1" u="none" spc="-100" dirty="0" smtClean="0">
                <a:latin typeface="宋体" panose="02010600030101010101" pitchFamily="2" charset="-122"/>
              </a:rPr>
              <a:t>为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程序</a:t>
            </a:r>
            <a:r>
              <a:rPr lang="zh-CN" altLang="en-US" sz="2200" b="1" u="none" spc="-100" dirty="0" smtClean="0">
                <a:latin typeface="宋体" panose="02010600030101010101" pitchFamily="2" charset="-122"/>
              </a:rPr>
              <a:t>提供的、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远大于主存</a:t>
            </a:r>
            <a:r>
              <a:rPr lang="zh-CN" altLang="en-US" sz="2200" b="1" u="none" spc="-100" dirty="0" smtClean="0">
                <a:latin typeface="宋体" panose="02010600030101010101" pitchFamily="2" charset="-122"/>
              </a:rPr>
              <a:t>空间的存储空间</a:t>
            </a:r>
            <a:endParaRPr lang="zh-CN" altLang="en-US" sz="2200" b="1" u="none" spc="-100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600" b="1" u="none" dirty="0" smtClean="0">
                <a:latin typeface="宋体" panose="02010600030101010101" pitchFamily="2" charset="-122"/>
              </a:rPr>
              <a:t>       (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程序员</a:t>
            </a:r>
            <a:r>
              <a:rPr lang="zh-CN" altLang="en-US" sz="16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不管实现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  (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按</a:t>
            </a:r>
            <a:r>
              <a:rPr lang="zh-CN" altLang="en-US" sz="16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程序地址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访问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  (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满足</a:t>
            </a:r>
            <a:r>
              <a:rPr lang="zh-CN" altLang="en-US" sz="16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所有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应用需求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   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速度</a:t>
            </a:r>
            <a:r>
              <a:rPr lang="en-US" altLang="zh-CN" sz="16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≈</a:t>
            </a:r>
            <a:r>
              <a:rPr lang="zh-CN" altLang="en-US" sz="16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主存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术语</a:t>
            </a:r>
            <a:r>
              <a:rPr lang="en-US" altLang="zh-CN" sz="20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000" b="1" u="none" dirty="0">
                <a:latin typeface="宋体" panose="02010600030101010101" pitchFamily="2" charset="-122"/>
              </a:rPr>
              <a:t>虚拟地址</a:t>
            </a:r>
            <a:r>
              <a:rPr lang="en-US" altLang="zh-CN" sz="2000" b="1" u="none" dirty="0">
                <a:latin typeface="宋体" panose="02010600030101010101" pitchFamily="2" charset="-122"/>
              </a:rPr>
              <a:t>(</a:t>
            </a:r>
            <a:r>
              <a:rPr lang="zh-CN" altLang="en-US" sz="2000" b="1" u="none" dirty="0">
                <a:latin typeface="宋体" panose="02010600030101010101" pitchFamily="2" charset="-122"/>
              </a:rPr>
              <a:t>逻辑地址</a:t>
            </a:r>
            <a:r>
              <a:rPr lang="en-US" altLang="zh-CN" sz="2000" b="1" u="none" dirty="0">
                <a:latin typeface="宋体" panose="02010600030101010101" pitchFamily="2" charset="-122"/>
              </a:rPr>
              <a:t>)</a:t>
            </a:r>
            <a:r>
              <a:rPr lang="zh-CN" altLang="en-US" sz="2000" b="1" u="none" dirty="0">
                <a:latin typeface="宋体" panose="02010600030101010101" pitchFamily="2" charset="-122"/>
              </a:rPr>
              <a:t>、物理地址，虚拟地址空间</a:t>
            </a:r>
            <a:endParaRPr lang="zh-CN" altLang="en-US" sz="2000" u="none" dirty="0">
              <a:latin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696000" y="1944000"/>
            <a:ext cx="2052290" cy="1476535"/>
            <a:chOff x="10545" y="3118"/>
            <a:chExt cx="3232" cy="2325"/>
          </a:xfrm>
        </p:grpSpPr>
        <p:sp>
          <p:nvSpPr>
            <p:cNvPr id="2" name="Text Box 33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0602" y="3969"/>
              <a:ext cx="141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115000"/>
                </a:lnSpc>
              </a:pPr>
              <a:r>
                <a:rPr lang="zh-CN" altLang="en-US" sz="1600" b="1" u="none" dirty="0">
                  <a:solidFill>
                    <a:srgbClr val="C00000"/>
                  </a:solidFill>
                </a:rPr>
                <a:t>程序</a:t>
              </a:r>
              <a:r>
                <a:rPr lang="zh-CN" altLang="en-US" sz="1600" b="1" u="none" dirty="0" smtClean="0">
                  <a:solidFill>
                    <a:srgbClr val="C00000"/>
                  </a:solidFill>
                </a:rPr>
                <a:t>地址</a:t>
              </a:r>
              <a:endParaRPr lang="zh-CN" altLang="en-US" sz="1600" b="1" u="none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" name="直接箭头连接符 5"/>
            <p:cNvCxnSpPr/>
            <p:nvPr>
              <p:custDataLst>
                <p:tags r:id="rId2"/>
              </p:custDataLst>
            </p:nvPr>
          </p:nvCxnSpPr>
          <p:spPr bwMode="auto">
            <a:xfrm>
              <a:off x="10545" y="4365"/>
              <a:ext cx="1531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" name="Text Box 25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2076" y="3459"/>
              <a:ext cx="1134" cy="1984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spcBef>
                  <a:spcPts val="0"/>
                </a:spcBef>
              </a:pP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硬件</a:t>
              </a:r>
              <a:endParaRPr lang="en-US" altLang="zh-CN" sz="16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spcBef>
                  <a:spcPts val="0"/>
                </a:spcBef>
              </a:pPr>
              <a:r>
                <a:rPr lang="en-US" altLang="zh-CN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&amp;</a:t>
              </a: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软件</a:t>
              </a:r>
              <a:endParaRPr lang="en-US" altLang="zh-CN" sz="16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spcBef>
                  <a:spcPts val="0"/>
                </a:spcBef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实现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4"/>
              </p:custDataLst>
            </p:nvPr>
          </p:nvCxnSpPr>
          <p:spPr bwMode="auto">
            <a:xfrm>
              <a:off x="12076" y="3742"/>
              <a:ext cx="113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接连接符 10"/>
            <p:cNvCxnSpPr/>
            <p:nvPr>
              <p:custDataLst>
                <p:tags r:id="rId5"/>
              </p:custDataLst>
            </p:nvPr>
          </p:nvCxnSpPr>
          <p:spPr bwMode="auto">
            <a:xfrm>
              <a:off x="12076" y="5159"/>
              <a:ext cx="113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Text Box 12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2189" y="3118"/>
              <a:ext cx="90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spc="-1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VM</a:t>
              </a:r>
              <a:endParaRPr lang="zh-CN" altLang="en-US" sz="1600" b="1" u="none" spc="-100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" name="右大括号 12"/>
            <p:cNvSpPr/>
            <p:nvPr>
              <p:custDataLst>
                <p:tags r:id="rId7"/>
              </p:custDataLst>
            </p:nvPr>
          </p:nvSpPr>
          <p:spPr bwMode="auto">
            <a:xfrm>
              <a:off x="13266" y="3457"/>
              <a:ext cx="113" cy="1984"/>
            </a:xfrm>
            <a:prstGeom prst="rightBrace">
              <a:avLst>
                <a:gd name="adj1" fmla="val 42406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Text Box 33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3323" y="3458"/>
              <a:ext cx="454" cy="198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 anchorCtr="0"/>
            <a:p>
              <a:pPr algn="ctr">
                <a:lnSpc>
                  <a:spcPct val="115000"/>
                </a:lnSpc>
              </a:pPr>
              <a:r>
                <a:rPr lang="zh-CN" altLang="en-US" sz="1600" b="1" u="none" dirty="0"/>
                <a:t>程序</a:t>
              </a:r>
              <a:r>
                <a:rPr lang="zh-CN" altLang="en-US" sz="1600" b="1" u="none" dirty="0" smtClean="0"/>
                <a:t>地址空间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</p:grpSp>
      <p:sp>
        <p:nvSpPr>
          <p:cNvPr id="69" name="Text Box 128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79705" y="2268000"/>
            <a:ext cx="2964180" cy="36588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虚拟存储器的组成</a:t>
            </a:r>
            <a:endParaRPr lang="en-US" altLang="zh-CN" sz="2200" b="1" u="none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*基本思想：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8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*基本组成：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endParaRPr lang="en-US" altLang="zh-CN" sz="22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*实质：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u="none" spc="-5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       </a:t>
            </a:r>
            <a:r>
              <a:rPr lang="en-US" altLang="zh-CN" sz="1800" u="none" dirty="0" smtClean="0">
                <a:latin typeface="宋体" panose="02010600030101010101" pitchFamily="2" charset="-122"/>
                <a:sym typeface="+mn-ea"/>
              </a:rPr>
              <a:t>│</a:t>
            </a:r>
            <a:endParaRPr lang="zh-CN" altLang="en-US" sz="1800" b="1" u="none" spc="-50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u="none" spc="-5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       </a:t>
            </a:r>
            <a:r>
              <a:rPr lang="en-US" altLang="zh-CN" sz="1800" u="none" dirty="0" smtClean="0">
                <a:latin typeface="宋体" panose="02010600030101010101" pitchFamily="2" charset="-122"/>
                <a:sym typeface="+mn-ea"/>
              </a:rPr>
              <a:t>│</a:t>
            </a:r>
            <a:endParaRPr lang="en-US" altLang="zh-CN" sz="1800" b="1" u="none" spc="-50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5" name="Text Box 23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297940" y="2700000"/>
            <a:ext cx="7638415" cy="35534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借助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辅存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扩充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主存</a:t>
            </a:r>
            <a:r>
              <a:rPr lang="zh-CN" altLang="en-US" sz="2200" b="1" u="none" dirty="0">
                <a:latin typeface="宋体" panose="02010600030101010101" pitchFamily="2" charset="-122"/>
              </a:rPr>
              <a:t>的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存储空间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 u="none" dirty="0" smtClean="0">
                <a:latin typeface="宋体" panose="02010600030101010101" pitchFamily="2" charset="-122"/>
              </a:rPr>
              <a:t>  </a:t>
            </a:r>
            <a:r>
              <a:rPr lang="en-US" altLang="zh-CN" sz="1800" u="none" dirty="0" smtClean="0">
                <a:latin typeface="宋体" panose="02010600030101010101" pitchFamily="2" charset="-122"/>
              </a:rPr>
              <a:t>     </a:t>
            </a:r>
            <a:r>
              <a:rPr lang="zh-CN" altLang="en-US" sz="1800" u="none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←划出部分空间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交换区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，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暂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存主存</a:t>
            </a:r>
            <a:r>
              <a:rPr lang="zh-CN" altLang="en-US" sz="1800" b="1" u="none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替换出的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信息</a:t>
            </a:r>
            <a:endParaRPr lang="en-US" altLang="zh-CN" sz="18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</a:rPr>
              <a:t>主存＋辅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存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构成层次结构，按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虚拟地址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访问</a:t>
            </a: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是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面向软件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存储器模型</a:t>
            </a: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u="none" dirty="0" smtClean="0">
                <a:latin typeface="宋体" panose="02010600030101010101" pitchFamily="2" charset="-122"/>
              </a:rPr>
              <a:t>      </a:t>
            </a:r>
            <a:r>
              <a:rPr lang="en-US" altLang="zh-CN" sz="1800" u="none" dirty="0" smtClean="0">
                <a:latin typeface="宋体" panose="02010600030101010101" pitchFamily="2" charset="-122"/>
              </a:rPr>
              <a:t>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          </a:t>
            </a:r>
            <a:r>
              <a:rPr lang="en-US" altLang="zh-CN" sz="1800" u="none" dirty="0" smtClean="0">
                <a:latin typeface="宋体" panose="02010600030101010101" pitchFamily="2" charset="-122"/>
              </a:rPr>
              <a:t>├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程序装入时，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活跃部分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调入主存、其余放在辅存</a:t>
            </a:r>
            <a:endParaRPr lang="zh-CN" altLang="en-US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en-US" altLang="zh-CN" sz="1800" u="none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18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←程序执行时，先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地址变换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18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失败时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主存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辅存交换</a:t>
            </a:r>
            <a:endParaRPr lang="zh-CN" altLang="en-US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400" b="1" u="none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8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←软件编程时，按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程序空间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进行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不考虑硬件实现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u="none" dirty="0" smtClean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296000" y="3923510"/>
            <a:ext cx="4140200" cy="864235"/>
            <a:chOff x="3628" y="6633"/>
            <a:chExt cx="6520" cy="1361"/>
          </a:xfrm>
        </p:grpSpPr>
        <p:sp>
          <p:nvSpPr>
            <p:cNvPr id="17" name="Text Box 32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628" y="7427"/>
              <a:ext cx="1474" cy="45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CPU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内核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" name="Text Box 33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216" y="7257"/>
              <a:ext cx="141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solidFill>
                    <a:srgbClr val="CC3300"/>
                  </a:solidFill>
                </a:rPr>
                <a:t>虚拟地址</a:t>
              </a:r>
              <a:endParaRPr lang="zh-CN" altLang="en-US" sz="1600" b="1" u="none" dirty="0" smtClean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" name="Rectangle 34" descr="宽上对角线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746" y="6633"/>
              <a:ext cx="3402" cy="1361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tIns="107950" bIns="0" anchor="ctr"/>
            <a:p>
              <a:pPr algn="r"/>
              <a:r>
                <a:rPr lang="en-US" altLang="zh-CN" sz="1800" b="1" u="none" dirty="0" smtClean="0">
                  <a:latin typeface="宋体" panose="02010600030101010101" pitchFamily="2" charset="-122"/>
                </a:rPr>
                <a:t>VM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endParaRPr lang="en-US" altLang="zh-CN" sz="1800" u="none" dirty="0"/>
            </a:p>
            <a:p>
              <a:endParaRPr lang="zh-CN" altLang="en-US" sz="2000" u="none" dirty="0"/>
            </a:p>
          </p:txBody>
        </p:sp>
        <p:sp>
          <p:nvSpPr>
            <p:cNvPr id="20" name="Text Box 37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8787" y="7427"/>
              <a:ext cx="1247" cy="454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辅存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1" name="Text Box 38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6860" y="7427"/>
              <a:ext cx="1134" cy="454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" name="Text Box 39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597" y="6746"/>
              <a:ext cx="181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辅助</a:t>
              </a: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软硬件</a:t>
              </a:r>
              <a:endParaRPr lang="zh-CN" altLang="en-US" sz="16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3" name="直接箭头连接符 22"/>
            <p:cNvCxnSpPr/>
            <p:nvPr>
              <p:custDataLst>
                <p:tags r:id="rId17"/>
              </p:custDataLst>
            </p:nvPr>
          </p:nvCxnSpPr>
          <p:spPr bwMode="auto">
            <a:xfrm flipH="1">
              <a:off x="7427" y="7087"/>
              <a:ext cx="624" cy="33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" name="直接箭头连接符 23"/>
            <p:cNvCxnSpPr/>
            <p:nvPr>
              <p:custDataLst>
                <p:tags r:id="rId18"/>
              </p:custDataLst>
            </p:nvPr>
          </p:nvCxnSpPr>
          <p:spPr bwMode="auto">
            <a:xfrm>
              <a:off x="8901" y="7087"/>
              <a:ext cx="624" cy="33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" name="直接箭头连接符 24"/>
            <p:cNvCxnSpPr/>
            <p:nvPr>
              <p:custDataLst>
                <p:tags r:id="rId19"/>
              </p:custDataLst>
            </p:nvPr>
          </p:nvCxnSpPr>
          <p:spPr bwMode="auto">
            <a:xfrm>
              <a:off x="5102" y="7654"/>
              <a:ext cx="1644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26" name="直接箭头连接符 25"/>
            <p:cNvCxnSpPr/>
            <p:nvPr>
              <p:custDataLst>
                <p:tags r:id="rId20"/>
              </p:custDataLst>
            </p:nvPr>
          </p:nvCxnSpPr>
          <p:spPr bwMode="auto">
            <a:xfrm>
              <a:off x="7993" y="7653"/>
              <a:ext cx="79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</p:grpSp>
      <p:grpSp>
        <p:nvGrpSpPr>
          <p:cNvPr id="27" name="组合 26"/>
          <p:cNvGrpSpPr/>
          <p:nvPr/>
        </p:nvGrpSpPr>
        <p:grpSpPr>
          <a:xfrm>
            <a:off x="7560000" y="3562775"/>
            <a:ext cx="864008" cy="1548192"/>
            <a:chOff x="7740352" y="4077072"/>
            <a:chExt cx="864008" cy="1548192"/>
          </a:xfrm>
        </p:grpSpPr>
        <p:sp>
          <p:nvSpPr>
            <p:cNvPr id="29" name="Text Box 25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7812360" y="4365264"/>
              <a:ext cx="792000" cy="126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44145" rIns="18000" bIns="10800" anchor="t" anchorCtr="0"/>
            <a:p>
              <a:pPr algn="ctr">
                <a:spcBef>
                  <a:spcPts val="0"/>
                </a:spcBef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文件区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 algn="ctr">
                <a:spcBef>
                  <a:spcPts val="0"/>
                </a:spcBef>
              </a:pP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>
                <a:spcBef>
                  <a:spcPts val="0"/>
                </a:spcBef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 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 algn="ctr">
                <a:spcBef>
                  <a:spcPts val="600"/>
                </a:spcBef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其他区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0" name="Text Box 127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740352" y="4077072"/>
              <a:ext cx="864000" cy="28733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spc="-1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辅存空间</a:t>
              </a:r>
              <a:endParaRPr lang="zh-CN" altLang="en-US" sz="1600" b="1" u="none" spc="-100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5" name="Text Box 38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812360" y="4905072"/>
              <a:ext cx="792000" cy="360363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交换区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/>
          <p:cNvGrpSpPr/>
          <p:nvPr/>
        </p:nvGrpSpPr>
        <p:grpSpPr>
          <a:xfrm>
            <a:off x="2266950" y="1619885"/>
            <a:ext cx="1333500" cy="972185"/>
            <a:chOff x="3570" y="2551"/>
            <a:chExt cx="2100" cy="1531"/>
          </a:xfrm>
        </p:grpSpPr>
        <p:cxnSp>
          <p:nvCxnSpPr>
            <p:cNvPr id="48" name="直接箭头连接符 55"/>
            <p:cNvCxnSpPr/>
            <p:nvPr>
              <p:custDataLst>
                <p:tags r:id="rId1"/>
              </p:custDataLst>
            </p:nvPr>
          </p:nvCxnSpPr>
          <p:spPr bwMode="auto">
            <a:xfrm>
              <a:off x="3572" y="4082"/>
              <a:ext cx="147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dashDot"/>
              <a:round/>
              <a:headEnd type="none" w="med" len="sm"/>
              <a:tailEnd type="triangle" w="med" len="med"/>
            </a:ln>
            <a:effectLst/>
          </p:spPr>
        </p:cxnSp>
        <p:cxnSp>
          <p:nvCxnSpPr>
            <p:cNvPr id="49" name="直接箭头连接符 55"/>
            <p:cNvCxnSpPr/>
            <p:nvPr>
              <p:custDataLst>
                <p:tags r:id="rId2"/>
              </p:custDataLst>
            </p:nvPr>
          </p:nvCxnSpPr>
          <p:spPr bwMode="auto">
            <a:xfrm flipV="1">
              <a:off x="5669" y="2551"/>
              <a:ext cx="1" cy="90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arrow" w="sm" len="sm"/>
            </a:ln>
            <a:effectLst/>
          </p:spPr>
        </p:cxnSp>
        <p:cxnSp>
          <p:nvCxnSpPr>
            <p:cNvPr id="52" name="直接箭头连接符 55"/>
            <p:cNvCxnSpPr/>
            <p:nvPr>
              <p:custDataLst>
                <p:tags r:id="rId3"/>
              </p:custDataLst>
            </p:nvPr>
          </p:nvCxnSpPr>
          <p:spPr bwMode="auto">
            <a:xfrm>
              <a:off x="3570" y="3118"/>
              <a:ext cx="0" cy="96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dashDot"/>
              <a:round/>
              <a:headEnd type="none" w="med" len="sm"/>
              <a:tailEnd type="none" w="med" len="med"/>
            </a:ln>
            <a:effectLst/>
          </p:spPr>
        </p:cxnSp>
        <p:sp>
          <p:nvSpPr>
            <p:cNvPr id="53" name="Text Box 322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046" y="3571"/>
              <a:ext cx="624" cy="283"/>
            </a:xfrm>
            <a:prstGeom prst="rect">
              <a:avLst/>
            </a:prstGeom>
            <a:solidFill>
              <a:srgbClr val="FFCC99"/>
            </a:solidFill>
            <a:ln w="15875" cmpd="sng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sz="1400" b="1" u="none" dirty="0" smtClean="0">
                  <a:latin typeface="宋体" panose="02010600030101010101" pitchFamily="2" charset="-122"/>
                </a:rPr>
                <a:t>替换</a:t>
              </a:r>
              <a:endParaRPr lang="zh-CN" sz="14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54" name="直接箭头连接符 55"/>
            <p:cNvCxnSpPr/>
            <p:nvPr>
              <p:custDataLst>
                <p:tags r:id="rId5"/>
              </p:custDataLst>
            </p:nvPr>
          </p:nvCxnSpPr>
          <p:spPr bwMode="auto">
            <a:xfrm>
              <a:off x="4706" y="3741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dashDot"/>
              <a:round/>
              <a:headEnd type="none" w="med" len="sm"/>
              <a:tailEnd type="triangle" w="med" len="med"/>
            </a:ln>
            <a:effectLst/>
          </p:spPr>
        </p:cxnSp>
        <p:cxnSp>
          <p:nvCxnSpPr>
            <p:cNvPr id="56" name="直接箭头连接符 55"/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4706" y="3741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dashDot"/>
              <a:round/>
              <a:headEnd type="none" w="med" len="sm"/>
              <a:tailEnd type="none" w="med" len="sm"/>
            </a:ln>
            <a:effectLst/>
          </p:spPr>
        </p:cxnSp>
      </p:grpSp>
      <p:sp>
        <p:nvSpPr>
          <p:cNvPr id="5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9F223-DF1A-45BC-8FDC-2A5D53E0C282}" type="slidenum">
              <a:rPr lang="en-US" altLang="zh-CN"/>
            </a:fld>
            <a:endParaRPr lang="en-US" altLang="zh-CN" dirty="0"/>
          </a:p>
        </p:txBody>
      </p:sp>
      <p:sp>
        <p:nvSpPr>
          <p:cNvPr id="61" name="AutoShape 57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1261745" y="3278505"/>
            <a:ext cx="4678680" cy="1728470"/>
            <a:chOff x="2665" y="6406"/>
            <a:chExt cx="7368" cy="2722"/>
          </a:xfrm>
        </p:grpSpPr>
        <p:sp>
          <p:nvSpPr>
            <p:cNvPr id="41" name="Text Box 24" descr="宽上对角线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195" y="6406"/>
              <a:ext cx="5839" cy="2721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44000" rIns="18000" bIns="10800" anchor="t" anchorCtr="0"/>
            <a:p>
              <a:r>
                <a:rPr lang="en-US" altLang="zh-CN" sz="1800" b="1" u="none" dirty="0" smtClean="0">
                  <a:latin typeface="+mn-ea"/>
                  <a:ea typeface="+mn-ea"/>
                </a:rPr>
                <a:t>                             VM</a:t>
              </a:r>
              <a:endParaRPr lang="en-US" altLang="zh-CN" sz="1800" b="1" u="none" dirty="0" smtClean="0">
                <a:latin typeface="+mn-ea"/>
                <a:ea typeface="+mn-ea"/>
              </a:endParaRPr>
            </a:p>
          </p:txBody>
        </p:sp>
        <p:sp>
          <p:nvSpPr>
            <p:cNvPr id="42" name="Text Box 118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726" y="8464"/>
              <a:ext cx="1134" cy="56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3" name="Text Box 119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8787" y="8464"/>
              <a:ext cx="1134" cy="567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辅存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44" name="Rectangle 121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422" y="6520"/>
              <a:ext cx="4932" cy="187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Dot"/>
              <a:miter lim="800000"/>
              <a:tailEnd type="none" w="sm" len="med"/>
            </a:ln>
            <a:effectLst/>
          </p:spPr>
          <p:txBody>
            <a:bodyPr wrap="none" anchor="t" anchorCtr="0"/>
            <a:p>
              <a:endParaRPr lang="en-US" altLang="zh-CN" sz="2000" b="1" u="none" dirty="0"/>
            </a:p>
            <a:p>
              <a:endParaRPr lang="en-US" altLang="zh-CN" sz="2000" b="1" u="none" dirty="0" smtClean="0"/>
            </a:p>
            <a:p>
              <a:endParaRPr lang="zh-CN" altLang="en-US" sz="2000" b="1" u="none" dirty="0"/>
            </a:p>
          </p:txBody>
        </p:sp>
        <p:sp>
          <p:nvSpPr>
            <p:cNvPr id="45" name="Text Box 176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665" y="6803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虚拟地址</a:t>
              </a:r>
              <a:endPara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" name="Text Box 177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231" y="8504"/>
              <a:ext cx="794" cy="6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0" anchor="t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命令</a:t>
              </a:r>
              <a:endPara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数据</a:t>
              </a:r>
              <a:endPara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7" name="直接箭头连接符 46"/>
            <p:cNvCxnSpPr/>
            <p:nvPr>
              <p:custDataLst>
                <p:tags r:id="rId14"/>
              </p:custDataLst>
            </p:nvPr>
          </p:nvCxnSpPr>
          <p:spPr bwMode="auto">
            <a:xfrm>
              <a:off x="5159" y="8561"/>
              <a:ext cx="567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" name="直接箭头连接符 56"/>
            <p:cNvCxnSpPr/>
            <p:nvPr>
              <p:custDataLst>
                <p:tags r:id="rId15"/>
              </p:custDataLst>
            </p:nvPr>
          </p:nvCxnSpPr>
          <p:spPr bwMode="auto">
            <a:xfrm>
              <a:off x="4025" y="8731"/>
              <a:ext cx="1701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3" name="直接箭头连接符 55"/>
            <p:cNvCxnSpPr/>
            <p:nvPr>
              <p:custDataLst>
                <p:tags r:id="rId16"/>
              </p:custDataLst>
            </p:nvPr>
          </p:nvCxnSpPr>
          <p:spPr bwMode="auto">
            <a:xfrm>
              <a:off x="5159" y="8391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</p:cxnSp>
        <p:cxnSp>
          <p:nvCxnSpPr>
            <p:cNvPr id="66" name="直接箭头连接符 65"/>
            <p:cNvCxnSpPr/>
            <p:nvPr>
              <p:custDataLst>
                <p:tags r:id="rId17"/>
              </p:custDataLst>
            </p:nvPr>
          </p:nvCxnSpPr>
          <p:spPr bwMode="auto">
            <a:xfrm>
              <a:off x="4025" y="8957"/>
              <a:ext cx="1701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3" name="直接箭头连接符 2"/>
            <p:cNvCxnSpPr/>
            <p:nvPr>
              <p:custDataLst>
                <p:tags r:id="rId18"/>
              </p:custDataLst>
            </p:nvPr>
          </p:nvCxnSpPr>
          <p:spPr bwMode="auto">
            <a:xfrm>
              <a:off x="4025" y="6973"/>
              <a:ext cx="3798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4" name="Text Box 78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179388" y="360000"/>
            <a:ext cx="3829888" cy="2926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、虚拟存储器的工作过程</a:t>
            </a:r>
            <a:endParaRPr lang="en-US" altLang="zh-CN" sz="2200" b="1" u="none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VM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相关地址空间：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2200" b="1" u="none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VM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工作过程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1800" u="none" dirty="0" smtClean="0">
              <a:latin typeface="宋体" panose="02010600030101010101" pitchFamily="2" charset="-122"/>
            </a:endParaRPr>
          </a:p>
        </p:txBody>
      </p:sp>
      <p:sp>
        <p:nvSpPr>
          <p:cNvPr id="5" name="Text Box 204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736215" y="791845"/>
            <a:ext cx="622681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程序空间，主存空间、辅存空间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交换区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&amp;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文件区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6" name="Text Box 212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6804000" y="1367790"/>
            <a:ext cx="1944000" cy="122428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36000" tIns="28800" rIns="36000" bIns="10800" anchor="ctr"/>
          <a:p>
            <a:pPr marL="266700" indent="-266700">
              <a:lnSpc>
                <a:spcPct val="105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交换区：</a:t>
            </a:r>
            <a:r>
              <a:rPr lang="zh-CN" altLang="en-US" sz="1800" b="1" u="none" dirty="0">
                <a:latin typeface="宋体" panose="02010600030101010101" pitchFamily="2" charset="-122"/>
              </a:rPr>
              <a:t>暂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存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替换出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的程序信息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 marL="266700" indent="-266700">
              <a:lnSpc>
                <a:spcPct val="105000"/>
              </a:lnSpc>
            </a:pPr>
            <a:r>
              <a:rPr lang="zh-CN" altLang="en-US" sz="18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文件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区：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存放程序文件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与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VM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无关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7" name="Text Box 205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2160000" y="2772000"/>
            <a:ext cx="6624736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地址变换＋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[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层次管理＋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]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访问主存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  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[]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表示可缺省</a:t>
            </a:r>
            <a:endParaRPr lang="zh-CN" altLang="en-US" sz="1600" b="1" u="none" dirty="0" smtClean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2413420" y="3386695"/>
            <a:ext cx="1619885" cy="1151890"/>
            <a:chOff x="4308" y="4162"/>
            <a:chExt cx="2551" cy="1814"/>
          </a:xfrm>
        </p:grpSpPr>
        <p:sp>
          <p:nvSpPr>
            <p:cNvPr id="33" name="Text Box 21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308" y="4786"/>
              <a:ext cx="1587" cy="68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虚存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主存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地址变换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4" name="Text Box 212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046" y="5523"/>
              <a:ext cx="680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4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成功</a:t>
              </a:r>
              <a:endParaRPr lang="zh-CN" altLang="en-US" sz="1400" b="1" u="none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5" name="Text Box 22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5895" y="4842"/>
              <a:ext cx="680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4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失败</a:t>
              </a:r>
              <a:endParaRPr lang="zh-CN" altLang="en-US" sz="1400" b="1" u="none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6" name="Text Box 212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421" y="4162"/>
              <a:ext cx="147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辅助</a:t>
              </a: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硬件</a:t>
              </a:r>
              <a:endParaRPr lang="zh-CN" altLang="en-US" sz="16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7" name="直接箭头连接符 55"/>
            <p:cNvCxnSpPr/>
            <p:nvPr>
              <p:custDataLst>
                <p:tags r:id="rId27"/>
              </p:custDataLst>
            </p:nvPr>
          </p:nvCxnSpPr>
          <p:spPr bwMode="auto">
            <a:xfrm>
              <a:off x="4989" y="5466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</p:cxnSp>
        <p:cxnSp>
          <p:nvCxnSpPr>
            <p:cNvPr id="38" name="直接箭头连接符 55"/>
            <p:cNvCxnSpPr/>
            <p:nvPr>
              <p:custDataLst>
                <p:tags r:id="rId28"/>
              </p:custDataLst>
            </p:nvPr>
          </p:nvCxnSpPr>
          <p:spPr bwMode="auto">
            <a:xfrm>
              <a:off x="4989" y="455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39" name="直接箭头连接符 38"/>
            <p:cNvCxnSpPr/>
            <p:nvPr>
              <p:custDataLst>
                <p:tags r:id="rId29"/>
              </p:custDataLst>
            </p:nvPr>
          </p:nvCxnSpPr>
          <p:spPr bwMode="auto">
            <a:xfrm>
              <a:off x="5895" y="5126"/>
              <a:ext cx="964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8" name="组合 7"/>
          <p:cNvGrpSpPr/>
          <p:nvPr/>
        </p:nvGrpSpPr>
        <p:grpSpPr>
          <a:xfrm>
            <a:off x="3601085" y="3386455"/>
            <a:ext cx="2952115" cy="1512570"/>
            <a:chOff x="6349" y="6576"/>
            <a:chExt cx="4649" cy="2382"/>
          </a:xfrm>
        </p:grpSpPr>
        <p:sp>
          <p:nvSpPr>
            <p:cNvPr id="9" name="Text Box 220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7029" y="7200"/>
              <a:ext cx="1587" cy="68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虚存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-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辅存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地址变换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0" name="Text Box 230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6689" y="7994"/>
              <a:ext cx="1417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主存管理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04" name="Text Box 212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8334" y="7938"/>
              <a:ext cx="680" cy="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4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成功</a:t>
              </a:r>
              <a:endParaRPr lang="zh-CN" altLang="en-US" sz="1400" b="1" u="none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5" name="Text Box 216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10204" y="7227"/>
              <a:ext cx="794" cy="79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系统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异常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06" name="Text Box 212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7265" y="6576"/>
              <a:ext cx="147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辅助</a:t>
              </a:r>
              <a:r>
                <a:rPr lang="zh-CN" altLang="en-US" sz="16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软件</a:t>
              </a:r>
              <a:endParaRPr lang="zh-CN" altLang="en-US" sz="1600" b="1" u="none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07" name="直接箭头连接符 55"/>
            <p:cNvCxnSpPr/>
            <p:nvPr>
              <p:custDataLst>
                <p:tags r:id="rId35"/>
              </p:custDataLst>
            </p:nvPr>
          </p:nvCxnSpPr>
          <p:spPr bwMode="auto">
            <a:xfrm>
              <a:off x="7823" y="6973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108" name="直接箭头连接符 107"/>
            <p:cNvCxnSpPr/>
            <p:nvPr>
              <p:custDataLst>
                <p:tags r:id="rId36"/>
              </p:custDataLst>
            </p:nvPr>
          </p:nvCxnSpPr>
          <p:spPr bwMode="auto">
            <a:xfrm flipH="1">
              <a:off x="6860" y="8561"/>
              <a:ext cx="51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9" name="直接箭头连接符 55"/>
            <p:cNvCxnSpPr/>
            <p:nvPr>
              <p:custDataLst>
                <p:tags r:id="rId37"/>
              </p:custDataLst>
            </p:nvPr>
          </p:nvCxnSpPr>
          <p:spPr bwMode="auto">
            <a:xfrm>
              <a:off x="7370" y="8334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</p:cxnSp>
        <p:cxnSp>
          <p:nvCxnSpPr>
            <p:cNvPr id="110" name="直接箭头连接符 109"/>
            <p:cNvCxnSpPr/>
            <p:nvPr>
              <p:custDataLst>
                <p:tags r:id="rId38"/>
              </p:custDataLst>
            </p:nvPr>
          </p:nvCxnSpPr>
          <p:spPr bwMode="auto">
            <a:xfrm>
              <a:off x="6349" y="8164"/>
              <a:ext cx="340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1" name="直接箭头连接符 55"/>
            <p:cNvCxnSpPr/>
            <p:nvPr>
              <p:custDataLst>
                <p:tags r:id="rId39"/>
              </p:custDataLst>
            </p:nvPr>
          </p:nvCxnSpPr>
          <p:spPr bwMode="auto">
            <a:xfrm>
              <a:off x="6349" y="7540"/>
              <a:ext cx="0" cy="62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med" len="sm"/>
            </a:ln>
            <a:effectLst/>
          </p:spPr>
        </p:cxnSp>
        <p:sp>
          <p:nvSpPr>
            <p:cNvPr id="112" name="Text Box 221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8617" y="7313"/>
              <a:ext cx="680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4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失败</a:t>
              </a:r>
              <a:endParaRPr lang="zh-CN" altLang="en-US" sz="1400" b="1" u="none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13" name="直接箭头连接符 112"/>
            <p:cNvCxnSpPr/>
            <p:nvPr>
              <p:custDataLst>
                <p:tags r:id="rId41"/>
              </p:custDataLst>
            </p:nvPr>
          </p:nvCxnSpPr>
          <p:spPr bwMode="auto">
            <a:xfrm>
              <a:off x="8617" y="7598"/>
              <a:ext cx="1587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4" name="直接箭头连接符 55"/>
            <p:cNvCxnSpPr/>
            <p:nvPr>
              <p:custDataLst>
                <p:tags r:id="rId42"/>
              </p:custDataLst>
            </p:nvPr>
          </p:nvCxnSpPr>
          <p:spPr bwMode="auto">
            <a:xfrm>
              <a:off x="8334" y="7881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</p:cxnSp>
        <p:cxnSp>
          <p:nvCxnSpPr>
            <p:cNvPr id="115" name="直接箭头连接符 114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8334" y="8561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6" name="直接箭头连接符 115"/>
            <p:cNvCxnSpPr/>
            <p:nvPr>
              <p:custDataLst>
                <p:tags r:id="rId44"/>
              </p:custDataLst>
            </p:nvPr>
          </p:nvCxnSpPr>
          <p:spPr bwMode="auto">
            <a:xfrm>
              <a:off x="6860" y="8958"/>
              <a:ext cx="1928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</p:grpSp>
      <p:grpSp>
        <p:nvGrpSpPr>
          <p:cNvPr id="117" name="组合 116"/>
          <p:cNvGrpSpPr/>
          <p:nvPr/>
        </p:nvGrpSpPr>
        <p:grpSpPr>
          <a:xfrm>
            <a:off x="2087245" y="1404000"/>
            <a:ext cx="1655445" cy="576580"/>
            <a:chOff x="2948" y="6123"/>
            <a:chExt cx="2607" cy="908"/>
          </a:xfrm>
        </p:grpSpPr>
        <p:sp>
          <p:nvSpPr>
            <p:cNvPr id="11" name="Text Box 322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3061" y="6123"/>
              <a:ext cx="2494" cy="340"/>
            </a:xfrm>
            <a:prstGeom prst="rect">
              <a:avLst/>
            </a:prstGeom>
            <a:solidFill>
              <a:schemeClr val="bg1"/>
            </a:solidFill>
            <a:ln w="15875" cmpd="sng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程序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-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主存映射表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2" name="直接箭头连接符 55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4932" y="6463"/>
              <a:ext cx="1" cy="39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arrow" w="sm" len="sm"/>
            </a:ln>
            <a:effectLst/>
          </p:spPr>
        </p:cxnSp>
        <p:cxnSp>
          <p:nvCxnSpPr>
            <p:cNvPr id="13" name="直接箭头连接符 12"/>
            <p:cNvCxnSpPr/>
            <p:nvPr>
              <p:custDataLst>
                <p:tags r:id="rId47"/>
              </p:custDataLst>
            </p:nvPr>
          </p:nvCxnSpPr>
          <p:spPr bwMode="auto">
            <a:xfrm>
              <a:off x="3402" y="6463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</p:cxnSp>
        <p:cxnSp>
          <p:nvCxnSpPr>
            <p:cNvPr id="14" name="直接箭头连接符 55"/>
            <p:cNvCxnSpPr/>
            <p:nvPr>
              <p:custDataLst>
                <p:tags r:id="rId48"/>
              </p:custDataLst>
            </p:nvPr>
          </p:nvCxnSpPr>
          <p:spPr bwMode="auto">
            <a:xfrm>
              <a:off x="3402" y="7030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triangle" w="med" len="med"/>
            </a:ln>
            <a:effectLst/>
          </p:spPr>
        </p:cxnSp>
        <p:cxnSp>
          <p:nvCxnSpPr>
            <p:cNvPr id="130" name="直接箭头连接符 55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3231" y="6463"/>
              <a:ext cx="1" cy="56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sm"/>
              <a:tailEnd type="triangle" w="med" len="med"/>
            </a:ln>
            <a:effectLst/>
          </p:spPr>
        </p:cxnSp>
        <p:cxnSp>
          <p:nvCxnSpPr>
            <p:cNvPr id="15" name="直接箭头连接符 55"/>
            <p:cNvCxnSpPr/>
            <p:nvPr>
              <p:custDataLst>
                <p:tags r:id="rId50"/>
              </p:custDataLst>
            </p:nvPr>
          </p:nvCxnSpPr>
          <p:spPr bwMode="auto">
            <a:xfrm flipH="1">
              <a:off x="2948" y="7031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</p:cxnSp>
        <p:cxnSp>
          <p:nvCxnSpPr>
            <p:cNvPr id="22" name="直接箭头连接符 55"/>
            <p:cNvCxnSpPr/>
            <p:nvPr>
              <p:custDataLst>
                <p:tags r:id="rId51"/>
              </p:custDataLst>
            </p:nvPr>
          </p:nvCxnSpPr>
          <p:spPr bwMode="auto">
            <a:xfrm>
              <a:off x="3232" y="6633"/>
              <a:ext cx="62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sm"/>
              <a:tailEnd type="triangle" w="med" len="med"/>
            </a:ln>
            <a:effectLst/>
          </p:spPr>
        </p:cxnSp>
        <p:sp>
          <p:nvSpPr>
            <p:cNvPr id="139" name="Text Box 322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3856" y="6463"/>
              <a:ext cx="624" cy="283"/>
            </a:xfrm>
            <a:prstGeom prst="rect">
              <a:avLst/>
            </a:prstGeom>
            <a:solidFill>
              <a:srgbClr val="FFCC99"/>
            </a:solidFill>
            <a:ln w="15875" cmpd="sng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400" b="1" u="none" dirty="0" smtClean="0">
                  <a:latin typeface="宋体" panose="02010600030101010101" pitchFamily="2" charset="-122"/>
                </a:rPr>
                <a:t>分配</a:t>
              </a:r>
              <a:endParaRPr lang="zh-CN" altLang="en-US" sz="14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41" name="直接箭头连接符 55"/>
            <p:cNvCxnSpPr/>
            <p:nvPr>
              <p:custDataLst>
                <p:tags r:id="rId53"/>
              </p:custDataLst>
            </p:nvPr>
          </p:nvCxnSpPr>
          <p:spPr bwMode="auto">
            <a:xfrm>
              <a:off x="4480" y="6633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ysDash"/>
              <a:round/>
              <a:headEnd type="none" w="med" len="sm"/>
              <a:tailEnd type="triangle" w="med" len="med"/>
            </a:ln>
            <a:effectLst/>
          </p:spPr>
        </p:cxnSp>
      </p:grpSp>
      <p:grpSp>
        <p:nvGrpSpPr>
          <p:cNvPr id="144" name="组合 143"/>
          <p:cNvGrpSpPr/>
          <p:nvPr/>
        </p:nvGrpSpPr>
        <p:grpSpPr>
          <a:xfrm>
            <a:off x="862965" y="1332000"/>
            <a:ext cx="5688965" cy="1440180"/>
            <a:chOff x="1246" y="1984"/>
            <a:chExt cx="8959" cy="2268"/>
          </a:xfrm>
        </p:grpSpPr>
        <p:sp>
          <p:nvSpPr>
            <p:cNvPr id="145" name="Text Box 176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2324" y="2608"/>
              <a:ext cx="794" cy="79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8000" rIns="18000" bIns="10800" anchor="t" anchorCtr="0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虚拟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6" name="Rectangle 121"/>
            <p:cNvSpPr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3174" y="1984"/>
              <a:ext cx="4422" cy="226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  <a:tailEnd type="none" w="sm" len="med"/>
            </a:ln>
            <a:effectLst/>
          </p:spPr>
          <p:txBody>
            <a:bodyPr wrap="none" anchor="t" anchorCtr="0"/>
            <a:p>
              <a:endParaRPr lang="en-US" altLang="zh-CN" sz="2000" b="1" u="none" dirty="0"/>
            </a:p>
            <a:p>
              <a:endParaRPr lang="en-US" altLang="zh-CN" sz="2000" b="1" u="none" dirty="0" smtClean="0"/>
            </a:p>
            <a:p>
              <a:endParaRPr lang="zh-CN" altLang="en-US" sz="2000" b="1" u="none" dirty="0"/>
            </a:p>
          </p:txBody>
        </p:sp>
        <p:sp>
          <p:nvSpPr>
            <p:cNvPr id="25" name="Text Box 249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3911" y="2721"/>
              <a:ext cx="907" cy="794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主存空间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8" name="Text Box 251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1246" y="2041"/>
              <a:ext cx="1020" cy="2154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spcBef>
                  <a:spcPts val="0"/>
                </a:spcBef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程序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 algn="ctr">
                <a:spcBef>
                  <a:spcPts val="0"/>
                </a:spcBef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空间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 algn="ctr">
                <a:spcBef>
                  <a:spcPts val="300"/>
                </a:spcBef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虚存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>
                <a:spcBef>
                  <a:spcPts val="0"/>
                </a:spcBef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空间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6" name="Text Box 37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5726" y="2721"/>
              <a:ext cx="1701" cy="794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辅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存空间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交换区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7" name="Text Box 37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8448" y="2721"/>
              <a:ext cx="1757" cy="794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辅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存空间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文件区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8" name="直接箭头连接符 27"/>
            <p:cNvCxnSpPr/>
            <p:nvPr>
              <p:custDataLst>
                <p:tags r:id="rId60"/>
              </p:custDataLst>
            </p:nvPr>
          </p:nvCxnSpPr>
          <p:spPr bwMode="auto">
            <a:xfrm>
              <a:off x="2267" y="3005"/>
              <a:ext cx="907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9" name="直接箭头连接符 55"/>
            <p:cNvCxnSpPr/>
            <p:nvPr>
              <p:custDataLst>
                <p:tags r:id="rId61"/>
              </p:custDataLst>
            </p:nvPr>
          </p:nvCxnSpPr>
          <p:spPr bwMode="auto">
            <a:xfrm>
              <a:off x="2267" y="3402"/>
              <a:ext cx="164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30" name="Text Box 212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7654" y="2608"/>
              <a:ext cx="73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装入</a:t>
              </a:r>
              <a:endParaRPr lang="zh-CN" altLang="en-US" sz="1600" b="1" u="none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1" name="左箭头 30"/>
            <p:cNvSpPr/>
            <p:nvPr>
              <p:custDataLst>
                <p:tags r:id="rId63"/>
              </p:custDataLst>
            </p:nvPr>
          </p:nvSpPr>
          <p:spPr>
            <a:xfrm>
              <a:off x="7427" y="2892"/>
              <a:ext cx="1020" cy="170"/>
            </a:xfrm>
            <a:prstGeom prst="leftArrow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" name="左箭头 154"/>
            <p:cNvSpPr/>
            <p:nvPr>
              <p:custDataLst>
                <p:tags r:id="rId64"/>
              </p:custDataLst>
            </p:nvPr>
          </p:nvSpPr>
          <p:spPr>
            <a:xfrm>
              <a:off x="4818" y="2778"/>
              <a:ext cx="907" cy="170"/>
            </a:xfrm>
            <a:prstGeom prst="leftArrow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6" name="右箭头 155"/>
            <p:cNvSpPr/>
            <p:nvPr>
              <p:custDataLst>
                <p:tags r:id="rId65"/>
              </p:custDataLst>
            </p:nvPr>
          </p:nvSpPr>
          <p:spPr>
            <a:xfrm>
              <a:off x="4818" y="3288"/>
              <a:ext cx="907" cy="170"/>
            </a:xfrm>
            <a:prstGeom prst="rightArrow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7" name="Text Box 212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4819" y="2948"/>
              <a:ext cx="73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交换</a:t>
              </a:r>
              <a:endParaRPr lang="zh-CN" altLang="en-US" sz="1600" b="1" u="none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165" name="组合 164"/>
          <p:cNvGrpSpPr/>
          <p:nvPr/>
        </p:nvGrpSpPr>
        <p:grpSpPr>
          <a:xfrm>
            <a:off x="3204210" y="1980000"/>
            <a:ext cx="3347720" cy="719455"/>
            <a:chOff x="5046" y="3062"/>
            <a:chExt cx="5272" cy="1133"/>
          </a:xfrm>
        </p:grpSpPr>
        <p:sp>
          <p:nvSpPr>
            <p:cNvPr id="158" name="Text Box 322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8050" y="3854"/>
              <a:ext cx="2268" cy="340"/>
            </a:xfrm>
            <a:prstGeom prst="rect">
              <a:avLst/>
            </a:prstGeom>
            <a:noFill/>
            <a:ln w="15875" cmpd="sng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程序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-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文件映射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9" name="Text Box 322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5046" y="3855"/>
              <a:ext cx="2494" cy="340"/>
            </a:xfrm>
            <a:prstGeom prst="rect">
              <a:avLst/>
            </a:prstGeom>
            <a:solidFill>
              <a:schemeClr val="bg1"/>
            </a:solidFill>
            <a:ln w="15875" cmpd="sng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程序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-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辅存映射表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60" name="直接箭头连接符 55"/>
            <p:cNvCxnSpPr/>
            <p:nvPr>
              <p:custDataLst>
                <p:tags r:id="rId69"/>
              </p:custDataLst>
            </p:nvPr>
          </p:nvCxnSpPr>
          <p:spPr bwMode="auto">
            <a:xfrm flipH="1" flipV="1">
              <a:off x="7540" y="4025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sm"/>
              <a:tailEnd type="arrow" w="sm" len="sm"/>
            </a:ln>
            <a:effectLst/>
          </p:spPr>
        </p:cxnSp>
        <p:cxnSp>
          <p:nvCxnSpPr>
            <p:cNvPr id="161" name="直接箭头连接符 55"/>
            <p:cNvCxnSpPr/>
            <p:nvPr>
              <p:custDataLst>
                <p:tags r:id="rId70"/>
              </p:custDataLst>
            </p:nvPr>
          </p:nvCxnSpPr>
          <p:spPr bwMode="auto">
            <a:xfrm flipH="1">
              <a:off x="7880" y="3062"/>
              <a:ext cx="0" cy="96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</p:cxnSp>
        <p:sp>
          <p:nvSpPr>
            <p:cNvPr id="162" name="Text Box 322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6690" y="3571"/>
              <a:ext cx="624" cy="283"/>
            </a:xfrm>
            <a:prstGeom prst="rect">
              <a:avLst/>
            </a:prstGeom>
            <a:solidFill>
              <a:srgbClr val="FFCC99"/>
            </a:solidFill>
            <a:ln w="15875" cmpd="sng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400" b="1" u="none" dirty="0" smtClean="0">
                  <a:latin typeface="宋体" panose="02010600030101010101" pitchFamily="2" charset="-122"/>
                </a:rPr>
                <a:t>分配</a:t>
              </a:r>
              <a:endParaRPr lang="zh-CN" altLang="en-US" sz="14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63" name="直接箭头连接符 55"/>
            <p:cNvCxnSpPr/>
            <p:nvPr>
              <p:custDataLst>
                <p:tags r:id="rId72"/>
              </p:custDataLst>
            </p:nvPr>
          </p:nvCxnSpPr>
          <p:spPr bwMode="auto">
            <a:xfrm flipH="1" flipV="1">
              <a:off x="7313" y="3684"/>
              <a:ext cx="124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sm"/>
              <a:tailEnd type="triangle" w="med" len="med"/>
            </a:ln>
            <a:effectLst/>
          </p:spPr>
        </p:cxnSp>
        <p:cxnSp>
          <p:nvCxnSpPr>
            <p:cNvPr id="164" name="直接箭头连接符 55"/>
            <p:cNvCxnSpPr/>
            <p:nvPr>
              <p:custDataLst>
                <p:tags r:id="rId73"/>
              </p:custDataLst>
            </p:nvPr>
          </p:nvCxnSpPr>
          <p:spPr bwMode="auto">
            <a:xfrm flipH="1">
              <a:off x="8560" y="3685"/>
              <a:ext cx="1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sm"/>
              <a:tailEnd type="none" w="sm" len="sm"/>
            </a:ln>
            <a:effectLst/>
          </p:spPr>
        </p:cxnSp>
      </p:grpSp>
      <p:sp>
        <p:nvSpPr>
          <p:cNvPr id="166" name="Text Box 522"/>
          <p:cNvSpPr txBox="1">
            <a:spLocks noChangeArrowheads="1"/>
          </p:cNvSpPr>
          <p:nvPr>
            <p:custDataLst>
              <p:tags r:id="rId74"/>
            </p:custDataLst>
          </p:nvPr>
        </p:nvSpPr>
        <p:spPr bwMode="auto">
          <a:xfrm>
            <a:off x="900430" y="5184000"/>
            <a:ext cx="453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虚存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主存</a:t>
            </a:r>
            <a:r>
              <a:rPr lang="zh-CN" sz="1800" b="1" u="none" dirty="0" smtClean="0">
                <a:latin typeface="宋体" panose="02010600030101010101" pitchFamily="2" charset="-122"/>
              </a:rPr>
              <a:t>变换为何要用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硬件实现？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sp>
        <p:nvSpPr>
          <p:cNvPr id="167" name="Text Box 522"/>
          <p:cNvSpPr txBox="1">
            <a:spLocks noChangeArrowheads="1"/>
          </p:cNvSpPr>
          <p:nvPr>
            <p:custDataLst>
              <p:tags r:id="rId75"/>
            </p:custDataLst>
          </p:nvPr>
        </p:nvSpPr>
        <p:spPr bwMode="auto">
          <a:xfrm>
            <a:off x="5508000" y="5220000"/>
            <a:ext cx="257429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需保证访问速度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(≈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主存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600" b="1" u="none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68" name="Text Box 522"/>
          <p:cNvSpPr txBox="1">
            <a:spLocks noChangeArrowheads="1"/>
          </p:cNvSpPr>
          <p:nvPr>
            <p:custDataLst>
              <p:tags r:id="rId76"/>
            </p:custDataLst>
          </p:nvPr>
        </p:nvSpPr>
        <p:spPr bwMode="auto">
          <a:xfrm>
            <a:off x="900735" y="5580000"/>
            <a:ext cx="453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思考②：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虚存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辅存</a:t>
            </a:r>
            <a:r>
              <a:rPr lang="zh-CN" sz="1800" b="1" u="none" dirty="0" smtClean="0">
                <a:latin typeface="宋体" panose="02010600030101010101" pitchFamily="2" charset="-122"/>
                <a:sym typeface="+mn-ea"/>
              </a:rPr>
              <a:t>变换为何要用软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件实现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？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sp>
        <p:nvSpPr>
          <p:cNvPr id="169" name="Text Box 522"/>
          <p:cNvSpPr txBox="1">
            <a:spLocks noChangeArrowheads="1"/>
          </p:cNvSpPr>
          <p:nvPr>
            <p:custDataLst>
              <p:tags r:id="rId77"/>
            </p:custDataLst>
          </p:nvPr>
        </p:nvSpPr>
        <p:spPr bwMode="auto">
          <a:xfrm>
            <a:off x="5508000" y="5544000"/>
            <a:ext cx="3132000" cy="504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p>
            <a:pPr>
              <a:lnSpc>
                <a:spcPct val="100000"/>
              </a:lnSpc>
            </a:pP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需访问辅存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速度太慢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endParaRPr lang="zh-CN" altLang="en-US" sz="1800" b="1" u="none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管理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表容量太大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成本太高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600" b="1" u="none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71" name="Text Box 522"/>
          <p:cNvSpPr txBox="1">
            <a:spLocks noChangeArrowheads="1"/>
          </p:cNvSpPr>
          <p:nvPr>
            <p:custDataLst>
              <p:tags r:id="rId78"/>
            </p:custDataLst>
          </p:nvPr>
        </p:nvSpPr>
        <p:spPr bwMode="auto">
          <a:xfrm>
            <a:off x="900000" y="6084000"/>
            <a:ext cx="417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思考③：</a:t>
            </a:r>
            <a:r>
              <a:rPr lang="zh-CN" sz="1800" b="1" u="none" dirty="0" smtClean="0">
                <a:latin typeface="宋体" panose="02010600030101010101" pitchFamily="2" charset="-122"/>
                <a:sym typeface="+mn-ea"/>
              </a:rPr>
              <a:t>如何从硬件实现</a:t>
            </a:r>
            <a:r>
              <a:rPr lang="zh-CN" sz="18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转到</a:t>
            </a:r>
            <a:r>
              <a:rPr lang="zh-CN" sz="1800" b="1" u="none" dirty="0" smtClean="0">
                <a:latin typeface="宋体" panose="02010600030101010101" pitchFamily="2" charset="-122"/>
                <a:sym typeface="+mn-ea"/>
              </a:rPr>
              <a:t>软件实现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？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sp>
        <p:nvSpPr>
          <p:cNvPr id="172" name="Text Box 522"/>
          <p:cNvSpPr txBox="1">
            <a:spLocks noChangeArrowheads="1"/>
          </p:cNvSpPr>
          <p:nvPr>
            <p:custDataLst>
              <p:tags r:id="rId79"/>
            </p:custDataLst>
          </p:nvPr>
        </p:nvSpPr>
        <p:spPr bwMode="auto">
          <a:xfrm>
            <a:off x="5219700" y="6120130"/>
            <a:ext cx="3333115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MMU</a:t>
            </a:r>
            <a:r>
              <a:rPr 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产生异常请求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见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P169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图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5.1)</a:t>
            </a:r>
            <a:endParaRPr lang="en-US" altLang="zh-CN" sz="1600" b="1" u="none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73" name="AutoShape 331"/>
          <p:cNvSpPr/>
          <p:nvPr>
            <p:custDataLst>
              <p:tags r:id="rId80"/>
            </p:custDataLst>
          </p:nvPr>
        </p:nvSpPr>
        <p:spPr bwMode="auto">
          <a:xfrm>
            <a:off x="864000" y="4032000"/>
            <a:ext cx="864000" cy="252000"/>
          </a:xfrm>
          <a:prstGeom prst="borderCallout2">
            <a:avLst>
              <a:gd name="adj1" fmla="val 47976"/>
              <a:gd name="adj2" fmla="val 99245"/>
              <a:gd name="adj3" fmla="val 50476"/>
              <a:gd name="adj4" fmla="val 122369"/>
              <a:gd name="adj5" fmla="val -200751"/>
              <a:gd name="adj6" fmla="val 195130"/>
            </a:avLst>
          </a:prstGeom>
          <a:solidFill>
            <a:schemeClr val="bg1"/>
          </a:solidFill>
          <a:ln w="12700">
            <a:solidFill>
              <a:srgbClr val="0070C0"/>
            </a:solidFill>
            <a:prstDash val="sysDash"/>
            <a:miter lim="800000"/>
            <a:headEnd type="none" w="sm" len="med"/>
            <a:tailEnd type="arrow" w="med" len="med"/>
          </a:ln>
          <a:effectLst/>
        </p:spPr>
        <p:txBody>
          <a:bodyPr lIns="18000" tIns="10800" rIns="18000" bIns="10800" anchor="ctr"/>
          <a:p>
            <a:pPr algn="ctr">
              <a:lnSpc>
                <a:spcPct val="90000"/>
              </a:lnSpc>
            </a:pPr>
            <a:r>
              <a:rPr lang="zh-CN" sz="1600" b="1" u="none" dirty="0" smtClean="0">
                <a:latin typeface="+mn-ea"/>
                <a:ea typeface="+mn-ea"/>
              </a:rPr>
              <a:t>称为</a:t>
            </a:r>
            <a:r>
              <a:rPr lang="en-US" altLang="zh-CN" sz="1600" b="1" u="none" dirty="0" smtClean="0">
                <a:latin typeface="+mn-ea"/>
                <a:ea typeface="+mn-ea"/>
              </a:rPr>
              <a:t>MMU</a:t>
            </a:r>
            <a:endParaRPr lang="en-US" altLang="zh-CN" sz="1600" b="1" u="none" dirty="0" smtClean="0">
              <a:solidFill>
                <a:srgbClr val="FF3399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74" name="Text Box 140"/>
          <p:cNvSpPr txBox="1">
            <a:spLocks noChangeArrowheads="1"/>
          </p:cNvSpPr>
          <p:nvPr>
            <p:custDataLst>
              <p:tags r:id="rId81"/>
            </p:custDataLst>
          </p:nvPr>
        </p:nvSpPr>
        <p:spPr bwMode="auto">
          <a:xfrm>
            <a:off x="6121400" y="4718685"/>
            <a:ext cx="2898140" cy="252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54000" tIns="10800" rIns="54000" bIns="10800" anchor="ctr"/>
          <a:p>
            <a:pPr marL="504190" indent="-504190">
              <a:lnSpc>
                <a:spcPct val="114000"/>
              </a:lnSpc>
            </a:pPr>
            <a:r>
              <a:rPr lang="en-US" altLang="zh-CN" sz="1600" b="1" u="none" dirty="0" smtClean="0">
                <a:solidFill>
                  <a:srgbClr val="C00000"/>
                </a:solidFill>
                <a:latin typeface="+mn-ea"/>
              </a:rPr>
              <a:t>MMU—</a:t>
            </a:r>
            <a:r>
              <a:rPr lang="en-US" altLang="zh-CN" sz="1600" u="none" dirty="0" smtClean="0"/>
              <a:t>Memory </a:t>
            </a:r>
            <a:r>
              <a:rPr lang="en-US" altLang="zh-CN" sz="1600" u="none" dirty="0"/>
              <a:t>Management </a:t>
            </a:r>
            <a:r>
              <a:rPr lang="en-US" altLang="zh-CN" sz="1600" u="none" dirty="0" smtClean="0"/>
              <a:t>Unit</a:t>
            </a:r>
            <a:endParaRPr lang="en-US" altLang="zh-CN" sz="1600" b="1" u="none" spc="-100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166" grpId="0" bldLvl="0" animBg="1"/>
      <p:bldP spid="167" grpId="0" bldLvl="0" animBg="1"/>
      <p:bldP spid="168" grpId="0" bldLvl="0" animBg="1"/>
      <p:bldP spid="169" grpId="0" bldLvl="0" animBg="1"/>
      <p:bldP spid="171" grpId="0" bldLvl="0" animBg="1"/>
      <p:bldP spid="172" grpId="0" bldLvl="0" animBg="1"/>
      <p:bldP spid="173" grpId="0" bldLvl="0" animBg="1"/>
      <p:bldP spid="174" grpId="0" bldLvl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39"/>
          <p:cNvSpPr txBox="1">
            <a:spLocks noChangeArrowheads="1"/>
          </p:cNvSpPr>
          <p:nvPr/>
        </p:nvSpPr>
        <p:spPr bwMode="auto">
          <a:xfrm>
            <a:off x="179388" y="360000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defRPr b="1" u="none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三、虚拟存储器的存储管理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AutoShape 5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Text Box 5"/>
          <p:cNvSpPr txBox="1">
            <a:spLocks noChangeArrowheads="1"/>
          </p:cNvSpPr>
          <p:nvPr/>
        </p:nvSpPr>
        <p:spPr bwMode="auto">
          <a:xfrm>
            <a:off x="179705" y="828040"/>
            <a:ext cx="8785225" cy="16071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u="none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涉及内容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主存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辅存的交换单位，存储空间的管理，地址变换方法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主存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辅存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信息交换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单位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6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虚存的存储管理方式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46" name="Text Box 5"/>
          <p:cNvSpPr txBox="1">
            <a:spLocks noChangeArrowheads="1"/>
          </p:cNvSpPr>
          <p:nvPr/>
        </p:nvSpPr>
        <p:spPr bwMode="auto">
          <a:xfrm>
            <a:off x="3276600" y="1267460"/>
            <a:ext cx="5692775" cy="11836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+mn-ea"/>
                <a:ea typeface="+mn-ea"/>
              </a:rPr>
              <a:t>   程序段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大小可变</a:t>
            </a:r>
            <a:r>
              <a:rPr lang="en-US" altLang="zh-CN" sz="1800" b="1" u="none" dirty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</a:t>
            </a:r>
            <a:r>
              <a:rPr lang="zh-CN" altLang="en-US" sz="2200" b="1" u="none" dirty="0" smtClean="0">
                <a:latin typeface="+mn-ea"/>
                <a:ea typeface="+mn-ea"/>
              </a:rPr>
              <a:t>页</a:t>
            </a:r>
            <a:r>
              <a:rPr lang="en-US" altLang="zh-CN" sz="1800" b="1" u="none" dirty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大小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固定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</a:t>
            </a:r>
            <a:r>
              <a:rPr lang="en-US" altLang="zh-CN" sz="1800" b="1" u="none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4KB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]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en-US" altLang="zh-CN" sz="1600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利于进程保护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600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利于主存利用率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zh-CN" altLang="en-US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碎片小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endParaRPr lang="en-US" altLang="zh-CN" sz="1600" u="none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段式</a:t>
            </a:r>
            <a:r>
              <a:rPr lang="zh-CN" altLang="en-US" sz="2200" b="1" u="none" dirty="0">
                <a:latin typeface="宋体" panose="02010600030101010101" pitchFamily="2" charset="-122"/>
              </a:rPr>
              <a:t>、页式、段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页式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先分段再分页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1800" b="1" u="none" dirty="0" smtClean="0"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4" name="Text Box 7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2340000"/>
            <a:ext cx="4088765" cy="41694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段式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VM</a:t>
            </a: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段式管理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600" b="1" u="none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管理方式：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段表组成：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段表存放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37" name="Text Box 12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72000" y="2771775"/>
            <a:ext cx="7016750" cy="37357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VM</a:t>
            </a:r>
            <a:r>
              <a:rPr lang="zh-CN" altLang="en-US" sz="2200" b="1" u="none" dirty="0">
                <a:latin typeface="宋体" panose="02010600030101010101" pitchFamily="2" charset="-122"/>
              </a:rPr>
              <a:t>空间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按程序结构</a:t>
            </a:r>
            <a:r>
              <a:rPr lang="zh-CN" altLang="en-US" sz="2200" b="1" u="none" dirty="0">
                <a:latin typeface="宋体" panose="02010600030101010101" pitchFamily="2" charset="-122"/>
              </a:rPr>
              <a:t>划分成若干个</a:t>
            </a:r>
            <a:r>
              <a:rPr lang="zh-CN" altLang="en-US" sz="2200" b="1" u="sng" dirty="0">
                <a:latin typeface="宋体" panose="02010600030101010101" pitchFamily="2" charset="-122"/>
              </a:rPr>
              <a:t>段</a:t>
            </a:r>
            <a:r>
              <a:rPr lang="zh-CN" altLang="en-US" sz="2200" b="1" u="none" dirty="0">
                <a:latin typeface="宋体" panose="02010600030101010101" pitchFamily="2" charset="-122"/>
              </a:rPr>
              <a:t>，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主存</a:t>
            </a:r>
            <a:r>
              <a:rPr lang="zh-CN" altLang="en-US" sz="2200" b="1" u="none" dirty="0">
                <a:latin typeface="宋体" panose="02010600030101010101" pitchFamily="2" charset="-122"/>
              </a:rPr>
              <a:t>空间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按段大小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进行</a:t>
            </a:r>
            <a:r>
              <a:rPr lang="zh-CN" altLang="en-US" sz="2200" b="1" u="none" dirty="0">
                <a:latin typeface="宋体" panose="02010600030101010101" pitchFamily="2" charset="-122"/>
              </a:rPr>
              <a:t>分配</a:t>
            </a:r>
            <a:r>
              <a:rPr lang="en-US" altLang="zh-CN" sz="2200" b="1" u="none" dirty="0"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  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←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∈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分区方式、可</a:t>
            </a:r>
            <a:r>
              <a:rPr lang="zh-CN" altLang="en-US" sz="1600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多次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分配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        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虚拟地址＝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&lt;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段号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,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段内地址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&gt;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   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←类似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Cache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 smtClean="0">
                <a:latin typeface="宋体" panose="02010600030101010101" pitchFamily="2" charset="-122"/>
              </a:rPr>
              <a:t>                                        </a:t>
            </a:r>
            <a:r>
              <a:rPr lang="en-US" altLang="zh-CN" sz="1600" u="none" dirty="0" smtClean="0">
                <a:latin typeface="宋体" panose="02010600030101010101" pitchFamily="2" charset="-122"/>
              </a:rPr>
              <a:t>└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←长度固定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便于管理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               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物理地址＝</a:t>
            </a:r>
            <a:r>
              <a:rPr lang="zh-CN" altLang="en-US" sz="20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段首址＋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段内地址</a:t>
            </a:r>
            <a:endParaRPr lang="en-US" altLang="zh-CN" sz="20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按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段号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索引，行</a:t>
            </a:r>
            <a:r>
              <a:rPr lang="zh-CN" altLang="en-US" sz="2200" b="1" u="none" dirty="0">
                <a:latin typeface="宋体" panose="02010600030101010101" pitchFamily="2" charset="-122"/>
              </a:rPr>
              <a:t>数＝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程序段数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u="sng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主存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中</a:t>
            </a:r>
            <a:r>
              <a:rPr 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基于成本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[Cache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才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4MB]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段表</a:t>
            </a:r>
            <a:r>
              <a:rPr lang="zh-CN" altLang="en-US" sz="18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按段号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索引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减少访存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5" name="Text Box 52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45225" y="5724000"/>
            <a:ext cx="705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Windows</a:t>
            </a:r>
            <a:r>
              <a:rPr lang="zh-CN" altLang="en-US" sz="1800" b="1" u="none" dirty="0">
                <a:latin typeface="宋体" panose="02010600030101010101" pitchFamily="2" charset="-122"/>
              </a:rPr>
              <a:t>支持</a:t>
            </a:r>
            <a:r>
              <a:rPr lang="en-US" altLang="zh-CN" sz="1800" b="1" u="none" dirty="0">
                <a:latin typeface="宋体" panose="02010600030101010101" pitchFamily="2" charset="-122"/>
              </a:rPr>
              <a:t>64</a:t>
            </a:r>
            <a:r>
              <a:rPr lang="zh-CN" altLang="en-US" sz="1800" b="1" u="none" dirty="0">
                <a:latin typeface="宋体" panose="02010600030101010101" pitchFamily="2" charset="-122"/>
              </a:rPr>
              <a:t>个进程，段号</a:t>
            </a:r>
            <a:r>
              <a:rPr lang="en-US" altLang="zh-CN" sz="1800" b="1" u="none" dirty="0">
                <a:latin typeface="宋体" panose="02010600030101010101" pitchFamily="2" charset="-122"/>
              </a:rPr>
              <a:t>=16</a:t>
            </a:r>
            <a:r>
              <a:rPr lang="zh-CN" altLang="en-US" sz="1800" b="1" u="none" dirty="0">
                <a:latin typeface="宋体" panose="02010600030101010101" pitchFamily="2" charset="-122"/>
              </a:rPr>
              <a:t>位、段表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项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=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8B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，段表总空间？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81405" y="3672000"/>
            <a:ext cx="2484755" cy="1440180"/>
            <a:chOff x="2494" y="7143"/>
            <a:chExt cx="3913" cy="2268"/>
          </a:xfrm>
        </p:grpSpPr>
        <p:sp>
          <p:nvSpPr>
            <p:cNvPr id="7" name="Text Box 73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548" y="7654"/>
              <a:ext cx="568" cy="170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1KB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4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4KB</a:t>
              </a:r>
              <a:endParaRPr lang="en-US" altLang="zh-CN" sz="16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400" b="1" u="none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>
                  <a:latin typeface="宋体" panose="02010600030101010101" pitchFamily="2" charset="-122"/>
                </a:rPr>
                <a:t>2KB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31" name="Text Box 7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494" y="7143"/>
              <a:ext cx="1757" cy="4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段长</a:t>
              </a: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18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虚存</a:t>
              </a:r>
              <a:endPara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2" name="Text Box 76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116" y="8050"/>
              <a:ext cx="1020" cy="79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段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3" name="Text Box 7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386" y="7597"/>
              <a:ext cx="1020" cy="452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>
                  <a:latin typeface="宋体" panose="02010600030101010101" pitchFamily="2" charset="-122"/>
                </a:rPr>
                <a:t>段</a:t>
              </a:r>
              <a:r>
                <a:rPr lang="en-US" altLang="zh-CN" sz="1600" b="1" u="none">
                  <a:latin typeface="宋体" panose="02010600030101010101" pitchFamily="2" charset="-122"/>
                </a:rPr>
                <a:t>0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34" name="Text Box 7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386" y="8504"/>
              <a:ext cx="1020" cy="56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>
                  <a:latin typeface="宋体" panose="02010600030101010101" pitchFamily="2" charset="-122"/>
                </a:rPr>
                <a:t>段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5" name="Text Box 80" descr="宽上对角线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386" y="8050"/>
              <a:ext cx="1020" cy="455"/>
            </a:xfrm>
            <a:prstGeom prst="rect">
              <a:avLst/>
            </a:prstGeom>
            <a:pattFill prst="wdUpDiag">
              <a:fgClr>
                <a:schemeClr val="tx1">
                  <a:alpha val="39999"/>
                </a:schemeClr>
              </a:fgClr>
              <a:bgClr>
                <a:schemeClr val="bg1">
                  <a:alpha val="39999"/>
                </a:schemeClr>
              </a:bgClr>
            </a:patt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 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36" name="Text Box 8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930" y="7597"/>
              <a:ext cx="397" cy="181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1K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4K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110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6K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8" name="Text Box 82" descr="宽上对角线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386" y="9071"/>
              <a:ext cx="1020" cy="340"/>
            </a:xfrm>
            <a:prstGeom prst="rect">
              <a:avLst/>
            </a:prstGeom>
            <a:pattFill prst="wdUpDiag">
              <a:fgClr>
                <a:schemeClr val="tx1">
                  <a:alpha val="39999"/>
                </a:schemeClr>
              </a:fgClr>
              <a:bgClr>
                <a:schemeClr val="bg1">
                  <a:alpha val="39999"/>
                </a:schemeClr>
              </a:bgClr>
            </a:patt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 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39" name="Text Box 85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116" y="7597"/>
              <a:ext cx="1020" cy="452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>
                  <a:latin typeface="宋体" panose="02010600030101010101" pitchFamily="2" charset="-122"/>
                </a:rPr>
                <a:t>段</a:t>
              </a:r>
              <a:r>
                <a:rPr lang="en-US" altLang="zh-CN" sz="1600" b="1" u="none">
                  <a:latin typeface="宋体" panose="02010600030101010101" pitchFamily="2" charset="-122"/>
                </a:rPr>
                <a:t>0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8" name="Text Box 86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116" y="8844"/>
              <a:ext cx="1020" cy="56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>
                  <a:latin typeface="宋体" panose="02010600030101010101" pitchFamily="2" charset="-122"/>
                </a:rPr>
                <a:t>段</a:t>
              </a:r>
              <a:r>
                <a:rPr lang="en-US" altLang="zh-CN" sz="1600" b="1" u="none">
                  <a:latin typeface="宋体" panose="02010600030101010101" pitchFamily="2" charset="-122"/>
                </a:rPr>
                <a:t>2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9" name="Text Box 120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760" y="7143"/>
              <a:ext cx="1644" cy="4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r>
                <a:rPr lang="zh-CN" altLang="en-US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1800" b="1" u="none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主存</a:t>
              </a:r>
              <a:endParaRPr lang="zh-CN" altLang="en-US" sz="1800" b="1" u="none" dirty="0" smtClean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7" name="直接箭头连接符 46"/>
            <p:cNvCxnSpPr/>
            <p:nvPr>
              <p:custDataLst>
                <p:tags r:id="rId15"/>
              </p:custDataLst>
            </p:nvPr>
          </p:nvCxnSpPr>
          <p:spPr bwMode="auto">
            <a:xfrm>
              <a:off x="4136" y="7937"/>
              <a:ext cx="1247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" name="直接箭头连接符 47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4136" y="8957"/>
              <a:ext cx="1247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9" name="Rectangle 130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116" y="8957"/>
              <a:ext cx="1020" cy="8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61" name="Rectangle 131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387" y="8617"/>
              <a:ext cx="1020" cy="8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5905500" y="4752000"/>
            <a:ext cx="2376170" cy="863600"/>
            <a:chOff x="9865" y="7710"/>
            <a:chExt cx="3742" cy="1360"/>
          </a:xfrm>
        </p:grpSpPr>
        <p:sp>
          <p:nvSpPr>
            <p:cNvPr id="63" name="Text Box 47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865" y="7710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p>
              <a:pPr lvl="0" algn="l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600" b="1" u="none" dirty="0" smtClean="0">
                  <a:latin typeface="宋体" panose="02010600030101010101" pitchFamily="2" charset="-122"/>
                  <a:sym typeface="+mn-ea"/>
                </a:rPr>
                <a:t>段号</a:t>
              </a:r>
              <a:endParaRPr lang="zh-CN" altLang="en-US" sz="1600" b="1" u="none" dirty="0" smtClean="0">
                <a:latin typeface="宋体" panose="02010600030101010101" pitchFamily="2" charset="-122"/>
                <a:sym typeface="+mn-ea"/>
              </a:endParaRPr>
            </a:p>
          </p:txBody>
        </p:sp>
        <p:sp>
          <p:nvSpPr>
            <p:cNvPr id="64" name="Text Box 49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0602" y="8050"/>
              <a:ext cx="3005" cy="102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1     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0K   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1K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        4K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1     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4K   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2K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65" name="Text Box 55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9978" y="8050"/>
              <a:ext cx="397" cy="1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6" name="Text Box 87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0601" y="7710"/>
              <a:ext cx="3005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装入位 段首址 段长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67" name="直接箭头连接符 66"/>
            <p:cNvCxnSpPr/>
            <p:nvPr>
              <p:custDataLst>
                <p:tags r:id="rId23"/>
              </p:custDataLst>
            </p:nvPr>
          </p:nvCxnSpPr>
          <p:spPr bwMode="auto">
            <a:xfrm>
              <a:off x="10602" y="8391"/>
              <a:ext cx="3005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8" name="直接箭头连接符 67"/>
            <p:cNvCxnSpPr/>
            <p:nvPr>
              <p:custDataLst>
                <p:tags r:id="rId24"/>
              </p:custDataLst>
            </p:nvPr>
          </p:nvCxnSpPr>
          <p:spPr bwMode="auto">
            <a:xfrm>
              <a:off x="10602" y="8731"/>
              <a:ext cx="3005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9" name="直接箭头连接符 68"/>
            <p:cNvCxnSpPr/>
            <p:nvPr>
              <p:custDataLst>
                <p:tags r:id="rId25"/>
              </p:custDataLst>
            </p:nvPr>
          </p:nvCxnSpPr>
          <p:spPr bwMode="auto">
            <a:xfrm>
              <a:off x="11680" y="8049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0" name="直接箭头连接符 69"/>
            <p:cNvCxnSpPr/>
            <p:nvPr>
              <p:custDataLst>
                <p:tags r:id="rId26"/>
              </p:custDataLst>
            </p:nvPr>
          </p:nvCxnSpPr>
          <p:spPr bwMode="auto">
            <a:xfrm>
              <a:off x="12813" y="8049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71" name="Text Box 522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8208980" y="5724000"/>
            <a:ext cx="540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32MB</a:t>
            </a:r>
            <a:endParaRPr lang="en-US" sz="1800" b="1" u="none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1" grpId="0" bldLvl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/>
          </a:p>
        </p:txBody>
      </p:sp>
      <p:sp>
        <p:nvSpPr>
          <p:cNvPr id="31" name="AutoShape 4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AutoShape 5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9877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Text Box 12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8808085" cy="46462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地址变换过程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 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①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计算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表项地址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＝段表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基址</a:t>
            </a:r>
            <a:r>
              <a:rPr lang="zh-CN" altLang="en-US" sz="1800" b="1" u="none" dirty="0">
                <a:latin typeface="宋体" panose="02010600030101010101" pitchFamily="2" charset="-122"/>
              </a:rPr>
              <a:t>＋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段号×表项长度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 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②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读取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表项</a:t>
            </a:r>
            <a:r>
              <a:rPr lang="zh-CN" altLang="en-US" sz="2200" b="1" u="none" dirty="0">
                <a:latin typeface="宋体" panose="02010600030101010101" pitchFamily="2" charset="-122"/>
              </a:rPr>
              <a:t>内容</a:t>
            </a:r>
            <a:r>
              <a:rPr lang="en-US" altLang="zh-CN" sz="2200" b="1" u="none" dirty="0">
                <a:latin typeface="宋体" panose="02010600030101010101" pitchFamily="2" charset="-122"/>
              </a:rPr>
              <a:t>                             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←需访问主存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次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 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③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计算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物理地址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＝段首址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＋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段内地址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判断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是否有异常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u="none" dirty="0" smtClean="0">
                <a:latin typeface="宋体" panose="02010600030101010101" pitchFamily="2" charset="-122"/>
              </a:rPr>
              <a:t>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      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  </a:t>
            </a:r>
            <a:r>
              <a:rPr lang="zh-CN" altLang="en-US" sz="1800" u="none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←同分区方式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                                   </a:t>
            </a:r>
            <a:r>
              <a:rPr lang="zh-CN" altLang="en-US" sz="18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←越界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越权等</a:t>
            </a:r>
            <a:endParaRPr lang="zh-CN" altLang="en-US" sz="1800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特点：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2627790" y="2412030"/>
            <a:ext cx="4752245" cy="972000"/>
            <a:chOff x="5046" y="4422"/>
            <a:chExt cx="7484" cy="1531"/>
          </a:xfrm>
        </p:grpSpPr>
        <p:sp>
          <p:nvSpPr>
            <p:cNvPr id="5" name="Oval 101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046" y="4706"/>
              <a:ext cx="454" cy="454"/>
            </a:xfrm>
            <a:prstGeom prst="ellipse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 anchor="ctr"/>
            <a:p>
              <a:pPr algn="ctr"/>
              <a:r>
                <a:rPr lang="zh-CN" altLang="en-US" sz="1600" b="1" u="none" dirty="0" smtClean="0"/>
                <a:t>＋</a:t>
              </a:r>
              <a:endParaRPr lang="zh-CN" altLang="en-US" sz="1600" b="1" u="none" dirty="0" smtClean="0"/>
            </a:p>
          </p:txBody>
        </p:sp>
        <p:cxnSp>
          <p:nvCxnSpPr>
            <p:cNvPr id="6" name="直接连接符 75"/>
            <p:cNvCxnSpPr/>
            <p:nvPr>
              <p:custDataLst>
                <p:tags r:id="rId3"/>
              </p:custDataLst>
            </p:nvPr>
          </p:nvCxnSpPr>
          <p:spPr bwMode="auto">
            <a:xfrm>
              <a:off x="8334" y="5443"/>
              <a:ext cx="374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</p:cxnSp>
        <p:cxnSp>
          <p:nvCxnSpPr>
            <p:cNvPr id="34" name="直接箭头连接符 33"/>
            <p:cNvCxnSpPr/>
            <p:nvPr>
              <p:custDataLst>
                <p:tags r:id="rId4"/>
              </p:custDataLst>
            </p:nvPr>
          </p:nvCxnSpPr>
          <p:spPr bwMode="auto">
            <a:xfrm>
              <a:off x="5272" y="4422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直接箭头连接符 34"/>
            <p:cNvCxnSpPr/>
            <p:nvPr>
              <p:custDataLst>
                <p:tags r:id="rId5"/>
              </p:custDataLst>
            </p:nvPr>
          </p:nvCxnSpPr>
          <p:spPr bwMode="auto">
            <a:xfrm>
              <a:off x="5272" y="5386"/>
              <a:ext cx="45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" name="直接箭头连接符 35"/>
            <p:cNvCxnSpPr/>
            <p:nvPr>
              <p:custDataLst>
                <p:tags r:id="rId6"/>
              </p:custDataLst>
            </p:nvPr>
          </p:nvCxnSpPr>
          <p:spPr bwMode="auto">
            <a:xfrm flipH="1">
              <a:off x="5272" y="4422"/>
              <a:ext cx="5953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7" name="直接箭头连接符 46"/>
            <p:cNvCxnSpPr/>
            <p:nvPr>
              <p:custDataLst>
                <p:tags r:id="rId7"/>
              </p:custDataLst>
            </p:nvPr>
          </p:nvCxnSpPr>
          <p:spPr bwMode="auto">
            <a:xfrm flipH="1" flipV="1">
              <a:off x="11226" y="4422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8" name="直接箭头连接符 47"/>
            <p:cNvCxnSpPr/>
            <p:nvPr>
              <p:custDataLst>
                <p:tags r:id="rId8"/>
              </p:custDataLst>
            </p:nvPr>
          </p:nvCxnSpPr>
          <p:spPr bwMode="auto">
            <a:xfrm flipH="1">
              <a:off x="5272" y="515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9" name="Oval 101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2076" y="5216"/>
              <a:ext cx="454" cy="454"/>
            </a:xfrm>
            <a:prstGeom prst="ellipse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 anchor="ctr"/>
            <a:p>
              <a:pPr algn="ctr"/>
              <a:r>
                <a:rPr lang="zh-CN" altLang="en-US" sz="1600" b="1" u="none" dirty="0" smtClean="0"/>
                <a:t>＋</a:t>
              </a:r>
              <a:endParaRPr lang="zh-CN" altLang="en-US" sz="1600" b="1" u="none" dirty="0" smtClean="0"/>
            </a:p>
          </p:txBody>
        </p:sp>
        <p:cxnSp>
          <p:nvCxnSpPr>
            <p:cNvPr id="50" name="直接箭头连接符 49"/>
            <p:cNvCxnSpPr/>
            <p:nvPr>
              <p:custDataLst>
                <p:tags r:id="rId10"/>
              </p:custDataLst>
            </p:nvPr>
          </p:nvCxnSpPr>
          <p:spPr bwMode="auto">
            <a:xfrm>
              <a:off x="12303" y="4932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直接箭头连接符 60"/>
            <p:cNvCxnSpPr/>
            <p:nvPr>
              <p:custDataLst>
                <p:tags r:id="rId11"/>
              </p:custDataLst>
            </p:nvPr>
          </p:nvCxnSpPr>
          <p:spPr bwMode="auto">
            <a:xfrm>
              <a:off x="12302" y="5669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65" name="Text Box 522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044245" y="3716085"/>
            <a:ext cx="579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实现</a:t>
            </a:r>
            <a:r>
              <a:rPr lang="zh-CN" sz="1800" b="1" u="none" dirty="0" smtClean="0">
                <a:latin typeface="宋体" panose="02010600030101010101" pitchFamily="2" charset="-122"/>
              </a:rPr>
              <a:t>地址变换的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硬件名称？段表基址放在哪里？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sp>
        <p:nvSpPr>
          <p:cNvPr id="66" name="Text Box 522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043940" y="4104005"/>
            <a:ext cx="3343275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sz="1800" b="1" u="none" dirty="0" smtClean="0">
                <a:latin typeface="宋体" panose="02010600030101010101" pitchFamily="2" charset="-122"/>
              </a:rPr>
              <a:t>判断异常有什么好处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？</a:t>
            </a:r>
            <a:endParaRPr lang="zh-CN" altLang="en-US" sz="1800" b="1" u="none" dirty="0">
              <a:latin typeface="宋体" panose="02010600030101010101" pitchFamily="2" charset="-122"/>
            </a:endParaRPr>
          </a:p>
        </p:txBody>
      </p:sp>
      <p:sp>
        <p:nvSpPr>
          <p:cNvPr id="167" name="Text Box 522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912245" y="3708000"/>
            <a:ext cx="1800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en-US" sz="1800" b="1" u="none" dirty="0" smtClean="0">
                <a:latin typeface="宋体" panose="02010600030101010101" pitchFamily="2" charset="-122"/>
                <a:sym typeface="+mn-ea"/>
              </a:rPr>
              <a:t>MMU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的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中</a:t>
            </a:r>
            <a:endParaRPr lang="en-US" altLang="zh-CN" sz="1600" b="1" u="none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67" name="Text Box 522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499610" y="4104005"/>
            <a:ext cx="3240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防止进程被破坏，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如病毒、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BUG</a:t>
            </a:r>
            <a:endParaRPr lang="en-US" altLang="zh-CN" sz="1600" b="1" u="none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68" name="Text Box 124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296000" y="4464050"/>
            <a:ext cx="7290435" cy="760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利于进程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共享与保护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面向软件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主存空间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利用率低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1600" b="1" u="none" dirty="0" smtClean="0">
                <a:latin typeface="宋体" panose="02010600030101010101" pitchFamily="2" charset="-122"/>
              </a:rPr>
              <a:t> 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              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 </a:t>
            </a:r>
            <a:r>
              <a:rPr lang="zh-CN" altLang="en-US" sz="16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←程序结构基于段   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              </a:t>
            </a:r>
            <a:r>
              <a:rPr lang="zh-CN" altLang="en-US" sz="16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←碎片较大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440180" y="2484120"/>
            <a:ext cx="6299835" cy="1115695"/>
            <a:chOff x="2268" y="3912"/>
            <a:chExt cx="9921" cy="1757"/>
          </a:xfrm>
        </p:grpSpPr>
        <p:sp>
          <p:nvSpPr>
            <p:cNvPr id="53" name="Text Box 47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705" y="3912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p>
              <a:pPr lvl="0" algn="l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段号</a:t>
              </a:r>
              <a:endParaRPr lang="zh-CN" altLang="en-US" sz="1600" b="1" dirty="0" smtClean="0">
                <a:latin typeface="宋体" panose="02010600030101010101" pitchFamily="2" charset="-122"/>
                <a:sym typeface="+mn-ea"/>
              </a:endParaRPr>
            </a:p>
          </p:txBody>
        </p:sp>
        <p:sp>
          <p:nvSpPr>
            <p:cNvPr id="59" name="Text Box 55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818" y="4252"/>
              <a:ext cx="397" cy="1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i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0" name="Text Box 87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441" y="3912"/>
              <a:ext cx="3005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装入位 段首址 段长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7" name="直接箭头连接符 6"/>
            <p:cNvCxnSpPr/>
            <p:nvPr>
              <p:custDataLst>
                <p:tags r:id="rId20"/>
              </p:custDataLst>
            </p:nvPr>
          </p:nvCxnSpPr>
          <p:spPr bwMode="auto">
            <a:xfrm>
              <a:off x="5442" y="4592"/>
              <a:ext cx="3005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" name="直接箭头连接符 7"/>
            <p:cNvCxnSpPr/>
            <p:nvPr>
              <p:custDataLst>
                <p:tags r:id="rId21"/>
              </p:custDataLst>
            </p:nvPr>
          </p:nvCxnSpPr>
          <p:spPr bwMode="auto">
            <a:xfrm>
              <a:off x="5442" y="4933"/>
              <a:ext cx="3005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" name="直接箭头连接符 8"/>
            <p:cNvCxnSpPr/>
            <p:nvPr>
              <p:custDataLst>
                <p:tags r:id="rId22"/>
              </p:custDataLst>
            </p:nvPr>
          </p:nvCxnSpPr>
          <p:spPr bwMode="auto">
            <a:xfrm>
              <a:off x="6462" y="4250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" name="直接箭头连接符 9"/>
            <p:cNvCxnSpPr/>
            <p:nvPr>
              <p:custDataLst>
                <p:tags r:id="rId23"/>
              </p:custDataLst>
            </p:nvPr>
          </p:nvCxnSpPr>
          <p:spPr bwMode="auto">
            <a:xfrm>
              <a:off x="7653" y="4250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" name="Text Box 99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268" y="4138"/>
              <a:ext cx="1417" cy="340"/>
            </a:xfrm>
            <a:prstGeom prst="rect">
              <a:avLst/>
            </a:prstGeom>
            <a:noFill/>
            <a:ln w="15875">
              <a:solidFill>
                <a:srgbClr val="0070C0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chemeClr val="tx2"/>
                  </a:solidFill>
                  <a:latin typeface="宋体" panose="02010600030101010101" pitchFamily="2" charset="-122"/>
                </a:rPr>
                <a:t>段表基址</a:t>
              </a:r>
              <a:endParaRPr lang="zh-CN" altLang="en-US" sz="1600" b="1" u="none" dirty="0">
                <a:solidFill>
                  <a:schemeClr val="tx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" name="Text Box 47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5896" y="5329"/>
              <a:ext cx="2098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段表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主存中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3" name="直接箭头连接符 12"/>
            <p:cNvCxnSpPr/>
            <p:nvPr>
              <p:custDataLst>
                <p:tags r:id="rId26"/>
              </p:custDataLst>
            </p:nvPr>
          </p:nvCxnSpPr>
          <p:spPr bwMode="auto">
            <a:xfrm>
              <a:off x="3685" y="4308"/>
              <a:ext cx="454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3" name="Text Box 87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8731" y="3968"/>
              <a:ext cx="113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虚地址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88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9071" y="5329"/>
              <a:ext cx="113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实地址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" name="Text Box 96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9922" y="3968"/>
              <a:ext cx="794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段号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" name="Text Box 97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0715" y="3968"/>
              <a:ext cx="1474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>
                  <a:latin typeface="宋体" panose="02010600030101010101" pitchFamily="2" charset="-122"/>
                </a:rPr>
                <a:t>段内地址</a:t>
              </a:r>
              <a:endParaRPr lang="zh-CN" altLang="en-US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7" name="Text Box 98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0205" y="5329"/>
              <a:ext cx="198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物理地址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0" name="Text Box 99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2268" y="4479"/>
              <a:ext cx="1417" cy="340"/>
            </a:xfrm>
            <a:prstGeom prst="rect">
              <a:avLst/>
            </a:prstGeom>
            <a:noFill/>
            <a:ln w="15875">
              <a:solidFill>
                <a:srgbClr val="0070C0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chemeClr val="tx2"/>
                  </a:solidFill>
                  <a:latin typeface="宋体" panose="02010600030101010101" pitchFamily="2" charset="-122"/>
                </a:rPr>
                <a:t>段表长度</a:t>
              </a:r>
              <a:endParaRPr lang="zh-CN" altLang="en-US" sz="1600" b="1" u="none" dirty="0">
                <a:solidFill>
                  <a:schemeClr val="tx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4" name="Text Box 49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5442" y="4252"/>
              <a:ext cx="3005" cy="102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  xx    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bldLvl="0" animBg="1"/>
      <p:bldP spid="66" grpId="0" bldLvl="0" animBg="1"/>
      <p:bldP spid="167" grpId="0" bldLvl="0" animBg="1"/>
      <p:bldP spid="67" grpId="0" bldLvl="0" animBg="1"/>
      <p:bldP spid="68" grpId="0" bldLvl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/>
          </a:p>
        </p:txBody>
      </p:sp>
      <p:sp>
        <p:nvSpPr>
          <p:cNvPr id="61" name="AutoShape 4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9877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AutoShape 57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3995937" y="652370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7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705" y="360045"/>
            <a:ext cx="2917825" cy="6054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页式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VM</a:t>
            </a: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页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式管理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600" b="1" u="none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管理方式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页表组成：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页表存放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地址变换过程：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特点：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9" name="Text Box 12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73250" y="791845"/>
            <a:ext cx="7016115" cy="390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虚存</a:t>
            </a:r>
            <a:r>
              <a:rPr lang="en-US" altLang="zh-CN" sz="2200" b="1" u="none" dirty="0">
                <a:latin typeface="宋体" panose="02010600030101010101" pitchFamily="2" charset="-122"/>
              </a:rPr>
              <a:t>&amp;</a:t>
            </a:r>
            <a:r>
              <a:rPr lang="zh-CN" altLang="en-US" sz="2200" b="1" u="none" dirty="0">
                <a:latin typeface="宋体" panose="02010600030101010101" pitchFamily="2" charset="-122"/>
              </a:rPr>
              <a:t>主存空间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按页大小</a:t>
            </a:r>
            <a:r>
              <a:rPr lang="zh-CN" altLang="en-US" sz="2200" b="1" u="none" dirty="0">
                <a:latin typeface="宋体" panose="02010600030101010101" pitchFamily="2" charset="-122"/>
              </a:rPr>
              <a:t>划分成若干个页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</a:t>
            </a: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主存空间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按页</a:t>
            </a:r>
            <a:r>
              <a:rPr lang="zh-CN" altLang="en-US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进行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分配 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 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←页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可</a:t>
            </a:r>
            <a:r>
              <a:rPr lang="zh-CN" altLang="en-US" sz="18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不连续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，可</a:t>
            </a:r>
            <a:r>
              <a:rPr lang="zh-CN" altLang="en-US" sz="1800" b="1" u="none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多次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分配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             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虚拟地址＝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&lt;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虚页号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,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页内地址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&gt;</a:t>
            </a:r>
            <a:endParaRPr lang="en-US" altLang="zh-CN" sz="20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                    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物理地址＝</a:t>
            </a:r>
            <a:r>
              <a:rPr lang="en-US" altLang="zh-CN" sz="20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&lt;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实页号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,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页内地址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&gt;</a:t>
            </a:r>
            <a:endParaRPr lang="en-US" altLang="zh-CN" sz="20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按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虚页号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索引，行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数＝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程序段数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主存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中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页表太大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基于成本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计算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表项地址，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读取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表项内容，</a:t>
            </a: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拼接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成实地址、判断是否有异常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越界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u="none" dirty="0" smtClean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1116965" y="1737995"/>
            <a:ext cx="3204845" cy="1151890"/>
            <a:chOff x="2324" y="7483"/>
            <a:chExt cx="5047" cy="1814"/>
          </a:xfrm>
        </p:grpSpPr>
        <p:sp>
          <p:nvSpPr>
            <p:cNvPr id="101" name="Rectangle 132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31" y="8617"/>
              <a:ext cx="1020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22" name="Text Box 11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324" y="7483"/>
              <a:ext cx="1928" cy="45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u="none" dirty="0" smtClean="0">
                  <a:latin typeface="宋体" panose="02010600030101010101" pitchFamily="2" charset="-122"/>
                </a:rPr>
                <a:t>虚页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号</a:t>
              </a:r>
              <a:r>
                <a:rPr lang="zh-CN" altLang="en-US" sz="1600" b="1" u="none" baseline="30000" dirty="0">
                  <a:latin typeface="宋体" panose="02010600030101010101" pitchFamily="2" charset="-122"/>
                </a:rPr>
                <a:t> </a:t>
              </a:r>
              <a:r>
                <a:rPr lang="zh-CN" altLang="en-US" sz="18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虚存</a:t>
              </a:r>
              <a:endParaRPr lang="zh-CN" altLang="en-US" sz="16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" name="Text Box 11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443" y="7486"/>
              <a:ext cx="1928" cy="4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800" b="1" u="none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主存</a:t>
              </a:r>
              <a:r>
                <a:rPr lang="zh-CN" altLang="en-US" sz="1600" b="1" u="none" baseline="30000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实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页号</a:t>
              </a:r>
              <a:r>
                <a:rPr lang="zh-CN" altLang="en-US" sz="1600" b="1" u="none" dirty="0">
                  <a:solidFill>
                    <a:srgbClr val="CC3300"/>
                  </a:solidFill>
                  <a:latin typeface="宋体" panose="02010600030101010101" pitchFamily="2" charset="-122"/>
                </a:rPr>
                <a:t> </a:t>
              </a:r>
              <a:endParaRPr lang="zh-CN" altLang="en-US" sz="1600" b="1" u="none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" name="Text Box 118" descr="宽上对角线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328" y="7937"/>
              <a:ext cx="1020" cy="338"/>
            </a:xfrm>
            <a:prstGeom prst="rect">
              <a:avLst/>
            </a:prstGeom>
            <a:pattFill prst="wdUpDiag">
              <a:fgClr>
                <a:schemeClr val="tx1">
                  <a:alpha val="39999"/>
                </a:schemeClr>
              </a:fgClr>
              <a:bgClr>
                <a:schemeClr val="bg1">
                  <a:alpha val="39999"/>
                </a:schemeClr>
              </a:bgClr>
            </a:patt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>
                  <a:latin typeface="宋体" panose="02010600030101010101" pitchFamily="2" charset="-122"/>
                </a:rPr>
                <a:t> 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26" name="Text Box 11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730" y="7951"/>
              <a:ext cx="340" cy="10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2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7" name="Rectangle 12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328" y="8617"/>
              <a:ext cx="1020" cy="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28" name="Rectangle 125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328" y="8277"/>
              <a:ext cx="1020" cy="338"/>
            </a:xfrm>
            <a:prstGeom prst="rect">
              <a:avLst/>
            </a:prstGeom>
            <a:pattFill prst="wdUpDiag">
              <a:fgClr>
                <a:schemeClr val="tx1">
                  <a:lumMod val="50000"/>
                  <a:lumOff val="50000"/>
                </a:schemeClr>
              </a:fgClr>
              <a:bgClr>
                <a:schemeClr val="bg1"/>
              </a:bgClr>
            </a:patt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82" name="Rectangle 126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328" y="8958"/>
              <a:ext cx="1020" cy="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83" name="Text Box 128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576" y="7937"/>
              <a:ext cx="340" cy="136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3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86" name="Rectangle 132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231" y="8277"/>
              <a:ext cx="1020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87" name="Rectangle 196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231" y="8674"/>
              <a:ext cx="1020" cy="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88" name="Rectangle 197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328" y="9014"/>
              <a:ext cx="1020" cy="5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99" name="直接箭头连接符 98"/>
            <p:cNvCxnSpPr/>
            <p:nvPr>
              <p:custDataLst>
                <p:tags r:id="rId16"/>
              </p:custDataLst>
            </p:nvPr>
          </p:nvCxnSpPr>
          <p:spPr bwMode="auto">
            <a:xfrm>
              <a:off x="4252" y="8107"/>
              <a:ext cx="1077" cy="68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0" name="直接箭头连接符 99"/>
            <p:cNvCxnSpPr>
              <a:endCxn id="82" idx="1"/>
            </p:cNvCxnSpPr>
            <p:nvPr>
              <p:custDataLst>
                <p:tags r:id="rId17"/>
              </p:custDataLst>
            </p:nvPr>
          </p:nvCxnSpPr>
          <p:spPr bwMode="auto">
            <a:xfrm>
              <a:off x="4252" y="8844"/>
              <a:ext cx="1076" cy="3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2" name="Rectangle 132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231" y="7937"/>
              <a:ext cx="1020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</p:grpSp>
      <p:grpSp>
        <p:nvGrpSpPr>
          <p:cNvPr id="119" name="组合 118"/>
          <p:cNvGrpSpPr/>
          <p:nvPr/>
        </p:nvGrpSpPr>
        <p:grpSpPr>
          <a:xfrm>
            <a:off x="6228000" y="2700000"/>
            <a:ext cx="2591435" cy="863600"/>
            <a:chOff x="4252" y="7994"/>
            <a:chExt cx="4081" cy="1360"/>
          </a:xfrm>
        </p:grpSpPr>
        <p:sp>
          <p:nvSpPr>
            <p:cNvPr id="123" name="Text Box 87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327" y="7994"/>
              <a:ext cx="3005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装入位 实页号 其他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20" name="Text Box 47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252" y="7994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p>
              <a:pPr lvl="0" algn="l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600" b="1" u="none" dirty="0" smtClean="0">
                  <a:latin typeface="宋体" panose="02010600030101010101" pitchFamily="2" charset="-122"/>
                  <a:sym typeface="+mn-ea"/>
                </a:rPr>
                <a:t>虚页号</a:t>
              </a:r>
              <a:endParaRPr lang="zh-CN" altLang="en-US" sz="1600" b="1" u="none" dirty="0" smtClean="0">
                <a:latin typeface="宋体" panose="02010600030101010101" pitchFamily="2" charset="-122"/>
                <a:sym typeface="+mn-ea"/>
              </a:endParaRPr>
            </a:p>
          </p:txBody>
        </p:sp>
        <p:sp>
          <p:nvSpPr>
            <p:cNvPr id="121" name="Text Box 49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5328" y="8334"/>
              <a:ext cx="3005" cy="1019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1     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2     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 smtClean="0">
                  <a:solidFill>
                    <a:schemeClr val="tx2"/>
                  </a:solidFill>
                  <a:latin typeface="宋体" panose="02010600030101010101" pitchFamily="2" charset="-122"/>
                </a:rPr>
                <a:t>0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        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1      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3     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22" name="Text Box 55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704" y="8334"/>
              <a:ext cx="397" cy="1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1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2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24" name="直接箭头连接符 123"/>
            <p:cNvCxnSpPr/>
            <p:nvPr>
              <p:custDataLst>
                <p:tags r:id="rId23"/>
              </p:custDataLst>
            </p:nvPr>
          </p:nvCxnSpPr>
          <p:spPr bwMode="auto">
            <a:xfrm>
              <a:off x="5328" y="8675"/>
              <a:ext cx="3005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9" name="直接箭头连接符 128"/>
            <p:cNvCxnSpPr/>
            <p:nvPr>
              <p:custDataLst>
                <p:tags r:id="rId24"/>
              </p:custDataLst>
            </p:nvPr>
          </p:nvCxnSpPr>
          <p:spPr bwMode="auto">
            <a:xfrm>
              <a:off x="5328" y="9015"/>
              <a:ext cx="3005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0" name="直接箭头连接符 129"/>
            <p:cNvCxnSpPr/>
            <p:nvPr>
              <p:custDataLst>
                <p:tags r:id="rId25"/>
              </p:custDataLst>
            </p:nvPr>
          </p:nvCxnSpPr>
          <p:spPr bwMode="auto">
            <a:xfrm>
              <a:off x="6406" y="8333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1" name="直接箭头连接符 130"/>
            <p:cNvCxnSpPr/>
            <p:nvPr>
              <p:custDataLst>
                <p:tags r:id="rId26"/>
              </p:custDataLst>
            </p:nvPr>
          </p:nvCxnSpPr>
          <p:spPr bwMode="auto">
            <a:xfrm>
              <a:off x="7539" y="8333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155" name="组合 154"/>
          <p:cNvGrpSpPr/>
          <p:nvPr/>
        </p:nvGrpSpPr>
        <p:grpSpPr>
          <a:xfrm>
            <a:off x="1440180" y="4788000"/>
            <a:ext cx="6623320" cy="1106805"/>
            <a:chOff x="2042" y="8561"/>
            <a:chExt cx="10430" cy="1743"/>
          </a:xfrm>
        </p:grpSpPr>
        <p:sp>
          <p:nvSpPr>
            <p:cNvPr id="106" name="Text Box 47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478" y="8561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p>
              <a:pPr lvl="0" algn="l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600" b="1" u="none" dirty="0" smtClean="0">
                  <a:latin typeface="宋体" panose="02010600030101010101" pitchFamily="2" charset="-122"/>
                  <a:sym typeface="+mn-ea"/>
                </a:rPr>
                <a:t>虚页号</a:t>
              </a:r>
              <a:endParaRPr lang="zh-CN" altLang="en-US" sz="1600" b="1" u="none" dirty="0" smtClean="0">
                <a:latin typeface="宋体" panose="02010600030101010101" pitchFamily="2" charset="-122"/>
                <a:sym typeface="+mn-ea"/>
              </a:endParaRPr>
            </a:p>
          </p:txBody>
        </p:sp>
        <p:sp>
          <p:nvSpPr>
            <p:cNvPr id="107" name="Text Box 49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554" y="8901"/>
              <a:ext cx="3005" cy="1019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 smtClean="0">
                  <a:solidFill>
                    <a:schemeClr val="tx2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  xx  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08" name="Text Box 55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930" y="8901"/>
              <a:ext cx="397" cy="1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i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9" name="Text Box 87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5553" y="8561"/>
              <a:ext cx="3005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装入位 实页号 其他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9" name="直接箭头连接符 28"/>
            <p:cNvCxnSpPr/>
            <p:nvPr>
              <p:custDataLst>
                <p:tags r:id="rId31"/>
              </p:custDataLst>
            </p:nvPr>
          </p:nvCxnSpPr>
          <p:spPr bwMode="auto">
            <a:xfrm>
              <a:off x="5554" y="9242"/>
              <a:ext cx="3005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1" name="直接箭头连接符 110"/>
            <p:cNvCxnSpPr/>
            <p:nvPr>
              <p:custDataLst>
                <p:tags r:id="rId32"/>
              </p:custDataLst>
            </p:nvPr>
          </p:nvCxnSpPr>
          <p:spPr bwMode="auto">
            <a:xfrm>
              <a:off x="5554" y="9582"/>
              <a:ext cx="3005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2" name="直接箭头连接符 111"/>
            <p:cNvCxnSpPr/>
            <p:nvPr>
              <p:custDataLst>
                <p:tags r:id="rId33"/>
              </p:custDataLst>
            </p:nvPr>
          </p:nvCxnSpPr>
          <p:spPr bwMode="auto">
            <a:xfrm>
              <a:off x="6634" y="8900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0" name="直接箭头连接符 29"/>
            <p:cNvCxnSpPr/>
            <p:nvPr>
              <p:custDataLst>
                <p:tags r:id="rId34"/>
              </p:custDataLst>
            </p:nvPr>
          </p:nvCxnSpPr>
          <p:spPr bwMode="auto">
            <a:xfrm>
              <a:off x="7765" y="8900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4" name="Text Box 47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6122" y="9964"/>
              <a:ext cx="2098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页表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主存中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3" name="Text Box 99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2042" y="8787"/>
              <a:ext cx="1417" cy="340"/>
            </a:xfrm>
            <a:prstGeom prst="rect">
              <a:avLst/>
            </a:prstGeom>
            <a:noFill/>
            <a:ln w="15875">
              <a:solidFill>
                <a:srgbClr val="0070C0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chemeClr val="tx2"/>
                  </a:solidFill>
                  <a:latin typeface="宋体" panose="02010600030101010101" pitchFamily="2" charset="-122"/>
                </a:rPr>
                <a:t>页表基址</a:t>
              </a:r>
              <a:endParaRPr lang="zh-CN" altLang="en-US" sz="1600" b="1" u="none" dirty="0">
                <a:solidFill>
                  <a:schemeClr val="tx2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45" name="直接箭头连接符 144"/>
            <p:cNvCxnSpPr/>
            <p:nvPr>
              <p:custDataLst>
                <p:tags r:id="rId37"/>
              </p:custDataLst>
            </p:nvPr>
          </p:nvCxnSpPr>
          <p:spPr bwMode="auto">
            <a:xfrm>
              <a:off x="3459" y="8957"/>
              <a:ext cx="454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6" name="Text Box 87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8731" y="8617"/>
              <a:ext cx="113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虚地址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7" name="Text Box 8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8731" y="9865"/>
              <a:ext cx="113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实地址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8" name="Text Box 96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9922" y="8617"/>
              <a:ext cx="107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虚页号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9" name="Text Box 97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10998" y="8617"/>
              <a:ext cx="1474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>
                  <a:latin typeface="宋体" panose="02010600030101010101" pitchFamily="2" charset="-122"/>
                </a:rPr>
                <a:t>页内地址</a:t>
              </a:r>
              <a:endParaRPr lang="zh-CN" altLang="en-US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52" name="Text Box 99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2042" y="9128"/>
              <a:ext cx="1417" cy="340"/>
            </a:xfrm>
            <a:prstGeom prst="rect">
              <a:avLst/>
            </a:prstGeom>
            <a:noFill/>
            <a:ln w="15875">
              <a:solidFill>
                <a:srgbClr val="0070C0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chemeClr val="tx2"/>
                  </a:solidFill>
                  <a:latin typeface="宋体" panose="02010600030101010101" pitchFamily="2" charset="-122"/>
                </a:rPr>
                <a:t>页表长度</a:t>
              </a:r>
              <a:endParaRPr lang="zh-CN" altLang="en-US" sz="1600" b="1" u="none" dirty="0">
                <a:solidFill>
                  <a:schemeClr val="tx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3" name="Text Box 96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9921" y="9865"/>
              <a:ext cx="107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实页号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4" name="Text Box 97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10998" y="9865"/>
              <a:ext cx="147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>
                  <a:latin typeface="宋体" panose="02010600030101010101" pitchFamily="2" charset="-122"/>
                </a:rPr>
                <a:t>页内地址</a:t>
              </a:r>
              <a:endParaRPr lang="zh-CN" altLang="en-US" sz="1600" b="1" u="none">
                <a:latin typeface="宋体" panose="02010600030101010101" pitchFamily="2" charset="-122"/>
              </a:endParaRPr>
            </a:p>
          </p:txBody>
        </p:sp>
      </p:grpSp>
      <p:grpSp>
        <p:nvGrpSpPr>
          <p:cNvPr id="169" name="组合 168"/>
          <p:cNvGrpSpPr/>
          <p:nvPr/>
        </p:nvGrpSpPr>
        <p:grpSpPr>
          <a:xfrm>
            <a:off x="2628000" y="4716000"/>
            <a:ext cx="4932045" cy="900335"/>
            <a:chOff x="4025" y="8447"/>
            <a:chExt cx="7767" cy="1418"/>
          </a:xfrm>
        </p:grpSpPr>
        <p:sp>
          <p:nvSpPr>
            <p:cNvPr id="157" name="Oval 101"/>
            <p:cNvSpPr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4025" y="8731"/>
              <a:ext cx="454" cy="454"/>
            </a:xfrm>
            <a:prstGeom prst="ellipse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 anchor="ctr"/>
            <a:p>
              <a:pPr algn="ctr"/>
              <a:r>
                <a:rPr lang="zh-CN" altLang="en-US" sz="1600" b="1" u="none" dirty="0" smtClean="0"/>
                <a:t>＋</a:t>
              </a:r>
              <a:endParaRPr lang="zh-CN" altLang="en-US" sz="1600" b="1" u="none" dirty="0" smtClean="0"/>
            </a:p>
          </p:txBody>
        </p:sp>
        <p:cxnSp>
          <p:nvCxnSpPr>
            <p:cNvPr id="158" name="直接连接符 75"/>
            <p:cNvCxnSpPr/>
            <p:nvPr>
              <p:custDataLst>
                <p:tags r:id="rId46"/>
              </p:custDataLst>
            </p:nvPr>
          </p:nvCxnSpPr>
          <p:spPr bwMode="auto">
            <a:xfrm>
              <a:off x="7597" y="9468"/>
              <a:ext cx="2948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159" name="直接箭头连接符 158"/>
            <p:cNvCxnSpPr/>
            <p:nvPr>
              <p:custDataLst>
                <p:tags r:id="rId47"/>
              </p:custDataLst>
            </p:nvPr>
          </p:nvCxnSpPr>
          <p:spPr bwMode="auto">
            <a:xfrm>
              <a:off x="4251" y="8447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0" name="直接箭头连接符 159"/>
            <p:cNvCxnSpPr/>
            <p:nvPr>
              <p:custDataLst>
                <p:tags r:id="rId48"/>
              </p:custDataLst>
            </p:nvPr>
          </p:nvCxnSpPr>
          <p:spPr bwMode="auto">
            <a:xfrm>
              <a:off x="4251" y="9411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1" name="直接箭头连接符 160"/>
            <p:cNvCxnSpPr/>
            <p:nvPr>
              <p:custDataLst>
                <p:tags r:id="rId49"/>
              </p:custDataLst>
            </p:nvPr>
          </p:nvCxnSpPr>
          <p:spPr bwMode="auto">
            <a:xfrm flipH="1">
              <a:off x="4251" y="8447"/>
              <a:ext cx="6293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2" name="直接箭头连接符 161"/>
            <p:cNvCxnSpPr/>
            <p:nvPr>
              <p:custDataLst>
                <p:tags r:id="rId50"/>
              </p:custDataLst>
            </p:nvPr>
          </p:nvCxnSpPr>
          <p:spPr bwMode="auto">
            <a:xfrm flipH="1" flipV="1">
              <a:off x="10545" y="8447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3" name="直接箭头连接符 162"/>
            <p:cNvCxnSpPr/>
            <p:nvPr>
              <p:custDataLst>
                <p:tags r:id="rId51"/>
              </p:custDataLst>
            </p:nvPr>
          </p:nvCxnSpPr>
          <p:spPr bwMode="auto">
            <a:xfrm flipH="1">
              <a:off x="4251" y="9184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7" name="直接箭头连接符 166"/>
            <p:cNvCxnSpPr/>
            <p:nvPr>
              <p:custDataLst>
                <p:tags r:id="rId52"/>
              </p:custDataLst>
            </p:nvPr>
          </p:nvCxnSpPr>
          <p:spPr bwMode="auto">
            <a:xfrm>
              <a:off x="10545" y="9468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8" name="直接箭头连接符 167"/>
            <p:cNvCxnSpPr/>
            <p:nvPr>
              <p:custDataLst>
                <p:tags r:id="rId53"/>
              </p:custDataLst>
            </p:nvPr>
          </p:nvCxnSpPr>
          <p:spPr bwMode="auto">
            <a:xfrm>
              <a:off x="11792" y="8957"/>
              <a:ext cx="0" cy="90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70" name="Text Box 124"/>
          <p:cNvSpPr txBox="1"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1330960" y="5832000"/>
            <a:ext cx="710247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u="none" spc="-50" dirty="0" smtClean="0">
                <a:latin typeface="宋体" panose="02010600030101010101" pitchFamily="2" charset="-122"/>
              </a:rPr>
              <a:t>主存空间</a:t>
            </a:r>
            <a:r>
              <a:rPr lang="zh-CN" altLang="en-US" sz="2200" b="1" u="sng" spc="-50" dirty="0" smtClean="0">
                <a:latin typeface="宋体" panose="02010600030101010101" pitchFamily="2" charset="-122"/>
              </a:rPr>
              <a:t>利用率高</a:t>
            </a:r>
            <a:r>
              <a:rPr lang="en-US" altLang="zh-CN" sz="1800" b="1" u="none" spc="-50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spc="-50" dirty="0" smtClean="0">
                <a:latin typeface="宋体" panose="02010600030101010101" pitchFamily="2" charset="-122"/>
              </a:rPr>
              <a:t>面向硬件</a:t>
            </a:r>
            <a:r>
              <a:rPr lang="en-US" altLang="zh-CN" sz="1800" b="1" u="none" spc="-50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u="none" spc="-50" dirty="0" smtClean="0">
                <a:latin typeface="宋体" panose="02010600030101010101" pitchFamily="2" charset="-122"/>
              </a:rPr>
              <a:t>，进程共享与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保护</a:t>
            </a:r>
            <a:r>
              <a:rPr lang="zh-CN" altLang="en-US" sz="2200" b="1" u="sng" spc="-50" dirty="0" smtClean="0">
                <a:latin typeface="宋体" panose="02010600030101010101" pitchFamily="2" charset="-122"/>
              </a:rPr>
              <a:t>有限</a:t>
            </a:r>
            <a:endParaRPr lang="zh-CN" altLang="en-US" sz="2200" b="1" u="sng" spc="-50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 bldLvl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/>
          </a:p>
        </p:txBody>
      </p:sp>
      <p:sp>
        <p:nvSpPr>
          <p:cNvPr id="46" name="AutoShape 57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076750" y="652370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Text Box 7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705" y="360045"/>
            <a:ext cx="3488055" cy="57080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、段</a:t>
            </a:r>
            <a:r>
              <a:rPr 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页式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VM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段页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式管理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600" b="1" u="none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管理方式：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0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0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管理表组成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存放：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地址变换过程：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16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16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特点：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3" name="Text Box 12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37055" y="764540"/>
            <a:ext cx="6729095" cy="25920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>
                <a:latin typeface="宋体" panose="02010600030101010101" pitchFamily="2" charset="-122"/>
              </a:rPr>
              <a:t>VM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空间</a:t>
            </a:r>
            <a:r>
              <a:rPr lang="zh-CN" altLang="en-US" sz="2200" b="1" u="sng" spc="-50" dirty="0">
                <a:solidFill>
                  <a:srgbClr val="0070C0"/>
                </a:solidFill>
                <a:latin typeface="宋体" panose="02010600030101010101" pitchFamily="2" charset="-122"/>
              </a:rPr>
              <a:t>先分段、再分页</a:t>
            </a:r>
            <a:r>
              <a:rPr lang="zh-CN" altLang="en-US" sz="2200" b="1" u="none" spc="-50" dirty="0">
                <a:latin typeface="宋体" panose="02010600030101010101" pitchFamily="2" charset="-122"/>
              </a:rPr>
              <a:t>，主存空间</a:t>
            </a:r>
            <a:r>
              <a:rPr lang="zh-CN" altLang="en-US" sz="2200" b="1" u="sng" spc="-50" dirty="0">
                <a:solidFill>
                  <a:srgbClr val="0070C0"/>
                </a:solidFill>
                <a:latin typeface="宋体" panose="02010600030101010101" pitchFamily="2" charset="-122"/>
              </a:rPr>
              <a:t>仅分页</a:t>
            </a:r>
            <a:r>
              <a:rPr lang="zh-CN" altLang="en-US" sz="2200" b="1" u="none" spc="-50" dirty="0" smtClean="0">
                <a:latin typeface="宋体" panose="02010600030101010101" pitchFamily="2" charset="-122"/>
              </a:rPr>
              <a:t>；</a:t>
            </a:r>
            <a:endParaRPr lang="en-US" altLang="zh-CN" sz="2200" b="1" u="none" spc="-50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主存空间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按页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进行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分配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虚拟地址＝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&lt;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段号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,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段内页号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,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页内地址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&gt;</a:t>
            </a:r>
            <a:endParaRPr lang="en-US" altLang="zh-CN" sz="20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物理地址＝</a:t>
            </a:r>
            <a:r>
              <a:rPr lang="en-US" altLang="zh-CN" sz="20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&lt;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实页号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,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页内地址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&gt;</a:t>
            </a:r>
            <a:endParaRPr lang="en-US" altLang="zh-CN" sz="20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 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  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一个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段表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＋</a:t>
            </a:r>
            <a:r>
              <a:rPr lang="zh-CN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多个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页表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，均放</a:t>
            </a:r>
            <a:r>
              <a:rPr lang="zh-CN" altLang="en-US" sz="2200" b="1" u="none" dirty="0">
                <a:latin typeface="宋体" panose="02010600030101010101" pitchFamily="2" charset="-122"/>
              </a:rPr>
              <a:t>在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主存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中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段式、页式地址变换的组合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次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访存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332230" y="3384000"/>
            <a:ext cx="5544185" cy="756285"/>
            <a:chOff x="2098" y="4195"/>
            <a:chExt cx="8731" cy="1191"/>
          </a:xfrm>
        </p:grpSpPr>
        <p:sp>
          <p:nvSpPr>
            <p:cNvPr id="157" name="Oval 10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098" y="4706"/>
              <a:ext cx="454" cy="454"/>
            </a:xfrm>
            <a:prstGeom prst="ellipse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 anchor="ctr"/>
            <a:p>
              <a:pPr algn="ctr"/>
              <a:r>
                <a:rPr lang="zh-CN" altLang="en-US" sz="1600" b="1" u="none" dirty="0" smtClean="0"/>
                <a:t>＋</a:t>
              </a:r>
              <a:endParaRPr lang="zh-CN" altLang="en-US" sz="1600" b="1" u="none" dirty="0" smtClean="0"/>
            </a:p>
          </p:txBody>
        </p:sp>
        <p:cxnSp>
          <p:nvCxnSpPr>
            <p:cNvPr id="159" name="直接箭头连接符 158"/>
            <p:cNvCxnSpPr/>
            <p:nvPr>
              <p:custDataLst>
                <p:tags r:id="rId5"/>
              </p:custDataLst>
            </p:nvPr>
          </p:nvCxnSpPr>
          <p:spPr bwMode="auto">
            <a:xfrm>
              <a:off x="2324" y="4195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0" name="直接箭头连接符 159"/>
            <p:cNvCxnSpPr/>
            <p:nvPr>
              <p:custDataLst>
                <p:tags r:id="rId6"/>
              </p:custDataLst>
            </p:nvPr>
          </p:nvCxnSpPr>
          <p:spPr bwMode="auto">
            <a:xfrm>
              <a:off x="2324" y="5386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1" name="直接箭头连接符 160"/>
            <p:cNvCxnSpPr/>
            <p:nvPr>
              <p:custDataLst>
                <p:tags r:id="rId7"/>
              </p:custDataLst>
            </p:nvPr>
          </p:nvCxnSpPr>
          <p:spPr bwMode="auto">
            <a:xfrm flipH="1">
              <a:off x="2324" y="4195"/>
              <a:ext cx="8504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2" name="直接箭头连接符 161"/>
            <p:cNvCxnSpPr/>
            <p:nvPr>
              <p:custDataLst>
                <p:tags r:id="rId8"/>
              </p:custDataLst>
            </p:nvPr>
          </p:nvCxnSpPr>
          <p:spPr bwMode="auto">
            <a:xfrm flipH="1" flipV="1">
              <a:off x="10829" y="4195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3" name="直接箭头连接符 162"/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2324" y="515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4" name="组合 3"/>
          <p:cNvGrpSpPr/>
          <p:nvPr/>
        </p:nvGrpSpPr>
        <p:grpSpPr>
          <a:xfrm>
            <a:off x="4572000" y="3492000"/>
            <a:ext cx="3924300" cy="899795"/>
            <a:chOff x="7200" y="5614"/>
            <a:chExt cx="6180" cy="1417"/>
          </a:xfrm>
        </p:grpSpPr>
        <p:cxnSp>
          <p:nvCxnSpPr>
            <p:cNvPr id="5" name="直接箭头连接符 4"/>
            <p:cNvCxnSpPr/>
            <p:nvPr>
              <p:custDataLst>
                <p:tags r:id="rId10"/>
              </p:custDataLst>
            </p:nvPr>
          </p:nvCxnSpPr>
          <p:spPr bwMode="auto">
            <a:xfrm>
              <a:off x="12076" y="6635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" name="直接箭头连接符 5"/>
            <p:cNvCxnSpPr/>
            <p:nvPr>
              <p:custDataLst>
                <p:tags r:id="rId11"/>
              </p:custDataLst>
            </p:nvPr>
          </p:nvCxnSpPr>
          <p:spPr bwMode="auto">
            <a:xfrm>
              <a:off x="13380" y="6124"/>
              <a:ext cx="0" cy="90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" name="Oval 101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200" y="5955"/>
              <a:ext cx="454" cy="454"/>
            </a:xfrm>
            <a:prstGeom prst="ellipse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 anchor="ctr"/>
            <a:p>
              <a:pPr algn="ctr"/>
              <a:r>
                <a:rPr lang="zh-CN" altLang="en-US" sz="1600" b="1" u="none" dirty="0" smtClean="0"/>
                <a:t>＋</a:t>
              </a:r>
              <a:endParaRPr lang="zh-CN" altLang="en-US" sz="1600" b="1" u="none" dirty="0" smtClean="0"/>
            </a:p>
          </p:txBody>
        </p:sp>
        <p:cxnSp>
          <p:nvCxnSpPr>
            <p:cNvPr id="8" name="直接连接符 75"/>
            <p:cNvCxnSpPr/>
            <p:nvPr>
              <p:custDataLst>
                <p:tags r:id="rId13"/>
              </p:custDataLst>
            </p:nvPr>
          </p:nvCxnSpPr>
          <p:spPr bwMode="auto">
            <a:xfrm>
              <a:off x="9808" y="6635"/>
              <a:ext cx="2268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9" name="直接箭头连接符 8"/>
            <p:cNvCxnSpPr/>
            <p:nvPr>
              <p:custDataLst>
                <p:tags r:id="rId14"/>
              </p:custDataLst>
            </p:nvPr>
          </p:nvCxnSpPr>
          <p:spPr bwMode="auto">
            <a:xfrm>
              <a:off x="7426" y="5614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3" name="直接箭头连接符 72"/>
            <p:cNvCxnSpPr/>
            <p:nvPr>
              <p:custDataLst>
                <p:tags r:id="rId15"/>
              </p:custDataLst>
            </p:nvPr>
          </p:nvCxnSpPr>
          <p:spPr bwMode="auto">
            <a:xfrm>
              <a:off x="7426" y="6635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4" name="直接箭头连接符 73"/>
            <p:cNvCxnSpPr/>
            <p:nvPr>
              <p:custDataLst>
                <p:tags r:id="rId16"/>
              </p:custDataLst>
            </p:nvPr>
          </p:nvCxnSpPr>
          <p:spPr bwMode="auto">
            <a:xfrm flipH="1">
              <a:off x="7426" y="5614"/>
              <a:ext cx="4479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5" name="直接箭头连接符 74"/>
            <p:cNvCxnSpPr/>
            <p:nvPr>
              <p:custDataLst>
                <p:tags r:id="rId17"/>
              </p:custDataLst>
            </p:nvPr>
          </p:nvCxnSpPr>
          <p:spPr bwMode="auto">
            <a:xfrm flipH="1" flipV="1">
              <a:off x="11906" y="5614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6" name="直接箭头连接符 75"/>
            <p:cNvCxnSpPr/>
            <p:nvPr>
              <p:custDataLst>
                <p:tags r:id="rId18"/>
              </p:custDataLst>
            </p:nvPr>
          </p:nvCxnSpPr>
          <p:spPr bwMode="auto">
            <a:xfrm flipH="1">
              <a:off x="7426" y="6408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70" name="Text Box 124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1330960" y="5508000"/>
            <a:ext cx="710247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兼有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段式及页式优点，但需</a:t>
            </a:r>
            <a:r>
              <a:rPr lang="en-US" alt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次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访存</a:t>
            </a:r>
            <a:endParaRPr lang="zh-CN" altLang="en-US" sz="2200" b="1" u="sng" spc="-50" dirty="0" smtClean="0">
              <a:latin typeface="宋体" panose="02010600030101010101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15900" y="3383915"/>
            <a:ext cx="8748395" cy="2160905"/>
            <a:chOff x="340" y="5329"/>
            <a:chExt cx="13777" cy="3403"/>
          </a:xfrm>
        </p:grpSpPr>
        <p:sp>
          <p:nvSpPr>
            <p:cNvPr id="11" name="Text Box 87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400" y="5614"/>
              <a:ext cx="3288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装入位 </a:t>
              </a:r>
              <a:r>
                <a:rPr lang="zh-CN" altLang="en-US" sz="16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页表基址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 段长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2" name="Text Box 49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401" y="5954"/>
              <a:ext cx="3288" cy="102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   xx    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  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" name="Text Box 47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2664" y="5614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p>
              <a:pPr lvl="0" algn="l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1600" b="1" u="none" dirty="0" smtClean="0">
                  <a:latin typeface="宋体" panose="02010600030101010101" pitchFamily="2" charset="-122"/>
                  <a:sym typeface="+mn-ea"/>
                </a:rPr>
                <a:t>段号</a:t>
              </a:r>
              <a:endParaRPr lang="zh-CN" altLang="en-US" sz="1600" b="1" u="none" dirty="0" smtClean="0">
                <a:latin typeface="宋体" panose="02010600030101010101" pitchFamily="2" charset="-122"/>
                <a:sym typeface="+mn-ea"/>
              </a:endParaRPr>
            </a:p>
          </p:txBody>
        </p:sp>
        <p:sp>
          <p:nvSpPr>
            <p:cNvPr id="14" name="Text Box 55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777" y="5954"/>
              <a:ext cx="397" cy="1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i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5" name="直接箭头连接符 14"/>
            <p:cNvCxnSpPr/>
            <p:nvPr>
              <p:custDataLst>
                <p:tags r:id="rId24"/>
              </p:custDataLst>
            </p:nvPr>
          </p:nvCxnSpPr>
          <p:spPr bwMode="auto">
            <a:xfrm>
              <a:off x="3401" y="6294"/>
              <a:ext cx="3288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" name="直接箭头连接符 15"/>
            <p:cNvCxnSpPr/>
            <p:nvPr>
              <p:custDataLst>
                <p:tags r:id="rId25"/>
              </p:custDataLst>
            </p:nvPr>
          </p:nvCxnSpPr>
          <p:spPr bwMode="auto">
            <a:xfrm>
              <a:off x="3401" y="6635"/>
              <a:ext cx="3288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" name="直接箭头连接符 16"/>
            <p:cNvCxnSpPr/>
            <p:nvPr>
              <p:custDataLst>
                <p:tags r:id="rId26"/>
              </p:custDataLst>
            </p:nvPr>
          </p:nvCxnSpPr>
          <p:spPr bwMode="auto">
            <a:xfrm>
              <a:off x="4477" y="5952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" name="直接箭头连接符 17"/>
            <p:cNvCxnSpPr/>
            <p:nvPr>
              <p:custDataLst>
                <p:tags r:id="rId27"/>
              </p:custDataLst>
            </p:nvPr>
          </p:nvCxnSpPr>
          <p:spPr bwMode="auto">
            <a:xfrm>
              <a:off x="5894" y="5952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9" name="Text Box 99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340" y="5897"/>
              <a:ext cx="1417" cy="340"/>
            </a:xfrm>
            <a:prstGeom prst="rect">
              <a:avLst/>
            </a:prstGeom>
            <a:noFill/>
            <a:ln w="15875">
              <a:solidFill>
                <a:srgbClr val="0070C0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chemeClr val="tx2"/>
                  </a:solidFill>
                  <a:latin typeface="宋体" panose="02010600030101010101" pitchFamily="2" charset="-122"/>
                </a:rPr>
                <a:t>段表基址</a:t>
              </a:r>
              <a:endParaRPr lang="zh-CN" altLang="en-US" sz="1600" b="1" u="none" dirty="0">
                <a:solidFill>
                  <a:schemeClr val="tx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" name="Text Box 47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3855" y="7031"/>
              <a:ext cx="2098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段表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主存中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1" name="直接箭头连接符 20"/>
            <p:cNvCxnSpPr/>
            <p:nvPr>
              <p:custDataLst>
                <p:tags r:id="rId30"/>
              </p:custDataLst>
            </p:nvPr>
          </p:nvCxnSpPr>
          <p:spPr bwMode="auto">
            <a:xfrm>
              <a:off x="1758" y="6068"/>
              <a:ext cx="340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" name="Text Box 99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40" y="6238"/>
              <a:ext cx="1417" cy="340"/>
            </a:xfrm>
            <a:prstGeom prst="rect">
              <a:avLst/>
            </a:prstGeom>
            <a:noFill/>
            <a:ln w="15875">
              <a:solidFill>
                <a:srgbClr val="0070C0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chemeClr val="tx2"/>
                  </a:solidFill>
                  <a:latin typeface="宋体" panose="02010600030101010101" pitchFamily="2" charset="-122"/>
                </a:rPr>
                <a:t>段表长度</a:t>
              </a:r>
              <a:endParaRPr lang="zh-CN" altLang="en-US" sz="1600" b="1" u="none" dirty="0">
                <a:solidFill>
                  <a:schemeClr val="tx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" name="Text Box 87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2083" y="5329"/>
              <a:ext cx="113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虚地址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4" name="Text Box 96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10374" y="5668"/>
              <a:ext cx="794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段号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5" name="Text Box 97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1167" y="5668"/>
              <a:ext cx="1474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>
                  <a:latin typeface="宋体" panose="02010600030101010101" pitchFamily="2" charset="-122"/>
                </a:rPr>
                <a:t>段内页号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26" name="Text Box 88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0431" y="6918"/>
              <a:ext cx="113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实地址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7" name="Text Box 96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1565" y="6918"/>
              <a:ext cx="107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实页号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8" name="Text Box 97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2643" y="6918"/>
              <a:ext cx="147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>
                  <a:latin typeface="宋体" panose="02010600030101010101" pitchFamily="2" charset="-122"/>
                </a:rPr>
                <a:t>页内地址</a:t>
              </a:r>
              <a:endParaRPr lang="zh-CN" altLang="en-US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2643" y="5670"/>
              <a:ext cx="1474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u="none">
                  <a:latin typeface="宋体" panose="02010600030101010101" pitchFamily="2" charset="-122"/>
                </a:rPr>
                <a:t>页内地址</a:t>
              </a:r>
              <a:endParaRPr lang="zh-CN" altLang="en-US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30" name="Text Box 87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7880" y="5614"/>
              <a:ext cx="2154" cy="34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装入位 实页号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2" name="Text Box 49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7881" y="5954"/>
              <a:ext cx="2154" cy="1019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 smtClean="0">
                  <a:solidFill>
                    <a:schemeClr val="tx2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  yy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4" name="直接箭头连接符 33"/>
            <p:cNvCxnSpPr/>
            <p:nvPr>
              <p:custDataLst>
                <p:tags r:id="rId41"/>
              </p:custDataLst>
            </p:nvPr>
          </p:nvCxnSpPr>
          <p:spPr bwMode="auto">
            <a:xfrm>
              <a:off x="7881" y="6295"/>
              <a:ext cx="2154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" name="直接箭头连接符 34"/>
            <p:cNvCxnSpPr/>
            <p:nvPr>
              <p:custDataLst>
                <p:tags r:id="rId42"/>
              </p:custDataLst>
            </p:nvPr>
          </p:nvCxnSpPr>
          <p:spPr bwMode="auto">
            <a:xfrm>
              <a:off x="7881" y="6635"/>
              <a:ext cx="2154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6" name="直接箭头连接符 35"/>
            <p:cNvCxnSpPr/>
            <p:nvPr>
              <p:custDataLst>
                <p:tags r:id="rId43"/>
              </p:custDataLst>
            </p:nvPr>
          </p:nvCxnSpPr>
          <p:spPr bwMode="auto">
            <a:xfrm>
              <a:off x="8901" y="5953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7" name="Text Box 47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8003" y="8392"/>
              <a:ext cx="198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u="none" dirty="0" smtClean="0">
                  <a:latin typeface="宋体" panose="02010600030101010101" pitchFamily="2" charset="-122"/>
                </a:rPr>
                <a:t>页表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主存中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8" name="Text Box 49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7881" y="7316"/>
              <a:ext cx="2154" cy="1019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 smtClean="0">
                  <a:solidFill>
                    <a:schemeClr val="tx2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  zz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   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9" name="直接箭头连接符 38"/>
            <p:cNvCxnSpPr/>
            <p:nvPr>
              <p:custDataLst>
                <p:tags r:id="rId46"/>
              </p:custDataLst>
            </p:nvPr>
          </p:nvCxnSpPr>
          <p:spPr bwMode="auto">
            <a:xfrm>
              <a:off x="7881" y="7657"/>
              <a:ext cx="2154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0" name="直接箭头连接符 39"/>
            <p:cNvCxnSpPr/>
            <p:nvPr>
              <p:custDataLst>
                <p:tags r:id="rId47"/>
              </p:custDataLst>
            </p:nvPr>
          </p:nvCxnSpPr>
          <p:spPr bwMode="auto">
            <a:xfrm>
              <a:off x="7881" y="7997"/>
              <a:ext cx="2154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48"/>
              </p:custDataLst>
            </p:nvPr>
          </p:nvCxnSpPr>
          <p:spPr bwMode="auto">
            <a:xfrm>
              <a:off x="8901" y="7315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4" name="Text Box 47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8675" y="6975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 dirty="0" smtClean="0">
                  <a:latin typeface="宋体" panose="02010600030101010101" pitchFamily="2" charset="-122"/>
                  <a:sym typeface="+mn-ea"/>
                </a:rPr>
                <a:t>…</a:t>
              </a:r>
              <a:endParaRPr lang="en-US" altLang="zh-CN" sz="1800" b="1" u="none" dirty="0" smtClean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158" name="直接连接符 75"/>
            <p:cNvCxnSpPr/>
            <p:nvPr>
              <p:custDataLst>
                <p:tags r:id="rId50"/>
              </p:custDataLst>
            </p:nvPr>
          </p:nvCxnSpPr>
          <p:spPr bwMode="auto">
            <a:xfrm>
              <a:off x="5670" y="6521"/>
              <a:ext cx="119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58" name="直接箭头连接符 57"/>
            <p:cNvCxnSpPr/>
            <p:nvPr>
              <p:custDataLst>
                <p:tags r:id="rId51"/>
              </p:custDataLst>
            </p:nvPr>
          </p:nvCxnSpPr>
          <p:spPr bwMode="auto">
            <a:xfrm>
              <a:off x="6860" y="6067"/>
              <a:ext cx="340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直接箭头连接符 60"/>
            <p:cNvCxnSpPr/>
            <p:nvPr>
              <p:custDataLst>
                <p:tags r:id="rId52"/>
              </p:custDataLst>
            </p:nvPr>
          </p:nvCxnSpPr>
          <p:spPr bwMode="auto">
            <a:xfrm flipH="1">
              <a:off x="6860" y="6067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2" name="直接连接符 75"/>
            <p:cNvCxnSpPr/>
            <p:nvPr>
              <p:custDataLst>
                <p:tags r:id="rId53"/>
              </p:custDataLst>
            </p:nvPr>
          </p:nvCxnSpPr>
          <p:spPr bwMode="auto">
            <a:xfrm>
              <a:off x="5669" y="6861"/>
              <a:ext cx="119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43" name="直接箭头连接符 42"/>
            <p:cNvCxnSpPr/>
            <p:nvPr>
              <p:custDataLst>
                <p:tags r:id="rId54"/>
              </p:custDataLst>
            </p:nvPr>
          </p:nvCxnSpPr>
          <p:spPr bwMode="auto">
            <a:xfrm>
              <a:off x="6860" y="7371"/>
              <a:ext cx="340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" name="直接箭头连接符 46"/>
            <p:cNvCxnSpPr/>
            <p:nvPr>
              <p:custDataLst>
                <p:tags r:id="rId55"/>
              </p:custDataLst>
            </p:nvPr>
          </p:nvCxnSpPr>
          <p:spPr bwMode="auto">
            <a:xfrm flipH="1">
              <a:off x="6860" y="6861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8" name="AutoShape 28"/>
            <p:cNvSpPr/>
            <p:nvPr>
              <p:custDataLst>
                <p:tags r:id="rId56"/>
              </p:custDataLst>
            </p:nvPr>
          </p:nvSpPr>
          <p:spPr bwMode="auto">
            <a:xfrm rot="16200000">
              <a:off x="11452" y="5004"/>
              <a:ext cx="113" cy="2154"/>
            </a:xfrm>
            <a:prstGeom prst="rightBrace">
              <a:avLst>
                <a:gd name="adj1" fmla="val 7020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49" name="Text Box 154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10998" y="6123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虚页号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 bldLvl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60000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defRPr b="1" u="none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四、页式虚拟存储器的实现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388" y="828000"/>
            <a:ext cx="8785225" cy="760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相关内容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缓存管理、页表组织、地址变换、缺页处理等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600" b="1" u="none" dirty="0" smtClean="0">
                <a:latin typeface="宋体" panose="02010600030101010101" pitchFamily="2" charset="-122"/>
              </a:rPr>
              <a:t>                    (</a:t>
            </a:r>
            <a:r>
              <a:rPr lang="en-US" altLang="zh-CN" sz="16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OS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实现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     (</a:t>
            </a:r>
            <a:r>
              <a:rPr lang="en-US" altLang="zh-CN" sz="16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OS</a:t>
            </a:r>
            <a:r>
              <a:rPr lang="zh-CN" altLang="en-US" sz="1600" b="1" u="none" dirty="0">
                <a:latin typeface="宋体" panose="02010600030101010101" pitchFamily="2" charset="-122"/>
              </a:rPr>
              <a:t>实现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      (</a:t>
            </a:r>
            <a:r>
              <a:rPr lang="en-US" altLang="zh-CN" sz="16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MMU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实现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r>
              <a:rPr lang="en-US" altLang="zh-CN" sz="1600" b="1" u="none" dirty="0">
                <a:latin typeface="宋体" panose="02010600030101010101" pitchFamily="2" charset="-122"/>
              </a:rPr>
              <a:t> 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   (</a:t>
            </a:r>
            <a:r>
              <a:rPr lang="en-US" altLang="zh-CN" sz="16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OS</a:t>
            </a:r>
            <a:r>
              <a:rPr lang="zh-CN" altLang="en-US" sz="1600" b="1" u="none" dirty="0">
                <a:latin typeface="宋体" panose="02010600030101010101" pitchFamily="2" charset="-122"/>
              </a:rPr>
              <a:t>实现</a:t>
            </a:r>
            <a:r>
              <a:rPr lang="en-US" altLang="zh-CN" sz="1600" b="1" u="none" dirty="0">
                <a:latin typeface="宋体" panose="02010600030101010101" pitchFamily="2" charset="-122"/>
              </a:rPr>
              <a:t>)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18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3996283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75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6156480" y="1728000"/>
            <a:ext cx="2736000" cy="288000"/>
          </a:xfrm>
          <a:prstGeom prst="rect">
            <a:avLst/>
          </a:prstGeom>
          <a:noFill/>
          <a:ln w="15875">
            <a:solidFill>
              <a:srgbClr val="FF33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latin typeface="宋体" panose="02010600030101010101" pitchFamily="2" charset="-122"/>
              </a:rPr>
              <a:t>每个进程有一个虚拟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MEM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！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12" name="AutoShape 5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070" y="1548130"/>
            <a:ext cx="6828155" cy="34486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主存</a:t>
            </a: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辅存的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缓存组织 </a:t>
            </a: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了解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软件如何组织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20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背景</a:t>
            </a:r>
            <a:r>
              <a:rPr lang="en-US" altLang="zh-CN" sz="20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进程可用页框数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已约定、</a:t>
            </a: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可调整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缺失率较高时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映射方式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替换算法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写 策 略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虚存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交换区的映射组织： </a:t>
            </a:r>
            <a:endParaRPr lang="zh-CN" altLang="en-US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693545" y="2376000"/>
            <a:ext cx="7225665" cy="303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全相联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映射，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映射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管理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用</a:t>
            </a:r>
            <a:r>
              <a:rPr lang="zh-CN" altLang="en-US" sz="22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页表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实现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(1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进程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     </a:t>
            </a:r>
            <a:r>
              <a:rPr lang="en-US" altLang="zh-CN" sz="1800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所有页框用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位图管理，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按序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分配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伪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LRU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算法，状态更新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用</a:t>
            </a:r>
            <a:r>
              <a:rPr lang="zh-CN" altLang="en-US" sz="22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定时轮询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实现</a:t>
            </a: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访问位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A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表示→</a:t>
            </a:r>
            <a:r>
              <a:rPr lang="zh-CN" altLang="en-US" sz="1800" u="none" dirty="0">
                <a:latin typeface="宋体" panose="02010600030101010101" pitchFamily="2" charset="-122"/>
                <a:sym typeface="+mn-ea"/>
              </a:rPr>
              <a:t>┘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1800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├─────┴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所有页的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复位</a:t>
            </a:r>
            <a:endParaRPr lang="en-US" altLang="zh-CN" sz="1800" u="none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(1/0=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近期有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无访问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800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zh-CN" altLang="en-US" sz="18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牺牲页：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首选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A=0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的非修改页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写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回法</a:t>
            </a:r>
            <a:r>
              <a:rPr lang="zh-CN" altLang="en-US" sz="2200" b="1" u="none" dirty="0">
                <a:latin typeface="宋体" panose="02010600030101010101" pitchFamily="2" charset="-122"/>
              </a:rPr>
              <a:t>策略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       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 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←写交换区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辅存中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开销太大</a:t>
            </a:r>
            <a:endParaRPr lang="zh-CN" altLang="en-US" sz="16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常</a:t>
            </a:r>
            <a:r>
              <a:rPr lang="zh-CN" altLang="en-US" sz="2200" b="1" u="none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扩展页表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实现</a:t>
            </a:r>
            <a:r>
              <a:rPr lang="en-US" sz="18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增加辅存地址字段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u="none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42844" y="360000"/>
            <a:ext cx="3036115" cy="22713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、页表</a:t>
            </a:r>
            <a:r>
              <a:rPr lang="en-US" altLang="zh-CN" sz="2200" b="1" u="none" dirty="0" smtClean="0">
                <a:solidFill>
                  <a:srgbClr val="FF3399"/>
                </a:solidFill>
                <a:latin typeface="+mn-ea"/>
                <a:ea typeface="+mn-ea"/>
              </a:rPr>
              <a:t>(PT)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的组织</a:t>
            </a:r>
            <a:endParaRPr lang="zh-CN" altLang="en-US" sz="2200" b="1" u="none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lvl="0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*索引方式：</a:t>
            </a:r>
            <a:endParaRPr lang="zh-CN" altLang="en-US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*页表长度：</a:t>
            </a: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页表项</a:t>
            </a:r>
            <a:r>
              <a:rPr lang="en-US" altLang="zh-CN" sz="2200" b="1" u="none" dirty="0">
                <a:solidFill>
                  <a:srgbClr val="C00000"/>
                </a:solidFill>
                <a:latin typeface="+mn-ea"/>
              </a:rPr>
              <a:t>(PTE)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组成：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*地址变换方法：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/>
          </a:p>
        </p:txBody>
      </p:sp>
      <p:sp>
        <p:nvSpPr>
          <p:cNvPr id="62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79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4" name="Text Box 6"/>
          <p:cNvSpPr txBox="1">
            <a:spLocks noChangeArrowheads="1"/>
          </p:cNvSpPr>
          <p:nvPr/>
        </p:nvSpPr>
        <p:spPr bwMode="auto">
          <a:xfrm>
            <a:off x="899592" y="2924470"/>
            <a:ext cx="511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PTE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中为何没有标记域？页表＞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1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页怎么办？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85" name="Text Box 6"/>
          <p:cNvSpPr txBox="1">
            <a:spLocks noChangeArrowheads="1"/>
          </p:cNvSpPr>
          <p:nvPr/>
        </p:nvSpPr>
        <p:spPr bwMode="auto">
          <a:xfrm>
            <a:off x="6084616" y="2924438"/>
            <a:ext cx="1656000" cy="504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latin typeface="宋体" panose="02010600030101010101" pitchFamily="2" charset="-122"/>
              </a:rPr>
              <a:t>按虚页号索引，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ts val="200"/>
              </a:spcBef>
            </a:pPr>
            <a:r>
              <a:rPr lang="en-US" altLang="zh-CN" sz="1600" b="1" u="none" dirty="0" smtClean="0">
                <a:latin typeface="宋体" panose="02010600030101010101" pitchFamily="2" charset="-122"/>
              </a:rPr>
              <a:t>(</a:t>
            </a:r>
            <a:r>
              <a:rPr lang="zh-CN" sz="1600" b="1" u="none" dirty="0" smtClean="0">
                <a:latin typeface="宋体" panose="02010600030101010101" pitchFamily="2" charset="-122"/>
              </a:rPr>
              <a:t>按实页号才要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 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86" name="AutoShape 4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9877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3996284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78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9" name="Text Box 6"/>
          <p:cNvSpPr txBox="1">
            <a:spLocks noChangeArrowheads="1"/>
          </p:cNvSpPr>
          <p:nvPr/>
        </p:nvSpPr>
        <p:spPr bwMode="auto">
          <a:xfrm>
            <a:off x="7613170" y="2924438"/>
            <a:ext cx="1351318" cy="504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latin typeface="宋体" panose="02010600030101010101" pitchFamily="2" charset="-122"/>
              </a:rPr>
              <a:t> 多级页表</a:t>
            </a:r>
            <a:endParaRPr lang="en-US" altLang="zh-CN" sz="18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ts val="200"/>
              </a:spcBef>
            </a:pPr>
            <a:r>
              <a:rPr lang="en-US" altLang="zh-CN" sz="16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类似段页式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3" name="Text Box 7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36000" y="792000"/>
            <a:ext cx="6670675" cy="21183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82800">
            <a:spAutoFit/>
          </a:bodyPr>
          <a:p>
            <a:pPr lvl="0">
              <a:lnSpc>
                <a:spcPct val="125000"/>
              </a:lnSpc>
            </a:pPr>
            <a:r>
              <a:rPr lang="zh-CN" altLang="en-US" sz="2200" b="1" u="none" dirty="0">
                <a:latin typeface="宋体" panose="02010600030101010101" pitchFamily="2" charset="-122"/>
              </a:rPr>
              <a:t>虚页号 </a:t>
            </a:r>
            <a:r>
              <a:rPr lang="en-US" altLang="zh-CN" sz="2200" b="1" u="none" dirty="0">
                <a:latin typeface="宋体" panose="02010600030101010101" pitchFamily="2" charset="-122"/>
              </a:rPr>
              <a:t>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  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     </a:t>
            </a:r>
            <a:r>
              <a:rPr lang="zh-CN" altLang="en-US" sz="1600" b="1" u="none" dirty="0">
                <a:latin typeface="宋体" panose="02010600030101010101" pitchFamily="2" charset="-122"/>
              </a:rPr>
              <a:t>←页表放在</a:t>
            </a:r>
            <a:r>
              <a:rPr lang="zh-CN" altLang="en-US" sz="16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主存</a:t>
            </a:r>
            <a:r>
              <a:rPr lang="zh-CN" altLang="en-US" sz="1600" b="1" u="none" dirty="0">
                <a:latin typeface="宋体" panose="02010600030101010101" pitchFamily="2" charset="-122"/>
              </a:rPr>
              <a:t>中、减少访存次数</a:t>
            </a:r>
            <a:endParaRPr lang="zh-CN" altLang="en-US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程序所含页数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      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u="none" dirty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需保存表长信息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实现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越界检测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 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实地址＝</a:t>
            </a:r>
            <a:r>
              <a:rPr lang="en-US" altLang="zh-CN" sz="2200" b="1" u="none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&lt;</a:t>
            </a:r>
            <a:r>
              <a:rPr lang="zh-CN" altLang="en-US" sz="2200" b="1" u="none" spc="-100" dirty="0">
                <a:solidFill>
                  <a:srgbClr val="FF3399"/>
                </a:solidFill>
                <a:latin typeface="宋体" panose="02010600030101010101" pitchFamily="2" charset="-122"/>
              </a:rPr>
              <a:t>页表</a:t>
            </a:r>
            <a:r>
              <a:rPr lang="en-US" altLang="zh-CN" sz="2200" b="1" u="none" spc="-100" dirty="0">
                <a:solidFill>
                  <a:srgbClr val="FF3399"/>
                </a:solidFill>
                <a:latin typeface="宋体" panose="02010600030101010101" pitchFamily="2" charset="-122"/>
              </a:rPr>
              <a:t>[</a:t>
            </a:r>
            <a:r>
              <a:rPr lang="zh-CN" altLang="en-US" sz="2200" b="1" u="none" spc="-100" dirty="0">
                <a:latin typeface="宋体" panose="02010600030101010101" pitchFamily="2" charset="-122"/>
              </a:rPr>
              <a:t>虚页号</a:t>
            </a:r>
            <a:r>
              <a:rPr lang="en-US" altLang="zh-CN" sz="2200" b="1" u="none" spc="-100" dirty="0" smtClean="0">
                <a:solidFill>
                  <a:srgbClr val="FF3399"/>
                </a:solidFill>
                <a:latin typeface="宋体" panose="02010600030101010101" pitchFamily="2" charset="-122"/>
              </a:rPr>
              <a:t>].</a:t>
            </a:r>
            <a:r>
              <a:rPr lang="zh-CN" altLang="en-US" sz="2200" b="1" u="none" spc="-100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实页号</a:t>
            </a:r>
            <a:r>
              <a:rPr lang="en-US" altLang="zh-CN" sz="2200" b="1" u="none" spc="-100" dirty="0" smtClean="0">
                <a:latin typeface="宋体" panose="02010600030101010101" pitchFamily="2" charset="-122"/>
              </a:rPr>
              <a:t>,</a:t>
            </a:r>
            <a:r>
              <a:rPr lang="zh-CN" altLang="en-US" sz="2200" b="1" u="none" spc="-100" dirty="0">
                <a:latin typeface="宋体" panose="02010600030101010101" pitchFamily="2" charset="-122"/>
              </a:rPr>
              <a:t>页内地址</a:t>
            </a:r>
            <a:r>
              <a:rPr lang="en-US" altLang="zh-CN" sz="2200" b="1" u="none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&gt;</a:t>
            </a:r>
            <a:endParaRPr lang="en-US" altLang="zh-CN" sz="2200" b="1" u="none" spc="-100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</a:t>
            </a:r>
            <a:r>
              <a:rPr lang="en-US" altLang="zh-CN" sz="1600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＝页表基址＋虚页号×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PTE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长度</a:t>
            </a:r>
            <a:endParaRPr lang="zh-CN" altLang="en-US" sz="1600" b="1" u="none" spc="-100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" name="Text Box 14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220000" y="612000"/>
            <a:ext cx="3600000" cy="252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54000" tIns="10800" rIns="54000" bIns="10800" anchor="ctr"/>
          <a:p>
            <a:r>
              <a:rPr lang="en-US" altLang="zh-CN" sz="1600" b="1" u="none" dirty="0" smtClean="0">
                <a:solidFill>
                  <a:srgbClr val="C00000"/>
                </a:solidFill>
                <a:latin typeface="+mn-ea"/>
              </a:rPr>
              <a:t>PT—</a:t>
            </a:r>
            <a:r>
              <a:rPr lang="en-US" altLang="zh-CN" sz="1600" u="none" dirty="0" smtClean="0">
                <a:latin typeface="+mn-lt"/>
              </a:rPr>
              <a:t>Page Table    </a:t>
            </a:r>
            <a:r>
              <a:rPr lang="en-US" altLang="zh-CN" sz="1600" b="1" u="none" dirty="0" smtClean="0">
                <a:solidFill>
                  <a:srgbClr val="C00000"/>
                </a:solidFill>
                <a:latin typeface="+mn-ea"/>
              </a:rPr>
              <a:t>PTE—</a:t>
            </a:r>
            <a:r>
              <a:rPr lang="en-US" altLang="zh-CN" sz="1600" u="none" dirty="0" smtClean="0">
                <a:solidFill>
                  <a:srgbClr val="C00000"/>
                </a:solidFill>
              </a:rPr>
              <a:t> </a:t>
            </a:r>
            <a:r>
              <a:rPr lang="en-US" altLang="zh-CN" sz="1600" u="none" dirty="0"/>
              <a:t>Page Table Entry</a:t>
            </a:r>
            <a:endParaRPr lang="en-US" altLang="zh-CN" sz="1600" b="1" u="none" spc="-100" dirty="0" smtClean="0">
              <a:latin typeface="+mn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3060000" y="1836000"/>
          <a:ext cx="4646930" cy="236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915"/>
                <a:gridCol w="972185"/>
                <a:gridCol w="728345"/>
                <a:gridCol w="749935"/>
                <a:gridCol w="1103630"/>
                <a:gridCol w="375920"/>
              </a:tblGrid>
              <a:tr h="236855"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装入位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实页号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访问位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修改位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禁止缓存位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60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</a:tbl>
          </a:graphicData>
        </a:graphic>
      </p:graphicFrame>
      <p:sp>
        <p:nvSpPr>
          <p:cNvPr id="51" name="Text Box 6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79705" y="3276000"/>
            <a:ext cx="3679825" cy="28994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lvl="0"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、地址变换的实现</a:t>
            </a:r>
            <a:endParaRPr lang="zh-CN" altLang="en-US" sz="2200" b="1" u="none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lvl="0">
              <a:lnSpc>
                <a:spcPct val="125000"/>
              </a:lnSpc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地址变换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MMU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实现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 lvl="0">
              <a:lnSpc>
                <a:spcPct val="12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 lvl="0">
              <a:lnSpc>
                <a:spcPct val="125000"/>
              </a:lnSpc>
            </a:pP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 lvl="0">
              <a:lnSpc>
                <a:spcPct val="12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 lvl="0">
              <a:lnSpc>
                <a:spcPct val="125000"/>
              </a:lnSpc>
              <a:spcBef>
                <a:spcPts val="210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缺页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处理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en-US" altLang="zh-CN" sz="2200" b="1" u="none" dirty="0" smtClean="0">
                <a:latin typeface="宋体" panose="02010600030101010101" pitchFamily="2" charset="-122"/>
              </a:rPr>
              <a:t>OS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实现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10" name="Text Box 70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700000" y="3672000"/>
            <a:ext cx="6120680" cy="2476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lvl="0">
              <a:lnSpc>
                <a:spcPct val="125000"/>
              </a:lnSpc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计算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表项地址＋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读取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表项＋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形成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实地址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 lvl="0">
              <a:lnSpc>
                <a:spcPct val="125000"/>
              </a:lnSpc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10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，调入目标页＋返回缺页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指令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重新执行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600" b="1" u="none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1187450" y="4247515"/>
            <a:ext cx="3167380" cy="1080135"/>
            <a:chOff x="1870" y="6576"/>
            <a:chExt cx="4988" cy="1701"/>
          </a:xfrm>
        </p:grpSpPr>
        <p:sp>
          <p:nvSpPr>
            <p:cNvPr id="12" name="Text Box 207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870" y="6576"/>
              <a:ext cx="3231" cy="170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207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097" y="7257"/>
              <a:ext cx="794" cy="90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CPU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核心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207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798" y="6803"/>
              <a:ext cx="624" cy="102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 u="none" dirty="0" smtClean="0">
                  <a:latin typeface="宋体" panose="02010600030101010101" pitchFamily="2" charset="-122"/>
                </a:rPr>
                <a:t>MMU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" name="Text Box 207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404" y="6576"/>
              <a:ext cx="454" cy="170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/>
              <a:r>
                <a:rPr lang="zh-CN" altLang="en-US" sz="1800" b="1" u="none" dirty="0" smtClean="0">
                  <a:latin typeface="宋体" panose="02010600030101010101" pitchFamily="2" charset="-122"/>
                </a:rPr>
                <a:t>主存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6" name="直接箭头连接符 15"/>
            <p:cNvCxnSpPr/>
            <p:nvPr>
              <p:custDataLst>
                <p:tags r:id="rId12"/>
              </p:custDataLst>
            </p:nvPr>
          </p:nvCxnSpPr>
          <p:spPr bwMode="auto">
            <a:xfrm>
              <a:off x="4420" y="6917"/>
              <a:ext cx="198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7" name="直接箭头连接符 16"/>
            <p:cNvCxnSpPr/>
            <p:nvPr>
              <p:custDataLst>
                <p:tags r:id="rId13"/>
              </p:custDataLst>
            </p:nvPr>
          </p:nvCxnSpPr>
          <p:spPr bwMode="auto">
            <a:xfrm>
              <a:off x="2891" y="7712"/>
              <a:ext cx="90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3" name="Text Box 47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964" y="7372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①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VA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5" name="Text Box 47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213" y="6578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②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PTEA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8" name="直接箭头连接符 17"/>
            <p:cNvCxnSpPr/>
            <p:nvPr>
              <p:custDataLst>
                <p:tags r:id="rId16"/>
              </p:custDataLst>
            </p:nvPr>
          </p:nvCxnSpPr>
          <p:spPr bwMode="auto">
            <a:xfrm rot="10800000" flipV="1">
              <a:off x="4420" y="7030"/>
              <a:ext cx="198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9" name="Text Box 47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213" y="7030"/>
              <a:ext cx="90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③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PTE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0" name="直接箭头连接符 19"/>
            <p:cNvCxnSpPr/>
            <p:nvPr>
              <p:custDataLst>
                <p:tags r:id="rId18"/>
              </p:custDataLst>
            </p:nvPr>
          </p:nvCxnSpPr>
          <p:spPr bwMode="auto">
            <a:xfrm>
              <a:off x="4422" y="7710"/>
              <a:ext cx="198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" name="Text Box 47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213" y="7370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④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PA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2" name="Text Box 47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5213" y="7767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⑤数据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" name="Text Box 47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420" y="7427"/>
              <a:ext cx="68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成功</a:t>
              </a:r>
              <a:endParaRPr lang="zh-CN" altLang="en-US" sz="1400" b="1" u="none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" name="Text Box 47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983" y="6633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 smtClean="0">
                  <a:latin typeface="宋体" panose="02010600030101010101" pitchFamily="2" charset="-122"/>
                </a:rPr>
                <a:t>CPU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芯片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5" name="直接箭头连接符 24"/>
            <p:cNvCxnSpPr/>
            <p:nvPr>
              <p:custDataLst>
                <p:tags r:id="rId23"/>
              </p:custDataLst>
            </p:nvPr>
          </p:nvCxnSpPr>
          <p:spPr bwMode="auto">
            <a:xfrm flipH="1">
              <a:off x="2891" y="8107"/>
              <a:ext cx="3515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6" name="组合 25"/>
          <p:cNvGrpSpPr/>
          <p:nvPr/>
        </p:nvGrpSpPr>
        <p:grpSpPr>
          <a:xfrm>
            <a:off x="4680000" y="4247515"/>
            <a:ext cx="2627270" cy="1332441"/>
            <a:chOff x="852" y="6576"/>
            <a:chExt cx="4137" cy="2098"/>
          </a:xfrm>
        </p:grpSpPr>
        <p:sp>
          <p:nvSpPr>
            <p:cNvPr id="27" name="Text Box 207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852" y="6576"/>
              <a:ext cx="2948" cy="170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8" name="Text Box 207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079" y="7257"/>
              <a:ext cx="794" cy="90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CPU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核心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0" name="Text Box 207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2780" y="6803"/>
              <a:ext cx="624" cy="102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 u="none" dirty="0" smtClean="0">
                  <a:latin typeface="宋体" panose="02010600030101010101" pitchFamily="2" charset="-122"/>
                </a:rPr>
                <a:t>MMU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1" name="Text Box 207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535" y="6576"/>
              <a:ext cx="454" cy="170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/>
              <a:r>
                <a:rPr lang="zh-CN" altLang="en-US" sz="1800" b="1" u="none" dirty="0" smtClean="0">
                  <a:latin typeface="宋体" panose="02010600030101010101" pitchFamily="2" charset="-122"/>
                </a:rPr>
                <a:t>主存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2" name="直接箭头连接符 31"/>
            <p:cNvCxnSpPr/>
            <p:nvPr>
              <p:custDataLst>
                <p:tags r:id="rId28"/>
              </p:custDataLst>
            </p:nvPr>
          </p:nvCxnSpPr>
          <p:spPr bwMode="auto">
            <a:xfrm>
              <a:off x="3402" y="6917"/>
              <a:ext cx="113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" name="直接箭头连接符 32"/>
            <p:cNvCxnSpPr/>
            <p:nvPr>
              <p:custDataLst>
                <p:tags r:id="rId29"/>
              </p:custDataLst>
            </p:nvPr>
          </p:nvCxnSpPr>
          <p:spPr bwMode="auto">
            <a:xfrm>
              <a:off x="1873" y="7712"/>
              <a:ext cx="90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4" name="Text Box 47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946" y="7372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①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VA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6" name="Text Box 47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912" y="6578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②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91" name="直接箭头连接符 90"/>
            <p:cNvCxnSpPr/>
            <p:nvPr>
              <p:custDataLst>
                <p:tags r:id="rId32"/>
              </p:custDataLst>
            </p:nvPr>
          </p:nvCxnSpPr>
          <p:spPr bwMode="auto">
            <a:xfrm rot="10800000" flipV="1">
              <a:off x="3402" y="7030"/>
              <a:ext cx="113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92" name="Text Box 47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3912" y="7030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③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93" name="直接箭头连接符 92"/>
            <p:cNvCxnSpPr/>
            <p:nvPr>
              <p:custDataLst>
                <p:tags r:id="rId34"/>
              </p:custDataLst>
            </p:nvPr>
          </p:nvCxnSpPr>
          <p:spPr bwMode="auto">
            <a:xfrm>
              <a:off x="3118" y="7823"/>
              <a:ext cx="0" cy="85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4" name="Text Box 47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3231" y="8334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  <a:sym typeface="+mn-ea"/>
                </a:rPr>
                <a:t>④异常</a:t>
              </a:r>
              <a:endParaRPr lang="zh-CN" altLang="en-US" sz="1600" b="1" u="none" dirty="0" smtClean="0">
                <a:latin typeface="宋体" panose="02010600030101010101" pitchFamily="2" charset="-122"/>
                <a:sym typeface="+mn-ea"/>
              </a:endParaRPr>
            </a:p>
          </p:txBody>
        </p:sp>
        <p:sp>
          <p:nvSpPr>
            <p:cNvPr id="95" name="Text Box 47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3118" y="7880"/>
              <a:ext cx="68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失败</a:t>
              </a:r>
              <a:endParaRPr lang="zh-CN" altLang="en-US" sz="1400" b="1" u="none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6" name="Text Box 47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966" y="6633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 smtClean="0">
                  <a:latin typeface="宋体" panose="02010600030101010101" pitchFamily="2" charset="-122"/>
                </a:rPr>
                <a:t>CPU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芯片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97" name="直接箭头连接符 96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3118" y="8674"/>
              <a:ext cx="124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98" name="组合 97"/>
          <p:cNvGrpSpPr/>
          <p:nvPr/>
        </p:nvGrpSpPr>
        <p:grpSpPr>
          <a:xfrm>
            <a:off x="5364000" y="4247755"/>
            <a:ext cx="3348000" cy="1404000"/>
            <a:chOff x="5171995" y="4205058"/>
            <a:chExt cx="3348000" cy="1404000"/>
          </a:xfrm>
        </p:grpSpPr>
        <p:sp>
          <p:nvSpPr>
            <p:cNvPr id="99" name="Text Box 47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7295995" y="4457138"/>
              <a:ext cx="86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⑤牺牲页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0" name="Text Box 207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8231995" y="4205058"/>
              <a:ext cx="288000" cy="108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/>
              <a:r>
                <a:rPr lang="zh-CN" altLang="en-US" sz="1800" b="1" u="none" dirty="0" smtClean="0">
                  <a:latin typeface="宋体" panose="02010600030101010101" pitchFamily="2" charset="-122"/>
                </a:rPr>
                <a:t>辅存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01" name="直接箭头连接符 100"/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7115995" y="4673138"/>
              <a:ext cx="111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02" name="Text Box 47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6719995" y="5393058"/>
              <a:ext cx="1800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缺页异常处理程序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03" name="Text Box 47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7295995" y="4781058"/>
              <a:ext cx="86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⑥目标页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04" name="直接箭头连接符 103"/>
            <p:cNvCxnSpPr/>
            <p:nvPr>
              <p:custDataLst>
                <p:tags r:id="rId44"/>
              </p:custDataLst>
            </p:nvPr>
          </p:nvCxnSpPr>
          <p:spPr bwMode="auto">
            <a:xfrm rot="10800000">
              <a:off x="7115995" y="4997058"/>
              <a:ext cx="111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05" name="上箭头 104"/>
            <p:cNvSpPr/>
            <p:nvPr>
              <p:custDataLst>
                <p:tags r:id="rId45"/>
              </p:custDataLst>
            </p:nvPr>
          </p:nvSpPr>
          <p:spPr bwMode="auto">
            <a:xfrm>
              <a:off x="7583995" y="5069154"/>
              <a:ext cx="108000" cy="252000"/>
            </a:xfrm>
            <a:prstGeom prst="up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" name="Text Box 47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5171995" y="4961058"/>
              <a:ext cx="468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⑦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VA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bldLvl="0" animBg="1"/>
      <p:bldP spid="85" grpId="0" bldLvl="0" animBg="1"/>
      <p:bldP spid="89" grpId="0" bldLvl="0" animBg="1"/>
      <p:bldP spid="51" grpId="0" bldLvl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/>
          </a:p>
        </p:txBody>
      </p:sp>
      <p:sp>
        <p:nvSpPr>
          <p:cNvPr id="43" name="AutoShape 4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9877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3696335" cy="46850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地址变换的优化：</a:t>
            </a:r>
            <a:endParaRPr lang="zh-CN" altLang="en-US" sz="2200" b="1" u="none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性能分析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优化方法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endParaRPr lang="en-US" altLang="zh-CN" sz="16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TLB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的组织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缓存管理：</a:t>
            </a:r>
            <a:endParaRPr lang="en-US" altLang="zh-CN" sz="22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en-US" altLang="zh-CN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TLB</a:t>
            </a:r>
            <a:r>
              <a:rPr lang="zh-CN" altLang="en-US" sz="2200" b="1" u="none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行组织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TLB</a:t>
            </a:r>
            <a:r>
              <a:rPr lang="zh-CN" altLang="en-US" sz="22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的大小：</a:t>
            </a:r>
            <a:endParaRPr lang="zh-CN" altLang="en-US" sz="2200" b="1" u="none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地址变换过程的改变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4" name="Text Box 18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95830" y="791845"/>
            <a:ext cx="6750050" cy="4238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需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访存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次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(T</a:t>
            </a:r>
            <a:r>
              <a:rPr lang="zh-CN" altLang="en-US" sz="1600" b="1" u="none" baseline="-25000" dirty="0" smtClean="0">
                <a:latin typeface="宋体" panose="02010600030101010101" pitchFamily="2" charset="-122"/>
                <a:sym typeface="+mn-ea"/>
              </a:rPr>
              <a:t>虚存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2*T</a:t>
            </a:r>
            <a:r>
              <a:rPr lang="zh-CN" altLang="en-US" sz="1600" b="1" u="none" baseline="-25000" dirty="0" smtClean="0">
                <a:latin typeface="宋体" panose="02010600030101010101" pitchFamily="2" charset="-122"/>
                <a:sym typeface="+mn-ea"/>
              </a:rPr>
              <a:t>主存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none" dirty="0" smtClean="0">
                <a:latin typeface="宋体" panose="02010600030101010101" pitchFamily="2" charset="-122"/>
              </a:rPr>
              <a:t>页表采用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层次结构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MMU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中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设置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页表缓冲器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(TLB)</a:t>
            </a:r>
            <a:endParaRPr lang="en-US" altLang="zh-CN" sz="2200" b="1" u="none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none" dirty="0" smtClean="0">
                <a:latin typeface="宋体" panose="02010600030101010101" pitchFamily="2" charset="-122"/>
              </a:rPr>
              <a:t>   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   (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利用访问局部性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    </a:t>
            </a:r>
            <a:r>
              <a:rPr lang="zh-CN" altLang="en-US" sz="1600" u="none" dirty="0" smtClean="0">
                <a:latin typeface="宋体" panose="02010600030101010101" pitchFamily="2" charset="-122"/>
              </a:rPr>
              <a:t>└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→地址变换</a:t>
            </a:r>
            <a:r>
              <a:rPr lang="zh-CN" altLang="en-US" sz="16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可不访存</a:t>
            </a:r>
            <a:r>
              <a:rPr lang="zh-CN" altLang="en-US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←</a:t>
            </a:r>
            <a:r>
              <a:rPr lang="zh-CN" altLang="en-US" sz="1600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┘</a:t>
            </a:r>
            <a:r>
              <a:rPr lang="en-US" altLang="zh-CN" sz="16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16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←称为快表</a:t>
            </a:r>
            <a:endParaRPr lang="zh-CN" altLang="en-US" sz="16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u="none" dirty="0" smtClean="0">
                <a:latin typeface="宋体" panose="02010600030101010101" pitchFamily="2" charset="-122"/>
                <a:sym typeface="+mn-ea"/>
              </a:rPr>
              <a:t>               </a:t>
            </a:r>
            <a:r>
              <a:rPr lang="zh-CN" altLang="en-US" sz="1600" u="none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←同一页的地址变换</a:t>
            </a:r>
            <a:r>
              <a:rPr lang="zh-CN" altLang="en-US" sz="1600" b="1" u="none" dirty="0">
                <a:latin typeface="宋体" panose="02010600030101010101" pitchFamily="2" charset="-122"/>
                <a:sym typeface="+mn-ea"/>
              </a:rPr>
              <a:t>查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同一页表项</a:t>
            </a:r>
            <a:r>
              <a:rPr lang="en-US" altLang="zh-CN" sz="1600" u="none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1600" u="none" dirty="0" smtClean="0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16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  组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全相联映射、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LRU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替换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算法、写回策略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u="none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u="none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en-US" sz="18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none" dirty="0">
                <a:latin typeface="宋体" panose="02010600030101010101" pitchFamily="2" charset="-122"/>
                <a:sym typeface="+mn-ea"/>
              </a:rPr>
              <a:t>类似</a:t>
            </a:r>
            <a:r>
              <a:rPr lang="en-US" altLang="zh-CN" sz="1800" b="1" u="none" dirty="0"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行，缓存块为页表项</a:t>
            </a:r>
            <a:r>
              <a:rPr lang="en-US" altLang="zh-CN" sz="1800" b="1" u="none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u="none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几十</a:t>
            </a:r>
            <a:r>
              <a:rPr lang="zh-CN" altLang="en-US" sz="2200" b="1" u="none" dirty="0">
                <a:latin typeface="宋体" panose="02010600030101010101" pitchFamily="2" charset="-122"/>
                <a:sym typeface="+mn-ea"/>
              </a:rPr>
              <a:t>行</a:t>
            </a:r>
            <a:r>
              <a:rPr lang="en-US" altLang="zh-CN" sz="2200" b="1" u="none" dirty="0">
                <a:latin typeface="宋体" panose="02010600030101010101" pitchFamily="2" charset="-122"/>
                <a:sym typeface="+mn-ea"/>
              </a:rPr>
              <a:t>       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             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u="none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H</a:t>
            </a:r>
            <a:r>
              <a:rPr lang="en-US" altLang="zh-CN" sz="1600" b="1" u="none" baseline="-18000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TLB</a:t>
            </a:r>
            <a:r>
              <a:rPr lang="en-US" altLang="zh-CN" sz="1600" b="1" u="none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&gt;&gt;H</a:t>
            </a:r>
            <a:r>
              <a:rPr lang="en-US" altLang="zh-CN" sz="1600" b="1" u="none" baseline="-18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Cache</a:t>
            </a:r>
            <a:endParaRPr lang="en-US" altLang="zh-CN" sz="1600" b="1" u="none" baseline="-18000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u="none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2200" b="1" u="none" dirty="0">
                <a:latin typeface="宋体" panose="02010600030101010101" pitchFamily="2" charset="-122"/>
              </a:rPr>
              <a:t>          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先访问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TLB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u="none" dirty="0" smtClean="0">
                <a:latin typeface="宋体" panose="02010600030101010101" pitchFamily="2" charset="-122"/>
                <a:sym typeface="+mn-ea"/>
              </a:rPr>
              <a:t>TLB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缺失时才访问页表</a:t>
            </a:r>
            <a:endParaRPr lang="en-US" altLang="zh-CN" sz="22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800000" y="3240000"/>
          <a:ext cx="4815840" cy="236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885"/>
                <a:gridCol w="666750"/>
                <a:gridCol w="443230"/>
                <a:gridCol w="727075"/>
                <a:gridCol w="1019175"/>
                <a:gridCol w="787400"/>
                <a:gridCol w="441325"/>
              </a:tblGrid>
              <a:tr h="236855"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有效位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标记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LRU</a:t>
                      </a:r>
                      <a:endParaRPr lang="en-US" altLang="zh-CN" sz="160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修改位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实页号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6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访问位</a:t>
                      </a:r>
                      <a:endParaRPr lang="zh-CN" altLang="en-US" sz="160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160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</a:tbl>
          </a:graphicData>
        </a:graphic>
      </p:graphicFrame>
      <p:sp>
        <p:nvSpPr>
          <p:cNvPr id="8" name="Text Box 14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868725" y="972000"/>
            <a:ext cx="2952000" cy="252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54000" tIns="10800" rIns="54000" bIns="10800" anchor="ctr"/>
          <a:p>
            <a:r>
              <a:rPr lang="en-US" altLang="zh-CN" sz="1600" b="1" u="none" dirty="0" smtClean="0">
                <a:solidFill>
                  <a:srgbClr val="C00000"/>
                </a:solidFill>
                <a:latin typeface="+mn-ea"/>
              </a:rPr>
              <a:t>TLB—</a:t>
            </a:r>
            <a:r>
              <a:rPr lang="en-US" altLang="zh-CN" sz="1600" u="none" dirty="0" smtClean="0">
                <a:latin typeface="+mn-lt"/>
              </a:rPr>
              <a:t>Translation Lookaside Table</a:t>
            </a:r>
            <a:endParaRPr lang="en-US" altLang="zh-CN" sz="1600" u="none" dirty="0" smtClean="0">
              <a:latin typeface="+mn-lt"/>
            </a:endParaRPr>
          </a:p>
        </p:txBody>
      </p:sp>
      <p:grpSp>
        <p:nvGrpSpPr>
          <p:cNvPr id="122" name="组合 121"/>
          <p:cNvGrpSpPr/>
          <p:nvPr/>
        </p:nvGrpSpPr>
        <p:grpSpPr>
          <a:xfrm>
            <a:off x="1405560" y="5037795"/>
            <a:ext cx="3204210" cy="1080135"/>
            <a:chOff x="3175" y="4876"/>
            <a:chExt cx="5046" cy="1701"/>
          </a:xfrm>
        </p:grpSpPr>
        <p:sp>
          <p:nvSpPr>
            <p:cNvPr id="123" name="Text Box 207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175" y="4876"/>
              <a:ext cx="3345" cy="170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4" name="Text Box 20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767" y="4876"/>
              <a:ext cx="454" cy="170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/>
              <a:r>
                <a:rPr lang="zh-CN" altLang="en-US" sz="1800" b="1" u="none" dirty="0" smtClean="0">
                  <a:latin typeface="宋体" panose="02010600030101010101" pitchFamily="2" charset="-122"/>
                </a:rPr>
                <a:t>主存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25" name="Text Box 47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232" y="5672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①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VA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26" name="直接箭头连接符 125"/>
            <p:cNvCxnSpPr/>
            <p:nvPr>
              <p:custDataLst>
                <p:tags r:id="rId8"/>
              </p:custDataLst>
            </p:nvPr>
          </p:nvCxnSpPr>
          <p:spPr bwMode="auto">
            <a:xfrm flipH="1">
              <a:off x="3232" y="6463"/>
              <a:ext cx="4535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sp>
          <p:nvSpPr>
            <p:cNvPr id="127" name="Text Box 207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026" y="4932"/>
              <a:ext cx="2381" cy="1417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28" name="Text Box 207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252" y="5840"/>
              <a:ext cx="147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地址变换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29" name="Text Box 207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819" y="5046"/>
              <a:ext cx="79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TLB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1" name="Text Box 47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082" y="5386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②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PTEA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3" name="Text Box 47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330" y="5386"/>
              <a:ext cx="90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③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PTE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34" name="直接箭头连接符 133"/>
            <p:cNvCxnSpPr/>
            <p:nvPr>
              <p:custDataLst>
                <p:tags r:id="rId14"/>
              </p:custDataLst>
            </p:nvPr>
          </p:nvCxnSpPr>
          <p:spPr bwMode="auto">
            <a:xfrm>
              <a:off x="3232" y="6012"/>
              <a:ext cx="102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5" name="直接箭头连接符 134"/>
            <p:cNvCxnSpPr/>
            <p:nvPr>
              <p:custDataLst>
                <p:tags r:id="rId15"/>
              </p:custDataLst>
            </p:nvPr>
          </p:nvCxnSpPr>
          <p:spPr bwMode="auto">
            <a:xfrm>
              <a:off x="5726" y="6009"/>
              <a:ext cx="204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6" name="Text Box 4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634" y="5669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④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PA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7" name="Text Box 47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634" y="6123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⑤数据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8" name="Text Box 47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726" y="5686"/>
              <a:ext cx="624" cy="6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t" anchorCtr="0"/>
            <a:p>
              <a:pPr algn="ctr"/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TLB</a:t>
              </a:r>
              <a:r>
                <a:rPr lang="zh-CN" altLang="en-US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命中</a:t>
              </a:r>
              <a:endParaRPr lang="zh-CN" altLang="en-US" sz="1400" b="1" u="none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39" name="直接箭头连接符 138"/>
            <p:cNvCxnSpPr/>
            <p:nvPr>
              <p:custDataLst>
                <p:tags r:id="rId19"/>
              </p:custDataLst>
            </p:nvPr>
          </p:nvCxnSpPr>
          <p:spPr bwMode="auto">
            <a:xfrm flipH="1" flipV="1">
              <a:off x="5159" y="5386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0" name="直接箭头连接符 139"/>
            <p:cNvCxnSpPr/>
            <p:nvPr>
              <p:custDataLst>
                <p:tags r:id="rId20"/>
              </p:custDataLst>
            </p:nvPr>
          </p:nvCxnSpPr>
          <p:spPr bwMode="auto">
            <a:xfrm>
              <a:off x="5273" y="5386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</p:grpSp>
      <p:grpSp>
        <p:nvGrpSpPr>
          <p:cNvPr id="141" name="组合 140"/>
          <p:cNvGrpSpPr/>
          <p:nvPr/>
        </p:nvGrpSpPr>
        <p:grpSpPr>
          <a:xfrm>
            <a:off x="5102605" y="5037795"/>
            <a:ext cx="2811965" cy="1116430"/>
            <a:chOff x="3679" y="6860"/>
            <a:chExt cx="4428" cy="1758"/>
          </a:xfrm>
        </p:grpSpPr>
        <p:sp>
          <p:nvSpPr>
            <p:cNvPr id="142" name="Text Box 207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679" y="6860"/>
              <a:ext cx="2721" cy="175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3" name="Text Box 207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654" y="6917"/>
              <a:ext cx="454" cy="170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/>
              <a:r>
                <a:rPr lang="zh-CN" altLang="en-US" sz="1800" b="1" u="none" dirty="0" smtClean="0">
                  <a:latin typeface="宋体" panose="02010600030101010101" pitchFamily="2" charset="-122"/>
                </a:rPr>
                <a:t>主存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4" name="Text Box 47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742" y="7713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①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45" name="直接箭头连接符 144"/>
            <p:cNvCxnSpPr/>
            <p:nvPr>
              <p:custDataLst>
                <p:tags r:id="rId24"/>
              </p:custDataLst>
            </p:nvPr>
          </p:nvCxnSpPr>
          <p:spPr bwMode="auto">
            <a:xfrm flipH="1">
              <a:off x="3742" y="8504"/>
              <a:ext cx="391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sp>
          <p:nvSpPr>
            <p:cNvPr id="146" name="Text Box 207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4139" y="6973"/>
              <a:ext cx="2154" cy="1361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7" name="Text Box 207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309" y="7881"/>
              <a:ext cx="147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地址变换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8" name="Text Box 207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365" y="7087"/>
              <a:ext cx="79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TLB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9" name="Text Box 47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4252" y="7483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②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0" name="Text Box 47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876" y="7483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③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51" name="直接箭头连接符 150"/>
            <p:cNvCxnSpPr/>
            <p:nvPr>
              <p:custDataLst>
                <p:tags r:id="rId30"/>
              </p:custDataLst>
            </p:nvPr>
          </p:nvCxnSpPr>
          <p:spPr bwMode="auto">
            <a:xfrm>
              <a:off x="3742" y="8053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2" name="直接箭头连接符 151"/>
            <p:cNvCxnSpPr/>
            <p:nvPr>
              <p:custDataLst>
                <p:tags r:id="rId31"/>
              </p:custDataLst>
            </p:nvPr>
          </p:nvCxnSpPr>
          <p:spPr bwMode="auto">
            <a:xfrm>
              <a:off x="5783" y="8107"/>
              <a:ext cx="187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3" name="Text Box 47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6463" y="7767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⑥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PA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4" name="Text Box 47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463" y="8164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⑦数据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5" name="Text Box 47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5663" y="7313"/>
              <a:ext cx="624" cy="6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4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TLB</a:t>
              </a:r>
              <a:r>
                <a:rPr lang="zh-CN" altLang="en-US" sz="14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缺失</a:t>
              </a:r>
              <a:endParaRPr lang="zh-CN" altLang="en-US" sz="1400" b="1" u="none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56" name="直接箭头连接符 155"/>
            <p:cNvCxnSpPr/>
            <p:nvPr>
              <p:custDataLst>
                <p:tags r:id="rId35"/>
              </p:custDataLst>
            </p:nvPr>
          </p:nvCxnSpPr>
          <p:spPr bwMode="auto">
            <a:xfrm flipH="1" flipV="1">
              <a:off x="4708" y="7427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7" name="直接箭头连接符 156"/>
            <p:cNvCxnSpPr/>
            <p:nvPr>
              <p:custDataLst>
                <p:tags r:id="rId36"/>
              </p:custDataLst>
            </p:nvPr>
          </p:nvCxnSpPr>
          <p:spPr bwMode="auto">
            <a:xfrm>
              <a:off x="4819" y="7427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58" name="Text Box 47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6463" y="6860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  <a:sym typeface="+mn-ea"/>
                </a:rPr>
                <a:t>④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PTEA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9" name="Text Box 47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6463" y="7370"/>
              <a:ext cx="90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  <a:sym typeface="+mn-ea"/>
                </a:rPr>
                <a:t>⑤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PTE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60" name="直接箭头连接符 159"/>
            <p:cNvCxnSpPr/>
            <p:nvPr>
              <p:custDataLst>
                <p:tags r:id="rId39"/>
              </p:custDataLst>
            </p:nvPr>
          </p:nvCxnSpPr>
          <p:spPr bwMode="auto">
            <a:xfrm>
              <a:off x="5443" y="7200"/>
              <a:ext cx="221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1" name="直接箭头连接符 160"/>
            <p:cNvCxnSpPr/>
            <p:nvPr>
              <p:custDataLst>
                <p:tags r:id="rId40"/>
              </p:custDataLst>
            </p:nvPr>
          </p:nvCxnSpPr>
          <p:spPr bwMode="auto">
            <a:xfrm flipH="1" flipV="1">
              <a:off x="5613" y="7313"/>
              <a:ext cx="204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162" name="直接箭头连接符 161"/>
            <p:cNvCxnSpPr/>
            <p:nvPr>
              <p:custDataLst>
                <p:tags r:id="rId41"/>
              </p:custDataLst>
            </p:nvPr>
          </p:nvCxnSpPr>
          <p:spPr bwMode="auto">
            <a:xfrm flipH="1" flipV="1">
              <a:off x="5443" y="7200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163" name="直接箭头连接符 162"/>
            <p:cNvCxnSpPr/>
            <p:nvPr>
              <p:custDataLst>
                <p:tags r:id="rId42"/>
              </p:custDataLst>
            </p:nvPr>
          </p:nvCxnSpPr>
          <p:spPr bwMode="auto">
            <a:xfrm>
              <a:off x="5613" y="7313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</p:grpSp>
      <p:sp>
        <p:nvSpPr>
          <p:cNvPr id="224" name="Text Box 6"/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1437550" y="3996055"/>
            <a:ext cx="6300000" cy="540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664845" indent="-664845"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若虚拟地址为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48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位，按字节编址，页大小为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4KB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TLB</a:t>
            </a:r>
            <a:r>
              <a:rPr lang="zh-CN" sz="1800" b="1" u="none" dirty="0" smtClean="0">
                <a:latin typeface="宋体" panose="02010600030101010101" pitchFamily="2" charset="-122"/>
              </a:rPr>
              <a:t>为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64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行、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4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路组相联，其标记、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LRU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的位数？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224" grpId="0" bldLvl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B46FB-961D-45CD-932A-737035D922E0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26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00"/>
            <a:ext cx="333057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页式</a:t>
            </a:r>
            <a:r>
              <a:rPr lang="en-US" alt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VM</a:t>
            </a:r>
            <a:r>
              <a:rPr lang="zh-CN" altLang="en-US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工作过程</a:t>
            </a:r>
            <a:endParaRPr lang="zh-CN" altLang="en-US" sz="2200" b="1" u="none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grpSp>
        <p:nvGrpSpPr>
          <p:cNvPr id="208" name="组合 207"/>
          <p:cNvGrpSpPr/>
          <p:nvPr/>
        </p:nvGrpSpPr>
        <p:grpSpPr>
          <a:xfrm>
            <a:off x="934720" y="1044575"/>
            <a:ext cx="2231390" cy="3924300"/>
            <a:chOff x="794" y="1871"/>
            <a:chExt cx="3514" cy="6180"/>
          </a:xfrm>
        </p:grpSpPr>
        <p:sp>
          <p:nvSpPr>
            <p:cNvPr id="144" name="Text Box 104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191" y="2721"/>
              <a:ext cx="2268" cy="79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虚存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-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主存地址</a:t>
              </a: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变换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查</a:t>
              </a:r>
              <a:r>
                <a:rPr lang="en-US" altLang="zh-CN" sz="16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TLB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5" name="AutoShape 10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417" y="3911"/>
              <a:ext cx="1814" cy="454"/>
            </a:xfrm>
            <a:prstGeom prst="flowChartDecision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pPr>
                <a:lnSpc>
                  <a:spcPct val="90000"/>
                </a:lnSpc>
              </a:pPr>
              <a:r>
                <a:rPr lang="zh-CN" altLang="en-US" sz="1600" b="1" u="none" dirty="0" smtClean="0"/>
                <a:t>成功？</a:t>
              </a:r>
              <a:endParaRPr lang="zh-CN" altLang="en-US" sz="1600" b="1" u="none" dirty="0" smtClean="0"/>
            </a:p>
          </p:txBody>
        </p:sp>
        <p:sp>
          <p:nvSpPr>
            <p:cNvPr id="146" name="AutoShape 112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94" y="1871"/>
              <a:ext cx="3061" cy="397"/>
            </a:xfrm>
            <a:prstGeom prst="hexagon">
              <a:avLst>
                <a:gd name="adj" fmla="val 57468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lIns="36000" tIns="17780" rIns="36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接收虚地址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(VP=j)</a:t>
              </a:r>
              <a:endParaRPr lang="en-US" altLang="zh-CN" sz="1600" b="1" u="none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7" name="AutoShape 116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94" y="7654"/>
              <a:ext cx="3061" cy="397"/>
            </a:xfrm>
            <a:prstGeom prst="hexagon">
              <a:avLst>
                <a:gd name="adj" fmla="val 52248"/>
                <a:gd name="vf" fmla="val 115470"/>
              </a:avLst>
            </a:prstGeom>
            <a:noFill/>
            <a:ln w="15875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tIns="1778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通知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CPU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操作完成</a:t>
              </a:r>
              <a:endParaRPr lang="zh-CN" altLang="en-US" sz="1600" b="1" u="none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8" name="Text Box 11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077" y="6860"/>
              <a:ext cx="2494" cy="3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访问</a:t>
              </a:r>
              <a:r>
                <a:rPr lang="en-US" altLang="zh-CN" sz="1600" b="1" u="none" dirty="0" smtClean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Cache</a:t>
              </a:r>
              <a:r>
                <a:rPr lang="en-US" altLang="zh-CN" sz="1600" b="1" u="none" dirty="0" smtClean="0">
                  <a:latin typeface="宋体" panose="02010600030101010101" pitchFamily="2" charset="-122"/>
                  <a:sym typeface="+mn-ea"/>
                </a:rPr>
                <a:t>/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主存</a:t>
              </a:r>
              <a:endParaRPr lang="en-US" altLang="zh-CN" sz="1600" b="1" u="none" baseline="-200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2" name="直接箭头连接符 21"/>
            <p:cNvCxnSpPr/>
            <p:nvPr>
              <p:custDataLst>
                <p:tags r:id="rId7"/>
              </p:custDataLst>
            </p:nvPr>
          </p:nvCxnSpPr>
          <p:spPr bwMode="auto">
            <a:xfrm>
              <a:off x="2325" y="3515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8" name="直接箭头连接符 162"/>
            <p:cNvCxnSpPr/>
            <p:nvPr>
              <p:custDataLst>
                <p:tags r:id="rId8"/>
              </p:custDataLst>
            </p:nvPr>
          </p:nvCxnSpPr>
          <p:spPr bwMode="auto">
            <a:xfrm>
              <a:off x="2324" y="4365"/>
              <a:ext cx="0" cy="249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1" name="直接箭头连接符 160"/>
            <p:cNvCxnSpPr>
              <a:stCxn id="148" idx="2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2324" y="7257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2" name="直接箭头连接符 161"/>
            <p:cNvCxnSpPr/>
            <p:nvPr>
              <p:custDataLst>
                <p:tags r:id="rId10"/>
              </p:custDataLst>
            </p:nvPr>
          </p:nvCxnSpPr>
          <p:spPr bwMode="auto">
            <a:xfrm flipH="1">
              <a:off x="2324" y="2268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3" name="Text Box 117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974" y="4422"/>
              <a:ext cx="340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4" name="Text Box 117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231" y="3798"/>
              <a:ext cx="338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 smtClean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65" name="直接连接符 164"/>
            <p:cNvCxnSpPr/>
            <p:nvPr>
              <p:custDataLst>
                <p:tags r:id="rId13"/>
              </p:custDataLst>
            </p:nvPr>
          </p:nvCxnSpPr>
          <p:spPr bwMode="auto">
            <a:xfrm>
              <a:off x="3231" y="4138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6" name="直接箭头连接符 75"/>
            <p:cNvCxnSpPr/>
            <p:nvPr>
              <p:custDataLst>
                <p:tags r:id="rId14"/>
              </p:custDataLst>
            </p:nvPr>
          </p:nvCxnSpPr>
          <p:spPr bwMode="auto">
            <a:xfrm flipH="1" flipV="1">
              <a:off x="2324" y="2494"/>
              <a:ext cx="198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09" name="组合 208"/>
          <p:cNvGrpSpPr/>
          <p:nvPr/>
        </p:nvGrpSpPr>
        <p:grpSpPr>
          <a:xfrm>
            <a:off x="3059875" y="1044405"/>
            <a:ext cx="2484120" cy="4572085"/>
            <a:chOff x="4025" y="1871"/>
            <a:chExt cx="3912" cy="7200"/>
          </a:xfrm>
        </p:grpSpPr>
        <p:sp>
          <p:nvSpPr>
            <p:cNvPr id="168" name="Rectangle 111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365" y="1984"/>
              <a:ext cx="3231" cy="6973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solidFill>
                <a:schemeClr val="tx1"/>
              </a:solidFill>
              <a:prstDash val="dash"/>
              <a:miter lim="800000"/>
              <a:tailEnd type="none" w="sm" len="med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67" name="Text Box 128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953" y="8107"/>
              <a:ext cx="1587" cy="79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/>
            <a:p>
              <a:pPr algn="ctr"/>
              <a:r>
                <a:rPr lang="en-US" altLang="zh-CN" sz="1600" b="1" u="none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TLB</a:t>
              </a:r>
              <a:r>
                <a:rPr lang="zh-CN" altLang="en-US" sz="1600" b="1" u="none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缺失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处理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硬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软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69" name="Text Box 104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592" y="2154"/>
              <a:ext cx="2268" cy="79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虚存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-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主存地址</a:t>
              </a: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变换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查</a:t>
              </a:r>
              <a:r>
                <a:rPr lang="zh-CN" altLang="en-US" sz="1600" b="1" u="none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页表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70" name="AutoShape 105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819" y="3345"/>
              <a:ext cx="1814" cy="454"/>
            </a:xfrm>
            <a:prstGeom prst="flowChartDecision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tIns="1778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/>
                <a:t>成功？</a:t>
              </a:r>
              <a:endParaRPr lang="zh-CN" altLang="en-US" sz="1600" b="1" u="none" dirty="0" smtClean="0"/>
            </a:p>
          </p:txBody>
        </p:sp>
        <p:cxnSp>
          <p:nvCxnSpPr>
            <p:cNvPr id="171" name="直接箭头连接符 170"/>
            <p:cNvCxnSpPr/>
            <p:nvPr>
              <p:custDataLst>
                <p:tags r:id="rId19"/>
              </p:custDataLst>
            </p:nvPr>
          </p:nvCxnSpPr>
          <p:spPr bwMode="auto">
            <a:xfrm>
              <a:off x="5726" y="2948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2" name="直接箭头连接符 171"/>
            <p:cNvCxnSpPr/>
            <p:nvPr>
              <p:custDataLst>
                <p:tags r:id="rId20"/>
              </p:custDataLst>
            </p:nvPr>
          </p:nvCxnSpPr>
          <p:spPr bwMode="auto">
            <a:xfrm>
              <a:off x="5726" y="3798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3" name="Text Box 117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5386" y="379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 smtClean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4" name="Text Box 92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649" y="7654"/>
              <a:ext cx="2835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表项</a:t>
              </a:r>
              <a:r>
                <a:rPr lang="en-US" altLang="zh-CN" sz="1600" b="1" u="none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j</a:t>
              </a: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调入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TLB(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j)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75" name="AutoShape 114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592" y="4252"/>
              <a:ext cx="2268" cy="454"/>
            </a:xfrm>
            <a:prstGeom prst="flowChartDecision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tIns="1778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TLB</a:t>
              </a: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有</a:t>
              </a: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空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?</a:t>
              </a:r>
              <a:endParaRPr lang="en-US" altLang="zh-CN" sz="1600" b="1" u="none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76" name="Text Box 117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6803" y="4139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7" name="Text Box 12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5386" y="4762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8" name="Text Box 124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649" y="5159"/>
              <a:ext cx="2154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找出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牺牲行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i</a:t>
              </a:r>
              <a:endParaRPr lang="en-US" altLang="zh-CN" sz="1600" b="1" u="none" baseline="-200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80" name="直接箭头连接符 179"/>
            <p:cNvCxnSpPr/>
            <p:nvPr>
              <p:custDataLst>
                <p:tags r:id="rId27"/>
              </p:custDataLst>
            </p:nvPr>
          </p:nvCxnSpPr>
          <p:spPr bwMode="auto">
            <a:xfrm>
              <a:off x="5726" y="5556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1" name="直接箭头连接符 81"/>
            <p:cNvCxnSpPr/>
            <p:nvPr>
              <p:custDataLst>
                <p:tags r:id="rId28"/>
              </p:custDataLst>
            </p:nvPr>
          </p:nvCxnSpPr>
          <p:spPr bwMode="auto">
            <a:xfrm flipH="1">
              <a:off x="5726" y="7257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2" name="Text Box 126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649" y="6860"/>
              <a:ext cx="2268" cy="39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表项</a:t>
              </a:r>
              <a:r>
                <a:rPr lang="en-US" altLang="zh-CN" sz="1600" b="1" u="none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</a:t>
              </a: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写回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页表</a:t>
              </a:r>
              <a:endParaRPr lang="zh-CN" altLang="en-US" sz="1600" b="1" u="none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83" name="AutoShape 114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4592" y="5953"/>
              <a:ext cx="2268" cy="454"/>
            </a:xfrm>
            <a:prstGeom prst="flowChartDecision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tIns="1778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页</a:t>
              </a: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改</a:t>
              </a: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过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?</a:t>
              </a:r>
              <a:endParaRPr lang="en-US" altLang="zh-CN" sz="1600" b="1" u="none" baseline="-200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84" name="直接箭头连接符 183"/>
            <p:cNvCxnSpPr/>
            <p:nvPr>
              <p:custDataLst>
                <p:tags r:id="rId31"/>
              </p:custDataLst>
            </p:nvPr>
          </p:nvCxnSpPr>
          <p:spPr bwMode="auto">
            <a:xfrm flipH="1">
              <a:off x="5726" y="6407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5" name="直接箭头连接符 184"/>
            <p:cNvCxnSpPr/>
            <p:nvPr>
              <p:custDataLst>
                <p:tags r:id="rId32"/>
              </p:custDataLst>
            </p:nvPr>
          </p:nvCxnSpPr>
          <p:spPr bwMode="auto">
            <a:xfrm flipH="1">
              <a:off x="5726" y="4706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6" name="直接箭头连接符 185"/>
            <p:cNvCxnSpPr/>
            <p:nvPr>
              <p:custDataLst>
                <p:tags r:id="rId33"/>
              </p:custDataLst>
            </p:nvPr>
          </p:nvCxnSpPr>
          <p:spPr bwMode="auto">
            <a:xfrm>
              <a:off x="6860" y="6180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7" name="Text Box 121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6803" y="5839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88" name="Text Box 117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5386" y="6406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89" name="Text Box 121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6633" y="3231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90" name="直接连接符 189"/>
            <p:cNvCxnSpPr/>
            <p:nvPr>
              <p:custDataLst>
                <p:tags r:id="rId37"/>
              </p:custDataLst>
            </p:nvPr>
          </p:nvCxnSpPr>
          <p:spPr bwMode="auto">
            <a:xfrm>
              <a:off x="6633" y="3572"/>
              <a:ext cx="130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1" name="直接箭头连接符 75"/>
            <p:cNvCxnSpPr/>
            <p:nvPr>
              <p:custDataLst>
                <p:tags r:id="rId38"/>
              </p:custDataLst>
            </p:nvPr>
          </p:nvCxnSpPr>
          <p:spPr bwMode="auto">
            <a:xfrm>
              <a:off x="5726" y="8050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2" name="直接箭头连接符 75"/>
            <p:cNvCxnSpPr/>
            <p:nvPr>
              <p:custDataLst>
                <p:tags r:id="rId39"/>
              </p:custDataLst>
            </p:nvPr>
          </p:nvCxnSpPr>
          <p:spPr bwMode="auto">
            <a:xfrm>
              <a:off x="6860" y="4479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3" name="直接箭头连接符 75"/>
            <p:cNvCxnSpPr/>
            <p:nvPr>
              <p:custDataLst>
                <p:tags r:id="rId40"/>
              </p:custDataLst>
            </p:nvPr>
          </p:nvCxnSpPr>
          <p:spPr bwMode="auto">
            <a:xfrm flipH="1" flipV="1">
              <a:off x="5726" y="7427"/>
              <a:ext cx="170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4" name="直接箭头连接符 75"/>
            <p:cNvCxnSpPr/>
            <p:nvPr>
              <p:custDataLst>
                <p:tags r:id="rId41"/>
              </p:custDataLst>
            </p:nvPr>
          </p:nvCxnSpPr>
          <p:spPr bwMode="auto">
            <a:xfrm flipH="1">
              <a:off x="7427" y="4479"/>
              <a:ext cx="0" cy="294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5" name="直接箭头连接符 75"/>
            <p:cNvCxnSpPr/>
            <p:nvPr>
              <p:custDataLst>
                <p:tags r:id="rId42"/>
              </p:custDataLst>
            </p:nvPr>
          </p:nvCxnSpPr>
          <p:spPr bwMode="auto">
            <a:xfrm>
              <a:off x="4195" y="9071"/>
              <a:ext cx="153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7" name="直接箭头连接符 75"/>
            <p:cNvCxnSpPr/>
            <p:nvPr>
              <p:custDataLst>
                <p:tags r:id="rId43"/>
              </p:custDataLst>
            </p:nvPr>
          </p:nvCxnSpPr>
          <p:spPr bwMode="auto">
            <a:xfrm flipH="1">
              <a:off x="4195" y="2494"/>
              <a:ext cx="0" cy="657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5" name="直接箭头连接符 204"/>
            <p:cNvCxnSpPr/>
            <p:nvPr>
              <p:custDataLst>
                <p:tags r:id="rId44"/>
              </p:custDataLst>
            </p:nvPr>
          </p:nvCxnSpPr>
          <p:spPr bwMode="auto">
            <a:xfrm>
              <a:off x="5726" y="1871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6" name="直接连接符 205"/>
            <p:cNvCxnSpPr/>
            <p:nvPr>
              <p:custDataLst>
                <p:tags r:id="rId45"/>
              </p:custDataLst>
            </p:nvPr>
          </p:nvCxnSpPr>
          <p:spPr bwMode="auto">
            <a:xfrm>
              <a:off x="4025" y="1871"/>
              <a:ext cx="170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7" name="直接箭头连接符 75"/>
            <p:cNvCxnSpPr/>
            <p:nvPr>
              <p:custDataLst>
                <p:tags r:id="rId46"/>
              </p:custDataLst>
            </p:nvPr>
          </p:nvCxnSpPr>
          <p:spPr bwMode="auto">
            <a:xfrm flipH="1">
              <a:off x="4025" y="1871"/>
              <a:ext cx="0" cy="226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217" name="组合 216"/>
          <p:cNvGrpSpPr/>
          <p:nvPr/>
        </p:nvGrpSpPr>
        <p:grpSpPr>
          <a:xfrm>
            <a:off x="1907950" y="900430"/>
            <a:ext cx="6408420" cy="4716145"/>
            <a:chOff x="2381" y="1644"/>
            <a:chExt cx="10092" cy="7427"/>
          </a:xfrm>
        </p:grpSpPr>
        <p:sp>
          <p:nvSpPr>
            <p:cNvPr id="23" name="Rectangle 111"/>
            <p:cNvSpPr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8448" y="1984"/>
              <a:ext cx="3458" cy="6973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solidFill>
                <a:schemeClr val="tx1"/>
              </a:solidFill>
              <a:prstDash val="dash"/>
              <a:miter lim="800000"/>
              <a:tailEnd type="none" w="sm" len="med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25" name="Text Box 92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8562" y="7656"/>
              <a:ext cx="2665" cy="39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页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j</a:t>
              </a: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装入</a:t>
              </a:r>
              <a:r>
                <a:rPr lang="en-US" altLang="zh-CN" sz="1600" b="1" u="none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MM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页框</a:t>
              </a:r>
              <a:r>
                <a:rPr lang="en-US" altLang="zh-CN" sz="1600" b="1" u="none" dirty="0" err="1">
                  <a:latin typeface="宋体" panose="02010600030101010101" pitchFamily="2" charset="-122"/>
                </a:rPr>
                <a:t>i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6" name="Text Box 95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8562" y="2154"/>
              <a:ext cx="2268" cy="79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虚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存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-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辅存地址</a:t>
              </a: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变换</a:t>
              </a:r>
              <a:r>
                <a:rPr lang="en-US" altLang="zh-CN" sz="1600" b="1" u="none" spc="-100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spc="-100" dirty="0" smtClean="0">
                  <a:latin typeface="宋体" panose="02010600030101010101" pitchFamily="2" charset="-122"/>
                </a:rPr>
                <a:t>查</a:t>
              </a:r>
              <a:r>
                <a:rPr lang="zh-CN" altLang="en-US" sz="1600" b="1" u="none" spc="-100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外页表</a:t>
              </a:r>
              <a:r>
                <a:rPr lang="en-US" altLang="zh-CN" sz="1600" b="1" u="none" spc="-100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spc="-1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7" name="AutoShape 105"/>
            <p:cNvSpPr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8789" y="3348"/>
              <a:ext cx="1814" cy="454"/>
            </a:xfrm>
            <a:prstGeom prst="flowChartDecision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tIns="1778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/>
                <a:t>成功？</a:t>
              </a:r>
              <a:endParaRPr lang="zh-CN" altLang="en-US" sz="1600" b="1" u="none" dirty="0" smtClean="0"/>
            </a:p>
          </p:txBody>
        </p:sp>
        <p:cxnSp>
          <p:nvCxnSpPr>
            <p:cNvPr id="47" name="直接箭头连接符 46"/>
            <p:cNvCxnSpPr/>
            <p:nvPr>
              <p:custDataLst>
                <p:tags r:id="rId51"/>
              </p:custDataLst>
            </p:nvPr>
          </p:nvCxnSpPr>
          <p:spPr bwMode="auto">
            <a:xfrm>
              <a:off x="9694" y="2948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" name="直接箭头连接符 47"/>
            <p:cNvCxnSpPr/>
            <p:nvPr>
              <p:custDataLst>
                <p:tags r:id="rId52"/>
              </p:custDataLst>
            </p:nvPr>
          </p:nvCxnSpPr>
          <p:spPr bwMode="auto">
            <a:xfrm>
              <a:off x="9696" y="3802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9" name="AutoShape 114"/>
            <p:cNvSpPr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8562" y="4255"/>
              <a:ext cx="2268" cy="454"/>
            </a:xfrm>
            <a:prstGeom prst="flowChartDecision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tIns="1778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MM</a:t>
              </a: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有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空页框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?</a:t>
              </a:r>
              <a:endParaRPr lang="en-US" altLang="zh-CN" sz="1600" b="1" u="none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0" name="Text Box 117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9358" y="4765"/>
              <a:ext cx="340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 smtClean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1" name="Text Box 121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10773" y="4141"/>
              <a:ext cx="340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 smtClean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2" name="Text Box 124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8562" y="5162"/>
              <a:ext cx="2268" cy="39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找出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牺牲页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600" b="1" u="none" dirty="0" err="1" smtClean="0">
                  <a:latin typeface="宋体" panose="02010600030101010101" pitchFamily="2" charset="-122"/>
                </a:rPr>
                <a:t>i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3" name="Text Box 128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11395" y="4932"/>
              <a:ext cx="397" cy="2381"/>
            </a:xfrm>
            <a:prstGeom prst="rect">
              <a:avLst/>
            </a:prstGeom>
            <a:solidFill>
              <a:schemeClr val="bg1"/>
            </a:solidFill>
            <a:ln w="15875">
              <a:noFill/>
              <a:miter lim="800000"/>
            </a:ln>
            <a:effectLst/>
          </p:spPr>
          <p:txBody>
            <a:bodyPr vert="eaVert" lIns="18000" tIns="17780" rIns="71755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solidFill>
                    <a:srgbClr val="FF0000"/>
                  </a:solidFill>
                  <a:latin typeface="宋体" panose="02010600030101010101" pitchFamily="2" charset="-122"/>
                </a:rPr>
                <a:t>缺页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处理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软件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baseline="-200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54" name="直接箭头连接符 53"/>
            <p:cNvCxnSpPr/>
            <p:nvPr>
              <p:custDataLst>
                <p:tags r:id="rId58"/>
              </p:custDataLst>
            </p:nvPr>
          </p:nvCxnSpPr>
          <p:spPr bwMode="auto">
            <a:xfrm>
              <a:off x="9696" y="5559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" name="直接箭头连接符 81"/>
            <p:cNvCxnSpPr/>
            <p:nvPr>
              <p:custDataLst>
                <p:tags r:id="rId59"/>
              </p:custDataLst>
            </p:nvPr>
          </p:nvCxnSpPr>
          <p:spPr bwMode="auto">
            <a:xfrm>
              <a:off x="9696" y="7260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6" name="Text Box 126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8562" y="6863"/>
              <a:ext cx="2268" cy="39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页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i</a:t>
              </a: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写回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交换区</a:t>
              </a:r>
              <a:endParaRPr lang="zh-CN" altLang="en-US" sz="1600" b="1" u="none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7" name="AutoShape 114"/>
            <p:cNvSpPr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8562" y="5956"/>
              <a:ext cx="2268" cy="454"/>
            </a:xfrm>
            <a:prstGeom prst="flowChartDecision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tIns="1778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页</a:t>
              </a: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改</a:t>
              </a: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过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?</a:t>
              </a:r>
              <a:endParaRPr lang="en-US" altLang="zh-CN" sz="1600" b="1" u="none" baseline="-200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58" name="直接箭头连接符 57"/>
            <p:cNvCxnSpPr/>
            <p:nvPr>
              <p:custDataLst>
                <p:tags r:id="rId62"/>
              </p:custDataLst>
            </p:nvPr>
          </p:nvCxnSpPr>
          <p:spPr bwMode="auto">
            <a:xfrm flipH="1">
              <a:off x="9696" y="6410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" name="直接箭头连接符 58"/>
            <p:cNvCxnSpPr/>
            <p:nvPr>
              <p:custDataLst>
                <p:tags r:id="rId63"/>
              </p:custDataLst>
            </p:nvPr>
          </p:nvCxnSpPr>
          <p:spPr bwMode="auto">
            <a:xfrm>
              <a:off x="9696" y="4709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直接箭头连接符 60"/>
            <p:cNvCxnSpPr>
              <a:stCxn id="57" idx="3"/>
            </p:cNvCxnSpPr>
            <p:nvPr>
              <p:custDataLst>
                <p:tags r:id="rId64"/>
              </p:custDataLst>
            </p:nvPr>
          </p:nvCxnSpPr>
          <p:spPr bwMode="auto">
            <a:xfrm>
              <a:off x="10830" y="6183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2" name="Text Box 117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9355" y="3801"/>
              <a:ext cx="340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3" name="Text Box 121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10546" y="3234"/>
              <a:ext cx="340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4" name="Text Box 121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10830" y="5842"/>
              <a:ext cx="340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N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5" name="Text Box 117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9355" y="6409"/>
              <a:ext cx="340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Y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6" name="Text Box 118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8562" y="8450"/>
              <a:ext cx="3175" cy="397"/>
            </a:xfrm>
            <a:prstGeom prst="rect">
              <a:avLst/>
            </a:prstGeom>
            <a:solidFill>
              <a:srgbClr val="99CCFF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修改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页表项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第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j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baseline="-200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67" name="直接箭头连接符 66"/>
            <p:cNvCxnSpPr/>
            <p:nvPr>
              <p:custDataLst>
                <p:tags r:id="rId70"/>
              </p:custDataLst>
            </p:nvPr>
          </p:nvCxnSpPr>
          <p:spPr bwMode="auto">
            <a:xfrm>
              <a:off x="9696" y="8053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0" name="直接连接符 129"/>
            <p:cNvCxnSpPr/>
            <p:nvPr>
              <p:custDataLst>
                <p:tags r:id="rId71"/>
              </p:custDataLst>
            </p:nvPr>
          </p:nvCxnSpPr>
          <p:spPr bwMode="auto">
            <a:xfrm>
              <a:off x="10545" y="3574"/>
              <a:ext cx="1928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8" name="直接连接符 197"/>
            <p:cNvCxnSpPr/>
            <p:nvPr>
              <p:custDataLst>
                <p:tags r:id="rId72"/>
              </p:custDataLst>
            </p:nvPr>
          </p:nvCxnSpPr>
          <p:spPr bwMode="auto">
            <a:xfrm>
              <a:off x="10773" y="4479"/>
              <a:ext cx="51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9" name="直接箭头连接符 75"/>
            <p:cNvCxnSpPr/>
            <p:nvPr>
              <p:custDataLst>
                <p:tags r:id="rId73"/>
              </p:custDataLst>
            </p:nvPr>
          </p:nvCxnSpPr>
          <p:spPr bwMode="auto">
            <a:xfrm flipH="1">
              <a:off x="11283" y="4479"/>
              <a:ext cx="0" cy="294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0" name="直接箭头连接符 75"/>
            <p:cNvCxnSpPr/>
            <p:nvPr>
              <p:custDataLst>
                <p:tags r:id="rId74"/>
              </p:custDataLst>
            </p:nvPr>
          </p:nvCxnSpPr>
          <p:spPr bwMode="auto">
            <a:xfrm flipH="1" flipV="1">
              <a:off x="9696" y="7427"/>
              <a:ext cx="158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1" name="直接箭头连接符 75"/>
            <p:cNvCxnSpPr/>
            <p:nvPr>
              <p:custDataLst>
                <p:tags r:id="rId75"/>
              </p:custDataLst>
            </p:nvPr>
          </p:nvCxnSpPr>
          <p:spPr bwMode="auto">
            <a:xfrm>
              <a:off x="9694" y="8844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2" name="直接箭头连接符 201"/>
            <p:cNvCxnSpPr/>
            <p:nvPr>
              <p:custDataLst>
                <p:tags r:id="rId76"/>
              </p:custDataLst>
            </p:nvPr>
          </p:nvCxnSpPr>
          <p:spPr bwMode="auto">
            <a:xfrm>
              <a:off x="9694" y="1871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3" name="直接连接符 202"/>
            <p:cNvCxnSpPr/>
            <p:nvPr>
              <p:custDataLst>
                <p:tags r:id="rId77"/>
              </p:custDataLst>
            </p:nvPr>
          </p:nvCxnSpPr>
          <p:spPr bwMode="auto">
            <a:xfrm>
              <a:off x="8107" y="1871"/>
              <a:ext cx="158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4" name="直接箭头连接符 75"/>
            <p:cNvCxnSpPr/>
            <p:nvPr>
              <p:custDataLst>
                <p:tags r:id="rId78"/>
              </p:custDataLst>
            </p:nvPr>
          </p:nvCxnSpPr>
          <p:spPr bwMode="auto">
            <a:xfrm flipH="1">
              <a:off x="8107" y="1871"/>
              <a:ext cx="0" cy="170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1" name="直接连接符 210"/>
            <p:cNvCxnSpPr/>
            <p:nvPr>
              <p:custDataLst>
                <p:tags r:id="rId79"/>
              </p:custDataLst>
            </p:nvPr>
          </p:nvCxnSpPr>
          <p:spPr bwMode="auto">
            <a:xfrm>
              <a:off x="8277" y="9071"/>
              <a:ext cx="141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3" name="直接箭头连接符 75"/>
            <p:cNvCxnSpPr/>
            <p:nvPr>
              <p:custDataLst>
                <p:tags r:id="rId80"/>
              </p:custDataLst>
            </p:nvPr>
          </p:nvCxnSpPr>
          <p:spPr bwMode="auto">
            <a:xfrm>
              <a:off x="8277" y="1644"/>
              <a:ext cx="0" cy="74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4" name="直接箭头连接符 213"/>
            <p:cNvCxnSpPr/>
            <p:nvPr>
              <p:custDataLst>
                <p:tags r:id="rId81"/>
              </p:custDataLst>
            </p:nvPr>
          </p:nvCxnSpPr>
          <p:spPr bwMode="auto">
            <a:xfrm>
              <a:off x="2381" y="1644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5" name="直接连接符 214"/>
            <p:cNvCxnSpPr/>
            <p:nvPr>
              <p:custDataLst>
                <p:tags r:id="rId82"/>
              </p:custDataLst>
            </p:nvPr>
          </p:nvCxnSpPr>
          <p:spPr bwMode="auto">
            <a:xfrm>
              <a:off x="2381" y="1644"/>
              <a:ext cx="5896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19" name="组合 218"/>
          <p:cNvGrpSpPr/>
          <p:nvPr/>
        </p:nvGrpSpPr>
        <p:grpSpPr>
          <a:xfrm>
            <a:off x="8100000" y="2124710"/>
            <a:ext cx="467360" cy="791845"/>
            <a:chOff x="12132" y="3572"/>
            <a:chExt cx="736" cy="1247"/>
          </a:xfrm>
        </p:grpSpPr>
        <p:sp>
          <p:nvSpPr>
            <p:cNvPr id="212" name="Text Box 517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12132" y="4025"/>
              <a:ext cx="737" cy="79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p>
              <a:pPr algn="ctr"/>
              <a:r>
                <a:rPr lang="zh-CN" altLang="en-US" sz="1600" b="1" u="none" dirty="0" smtClean="0"/>
                <a:t>系统异常</a:t>
              </a:r>
              <a:endParaRPr lang="zh-CN" altLang="en-US" sz="1600" b="1" u="none" dirty="0" smtClean="0"/>
            </a:p>
          </p:txBody>
        </p:sp>
        <p:cxnSp>
          <p:nvCxnSpPr>
            <p:cNvPr id="218" name="直接箭头连接符 81"/>
            <p:cNvCxnSpPr/>
            <p:nvPr>
              <p:custDataLst>
                <p:tags r:id="rId84"/>
              </p:custDataLst>
            </p:nvPr>
          </p:nvCxnSpPr>
          <p:spPr bwMode="auto">
            <a:xfrm>
              <a:off x="12472" y="3572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20" name="Text Box 6"/>
          <p:cNvSpPr txBox="1">
            <a:spLocks noChangeArrowheads="1"/>
          </p:cNvSpPr>
          <p:nvPr>
            <p:custDataLst>
              <p:tags r:id="rId85"/>
            </p:custDataLst>
          </p:nvPr>
        </p:nvSpPr>
        <p:spPr bwMode="auto">
          <a:xfrm>
            <a:off x="323215" y="5085080"/>
            <a:ext cx="2484000" cy="61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4160" indent="-264160"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①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软件处理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TLB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缺失时，上图的变化？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222" name="Text Box 6"/>
          <p:cNvSpPr txBox="1">
            <a:spLocks noChangeArrowheads="1"/>
          </p:cNvSpPr>
          <p:nvPr>
            <p:custDataLst>
              <p:tags r:id="rId86"/>
            </p:custDataLst>
          </p:nvPr>
        </p:nvSpPr>
        <p:spPr bwMode="auto">
          <a:xfrm>
            <a:off x="2120265" y="6156000"/>
            <a:ext cx="3960000" cy="216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en-US" altLang="zh-CN" sz="1600" b="1" u="none" dirty="0" smtClean="0">
                <a:latin typeface="宋体" panose="02010600030101010101" pitchFamily="2" charset="-122"/>
              </a:rPr>
              <a:t>TLB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命中、页表缺失，页表缺失、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命中</a:t>
            </a:r>
            <a:endParaRPr lang="zh-CN" altLang="en-US" sz="16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224" name="Text Box 6"/>
          <p:cNvSpPr txBox="1">
            <a:spLocks noChangeArrowheads="1"/>
          </p:cNvSpPr>
          <p:nvPr>
            <p:custDataLst>
              <p:tags r:id="rId87"/>
            </p:custDataLst>
          </p:nvPr>
        </p:nvSpPr>
        <p:spPr bwMode="auto">
          <a:xfrm>
            <a:off x="1135490" y="5796000"/>
            <a:ext cx="6624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②</a:t>
            </a: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TLB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、页表、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Cache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的命中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缺失组合中，哪些不会发生？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" grpId="0" bldLvl="0" animBg="1"/>
      <p:bldP spid="222" grpId="0" bldLvl="0" animBg="1"/>
      <p:bldP spid="224" grpId="0" bldLvl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35" name="Text Box 26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624840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存储器</a:t>
            </a:r>
            <a:r>
              <a:rPr lang="zh-CN" sz="22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层次结构综合示例</a:t>
            </a:r>
            <a:r>
              <a:rPr lang="zh-CN" altLang="en-US" sz="2200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以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Core i7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为例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800" b="1" u="none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层次结构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级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TLB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3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级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Cache+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主存</a:t>
            </a:r>
            <a:endParaRPr lang="zh-CN" altLang="en-US" sz="2200" b="1" u="none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graphicFrame>
        <p:nvGraphicFramePr>
          <p:cNvPr id="212" name="表格 211"/>
          <p:cNvGraphicFramePr/>
          <p:nvPr>
            <p:custDataLst>
              <p:tags r:id="rId2"/>
            </p:custDataLst>
          </p:nvPr>
        </p:nvGraphicFramePr>
        <p:xfrm>
          <a:off x="1384935" y="4196080"/>
          <a:ext cx="7070090" cy="92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085"/>
                <a:gridCol w="1791335"/>
                <a:gridCol w="1564640"/>
                <a:gridCol w="1400810"/>
                <a:gridCol w="1760220"/>
              </a:tblGrid>
              <a:tr h="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lang="zh-CN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" marR="17780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虚存</a:t>
                      </a:r>
                      <a:endParaRPr lang="zh-CN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" marR="17780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TLB</a:t>
                      </a:r>
                      <a:endParaRPr lang="en-US" altLang="zh-CN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" marR="17780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Cache</a:t>
                      </a:r>
                      <a:endParaRPr lang="en-US" altLang="zh-CN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" marR="17780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主存</a:t>
                      </a:r>
                      <a:endParaRPr lang="zh-CN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" marR="17780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</a:tr>
              <a:tr h="6375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剩余参数</a:t>
                      </a:r>
                      <a:endParaRPr lang="zh-CN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" marR="17780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1" dirty="0">
                          <a:latin typeface="宋体" panose="02010600030101010101" pitchFamily="2" charset="-122"/>
                          <a:sym typeface="+mn-ea"/>
                        </a:rPr>
                        <a:t>页式，</a:t>
                      </a:r>
                      <a:r>
                        <a:rPr lang="en-US" altLang="zh-CN" sz="1800" b="1" dirty="0" err="1" smtClean="0">
                          <a:latin typeface="宋体" panose="02010600030101010101" pitchFamily="2" charset="-122"/>
                          <a:sym typeface="+mn-ea"/>
                        </a:rPr>
                        <a:t>S</a:t>
                      </a:r>
                      <a:r>
                        <a:rPr lang="zh-CN" altLang="en-US" sz="1800" b="1" baseline="-18000" dirty="0" err="1" smtClean="0">
                          <a:latin typeface="宋体" panose="02010600030101010101" pitchFamily="2" charset="-122"/>
                          <a:sym typeface="+mn-ea"/>
                        </a:rPr>
                        <a:t>页</a:t>
                      </a:r>
                      <a:r>
                        <a:rPr lang="zh-CN" altLang="en-US" sz="1800" b="1" dirty="0" smtClean="0">
                          <a:latin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sym typeface="+mn-ea"/>
                        </a:rPr>
                        <a:t>4KB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sym typeface="+mn-ea"/>
                        </a:rPr>
                        <a:t>，</a:t>
                      </a:r>
                      <a:r>
                        <a:rPr lang="en-US" altLang="zh-CN" sz="1800" b="1" dirty="0" err="1" smtClean="0">
                          <a:latin typeface="宋体" panose="02010600030101010101" pitchFamily="2" charset="-122"/>
                          <a:sym typeface="+mn-ea"/>
                        </a:rPr>
                        <a:t>S</a:t>
                      </a:r>
                      <a:r>
                        <a:rPr lang="zh-CN" altLang="en-US" sz="1800" b="1" baseline="-18000" dirty="0" err="1" smtClean="0">
                          <a:latin typeface="宋体" panose="02010600030101010101" pitchFamily="2" charset="-122"/>
                          <a:sym typeface="+mn-ea"/>
                        </a:rPr>
                        <a:t>页表项</a:t>
                      </a:r>
                      <a:r>
                        <a:rPr lang="zh-CN" altLang="en-US" sz="1800" b="1" dirty="0" smtClean="0">
                          <a:latin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>
                          <a:latin typeface="宋体" panose="02010600030101010101" pitchFamily="2" charset="-122"/>
                          <a:sym typeface="+mn-ea"/>
                        </a:rPr>
                        <a:t>8B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7780" marR="17780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b="1" dirty="0" smtClean="0">
                          <a:latin typeface="宋体" panose="02010600030101010101" pitchFamily="2" charset="-122"/>
                          <a:sym typeface="+mn-ea"/>
                        </a:rPr>
                        <a:t>LRU</a:t>
                      </a:r>
                      <a:r>
                        <a:rPr lang="zh-CN" altLang="en-US" sz="1800" b="1" dirty="0" smtClean="0">
                          <a:latin typeface="宋体" panose="02010600030101010101" pitchFamily="2" charset="-122"/>
                          <a:sym typeface="+mn-ea"/>
                        </a:rPr>
                        <a:t>、写回法，硬件处理缺失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7780" marR="17780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b="1" dirty="0" smtClean="0">
                          <a:latin typeface="宋体" panose="02010600030101010101" pitchFamily="2" charset="-122"/>
                          <a:sym typeface="+mn-ea"/>
                        </a:rPr>
                        <a:t>S</a:t>
                      </a:r>
                      <a:r>
                        <a:rPr lang="zh-CN" altLang="en-US" sz="1800" b="1" baseline="-18000" dirty="0" smtClean="0">
                          <a:latin typeface="宋体" panose="02010600030101010101" pitchFamily="2" charset="-122"/>
                          <a:sym typeface="+mn-ea"/>
                        </a:rPr>
                        <a:t>块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800" b="1" dirty="0" smtClean="0">
                          <a:latin typeface="宋体" panose="02010600030101010101" pitchFamily="2" charset="-122"/>
                          <a:sym typeface="+mn-ea"/>
                        </a:rPr>
                        <a:t>64B</a:t>
                      </a:r>
                      <a:r>
                        <a:rPr lang="zh-CN" altLang="en-US" sz="1800" b="1" dirty="0" smtClean="0">
                          <a:latin typeface="宋体" panose="02010600030101010101" pitchFamily="2" charset="-122"/>
                          <a:sym typeface="+mn-ea"/>
                        </a:rPr>
                        <a:t>，</a:t>
                      </a:r>
                      <a:endParaRPr lang="zh-CN" altLang="en-US" sz="1800" b="1" dirty="0" smtClean="0">
                        <a:latin typeface="宋体" panose="02010600030101010101" pitchFamily="2" charset="-122"/>
                        <a:sym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b="1" dirty="0" smtClean="0">
                          <a:latin typeface="宋体" panose="02010600030101010101" pitchFamily="2" charset="-122"/>
                          <a:sym typeface="+mn-ea"/>
                        </a:rPr>
                        <a:t>LRU</a:t>
                      </a:r>
                      <a:r>
                        <a:rPr lang="zh-CN" altLang="en-US" sz="1800" b="1" dirty="0" smtClean="0">
                          <a:latin typeface="宋体" panose="02010600030101010101" pitchFamily="2" charset="-122"/>
                          <a:sym typeface="+mn-ea"/>
                        </a:rPr>
                        <a:t>、写回法</a:t>
                      </a:r>
                      <a:endParaRPr lang="zh-CN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" marR="17780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b="1" dirty="0" smtClean="0">
                          <a:latin typeface="宋体" panose="02010600030101010101" pitchFamily="2" charset="-122"/>
                          <a:sym typeface="+mn-ea"/>
                        </a:rPr>
                        <a:t>DDR3</a:t>
                      </a:r>
                      <a:r>
                        <a:rPr lang="zh-CN" altLang="en-US" sz="1800" b="1" dirty="0" smtClean="0">
                          <a:latin typeface="宋体" panose="02010600030101010101" pitchFamily="2" charset="-122"/>
                          <a:sym typeface="+mn-ea"/>
                        </a:rPr>
                        <a:t>，</a:t>
                      </a:r>
                      <a:endParaRPr lang="zh-CN" altLang="en-US" sz="1800" b="1" dirty="0" smtClean="0">
                        <a:latin typeface="宋体" panose="02010600030101010101" pitchFamily="2" charset="-122"/>
                        <a:sym typeface="+mn-ea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1" dirty="0" smtClean="0">
                          <a:latin typeface="宋体" panose="02010600030101010101" pitchFamily="2" charset="-122"/>
                          <a:sym typeface="+mn-ea"/>
                        </a:rPr>
                        <a:t>支持三通道方式</a:t>
                      </a:r>
                      <a:endParaRPr lang="zh-CN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" marR="17780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0" name="Text Box 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51890" y="5256000"/>
            <a:ext cx="4572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TLB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、</a:t>
            </a:r>
            <a:r>
              <a:rPr lang="en-US" altLang="zh-CN" sz="1800" b="1" u="none" dirty="0" smtClean="0">
                <a:latin typeface="宋体" panose="02010600030101010101" pitchFamily="2" charset="-122"/>
              </a:rPr>
              <a:t>L2$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的</a:t>
            </a:r>
            <a:r>
              <a:rPr lang="zh-CN" altLang="en-US" sz="1800" b="1" u="none" dirty="0" smtClean="0">
                <a:latin typeface="宋体" panose="02010600030101010101" pitchFamily="2" charset="-122"/>
                <a:sym typeface="+mn-ea"/>
              </a:rPr>
              <a:t>索引、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标记各为几位？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grpSp>
        <p:nvGrpSpPr>
          <p:cNvPr id="217" name="组合 216"/>
          <p:cNvGrpSpPr/>
          <p:nvPr/>
        </p:nvGrpSpPr>
        <p:grpSpPr>
          <a:xfrm>
            <a:off x="1403985" y="1259840"/>
            <a:ext cx="6983730" cy="2843530"/>
            <a:chOff x="2211" y="1984"/>
            <a:chExt cx="10998" cy="4478"/>
          </a:xfrm>
        </p:grpSpPr>
        <p:sp>
          <p:nvSpPr>
            <p:cNvPr id="138" name="Text Box 193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211" y="1984"/>
              <a:ext cx="8844" cy="4479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zh-CN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9" name="Text Box 193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323" y="2098"/>
              <a:ext cx="8617" cy="3061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zh-CN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0" name="Text Box 193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973" y="3345"/>
              <a:ext cx="1701" cy="73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DTLB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(64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/4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路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zh-CN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1" name="Text Box 193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901" y="3345"/>
              <a:ext cx="1814" cy="73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ITLB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(128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/4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路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zh-CN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42" name="Text Box 193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313" y="4535"/>
              <a:ext cx="3061" cy="45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L2TLB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(512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行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/4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路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zh-CN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44" name="直接箭头连接符 44"/>
            <p:cNvCxnSpPr/>
            <p:nvPr>
              <p:custDataLst>
                <p:tags r:id="rId9"/>
              </p:custDataLst>
            </p:nvPr>
          </p:nvCxnSpPr>
          <p:spPr bwMode="auto">
            <a:xfrm>
              <a:off x="8050" y="4082"/>
              <a:ext cx="0" cy="45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sp>
          <p:nvSpPr>
            <p:cNvPr id="150" name="Text Box 193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1509" y="5216"/>
              <a:ext cx="1701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数据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页表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1" name="Text Box 193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591" y="3345"/>
              <a:ext cx="1701" cy="7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L1-I$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(32KB/4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路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56" name="Text Box 193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663" y="3345"/>
              <a:ext cx="1701" cy="7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L1-D$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(32KB/8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路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4" name="Text Box 193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345" y="4535"/>
              <a:ext cx="2721" cy="45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L2$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(256KB/8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路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65" name="直接箭头连接符 44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5385" y="4082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6" name="直接箭头连接符 44"/>
            <p:cNvCxnSpPr/>
            <p:nvPr>
              <p:custDataLst>
                <p:tags r:id="rId15"/>
              </p:custDataLst>
            </p:nvPr>
          </p:nvCxnSpPr>
          <p:spPr bwMode="auto">
            <a:xfrm>
              <a:off x="6065" y="2438"/>
              <a:ext cx="181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0" name="直接箭头连接符 44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3572" y="4082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71" name="直接箭头连接符 44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5385" y="2778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2" name="直接箭头连接符 44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3571" y="2778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73" name="直接箭头连接符 44"/>
            <p:cNvCxnSpPr/>
            <p:nvPr>
              <p:custDataLst>
                <p:tags r:id="rId19"/>
              </p:custDataLst>
            </p:nvPr>
          </p:nvCxnSpPr>
          <p:spPr bwMode="auto">
            <a:xfrm>
              <a:off x="9524" y="4082"/>
              <a:ext cx="0" cy="45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174" name="直接箭头连接符 44"/>
            <p:cNvCxnSpPr/>
            <p:nvPr>
              <p:custDataLst>
                <p:tags r:id="rId20"/>
              </p:custDataLst>
            </p:nvPr>
          </p:nvCxnSpPr>
          <p:spPr bwMode="auto">
            <a:xfrm>
              <a:off x="8787" y="4989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75" name="直接箭头连接符 44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4364" y="4989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sp>
          <p:nvSpPr>
            <p:cNvPr id="176" name="Text Box 193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880" y="2324"/>
              <a:ext cx="1814" cy="56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MMU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77" name="直接箭头连接符 176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9524" y="2891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8" name="直接箭头连接符 44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8050" y="2891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sp>
          <p:nvSpPr>
            <p:cNvPr id="179" name="Text Box 193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777" y="2211"/>
              <a:ext cx="3289" cy="569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        执行引擎 </a:t>
              </a:r>
              <a:endParaRPr lang="zh-CN" altLang="en-US" sz="18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80" name="Text Box 193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230" y="5556"/>
              <a:ext cx="2495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核共享的</a:t>
              </a:r>
              <a:r>
                <a:rPr lang="en-US" altLang="zh-CN" sz="1800" b="1" u="none" dirty="0" smtClean="0">
                  <a:latin typeface="宋体" panose="02010600030101010101" pitchFamily="2" charset="-122"/>
                </a:rPr>
                <a:t>L3$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(2MB/16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路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81" name="Text Box 193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7086" y="5556"/>
              <a:ext cx="3402" cy="794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anose="02010600030101010101" pitchFamily="2" charset="-122"/>
                </a:rPr>
                <a:t>DRAM</a:t>
              </a:r>
              <a:r>
                <a:rPr lang="zh-CN" altLang="en-US" sz="1800" b="1" u="none" dirty="0" smtClean="0">
                  <a:latin typeface="宋体" panose="02010600030101010101" pitchFamily="2" charset="-122"/>
                </a:rPr>
                <a:t>控制器</a:t>
              </a:r>
              <a:endParaRPr lang="en-US" altLang="zh-CN" sz="18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(64b@10.66GB/s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×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3)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82" name="Text Box 193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1509" y="5556"/>
              <a:ext cx="1701" cy="79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zh-CN" altLang="en-US" sz="1800" b="1" u="none" dirty="0" smtClean="0">
                  <a:latin typeface="宋体" panose="02010600030101010101" pitchFamily="2" charset="-122"/>
                </a:rPr>
                <a:t>主存</a:t>
              </a:r>
              <a:endParaRPr lang="zh-CN" altLang="en-US" sz="18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83" name="直接箭头连接符 44"/>
            <p:cNvCxnSpPr/>
            <p:nvPr>
              <p:custDataLst>
                <p:tags r:id="rId29"/>
              </p:custDataLst>
            </p:nvPr>
          </p:nvCxnSpPr>
          <p:spPr bwMode="auto">
            <a:xfrm flipH="1">
              <a:off x="5725" y="6068"/>
              <a:ext cx="1361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84" name="直接箭头连接符 44"/>
            <p:cNvCxnSpPr/>
            <p:nvPr>
              <p:custDataLst>
                <p:tags r:id="rId30"/>
              </p:custDataLst>
            </p:nvPr>
          </p:nvCxnSpPr>
          <p:spPr bwMode="auto">
            <a:xfrm flipH="1">
              <a:off x="10488" y="5954"/>
              <a:ext cx="102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85" name="直接箭头连接符 44"/>
            <p:cNvCxnSpPr/>
            <p:nvPr>
              <p:custDataLst>
                <p:tags r:id="rId31"/>
              </p:custDataLst>
            </p:nvPr>
          </p:nvCxnSpPr>
          <p:spPr bwMode="auto">
            <a:xfrm flipH="1">
              <a:off x="10488" y="5728"/>
              <a:ext cx="102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186" name="直接箭头连接符 44"/>
            <p:cNvCxnSpPr/>
            <p:nvPr>
              <p:custDataLst>
                <p:tags r:id="rId32"/>
              </p:custDataLst>
            </p:nvPr>
          </p:nvCxnSpPr>
          <p:spPr bwMode="auto">
            <a:xfrm flipH="1">
              <a:off x="10488" y="6181"/>
              <a:ext cx="102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sp>
          <p:nvSpPr>
            <p:cNvPr id="187" name="Text Box 74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463" y="2098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VA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88" name="Text Box 74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2381" y="4762"/>
              <a:ext cx="90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 smtClean="0">
                  <a:latin typeface="宋体" panose="02010600030101010101" pitchFamily="2" charset="-122"/>
                </a:rPr>
                <a:t>CPU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核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89" name="Text Box 74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2211" y="5839"/>
              <a:ext cx="793" cy="4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u="none" dirty="0" smtClean="0">
                  <a:latin typeface="宋体" panose="02010600030101010101" pitchFamily="2" charset="-122"/>
                </a:rPr>
                <a:t>CPU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90" name="直接箭头连接符 44"/>
            <p:cNvCxnSpPr/>
            <p:nvPr>
              <p:custDataLst>
                <p:tags r:id="rId36"/>
              </p:custDataLst>
            </p:nvPr>
          </p:nvCxnSpPr>
          <p:spPr bwMode="auto">
            <a:xfrm>
              <a:off x="4137" y="3118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1" name="直接箭头连接符 44"/>
            <p:cNvCxnSpPr/>
            <p:nvPr>
              <p:custDataLst>
                <p:tags r:id="rId37"/>
              </p:custDataLst>
            </p:nvPr>
          </p:nvCxnSpPr>
          <p:spPr bwMode="auto">
            <a:xfrm>
              <a:off x="5838" y="3005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2" name="直接箭头连接符 44"/>
            <p:cNvCxnSpPr/>
            <p:nvPr>
              <p:custDataLst>
                <p:tags r:id="rId38"/>
              </p:custDataLst>
            </p:nvPr>
          </p:nvCxnSpPr>
          <p:spPr bwMode="auto">
            <a:xfrm flipH="1">
              <a:off x="4478" y="4309"/>
              <a:ext cx="1" cy="22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3" name="直接箭头连接符 44"/>
            <p:cNvCxnSpPr/>
            <p:nvPr>
              <p:custDataLst>
                <p:tags r:id="rId39"/>
              </p:custDataLst>
            </p:nvPr>
          </p:nvCxnSpPr>
          <p:spPr bwMode="auto">
            <a:xfrm flipH="1" flipV="1">
              <a:off x="4478" y="4309"/>
              <a:ext cx="2041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4" name="直接箭头连接符 44"/>
            <p:cNvCxnSpPr/>
            <p:nvPr>
              <p:custDataLst>
                <p:tags r:id="rId40"/>
              </p:custDataLst>
            </p:nvPr>
          </p:nvCxnSpPr>
          <p:spPr bwMode="auto">
            <a:xfrm>
              <a:off x="6519" y="2777"/>
              <a:ext cx="0" cy="255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5" name="直接箭头连接符 44"/>
            <p:cNvCxnSpPr/>
            <p:nvPr>
              <p:custDataLst>
                <p:tags r:id="rId41"/>
              </p:custDataLst>
            </p:nvPr>
          </p:nvCxnSpPr>
          <p:spPr bwMode="auto">
            <a:xfrm>
              <a:off x="5158" y="532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6" name="直接箭头连接符 44"/>
            <p:cNvCxnSpPr/>
            <p:nvPr>
              <p:custDataLst>
                <p:tags r:id="rId42"/>
              </p:custDataLst>
            </p:nvPr>
          </p:nvCxnSpPr>
          <p:spPr bwMode="auto">
            <a:xfrm flipH="1">
              <a:off x="5158" y="5329"/>
              <a:ext cx="249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7" name="直接箭头连接符 44"/>
            <p:cNvCxnSpPr/>
            <p:nvPr>
              <p:custDataLst>
                <p:tags r:id="rId43"/>
              </p:custDataLst>
            </p:nvPr>
          </p:nvCxnSpPr>
          <p:spPr bwMode="auto">
            <a:xfrm>
              <a:off x="7652" y="532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8" name="直接箭头连接符 44"/>
            <p:cNvCxnSpPr/>
            <p:nvPr>
              <p:custDataLst>
                <p:tags r:id="rId44"/>
              </p:custDataLst>
            </p:nvPr>
          </p:nvCxnSpPr>
          <p:spPr bwMode="auto">
            <a:xfrm flipH="1" flipV="1">
              <a:off x="4137" y="3118"/>
              <a:ext cx="2381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9" name="直接箭头连接符 44"/>
            <p:cNvCxnSpPr/>
            <p:nvPr>
              <p:custDataLst>
                <p:tags r:id="rId45"/>
              </p:custDataLst>
            </p:nvPr>
          </p:nvCxnSpPr>
          <p:spPr bwMode="auto">
            <a:xfrm>
              <a:off x="6065" y="3118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0" name="直接箭头连接符 44"/>
            <p:cNvCxnSpPr/>
            <p:nvPr>
              <p:custDataLst>
                <p:tags r:id="rId46"/>
              </p:custDataLst>
            </p:nvPr>
          </p:nvCxnSpPr>
          <p:spPr bwMode="auto">
            <a:xfrm flipH="1">
              <a:off x="3911" y="3005"/>
              <a:ext cx="2381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1" name="直接箭头连接符 44"/>
            <p:cNvCxnSpPr/>
            <p:nvPr>
              <p:custDataLst>
                <p:tags r:id="rId47"/>
              </p:custDataLst>
            </p:nvPr>
          </p:nvCxnSpPr>
          <p:spPr bwMode="auto">
            <a:xfrm flipH="1">
              <a:off x="6519" y="2778"/>
              <a:ext cx="1361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2" name="直接箭头连接符 44"/>
            <p:cNvCxnSpPr/>
            <p:nvPr>
              <p:custDataLst>
                <p:tags r:id="rId48"/>
              </p:custDataLst>
            </p:nvPr>
          </p:nvCxnSpPr>
          <p:spPr bwMode="auto">
            <a:xfrm>
              <a:off x="6292" y="2438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03" name="Text Box 193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2948" y="2381"/>
              <a:ext cx="1247" cy="397"/>
            </a:xfrm>
            <a:prstGeom prst="rect">
              <a:avLst/>
            </a:prstGeom>
            <a:solidFill>
              <a:srgbClr val="FFFFCC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zh-CN" altLang="en-US" sz="1800" b="1" u="none" dirty="0">
                  <a:latin typeface="宋体" panose="02010600030101010101" pitchFamily="2" charset="-122"/>
                </a:rPr>
                <a:t>寄存器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04" name="直接箭头连接符 44"/>
            <p:cNvCxnSpPr/>
            <p:nvPr>
              <p:custDataLst>
                <p:tags r:id="rId50"/>
              </p:custDataLst>
            </p:nvPr>
          </p:nvCxnSpPr>
          <p:spPr bwMode="auto">
            <a:xfrm>
              <a:off x="8787" y="2894"/>
              <a:ext cx="0" cy="164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5" name="直接箭头连接符 44"/>
            <p:cNvCxnSpPr/>
            <p:nvPr>
              <p:custDataLst>
                <p:tags r:id="rId51"/>
              </p:custDataLst>
            </p:nvPr>
          </p:nvCxnSpPr>
          <p:spPr bwMode="auto">
            <a:xfrm>
              <a:off x="8333" y="3118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6" name="直接箭头连接符 44"/>
            <p:cNvCxnSpPr/>
            <p:nvPr>
              <p:custDataLst>
                <p:tags r:id="rId52"/>
              </p:custDataLst>
            </p:nvPr>
          </p:nvCxnSpPr>
          <p:spPr bwMode="auto">
            <a:xfrm>
              <a:off x="9240" y="3118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7" name="直接箭头连接符 44"/>
            <p:cNvCxnSpPr/>
            <p:nvPr>
              <p:custDataLst>
                <p:tags r:id="rId53"/>
              </p:custDataLst>
            </p:nvPr>
          </p:nvCxnSpPr>
          <p:spPr bwMode="auto">
            <a:xfrm>
              <a:off x="8334" y="3118"/>
              <a:ext cx="90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08" name="Text Box 74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6463" y="2438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PA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09" name="直接箭头连接符 44"/>
            <p:cNvCxnSpPr/>
            <p:nvPr>
              <p:custDataLst>
                <p:tags r:id="rId55"/>
              </p:custDataLst>
            </p:nvPr>
          </p:nvCxnSpPr>
          <p:spPr bwMode="auto">
            <a:xfrm>
              <a:off x="9694" y="2721"/>
              <a:ext cx="90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0" name="Text Box 74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9751" y="2438"/>
              <a:ext cx="737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异常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11" name="直接箭头连接符 44"/>
            <p:cNvCxnSpPr/>
            <p:nvPr>
              <p:custDataLst>
                <p:tags r:id="rId57"/>
              </p:custDataLst>
            </p:nvPr>
          </p:nvCxnSpPr>
          <p:spPr bwMode="auto">
            <a:xfrm>
              <a:off x="3910" y="3005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3" name="Text Box 74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7087" y="2154"/>
              <a:ext cx="51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48b</a:t>
              </a:r>
              <a:endParaRPr lang="en-US" altLang="zh-CN" sz="14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14" name="Text Box 74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7087" y="2494"/>
              <a:ext cx="51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52b</a:t>
              </a:r>
              <a:endParaRPr lang="en-US" altLang="zh-CN" sz="14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15" name="直接箭头连接符 44"/>
            <p:cNvCxnSpPr/>
            <p:nvPr>
              <p:custDataLst>
                <p:tags r:id="rId60"/>
              </p:custDataLst>
            </p:nvPr>
          </p:nvCxnSpPr>
          <p:spPr bwMode="auto">
            <a:xfrm>
              <a:off x="6973" y="2381"/>
              <a:ext cx="170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6" name="直接箭头连接符 44"/>
            <p:cNvCxnSpPr/>
            <p:nvPr>
              <p:custDataLst>
                <p:tags r:id="rId61"/>
              </p:custDataLst>
            </p:nvPr>
          </p:nvCxnSpPr>
          <p:spPr bwMode="auto">
            <a:xfrm>
              <a:off x="7030" y="2721"/>
              <a:ext cx="170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22" name="Text Box 6"/>
          <p:cNvSpPr txBox="1">
            <a:spLocks noChangeArrowheads="1"/>
          </p:cNvSpPr>
          <p:nvPr>
            <p:custDataLst>
              <p:tags r:id="rId62"/>
            </p:custDataLst>
          </p:nvPr>
        </p:nvSpPr>
        <p:spPr bwMode="auto">
          <a:xfrm>
            <a:off x="5832000" y="5328000"/>
            <a:ext cx="2736000" cy="216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en-US" altLang="zh-CN" sz="1600" b="1" u="none" dirty="0" smtClean="0">
                <a:latin typeface="宋体" panose="02010600030101010101" pitchFamily="2" charset="-122"/>
              </a:rPr>
              <a:t>ITLB</a:t>
            </a:r>
            <a:r>
              <a:rPr lang="zh-CN" sz="1600" b="1" u="none" dirty="0" smtClean="0">
                <a:latin typeface="宋体" panose="02010600030101010101" pitchFamily="2" charset="-122"/>
              </a:rPr>
              <a:t>为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5b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、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31b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，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L2$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为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9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、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37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218" name="Text Box 6"/>
          <p:cNvSpPr txBox="1">
            <a:spLocks noChangeArrowheads="1"/>
          </p:cNvSpPr>
          <p:nvPr>
            <p:custDataLst>
              <p:tags r:id="rId63"/>
            </p:custDataLst>
          </p:nvPr>
        </p:nvSpPr>
        <p:spPr bwMode="auto">
          <a:xfrm>
            <a:off x="1152000" y="5652000"/>
            <a:ext cx="3888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zh-CN" altLang="en-US" sz="1800" b="1" u="none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MMU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的异常信号连接到哪里</a:t>
            </a:r>
            <a:r>
              <a:rPr lang="zh-CN" altLang="en-US" sz="1800" b="1" u="none" dirty="0" smtClean="0">
                <a:latin typeface="宋体" panose="02010600030101010101" pitchFamily="2" charset="-122"/>
              </a:rPr>
              <a:t>？</a:t>
            </a:r>
            <a:endParaRPr lang="en-US" altLang="zh-CN" sz="1800" b="1" u="none" dirty="0">
              <a:latin typeface="宋体" panose="02010600030101010101" pitchFamily="2" charset="-122"/>
            </a:endParaRPr>
          </a:p>
        </p:txBody>
      </p:sp>
      <p:sp>
        <p:nvSpPr>
          <p:cNvPr id="219" name="Text Box 6"/>
          <p:cNvSpPr txBox="1">
            <a:spLocks noChangeArrowheads="1"/>
          </p:cNvSpPr>
          <p:nvPr>
            <p:custDataLst>
              <p:tags r:id="rId64"/>
            </p:custDataLst>
          </p:nvPr>
        </p:nvSpPr>
        <p:spPr bwMode="auto">
          <a:xfrm>
            <a:off x="5075715" y="5724240"/>
            <a:ext cx="1440000" cy="216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</a:pPr>
            <a:r>
              <a:rPr lang="en-US" sz="1600" b="1" u="none" dirty="0" smtClean="0">
                <a:latin typeface="宋体" panose="02010600030101010101" pitchFamily="2" charset="-122"/>
              </a:rPr>
              <a:t>CPU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的中断机构</a:t>
            </a:r>
            <a:endParaRPr lang="zh-CN" altLang="en-US" sz="16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12" name="AutoShape 57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65"/>
            </p:custDataLst>
          </p:nvPr>
        </p:nvSpPr>
        <p:spPr bwMode="auto">
          <a:xfrm rot="10800000">
            <a:off x="2987824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" grpId="0" bldLvl="0" animBg="1"/>
      <p:bldP spid="222" grpId="0" bldLvl="0" animBg="1"/>
      <p:bldP spid="218" grpId="0" bldLvl="0" animBg="1"/>
      <p:bldP spid="219" grpId="0" bldLvl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AD0B46FB-961D-45CD-932A-737035D922E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35" name="Text Box 26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872109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工作过程</a:t>
            </a:r>
            <a:r>
              <a:rPr lang="en-US" altLang="zh-CN" sz="2200" b="1" u="none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地址变换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基于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ITLB/DTLB)</a:t>
            </a:r>
            <a:r>
              <a:rPr lang="zh-CN" altLang="en-US" sz="2200" b="1" u="none" dirty="0" smtClean="0">
                <a:latin typeface="宋体" panose="02010600030101010101" pitchFamily="2" charset="-122"/>
                <a:sym typeface="+mn-ea"/>
              </a:rPr>
              <a:t>＋数据访问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  <a:sym typeface="+mn-ea"/>
              </a:rPr>
              <a:t>基于</a:t>
            </a:r>
            <a:r>
              <a:rPr lang="en-US" altLang="zh-CN" sz="1600" b="1" u="none" dirty="0" smtClean="0">
                <a:latin typeface="宋体" panose="02010600030101010101" pitchFamily="2" charset="-122"/>
                <a:sym typeface="+mn-ea"/>
              </a:rPr>
              <a:t>L1-I$/L1-D$)</a:t>
            </a:r>
            <a:endParaRPr lang="en-US" altLang="zh-CN" sz="2200" b="1" u="none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197" name="组合 196"/>
          <p:cNvGrpSpPr/>
          <p:nvPr/>
        </p:nvGrpSpPr>
        <p:grpSpPr>
          <a:xfrm>
            <a:off x="409575" y="1340485"/>
            <a:ext cx="8482965" cy="4898390"/>
            <a:chOff x="193" y="2111"/>
            <a:chExt cx="13359" cy="7714"/>
          </a:xfrm>
        </p:grpSpPr>
        <p:grpSp>
          <p:nvGrpSpPr>
            <p:cNvPr id="198" name="组合 197"/>
            <p:cNvGrpSpPr/>
            <p:nvPr/>
          </p:nvGrpSpPr>
          <p:grpSpPr>
            <a:xfrm rot="0">
              <a:off x="396" y="2111"/>
              <a:ext cx="6017" cy="1588"/>
              <a:chOff x="396" y="2111"/>
              <a:chExt cx="6017" cy="1588"/>
            </a:xfrm>
          </p:grpSpPr>
          <p:cxnSp>
            <p:nvCxnSpPr>
              <p:cNvPr id="199" name="直接箭头连接符 44"/>
              <p:cNvCxnSpPr/>
              <p:nvPr>
                <p:custDataLst>
                  <p:tags r:id="rId2"/>
                </p:custDataLst>
              </p:nvPr>
            </p:nvCxnSpPr>
            <p:spPr bwMode="auto">
              <a:xfrm flipH="1">
                <a:off x="3121" y="3699"/>
                <a:ext cx="3288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00" name="直接箭头连接符 44"/>
              <p:cNvCxnSpPr/>
              <p:nvPr>
                <p:custDataLst>
                  <p:tags r:id="rId3"/>
                </p:custDataLst>
              </p:nvPr>
            </p:nvCxnSpPr>
            <p:spPr bwMode="auto">
              <a:xfrm flipH="1">
                <a:off x="2430" y="3245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01" name="Text Box 305"/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957" y="2451"/>
                <a:ext cx="340" cy="794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V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02" name="Text Box 307"/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976" y="2451"/>
                <a:ext cx="907" cy="794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实页号</a:t>
                </a:r>
                <a:endParaRPr lang="zh-CN" altLang="en-US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03" name="Text Box 308"/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296" y="2451"/>
                <a:ext cx="680" cy="79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标记</a:t>
                </a:r>
                <a:endParaRPr lang="zh-CN" altLang="en-US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04" name="Text Box 331"/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2891" y="2603"/>
                <a:ext cx="454" cy="4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p>
                <a:pPr>
                  <a:lnSpc>
                    <a:spcPct val="90000"/>
                  </a:lnSpc>
                </a:pPr>
                <a:r>
                  <a:rPr lang="en-US" altLang="zh-CN" sz="1800" b="1" u="none" dirty="0"/>
                  <a:t>…</a:t>
                </a:r>
                <a:endParaRPr lang="en-US" altLang="zh-CN" sz="1800" b="1" u="none" dirty="0"/>
              </a:p>
            </p:txBody>
          </p:sp>
          <p:sp>
            <p:nvSpPr>
              <p:cNvPr id="205" name="Text Box 305"/>
              <p:cNvSpPr txBox="1"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396" y="2451"/>
                <a:ext cx="567" cy="794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PID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06" name="Line 317"/>
              <p:cNvSpPr>
                <a:spLocks noChangeShapeType="1"/>
              </p:cNvSpPr>
              <p:nvPr>
                <p:custDataLst>
                  <p:tags r:id="rId9"/>
                </p:custDataLst>
              </p:nvPr>
            </p:nvSpPr>
            <p:spPr bwMode="auto">
              <a:xfrm flipV="1">
                <a:off x="396" y="2789"/>
                <a:ext cx="2495" cy="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" name="Text Box 309"/>
              <p:cNvSpPr txBox="1"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502" y="2796"/>
                <a:ext cx="339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p>
                <a:pPr>
                  <a:lnSpc>
                    <a:spcPct val="85000"/>
                  </a:lnSpc>
                </a:pPr>
                <a:r>
                  <a:rPr lang="en-US" altLang="zh-CN" sz="1800" b="1" u="none" dirty="0"/>
                  <a:t>…</a:t>
                </a:r>
                <a:endParaRPr lang="en-US" altLang="zh-CN" sz="1800" b="1" u="none" dirty="0"/>
              </a:p>
            </p:txBody>
          </p:sp>
          <p:sp>
            <p:nvSpPr>
              <p:cNvPr id="208" name="Text Box 305"/>
              <p:cNvSpPr txBox="1"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3913" y="2451"/>
                <a:ext cx="340" cy="794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V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09" name="Text Box 307"/>
              <p:cNvSpPr txBox="1"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4932" y="2451"/>
                <a:ext cx="907" cy="794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实页号</a:t>
                </a:r>
                <a:endParaRPr lang="zh-CN" altLang="en-US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10" name="Text Box 308"/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4252" y="2451"/>
                <a:ext cx="680" cy="79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标记</a:t>
                </a:r>
                <a:endParaRPr lang="zh-CN" altLang="en-US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11" name="Text Box 305"/>
              <p:cNvSpPr txBox="1"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3345" y="2451"/>
                <a:ext cx="567" cy="794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PID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12" name="Line 317"/>
              <p:cNvSpPr>
                <a:spLocks noChangeShapeType="1"/>
              </p:cNvSpPr>
              <p:nvPr>
                <p:custDataLst>
                  <p:tags r:id="rId15"/>
                </p:custDataLst>
              </p:nvPr>
            </p:nvSpPr>
            <p:spPr bwMode="auto">
              <a:xfrm flipV="1">
                <a:off x="3344" y="2789"/>
                <a:ext cx="2495" cy="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13" name="Text Box 170"/>
              <p:cNvSpPr txBox="1"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3352" y="2837"/>
                <a:ext cx="2381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 6b</a:t>
                </a:r>
                <a:r>
                  <a:rPr lang="en-US" altLang="zh-CN" sz="900" b="1" u="none" dirty="0" smtClean="0">
                    <a:latin typeface="宋体" panose="02010600030101010101" pitchFamily="2" charset="-122"/>
                  </a:rPr>
                  <a:t>  </a:t>
                </a: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1b  </a:t>
                </a:r>
                <a:r>
                  <a:rPr lang="en-US" altLang="zh-CN" sz="1200" b="1" u="none" dirty="0" smtClean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   </a:t>
                </a: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   40b</a:t>
                </a:r>
                <a:endParaRPr lang="zh-CN" altLang="en-US" sz="12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14" name="Text Box 195"/>
              <p:cNvSpPr txBox="1"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2324" y="3359"/>
                <a:ext cx="2154" cy="22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80000"/>
                  </a:lnSpc>
                </a:pPr>
                <a:r>
                  <a:rPr lang="zh-CN" altLang="en-US" sz="1200" b="1" u="none" dirty="0" smtClean="0">
                    <a:latin typeface="宋体" panose="02010600030101010101" pitchFamily="2" charset="-122"/>
                  </a:rPr>
                  <a:t>与</a:t>
                </a: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L2TLB</a:t>
                </a:r>
                <a:r>
                  <a:rPr lang="zh-CN" altLang="en-US" sz="1200" b="1" u="none" dirty="0" smtClean="0">
                    <a:latin typeface="宋体" panose="02010600030101010101" pitchFamily="2" charset="-122"/>
                  </a:rPr>
                  <a:t>层间管理</a:t>
                </a:r>
                <a:endParaRPr lang="zh-CN" altLang="en-US" sz="1200" b="1" u="none" dirty="0" smtClean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15" name="直接箭头连接符 44"/>
              <p:cNvCxnSpPr/>
              <p:nvPr>
                <p:custDataLst>
                  <p:tags r:id="rId18"/>
                </p:custDataLst>
              </p:nvPr>
            </p:nvCxnSpPr>
            <p:spPr bwMode="auto">
              <a:xfrm flipH="1">
                <a:off x="5385" y="3245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16" name="Text Box 170"/>
              <p:cNvSpPr txBox="1"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4313" y="2837"/>
                <a:ext cx="56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p>
                <a:pPr algn="ctr">
                  <a:lnSpc>
                    <a:spcPct val="90000"/>
                  </a:lnSpc>
                </a:pPr>
                <a:r>
                  <a:rPr lang="en-US" altLang="zh-CN" sz="1200" b="1" u="none" dirty="0" smtClean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31b</a:t>
                </a:r>
                <a:endParaRPr lang="en-US" altLang="zh-CN" sz="1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endParaRPr>
              </a:p>
            </p:txBody>
          </p:sp>
          <p:cxnSp>
            <p:nvCxnSpPr>
              <p:cNvPr id="217" name="直接箭头连接符 44"/>
              <p:cNvCxnSpPr/>
              <p:nvPr>
                <p:custDataLst>
                  <p:tags r:id="rId20"/>
                </p:custDataLst>
              </p:nvPr>
            </p:nvCxnSpPr>
            <p:spPr bwMode="auto">
              <a:xfrm flipH="1">
                <a:off x="3121" y="3586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18" name="Text Box 170"/>
              <p:cNvSpPr txBox="1"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396" y="2111"/>
                <a:ext cx="80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ITLB</a:t>
                </a:r>
                <a:endParaRPr lang="en-US" altLang="zh-CN" sz="1600" b="1" u="none" dirty="0" smtClean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19" name="直接连接符 218"/>
              <p:cNvCxnSpPr/>
              <p:nvPr>
                <p:custDataLst>
                  <p:tags r:id="rId22"/>
                </p:custDataLst>
              </p:nvPr>
            </p:nvCxnSpPr>
            <p:spPr bwMode="auto">
              <a:xfrm flipH="1">
                <a:off x="1643" y="2224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20" name="直接连接符 219"/>
              <p:cNvCxnSpPr/>
              <p:nvPr>
                <p:custDataLst>
                  <p:tags r:id="rId23"/>
                </p:custDataLst>
              </p:nvPr>
            </p:nvCxnSpPr>
            <p:spPr bwMode="auto">
              <a:xfrm flipH="1">
                <a:off x="4592" y="2224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21" name="直接连接符 220"/>
              <p:cNvCxnSpPr/>
              <p:nvPr>
                <p:custDataLst>
                  <p:tags r:id="rId24"/>
                </p:custDataLst>
              </p:nvPr>
            </p:nvCxnSpPr>
            <p:spPr bwMode="auto">
              <a:xfrm>
                <a:off x="1645" y="2224"/>
                <a:ext cx="4762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2" name="直接箭头连接符 44"/>
              <p:cNvCxnSpPr/>
              <p:nvPr>
                <p:custDataLst>
                  <p:tags r:id="rId25"/>
                </p:custDataLst>
              </p:nvPr>
            </p:nvCxnSpPr>
            <p:spPr bwMode="auto">
              <a:xfrm flipH="1">
                <a:off x="5840" y="2905"/>
                <a:ext cx="567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223" name="直接连接符 222"/>
              <p:cNvCxnSpPr/>
              <p:nvPr>
                <p:custDataLst>
                  <p:tags r:id="rId26"/>
                </p:custDataLst>
              </p:nvPr>
            </p:nvCxnSpPr>
            <p:spPr bwMode="auto">
              <a:xfrm flipV="1">
                <a:off x="6066" y="2852"/>
                <a:ext cx="227" cy="11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24" name="Text Box 331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5953" y="2610"/>
                <a:ext cx="340" cy="2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 smtClean="0">
                    <a:latin typeface="+mn-ea"/>
                    <a:ea typeface="+mn-ea"/>
                  </a:rPr>
                  <a:t>5b</a:t>
                </a:r>
                <a:endParaRPr lang="en-US" altLang="zh-CN" sz="1200" b="1" u="none" dirty="0" smtClean="0">
                  <a:latin typeface="+mn-ea"/>
                  <a:ea typeface="+mn-ea"/>
                </a:endParaRPr>
              </a:p>
            </p:txBody>
          </p:sp>
          <p:cxnSp>
            <p:nvCxnSpPr>
              <p:cNvPr id="225" name="直接箭头连接符 44"/>
              <p:cNvCxnSpPr/>
              <p:nvPr>
                <p:custDataLst>
                  <p:tags r:id="rId28"/>
                </p:custDataLst>
              </p:nvPr>
            </p:nvCxnSpPr>
            <p:spPr bwMode="auto">
              <a:xfrm flipH="1">
                <a:off x="5505" y="3474"/>
                <a:ext cx="907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26" name="Text Box 195"/>
              <p:cNvSpPr txBox="1"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4483" y="3359"/>
                <a:ext cx="1020" cy="22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80000"/>
                  </a:lnSpc>
                </a:pP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4:1 MUX</a:t>
                </a:r>
                <a:endParaRPr lang="zh-CN" altLang="zh-CN" sz="1200" b="1" u="none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227" name="组合 226"/>
            <p:cNvGrpSpPr/>
            <p:nvPr/>
          </p:nvGrpSpPr>
          <p:grpSpPr>
            <a:xfrm rot="0">
              <a:off x="7542" y="2112"/>
              <a:ext cx="6010" cy="1588"/>
              <a:chOff x="8107" y="2112"/>
              <a:chExt cx="6010" cy="1588"/>
            </a:xfrm>
          </p:grpSpPr>
          <p:cxnSp>
            <p:nvCxnSpPr>
              <p:cNvPr id="228" name="直接箭头连接符 44"/>
              <p:cNvCxnSpPr/>
              <p:nvPr>
                <p:custDataLst>
                  <p:tags r:id="rId30"/>
                </p:custDataLst>
              </p:nvPr>
            </p:nvCxnSpPr>
            <p:spPr bwMode="auto">
              <a:xfrm flipH="1">
                <a:off x="8117" y="3700"/>
                <a:ext cx="4535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229" name="直接箭头连接符 44"/>
              <p:cNvCxnSpPr/>
              <p:nvPr>
                <p:custDataLst>
                  <p:tags r:id="rId31"/>
                </p:custDataLst>
              </p:nvPr>
            </p:nvCxnSpPr>
            <p:spPr bwMode="auto">
              <a:xfrm flipH="1">
                <a:off x="10707" y="3246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30" name="Text Box 305"/>
              <p:cNvSpPr txBox="1"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9234" y="2452"/>
                <a:ext cx="340" cy="794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V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31" name="Text Box 307"/>
              <p:cNvSpPr txBox="1"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10254" y="2452"/>
                <a:ext cx="907" cy="794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实页号</a:t>
                </a:r>
                <a:endParaRPr lang="zh-CN" altLang="en-US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32" name="Text Box 308"/>
              <p:cNvSpPr txBox="1"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9573" y="2452"/>
                <a:ext cx="680" cy="79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标记</a:t>
                </a:r>
                <a:endParaRPr lang="zh-CN" altLang="en-US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33" name="Text Box 331"/>
              <p:cNvSpPr txBox="1"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11168" y="2604"/>
                <a:ext cx="454" cy="4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p>
                <a:pPr>
                  <a:lnSpc>
                    <a:spcPct val="90000"/>
                  </a:lnSpc>
                </a:pPr>
                <a:r>
                  <a:rPr lang="en-US" altLang="zh-CN" sz="1800" b="1" u="none" dirty="0"/>
                  <a:t>…</a:t>
                </a:r>
                <a:endParaRPr lang="en-US" altLang="zh-CN" sz="1800" b="1" u="none" dirty="0"/>
              </a:p>
            </p:txBody>
          </p:sp>
          <p:sp>
            <p:nvSpPr>
              <p:cNvPr id="234" name="Text Box 305"/>
              <p:cNvSpPr txBox="1"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8674" y="2452"/>
                <a:ext cx="567" cy="794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PID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35" name="Line 317"/>
              <p:cNvSpPr>
                <a:spLocks noChangeShapeType="1"/>
              </p:cNvSpPr>
              <p:nvPr>
                <p:custDataLst>
                  <p:tags r:id="rId37"/>
                </p:custDataLst>
              </p:nvPr>
            </p:nvSpPr>
            <p:spPr bwMode="auto">
              <a:xfrm flipV="1">
                <a:off x="8674" y="2789"/>
                <a:ext cx="2494" cy="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36" name="Text Box 309"/>
              <p:cNvSpPr txBox="1"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8779" y="2797"/>
                <a:ext cx="339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p>
                <a:pPr>
                  <a:lnSpc>
                    <a:spcPct val="85000"/>
                  </a:lnSpc>
                </a:pPr>
                <a:r>
                  <a:rPr lang="en-US" altLang="zh-CN" sz="1800" b="1" u="none" dirty="0"/>
                  <a:t>…</a:t>
                </a:r>
                <a:endParaRPr lang="en-US" altLang="zh-CN" sz="1800" b="1" u="none" dirty="0"/>
              </a:p>
            </p:txBody>
          </p:sp>
          <p:sp>
            <p:nvSpPr>
              <p:cNvPr id="237" name="Text Box 305"/>
              <p:cNvSpPr txBox="1"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12190" y="2452"/>
                <a:ext cx="340" cy="794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V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38" name="Text Box 307"/>
              <p:cNvSpPr txBox="1">
                <a:spLocks noChangeArrowheads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13210" y="2452"/>
                <a:ext cx="907" cy="794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实页号</a:t>
                </a:r>
                <a:endParaRPr lang="zh-CN" altLang="en-US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39" name="Text Box 308"/>
              <p:cNvSpPr txBox="1">
                <a:spLocks noChangeArrowhead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12529" y="2452"/>
                <a:ext cx="680" cy="79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标记</a:t>
                </a:r>
                <a:endParaRPr lang="zh-CN" altLang="en-US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40" name="Text Box 305"/>
              <p:cNvSpPr txBox="1">
                <a:spLocks noChangeArrowheads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11623" y="2452"/>
                <a:ext cx="567" cy="794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PID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41" name="Line 317"/>
              <p:cNvSpPr>
                <a:spLocks noChangeShapeType="1"/>
              </p:cNvSpPr>
              <p:nvPr>
                <p:custDataLst>
                  <p:tags r:id="rId43"/>
                </p:custDataLst>
              </p:nvPr>
            </p:nvSpPr>
            <p:spPr bwMode="auto">
              <a:xfrm flipV="1">
                <a:off x="11622" y="2790"/>
                <a:ext cx="2494" cy="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2" name="Text Box 170"/>
              <p:cNvSpPr txBox="1">
                <a:spLocks noChangeArrowheads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11630" y="2838"/>
                <a:ext cx="2381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 6b</a:t>
                </a:r>
                <a:r>
                  <a:rPr lang="en-US" altLang="zh-CN" sz="900" b="1" u="none" dirty="0" smtClean="0">
                    <a:latin typeface="宋体" panose="02010600030101010101" pitchFamily="2" charset="-122"/>
                  </a:rPr>
                  <a:t>  </a:t>
                </a: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1b  </a:t>
                </a:r>
                <a:r>
                  <a:rPr lang="en-US" altLang="zh-CN" sz="1200" b="1" u="none" dirty="0" smtClean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   </a:t>
                </a: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   40b</a:t>
                </a:r>
                <a:endParaRPr lang="zh-CN" altLang="en-US" sz="12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43" name="Text Box 195"/>
              <p:cNvSpPr txBox="1"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11731" y="3360"/>
                <a:ext cx="2041" cy="22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80000"/>
                  </a:lnSpc>
                </a:pPr>
                <a:r>
                  <a:rPr lang="zh-CN" altLang="en-US" sz="1200" b="1" u="none" dirty="0" smtClean="0">
                    <a:latin typeface="宋体" panose="02010600030101010101" pitchFamily="2" charset="-122"/>
                    <a:sym typeface="+mn-ea"/>
                  </a:rPr>
                  <a:t>与</a:t>
                </a:r>
                <a:r>
                  <a:rPr lang="en-US" altLang="zh-CN" sz="1200" b="1" u="none" dirty="0" smtClean="0">
                    <a:latin typeface="宋体" panose="02010600030101010101" pitchFamily="2" charset="-122"/>
                    <a:sym typeface="+mn-ea"/>
                  </a:rPr>
                  <a:t>L2TLB</a:t>
                </a:r>
                <a:r>
                  <a:rPr lang="zh-CN" altLang="en-US" sz="1200" b="1" u="none" dirty="0" smtClean="0">
                    <a:latin typeface="宋体" panose="02010600030101010101" pitchFamily="2" charset="-122"/>
                    <a:sym typeface="+mn-ea"/>
                  </a:rPr>
                  <a:t>层间管理</a:t>
                </a:r>
                <a:endParaRPr lang="zh-CN" altLang="zh-CN" sz="1200" b="1" u="none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44" name="直接箭头连接符 44"/>
              <p:cNvCxnSpPr/>
              <p:nvPr>
                <p:custDataLst>
                  <p:tags r:id="rId46"/>
                </p:custDataLst>
              </p:nvPr>
            </p:nvCxnSpPr>
            <p:spPr bwMode="auto">
              <a:xfrm flipH="1">
                <a:off x="13663" y="3246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45" name="Text Box 170"/>
              <p:cNvSpPr txBox="1">
                <a:spLocks noChangeArrowheads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12590" y="2838"/>
                <a:ext cx="56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p>
                <a:pPr algn="ctr">
                  <a:lnSpc>
                    <a:spcPct val="90000"/>
                  </a:lnSpc>
                </a:pPr>
                <a:r>
                  <a:rPr lang="en-US" altLang="zh-CN" sz="1200" b="1" u="none" dirty="0" smtClean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32b</a:t>
                </a:r>
                <a:endParaRPr lang="en-US" altLang="zh-CN" sz="1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endParaRPr>
              </a:p>
            </p:txBody>
          </p:sp>
          <p:cxnSp>
            <p:nvCxnSpPr>
              <p:cNvPr id="246" name="直接箭头连接符 44"/>
              <p:cNvCxnSpPr/>
              <p:nvPr>
                <p:custDataLst>
                  <p:tags r:id="rId48"/>
                </p:custDataLst>
              </p:nvPr>
            </p:nvCxnSpPr>
            <p:spPr bwMode="auto">
              <a:xfrm flipH="1">
                <a:off x="12641" y="3587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47" name="Text Box 170"/>
              <p:cNvSpPr txBox="1"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13314" y="2112"/>
                <a:ext cx="803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DTLB</a:t>
                </a:r>
                <a:endParaRPr lang="en-US" altLang="zh-CN" sz="1600" b="1" u="none" dirty="0" smtClean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48" name="直接连接符 247"/>
              <p:cNvCxnSpPr/>
              <p:nvPr>
                <p:custDataLst>
                  <p:tags r:id="rId50"/>
                </p:custDataLst>
              </p:nvPr>
            </p:nvCxnSpPr>
            <p:spPr bwMode="auto">
              <a:xfrm flipH="1">
                <a:off x="9921" y="2225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49" name="直接连接符 248"/>
              <p:cNvCxnSpPr/>
              <p:nvPr>
                <p:custDataLst>
                  <p:tags r:id="rId51"/>
                </p:custDataLst>
              </p:nvPr>
            </p:nvCxnSpPr>
            <p:spPr bwMode="auto">
              <a:xfrm flipH="1">
                <a:off x="12869" y="2225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50" name="直接连接符 249"/>
              <p:cNvCxnSpPr/>
              <p:nvPr>
                <p:custDataLst>
                  <p:tags r:id="rId52"/>
                </p:custDataLst>
              </p:nvPr>
            </p:nvCxnSpPr>
            <p:spPr bwMode="auto">
              <a:xfrm>
                <a:off x="8107" y="2225"/>
                <a:ext cx="4762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1" name="直接箭头连接符 44"/>
              <p:cNvCxnSpPr/>
              <p:nvPr>
                <p:custDataLst>
                  <p:tags r:id="rId53"/>
                </p:custDataLst>
              </p:nvPr>
            </p:nvCxnSpPr>
            <p:spPr bwMode="auto">
              <a:xfrm>
                <a:off x="8107" y="2906"/>
                <a:ext cx="567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252" name="直接连接符 251"/>
              <p:cNvCxnSpPr/>
              <p:nvPr>
                <p:custDataLst>
                  <p:tags r:id="rId54"/>
                </p:custDataLst>
              </p:nvPr>
            </p:nvCxnSpPr>
            <p:spPr bwMode="auto">
              <a:xfrm flipV="1">
                <a:off x="8220" y="2853"/>
                <a:ext cx="227" cy="11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53" name="Text Box 331"/>
              <p:cNvSpPr txBox="1"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8178" y="2593"/>
                <a:ext cx="340" cy="2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 smtClean="0">
                    <a:latin typeface="+mn-ea"/>
                    <a:ea typeface="+mn-ea"/>
                  </a:rPr>
                  <a:t>4b</a:t>
                </a:r>
                <a:endParaRPr lang="en-US" altLang="zh-CN" sz="1200" b="1" u="none" dirty="0" smtClean="0">
                  <a:latin typeface="+mn-ea"/>
                  <a:ea typeface="+mn-ea"/>
                </a:endParaRPr>
              </a:p>
            </p:txBody>
          </p:sp>
          <p:cxnSp>
            <p:nvCxnSpPr>
              <p:cNvPr id="254" name="直接箭头连接符 44"/>
              <p:cNvCxnSpPr/>
              <p:nvPr>
                <p:custDataLst>
                  <p:tags r:id="rId56"/>
                </p:custDataLst>
              </p:nvPr>
            </p:nvCxnSpPr>
            <p:spPr bwMode="auto">
              <a:xfrm flipH="1">
                <a:off x="10142" y="3468"/>
                <a:ext cx="454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55" name="Text Box 195"/>
              <p:cNvSpPr txBox="1">
                <a:spLocks noChangeArrowheads="1"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10599" y="3358"/>
                <a:ext cx="1134" cy="22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80000"/>
                  </a:lnSpc>
                </a:pP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4:1 MUX</a:t>
                </a:r>
                <a:endParaRPr lang="zh-CN" altLang="zh-CN" sz="1200" b="1" u="none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256" name="组合 255"/>
            <p:cNvGrpSpPr/>
            <p:nvPr/>
          </p:nvGrpSpPr>
          <p:grpSpPr>
            <a:xfrm rot="0">
              <a:off x="193" y="3699"/>
              <a:ext cx="6214" cy="1929"/>
              <a:chOff x="193" y="3699"/>
              <a:chExt cx="6214" cy="1929"/>
            </a:xfrm>
          </p:grpSpPr>
          <p:cxnSp>
            <p:nvCxnSpPr>
              <p:cNvPr id="257" name="直接箭头连接符 44"/>
              <p:cNvCxnSpPr/>
              <p:nvPr>
                <p:custDataLst>
                  <p:tags r:id="rId58"/>
                </p:custDataLst>
              </p:nvPr>
            </p:nvCxnSpPr>
            <p:spPr bwMode="auto">
              <a:xfrm flipH="1">
                <a:off x="1991" y="5626"/>
                <a:ext cx="2495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58" name="直接箭头连接符 44"/>
              <p:cNvCxnSpPr/>
              <p:nvPr>
                <p:custDataLst>
                  <p:tags r:id="rId59"/>
                </p:custDataLst>
              </p:nvPr>
            </p:nvCxnSpPr>
            <p:spPr bwMode="auto">
              <a:xfrm flipH="1">
                <a:off x="2430" y="4833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59" name="Text Box 305"/>
              <p:cNvSpPr txBox="1">
                <a:spLocks noChangeArrowheads="1"/>
              </p:cNvSpPr>
              <p:nvPr>
                <p:custDataLst>
                  <p:tags r:id="rId60"/>
                </p:custDataLst>
              </p:nvPr>
            </p:nvSpPr>
            <p:spPr bwMode="auto">
              <a:xfrm>
                <a:off x="957" y="4039"/>
                <a:ext cx="340" cy="794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V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60" name="Text Box 307"/>
              <p:cNvSpPr txBox="1">
                <a:spLocks noChangeArrowheads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1976" y="4039"/>
                <a:ext cx="907" cy="794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实页号</a:t>
                </a:r>
                <a:endParaRPr lang="zh-CN" altLang="en-US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61" name="Text Box 308"/>
              <p:cNvSpPr txBox="1">
                <a:spLocks noChangeArrowheads="1"/>
              </p:cNvSpPr>
              <p:nvPr>
                <p:custDataLst>
                  <p:tags r:id="rId62"/>
                </p:custDataLst>
              </p:nvPr>
            </p:nvSpPr>
            <p:spPr bwMode="auto">
              <a:xfrm>
                <a:off x="1296" y="4039"/>
                <a:ext cx="680" cy="79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标记</a:t>
                </a:r>
                <a:endParaRPr lang="zh-CN" altLang="en-US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62" name="Text Box 331"/>
              <p:cNvSpPr txBox="1">
                <a:spLocks noChangeArrowheads="1"/>
              </p:cNvSpPr>
              <p:nvPr>
                <p:custDataLst>
                  <p:tags r:id="rId63"/>
                </p:custDataLst>
              </p:nvPr>
            </p:nvSpPr>
            <p:spPr bwMode="auto">
              <a:xfrm>
                <a:off x="2891" y="4191"/>
                <a:ext cx="454" cy="4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p>
                <a:pPr>
                  <a:lnSpc>
                    <a:spcPct val="90000"/>
                  </a:lnSpc>
                </a:pPr>
                <a:r>
                  <a:rPr lang="en-US" altLang="zh-CN" sz="1800" b="1" u="none" dirty="0"/>
                  <a:t>…</a:t>
                </a:r>
                <a:endParaRPr lang="en-US" altLang="zh-CN" sz="1800" b="1" u="none" dirty="0"/>
              </a:p>
            </p:txBody>
          </p:sp>
          <p:sp>
            <p:nvSpPr>
              <p:cNvPr id="263" name="Text Box 305"/>
              <p:cNvSpPr txBox="1">
                <a:spLocks noChangeArrowheads="1"/>
              </p:cNvSpPr>
              <p:nvPr>
                <p:custDataLst>
                  <p:tags r:id="rId64"/>
                </p:custDataLst>
              </p:nvPr>
            </p:nvSpPr>
            <p:spPr bwMode="auto">
              <a:xfrm>
                <a:off x="396" y="4039"/>
                <a:ext cx="567" cy="794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PID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64" name="Line 317"/>
              <p:cNvSpPr>
                <a:spLocks noChangeShapeType="1"/>
              </p:cNvSpPr>
              <p:nvPr>
                <p:custDataLst>
                  <p:tags r:id="rId65"/>
                </p:custDataLst>
              </p:nvPr>
            </p:nvSpPr>
            <p:spPr bwMode="auto">
              <a:xfrm flipV="1">
                <a:off x="396" y="4377"/>
                <a:ext cx="2495" cy="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65" name="Text Box 309"/>
              <p:cNvSpPr txBox="1">
                <a:spLocks noChangeArrowheads="1"/>
              </p:cNvSpPr>
              <p:nvPr>
                <p:custDataLst>
                  <p:tags r:id="rId66"/>
                </p:custDataLst>
              </p:nvPr>
            </p:nvSpPr>
            <p:spPr bwMode="auto">
              <a:xfrm>
                <a:off x="502" y="4384"/>
                <a:ext cx="339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p>
                <a:pPr>
                  <a:lnSpc>
                    <a:spcPct val="85000"/>
                  </a:lnSpc>
                </a:pPr>
                <a:r>
                  <a:rPr lang="en-US" altLang="zh-CN" sz="1800" b="1" u="none" dirty="0"/>
                  <a:t>…</a:t>
                </a:r>
                <a:endParaRPr lang="en-US" altLang="zh-CN" sz="1800" b="1" u="none" dirty="0"/>
              </a:p>
            </p:txBody>
          </p:sp>
          <p:sp>
            <p:nvSpPr>
              <p:cNvPr id="266" name="Text Box 305"/>
              <p:cNvSpPr txBox="1">
                <a:spLocks noChangeArrowheads="1"/>
              </p:cNvSpPr>
              <p:nvPr>
                <p:custDataLst>
                  <p:tags r:id="rId67"/>
                </p:custDataLst>
              </p:nvPr>
            </p:nvSpPr>
            <p:spPr bwMode="auto">
              <a:xfrm>
                <a:off x="3913" y="4039"/>
                <a:ext cx="340" cy="794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V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67" name="Text Box 307"/>
              <p:cNvSpPr txBox="1">
                <a:spLocks noChangeArrowheads="1"/>
              </p:cNvSpPr>
              <p:nvPr>
                <p:custDataLst>
                  <p:tags r:id="rId68"/>
                </p:custDataLst>
              </p:nvPr>
            </p:nvSpPr>
            <p:spPr bwMode="auto">
              <a:xfrm>
                <a:off x="4932" y="4039"/>
                <a:ext cx="907" cy="794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实页号</a:t>
                </a:r>
                <a:endParaRPr lang="zh-CN" altLang="en-US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68" name="Text Box 308"/>
              <p:cNvSpPr txBox="1">
                <a:spLocks noChangeArrowheads="1"/>
              </p:cNvSpPr>
              <p:nvPr>
                <p:custDataLst>
                  <p:tags r:id="rId69"/>
                </p:custDataLst>
              </p:nvPr>
            </p:nvSpPr>
            <p:spPr bwMode="auto">
              <a:xfrm>
                <a:off x="4252" y="4039"/>
                <a:ext cx="680" cy="79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标记</a:t>
                </a:r>
                <a:endParaRPr lang="zh-CN" altLang="en-US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69" name="Text Box 305"/>
              <p:cNvSpPr txBox="1">
                <a:spLocks noChangeArrowheads="1"/>
              </p:cNvSpPr>
              <p:nvPr>
                <p:custDataLst>
                  <p:tags r:id="rId70"/>
                </p:custDataLst>
              </p:nvPr>
            </p:nvSpPr>
            <p:spPr bwMode="auto">
              <a:xfrm>
                <a:off x="3345" y="4039"/>
                <a:ext cx="567" cy="794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PID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270" name="Line 317"/>
              <p:cNvSpPr>
                <a:spLocks noChangeShapeType="1"/>
              </p:cNvSpPr>
              <p:nvPr>
                <p:custDataLst>
                  <p:tags r:id="rId71"/>
                </p:custDataLst>
              </p:nvPr>
            </p:nvSpPr>
            <p:spPr bwMode="auto">
              <a:xfrm flipV="1">
                <a:off x="3344" y="4377"/>
                <a:ext cx="2495" cy="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71" name="Text Box 170"/>
              <p:cNvSpPr txBox="1">
                <a:spLocks noChangeArrowheads="1"/>
              </p:cNvSpPr>
              <p:nvPr>
                <p:custDataLst>
                  <p:tags r:id="rId72"/>
                </p:custDataLst>
              </p:nvPr>
            </p:nvSpPr>
            <p:spPr bwMode="auto">
              <a:xfrm>
                <a:off x="3352" y="4425"/>
                <a:ext cx="2381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 6b</a:t>
                </a:r>
                <a:r>
                  <a:rPr lang="en-US" altLang="zh-CN" sz="900" b="1" u="none" dirty="0" smtClean="0">
                    <a:latin typeface="宋体" panose="02010600030101010101" pitchFamily="2" charset="-122"/>
                  </a:rPr>
                  <a:t>  </a:t>
                </a: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1b  </a:t>
                </a:r>
                <a:r>
                  <a:rPr lang="en-US" altLang="zh-CN" sz="1200" b="1" u="none" dirty="0" smtClean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   </a:t>
                </a: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   40b</a:t>
                </a:r>
                <a:endParaRPr lang="zh-CN" altLang="en-US" sz="12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72" name="Text Box 195"/>
              <p:cNvSpPr txBox="1">
                <a:spLocks noChangeArrowheads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3341" y="4947"/>
                <a:ext cx="2154" cy="22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80000"/>
                  </a:lnSpc>
                </a:pPr>
                <a:r>
                  <a:rPr lang="zh-CN" altLang="zh-CN" sz="1100" b="1" u="none" dirty="0">
                    <a:latin typeface="宋体" panose="02010600030101010101" pitchFamily="2" charset="-122"/>
                  </a:rPr>
                  <a:t>与主存页表层间管理</a:t>
                </a:r>
                <a:endParaRPr lang="zh-CN" altLang="zh-CN" sz="1100" b="1" u="none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73" name="直接箭头连接符 44"/>
              <p:cNvCxnSpPr/>
              <p:nvPr>
                <p:custDataLst>
                  <p:tags r:id="rId74"/>
                </p:custDataLst>
              </p:nvPr>
            </p:nvCxnSpPr>
            <p:spPr bwMode="auto">
              <a:xfrm flipH="1">
                <a:off x="5385" y="4833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74" name="Text Box 170"/>
              <p:cNvSpPr txBox="1">
                <a:spLocks noChangeArrowheads="1"/>
              </p:cNvSpPr>
              <p:nvPr>
                <p:custDataLst>
                  <p:tags r:id="rId75"/>
                </p:custDataLst>
              </p:nvPr>
            </p:nvSpPr>
            <p:spPr bwMode="auto">
              <a:xfrm>
                <a:off x="4313" y="4425"/>
                <a:ext cx="56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p>
                <a:pPr algn="ctr">
                  <a:lnSpc>
                    <a:spcPct val="90000"/>
                  </a:lnSpc>
                </a:pPr>
                <a:r>
                  <a:rPr lang="en-US" altLang="zh-CN" sz="1200" b="1" u="none" dirty="0" smtClean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29b</a:t>
                </a:r>
                <a:endParaRPr lang="en-US" altLang="zh-CN" sz="1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endParaRPr>
              </a:p>
            </p:txBody>
          </p:sp>
          <p:cxnSp>
            <p:nvCxnSpPr>
              <p:cNvPr id="275" name="直接箭头连接符 44"/>
              <p:cNvCxnSpPr/>
              <p:nvPr>
                <p:custDataLst>
                  <p:tags r:id="rId76"/>
                </p:custDataLst>
              </p:nvPr>
            </p:nvCxnSpPr>
            <p:spPr bwMode="auto">
              <a:xfrm flipH="1">
                <a:off x="4477" y="5174"/>
                <a:ext cx="0" cy="454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76" name="Text Box 170"/>
              <p:cNvSpPr txBox="1">
                <a:spLocks noChangeArrowheads="1"/>
              </p:cNvSpPr>
              <p:nvPr>
                <p:custDataLst>
                  <p:tags r:id="rId77"/>
                </p:custDataLst>
              </p:nvPr>
            </p:nvSpPr>
            <p:spPr bwMode="auto">
              <a:xfrm>
                <a:off x="396" y="3699"/>
                <a:ext cx="102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L2TLB</a:t>
                </a:r>
                <a:endParaRPr lang="en-US" altLang="zh-CN" sz="1600" b="1" u="none" dirty="0" smtClean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77" name="直接连接符 276"/>
              <p:cNvCxnSpPr/>
              <p:nvPr>
                <p:custDataLst>
                  <p:tags r:id="rId78"/>
                </p:custDataLst>
              </p:nvPr>
            </p:nvCxnSpPr>
            <p:spPr bwMode="auto">
              <a:xfrm flipH="1">
                <a:off x="1643" y="3812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78" name="直接连接符 277"/>
              <p:cNvCxnSpPr/>
              <p:nvPr>
                <p:custDataLst>
                  <p:tags r:id="rId79"/>
                </p:custDataLst>
              </p:nvPr>
            </p:nvCxnSpPr>
            <p:spPr bwMode="auto">
              <a:xfrm flipH="1">
                <a:off x="4592" y="3812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279" name="直接连接符 278"/>
              <p:cNvCxnSpPr/>
              <p:nvPr>
                <p:custDataLst>
                  <p:tags r:id="rId80"/>
                </p:custDataLst>
              </p:nvPr>
            </p:nvCxnSpPr>
            <p:spPr bwMode="auto">
              <a:xfrm>
                <a:off x="1645" y="3812"/>
                <a:ext cx="4762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" name="直接箭头连接符 44"/>
              <p:cNvCxnSpPr/>
              <p:nvPr>
                <p:custDataLst>
                  <p:tags r:id="rId81"/>
                </p:custDataLst>
              </p:nvPr>
            </p:nvCxnSpPr>
            <p:spPr bwMode="auto">
              <a:xfrm flipH="1">
                <a:off x="5840" y="4493"/>
                <a:ext cx="567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281" name="直接连接符 280"/>
              <p:cNvCxnSpPr/>
              <p:nvPr>
                <p:custDataLst>
                  <p:tags r:id="rId82"/>
                </p:custDataLst>
              </p:nvPr>
            </p:nvCxnSpPr>
            <p:spPr bwMode="auto">
              <a:xfrm flipV="1">
                <a:off x="6066" y="4442"/>
                <a:ext cx="227" cy="11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4" name="Text Box 331"/>
              <p:cNvSpPr txBox="1">
                <a:spLocks noChangeArrowheads="1"/>
              </p:cNvSpPr>
              <p:nvPr>
                <p:custDataLst>
                  <p:tags r:id="rId83"/>
                </p:custDataLst>
              </p:nvPr>
            </p:nvSpPr>
            <p:spPr bwMode="auto">
              <a:xfrm>
                <a:off x="5953" y="4198"/>
                <a:ext cx="340" cy="2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 smtClean="0">
                    <a:latin typeface="+mn-ea"/>
                    <a:ea typeface="+mn-ea"/>
                  </a:rPr>
                  <a:t>7b</a:t>
                </a:r>
                <a:endParaRPr lang="en-US" altLang="zh-CN" sz="1200" b="1" u="none" dirty="0" smtClean="0">
                  <a:latin typeface="+mn-ea"/>
                  <a:ea typeface="+mn-ea"/>
                </a:endParaRPr>
              </a:p>
            </p:txBody>
          </p:sp>
          <p:cxnSp>
            <p:nvCxnSpPr>
              <p:cNvPr id="287" name="直接箭头连接符 44"/>
              <p:cNvCxnSpPr/>
              <p:nvPr>
                <p:custDataLst>
                  <p:tags r:id="rId84"/>
                </p:custDataLst>
              </p:nvPr>
            </p:nvCxnSpPr>
            <p:spPr bwMode="auto">
              <a:xfrm flipH="1">
                <a:off x="193" y="5065"/>
                <a:ext cx="1587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88" name="Text Box 195"/>
              <p:cNvSpPr txBox="1">
                <a:spLocks noChangeArrowheads="1"/>
              </p:cNvSpPr>
              <p:nvPr>
                <p:custDataLst>
                  <p:tags r:id="rId85"/>
                </p:custDataLst>
              </p:nvPr>
            </p:nvSpPr>
            <p:spPr bwMode="auto">
              <a:xfrm>
                <a:off x="1770" y="4950"/>
                <a:ext cx="1587" cy="22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80000"/>
                  </a:lnSpc>
                </a:pP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4:1 MUX/DEC</a:t>
                </a:r>
                <a:endParaRPr lang="zh-CN" altLang="en-US" sz="1200" b="1" u="none" dirty="0" smtClean="0"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582" name="Text Box 307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6520" y="9258"/>
              <a:ext cx="1587" cy="56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marL="0" indent="0" algn="ctr" eaLnBrk="1" latinLnBrk="0" hangingPunct="1">
                <a:lnSpc>
                  <a:spcPct val="10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主存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4930059" y="1124744"/>
            <a:ext cx="73230" cy="3348000"/>
            <a:chOff x="4499529" y="1124744"/>
            <a:chExt cx="73230" cy="3418484"/>
          </a:xfrm>
        </p:grpSpPr>
        <p:cxnSp>
          <p:nvCxnSpPr>
            <p:cNvPr id="51" name="直接连接符 50"/>
            <p:cNvCxnSpPr/>
            <p:nvPr>
              <p:custDataLst>
                <p:tags r:id="rId87"/>
              </p:custDataLst>
            </p:nvPr>
          </p:nvCxnSpPr>
          <p:spPr bwMode="auto">
            <a:xfrm flipV="1">
              <a:off x="4572456" y="1124744"/>
              <a:ext cx="303" cy="341848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sm"/>
            </a:ln>
            <a:effectLst/>
          </p:spPr>
        </p:cxnSp>
        <p:cxnSp>
          <p:nvCxnSpPr>
            <p:cNvPr id="52" name="直接连接符 51"/>
            <p:cNvCxnSpPr/>
            <p:nvPr>
              <p:custDataLst>
                <p:tags r:id="rId88"/>
              </p:custDataLst>
            </p:nvPr>
          </p:nvCxnSpPr>
          <p:spPr bwMode="auto">
            <a:xfrm flipH="1" flipV="1">
              <a:off x="4499529" y="1124744"/>
              <a:ext cx="463" cy="341848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68" name="组合 67"/>
          <p:cNvGrpSpPr/>
          <p:nvPr/>
        </p:nvGrpSpPr>
        <p:grpSpPr>
          <a:xfrm>
            <a:off x="617855" y="3645535"/>
            <a:ext cx="8059420" cy="2088515"/>
            <a:chOff x="521" y="5741"/>
            <a:chExt cx="12692" cy="3289"/>
          </a:xfrm>
        </p:grpSpPr>
        <p:grpSp>
          <p:nvGrpSpPr>
            <p:cNvPr id="69" name="组合 68"/>
            <p:cNvGrpSpPr/>
            <p:nvPr/>
          </p:nvGrpSpPr>
          <p:grpSpPr>
            <a:xfrm rot="0">
              <a:off x="7543" y="5741"/>
              <a:ext cx="5670" cy="1588"/>
              <a:chOff x="4932040" y="3717032"/>
              <a:chExt cx="3600400" cy="1008112"/>
            </a:xfrm>
          </p:grpSpPr>
          <p:cxnSp>
            <p:nvCxnSpPr>
              <p:cNvPr id="70" name="直接箭头连接符 44"/>
              <p:cNvCxnSpPr/>
              <p:nvPr>
                <p:custDataLst>
                  <p:tags r:id="rId89"/>
                </p:custDataLst>
              </p:nvPr>
            </p:nvCxnSpPr>
            <p:spPr bwMode="auto">
              <a:xfrm flipH="1">
                <a:off x="5147302" y="4725144"/>
                <a:ext cx="2231969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71" name="直接箭头连接符 44"/>
              <p:cNvCxnSpPr/>
              <p:nvPr>
                <p:custDataLst>
                  <p:tags r:id="rId90"/>
                </p:custDataLst>
              </p:nvPr>
            </p:nvCxnSpPr>
            <p:spPr bwMode="auto">
              <a:xfrm flipH="1">
                <a:off x="6510278" y="4437120"/>
                <a:ext cx="208" cy="7200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72" name="直接箭头连接符 44"/>
              <p:cNvCxnSpPr/>
              <p:nvPr>
                <p:custDataLst>
                  <p:tags r:id="rId91"/>
                </p:custDataLst>
              </p:nvPr>
            </p:nvCxnSpPr>
            <p:spPr bwMode="auto">
              <a:xfrm>
                <a:off x="4932040" y="4221088"/>
                <a:ext cx="432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0070C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sp>
            <p:nvSpPr>
              <p:cNvPr id="73" name="Text Box 305"/>
              <p:cNvSpPr txBox="1">
                <a:spLocks noChangeArrowheads="1"/>
              </p:cNvSpPr>
              <p:nvPr>
                <p:custDataLst>
                  <p:tags r:id="rId92"/>
                </p:custDataLst>
              </p:nvPr>
            </p:nvSpPr>
            <p:spPr bwMode="auto">
              <a:xfrm>
                <a:off x="5363785" y="3933056"/>
                <a:ext cx="216000" cy="504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V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74" name="Text Box 307"/>
              <p:cNvSpPr txBox="1">
                <a:spLocks noChangeArrowheads="1"/>
              </p:cNvSpPr>
              <p:nvPr>
                <p:custDataLst>
                  <p:tags r:id="rId93"/>
                </p:custDataLst>
              </p:nvPr>
            </p:nvSpPr>
            <p:spPr bwMode="auto">
              <a:xfrm>
                <a:off x="6228137" y="3933056"/>
                <a:ext cx="576111" cy="504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缓存块</a:t>
                </a:r>
                <a:endParaRPr lang="zh-CN" altLang="en-US" sz="14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75" name="Text Box 308"/>
              <p:cNvSpPr txBox="1">
                <a:spLocks noChangeArrowheads="1"/>
              </p:cNvSpPr>
              <p:nvPr>
                <p:custDataLst>
                  <p:tags r:id="rId94"/>
                </p:custDataLst>
              </p:nvPr>
            </p:nvSpPr>
            <p:spPr bwMode="auto">
              <a:xfrm>
                <a:off x="5796136" y="3933056"/>
                <a:ext cx="432048" cy="504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标记</a:t>
                </a:r>
                <a:endParaRPr lang="zh-CN" altLang="en-US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76" name="Text Box 331"/>
              <p:cNvSpPr txBox="1">
                <a:spLocks noChangeArrowheads="1"/>
              </p:cNvSpPr>
              <p:nvPr>
                <p:custDataLst>
                  <p:tags r:id="rId95"/>
                </p:custDataLst>
              </p:nvPr>
            </p:nvSpPr>
            <p:spPr bwMode="auto">
              <a:xfrm>
                <a:off x="6803945" y="4038621"/>
                <a:ext cx="288000" cy="288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p>
                <a:pPr>
                  <a:lnSpc>
                    <a:spcPct val="90000"/>
                  </a:lnSpc>
                </a:pPr>
                <a:r>
                  <a:rPr lang="en-US" altLang="zh-CN" sz="1800" b="1" u="none" dirty="0"/>
                  <a:t>…</a:t>
                </a:r>
                <a:endParaRPr lang="en-US" altLang="zh-CN" sz="1800" b="1" u="none" dirty="0"/>
              </a:p>
            </p:txBody>
          </p:sp>
          <p:sp>
            <p:nvSpPr>
              <p:cNvPr id="77" name="Text Box 305"/>
              <p:cNvSpPr txBox="1">
                <a:spLocks noChangeArrowheads="1"/>
              </p:cNvSpPr>
              <p:nvPr>
                <p:custDataLst>
                  <p:tags r:id="rId96"/>
                </p:custDataLst>
              </p:nvPr>
            </p:nvSpPr>
            <p:spPr bwMode="auto">
              <a:xfrm>
                <a:off x="5580112" y="3933056"/>
                <a:ext cx="216000" cy="50400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D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78" name="Line 317"/>
              <p:cNvSpPr>
                <a:spLocks noChangeShapeType="1"/>
              </p:cNvSpPr>
              <p:nvPr>
                <p:custDataLst>
                  <p:tags r:id="rId97"/>
                </p:custDataLst>
              </p:nvPr>
            </p:nvSpPr>
            <p:spPr bwMode="auto">
              <a:xfrm flipV="1">
                <a:off x="5363785" y="4156426"/>
                <a:ext cx="14400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9" name="Text Box 309"/>
              <p:cNvSpPr txBox="1">
                <a:spLocks noChangeArrowheads="1"/>
              </p:cNvSpPr>
              <p:nvPr>
                <p:custDataLst>
                  <p:tags r:id="rId98"/>
                </p:custDataLst>
              </p:nvPr>
            </p:nvSpPr>
            <p:spPr bwMode="auto">
              <a:xfrm>
                <a:off x="5869014" y="4152131"/>
                <a:ext cx="215154" cy="2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p>
                <a:pPr>
                  <a:lnSpc>
                    <a:spcPct val="85000"/>
                  </a:lnSpc>
                </a:pPr>
                <a:r>
                  <a:rPr lang="en-US" altLang="zh-CN" sz="1800" b="1" u="none" dirty="0"/>
                  <a:t>…</a:t>
                </a:r>
                <a:endParaRPr lang="en-US" altLang="zh-CN" sz="1800" b="1" u="none" dirty="0"/>
              </a:p>
            </p:txBody>
          </p:sp>
          <p:sp>
            <p:nvSpPr>
              <p:cNvPr id="80" name="Text Box 195"/>
              <p:cNvSpPr txBox="1">
                <a:spLocks noChangeArrowheads="1"/>
              </p:cNvSpPr>
              <p:nvPr>
                <p:custDataLst>
                  <p:tags r:id="rId99"/>
                </p:custDataLst>
              </p:nvPr>
            </p:nvSpPr>
            <p:spPr bwMode="auto">
              <a:xfrm>
                <a:off x="6803186" y="4509120"/>
                <a:ext cx="1511979" cy="14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80000"/>
                  </a:lnSpc>
                </a:pPr>
                <a:r>
                  <a:rPr lang="zh-CN" altLang="en-US" sz="1200" b="1" u="none" dirty="0">
                    <a:latin typeface="宋体" panose="02010600030101010101" pitchFamily="2" charset="-122"/>
                  </a:rPr>
                  <a:t>与</a:t>
                </a:r>
                <a:r>
                  <a:rPr lang="en-US" altLang="zh-CN" sz="1200" b="1" u="none" dirty="0">
                    <a:latin typeface="宋体" panose="02010600030101010101" pitchFamily="2" charset="-122"/>
                  </a:rPr>
                  <a:t>L2$</a:t>
                </a:r>
                <a:r>
                  <a:rPr lang="zh-CN" altLang="en-US" sz="1200" b="1" u="none" dirty="0">
                    <a:latin typeface="宋体" panose="02010600030101010101" pitchFamily="2" charset="-122"/>
                  </a:rPr>
                  <a:t>层间管理</a:t>
                </a:r>
                <a:endParaRPr lang="zh-CN" altLang="en-US" sz="1200" b="1" u="none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81" name="直接箭头连接符 44"/>
              <p:cNvCxnSpPr/>
              <p:nvPr>
                <p:custDataLst>
                  <p:tags r:id="rId100"/>
                </p:custDataLst>
              </p:nvPr>
            </p:nvCxnSpPr>
            <p:spPr bwMode="auto">
              <a:xfrm flipH="1">
                <a:off x="8244105" y="4437112"/>
                <a:ext cx="208" cy="7200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82" name="直接连接符 81"/>
              <p:cNvCxnSpPr/>
              <p:nvPr>
                <p:custDataLst>
                  <p:tags r:id="rId101"/>
                </p:custDataLst>
              </p:nvPr>
            </p:nvCxnSpPr>
            <p:spPr bwMode="auto">
              <a:xfrm flipV="1">
                <a:off x="5084153" y="4188849"/>
                <a:ext cx="144000" cy="72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3" name="Text Box 331"/>
              <p:cNvSpPr txBox="1">
                <a:spLocks noChangeArrowheads="1"/>
              </p:cNvSpPr>
              <p:nvPr>
                <p:custDataLst>
                  <p:tags r:id="rId102"/>
                </p:custDataLst>
              </p:nvPr>
            </p:nvSpPr>
            <p:spPr bwMode="auto">
              <a:xfrm>
                <a:off x="5003745" y="4044841"/>
                <a:ext cx="216000" cy="144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 smtClean="0">
                    <a:latin typeface="+mn-ea"/>
                    <a:ea typeface="+mn-ea"/>
                  </a:rPr>
                  <a:t>6b</a:t>
                </a:r>
                <a:endParaRPr lang="en-US" altLang="zh-CN" sz="1200" b="1" u="none" dirty="0" smtClean="0">
                  <a:latin typeface="+mn-ea"/>
                  <a:ea typeface="+mn-ea"/>
                </a:endParaRPr>
              </a:p>
            </p:txBody>
          </p:sp>
          <p:cxnSp>
            <p:nvCxnSpPr>
              <p:cNvPr id="84" name="直接连接符 83"/>
              <p:cNvCxnSpPr/>
              <p:nvPr>
                <p:custDataLst>
                  <p:tags r:id="rId103"/>
                </p:custDataLst>
              </p:nvPr>
            </p:nvCxnSpPr>
            <p:spPr bwMode="auto">
              <a:xfrm flipH="1">
                <a:off x="6012159" y="3789056"/>
                <a:ext cx="1" cy="14400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85" name="直接连接符 84"/>
              <p:cNvCxnSpPr/>
              <p:nvPr>
                <p:custDataLst>
                  <p:tags r:id="rId104"/>
                </p:custDataLst>
              </p:nvPr>
            </p:nvCxnSpPr>
            <p:spPr bwMode="auto">
              <a:xfrm flipH="1">
                <a:off x="7740351" y="3789040"/>
                <a:ext cx="1" cy="14400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86" name="直接连接符 85"/>
              <p:cNvCxnSpPr/>
              <p:nvPr>
                <p:custDataLst>
                  <p:tags r:id="rId105"/>
                </p:custDataLst>
              </p:nvPr>
            </p:nvCxnSpPr>
            <p:spPr bwMode="auto">
              <a:xfrm>
                <a:off x="4932352" y="3789040"/>
                <a:ext cx="280800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7" name="直接箭头连接符 44"/>
              <p:cNvCxnSpPr/>
              <p:nvPr>
                <p:custDataLst>
                  <p:tags r:id="rId106"/>
                </p:custDataLst>
              </p:nvPr>
            </p:nvCxnSpPr>
            <p:spPr bwMode="auto">
              <a:xfrm flipH="1">
                <a:off x="7379801" y="4653136"/>
                <a:ext cx="208" cy="7200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88" name="Text Box 305"/>
              <p:cNvSpPr txBox="1">
                <a:spLocks noChangeArrowheads="1"/>
              </p:cNvSpPr>
              <p:nvPr>
                <p:custDataLst>
                  <p:tags r:id="rId107"/>
                </p:custDataLst>
              </p:nvPr>
            </p:nvSpPr>
            <p:spPr bwMode="auto">
              <a:xfrm>
                <a:off x="7091930" y="3933056"/>
                <a:ext cx="216000" cy="504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V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89" name="Text Box 307"/>
              <p:cNvSpPr txBox="1">
                <a:spLocks noChangeArrowheads="1"/>
              </p:cNvSpPr>
              <p:nvPr>
                <p:custDataLst>
                  <p:tags r:id="rId108"/>
                </p:custDataLst>
              </p:nvPr>
            </p:nvSpPr>
            <p:spPr bwMode="auto">
              <a:xfrm>
                <a:off x="7956026" y="3933056"/>
                <a:ext cx="576111" cy="504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缓存块</a:t>
                </a:r>
                <a:endParaRPr lang="zh-CN" altLang="en-US" sz="14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90" name="Text Box 308"/>
              <p:cNvSpPr txBox="1">
                <a:spLocks noChangeArrowheads="1"/>
              </p:cNvSpPr>
              <p:nvPr>
                <p:custDataLst>
                  <p:tags r:id="rId109"/>
                </p:custDataLst>
              </p:nvPr>
            </p:nvSpPr>
            <p:spPr bwMode="auto">
              <a:xfrm>
                <a:off x="7524328" y="3933056"/>
                <a:ext cx="432048" cy="504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标记</a:t>
                </a:r>
                <a:endParaRPr lang="zh-CN" altLang="en-US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91" name="Text Box 305"/>
              <p:cNvSpPr txBox="1">
                <a:spLocks noChangeArrowheads="1"/>
              </p:cNvSpPr>
              <p:nvPr>
                <p:custDataLst>
                  <p:tags r:id="rId110"/>
                </p:custDataLst>
              </p:nvPr>
            </p:nvSpPr>
            <p:spPr bwMode="auto">
              <a:xfrm>
                <a:off x="7308304" y="3933056"/>
                <a:ext cx="216000" cy="50400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D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92" name="Line 317"/>
              <p:cNvSpPr>
                <a:spLocks noChangeShapeType="1"/>
              </p:cNvSpPr>
              <p:nvPr>
                <p:custDataLst>
                  <p:tags r:id="rId111"/>
                </p:custDataLst>
              </p:nvPr>
            </p:nvSpPr>
            <p:spPr bwMode="auto">
              <a:xfrm flipV="1">
                <a:off x="7091930" y="4156426"/>
                <a:ext cx="14400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3" name="Text Box 170"/>
              <p:cNvSpPr txBox="1">
                <a:spLocks noChangeArrowheads="1"/>
              </p:cNvSpPr>
              <p:nvPr>
                <p:custDataLst>
                  <p:tags r:id="rId112"/>
                </p:custDataLst>
              </p:nvPr>
            </p:nvSpPr>
            <p:spPr bwMode="auto">
              <a:xfrm>
                <a:off x="7091977" y="4187180"/>
                <a:ext cx="1368152" cy="2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1b </a:t>
                </a:r>
                <a:r>
                  <a:rPr lang="en-US" altLang="zh-CN" sz="1200" b="1" u="none" dirty="0" err="1" smtClean="0">
                    <a:latin typeface="宋体" panose="02010600030101010101" pitchFamily="2" charset="-122"/>
                  </a:rPr>
                  <a:t>1b</a:t>
                </a: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        64B</a:t>
                </a:r>
                <a:endParaRPr lang="zh-CN" altLang="en-US" sz="12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94" name="Text Box 170"/>
              <p:cNvSpPr txBox="1">
                <a:spLocks noChangeArrowheads="1"/>
              </p:cNvSpPr>
              <p:nvPr>
                <p:custDataLst>
                  <p:tags r:id="rId113"/>
                </p:custDataLst>
              </p:nvPr>
            </p:nvSpPr>
            <p:spPr bwMode="auto">
              <a:xfrm>
                <a:off x="7558275" y="4190231"/>
                <a:ext cx="360000" cy="21600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p>
                <a:pPr algn="ctr">
                  <a:lnSpc>
                    <a:spcPct val="90000"/>
                  </a:lnSpc>
                </a:pPr>
                <a:r>
                  <a:rPr lang="en-US" altLang="zh-CN" sz="1200" b="1" u="none" dirty="0" smtClean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40b</a:t>
                </a:r>
                <a:endParaRPr lang="en-US" altLang="zh-CN" sz="1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endParaRPr>
              </a:p>
            </p:txBody>
          </p:sp>
          <p:cxnSp>
            <p:nvCxnSpPr>
              <p:cNvPr id="95" name="直接箭头连接符 44"/>
              <p:cNvCxnSpPr/>
              <p:nvPr>
                <p:custDataLst>
                  <p:tags r:id="rId114"/>
                </p:custDataLst>
              </p:nvPr>
            </p:nvCxnSpPr>
            <p:spPr bwMode="auto">
              <a:xfrm flipV="1">
                <a:off x="4932136" y="4615146"/>
                <a:ext cx="864000" cy="16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sp>
            <p:nvSpPr>
              <p:cNvPr id="96" name="Text Box 170"/>
              <p:cNvSpPr txBox="1">
                <a:spLocks noChangeArrowheads="1"/>
              </p:cNvSpPr>
              <p:nvPr>
                <p:custDataLst>
                  <p:tags r:id="rId115"/>
                </p:custDataLst>
              </p:nvPr>
            </p:nvSpPr>
            <p:spPr bwMode="auto">
              <a:xfrm>
                <a:off x="7884440" y="3717032"/>
                <a:ext cx="648000" cy="2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L1-D$</a:t>
                </a:r>
                <a:endParaRPr lang="en-US" altLang="zh-CN" sz="1600" b="1" u="none" dirty="0" smtClean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97" name="直接箭头连接符 44"/>
              <p:cNvCxnSpPr/>
              <p:nvPr>
                <p:custDataLst>
                  <p:tags r:id="rId116"/>
                </p:custDataLst>
              </p:nvPr>
            </p:nvCxnSpPr>
            <p:spPr bwMode="auto">
              <a:xfrm>
                <a:off x="5147406" y="4543682"/>
                <a:ext cx="647991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98" name="Text Box 195"/>
              <p:cNvSpPr txBox="1">
                <a:spLocks noChangeArrowheads="1"/>
              </p:cNvSpPr>
              <p:nvPr>
                <p:custDataLst>
                  <p:tags r:id="rId117"/>
                </p:custDataLst>
              </p:nvPr>
            </p:nvSpPr>
            <p:spPr bwMode="auto">
              <a:xfrm>
                <a:off x="5796208" y="4509136"/>
                <a:ext cx="1007986" cy="14400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80000"/>
                  </a:lnSpc>
                </a:pP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8:1 MUX/DEC</a:t>
                </a:r>
                <a:endParaRPr lang="zh-CN" altLang="zh-CN" sz="1200" b="1" u="none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99" name="组合 98"/>
            <p:cNvGrpSpPr/>
            <p:nvPr/>
          </p:nvGrpSpPr>
          <p:grpSpPr>
            <a:xfrm rot="0">
              <a:off x="521" y="5741"/>
              <a:ext cx="5659" cy="1588"/>
              <a:chOff x="547330" y="3717032"/>
              <a:chExt cx="3593355" cy="1008112"/>
            </a:xfrm>
          </p:grpSpPr>
          <p:cxnSp>
            <p:nvCxnSpPr>
              <p:cNvPr id="100" name="直接箭头连接符 44"/>
              <p:cNvCxnSpPr/>
              <p:nvPr>
                <p:custDataLst>
                  <p:tags r:id="rId118"/>
                </p:custDataLst>
              </p:nvPr>
            </p:nvCxnSpPr>
            <p:spPr bwMode="auto">
              <a:xfrm flipH="1">
                <a:off x="547330" y="4725144"/>
                <a:ext cx="1511876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01" name="直接箭头连接符 44"/>
              <p:cNvCxnSpPr/>
              <p:nvPr>
                <p:custDataLst>
                  <p:tags r:id="rId119"/>
                </p:custDataLst>
              </p:nvPr>
            </p:nvCxnSpPr>
            <p:spPr bwMode="auto">
              <a:xfrm flipH="1">
                <a:off x="1830069" y="4437120"/>
                <a:ext cx="208" cy="7200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02" name="直接箭头连接符 44"/>
              <p:cNvCxnSpPr/>
              <p:nvPr>
                <p:custDataLst>
                  <p:tags r:id="rId120"/>
                </p:custDataLst>
              </p:nvPr>
            </p:nvCxnSpPr>
            <p:spPr bwMode="auto">
              <a:xfrm flipH="1">
                <a:off x="3851968" y="4221088"/>
                <a:ext cx="288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0070C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sp>
            <p:nvSpPr>
              <p:cNvPr id="103" name="Text Box 305"/>
              <p:cNvSpPr txBox="1">
                <a:spLocks noChangeArrowheads="1"/>
              </p:cNvSpPr>
              <p:nvPr>
                <p:custDataLst>
                  <p:tags r:id="rId121"/>
                </p:custDataLst>
              </p:nvPr>
            </p:nvSpPr>
            <p:spPr bwMode="auto">
              <a:xfrm>
                <a:off x="683576" y="3933056"/>
                <a:ext cx="216000" cy="504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V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04" name="Text Box 307"/>
              <p:cNvSpPr txBox="1">
                <a:spLocks noChangeArrowheads="1"/>
              </p:cNvSpPr>
              <p:nvPr>
                <p:custDataLst>
                  <p:tags r:id="rId122"/>
                </p:custDataLst>
              </p:nvPr>
            </p:nvSpPr>
            <p:spPr bwMode="auto">
              <a:xfrm>
                <a:off x="1547672" y="3933056"/>
                <a:ext cx="576111" cy="504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缓存块</a:t>
                </a:r>
                <a:endParaRPr lang="zh-CN" altLang="en-US" sz="14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05" name="Text Box 308"/>
              <p:cNvSpPr txBox="1">
                <a:spLocks noChangeArrowheads="1"/>
              </p:cNvSpPr>
              <p:nvPr>
                <p:custDataLst>
                  <p:tags r:id="rId123"/>
                </p:custDataLst>
              </p:nvPr>
            </p:nvSpPr>
            <p:spPr bwMode="auto">
              <a:xfrm>
                <a:off x="1115624" y="3933056"/>
                <a:ext cx="432048" cy="504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标记</a:t>
                </a:r>
                <a:endParaRPr lang="zh-CN" altLang="en-US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06" name="Text Box 331"/>
              <p:cNvSpPr txBox="1">
                <a:spLocks noChangeArrowheads="1"/>
              </p:cNvSpPr>
              <p:nvPr>
                <p:custDataLst>
                  <p:tags r:id="rId124"/>
                </p:custDataLst>
              </p:nvPr>
            </p:nvSpPr>
            <p:spPr bwMode="auto">
              <a:xfrm>
                <a:off x="2123736" y="4038621"/>
                <a:ext cx="288000" cy="288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p>
                <a:pPr>
                  <a:lnSpc>
                    <a:spcPct val="90000"/>
                  </a:lnSpc>
                </a:pPr>
                <a:r>
                  <a:rPr lang="en-US" altLang="zh-CN" sz="1800" b="1" u="none" dirty="0"/>
                  <a:t>…</a:t>
                </a:r>
                <a:endParaRPr lang="en-US" altLang="zh-CN" sz="1800" b="1" u="none" dirty="0"/>
              </a:p>
            </p:txBody>
          </p:sp>
          <p:sp>
            <p:nvSpPr>
              <p:cNvPr id="107" name="Text Box 305"/>
              <p:cNvSpPr txBox="1">
                <a:spLocks noChangeArrowheads="1"/>
              </p:cNvSpPr>
              <p:nvPr>
                <p:custDataLst>
                  <p:tags r:id="rId125"/>
                </p:custDataLst>
              </p:nvPr>
            </p:nvSpPr>
            <p:spPr bwMode="auto">
              <a:xfrm>
                <a:off x="899600" y="3933056"/>
                <a:ext cx="216000" cy="50400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D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08" name="Line 317"/>
              <p:cNvSpPr>
                <a:spLocks noChangeShapeType="1"/>
              </p:cNvSpPr>
              <p:nvPr>
                <p:custDataLst>
                  <p:tags r:id="rId126"/>
                </p:custDataLst>
              </p:nvPr>
            </p:nvSpPr>
            <p:spPr bwMode="auto">
              <a:xfrm flipV="1">
                <a:off x="683576" y="4156426"/>
                <a:ext cx="14400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9" name="Text Box 309"/>
              <p:cNvSpPr txBox="1">
                <a:spLocks noChangeArrowheads="1"/>
              </p:cNvSpPr>
              <p:nvPr>
                <p:custDataLst>
                  <p:tags r:id="rId127"/>
                </p:custDataLst>
              </p:nvPr>
            </p:nvSpPr>
            <p:spPr bwMode="auto">
              <a:xfrm>
                <a:off x="1188502" y="4152131"/>
                <a:ext cx="215154" cy="2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p>
                <a:pPr>
                  <a:lnSpc>
                    <a:spcPct val="85000"/>
                  </a:lnSpc>
                </a:pPr>
                <a:r>
                  <a:rPr lang="en-US" altLang="zh-CN" sz="1800" b="1" u="none" dirty="0"/>
                  <a:t>…</a:t>
                </a:r>
                <a:endParaRPr lang="en-US" altLang="zh-CN" sz="1800" b="1" u="none" dirty="0"/>
              </a:p>
            </p:txBody>
          </p:sp>
          <p:sp>
            <p:nvSpPr>
              <p:cNvPr id="110" name="Text Box 195"/>
              <p:cNvSpPr txBox="1">
                <a:spLocks noChangeArrowheads="1"/>
              </p:cNvSpPr>
              <p:nvPr>
                <p:custDataLst>
                  <p:tags r:id="rId128"/>
                </p:custDataLst>
              </p:nvPr>
            </p:nvSpPr>
            <p:spPr bwMode="auto">
              <a:xfrm>
                <a:off x="1476900" y="4509120"/>
                <a:ext cx="1223899" cy="144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80000"/>
                  </a:lnSpc>
                </a:pPr>
                <a:r>
                  <a:rPr lang="zh-CN" altLang="en-US" sz="1200" b="1" u="none" dirty="0" smtClean="0">
                    <a:latin typeface="宋体" panose="02010600030101010101" pitchFamily="2" charset="-122"/>
                  </a:rPr>
                  <a:t>与</a:t>
                </a: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L2$</a:t>
                </a:r>
                <a:r>
                  <a:rPr lang="zh-CN" altLang="en-US" sz="1200" b="1" u="none" dirty="0" smtClean="0">
                    <a:latin typeface="宋体" panose="02010600030101010101" pitchFamily="2" charset="-122"/>
                  </a:rPr>
                  <a:t>层间管理</a:t>
                </a:r>
                <a:endParaRPr lang="zh-CN" altLang="en-US" sz="1200" b="1" u="none" dirty="0" smtClean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11" name="直接箭头连接符 44"/>
              <p:cNvCxnSpPr/>
              <p:nvPr>
                <p:custDataLst>
                  <p:tags r:id="rId129"/>
                </p:custDataLst>
              </p:nvPr>
            </p:nvCxnSpPr>
            <p:spPr bwMode="auto">
              <a:xfrm flipH="1">
                <a:off x="3563896" y="4437112"/>
                <a:ext cx="208" cy="7200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12" name="直接连接符 111"/>
              <p:cNvCxnSpPr/>
              <p:nvPr>
                <p:custDataLst>
                  <p:tags r:id="rId130"/>
                </p:custDataLst>
              </p:nvPr>
            </p:nvCxnSpPr>
            <p:spPr bwMode="auto">
              <a:xfrm flipV="1">
                <a:off x="3995944" y="4179552"/>
                <a:ext cx="144000" cy="72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13" name="Text Box 331"/>
              <p:cNvSpPr txBox="1">
                <a:spLocks noChangeArrowheads="1"/>
              </p:cNvSpPr>
              <p:nvPr>
                <p:custDataLst>
                  <p:tags r:id="rId131"/>
                </p:custDataLst>
              </p:nvPr>
            </p:nvSpPr>
            <p:spPr bwMode="auto">
              <a:xfrm>
                <a:off x="3923936" y="4035544"/>
                <a:ext cx="216000" cy="144000"/>
              </a:xfrm>
              <a:prstGeom prst="rect">
                <a:avLst/>
              </a:prstGeom>
              <a:solidFill>
                <a:srgbClr val="CCFFFF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>
                    <a:latin typeface="+mn-ea"/>
                    <a:ea typeface="+mn-ea"/>
                  </a:rPr>
                  <a:t>7</a:t>
                </a:r>
                <a:r>
                  <a:rPr lang="en-US" altLang="zh-CN" sz="1200" b="1" u="none" dirty="0" smtClean="0">
                    <a:latin typeface="+mn-ea"/>
                    <a:ea typeface="+mn-ea"/>
                  </a:rPr>
                  <a:t>b</a:t>
                </a:r>
                <a:endParaRPr lang="en-US" altLang="zh-CN" sz="1200" b="1" u="none" dirty="0">
                  <a:latin typeface="+mn-ea"/>
                  <a:ea typeface="+mn-ea"/>
                </a:endParaRPr>
              </a:p>
            </p:txBody>
          </p:sp>
          <p:cxnSp>
            <p:nvCxnSpPr>
              <p:cNvPr id="114" name="直接连接符 113"/>
              <p:cNvCxnSpPr/>
              <p:nvPr>
                <p:custDataLst>
                  <p:tags r:id="rId132"/>
                </p:custDataLst>
              </p:nvPr>
            </p:nvCxnSpPr>
            <p:spPr bwMode="auto">
              <a:xfrm flipH="1">
                <a:off x="1403647" y="3789056"/>
                <a:ext cx="1" cy="14400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15" name="直接连接符 114"/>
              <p:cNvCxnSpPr/>
              <p:nvPr>
                <p:custDataLst>
                  <p:tags r:id="rId133"/>
                </p:custDataLst>
              </p:nvPr>
            </p:nvCxnSpPr>
            <p:spPr bwMode="auto">
              <a:xfrm flipH="1">
                <a:off x="3059839" y="3789040"/>
                <a:ext cx="1" cy="14400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16" name="直接连接符 115"/>
              <p:cNvCxnSpPr/>
              <p:nvPr>
                <p:custDataLst>
                  <p:tags r:id="rId134"/>
                </p:custDataLst>
              </p:nvPr>
            </p:nvCxnSpPr>
            <p:spPr bwMode="auto">
              <a:xfrm>
                <a:off x="1403648" y="3789040"/>
                <a:ext cx="273600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7" name="直接箭头连接符 44"/>
              <p:cNvCxnSpPr/>
              <p:nvPr>
                <p:custDataLst>
                  <p:tags r:id="rId135"/>
                </p:custDataLst>
              </p:nvPr>
            </p:nvCxnSpPr>
            <p:spPr bwMode="auto">
              <a:xfrm flipH="1">
                <a:off x="2053851" y="4653136"/>
                <a:ext cx="208" cy="7200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118" name="Text Box 305"/>
              <p:cNvSpPr txBox="1">
                <a:spLocks noChangeArrowheads="1"/>
              </p:cNvSpPr>
              <p:nvPr>
                <p:custDataLst>
                  <p:tags r:id="rId136"/>
                </p:custDataLst>
              </p:nvPr>
            </p:nvSpPr>
            <p:spPr bwMode="auto">
              <a:xfrm>
                <a:off x="2411721" y="3933056"/>
                <a:ext cx="216000" cy="504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V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19" name="Text Box 307"/>
              <p:cNvSpPr txBox="1">
                <a:spLocks noChangeArrowheads="1"/>
              </p:cNvSpPr>
              <p:nvPr>
                <p:custDataLst>
                  <p:tags r:id="rId137"/>
                </p:custDataLst>
              </p:nvPr>
            </p:nvSpPr>
            <p:spPr bwMode="auto">
              <a:xfrm>
                <a:off x="3275817" y="3933056"/>
                <a:ext cx="576111" cy="504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缓存块</a:t>
                </a:r>
                <a:endParaRPr lang="zh-CN" altLang="en-US" sz="14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20" name="Text Box 308"/>
              <p:cNvSpPr txBox="1">
                <a:spLocks noChangeArrowheads="1"/>
              </p:cNvSpPr>
              <p:nvPr>
                <p:custDataLst>
                  <p:tags r:id="rId138"/>
                </p:custDataLst>
              </p:nvPr>
            </p:nvSpPr>
            <p:spPr bwMode="auto">
              <a:xfrm>
                <a:off x="2843816" y="3933056"/>
                <a:ext cx="432048" cy="504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标记</a:t>
                </a:r>
                <a:endParaRPr lang="zh-CN" altLang="en-US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21" name="Text Box 305"/>
              <p:cNvSpPr txBox="1">
                <a:spLocks noChangeArrowheads="1"/>
              </p:cNvSpPr>
              <p:nvPr>
                <p:custDataLst>
                  <p:tags r:id="rId139"/>
                </p:custDataLst>
              </p:nvPr>
            </p:nvSpPr>
            <p:spPr bwMode="auto">
              <a:xfrm>
                <a:off x="2627792" y="3933056"/>
                <a:ext cx="216000" cy="50400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D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22" name="Line 317"/>
              <p:cNvSpPr>
                <a:spLocks noChangeShapeType="1"/>
              </p:cNvSpPr>
              <p:nvPr>
                <p:custDataLst>
                  <p:tags r:id="rId140"/>
                </p:custDataLst>
              </p:nvPr>
            </p:nvSpPr>
            <p:spPr bwMode="auto">
              <a:xfrm flipV="1">
                <a:off x="2411721" y="4156426"/>
                <a:ext cx="14400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3" name="Text Box 170"/>
              <p:cNvSpPr txBox="1">
                <a:spLocks noChangeArrowheads="1"/>
              </p:cNvSpPr>
              <p:nvPr>
                <p:custDataLst>
                  <p:tags r:id="rId141"/>
                </p:custDataLst>
              </p:nvPr>
            </p:nvSpPr>
            <p:spPr bwMode="auto">
              <a:xfrm>
                <a:off x="2411768" y="4187180"/>
                <a:ext cx="1368152" cy="2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1b </a:t>
                </a:r>
                <a:r>
                  <a:rPr lang="en-US" altLang="zh-CN" sz="1200" b="1" u="none" dirty="0" err="1" smtClean="0">
                    <a:latin typeface="宋体" panose="02010600030101010101" pitchFamily="2" charset="-122"/>
                  </a:rPr>
                  <a:t>1b</a:t>
                </a: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        64B</a:t>
                </a:r>
                <a:endParaRPr lang="zh-CN" altLang="en-US" sz="12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24" name="Text Box 170"/>
              <p:cNvSpPr txBox="1">
                <a:spLocks noChangeArrowheads="1"/>
              </p:cNvSpPr>
              <p:nvPr>
                <p:custDataLst>
                  <p:tags r:id="rId142"/>
                </p:custDataLst>
              </p:nvPr>
            </p:nvSpPr>
            <p:spPr bwMode="auto">
              <a:xfrm>
                <a:off x="2892803" y="4190231"/>
                <a:ext cx="360000" cy="21600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p>
                <a:pPr algn="ctr">
                  <a:lnSpc>
                    <a:spcPct val="90000"/>
                  </a:lnSpc>
                </a:pPr>
                <a:r>
                  <a:rPr lang="en-US" altLang="zh-CN" sz="12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3</a:t>
                </a:r>
                <a:r>
                  <a:rPr lang="en-US" altLang="zh-CN" sz="1200" b="1" u="none" dirty="0" smtClean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9b</a:t>
                </a:r>
                <a:endParaRPr lang="zh-CN" altLang="en-US" sz="1200" b="1" u="none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25" name="直接箭头连接符 44"/>
              <p:cNvCxnSpPr/>
              <p:nvPr>
                <p:custDataLst>
                  <p:tags r:id="rId143"/>
                </p:custDataLst>
              </p:nvPr>
            </p:nvCxnSpPr>
            <p:spPr bwMode="auto">
              <a:xfrm flipH="1">
                <a:off x="3636726" y="4614406"/>
                <a:ext cx="503959" cy="12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sp>
            <p:nvSpPr>
              <p:cNvPr id="126" name="Text Box 170"/>
              <p:cNvSpPr txBox="1">
                <a:spLocks noChangeArrowheads="1"/>
              </p:cNvSpPr>
              <p:nvPr>
                <p:custDataLst>
                  <p:tags r:id="rId144"/>
                </p:custDataLst>
              </p:nvPr>
            </p:nvSpPr>
            <p:spPr bwMode="auto">
              <a:xfrm>
                <a:off x="683568" y="3717032"/>
                <a:ext cx="648000" cy="21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L1-I$</a:t>
                </a:r>
                <a:endParaRPr lang="en-US" altLang="zh-CN" sz="1600" b="1" u="none" dirty="0" smtClean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27" name="直接箭头连接符 44"/>
              <p:cNvCxnSpPr/>
              <p:nvPr>
                <p:custDataLst>
                  <p:tags r:id="rId145"/>
                </p:custDataLst>
              </p:nvPr>
            </p:nvCxnSpPr>
            <p:spPr bwMode="auto">
              <a:xfrm flipH="1">
                <a:off x="3636462" y="4539872"/>
                <a:ext cx="503959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128" name="Text Box 195"/>
              <p:cNvSpPr txBox="1">
                <a:spLocks noChangeArrowheads="1"/>
              </p:cNvSpPr>
              <p:nvPr>
                <p:custDataLst>
                  <p:tags r:id="rId146"/>
                </p:custDataLst>
              </p:nvPr>
            </p:nvSpPr>
            <p:spPr bwMode="auto">
              <a:xfrm>
                <a:off x="2701346" y="4509120"/>
                <a:ext cx="935923" cy="14400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80000"/>
                  </a:lnSpc>
                </a:pP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8:1 MUX</a:t>
                </a:r>
                <a:endParaRPr lang="zh-CN" altLang="zh-CN" sz="1200" b="1" u="none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129" name="组合 128"/>
            <p:cNvGrpSpPr/>
            <p:nvPr/>
          </p:nvGrpSpPr>
          <p:grpSpPr>
            <a:xfrm>
              <a:off x="736" y="7329"/>
              <a:ext cx="5443" cy="1577"/>
              <a:chOff x="736" y="7442"/>
              <a:chExt cx="5443" cy="1577"/>
            </a:xfrm>
          </p:grpSpPr>
          <p:sp>
            <p:nvSpPr>
              <p:cNvPr id="130" name="Text Box 170"/>
              <p:cNvSpPr txBox="1">
                <a:spLocks noChangeArrowheads="1"/>
              </p:cNvSpPr>
              <p:nvPr>
                <p:custDataLst>
                  <p:tags r:id="rId147"/>
                </p:custDataLst>
              </p:nvPr>
            </p:nvSpPr>
            <p:spPr bwMode="auto">
              <a:xfrm>
                <a:off x="736" y="7442"/>
                <a:ext cx="68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L2$</a:t>
                </a:r>
                <a:endParaRPr lang="en-US" altLang="zh-CN" sz="1600" b="1" u="none" dirty="0" smtClean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31" name="直接箭头连接符 44"/>
              <p:cNvCxnSpPr/>
              <p:nvPr>
                <p:custDataLst>
                  <p:tags r:id="rId148"/>
                </p:custDataLst>
              </p:nvPr>
            </p:nvCxnSpPr>
            <p:spPr bwMode="auto">
              <a:xfrm flipH="1">
                <a:off x="2541" y="8576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32" name="直接箭头连接符 44"/>
              <p:cNvCxnSpPr/>
              <p:nvPr>
                <p:custDataLst>
                  <p:tags r:id="rId149"/>
                </p:custDataLst>
              </p:nvPr>
            </p:nvCxnSpPr>
            <p:spPr bwMode="auto">
              <a:xfrm flipH="1" flipV="1">
                <a:off x="5725" y="8236"/>
                <a:ext cx="454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sp>
            <p:nvSpPr>
              <p:cNvPr id="133" name="Text Box 305"/>
              <p:cNvSpPr txBox="1">
                <a:spLocks noChangeArrowheads="1"/>
              </p:cNvSpPr>
              <p:nvPr>
                <p:custDataLst>
                  <p:tags r:id="rId150"/>
                </p:custDataLst>
              </p:nvPr>
            </p:nvSpPr>
            <p:spPr bwMode="auto">
              <a:xfrm>
                <a:off x="736" y="7782"/>
                <a:ext cx="340" cy="794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V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34" name="Text Box 307"/>
              <p:cNvSpPr txBox="1">
                <a:spLocks noChangeArrowheads="1"/>
              </p:cNvSpPr>
              <p:nvPr>
                <p:custDataLst>
                  <p:tags r:id="rId151"/>
                </p:custDataLst>
              </p:nvPr>
            </p:nvSpPr>
            <p:spPr bwMode="auto">
              <a:xfrm>
                <a:off x="2097" y="7782"/>
                <a:ext cx="907" cy="794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缓存块</a:t>
                </a:r>
                <a:endParaRPr lang="zh-CN" altLang="en-US" sz="14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" name="Text Box 308"/>
              <p:cNvSpPr txBox="1">
                <a:spLocks noChangeArrowheads="1"/>
              </p:cNvSpPr>
              <p:nvPr>
                <p:custDataLst>
                  <p:tags r:id="rId152"/>
                </p:custDataLst>
              </p:nvPr>
            </p:nvSpPr>
            <p:spPr bwMode="auto">
              <a:xfrm>
                <a:off x="1416" y="7782"/>
                <a:ext cx="680" cy="79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标记</a:t>
                </a:r>
                <a:endParaRPr lang="zh-CN" altLang="en-US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36" name="Text Box 331"/>
              <p:cNvSpPr txBox="1">
                <a:spLocks noChangeArrowheads="1"/>
              </p:cNvSpPr>
              <p:nvPr>
                <p:custDataLst>
                  <p:tags r:id="rId153"/>
                </p:custDataLst>
              </p:nvPr>
            </p:nvSpPr>
            <p:spPr bwMode="auto">
              <a:xfrm>
                <a:off x="3004" y="7949"/>
                <a:ext cx="454" cy="4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p>
                <a:pPr>
                  <a:lnSpc>
                    <a:spcPct val="90000"/>
                  </a:lnSpc>
                </a:pPr>
                <a:r>
                  <a:rPr lang="en-US" altLang="zh-CN" sz="1800" b="1" u="none" dirty="0"/>
                  <a:t>…</a:t>
                </a:r>
                <a:endParaRPr lang="en-US" altLang="zh-CN" sz="1800" b="1" u="none" dirty="0"/>
              </a:p>
            </p:txBody>
          </p:sp>
          <p:sp>
            <p:nvSpPr>
              <p:cNvPr id="137" name="Text Box 305"/>
              <p:cNvSpPr txBox="1">
                <a:spLocks noChangeArrowheads="1"/>
              </p:cNvSpPr>
              <p:nvPr>
                <p:custDataLst>
                  <p:tags r:id="rId154"/>
                </p:custDataLst>
              </p:nvPr>
            </p:nvSpPr>
            <p:spPr bwMode="auto">
              <a:xfrm>
                <a:off x="1076" y="7782"/>
                <a:ext cx="340" cy="794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D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38" name="Line 317"/>
              <p:cNvSpPr>
                <a:spLocks noChangeShapeType="1"/>
              </p:cNvSpPr>
              <p:nvPr>
                <p:custDataLst>
                  <p:tags r:id="rId155"/>
                </p:custDataLst>
              </p:nvPr>
            </p:nvSpPr>
            <p:spPr bwMode="auto">
              <a:xfrm flipV="1">
                <a:off x="736" y="8134"/>
                <a:ext cx="2268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39" name="Text Box 309"/>
              <p:cNvSpPr txBox="1">
                <a:spLocks noChangeArrowheads="1"/>
              </p:cNvSpPr>
              <p:nvPr>
                <p:custDataLst>
                  <p:tags r:id="rId156"/>
                </p:custDataLst>
              </p:nvPr>
            </p:nvSpPr>
            <p:spPr bwMode="auto">
              <a:xfrm>
                <a:off x="1530" y="8127"/>
                <a:ext cx="339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p>
                <a:pPr>
                  <a:lnSpc>
                    <a:spcPct val="85000"/>
                  </a:lnSpc>
                </a:pPr>
                <a:r>
                  <a:rPr lang="en-US" altLang="zh-CN" sz="1800" b="1" u="none" dirty="0"/>
                  <a:t>…</a:t>
                </a:r>
                <a:endParaRPr lang="en-US" altLang="zh-CN" sz="1800" b="1" u="none" dirty="0"/>
              </a:p>
            </p:txBody>
          </p:sp>
          <p:sp>
            <p:nvSpPr>
              <p:cNvPr id="140" name="Text Box 195"/>
              <p:cNvSpPr txBox="1">
                <a:spLocks noChangeArrowheads="1"/>
              </p:cNvSpPr>
              <p:nvPr>
                <p:custDataLst>
                  <p:tags r:id="rId157"/>
                </p:custDataLst>
              </p:nvPr>
            </p:nvSpPr>
            <p:spPr bwMode="auto">
              <a:xfrm>
                <a:off x="1872" y="8690"/>
                <a:ext cx="1587" cy="22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80000"/>
                  </a:lnSpc>
                </a:pP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8:1 MUX/DEC</a:t>
                </a:r>
                <a:endParaRPr lang="zh-CN" altLang="zh-CN" sz="1200" b="1" u="none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41" name="直接箭头连接符 44"/>
              <p:cNvCxnSpPr/>
              <p:nvPr>
                <p:custDataLst>
                  <p:tags r:id="rId158"/>
                </p:custDataLst>
              </p:nvPr>
            </p:nvCxnSpPr>
            <p:spPr bwMode="auto">
              <a:xfrm flipH="1">
                <a:off x="5272" y="8576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42" name="直接连接符 141"/>
              <p:cNvCxnSpPr/>
              <p:nvPr>
                <p:custDataLst>
                  <p:tags r:id="rId159"/>
                </p:custDataLst>
              </p:nvPr>
            </p:nvCxnSpPr>
            <p:spPr bwMode="auto">
              <a:xfrm flipV="1">
                <a:off x="5952" y="8171"/>
                <a:ext cx="227" cy="11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3" name="Text Box 331"/>
              <p:cNvSpPr txBox="1">
                <a:spLocks noChangeArrowheads="1"/>
              </p:cNvSpPr>
              <p:nvPr>
                <p:custDataLst>
                  <p:tags r:id="rId160"/>
                </p:custDataLst>
              </p:nvPr>
            </p:nvSpPr>
            <p:spPr bwMode="auto">
              <a:xfrm>
                <a:off x="5839" y="7944"/>
                <a:ext cx="340" cy="2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 smtClean="0">
                    <a:latin typeface="+mn-ea"/>
                    <a:ea typeface="+mn-ea"/>
                  </a:rPr>
                  <a:t>9b</a:t>
                </a:r>
                <a:endParaRPr lang="en-US" altLang="zh-CN" sz="1200" b="1" u="none" dirty="0" smtClean="0">
                  <a:latin typeface="+mn-ea"/>
                  <a:ea typeface="+mn-ea"/>
                </a:endParaRPr>
              </a:p>
            </p:txBody>
          </p:sp>
          <p:cxnSp>
            <p:nvCxnSpPr>
              <p:cNvPr id="144" name="直接连接符 143"/>
              <p:cNvCxnSpPr/>
              <p:nvPr>
                <p:custDataLst>
                  <p:tags r:id="rId161"/>
                </p:custDataLst>
              </p:nvPr>
            </p:nvCxnSpPr>
            <p:spPr bwMode="auto">
              <a:xfrm flipH="1">
                <a:off x="1757" y="7555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45" name="直接连接符 144"/>
              <p:cNvCxnSpPr/>
              <p:nvPr>
                <p:custDataLst>
                  <p:tags r:id="rId162"/>
                </p:custDataLst>
              </p:nvPr>
            </p:nvCxnSpPr>
            <p:spPr bwMode="auto">
              <a:xfrm flipH="1">
                <a:off x="4478" y="7555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46" name="直接连接符 145"/>
              <p:cNvCxnSpPr/>
              <p:nvPr>
                <p:custDataLst>
                  <p:tags r:id="rId163"/>
                </p:custDataLst>
              </p:nvPr>
            </p:nvCxnSpPr>
            <p:spPr bwMode="auto">
              <a:xfrm>
                <a:off x="1757" y="7555"/>
                <a:ext cx="4422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7" name="Text Box 305"/>
              <p:cNvSpPr txBox="1">
                <a:spLocks noChangeArrowheads="1"/>
              </p:cNvSpPr>
              <p:nvPr>
                <p:custDataLst>
                  <p:tags r:id="rId164"/>
                </p:custDataLst>
              </p:nvPr>
            </p:nvSpPr>
            <p:spPr bwMode="auto">
              <a:xfrm>
                <a:off x="3457" y="7782"/>
                <a:ext cx="340" cy="794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V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48" name="Text Box 307"/>
              <p:cNvSpPr txBox="1">
                <a:spLocks noChangeArrowheads="1"/>
              </p:cNvSpPr>
              <p:nvPr>
                <p:custDataLst>
                  <p:tags r:id="rId165"/>
                </p:custDataLst>
              </p:nvPr>
            </p:nvSpPr>
            <p:spPr bwMode="auto">
              <a:xfrm>
                <a:off x="4818" y="7782"/>
                <a:ext cx="907" cy="794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缓存块</a:t>
                </a:r>
                <a:endParaRPr lang="zh-CN" altLang="en-US" sz="14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49" name="Text Box 308"/>
              <p:cNvSpPr txBox="1">
                <a:spLocks noChangeArrowheads="1"/>
              </p:cNvSpPr>
              <p:nvPr>
                <p:custDataLst>
                  <p:tags r:id="rId166"/>
                </p:custDataLst>
              </p:nvPr>
            </p:nvSpPr>
            <p:spPr bwMode="auto">
              <a:xfrm>
                <a:off x="4138" y="7782"/>
                <a:ext cx="680" cy="79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标记</a:t>
                </a:r>
                <a:endParaRPr lang="zh-CN" altLang="en-US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50" name="Text Box 305"/>
              <p:cNvSpPr txBox="1">
                <a:spLocks noChangeArrowheads="1"/>
              </p:cNvSpPr>
              <p:nvPr>
                <p:custDataLst>
                  <p:tags r:id="rId167"/>
                </p:custDataLst>
              </p:nvPr>
            </p:nvSpPr>
            <p:spPr bwMode="auto">
              <a:xfrm>
                <a:off x="3798" y="7782"/>
                <a:ext cx="340" cy="794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D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51" name="Line 317"/>
              <p:cNvSpPr>
                <a:spLocks noChangeShapeType="1"/>
              </p:cNvSpPr>
              <p:nvPr>
                <p:custDataLst>
                  <p:tags r:id="rId168"/>
                </p:custDataLst>
              </p:nvPr>
            </p:nvSpPr>
            <p:spPr bwMode="auto">
              <a:xfrm flipV="1">
                <a:off x="3457" y="8134"/>
                <a:ext cx="2268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2" name="Text Box 170"/>
              <p:cNvSpPr txBox="1">
                <a:spLocks noChangeArrowheads="1"/>
              </p:cNvSpPr>
              <p:nvPr>
                <p:custDataLst>
                  <p:tags r:id="rId169"/>
                </p:custDataLst>
              </p:nvPr>
            </p:nvSpPr>
            <p:spPr bwMode="auto">
              <a:xfrm>
                <a:off x="3458" y="8183"/>
                <a:ext cx="2155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1b </a:t>
                </a:r>
                <a:r>
                  <a:rPr lang="en-US" altLang="zh-CN" sz="1200" b="1" u="none" dirty="0" err="1" smtClean="0">
                    <a:latin typeface="宋体" panose="02010600030101010101" pitchFamily="2" charset="-122"/>
                  </a:rPr>
                  <a:t>1b</a:t>
                </a: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        64B</a:t>
                </a:r>
                <a:endParaRPr lang="zh-CN" altLang="en-US" sz="12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53" name="Text Box 170"/>
              <p:cNvSpPr txBox="1">
                <a:spLocks noChangeArrowheads="1"/>
              </p:cNvSpPr>
              <p:nvPr>
                <p:custDataLst>
                  <p:tags r:id="rId170"/>
                </p:custDataLst>
              </p:nvPr>
            </p:nvSpPr>
            <p:spPr bwMode="auto">
              <a:xfrm>
                <a:off x="4191" y="8187"/>
                <a:ext cx="56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p>
                <a:pPr algn="ctr">
                  <a:lnSpc>
                    <a:spcPct val="90000"/>
                  </a:lnSpc>
                </a:pPr>
                <a:r>
                  <a:rPr lang="en-US" altLang="zh-CN" sz="1200" b="1" u="none" dirty="0" smtClean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3</a:t>
                </a:r>
                <a:r>
                  <a:rPr lang="en-US" altLang="zh-CN" sz="1200" b="1" u="none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7</a:t>
                </a:r>
                <a:r>
                  <a:rPr lang="en-US" altLang="zh-CN" sz="1200" b="1" u="none" dirty="0" smtClean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b</a:t>
                </a:r>
                <a:endParaRPr lang="zh-CN" altLang="en-US" sz="12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54" name="Text Box 195"/>
              <p:cNvSpPr txBox="1">
                <a:spLocks noChangeArrowheads="1"/>
              </p:cNvSpPr>
              <p:nvPr>
                <p:custDataLst>
                  <p:tags r:id="rId171"/>
                </p:custDataLst>
              </p:nvPr>
            </p:nvSpPr>
            <p:spPr bwMode="auto">
              <a:xfrm>
                <a:off x="3448" y="8688"/>
                <a:ext cx="1928" cy="22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80000"/>
                  </a:lnSpc>
                </a:pPr>
                <a:r>
                  <a:rPr lang="zh-CN" altLang="en-US" sz="1200" b="1" u="none" dirty="0" smtClean="0">
                    <a:latin typeface="宋体" panose="02010600030101010101" pitchFamily="2" charset="-122"/>
                  </a:rPr>
                  <a:t>与</a:t>
                </a: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L3$</a:t>
                </a:r>
                <a:r>
                  <a:rPr lang="zh-CN" altLang="en-US" sz="1200" b="1" u="none" dirty="0" smtClean="0">
                    <a:latin typeface="宋体" panose="02010600030101010101" pitchFamily="2" charset="-122"/>
                  </a:rPr>
                  <a:t>层间管理</a:t>
                </a:r>
                <a:endParaRPr lang="zh-CN" altLang="en-US" sz="1200" b="1" u="none" dirty="0" smtClean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55" name="直接箭头连接符 44"/>
              <p:cNvCxnSpPr/>
              <p:nvPr>
                <p:custDataLst>
                  <p:tags r:id="rId172"/>
                </p:custDataLst>
              </p:nvPr>
            </p:nvCxnSpPr>
            <p:spPr bwMode="auto">
              <a:xfrm flipH="1">
                <a:off x="4353" y="9019"/>
                <a:ext cx="1814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56" name="直接箭头连接符 44"/>
              <p:cNvCxnSpPr/>
              <p:nvPr>
                <p:custDataLst>
                  <p:tags r:id="rId173"/>
                </p:custDataLst>
              </p:nvPr>
            </p:nvCxnSpPr>
            <p:spPr bwMode="auto">
              <a:xfrm flipH="1">
                <a:off x="4366" y="8906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57" name="直接箭头连接符 156"/>
              <p:cNvCxnSpPr/>
              <p:nvPr>
                <p:custDataLst>
                  <p:tags r:id="rId174"/>
                </p:custDataLst>
              </p:nvPr>
            </p:nvCxnSpPr>
            <p:spPr bwMode="auto">
              <a:xfrm>
                <a:off x="958" y="8796"/>
                <a:ext cx="907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</p:grpSp>
        <p:grpSp>
          <p:nvGrpSpPr>
            <p:cNvPr id="158" name="组合 157"/>
            <p:cNvGrpSpPr/>
            <p:nvPr/>
          </p:nvGrpSpPr>
          <p:grpSpPr>
            <a:xfrm>
              <a:off x="7543" y="7442"/>
              <a:ext cx="5670" cy="1588"/>
              <a:chOff x="7882" y="7555"/>
              <a:chExt cx="5670" cy="1588"/>
            </a:xfrm>
          </p:grpSpPr>
          <p:cxnSp>
            <p:nvCxnSpPr>
              <p:cNvPr id="159" name="直接箭头连接符 44"/>
              <p:cNvCxnSpPr/>
              <p:nvPr>
                <p:custDataLst>
                  <p:tags r:id="rId175"/>
                </p:custDataLst>
              </p:nvPr>
            </p:nvCxnSpPr>
            <p:spPr bwMode="auto">
              <a:xfrm flipH="1">
                <a:off x="8221" y="9143"/>
                <a:ext cx="3855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60" name="直接箭头连接符 44"/>
              <p:cNvCxnSpPr/>
              <p:nvPr>
                <p:custDataLst>
                  <p:tags r:id="rId176"/>
                </p:custDataLst>
              </p:nvPr>
            </p:nvCxnSpPr>
            <p:spPr bwMode="auto">
              <a:xfrm flipH="1">
                <a:off x="10368" y="8689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61" name="直接箭头连接符 44"/>
              <p:cNvCxnSpPr/>
              <p:nvPr>
                <p:custDataLst>
                  <p:tags r:id="rId177"/>
                </p:custDataLst>
              </p:nvPr>
            </p:nvCxnSpPr>
            <p:spPr bwMode="auto">
              <a:xfrm>
                <a:off x="7882" y="8349"/>
                <a:ext cx="68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sp>
            <p:nvSpPr>
              <p:cNvPr id="162" name="Text Box 305"/>
              <p:cNvSpPr txBox="1">
                <a:spLocks noChangeArrowheads="1"/>
              </p:cNvSpPr>
              <p:nvPr>
                <p:custDataLst>
                  <p:tags r:id="rId178"/>
                </p:custDataLst>
              </p:nvPr>
            </p:nvSpPr>
            <p:spPr bwMode="auto">
              <a:xfrm>
                <a:off x="8562" y="7895"/>
                <a:ext cx="340" cy="794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V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63" name="Text Box 307"/>
              <p:cNvSpPr txBox="1">
                <a:spLocks noChangeArrowheads="1"/>
              </p:cNvSpPr>
              <p:nvPr>
                <p:custDataLst>
                  <p:tags r:id="rId179"/>
                </p:custDataLst>
              </p:nvPr>
            </p:nvSpPr>
            <p:spPr bwMode="auto">
              <a:xfrm>
                <a:off x="9923" y="7895"/>
                <a:ext cx="907" cy="794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缓存块</a:t>
                </a:r>
                <a:endParaRPr lang="zh-CN" altLang="en-US" sz="14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64" name="Text Box 308"/>
              <p:cNvSpPr txBox="1">
                <a:spLocks noChangeArrowheads="1"/>
              </p:cNvSpPr>
              <p:nvPr>
                <p:custDataLst>
                  <p:tags r:id="rId180"/>
                </p:custDataLst>
              </p:nvPr>
            </p:nvSpPr>
            <p:spPr bwMode="auto">
              <a:xfrm>
                <a:off x="9243" y="7895"/>
                <a:ext cx="680" cy="79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标记</a:t>
                </a:r>
                <a:endParaRPr lang="zh-CN" altLang="en-US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65" name="Text Box 331"/>
              <p:cNvSpPr txBox="1">
                <a:spLocks noChangeArrowheads="1"/>
              </p:cNvSpPr>
              <p:nvPr>
                <p:custDataLst>
                  <p:tags r:id="rId181"/>
                </p:custDataLst>
              </p:nvPr>
            </p:nvSpPr>
            <p:spPr bwMode="auto">
              <a:xfrm>
                <a:off x="10830" y="8062"/>
                <a:ext cx="454" cy="4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p>
                <a:pPr>
                  <a:lnSpc>
                    <a:spcPct val="90000"/>
                  </a:lnSpc>
                </a:pPr>
                <a:r>
                  <a:rPr lang="en-US" altLang="zh-CN" sz="1800" b="1" u="none" dirty="0"/>
                  <a:t>…</a:t>
                </a:r>
                <a:endParaRPr lang="en-US" altLang="zh-CN" sz="1800" b="1" u="none" dirty="0"/>
              </a:p>
            </p:txBody>
          </p:sp>
          <p:sp>
            <p:nvSpPr>
              <p:cNvPr id="166" name="Text Box 305"/>
              <p:cNvSpPr txBox="1">
                <a:spLocks noChangeArrowheads="1"/>
              </p:cNvSpPr>
              <p:nvPr>
                <p:custDataLst>
                  <p:tags r:id="rId182"/>
                </p:custDataLst>
              </p:nvPr>
            </p:nvSpPr>
            <p:spPr bwMode="auto">
              <a:xfrm>
                <a:off x="8903" y="7895"/>
                <a:ext cx="340" cy="794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D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67" name="Line 317"/>
              <p:cNvSpPr>
                <a:spLocks noChangeShapeType="1"/>
              </p:cNvSpPr>
              <p:nvPr>
                <p:custDataLst>
                  <p:tags r:id="rId183"/>
                </p:custDataLst>
              </p:nvPr>
            </p:nvSpPr>
            <p:spPr bwMode="auto">
              <a:xfrm flipV="1">
                <a:off x="8562" y="8247"/>
                <a:ext cx="2268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68" name="Text Box 309"/>
              <p:cNvSpPr txBox="1">
                <a:spLocks noChangeArrowheads="1"/>
              </p:cNvSpPr>
              <p:nvPr>
                <p:custDataLst>
                  <p:tags r:id="rId184"/>
                </p:custDataLst>
              </p:nvPr>
            </p:nvSpPr>
            <p:spPr bwMode="auto">
              <a:xfrm>
                <a:off x="9358" y="8240"/>
                <a:ext cx="339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p>
                <a:pPr>
                  <a:lnSpc>
                    <a:spcPct val="85000"/>
                  </a:lnSpc>
                </a:pPr>
                <a:r>
                  <a:rPr lang="en-US" altLang="zh-CN" sz="1800" b="1" u="none" dirty="0"/>
                  <a:t>…</a:t>
                </a:r>
                <a:endParaRPr lang="en-US" altLang="zh-CN" sz="1800" b="1" u="none" dirty="0"/>
              </a:p>
            </p:txBody>
          </p:sp>
          <p:sp>
            <p:nvSpPr>
              <p:cNvPr id="169" name="Text Box 195"/>
              <p:cNvSpPr txBox="1">
                <a:spLocks noChangeArrowheads="1"/>
              </p:cNvSpPr>
              <p:nvPr>
                <p:custDataLst>
                  <p:tags r:id="rId185"/>
                </p:custDataLst>
              </p:nvPr>
            </p:nvSpPr>
            <p:spPr bwMode="auto">
              <a:xfrm>
                <a:off x="9586" y="8803"/>
                <a:ext cx="1701" cy="22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80000"/>
                  </a:lnSpc>
                </a:pP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16:1 MUX/DEC</a:t>
                </a:r>
                <a:endParaRPr lang="zh-CN" altLang="zh-CN" sz="1200" b="1" u="none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70" name="直接箭头连接符 44"/>
              <p:cNvCxnSpPr/>
              <p:nvPr>
                <p:custDataLst>
                  <p:tags r:id="rId186"/>
                </p:custDataLst>
              </p:nvPr>
            </p:nvCxnSpPr>
            <p:spPr bwMode="auto">
              <a:xfrm flipH="1">
                <a:off x="13098" y="8689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cxnSp>
            <p:nvCxnSpPr>
              <p:cNvPr id="171" name="直接连接符 170"/>
              <p:cNvCxnSpPr/>
              <p:nvPr>
                <p:custDataLst>
                  <p:tags r:id="rId187"/>
                </p:custDataLst>
              </p:nvPr>
            </p:nvCxnSpPr>
            <p:spPr bwMode="auto">
              <a:xfrm flipV="1">
                <a:off x="8122" y="8298"/>
                <a:ext cx="227" cy="11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2" name="Text Box 331"/>
              <p:cNvSpPr txBox="1">
                <a:spLocks noChangeArrowheads="1"/>
              </p:cNvSpPr>
              <p:nvPr>
                <p:custDataLst>
                  <p:tags r:id="rId188"/>
                </p:custDataLst>
              </p:nvPr>
            </p:nvSpPr>
            <p:spPr bwMode="auto">
              <a:xfrm>
                <a:off x="7995" y="8071"/>
                <a:ext cx="454" cy="2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 smtClean="0">
                    <a:latin typeface="+mn-ea"/>
                    <a:ea typeface="+mn-ea"/>
                  </a:rPr>
                  <a:t>13b</a:t>
                </a:r>
                <a:endParaRPr lang="en-US" altLang="zh-CN" sz="1200" b="1" u="none" dirty="0" smtClean="0">
                  <a:latin typeface="+mn-ea"/>
                  <a:ea typeface="+mn-ea"/>
                </a:endParaRPr>
              </a:p>
            </p:txBody>
          </p:sp>
          <p:cxnSp>
            <p:nvCxnSpPr>
              <p:cNvPr id="173" name="直接连接符 172"/>
              <p:cNvCxnSpPr/>
              <p:nvPr>
                <p:custDataLst>
                  <p:tags r:id="rId189"/>
                </p:custDataLst>
              </p:nvPr>
            </p:nvCxnSpPr>
            <p:spPr bwMode="auto">
              <a:xfrm flipH="1">
                <a:off x="9583" y="7668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74" name="直接连接符 173"/>
              <p:cNvCxnSpPr/>
              <p:nvPr>
                <p:custDataLst>
                  <p:tags r:id="rId190"/>
                </p:custDataLst>
              </p:nvPr>
            </p:nvCxnSpPr>
            <p:spPr bwMode="auto">
              <a:xfrm flipH="1">
                <a:off x="12305" y="7668"/>
                <a:ext cx="0" cy="227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75" name="直接连接符 174"/>
              <p:cNvCxnSpPr/>
              <p:nvPr>
                <p:custDataLst>
                  <p:tags r:id="rId191"/>
                </p:custDataLst>
              </p:nvPr>
            </p:nvCxnSpPr>
            <p:spPr bwMode="auto">
              <a:xfrm>
                <a:off x="7882" y="7668"/>
                <a:ext cx="4422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6" name="直接箭头连接符 44"/>
              <p:cNvCxnSpPr/>
              <p:nvPr>
                <p:custDataLst>
                  <p:tags r:id="rId192"/>
                </p:custDataLst>
              </p:nvPr>
            </p:nvCxnSpPr>
            <p:spPr bwMode="auto">
              <a:xfrm flipH="1">
                <a:off x="12076" y="9030"/>
                <a:ext cx="0" cy="113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177" name="Text Box 305"/>
              <p:cNvSpPr txBox="1">
                <a:spLocks noChangeArrowheads="1"/>
              </p:cNvSpPr>
              <p:nvPr>
                <p:custDataLst>
                  <p:tags r:id="rId193"/>
                </p:custDataLst>
              </p:nvPr>
            </p:nvSpPr>
            <p:spPr bwMode="auto">
              <a:xfrm>
                <a:off x="11284" y="7895"/>
                <a:ext cx="340" cy="794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V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78" name="Text Box 307"/>
              <p:cNvSpPr txBox="1">
                <a:spLocks noChangeArrowheads="1"/>
              </p:cNvSpPr>
              <p:nvPr>
                <p:custDataLst>
                  <p:tags r:id="rId194"/>
                </p:custDataLst>
              </p:nvPr>
            </p:nvSpPr>
            <p:spPr bwMode="auto">
              <a:xfrm>
                <a:off x="12644" y="7895"/>
                <a:ext cx="907" cy="794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缓存块</a:t>
                </a:r>
                <a:endParaRPr lang="zh-CN" altLang="en-US" sz="14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79" name="Text Box 308"/>
              <p:cNvSpPr txBox="1">
                <a:spLocks noChangeArrowheads="1"/>
              </p:cNvSpPr>
              <p:nvPr>
                <p:custDataLst>
                  <p:tags r:id="rId195"/>
                </p:custDataLst>
              </p:nvPr>
            </p:nvSpPr>
            <p:spPr bwMode="auto">
              <a:xfrm>
                <a:off x="11965" y="7895"/>
                <a:ext cx="680" cy="794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 smtClean="0">
                    <a:latin typeface="宋体" panose="02010600030101010101" pitchFamily="2" charset="-122"/>
                  </a:rPr>
                  <a:t>标记</a:t>
                </a:r>
                <a:endParaRPr lang="zh-CN" altLang="en-US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80" name="Text Box 305"/>
              <p:cNvSpPr txBox="1">
                <a:spLocks noChangeArrowheads="1"/>
              </p:cNvSpPr>
              <p:nvPr>
                <p:custDataLst>
                  <p:tags r:id="rId196"/>
                </p:custDataLst>
              </p:nvPr>
            </p:nvSpPr>
            <p:spPr bwMode="auto">
              <a:xfrm>
                <a:off x="11624" y="7895"/>
                <a:ext cx="340" cy="794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90000"/>
                  </a:lnSpc>
                </a:pPr>
                <a:r>
                  <a:rPr lang="en-US" altLang="zh-CN" sz="1400" b="1" u="none" dirty="0" smtClean="0">
                    <a:latin typeface="宋体" panose="02010600030101010101" pitchFamily="2" charset="-122"/>
                  </a:rPr>
                  <a:t>D</a:t>
                </a:r>
                <a:endParaRPr lang="en-US" altLang="zh-CN" sz="14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81" name="Line 317"/>
              <p:cNvSpPr>
                <a:spLocks noChangeShapeType="1"/>
              </p:cNvSpPr>
              <p:nvPr>
                <p:custDataLst>
                  <p:tags r:id="rId197"/>
                </p:custDataLst>
              </p:nvPr>
            </p:nvSpPr>
            <p:spPr bwMode="auto">
              <a:xfrm flipV="1">
                <a:off x="11284" y="8247"/>
                <a:ext cx="2268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2" name="Text Box 170"/>
              <p:cNvSpPr txBox="1">
                <a:spLocks noChangeArrowheads="1"/>
              </p:cNvSpPr>
              <p:nvPr>
                <p:custDataLst>
                  <p:tags r:id="rId198"/>
                </p:custDataLst>
              </p:nvPr>
            </p:nvSpPr>
            <p:spPr bwMode="auto">
              <a:xfrm>
                <a:off x="11284" y="8296"/>
                <a:ext cx="2154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p>
                <a:pPr>
                  <a:lnSpc>
                    <a:spcPct val="90000"/>
                  </a:lnSpc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1b </a:t>
                </a:r>
                <a:r>
                  <a:rPr lang="en-US" altLang="zh-CN" sz="1200" b="1" u="none" dirty="0" err="1" smtClean="0">
                    <a:latin typeface="宋体" panose="02010600030101010101" pitchFamily="2" charset="-122"/>
                  </a:rPr>
                  <a:t>1b</a:t>
                </a:r>
                <a:r>
                  <a:rPr lang="en-US" altLang="zh-CN" sz="1200" b="1" u="none" dirty="0" smtClean="0">
                    <a:latin typeface="宋体" panose="02010600030101010101" pitchFamily="2" charset="-122"/>
                  </a:rPr>
                  <a:t>        64B</a:t>
                </a:r>
                <a:endParaRPr lang="zh-CN" altLang="en-US" sz="12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83" name="Text Box 170"/>
              <p:cNvSpPr txBox="1">
                <a:spLocks noChangeArrowheads="1"/>
              </p:cNvSpPr>
              <p:nvPr>
                <p:custDataLst>
                  <p:tags r:id="rId199"/>
                </p:custDataLst>
              </p:nvPr>
            </p:nvSpPr>
            <p:spPr bwMode="auto">
              <a:xfrm>
                <a:off x="12018" y="8300"/>
                <a:ext cx="567" cy="3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p>
                <a:pPr algn="ctr">
                  <a:lnSpc>
                    <a:spcPct val="90000"/>
                  </a:lnSpc>
                </a:pPr>
                <a:r>
                  <a:rPr lang="en-US" altLang="zh-CN" sz="1200" b="1" u="none" dirty="0" smtClean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33b</a:t>
                </a:r>
                <a:endParaRPr lang="en-US" altLang="zh-CN" sz="1200" b="1" u="none" dirty="0" smtClean="0">
                  <a:solidFill>
                    <a:srgbClr val="990099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184" name="Text Box 170"/>
              <p:cNvSpPr txBox="1">
                <a:spLocks noChangeArrowheads="1"/>
              </p:cNvSpPr>
              <p:nvPr>
                <p:custDataLst>
                  <p:tags r:id="rId200"/>
                </p:custDataLst>
              </p:nvPr>
            </p:nvSpPr>
            <p:spPr bwMode="auto">
              <a:xfrm>
                <a:off x="12871" y="7555"/>
                <a:ext cx="681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54000" bIns="10800" anchor="ctr"/>
              <a:p>
                <a:pPr algn="ctr">
                  <a:lnSpc>
                    <a:spcPct val="90000"/>
                  </a:lnSpc>
                </a:pPr>
                <a:r>
                  <a:rPr lang="en-US" altLang="zh-CN" sz="1600" b="1" u="none" dirty="0" smtClean="0">
                    <a:latin typeface="宋体" panose="02010600030101010101" pitchFamily="2" charset="-122"/>
                  </a:rPr>
                  <a:t>L3$</a:t>
                </a:r>
                <a:endParaRPr lang="en-US" altLang="zh-CN" sz="1600" b="1" u="none" dirty="0" smtClean="0">
                  <a:latin typeface="宋体" panose="02010600030101010101" pitchFamily="2" charset="-122"/>
                </a:endParaRPr>
              </a:p>
            </p:txBody>
          </p:sp>
          <p:sp>
            <p:nvSpPr>
              <p:cNvPr id="185" name="Text Box 195"/>
              <p:cNvSpPr txBox="1">
                <a:spLocks noChangeArrowheads="1"/>
              </p:cNvSpPr>
              <p:nvPr>
                <p:custDataLst>
                  <p:tags r:id="rId201"/>
                </p:custDataLst>
              </p:nvPr>
            </p:nvSpPr>
            <p:spPr bwMode="auto">
              <a:xfrm>
                <a:off x="11282" y="8805"/>
                <a:ext cx="1928" cy="22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/>
              <a:p>
                <a:pPr algn="ctr">
                  <a:lnSpc>
                    <a:spcPct val="80000"/>
                  </a:lnSpc>
                </a:pPr>
                <a:r>
                  <a:rPr lang="zh-CN" altLang="en-US" sz="1200" b="1" u="none" dirty="0" smtClean="0">
                    <a:latin typeface="宋体" panose="02010600030101010101" pitchFamily="2" charset="-122"/>
                  </a:rPr>
                  <a:t>与主存层间管理</a:t>
                </a:r>
                <a:endParaRPr lang="zh-CN" altLang="en-US" sz="1200" b="1" u="none" dirty="0" smtClean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86" name="直接箭头连接符 44"/>
              <p:cNvCxnSpPr/>
              <p:nvPr>
                <p:custDataLst>
                  <p:tags r:id="rId202"/>
                </p:custDataLst>
              </p:nvPr>
            </p:nvCxnSpPr>
            <p:spPr bwMode="auto">
              <a:xfrm flipV="1">
                <a:off x="8292" y="8889"/>
                <a:ext cx="1304" cy="1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</p:grpSp>
      </p:grpSp>
      <p:grpSp>
        <p:nvGrpSpPr>
          <p:cNvPr id="597" name="组合 596"/>
          <p:cNvGrpSpPr/>
          <p:nvPr/>
        </p:nvGrpSpPr>
        <p:grpSpPr>
          <a:xfrm>
            <a:off x="461645" y="908685"/>
            <a:ext cx="7639050" cy="3384550"/>
            <a:chOff x="727" y="1431"/>
            <a:chExt cx="12030" cy="5330"/>
          </a:xfrm>
        </p:grpSpPr>
        <p:sp>
          <p:nvSpPr>
            <p:cNvPr id="15" name="Text Box 170"/>
            <p:cNvSpPr txBox="1">
              <a:spLocks noChangeArrowheads="1"/>
            </p:cNvSpPr>
            <p:nvPr>
              <p:custDataLst>
                <p:tags r:id="rId203"/>
              </p:custDataLst>
            </p:nvPr>
          </p:nvSpPr>
          <p:spPr bwMode="auto">
            <a:xfrm>
              <a:off x="727" y="1431"/>
              <a:ext cx="21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数据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VA: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" name="Text Box 195"/>
            <p:cNvSpPr txBox="1">
              <a:spLocks noChangeArrowheads="1"/>
            </p:cNvSpPr>
            <p:nvPr>
              <p:custDataLst>
                <p:tags r:id="rId204"/>
              </p:custDataLst>
            </p:nvPr>
          </p:nvSpPr>
          <p:spPr bwMode="auto">
            <a:xfrm>
              <a:off x="2887" y="1431"/>
              <a:ext cx="2268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VPN&lt;36&gt;</a:t>
              </a:r>
              <a:endParaRPr lang="en-US" altLang="zh-CN" sz="14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7" name="Text Box 195"/>
            <p:cNvSpPr txBox="1">
              <a:spLocks noChangeArrowheads="1"/>
            </p:cNvSpPr>
            <p:nvPr>
              <p:custDataLst>
                <p:tags r:id="rId205"/>
              </p:custDataLst>
            </p:nvPr>
          </p:nvSpPr>
          <p:spPr bwMode="auto">
            <a:xfrm>
              <a:off x="5155" y="1431"/>
              <a:ext cx="1474" cy="34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VPO&lt;12&gt;</a:t>
              </a:r>
              <a:endParaRPr lang="en-US" altLang="zh-CN" sz="14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8" name="直接连接符 17"/>
            <p:cNvCxnSpPr/>
            <p:nvPr>
              <p:custDataLst>
                <p:tags r:id="rId206"/>
              </p:custDataLst>
            </p:nvPr>
          </p:nvCxnSpPr>
          <p:spPr bwMode="auto">
            <a:xfrm flipH="1">
              <a:off x="3796" y="1771"/>
              <a:ext cx="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直接连接符 18"/>
            <p:cNvCxnSpPr/>
            <p:nvPr>
              <p:custDataLst>
                <p:tags r:id="rId207"/>
              </p:custDataLst>
            </p:nvPr>
          </p:nvCxnSpPr>
          <p:spPr bwMode="auto">
            <a:xfrm>
              <a:off x="7198" y="1998"/>
              <a:ext cx="0" cy="272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0" name="Text Box 170"/>
            <p:cNvSpPr txBox="1">
              <a:spLocks noChangeArrowheads="1"/>
            </p:cNvSpPr>
            <p:nvPr>
              <p:custDataLst>
                <p:tags r:id="rId208"/>
              </p:custDataLst>
            </p:nvPr>
          </p:nvSpPr>
          <p:spPr bwMode="auto">
            <a:xfrm>
              <a:off x="8335" y="4154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P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A: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1" name="Text Box 195"/>
            <p:cNvSpPr txBox="1">
              <a:spLocks noChangeArrowheads="1"/>
            </p:cNvSpPr>
            <p:nvPr>
              <p:custDataLst>
                <p:tags r:id="rId209"/>
              </p:custDataLst>
            </p:nvPr>
          </p:nvSpPr>
          <p:spPr bwMode="auto">
            <a:xfrm>
              <a:off x="9015" y="4154"/>
              <a:ext cx="2268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PPN&lt;40&gt;</a:t>
              </a:r>
              <a:endParaRPr lang="en-US" altLang="zh-CN" sz="14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2" name="Text Box 195"/>
            <p:cNvSpPr txBox="1">
              <a:spLocks noChangeArrowheads="1"/>
            </p:cNvSpPr>
            <p:nvPr>
              <p:custDataLst>
                <p:tags r:id="rId210"/>
              </p:custDataLst>
            </p:nvPr>
          </p:nvSpPr>
          <p:spPr bwMode="auto">
            <a:xfrm>
              <a:off x="11283" y="4154"/>
              <a:ext cx="1474" cy="34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VPO&lt;12&gt;</a:t>
              </a:r>
              <a:endParaRPr lang="en-US" altLang="zh-CN" sz="14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3" name="直接箭头连接符 44"/>
            <p:cNvCxnSpPr/>
            <p:nvPr>
              <p:custDataLst>
                <p:tags r:id="rId211"/>
              </p:custDataLst>
            </p:nvPr>
          </p:nvCxnSpPr>
          <p:spPr bwMode="auto">
            <a:xfrm flipH="1" flipV="1">
              <a:off x="3796" y="1998"/>
              <a:ext cx="3402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" name="直接箭头连接符 44"/>
            <p:cNvCxnSpPr/>
            <p:nvPr>
              <p:custDataLst>
                <p:tags r:id="rId212"/>
              </p:custDataLst>
            </p:nvPr>
          </p:nvCxnSpPr>
          <p:spPr bwMode="auto">
            <a:xfrm>
              <a:off x="7526" y="1885"/>
              <a:ext cx="0" cy="487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32" name="直接箭头连接符 44"/>
            <p:cNvCxnSpPr/>
            <p:nvPr>
              <p:custDataLst>
                <p:tags r:id="rId213"/>
              </p:custDataLst>
            </p:nvPr>
          </p:nvCxnSpPr>
          <p:spPr bwMode="auto">
            <a:xfrm>
              <a:off x="5041" y="1885"/>
              <a:ext cx="249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3" name="直接连接符 32"/>
            <p:cNvCxnSpPr/>
            <p:nvPr>
              <p:custDataLst>
                <p:tags r:id="rId214"/>
              </p:custDataLst>
            </p:nvPr>
          </p:nvCxnSpPr>
          <p:spPr bwMode="auto">
            <a:xfrm flipH="1">
              <a:off x="5723" y="1771"/>
              <a:ext cx="0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直接连接符 33"/>
            <p:cNvCxnSpPr/>
            <p:nvPr>
              <p:custDataLst>
                <p:tags r:id="rId215"/>
              </p:custDataLst>
            </p:nvPr>
          </p:nvCxnSpPr>
          <p:spPr bwMode="auto">
            <a:xfrm flipH="1">
              <a:off x="5041" y="1771"/>
              <a:ext cx="0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5" name="Text Box 170"/>
            <p:cNvSpPr txBox="1">
              <a:spLocks noChangeArrowheads="1"/>
            </p:cNvSpPr>
            <p:nvPr>
              <p:custDataLst>
                <p:tags r:id="rId216"/>
              </p:custDataLst>
            </p:nvPr>
          </p:nvSpPr>
          <p:spPr bwMode="auto">
            <a:xfrm>
              <a:off x="7085" y="1431"/>
              <a:ext cx="1658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 smtClean="0">
                  <a:latin typeface="宋体" panose="02010600030101010101" pitchFamily="2" charset="-122"/>
                </a:rPr>
                <a:t>数据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96" name="Text Box 331"/>
            <p:cNvSpPr txBox="1">
              <a:spLocks noChangeArrowheads="1"/>
            </p:cNvSpPr>
            <p:nvPr>
              <p:custDataLst>
                <p:tags r:id="rId217"/>
              </p:custDataLst>
            </p:nvPr>
          </p:nvSpPr>
          <p:spPr bwMode="auto">
            <a:xfrm>
              <a:off x="4623" y="1786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①</a:t>
              </a:r>
              <a:endParaRPr lang="en-US" altLang="zh-CN" sz="12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599" name="组合 598"/>
          <p:cNvGrpSpPr/>
          <p:nvPr/>
        </p:nvGrpSpPr>
        <p:grpSpPr>
          <a:xfrm>
            <a:off x="2218055" y="1412875"/>
            <a:ext cx="4156075" cy="1224280"/>
            <a:chOff x="3493" y="2225"/>
            <a:chExt cx="6545" cy="1928"/>
          </a:xfrm>
        </p:grpSpPr>
        <p:cxnSp>
          <p:nvCxnSpPr>
            <p:cNvPr id="5" name="直接连接符 4"/>
            <p:cNvCxnSpPr/>
            <p:nvPr>
              <p:custDataLst>
                <p:tags r:id="rId218"/>
              </p:custDataLst>
            </p:nvPr>
          </p:nvCxnSpPr>
          <p:spPr bwMode="auto">
            <a:xfrm flipH="1">
              <a:off x="6859" y="2905"/>
              <a:ext cx="33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6" name="直接连接符 5"/>
            <p:cNvCxnSpPr/>
            <p:nvPr>
              <p:custDataLst>
                <p:tags r:id="rId219"/>
              </p:custDataLst>
            </p:nvPr>
          </p:nvCxnSpPr>
          <p:spPr bwMode="auto">
            <a:xfrm>
              <a:off x="6858" y="3473"/>
              <a:ext cx="2835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直接连接符 6"/>
            <p:cNvCxnSpPr/>
            <p:nvPr>
              <p:custDataLst>
                <p:tags r:id="rId220"/>
              </p:custDataLst>
            </p:nvPr>
          </p:nvCxnSpPr>
          <p:spPr bwMode="auto">
            <a:xfrm>
              <a:off x="7202" y="2225"/>
              <a:ext cx="85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8" name="直接连接符 7"/>
            <p:cNvCxnSpPr/>
            <p:nvPr>
              <p:custDataLst>
                <p:tags r:id="rId221"/>
              </p:custDataLst>
            </p:nvPr>
          </p:nvCxnSpPr>
          <p:spPr bwMode="auto">
            <a:xfrm>
              <a:off x="7202" y="2905"/>
              <a:ext cx="79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9" name="直接连接符 8"/>
            <p:cNvCxnSpPr/>
            <p:nvPr>
              <p:custDataLst>
                <p:tags r:id="rId222"/>
              </p:custDataLst>
            </p:nvPr>
          </p:nvCxnSpPr>
          <p:spPr bwMode="auto">
            <a:xfrm flipH="1">
              <a:off x="6858" y="2225"/>
              <a:ext cx="339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10" name="直接箭头连接符 44"/>
            <p:cNvCxnSpPr/>
            <p:nvPr>
              <p:custDataLst>
                <p:tags r:id="rId223"/>
              </p:custDataLst>
            </p:nvPr>
          </p:nvCxnSpPr>
          <p:spPr bwMode="auto">
            <a:xfrm>
              <a:off x="10038" y="3473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1" name="直接箭头连接符 44"/>
            <p:cNvCxnSpPr/>
            <p:nvPr>
              <p:custDataLst>
                <p:tags r:id="rId224"/>
              </p:custDataLst>
            </p:nvPr>
          </p:nvCxnSpPr>
          <p:spPr bwMode="auto">
            <a:xfrm>
              <a:off x="9699" y="3473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591" name="Text Box 331"/>
            <p:cNvSpPr txBox="1">
              <a:spLocks noChangeArrowheads="1"/>
            </p:cNvSpPr>
            <p:nvPr>
              <p:custDataLst>
                <p:tags r:id="rId225"/>
              </p:custDataLst>
            </p:nvPr>
          </p:nvSpPr>
          <p:spPr bwMode="auto">
            <a:xfrm>
              <a:off x="6909" y="2454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②</a:t>
              </a:r>
              <a:endParaRPr lang="en-US" altLang="zh-CN" sz="12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92" name="Text Box 331"/>
            <p:cNvSpPr txBox="1">
              <a:spLocks noChangeArrowheads="1"/>
            </p:cNvSpPr>
            <p:nvPr>
              <p:custDataLst>
                <p:tags r:id="rId226"/>
              </p:custDataLst>
            </p:nvPr>
          </p:nvSpPr>
          <p:spPr bwMode="auto">
            <a:xfrm>
              <a:off x="9744" y="3784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④</a:t>
              </a:r>
              <a:endParaRPr lang="en-US" altLang="zh-CN" sz="12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98" name="Text Box 331"/>
            <p:cNvSpPr txBox="1">
              <a:spLocks noChangeArrowheads="1"/>
            </p:cNvSpPr>
            <p:nvPr>
              <p:custDataLst>
                <p:tags r:id="rId227"/>
              </p:custDataLst>
            </p:nvPr>
          </p:nvSpPr>
          <p:spPr bwMode="auto">
            <a:xfrm>
              <a:off x="3493" y="2993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③</a:t>
              </a:r>
              <a:endParaRPr lang="en-US" altLang="zh-CN" sz="12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604" name="组合 603"/>
          <p:cNvGrpSpPr/>
          <p:nvPr/>
        </p:nvGrpSpPr>
        <p:grpSpPr>
          <a:xfrm>
            <a:off x="402590" y="2127885"/>
            <a:ext cx="5032375" cy="1377315"/>
            <a:chOff x="634" y="3351"/>
            <a:chExt cx="7925" cy="2169"/>
          </a:xfrm>
        </p:grpSpPr>
        <p:cxnSp>
          <p:nvCxnSpPr>
            <p:cNvPr id="584" name="直接连接符 583"/>
            <p:cNvCxnSpPr/>
            <p:nvPr>
              <p:custDataLst>
                <p:tags r:id="rId228"/>
              </p:custDataLst>
            </p:nvPr>
          </p:nvCxnSpPr>
          <p:spPr bwMode="auto">
            <a:xfrm flipH="1">
              <a:off x="6859" y="4493"/>
              <a:ext cx="339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585" name="直接连接符 584"/>
            <p:cNvCxnSpPr/>
            <p:nvPr>
              <p:custDataLst>
                <p:tags r:id="rId229"/>
              </p:custDataLst>
            </p:nvPr>
          </p:nvCxnSpPr>
          <p:spPr bwMode="auto">
            <a:xfrm flipH="1">
              <a:off x="6858" y="3812"/>
              <a:ext cx="339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586" name="直接箭头连接符 44"/>
            <p:cNvCxnSpPr/>
            <p:nvPr>
              <p:custDataLst>
                <p:tags r:id="rId230"/>
              </p:custDataLst>
            </p:nvPr>
          </p:nvCxnSpPr>
          <p:spPr bwMode="auto">
            <a:xfrm flipH="1">
              <a:off x="6858" y="3699"/>
              <a:ext cx="1701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587" name="直接连接符 586"/>
            <p:cNvCxnSpPr/>
            <p:nvPr>
              <p:custDataLst>
                <p:tags r:id="rId231"/>
              </p:custDataLst>
            </p:nvPr>
          </p:nvCxnSpPr>
          <p:spPr bwMode="auto">
            <a:xfrm>
              <a:off x="650" y="3699"/>
              <a:ext cx="0" cy="136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8" name="直接连接符 587"/>
            <p:cNvCxnSpPr/>
            <p:nvPr>
              <p:custDataLst>
                <p:tags r:id="rId232"/>
              </p:custDataLst>
            </p:nvPr>
          </p:nvCxnSpPr>
          <p:spPr bwMode="auto">
            <a:xfrm>
              <a:off x="643" y="3698"/>
              <a:ext cx="2948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89" name="Text Box 170"/>
            <p:cNvSpPr txBox="1">
              <a:spLocks noChangeArrowheads="1"/>
            </p:cNvSpPr>
            <p:nvPr>
              <p:custDataLst>
                <p:tags r:id="rId233"/>
              </p:custDataLst>
            </p:nvPr>
          </p:nvSpPr>
          <p:spPr bwMode="auto">
            <a:xfrm>
              <a:off x="634" y="5180"/>
              <a:ext cx="366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p>
              <a:pPr algn="l">
                <a:lnSpc>
                  <a:spcPct val="90000"/>
                </a:lnSpc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ITLB/DTLB</a:t>
              </a:r>
              <a:r>
                <a:rPr lang="zh-CN" altLang="en-US" sz="1400" b="1" u="none" dirty="0" smtClean="0">
                  <a:latin typeface="宋体" panose="02010600030101010101" pitchFamily="2" charset="-122"/>
                </a:rPr>
                <a:t>缺失</a:t>
              </a:r>
              <a:r>
                <a:rPr lang="en-US" altLang="zh-CN" sz="1400" b="1" u="none" dirty="0" smtClean="0">
                  <a:latin typeface="宋体" panose="02010600030101010101" pitchFamily="2" charset="-122"/>
                </a:rPr>
                <a:t>&amp;L2TLB</a:t>
              </a:r>
              <a:r>
                <a:rPr lang="zh-CN" altLang="en-US" sz="1400" b="1" u="none" dirty="0" smtClean="0">
                  <a:latin typeface="宋体" panose="02010600030101010101" pitchFamily="2" charset="-122"/>
                </a:rPr>
                <a:t>命中时</a:t>
              </a:r>
              <a:endParaRPr lang="zh-CN" altLang="en-US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90" name="Text Box 170"/>
            <p:cNvSpPr txBox="1">
              <a:spLocks noChangeArrowheads="1"/>
            </p:cNvSpPr>
            <p:nvPr>
              <p:custDataLst>
                <p:tags r:id="rId234"/>
              </p:custDataLst>
            </p:nvPr>
          </p:nvSpPr>
          <p:spPr bwMode="auto">
            <a:xfrm>
              <a:off x="1072" y="3351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p>
              <a:pPr algn="ctr">
                <a:lnSpc>
                  <a:spcPct val="90000"/>
                </a:lnSpc>
              </a:pPr>
              <a:r>
                <a:rPr lang="zh-CN" altLang="en-US" sz="1400" b="1" u="none" dirty="0" smtClean="0">
                  <a:latin typeface="宋体" panose="02010600030101010101" pitchFamily="2" charset="-122"/>
                </a:rPr>
                <a:t>行</a:t>
              </a:r>
              <a:r>
                <a:rPr lang="en-US" altLang="zh-CN" sz="1400" b="1" u="none" dirty="0" smtClean="0">
                  <a:latin typeface="宋体" panose="02010600030101010101" pitchFamily="2" charset="-122"/>
                </a:rPr>
                <a:t>/</a:t>
              </a:r>
              <a:endParaRPr lang="zh-CN" altLang="en-US" sz="14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93" name="Text Box 331"/>
            <p:cNvSpPr txBox="1">
              <a:spLocks noChangeArrowheads="1"/>
            </p:cNvSpPr>
            <p:nvPr>
              <p:custDataLst>
                <p:tags r:id="rId235"/>
              </p:custDataLst>
            </p:nvPr>
          </p:nvSpPr>
          <p:spPr bwMode="auto">
            <a:xfrm>
              <a:off x="2147" y="3419"/>
              <a:ext cx="56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③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-3</a:t>
              </a:r>
              <a:endParaRPr lang="en-US" altLang="zh-CN" sz="1200" b="1" u="none" spc="-100" dirty="0" smtClean="0">
                <a:solidFill>
                  <a:srgbClr val="FF3399"/>
                </a:solidFill>
                <a:latin typeface="宋体" panose="02010600030101010101" pitchFamily="2" charset="-122"/>
                <a:sym typeface="Symbol" panose="05050102010706020507"/>
              </a:endParaRPr>
            </a:p>
          </p:txBody>
        </p:sp>
        <p:sp>
          <p:nvSpPr>
            <p:cNvPr id="602" name="Text Box 331"/>
            <p:cNvSpPr txBox="1">
              <a:spLocks noChangeArrowheads="1"/>
            </p:cNvSpPr>
            <p:nvPr>
              <p:custDataLst>
                <p:tags r:id="rId236"/>
              </p:custDataLst>
            </p:nvPr>
          </p:nvSpPr>
          <p:spPr bwMode="auto">
            <a:xfrm>
              <a:off x="6641" y="3958"/>
              <a:ext cx="56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③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-1</a:t>
              </a:r>
              <a:endParaRPr lang="en-US" altLang="zh-CN" sz="1200" b="1" u="none" spc="-100" dirty="0" smtClean="0">
                <a:solidFill>
                  <a:srgbClr val="FF3399"/>
                </a:solidFill>
                <a:latin typeface="宋体" panose="02010600030101010101" pitchFamily="2" charset="-122"/>
                <a:sym typeface="Symbol" panose="05050102010706020507"/>
              </a:endParaRPr>
            </a:p>
          </p:txBody>
        </p:sp>
        <p:sp>
          <p:nvSpPr>
            <p:cNvPr id="603" name="Text Box 331"/>
            <p:cNvSpPr txBox="1">
              <a:spLocks noChangeArrowheads="1"/>
            </p:cNvSpPr>
            <p:nvPr>
              <p:custDataLst>
                <p:tags r:id="rId237"/>
              </p:custDataLst>
            </p:nvPr>
          </p:nvSpPr>
          <p:spPr bwMode="auto">
            <a:xfrm>
              <a:off x="3338" y="4610"/>
              <a:ext cx="56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③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-2</a:t>
              </a:r>
              <a:endParaRPr lang="en-US" altLang="zh-CN" sz="1200" b="1" u="none" spc="-100" dirty="0" smtClean="0">
                <a:solidFill>
                  <a:srgbClr val="FF3399"/>
                </a:solidFill>
                <a:latin typeface="宋体" panose="02010600030101010101" pitchFamily="2" charset="-122"/>
                <a:sym typeface="Symbol" panose="05050102010706020507"/>
              </a:endParaRPr>
            </a:p>
          </p:txBody>
        </p:sp>
      </p:grpSp>
      <p:grpSp>
        <p:nvGrpSpPr>
          <p:cNvPr id="607" name="组合 606"/>
          <p:cNvGrpSpPr/>
          <p:nvPr/>
        </p:nvGrpSpPr>
        <p:grpSpPr>
          <a:xfrm>
            <a:off x="396240" y="3412490"/>
            <a:ext cx="4043680" cy="2871470"/>
            <a:chOff x="624" y="5374"/>
            <a:chExt cx="6368" cy="4522"/>
          </a:xfrm>
        </p:grpSpPr>
        <p:sp>
          <p:nvSpPr>
            <p:cNvPr id="600" name="Text Box 331"/>
            <p:cNvSpPr txBox="1">
              <a:spLocks noChangeArrowheads="1"/>
            </p:cNvSpPr>
            <p:nvPr>
              <p:custDataLst>
                <p:tags r:id="rId238"/>
              </p:custDataLst>
            </p:nvPr>
          </p:nvSpPr>
          <p:spPr bwMode="auto">
            <a:xfrm>
              <a:off x="5059" y="5374"/>
              <a:ext cx="794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③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-2-3</a:t>
              </a:r>
              <a:endParaRPr lang="en-US" altLang="zh-CN" sz="1200" b="1" u="none" spc="-100" dirty="0" smtClean="0">
                <a:solidFill>
                  <a:srgbClr val="FF3399"/>
                </a:solidFill>
                <a:latin typeface="宋体" panose="02010600030101010101" pitchFamily="2" charset="-122"/>
                <a:sym typeface="Symbol" panose="05050102010706020507"/>
              </a:endParaRPr>
            </a:p>
          </p:txBody>
        </p:sp>
        <p:sp>
          <p:nvSpPr>
            <p:cNvPr id="191" name="Text Box 170"/>
            <p:cNvSpPr txBox="1">
              <a:spLocks noChangeArrowheads="1"/>
            </p:cNvSpPr>
            <p:nvPr>
              <p:custDataLst>
                <p:tags r:id="rId239"/>
              </p:custDataLst>
            </p:nvPr>
          </p:nvSpPr>
          <p:spPr bwMode="auto">
            <a:xfrm>
              <a:off x="721" y="9448"/>
              <a:ext cx="175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p>
              <a:pPr algn="ctr">
                <a:lnSpc>
                  <a:spcPct val="90000"/>
                </a:lnSpc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L2TLB</a:t>
              </a:r>
              <a:r>
                <a:rPr lang="zh-CN" altLang="en-US" sz="1400" b="1" u="none" dirty="0" smtClean="0">
                  <a:latin typeface="宋体" panose="02010600030101010101" pitchFamily="2" charset="-122"/>
                </a:rPr>
                <a:t>缺失时</a:t>
              </a:r>
              <a:endParaRPr lang="zh-CN" altLang="en-US" sz="14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192" name="直接箭头连接符 44"/>
            <p:cNvCxnSpPr/>
            <p:nvPr>
              <p:custDataLst>
                <p:tags r:id="rId240"/>
              </p:custDataLst>
            </p:nvPr>
          </p:nvCxnSpPr>
          <p:spPr bwMode="auto">
            <a:xfrm flipH="1">
              <a:off x="639" y="5628"/>
              <a:ext cx="181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93" name="直接连接符 192"/>
            <p:cNvCxnSpPr/>
            <p:nvPr>
              <p:custDataLst>
                <p:tags r:id="rId241"/>
              </p:custDataLst>
            </p:nvPr>
          </p:nvCxnSpPr>
          <p:spPr bwMode="auto">
            <a:xfrm>
              <a:off x="644" y="5614"/>
              <a:ext cx="0" cy="385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4" name="直接箭头连接符 44"/>
            <p:cNvCxnSpPr/>
            <p:nvPr>
              <p:custDataLst>
                <p:tags r:id="rId242"/>
              </p:custDataLst>
            </p:nvPr>
          </p:nvCxnSpPr>
          <p:spPr bwMode="auto">
            <a:xfrm flipH="1">
              <a:off x="624" y="9456"/>
              <a:ext cx="635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95" name="直接箭头连接符 44"/>
            <p:cNvCxnSpPr/>
            <p:nvPr>
              <p:custDataLst>
                <p:tags r:id="rId243"/>
              </p:custDataLst>
            </p:nvPr>
          </p:nvCxnSpPr>
          <p:spPr bwMode="auto">
            <a:xfrm>
              <a:off x="6028" y="9643"/>
              <a:ext cx="96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196" name="Text Box 170"/>
            <p:cNvSpPr txBox="1">
              <a:spLocks noChangeArrowheads="1"/>
            </p:cNvSpPr>
            <p:nvPr>
              <p:custDataLst>
                <p:tags r:id="rId244"/>
              </p:custDataLst>
            </p:nvPr>
          </p:nvSpPr>
          <p:spPr bwMode="auto">
            <a:xfrm>
              <a:off x="3859" y="9535"/>
              <a:ext cx="2154" cy="340"/>
            </a:xfrm>
            <a:prstGeom prst="rect">
              <a:avLst/>
            </a:prstGeom>
            <a:noFill/>
            <a:ln w="9525">
              <a:solidFill>
                <a:srgbClr val="C00000"/>
              </a:solidFill>
              <a:prstDash val="sysDash"/>
              <a:miter lim="800000"/>
            </a:ln>
            <a:effectLst/>
          </p:spPr>
          <p:txBody>
            <a:bodyPr lIns="18000" tIns="10800" rIns="54000" bIns="10800" anchor="ctr"/>
            <a:p>
              <a:pPr algn="ctr">
                <a:lnSpc>
                  <a:spcPct val="90000"/>
                </a:lnSpc>
              </a:pPr>
              <a:r>
                <a:rPr lang="en-US" sz="1400" b="1" u="none" dirty="0" smtClean="0">
                  <a:latin typeface="宋体" panose="02010600030101010101" pitchFamily="2" charset="-122"/>
                </a:rPr>
                <a:t>VPN</a:t>
              </a:r>
              <a:r>
                <a:rPr lang="zh-CN" altLang="en-US" sz="1400" b="1" u="none" dirty="0" smtClean="0">
                  <a:latin typeface="宋体" panose="02010600030101010101" pitchFamily="2" charset="-122"/>
                </a:rPr>
                <a:t>对应</a:t>
              </a:r>
              <a:r>
                <a:rPr lang="en-US" altLang="zh-CN" sz="1400" b="1" u="none" dirty="0" smtClean="0">
                  <a:latin typeface="宋体" panose="02010600030101010101" pitchFamily="2" charset="-122"/>
                </a:rPr>
                <a:t>PTE</a:t>
              </a:r>
              <a:r>
                <a:rPr lang="zh-CN" altLang="en-US" sz="1400" b="1" u="none" dirty="0" smtClean="0">
                  <a:latin typeface="宋体" panose="02010600030101010101" pitchFamily="2" charset="-122"/>
                </a:rPr>
                <a:t>地址</a:t>
              </a:r>
              <a:endParaRPr lang="zh-CN" altLang="en-US" sz="14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605" name="Text Box 331"/>
            <p:cNvSpPr txBox="1">
              <a:spLocks noChangeArrowheads="1"/>
            </p:cNvSpPr>
            <p:nvPr>
              <p:custDataLst>
                <p:tags r:id="rId245"/>
              </p:custDataLst>
            </p:nvPr>
          </p:nvSpPr>
          <p:spPr bwMode="auto">
            <a:xfrm>
              <a:off x="3086" y="9669"/>
              <a:ext cx="794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③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-2-1</a:t>
              </a:r>
              <a:endParaRPr lang="en-US" altLang="zh-CN" sz="1200" b="1" u="none" spc="-100" dirty="0" smtClean="0">
                <a:solidFill>
                  <a:srgbClr val="FF3399"/>
                </a:solidFill>
                <a:latin typeface="宋体" panose="02010600030101010101" pitchFamily="2" charset="-122"/>
                <a:sym typeface="Symbol" panose="05050102010706020507"/>
              </a:endParaRPr>
            </a:p>
          </p:txBody>
        </p:sp>
        <p:sp>
          <p:nvSpPr>
            <p:cNvPr id="606" name="Text Box 331"/>
            <p:cNvSpPr txBox="1">
              <a:spLocks noChangeArrowheads="1"/>
            </p:cNvSpPr>
            <p:nvPr>
              <p:custDataLst>
                <p:tags r:id="rId246"/>
              </p:custDataLst>
            </p:nvPr>
          </p:nvSpPr>
          <p:spPr bwMode="auto">
            <a:xfrm>
              <a:off x="6111" y="9643"/>
              <a:ext cx="794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③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-2-2</a:t>
              </a:r>
              <a:endParaRPr lang="en-US" altLang="zh-CN" sz="1200" b="1" u="none" spc="-100" dirty="0" smtClean="0">
                <a:solidFill>
                  <a:srgbClr val="FF3399"/>
                </a:solidFill>
                <a:latin typeface="宋体" panose="02010600030101010101" pitchFamily="2" charset="-122"/>
                <a:sym typeface="Symbol" panose="05050102010706020507"/>
              </a:endParaRPr>
            </a:p>
          </p:txBody>
        </p:sp>
      </p:grpSp>
      <p:grpSp>
        <p:nvGrpSpPr>
          <p:cNvPr id="609" name="组合 608"/>
          <p:cNvGrpSpPr/>
          <p:nvPr/>
        </p:nvGrpSpPr>
        <p:grpSpPr>
          <a:xfrm>
            <a:off x="4570730" y="2853690"/>
            <a:ext cx="3530600" cy="2664460"/>
            <a:chOff x="7198" y="4494"/>
            <a:chExt cx="5560" cy="4196"/>
          </a:xfrm>
        </p:grpSpPr>
        <p:sp>
          <p:nvSpPr>
            <p:cNvPr id="13" name="Text Box 195"/>
            <p:cNvSpPr txBox="1">
              <a:spLocks noChangeArrowheads="1"/>
            </p:cNvSpPr>
            <p:nvPr>
              <p:custDataLst>
                <p:tags r:id="rId247"/>
              </p:custDataLst>
            </p:nvPr>
          </p:nvSpPr>
          <p:spPr bwMode="auto">
            <a:xfrm>
              <a:off x="9016" y="4721"/>
              <a:ext cx="2608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CN&lt;46&gt;</a:t>
              </a:r>
              <a:endParaRPr lang="en-US" altLang="zh-CN" sz="14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5" name="Text Box 195"/>
            <p:cNvSpPr txBox="1">
              <a:spLocks noChangeArrowheads="1"/>
            </p:cNvSpPr>
            <p:nvPr>
              <p:custDataLst>
                <p:tags r:id="rId248"/>
              </p:custDataLst>
            </p:nvPr>
          </p:nvSpPr>
          <p:spPr bwMode="auto">
            <a:xfrm>
              <a:off x="11624" y="4721"/>
              <a:ext cx="1134" cy="34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CO&lt;6&gt;</a:t>
              </a:r>
              <a:endParaRPr lang="zh-CN" altLang="zh-CN" sz="14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6" name="直接连接符 25"/>
            <p:cNvCxnSpPr/>
            <p:nvPr>
              <p:custDataLst>
                <p:tags r:id="rId249"/>
              </p:custDataLst>
            </p:nvPr>
          </p:nvCxnSpPr>
          <p:spPr bwMode="auto">
            <a:xfrm>
              <a:off x="7199" y="5175"/>
              <a:ext cx="0" cy="351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" name="直接箭头连接符 44"/>
            <p:cNvCxnSpPr/>
            <p:nvPr>
              <p:custDataLst>
                <p:tags r:id="rId250"/>
              </p:custDataLst>
            </p:nvPr>
          </p:nvCxnSpPr>
          <p:spPr bwMode="auto">
            <a:xfrm flipH="1">
              <a:off x="12190" y="506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8" name="直接箭头连接符 44"/>
            <p:cNvCxnSpPr/>
            <p:nvPr>
              <p:custDataLst>
                <p:tags r:id="rId251"/>
              </p:custDataLst>
            </p:nvPr>
          </p:nvCxnSpPr>
          <p:spPr bwMode="auto">
            <a:xfrm flipH="1">
              <a:off x="7312" y="5288"/>
              <a:ext cx="4876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9" name="直接箭头连接符 44"/>
            <p:cNvCxnSpPr/>
            <p:nvPr>
              <p:custDataLst>
                <p:tags r:id="rId252"/>
              </p:custDataLst>
            </p:nvPr>
          </p:nvCxnSpPr>
          <p:spPr bwMode="auto">
            <a:xfrm>
              <a:off x="10941" y="4494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0" name="直接连接符 29"/>
            <p:cNvCxnSpPr/>
            <p:nvPr>
              <p:custDataLst>
                <p:tags r:id="rId253"/>
              </p:custDataLst>
            </p:nvPr>
          </p:nvCxnSpPr>
          <p:spPr bwMode="auto">
            <a:xfrm>
              <a:off x="10830" y="4721"/>
              <a:ext cx="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6" name="右箭头 35"/>
            <p:cNvSpPr/>
            <p:nvPr>
              <p:custDataLst>
                <p:tags r:id="rId254"/>
              </p:custDataLst>
            </p:nvPr>
          </p:nvSpPr>
          <p:spPr bwMode="auto">
            <a:xfrm rot="5400000">
              <a:off x="10206" y="4438"/>
              <a:ext cx="227" cy="340"/>
            </a:xfrm>
            <a:prstGeom prst="rightArrow">
              <a:avLst/>
            </a:prstGeom>
            <a:noFill/>
            <a:ln w="15875" cmpd="sng">
              <a:solidFill>
                <a:schemeClr val="tx1"/>
              </a:solidFill>
              <a:round/>
              <a:tailEnd type="triangle" w="sm" len="med"/>
            </a:ln>
            <a:effectLst/>
          </p:spPr>
          <p:txBody>
            <a:bodyPr rtlCol="0" anchor="ctr"/>
            <a:p>
              <a:pPr algn="ctr"/>
              <a:endParaRPr lang="zh-CN" altLang="en-US" u="none"/>
            </a:p>
          </p:txBody>
        </p:sp>
        <p:cxnSp>
          <p:nvCxnSpPr>
            <p:cNvPr id="37" name="直接箭头连接符 44"/>
            <p:cNvCxnSpPr/>
            <p:nvPr>
              <p:custDataLst>
                <p:tags r:id="rId255"/>
              </p:custDataLst>
            </p:nvPr>
          </p:nvCxnSpPr>
          <p:spPr bwMode="auto">
            <a:xfrm flipH="1">
              <a:off x="10828" y="5061"/>
              <a:ext cx="0" cy="11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8" name="直接箭头连接符 44"/>
            <p:cNvCxnSpPr/>
            <p:nvPr>
              <p:custDataLst>
                <p:tags r:id="rId256"/>
              </p:custDataLst>
            </p:nvPr>
          </p:nvCxnSpPr>
          <p:spPr bwMode="auto">
            <a:xfrm flipH="1" flipV="1">
              <a:off x="7198" y="5175"/>
              <a:ext cx="362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39" name="直接箭头连接符 44"/>
            <p:cNvCxnSpPr/>
            <p:nvPr>
              <p:custDataLst>
                <p:tags r:id="rId257"/>
              </p:custDataLst>
            </p:nvPr>
          </p:nvCxnSpPr>
          <p:spPr bwMode="auto">
            <a:xfrm flipH="1" flipV="1">
              <a:off x="7312" y="5288"/>
              <a:ext cx="1" cy="340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sp>
          <p:nvSpPr>
            <p:cNvPr id="608" name="Text Box 331"/>
            <p:cNvSpPr txBox="1">
              <a:spLocks noChangeArrowheads="1"/>
            </p:cNvSpPr>
            <p:nvPr>
              <p:custDataLst>
                <p:tags r:id="rId258"/>
              </p:custDataLst>
            </p:nvPr>
          </p:nvSpPr>
          <p:spPr bwMode="auto">
            <a:xfrm>
              <a:off x="11187" y="5072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⑤</a:t>
              </a:r>
              <a:endParaRPr lang="en-US" altLang="zh-CN" sz="12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619" name="组合 618"/>
          <p:cNvGrpSpPr/>
          <p:nvPr/>
        </p:nvGrpSpPr>
        <p:grpSpPr>
          <a:xfrm>
            <a:off x="619125" y="4440555"/>
            <a:ext cx="4680585" cy="1365250"/>
            <a:chOff x="975" y="6993"/>
            <a:chExt cx="7371" cy="2150"/>
          </a:xfrm>
        </p:grpSpPr>
        <p:cxnSp>
          <p:nvCxnSpPr>
            <p:cNvPr id="54" name="直接连接符 53"/>
            <p:cNvCxnSpPr/>
            <p:nvPr>
              <p:custDataLst>
                <p:tags r:id="rId259"/>
              </p:custDataLst>
            </p:nvPr>
          </p:nvCxnSpPr>
          <p:spPr bwMode="auto">
            <a:xfrm flipH="1">
              <a:off x="6631" y="7442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55" name="直接连接符 54"/>
            <p:cNvCxnSpPr/>
            <p:nvPr>
              <p:custDataLst>
                <p:tags r:id="rId260"/>
              </p:custDataLst>
            </p:nvPr>
          </p:nvCxnSpPr>
          <p:spPr bwMode="auto">
            <a:xfrm flipH="1">
              <a:off x="6631" y="8122"/>
              <a:ext cx="56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56" name="直接箭头连接符 44"/>
            <p:cNvCxnSpPr/>
            <p:nvPr>
              <p:custDataLst>
                <p:tags r:id="rId261"/>
              </p:custDataLst>
            </p:nvPr>
          </p:nvCxnSpPr>
          <p:spPr bwMode="auto">
            <a:xfrm flipV="1">
              <a:off x="3358" y="7329"/>
              <a:ext cx="4989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57" name="Text Box 170"/>
            <p:cNvSpPr txBox="1">
              <a:spLocks noChangeArrowheads="1"/>
            </p:cNvSpPr>
            <p:nvPr>
              <p:custDataLst>
                <p:tags r:id="rId262"/>
              </p:custDataLst>
            </p:nvPr>
          </p:nvSpPr>
          <p:spPr bwMode="auto">
            <a:xfrm>
              <a:off x="975" y="8803"/>
              <a:ext cx="2665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p>
              <a:pPr algn="ctr">
                <a:lnSpc>
                  <a:spcPct val="90000"/>
                </a:lnSpc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L1$</a:t>
              </a:r>
              <a:r>
                <a:rPr lang="zh-CN" altLang="en-US" sz="1400" b="1" u="none" dirty="0" smtClean="0">
                  <a:latin typeface="宋体" panose="02010600030101010101" pitchFamily="2" charset="-122"/>
                </a:rPr>
                <a:t>缺失</a:t>
              </a:r>
              <a:r>
                <a:rPr lang="en-US" altLang="zh-CN" sz="1400" b="1" u="none" dirty="0" smtClean="0">
                  <a:latin typeface="宋体" panose="02010600030101010101" pitchFamily="2" charset="-122"/>
                </a:rPr>
                <a:t>&amp;L2$</a:t>
              </a:r>
              <a:r>
                <a:rPr lang="zh-CN" altLang="en-US" sz="1400" b="1" u="none" dirty="0" smtClean="0">
                  <a:latin typeface="宋体" panose="02010600030101010101" pitchFamily="2" charset="-122"/>
                </a:rPr>
                <a:t>命中时</a:t>
              </a:r>
              <a:endParaRPr lang="zh-CN" altLang="en-US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58" name="Text Box 170"/>
            <p:cNvSpPr txBox="1">
              <a:spLocks noChangeArrowheads="1"/>
            </p:cNvSpPr>
            <p:nvPr>
              <p:custDataLst>
                <p:tags r:id="rId263"/>
              </p:custDataLst>
            </p:nvPr>
          </p:nvSpPr>
          <p:spPr bwMode="auto">
            <a:xfrm>
              <a:off x="1211" y="6993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p>
              <a:pPr algn="ctr">
                <a:lnSpc>
                  <a:spcPct val="90000"/>
                </a:lnSpc>
              </a:pPr>
              <a:r>
                <a:rPr lang="zh-CN" altLang="en-US" sz="1400" b="1" u="none" dirty="0" smtClean="0">
                  <a:latin typeface="宋体" panose="02010600030101010101" pitchFamily="2" charset="-122"/>
                </a:rPr>
                <a:t>块</a:t>
              </a:r>
              <a:r>
                <a:rPr lang="en-US" altLang="zh-CN" sz="1400" b="1" u="none" dirty="0" smtClean="0">
                  <a:latin typeface="宋体" panose="02010600030101010101" pitchFamily="2" charset="-122"/>
                </a:rPr>
                <a:t>/</a:t>
              </a:r>
              <a:endParaRPr lang="en-US" altLang="zh-CN" sz="14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59" name="直接箭头连接符 44"/>
            <p:cNvCxnSpPr/>
            <p:nvPr>
              <p:custDataLst>
                <p:tags r:id="rId264"/>
              </p:custDataLst>
            </p:nvPr>
          </p:nvCxnSpPr>
          <p:spPr bwMode="auto">
            <a:xfrm flipV="1">
              <a:off x="986" y="7329"/>
              <a:ext cx="0" cy="136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60" name="直接箭头连接符 44"/>
            <p:cNvCxnSpPr/>
            <p:nvPr>
              <p:custDataLst>
                <p:tags r:id="rId265"/>
              </p:custDataLst>
            </p:nvPr>
          </p:nvCxnSpPr>
          <p:spPr bwMode="auto">
            <a:xfrm>
              <a:off x="984" y="8688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614" name="Text Box 331"/>
            <p:cNvSpPr txBox="1">
              <a:spLocks noChangeArrowheads="1"/>
            </p:cNvSpPr>
            <p:nvPr>
              <p:custDataLst>
                <p:tags r:id="rId266"/>
              </p:custDataLst>
            </p:nvPr>
          </p:nvSpPr>
          <p:spPr bwMode="auto">
            <a:xfrm>
              <a:off x="1859" y="7086"/>
              <a:ext cx="56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⑦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-3</a:t>
              </a:r>
              <a:endParaRPr lang="en-US" altLang="zh-CN" sz="1200" b="1" u="none" spc="-100" dirty="0" smtClean="0">
                <a:solidFill>
                  <a:srgbClr val="FF3399"/>
                </a:solidFill>
                <a:latin typeface="宋体" panose="02010600030101010101" pitchFamily="2" charset="-122"/>
                <a:sym typeface="Symbol" panose="05050102010706020507"/>
              </a:endParaRPr>
            </a:p>
          </p:txBody>
        </p:sp>
        <p:sp>
          <p:nvSpPr>
            <p:cNvPr id="615" name="Text Box 331"/>
            <p:cNvSpPr txBox="1">
              <a:spLocks noChangeArrowheads="1"/>
            </p:cNvSpPr>
            <p:nvPr>
              <p:custDataLst>
                <p:tags r:id="rId267"/>
              </p:custDataLst>
            </p:nvPr>
          </p:nvSpPr>
          <p:spPr bwMode="auto">
            <a:xfrm>
              <a:off x="6615" y="7661"/>
              <a:ext cx="56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⑦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-1</a:t>
              </a:r>
              <a:endParaRPr lang="en-US" altLang="zh-CN" sz="1200" b="1" u="none" spc="-100" dirty="0" smtClean="0">
                <a:solidFill>
                  <a:srgbClr val="FF3399"/>
                </a:solidFill>
                <a:latin typeface="宋体" panose="02010600030101010101" pitchFamily="2" charset="-122"/>
                <a:sym typeface="Symbol" panose="05050102010706020507"/>
              </a:endParaRPr>
            </a:p>
          </p:txBody>
        </p:sp>
        <p:sp>
          <p:nvSpPr>
            <p:cNvPr id="616" name="Text Box 331"/>
            <p:cNvSpPr txBox="1">
              <a:spLocks noChangeArrowheads="1"/>
            </p:cNvSpPr>
            <p:nvPr>
              <p:custDataLst>
                <p:tags r:id="rId268"/>
              </p:custDataLst>
            </p:nvPr>
          </p:nvSpPr>
          <p:spPr bwMode="auto">
            <a:xfrm>
              <a:off x="3425" y="7861"/>
              <a:ext cx="56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⑦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-2</a:t>
              </a:r>
              <a:endParaRPr lang="en-US" altLang="zh-CN" sz="1200" b="1" u="none" spc="-100" dirty="0" smtClean="0">
                <a:solidFill>
                  <a:srgbClr val="FF3399"/>
                </a:solidFill>
                <a:latin typeface="宋体" panose="02010600030101010101" pitchFamily="2" charset="-122"/>
                <a:sym typeface="Symbol" panose="05050102010706020507"/>
              </a:endParaRPr>
            </a:p>
          </p:txBody>
        </p:sp>
      </p:grpSp>
      <p:grpSp>
        <p:nvGrpSpPr>
          <p:cNvPr id="618" name="组合 617"/>
          <p:cNvGrpSpPr/>
          <p:nvPr/>
        </p:nvGrpSpPr>
        <p:grpSpPr>
          <a:xfrm>
            <a:off x="2273300" y="3717290"/>
            <a:ext cx="3053715" cy="826770"/>
            <a:chOff x="3580" y="5854"/>
            <a:chExt cx="4809" cy="1302"/>
          </a:xfrm>
        </p:grpSpPr>
        <p:sp>
          <p:nvSpPr>
            <p:cNvPr id="41" name="Text Box 170"/>
            <p:cNvSpPr txBox="1">
              <a:spLocks noChangeArrowheads="1"/>
            </p:cNvSpPr>
            <p:nvPr>
              <p:custDataLst>
                <p:tags r:id="rId269"/>
              </p:custDataLst>
            </p:nvPr>
          </p:nvSpPr>
          <p:spPr bwMode="auto">
            <a:xfrm>
              <a:off x="7877" y="6714"/>
              <a:ext cx="340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p>
              <a:pPr algn="ctr">
                <a:lnSpc>
                  <a:spcPct val="90000"/>
                </a:lnSpc>
              </a:pPr>
              <a:r>
                <a:rPr lang="zh-CN" altLang="en-US" sz="1400" b="1" u="none" dirty="0" smtClean="0">
                  <a:latin typeface="宋体" panose="02010600030101010101" pitchFamily="2" charset="-122"/>
                </a:rPr>
                <a:t>字</a:t>
              </a:r>
              <a:endParaRPr lang="en-US" altLang="zh-CN" sz="14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42" name="直接连接符 41"/>
            <p:cNvCxnSpPr/>
            <p:nvPr>
              <p:custDataLst>
                <p:tags r:id="rId270"/>
              </p:custDataLst>
            </p:nvPr>
          </p:nvCxnSpPr>
          <p:spPr bwMode="auto">
            <a:xfrm flipH="1">
              <a:off x="6631" y="6535"/>
              <a:ext cx="90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43" name="直接连接符 42"/>
            <p:cNvCxnSpPr/>
            <p:nvPr>
              <p:custDataLst>
                <p:tags r:id="rId271"/>
              </p:custDataLst>
            </p:nvPr>
          </p:nvCxnSpPr>
          <p:spPr bwMode="auto">
            <a:xfrm flipH="1">
              <a:off x="6631" y="5854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44" name="直接连接符 43"/>
            <p:cNvCxnSpPr/>
            <p:nvPr>
              <p:custDataLst>
                <p:tags r:id="rId272"/>
              </p:custDataLst>
            </p:nvPr>
          </p:nvCxnSpPr>
          <p:spPr bwMode="auto">
            <a:xfrm flipH="1">
              <a:off x="6631" y="7156"/>
              <a:ext cx="68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45" name="直接连接符 44"/>
            <p:cNvCxnSpPr/>
            <p:nvPr>
              <p:custDataLst>
                <p:tags r:id="rId273"/>
              </p:custDataLst>
            </p:nvPr>
          </p:nvCxnSpPr>
          <p:spPr bwMode="auto">
            <a:xfrm>
              <a:off x="6631" y="7037"/>
              <a:ext cx="113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接连接符 45"/>
            <p:cNvCxnSpPr/>
            <p:nvPr>
              <p:custDataLst>
                <p:tags r:id="rId274"/>
              </p:custDataLst>
            </p:nvPr>
          </p:nvCxnSpPr>
          <p:spPr bwMode="auto">
            <a:xfrm>
              <a:off x="7539" y="6535"/>
              <a:ext cx="45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47" name="直接连接符 46"/>
            <p:cNvCxnSpPr/>
            <p:nvPr>
              <p:custDataLst>
                <p:tags r:id="rId275"/>
              </p:custDataLst>
            </p:nvPr>
          </p:nvCxnSpPr>
          <p:spPr bwMode="auto">
            <a:xfrm flipV="1">
              <a:off x="7315" y="7156"/>
              <a:ext cx="68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48" name="直接连接符 47"/>
            <p:cNvCxnSpPr/>
            <p:nvPr>
              <p:custDataLst>
                <p:tags r:id="rId276"/>
              </p:custDataLst>
            </p:nvPr>
          </p:nvCxnSpPr>
          <p:spPr bwMode="auto">
            <a:xfrm>
              <a:off x="7879" y="7048"/>
              <a:ext cx="51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直接连接符 48"/>
            <p:cNvCxnSpPr/>
            <p:nvPr>
              <p:custDataLst>
                <p:tags r:id="rId277"/>
              </p:custDataLst>
            </p:nvPr>
          </p:nvCxnSpPr>
          <p:spPr bwMode="auto">
            <a:xfrm>
              <a:off x="7202" y="5854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sp>
          <p:nvSpPr>
            <p:cNvPr id="610" name="Text Box 331"/>
            <p:cNvSpPr txBox="1">
              <a:spLocks noChangeArrowheads="1"/>
            </p:cNvSpPr>
            <p:nvPr>
              <p:custDataLst>
                <p:tags r:id="rId278"/>
              </p:custDataLst>
            </p:nvPr>
          </p:nvSpPr>
          <p:spPr bwMode="auto">
            <a:xfrm>
              <a:off x="6883" y="5931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⑥</a:t>
              </a:r>
              <a:endParaRPr lang="en-US" altLang="zh-CN" sz="12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1" name="Text Box 331"/>
            <p:cNvSpPr txBox="1">
              <a:spLocks noChangeArrowheads="1"/>
            </p:cNvSpPr>
            <p:nvPr>
              <p:custDataLst>
                <p:tags r:id="rId279"/>
              </p:custDataLst>
            </p:nvPr>
          </p:nvSpPr>
          <p:spPr bwMode="auto">
            <a:xfrm>
              <a:off x="7466" y="6789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⑧</a:t>
              </a:r>
              <a:endParaRPr lang="en-US" altLang="zh-CN" sz="12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2" name="Text Box 331"/>
            <p:cNvSpPr txBox="1">
              <a:spLocks noChangeArrowheads="1"/>
            </p:cNvSpPr>
            <p:nvPr>
              <p:custDataLst>
                <p:tags r:id="rId280"/>
              </p:custDataLst>
            </p:nvPr>
          </p:nvSpPr>
          <p:spPr bwMode="auto">
            <a:xfrm>
              <a:off x="3580" y="6244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⑦</a:t>
              </a:r>
              <a:endParaRPr lang="en-US" altLang="zh-CN" sz="12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7" name="Text Box 331"/>
            <p:cNvSpPr txBox="1">
              <a:spLocks noChangeArrowheads="1"/>
            </p:cNvSpPr>
            <p:nvPr>
              <p:custDataLst>
                <p:tags r:id="rId281"/>
              </p:custDataLst>
            </p:nvPr>
          </p:nvSpPr>
          <p:spPr bwMode="auto">
            <a:xfrm>
              <a:off x="6758" y="6289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②</a:t>
              </a:r>
              <a:endParaRPr lang="en-US" altLang="zh-CN" sz="12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623" name="组合 622"/>
          <p:cNvGrpSpPr/>
          <p:nvPr/>
        </p:nvGrpSpPr>
        <p:grpSpPr>
          <a:xfrm>
            <a:off x="2483485" y="4797425"/>
            <a:ext cx="4826635" cy="1080770"/>
            <a:chOff x="3911" y="7555"/>
            <a:chExt cx="7601" cy="1702"/>
          </a:xfrm>
        </p:grpSpPr>
        <p:sp>
          <p:nvSpPr>
            <p:cNvPr id="62" name="Text Box 170"/>
            <p:cNvSpPr txBox="1">
              <a:spLocks noChangeArrowheads="1"/>
            </p:cNvSpPr>
            <p:nvPr>
              <p:custDataLst>
                <p:tags r:id="rId282"/>
              </p:custDataLst>
            </p:nvPr>
          </p:nvSpPr>
          <p:spPr bwMode="auto">
            <a:xfrm>
              <a:off x="3911" y="8917"/>
              <a:ext cx="272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p>
              <a:pPr algn="ctr">
                <a:lnSpc>
                  <a:spcPct val="90000"/>
                </a:lnSpc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L2$</a:t>
              </a:r>
              <a:r>
                <a:rPr lang="zh-CN" altLang="en-US" sz="1400" b="1" u="none" dirty="0" smtClean="0">
                  <a:latin typeface="宋体" panose="02010600030101010101" pitchFamily="2" charset="-122"/>
                </a:rPr>
                <a:t>缺失</a:t>
              </a:r>
              <a:r>
                <a:rPr lang="en-US" altLang="zh-CN" sz="1400" b="1" u="none" dirty="0" smtClean="0">
                  <a:latin typeface="宋体" panose="02010600030101010101" pitchFamily="2" charset="-122"/>
                </a:rPr>
                <a:t>&amp;L3$</a:t>
              </a:r>
              <a:r>
                <a:rPr lang="zh-CN" altLang="en-US" sz="1400" b="1" u="none" dirty="0" smtClean="0">
                  <a:latin typeface="宋体" panose="02010600030101010101" pitchFamily="2" charset="-122"/>
                </a:rPr>
                <a:t>命中时</a:t>
              </a:r>
              <a:endParaRPr lang="zh-CN" altLang="en-US" sz="14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63" name="直接箭头连接符 44"/>
            <p:cNvCxnSpPr/>
            <p:nvPr>
              <p:custDataLst>
                <p:tags r:id="rId283"/>
              </p:custDataLst>
            </p:nvPr>
          </p:nvCxnSpPr>
          <p:spPr bwMode="auto">
            <a:xfrm flipH="1">
              <a:off x="6614" y="8898"/>
              <a:ext cx="102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64" name="直接箭头连接符 44"/>
            <p:cNvCxnSpPr/>
            <p:nvPr>
              <p:custDataLst>
                <p:tags r:id="rId284"/>
              </p:custDataLst>
            </p:nvPr>
          </p:nvCxnSpPr>
          <p:spPr bwMode="auto">
            <a:xfrm flipV="1">
              <a:off x="7631" y="8773"/>
              <a:ext cx="794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65" name="直接箭头连接符 44"/>
            <p:cNvCxnSpPr/>
            <p:nvPr>
              <p:custDataLst>
                <p:tags r:id="rId285"/>
              </p:custDataLst>
            </p:nvPr>
          </p:nvCxnSpPr>
          <p:spPr bwMode="auto">
            <a:xfrm flipV="1">
              <a:off x="7647" y="8785"/>
              <a:ext cx="0" cy="12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66" name="直接连接符 65"/>
            <p:cNvCxnSpPr/>
            <p:nvPr>
              <p:custDataLst>
                <p:tags r:id="rId286"/>
              </p:custDataLst>
            </p:nvPr>
          </p:nvCxnSpPr>
          <p:spPr bwMode="auto">
            <a:xfrm>
              <a:off x="7202" y="7555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67" name="直接连接符 66"/>
            <p:cNvCxnSpPr/>
            <p:nvPr>
              <p:custDataLst>
                <p:tags r:id="rId287"/>
              </p:custDataLst>
            </p:nvPr>
          </p:nvCxnSpPr>
          <p:spPr bwMode="auto">
            <a:xfrm>
              <a:off x="7202" y="8236"/>
              <a:ext cx="79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sp>
          <p:nvSpPr>
            <p:cNvPr id="620" name="Text Box 331"/>
            <p:cNvSpPr txBox="1">
              <a:spLocks noChangeArrowheads="1"/>
            </p:cNvSpPr>
            <p:nvPr>
              <p:custDataLst>
                <p:tags r:id="rId288"/>
              </p:custDataLst>
            </p:nvPr>
          </p:nvSpPr>
          <p:spPr bwMode="auto">
            <a:xfrm>
              <a:off x="7745" y="8512"/>
              <a:ext cx="794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⑦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-2-3</a:t>
              </a:r>
              <a:endParaRPr lang="en-US" altLang="zh-CN" sz="1200" b="1" u="none" spc="-100" dirty="0" smtClean="0">
                <a:solidFill>
                  <a:srgbClr val="FF3399"/>
                </a:solidFill>
                <a:latin typeface="宋体" panose="02010600030101010101" pitchFamily="2" charset="-122"/>
                <a:sym typeface="Symbol" panose="05050102010706020507"/>
              </a:endParaRPr>
            </a:p>
          </p:txBody>
        </p:sp>
        <p:sp>
          <p:nvSpPr>
            <p:cNvPr id="621" name="Text Box 331"/>
            <p:cNvSpPr txBox="1">
              <a:spLocks noChangeArrowheads="1"/>
            </p:cNvSpPr>
            <p:nvPr>
              <p:custDataLst>
                <p:tags r:id="rId289"/>
              </p:custDataLst>
            </p:nvPr>
          </p:nvSpPr>
          <p:spPr bwMode="auto">
            <a:xfrm>
              <a:off x="7467" y="7722"/>
              <a:ext cx="794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⑦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-2-1</a:t>
              </a:r>
              <a:endParaRPr lang="en-US" altLang="zh-CN" sz="1200" b="1" u="none" spc="-100" dirty="0" smtClean="0">
                <a:solidFill>
                  <a:srgbClr val="FF3399"/>
                </a:solidFill>
                <a:latin typeface="宋体" panose="02010600030101010101" pitchFamily="2" charset="-122"/>
                <a:sym typeface="Symbol" panose="05050102010706020507"/>
              </a:endParaRPr>
            </a:p>
          </p:txBody>
        </p:sp>
        <p:sp>
          <p:nvSpPr>
            <p:cNvPr id="622" name="Text Box 331"/>
            <p:cNvSpPr txBox="1">
              <a:spLocks noChangeArrowheads="1"/>
            </p:cNvSpPr>
            <p:nvPr>
              <p:custDataLst>
                <p:tags r:id="rId290"/>
              </p:custDataLst>
            </p:nvPr>
          </p:nvSpPr>
          <p:spPr bwMode="auto">
            <a:xfrm>
              <a:off x="10718" y="7583"/>
              <a:ext cx="794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⑦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-2-2</a:t>
              </a:r>
              <a:endParaRPr lang="en-US" altLang="zh-CN" sz="1200" b="1" u="none" spc="-100" dirty="0" smtClean="0">
                <a:solidFill>
                  <a:srgbClr val="FF3399"/>
                </a:solidFill>
                <a:latin typeface="宋体" panose="02010600030101010101" pitchFamily="2" charset="-122"/>
                <a:sym typeface="Symbol" panose="05050102010706020507"/>
              </a:endParaRPr>
            </a:p>
          </p:txBody>
        </p:sp>
      </p:grpSp>
      <p:grpSp>
        <p:nvGrpSpPr>
          <p:cNvPr id="627" name="组合 626"/>
          <p:cNvGrpSpPr/>
          <p:nvPr/>
        </p:nvGrpSpPr>
        <p:grpSpPr>
          <a:xfrm>
            <a:off x="4577715" y="5477510"/>
            <a:ext cx="2947670" cy="473075"/>
            <a:chOff x="7209" y="8626"/>
            <a:chExt cx="4642" cy="745"/>
          </a:xfrm>
        </p:grpSpPr>
        <p:cxnSp>
          <p:nvCxnSpPr>
            <p:cNvPr id="188" name="直接箭头连接符 44"/>
            <p:cNvCxnSpPr/>
            <p:nvPr>
              <p:custDataLst>
                <p:tags r:id="rId291"/>
              </p:custDataLst>
            </p:nvPr>
          </p:nvCxnSpPr>
          <p:spPr bwMode="auto">
            <a:xfrm flipV="1">
              <a:off x="8347" y="903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189" name="Text Box 170"/>
            <p:cNvSpPr txBox="1">
              <a:spLocks noChangeArrowheads="1"/>
            </p:cNvSpPr>
            <p:nvPr>
              <p:custDataLst>
                <p:tags r:id="rId292"/>
              </p:custDataLst>
            </p:nvPr>
          </p:nvSpPr>
          <p:spPr bwMode="auto">
            <a:xfrm>
              <a:off x="10378" y="9031"/>
              <a:ext cx="1473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54000" bIns="10800" anchor="ctr"/>
            <a:p>
              <a:pPr algn="ctr">
                <a:lnSpc>
                  <a:spcPct val="90000"/>
                </a:lnSpc>
              </a:pPr>
              <a:r>
                <a:rPr lang="en-US" altLang="zh-CN" sz="1400" b="1" u="none" dirty="0" smtClean="0">
                  <a:latin typeface="宋体" panose="02010600030101010101" pitchFamily="2" charset="-122"/>
                </a:rPr>
                <a:t>L3$</a:t>
              </a:r>
              <a:r>
                <a:rPr lang="zh-CN" altLang="en-US" sz="1400" b="1" u="none" dirty="0" smtClean="0">
                  <a:latin typeface="宋体" panose="02010600030101010101" pitchFamily="2" charset="-122"/>
                </a:rPr>
                <a:t>缺失时</a:t>
              </a:r>
              <a:endParaRPr lang="zh-CN" altLang="en-US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24" name="Text Box 331"/>
            <p:cNvSpPr txBox="1">
              <a:spLocks noChangeArrowheads="1"/>
            </p:cNvSpPr>
            <p:nvPr>
              <p:custDataLst>
                <p:tags r:id="rId293"/>
              </p:custDataLst>
            </p:nvPr>
          </p:nvSpPr>
          <p:spPr bwMode="auto">
            <a:xfrm>
              <a:off x="8658" y="9071"/>
              <a:ext cx="102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2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⑦</a:t>
              </a:r>
              <a:r>
                <a:rPr lang="en-US" altLang="zh-CN" sz="1200" b="1" u="none" spc="-100" dirty="0">
                  <a:solidFill>
                    <a:srgbClr val="FF3399"/>
                  </a:solidFill>
                  <a:latin typeface="宋体" panose="02010600030101010101" pitchFamily="2" charset="-122"/>
                  <a:sym typeface="Symbol" panose="05050102010706020507"/>
                </a:rPr>
                <a:t>-2-2-1</a:t>
              </a:r>
              <a:endParaRPr lang="en-US" altLang="zh-CN" sz="1200" b="1" u="none" spc="-100" dirty="0" smtClean="0">
                <a:solidFill>
                  <a:srgbClr val="FF3399"/>
                </a:solidFill>
                <a:latin typeface="宋体" panose="02010600030101010101" pitchFamily="2" charset="-122"/>
                <a:sym typeface="Symbol" panose="05050102010706020507"/>
              </a:endParaRPr>
            </a:p>
          </p:txBody>
        </p:sp>
        <p:cxnSp>
          <p:nvCxnSpPr>
            <p:cNvPr id="625" name="直接连接符 624"/>
            <p:cNvCxnSpPr/>
            <p:nvPr>
              <p:custDataLst>
                <p:tags r:id="rId294"/>
              </p:custDataLst>
            </p:nvPr>
          </p:nvCxnSpPr>
          <p:spPr bwMode="auto">
            <a:xfrm>
              <a:off x="7209" y="8652"/>
              <a:ext cx="0" cy="62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26" name="直接连接符 625"/>
            <p:cNvCxnSpPr/>
            <p:nvPr>
              <p:custDataLst>
                <p:tags r:id="rId295"/>
              </p:custDataLst>
            </p:nvPr>
          </p:nvCxnSpPr>
          <p:spPr bwMode="auto">
            <a:xfrm>
              <a:off x="7305" y="8626"/>
              <a:ext cx="0" cy="6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4" name="Text Box 299"/>
          <p:cNvSpPr txBox="1">
            <a:spLocks noChangeArrowheads="1"/>
          </p:cNvSpPr>
          <p:nvPr>
            <p:custDataLst>
              <p:tags r:id="rId296"/>
            </p:custDataLst>
          </p:nvPr>
        </p:nvSpPr>
        <p:spPr bwMode="auto">
          <a:xfrm>
            <a:off x="5634955" y="6021040"/>
            <a:ext cx="3456000" cy="39878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zh-CN" altLang="en-US" sz="2000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3-4</a:t>
            </a:r>
            <a:r>
              <a:rPr lang="zh-CN" altLang="en-US" sz="2000" b="1" u="none" dirty="0" smtClean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P139—34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35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选做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12" name="AutoShape 62">
            <a:hlinkClick r:id="rId297" action="ppaction://hlinksldjump"/>
          </p:cNvPr>
          <p:cNvSpPr>
            <a:spLocks noChangeArrowheads="1"/>
          </p:cNvSpPr>
          <p:nvPr>
            <p:custDataLst>
              <p:tags r:id="rId298"/>
            </p:custDataLst>
          </p:nvPr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4" name="AutoShape 45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299"/>
            </p:custDataLst>
          </p:nvPr>
        </p:nvSpPr>
        <p:spPr bwMode="auto">
          <a:xfrm rot="5400000">
            <a:off x="299877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1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10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10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10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10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10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10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RAINPROBLEM" val="ProblemBody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BEAUTIFY_FLAG" val=""/>
</p:tagLst>
</file>

<file path=ppt/tags/tag544.xml><?xml version="1.0" encoding="utf-8"?>
<p:tagLst xmlns:p="http://schemas.openxmlformats.org/presentationml/2006/main">
  <p:tag name="KSO_WM_BEAUTIFY_FLAG" val=""/>
</p:tagLst>
</file>

<file path=ppt/tags/tag545.xml><?xml version="1.0" encoding="utf-8"?>
<p:tagLst xmlns:p="http://schemas.openxmlformats.org/presentationml/2006/main">
  <p:tag name="KSO_WM_BEAUTIFY_FLAG" val="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BEAUTIFY_FLAG" val=""/>
</p:tagLst>
</file>

<file path=ppt/tags/tag552.xml><?xml version="1.0" encoding="utf-8"?>
<p:tagLst xmlns:p="http://schemas.openxmlformats.org/presentationml/2006/main">
  <p:tag name="KSO_WM_BEAUTIFY_FLAG" val=""/>
</p:tagLst>
</file>

<file path=ppt/tags/tag553.xml><?xml version="1.0" encoding="utf-8"?>
<p:tagLst xmlns:p="http://schemas.openxmlformats.org/presentationml/2006/main">
  <p:tag name="KSO_WM_BEAUTIFY_FLAG" val=""/>
</p:tagLst>
</file>

<file path=ppt/tags/tag554.xml><?xml version="1.0" encoding="utf-8"?>
<p:tagLst xmlns:p="http://schemas.openxmlformats.org/presentationml/2006/main">
  <p:tag name="KSO_WM_BEAUTIFY_FLAG" val="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BEAUTIFY_FLAG" val=""/>
</p:tagLst>
</file>

<file path=ppt/tags/tag557.xml><?xml version="1.0" encoding="utf-8"?>
<p:tagLst xmlns:p="http://schemas.openxmlformats.org/presentationml/2006/main">
  <p:tag name="KSO_WM_BEAUTIFY_FLAG" val=""/>
</p:tagLst>
</file>

<file path=ppt/tags/tag558.xml><?xml version="1.0" encoding="utf-8"?>
<p:tagLst xmlns:p="http://schemas.openxmlformats.org/presentationml/2006/main">
  <p:tag name="KSO_WM_BEAUTIFY_FLAG" val=""/>
</p:tagLst>
</file>

<file path=ppt/tags/tag559.xml><?xml version="1.0" encoding="utf-8"?>
<p:tagLst xmlns:p="http://schemas.openxmlformats.org/presentationml/2006/main">
  <p:tag name="KSO_WM_BEAUTIFY_FLAG" val=""/>
</p:tagLst>
</file>

<file path=ppt/tags/tag560.xml><?xml version="1.0" encoding="utf-8"?>
<p:tagLst xmlns:p="http://schemas.openxmlformats.org/presentationml/2006/main">
  <p:tag name="KSO_WM_BEAUTIFY_FLAG" val=""/>
</p:tagLst>
</file>

<file path=ppt/tags/tag561.xml><?xml version="1.0" encoding="utf-8"?>
<p:tagLst xmlns:p="http://schemas.openxmlformats.org/presentationml/2006/main">
  <p:tag name="KSO_WM_BEAUTIFY_FLAG" val=""/>
</p:tagLst>
</file>

<file path=ppt/tags/tag562.xml><?xml version="1.0" encoding="utf-8"?>
<p:tagLst xmlns:p="http://schemas.openxmlformats.org/presentationml/2006/main">
  <p:tag name="KSO_WM_BEAUTIFY_FLAG" val=""/>
</p:tagLst>
</file>

<file path=ppt/tags/tag563.xml><?xml version="1.0" encoding="utf-8"?>
<p:tagLst xmlns:p="http://schemas.openxmlformats.org/presentationml/2006/main">
  <p:tag name="KSO_WM_BEAUTIFY_FLAG" val=""/>
</p:tagLst>
</file>

<file path=ppt/tags/tag564.xml><?xml version="1.0" encoding="utf-8"?>
<p:tagLst xmlns:p="http://schemas.openxmlformats.org/presentationml/2006/main">
  <p:tag name="KSO_WM_BEAUTIFY_FLAG" val=""/>
</p:tagLst>
</file>

<file path=ppt/tags/tag565.xml><?xml version="1.0" encoding="utf-8"?>
<p:tagLst xmlns:p="http://schemas.openxmlformats.org/presentationml/2006/main">
  <p:tag name="KSO_WM_BEAUTIFY_FLAG" val=""/>
</p:tagLst>
</file>

<file path=ppt/tags/tag566.xml><?xml version="1.0" encoding="utf-8"?>
<p:tagLst xmlns:p="http://schemas.openxmlformats.org/presentationml/2006/main">
  <p:tag name="KSO_WM_BEAUTIFY_FLAG" val=""/>
</p:tagLst>
</file>

<file path=ppt/tags/tag567.xml><?xml version="1.0" encoding="utf-8"?>
<p:tagLst xmlns:p="http://schemas.openxmlformats.org/presentationml/2006/main">
  <p:tag name="KSO_WM_BEAUTIFY_FLAG" val=""/>
</p:tagLst>
</file>

<file path=ppt/tags/tag568.xml><?xml version="1.0" encoding="utf-8"?>
<p:tagLst xmlns:p="http://schemas.openxmlformats.org/presentationml/2006/main">
  <p:tag name="KSO_WM_BEAUTIFY_FLAG" val=""/>
</p:tagLst>
</file>

<file path=ppt/tags/tag569.xml><?xml version="1.0" encoding="utf-8"?>
<p:tagLst xmlns:p="http://schemas.openxmlformats.org/presentationml/2006/main">
  <p:tag name="KSO_WM_BEAUTIFY_FLAG" val=""/>
</p:tagLst>
</file>

<file path=ppt/tags/tag570.xml><?xml version="1.0" encoding="utf-8"?>
<p:tagLst xmlns:p="http://schemas.openxmlformats.org/presentationml/2006/main">
  <p:tag name="KSO_WM_BEAUTIFY_FLAG" val=""/>
</p:tagLst>
</file>

<file path=ppt/tags/tag571.xml><?xml version="1.0" encoding="utf-8"?>
<p:tagLst xmlns:p="http://schemas.openxmlformats.org/presentationml/2006/main">
  <p:tag name="KSO_WM_BEAUTIFY_FLAG" val=""/>
</p:tagLst>
</file>

<file path=ppt/tags/tag572.xml><?xml version="1.0" encoding="utf-8"?>
<p:tagLst xmlns:p="http://schemas.openxmlformats.org/presentationml/2006/main">
  <p:tag name="KSO_WM_BEAUTIFY_FLAG" val=""/>
</p:tagLst>
</file>

<file path=ppt/tags/tag573.xml><?xml version="1.0" encoding="utf-8"?>
<p:tagLst xmlns:p="http://schemas.openxmlformats.org/presentationml/2006/main">
  <p:tag name="KSO_WM_BEAUTIFY_FLAG" val=""/>
</p:tagLst>
</file>

<file path=ppt/tags/tag574.xml><?xml version="1.0" encoding="utf-8"?>
<p:tagLst xmlns:p="http://schemas.openxmlformats.org/presentationml/2006/main">
  <p:tag name="KSO_WM_BEAUTIFY_FLAG" val=""/>
</p:tagLst>
</file>

<file path=ppt/tags/tag575.xml><?xml version="1.0" encoding="utf-8"?>
<p:tagLst xmlns:p="http://schemas.openxmlformats.org/presentationml/2006/main">
  <p:tag name="KSO_WM_BEAUTIFY_FLAG" val=""/>
</p:tagLst>
</file>

<file path=ppt/tags/tag576.xml><?xml version="1.0" encoding="utf-8"?>
<p:tagLst xmlns:p="http://schemas.openxmlformats.org/presentationml/2006/main">
  <p:tag name="KSO_WM_BEAUTIFY_FLAG" val=""/>
</p:tagLst>
</file>

<file path=ppt/tags/tag577.xml><?xml version="1.0" encoding="utf-8"?>
<p:tagLst xmlns:p="http://schemas.openxmlformats.org/presentationml/2006/main">
  <p:tag name="KSO_WM_BEAUTIFY_FLAG" val=""/>
</p:tagLst>
</file>

<file path=ppt/tags/tag578.xml><?xml version="1.0" encoding="utf-8"?>
<p:tagLst xmlns:p="http://schemas.openxmlformats.org/presentationml/2006/main">
  <p:tag name="KSO_WM_BEAUTIFY_FLAG" val=""/>
</p:tagLst>
</file>

<file path=ppt/tags/tag579.xml><?xml version="1.0" encoding="utf-8"?>
<p:tagLst xmlns:p="http://schemas.openxmlformats.org/presentationml/2006/main">
  <p:tag name="KSO_WM_BEAUTIFY_FLAG" val=""/>
</p:tagLst>
</file>

<file path=ppt/tags/tag580.xml><?xml version="1.0" encoding="utf-8"?>
<p:tagLst xmlns:p="http://schemas.openxmlformats.org/presentationml/2006/main">
  <p:tag name="KSO_WM_BEAUTIFY_FLAG" val=""/>
</p:tagLst>
</file>

<file path=ppt/tags/tag581.xml><?xml version="1.0" encoding="utf-8"?>
<p:tagLst xmlns:p="http://schemas.openxmlformats.org/presentationml/2006/main">
  <p:tag name="KSO_WM_BEAUTIFY_FLAG" val=""/>
</p:tagLst>
</file>

<file path=ppt/tags/tag582.xml><?xml version="1.0" encoding="utf-8"?>
<p:tagLst xmlns:p="http://schemas.openxmlformats.org/presentationml/2006/main">
  <p:tag name="KSO_WM_BEAUTIFY_FLAG" val=""/>
</p:tagLst>
</file>

<file path=ppt/tags/tag583.xml><?xml version="1.0" encoding="utf-8"?>
<p:tagLst xmlns:p="http://schemas.openxmlformats.org/presentationml/2006/main">
  <p:tag name="KSO_WM_BEAUTIFY_FLAG" val=""/>
</p:tagLst>
</file>

<file path=ppt/tags/tag584.xml><?xml version="1.0" encoding="utf-8"?>
<p:tagLst xmlns:p="http://schemas.openxmlformats.org/presentationml/2006/main">
  <p:tag name="KSO_WM_BEAUTIFY_FLAG" val=""/>
</p:tagLst>
</file>

<file path=ppt/tags/tag585.xml><?xml version="1.0" encoding="utf-8"?>
<p:tagLst xmlns:p="http://schemas.openxmlformats.org/presentationml/2006/main">
  <p:tag name="KSO_WM_BEAUTIFY_FLAG" val=""/>
  <p:tag name="TABLE_ENDDRAG_ORIGIN_RECT" val="192*45"/>
  <p:tag name="TABLE_ENDDRAG_RECT" val="507*212*192*45"/>
</p:tagLst>
</file>

<file path=ppt/tags/tag586.xml><?xml version="1.0" encoding="utf-8"?>
<p:tagLst xmlns:p="http://schemas.openxmlformats.org/presentationml/2006/main">
  <p:tag name="KSO_WM_BEAUTIFY_FLAG" val=""/>
</p:tagLst>
</file>

<file path=ppt/tags/tag587.xml><?xml version="1.0" encoding="utf-8"?>
<p:tagLst xmlns:p="http://schemas.openxmlformats.org/presentationml/2006/main">
  <p:tag name="KSO_WM_BEAUTIFY_FLAG" val=""/>
</p:tagLst>
</file>

<file path=ppt/tags/tag588.xml><?xml version="1.0" encoding="utf-8"?>
<p:tagLst xmlns:p="http://schemas.openxmlformats.org/presentationml/2006/main">
  <p:tag name="KSO_WM_BEAUTIFY_FLAG" val=""/>
</p:tagLst>
</file>

<file path=ppt/tags/tag589.xml><?xml version="1.0" encoding="utf-8"?>
<p:tagLst xmlns:p="http://schemas.openxmlformats.org/presentationml/2006/main">
  <p:tag name="KSO_WM_BEAUTIFY_FLAG" val=""/>
</p:tagLst>
</file>

<file path=ppt/tags/tag590.xml><?xml version="1.0" encoding="utf-8"?>
<p:tagLst xmlns:p="http://schemas.openxmlformats.org/presentationml/2006/main">
  <p:tag name="KSO_WM_BEAUTIFY_FLAG" val=""/>
</p:tagLst>
</file>

<file path=ppt/tags/tag591.xml><?xml version="1.0" encoding="utf-8"?>
<p:tagLst xmlns:p="http://schemas.openxmlformats.org/presentationml/2006/main">
  <p:tag name="KSO_WM_BEAUTIFY_FLAG" val=""/>
</p:tagLst>
</file>

<file path=ppt/tags/tag592.xml><?xml version="1.0" encoding="utf-8"?>
<p:tagLst xmlns:p="http://schemas.openxmlformats.org/presentationml/2006/main">
  <p:tag name="KSO_WM_BEAUTIFY_FLAG" val=""/>
</p:tagLst>
</file>

<file path=ppt/tags/tag593.xml><?xml version="1.0" encoding="utf-8"?>
<p:tagLst xmlns:p="http://schemas.openxmlformats.org/presentationml/2006/main">
  <p:tag name="KSO_WM_BEAUTIFY_FLAG" val=""/>
</p:tagLst>
</file>

<file path=ppt/tags/tag594.xml><?xml version="1.0" encoding="utf-8"?>
<p:tagLst xmlns:p="http://schemas.openxmlformats.org/presentationml/2006/main">
  <p:tag name="KSO_WM_BEAUTIFY_FLAG" val=""/>
</p:tagLst>
</file>

<file path=ppt/tags/tag595.xml><?xml version="1.0" encoding="utf-8"?>
<p:tagLst xmlns:p="http://schemas.openxmlformats.org/presentationml/2006/main">
  <p:tag name="KSO_WM_BEAUTIFY_FLAG" val=""/>
</p:tagLst>
</file>

<file path=ppt/tags/tag596.xml><?xml version="1.0" encoding="utf-8"?>
<p:tagLst xmlns:p="http://schemas.openxmlformats.org/presentationml/2006/main">
  <p:tag name="KSO_WM_BEAUTIFY_FLAG" val=""/>
</p:tagLst>
</file>

<file path=ppt/tags/tag597.xml><?xml version="1.0" encoding="utf-8"?>
<p:tagLst xmlns:p="http://schemas.openxmlformats.org/presentationml/2006/main">
  <p:tag name="KSO_WM_BEAUTIFY_FLAG" val=""/>
</p:tagLst>
</file>

<file path=ppt/tags/tag598.xml><?xml version="1.0" encoding="utf-8"?>
<p:tagLst xmlns:p="http://schemas.openxmlformats.org/presentationml/2006/main">
  <p:tag name="KSO_WM_BEAUTIFY_FLAG" val=""/>
</p:tagLst>
</file>

<file path=ppt/tags/tag599.xml><?xml version="1.0" encoding="utf-8"?>
<p:tagLst xmlns:p="http://schemas.openxmlformats.org/presentationml/2006/main">
  <p:tag name="KSO_WM_BEAUTIFY_FLAG" val=""/>
</p:tagLst>
</file>

<file path=ppt/tags/tag600.xml><?xml version="1.0" encoding="utf-8"?>
<p:tagLst xmlns:p="http://schemas.openxmlformats.org/presentationml/2006/main">
  <p:tag name="KSO_WM_BEAUTIFY_FLAG" val=""/>
</p:tagLst>
</file>

<file path=ppt/tags/tag601.xml><?xml version="1.0" encoding="utf-8"?>
<p:tagLst xmlns:p="http://schemas.openxmlformats.org/presentationml/2006/main">
  <p:tag name="KSO_WM_BEAUTIFY_FLAG" val=""/>
</p:tagLst>
</file>

<file path=ppt/tags/tag602.xml><?xml version="1.0" encoding="utf-8"?>
<p:tagLst xmlns:p="http://schemas.openxmlformats.org/presentationml/2006/main">
  <p:tag name="KSO_WM_BEAUTIFY_FLAG" val=""/>
</p:tagLst>
</file>

<file path=ppt/tags/tag603.xml><?xml version="1.0" encoding="utf-8"?>
<p:tagLst xmlns:p="http://schemas.openxmlformats.org/presentationml/2006/main">
  <p:tag name="KSO_WM_BEAUTIFY_FLAG" val=""/>
</p:tagLst>
</file>

<file path=ppt/tags/tag604.xml><?xml version="1.0" encoding="utf-8"?>
<p:tagLst xmlns:p="http://schemas.openxmlformats.org/presentationml/2006/main">
  <p:tag name="KSO_WM_BEAUTIFY_FLAG" val=""/>
</p:tagLst>
</file>

<file path=ppt/tags/tag605.xml><?xml version="1.0" encoding="utf-8"?>
<p:tagLst xmlns:p="http://schemas.openxmlformats.org/presentationml/2006/main">
  <p:tag name="KSO_WM_BEAUTIFY_FLAG" val=""/>
</p:tagLst>
</file>

<file path=ppt/tags/tag606.xml><?xml version="1.0" encoding="utf-8"?>
<p:tagLst xmlns:p="http://schemas.openxmlformats.org/presentationml/2006/main">
  <p:tag name="KSO_WM_BEAUTIFY_FLAG" val=""/>
</p:tagLst>
</file>

<file path=ppt/tags/tag607.xml><?xml version="1.0" encoding="utf-8"?>
<p:tagLst xmlns:p="http://schemas.openxmlformats.org/presentationml/2006/main">
  <p:tag name="KSO_WM_BEAUTIFY_FLAG" val=""/>
</p:tagLst>
</file>

<file path=ppt/tags/tag608.xml><?xml version="1.0" encoding="utf-8"?>
<p:tagLst xmlns:p="http://schemas.openxmlformats.org/presentationml/2006/main">
  <p:tag name="KSO_WM_BEAUTIFY_FLAG" val=""/>
</p:tagLst>
</file>

<file path=ppt/tags/tag609.xml><?xml version="1.0" encoding="utf-8"?>
<p:tagLst xmlns:p="http://schemas.openxmlformats.org/presentationml/2006/main">
  <p:tag name="KSO_WM_BEAUTIFY_FLAG" val=""/>
</p:tagLst>
</file>

<file path=ppt/tags/tag610.xml><?xml version="1.0" encoding="utf-8"?>
<p:tagLst xmlns:p="http://schemas.openxmlformats.org/presentationml/2006/main">
  <p:tag name="KSO_WM_BEAUTIFY_FLAG" val=""/>
</p:tagLst>
</file>

<file path=ppt/tags/tag611.xml><?xml version="1.0" encoding="utf-8"?>
<p:tagLst xmlns:p="http://schemas.openxmlformats.org/presentationml/2006/main">
  <p:tag name="KSO_WM_BEAUTIFY_FLAG" val=""/>
</p:tagLst>
</file>

<file path=ppt/tags/tag612.xml><?xml version="1.0" encoding="utf-8"?>
<p:tagLst xmlns:p="http://schemas.openxmlformats.org/presentationml/2006/main">
  <p:tag name="KSO_WM_BEAUTIFY_FLAG" val=""/>
</p:tagLst>
</file>

<file path=ppt/tags/tag613.xml><?xml version="1.0" encoding="utf-8"?>
<p:tagLst xmlns:p="http://schemas.openxmlformats.org/presentationml/2006/main">
  <p:tag name="KSO_WM_BEAUTIFY_FLAG" val=""/>
</p:tagLst>
</file>

<file path=ppt/tags/tag614.xml><?xml version="1.0" encoding="utf-8"?>
<p:tagLst xmlns:p="http://schemas.openxmlformats.org/presentationml/2006/main">
  <p:tag name="KSO_WM_BEAUTIFY_FLAG" val=""/>
</p:tagLst>
</file>

<file path=ppt/tags/tag615.xml><?xml version="1.0" encoding="utf-8"?>
<p:tagLst xmlns:p="http://schemas.openxmlformats.org/presentationml/2006/main">
  <p:tag name="KSO_WM_BEAUTIFY_FLAG" val=""/>
</p:tagLst>
</file>

<file path=ppt/tags/tag616.xml><?xml version="1.0" encoding="utf-8"?>
<p:tagLst xmlns:p="http://schemas.openxmlformats.org/presentationml/2006/main">
  <p:tag name="KSO_WM_BEAUTIFY_FLAG" val=""/>
</p:tagLst>
</file>

<file path=ppt/tags/tag617.xml><?xml version="1.0" encoding="utf-8"?>
<p:tagLst xmlns:p="http://schemas.openxmlformats.org/presentationml/2006/main">
  <p:tag name="KSO_WM_BEAUTIFY_FLAG" val=""/>
</p:tagLst>
</file>

<file path=ppt/tags/tag618.xml><?xml version="1.0" encoding="utf-8"?>
<p:tagLst xmlns:p="http://schemas.openxmlformats.org/presentationml/2006/main">
  <p:tag name="KSO_WM_BEAUTIFY_FLAG" val=""/>
</p:tagLst>
</file>

<file path=ppt/tags/tag619.xml><?xml version="1.0" encoding="utf-8"?>
<p:tagLst xmlns:p="http://schemas.openxmlformats.org/presentationml/2006/main">
  <p:tag name="KSO_WM_BEAUTIFY_FLAG" val=""/>
</p:tagLst>
</file>

<file path=ppt/tags/tag620.xml><?xml version="1.0" encoding="utf-8"?>
<p:tagLst xmlns:p="http://schemas.openxmlformats.org/presentationml/2006/main">
  <p:tag name="KSO_WM_BEAUTIFY_FLAG" val=""/>
</p:tagLst>
</file>

<file path=ppt/tags/tag621.xml><?xml version="1.0" encoding="utf-8"?>
<p:tagLst xmlns:p="http://schemas.openxmlformats.org/presentationml/2006/main">
  <p:tag name="KSO_WM_BEAUTIFY_FLAG" val=""/>
</p:tagLst>
</file>

<file path=ppt/tags/tag622.xml><?xml version="1.0" encoding="utf-8"?>
<p:tagLst xmlns:p="http://schemas.openxmlformats.org/presentationml/2006/main">
  <p:tag name="KSO_WM_BEAUTIFY_FLAG" val=""/>
</p:tagLst>
</file>

<file path=ppt/tags/tag623.xml><?xml version="1.0" encoding="utf-8"?>
<p:tagLst xmlns:p="http://schemas.openxmlformats.org/presentationml/2006/main">
  <p:tag name="KSO_WM_BEAUTIFY_FLAG" val=""/>
</p:tagLst>
</file>

<file path=ppt/tags/tag624.xml><?xml version="1.0" encoding="utf-8"?>
<p:tagLst xmlns:p="http://schemas.openxmlformats.org/presentationml/2006/main">
  <p:tag name="KSO_WM_BEAUTIFY_FLAG" val=""/>
</p:tagLst>
</file>

<file path=ppt/tags/tag625.xml><?xml version="1.0" encoding="utf-8"?>
<p:tagLst xmlns:p="http://schemas.openxmlformats.org/presentationml/2006/main">
  <p:tag name="KSO_WM_BEAUTIFY_FLAG" val=""/>
</p:tagLst>
</file>

<file path=ppt/tags/tag626.xml><?xml version="1.0" encoding="utf-8"?>
<p:tagLst xmlns:p="http://schemas.openxmlformats.org/presentationml/2006/main">
  <p:tag name="KSO_WM_BEAUTIFY_FLAG" val=""/>
</p:tagLst>
</file>

<file path=ppt/tags/tag627.xml><?xml version="1.0" encoding="utf-8"?>
<p:tagLst xmlns:p="http://schemas.openxmlformats.org/presentationml/2006/main">
  <p:tag name="KSO_WM_BEAUTIFY_FLAG" val=""/>
</p:tagLst>
</file>

<file path=ppt/tags/tag628.xml><?xml version="1.0" encoding="utf-8"?>
<p:tagLst xmlns:p="http://schemas.openxmlformats.org/presentationml/2006/main">
  <p:tag name="KSO_WM_BEAUTIFY_FLAG" val=""/>
</p:tagLst>
</file>

<file path=ppt/tags/tag629.xml><?xml version="1.0" encoding="utf-8"?>
<p:tagLst xmlns:p="http://schemas.openxmlformats.org/presentationml/2006/main">
  <p:tag name="KSO_WM_BEAUTIFY_FLAG" val=""/>
</p:tagLst>
</file>

<file path=ppt/tags/tag630.xml><?xml version="1.0" encoding="utf-8"?>
<p:tagLst xmlns:p="http://schemas.openxmlformats.org/presentationml/2006/main">
  <p:tag name="KSO_WM_BEAUTIFY_FLAG" val=""/>
</p:tagLst>
</file>

<file path=ppt/tags/tag631.xml><?xml version="1.0" encoding="utf-8"?>
<p:tagLst xmlns:p="http://schemas.openxmlformats.org/presentationml/2006/main">
  <p:tag name="KSO_WM_BEAUTIFY_FLAG" val=""/>
</p:tagLst>
</file>

<file path=ppt/tags/tag632.xml><?xml version="1.0" encoding="utf-8"?>
<p:tagLst xmlns:p="http://schemas.openxmlformats.org/presentationml/2006/main">
  <p:tag name="KSO_WM_BEAUTIFY_FLAG" val=""/>
</p:tagLst>
</file>

<file path=ppt/tags/tag633.xml><?xml version="1.0" encoding="utf-8"?>
<p:tagLst xmlns:p="http://schemas.openxmlformats.org/presentationml/2006/main">
  <p:tag name="KSO_WM_BEAUTIFY_FLAG" val=""/>
</p:tagLst>
</file>

<file path=ppt/tags/tag634.xml><?xml version="1.0" encoding="utf-8"?>
<p:tagLst xmlns:p="http://schemas.openxmlformats.org/presentationml/2006/main">
  <p:tag name="KSO_WM_BEAUTIFY_FLAG" val=""/>
</p:tagLst>
</file>

<file path=ppt/tags/tag635.xml><?xml version="1.0" encoding="utf-8"?>
<p:tagLst xmlns:p="http://schemas.openxmlformats.org/presentationml/2006/main">
  <p:tag name="KSO_WM_BEAUTIFY_FLAG" val=""/>
</p:tagLst>
</file>

<file path=ppt/tags/tag636.xml><?xml version="1.0" encoding="utf-8"?>
<p:tagLst xmlns:p="http://schemas.openxmlformats.org/presentationml/2006/main">
  <p:tag name="KSO_WM_BEAUTIFY_FLAG" val=""/>
</p:tagLst>
</file>

<file path=ppt/tags/tag637.xml><?xml version="1.0" encoding="utf-8"?>
<p:tagLst xmlns:p="http://schemas.openxmlformats.org/presentationml/2006/main">
  <p:tag name="KSO_WM_BEAUTIFY_FLAG" val=""/>
</p:tagLst>
</file>

<file path=ppt/tags/tag638.xml><?xml version="1.0" encoding="utf-8"?>
<p:tagLst xmlns:p="http://schemas.openxmlformats.org/presentationml/2006/main">
  <p:tag name="KSO_WM_BEAUTIFY_FLAG" val=""/>
</p:tagLst>
</file>

<file path=ppt/tags/tag639.xml><?xml version="1.0" encoding="utf-8"?>
<p:tagLst xmlns:p="http://schemas.openxmlformats.org/presentationml/2006/main">
  <p:tag name="KSO_WM_BEAUTIFY_FLAG" val=""/>
</p:tagLst>
</file>

<file path=ppt/tags/tag640.xml><?xml version="1.0" encoding="utf-8"?>
<p:tagLst xmlns:p="http://schemas.openxmlformats.org/presentationml/2006/main">
  <p:tag name="KSO_WM_BEAUTIFY_FLAG" val=""/>
</p:tagLst>
</file>

<file path=ppt/tags/tag641.xml><?xml version="1.0" encoding="utf-8"?>
<p:tagLst xmlns:p="http://schemas.openxmlformats.org/presentationml/2006/main">
  <p:tag name="KSO_WM_BEAUTIFY_FLAG" val=""/>
</p:tagLst>
</file>

<file path=ppt/tags/tag642.xml><?xml version="1.0" encoding="utf-8"?>
<p:tagLst xmlns:p="http://schemas.openxmlformats.org/presentationml/2006/main">
  <p:tag name="KSO_WM_BEAUTIFY_FLAG" val=""/>
</p:tagLst>
</file>

<file path=ppt/tags/tag643.xml><?xml version="1.0" encoding="utf-8"?>
<p:tagLst xmlns:p="http://schemas.openxmlformats.org/presentationml/2006/main">
  <p:tag name="KSO_WM_BEAUTIFY_FLAG" val=""/>
</p:tagLst>
</file>

<file path=ppt/tags/tag644.xml><?xml version="1.0" encoding="utf-8"?>
<p:tagLst xmlns:p="http://schemas.openxmlformats.org/presentationml/2006/main">
  <p:tag name="KSO_WM_BEAUTIFY_FLAG" val=""/>
</p:tagLst>
</file>

<file path=ppt/tags/tag645.xml><?xml version="1.0" encoding="utf-8"?>
<p:tagLst xmlns:p="http://schemas.openxmlformats.org/presentationml/2006/main">
  <p:tag name="KSO_WM_BEAUTIFY_FLAG" val=""/>
</p:tagLst>
</file>

<file path=ppt/tags/tag646.xml><?xml version="1.0" encoding="utf-8"?>
<p:tagLst xmlns:p="http://schemas.openxmlformats.org/presentationml/2006/main">
  <p:tag name="KSO_WM_BEAUTIFY_FLAG" val=""/>
</p:tagLst>
</file>

<file path=ppt/tags/tag647.xml><?xml version="1.0" encoding="utf-8"?>
<p:tagLst xmlns:p="http://schemas.openxmlformats.org/presentationml/2006/main">
  <p:tag name="KSO_WM_BEAUTIFY_FLAG" val=""/>
</p:tagLst>
</file>

<file path=ppt/tags/tag648.xml><?xml version="1.0" encoding="utf-8"?>
<p:tagLst xmlns:p="http://schemas.openxmlformats.org/presentationml/2006/main">
  <p:tag name="KSO_WM_BEAUTIFY_FLAG" val=""/>
</p:tagLst>
</file>

<file path=ppt/tags/tag649.xml><?xml version="1.0" encoding="utf-8"?>
<p:tagLst xmlns:p="http://schemas.openxmlformats.org/presentationml/2006/main">
  <p:tag name="KSO_WM_BEAUTIFY_FLAG" val=""/>
</p:tagLst>
</file>

<file path=ppt/tags/tag650.xml><?xml version="1.0" encoding="utf-8"?>
<p:tagLst xmlns:p="http://schemas.openxmlformats.org/presentationml/2006/main">
  <p:tag name="KSO_WM_BEAUTIFY_FLAG" val=""/>
</p:tagLst>
</file>

<file path=ppt/tags/tag651.xml><?xml version="1.0" encoding="utf-8"?>
<p:tagLst xmlns:p="http://schemas.openxmlformats.org/presentationml/2006/main">
  <p:tag name="KSO_WM_BEAUTIFY_FLAG" val=""/>
</p:tagLst>
</file>

<file path=ppt/tags/tag652.xml><?xml version="1.0" encoding="utf-8"?>
<p:tagLst xmlns:p="http://schemas.openxmlformats.org/presentationml/2006/main">
  <p:tag name="KSO_WM_BEAUTIFY_FLAG" val=""/>
</p:tagLst>
</file>

<file path=ppt/tags/tag653.xml><?xml version="1.0" encoding="utf-8"?>
<p:tagLst xmlns:p="http://schemas.openxmlformats.org/presentationml/2006/main">
  <p:tag name="KSO_WM_BEAUTIFY_FLAG" val=""/>
</p:tagLst>
</file>

<file path=ppt/tags/tag654.xml><?xml version="1.0" encoding="utf-8"?>
<p:tagLst xmlns:p="http://schemas.openxmlformats.org/presentationml/2006/main">
  <p:tag name="KSO_WM_BEAUTIFY_FLAG" val=""/>
</p:tagLst>
</file>

<file path=ppt/tags/tag655.xml><?xml version="1.0" encoding="utf-8"?>
<p:tagLst xmlns:p="http://schemas.openxmlformats.org/presentationml/2006/main">
  <p:tag name="KSO_WM_BEAUTIFY_FLAG" val=""/>
</p:tagLst>
</file>

<file path=ppt/tags/tag656.xml><?xml version="1.0" encoding="utf-8"?>
<p:tagLst xmlns:p="http://schemas.openxmlformats.org/presentationml/2006/main">
  <p:tag name="KSO_WM_BEAUTIFY_FLAG" val=""/>
</p:tagLst>
</file>

<file path=ppt/tags/tag657.xml><?xml version="1.0" encoding="utf-8"?>
<p:tagLst xmlns:p="http://schemas.openxmlformats.org/presentationml/2006/main">
  <p:tag name="KSO_WM_BEAUTIFY_FLAG" val=""/>
</p:tagLst>
</file>

<file path=ppt/tags/tag658.xml><?xml version="1.0" encoding="utf-8"?>
<p:tagLst xmlns:p="http://schemas.openxmlformats.org/presentationml/2006/main">
  <p:tag name="KSO_WM_BEAUTIFY_FLAG" val=""/>
</p:tagLst>
</file>

<file path=ppt/tags/tag659.xml><?xml version="1.0" encoding="utf-8"?>
<p:tagLst xmlns:p="http://schemas.openxmlformats.org/presentationml/2006/main">
  <p:tag name="KSO_WM_BEAUTIFY_FLAG" val=""/>
</p:tagLst>
</file>

<file path=ppt/tags/tag660.xml><?xml version="1.0" encoding="utf-8"?>
<p:tagLst xmlns:p="http://schemas.openxmlformats.org/presentationml/2006/main">
  <p:tag name="KSO_WM_BEAUTIFY_FLAG" val=""/>
</p:tagLst>
</file>

<file path=ppt/tags/tag661.xml><?xml version="1.0" encoding="utf-8"?>
<p:tagLst xmlns:p="http://schemas.openxmlformats.org/presentationml/2006/main">
  <p:tag name="KSO_WM_BEAUTIFY_FLAG" val=""/>
</p:tagLst>
</file>

<file path=ppt/tags/tag662.xml><?xml version="1.0" encoding="utf-8"?>
<p:tagLst xmlns:p="http://schemas.openxmlformats.org/presentationml/2006/main">
  <p:tag name="KSO_WM_BEAUTIFY_FLAG" val=""/>
</p:tagLst>
</file>

<file path=ppt/tags/tag663.xml><?xml version="1.0" encoding="utf-8"?>
<p:tagLst xmlns:p="http://schemas.openxmlformats.org/presentationml/2006/main">
  <p:tag name="KSO_WM_BEAUTIFY_FLAG" val=""/>
</p:tagLst>
</file>

<file path=ppt/tags/tag664.xml><?xml version="1.0" encoding="utf-8"?>
<p:tagLst xmlns:p="http://schemas.openxmlformats.org/presentationml/2006/main">
  <p:tag name="KSO_WM_BEAUTIFY_FLAG" val=""/>
</p:tagLst>
</file>

<file path=ppt/tags/tag665.xml><?xml version="1.0" encoding="utf-8"?>
<p:tagLst xmlns:p="http://schemas.openxmlformats.org/presentationml/2006/main">
  <p:tag name="KSO_WM_BEAUTIFY_FLAG" val=""/>
</p:tagLst>
</file>

<file path=ppt/tags/tag666.xml><?xml version="1.0" encoding="utf-8"?>
<p:tagLst xmlns:p="http://schemas.openxmlformats.org/presentationml/2006/main">
  <p:tag name="KSO_WM_BEAUTIFY_FLAG" val=""/>
</p:tagLst>
</file>

<file path=ppt/tags/tag667.xml><?xml version="1.0" encoding="utf-8"?>
<p:tagLst xmlns:p="http://schemas.openxmlformats.org/presentationml/2006/main">
  <p:tag name="KSO_WM_BEAUTIFY_FLAG" val=""/>
</p:tagLst>
</file>

<file path=ppt/tags/tag668.xml><?xml version="1.0" encoding="utf-8"?>
<p:tagLst xmlns:p="http://schemas.openxmlformats.org/presentationml/2006/main">
  <p:tag name="KSO_WM_BEAUTIFY_FLAG" val=""/>
</p:tagLst>
</file>

<file path=ppt/tags/tag669.xml><?xml version="1.0" encoding="utf-8"?>
<p:tagLst xmlns:p="http://schemas.openxmlformats.org/presentationml/2006/main">
  <p:tag name="KSO_WM_BEAUTIFY_FLAG" val=""/>
</p:tagLst>
</file>

<file path=ppt/tags/tag670.xml><?xml version="1.0" encoding="utf-8"?>
<p:tagLst xmlns:p="http://schemas.openxmlformats.org/presentationml/2006/main">
  <p:tag name="KSO_WM_BEAUTIFY_FLAG" val=""/>
</p:tagLst>
</file>

<file path=ppt/tags/tag671.xml><?xml version="1.0" encoding="utf-8"?>
<p:tagLst xmlns:p="http://schemas.openxmlformats.org/presentationml/2006/main">
  <p:tag name="KSO_WM_BEAUTIFY_FLAG" val=""/>
</p:tagLst>
</file>

<file path=ppt/tags/tag672.xml><?xml version="1.0" encoding="utf-8"?>
<p:tagLst xmlns:p="http://schemas.openxmlformats.org/presentationml/2006/main">
  <p:tag name="KSO_WM_BEAUTIFY_FLAG" val=""/>
</p:tagLst>
</file>

<file path=ppt/tags/tag673.xml><?xml version="1.0" encoding="utf-8"?>
<p:tagLst xmlns:p="http://schemas.openxmlformats.org/presentationml/2006/main">
  <p:tag name="KSO_WM_BEAUTIFY_FLAG" val=""/>
</p:tagLst>
</file>

<file path=ppt/tags/tag674.xml><?xml version="1.0" encoding="utf-8"?>
<p:tagLst xmlns:p="http://schemas.openxmlformats.org/presentationml/2006/main">
  <p:tag name="KSO_WM_BEAUTIFY_FLAG" val=""/>
</p:tagLst>
</file>

<file path=ppt/tags/tag675.xml><?xml version="1.0" encoding="utf-8"?>
<p:tagLst xmlns:p="http://schemas.openxmlformats.org/presentationml/2006/main">
  <p:tag name="KSO_WM_BEAUTIFY_FLAG" val=""/>
</p:tagLst>
</file>

<file path=ppt/tags/tag676.xml><?xml version="1.0" encoding="utf-8"?>
<p:tagLst xmlns:p="http://schemas.openxmlformats.org/presentationml/2006/main">
  <p:tag name="KSO_WM_BEAUTIFY_FLAG" val=""/>
</p:tagLst>
</file>

<file path=ppt/tags/tag677.xml><?xml version="1.0" encoding="utf-8"?>
<p:tagLst xmlns:p="http://schemas.openxmlformats.org/presentationml/2006/main">
  <p:tag name="KSO_WM_BEAUTIFY_FLAG" val=""/>
</p:tagLst>
</file>

<file path=ppt/tags/tag678.xml><?xml version="1.0" encoding="utf-8"?>
<p:tagLst xmlns:p="http://schemas.openxmlformats.org/presentationml/2006/main">
  <p:tag name="KSO_WM_BEAUTIFY_FLAG" val=""/>
</p:tagLst>
</file>

<file path=ppt/tags/tag679.xml><?xml version="1.0" encoding="utf-8"?>
<p:tagLst xmlns:p="http://schemas.openxmlformats.org/presentationml/2006/main">
  <p:tag name="KSO_WM_BEAUTIFY_FLAG" val=""/>
</p:tagLst>
</file>

<file path=ppt/tags/tag680.xml><?xml version="1.0" encoding="utf-8"?>
<p:tagLst xmlns:p="http://schemas.openxmlformats.org/presentationml/2006/main">
  <p:tag name="KSO_WM_BEAUTIFY_FLAG" val=""/>
</p:tagLst>
</file>

<file path=ppt/tags/tag681.xml><?xml version="1.0" encoding="utf-8"?>
<p:tagLst xmlns:p="http://schemas.openxmlformats.org/presentationml/2006/main">
  <p:tag name="KSO_WM_BEAUTIFY_FLAG" val=""/>
</p:tagLst>
</file>

<file path=ppt/tags/tag682.xml><?xml version="1.0" encoding="utf-8"?>
<p:tagLst xmlns:p="http://schemas.openxmlformats.org/presentationml/2006/main">
  <p:tag name="KSO_WM_BEAUTIFY_FLAG" val=""/>
</p:tagLst>
</file>

<file path=ppt/tags/tag683.xml><?xml version="1.0" encoding="utf-8"?>
<p:tagLst xmlns:p="http://schemas.openxmlformats.org/presentationml/2006/main">
  <p:tag name="KSO_WM_BEAUTIFY_FLAG" val=""/>
</p:tagLst>
</file>

<file path=ppt/tags/tag684.xml><?xml version="1.0" encoding="utf-8"?>
<p:tagLst xmlns:p="http://schemas.openxmlformats.org/presentationml/2006/main">
  <p:tag name="KSO_WM_BEAUTIFY_FLAG" val=""/>
</p:tagLst>
</file>

<file path=ppt/tags/tag685.xml><?xml version="1.0" encoding="utf-8"?>
<p:tagLst xmlns:p="http://schemas.openxmlformats.org/presentationml/2006/main">
  <p:tag name="KSO_WM_BEAUTIFY_FLAG" val=""/>
</p:tagLst>
</file>

<file path=ppt/tags/tag686.xml><?xml version="1.0" encoding="utf-8"?>
<p:tagLst xmlns:p="http://schemas.openxmlformats.org/presentationml/2006/main">
  <p:tag name="KSO_WM_BEAUTIFY_FLAG" val=""/>
</p:tagLst>
</file>

<file path=ppt/tags/tag687.xml><?xml version="1.0" encoding="utf-8"?>
<p:tagLst xmlns:p="http://schemas.openxmlformats.org/presentationml/2006/main">
  <p:tag name="KSO_WM_BEAUTIFY_FLAG" val=""/>
</p:tagLst>
</file>

<file path=ppt/tags/tag688.xml><?xml version="1.0" encoding="utf-8"?>
<p:tagLst xmlns:p="http://schemas.openxmlformats.org/presentationml/2006/main">
  <p:tag name="KSO_WM_BEAUTIFY_FLAG" val=""/>
</p:tagLst>
</file>

<file path=ppt/tags/tag689.xml><?xml version="1.0" encoding="utf-8"?>
<p:tagLst xmlns:p="http://schemas.openxmlformats.org/presentationml/2006/main">
  <p:tag name="KSO_WM_BEAUTIFY_FLAG" val=""/>
</p:tagLst>
</file>

<file path=ppt/tags/tag690.xml><?xml version="1.0" encoding="utf-8"?>
<p:tagLst xmlns:p="http://schemas.openxmlformats.org/presentationml/2006/main">
  <p:tag name="KSO_WM_BEAUTIFY_FLAG" val=""/>
</p:tagLst>
</file>

<file path=ppt/tags/tag691.xml><?xml version="1.0" encoding="utf-8"?>
<p:tagLst xmlns:p="http://schemas.openxmlformats.org/presentationml/2006/main">
  <p:tag name="KSO_WM_BEAUTIFY_FLAG" val=""/>
</p:tagLst>
</file>

<file path=ppt/tags/tag692.xml><?xml version="1.0" encoding="utf-8"?>
<p:tagLst xmlns:p="http://schemas.openxmlformats.org/presentationml/2006/main">
  <p:tag name="KSO_WM_BEAUTIFY_FLAG" val=""/>
</p:tagLst>
</file>

<file path=ppt/tags/tag693.xml><?xml version="1.0" encoding="utf-8"?>
<p:tagLst xmlns:p="http://schemas.openxmlformats.org/presentationml/2006/main">
  <p:tag name="KSO_WM_BEAUTIFY_FLAG" val=""/>
</p:tagLst>
</file>

<file path=ppt/tags/tag694.xml><?xml version="1.0" encoding="utf-8"?>
<p:tagLst xmlns:p="http://schemas.openxmlformats.org/presentationml/2006/main">
  <p:tag name="KSO_WM_BEAUTIFY_FLAG" val=""/>
</p:tagLst>
</file>

<file path=ppt/tags/tag695.xml><?xml version="1.0" encoding="utf-8"?>
<p:tagLst xmlns:p="http://schemas.openxmlformats.org/presentationml/2006/main">
  <p:tag name="KSO_WM_BEAUTIFY_FLAG" val=""/>
</p:tagLst>
</file>

<file path=ppt/tags/tag696.xml><?xml version="1.0" encoding="utf-8"?>
<p:tagLst xmlns:p="http://schemas.openxmlformats.org/presentationml/2006/main">
  <p:tag name="KSO_WM_BEAUTIFY_FLAG" val=""/>
</p:tagLst>
</file>

<file path=ppt/tags/tag697.xml><?xml version="1.0" encoding="utf-8"?>
<p:tagLst xmlns:p="http://schemas.openxmlformats.org/presentationml/2006/main">
  <p:tag name="KSO_WM_BEAUTIFY_FLAG" val=""/>
</p:tagLst>
</file>

<file path=ppt/tags/tag698.xml><?xml version="1.0" encoding="utf-8"?>
<p:tagLst xmlns:p="http://schemas.openxmlformats.org/presentationml/2006/main">
  <p:tag name="KSO_WM_BEAUTIFY_FLAG" val=""/>
</p:tagLst>
</file>

<file path=ppt/tags/tag699.xml><?xml version="1.0" encoding="utf-8"?>
<p:tagLst xmlns:p="http://schemas.openxmlformats.org/presentationml/2006/main">
  <p:tag name="KSO_WM_BEAUTIFY_FLAG" val=""/>
</p:tagLst>
</file>

<file path=ppt/tags/tag700.xml><?xml version="1.0" encoding="utf-8"?>
<p:tagLst xmlns:p="http://schemas.openxmlformats.org/presentationml/2006/main">
  <p:tag name="KSO_WM_BEAUTIFY_FLAG" val=""/>
</p:tagLst>
</file>

<file path=ppt/tags/tag701.xml><?xml version="1.0" encoding="utf-8"?>
<p:tagLst xmlns:p="http://schemas.openxmlformats.org/presentationml/2006/main">
  <p:tag name="KSO_WM_BEAUTIFY_FLAG" val=""/>
</p:tagLst>
</file>

<file path=ppt/tags/tag702.xml><?xml version="1.0" encoding="utf-8"?>
<p:tagLst xmlns:p="http://schemas.openxmlformats.org/presentationml/2006/main">
  <p:tag name="KSO_WM_BEAUTIFY_FLAG" val=""/>
</p:tagLst>
</file>

<file path=ppt/tags/tag703.xml><?xml version="1.0" encoding="utf-8"?>
<p:tagLst xmlns:p="http://schemas.openxmlformats.org/presentationml/2006/main">
  <p:tag name="KSO_WM_BEAUTIFY_FLAG" val=""/>
</p:tagLst>
</file>

<file path=ppt/tags/tag704.xml><?xml version="1.0" encoding="utf-8"?>
<p:tagLst xmlns:p="http://schemas.openxmlformats.org/presentationml/2006/main">
  <p:tag name="KSO_WM_BEAUTIFY_FLAG" val=""/>
</p:tagLst>
</file>

<file path=ppt/tags/tag705.xml><?xml version="1.0" encoding="utf-8"?>
<p:tagLst xmlns:p="http://schemas.openxmlformats.org/presentationml/2006/main">
  <p:tag name="KSO_WM_BEAUTIFY_FLAG" val=""/>
</p:tagLst>
</file>

<file path=ppt/tags/tag706.xml><?xml version="1.0" encoding="utf-8"?>
<p:tagLst xmlns:p="http://schemas.openxmlformats.org/presentationml/2006/main">
  <p:tag name="KSO_WM_BEAUTIFY_FLAG" val=""/>
</p:tagLst>
</file>

<file path=ppt/tags/tag707.xml><?xml version="1.0" encoding="utf-8"?>
<p:tagLst xmlns:p="http://schemas.openxmlformats.org/presentationml/2006/main">
  <p:tag name="KSO_WM_BEAUTIFY_FLAG" val=""/>
</p:tagLst>
</file>

<file path=ppt/tags/tag708.xml><?xml version="1.0" encoding="utf-8"?>
<p:tagLst xmlns:p="http://schemas.openxmlformats.org/presentationml/2006/main">
  <p:tag name="KSO_WM_BEAUTIFY_FLAG" val=""/>
</p:tagLst>
</file>

<file path=ppt/tags/tag709.xml><?xml version="1.0" encoding="utf-8"?>
<p:tagLst xmlns:p="http://schemas.openxmlformats.org/presentationml/2006/main">
  <p:tag name="KSO_WM_BEAUTIFY_FLAG" val=""/>
</p:tagLst>
</file>

<file path=ppt/tags/tag710.xml><?xml version="1.0" encoding="utf-8"?>
<p:tagLst xmlns:p="http://schemas.openxmlformats.org/presentationml/2006/main">
  <p:tag name="KSO_WM_BEAUTIFY_FLAG" val=""/>
</p:tagLst>
</file>

<file path=ppt/tags/tag711.xml><?xml version="1.0" encoding="utf-8"?>
<p:tagLst xmlns:p="http://schemas.openxmlformats.org/presentationml/2006/main">
  <p:tag name="KSO_WM_BEAUTIFY_FLAG" val=""/>
</p:tagLst>
</file>

<file path=ppt/tags/tag712.xml><?xml version="1.0" encoding="utf-8"?>
<p:tagLst xmlns:p="http://schemas.openxmlformats.org/presentationml/2006/main">
  <p:tag name="KSO_WM_BEAUTIFY_FLAG" val=""/>
</p:tagLst>
</file>

<file path=ppt/tags/tag713.xml><?xml version="1.0" encoding="utf-8"?>
<p:tagLst xmlns:p="http://schemas.openxmlformats.org/presentationml/2006/main">
  <p:tag name="KSO_WM_BEAUTIFY_FLAG" val=""/>
</p:tagLst>
</file>

<file path=ppt/tags/tag714.xml><?xml version="1.0" encoding="utf-8"?>
<p:tagLst xmlns:p="http://schemas.openxmlformats.org/presentationml/2006/main">
  <p:tag name="KSO_WM_BEAUTIFY_FLAG" val=""/>
</p:tagLst>
</file>

<file path=ppt/tags/tag715.xml><?xml version="1.0" encoding="utf-8"?>
<p:tagLst xmlns:p="http://schemas.openxmlformats.org/presentationml/2006/main">
  <p:tag name="KSO_WM_BEAUTIFY_FLAG" val=""/>
</p:tagLst>
</file>

<file path=ppt/tags/tag716.xml><?xml version="1.0" encoding="utf-8"?>
<p:tagLst xmlns:p="http://schemas.openxmlformats.org/presentationml/2006/main">
  <p:tag name="KSO_WM_BEAUTIFY_FLAG" val=""/>
</p:tagLst>
</file>

<file path=ppt/tags/tag717.xml><?xml version="1.0" encoding="utf-8"?>
<p:tagLst xmlns:p="http://schemas.openxmlformats.org/presentationml/2006/main">
  <p:tag name="KSO_WM_BEAUTIFY_FLAG" val=""/>
</p:tagLst>
</file>

<file path=ppt/tags/tag718.xml><?xml version="1.0" encoding="utf-8"?>
<p:tagLst xmlns:p="http://schemas.openxmlformats.org/presentationml/2006/main">
  <p:tag name="KSO_WM_BEAUTIFY_FLAG" val=""/>
</p:tagLst>
</file>

<file path=ppt/tags/tag719.xml><?xml version="1.0" encoding="utf-8"?>
<p:tagLst xmlns:p="http://schemas.openxmlformats.org/presentationml/2006/main">
  <p:tag name="KSO_WM_BEAUTIFY_FLAG" val=""/>
</p:tagLst>
</file>

<file path=ppt/tags/tag720.xml><?xml version="1.0" encoding="utf-8"?>
<p:tagLst xmlns:p="http://schemas.openxmlformats.org/presentationml/2006/main">
  <p:tag name="KSO_WM_BEAUTIFY_FLAG" val=""/>
</p:tagLst>
</file>

<file path=ppt/tags/tag721.xml><?xml version="1.0" encoding="utf-8"?>
<p:tagLst xmlns:p="http://schemas.openxmlformats.org/presentationml/2006/main">
  <p:tag name="KSO_WM_BEAUTIFY_FLAG" val=""/>
</p:tagLst>
</file>

<file path=ppt/tags/tag722.xml><?xml version="1.0" encoding="utf-8"?>
<p:tagLst xmlns:p="http://schemas.openxmlformats.org/presentationml/2006/main">
  <p:tag name="KSO_WM_BEAUTIFY_FLAG" val=""/>
</p:tagLst>
</file>

<file path=ppt/tags/tag723.xml><?xml version="1.0" encoding="utf-8"?>
<p:tagLst xmlns:p="http://schemas.openxmlformats.org/presentationml/2006/main">
  <p:tag name="KSO_WM_BEAUTIFY_FLAG" val=""/>
</p:tagLst>
</file>

<file path=ppt/tags/tag724.xml><?xml version="1.0" encoding="utf-8"?>
<p:tagLst xmlns:p="http://schemas.openxmlformats.org/presentationml/2006/main">
  <p:tag name="KSO_WM_BEAUTIFY_FLAG" val=""/>
</p:tagLst>
</file>

<file path=ppt/tags/tag725.xml><?xml version="1.0" encoding="utf-8"?>
<p:tagLst xmlns:p="http://schemas.openxmlformats.org/presentationml/2006/main">
  <p:tag name="KSO_WM_BEAUTIFY_FLAG" val=""/>
</p:tagLst>
</file>

<file path=ppt/tags/tag726.xml><?xml version="1.0" encoding="utf-8"?>
<p:tagLst xmlns:p="http://schemas.openxmlformats.org/presentationml/2006/main">
  <p:tag name="KSO_WM_BEAUTIFY_FLAG" val=""/>
</p:tagLst>
</file>

<file path=ppt/tags/tag727.xml><?xml version="1.0" encoding="utf-8"?>
<p:tagLst xmlns:p="http://schemas.openxmlformats.org/presentationml/2006/main">
  <p:tag name="KSO_WM_BEAUTIFY_FLAG" val=""/>
</p:tagLst>
</file>

<file path=ppt/tags/tag728.xml><?xml version="1.0" encoding="utf-8"?>
<p:tagLst xmlns:p="http://schemas.openxmlformats.org/presentationml/2006/main">
  <p:tag name="KSO_WM_BEAUTIFY_FLAG" val=""/>
</p:tagLst>
</file>

<file path=ppt/tags/tag729.xml><?xml version="1.0" encoding="utf-8"?>
<p:tagLst xmlns:p="http://schemas.openxmlformats.org/presentationml/2006/main">
  <p:tag name="KSO_WM_BEAUTIFY_FLAG" val=""/>
</p:tagLst>
</file>

<file path=ppt/tags/tag730.xml><?xml version="1.0" encoding="utf-8"?>
<p:tagLst xmlns:p="http://schemas.openxmlformats.org/presentationml/2006/main">
  <p:tag name="KSO_WM_BEAUTIFY_FLAG" val=""/>
</p:tagLst>
</file>

<file path=ppt/tags/tag731.xml><?xml version="1.0" encoding="utf-8"?>
<p:tagLst xmlns:p="http://schemas.openxmlformats.org/presentationml/2006/main">
  <p:tag name="KSO_WM_BEAUTIFY_FLAG" val=""/>
</p:tagLst>
</file>

<file path=ppt/tags/tag732.xml><?xml version="1.0" encoding="utf-8"?>
<p:tagLst xmlns:p="http://schemas.openxmlformats.org/presentationml/2006/main">
  <p:tag name="KSO_WM_BEAUTIFY_FLAG" val=""/>
</p:tagLst>
</file>

<file path=ppt/tags/tag733.xml><?xml version="1.0" encoding="utf-8"?>
<p:tagLst xmlns:p="http://schemas.openxmlformats.org/presentationml/2006/main">
  <p:tag name="KSO_WM_BEAUTIFY_FLAG" val=""/>
</p:tagLst>
</file>

<file path=ppt/tags/tag734.xml><?xml version="1.0" encoding="utf-8"?>
<p:tagLst xmlns:p="http://schemas.openxmlformats.org/presentationml/2006/main">
  <p:tag name="KSO_WM_BEAUTIFY_FLAG" val=""/>
</p:tagLst>
</file>

<file path=ppt/tags/tag735.xml><?xml version="1.0" encoding="utf-8"?>
<p:tagLst xmlns:p="http://schemas.openxmlformats.org/presentationml/2006/main">
  <p:tag name="KSO_WM_BEAUTIFY_FLAG" val=""/>
</p:tagLst>
</file>

<file path=ppt/tags/tag736.xml><?xml version="1.0" encoding="utf-8"?>
<p:tagLst xmlns:p="http://schemas.openxmlformats.org/presentationml/2006/main">
  <p:tag name="KSO_WM_BEAUTIFY_FLAG" val=""/>
</p:tagLst>
</file>

<file path=ppt/tags/tag737.xml><?xml version="1.0" encoding="utf-8"?>
<p:tagLst xmlns:p="http://schemas.openxmlformats.org/presentationml/2006/main">
  <p:tag name="KSO_WM_BEAUTIFY_FLAG" val=""/>
</p:tagLst>
</file>

<file path=ppt/tags/tag738.xml><?xml version="1.0" encoding="utf-8"?>
<p:tagLst xmlns:p="http://schemas.openxmlformats.org/presentationml/2006/main">
  <p:tag name="KSO_WM_BEAUTIFY_FLAG" val=""/>
</p:tagLst>
</file>

<file path=ppt/tags/tag739.xml><?xml version="1.0" encoding="utf-8"?>
<p:tagLst xmlns:p="http://schemas.openxmlformats.org/presentationml/2006/main">
  <p:tag name="KSO_WM_BEAUTIFY_FLAG" val=""/>
</p:tagLst>
</file>

<file path=ppt/tags/tag740.xml><?xml version="1.0" encoding="utf-8"?>
<p:tagLst xmlns:p="http://schemas.openxmlformats.org/presentationml/2006/main">
  <p:tag name="KSO_WM_BEAUTIFY_FLAG" val=""/>
</p:tagLst>
</file>

<file path=ppt/tags/tag741.xml><?xml version="1.0" encoding="utf-8"?>
<p:tagLst xmlns:p="http://schemas.openxmlformats.org/presentationml/2006/main">
  <p:tag name="KSO_WM_BEAUTIFY_FLAG" val=""/>
</p:tagLst>
</file>

<file path=ppt/tags/tag742.xml><?xml version="1.0" encoding="utf-8"?>
<p:tagLst xmlns:p="http://schemas.openxmlformats.org/presentationml/2006/main">
  <p:tag name="KSO_WM_BEAUTIFY_FLAG" val=""/>
</p:tagLst>
</file>

<file path=ppt/tags/tag743.xml><?xml version="1.0" encoding="utf-8"?>
<p:tagLst xmlns:p="http://schemas.openxmlformats.org/presentationml/2006/main">
  <p:tag name="KSO_WM_BEAUTIFY_FLAG" val=""/>
</p:tagLst>
</file>

<file path=ppt/tags/tag744.xml><?xml version="1.0" encoding="utf-8"?>
<p:tagLst xmlns:p="http://schemas.openxmlformats.org/presentationml/2006/main">
  <p:tag name="KSO_WM_BEAUTIFY_FLAG" val=""/>
</p:tagLst>
</file>

<file path=ppt/tags/tag745.xml><?xml version="1.0" encoding="utf-8"?>
<p:tagLst xmlns:p="http://schemas.openxmlformats.org/presentationml/2006/main">
  <p:tag name="KSO_WM_BEAUTIFY_FLAG" val=""/>
</p:tagLst>
</file>

<file path=ppt/tags/tag746.xml><?xml version="1.0" encoding="utf-8"?>
<p:tagLst xmlns:p="http://schemas.openxmlformats.org/presentationml/2006/main">
  <p:tag name="KSO_WM_BEAUTIFY_FLAG" val=""/>
</p:tagLst>
</file>

<file path=ppt/tags/tag747.xml><?xml version="1.0" encoding="utf-8"?>
<p:tagLst xmlns:p="http://schemas.openxmlformats.org/presentationml/2006/main">
  <p:tag name="KSO_WM_BEAUTIFY_FLAG" val=""/>
</p:tagLst>
</file>

<file path=ppt/tags/tag748.xml><?xml version="1.0" encoding="utf-8"?>
<p:tagLst xmlns:p="http://schemas.openxmlformats.org/presentationml/2006/main">
  <p:tag name="KSO_WM_BEAUTIFY_FLAG" val=""/>
</p:tagLst>
</file>

<file path=ppt/tags/tag749.xml><?xml version="1.0" encoding="utf-8"?>
<p:tagLst xmlns:p="http://schemas.openxmlformats.org/presentationml/2006/main">
  <p:tag name="KSO_WM_BEAUTIFY_FLAG" val=""/>
</p:tagLst>
</file>

<file path=ppt/tags/tag750.xml><?xml version="1.0" encoding="utf-8"?>
<p:tagLst xmlns:p="http://schemas.openxmlformats.org/presentationml/2006/main">
  <p:tag name="KSO_WM_BEAUTIFY_FLAG" val=""/>
</p:tagLst>
</file>

<file path=ppt/tags/tag751.xml><?xml version="1.0" encoding="utf-8"?>
<p:tagLst xmlns:p="http://schemas.openxmlformats.org/presentationml/2006/main">
  <p:tag name="KSO_WM_BEAUTIFY_FLAG" val=""/>
</p:tagLst>
</file>

<file path=ppt/tags/tag752.xml><?xml version="1.0" encoding="utf-8"?>
<p:tagLst xmlns:p="http://schemas.openxmlformats.org/presentationml/2006/main">
  <p:tag name="KSO_WM_BEAUTIFY_FLAG" val=""/>
</p:tagLst>
</file>

<file path=ppt/tags/tag753.xml><?xml version="1.0" encoding="utf-8"?>
<p:tagLst xmlns:p="http://schemas.openxmlformats.org/presentationml/2006/main">
  <p:tag name="KSO_WM_BEAUTIFY_FLAG" val=""/>
</p:tagLst>
</file>

<file path=ppt/tags/tag754.xml><?xml version="1.0" encoding="utf-8"?>
<p:tagLst xmlns:p="http://schemas.openxmlformats.org/presentationml/2006/main">
  <p:tag name="KSO_WM_BEAUTIFY_FLAG" val=""/>
</p:tagLst>
</file>

<file path=ppt/tags/tag755.xml><?xml version="1.0" encoding="utf-8"?>
<p:tagLst xmlns:p="http://schemas.openxmlformats.org/presentationml/2006/main">
  <p:tag name="KSO_WM_BEAUTIFY_FLAG" val=""/>
</p:tagLst>
</file>

<file path=ppt/tags/tag756.xml><?xml version="1.0" encoding="utf-8"?>
<p:tagLst xmlns:p="http://schemas.openxmlformats.org/presentationml/2006/main">
  <p:tag name="KSO_WM_BEAUTIFY_FLAG" val=""/>
</p:tagLst>
</file>

<file path=ppt/tags/tag757.xml><?xml version="1.0" encoding="utf-8"?>
<p:tagLst xmlns:p="http://schemas.openxmlformats.org/presentationml/2006/main">
  <p:tag name="KSO_WM_BEAUTIFY_FLAG" val=""/>
</p:tagLst>
</file>

<file path=ppt/tags/tag758.xml><?xml version="1.0" encoding="utf-8"?>
<p:tagLst xmlns:p="http://schemas.openxmlformats.org/presentationml/2006/main">
  <p:tag name="KSO_WM_BEAUTIFY_FLAG" val=""/>
</p:tagLst>
</file>

<file path=ppt/tags/tag759.xml><?xml version="1.0" encoding="utf-8"?>
<p:tagLst xmlns:p="http://schemas.openxmlformats.org/presentationml/2006/main">
  <p:tag name="KSO_WM_BEAUTIFY_FLAG" val=""/>
</p:tagLst>
</file>

<file path=ppt/tags/tag760.xml><?xml version="1.0" encoding="utf-8"?>
<p:tagLst xmlns:p="http://schemas.openxmlformats.org/presentationml/2006/main">
  <p:tag name="KSO_WM_BEAUTIFY_FLAG" val=""/>
</p:tagLst>
</file>

<file path=ppt/tags/tag761.xml><?xml version="1.0" encoding="utf-8"?>
<p:tagLst xmlns:p="http://schemas.openxmlformats.org/presentationml/2006/main">
  <p:tag name="KSO_WM_BEAUTIFY_FLAG" val=""/>
</p:tagLst>
</file>

<file path=ppt/tags/tag762.xml><?xml version="1.0" encoding="utf-8"?>
<p:tagLst xmlns:p="http://schemas.openxmlformats.org/presentationml/2006/main">
  <p:tag name="KSO_WM_BEAUTIFY_FLAG" val=""/>
</p:tagLst>
</file>

<file path=ppt/tags/tag763.xml><?xml version="1.0" encoding="utf-8"?>
<p:tagLst xmlns:p="http://schemas.openxmlformats.org/presentationml/2006/main">
  <p:tag name="KSO_WM_BEAUTIFY_FLAG" val=""/>
</p:tagLst>
</file>

<file path=ppt/tags/tag764.xml><?xml version="1.0" encoding="utf-8"?>
<p:tagLst xmlns:p="http://schemas.openxmlformats.org/presentationml/2006/main">
  <p:tag name="KSO_WM_BEAUTIFY_FLAG" val=""/>
</p:tagLst>
</file>

<file path=ppt/tags/tag765.xml><?xml version="1.0" encoding="utf-8"?>
<p:tagLst xmlns:p="http://schemas.openxmlformats.org/presentationml/2006/main">
  <p:tag name="KSO_WM_BEAUTIFY_FLAG" val=""/>
</p:tagLst>
</file>

<file path=ppt/tags/tag766.xml><?xml version="1.0" encoding="utf-8"?>
<p:tagLst xmlns:p="http://schemas.openxmlformats.org/presentationml/2006/main">
  <p:tag name="KSO_WM_BEAUTIFY_FLAG" val=""/>
</p:tagLst>
</file>

<file path=ppt/tags/tag767.xml><?xml version="1.0" encoding="utf-8"?>
<p:tagLst xmlns:p="http://schemas.openxmlformats.org/presentationml/2006/main">
  <p:tag name="KSO_WM_BEAUTIFY_FLAG" val=""/>
</p:tagLst>
</file>

<file path=ppt/tags/tag768.xml><?xml version="1.0" encoding="utf-8"?>
<p:tagLst xmlns:p="http://schemas.openxmlformats.org/presentationml/2006/main">
  <p:tag name="KSO_WM_BEAUTIFY_FLAG" val=""/>
</p:tagLst>
</file>

<file path=ppt/tags/tag769.xml><?xml version="1.0" encoding="utf-8"?>
<p:tagLst xmlns:p="http://schemas.openxmlformats.org/presentationml/2006/main">
  <p:tag name="KSO_WM_BEAUTIFY_FLAG" val=""/>
</p:tagLst>
</file>

<file path=ppt/tags/tag770.xml><?xml version="1.0" encoding="utf-8"?>
<p:tagLst xmlns:p="http://schemas.openxmlformats.org/presentationml/2006/main">
  <p:tag name="KSO_WM_BEAUTIFY_FLAG" val=""/>
</p:tagLst>
</file>

<file path=ppt/tags/tag771.xml><?xml version="1.0" encoding="utf-8"?>
<p:tagLst xmlns:p="http://schemas.openxmlformats.org/presentationml/2006/main">
  <p:tag name="KSO_WM_BEAUTIFY_FLAG" val=""/>
</p:tagLst>
</file>

<file path=ppt/tags/tag772.xml><?xml version="1.0" encoding="utf-8"?>
<p:tagLst xmlns:p="http://schemas.openxmlformats.org/presentationml/2006/main">
  <p:tag name="KSO_WM_BEAUTIFY_FLAG" val=""/>
</p:tagLst>
</file>

<file path=ppt/tags/tag773.xml><?xml version="1.0" encoding="utf-8"?>
<p:tagLst xmlns:p="http://schemas.openxmlformats.org/presentationml/2006/main">
  <p:tag name="KSO_WM_BEAUTIFY_FLAG" val=""/>
</p:tagLst>
</file>

<file path=ppt/tags/tag774.xml><?xml version="1.0" encoding="utf-8"?>
<p:tagLst xmlns:p="http://schemas.openxmlformats.org/presentationml/2006/main">
  <p:tag name="KSO_WM_BEAUTIFY_FLAG" val=""/>
</p:tagLst>
</file>

<file path=ppt/tags/tag775.xml><?xml version="1.0" encoding="utf-8"?>
<p:tagLst xmlns:p="http://schemas.openxmlformats.org/presentationml/2006/main">
  <p:tag name="KSO_WM_BEAUTIFY_FLAG" val=""/>
</p:tagLst>
</file>

<file path=ppt/tags/tag776.xml><?xml version="1.0" encoding="utf-8"?>
<p:tagLst xmlns:p="http://schemas.openxmlformats.org/presentationml/2006/main">
  <p:tag name="KSO_WM_BEAUTIFY_FLAG" val=""/>
</p:tagLst>
</file>

<file path=ppt/tags/tag777.xml><?xml version="1.0" encoding="utf-8"?>
<p:tagLst xmlns:p="http://schemas.openxmlformats.org/presentationml/2006/main">
  <p:tag name="KSO_WM_BEAUTIFY_FLAG" val=""/>
</p:tagLst>
</file>

<file path=ppt/tags/tag778.xml><?xml version="1.0" encoding="utf-8"?>
<p:tagLst xmlns:p="http://schemas.openxmlformats.org/presentationml/2006/main">
  <p:tag name="KSO_WM_BEAUTIFY_FLAG" val=""/>
</p:tagLst>
</file>

<file path=ppt/tags/tag779.xml><?xml version="1.0" encoding="utf-8"?>
<p:tagLst xmlns:p="http://schemas.openxmlformats.org/presentationml/2006/main">
  <p:tag name="KSO_WM_BEAUTIFY_FLAG" val=""/>
</p:tagLst>
</file>

<file path=ppt/tags/tag780.xml><?xml version="1.0" encoding="utf-8"?>
<p:tagLst xmlns:p="http://schemas.openxmlformats.org/presentationml/2006/main">
  <p:tag name="KSO_WM_BEAUTIFY_FLAG" val=""/>
</p:tagLst>
</file>

<file path=ppt/tags/tag781.xml><?xml version="1.0" encoding="utf-8"?>
<p:tagLst xmlns:p="http://schemas.openxmlformats.org/presentationml/2006/main">
  <p:tag name="KSO_WM_BEAUTIFY_FLAG" val=""/>
</p:tagLst>
</file>

<file path=ppt/tags/tag782.xml><?xml version="1.0" encoding="utf-8"?>
<p:tagLst xmlns:p="http://schemas.openxmlformats.org/presentationml/2006/main">
  <p:tag name="KSO_WM_BEAUTIFY_FLAG" val=""/>
</p:tagLst>
</file>

<file path=ppt/tags/tag783.xml><?xml version="1.0" encoding="utf-8"?>
<p:tagLst xmlns:p="http://schemas.openxmlformats.org/presentationml/2006/main">
  <p:tag name="KSO_WM_BEAUTIFY_FLAG" val=""/>
</p:tagLst>
</file>

<file path=ppt/tags/tag784.xml><?xml version="1.0" encoding="utf-8"?>
<p:tagLst xmlns:p="http://schemas.openxmlformats.org/presentationml/2006/main">
  <p:tag name="KSO_WM_BEAUTIFY_FLAG" val=""/>
</p:tagLst>
</file>

<file path=ppt/tags/tag785.xml><?xml version="1.0" encoding="utf-8"?>
<p:tagLst xmlns:p="http://schemas.openxmlformats.org/presentationml/2006/main">
  <p:tag name="KSO_WM_BEAUTIFY_FLAG" val=""/>
</p:tagLst>
</file>

<file path=ppt/tags/tag786.xml><?xml version="1.0" encoding="utf-8"?>
<p:tagLst xmlns:p="http://schemas.openxmlformats.org/presentationml/2006/main">
  <p:tag name="KSO_WM_BEAUTIFY_FLAG" val=""/>
</p:tagLst>
</file>

<file path=ppt/tags/tag787.xml><?xml version="1.0" encoding="utf-8"?>
<p:tagLst xmlns:p="http://schemas.openxmlformats.org/presentationml/2006/main">
  <p:tag name="KSO_WM_BEAUTIFY_FLAG" val=""/>
</p:tagLst>
</file>

<file path=ppt/tags/tag788.xml><?xml version="1.0" encoding="utf-8"?>
<p:tagLst xmlns:p="http://schemas.openxmlformats.org/presentationml/2006/main">
  <p:tag name="KSO_WM_BEAUTIFY_FLAG" val=""/>
</p:tagLst>
</file>

<file path=ppt/tags/tag789.xml><?xml version="1.0" encoding="utf-8"?>
<p:tagLst xmlns:p="http://schemas.openxmlformats.org/presentationml/2006/main">
  <p:tag name="KSO_WM_BEAUTIFY_FLAG" val=""/>
</p:tagLst>
</file>

<file path=ppt/tags/tag790.xml><?xml version="1.0" encoding="utf-8"?>
<p:tagLst xmlns:p="http://schemas.openxmlformats.org/presentationml/2006/main">
  <p:tag name="KSO_WM_BEAUTIFY_FLAG" val=""/>
</p:tagLst>
</file>

<file path=ppt/tags/tag791.xml><?xml version="1.0" encoding="utf-8"?>
<p:tagLst xmlns:p="http://schemas.openxmlformats.org/presentationml/2006/main">
  <p:tag name="KSO_WM_BEAUTIFY_FLAG" val=""/>
</p:tagLst>
</file>

<file path=ppt/tags/tag792.xml><?xml version="1.0" encoding="utf-8"?>
<p:tagLst xmlns:p="http://schemas.openxmlformats.org/presentationml/2006/main">
  <p:tag name="KSO_WM_BEAUTIFY_FLAG" val=""/>
</p:tagLst>
</file>

<file path=ppt/tags/tag793.xml><?xml version="1.0" encoding="utf-8"?>
<p:tagLst xmlns:p="http://schemas.openxmlformats.org/presentationml/2006/main">
  <p:tag name="KSO_WM_BEAUTIFY_FLAG" val=""/>
</p:tagLst>
</file>

<file path=ppt/tags/tag794.xml><?xml version="1.0" encoding="utf-8"?>
<p:tagLst xmlns:p="http://schemas.openxmlformats.org/presentationml/2006/main">
  <p:tag name="KSO_WM_BEAUTIFY_FLAG" val=""/>
</p:tagLst>
</file>

<file path=ppt/tags/tag795.xml><?xml version="1.0" encoding="utf-8"?>
<p:tagLst xmlns:p="http://schemas.openxmlformats.org/presentationml/2006/main">
  <p:tag name="KSO_WM_BEAUTIFY_FLAG" val=""/>
</p:tagLst>
</file>

<file path=ppt/tags/tag796.xml><?xml version="1.0" encoding="utf-8"?>
<p:tagLst xmlns:p="http://schemas.openxmlformats.org/presentationml/2006/main">
  <p:tag name="KSO_WM_BEAUTIFY_FLAG" val=""/>
</p:tagLst>
</file>

<file path=ppt/tags/tag797.xml><?xml version="1.0" encoding="utf-8"?>
<p:tagLst xmlns:p="http://schemas.openxmlformats.org/presentationml/2006/main">
  <p:tag name="KSO_WM_BEAUTIFY_FLAG" val=""/>
</p:tagLst>
</file>

<file path=ppt/tags/tag798.xml><?xml version="1.0" encoding="utf-8"?>
<p:tagLst xmlns:p="http://schemas.openxmlformats.org/presentationml/2006/main">
  <p:tag name="KSO_WM_BEAUTIFY_FLAG" val=""/>
</p:tagLst>
</file>

<file path=ppt/tags/tag799.xml><?xml version="1.0" encoding="utf-8"?>
<p:tagLst xmlns:p="http://schemas.openxmlformats.org/presentationml/2006/main">
  <p:tag name="KSO_WM_BEAUTIFY_FLAG" val=""/>
</p:tagLst>
</file>

<file path=ppt/tags/tag800.xml><?xml version="1.0" encoding="utf-8"?>
<p:tagLst xmlns:p="http://schemas.openxmlformats.org/presentationml/2006/main">
  <p:tag name="KSO_WM_BEAUTIFY_FLAG" val=""/>
</p:tagLst>
</file>

<file path=ppt/tags/tag801.xml><?xml version="1.0" encoding="utf-8"?>
<p:tagLst xmlns:p="http://schemas.openxmlformats.org/presentationml/2006/main">
  <p:tag name="KSO_WM_BEAUTIFY_FLAG" val=""/>
</p:tagLst>
</file>

<file path=ppt/tags/tag802.xml><?xml version="1.0" encoding="utf-8"?>
<p:tagLst xmlns:p="http://schemas.openxmlformats.org/presentationml/2006/main">
  <p:tag name="KSO_WM_BEAUTIFY_FLAG" val=""/>
</p:tagLst>
</file>

<file path=ppt/tags/tag803.xml><?xml version="1.0" encoding="utf-8"?>
<p:tagLst xmlns:p="http://schemas.openxmlformats.org/presentationml/2006/main">
  <p:tag name="KSO_WM_BEAUTIFY_FLAG" val=""/>
</p:tagLst>
</file>

<file path=ppt/tags/tag804.xml><?xml version="1.0" encoding="utf-8"?>
<p:tagLst xmlns:p="http://schemas.openxmlformats.org/presentationml/2006/main">
  <p:tag name="KSO_WM_BEAUTIFY_FLAG" val=""/>
</p:tagLst>
</file>

<file path=ppt/tags/tag805.xml><?xml version="1.0" encoding="utf-8"?>
<p:tagLst xmlns:p="http://schemas.openxmlformats.org/presentationml/2006/main">
  <p:tag name="KSO_WM_BEAUTIFY_FLAG" val=""/>
</p:tagLst>
</file>

<file path=ppt/tags/tag806.xml><?xml version="1.0" encoding="utf-8"?>
<p:tagLst xmlns:p="http://schemas.openxmlformats.org/presentationml/2006/main">
  <p:tag name="KSO_WM_BEAUTIFY_FLAG" val=""/>
</p:tagLst>
</file>

<file path=ppt/tags/tag807.xml><?xml version="1.0" encoding="utf-8"?>
<p:tagLst xmlns:p="http://schemas.openxmlformats.org/presentationml/2006/main">
  <p:tag name="KSO_WM_BEAUTIFY_FLAG" val=""/>
</p:tagLst>
</file>

<file path=ppt/tags/tag808.xml><?xml version="1.0" encoding="utf-8"?>
<p:tagLst xmlns:p="http://schemas.openxmlformats.org/presentationml/2006/main">
  <p:tag name="KSO_WM_BEAUTIFY_FLAG" val=""/>
</p:tagLst>
</file>

<file path=ppt/tags/tag809.xml><?xml version="1.0" encoding="utf-8"?>
<p:tagLst xmlns:p="http://schemas.openxmlformats.org/presentationml/2006/main">
  <p:tag name="KSO_WM_BEAUTIFY_FLAG" val=""/>
</p:tagLst>
</file>

<file path=ppt/tags/tag810.xml><?xml version="1.0" encoding="utf-8"?>
<p:tagLst xmlns:p="http://schemas.openxmlformats.org/presentationml/2006/main">
  <p:tag name="KSO_WM_BEAUTIFY_FLAG" val=""/>
</p:tagLst>
</file>

<file path=ppt/tags/tag811.xml><?xml version="1.0" encoding="utf-8"?>
<p:tagLst xmlns:p="http://schemas.openxmlformats.org/presentationml/2006/main">
  <p:tag name="KSO_WM_BEAUTIFY_FLAG" val=""/>
</p:tagLst>
</file>

<file path=ppt/tags/tag812.xml><?xml version="1.0" encoding="utf-8"?>
<p:tagLst xmlns:p="http://schemas.openxmlformats.org/presentationml/2006/main">
  <p:tag name="KSO_WM_BEAUTIFY_FLAG" val=""/>
</p:tagLst>
</file>

<file path=ppt/tags/tag813.xml><?xml version="1.0" encoding="utf-8"?>
<p:tagLst xmlns:p="http://schemas.openxmlformats.org/presentationml/2006/main">
  <p:tag name="KSO_WM_BEAUTIFY_FLAG" val=""/>
</p:tagLst>
</file>

<file path=ppt/tags/tag814.xml><?xml version="1.0" encoding="utf-8"?>
<p:tagLst xmlns:p="http://schemas.openxmlformats.org/presentationml/2006/main">
  <p:tag name="KSO_WM_BEAUTIFY_FLAG" val=""/>
</p:tagLst>
</file>

<file path=ppt/tags/tag815.xml><?xml version="1.0" encoding="utf-8"?>
<p:tagLst xmlns:p="http://schemas.openxmlformats.org/presentationml/2006/main">
  <p:tag name="KSO_WM_BEAUTIFY_FLAG" val=""/>
</p:tagLst>
</file>

<file path=ppt/tags/tag816.xml><?xml version="1.0" encoding="utf-8"?>
<p:tagLst xmlns:p="http://schemas.openxmlformats.org/presentationml/2006/main">
  <p:tag name="KSO_WM_BEAUTIFY_FLAG" val=""/>
</p:tagLst>
</file>

<file path=ppt/tags/tag817.xml><?xml version="1.0" encoding="utf-8"?>
<p:tagLst xmlns:p="http://schemas.openxmlformats.org/presentationml/2006/main">
  <p:tag name="KSO_WM_BEAUTIFY_FLAG" val=""/>
</p:tagLst>
</file>

<file path=ppt/tags/tag818.xml><?xml version="1.0" encoding="utf-8"?>
<p:tagLst xmlns:p="http://schemas.openxmlformats.org/presentationml/2006/main">
  <p:tag name="KSO_WM_BEAUTIFY_FLAG" val=""/>
</p:tagLst>
</file>

<file path=ppt/tags/tag819.xml><?xml version="1.0" encoding="utf-8"?>
<p:tagLst xmlns:p="http://schemas.openxmlformats.org/presentationml/2006/main">
  <p:tag name="KSO_WM_BEAUTIFY_FLAG" val=""/>
</p:tagLst>
</file>

<file path=ppt/tags/tag820.xml><?xml version="1.0" encoding="utf-8"?>
<p:tagLst xmlns:p="http://schemas.openxmlformats.org/presentationml/2006/main">
  <p:tag name="KSO_WM_BEAUTIFY_FLAG" val=""/>
</p:tagLst>
</file>

<file path=ppt/tags/tag821.xml><?xml version="1.0" encoding="utf-8"?>
<p:tagLst xmlns:p="http://schemas.openxmlformats.org/presentationml/2006/main">
  <p:tag name="KSO_WM_BEAUTIFY_FLAG" val=""/>
</p:tagLst>
</file>

<file path=ppt/tags/tag822.xml><?xml version="1.0" encoding="utf-8"?>
<p:tagLst xmlns:p="http://schemas.openxmlformats.org/presentationml/2006/main">
  <p:tag name="KSO_WM_BEAUTIFY_FLAG" val=""/>
</p:tagLst>
</file>

<file path=ppt/tags/tag823.xml><?xml version="1.0" encoding="utf-8"?>
<p:tagLst xmlns:p="http://schemas.openxmlformats.org/presentationml/2006/main">
  <p:tag name="KSO_WM_BEAUTIFY_FLAG" val=""/>
</p:tagLst>
</file>

<file path=ppt/tags/tag824.xml><?xml version="1.0" encoding="utf-8"?>
<p:tagLst xmlns:p="http://schemas.openxmlformats.org/presentationml/2006/main">
  <p:tag name="KSO_WM_BEAUTIFY_FLAG" val=""/>
</p:tagLst>
</file>

<file path=ppt/tags/tag825.xml><?xml version="1.0" encoding="utf-8"?>
<p:tagLst xmlns:p="http://schemas.openxmlformats.org/presentationml/2006/main">
  <p:tag name="KSO_WM_BEAUTIFY_FLAG" val=""/>
</p:tagLst>
</file>

<file path=ppt/tags/tag826.xml><?xml version="1.0" encoding="utf-8"?>
<p:tagLst xmlns:p="http://schemas.openxmlformats.org/presentationml/2006/main">
  <p:tag name="KSO_WM_BEAUTIFY_FLAG" val=""/>
</p:tagLst>
</file>

<file path=ppt/tags/tag827.xml><?xml version="1.0" encoding="utf-8"?>
<p:tagLst xmlns:p="http://schemas.openxmlformats.org/presentationml/2006/main">
  <p:tag name="KSO_WM_BEAUTIFY_FLAG" val=""/>
</p:tagLst>
</file>

<file path=ppt/tags/tag828.xml><?xml version="1.0" encoding="utf-8"?>
<p:tagLst xmlns:p="http://schemas.openxmlformats.org/presentationml/2006/main">
  <p:tag name="KSO_WM_BEAUTIFY_FLAG" val=""/>
</p:tagLst>
</file>

<file path=ppt/tags/tag829.xml><?xml version="1.0" encoding="utf-8"?>
<p:tagLst xmlns:p="http://schemas.openxmlformats.org/presentationml/2006/main">
  <p:tag name="KSO_WM_BEAUTIFY_FLAG" val=""/>
</p:tagLst>
</file>

<file path=ppt/tags/tag830.xml><?xml version="1.0" encoding="utf-8"?>
<p:tagLst xmlns:p="http://schemas.openxmlformats.org/presentationml/2006/main">
  <p:tag name="KSO_WM_BEAUTIFY_FLAG" val=""/>
</p:tagLst>
</file>

<file path=ppt/tags/tag831.xml><?xml version="1.0" encoding="utf-8"?>
<p:tagLst xmlns:p="http://schemas.openxmlformats.org/presentationml/2006/main">
  <p:tag name="KSO_WM_BEAUTIFY_FLAG" val=""/>
</p:tagLst>
</file>

<file path=ppt/tags/tag832.xml><?xml version="1.0" encoding="utf-8"?>
<p:tagLst xmlns:p="http://schemas.openxmlformats.org/presentationml/2006/main">
  <p:tag name="KSO_WM_BEAUTIFY_FLAG" val=""/>
</p:tagLst>
</file>

<file path=ppt/tags/tag833.xml><?xml version="1.0" encoding="utf-8"?>
<p:tagLst xmlns:p="http://schemas.openxmlformats.org/presentationml/2006/main">
  <p:tag name="KSO_WM_BEAUTIFY_FLAG" val=""/>
</p:tagLst>
</file>

<file path=ppt/tags/tag834.xml><?xml version="1.0" encoding="utf-8"?>
<p:tagLst xmlns:p="http://schemas.openxmlformats.org/presentationml/2006/main">
  <p:tag name="KSO_WM_BEAUTIFY_FLAG" val=""/>
</p:tagLst>
</file>

<file path=ppt/tags/tag835.xml><?xml version="1.0" encoding="utf-8"?>
<p:tagLst xmlns:p="http://schemas.openxmlformats.org/presentationml/2006/main">
  <p:tag name="KSO_WM_BEAUTIFY_FLAG" val=""/>
</p:tagLst>
</file>

<file path=ppt/tags/tag836.xml><?xml version="1.0" encoding="utf-8"?>
<p:tagLst xmlns:p="http://schemas.openxmlformats.org/presentationml/2006/main">
  <p:tag name="KSO_WM_BEAUTIFY_FLAG" val=""/>
</p:tagLst>
</file>

<file path=ppt/tags/tag837.xml><?xml version="1.0" encoding="utf-8"?>
<p:tagLst xmlns:p="http://schemas.openxmlformats.org/presentationml/2006/main">
  <p:tag name="KSO_WM_BEAUTIFY_FLAG" val=""/>
</p:tagLst>
</file>

<file path=ppt/tags/tag838.xml><?xml version="1.0" encoding="utf-8"?>
<p:tagLst xmlns:p="http://schemas.openxmlformats.org/presentationml/2006/main">
  <p:tag name="KSO_WM_BEAUTIFY_FLAG" val=""/>
</p:tagLst>
</file>

<file path=ppt/tags/tag839.xml><?xml version="1.0" encoding="utf-8"?>
<p:tagLst xmlns:p="http://schemas.openxmlformats.org/presentationml/2006/main">
  <p:tag name="KSO_WM_BEAUTIFY_FLAG" val=""/>
</p:tagLst>
</file>

<file path=ppt/tags/tag840.xml><?xml version="1.0" encoding="utf-8"?>
<p:tagLst xmlns:p="http://schemas.openxmlformats.org/presentationml/2006/main">
  <p:tag name="KSO_WM_BEAUTIFY_FLAG" val=""/>
</p:tagLst>
</file>

<file path=ppt/tags/tag841.xml><?xml version="1.0" encoding="utf-8"?>
<p:tagLst xmlns:p="http://schemas.openxmlformats.org/presentationml/2006/main">
  <p:tag name="KSO_WM_BEAUTIFY_FLAG" val=""/>
</p:tagLst>
</file>

<file path=ppt/tags/tag842.xml><?xml version="1.0" encoding="utf-8"?>
<p:tagLst xmlns:p="http://schemas.openxmlformats.org/presentationml/2006/main">
  <p:tag name="KSO_WM_BEAUTIFY_FLAG" val=""/>
</p:tagLst>
</file>

<file path=ppt/tags/tag843.xml><?xml version="1.0" encoding="utf-8"?>
<p:tagLst xmlns:p="http://schemas.openxmlformats.org/presentationml/2006/main">
  <p:tag name="KSO_WM_BEAUTIFY_FLAG" val=""/>
</p:tagLst>
</file>

<file path=ppt/tags/tag844.xml><?xml version="1.0" encoding="utf-8"?>
<p:tagLst xmlns:p="http://schemas.openxmlformats.org/presentationml/2006/main">
  <p:tag name="KSO_WM_BEAUTIFY_FLAG" val=""/>
</p:tagLst>
</file>

<file path=ppt/tags/tag845.xml><?xml version="1.0" encoding="utf-8"?>
<p:tagLst xmlns:p="http://schemas.openxmlformats.org/presentationml/2006/main">
  <p:tag name="KSO_WM_BEAUTIFY_FLAG" val=""/>
</p:tagLst>
</file>

<file path=ppt/tags/tag846.xml><?xml version="1.0" encoding="utf-8"?>
<p:tagLst xmlns:p="http://schemas.openxmlformats.org/presentationml/2006/main">
  <p:tag name="KSO_WM_BEAUTIFY_FLAG" val=""/>
</p:tagLst>
</file>

<file path=ppt/tags/tag847.xml><?xml version="1.0" encoding="utf-8"?>
<p:tagLst xmlns:p="http://schemas.openxmlformats.org/presentationml/2006/main">
  <p:tag name="KSO_WM_BEAUTIFY_FLAG" val=""/>
</p:tagLst>
</file>

<file path=ppt/tags/tag848.xml><?xml version="1.0" encoding="utf-8"?>
<p:tagLst xmlns:p="http://schemas.openxmlformats.org/presentationml/2006/main">
  <p:tag name="KSO_WM_BEAUTIFY_FLAG" val=""/>
</p:tagLst>
</file>

<file path=ppt/tags/tag849.xml><?xml version="1.0" encoding="utf-8"?>
<p:tagLst xmlns:p="http://schemas.openxmlformats.org/presentationml/2006/main">
  <p:tag name="KSO_WM_BEAUTIFY_FLAG" val=""/>
</p:tagLst>
</file>

<file path=ppt/tags/tag850.xml><?xml version="1.0" encoding="utf-8"?>
<p:tagLst xmlns:p="http://schemas.openxmlformats.org/presentationml/2006/main">
  <p:tag name="KSO_WM_BEAUTIFY_FLAG" val=""/>
</p:tagLst>
</file>

<file path=ppt/tags/tag851.xml><?xml version="1.0" encoding="utf-8"?>
<p:tagLst xmlns:p="http://schemas.openxmlformats.org/presentationml/2006/main">
  <p:tag name="KSO_WM_BEAUTIFY_FLAG" val=""/>
</p:tagLst>
</file>

<file path=ppt/tags/tag852.xml><?xml version="1.0" encoding="utf-8"?>
<p:tagLst xmlns:p="http://schemas.openxmlformats.org/presentationml/2006/main">
  <p:tag name="KSO_WM_BEAUTIFY_FLAG" val=""/>
</p:tagLst>
</file>

<file path=ppt/tags/tag853.xml><?xml version="1.0" encoding="utf-8"?>
<p:tagLst xmlns:p="http://schemas.openxmlformats.org/presentationml/2006/main">
  <p:tag name="KSO_WM_BEAUTIFY_FLAG" val=""/>
</p:tagLst>
</file>

<file path=ppt/tags/tag854.xml><?xml version="1.0" encoding="utf-8"?>
<p:tagLst xmlns:p="http://schemas.openxmlformats.org/presentationml/2006/main">
  <p:tag name="KSO_WM_BEAUTIFY_FLAG" val=""/>
</p:tagLst>
</file>

<file path=ppt/tags/tag855.xml><?xml version="1.0" encoding="utf-8"?>
<p:tagLst xmlns:p="http://schemas.openxmlformats.org/presentationml/2006/main">
  <p:tag name="KSO_WM_BEAUTIFY_FLAG" val=""/>
</p:tagLst>
</file>

<file path=ppt/tags/tag856.xml><?xml version="1.0" encoding="utf-8"?>
<p:tagLst xmlns:p="http://schemas.openxmlformats.org/presentationml/2006/main">
  <p:tag name="KSO_WM_BEAUTIFY_FLAG" val=""/>
</p:tagLst>
</file>

<file path=ppt/tags/tag857.xml><?xml version="1.0" encoding="utf-8"?>
<p:tagLst xmlns:p="http://schemas.openxmlformats.org/presentationml/2006/main">
  <p:tag name="KSO_WM_BEAUTIFY_FLAG" val=""/>
</p:tagLst>
</file>

<file path=ppt/tags/tag858.xml><?xml version="1.0" encoding="utf-8"?>
<p:tagLst xmlns:p="http://schemas.openxmlformats.org/presentationml/2006/main">
  <p:tag name="KSO_WM_BEAUTIFY_FLAG" val=""/>
</p:tagLst>
</file>

<file path=ppt/tags/tag859.xml><?xml version="1.0" encoding="utf-8"?>
<p:tagLst xmlns:p="http://schemas.openxmlformats.org/presentationml/2006/main">
  <p:tag name="KSO_WM_BEAUTIFY_FLAG" val=""/>
</p:tagLst>
</file>

<file path=ppt/tags/tag860.xml><?xml version="1.0" encoding="utf-8"?>
<p:tagLst xmlns:p="http://schemas.openxmlformats.org/presentationml/2006/main">
  <p:tag name="KSO_WM_BEAUTIFY_FLAG" val=""/>
</p:tagLst>
</file>

<file path=ppt/tags/tag861.xml><?xml version="1.0" encoding="utf-8"?>
<p:tagLst xmlns:p="http://schemas.openxmlformats.org/presentationml/2006/main">
  <p:tag name="KSO_WM_BEAUTIFY_FLAG" val=""/>
</p:tagLst>
</file>

<file path=ppt/tags/tag862.xml><?xml version="1.0" encoding="utf-8"?>
<p:tagLst xmlns:p="http://schemas.openxmlformats.org/presentationml/2006/main">
  <p:tag name="KSO_WM_BEAUTIFY_FLAG" val=""/>
</p:tagLst>
</file>

<file path=ppt/tags/tag863.xml><?xml version="1.0" encoding="utf-8"?>
<p:tagLst xmlns:p="http://schemas.openxmlformats.org/presentationml/2006/main">
  <p:tag name="KSO_WM_BEAUTIFY_FLAG" val=""/>
</p:tagLst>
</file>

<file path=ppt/tags/tag864.xml><?xml version="1.0" encoding="utf-8"?>
<p:tagLst xmlns:p="http://schemas.openxmlformats.org/presentationml/2006/main">
  <p:tag name="KSO_WM_BEAUTIFY_FLAG" val=""/>
</p:tagLst>
</file>

<file path=ppt/tags/tag865.xml><?xml version="1.0" encoding="utf-8"?>
<p:tagLst xmlns:p="http://schemas.openxmlformats.org/presentationml/2006/main">
  <p:tag name="KSO_WM_BEAUTIFY_FLAG" val=""/>
</p:tagLst>
</file>

<file path=ppt/tags/tag866.xml><?xml version="1.0" encoding="utf-8"?>
<p:tagLst xmlns:p="http://schemas.openxmlformats.org/presentationml/2006/main">
  <p:tag name="KSO_WM_BEAUTIFY_FLAG" val=""/>
</p:tagLst>
</file>

<file path=ppt/tags/tag867.xml><?xml version="1.0" encoding="utf-8"?>
<p:tagLst xmlns:p="http://schemas.openxmlformats.org/presentationml/2006/main">
  <p:tag name="KSO_WM_BEAUTIFY_FLAG" val=""/>
</p:tagLst>
</file>

<file path=ppt/tags/tag868.xml><?xml version="1.0" encoding="utf-8"?>
<p:tagLst xmlns:p="http://schemas.openxmlformats.org/presentationml/2006/main">
  <p:tag name="KSO_WM_BEAUTIFY_FLAG" val=""/>
</p:tagLst>
</file>

<file path=ppt/tags/tag869.xml><?xml version="1.0" encoding="utf-8"?>
<p:tagLst xmlns:p="http://schemas.openxmlformats.org/presentationml/2006/main">
  <p:tag name="KSO_WM_BEAUTIFY_FLAG" val=""/>
</p:tagLst>
</file>

<file path=ppt/tags/tag870.xml><?xml version="1.0" encoding="utf-8"?>
<p:tagLst xmlns:p="http://schemas.openxmlformats.org/presentationml/2006/main">
  <p:tag name="KSO_WM_BEAUTIFY_FLAG" val=""/>
</p:tagLst>
</file>

<file path=ppt/tags/tag871.xml><?xml version="1.0" encoding="utf-8"?>
<p:tagLst xmlns:p="http://schemas.openxmlformats.org/presentationml/2006/main">
  <p:tag name="KSO_WM_BEAUTIFY_FLAG" val=""/>
</p:tagLst>
</file>

<file path=ppt/tags/tag872.xml><?xml version="1.0" encoding="utf-8"?>
<p:tagLst xmlns:p="http://schemas.openxmlformats.org/presentationml/2006/main">
  <p:tag name="KSO_WM_BEAUTIFY_FLAG" val=""/>
</p:tagLst>
</file>

<file path=ppt/tags/tag873.xml><?xml version="1.0" encoding="utf-8"?>
<p:tagLst xmlns:p="http://schemas.openxmlformats.org/presentationml/2006/main">
  <p:tag name="KSO_WM_BEAUTIFY_FLAG" val=""/>
</p:tagLst>
</file>

<file path=ppt/tags/tag874.xml><?xml version="1.0" encoding="utf-8"?>
<p:tagLst xmlns:p="http://schemas.openxmlformats.org/presentationml/2006/main">
  <p:tag name="KSO_WM_BEAUTIFY_FLAG" val=""/>
</p:tagLst>
</file>

<file path=ppt/tags/tag875.xml><?xml version="1.0" encoding="utf-8"?>
<p:tagLst xmlns:p="http://schemas.openxmlformats.org/presentationml/2006/main">
  <p:tag name="KSO_WM_BEAUTIFY_FLAG" val=""/>
</p:tagLst>
</file>

<file path=ppt/tags/tag876.xml><?xml version="1.0" encoding="utf-8"?>
<p:tagLst xmlns:p="http://schemas.openxmlformats.org/presentationml/2006/main">
  <p:tag name="KSO_WM_BEAUTIFY_FLAG" val=""/>
</p:tagLst>
</file>

<file path=ppt/tags/tag877.xml><?xml version="1.0" encoding="utf-8"?>
<p:tagLst xmlns:p="http://schemas.openxmlformats.org/presentationml/2006/main">
  <p:tag name="KSO_WM_BEAUTIFY_FLAG" val=""/>
</p:tagLst>
</file>

<file path=ppt/tags/tag878.xml><?xml version="1.0" encoding="utf-8"?>
<p:tagLst xmlns:p="http://schemas.openxmlformats.org/presentationml/2006/main">
  <p:tag name="KSO_WM_BEAUTIFY_FLAG" val=""/>
</p:tagLst>
</file>

<file path=ppt/tags/tag879.xml><?xml version="1.0" encoding="utf-8"?>
<p:tagLst xmlns:p="http://schemas.openxmlformats.org/presentationml/2006/main">
  <p:tag name="KSO_WM_BEAUTIFY_FLAG" val=""/>
</p:tagLst>
</file>

<file path=ppt/tags/tag880.xml><?xml version="1.0" encoding="utf-8"?>
<p:tagLst xmlns:p="http://schemas.openxmlformats.org/presentationml/2006/main">
  <p:tag name="KSO_WM_BEAUTIFY_FLAG" val=""/>
</p:tagLst>
</file>

<file path=ppt/tags/tag881.xml><?xml version="1.0" encoding="utf-8"?>
<p:tagLst xmlns:p="http://schemas.openxmlformats.org/presentationml/2006/main">
  <p:tag name="KSO_WM_BEAUTIFY_FLAG" val=""/>
</p:tagLst>
</file>

<file path=ppt/tags/tag882.xml><?xml version="1.0" encoding="utf-8"?>
<p:tagLst xmlns:p="http://schemas.openxmlformats.org/presentationml/2006/main">
  <p:tag name="KSO_WM_BEAUTIFY_FLAG" val=""/>
</p:tagLst>
</file>

<file path=ppt/tags/tag883.xml><?xml version="1.0" encoding="utf-8"?>
<p:tagLst xmlns:p="http://schemas.openxmlformats.org/presentationml/2006/main">
  <p:tag name="KSO_WM_BEAUTIFY_FLAG" val=""/>
</p:tagLst>
</file>

<file path=ppt/tags/tag884.xml><?xml version="1.0" encoding="utf-8"?>
<p:tagLst xmlns:p="http://schemas.openxmlformats.org/presentationml/2006/main">
  <p:tag name="KSO_WM_BEAUTIFY_FLAG" val=""/>
</p:tagLst>
</file>

<file path=ppt/tags/tag885.xml><?xml version="1.0" encoding="utf-8"?>
<p:tagLst xmlns:p="http://schemas.openxmlformats.org/presentationml/2006/main">
  <p:tag name="KSO_WM_BEAUTIFY_FLAG" val=""/>
</p:tagLst>
</file>

<file path=ppt/tags/tag886.xml><?xml version="1.0" encoding="utf-8"?>
<p:tagLst xmlns:p="http://schemas.openxmlformats.org/presentationml/2006/main">
  <p:tag name="KSO_WM_BEAUTIFY_FLAG" val=""/>
</p:tagLst>
</file>

<file path=ppt/tags/tag887.xml><?xml version="1.0" encoding="utf-8"?>
<p:tagLst xmlns:p="http://schemas.openxmlformats.org/presentationml/2006/main">
  <p:tag name="KSO_WM_BEAUTIFY_FLAG" val=""/>
</p:tagLst>
</file>

<file path=ppt/tags/tag888.xml><?xml version="1.0" encoding="utf-8"?>
<p:tagLst xmlns:p="http://schemas.openxmlformats.org/presentationml/2006/main">
  <p:tag name="KSO_WM_BEAUTIFY_FLAG" val=""/>
</p:tagLst>
</file>

<file path=ppt/tags/tag889.xml><?xml version="1.0" encoding="utf-8"?>
<p:tagLst xmlns:p="http://schemas.openxmlformats.org/presentationml/2006/main">
  <p:tag name="KSO_WM_BEAUTIFY_FLAG" val=""/>
</p:tagLst>
</file>

<file path=ppt/tags/tag890.xml><?xml version="1.0" encoding="utf-8"?>
<p:tagLst xmlns:p="http://schemas.openxmlformats.org/presentationml/2006/main">
  <p:tag name="KSO_WM_BEAUTIFY_FLAG" val=""/>
</p:tagLst>
</file>

<file path=ppt/tags/tag891.xml><?xml version="1.0" encoding="utf-8"?>
<p:tagLst xmlns:p="http://schemas.openxmlformats.org/presentationml/2006/main">
  <p:tag name="KSO_WM_BEAUTIFY_FLAG" val=""/>
</p:tagLst>
</file>

<file path=ppt/tags/tag892.xml><?xml version="1.0" encoding="utf-8"?>
<p:tagLst xmlns:p="http://schemas.openxmlformats.org/presentationml/2006/main">
  <p:tag name="KSO_WM_BEAUTIFY_FLAG" val=""/>
</p:tagLst>
</file>

<file path=ppt/tags/tag893.xml><?xml version="1.0" encoding="utf-8"?>
<p:tagLst xmlns:p="http://schemas.openxmlformats.org/presentationml/2006/main">
  <p:tag name="KSO_WM_BEAUTIFY_FLAG" val=""/>
</p:tagLst>
</file>

<file path=ppt/tags/tag894.xml><?xml version="1.0" encoding="utf-8"?>
<p:tagLst xmlns:p="http://schemas.openxmlformats.org/presentationml/2006/main">
  <p:tag name="KSO_WM_BEAUTIFY_FLAG" val=""/>
</p:tagLst>
</file>

<file path=ppt/tags/tag895.xml><?xml version="1.0" encoding="utf-8"?>
<p:tagLst xmlns:p="http://schemas.openxmlformats.org/presentationml/2006/main">
  <p:tag name="KSO_WM_BEAUTIFY_FLAG" val=""/>
</p:tagLst>
</file>

<file path=ppt/tags/tag896.xml><?xml version="1.0" encoding="utf-8"?>
<p:tagLst xmlns:p="http://schemas.openxmlformats.org/presentationml/2006/main">
  <p:tag name="KSO_WM_BEAUTIFY_FLAG" val=""/>
</p:tagLst>
</file>

<file path=ppt/tags/tag897.xml><?xml version="1.0" encoding="utf-8"?>
<p:tagLst xmlns:p="http://schemas.openxmlformats.org/presentationml/2006/main">
  <p:tag name="KSO_WM_BEAUTIFY_FLAG" val=""/>
</p:tagLst>
</file>

<file path=ppt/tags/tag898.xml><?xml version="1.0" encoding="utf-8"?>
<p:tagLst xmlns:p="http://schemas.openxmlformats.org/presentationml/2006/main">
  <p:tag name="KSO_WM_BEAUTIFY_FLAG" val=""/>
</p:tagLst>
</file>

<file path=ppt/tags/tag899.xml><?xml version="1.0" encoding="utf-8"?>
<p:tagLst xmlns:p="http://schemas.openxmlformats.org/presentationml/2006/main">
  <p:tag name="KSO_WM_BEAUTIFY_FLAG" val=""/>
</p:tagLst>
</file>

<file path=ppt/tags/tag900.xml><?xml version="1.0" encoding="utf-8"?>
<p:tagLst xmlns:p="http://schemas.openxmlformats.org/presentationml/2006/main">
  <p:tag name="KSO_WM_BEAUTIFY_FLAG" val=""/>
</p:tagLst>
</file>

<file path=ppt/tags/tag901.xml><?xml version="1.0" encoding="utf-8"?>
<p:tagLst xmlns:p="http://schemas.openxmlformats.org/presentationml/2006/main">
  <p:tag name="KSO_WM_BEAUTIFY_FLAG" val=""/>
</p:tagLst>
</file>

<file path=ppt/tags/tag902.xml><?xml version="1.0" encoding="utf-8"?>
<p:tagLst xmlns:p="http://schemas.openxmlformats.org/presentationml/2006/main">
  <p:tag name="KSO_WM_BEAUTIFY_FLAG" val=""/>
</p:tagLst>
</file>

<file path=ppt/tags/tag903.xml><?xml version="1.0" encoding="utf-8"?>
<p:tagLst xmlns:p="http://schemas.openxmlformats.org/presentationml/2006/main">
  <p:tag name="KSO_WM_BEAUTIFY_FLAG" val=""/>
</p:tagLst>
</file>

<file path=ppt/tags/tag904.xml><?xml version="1.0" encoding="utf-8"?>
<p:tagLst xmlns:p="http://schemas.openxmlformats.org/presentationml/2006/main">
  <p:tag name="KSO_WM_BEAUTIFY_FLAG" val=""/>
</p:tagLst>
</file>

<file path=ppt/tags/tag905.xml><?xml version="1.0" encoding="utf-8"?>
<p:tagLst xmlns:p="http://schemas.openxmlformats.org/presentationml/2006/main">
  <p:tag name="KSO_WM_BEAUTIFY_FLAG" val=""/>
</p:tagLst>
</file>

<file path=ppt/tags/tag906.xml><?xml version="1.0" encoding="utf-8"?>
<p:tagLst xmlns:p="http://schemas.openxmlformats.org/presentationml/2006/main">
  <p:tag name="KSO_WM_BEAUTIFY_FLAG" val=""/>
</p:tagLst>
</file>

<file path=ppt/tags/tag907.xml><?xml version="1.0" encoding="utf-8"?>
<p:tagLst xmlns:p="http://schemas.openxmlformats.org/presentationml/2006/main">
  <p:tag name="KSO_WM_BEAUTIFY_FLAG" val=""/>
</p:tagLst>
</file>

<file path=ppt/tags/tag908.xml><?xml version="1.0" encoding="utf-8"?>
<p:tagLst xmlns:p="http://schemas.openxmlformats.org/presentationml/2006/main">
  <p:tag name="KSO_WM_BEAUTIFY_FLAG" val=""/>
</p:tagLst>
</file>

<file path=ppt/tags/tag909.xml><?xml version="1.0" encoding="utf-8"?>
<p:tagLst xmlns:p="http://schemas.openxmlformats.org/presentationml/2006/main">
  <p:tag name="KSO_WM_BEAUTIFY_FLAG" val=""/>
</p:tagLst>
</file>

<file path=ppt/tags/tag910.xml><?xml version="1.0" encoding="utf-8"?>
<p:tagLst xmlns:p="http://schemas.openxmlformats.org/presentationml/2006/main">
  <p:tag name="KSO_WM_BEAUTIFY_FLAG" val=""/>
</p:tagLst>
</file>

<file path=ppt/tags/tag911.xml><?xml version="1.0" encoding="utf-8"?>
<p:tagLst xmlns:p="http://schemas.openxmlformats.org/presentationml/2006/main">
  <p:tag name="KSO_WM_BEAUTIFY_FLAG" val=""/>
</p:tagLst>
</file>

<file path=ppt/tags/tag912.xml><?xml version="1.0" encoding="utf-8"?>
<p:tagLst xmlns:p="http://schemas.openxmlformats.org/presentationml/2006/main">
  <p:tag name="KSO_WM_BEAUTIFY_FLAG" val=""/>
</p:tagLst>
</file>

<file path=ppt/tags/tag913.xml><?xml version="1.0" encoding="utf-8"?>
<p:tagLst xmlns:p="http://schemas.openxmlformats.org/presentationml/2006/main">
  <p:tag name="KSO_WM_BEAUTIFY_FLAG" val=""/>
</p:tagLst>
</file>

<file path=ppt/tags/tag914.xml><?xml version="1.0" encoding="utf-8"?>
<p:tagLst xmlns:p="http://schemas.openxmlformats.org/presentationml/2006/main">
  <p:tag name="KSO_WM_BEAUTIFY_FLAG" val=""/>
</p:tagLst>
</file>

<file path=ppt/tags/tag915.xml><?xml version="1.0" encoding="utf-8"?>
<p:tagLst xmlns:p="http://schemas.openxmlformats.org/presentationml/2006/main">
  <p:tag name="KSO_WM_BEAUTIFY_FLAG" val=""/>
</p:tagLst>
</file>

<file path=ppt/tags/tag916.xml><?xml version="1.0" encoding="utf-8"?>
<p:tagLst xmlns:p="http://schemas.openxmlformats.org/presentationml/2006/main">
  <p:tag name="KSO_WM_BEAUTIFY_FLAG" val=""/>
</p:tagLst>
</file>

<file path=ppt/tags/tag917.xml><?xml version="1.0" encoding="utf-8"?>
<p:tagLst xmlns:p="http://schemas.openxmlformats.org/presentationml/2006/main">
  <p:tag name="KSO_WM_BEAUTIFY_FLAG" val=""/>
</p:tagLst>
</file>

<file path=ppt/tags/tag918.xml><?xml version="1.0" encoding="utf-8"?>
<p:tagLst xmlns:p="http://schemas.openxmlformats.org/presentationml/2006/main">
  <p:tag name="KSO_WM_BEAUTIFY_FLAG" val=""/>
</p:tagLst>
</file>

<file path=ppt/tags/tag919.xml><?xml version="1.0" encoding="utf-8"?>
<p:tagLst xmlns:p="http://schemas.openxmlformats.org/presentationml/2006/main">
  <p:tag name="KSO_WM_BEAUTIFY_FLAG" val=""/>
</p:tagLst>
</file>

<file path=ppt/tags/tag920.xml><?xml version="1.0" encoding="utf-8"?>
<p:tagLst xmlns:p="http://schemas.openxmlformats.org/presentationml/2006/main">
  <p:tag name="KSO_WM_BEAUTIFY_FLAG" val=""/>
</p:tagLst>
</file>

<file path=ppt/tags/tag921.xml><?xml version="1.0" encoding="utf-8"?>
<p:tagLst xmlns:p="http://schemas.openxmlformats.org/presentationml/2006/main">
  <p:tag name="KSO_WM_BEAUTIFY_FLAG" val=""/>
</p:tagLst>
</file>

<file path=ppt/tags/tag922.xml><?xml version="1.0" encoding="utf-8"?>
<p:tagLst xmlns:p="http://schemas.openxmlformats.org/presentationml/2006/main">
  <p:tag name="KSO_WM_BEAUTIFY_FLAG" val=""/>
</p:tagLst>
</file>

<file path=ppt/tags/tag923.xml><?xml version="1.0" encoding="utf-8"?>
<p:tagLst xmlns:p="http://schemas.openxmlformats.org/presentationml/2006/main">
  <p:tag name="KSO_WM_BEAUTIFY_FLAG" val=""/>
</p:tagLst>
</file>

<file path=ppt/tags/tag924.xml><?xml version="1.0" encoding="utf-8"?>
<p:tagLst xmlns:p="http://schemas.openxmlformats.org/presentationml/2006/main">
  <p:tag name="KSO_WM_BEAUTIFY_FLAG" val=""/>
</p:tagLst>
</file>

<file path=ppt/tags/tag925.xml><?xml version="1.0" encoding="utf-8"?>
<p:tagLst xmlns:p="http://schemas.openxmlformats.org/presentationml/2006/main">
  <p:tag name="KSO_WM_BEAUTIFY_FLAG" val=""/>
</p:tagLst>
</file>

<file path=ppt/tags/tag926.xml><?xml version="1.0" encoding="utf-8"?>
<p:tagLst xmlns:p="http://schemas.openxmlformats.org/presentationml/2006/main">
  <p:tag name="KSO_WM_BEAUTIFY_FLAG" val=""/>
</p:tagLst>
</file>

<file path=ppt/tags/tag927.xml><?xml version="1.0" encoding="utf-8"?>
<p:tagLst xmlns:p="http://schemas.openxmlformats.org/presentationml/2006/main">
  <p:tag name="KSO_WM_BEAUTIFY_FLAG" val=""/>
</p:tagLst>
</file>

<file path=ppt/tags/tag928.xml><?xml version="1.0" encoding="utf-8"?>
<p:tagLst xmlns:p="http://schemas.openxmlformats.org/presentationml/2006/main">
  <p:tag name="KSO_WM_BEAUTIFY_FLAG" val=""/>
</p:tagLst>
</file>

<file path=ppt/tags/tag929.xml><?xml version="1.0" encoding="utf-8"?>
<p:tagLst xmlns:p="http://schemas.openxmlformats.org/presentationml/2006/main">
  <p:tag name="KSO_WM_BEAUTIFY_FLAG" val=""/>
</p:tagLst>
</file>

<file path=ppt/tags/tag930.xml><?xml version="1.0" encoding="utf-8"?>
<p:tagLst xmlns:p="http://schemas.openxmlformats.org/presentationml/2006/main">
  <p:tag name="KSO_WM_BEAUTIFY_FLAG" val=""/>
</p:tagLst>
</file>

<file path=ppt/tags/tag931.xml><?xml version="1.0" encoding="utf-8"?>
<p:tagLst xmlns:p="http://schemas.openxmlformats.org/presentationml/2006/main">
  <p:tag name="KSO_WM_BEAUTIFY_FLAG" val=""/>
</p:tagLst>
</file>

<file path=ppt/tags/tag932.xml><?xml version="1.0" encoding="utf-8"?>
<p:tagLst xmlns:p="http://schemas.openxmlformats.org/presentationml/2006/main">
  <p:tag name="KSO_WM_BEAUTIFY_FLAG" val=""/>
</p:tagLst>
</file>

<file path=ppt/tags/tag933.xml><?xml version="1.0" encoding="utf-8"?>
<p:tagLst xmlns:p="http://schemas.openxmlformats.org/presentationml/2006/main">
  <p:tag name="KSO_WM_BEAUTIFY_FLAG" val=""/>
</p:tagLst>
</file>

<file path=ppt/tags/tag934.xml><?xml version="1.0" encoding="utf-8"?>
<p:tagLst xmlns:p="http://schemas.openxmlformats.org/presentationml/2006/main">
  <p:tag name="KSO_WM_BEAUTIFY_FLAG" val=""/>
</p:tagLst>
</file>

<file path=ppt/tags/tag935.xml><?xml version="1.0" encoding="utf-8"?>
<p:tagLst xmlns:p="http://schemas.openxmlformats.org/presentationml/2006/main">
  <p:tag name="KSO_WM_BEAUTIFY_FLAG" val=""/>
</p:tagLst>
</file>

<file path=ppt/tags/tag936.xml><?xml version="1.0" encoding="utf-8"?>
<p:tagLst xmlns:p="http://schemas.openxmlformats.org/presentationml/2006/main">
  <p:tag name="KSO_WM_BEAUTIFY_FLAG" val=""/>
</p:tagLst>
</file>

<file path=ppt/tags/tag937.xml><?xml version="1.0" encoding="utf-8"?>
<p:tagLst xmlns:p="http://schemas.openxmlformats.org/presentationml/2006/main">
  <p:tag name="KSO_WM_BEAUTIFY_FLAG" val=""/>
</p:tagLst>
</file>

<file path=ppt/tags/tag938.xml><?xml version="1.0" encoding="utf-8"?>
<p:tagLst xmlns:p="http://schemas.openxmlformats.org/presentationml/2006/main">
  <p:tag name="KSO_WM_BEAUTIFY_FLAG" val=""/>
</p:tagLst>
</file>

<file path=ppt/tags/tag939.xml><?xml version="1.0" encoding="utf-8"?>
<p:tagLst xmlns:p="http://schemas.openxmlformats.org/presentationml/2006/main">
  <p:tag name="KSO_WM_BEAUTIFY_FLAG" val=""/>
</p:tagLst>
</file>

<file path=ppt/tags/tag940.xml><?xml version="1.0" encoding="utf-8"?>
<p:tagLst xmlns:p="http://schemas.openxmlformats.org/presentationml/2006/main">
  <p:tag name="KSO_WM_BEAUTIFY_FLAG" val=""/>
</p:tagLst>
</file>

<file path=ppt/tags/tag941.xml><?xml version="1.0" encoding="utf-8"?>
<p:tagLst xmlns:p="http://schemas.openxmlformats.org/presentationml/2006/main">
  <p:tag name="KSO_WM_BEAUTIFY_FLAG" val=""/>
</p:tagLst>
</file>

<file path=ppt/tags/tag942.xml><?xml version="1.0" encoding="utf-8"?>
<p:tagLst xmlns:p="http://schemas.openxmlformats.org/presentationml/2006/main">
  <p:tag name="KSO_WM_BEAUTIFY_FLAG" val=""/>
</p:tagLst>
</file>

<file path=ppt/tags/tag943.xml><?xml version="1.0" encoding="utf-8"?>
<p:tagLst xmlns:p="http://schemas.openxmlformats.org/presentationml/2006/main">
  <p:tag name="KSO_WM_BEAUTIFY_FLAG" val=""/>
</p:tagLst>
</file>

<file path=ppt/tags/tag944.xml><?xml version="1.0" encoding="utf-8"?>
<p:tagLst xmlns:p="http://schemas.openxmlformats.org/presentationml/2006/main">
  <p:tag name="KSO_WM_BEAUTIFY_FLAG" val=""/>
</p:tagLst>
</file>

<file path=ppt/tags/tag945.xml><?xml version="1.0" encoding="utf-8"?>
<p:tagLst xmlns:p="http://schemas.openxmlformats.org/presentationml/2006/main">
  <p:tag name="KSO_WM_BEAUTIFY_FLAG" val=""/>
</p:tagLst>
</file>

<file path=ppt/tags/tag946.xml><?xml version="1.0" encoding="utf-8"?>
<p:tagLst xmlns:p="http://schemas.openxmlformats.org/presentationml/2006/main">
  <p:tag name="KSO_WM_BEAUTIFY_FLAG" val=""/>
</p:tagLst>
</file>

<file path=ppt/tags/tag947.xml><?xml version="1.0" encoding="utf-8"?>
<p:tagLst xmlns:p="http://schemas.openxmlformats.org/presentationml/2006/main">
  <p:tag name="KSO_WM_BEAUTIFY_FLAG" val=""/>
</p:tagLst>
</file>

<file path=ppt/tags/tag948.xml><?xml version="1.0" encoding="utf-8"?>
<p:tagLst xmlns:p="http://schemas.openxmlformats.org/presentationml/2006/main">
  <p:tag name="KSO_WM_BEAUTIFY_FLAG" val=""/>
</p:tagLst>
</file>

<file path=ppt/tags/tag949.xml><?xml version="1.0" encoding="utf-8"?>
<p:tagLst xmlns:p="http://schemas.openxmlformats.org/presentationml/2006/main">
  <p:tag name="KSO_WM_BEAUTIFY_FLAG" val=""/>
</p:tagLst>
</file>

<file path=ppt/tags/tag950.xml><?xml version="1.0" encoding="utf-8"?>
<p:tagLst xmlns:p="http://schemas.openxmlformats.org/presentationml/2006/main">
  <p:tag name="KSO_WM_BEAUTIFY_FLAG" val=""/>
</p:tagLst>
</file>

<file path=ppt/tags/tag951.xml><?xml version="1.0" encoding="utf-8"?>
<p:tagLst xmlns:p="http://schemas.openxmlformats.org/presentationml/2006/main">
  <p:tag name="KSO_WM_BEAUTIFY_FLAG" val=""/>
</p:tagLst>
</file>

<file path=ppt/tags/tag952.xml><?xml version="1.0" encoding="utf-8"?>
<p:tagLst xmlns:p="http://schemas.openxmlformats.org/presentationml/2006/main">
  <p:tag name="KSO_WM_BEAUTIFY_FLAG" val=""/>
</p:tagLst>
</file>

<file path=ppt/tags/tag953.xml><?xml version="1.0" encoding="utf-8"?>
<p:tagLst xmlns:p="http://schemas.openxmlformats.org/presentationml/2006/main">
  <p:tag name="KSO_WM_BEAUTIFY_FLAG" val=""/>
</p:tagLst>
</file>

<file path=ppt/tags/tag954.xml><?xml version="1.0" encoding="utf-8"?>
<p:tagLst xmlns:p="http://schemas.openxmlformats.org/presentationml/2006/main">
  <p:tag name="KSO_WM_BEAUTIFY_FLAG" val=""/>
</p:tagLst>
</file>

<file path=ppt/tags/tag955.xml><?xml version="1.0" encoding="utf-8"?>
<p:tagLst xmlns:p="http://schemas.openxmlformats.org/presentationml/2006/main">
  <p:tag name="KSO_WM_BEAUTIFY_FLAG" val=""/>
</p:tagLst>
</file>

<file path=ppt/tags/tag956.xml><?xml version="1.0" encoding="utf-8"?>
<p:tagLst xmlns:p="http://schemas.openxmlformats.org/presentationml/2006/main">
  <p:tag name="KSO_WM_BEAUTIFY_FLAG" val=""/>
</p:tagLst>
</file>

<file path=ppt/tags/tag957.xml><?xml version="1.0" encoding="utf-8"?>
<p:tagLst xmlns:p="http://schemas.openxmlformats.org/presentationml/2006/main">
  <p:tag name="KSO_WM_BEAUTIFY_FLAG" val=""/>
</p:tagLst>
</file>

<file path=ppt/tags/tag958.xml><?xml version="1.0" encoding="utf-8"?>
<p:tagLst xmlns:p="http://schemas.openxmlformats.org/presentationml/2006/main">
  <p:tag name="KSO_WM_BEAUTIFY_FLAG" val=""/>
</p:tagLst>
</file>

<file path=ppt/tags/tag959.xml><?xml version="1.0" encoding="utf-8"?>
<p:tagLst xmlns:p="http://schemas.openxmlformats.org/presentationml/2006/main">
  <p:tag name="KSO_WM_BEAUTIFY_FLAG" val=""/>
</p:tagLst>
</file>

<file path=ppt/tags/tag960.xml><?xml version="1.0" encoding="utf-8"?>
<p:tagLst xmlns:p="http://schemas.openxmlformats.org/presentationml/2006/main">
  <p:tag name="KSO_WM_BEAUTIFY_FLAG" val=""/>
</p:tagLst>
</file>

<file path=ppt/tags/tag961.xml><?xml version="1.0" encoding="utf-8"?>
<p:tagLst xmlns:p="http://schemas.openxmlformats.org/presentationml/2006/main">
  <p:tag name="KSO_WM_BEAUTIFY_FLAG" val=""/>
</p:tagLst>
</file>

<file path=ppt/tags/tag962.xml><?xml version="1.0" encoding="utf-8"?>
<p:tagLst xmlns:p="http://schemas.openxmlformats.org/presentationml/2006/main">
  <p:tag name="KSO_WM_BEAUTIFY_FLAG" val=""/>
</p:tagLst>
</file>

<file path=ppt/tags/tag963.xml><?xml version="1.0" encoding="utf-8"?>
<p:tagLst xmlns:p="http://schemas.openxmlformats.org/presentationml/2006/main">
  <p:tag name="KSO_WM_BEAUTIFY_FLAG" val=""/>
</p:tagLst>
</file>

<file path=ppt/tags/tag964.xml><?xml version="1.0" encoding="utf-8"?>
<p:tagLst xmlns:p="http://schemas.openxmlformats.org/presentationml/2006/main">
  <p:tag name="KSO_WM_BEAUTIFY_FLAG" val=""/>
</p:tagLst>
</file>

<file path=ppt/tags/tag965.xml><?xml version="1.0" encoding="utf-8"?>
<p:tagLst xmlns:p="http://schemas.openxmlformats.org/presentationml/2006/main">
  <p:tag name="KSO_WM_BEAUTIFY_FLAG" val=""/>
</p:tagLst>
</file>

<file path=ppt/tags/tag966.xml><?xml version="1.0" encoding="utf-8"?>
<p:tagLst xmlns:p="http://schemas.openxmlformats.org/presentationml/2006/main">
  <p:tag name="KSO_WM_BEAUTIFY_FLAG" val=""/>
</p:tagLst>
</file>

<file path=ppt/tags/tag967.xml><?xml version="1.0" encoding="utf-8"?>
<p:tagLst xmlns:p="http://schemas.openxmlformats.org/presentationml/2006/main">
  <p:tag name="KSO_WM_BEAUTIFY_FLAG" val=""/>
</p:tagLst>
</file>

<file path=ppt/tags/tag968.xml><?xml version="1.0" encoding="utf-8"?>
<p:tagLst xmlns:p="http://schemas.openxmlformats.org/presentationml/2006/main">
  <p:tag name="KSO_WM_BEAUTIFY_FLAG" val=""/>
</p:tagLst>
</file>

<file path=ppt/tags/tag969.xml><?xml version="1.0" encoding="utf-8"?>
<p:tagLst xmlns:p="http://schemas.openxmlformats.org/presentationml/2006/main">
  <p:tag name="KSO_WM_BEAUTIFY_FLAG" val=""/>
</p:tagLst>
</file>

<file path=ppt/tags/tag970.xml><?xml version="1.0" encoding="utf-8"?>
<p:tagLst xmlns:p="http://schemas.openxmlformats.org/presentationml/2006/main">
  <p:tag name="KSO_WM_BEAUTIFY_FLAG" val=""/>
</p:tagLst>
</file>

<file path=ppt/tags/tag971.xml><?xml version="1.0" encoding="utf-8"?>
<p:tagLst xmlns:p="http://schemas.openxmlformats.org/presentationml/2006/main">
  <p:tag name="KSO_WM_BEAUTIFY_FLAG" val=""/>
</p:tagLst>
</file>

<file path=ppt/tags/tag972.xml><?xml version="1.0" encoding="utf-8"?>
<p:tagLst xmlns:p="http://schemas.openxmlformats.org/presentationml/2006/main">
  <p:tag name="KSO_WM_BEAUTIFY_FLAG" val=""/>
</p:tagLst>
</file>

<file path=ppt/tags/tag973.xml><?xml version="1.0" encoding="utf-8"?>
<p:tagLst xmlns:p="http://schemas.openxmlformats.org/presentationml/2006/main">
  <p:tag name="KSO_WM_BEAUTIFY_FLAG" val=""/>
</p:tagLst>
</file>

<file path=ppt/tags/tag974.xml><?xml version="1.0" encoding="utf-8"?>
<p:tagLst xmlns:p="http://schemas.openxmlformats.org/presentationml/2006/main">
  <p:tag name="KSO_WM_BEAUTIFY_FLAG" val=""/>
</p:tagLst>
</file>

<file path=ppt/tags/tag975.xml><?xml version="1.0" encoding="utf-8"?>
<p:tagLst xmlns:p="http://schemas.openxmlformats.org/presentationml/2006/main">
  <p:tag name="KSO_WM_BEAUTIFY_FLAG" val=""/>
</p:tagLst>
</file>

<file path=ppt/tags/tag976.xml><?xml version="1.0" encoding="utf-8"?>
<p:tagLst xmlns:p="http://schemas.openxmlformats.org/presentationml/2006/main">
  <p:tag name="KSO_WM_BEAUTIFY_FLAG" val=""/>
</p:tagLst>
</file>

<file path=ppt/tags/tag977.xml><?xml version="1.0" encoding="utf-8"?>
<p:tagLst xmlns:p="http://schemas.openxmlformats.org/presentationml/2006/main">
  <p:tag name="KSO_WM_BEAUTIFY_FLAG" val=""/>
</p:tagLst>
</file>

<file path=ppt/tags/tag978.xml><?xml version="1.0" encoding="utf-8"?>
<p:tagLst xmlns:p="http://schemas.openxmlformats.org/presentationml/2006/main">
  <p:tag name="KSO_WM_BEAUTIFY_FLAG" val=""/>
</p:tagLst>
</file>

<file path=ppt/tags/tag979.xml><?xml version="1.0" encoding="utf-8"?>
<p:tagLst xmlns:p="http://schemas.openxmlformats.org/presentationml/2006/main">
  <p:tag name="KSO_WM_BEAUTIFY_FLAG" val=""/>
</p:tagLst>
</file>

<file path=ppt/tags/tag980.xml><?xml version="1.0" encoding="utf-8"?>
<p:tagLst xmlns:p="http://schemas.openxmlformats.org/presentationml/2006/main">
  <p:tag name="KSO_WM_BEAUTIFY_FLAG" val=""/>
</p:tagLst>
</file>

<file path=ppt/tags/tag981.xml><?xml version="1.0" encoding="utf-8"?>
<p:tagLst xmlns:p="http://schemas.openxmlformats.org/presentationml/2006/main">
  <p:tag name="KSO_WM_BEAUTIFY_FLAG" val=""/>
</p:tagLst>
</file>

<file path=ppt/tags/tag982.xml><?xml version="1.0" encoding="utf-8"?>
<p:tagLst xmlns:p="http://schemas.openxmlformats.org/presentationml/2006/main">
  <p:tag name="KSO_WM_BEAUTIFY_FLAG" val=""/>
</p:tagLst>
</file>

<file path=ppt/tags/tag983.xml><?xml version="1.0" encoding="utf-8"?>
<p:tagLst xmlns:p="http://schemas.openxmlformats.org/presentationml/2006/main">
  <p:tag name="KSO_WM_BEAUTIFY_FLAG" val=""/>
</p:tagLst>
</file>

<file path=ppt/tags/tag984.xml><?xml version="1.0" encoding="utf-8"?>
<p:tagLst xmlns:p="http://schemas.openxmlformats.org/presentationml/2006/main">
  <p:tag name="KSO_WM_BEAUTIFY_FLAG" val=""/>
</p:tagLst>
</file>

<file path=ppt/tags/tag985.xml><?xml version="1.0" encoding="utf-8"?>
<p:tagLst xmlns:p="http://schemas.openxmlformats.org/presentationml/2006/main">
  <p:tag name="KSO_WM_BEAUTIFY_FLAG" val=""/>
</p:tagLst>
</file>

<file path=ppt/tags/tag986.xml><?xml version="1.0" encoding="utf-8"?>
<p:tagLst xmlns:p="http://schemas.openxmlformats.org/presentationml/2006/main">
  <p:tag name="KSO_WM_BEAUTIFY_FLAG" val=""/>
</p:tagLst>
</file>

<file path=ppt/tags/tag987.xml><?xml version="1.0" encoding="utf-8"?>
<p:tagLst xmlns:p="http://schemas.openxmlformats.org/presentationml/2006/main">
  <p:tag name="KSO_WM_BEAUTIFY_FLAG" val=""/>
</p:tagLst>
</file>

<file path=ppt/tags/tag988.xml><?xml version="1.0" encoding="utf-8"?>
<p:tagLst xmlns:p="http://schemas.openxmlformats.org/presentationml/2006/main">
  <p:tag name="KSO_WM_BEAUTIFY_FLAG" val=""/>
</p:tagLst>
</file>

<file path=ppt/tags/tag989.xml><?xml version="1.0" encoding="utf-8"?>
<p:tagLst xmlns:p="http://schemas.openxmlformats.org/presentationml/2006/main">
  <p:tag name="KSO_WM_BEAUTIFY_FLAG" val=""/>
</p:tagLst>
</file>

<file path=ppt/tags/tag990.xml><?xml version="1.0" encoding="utf-8"?>
<p:tagLst xmlns:p="http://schemas.openxmlformats.org/presentationml/2006/main">
  <p:tag name="KSO_WM_BEAUTIFY_FLAG" val=""/>
</p:tagLst>
</file>

<file path=ppt/tags/tag991.xml><?xml version="1.0" encoding="utf-8"?>
<p:tagLst xmlns:p="http://schemas.openxmlformats.org/presentationml/2006/main">
  <p:tag name="KSO_WM_BEAUTIFY_FLAG" val=""/>
</p:tagLst>
</file>

<file path=ppt/tags/tag992.xml><?xml version="1.0" encoding="utf-8"?>
<p:tagLst xmlns:p="http://schemas.openxmlformats.org/presentationml/2006/main">
  <p:tag name="KSO_WM_BEAUTIFY_FLAG" val=""/>
</p:tagLst>
</file>

<file path=ppt/tags/tag993.xml><?xml version="1.0" encoding="utf-8"?>
<p:tagLst xmlns:p="http://schemas.openxmlformats.org/presentationml/2006/main">
  <p:tag name="KSO_WM_BEAUTIFY_FLAG" val=""/>
</p:tagLst>
</file>

<file path=ppt/tags/tag994.xml><?xml version="1.0" encoding="utf-8"?>
<p:tagLst xmlns:p="http://schemas.openxmlformats.org/presentationml/2006/main">
  <p:tag name="KSO_WM_BEAUTIFY_FLAG" val=""/>
</p:tagLst>
</file>

<file path=ppt/tags/tag995.xml><?xml version="1.0" encoding="utf-8"?>
<p:tagLst xmlns:p="http://schemas.openxmlformats.org/presentationml/2006/main">
  <p:tag name="KSO_WM_BEAUTIFY_FLAG" val=""/>
</p:tagLst>
</file>

<file path=ppt/tags/tag996.xml><?xml version="1.0" encoding="utf-8"?>
<p:tagLst xmlns:p="http://schemas.openxmlformats.org/presentationml/2006/main">
  <p:tag name="KSO_WM_BEAUTIFY_FLAG" val=""/>
</p:tagLst>
</file>

<file path=ppt/tags/tag997.xml><?xml version="1.0" encoding="utf-8"?>
<p:tagLst xmlns:p="http://schemas.openxmlformats.org/presentationml/2006/main">
  <p:tag name="KSO_WM_BEAUTIFY_FLAG" val=""/>
</p:tagLst>
</file>

<file path=ppt/tags/tag998.xml><?xml version="1.0" encoding="utf-8"?>
<p:tagLst xmlns:p="http://schemas.openxmlformats.org/presentationml/2006/main">
  <p:tag name="KSO_WM_BEAUTIFY_FLAG" val=""/>
</p:tagLst>
</file>

<file path=ppt/tags/tag999.xml><?xml version="1.0" encoding="utf-8"?>
<p:tagLst xmlns:p="http://schemas.openxmlformats.org/presentationml/2006/main">
  <p:tag name="KSO_WM_BEAUTIFY_FLAG" val=""/>
</p:tagLst>
</file>

<file path=ppt/tags/tag1000.xml><?xml version="1.0" encoding="utf-8"?>
<p:tagLst xmlns:p="http://schemas.openxmlformats.org/presentationml/2006/main">
  <p:tag name="KSO_WM_BEAUTIFY_FLAG" val=""/>
</p:tagLst>
</file>

<file path=ppt/tags/tag1001.xml><?xml version="1.0" encoding="utf-8"?>
<p:tagLst xmlns:p="http://schemas.openxmlformats.org/presentationml/2006/main">
  <p:tag name="KSO_WM_BEAUTIFY_FLAG" val=""/>
</p:tagLst>
</file>

<file path=ppt/tags/tag1002.xml><?xml version="1.0" encoding="utf-8"?>
<p:tagLst xmlns:p="http://schemas.openxmlformats.org/presentationml/2006/main">
  <p:tag name="KSO_WM_BEAUTIFY_FLAG" val=""/>
</p:tagLst>
</file>

<file path=ppt/tags/tag1003.xml><?xml version="1.0" encoding="utf-8"?>
<p:tagLst xmlns:p="http://schemas.openxmlformats.org/presentationml/2006/main">
  <p:tag name="KSO_WM_BEAUTIFY_FLAG" val=""/>
</p:tagLst>
</file>

<file path=ppt/tags/tag1004.xml><?xml version="1.0" encoding="utf-8"?>
<p:tagLst xmlns:p="http://schemas.openxmlformats.org/presentationml/2006/main">
  <p:tag name="KSO_WM_BEAUTIFY_FLAG" val=""/>
</p:tagLst>
</file>

<file path=ppt/tags/tag1005.xml><?xml version="1.0" encoding="utf-8"?>
<p:tagLst xmlns:p="http://schemas.openxmlformats.org/presentationml/2006/main">
  <p:tag name="KSO_WM_BEAUTIFY_FLAG" val=""/>
</p:tagLst>
</file>

<file path=ppt/tags/tag1006.xml><?xml version="1.0" encoding="utf-8"?>
<p:tagLst xmlns:p="http://schemas.openxmlformats.org/presentationml/2006/main">
  <p:tag name="KSO_WM_BEAUTIFY_FLAG" val=""/>
</p:tagLst>
</file>

<file path=ppt/tags/tag1007.xml><?xml version="1.0" encoding="utf-8"?>
<p:tagLst xmlns:p="http://schemas.openxmlformats.org/presentationml/2006/main">
  <p:tag name="KSO_WM_BEAUTIFY_FLAG" val=""/>
</p:tagLst>
</file>

<file path=ppt/tags/tag1008.xml><?xml version="1.0" encoding="utf-8"?>
<p:tagLst xmlns:p="http://schemas.openxmlformats.org/presentationml/2006/main">
  <p:tag name="KSO_WM_BEAUTIFY_FLAG" val=""/>
</p:tagLst>
</file>

<file path=ppt/tags/tag1009.xml><?xml version="1.0" encoding="utf-8"?>
<p:tagLst xmlns:p="http://schemas.openxmlformats.org/presentationml/2006/main">
  <p:tag name="KSO_WM_BEAUTIFY_FLAG" val=""/>
</p:tagLst>
</file>

<file path=ppt/tags/tag1010.xml><?xml version="1.0" encoding="utf-8"?>
<p:tagLst xmlns:p="http://schemas.openxmlformats.org/presentationml/2006/main">
  <p:tag name="KSO_WM_BEAUTIFY_FLAG" val=""/>
</p:tagLst>
</file>

<file path=ppt/tags/tag1011.xml><?xml version="1.0" encoding="utf-8"?>
<p:tagLst xmlns:p="http://schemas.openxmlformats.org/presentationml/2006/main">
  <p:tag name="KSO_WM_BEAUTIFY_FLAG" val=""/>
</p:tagLst>
</file>

<file path=ppt/tags/tag1012.xml><?xml version="1.0" encoding="utf-8"?>
<p:tagLst xmlns:p="http://schemas.openxmlformats.org/presentationml/2006/main">
  <p:tag name="KSO_WM_BEAUTIFY_FLAG" val=""/>
</p:tagLst>
</file>

<file path=ppt/tags/tag1013.xml><?xml version="1.0" encoding="utf-8"?>
<p:tagLst xmlns:p="http://schemas.openxmlformats.org/presentationml/2006/main">
  <p:tag name="KSO_WM_BEAUTIFY_FLAG" val=""/>
</p:tagLst>
</file>

<file path=ppt/tags/tag1014.xml><?xml version="1.0" encoding="utf-8"?>
<p:tagLst xmlns:p="http://schemas.openxmlformats.org/presentationml/2006/main">
  <p:tag name="KSO_WM_BEAUTIFY_FLAG" val=""/>
</p:tagLst>
</file>

<file path=ppt/tags/tag1015.xml><?xml version="1.0" encoding="utf-8"?>
<p:tagLst xmlns:p="http://schemas.openxmlformats.org/presentationml/2006/main">
  <p:tag name="KSO_WM_BEAUTIFY_FLAG" val=""/>
</p:tagLst>
</file>

<file path=ppt/tags/tag1016.xml><?xml version="1.0" encoding="utf-8"?>
<p:tagLst xmlns:p="http://schemas.openxmlformats.org/presentationml/2006/main">
  <p:tag name="KSO_WM_BEAUTIFY_FLAG" val=""/>
</p:tagLst>
</file>

<file path=ppt/tags/tag1017.xml><?xml version="1.0" encoding="utf-8"?>
<p:tagLst xmlns:p="http://schemas.openxmlformats.org/presentationml/2006/main">
  <p:tag name="KSO_WM_BEAUTIFY_FLAG" val=""/>
</p:tagLst>
</file>

<file path=ppt/tags/tag1018.xml><?xml version="1.0" encoding="utf-8"?>
<p:tagLst xmlns:p="http://schemas.openxmlformats.org/presentationml/2006/main">
  <p:tag name="KSO_WM_BEAUTIFY_FLAG" val=""/>
</p:tagLst>
</file>

<file path=ppt/tags/tag1019.xml><?xml version="1.0" encoding="utf-8"?>
<p:tagLst xmlns:p="http://schemas.openxmlformats.org/presentationml/2006/main">
  <p:tag name="KSO_WM_BEAUTIFY_FLAG" val=""/>
</p:tagLst>
</file>

<file path=ppt/tags/tag1020.xml><?xml version="1.0" encoding="utf-8"?>
<p:tagLst xmlns:p="http://schemas.openxmlformats.org/presentationml/2006/main">
  <p:tag name="KSO_WM_BEAUTIFY_FLAG" val=""/>
</p:tagLst>
</file>

<file path=ppt/tags/tag1021.xml><?xml version="1.0" encoding="utf-8"?>
<p:tagLst xmlns:p="http://schemas.openxmlformats.org/presentationml/2006/main">
  <p:tag name="KSO_WM_BEAUTIFY_FLAG" val=""/>
</p:tagLst>
</file>

<file path=ppt/tags/tag1022.xml><?xml version="1.0" encoding="utf-8"?>
<p:tagLst xmlns:p="http://schemas.openxmlformats.org/presentationml/2006/main">
  <p:tag name="KSO_WM_BEAUTIFY_FLAG" val=""/>
</p:tagLst>
</file>

<file path=ppt/tags/tag1023.xml><?xml version="1.0" encoding="utf-8"?>
<p:tagLst xmlns:p="http://schemas.openxmlformats.org/presentationml/2006/main">
  <p:tag name="KSO_WM_BEAUTIFY_FLAG" val=""/>
</p:tagLst>
</file>

<file path=ppt/tags/tag1024.xml><?xml version="1.0" encoding="utf-8"?>
<p:tagLst xmlns:p="http://schemas.openxmlformats.org/presentationml/2006/main">
  <p:tag name="KSO_WM_BEAUTIFY_FLAG" val=""/>
</p:tagLst>
</file>

<file path=ppt/tags/tag1025.xml><?xml version="1.0" encoding="utf-8"?>
<p:tagLst xmlns:p="http://schemas.openxmlformats.org/presentationml/2006/main">
  <p:tag name="KSO_WM_BEAUTIFY_FLAG" val=""/>
</p:tagLst>
</file>

<file path=ppt/tags/tag1026.xml><?xml version="1.0" encoding="utf-8"?>
<p:tagLst xmlns:p="http://schemas.openxmlformats.org/presentationml/2006/main">
  <p:tag name="KSO_WM_BEAUTIFY_FLAG" val=""/>
</p:tagLst>
</file>

<file path=ppt/tags/tag1027.xml><?xml version="1.0" encoding="utf-8"?>
<p:tagLst xmlns:p="http://schemas.openxmlformats.org/presentationml/2006/main">
  <p:tag name="KSO_WM_BEAUTIFY_FLAG" val=""/>
</p:tagLst>
</file>

<file path=ppt/tags/tag1028.xml><?xml version="1.0" encoding="utf-8"?>
<p:tagLst xmlns:p="http://schemas.openxmlformats.org/presentationml/2006/main">
  <p:tag name="KSO_WM_BEAUTIFY_FLAG" val=""/>
</p:tagLst>
</file>

<file path=ppt/tags/tag1029.xml><?xml version="1.0" encoding="utf-8"?>
<p:tagLst xmlns:p="http://schemas.openxmlformats.org/presentationml/2006/main">
  <p:tag name="KSO_WM_BEAUTIFY_FLAG" val=""/>
</p:tagLst>
</file>

<file path=ppt/tags/tag1030.xml><?xml version="1.0" encoding="utf-8"?>
<p:tagLst xmlns:p="http://schemas.openxmlformats.org/presentationml/2006/main">
  <p:tag name="KSO_WM_BEAUTIFY_FLAG" val=""/>
</p:tagLst>
</file>

<file path=ppt/tags/tag1031.xml><?xml version="1.0" encoding="utf-8"?>
<p:tagLst xmlns:p="http://schemas.openxmlformats.org/presentationml/2006/main">
  <p:tag name="KSO_WM_BEAUTIFY_FLAG" val=""/>
</p:tagLst>
</file>

<file path=ppt/tags/tag1032.xml><?xml version="1.0" encoding="utf-8"?>
<p:tagLst xmlns:p="http://schemas.openxmlformats.org/presentationml/2006/main">
  <p:tag name="KSO_WM_BEAUTIFY_FLAG" val=""/>
</p:tagLst>
</file>

<file path=ppt/tags/tag1033.xml><?xml version="1.0" encoding="utf-8"?>
<p:tagLst xmlns:p="http://schemas.openxmlformats.org/presentationml/2006/main">
  <p:tag name="KSO_WM_BEAUTIFY_FLAG" val=""/>
</p:tagLst>
</file>

<file path=ppt/tags/tag1034.xml><?xml version="1.0" encoding="utf-8"?>
<p:tagLst xmlns:p="http://schemas.openxmlformats.org/presentationml/2006/main">
  <p:tag name="KSO_WM_BEAUTIFY_FLAG" val=""/>
</p:tagLst>
</file>

<file path=ppt/tags/tag1035.xml><?xml version="1.0" encoding="utf-8"?>
<p:tagLst xmlns:p="http://schemas.openxmlformats.org/presentationml/2006/main">
  <p:tag name="KSO_WM_BEAUTIFY_FLAG" val=""/>
</p:tagLst>
</file>

<file path=ppt/tags/tag1036.xml><?xml version="1.0" encoding="utf-8"?>
<p:tagLst xmlns:p="http://schemas.openxmlformats.org/presentationml/2006/main">
  <p:tag name="KSO_WM_BEAUTIFY_FLAG" val=""/>
</p:tagLst>
</file>

<file path=ppt/tags/tag1037.xml><?xml version="1.0" encoding="utf-8"?>
<p:tagLst xmlns:p="http://schemas.openxmlformats.org/presentationml/2006/main">
  <p:tag name="KSO_WM_BEAUTIFY_FLAG" val=""/>
</p:tagLst>
</file>

<file path=ppt/tags/tag1038.xml><?xml version="1.0" encoding="utf-8"?>
<p:tagLst xmlns:p="http://schemas.openxmlformats.org/presentationml/2006/main">
  <p:tag name="KSO_WM_BEAUTIFY_FLAG" val=""/>
</p:tagLst>
</file>

<file path=ppt/tags/tag1039.xml><?xml version="1.0" encoding="utf-8"?>
<p:tagLst xmlns:p="http://schemas.openxmlformats.org/presentationml/2006/main">
  <p:tag name="KSO_WM_BEAUTIFY_FLAG" val=""/>
</p:tagLst>
</file>

<file path=ppt/tags/tag1040.xml><?xml version="1.0" encoding="utf-8"?>
<p:tagLst xmlns:p="http://schemas.openxmlformats.org/presentationml/2006/main">
  <p:tag name="KSO_WM_BEAUTIFY_FLAG" val=""/>
</p:tagLst>
</file>

<file path=ppt/tags/tag1041.xml><?xml version="1.0" encoding="utf-8"?>
<p:tagLst xmlns:p="http://schemas.openxmlformats.org/presentationml/2006/main">
  <p:tag name="KSO_WM_BEAUTIFY_FLAG" val=""/>
</p:tagLst>
</file>

<file path=ppt/tags/tag1042.xml><?xml version="1.0" encoding="utf-8"?>
<p:tagLst xmlns:p="http://schemas.openxmlformats.org/presentationml/2006/main">
  <p:tag name="KSO_WM_BEAUTIFY_FLAG" val=""/>
</p:tagLst>
</file>

<file path=ppt/tags/tag1043.xml><?xml version="1.0" encoding="utf-8"?>
<p:tagLst xmlns:p="http://schemas.openxmlformats.org/presentationml/2006/main">
  <p:tag name="KSO_WM_BEAUTIFY_FLAG" val=""/>
</p:tagLst>
</file>

<file path=ppt/tags/tag1044.xml><?xml version="1.0" encoding="utf-8"?>
<p:tagLst xmlns:p="http://schemas.openxmlformats.org/presentationml/2006/main">
  <p:tag name="KSO_WM_BEAUTIFY_FLAG" val=""/>
</p:tagLst>
</file>

<file path=ppt/tags/tag1045.xml><?xml version="1.0" encoding="utf-8"?>
<p:tagLst xmlns:p="http://schemas.openxmlformats.org/presentationml/2006/main">
  <p:tag name="KSO_WM_BEAUTIFY_FLAG" val=""/>
</p:tagLst>
</file>

<file path=ppt/tags/tag1046.xml><?xml version="1.0" encoding="utf-8"?>
<p:tagLst xmlns:p="http://schemas.openxmlformats.org/presentationml/2006/main">
  <p:tag name="KSO_WM_BEAUTIFY_FLAG" val=""/>
</p:tagLst>
</file>

<file path=ppt/tags/tag1047.xml><?xml version="1.0" encoding="utf-8"?>
<p:tagLst xmlns:p="http://schemas.openxmlformats.org/presentationml/2006/main">
  <p:tag name="KSO_WM_BEAUTIFY_FLAG" val=""/>
  <p:tag name="TABLE_ENDDRAG_ORIGIN_RECT" val="515*39"/>
  <p:tag name="TABLE_ENDDRAG_RECT" val="121*365*515*39"/>
</p:tagLst>
</file>

<file path=ppt/tags/tag1048.xml><?xml version="1.0" encoding="utf-8"?>
<p:tagLst xmlns:p="http://schemas.openxmlformats.org/presentationml/2006/main">
  <p:tag name="KSO_WM_BEAUTIFY_FLAG" val=""/>
</p:tagLst>
</file>

<file path=ppt/tags/tag1049.xml><?xml version="1.0" encoding="utf-8"?>
<p:tagLst xmlns:p="http://schemas.openxmlformats.org/presentationml/2006/main">
  <p:tag name="KSO_WM_BEAUTIFY_FLAG" val=""/>
</p:tagLst>
</file>

<file path=ppt/tags/tag1050.xml><?xml version="1.0" encoding="utf-8"?>
<p:tagLst xmlns:p="http://schemas.openxmlformats.org/presentationml/2006/main">
  <p:tag name="KSO_WM_BEAUTIFY_FLAG" val=""/>
</p:tagLst>
</file>

<file path=ppt/tags/tag1051.xml><?xml version="1.0" encoding="utf-8"?>
<p:tagLst xmlns:p="http://schemas.openxmlformats.org/presentationml/2006/main">
  <p:tag name="KSO_WM_BEAUTIFY_FLAG" val=""/>
</p:tagLst>
</file>

<file path=ppt/tags/tag1052.xml><?xml version="1.0" encoding="utf-8"?>
<p:tagLst xmlns:p="http://schemas.openxmlformats.org/presentationml/2006/main">
  <p:tag name="KSO_WM_BEAUTIFY_FLAG" val=""/>
</p:tagLst>
</file>

<file path=ppt/tags/tag1053.xml><?xml version="1.0" encoding="utf-8"?>
<p:tagLst xmlns:p="http://schemas.openxmlformats.org/presentationml/2006/main">
  <p:tag name="KSO_WM_BEAUTIFY_FLAG" val=""/>
</p:tagLst>
</file>

<file path=ppt/tags/tag1054.xml><?xml version="1.0" encoding="utf-8"?>
<p:tagLst xmlns:p="http://schemas.openxmlformats.org/presentationml/2006/main">
  <p:tag name="KSO_WM_BEAUTIFY_FLAG" val=""/>
</p:tagLst>
</file>

<file path=ppt/tags/tag1055.xml><?xml version="1.0" encoding="utf-8"?>
<p:tagLst xmlns:p="http://schemas.openxmlformats.org/presentationml/2006/main">
  <p:tag name="KSO_WM_BEAUTIFY_FLAG" val=""/>
</p:tagLst>
</file>

<file path=ppt/tags/tag1056.xml><?xml version="1.0" encoding="utf-8"?>
<p:tagLst xmlns:p="http://schemas.openxmlformats.org/presentationml/2006/main">
  <p:tag name="KSO_WM_BEAUTIFY_FLAG" val=""/>
</p:tagLst>
</file>

<file path=ppt/tags/tag1057.xml><?xml version="1.0" encoding="utf-8"?>
<p:tagLst xmlns:p="http://schemas.openxmlformats.org/presentationml/2006/main">
  <p:tag name="KSO_WM_BEAUTIFY_FLAG" val=""/>
</p:tagLst>
</file>

<file path=ppt/tags/tag1058.xml><?xml version="1.0" encoding="utf-8"?>
<p:tagLst xmlns:p="http://schemas.openxmlformats.org/presentationml/2006/main">
  <p:tag name="KSO_WM_BEAUTIFY_FLAG" val=""/>
</p:tagLst>
</file>

<file path=ppt/tags/tag1059.xml><?xml version="1.0" encoding="utf-8"?>
<p:tagLst xmlns:p="http://schemas.openxmlformats.org/presentationml/2006/main">
  <p:tag name="KSO_WM_BEAUTIFY_FLAG" val=""/>
</p:tagLst>
</file>

<file path=ppt/tags/tag1060.xml><?xml version="1.0" encoding="utf-8"?>
<p:tagLst xmlns:p="http://schemas.openxmlformats.org/presentationml/2006/main">
  <p:tag name="KSO_WM_BEAUTIFY_FLAG" val=""/>
</p:tagLst>
</file>

<file path=ppt/tags/tag1061.xml><?xml version="1.0" encoding="utf-8"?>
<p:tagLst xmlns:p="http://schemas.openxmlformats.org/presentationml/2006/main">
  <p:tag name="KSO_WM_BEAUTIFY_FLAG" val=""/>
</p:tagLst>
</file>

<file path=ppt/tags/tag1062.xml><?xml version="1.0" encoding="utf-8"?>
<p:tagLst xmlns:p="http://schemas.openxmlformats.org/presentationml/2006/main">
  <p:tag name="KSO_WM_BEAUTIFY_FLAG" val=""/>
</p:tagLst>
</file>

<file path=ppt/tags/tag1063.xml><?xml version="1.0" encoding="utf-8"?>
<p:tagLst xmlns:p="http://schemas.openxmlformats.org/presentationml/2006/main">
  <p:tag name="KSO_WM_BEAUTIFY_FLAG" val=""/>
</p:tagLst>
</file>

<file path=ppt/tags/tag1064.xml><?xml version="1.0" encoding="utf-8"?>
<p:tagLst xmlns:p="http://schemas.openxmlformats.org/presentationml/2006/main">
  <p:tag name="KSO_WM_BEAUTIFY_FLAG" val=""/>
</p:tagLst>
</file>

<file path=ppt/tags/tag1065.xml><?xml version="1.0" encoding="utf-8"?>
<p:tagLst xmlns:p="http://schemas.openxmlformats.org/presentationml/2006/main">
  <p:tag name="KSO_WM_BEAUTIFY_FLAG" val=""/>
</p:tagLst>
</file>

<file path=ppt/tags/tag1066.xml><?xml version="1.0" encoding="utf-8"?>
<p:tagLst xmlns:p="http://schemas.openxmlformats.org/presentationml/2006/main">
  <p:tag name="KSO_WM_BEAUTIFY_FLAG" val=""/>
</p:tagLst>
</file>

<file path=ppt/tags/tag1067.xml><?xml version="1.0" encoding="utf-8"?>
<p:tagLst xmlns:p="http://schemas.openxmlformats.org/presentationml/2006/main">
  <p:tag name="KSO_WM_BEAUTIFY_FLAG" val=""/>
</p:tagLst>
</file>

<file path=ppt/tags/tag1068.xml><?xml version="1.0" encoding="utf-8"?>
<p:tagLst xmlns:p="http://schemas.openxmlformats.org/presentationml/2006/main">
  <p:tag name="KSO_WM_BEAUTIFY_FLAG" val=""/>
</p:tagLst>
</file>

<file path=ppt/tags/tag1069.xml><?xml version="1.0" encoding="utf-8"?>
<p:tagLst xmlns:p="http://schemas.openxmlformats.org/presentationml/2006/main">
  <p:tag name="KSO_WM_BEAUTIFY_FLAG" val=""/>
</p:tagLst>
</file>

<file path=ppt/tags/tag1070.xml><?xml version="1.0" encoding="utf-8"?>
<p:tagLst xmlns:p="http://schemas.openxmlformats.org/presentationml/2006/main">
  <p:tag name="KSO_WM_BEAUTIFY_FLAG" val=""/>
</p:tagLst>
</file>

<file path=ppt/tags/tag1071.xml><?xml version="1.0" encoding="utf-8"?>
<p:tagLst xmlns:p="http://schemas.openxmlformats.org/presentationml/2006/main">
  <p:tag name="KSO_WM_BEAUTIFY_FLAG" val=""/>
</p:tagLst>
</file>

<file path=ppt/tags/tag1072.xml><?xml version="1.0" encoding="utf-8"?>
<p:tagLst xmlns:p="http://schemas.openxmlformats.org/presentationml/2006/main">
  <p:tag name="KSO_WM_BEAUTIFY_FLAG" val=""/>
</p:tagLst>
</file>

<file path=ppt/tags/tag1073.xml><?xml version="1.0" encoding="utf-8"?>
<p:tagLst xmlns:p="http://schemas.openxmlformats.org/presentationml/2006/main">
  <p:tag name="KSO_WM_BEAUTIFY_FLAG" val=""/>
</p:tagLst>
</file>

<file path=ppt/tags/tag1074.xml><?xml version="1.0" encoding="utf-8"?>
<p:tagLst xmlns:p="http://schemas.openxmlformats.org/presentationml/2006/main">
  <p:tag name="KSO_WM_BEAUTIFY_FLAG" val=""/>
</p:tagLst>
</file>

<file path=ppt/tags/tag1075.xml><?xml version="1.0" encoding="utf-8"?>
<p:tagLst xmlns:p="http://schemas.openxmlformats.org/presentationml/2006/main">
  <p:tag name="KSO_WM_BEAUTIFY_FLAG" val=""/>
</p:tagLst>
</file>

<file path=ppt/tags/tag1076.xml><?xml version="1.0" encoding="utf-8"?>
<p:tagLst xmlns:p="http://schemas.openxmlformats.org/presentationml/2006/main">
  <p:tag name="KSO_WM_BEAUTIFY_FLAG" val=""/>
</p:tagLst>
</file>

<file path=ppt/tags/tag1077.xml><?xml version="1.0" encoding="utf-8"?>
<p:tagLst xmlns:p="http://schemas.openxmlformats.org/presentationml/2006/main">
  <p:tag name="KSO_WM_BEAUTIFY_FLAG" val=""/>
</p:tagLst>
</file>

<file path=ppt/tags/tag1078.xml><?xml version="1.0" encoding="utf-8"?>
<p:tagLst xmlns:p="http://schemas.openxmlformats.org/presentationml/2006/main">
  <p:tag name="KSO_WM_BEAUTIFY_FLAG" val=""/>
</p:tagLst>
</file>

<file path=ppt/tags/tag1079.xml><?xml version="1.0" encoding="utf-8"?>
<p:tagLst xmlns:p="http://schemas.openxmlformats.org/presentationml/2006/main">
  <p:tag name="KSO_WM_BEAUTIFY_FLAG" val=""/>
</p:tagLst>
</file>

<file path=ppt/tags/tag1080.xml><?xml version="1.0" encoding="utf-8"?>
<p:tagLst xmlns:p="http://schemas.openxmlformats.org/presentationml/2006/main">
  <p:tag name="KSO_WM_BEAUTIFY_FLAG" val=""/>
</p:tagLst>
</file>

<file path=ppt/tags/tag1081.xml><?xml version="1.0" encoding="utf-8"?>
<p:tagLst xmlns:p="http://schemas.openxmlformats.org/presentationml/2006/main">
  <p:tag name="KSO_WM_BEAUTIFY_FLAG" val=""/>
</p:tagLst>
</file>

<file path=ppt/tags/tag1082.xml><?xml version="1.0" encoding="utf-8"?>
<p:tagLst xmlns:p="http://schemas.openxmlformats.org/presentationml/2006/main">
  <p:tag name="KSO_WM_BEAUTIFY_FLAG" val=""/>
</p:tagLst>
</file>

<file path=ppt/tags/tag1083.xml><?xml version="1.0" encoding="utf-8"?>
<p:tagLst xmlns:p="http://schemas.openxmlformats.org/presentationml/2006/main">
  <p:tag name="KSO_WM_BEAUTIFY_FLAG" val=""/>
</p:tagLst>
</file>

<file path=ppt/tags/tag1084.xml><?xml version="1.0" encoding="utf-8"?>
<p:tagLst xmlns:p="http://schemas.openxmlformats.org/presentationml/2006/main">
  <p:tag name="KSO_WM_BEAUTIFY_FLAG" val=""/>
</p:tagLst>
</file>

<file path=ppt/tags/tag1085.xml><?xml version="1.0" encoding="utf-8"?>
<p:tagLst xmlns:p="http://schemas.openxmlformats.org/presentationml/2006/main">
  <p:tag name="KSO_WM_BEAUTIFY_FLAG" val=""/>
</p:tagLst>
</file>

<file path=ppt/tags/tag1086.xml><?xml version="1.0" encoding="utf-8"?>
<p:tagLst xmlns:p="http://schemas.openxmlformats.org/presentationml/2006/main">
  <p:tag name="KSO_WM_BEAUTIFY_FLAG" val=""/>
</p:tagLst>
</file>

<file path=ppt/tags/tag1087.xml><?xml version="1.0" encoding="utf-8"?>
<p:tagLst xmlns:p="http://schemas.openxmlformats.org/presentationml/2006/main">
  <p:tag name="KSO_WM_BEAUTIFY_FLAG" val=""/>
</p:tagLst>
</file>

<file path=ppt/tags/tag1088.xml><?xml version="1.0" encoding="utf-8"?>
<p:tagLst xmlns:p="http://schemas.openxmlformats.org/presentationml/2006/main">
  <p:tag name="KSO_WM_BEAUTIFY_FLAG" val=""/>
</p:tagLst>
</file>

<file path=ppt/tags/tag1089.xml><?xml version="1.0" encoding="utf-8"?>
<p:tagLst xmlns:p="http://schemas.openxmlformats.org/presentationml/2006/main">
  <p:tag name="KSO_WM_BEAUTIFY_FLAG" val=""/>
</p:tagLst>
</file>

<file path=ppt/tags/tag1090.xml><?xml version="1.0" encoding="utf-8"?>
<p:tagLst xmlns:p="http://schemas.openxmlformats.org/presentationml/2006/main">
  <p:tag name="KSO_WM_BEAUTIFY_FLAG" val=""/>
</p:tagLst>
</file>

<file path=ppt/tags/tag1091.xml><?xml version="1.0" encoding="utf-8"?>
<p:tagLst xmlns:p="http://schemas.openxmlformats.org/presentationml/2006/main">
  <p:tag name="KSO_WM_BEAUTIFY_FLAG" val=""/>
</p:tagLst>
</file>

<file path=ppt/tags/tag1092.xml><?xml version="1.0" encoding="utf-8"?>
<p:tagLst xmlns:p="http://schemas.openxmlformats.org/presentationml/2006/main">
  <p:tag name="KSO_WM_BEAUTIFY_FLAG" val=""/>
</p:tagLst>
</file>

<file path=ppt/tags/tag1093.xml><?xml version="1.0" encoding="utf-8"?>
<p:tagLst xmlns:p="http://schemas.openxmlformats.org/presentationml/2006/main">
  <p:tag name="KSO_WM_BEAUTIFY_FLAG" val=""/>
</p:tagLst>
</file>

<file path=ppt/tags/tag1094.xml><?xml version="1.0" encoding="utf-8"?>
<p:tagLst xmlns:p="http://schemas.openxmlformats.org/presentationml/2006/main">
  <p:tag name="KSO_WM_BEAUTIFY_FLAG" val=""/>
</p:tagLst>
</file>

<file path=ppt/tags/tag1095.xml><?xml version="1.0" encoding="utf-8"?>
<p:tagLst xmlns:p="http://schemas.openxmlformats.org/presentationml/2006/main">
  <p:tag name="KSO_WM_BEAUTIFY_FLAG" val=""/>
</p:tagLst>
</file>

<file path=ppt/tags/tag1096.xml><?xml version="1.0" encoding="utf-8"?>
<p:tagLst xmlns:p="http://schemas.openxmlformats.org/presentationml/2006/main">
  <p:tag name="KSO_WM_BEAUTIFY_FLAG" val=""/>
</p:tagLst>
</file>

<file path=ppt/tags/tag1097.xml><?xml version="1.0" encoding="utf-8"?>
<p:tagLst xmlns:p="http://schemas.openxmlformats.org/presentationml/2006/main">
  <p:tag name="KSO_WM_BEAUTIFY_FLAG" val=""/>
</p:tagLst>
</file>

<file path=ppt/tags/tag1098.xml><?xml version="1.0" encoding="utf-8"?>
<p:tagLst xmlns:p="http://schemas.openxmlformats.org/presentationml/2006/main">
  <p:tag name="KSO_WM_BEAUTIFY_FLAG" val=""/>
</p:tagLst>
</file>

<file path=ppt/tags/tag1099.xml><?xml version="1.0" encoding="utf-8"?>
<p:tagLst xmlns:p="http://schemas.openxmlformats.org/presentationml/2006/main">
  <p:tag name="KSO_WM_BEAUTIFY_FLAG" val=""/>
</p:tagLst>
</file>

<file path=ppt/tags/tag1100.xml><?xml version="1.0" encoding="utf-8"?>
<p:tagLst xmlns:p="http://schemas.openxmlformats.org/presentationml/2006/main">
  <p:tag name="KSO_WM_BEAUTIFY_FLAG" val=""/>
</p:tagLst>
</file>

<file path=ppt/tags/tag1101.xml><?xml version="1.0" encoding="utf-8"?>
<p:tagLst xmlns:p="http://schemas.openxmlformats.org/presentationml/2006/main">
  <p:tag name="KSO_WM_BEAUTIFY_FLAG" val=""/>
</p:tagLst>
</file>

<file path=ppt/tags/tag1102.xml><?xml version="1.0" encoding="utf-8"?>
<p:tagLst xmlns:p="http://schemas.openxmlformats.org/presentationml/2006/main">
  <p:tag name="KSO_WM_BEAUTIFY_FLAG" val=""/>
</p:tagLst>
</file>

<file path=ppt/tags/tag1103.xml><?xml version="1.0" encoding="utf-8"?>
<p:tagLst xmlns:p="http://schemas.openxmlformats.org/presentationml/2006/main">
  <p:tag name="KSO_WM_BEAUTIFY_FLAG" val=""/>
</p:tagLst>
</file>

<file path=ppt/tags/tag1104.xml><?xml version="1.0" encoding="utf-8"?>
<p:tagLst xmlns:p="http://schemas.openxmlformats.org/presentationml/2006/main">
  <p:tag name="KSO_WM_BEAUTIFY_FLAG" val=""/>
</p:tagLst>
</file>

<file path=ppt/tags/tag1105.xml><?xml version="1.0" encoding="utf-8"?>
<p:tagLst xmlns:p="http://schemas.openxmlformats.org/presentationml/2006/main">
  <p:tag name="KSO_WM_BEAUTIFY_FLAG" val=""/>
</p:tagLst>
</file>

<file path=ppt/tags/tag1106.xml><?xml version="1.0" encoding="utf-8"?>
<p:tagLst xmlns:p="http://schemas.openxmlformats.org/presentationml/2006/main">
  <p:tag name="KSO_WM_BEAUTIFY_FLAG" val=""/>
</p:tagLst>
</file>

<file path=ppt/tags/tag1107.xml><?xml version="1.0" encoding="utf-8"?>
<p:tagLst xmlns:p="http://schemas.openxmlformats.org/presentationml/2006/main">
  <p:tag name="KSO_WM_BEAUTIFY_FLAG" val=""/>
</p:tagLst>
</file>

<file path=ppt/tags/tag1108.xml><?xml version="1.0" encoding="utf-8"?>
<p:tagLst xmlns:p="http://schemas.openxmlformats.org/presentationml/2006/main">
  <p:tag name="KSO_WM_BEAUTIFY_FLAG" val=""/>
</p:tagLst>
</file>

<file path=ppt/tags/tag1109.xml><?xml version="1.0" encoding="utf-8"?>
<p:tagLst xmlns:p="http://schemas.openxmlformats.org/presentationml/2006/main">
  <p:tag name="KSO_WM_BEAUTIFY_FLAG" val=""/>
</p:tagLst>
</file>

<file path=ppt/tags/tag1110.xml><?xml version="1.0" encoding="utf-8"?>
<p:tagLst xmlns:p="http://schemas.openxmlformats.org/presentationml/2006/main">
  <p:tag name="KSO_WM_BEAUTIFY_FLAG" val=""/>
</p:tagLst>
</file>

<file path=ppt/tags/tag1111.xml><?xml version="1.0" encoding="utf-8"?>
<p:tagLst xmlns:p="http://schemas.openxmlformats.org/presentationml/2006/main">
  <p:tag name="KSO_WM_BEAUTIFY_FLAG" val=""/>
</p:tagLst>
</file>

<file path=ppt/tags/tag1112.xml><?xml version="1.0" encoding="utf-8"?>
<p:tagLst xmlns:p="http://schemas.openxmlformats.org/presentationml/2006/main">
  <p:tag name="KSO_WM_BEAUTIFY_FLAG" val=""/>
</p:tagLst>
</file>

<file path=ppt/tags/tag1113.xml><?xml version="1.0" encoding="utf-8"?>
<p:tagLst xmlns:p="http://schemas.openxmlformats.org/presentationml/2006/main">
  <p:tag name="KSO_WM_BEAUTIFY_FLAG" val=""/>
</p:tagLst>
</file>

<file path=ppt/tags/tag1114.xml><?xml version="1.0" encoding="utf-8"?>
<p:tagLst xmlns:p="http://schemas.openxmlformats.org/presentationml/2006/main">
  <p:tag name="KSO_WM_BEAUTIFY_FLAG" val=""/>
</p:tagLst>
</file>

<file path=ppt/tags/tag1115.xml><?xml version="1.0" encoding="utf-8"?>
<p:tagLst xmlns:p="http://schemas.openxmlformats.org/presentationml/2006/main">
  <p:tag name="KSO_WM_BEAUTIFY_FLAG" val=""/>
</p:tagLst>
</file>

<file path=ppt/tags/tag1116.xml><?xml version="1.0" encoding="utf-8"?>
<p:tagLst xmlns:p="http://schemas.openxmlformats.org/presentationml/2006/main">
  <p:tag name="KSO_WM_BEAUTIFY_FLAG" val=""/>
</p:tagLst>
</file>

<file path=ppt/tags/tag1117.xml><?xml version="1.0" encoding="utf-8"?>
<p:tagLst xmlns:p="http://schemas.openxmlformats.org/presentationml/2006/main">
  <p:tag name="KSO_WM_BEAUTIFY_FLAG" val=""/>
</p:tagLst>
</file>

<file path=ppt/tags/tag1118.xml><?xml version="1.0" encoding="utf-8"?>
<p:tagLst xmlns:p="http://schemas.openxmlformats.org/presentationml/2006/main">
  <p:tag name="KSO_WM_BEAUTIFY_FLAG" val=""/>
</p:tagLst>
</file>

<file path=ppt/tags/tag1119.xml><?xml version="1.0" encoding="utf-8"?>
<p:tagLst xmlns:p="http://schemas.openxmlformats.org/presentationml/2006/main">
  <p:tag name="KSO_WM_BEAUTIFY_FLAG" val=""/>
</p:tagLst>
</file>

<file path=ppt/tags/tag1120.xml><?xml version="1.0" encoding="utf-8"?>
<p:tagLst xmlns:p="http://schemas.openxmlformats.org/presentationml/2006/main">
  <p:tag name="KSO_WM_BEAUTIFY_FLAG" val=""/>
</p:tagLst>
</file>

<file path=ppt/tags/tag1121.xml><?xml version="1.0" encoding="utf-8"?>
<p:tagLst xmlns:p="http://schemas.openxmlformats.org/presentationml/2006/main">
  <p:tag name="KSO_WM_BEAUTIFY_FLAG" val=""/>
</p:tagLst>
</file>

<file path=ppt/tags/tag1122.xml><?xml version="1.0" encoding="utf-8"?>
<p:tagLst xmlns:p="http://schemas.openxmlformats.org/presentationml/2006/main">
  <p:tag name="KSO_WM_BEAUTIFY_FLAG" val=""/>
</p:tagLst>
</file>

<file path=ppt/tags/tag1123.xml><?xml version="1.0" encoding="utf-8"?>
<p:tagLst xmlns:p="http://schemas.openxmlformats.org/presentationml/2006/main">
  <p:tag name="KSO_WM_BEAUTIFY_FLAG" val=""/>
</p:tagLst>
</file>

<file path=ppt/tags/tag1124.xml><?xml version="1.0" encoding="utf-8"?>
<p:tagLst xmlns:p="http://schemas.openxmlformats.org/presentationml/2006/main">
  <p:tag name="KSO_WM_BEAUTIFY_FLAG" val=""/>
</p:tagLst>
</file>

<file path=ppt/tags/tag1125.xml><?xml version="1.0" encoding="utf-8"?>
<p:tagLst xmlns:p="http://schemas.openxmlformats.org/presentationml/2006/main">
  <p:tag name="KSO_WM_BEAUTIFY_FLAG" val=""/>
</p:tagLst>
</file>

<file path=ppt/tags/tag1126.xml><?xml version="1.0" encoding="utf-8"?>
<p:tagLst xmlns:p="http://schemas.openxmlformats.org/presentationml/2006/main">
  <p:tag name="KSO_WM_BEAUTIFY_FLAG" val=""/>
</p:tagLst>
</file>

<file path=ppt/tags/tag1127.xml><?xml version="1.0" encoding="utf-8"?>
<p:tagLst xmlns:p="http://schemas.openxmlformats.org/presentationml/2006/main">
  <p:tag name="KSO_WM_BEAUTIFY_FLAG" val=""/>
</p:tagLst>
</file>

<file path=ppt/tags/tag1128.xml><?xml version="1.0" encoding="utf-8"?>
<p:tagLst xmlns:p="http://schemas.openxmlformats.org/presentationml/2006/main">
  <p:tag name="KSO_WM_BEAUTIFY_FLAG" val=""/>
</p:tagLst>
</file>

<file path=ppt/tags/tag1129.xml><?xml version="1.0" encoding="utf-8"?>
<p:tagLst xmlns:p="http://schemas.openxmlformats.org/presentationml/2006/main">
  <p:tag name="KSO_WM_BEAUTIFY_FLAG" val=""/>
</p:tagLst>
</file>

<file path=ppt/tags/tag1130.xml><?xml version="1.0" encoding="utf-8"?>
<p:tagLst xmlns:p="http://schemas.openxmlformats.org/presentationml/2006/main">
  <p:tag name="KSO_WM_BEAUTIFY_FLAG" val=""/>
</p:tagLst>
</file>

<file path=ppt/tags/tag1131.xml><?xml version="1.0" encoding="utf-8"?>
<p:tagLst xmlns:p="http://schemas.openxmlformats.org/presentationml/2006/main">
  <p:tag name="KSO_WM_BEAUTIFY_FLAG" val=""/>
</p:tagLst>
</file>

<file path=ppt/tags/tag1132.xml><?xml version="1.0" encoding="utf-8"?>
<p:tagLst xmlns:p="http://schemas.openxmlformats.org/presentationml/2006/main">
  <p:tag name="KSO_WM_BEAUTIFY_FLAG" val=""/>
</p:tagLst>
</file>

<file path=ppt/tags/tag1133.xml><?xml version="1.0" encoding="utf-8"?>
<p:tagLst xmlns:p="http://schemas.openxmlformats.org/presentationml/2006/main">
  <p:tag name="KSO_WM_BEAUTIFY_FLAG" val=""/>
</p:tagLst>
</file>

<file path=ppt/tags/tag1134.xml><?xml version="1.0" encoding="utf-8"?>
<p:tagLst xmlns:p="http://schemas.openxmlformats.org/presentationml/2006/main">
  <p:tag name="KSO_WM_BEAUTIFY_FLAG" val=""/>
</p:tagLst>
</file>

<file path=ppt/tags/tag1135.xml><?xml version="1.0" encoding="utf-8"?>
<p:tagLst xmlns:p="http://schemas.openxmlformats.org/presentationml/2006/main">
  <p:tag name="KSO_WM_BEAUTIFY_FLAG" val=""/>
</p:tagLst>
</file>

<file path=ppt/tags/tag1136.xml><?xml version="1.0" encoding="utf-8"?>
<p:tagLst xmlns:p="http://schemas.openxmlformats.org/presentationml/2006/main">
  <p:tag name="KSO_WM_BEAUTIFY_FLAG" val=""/>
</p:tagLst>
</file>

<file path=ppt/tags/tag1137.xml><?xml version="1.0" encoding="utf-8"?>
<p:tagLst xmlns:p="http://schemas.openxmlformats.org/presentationml/2006/main">
  <p:tag name="KSO_WM_BEAUTIFY_FLAG" val=""/>
</p:tagLst>
</file>

<file path=ppt/tags/tag1138.xml><?xml version="1.0" encoding="utf-8"?>
<p:tagLst xmlns:p="http://schemas.openxmlformats.org/presentationml/2006/main">
  <p:tag name="KSO_WM_BEAUTIFY_FLAG" val=""/>
</p:tagLst>
</file>

<file path=ppt/tags/tag1139.xml><?xml version="1.0" encoding="utf-8"?>
<p:tagLst xmlns:p="http://schemas.openxmlformats.org/presentationml/2006/main">
  <p:tag name="KSO_WM_BEAUTIFY_FLAG" val=""/>
</p:tagLst>
</file>

<file path=ppt/tags/tag1140.xml><?xml version="1.0" encoding="utf-8"?>
<p:tagLst xmlns:p="http://schemas.openxmlformats.org/presentationml/2006/main">
  <p:tag name="KSO_WM_BEAUTIFY_FLAG" val=""/>
</p:tagLst>
</file>

<file path=ppt/tags/tag1141.xml><?xml version="1.0" encoding="utf-8"?>
<p:tagLst xmlns:p="http://schemas.openxmlformats.org/presentationml/2006/main">
  <p:tag name="KSO_WM_BEAUTIFY_FLAG" val=""/>
</p:tagLst>
</file>

<file path=ppt/tags/tag1142.xml><?xml version="1.0" encoding="utf-8"?>
<p:tagLst xmlns:p="http://schemas.openxmlformats.org/presentationml/2006/main">
  <p:tag name="KSO_WM_BEAUTIFY_FLAG" val=""/>
</p:tagLst>
</file>

<file path=ppt/tags/tag1143.xml><?xml version="1.0" encoding="utf-8"?>
<p:tagLst xmlns:p="http://schemas.openxmlformats.org/presentationml/2006/main">
  <p:tag name="KSO_WM_BEAUTIFY_FLAG" val=""/>
</p:tagLst>
</file>

<file path=ppt/tags/tag1144.xml><?xml version="1.0" encoding="utf-8"?>
<p:tagLst xmlns:p="http://schemas.openxmlformats.org/presentationml/2006/main">
  <p:tag name="KSO_WM_BEAUTIFY_FLAG" val=""/>
</p:tagLst>
</file>

<file path=ppt/tags/tag1145.xml><?xml version="1.0" encoding="utf-8"?>
<p:tagLst xmlns:p="http://schemas.openxmlformats.org/presentationml/2006/main">
  <p:tag name="KSO_WM_BEAUTIFY_FLAG" val=""/>
</p:tagLst>
</file>

<file path=ppt/tags/tag1146.xml><?xml version="1.0" encoding="utf-8"?>
<p:tagLst xmlns:p="http://schemas.openxmlformats.org/presentationml/2006/main">
  <p:tag name="KSO_WM_BEAUTIFY_FLAG" val=""/>
</p:tagLst>
</file>

<file path=ppt/tags/tag1147.xml><?xml version="1.0" encoding="utf-8"?>
<p:tagLst xmlns:p="http://schemas.openxmlformats.org/presentationml/2006/main">
  <p:tag name="KSO_WM_BEAUTIFY_FLAG" val=""/>
</p:tagLst>
</file>

<file path=ppt/tags/tag1148.xml><?xml version="1.0" encoding="utf-8"?>
<p:tagLst xmlns:p="http://schemas.openxmlformats.org/presentationml/2006/main">
  <p:tag name="KSO_WM_BEAUTIFY_FLAG" val=""/>
</p:tagLst>
</file>

<file path=ppt/tags/tag1149.xml><?xml version="1.0" encoding="utf-8"?>
<p:tagLst xmlns:p="http://schemas.openxmlformats.org/presentationml/2006/main">
  <p:tag name="KSO_WM_BEAUTIFY_FLAG" val=""/>
</p:tagLst>
</file>

<file path=ppt/tags/tag1150.xml><?xml version="1.0" encoding="utf-8"?>
<p:tagLst xmlns:p="http://schemas.openxmlformats.org/presentationml/2006/main">
  <p:tag name="KSO_WM_BEAUTIFY_FLAG" val=""/>
</p:tagLst>
</file>

<file path=ppt/tags/tag1151.xml><?xml version="1.0" encoding="utf-8"?>
<p:tagLst xmlns:p="http://schemas.openxmlformats.org/presentationml/2006/main">
  <p:tag name="KSO_WM_BEAUTIFY_FLAG" val=""/>
</p:tagLst>
</file>

<file path=ppt/tags/tag1152.xml><?xml version="1.0" encoding="utf-8"?>
<p:tagLst xmlns:p="http://schemas.openxmlformats.org/presentationml/2006/main">
  <p:tag name="KSO_WM_BEAUTIFY_FLAG" val=""/>
</p:tagLst>
</file>

<file path=ppt/tags/tag1153.xml><?xml version="1.0" encoding="utf-8"?>
<p:tagLst xmlns:p="http://schemas.openxmlformats.org/presentationml/2006/main">
  <p:tag name="KSO_WM_BEAUTIFY_FLAG" val=""/>
</p:tagLst>
</file>

<file path=ppt/tags/tag1154.xml><?xml version="1.0" encoding="utf-8"?>
<p:tagLst xmlns:p="http://schemas.openxmlformats.org/presentationml/2006/main">
  <p:tag name="KSO_WM_BEAUTIFY_FLAG" val=""/>
</p:tagLst>
</file>

<file path=ppt/tags/tag1155.xml><?xml version="1.0" encoding="utf-8"?>
<p:tagLst xmlns:p="http://schemas.openxmlformats.org/presentationml/2006/main">
  <p:tag name="KSO_WM_BEAUTIFY_FLAG" val=""/>
</p:tagLst>
</file>

<file path=ppt/tags/tag1156.xml><?xml version="1.0" encoding="utf-8"?>
<p:tagLst xmlns:p="http://schemas.openxmlformats.org/presentationml/2006/main">
  <p:tag name="KSO_WM_BEAUTIFY_FLAG" val=""/>
</p:tagLst>
</file>

<file path=ppt/tags/tag1157.xml><?xml version="1.0" encoding="utf-8"?>
<p:tagLst xmlns:p="http://schemas.openxmlformats.org/presentationml/2006/main">
  <p:tag name="KSO_WM_BEAUTIFY_FLAG" val=""/>
</p:tagLst>
</file>

<file path=ppt/tags/tag1158.xml><?xml version="1.0" encoding="utf-8"?>
<p:tagLst xmlns:p="http://schemas.openxmlformats.org/presentationml/2006/main">
  <p:tag name="KSO_WM_BEAUTIFY_FLAG" val=""/>
</p:tagLst>
</file>

<file path=ppt/tags/tag1159.xml><?xml version="1.0" encoding="utf-8"?>
<p:tagLst xmlns:p="http://schemas.openxmlformats.org/presentationml/2006/main">
  <p:tag name="KSO_WM_BEAUTIFY_FLAG" val=""/>
</p:tagLst>
</file>

<file path=ppt/tags/tag1160.xml><?xml version="1.0" encoding="utf-8"?>
<p:tagLst xmlns:p="http://schemas.openxmlformats.org/presentationml/2006/main">
  <p:tag name="KSO_WM_BEAUTIFY_FLAG" val=""/>
</p:tagLst>
</file>

<file path=ppt/tags/tag1161.xml><?xml version="1.0" encoding="utf-8"?>
<p:tagLst xmlns:p="http://schemas.openxmlformats.org/presentationml/2006/main">
  <p:tag name="KSO_WM_BEAUTIFY_FLAG" val=""/>
</p:tagLst>
</file>

<file path=ppt/tags/tag1162.xml><?xml version="1.0" encoding="utf-8"?>
<p:tagLst xmlns:p="http://schemas.openxmlformats.org/presentationml/2006/main">
  <p:tag name="KSO_WM_BEAUTIFY_FLAG" val=""/>
</p:tagLst>
</file>

<file path=ppt/tags/tag1163.xml><?xml version="1.0" encoding="utf-8"?>
<p:tagLst xmlns:p="http://schemas.openxmlformats.org/presentationml/2006/main">
  <p:tag name="KSO_WM_BEAUTIFY_FLAG" val=""/>
</p:tagLst>
</file>

<file path=ppt/tags/tag1164.xml><?xml version="1.0" encoding="utf-8"?>
<p:tagLst xmlns:p="http://schemas.openxmlformats.org/presentationml/2006/main">
  <p:tag name="KSO_WM_BEAUTIFY_FLAG" val=""/>
</p:tagLst>
</file>

<file path=ppt/tags/tag1165.xml><?xml version="1.0" encoding="utf-8"?>
<p:tagLst xmlns:p="http://schemas.openxmlformats.org/presentationml/2006/main">
  <p:tag name="KSO_WM_BEAUTIFY_FLAG" val=""/>
</p:tagLst>
</file>

<file path=ppt/tags/tag1166.xml><?xml version="1.0" encoding="utf-8"?>
<p:tagLst xmlns:p="http://schemas.openxmlformats.org/presentationml/2006/main">
  <p:tag name="KSO_WM_BEAUTIFY_FLAG" val=""/>
</p:tagLst>
</file>

<file path=ppt/tags/tag1167.xml><?xml version="1.0" encoding="utf-8"?>
<p:tagLst xmlns:p="http://schemas.openxmlformats.org/presentationml/2006/main">
  <p:tag name="KSO_WM_BEAUTIFY_FLAG" val=""/>
</p:tagLst>
</file>

<file path=ppt/tags/tag1168.xml><?xml version="1.0" encoding="utf-8"?>
<p:tagLst xmlns:p="http://schemas.openxmlformats.org/presentationml/2006/main">
  <p:tag name="KSO_WM_BEAUTIFY_FLAG" val=""/>
</p:tagLst>
</file>

<file path=ppt/tags/tag1169.xml><?xml version="1.0" encoding="utf-8"?>
<p:tagLst xmlns:p="http://schemas.openxmlformats.org/presentationml/2006/main">
  <p:tag name="KSO_WM_BEAUTIFY_FLAG" val=""/>
</p:tagLst>
</file>

<file path=ppt/tags/tag1170.xml><?xml version="1.0" encoding="utf-8"?>
<p:tagLst xmlns:p="http://schemas.openxmlformats.org/presentationml/2006/main">
  <p:tag name="KSO_WM_BEAUTIFY_FLAG" val=""/>
</p:tagLst>
</file>

<file path=ppt/tags/tag1171.xml><?xml version="1.0" encoding="utf-8"?>
<p:tagLst xmlns:p="http://schemas.openxmlformats.org/presentationml/2006/main">
  <p:tag name="KSO_WM_BEAUTIFY_FLAG" val=""/>
</p:tagLst>
</file>

<file path=ppt/tags/tag1172.xml><?xml version="1.0" encoding="utf-8"?>
<p:tagLst xmlns:p="http://schemas.openxmlformats.org/presentationml/2006/main">
  <p:tag name="KSO_WM_BEAUTIFY_FLAG" val=""/>
</p:tagLst>
</file>

<file path=ppt/tags/tag1173.xml><?xml version="1.0" encoding="utf-8"?>
<p:tagLst xmlns:p="http://schemas.openxmlformats.org/presentationml/2006/main">
  <p:tag name="KSO_WM_BEAUTIFY_FLAG" val=""/>
</p:tagLst>
</file>

<file path=ppt/tags/tag1174.xml><?xml version="1.0" encoding="utf-8"?>
<p:tagLst xmlns:p="http://schemas.openxmlformats.org/presentationml/2006/main">
  <p:tag name="KSO_WM_BEAUTIFY_FLAG" val=""/>
</p:tagLst>
</file>

<file path=ppt/tags/tag1175.xml><?xml version="1.0" encoding="utf-8"?>
<p:tagLst xmlns:p="http://schemas.openxmlformats.org/presentationml/2006/main">
  <p:tag name="KSO_WM_BEAUTIFY_FLAG" val=""/>
</p:tagLst>
</file>

<file path=ppt/tags/tag1176.xml><?xml version="1.0" encoding="utf-8"?>
<p:tagLst xmlns:p="http://schemas.openxmlformats.org/presentationml/2006/main">
  <p:tag name="KSO_WM_BEAUTIFY_FLAG" val=""/>
</p:tagLst>
</file>

<file path=ppt/tags/tag1177.xml><?xml version="1.0" encoding="utf-8"?>
<p:tagLst xmlns:p="http://schemas.openxmlformats.org/presentationml/2006/main">
  <p:tag name="KSO_WM_BEAUTIFY_FLAG" val=""/>
</p:tagLst>
</file>

<file path=ppt/tags/tag1178.xml><?xml version="1.0" encoding="utf-8"?>
<p:tagLst xmlns:p="http://schemas.openxmlformats.org/presentationml/2006/main">
  <p:tag name="KSO_WM_BEAUTIFY_FLAG" val=""/>
</p:tagLst>
</file>

<file path=ppt/tags/tag1179.xml><?xml version="1.0" encoding="utf-8"?>
<p:tagLst xmlns:p="http://schemas.openxmlformats.org/presentationml/2006/main">
  <p:tag name="KSO_WM_BEAUTIFY_FLAG" val=""/>
</p:tagLst>
</file>

<file path=ppt/tags/tag1180.xml><?xml version="1.0" encoding="utf-8"?>
<p:tagLst xmlns:p="http://schemas.openxmlformats.org/presentationml/2006/main">
  <p:tag name="KSO_WM_BEAUTIFY_FLAG" val=""/>
</p:tagLst>
</file>

<file path=ppt/tags/tag1181.xml><?xml version="1.0" encoding="utf-8"?>
<p:tagLst xmlns:p="http://schemas.openxmlformats.org/presentationml/2006/main">
  <p:tag name="KSO_WM_BEAUTIFY_FLAG" val=""/>
</p:tagLst>
</file>

<file path=ppt/tags/tag1182.xml><?xml version="1.0" encoding="utf-8"?>
<p:tagLst xmlns:p="http://schemas.openxmlformats.org/presentationml/2006/main">
  <p:tag name="KSO_WM_BEAUTIFY_FLAG" val=""/>
</p:tagLst>
</file>

<file path=ppt/tags/tag1183.xml><?xml version="1.0" encoding="utf-8"?>
<p:tagLst xmlns:p="http://schemas.openxmlformats.org/presentationml/2006/main">
  <p:tag name="KSO_WM_BEAUTIFY_FLAG" val=""/>
</p:tagLst>
</file>

<file path=ppt/tags/tag1184.xml><?xml version="1.0" encoding="utf-8"?>
<p:tagLst xmlns:p="http://schemas.openxmlformats.org/presentationml/2006/main">
  <p:tag name="KSO_WM_BEAUTIFY_FLAG" val=""/>
</p:tagLst>
</file>

<file path=ppt/tags/tag1185.xml><?xml version="1.0" encoding="utf-8"?>
<p:tagLst xmlns:p="http://schemas.openxmlformats.org/presentationml/2006/main">
  <p:tag name="KSO_WM_BEAUTIFY_FLAG" val=""/>
</p:tagLst>
</file>

<file path=ppt/tags/tag1186.xml><?xml version="1.0" encoding="utf-8"?>
<p:tagLst xmlns:p="http://schemas.openxmlformats.org/presentationml/2006/main">
  <p:tag name="KSO_WM_BEAUTIFY_FLAG" val=""/>
</p:tagLst>
</file>

<file path=ppt/tags/tag1187.xml><?xml version="1.0" encoding="utf-8"?>
<p:tagLst xmlns:p="http://schemas.openxmlformats.org/presentationml/2006/main">
  <p:tag name="KSO_WM_BEAUTIFY_FLAG" val=""/>
</p:tagLst>
</file>

<file path=ppt/tags/tag1188.xml><?xml version="1.0" encoding="utf-8"?>
<p:tagLst xmlns:p="http://schemas.openxmlformats.org/presentationml/2006/main">
  <p:tag name="KSO_WM_BEAUTIFY_FLAG" val=""/>
</p:tagLst>
</file>

<file path=ppt/tags/tag1189.xml><?xml version="1.0" encoding="utf-8"?>
<p:tagLst xmlns:p="http://schemas.openxmlformats.org/presentationml/2006/main">
  <p:tag name="KSO_WM_BEAUTIFY_FLAG" val=""/>
</p:tagLst>
</file>

<file path=ppt/tags/tag1190.xml><?xml version="1.0" encoding="utf-8"?>
<p:tagLst xmlns:p="http://schemas.openxmlformats.org/presentationml/2006/main">
  <p:tag name="KSO_WM_BEAUTIFY_FLAG" val=""/>
</p:tagLst>
</file>

<file path=ppt/tags/tag1191.xml><?xml version="1.0" encoding="utf-8"?>
<p:tagLst xmlns:p="http://schemas.openxmlformats.org/presentationml/2006/main">
  <p:tag name="KSO_WM_BEAUTIFY_FLAG" val=""/>
</p:tagLst>
</file>

<file path=ppt/tags/tag1192.xml><?xml version="1.0" encoding="utf-8"?>
<p:tagLst xmlns:p="http://schemas.openxmlformats.org/presentationml/2006/main">
  <p:tag name="KSO_WM_BEAUTIFY_FLAG" val=""/>
</p:tagLst>
</file>

<file path=ppt/tags/tag1193.xml><?xml version="1.0" encoding="utf-8"?>
<p:tagLst xmlns:p="http://schemas.openxmlformats.org/presentationml/2006/main">
  <p:tag name="KSO_WM_BEAUTIFY_FLAG" val=""/>
</p:tagLst>
</file>

<file path=ppt/tags/tag1194.xml><?xml version="1.0" encoding="utf-8"?>
<p:tagLst xmlns:p="http://schemas.openxmlformats.org/presentationml/2006/main">
  <p:tag name="KSO_WM_BEAUTIFY_FLAG" val=""/>
</p:tagLst>
</file>

<file path=ppt/tags/tag1195.xml><?xml version="1.0" encoding="utf-8"?>
<p:tagLst xmlns:p="http://schemas.openxmlformats.org/presentationml/2006/main">
  <p:tag name="KSO_WM_BEAUTIFY_FLAG" val=""/>
</p:tagLst>
</file>

<file path=ppt/tags/tag1196.xml><?xml version="1.0" encoding="utf-8"?>
<p:tagLst xmlns:p="http://schemas.openxmlformats.org/presentationml/2006/main">
  <p:tag name="KSO_WM_BEAUTIFY_FLAG" val=""/>
</p:tagLst>
</file>

<file path=ppt/tags/tag1197.xml><?xml version="1.0" encoding="utf-8"?>
<p:tagLst xmlns:p="http://schemas.openxmlformats.org/presentationml/2006/main">
  <p:tag name="KSO_WM_BEAUTIFY_FLAG" val=""/>
</p:tagLst>
</file>

<file path=ppt/tags/tag1198.xml><?xml version="1.0" encoding="utf-8"?>
<p:tagLst xmlns:p="http://schemas.openxmlformats.org/presentationml/2006/main">
  <p:tag name="KSO_WM_BEAUTIFY_FLAG" val=""/>
</p:tagLst>
</file>

<file path=ppt/tags/tag1199.xml><?xml version="1.0" encoding="utf-8"?>
<p:tagLst xmlns:p="http://schemas.openxmlformats.org/presentationml/2006/main">
  <p:tag name="KSO_WM_BEAUTIFY_FLAG" val=""/>
</p:tagLst>
</file>

<file path=ppt/tags/tag1200.xml><?xml version="1.0" encoding="utf-8"?>
<p:tagLst xmlns:p="http://schemas.openxmlformats.org/presentationml/2006/main">
  <p:tag name="KSO_WM_BEAUTIFY_FLAG" val=""/>
</p:tagLst>
</file>

<file path=ppt/tags/tag1201.xml><?xml version="1.0" encoding="utf-8"?>
<p:tagLst xmlns:p="http://schemas.openxmlformats.org/presentationml/2006/main">
  <p:tag name="KSO_WM_BEAUTIFY_FLAG" val=""/>
</p:tagLst>
</file>

<file path=ppt/tags/tag1202.xml><?xml version="1.0" encoding="utf-8"?>
<p:tagLst xmlns:p="http://schemas.openxmlformats.org/presentationml/2006/main">
  <p:tag name="KSO_WM_BEAUTIFY_FLAG" val=""/>
</p:tagLst>
</file>

<file path=ppt/tags/tag1203.xml><?xml version="1.0" encoding="utf-8"?>
<p:tagLst xmlns:p="http://schemas.openxmlformats.org/presentationml/2006/main">
  <p:tag name="KSO_WM_BEAUTIFY_FLAG" val=""/>
</p:tagLst>
</file>

<file path=ppt/tags/tag1204.xml><?xml version="1.0" encoding="utf-8"?>
<p:tagLst xmlns:p="http://schemas.openxmlformats.org/presentationml/2006/main">
  <p:tag name="KSO_WM_BEAUTIFY_FLAG" val=""/>
</p:tagLst>
</file>

<file path=ppt/tags/tag1205.xml><?xml version="1.0" encoding="utf-8"?>
<p:tagLst xmlns:p="http://schemas.openxmlformats.org/presentationml/2006/main">
  <p:tag name="KSO_WM_BEAUTIFY_FLAG" val=""/>
</p:tagLst>
</file>

<file path=ppt/tags/tag1206.xml><?xml version="1.0" encoding="utf-8"?>
<p:tagLst xmlns:p="http://schemas.openxmlformats.org/presentationml/2006/main">
  <p:tag name="KSO_WM_BEAUTIFY_FLAG" val=""/>
</p:tagLst>
</file>

<file path=ppt/tags/tag1207.xml><?xml version="1.0" encoding="utf-8"?>
<p:tagLst xmlns:p="http://schemas.openxmlformats.org/presentationml/2006/main">
  <p:tag name="KSO_WM_BEAUTIFY_FLAG" val=""/>
</p:tagLst>
</file>

<file path=ppt/tags/tag1208.xml><?xml version="1.0" encoding="utf-8"?>
<p:tagLst xmlns:p="http://schemas.openxmlformats.org/presentationml/2006/main">
  <p:tag name="KSO_WM_BEAUTIFY_FLAG" val=""/>
</p:tagLst>
</file>

<file path=ppt/tags/tag1209.xml><?xml version="1.0" encoding="utf-8"?>
<p:tagLst xmlns:p="http://schemas.openxmlformats.org/presentationml/2006/main">
  <p:tag name="KSO_WM_BEAUTIFY_FLAG" val=""/>
</p:tagLst>
</file>

<file path=ppt/tags/tag1210.xml><?xml version="1.0" encoding="utf-8"?>
<p:tagLst xmlns:p="http://schemas.openxmlformats.org/presentationml/2006/main">
  <p:tag name="KSO_WM_BEAUTIFY_FLAG" val=""/>
</p:tagLst>
</file>

<file path=ppt/tags/tag1211.xml><?xml version="1.0" encoding="utf-8"?>
<p:tagLst xmlns:p="http://schemas.openxmlformats.org/presentationml/2006/main">
  <p:tag name="KSO_WM_BEAUTIFY_FLAG" val=""/>
</p:tagLst>
</file>

<file path=ppt/tags/tag1212.xml><?xml version="1.0" encoding="utf-8"?>
<p:tagLst xmlns:p="http://schemas.openxmlformats.org/presentationml/2006/main">
  <p:tag name="KSO_WM_BEAUTIFY_FLAG" val=""/>
</p:tagLst>
</file>

<file path=ppt/tags/tag1213.xml><?xml version="1.0" encoding="utf-8"?>
<p:tagLst xmlns:p="http://schemas.openxmlformats.org/presentationml/2006/main">
  <p:tag name="KSO_WM_BEAUTIFY_FLAG" val=""/>
</p:tagLst>
</file>

<file path=ppt/tags/tag1214.xml><?xml version="1.0" encoding="utf-8"?>
<p:tagLst xmlns:p="http://schemas.openxmlformats.org/presentationml/2006/main">
  <p:tag name="KSO_WM_BEAUTIFY_FLAG" val=""/>
</p:tagLst>
</file>

<file path=ppt/tags/tag1215.xml><?xml version="1.0" encoding="utf-8"?>
<p:tagLst xmlns:p="http://schemas.openxmlformats.org/presentationml/2006/main">
  <p:tag name="KSO_WM_BEAUTIFY_FLAG" val=""/>
</p:tagLst>
</file>

<file path=ppt/tags/tag1216.xml><?xml version="1.0" encoding="utf-8"?>
<p:tagLst xmlns:p="http://schemas.openxmlformats.org/presentationml/2006/main">
  <p:tag name="KSO_WM_BEAUTIFY_FLAG" val=""/>
</p:tagLst>
</file>

<file path=ppt/tags/tag1217.xml><?xml version="1.0" encoding="utf-8"?>
<p:tagLst xmlns:p="http://schemas.openxmlformats.org/presentationml/2006/main">
  <p:tag name="KSO_WM_BEAUTIFY_FLAG" val=""/>
</p:tagLst>
</file>

<file path=ppt/tags/tag1218.xml><?xml version="1.0" encoding="utf-8"?>
<p:tagLst xmlns:p="http://schemas.openxmlformats.org/presentationml/2006/main">
  <p:tag name="KSO_WM_BEAUTIFY_FLAG" val=""/>
</p:tagLst>
</file>

<file path=ppt/tags/tag1219.xml><?xml version="1.0" encoding="utf-8"?>
<p:tagLst xmlns:p="http://schemas.openxmlformats.org/presentationml/2006/main">
  <p:tag name="KSO_WM_BEAUTIFY_FLAG" val=""/>
</p:tagLst>
</file>

<file path=ppt/tags/tag1220.xml><?xml version="1.0" encoding="utf-8"?>
<p:tagLst xmlns:p="http://schemas.openxmlformats.org/presentationml/2006/main">
  <p:tag name="KSO_WM_BEAUTIFY_FLAG" val=""/>
</p:tagLst>
</file>

<file path=ppt/tags/tag1221.xml><?xml version="1.0" encoding="utf-8"?>
<p:tagLst xmlns:p="http://schemas.openxmlformats.org/presentationml/2006/main">
  <p:tag name="KSO_WM_BEAUTIFY_FLAG" val=""/>
</p:tagLst>
</file>

<file path=ppt/tags/tag1222.xml><?xml version="1.0" encoding="utf-8"?>
<p:tagLst xmlns:p="http://schemas.openxmlformats.org/presentationml/2006/main">
  <p:tag name="KSO_WM_BEAUTIFY_FLAG" val=""/>
</p:tagLst>
</file>

<file path=ppt/tags/tag1223.xml><?xml version="1.0" encoding="utf-8"?>
<p:tagLst xmlns:p="http://schemas.openxmlformats.org/presentationml/2006/main">
  <p:tag name="KSO_WM_BEAUTIFY_FLAG" val=""/>
</p:tagLst>
</file>

<file path=ppt/tags/tag1224.xml><?xml version="1.0" encoding="utf-8"?>
<p:tagLst xmlns:p="http://schemas.openxmlformats.org/presentationml/2006/main">
  <p:tag name="KSO_WM_BEAUTIFY_FLAG" val=""/>
</p:tagLst>
</file>

<file path=ppt/tags/tag1225.xml><?xml version="1.0" encoding="utf-8"?>
<p:tagLst xmlns:p="http://schemas.openxmlformats.org/presentationml/2006/main">
  <p:tag name="KSO_WM_BEAUTIFY_FLAG" val=""/>
</p:tagLst>
</file>

<file path=ppt/tags/tag1226.xml><?xml version="1.0" encoding="utf-8"?>
<p:tagLst xmlns:p="http://schemas.openxmlformats.org/presentationml/2006/main">
  <p:tag name="KSO_WM_BEAUTIFY_FLAG" val=""/>
</p:tagLst>
</file>

<file path=ppt/tags/tag1227.xml><?xml version="1.0" encoding="utf-8"?>
<p:tagLst xmlns:p="http://schemas.openxmlformats.org/presentationml/2006/main">
  <p:tag name="KSO_WM_BEAUTIFY_FLAG" val=""/>
</p:tagLst>
</file>

<file path=ppt/tags/tag1228.xml><?xml version="1.0" encoding="utf-8"?>
<p:tagLst xmlns:p="http://schemas.openxmlformats.org/presentationml/2006/main">
  <p:tag name="KSO_WM_BEAUTIFY_FLAG" val=""/>
</p:tagLst>
</file>

<file path=ppt/tags/tag1229.xml><?xml version="1.0" encoding="utf-8"?>
<p:tagLst xmlns:p="http://schemas.openxmlformats.org/presentationml/2006/main">
  <p:tag name="KSO_WM_BEAUTIFY_FLAG" val=""/>
</p:tagLst>
</file>

<file path=ppt/tags/tag1230.xml><?xml version="1.0" encoding="utf-8"?>
<p:tagLst xmlns:p="http://schemas.openxmlformats.org/presentationml/2006/main">
  <p:tag name="KSO_WM_BEAUTIFY_FLAG" val=""/>
</p:tagLst>
</file>

<file path=ppt/tags/tag1231.xml><?xml version="1.0" encoding="utf-8"?>
<p:tagLst xmlns:p="http://schemas.openxmlformats.org/presentationml/2006/main">
  <p:tag name="KSO_WM_BEAUTIFY_FLAG" val=""/>
</p:tagLst>
</file>

<file path=ppt/tags/tag1232.xml><?xml version="1.0" encoding="utf-8"?>
<p:tagLst xmlns:p="http://schemas.openxmlformats.org/presentationml/2006/main">
  <p:tag name="KSO_WM_BEAUTIFY_FLAG" val=""/>
</p:tagLst>
</file>

<file path=ppt/tags/tag1233.xml><?xml version="1.0" encoding="utf-8"?>
<p:tagLst xmlns:p="http://schemas.openxmlformats.org/presentationml/2006/main">
  <p:tag name="KSO_WM_BEAUTIFY_FLAG" val=""/>
</p:tagLst>
</file>

<file path=ppt/tags/tag1234.xml><?xml version="1.0" encoding="utf-8"?>
<p:tagLst xmlns:p="http://schemas.openxmlformats.org/presentationml/2006/main">
  <p:tag name="KSO_WM_BEAUTIFY_FLAG" val=""/>
</p:tagLst>
</file>

<file path=ppt/tags/tag1235.xml><?xml version="1.0" encoding="utf-8"?>
<p:tagLst xmlns:p="http://schemas.openxmlformats.org/presentationml/2006/main">
  <p:tag name="KSO_WM_BEAUTIFY_FLAG" val=""/>
</p:tagLst>
</file>

<file path=ppt/tags/tag1236.xml><?xml version="1.0" encoding="utf-8"?>
<p:tagLst xmlns:p="http://schemas.openxmlformats.org/presentationml/2006/main">
  <p:tag name="KSO_WM_BEAUTIFY_FLAG" val=""/>
</p:tagLst>
</file>

<file path=ppt/tags/tag1237.xml><?xml version="1.0" encoding="utf-8"?>
<p:tagLst xmlns:p="http://schemas.openxmlformats.org/presentationml/2006/main">
  <p:tag name="KSO_WM_BEAUTIFY_FLAG" val=""/>
</p:tagLst>
</file>

<file path=ppt/tags/tag1238.xml><?xml version="1.0" encoding="utf-8"?>
<p:tagLst xmlns:p="http://schemas.openxmlformats.org/presentationml/2006/main">
  <p:tag name="KSO_WM_BEAUTIFY_FLAG" val=""/>
</p:tagLst>
</file>

<file path=ppt/tags/tag1239.xml><?xml version="1.0" encoding="utf-8"?>
<p:tagLst xmlns:p="http://schemas.openxmlformats.org/presentationml/2006/main">
  <p:tag name="KSO_WM_BEAUTIFY_FLAG" val=""/>
</p:tagLst>
</file>

<file path=ppt/tags/tag1240.xml><?xml version="1.0" encoding="utf-8"?>
<p:tagLst xmlns:p="http://schemas.openxmlformats.org/presentationml/2006/main">
  <p:tag name="KSO_WM_BEAUTIFY_FLAG" val=""/>
</p:tagLst>
</file>

<file path=ppt/tags/tag1241.xml><?xml version="1.0" encoding="utf-8"?>
<p:tagLst xmlns:p="http://schemas.openxmlformats.org/presentationml/2006/main">
  <p:tag name="KSO_WM_BEAUTIFY_FLAG" val=""/>
</p:tagLst>
</file>

<file path=ppt/tags/tag1242.xml><?xml version="1.0" encoding="utf-8"?>
<p:tagLst xmlns:p="http://schemas.openxmlformats.org/presentationml/2006/main">
  <p:tag name="KSO_WM_BEAUTIFY_FLAG" val=""/>
</p:tagLst>
</file>

<file path=ppt/tags/tag1243.xml><?xml version="1.0" encoding="utf-8"?>
<p:tagLst xmlns:p="http://schemas.openxmlformats.org/presentationml/2006/main">
  <p:tag name="KSO_WM_BEAUTIFY_FLAG" val=""/>
</p:tagLst>
</file>

<file path=ppt/tags/tag1244.xml><?xml version="1.0" encoding="utf-8"?>
<p:tagLst xmlns:p="http://schemas.openxmlformats.org/presentationml/2006/main">
  <p:tag name="KSO_WM_BEAUTIFY_FLAG" val=""/>
</p:tagLst>
</file>

<file path=ppt/tags/tag1245.xml><?xml version="1.0" encoding="utf-8"?>
<p:tagLst xmlns:p="http://schemas.openxmlformats.org/presentationml/2006/main">
  <p:tag name="KSO_WM_BEAUTIFY_FLAG" val=""/>
</p:tagLst>
</file>

<file path=ppt/tags/tag1246.xml><?xml version="1.0" encoding="utf-8"?>
<p:tagLst xmlns:p="http://schemas.openxmlformats.org/presentationml/2006/main">
  <p:tag name="KSO_WM_BEAUTIFY_FLAG" val=""/>
</p:tagLst>
</file>

<file path=ppt/tags/tag1247.xml><?xml version="1.0" encoding="utf-8"?>
<p:tagLst xmlns:p="http://schemas.openxmlformats.org/presentationml/2006/main">
  <p:tag name="KSO_WM_BEAUTIFY_FLAG" val=""/>
</p:tagLst>
</file>

<file path=ppt/tags/tag1248.xml><?xml version="1.0" encoding="utf-8"?>
<p:tagLst xmlns:p="http://schemas.openxmlformats.org/presentationml/2006/main">
  <p:tag name="KSO_WM_BEAUTIFY_FLAG" val=""/>
</p:tagLst>
</file>

<file path=ppt/tags/tag1249.xml><?xml version="1.0" encoding="utf-8"?>
<p:tagLst xmlns:p="http://schemas.openxmlformats.org/presentationml/2006/main">
  <p:tag name="KSO_WM_BEAUTIFY_FLAG" val=""/>
</p:tagLst>
</file>

<file path=ppt/tags/tag1250.xml><?xml version="1.0" encoding="utf-8"?>
<p:tagLst xmlns:p="http://schemas.openxmlformats.org/presentationml/2006/main">
  <p:tag name="KSO_WM_BEAUTIFY_FLAG" val=""/>
</p:tagLst>
</file>

<file path=ppt/tags/tag1251.xml><?xml version="1.0" encoding="utf-8"?>
<p:tagLst xmlns:p="http://schemas.openxmlformats.org/presentationml/2006/main">
  <p:tag name="KSO_WM_BEAUTIFY_FLAG" val=""/>
</p:tagLst>
</file>

<file path=ppt/tags/tag1252.xml><?xml version="1.0" encoding="utf-8"?>
<p:tagLst xmlns:p="http://schemas.openxmlformats.org/presentationml/2006/main">
  <p:tag name="KSO_WM_BEAUTIFY_FLAG" val=""/>
</p:tagLst>
</file>

<file path=ppt/tags/tag1253.xml><?xml version="1.0" encoding="utf-8"?>
<p:tagLst xmlns:p="http://schemas.openxmlformats.org/presentationml/2006/main">
  <p:tag name="KSO_WM_BEAUTIFY_FLAG" val=""/>
</p:tagLst>
</file>

<file path=ppt/tags/tag1254.xml><?xml version="1.0" encoding="utf-8"?>
<p:tagLst xmlns:p="http://schemas.openxmlformats.org/presentationml/2006/main">
  <p:tag name="KSO_WM_BEAUTIFY_FLAG" val=""/>
</p:tagLst>
</file>

<file path=ppt/tags/tag1255.xml><?xml version="1.0" encoding="utf-8"?>
<p:tagLst xmlns:p="http://schemas.openxmlformats.org/presentationml/2006/main">
  <p:tag name="KSO_WM_BEAUTIFY_FLAG" val=""/>
</p:tagLst>
</file>

<file path=ppt/tags/tag1256.xml><?xml version="1.0" encoding="utf-8"?>
<p:tagLst xmlns:p="http://schemas.openxmlformats.org/presentationml/2006/main">
  <p:tag name="KSO_WM_BEAUTIFY_FLAG" val=""/>
</p:tagLst>
</file>

<file path=ppt/tags/tag1257.xml><?xml version="1.0" encoding="utf-8"?>
<p:tagLst xmlns:p="http://schemas.openxmlformats.org/presentationml/2006/main">
  <p:tag name="KSO_WM_BEAUTIFY_FLAG" val=""/>
</p:tagLst>
</file>

<file path=ppt/tags/tag1258.xml><?xml version="1.0" encoding="utf-8"?>
<p:tagLst xmlns:p="http://schemas.openxmlformats.org/presentationml/2006/main">
  <p:tag name="KSO_WM_BEAUTIFY_FLAG" val=""/>
</p:tagLst>
</file>

<file path=ppt/tags/tag1259.xml><?xml version="1.0" encoding="utf-8"?>
<p:tagLst xmlns:p="http://schemas.openxmlformats.org/presentationml/2006/main">
  <p:tag name="KSO_WM_BEAUTIFY_FLAG" val=""/>
</p:tagLst>
</file>

<file path=ppt/tags/tag1260.xml><?xml version="1.0" encoding="utf-8"?>
<p:tagLst xmlns:p="http://schemas.openxmlformats.org/presentationml/2006/main">
  <p:tag name="KSO_WM_BEAUTIFY_FLAG" val=""/>
</p:tagLst>
</file>

<file path=ppt/tags/tag1261.xml><?xml version="1.0" encoding="utf-8"?>
<p:tagLst xmlns:p="http://schemas.openxmlformats.org/presentationml/2006/main">
  <p:tag name="KSO_WM_BEAUTIFY_FLAG" val=""/>
</p:tagLst>
</file>

<file path=ppt/tags/tag1262.xml><?xml version="1.0" encoding="utf-8"?>
<p:tagLst xmlns:p="http://schemas.openxmlformats.org/presentationml/2006/main">
  <p:tag name="KSO_WM_BEAUTIFY_FLAG" val=""/>
</p:tagLst>
</file>

<file path=ppt/tags/tag1263.xml><?xml version="1.0" encoding="utf-8"?>
<p:tagLst xmlns:p="http://schemas.openxmlformats.org/presentationml/2006/main">
  <p:tag name="KSO_WM_BEAUTIFY_FLAG" val=""/>
</p:tagLst>
</file>

<file path=ppt/tags/tag1264.xml><?xml version="1.0" encoding="utf-8"?>
<p:tagLst xmlns:p="http://schemas.openxmlformats.org/presentationml/2006/main">
  <p:tag name="KSO_WM_BEAUTIFY_FLAG" val=""/>
</p:tagLst>
</file>

<file path=ppt/tags/tag1265.xml><?xml version="1.0" encoding="utf-8"?>
<p:tagLst xmlns:p="http://schemas.openxmlformats.org/presentationml/2006/main">
  <p:tag name="KSO_WM_BEAUTIFY_FLAG" val=""/>
</p:tagLst>
</file>

<file path=ppt/tags/tag1266.xml><?xml version="1.0" encoding="utf-8"?>
<p:tagLst xmlns:p="http://schemas.openxmlformats.org/presentationml/2006/main">
  <p:tag name="KSO_WM_BEAUTIFY_FLAG" val=""/>
</p:tagLst>
</file>

<file path=ppt/tags/tag1267.xml><?xml version="1.0" encoding="utf-8"?>
<p:tagLst xmlns:p="http://schemas.openxmlformats.org/presentationml/2006/main">
  <p:tag name="KSO_WM_BEAUTIFY_FLAG" val=""/>
</p:tagLst>
</file>

<file path=ppt/tags/tag1268.xml><?xml version="1.0" encoding="utf-8"?>
<p:tagLst xmlns:p="http://schemas.openxmlformats.org/presentationml/2006/main">
  <p:tag name="KSO_WM_BEAUTIFY_FLAG" val=""/>
</p:tagLst>
</file>

<file path=ppt/tags/tag1269.xml><?xml version="1.0" encoding="utf-8"?>
<p:tagLst xmlns:p="http://schemas.openxmlformats.org/presentationml/2006/main">
  <p:tag name="KSO_WM_BEAUTIFY_FLAG" val=""/>
</p:tagLst>
</file>

<file path=ppt/tags/tag1270.xml><?xml version="1.0" encoding="utf-8"?>
<p:tagLst xmlns:p="http://schemas.openxmlformats.org/presentationml/2006/main">
  <p:tag name="KSO_WM_BEAUTIFY_FLAG" val=""/>
</p:tagLst>
</file>

<file path=ppt/tags/tag1271.xml><?xml version="1.0" encoding="utf-8"?>
<p:tagLst xmlns:p="http://schemas.openxmlformats.org/presentationml/2006/main">
  <p:tag name="KSO_WM_BEAUTIFY_FLAG" val=""/>
</p:tagLst>
</file>

<file path=ppt/tags/tag1272.xml><?xml version="1.0" encoding="utf-8"?>
<p:tagLst xmlns:p="http://schemas.openxmlformats.org/presentationml/2006/main">
  <p:tag name="KSO_WM_BEAUTIFY_FLAG" val=""/>
</p:tagLst>
</file>

<file path=ppt/tags/tag1273.xml><?xml version="1.0" encoding="utf-8"?>
<p:tagLst xmlns:p="http://schemas.openxmlformats.org/presentationml/2006/main">
  <p:tag name="KSO_WM_BEAUTIFY_FLAG" val=""/>
</p:tagLst>
</file>

<file path=ppt/tags/tag1274.xml><?xml version="1.0" encoding="utf-8"?>
<p:tagLst xmlns:p="http://schemas.openxmlformats.org/presentationml/2006/main">
  <p:tag name="KSO_WM_BEAUTIFY_FLAG" val=""/>
</p:tagLst>
</file>

<file path=ppt/tags/tag1275.xml><?xml version="1.0" encoding="utf-8"?>
<p:tagLst xmlns:p="http://schemas.openxmlformats.org/presentationml/2006/main">
  <p:tag name="KSO_WM_BEAUTIFY_FLAG" val=""/>
</p:tagLst>
</file>

<file path=ppt/tags/tag1276.xml><?xml version="1.0" encoding="utf-8"?>
<p:tagLst xmlns:p="http://schemas.openxmlformats.org/presentationml/2006/main">
  <p:tag name="KSO_WM_BEAUTIFY_FLAG" val=""/>
</p:tagLst>
</file>

<file path=ppt/tags/tag1277.xml><?xml version="1.0" encoding="utf-8"?>
<p:tagLst xmlns:p="http://schemas.openxmlformats.org/presentationml/2006/main">
  <p:tag name="KSO_WM_BEAUTIFY_FLAG" val=""/>
</p:tagLst>
</file>

<file path=ppt/tags/tag1278.xml><?xml version="1.0" encoding="utf-8"?>
<p:tagLst xmlns:p="http://schemas.openxmlformats.org/presentationml/2006/main">
  <p:tag name="KSO_WM_BEAUTIFY_FLAG" val=""/>
</p:tagLst>
</file>

<file path=ppt/tags/tag1279.xml><?xml version="1.0" encoding="utf-8"?>
<p:tagLst xmlns:p="http://schemas.openxmlformats.org/presentationml/2006/main">
  <p:tag name="KSO_WM_BEAUTIFY_FLAG" val=""/>
</p:tagLst>
</file>

<file path=ppt/tags/tag1280.xml><?xml version="1.0" encoding="utf-8"?>
<p:tagLst xmlns:p="http://schemas.openxmlformats.org/presentationml/2006/main">
  <p:tag name="KSO_WM_BEAUTIFY_FLAG" val=""/>
</p:tagLst>
</file>

<file path=ppt/tags/tag1281.xml><?xml version="1.0" encoding="utf-8"?>
<p:tagLst xmlns:p="http://schemas.openxmlformats.org/presentationml/2006/main">
  <p:tag name="KSO_WM_BEAUTIFY_FLAG" val=""/>
</p:tagLst>
</file>

<file path=ppt/tags/tag1282.xml><?xml version="1.0" encoding="utf-8"?>
<p:tagLst xmlns:p="http://schemas.openxmlformats.org/presentationml/2006/main">
  <p:tag name="KSO_WM_BEAUTIFY_FLAG" val=""/>
</p:tagLst>
</file>

<file path=ppt/tags/tag1283.xml><?xml version="1.0" encoding="utf-8"?>
<p:tagLst xmlns:p="http://schemas.openxmlformats.org/presentationml/2006/main">
  <p:tag name="KSO_WM_BEAUTIFY_FLAG" val=""/>
</p:tagLst>
</file>

<file path=ppt/tags/tag1284.xml><?xml version="1.0" encoding="utf-8"?>
<p:tagLst xmlns:p="http://schemas.openxmlformats.org/presentationml/2006/main">
  <p:tag name="KSO_WM_BEAUTIFY_FLAG" val=""/>
</p:tagLst>
</file>

<file path=ppt/tags/tag1285.xml><?xml version="1.0" encoding="utf-8"?>
<p:tagLst xmlns:p="http://schemas.openxmlformats.org/presentationml/2006/main">
  <p:tag name="KSO_WM_BEAUTIFY_FLAG" val=""/>
</p:tagLst>
</file>

<file path=ppt/tags/tag1286.xml><?xml version="1.0" encoding="utf-8"?>
<p:tagLst xmlns:p="http://schemas.openxmlformats.org/presentationml/2006/main">
  <p:tag name="KSO_WM_BEAUTIFY_FLAG" val=""/>
</p:tagLst>
</file>

<file path=ppt/tags/tag1287.xml><?xml version="1.0" encoding="utf-8"?>
<p:tagLst xmlns:p="http://schemas.openxmlformats.org/presentationml/2006/main">
  <p:tag name="KSO_WM_BEAUTIFY_FLAG" val=""/>
</p:tagLst>
</file>

<file path=ppt/tags/tag1288.xml><?xml version="1.0" encoding="utf-8"?>
<p:tagLst xmlns:p="http://schemas.openxmlformats.org/presentationml/2006/main">
  <p:tag name="KSO_WM_BEAUTIFY_FLAG" val=""/>
</p:tagLst>
</file>

<file path=ppt/tags/tag1289.xml><?xml version="1.0" encoding="utf-8"?>
<p:tagLst xmlns:p="http://schemas.openxmlformats.org/presentationml/2006/main">
  <p:tag name="KSO_WM_BEAUTIFY_FLAG" val=""/>
</p:tagLst>
</file>

<file path=ppt/tags/tag1290.xml><?xml version="1.0" encoding="utf-8"?>
<p:tagLst xmlns:p="http://schemas.openxmlformats.org/presentationml/2006/main">
  <p:tag name="KSO_WM_BEAUTIFY_FLAG" val=""/>
</p:tagLst>
</file>

<file path=ppt/tags/tag1291.xml><?xml version="1.0" encoding="utf-8"?>
<p:tagLst xmlns:p="http://schemas.openxmlformats.org/presentationml/2006/main">
  <p:tag name="KSO_WM_BEAUTIFY_FLAG" val=""/>
</p:tagLst>
</file>

<file path=ppt/tags/tag1292.xml><?xml version="1.0" encoding="utf-8"?>
<p:tagLst xmlns:p="http://schemas.openxmlformats.org/presentationml/2006/main">
  <p:tag name="KSO_WM_BEAUTIFY_FLAG" val=""/>
</p:tagLst>
</file>

<file path=ppt/tags/tag1293.xml><?xml version="1.0" encoding="utf-8"?>
<p:tagLst xmlns:p="http://schemas.openxmlformats.org/presentationml/2006/main">
  <p:tag name="KSO_WM_BEAUTIFY_FLAG" val=""/>
</p:tagLst>
</file>

<file path=ppt/tags/tag1294.xml><?xml version="1.0" encoding="utf-8"?>
<p:tagLst xmlns:p="http://schemas.openxmlformats.org/presentationml/2006/main">
  <p:tag name="KSO_WM_BEAUTIFY_FLAG" val=""/>
</p:tagLst>
</file>

<file path=ppt/tags/tag1295.xml><?xml version="1.0" encoding="utf-8"?>
<p:tagLst xmlns:p="http://schemas.openxmlformats.org/presentationml/2006/main">
  <p:tag name="KSO_WM_BEAUTIFY_FLAG" val=""/>
</p:tagLst>
</file>

<file path=ppt/tags/tag1296.xml><?xml version="1.0" encoding="utf-8"?>
<p:tagLst xmlns:p="http://schemas.openxmlformats.org/presentationml/2006/main">
  <p:tag name="KSO_WM_BEAUTIFY_FLAG" val=""/>
</p:tagLst>
</file>

<file path=ppt/tags/tag1297.xml><?xml version="1.0" encoding="utf-8"?>
<p:tagLst xmlns:p="http://schemas.openxmlformats.org/presentationml/2006/main">
  <p:tag name="KSO_WM_BEAUTIFY_FLAG" val=""/>
</p:tagLst>
</file>

<file path=ppt/tags/tag1298.xml><?xml version="1.0" encoding="utf-8"?>
<p:tagLst xmlns:p="http://schemas.openxmlformats.org/presentationml/2006/main">
  <p:tag name="KSO_WM_BEAUTIFY_FLAG" val=""/>
</p:tagLst>
</file>

<file path=ppt/tags/tag1299.xml><?xml version="1.0" encoding="utf-8"?>
<p:tagLst xmlns:p="http://schemas.openxmlformats.org/presentationml/2006/main">
  <p:tag name="KSO_WM_BEAUTIFY_FLAG" val=""/>
</p:tagLst>
</file>

<file path=ppt/tags/tag1300.xml><?xml version="1.0" encoding="utf-8"?>
<p:tagLst xmlns:p="http://schemas.openxmlformats.org/presentationml/2006/main">
  <p:tag name="KSO_WM_BEAUTIFY_FLAG" val=""/>
</p:tagLst>
</file>

<file path=ppt/tags/tag1301.xml><?xml version="1.0" encoding="utf-8"?>
<p:tagLst xmlns:p="http://schemas.openxmlformats.org/presentationml/2006/main">
  <p:tag name="KSO_WM_BEAUTIFY_FLAG" val=""/>
</p:tagLst>
</file>

<file path=ppt/tags/tag1302.xml><?xml version="1.0" encoding="utf-8"?>
<p:tagLst xmlns:p="http://schemas.openxmlformats.org/presentationml/2006/main">
  <p:tag name="KSO_WM_BEAUTIFY_FLAG" val=""/>
</p:tagLst>
</file>

<file path=ppt/tags/tag1303.xml><?xml version="1.0" encoding="utf-8"?>
<p:tagLst xmlns:p="http://schemas.openxmlformats.org/presentationml/2006/main">
  <p:tag name="KSO_WM_BEAUTIFY_FLAG" val=""/>
</p:tagLst>
</file>

<file path=ppt/tags/tag1304.xml><?xml version="1.0" encoding="utf-8"?>
<p:tagLst xmlns:p="http://schemas.openxmlformats.org/presentationml/2006/main">
  <p:tag name="KSO_WM_BEAUTIFY_FLAG" val=""/>
</p:tagLst>
</file>

<file path=ppt/tags/tag1305.xml><?xml version="1.0" encoding="utf-8"?>
<p:tagLst xmlns:p="http://schemas.openxmlformats.org/presentationml/2006/main">
  <p:tag name="KSO_WM_BEAUTIFY_FLAG" val=""/>
</p:tagLst>
</file>

<file path=ppt/tags/tag1306.xml><?xml version="1.0" encoding="utf-8"?>
<p:tagLst xmlns:p="http://schemas.openxmlformats.org/presentationml/2006/main">
  <p:tag name="KSO_WM_BEAUTIFY_FLAG" val=""/>
</p:tagLst>
</file>

<file path=ppt/tags/tag1307.xml><?xml version="1.0" encoding="utf-8"?>
<p:tagLst xmlns:p="http://schemas.openxmlformats.org/presentationml/2006/main">
  <p:tag name="KSO_WM_BEAUTIFY_FLAG" val=""/>
</p:tagLst>
</file>

<file path=ppt/tags/tag1308.xml><?xml version="1.0" encoding="utf-8"?>
<p:tagLst xmlns:p="http://schemas.openxmlformats.org/presentationml/2006/main">
  <p:tag name="KSO_WM_BEAUTIFY_FLAG" val=""/>
</p:tagLst>
</file>

<file path=ppt/tags/tag1309.xml><?xml version="1.0" encoding="utf-8"?>
<p:tagLst xmlns:p="http://schemas.openxmlformats.org/presentationml/2006/main">
  <p:tag name="KSO_WM_BEAUTIFY_FLAG" val=""/>
</p:tagLst>
</file>

<file path=ppt/tags/tag1310.xml><?xml version="1.0" encoding="utf-8"?>
<p:tagLst xmlns:p="http://schemas.openxmlformats.org/presentationml/2006/main">
  <p:tag name="KSO_WM_BEAUTIFY_FLAG" val=""/>
</p:tagLst>
</file>

<file path=ppt/tags/tag1311.xml><?xml version="1.0" encoding="utf-8"?>
<p:tagLst xmlns:p="http://schemas.openxmlformats.org/presentationml/2006/main">
  <p:tag name="KSO_WM_BEAUTIFY_FLAG" val=""/>
</p:tagLst>
</file>

<file path=ppt/tags/tag1312.xml><?xml version="1.0" encoding="utf-8"?>
<p:tagLst xmlns:p="http://schemas.openxmlformats.org/presentationml/2006/main">
  <p:tag name="KSO_WM_BEAUTIFY_FLAG" val=""/>
</p:tagLst>
</file>

<file path=ppt/tags/tag1313.xml><?xml version="1.0" encoding="utf-8"?>
<p:tagLst xmlns:p="http://schemas.openxmlformats.org/presentationml/2006/main">
  <p:tag name="KSO_WM_BEAUTIFY_FLAG" val=""/>
</p:tagLst>
</file>

<file path=ppt/tags/tag1314.xml><?xml version="1.0" encoding="utf-8"?>
<p:tagLst xmlns:p="http://schemas.openxmlformats.org/presentationml/2006/main">
  <p:tag name="KSO_WM_BEAUTIFY_FLAG" val=""/>
</p:tagLst>
</file>

<file path=ppt/tags/tag1315.xml><?xml version="1.0" encoding="utf-8"?>
<p:tagLst xmlns:p="http://schemas.openxmlformats.org/presentationml/2006/main">
  <p:tag name="KSO_WM_BEAUTIFY_FLAG" val=""/>
</p:tagLst>
</file>

<file path=ppt/tags/tag1316.xml><?xml version="1.0" encoding="utf-8"?>
<p:tagLst xmlns:p="http://schemas.openxmlformats.org/presentationml/2006/main">
  <p:tag name="KSO_WM_BEAUTIFY_FLAG" val=""/>
</p:tagLst>
</file>

<file path=ppt/tags/tag1317.xml><?xml version="1.0" encoding="utf-8"?>
<p:tagLst xmlns:p="http://schemas.openxmlformats.org/presentationml/2006/main">
  <p:tag name="KSO_WM_BEAUTIFY_FLAG" val=""/>
</p:tagLst>
</file>

<file path=ppt/tags/tag1318.xml><?xml version="1.0" encoding="utf-8"?>
<p:tagLst xmlns:p="http://schemas.openxmlformats.org/presentationml/2006/main">
  <p:tag name="KSO_WM_BEAUTIFY_FLAG" val=""/>
</p:tagLst>
</file>

<file path=ppt/tags/tag1319.xml><?xml version="1.0" encoding="utf-8"?>
<p:tagLst xmlns:p="http://schemas.openxmlformats.org/presentationml/2006/main">
  <p:tag name="KSO_WM_BEAUTIFY_FLAG" val=""/>
</p:tagLst>
</file>

<file path=ppt/tags/tag1320.xml><?xml version="1.0" encoding="utf-8"?>
<p:tagLst xmlns:p="http://schemas.openxmlformats.org/presentationml/2006/main">
  <p:tag name="KSO_WM_BEAUTIFY_FLAG" val=""/>
</p:tagLst>
</file>

<file path=ppt/tags/tag1321.xml><?xml version="1.0" encoding="utf-8"?>
<p:tagLst xmlns:p="http://schemas.openxmlformats.org/presentationml/2006/main">
  <p:tag name="KSO_WM_BEAUTIFY_FLAG" val=""/>
</p:tagLst>
</file>

<file path=ppt/tags/tag1322.xml><?xml version="1.0" encoding="utf-8"?>
<p:tagLst xmlns:p="http://schemas.openxmlformats.org/presentationml/2006/main">
  <p:tag name="KSO_WM_BEAUTIFY_FLAG" val=""/>
</p:tagLst>
</file>

<file path=ppt/tags/tag1323.xml><?xml version="1.0" encoding="utf-8"?>
<p:tagLst xmlns:p="http://schemas.openxmlformats.org/presentationml/2006/main">
  <p:tag name="KSO_WM_BEAUTIFY_FLAG" val=""/>
</p:tagLst>
</file>

<file path=ppt/tags/tag1324.xml><?xml version="1.0" encoding="utf-8"?>
<p:tagLst xmlns:p="http://schemas.openxmlformats.org/presentationml/2006/main">
  <p:tag name="KSO_WM_BEAUTIFY_FLAG" val=""/>
</p:tagLst>
</file>

<file path=ppt/tags/tag1325.xml><?xml version="1.0" encoding="utf-8"?>
<p:tagLst xmlns:p="http://schemas.openxmlformats.org/presentationml/2006/main">
  <p:tag name="KSO_WM_BEAUTIFY_FLAG" val=""/>
</p:tagLst>
</file>

<file path=ppt/tags/tag1326.xml><?xml version="1.0" encoding="utf-8"?>
<p:tagLst xmlns:p="http://schemas.openxmlformats.org/presentationml/2006/main">
  <p:tag name="KSO_WM_BEAUTIFY_FLAG" val=""/>
</p:tagLst>
</file>

<file path=ppt/tags/tag1327.xml><?xml version="1.0" encoding="utf-8"?>
<p:tagLst xmlns:p="http://schemas.openxmlformats.org/presentationml/2006/main">
  <p:tag name="KSO_WM_BEAUTIFY_FLAG" val=""/>
</p:tagLst>
</file>

<file path=ppt/tags/tag1328.xml><?xml version="1.0" encoding="utf-8"?>
<p:tagLst xmlns:p="http://schemas.openxmlformats.org/presentationml/2006/main">
  <p:tag name="KSO_WM_BEAUTIFY_FLAG" val=""/>
</p:tagLst>
</file>

<file path=ppt/tags/tag1329.xml><?xml version="1.0" encoding="utf-8"?>
<p:tagLst xmlns:p="http://schemas.openxmlformats.org/presentationml/2006/main">
  <p:tag name="KSO_WM_BEAUTIFY_FLAG" val=""/>
</p:tagLst>
</file>

<file path=ppt/tags/tag1330.xml><?xml version="1.0" encoding="utf-8"?>
<p:tagLst xmlns:p="http://schemas.openxmlformats.org/presentationml/2006/main">
  <p:tag name="KSO_WM_BEAUTIFY_FLAG" val=""/>
</p:tagLst>
</file>

<file path=ppt/tags/tag1331.xml><?xml version="1.0" encoding="utf-8"?>
<p:tagLst xmlns:p="http://schemas.openxmlformats.org/presentationml/2006/main">
  <p:tag name="KSO_WM_BEAUTIFY_FLAG" val=""/>
</p:tagLst>
</file>

<file path=ppt/tags/tag1332.xml><?xml version="1.0" encoding="utf-8"?>
<p:tagLst xmlns:p="http://schemas.openxmlformats.org/presentationml/2006/main">
  <p:tag name="KSO_WM_BEAUTIFY_FLAG" val=""/>
</p:tagLst>
</file>

<file path=ppt/tags/tag1333.xml><?xml version="1.0" encoding="utf-8"?>
<p:tagLst xmlns:p="http://schemas.openxmlformats.org/presentationml/2006/main">
  <p:tag name="KSO_WM_BEAUTIFY_FLAG" val=""/>
</p:tagLst>
</file>

<file path=ppt/tags/tag1334.xml><?xml version="1.0" encoding="utf-8"?>
<p:tagLst xmlns:p="http://schemas.openxmlformats.org/presentationml/2006/main">
  <p:tag name="KSO_WM_BEAUTIFY_FLAG" val=""/>
</p:tagLst>
</file>

<file path=ppt/tags/tag1335.xml><?xml version="1.0" encoding="utf-8"?>
<p:tagLst xmlns:p="http://schemas.openxmlformats.org/presentationml/2006/main">
  <p:tag name="KSO_WM_BEAUTIFY_FLAG" val=""/>
</p:tagLst>
</file>

<file path=ppt/tags/tag1336.xml><?xml version="1.0" encoding="utf-8"?>
<p:tagLst xmlns:p="http://schemas.openxmlformats.org/presentationml/2006/main">
  <p:tag name="KSO_WM_BEAUTIFY_FLAG" val=""/>
</p:tagLst>
</file>

<file path=ppt/tags/tag1337.xml><?xml version="1.0" encoding="utf-8"?>
<p:tagLst xmlns:p="http://schemas.openxmlformats.org/presentationml/2006/main">
  <p:tag name="KSO_WM_BEAUTIFY_FLAG" val=""/>
</p:tagLst>
</file>

<file path=ppt/tags/tag1338.xml><?xml version="1.0" encoding="utf-8"?>
<p:tagLst xmlns:p="http://schemas.openxmlformats.org/presentationml/2006/main">
  <p:tag name="KSO_WM_BEAUTIFY_FLAG" val=""/>
</p:tagLst>
</file>

<file path=ppt/tags/tag1339.xml><?xml version="1.0" encoding="utf-8"?>
<p:tagLst xmlns:p="http://schemas.openxmlformats.org/presentationml/2006/main">
  <p:tag name="KSO_WM_BEAUTIFY_FLAG" val=""/>
</p:tagLst>
</file>

<file path=ppt/tags/tag1340.xml><?xml version="1.0" encoding="utf-8"?>
<p:tagLst xmlns:p="http://schemas.openxmlformats.org/presentationml/2006/main">
  <p:tag name="KSO_WM_BEAUTIFY_FLAG" val=""/>
</p:tagLst>
</file>

<file path=ppt/tags/tag1341.xml><?xml version="1.0" encoding="utf-8"?>
<p:tagLst xmlns:p="http://schemas.openxmlformats.org/presentationml/2006/main">
  <p:tag name="KSO_WM_BEAUTIFY_FLAG" val=""/>
</p:tagLst>
</file>

<file path=ppt/tags/tag1342.xml><?xml version="1.0" encoding="utf-8"?>
<p:tagLst xmlns:p="http://schemas.openxmlformats.org/presentationml/2006/main">
  <p:tag name="KSO_WM_BEAUTIFY_FLAG" val=""/>
</p:tagLst>
</file>

<file path=ppt/tags/tag1343.xml><?xml version="1.0" encoding="utf-8"?>
<p:tagLst xmlns:p="http://schemas.openxmlformats.org/presentationml/2006/main">
  <p:tag name="KSO_WM_BEAUTIFY_FLAG" val=""/>
</p:tagLst>
</file>

<file path=ppt/tags/tag1344.xml><?xml version="1.0" encoding="utf-8"?>
<p:tagLst xmlns:p="http://schemas.openxmlformats.org/presentationml/2006/main">
  <p:tag name="KSO_WM_BEAUTIFY_FLAG" val=""/>
</p:tagLst>
</file>

<file path=ppt/tags/tag1345.xml><?xml version="1.0" encoding="utf-8"?>
<p:tagLst xmlns:p="http://schemas.openxmlformats.org/presentationml/2006/main">
  <p:tag name="KSO_WM_BEAUTIFY_FLAG" val=""/>
</p:tagLst>
</file>

<file path=ppt/tags/tag1346.xml><?xml version="1.0" encoding="utf-8"?>
<p:tagLst xmlns:p="http://schemas.openxmlformats.org/presentationml/2006/main">
  <p:tag name="KSO_WM_BEAUTIFY_FLAG" val=""/>
</p:tagLst>
</file>

<file path=ppt/tags/tag1347.xml><?xml version="1.0" encoding="utf-8"?>
<p:tagLst xmlns:p="http://schemas.openxmlformats.org/presentationml/2006/main">
  <p:tag name="KSO_WM_BEAUTIFY_FLAG" val=""/>
</p:tagLst>
</file>

<file path=ppt/tags/tag1348.xml><?xml version="1.0" encoding="utf-8"?>
<p:tagLst xmlns:p="http://schemas.openxmlformats.org/presentationml/2006/main">
  <p:tag name="KSO_WM_BEAUTIFY_FLAG" val=""/>
</p:tagLst>
</file>

<file path=ppt/tags/tag1349.xml><?xml version="1.0" encoding="utf-8"?>
<p:tagLst xmlns:p="http://schemas.openxmlformats.org/presentationml/2006/main">
  <p:tag name="KSO_WM_BEAUTIFY_FLAG" val=""/>
</p:tagLst>
</file>

<file path=ppt/tags/tag1350.xml><?xml version="1.0" encoding="utf-8"?>
<p:tagLst xmlns:p="http://schemas.openxmlformats.org/presentationml/2006/main">
  <p:tag name="KSO_WM_BEAUTIFY_FLAG" val=""/>
</p:tagLst>
</file>

<file path=ppt/tags/tag1351.xml><?xml version="1.0" encoding="utf-8"?>
<p:tagLst xmlns:p="http://schemas.openxmlformats.org/presentationml/2006/main">
  <p:tag name="KSO_WM_BEAUTIFY_FLAG" val=""/>
</p:tagLst>
</file>

<file path=ppt/tags/tag1352.xml><?xml version="1.0" encoding="utf-8"?>
<p:tagLst xmlns:p="http://schemas.openxmlformats.org/presentationml/2006/main">
  <p:tag name="KSO_WM_BEAUTIFY_FLAG" val=""/>
</p:tagLst>
</file>

<file path=ppt/tags/tag1353.xml><?xml version="1.0" encoding="utf-8"?>
<p:tagLst xmlns:p="http://schemas.openxmlformats.org/presentationml/2006/main">
  <p:tag name="KSO_WM_BEAUTIFY_FLAG" val=""/>
</p:tagLst>
</file>

<file path=ppt/tags/tag1354.xml><?xml version="1.0" encoding="utf-8"?>
<p:tagLst xmlns:p="http://schemas.openxmlformats.org/presentationml/2006/main">
  <p:tag name="KSO_WM_BEAUTIFY_FLAG" val=""/>
</p:tagLst>
</file>

<file path=ppt/tags/tag1355.xml><?xml version="1.0" encoding="utf-8"?>
<p:tagLst xmlns:p="http://schemas.openxmlformats.org/presentationml/2006/main">
  <p:tag name="KSO_WM_BEAUTIFY_FLAG" val=""/>
</p:tagLst>
</file>

<file path=ppt/tags/tag1356.xml><?xml version="1.0" encoding="utf-8"?>
<p:tagLst xmlns:p="http://schemas.openxmlformats.org/presentationml/2006/main">
  <p:tag name="KSO_WM_BEAUTIFY_FLAG" val=""/>
</p:tagLst>
</file>

<file path=ppt/tags/tag1357.xml><?xml version="1.0" encoding="utf-8"?>
<p:tagLst xmlns:p="http://schemas.openxmlformats.org/presentationml/2006/main">
  <p:tag name="KSO_WM_BEAUTIFY_FLAG" val=""/>
</p:tagLst>
</file>

<file path=ppt/tags/tag1358.xml><?xml version="1.0" encoding="utf-8"?>
<p:tagLst xmlns:p="http://schemas.openxmlformats.org/presentationml/2006/main">
  <p:tag name="KSO_WM_BEAUTIFY_FLAG" val=""/>
</p:tagLst>
</file>

<file path=ppt/tags/tag1359.xml><?xml version="1.0" encoding="utf-8"?>
<p:tagLst xmlns:p="http://schemas.openxmlformats.org/presentationml/2006/main">
  <p:tag name="KSO_WM_BEAUTIFY_FLAG" val=""/>
</p:tagLst>
</file>

<file path=ppt/tags/tag1360.xml><?xml version="1.0" encoding="utf-8"?>
<p:tagLst xmlns:p="http://schemas.openxmlformats.org/presentationml/2006/main">
  <p:tag name="KSO_WM_BEAUTIFY_FLAG" val=""/>
</p:tagLst>
</file>

<file path=ppt/tags/tag1361.xml><?xml version="1.0" encoding="utf-8"?>
<p:tagLst xmlns:p="http://schemas.openxmlformats.org/presentationml/2006/main">
  <p:tag name="KSO_WM_BEAUTIFY_FLAG" val=""/>
</p:tagLst>
</file>

<file path=ppt/tags/tag1362.xml><?xml version="1.0" encoding="utf-8"?>
<p:tagLst xmlns:p="http://schemas.openxmlformats.org/presentationml/2006/main">
  <p:tag name="KSO_WM_BEAUTIFY_FLAG" val=""/>
</p:tagLst>
</file>

<file path=ppt/tags/tag1363.xml><?xml version="1.0" encoding="utf-8"?>
<p:tagLst xmlns:p="http://schemas.openxmlformats.org/presentationml/2006/main">
  <p:tag name="KSO_WM_BEAUTIFY_FLAG" val=""/>
</p:tagLst>
</file>

<file path=ppt/tags/tag1364.xml><?xml version="1.0" encoding="utf-8"?>
<p:tagLst xmlns:p="http://schemas.openxmlformats.org/presentationml/2006/main">
  <p:tag name="KSO_WM_BEAUTIFY_FLAG" val=""/>
</p:tagLst>
</file>

<file path=ppt/tags/tag1365.xml><?xml version="1.0" encoding="utf-8"?>
<p:tagLst xmlns:p="http://schemas.openxmlformats.org/presentationml/2006/main">
  <p:tag name="KSO_WM_BEAUTIFY_FLAG" val=""/>
</p:tagLst>
</file>

<file path=ppt/tags/tag1366.xml><?xml version="1.0" encoding="utf-8"?>
<p:tagLst xmlns:p="http://schemas.openxmlformats.org/presentationml/2006/main">
  <p:tag name="KSO_WM_BEAUTIFY_FLAG" val=""/>
</p:tagLst>
</file>

<file path=ppt/tags/tag1367.xml><?xml version="1.0" encoding="utf-8"?>
<p:tagLst xmlns:p="http://schemas.openxmlformats.org/presentationml/2006/main">
  <p:tag name="KSO_WM_BEAUTIFY_FLAG" val=""/>
</p:tagLst>
</file>

<file path=ppt/tags/tag1368.xml><?xml version="1.0" encoding="utf-8"?>
<p:tagLst xmlns:p="http://schemas.openxmlformats.org/presentationml/2006/main">
  <p:tag name="KSO_WM_BEAUTIFY_FLAG" val=""/>
</p:tagLst>
</file>

<file path=ppt/tags/tag1369.xml><?xml version="1.0" encoding="utf-8"?>
<p:tagLst xmlns:p="http://schemas.openxmlformats.org/presentationml/2006/main">
  <p:tag name="KSO_WM_BEAUTIFY_FLAG" val=""/>
</p:tagLst>
</file>

<file path=ppt/tags/tag1370.xml><?xml version="1.0" encoding="utf-8"?>
<p:tagLst xmlns:p="http://schemas.openxmlformats.org/presentationml/2006/main">
  <p:tag name="KSO_WM_BEAUTIFY_FLAG" val=""/>
</p:tagLst>
</file>

<file path=ppt/tags/tag1371.xml><?xml version="1.0" encoding="utf-8"?>
<p:tagLst xmlns:p="http://schemas.openxmlformats.org/presentationml/2006/main">
  <p:tag name="KSO_WM_BEAUTIFY_FLAG" val=""/>
</p:tagLst>
</file>

<file path=ppt/tags/tag1372.xml><?xml version="1.0" encoding="utf-8"?>
<p:tagLst xmlns:p="http://schemas.openxmlformats.org/presentationml/2006/main">
  <p:tag name="KSO_WM_BEAUTIFY_FLAG" val=""/>
</p:tagLst>
</file>

<file path=ppt/tags/tag1373.xml><?xml version="1.0" encoding="utf-8"?>
<p:tagLst xmlns:p="http://schemas.openxmlformats.org/presentationml/2006/main">
  <p:tag name="KSO_WM_BEAUTIFY_FLAG" val=""/>
</p:tagLst>
</file>

<file path=ppt/tags/tag1374.xml><?xml version="1.0" encoding="utf-8"?>
<p:tagLst xmlns:p="http://schemas.openxmlformats.org/presentationml/2006/main">
  <p:tag name="KSO_WM_BEAUTIFY_FLAG" val=""/>
</p:tagLst>
</file>

<file path=ppt/tags/tag1375.xml><?xml version="1.0" encoding="utf-8"?>
<p:tagLst xmlns:p="http://schemas.openxmlformats.org/presentationml/2006/main">
  <p:tag name="KSO_WM_BEAUTIFY_FLAG" val=""/>
</p:tagLst>
</file>

<file path=ppt/tags/tag1376.xml><?xml version="1.0" encoding="utf-8"?>
<p:tagLst xmlns:p="http://schemas.openxmlformats.org/presentationml/2006/main">
  <p:tag name="KSO_WM_BEAUTIFY_FLAG" val=""/>
</p:tagLst>
</file>

<file path=ppt/tags/tag1377.xml><?xml version="1.0" encoding="utf-8"?>
<p:tagLst xmlns:p="http://schemas.openxmlformats.org/presentationml/2006/main">
  <p:tag name="KSO_WM_BEAUTIFY_FLAG" val=""/>
</p:tagLst>
</file>

<file path=ppt/tags/tag1378.xml><?xml version="1.0" encoding="utf-8"?>
<p:tagLst xmlns:p="http://schemas.openxmlformats.org/presentationml/2006/main">
  <p:tag name="KSO_WM_BEAUTIFY_FLAG" val=""/>
</p:tagLst>
</file>

<file path=ppt/tags/tag1379.xml><?xml version="1.0" encoding="utf-8"?>
<p:tagLst xmlns:p="http://schemas.openxmlformats.org/presentationml/2006/main">
  <p:tag name="KSO_WM_BEAUTIFY_FLAG" val=""/>
</p:tagLst>
</file>

<file path=ppt/tags/tag1380.xml><?xml version="1.0" encoding="utf-8"?>
<p:tagLst xmlns:p="http://schemas.openxmlformats.org/presentationml/2006/main">
  <p:tag name="KSO_WM_BEAUTIFY_FLAG" val=""/>
</p:tagLst>
</file>

<file path=ppt/tags/tag1381.xml><?xml version="1.0" encoding="utf-8"?>
<p:tagLst xmlns:p="http://schemas.openxmlformats.org/presentationml/2006/main">
  <p:tag name="KSO_WM_BEAUTIFY_FLAG" val=""/>
</p:tagLst>
</file>

<file path=ppt/tags/tag1382.xml><?xml version="1.0" encoding="utf-8"?>
<p:tagLst xmlns:p="http://schemas.openxmlformats.org/presentationml/2006/main">
  <p:tag name="KSO_WM_BEAUTIFY_FLAG" val=""/>
</p:tagLst>
</file>

<file path=ppt/tags/tag1383.xml><?xml version="1.0" encoding="utf-8"?>
<p:tagLst xmlns:p="http://schemas.openxmlformats.org/presentationml/2006/main">
  <p:tag name="KSO_WM_BEAUTIFY_FLAG" val=""/>
</p:tagLst>
</file>

<file path=ppt/tags/tag1384.xml><?xml version="1.0" encoding="utf-8"?>
<p:tagLst xmlns:p="http://schemas.openxmlformats.org/presentationml/2006/main">
  <p:tag name="KSO_WM_BEAUTIFY_FLAG" val=""/>
</p:tagLst>
</file>

<file path=ppt/tags/tag1385.xml><?xml version="1.0" encoding="utf-8"?>
<p:tagLst xmlns:p="http://schemas.openxmlformats.org/presentationml/2006/main">
  <p:tag name="KSO_WM_BEAUTIFY_FLAG" val=""/>
</p:tagLst>
</file>

<file path=ppt/tags/tag1386.xml><?xml version="1.0" encoding="utf-8"?>
<p:tagLst xmlns:p="http://schemas.openxmlformats.org/presentationml/2006/main">
  <p:tag name="KSO_WM_BEAUTIFY_FLAG" val=""/>
</p:tagLst>
</file>

<file path=ppt/tags/tag1387.xml><?xml version="1.0" encoding="utf-8"?>
<p:tagLst xmlns:p="http://schemas.openxmlformats.org/presentationml/2006/main">
  <p:tag name="KSO_WM_BEAUTIFY_FLAG" val=""/>
</p:tagLst>
</file>

<file path=ppt/tags/tag1388.xml><?xml version="1.0" encoding="utf-8"?>
<p:tagLst xmlns:p="http://schemas.openxmlformats.org/presentationml/2006/main">
  <p:tag name="KSO_WM_BEAUTIFY_FLAG" val=""/>
</p:tagLst>
</file>

<file path=ppt/tags/tag1389.xml><?xml version="1.0" encoding="utf-8"?>
<p:tagLst xmlns:p="http://schemas.openxmlformats.org/presentationml/2006/main">
  <p:tag name="KSO_WM_BEAUTIFY_FLAG" val=""/>
</p:tagLst>
</file>

<file path=ppt/tags/tag1390.xml><?xml version="1.0" encoding="utf-8"?>
<p:tagLst xmlns:p="http://schemas.openxmlformats.org/presentationml/2006/main">
  <p:tag name="KSO_WM_BEAUTIFY_FLAG" val=""/>
</p:tagLst>
</file>

<file path=ppt/tags/tag1391.xml><?xml version="1.0" encoding="utf-8"?>
<p:tagLst xmlns:p="http://schemas.openxmlformats.org/presentationml/2006/main">
  <p:tag name="KSO_WM_BEAUTIFY_FLAG" val=""/>
</p:tagLst>
</file>

<file path=ppt/tags/tag1392.xml><?xml version="1.0" encoding="utf-8"?>
<p:tagLst xmlns:p="http://schemas.openxmlformats.org/presentationml/2006/main">
  <p:tag name="KSO_WM_BEAUTIFY_FLAG" val=""/>
</p:tagLst>
</file>

<file path=ppt/tags/tag1393.xml><?xml version="1.0" encoding="utf-8"?>
<p:tagLst xmlns:p="http://schemas.openxmlformats.org/presentationml/2006/main">
  <p:tag name="KSO_WM_BEAUTIFY_FLAG" val=""/>
</p:tagLst>
</file>

<file path=ppt/tags/tag1394.xml><?xml version="1.0" encoding="utf-8"?>
<p:tagLst xmlns:p="http://schemas.openxmlformats.org/presentationml/2006/main">
  <p:tag name="KSO_WM_BEAUTIFY_FLAG" val=""/>
</p:tagLst>
</file>

<file path=ppt/tags/tag1395.xml><?xml version="1.0" encoding="utf-8"?>
<p:tagLst xmlns:p="http://schemas.openxmlformats.org/presentationml/2006/main">
  <p:tag name="KSO_WM_BEAUTIFY_FLAG" val=""/>
</p:tagLst>
</file>

<file path=ppt/tags/tag1396.xml><?xml version="1.0" encoding="utf-8"?>
<p:tagLst xmlns:p="http://schemas.openxmlformats.org/presentationml/2006/main">
  <p:tag name="KSO_WM_BEAUTIFY_FLAG" val=""/>
</p:tagLst>
</file>

<file path=ppt/tags/tag1397.xml><?xml version="1.0" encoding="utf-8"?>
<p:tagLst xmlns:p="http://schemas.openxmlformats.org/presentationml/2006/main">
  <p:tag name="KSO_WM_BEAUTIFY_FLAG" val=""/>
</p:tagLst>
</file>

<file path=ppt/tags/tag1398.xml><?xml version="1.0" encoding="utf-8"?>
<p:tagLst xmlns:p="http://schemas.openxmlformats.org/presentationml/2006/main">
  <p:tag name="KSO_WM_BEAUTIFY_FLAG" val=""/>
</p:tagLst>
</file>

<file path=ppt/tags/tag1399.xml><?xml version="1.0" encoding="utf-8"?>
<p:tagLst xmlns:p="http://schemas.openxmlformats.org/presentationml/2006/main">
  <p:tag name="KSO_WM_BEAUTIFY_FLAG" val=""/>
</p:tagLst>
</file>

<file path=ppt/tags/tag1400.xml><?xml version="1.0" encoding="utf-8"?>
<p:tagLst xmlns:p="http://schemas.openxmlformats.org/presentationml/2006/main">
  <p:tag name="KSO_WM_BEAUTIFY_FLAG" val=""/>
</p:tagLst>
</file>

<file path=ppt/tags/tag1401.xml><?xml version="1.0" encoding="utf-8"?>
<p:tagLst xmlns:p="http://schemas.openxmlformats.org/presentationml/2006/main">
  <p:tag name="KSO_WM_BEAUTIFY_FLAG" val=""/>
</p:tagLst>
</file>

<file path=ppt/tags/tag1402.xml><?xml version="1.0" encoding="utf-8"?>
<p:tagLst xmlns:p="http://schemas.openxmlformats.org/presentationml/2006/main">
  <p:tag name="KSO_WM_BEAUTIFY_FLAG" val=""/>
</p:tagLst>
</file>

<file path=ppt/tags/tag1403.xml><?xml version="1.0" encoding="utf-8"?>
<p:tagLst xmlns:p="http://schemas.openxmlformats.org/presentationml/2006/main">
  <p:tag name="KSO_WM_BEAUTIFY_FLAG" val=""/>
</p:tagLst>
</file>

<file path=ppt/tags/tag1404.xml><?xml version="1.0" encoding="utf-8"?>
<p:tagLst xmlns:p="http://schemas.openxmlformats.org/presentationml/2006/main">
  <p:tag name="KSO_WM_BEAUTIFY_FLAG" val=""/>
</p:tagLst>
</file>

<file path=ppt/tags/tag1405.xml><?xml version="1.0" encoding="utf-8"?>
<p:tagLst xmlns:p="http://schemas.openxmlformats.org/presentationml/2006/main">
  <p:tag name="KSO_WM_BEAUTIFY_FLAG" val=""/>
</p:tagLst>
</file>

<file path=ppt/tags/tag1406.xml><?xml version="1.0" encoding="utf-8"?>
<p:tagLst xmlns:p="http://schemas.openxmlformats.org/presentationml/2006/main">
  <p:tag name="KSO_WM_BEAUTIFY_FLAG" val=""/>
</p:tagLst>
</file>

<file path=ppt/tags/tag1407.xml><?xml version="1.0" encoding="utf-8"?>
<p:tagLst xmlns:p="http://schemas.openxmlformats.org/presentationml/2006/main">
  <p:tag name="KSO_WM_BEAUTIFY_FLAG" val=""/>
</p:tagLst>
</file>

<file path=ppt/tags/tag1408.xml><?xml version="1.0" encoding="utf-8"?>
<p:tagLst xmlns:p="http://schemas.openxmlformats.org/presentationml/2006/main">
  <p:tag name="KSO_WM_BEAUTIFY_FLAG" val=""/>
</p:tagLst>
</file>

<file path=ppt/tags/tag1409.xml><?xml version="1.0" encoding="utf-8"?>
<p:tagLst xmlns:p="http://schemas.openxmlformats.org/presentationml/2006/main">
  <p:tag name="KSO_WM_BEAUTIFY_FLAG" val=""/>
</p:tagLst>
</file>

<file path=ppt/tags/tag1410.xml><?xml version="1.0" encoding="utf-8"?>
<p:tagLst xmlns:p="http://schemas.openxmlformats.org/presentationml/2006/main">
  <p:tag name="KSO_WM_BEAUTIFY_FLAG" val=""/>
</p:tagLst>
</file>

<file path=ppt/tags/tag1411.xml><?xml version="1.0" encoding="utf-8"?>
<p:tagLst xmlns:p="http://schemas.openxmlformats.org/presentationml/2006/main">
  <p:tag name="KSO_WM_BEAUTIFY_FLAG" val=""/>
</p:tagLst>
</file>

<file path=ppt/tags/tag1412.xml><?xml version="1.0" encoding="utf-8"?>
<p:tagLst xmlns:p="http://schemas.openxmlformats.org/presentationml/2006/main">
  <p:tag name="KSO_WM_BEAUTIFY_FLAG" val=""/>
</p:tagLst>
</file>

<file path=ppt/tags/tag1413.xml><?xml version="1.0" encoding="utf-8"?>
<p:tagLst xmlns:p="http://schemas.openxmlformats.org/presentationml/2006/main">
  <p:tag name="KSO_WM_BEAUTIFY_FLAG" val=""/>
</p:tagLst>
</file>

<file path=ppt/tags/tag1414.xml><?xml version="1.0" encoding="utf-8"?>
<p:tagLst xmlns:p="http://schemas.openxmlformats.org/presentationml/2006/main">
  <p:tag name="KSO_WM_BEAUTIFY_FLAG" val=""/>
</p:tagLst>
</file>

<file path=ppt/tags/tag1415.xml><?xml version="1.0" encoding="utf-8"?>
<p:tagLst xmlns:p="http://schemas.openxmlformats.org/presentationml/2006/main">
  <p:tag name="KSO_WM_BEAUTIFY_FLAG" val=""/>
</p:tagLst>
</file>

<file path=ppt/tags/tag1416.xml><?xml version="1.0" encoding="utf-8"?>
<p:tagLst xmlns:p="http://schemas.openxmlformats.org/presentationml/2006/main">
  <p:tag name="KSO_WM_BEAUTIFY_FLAG" val=""/>
</p:tagLst>
</file>

<file path=ppt/tags/tag1417.xml><?xml version="1.0" encoding="utf-8"?>
<p:tagLst xmlns:p="http://schemas.openxmlformats.org/presentationml/2006/main">
  <p:tag name="KSO_WM_BEAUTIFY_FLAG" val=""/>
</p:tagLst>
</file>

<file path=ppt/tags/tag1418.xml><?xml version="1.0" encoding="utf-8"?>
<p:tagLst xmlns:p="http://schemas.openxmlformats.org/presentationml/2006/main">
  <p:tag name="KSO_WM_BEAUTIFY_FLAG" val=""/>
</p:tagLst>
</file>

<file path=ppt/tags/tag1419.xml><?xml version="1.0" encoding="utf-8"?>
<p:tagLst xmlns:p="http://schemas.openxmlformats.org/presentationml/2006/main">
  <p:tag name="KSO_WM_BEAUTIFY_FLAG" val=""/>
</p:tagLst>
</file>

<file path=ppt/tags/tag1420.xml><?xml version="1.0" encoding="utf-8"?>
<p:tagLst xmlns:p="http://schemas.openxmlformats.org/presentationml/2006/main">
  <p:tag name="KSO_WM_BEAUTIFY_FLAG" val=""/>
</p:tagLst>
</file>

<file path=ppt/tags/tag1421.xml><?xml version="1.0" encoding="utf-8"?>
<p:tagLst xmlns:p="http://schemas.openxmlformats.org/presentationml/2006/main">
  <p:tag name="KSO_WM_BEAUTIFY_FLAG" val=""/>
</p:tagLst>
</file>

<file path=ppt/tags/tag1422.xml><?xml version="1.0" encoding="utf-8"?>
<p:tagLst xmlns:p="http://schemas.openxmlformats.org/presentationml/2006/main">
  <p:tag name="KSO_WM_BEAUTIFY_FLAG" val=""/>
</p:tagLst>
</file>

<file path=ppt/tags/tag1423.xml><?xml version="1.0" encoding="utf-8"?>
<p:tagLst xmlns:p="http://schemas.openxmlformats.org/presentationml/2006/main">
  <p:tag name="KSO_WM_BEAUTIFY_FLAG" val=""/>
</p:tagLst>
</file>

<file path=ppt/tags/tag1424.xml><?xml version="1.0" encoding="utf-8"?>
<p:tagLst xmlns:p="http://schemas.openxmlformats.org/presentationml/2006/main">
  <p:tag name="KSO_WM_BEAUTIFY_FLAG" val=""/>
</p:tagLst>
</file>

<file path=ppt/tags/tag1425.xml><?xml version="1.0" encoding="utf-8"?>
<p:tagLst xmlns:p="http://schemas.openxmlformats.org/presentationml/2006/main">
  <p:tag name="KSO_WM_BEAUTIFY_FLAG" val=""/>
</p:tagLst>
</file>

<file path=ppt/tags/tag1426.xml><?xml version="1.0" encoding="utf-8"?>
<p:tagLst xmlns:p="http://schemas.openxmlformats.org/presentationml/2006/main">
  <p:tag name="KSO_WM_BEAUTIFY_FLAG" val=""/>
</p:tagLst>
</file>

<file path=ppt/tags/tag1427.xml><?xml version="1.0" encoding="utf-8"?>
<p:tagLst xmlns:p="http://schemas.openxmlformats.org/presentationml/2006/main">
  <p:tag name="KSO_WM_BEAUTIFY_FLAG" val=""/>
</p:tagLst>
</file>

<file path=ppt/tags/tag1428.xml><?xml version="1.0" encoding="utf-8"?>
<p:tagLst xmlns:p="http://schemas.openxmlformats.org/presentationml/2006/main">
  <p:tag name="KSO_WM_BEAUTIFY_FLAG" val=""/>
</p:tagLst>
</file>

<file path=ppt/tags/tag1429.xml><?xml version="1.0" encoding="utf-8"?>
<p:tagLst xmlns:p="http://schemas.openxmlformats.org/presentationml/2006/main">
  <p:tag name="KSO_WM_BEAUTIFY_FLAG" val=""/>
</p:tagLst>
</file>

<file path=ppt/tags/tag1430.xml><?xml version="1.0" encoding="utf-8"?>
<p:tagLst xmlns:p="http://schemas.openxmlformats.org/presentationml/2006/main">
  <p:tag name="KSO_WM_BEAUTIFY_FLAG" val=""/>
</p:tagLst>
</file>

<file path=ppt/tags/tag1431.xml><?xml version="1.0" encoding="utf-8"?>
<p:tagLst xmlns:p="http://schemas.openxmlformats.org/presentationml/2006/main">
  <p:tag name="KSO_WM_BEAUTIFY_FLAG" val=""/>
</p:tagLst>
</file>

<file path=ppt/tags/tag1432.xml><?xml version="1.0" encoding="utf-8"?>
<p:tagLst xmlns:p="http://schemas.openxmlformats.org/presentationml/2006/main">
  <p:tag name="KSO_WM_BEAUTIFY_FLAG" val=""/>
</p:tagLst>
</file>

<file path=ppt/tags/tag1433.xml><?xml version="1.0" encoding="utf-8"?>
<p:tagLst xmlns:p="http://schemas.openxmlformats.org/presentationml/2006/main">
  <p:tag name="KSO_WM_BEAUTIFY_FLAG" val=""/>
</p:tagLst>
</file>

<file path=ppt/tags/tag1434.xml><?xml version="1.0" encoding="utf-8"?>
<p:tagLst xmlns:p="http://schemas.openxmlformats.org/presentationml/2006/main">
  <p:tag name="KSO_WM_BEAUTIFY_FLAG" val=""/>
</p:tagLst>
</file>

<file path=ppt/tags/tag1435.xml><?xml version="1.0" encoding="utf-8"?>
<p:tagLst xmlns:p="http://schemas.openxmlformats.org/presentationml/2006/main">
  <p:tag name="KSO_WM_BEAUTIFY_FLAG" val=""/>
</p:tagLst>
</file>

<file path=ppt/tags/tag1436.xml><?xml version="1.0" encoding="utf-8"?>
<p:tagLst xmlns:p="http://schemas.openxmlformats.org/presentationml/2006/main">
  <p:tag name="KSO_WM_BEAUTIFY_FLAG" val=""/>
</p:tagLst>
</file>

<file path=ppt/tags/tag1437.xml><?xml version="1.0" encoding="utf-8"?>
<p:tagLst xmlns:p="http://schemas.openxmlformats.org/presentationml/2006/main">
  <p:tag name="KSO_WM_BEAUTIFY_FLAG" val=""/>
</p:tagLst>
</file>

<file path=ppt/tags/tag1438.xml><?xml version="1.0" encoding="utf-8"?>
<p:tagLst xmlns:p="http://schemas.openxmlformats.org/presentationml/2006/main">
  <p:tag name="KSO_WM_BEAUTIFY_FLAG" val=""/>
</p:tagLst>
</file>

<file path=ppt/tags/tag1439.xml><?xml version="1.0" encoding="utf-8"?>
<p:tagLst xmlns:p="http://schemas.openxmlformats.org/presentationml/2006/main">
  <p:tag name="KSO_WM_BEAUTIFY_FLAG" val=""/>
</p:tagLst>
</file>

<file path=ppt/tags/tag1440.xml><?xml version="1.0" encoding="utf-8"?>
<p:tagLst xmlns:p="http://schemas.openxmlformats.org/presentationml/2006/main">
  <p:tag name="KSO_WM_BEAUTIFY_FLAG" val=""/>
</p:tagLst>
</file>

<file path=ppt/tags/tag1441.xml><?xml version="1.0" encoding="utf-8"?>
<p:tagLst xmlns:p="http://schemas.openxmlformats.org/presentationml/2006/main">
  <p:tag name="KSO_WM_BEAUTIFY_FLAG" val=""/>
</p:tagLst>
</file>

<file path=ppt/tags/tag1442.xml><?xml version="1.0" encoding="utf-8"?>
<p:tagLst xmlns:p="http://schemas.openxmlformats.org/presentationml/2006/main">
  <p:tag name="KSO_WM_BEAUTIFY_FLAG" val=""/>
</p:tagLst>
</file>

<file path=ppt/tags/tag1443.xml><?xml version="1.0" encoding="utf-8"?>
<p:tagLst xmlns:p="http://schemas.openxmlformats.org/presentationml/2006/main">
  <p:tag name="KSO_WM_BEAUTIFY_FLAG" val=""/>
</p:tagLst>
</file>

<file path=ppt/tags/tag1444.xml><?xml version="1.0" encoding="utf-8"?>
<p:tagLst xmlns:p="http://schemas.openxmlformats.org/presentationml/2006/main">
  <p:tag name="KSO_WM_BEAUTIFY_FLAG" val=""/>
</p:tagLst>
</file>

<file path=ppt/tags/tag1445.xml><?xml version="1.0" encoding="utf-8"?>
<p:tagLst xmlns:p="http://schemas.openxmlformats.org/presentationml/2006/main">
  <p:tag name="KSO_WM_BEAUTIFY_FLAG" val=""/>
</p:tagLst>
</file>

<file path=ppt/tags/tag1446.xml><?xml version="1.0" encoding="utf-8"?>
<p:tagLst xmlns:p="http://schemas.openxmlformats.org/presentationml/2006/main">
  <p:tag name="KSO_WM_BEAUTIFY_FLAG" val=""/>
</p:tagLst>
</file>

<file path=ppt/tags/tag1447.xml><?xml version="1.0" encoding="utf-8"?>
<p:tagLst xmlns:p="http://schemas.openxmlformats.org/presentationml/2006/main">
  <p:tag name="KSO_WM_BEAUTIFY_FLAG" val=""/>
</p:tagLst>
</file>

<file path=ppt/tags/tag1448.xml><?xml version="1.0" encoding="utf-8"?>
<p:tagLst xmlns:p="http://schemas.openxmlformats.org/presentationml/2006/main">
  <p:tag name="KSO_WM_BEAUTIFY_FLAG" val=""/>
</p:tagLst>
</file>

<file path=ppt/tags/tag1449.xml><?xml version="1.0" encoding="utf-8"?>
<p:tagLst xmlns:p="http://schemas.openxmlformats.org/presentationml/2006/main">
  <p:tag name="KSO_WM_BEAUTIFY_FLAG" val=""/>
</p:tagLst>
</file>

<file path=ppt/tags/tag1450.xml><?xml version="1.0" encoding="utf-8"?>
<p:tagLst xmlns:p="http://schemas.openxmlformats.org/presentationml/2006/main">
  <p:tag name="KSO_WM_BEAUTIFY_FLAG" val=""/>
</p:tagLst>
</file>

<file path=ppt/tags/tag1451.xml><?xml version="1.0" encoding="utf-8"?>
<p:tagLst xmlns:p="http://schemas.openxmlformats.org/presentationml/2006/main">
  <p:tag name="KSO_WM_BEAUTIFY_FLAG" val=""/>
</p:tagLst>
</file>

<file path=ppt/tags/tag1452.xml><?xml version="1.0" encoding="utf-8"?>
<p:tagLst xmlns:p="http://schemas.openxmlformats.org/presentationml/2006/main">
  <p:tag name="KSO_WM_BEAUTIFY_FLAG" val=""/>
</p:tagLst>
</file>

<file path=ppt/tags/tag1453.xml><?xml version="1.0" encoding="utf-8"?>
<p:tagLst xmlns:p="http://schemas.openxmlformats.org/presentationml/2006/main">
  <p:tag name="KSO_WM_BEAUTIFY_FLAG" val=""/>
</p:tagLst>
</file>

<file path=ppt/tags/tag1454.xml><?xml version="1.0" encoding="utf-8"?>
<p:tagLst xmlns:p="http://schemas.openxmlformats.org/presentationml/2006/main">
  <p:tag name="KSO_WM_BEAUTIFY_FLAG" val=""/>
</p:tagLst>
</file>

<file path=ppt/tags/tag1455.xml><?xml version="1.0" encoding="utf-8"?>
<p:tagLst xmlns:p="http://schemas.openxmlformats.org/presentationml/2006/main">
  <p:tag name="KSO_WM_BEAUTIFY_FLAG" val=""/>
</p:tagLst>
</file>

<file path=ppt/tags/tag1456.xml><?xml version="1.0" encoding="utf-8"?>
<p:tagLst xmlns:p="http://schemas.openxmlformats.org/presentationml/2006/main">
  <p:tag name="KSO_WM_BEAUTIFY_FLAG" val=""/>
</p:tagLst>
</file>

<file path=ppt/tags/tag1457.xml><?xml version="1.0" encoding="utf-8"?>
<p:tagLst xmlns:p="http://schemas.openxmlformats.org/presentationml/2006/main">
  <p:tag name="KSO_WM_BEAUTIFY_FLAG" val=""/>
</p:tagLst>
</file>

<file path=ppt/tags/tag1458.xml><?xml version="1.0" encoding="utf-8"?>
<p:tagLst xmlns:p="http://schemas.openxmlformats.org/presentationml/2006/main">
  <p:tag name="KSO_WM_BEAUTIFY_FLAG" val=""/>
</p:tagLst>
</file>

<file path=ppt/tags/tag1459.xml><?xml version="1.0" encoding="utf-8"?>
<p:tagLst xmlns:p="http://schemas.openxmlformats.org/presentationml/2006/main">
  <p:tag name="KSO_WM_BEAUTIFY_FLAG" val=""/>
</p:tagLst>
</file>

<file path=ppt/tags/tag1460.xml><?xml version="1.0" encoding="utf-8"?>
<p:tagLst xmlns:p="http://schemas.openxmlformats.org/presentationml/2006/main">
  <p:tag name="KSO_WM_BEAUTIFY_FLAG" val=""/>
</p:tagLst>
</file>

<file path=ppt/tags/tag1461.xml><?xml version="1.0" encoding="utf-8"?>
<p:tagLst xmlns:p="http://schemas.openxmlformats.org/presentationml/2006/main">
  <p:tag name="KSO_WM_BEAUTIFY_FLAG" val=""/>
</p:tagLst>
</file>

<file path=ppt/tags/tag1462.xml><?xml version="1.0" encoding="utf-8"?>
<p:tagLst xmlns:p="http://schemas.openxmlformats.org/presentationml/2006/main">
  <p:tag name="KSO_WM_BEAUTIFY_FLAG" val=""/>
</p:tagLst>
</file>

<file path=ppt/tags/tag1463.xml><?xml version="1.0" encoding="utf-8"?>
<p:tagLst xmlns:p="http://schemas.openxmlformats.org/presentationml/2006/main">
  <p:tag name="KSO_WM_BEAUTIFY_FLAG" val=""/>
</p:tagLst>
</file>

<file path=ppt/tags/tag1464.xml><?xml version="1.0" encoding="utf-8"?>
<p:tagLst xmlns:p="http://schemas.openxmlformats.org/presentationml/2006/main">
  <p:tag name="KSO_WM_BEAUTIFY_FLAG" val=""/>
</p:tagLst>
</file>

<file path=ppt/tags/tag1465.xml><?xml version="1.0" encoding="utf-8"?>
<p:tagLst xmlns:p="http://schemas.openxmlformats.org/presentationml/2006/main">
  <p:tag name="KSO_WM_BEAUTIFY_FLAG" val=""/>
</p:tagLst>
</file>

<file path=ppt/tags/tag1466.xml><?xml version="1.0" encoding="utf-8"?>
<p:tagLst xmlns:p="http://schemas.openxmlformats.org/presentationml/2006/main">
  <p:tag name="KSO_WM_BEAUTIFY_FLAG" val=""/>
</p:tagLst>
</file>

<file path=ppt/tags/tag1467.xml><?xml version="1.0" encoding="utf-8"?>
<p:tagLst xmlns:p="http://schemas.openxmlformats.org/presentationml/2006/main">
  <p:tag name="KSO_WM_BEAUTIFY_FLAG" val=""/>
</p:tagLst>
</file>

<file path=ppt/tags/tag1468.xml><?xml version="1.0" encoding="utf-8"?>
<p:tagLst xmlns:p="http://schemas.openxmlformats.org/presentationml/2006/main">
  <p:tag name="KSO_WM_BEAUTIFY_FLAG" val=""/>
</p:tagLst>
</file>

<file path=ppt/tags/tag1469.xml><?xml version="1.0" encoding="utf-8"?>
<p:tagLst xmlns:p="http://schemas.openxmlformats.org/presentationml/2006/main">
  <p:tag name="KSO_WM_BEAUTIFY_FLAG" val=""/>
</p:tagLst>
</file>

<file path=ppt/tags/tag1470.xml><?xml version="1.0" encoding="utf-8"?>
<p:tagLst xmlns:p="http://schemas.openxmlformats.org/presentationml/2006/main">
  <p:tag name="KSO_WM_BEAUTIFY_FLAG" val=""/>
</p:tagLst>
</file>

<file path=ppt/tags/tag1471.xml><?xml version="1.0" encoding="utf-8"?>
<p:tagLst xmlns:p="http://schemas.openxmlformats.org/presentationml/2006/main">
  <p:tag name="KSO_WM_BEAUTIFY_FLAG" val=""/>
</p:tagLst>
</file>

<file path=ppt/tags/tag1472.xml><?xml version="1.0" encoding="utf-8"?>
<p:tagLst xmlns:p="http://schemas.openxmlformats.org/presentationml/2006/main">
  <p:tag name="KSO_WM_BEAUTIFY_FLAG" val=""/>
</p:tagLst>
</file>

<file path=ppt/tags/tag1473.xml><?xml version="1.0" encoding="utf-8"?>
<p:tagLst xmlns:p="http://schemas.openxmlformats.org/presentationml/2006/main">
  <p:tag name="KSO_WM_BEAUTIFY_FLAG" val=""/>
</p:tagLst>
</file>

<file path=ppt/tags/tag1474.xml><?xml version="1.0" encoding="utf-8"?>
<p:tagLst xmlns:p="http://schemas.openxmlformats.org/presentationml/2006/main">
  <p:tag name="KSO_WM_BEAUTIFY_FLAG" val=""/>
</p:tagLst>
</file>

<file path=ppt/tags/tag1475.xml><?xml version="1.0" encoding="utf-8"?>
<p:tagLst xmlns:p="http://schemas.openxmlformats.org/presentationml/2006/main">
  <p:tag name="KSO_WM_BEAUTIFY_FLAG" val=""/>
</p:tagLst>
</file>

<file path=ppt/tags/tag1476.xml><?xml version="1.0" encoding="utf-8"?>
<p:tagLst xmlns:p="http://schemas.openxmlformats.org/presentationml/2006/main">
  <p:tag name="KSO_WM_BEAUTIFY_FLAG" val=""/>
</p:tagLst>
</file>

<file path=ppt/tags/tag1477.xml><?xml version="1.0" encoding="utf-8"?>
<p:tagLst xmlns:p="http://schemas.openxmlformats.org/presentationml/2006/main">
  <p:tag name="KSO_WM_BEAUTIFY_FLAG" val=""/>
</p:tagLst>
</file>

<file path=ppt/tags/tag1478.xml><?xml version="1.0" encoding="utf-8"?>
<p:tagLst xmlns:p="http://schemas.openxmlformats.org/presentationml/2006/main">
  <p:tag name="KSO_WM_BEAUTIFY_FLAG" val=""/>
</p:tagLst>
</file>

<file path=ppt/tags/tag1479.xml><?xml version="1.0" encoding="utf-8"?>
<p:tagLst xmlns:p="http://schemas.openxmlformats.org/presentationml/2006/main">
  <p:tag name="KSO_WM_BEAUTIFY_FLAG" val=""/>
</p:tagLst>
</file>

<file path=ppt/tags/tag1480.xml><?xml version="1.0" encoding="utf-8"?>
<p:tagLst xmlns:p="http://schemas.openxmlformats.org/presentationml/2006/main">
  <p:tag name="KSO_WM_BEAUTIFY_FLAG" val=""/>
</p:tagLst>
</file>

<file path=ppt/tags/tag1481.xml><?xml version="1.0" encoding="utf-8"?>
<p:tagLst xmlns:p="http://schemas.openxmlformats.org/presentationml/2006/main">
  <p:tag name="KSO_WM_BEAUTIFY_FLAG" val=""/>
</p:tagLst>
</file>

<file path=ppt/tags/tag1482.xml><?xml version="1.0" encoding="utf-8"?>
<p:tagLst xmlns:p="http://schemas.openxmlformats.org/presentationml/2006/main">
  <p:tag name="KSO_WM_BEAUTIFY_FLAG" val=""/>
</p:tagLst>
</file>

<file path=ppt/tags/tag1483.xml><?xml version="1.0" encoding="utf-8"?>
<p:tagLst xmlns:p="http://schemas.openxmlformats.org/presentationml/2006/main">
  <p:tag name="KSO_WM_BEAUTIFY_FLAG" val=""/>
</p:tagLst>
</file>

<file path=ppt/tags/tag1484.xml><?xml version="1.0" encoding="utf-8"?>
<p:tagLst xmlns:p="http://schemas.openxmlformats.org/presentationml/2006/main">
  <p:tag name="KSO_WM_BEAUTIFY_FLAG" val=""/>
</p:tagLst>
</file>

<file path=ppt/tags/tag1485.xml><?xml version="1.0" encoding="utf-8"?>
<p:tagLst xmlns:p="http://schemas.openxmlformats.org/presentationml/2006/main">
  <p:tag name="KSO_WM_BEAUTIFY_FLAG" val=""/>
</p:tagLst>
</file>

<file path=ppt/tags/tag1486.xml><?xml version="1.0" encoding="utf-8"?>
<p:tagLst xmlns:p="http://schemas.openxmlformats.org/presentationml/2006/main">
  <p:tag name="KSO_WM_BEAUTIFY_FLAG" val=""/>
</p:tagLst>
</file>

<file path=ppt/tags/tag1487.xml><?xml version="1.0" encoding="utf-8"?>
<p:tagLst xmlns:p="http://schemas.openxmlformats.org/presentationml/2006/main">
  <p:tag name="KSO_WM_BEAUTIFY_FLAG" val=""/>
</p:tagLst>
</file>

<file path=ppt/tags/tag1488.xml><?xml version="1.0" encoding="utf-8"?>
<p:tagLst xmlns:p="http://schemas.openxmlformats.org/presentationml/2006/main">
  <p:tag name="KSO_WM_BEAUTIFY_FLAG" val=""/>
</p:tagLst>
</file>

<file path=ppt/tags/tag1489.xml><?xml version="1.0" encoding="utf-8"?>
<p:tagLst xmlns:p="http://schemas.openxmlformats.org/presentationml/2006/main">
  <p:tag name="KSO_WM_BEAUTIFY_FLAG" val=""/>
</p:tagLst>
</file>

<file path=ppt/tags/tag1490.xml><?xml version="1.0" encoding="utf-8"?>
<p:tagLst xmlns:p="http://schemas.openxmlformats.org/presentationml/2006/main">
  <p:tag name="KSO_WM_BEAUTIFY_FLAG" val=""/>
</p:tagLst>
</file>

<file path=ppt/tags/tag1491.xml><?xml version="1.0" encoding="utf-8"?>
<p:tagLst xmlns:p="http://schemas.openxmlformats.org/presentationml/2006/main">
  <p:tag name="KSO_WM_BEAUTIFY_FLAG" val=""/>
</p:tagLst>
</file>

<file path=ppt/tags/tag1492.xml><?xml version="1.0" encoding="utf-8"?>
<p:tagLst xmlns:p="http://schemas.openxmlformats.org/presentationml/2006/main">
  <p:tag name="KSO_WM_BEAUTIFY_FLAG" val=""/>
</p:tagLst>
</file>

<file path=ppt/tags/tag1493.xml><?xml version="1.0" encoding="utf-8"?>
<p:tagLst xmlns:p="http://schemas.openxmlformats.org/presentationml/2006/main">
  <p:tag name="KSO_WM_BEAUTIFY_FLAG" val=""/>
</p:tagLst>
</file>

<file path=ppt/tags/tag1494.xml><?xml version="1.0" encoding="utf-8"?>
<p:tagLst xmlns:p="http://schemas.openxmlformats.org/presentationml/2006/main">
  <p:tag name="KSO_WM_BEAUTIFY_FLAG" val=""/>
</p:tagLst>
</file>

<file path=ppt/tags/tag1495.xml><?xml version="1.0" encoding="utf-8"?>
<p:tagLst xmlns:p="http://schemas.openxmlformats.org/presentationml/2006/main">
  <p:tag name="KSO_WM_BEAUTIFY_FLAG" val=""/>
</p:tagLst>
</file>

<file path=ppt/tags/tag1496.xml><?xml version="1.0" encoding="utf-8"?>
<p:tagLst xmlns:p="http://schemas.openxmlformats.org/presentationml/2006/main">
  <p:tag name="KSO_WM_BEAUTIFY_FLAG" val=""/>
</p:tagLst>
</file>

<file path=ppt/tags/tag1497.xml><?xml version="1.0" encoding="utf-8"?>
<p:tagLst xmlns:p="http://schemas.openxmlformats.org/presentationml/2006/main">
  <p:tag name="KSO_WM_BEAUTIFY_FLAG" val=""/>
</p:tagLst>
</file>

<file path=ppt/tags/tag1498.xml><?xml version="1.0" encoding="utf-8"?>
<p:tagLst xmlns:p="http://schemas.openxmlformats.org/presentationml/2006/main">
  <p:tag name="KSO_WM_BEAUTIFY_FLAG" val=""/>
</p:tagLst>
</file>

<file path=ppt/tags/tag1499.xml><?xml version="1.0" encoding="utf-8"?>
<p:tagLst xmlns:p="http://schemas.openxmlformats.org/presentationml/2006/main">
  <p:tag name="KSO_WM_BEAUTIFY_FLAG" val=""/>
</p:tagLst>
</file>

<file path=ppt/tags/tag1500.xml><?xml version="1.0" encoding="utf-8"?>
<p:tagLst xmlns:p="http://schemas.openxmlformats.org/presentationml/2006/main">
  <p:tag name="KSO_WM_BEAUTIFY_FLAG" val=""/>
</p:tagLst>
</file>

<file path=ppt/tags/tag1501.xml><?xml version="1.0" encoding="utf-8"?>
<p:tagLst xmlns:p="http://schemas.openxmlformats.org/presentationml/2006/main">
  <p:tag name="KSO_WM_BEAUTIFY_FLAG" val=""/>
</p:tagLst>
</file>

<file path=ppt/tags/tag1502.xml><?xml version="1.0" encoding="utf-8"?>
<p:tagLst xmlns:p="http://schemas.openxmlformats.org/presentationml/2006/main">
  <p:tag name="KSO_WM_BEAUTIFY_FLAG" val=""/>
</p:tagLst>
</file>

<file path=ppt/tags/tag1503.xml><?xml version="1.0" encoding="utf-8"?>
<p:tagLst xmlns:p="http://schemas.openxmlformats.org/presentationml/2006/main">
  <p:tag name="KSO_WM_BEAUTIFY_FLAG" val=""/>
</p:tagLst>
</file>

<file path=ppt/tags/tag1504.xml><?xml version="1.0" encoding="utf-8"?>
<p:tagLst xmlns:p="http://schemas.openxmlformats.org/presentationml/2006/main">
  <p:tag name="KSO_WM_BEAUTIFY_FLAG" val=""/>
</p:tagLst>
</file>

<file path=ppt/tags/tag1505.xml><?xml version="1.0" encoding="utf-8"?>
<p:tagLst xmlns:p="http://schemas.openxmlformats.org/presentationml/2006/main">
  <p:tag name="KSO_WM_BEAUTIFY_FLAG" val=""/>
</p:tagLst>
</file>

<file path=ppt/tags/tag1506.xml><?xml version="1.0" encoding="utf-8"?>
<p:tagLst xmlns:p="http://schemas.openxmlformats.org/presentationml/2006/main">
  <p:tag name="KSO_WM_BEAUTIFY_FLAG" val=""/>
</p:tagLst>
</file>

<file path=ppt/tags/tag1507.xml><?xml version="1.0" encoding="utf-8"?>
<p:tagLst xmlns:p="http://schemas.openxmlformats.org/presentationml/2006/main">
  <p:tag name="KSO_WM_BEAUTIFY_FLAG" val=""/>
</p:tagLst>
</file>

<file path=ppt/tags/tag1508.xml><?xml version="1.0" encoding="utf-8"?>
<p:tagLst xmlns:p="http://schemas.openxmlformats.org/presentationml/2006/main">
  <p:tag name="KSO_WM_BEAUTIFY_FLAG" val=""/>
</p:tagLst>
</file>

<file path=ppt/tags/tag1509.xml><?xml version="1.0" encoding="utf-8"?>
<p:tagLst xmlns:p="http://schemas.openxmlformats.org/presentationml/2006/main">
  <p:tag name="KSO_WM_BEAUTIFY_FLAG" val=""/>
</p:tagLst>
</file>

<file path=ppt/tags/tag1510.xml><?xml version="1.0" encoding="utf-8"?>
<p:tagLst xmlns:p="http://schemas.openxmlformats.org/presentationml/2006/main">
  <p:tag name="KSO_WM_BEAUTIFY_FLAG" val=""/>
</p:tagLst>
</file>

<file path=ppt/tags/tag1511.xml><?xml version="1.0" encoding="utf-8"?>
<p:tagLst xmlns:p="http://schemas.openxmlformats.org/presentationml/2006/main">
  <p:tag name="KSO_WM_BEAUTIFY_FLAG" val=""/>
</p:tagLst>
</file>

<file path=ppt/tags/tag1512.xml><?xml version="1.0" encoding="utf-8"?>
<p:tagLst xmlns:p="http://schemas.openxmlformats.org/presentationml/2006/main">
  <p:tag name="KSO_WM_BEAUTIFY_FLAG" val=""/>
</p:tagLst>
</file>

<file path=ppt/tags/tag1513.xml><?xml version="1.0" encoding="utf-8"?>
<p:tagLst xmlns:p="http://schemas.openxmlformats.org/presentationml/2006/main">
  <p:tag name="KSO_WM_BEAUTIFY_FLAG" val=""/>
</p:tagLst>
</file>

<file path=ppt/tags/tag1514.xml><?xml version="1.0" encoding="utf-8"?>
<p:tagLst xmlns:p="http://schemas.openxmlformats.org/presentationml/2006/main">
  <p:tag name="KSO_WM_BEAUTIFY_FLAG" val=""/>
</p:tagLst>
</file>

<file path=ppt/tags/tag1515.xml><?xml version="1.0" encoding="utf-8"?>
<p:tagLst xmlns:p="http://schemas.openxmlformats.org/presentationml/2006/main">
  <p:tag name="KSO_WM_BEAUTIFY_FLAG" val=""/>
</p:tagLst>
</file>

<file path=ppt/tags/tag1516.xml><?xml version="1.0" encoding="utf-8"?>
<p:tagLst xmlns:p="http://schemas.openxmlformats.org/presentationml/2006/main">
  <p:tag name="KSO_WM_BEAUTIFY_FLAG" val=""/>
</p:tagLst>
</file>

<file path=ppt/tags/tag1517.xml><?xml version="1.0" encoding="utf-8"?>
<p:tagLst xmlns:p="http://schemas.openxmlformats.org/presentationml/2006/main">
  <p:tag name="KSO_WM_BEAUTIFY_FLAG" val=""/>
</p:tagLst>
</file>

<file path=ppt/tags/tag1518.xml><?xml version="1.0" encoding="utf-8"?>
<p:tagLst xmlns:p="http://schemas.openxmlformats.org/presentationml/2006/main">
  <p:tag name="KSO_WM_BEAUTIFY_FLAG" val=""/>
</p:tagLst>
</file>

<file path=ppt/tags/tag1519.xml><?xml version="1.0" encoding="utf-8"?>
<p:tagLst xmlns:p="http://schemas.openxmlformats.org/presentationml/2006/main">
  <p:tag name="KSO_WM_BEAUTIFY_FLAG" val=""/>
</p:tagLst>
</file>

<file path=ppt/tags/tag1520.xml><?xml version="1.0" encoding="utf-8"?>
<p:tagLst xmlns:p="http://schemas.openxmlformats.org/presentationml/2006/main">
  <p:tag name="KSO_WM_BEAUTIFY_FLAG" val=""/>
</p:tagLst>
</file>

<file path=ppt/tags/tag1521.xml><?xml version="1.0" encoding="utf-8"?>
<p:tagLst xmlns:p="http://schemas.openxmlformats.org/presentationml/2006/main">
  <p:tag name="KSO_WM_BEAUTIFY_FLAG" val=""/>
</p:tagLst>
</file>

<file path=ppt/tags/tag1522.xml><?xml version="1.0" encoding="utf-8"?>
<p:tagLst xmlns:p="http://schemas.openxmlformats.org/presentationml/2006/main">
  <p:tag name="KSO_WM_BEAUTIFY_FLAG" val=""/>
</p:tagLst>
</file>

<file path=ppt/tags/tag1523.xml><?xml version="1.0" encoding="utf-8"?>
<p:tagLst xmlns:p="http://schemas.openxmlformats.org/presentationml/2006/main">
  <p:tag name="KSO_WM_BEAUTIFY_FLAG" val=""/>
</p:tagLst>
</file>

<file path=ppt/tags/tag1524.xml><?xml version="1.0" encoding="utf-8"?>
<p:tagLst xmlns:p="http://schemas.openxmlformats.org/presentationml/2006/main">
  <p:tag name="KSO_WM_BEAUTIFY_FLAG" val=""/>
</p:tagLst>
</file>

<file path=ppt/tags/tag1525.xml><?xml version="1.0" encoding="utf-8"?>
<p:tagLst xmlns:p="http://schemas.openxmlformats.org/presentationml/2006/main">
  <p:tag name="KSO_WM_BEAUTIFY_FLAG" val=""/>
</p:tagLst>
</file>

<file path=ppt/tags/tag1526.xml><?xml version="1.0" encoding="utf-8"?>
<p:tagLst xmlns:p="http://schemas.openxmlformats.org/presentationml/2006/main">
  <p:tag name="KSO_WM_BEAUTIFY_FLAG" val=""/>
</p:tagLst>
</file>

<file path=ppt/tags/tag1527.xml><?xml version="1.0" encoding="utf-8"?>
<p:tagLst xmlns:p="http://schemas.openxmlformats.org/presentationml/2006/main">
  <p:tag name="KSO_WM_BEAUTIFY_FLAG" val=""/>
</p:tagLst>
</file>

<file path=ppt/tags/tag1528.xml><?xml version="1.0" encoding="utf-8"?>
<p:tagLst xmlns:p="http://schemas.openxmlformats.org/presentationml/2006/main">
  <p:tag name="KSO_WM_BEAUTIFY_FLAG" val=""/>
</p:tagLst>
</file>

<file path=ppt/tags/tag1529.xml><?xml version="1.0" encoding="utf-8"?>
<p:tagLst xmlns:p="http://schemas.openxmlformats.org/presentationml/2006/main">
  <p:tag name="KSO_WM_BEAUTIFY_FLAG" val=""/>
</p:tagLst>
</file>

<file path=ppt/tags/tag1530.xml><?xml version="1.0" encoding="utf-8"?>
<p:tagLst xmlns:p="http://schemas.openxmlformats.org/presentationml/2006/main">
  <p:tag name="KSO_WM_BEAUTIFY_FLAG" val=""/>
</p:tagLst>
</file>

<file path=ppt/tags/tag1531.xml><?xml version="1.0" encoding="utf-8"?>
<p:tagLst xmlns:p="http://schemas.openxmlformats.org/presentationml/2006/main">
  <p:tag name="KSO_WM_BEAUTIFY_FLAG" val=""/>
</p:tagLst>
</file>

<file path=ppt/tags/tag1532.xml><?xml version="1.0" encoding="utf-8"?>
<p:tagLst xmlns:p="http://schemas.openxmlformats.org/presentationml/2006/main">
  <p:tag name="KSO_WM_BEAUTIFY_FLAG" val=""/>
</p:tagLst>
</file>

<file path=ppt/tags/tag1533.xml><?xml version="1.0" encoding="utf-8"?>
<p:tagLst xmlns:p="http://schemas.openxmlformats.org/presentationml/2006/main">
  <p:tag name="KSO_WM_BEAUTIFY_FLAG" val=""/>
</p:tagLst>
</file>

<file path=ppt/tags/tag1534.xml><?xml version="1.0" encoding="utf-8"?>
<p:tagLst xmlns:p="http://schemas.openxmlformats.org/presentationml/2006/main">
  <p:tag name="KSO_WM_BEAUTIFY_FLAG" val=""/>
</p:tagLst>
</file>

<file path=ppt/tags/tag1535.xml><?xml version="1.0" encoding="utf-8"?>
<p:tagLst xmlns:p="http://schemas.openxmlformats.org/presentationml/2006/main">
  <p:tag name="KSO_WM_BEAUTIFY_FLAG" val=""/>
</p:tagLst>
</file>

<file path=ppt/tags/tag1536.xml><?xml version="1.0" encoding="utf-8"?>
<p:tagLst xmlns:p="http://schemas.openxmlformats.org/presentationml/2006/main">
  <p:tag name="KSO_WM_BEAUTIFY_FLAG" val=""/>
</p:tagLst>
</file>

<file path=ppt/tags/tag1537.xml><?xml version="1.0" encoding="utf-8"?>
<p:tagLst xmlns:p="http://schemas.openxmlformats.org/presentationml/2006/main">
  <p:tag name="KSO_WM_BEAUTIFY_FLAG" val=""/>
</p:tagLst>
</file>

<file path=ppt/tags/tag1538.xml><?xml version="1.0" encoding="utf-8"?>
<p:tagLst xmlns:p="http://schemas.openxmlformats.org/presentationml/2006/main">
  <p:tag name="KSO_WM_BEAUTIFY_FLAG" val=""/>
</p:tagLst>
</file>

<file path=ppt/tags/tag1539.xml><?xml version="1.0" encoding="utf-8"?>
<p:tagLst xmlns:p="http://schemas.openxmlformats.org/presentationml/2006/main">
  <p:tag name="KSO_WM_BEAUTIFY_FLAG" val=""/>
</p:tagLst>
</file>

<file path=ppt/tags/tag1540.xml><?xml version="1.0" encoding="utf-8"?>
<p:tagLst xmlns:p="http://schemas.openxmlformats.org/presentationml/2006/main">
  <p:tag name="KSO_WM_BEAUTIFY_FLAG" val=""/>
</p:tagLst>
</file>

<file path=ppt/tags/tag1541.xml><?xml version="1.0" encoding="utf-8"?>
<p:tagLst xmlns:p="http://schemas.openxmlformats.org/presentationml/2006/main">
  <p:tag name="KSO_WM_BEAUTIFY_FLAG" val=""/>
</p:tagLst>
</file>

<file path=ppt/tags/tag1542.xml><?xml version="1.0" encoding="utf-8"?>
<p:tagLst xmlns:p="http://schemas.openxmlformats.org/presentationml/2006/main">
  <p:tag name="KSO_WM_BEAUTIFY_FLAG" val=""/>
</p:tagLst>
</file>

<file path=ppt/tags/tag1543.xml><?xml version="1.0" encoding="utf-8"?>
<p:tagLst xmlns:p="http://schemas.openxmlformats.org/presentationml/2006/main">
  <p:tag name="KSO_WM_BEAUTIFY_FLAG" val=""/>
</p:tagLst>
</file>

<file path=ppt/tags/tag1544.xml><?xml version="1.0" encoding="utf-8"?>
<p:tagLst xmlns:p="http://schemas.openxmlformats.org/presentationml/2006/main">
  <p:tag name="KSO_WM_BEAUTIFY_FLAG" val=""/>
</p:tagLst>
</file>

<file path=ppt/tags/tag1545.xml><?xml version="1.0" encoding="utf-8"?>
<p:tagLst xmlns:p="http://schemas.openxmlformats.org/presentationml/2006/main">
  <p:tag name="KSO_WM_BEAUTIFY_FLAG" val=""/>
</p:tagLst>
</file>

<file path=ppt/tags/tag1546.xml><?xml version="1.0" encoding="utf-8"?>
<p:tagLst xmlns:p="http://schemas.openxmlformats.org/presentationml/2006/main">
  <p:tag name="KSO_WM_BEAUTIFY_FLAG" val=""/>
</p:tagLst>
</file>

<file path=ppt/tags/tag1547.xml><?xml version="1.0" encoding="utf-8"?>
<p:tagLst xmlns:p="http://schemas.openxmlformats.org/presentationml/2006/main">
  <p:tag name="KSO_WM_BEAUTIFY_FLAG" val=""/>
</p:tagLst>
</file>

<file path=ppt/tags/tag1548.xml><?xml version="1.0" encoding="utf-8"?>
<p:tagLst xmlns:p="http://schemas.openxmlformats.org/presentationml/2006/main">
  <p:tag name="KSO_WM_BEAUTIFY_FLAG" val=""/>
</p:tagLst>
</file>

<file path=ppt/tags/tag1549.xml><?xml version="1.0" encoding="utf-8"?>
<p:tagLst xmlns:p="http://schemas.openxmlformats.org/presentationml/2006/main">
  <p:tag name="KSO_WM_BEAUTIFY_FLAG" val=""/>
</p:tagLst>
</file>

<file path=ppt/tags/tag1550.xml><?xml version="1.0" encoding="utf-8"?>
<p:tagLst xmlns:p="http://schemas.openxmlformats.org/presentationml/2006/main">
  <p:tag name="KSO_WM_BEAUTIFY_FLAG" val=""/>
</p:tagLst>
</file>

<file path=ppt/tags/tag1551.xml><?xml version="1.0" encoding="utf-8"?>
<p:tagLst xmlns:p="http://schemas.openxmlformats.org/presentationml/2006/main">
  <p:tag name="KSO_WM_BEAUTIFY_FLAG" val=""/>
</p:tagLst>
</file>

<file path=ppt/tags/tag1552.xml><?xml version="1.0" encoding="utf-8"?>
<p:tagLst xmlns:p="http://schemas.openxmlformats.org/presentationml/2006/main">
  <p:tag name="KSO_WM_BEAUTIFY_FLAG" val=""/>
</p:tagLst>
</file>

<file path=ppt/tags/tag1553.xml><?xml version="1.0" encoding="utf-8"?>
<p:tagLst xmlns:p="http://schemas.openxmlformats.org/presentationml/2006/main">
  <p:tag name="KSO_WM_BEAUTIFY_FLAG" val=""/>
</p:tagLst>
</file>

<file path=ppt/tags/tag1554.xml><?xml version="1.0" encoding="utf-8"?>
<p:tagLst xmlns:p="http://schemas.openxmlformats.org/presentationml/2006/main">
  <p:tag name="KSO_WM_BEAUTIFY_FLAG" val=""/>
</p:tagLst>
</file>

<file path=ppt/tags/tag1555.xml><?xml version="1.0" encoding="utf-8"?>
<p:tagLst xmlns:p="http://schemas.openxmlformats.org/presentationml/2006/main">
  <p:tag name="KSO_WM_BEAUTIFY_FLAG" val=""/>
</p:tagLst>
</file>

<file path=ppt/tags/tag1556.xml><?xml version="1.0" encoding="utf-8"?>
<p:tagLst xmlns:p="http://schemas.openxmlformats.org/presentationml/2006/main">
  <p:tag name="KSO_WM_BEAUTIFY_FLAG" val=""/>
</p:tagLst>
</file>

<file path=ppt/tags/tag1557.xml><?xml version="1.0" encoding="utf-8"?>
<p:tagLst xmlns:p="http://schemas.openxmlformats.org/presentationml/2006/main">
  <p:tag name="KSO_WM_BEAUTIFY_FLAG" val=""/>
</p:tagLst>
</file>

<file path=ppt/tags/tag1558.xml><?xml version="1.0" encoding="utf-8"?>
<p:tagLst xmlns:p="http://schemas.openxmlformats.org/presentationml/2006/main">
  <p:tag name="KSO_WM_BEAUTIFY_FLAG" val=""/>
</p:tagLst>
</file>

<file path=ppt/tags/tag1559.xml><?xml version="1.0" encoding="utf-8"?>
<p:tagLst xmlns:p="http://schemas.openxmlformats.org/presentationml/2006/main">
  <p:tag name="KSO_WM_BEAUTIFY_FLAG" val=""/>
  <p:tag name="TABLE_ENDDRAG_ORIGIN_RECT" val="73*122"/>
  <p:tag name="TABLE_ENDDRAG_RECT" val="620*152*73*122"/>
</p:tagLst>
</file>

<file path=ppt/tags/tag1560.xml><?xml version="1.0" encoding="utf-8"?>
<p:tagLst xmlns:p="http://schemas.openxmlformats.org/presentationml/2006/main">
  <p:tag name="KSO_WM_BEAUTIFY_FLAG" val=""/>
</p:tagLst>
</file>

<file path=ppt/tags/tag1561.xml><?xml version="1.0" encoding="utf-8"?>
<p:tagLst xmlns:p="http://schemas.openxmlformats.org/presentationml/2006/main">
  <p:tag name="KSO_WM_BEAUTIFY_FLAG" val=""/>
</p:tagLst>
</file>

<file path=ppt/tags/tag1562.xml><?xml version="1.0" encoding="utf-8"?>
<p:tagLst xmlns:p="http://schemas.openxmlformats.org/presentationml/2006/main">
  <p:tag name="KSO_WM_BEAUTIFY_FLAG" val=""/>
</p:tagLst>
</file>

<file path=ppt/tags/tag1563.xml><?xml version="1.0" encoding="utf-8"?>
<p:tagLst xmlns:p="http://schemas.openxmlformats.org/presentationml/2006/main">
  <p:tag name="KSO_WM_BEAUTIFY_FLAG" val=""/>
</p:tagLst>
</file>

<file path=ppt/tags/tag1564.xml><?xml version="1.0" encoding="utf-8"?>
<p:tagLst xmlns:p="http://schemas.openxmlformats.org/presentationml/2006/main">
  <p:tag name="KSO_WM_BEAUTIFY_FLAG" val=""/>
</p:tagLst>
</file>

<file path=ppt/tags/tag1565.xml><?xml version="1.0" encoding="utf-8"?>
<p:tagLst xmlns:p="http://schemas.openxmlformats.org/presentationml/2006/main">
  <p:tag name="KSO_WM_BEAUTIFY_FLAG" val=""/>
</p:tagLst>
</file>

<file path=ppt/tags/tag1566.xml><?xml version="1.0" encoding="utf-8"?>
<p:tagLst xmlns:p="http://schemas.openxmlformats.org/presentationml/2006/main">
  <p:tag name="KSO_WM_BEAUTIFY_FLAG" val=""/>
</p:tagLst>
</file>

<file path=ppt/tags/tag1567.xml><?xml version="1.0" encoding="utf-8"?>
<p:tagLst xmlns:p="http://schemas.openxmlformats.org/presentationml/2006/main">
  <p:tag name="KSO_WM_BEAUTIFY_FLAG" val=""/>
</p:tagLst>
</file>

<file path=ppt/tags/tag1568.xml><?xml version="1.0" encoding="utf-8"?>
<p:tagLst xmlns:p="http://schemas.openxmlformats.org/presentationml/2006/main">
  <p:tag name="KSO_WM_BEAUTIFY_FLAG" val=""/>
</p:tagLst>
</file>

<file path=ppt/tags/tag1569.xml><?xml version="1.0" encoding="utf-8"?>
<p:tagLst xmlns:p="http://schemas.openxmlformats.org/presentationml/2006/main">
  <p:tag name="KSO_WM_BEAUTIFY_FLAG" val=""/>
</p:tagLst>
</file>

<file path=ppt/tags/tag1570.xml><?xml version="1.0" encoding="utf-8"?>
<p:tagLst xmlns:p="http://schemas.openxmlformats.org/presentationml/2006/main">
  <p:tag name="KSO_WM_BEAUTIFY_FLAG" val=""/>
</p:tagLst>
</file>

<file path=ppt/tags/tag1571.xml><?xml version="1.0" encoding="utf-8"?>
<p:tagLst xmlns:p="http://schemas.openxmlformats.org/presentationml/2006/main">
  <p:tag name="KSO_WM_BEAUTIFY_FLAG" val=""/>
</p:tagLst>
</file>

<file path=ppt/tags/tag1572.xml><?xml version="1.0" encoding="utf-8"?>
<p:tagLst xmlns:p="http://schemas.openxmlformats.org/presentationml/2006/main">
  <p:tag name="KSO_WM_BEAUTIFY_FLAG" val=""/>
</p:tagLst>
</file>

<file path=ppt/tags/tag1573.xml><?xml version="1.0" encoding="utf-8"?>
<p:tagLst xmlns:p="http://schemas.openxmlformats.org/presentationml/2006/main">
  <p:tag name="KSO_WM_BEAUTIFY_FLAG" val=""/>
</p:tagLst>
</file>

<file path=ppt/tags/tag1574.xml><?xml version="1.0" encoding="utf-8"?>
<p:tagLst xmlns:p="http://schemas.openxmlformats.org/presentationml/2006/main">
  <p:tag name="KSO_WM_BEAUTIFY_FLAG" val=""/>
</p:tagLst>
</file>

<file path=ppt/tags/tag1575.xml><?xml version="1.0" encoding="utf-8"?>
<p:tagLst xmlns:p="http://schemas.openxmlformats.org/presentationml/2006/main">
  <p:tag name="KSO_WM_BEAUTIFY_FLAG" val=""/>
</p:tagLst>
</file>

<file path=ppt/tags/tag1576.xml><?xml version="1.0" encoding="utf-8"?>
<p:tagLst xmlns:p="http://schemas.openxmlformats.org/presentationml/2006/main">
  <p:tag name="KSO_WM_BEAUTIFY_FLAG" val=""/>
</p:tagLst>
</file>

<file path=ppt/tags/tag1577.xml><?xml version="1.0" encoding="utf-8"?>
<p:tagLst xmlns:p="http://schemas.openxmlformats.org/presentationml/2006/main">
  <p:tag name="KSO_WM_BEAUTIFY_FLAG" val=""/>
</p:tagLst>
</file>

<file path=ppt/tags/tag1578.xml><?xml version="1.0" encoding="utf-8"?>
<p:tagLst xmlns:p="http://schemas.openxmlformats.org/presentationml/2006/main">
  <p:tag name="KSO_WM_BEAUTIFY_FLAG" val=""/>
</p:tagLst>
</file>

<file path=ppt/tags/tag1579.xml><?xml version="1.0" encoding="utf-8"?>
<p:tagLst xmlns:p="http://schemas.openxmlformats.org/presentationml/2006/main">
  <p:tag name="KSO_WM_BEAUTIFY_FLAG" val=""/>
</p:tagLst>
</file>

<file path=ppt/tags/tag1580.xml><?xml version="1.0" encoding="utf-8"?>
<p:tagLst xmlns:p="http://schemas.openxmlformats.org/presentationml/2006/main">
  <p:tag name="KSO_WM_BEAUTIFY_FLAG" val=""/>
</p:tagLst>
</file>

<file path=ppt/tags/tag1581.xml><?xml version="1.0" encoding="utf-8"?>
<p:tagLst xmlns:p="http://schemas.openxmlformats.org/presentationml/2006/main">
  <p:tag name="KSO_WM_BEAUTIFY_FLAG" val=""/>
</p:tagLst>
</file>

<file path=ppt/tags/tag1582.xml><?xml version="1.0" encoding="utf-8"?>
<p:tagLst xmlns:p="http://schemas.openxmlformats.org/presentationml/2006/main">
  <p:tag name="KSO_WM_BEAUTIFY_FLAG" val=""/>
</p:tagLst>
</file>

<file path=ppt/tags/tag1583.xml><?xml version="1.0" encoding="utf-8"?>
<p:tagLst xmlns:p="http://schemas.openxmlformats.org/presentationml/2006/main">
  <p:tag name="KSO_WM_BEAUTIFY_FLAG" val=""/>
</p:tagLst>
</file>

<file path=ppt/tags/tag1584.xml><?xml version="1.0" encoding="utf-8"?>
<p:tagLst xmlns:p="http://schemas.openxmlformats.org/presentationml/2006/main">
  <p:tag name="KSO_WM_BEAUTIFY_FLAG" val=""/>
</p:tagLst>
</file>

<file path=ppt/tags/tag1585.xml><?xml version="1.0" encoding="utf-8"?>
<p:tagLst xmlns:p="http://schemas.openxmlformats.org/presentationml/2006/main">
  <p:tag name="KSO_WM_BEAUTIFY_FLAG" val=""/>
</p:tagLst>
</file>

<file path=ppt/tags/tag1586.xml><?xml version="1.0" encoding="utf-8"?>
<p:tagLst xmlns:p="http://schemas.openxmlformats.org/presentationml/2006/main">
  <p:tag name="KSO_WM_BEAUTIFY_FLAG" val=""/>
</p:tagLst>
</file>

<file path=ppt/tags/tag1587.xml><?xml version="1.0" encoding="utf-8"?>
<p:tagLst xmlns:p="http://schemas.openxmlformats.org/presentationml/2006/main">
  <p:tag name="KSO_WM_BEAUTIFY_FLAG" val=""/>
</p:tagLst>
</file>

<file path=ppt/tags/tag1588.xml><?xml version="1.0" encoding="utf-8"?>
<p:tagLst xmlns:p="http://schemas.openxmlformats.org/presentationml/2006/main">
  <p:tag name="KSO_WM_BEAUTIFY_FLAG" val=""/>
</p:tagLst>
</file>

<file path=ppt/tags/tag1589.xml><?xml version="1.0" encoding="utf-8"?>
<p:tagLst xmlns:p="http://schemas.openxmlformats.org/presentationml/2006/main">
  <p:tag name="KSO_WM_BEAUTIFY_FLAG" val=""/>
</p:tagLst>
</file>

<file path=ppt/tags/tag1590.xml><?xml version="1.0" encoding="utf-8"?>
<p:tagLst xmlns:p="http://schemas.openxmlformats.org/presentationml/2006/main">
  <p:tag name="KSO_WM_BEAUTIFY_FLAG" val=""/>
</p:tagLst>
</file>

<file path=ppt/tags/tag1591.xml><?xml version="1.0" encoding="utf-8"?>
<p:tagLst xmlns:p="http://schemas.openxmlformats.org/presentationml/2006/main">
  <p:tag name="KSO_WM_BEAUTIFY_FLAG" val=""/>
</p:tagLst>
</file>

<file path=ppt/tags/tag1592.xml><?xml version="1.0" encoding="utf-8"?>
<p:tagLst xmlns:p="http://schemas.openxmlformats.org/presentationml/2006/main">
  <p:tag name="KSO_WM_BEAUTIFY_FLAG" val=""/>
</p:tagLst>
</file>

<file path=ppt/tags/tag1593.xml><?xml version="1.0" encoding="utf-8"?>
<p:tagLst xmlns:p="http://schemas.openxmlformats.org/presentationml/2006/main">
  <p:tag name="KSO_WM_BEAUTIFY_FLAG" val=""/>
</p:tagLst>
</file>

<file path=ppt/tags/tag1594.xml><?xml version="1.0" encoding="utf-8"?>
<p:tagLst xmlns:p="http://schemas.openxmlformats.org/presentationml/2006/main">
  <p:tag name="KSO_WM_BEAUTIFY_FLAG" val=""/>
</p:tagLst>
</file>

<file path=ppt/tags/tag1595.xml><?xml version="1.0" encoding="utf-8"?>
<p:tagLst xmlns:p="http://schemas.openxmlformats.org/presentationml/2006/main">
  <p:tag name="KSO_WM_BEAUTIFY_FLAG" val=""/>
</p:tagLst>
</file>

<file path=ppt/tags/tag1596.xml><?xml version="1.0" encoding="utf-8"?>
<p:tagLst xmlns:p="http://schemas.openxmlformats.org/presentationml/2006/main">
  <p:tag name="KSO_WM_BEAUTIFY_FLAG" val=""/>
</p:tagLst>
</file>

<file path=ppt/tags/tag1597.xml><?xml version="1.0" encoding="utf-8"?>
<p:tagLst xmlns:p="http://schemas.openxmlformats.org/presentationml/2006/main">
  <p:tag name="KSO_WM_BEAUTIFY_FLAG" val=""/>
</p:tagLst>
</file>

<file path=ppt/tags/tag1598.xml><?xml version="1.0" encoding="utf-8"?>
<p:tagLst xmlns:p="http://schemas.openxmlformats.org/presentationml/2006/main">
  <p:tag name="KSO_WM_BEAUTIFY_FLAG" val=""/>
</p:tagLst>
</file>

<file path=ppt/tags/tag1599.xml><?xml version="1.0" encoding="utf-8"?>
<p:tagLst xmlns:p="http://schemas.openxmlformats.org/presentationml/2006/main">
  <p:tag name="KSO_WM_BEAUTIFY_FLAG" val=""/>
</p:tagLst>
</file>

<file path=ppt/tags/tag1600.xml><?xml version="1.0" encoding="utf-8"?>
<p:tagLst xmlns:p="http://schemas.openxmlformats.org/presentationml/2006/main">
  <p:tag name="KSO_WM_BEAUTIFY_FLAG" val=""/>
</p:tagLst>
</file>

<file path=ppt/tags/tag1601.xml><?xml version="1.0" encoding="utf-8"?>
<p:tagLst xmlns:p="http://schemas.openxmlformats.org/presentationml/2006/main">
  <p:tag name="KSO_WM_BEAUTIFY_FLAG" val=""/>
</p:tagLst>
</file>

<file path=ppt/tags/tag1602.xml><?xml version="1.0" encoding="utf-8"?>
<p:tagLst xmlns:p="http://schemas.openxmlformats.org/presentationml/2006/main">
  <p:tag name="KSO_WM_BEAUTIFY_FLAG" val=""/>
</p:tagLst>
</file>

<file path=ppt/tags/tag1603.xml><?xml version="1.0" encoding="utf-8"?>
<p:tagLst xmlns:p="http://schemas.openxmlformats.org/presentationml/2006/main">
  <p:tag name="KSO_WM_BEAUTIFY_FLAG" val=""/>
</p:tagLst>
</file>

<file path=ppt/tags/tag1604.xml><?xml version="1.0" encoding="utf-8"?>
<p:tagLst xmlns:p="http://schemas.openxmlformats.org/presentationml/2006/main">
  <p:tag name="KSO_WM_BEAUTIFY_FLAG" val=""/>
</p:tagLst>
</file>

<file path=ppt/tags/tag1605.xml><?xml version="1.0" encoding="utf-8"?>
<p:tagLst xmlns:p="http://schemas.openxmlformats.org/presentationml/2006/main">
  <p:tag name="KSO_WM_BEAUTIFY_FLAG" val=""/>
</p:tagLst>
</file>

<file path=ppt/tags/tag1606.xml><?xml version="1.0" encoding="utf-8"?>
<p:tagLst xmlns:p="http://schemas.openxmlformats.org/presentationml/2006/main">
  <p:tag name="KSO_WM_BEAUTIFY_FLAG" val=""/>
</p:tagLst>
</file>

<file path=ppt/tags/tag1607.xml><?xml version="1.0" encoding="utf-8"?>
<p:tagLst xmlns:p="http://schemas.openxmlformats.org/presentationml/2006/main">
  <p:tag name="KSO_WM_BEAUTIFY_FLAG" val=""/>
</p:tagLst>
</file>

<file path=ppt/tags/tag1608.xml><?xml version="1.0" encoding="utf-8"?>
<p:tagLst xmlns:p="http://schemas.openxmlformats.org/presentationml/2006/main">
  <p:tag name="KSO_WM_BEAUTIFY_FLAG" val=""/>
</p:tagLst>
</file>

<file path=ppt/tags/tag1609.xml><?xml version="1.0" encoding="utf-8"?>
<p:tagLst xmlns:p="http://schemas.openxmlformats.org/presentationml/2006/main">
  <p:tag name="KSO_WM_BEAUTIFY_FLAG" val=""/>
</p:tagLst>
</file>

<file path=ppt/tags/tag1610.xml><?xml version="1.0" encoding="utf-8"?>
<p:tagLst xmlns:p="http://schemas.openxmlformats.org/presentationml/2006/main">
  <p:tag name="KSO_WM_BEAUTIFY_FLAG" val=""/>
</p:tagLst>
</file>

<file path=ppt/tags/tag1611.xml><?xml version="1.0" encoding="utf-8"?>
<p:tagLst xmlns:p="http://schemas.openxmlformats.org/presentationml/2006/main">
  <p:tag name="KSO_WM_BEAUTIFY_FLAG" val=""/>
</p:tagLst>
</file>

<file path=ppt/tags/tag1612.xml><?xml version="1.0" encoding="utf-8"?>
<p:tagLst xmlns:p="http://schemas.openxmlformats.org/presentationml/2006/main">
  <p:tag name="KSO_WM_BEAUTIFY_FLAG" val=""/>
</p:tagLst>
</file>

<file path=ppt/tags/tag1613.xml><?xml version="1.0" encoding="utf-8"?>
<p:tagLst xmlns:p="http://schemas.openxmlformats.org/presentationml/2006/main">
  <p:tag name="KSO_WM_BEAUTIFY_FLAG" val=""/>
</p:tagLst>
</file>

<file path=ppt/tags/tag1614.xml><?xml version="1.0" encoding="utf-8"?>
<p:tagLst xmlns:p="http://schemas.openxmlformats.org/presentationml/2006/main">
  <p:tag name="KSO_WM_BEAUTIFY_FLAG" val=""/>
</p:tagLst>
</file>

<file path=ppt/tags/tag1615.xml><?xml version="1.0" encoding="utf-8"?>
<p:tagLst xmlns:p="http://schemas.openxmlformats.org/presentationml/2006/main">
  <p:tag name="KSO_WM_BEAUTIFY_FLAG" val=""/>
</p:tagLst>
</file>

<file path=ppt/tags/tag1616.xml><?xml version="1.0" encoding="utf-8"?>
<p:tagLst xmlns:p="http://schemas.openxmlformats.org/presentationml/2006/main">
  <p:tag name="KSO_WM_BEAUTIFY_FLAG" val=""/>
</p:tagLst>
</file>

<file path=ppt/tags/tag1617.xml><?xml version="1.0" encoding="utf-8"?>
<p:tagLst xmlns:p="http://schemas.openxmlformats.org/presentationml/2006/main">
  <p:tag name="KSO_WM_BEAUTIFY_FLAG" val=""/>
</p:tagLst>
</file>

<file path=ppt/tags/tag1618.xml><?xml version="1.0" encoding="utf-8"?>
<p:tagLst xmlns:p="http://schemas.openxmlformats.org/presentationml/2006/main">
  <p:tag name="KSO_WM_BEAUTIFY_FLAG" val=""/>
</p:tagLst>
</file>

<file path=ppt/tags/tag1619.xml><?xml version="1.0" encoding="utf-8"?>
<p:tagLst xmlns:p="http://schemas.openxmlformats.org/presentationml/2006/main">
  <p:tag name="KSO_WM_BEAUTIFY_FLAG" val=""/>
</p:tagLst>
</file>

<file path=ppt/tags/tag1620.xml><?xml version="1.0" encoding="utf-8"?>
<p:tagLst xmlns:p="http://schemas.openxmlformats.org/presentationml/2006/main">
  <p:tag name="KSO_WM_BEAUTIFY_FLAG" val=""/>
</p:tagLst>
</file>

<file path=ppt/tags/tag1621.xml><?xml version="1.0" encoding="utf-8"?>
<p:tagLst xmlns:p="http://schemas.openxmlformats.org/presentationml/2006/main">
  <p:tag name="KSO_WM_BEAUTIFY_FLAG" val=""/>
</p:tagLst>
</file>

<file path=ppt/tags/tag1622.xml><?xml version="1.0" encoding="utf-8"?>
<p:tagLst xmlns:p="http://schemas.openxmlformats.org/presentationml/2006/main">
  <p:tag name="KSO_WM_BEAUTIFY_FLAG" val=""/>
</p:tagLst>
</file>

<file path=ppt/tags/tag1623.xml><?xml version="1.0" encoding="utf-8"?>
<p:tagLst xmlns:p="http://schemas.openxmlformats.org/presentationml/2006/main">
  <p:tag name="KSO_WM_BEAUTIFY_FLAG" val=""/>
</p:tagLst>
</file>

<file path=ppt/tags/tag1624.xml><?xml version="1.0" encoding="utf-8"?>
<p:tagLst xmlns:p="http://schemas.openxmlformats.org/presentationml/2006/main">
  <p:tag name="KSO_WM_BEAUTIFY_FLAG" val=""/>
</p:tagLst>
</file>

<file path=ppt/tags/tag1625.xml><?xml version="1.0" encoding="utf-8"?>
<p:tagLst xmlns:p="http://schemas.openxmlformats.org/presentationml/2006/main">
  <p:tag name="KSO_WM_BEAUTIFY_FLAG" val=""/>
</p:tagLst>
</file>

<file path=ppt/tags/tag1626.xml><?xml version="1.0" encoding="utf-8"?>
<p:tagLst xmlns:p="http://schemas.openxmlformats.org/presentationml/2006/main">
  <p:tag name="KSO_WM_BEAUTIFY_FLAG" val=""/>
</p:tagLst>
</file>

<file path=ppt/tags/tag1627.xml><?xml version="1.0" encoding="utf-8"?>
<p:tagLst xmlns:p="http://schemas.openxmlformats.org/presentationml/2006/main">
  <p:tag name="KSO_WM_BEAUTIFY_FLAG" val=""/>
</p:tagLst>
</file>

<file path=ppt/tags/tag1628.xml><?xml version="1.0" encoding="utf-8"?>
<p:tagLst xmlns:p="http://schemas.openxmlformats.org/presentationml/2006/main">
  <p:tag name="KSO_WM_BEAUTIFY_FLAG" val=""/>
</p:tagLst>
</file>

<file path=ppt/tags/tag1629.xml><?xml version="1.0" encoding="utf-8"?>
<p:tagLst xmlns:p="http://schemas.openxmlformats.org/presentationml/2006/main">
  <p:tag name="KSO_WM_BEAUTIFY_FLAG" val=""/>
</p:tagLst>
</file>

<file path=ppt/tags/tag1630.xml><?xml version="1.0" encoding="utf-8"?>
<p:tagLst xmlns:p="http://schemas.openxmlformats.org/presentationml/2006/main">
  <p:tag name="KSO_WM_BEAUTIFY_FLAG" val=""/>
</p:tagLst>
</file>

<file path=ppt/tags/tag1631.xml><?xml version="1.0" encoding="utf-8"?>
<p:tagLst xmlns:p="http://schemas.openxmlformats.org/presentationml/2006/main">
  <p:tag name="KSO_WM_BEAUTIFY_FLAG" val=""/>
</p:tagLst>
</file>

<file path=ppt/tags/tag1632.xml><?xml version="1.0" encoding="utf-8"?>
<p:tagLst xmlns:p="http://schemas.openxmlformats.org/presentationml/2006/main">
  <p:tag name="KSO_WM_BEAUTIFY_FLAG" val=""/>
</p:tagLst>
</file>

<file path=ppt/tags/tag1633.xml><?xml version="1.0" encoding="utf-8"?>
<p:tagLst xmlns:p="http://schemas.openxmlformats.org/presentationml/2006/main">
  <p:tag name="KSO_WM_BEAUTIFY_FLAG" val=""/>
</p:tagLst>
</file>

<file path=ppt/tags/tag1634.xml><?xml version="1.0" encoding="utf-8"?>
<p:tagLst xmlns:p="http://schemas.openxmlformats.org/presentationml/2006/main">
  <p:tag name="KSO_WM_BEAUTIFY_FLAG" val=""/>
</p:tagLst>
</file>

<file path=ppt/tags/tag1635.xml><?xml version="1.0" encoding="utf-8"?>
<p:tagLst xmlns:p="http://schemas.openxmlformats.org/presentationml/2006/main">
  <p:tag name="KSO_WM_BEAUTIFY_FLAG" val=""/>
</p:tagLst>
</file>

<file path=ppt/tags/tag1636.xml><?xml version="1.0" encoding="utf-8"?>
<p:tagLst xmlns:p="http://schemas.openxmlformats.org/presentationml/2006/main">
  <p:tag name="KSO_WM_BEAUTIFY_FLAG" val=""/>
</p:tagLst>
</file>

<file path=ppt/tags/tag1637.xml><?xml version="1.0" encoding="utf-8"?>
<p:tagLst xmlns:p="http://schemas.openxmlformats.org/presentationml/2006/main">
  <p:tag name="KSO_WM_BEAUTIFY_FLAG" val=""/>
</p:tagLst>
</file>

<file path=ppt/tags/tag1638.xml><?xml version="1.0" encoding="utf-8"?>
<p:tagLst xmlns:p="http://schemas.openxmlformats.org/presentationml/2006/main">
  <p:tag name="KSO_WM_BEAUTIFY_FLAG" val=""/>
</p:tagLst>
</file>

<file path=ppt/tags/tag1639.xml><?xml version="1.0" encoding="utf-8"?>
<p:tagLst xmlns:p="http://schemas.openxmlformats.org/presentationml/2006/main">
  <p:tag name="KSO_WM_BEAUTIFY_FLAG" val=""/>
</p:tagLst>
</file>

<file path=ppt/tags/tag1640.xml><?xml version="1.0" encoding="utf-8"?>
<p:tagLst xmlns:p="http://schemas.openxmlformats.org/presentationml/2006/main">
  <p:tag name="KSO_WM_BEAUTIFY_FLAG" val=""/>
</p:tagLst>
</file>

<file path=ppt/tags/tag1641.xml><?xml version="1.0" encoding="utf-8"?>
<p:tagLst xmlns:p="http://schemas.openxmlformats.org/presentationml/2006/main">
  <p:tag name="KSO_WM_BEAUTIFY_FLAG" val=""/>
</p:tagLst>
</file>

<file path=ppt/tags/tag1642.xml><?xml version="1.0" encoding="utf-8"?>
<p:tagLst xmlns:p="http://schemas.openxmlformats.org/presentationml/2006/main">
  <p:tag name="KSO_WM_BEAUTIFY_FLAG" val=""/>
</p:tagLst>
</file>

<file path=ppt/tags/tag1643.xml><?xml version="1.0" encoding="utf-8"?>
<p:tagLst xmlns:p="http://schemas.openxmlformats.org/presentationml/2006/main">
  <p:tag name="KSO_WM_BEAUTIFY_FLAG" val=""/>
</p:tagLst>
</file>

<file path=ppt/tags/tag1644.xml><?xml version="1.0" encoding="utf-8"?>
<p:tagLst xmlns:p="http://schemas.openxmlformats.org/presentationml/2006/main">
  <p:tag name="KSO_WM_BEAUTIFY_FLAG" val=""/>
</p:tagLst>
</file>

<file path=ppt/tags/tag1645.xml><?xml version="1.0" encoding="utf-8"?>
<p:tagLst xmlns:p="http://schemas.openxmlformats.org/presentationml/2006/main">
  <p:tag name="KSO_WM_BEAUTIFY_FLAG" val=""/>
</p:tagLst>
</file>

<file path=ppt/tags/tag1646.xml><?xml version="1.0" encoding="utf-8"?>
<p:tagLst xmlns:p="http://schemas.openxmlformats.org/presentationml/2006/main">
  <p:tag name="KSO_WM_BEAUTIFY_FLAG" val=""/>
</p:tagLst>
</file>

<file path=ppt/tags/tag1647.xml><?xml version="1.0" encoding="utf-8"?>
<p:tagLst xmlns:p="http://schemas.openxmlformats.org/presentationml/2006/main">
  <p:tag name="KSO_WM_BEAUTIFY_FLAG" val=""/>
</p:tagLst>
</file>

<file path=ppt/tags/tag1648.xml><?xml version="1.0" encoding="utf-8"?>
<p:tagLst xmlns:p="http://schemas.openxmlformats.org/presentationml/2006/main">
  <p:tag name="KSO_WM_BEAUTIFY_FLAG" val=""/>
</p:tagLst>
</file>

<file path=ppt/tags/tag1649.xml><?xml version="1.0" encoding="utf-8"?>
<p:tagLst xmlns:p="http://schemas.openxmlformats.org/presentationml/2006/main">
  <p:tag name="KSO_WM_BEAUTIFY_FLAG" val=""/>
</p:tagLst>
</file>

<file path=ppt/tags/tag1650.xml><?xml version="1.0" encoding="utf-8"?>
<p:tagLst xmlns:p="http://schemas.openxmlformats.org/presentationml/2006/main">
  <p:tag name="KSO_WM_BEAUTIFY_FLAG" val=""/>
</p:tagLst>
</file>

<file path=ppt/tags/tag1651.xml><?xml version="1.0" encoding="utf-8"?>
<p:tagLst xmlns:p="http://schemas.openxmlformats.org/presentationml/2006/main">
  <p:tag name="KSO_WM_BEAUTIFY_FLAG" val=""/>
</p:tagLst>
</file>

<file path=ppt/tags/tag1652.xml><?xml version="1.0" encoding="utf-8"?>
<p:tagLst xmlns:p="http://schemas.openxmlformats.org/presentationml/2006/main">
  <p:tag name="KSO_WM_BEAUTIFY_FLAG" val=""/>
</p:tagLst>
</file>

<file path=ppt/tags/tag1653.xml><?xml version="1.0" encoding="utf-8"?>
<p:tagLst xmlns:p="http://schemas.openxmlformats.org/presentationml/2006/main">
  <p:tag name="KSO_WM_BEAUTIFY_FLAG" val=""/>
</p:tagLst>
</file>

<file path=ppt/tags/tag1654.xml><?xml version="1.0" encoding="utf-8"?>
<p:tagLst xmlns:p="http://schemas.openxmlformats.org/presentationml/2006/main">
  <p:tag name="KSO_WM_BEAUTIFY_FLAG" val=""/>
</p:tagLst>
</file>

<file path=ppt/tags/tag1655.xml><?xml version="1.0" encoding="utf-8"?>
<p:tagLst xmlns:p="http://schemas.openxmlformats.org/presentationml/2006/main">
  <p:tag name="KSO_WM_BEAUTIFY_FLAG" val=""/>
</p:tagLst>
</file>

<file path=ppt/tags/tag1656.xml><?xml version="1.0" encoding="utf-8"?>
<p:tagLst xmlns:p="http://schemas.openxmlformats.org/presentationml/2006/main">
  <p:tag name="KSO_WM_BEAUTIFY_FLAG" val=""/>
</p:tagLst>
</file>

<file path=ppt/tags/tag1657.xml><?xml version="1.0" encoding="utf-8"?>
<p:tagLst xmlns:p="http://schemas.openxmlformats.org/presentationml/2006/main">
  <p:tag name="KSO_WM_BEAUTIFY_FLAG" val=""/>
</p:tagLst>
</file>

<file path=ppt/tags/tag1658.xml><?xml version="1.0" encoding="utf-8"?>
<p:tagLst xmlns:p="http://schemas.openxmlformats.org/presentationml/2006/main">
  <p:tag name="KSO_WM_BEAUTIFY_FLAG" val=""/>
</p:tagLst>
</file>

<file path=ppt/tags/tag1659.xml><?xml version="1.0" encoding="utf-8"?>
<p:tagLst xmlns:p="http://schemas.openxmlformats.org/presentationml/2006/main">
  <p:tag name="KSO_WM_BEAUTIFY_FLAG" val=""/>
</p:tagLst>
</file>

<file path=ppt/tags/tag1660.xml><?xml version="1.0" encoding="utf-8"?>
<p:tagLst xmlns:p="http://schemas.openxmlformats.org/presentationml/2006/main">
  <p:tag name="KSO_WM_BEAUTIFY_FLAG" val=""/>
</p:tagLst>
</file>

<file path=ppt/tags/tag1661.xml><?xml version="1.0" encoding="utf-8"?>
<p:tagLst xmlns:p="http://schemas.openxmlformats.org/presentationml/2006/main">
  <p:tag name="KSO_WM_BEAUTIFY_FLAG" val=""/>
</p:tagLst>
</file>

<file path=ppt/tags/tag1662.xml><?xml version="1.0" encoding="utf-8"?>
<p:tagLst xmlns:p="http://schemas.openxmlformats.org/presentationml/2006/main">
  <p:tag name="KSO_WM_BEAUTIFY_FLAG" val=""/>
</p:tagLst>
</file>

<file path=ppt/tags/tag1663.xml><?xml version="1.0" encoding="utf-8"?>
<p:tagLst xmlns:p="http://schemas.openxmlformats.org/presentationml/2006/main">
  <p:tag name="KSO_WM_BEAUTIFY_FLAG" val=""/>
</p:tagLst>
</file>

<file path=ppt/tags/tag1664.xml><?xml version="1.0" encoding="utf-8"?>
<p:tagLst xmlns:p="http://schemas.openxmlformats.org/presentationml/2006/main">
  <p:tag name="KSO_WM_BEAUTIFY_FLAG" val=""/>
</p:tagLst>
</file>

<file path=ppt/tags/tag1665.xml><?xml version="1.0" encoding="utf-8"?>
<p:tagLst xmlns:p="http://schemas.openxmlformats.org/presentationml/2006/main">
  <p:tag name="KSO_WM_BEAUTIFY_FLAG" val=""/>
</p:tagLst>
</file>

<file path=ppt/tags/tag1666.xml><?xml version="1.0" encoding="utf-8"?>
<p:tagLst xmlns:p="http://schemas.openxmlformats.org/presentationml/2006/main">
  <p:tag name="KSO_WM_BEAUTIFY_FLAG" val=""/>
</p:tagLst>
</file>

<file path=ppt/tags/tag1667.xml><?xml version="1.0" encoding="utf-8"?>
<p:tagLst xmlns:p="http://schemas.openxmlformats.org/presentationml/2006/main">
  <p:tag name="KSO_WM_BEAUTIFY_FLAG" val=""/>
</p:tagLst>
</file>

<file path=ppt/tags/tag1668.xml><?xml version="1.0" encoding="utf-8"?>
<p:tagLst xmlns:p="http://schemas.openxmlformats.org/presentationml/2006/main">
  <p:tag name="KSO_WM_BEAUTIFY_FLAG" val=""/>
</p:tagLst>
</file>

<file path=ppt/tags/tag1669.xml><?xml version="1.0" encoding="utf-8"?>
<p:tagLst xmlns:p="http://schemas.openxmlformats.org/presentationml/2006/main">
  <p:tag name="KSO_WM_BEAUTIFY_FLAG" val=""/>
</p:tagLst>
</file>

<file path=ppt/tags/tag1670.xml><?xml version="1.0" encoding="utf-8"?>
<p:tagLst xmlns:p="http://schemas.openxmlformats.org/presentationml/2006/main">
  <p:tag name="KSO_WM_BEAUTIFY_FLAG" val=""/>
</p:tagLst>
</file>

<file path=ppt/tags/tag1671.xml><?xml version="1.0" encoding="utf-8"?>
<p:tagLst xmlns:p="http://schemas.openxmlformats.org/presentationml/2006/main">
  <p:tag name="KSO_WM_BEAUTIFY_FLAG" val=""/>
</p:tagLst>
</file>

<file path=ppt/tags/tag1672.xml><?xml version="1.0" encoding="utf-8"?>
<p:tagLst xmlns:p="http://schemas.openxmlformats.org/presentationml/2006/main">
  <p:tag name="KSO_WM_BEAUTIFY_FLAG" val=""/>
</p:tagLst>
</file>

<file path=ppt/tags/tag1673.xml><?xml version="1.0" encoding="utf-8"?>
<p:tagLst xmlns:p="http://schemas.openxmlformats.org/presentationml/2006/main">
  <p:tag name="KSO_WM_BEAUTIFY_FLAG" val=""/>
</p:tagLst>
</file>

<file path=ppt/tags/tag1674.xml><?xml version="1.0" encoding="utf-8"?>
<p:tagLst xmlns:p="http://schemas.openxmlformats.org/presentationml/2006/main">
  <p:tag name="KSO_WM_BEAUTIFY_FLAG" val=""/>
</p:tagLst>
</file>

<file path=ppt/tags/tag1675.xml><?xml version="1.0" encoding="utf-8"?>
<p:tagLst xmlns:p="http://schemas.openxmlformats.org/presentationml/2006/main">
  <p:tag name="KSO_WM_BEAUTIFY_FLAG" val=""/>
</p:tagLst>
</file>

<file path=ppt/tags/tag1676.xml><?xml version="1.0" encoding="utf-8"?>
<p:tagLst xmlns:p="http://schemas.openxmlformats.org/presentationml/2006/main">
  <p:tag name="KSO_WM_BEAUTIFY_FLAG" val=""/>
</p:tagLst>
</file>

<file path=ppt/tags/tag1677.xml><?xml version="1.0" encoding="utf-8"?>
<p:tagLst xmlns:p="http://schemas.openxmlformats.org/presentationml/2006/main">
  <p:tag name="KSO_WM_BEAUTIFY_FLAG" val=""/>
</p:tagLst>
</file>

<file path=ppt/tags/tag1678.xml><?xml version="1.0" encoding="utf-8"?>
<p:tagLst xmlns:p="http://schemas.openxmlformats.org/presentationml/2006/main">
  <p:tag name="KSO_WM_BEAUTIFY_FLAG" val=""/>
</p:tagLst>
</file>

<file path=ppt/tags/tag1679.xml><?xml version="1.0" encoding="utf-8"?>
<p:tagLst xmlns:p="http://schemas.openxmlformats.org/presentationml/2006/main">
  <p:tag name="KSO_WM_BEAUTIFY_FLAG" val=""/>
</p:tagLst>
</file>

<file path=ppt/tags/tag1680.xml><?xml version="1.0" encoding="utf-8"?>
<p:tagLst xmlns:p="http://schemas.openxmlformats.org/presentationml/2006/main">
  <p:tag name="KSO_WM_BEAUTIFY_FLAG" val=""/>
</p:tagLst>
</file>

<file path=ppt/tags/tag1681.xml><?xml version="1.0" encoding="utf-8"?>
<p:tagLst xmlns:p="http://schemas.openxmlformats.org/presentationml/2006/main">
  <p:tag name="KSO_WM_BEAUTIFY_FLAG" val=""/>
</p:tagLst>
</file>

<file path=ppt/tags/tag1682.xml><?xml version="1.0" encoding="utf-8"?>
<p:tagLst xmlns:p="http://schemas.openxmlformats.org/presentationml/2006/main">
  <p:tag name="KSO_WM_BEAUTIFY_FLAG" val=""/>
</p:tagLst>
</file>

<file path=ppt/tags/tag1683.xml><?xml version="1.0" encoding="utf-8"?>
<p:tagLst xmlns:p="http://schemas.openxmlformats.org/presentationml/2006/main">
  <p:tag name="KSO_WM_BEAUTIFY_FLAG" val=""/>
</p:tagLst>
</file>

<file path=ppt/tags/tag1684.xml><?xml version="1.0" encoding="utf-8"?>
<p:tagLst xmlns:p="http://schemas.openxmlformats.org/presentationml/2006/main">
  <p:tag name="KSO_WM_BEAUTIFY_FLAG" val=""/>
</p:tagLst>
</file>

<file path=ppt/tags/tag1685.xml><?xml version="1.0" encoding="utf-8"?>
<p:tagLst xmlns:p="http://schemas.openxmlformats.org/presentationml/2006/main">
  <p:tag name="KSO_WM_BEAUTIFY_FLAG" val=""/>
</p:tagLst>
</file>

<file path=ppt/tags/tag1686.xml><?xml version="1.0" encoding="utf-8"?>
<p:tagLst xmlns:p="http://schemas.openxmlformats.org/presentationml/2006/main">
  <p:tag name="KSO_WM_BEAUTIFY_FLAG" val=""/>
</p:tagLst>
</file>

<file path=ppt/tags/tag1687.xml><?xml version="1.0" encoding="utf-8"?>
<p:tagLst xmlns:p="http://schemas.openxmlformats.org/presentationml/2006/main">
  <p:tag name="TABLE_ENDDRAG_ORIGIN_RECT" val="503*6"/>
  <p:tag name="TABLE_ENDDRAG_RECT" val="188*413*503*6"/>
</p:tagLst>
</file>

<file path=ppt/tags/tag1688.xml><?xml version="1.0" encoding="utf-8"?>
<p:tagLst xmlns:p="http://schemas.openxmlformats.org/presentationml/2006/main">
  <p:tag name="KSO_WM_BEAUTIFY_FLAG" val=""/>
</p:tagLst>
</file>

<file path=ppt/tags/tag1689.xml><?xml version="1.0" encoding="utf-8"?>
<p:tagLst xmlns:p="http://schemas.openxmlformats.org/presentationml/2006/main">
  <p:tag name="KSO_WM_BEAUTIFY_FLAG" val=""/>
</p:tagLst>
</file>

<file path=ppt/tags/tag1690.xml><?xml version="1.0" encoding="utf-8"?>
<p:tagLst xmlns:p="http://schemas.openxmlformats.org/presentationml/2006/main">
  <p:tag name="KSO_WM_BEAUTIFY_FLAG" val=""/>
</p:tagLst>
</file>

<file path=ppt/tags/tag1691.xml><?xml version="1.0" encoding="utf-8"?>
<p:tagLst xmlns:p="http://schemas.openxmlformats.org/presentationml/2006/main">
  <p:tag name="KSO_WM_BEAUTIFY_FLAG" val=""/>
</p:tagLst>
</file>

<file path=ppt/tags/tag1692.xml><?xml version="1.0" encoding="utf-8"?>
<p:tagLst xmlns:p="http://schemas.openxmlformats.org/presentationml/2006/main">
  <p:tag name="KSO_WM_BEAUTIFY_FLAG" val=""/>
</p:tagLst>
</file>

<file path=ppt/tags/tag1693.xml><?xml version="1.0" encoding="utf-8"?>
<p:tagLst xmlns:p="http://schemas.openxmlformats.org/presentationml/2006/main">
  <p:tag name="KSO_WM_BEAUTIFY_FLAG" val=""/>
</p:tagLst>
</file>

<file path=ppt/tags/tag1694.xml><?xml version="1.0" encoding="utf-8"?>
<p:tagLst xmlns:p="http://schemas.openxmlformats.org/presentationml/2006/main">
  <p:tag name="KSO_WM_BEAUTIFY_FLAG" val=""/>
</p:tagLst>
</file>

<file path=ppt/tags/tag1695.xml><?xml version="1.0" encoding="utf-8"?>
<p:tagLst xmlns:p="http://schemas.openxmlformats.org/presentationml/2006/main">
  <p:tag name="KSO_WM_BEAUTIFY_FLAG" val=""/>
</p:tagLst>
</file>

<file path=ppt/tags/tag1696.xml><?xml version="1.0" encoding="utf-8"?>
<p:tagLst xmlns:p="http://schemas.openxmlformats.org/presentationml/2006/main">
  <p:tag name="KSO_WM_BEAUTIFY_FLAG" val=""/>
</p:tagLst>
</file>

<file path=ppt/tags/tag1697.xml><?xml version="1.0" encoding="utf-8"?>
<p:tagLst xmlns:p="http://schemas.openxmlformats.org/presentationml/2006/main">
  <p:tag name="KSO_WM_BEAUTIFY_FLAG" val=""/>
</p:tagLst>
</file>

<file path=ppt/tags/tag1698.xml><?xml version="1.0" encoding="utf-8"?>
<p:tagLst xmlns:p="http://schemas.openxmlformats.org/presentationml/2006/main">
  <p:tag name="KSO_WM_BEAUTIFY_FLAG" val=""/>
</p:tagLst>
</file>

<file path=ppt/tags/tag1699.xml><?xml version="1.0" encoding="utf-8"?>
<p:tagLst xmlns:p="http://schemas.openxmlformats.org/presentationml/2006/main">
  <p:tag name="KSO_WM_BEAUTIFY_FLAG" val=""/>
</p:tagLst>
</file>

<file path=ppt/tags/tag1700.xml><?xml version="1.0" encoding="utf-8"?>
<p:tagLst xmlns:p="http://schemas.openxmlformats.org/presentationml/2006/main">
  <p:tag name="KSO_WM_BEAUTIFY_FLAG" val=""/>
</p:tagLst>
</file>

<file path=ppt/tags/tag1701.xml><?xml version="1.0" encoding="utf-8"?>
<p:tagLst xmlns:p="http://schemas.openxmlformats.org/presentationml/2006/main">
  <p:tag name="KSO_WM_BEAUTIFY_FLAG" val=""/>
</p:tagLst>
</file>

<file path=ppt/tags/tag1702.xml><?xml version="1.0" encoding="utf-8"?>
<p:tagLst xmlns:p="http://schemas.openxmlformats.org/presentationml/2006/main">
  <p:tag name="KSO_WM_BEAUTIFY_FLAG" val=""/>
</p:tagLst>
</file>

<file path=ppt/tags/tag1703.xml><?xml version="1.0" encoding="utf-8"?>
<p:tagLst xmlns:p="http://schemas.openxmlformats.org/presentationml/2006/main">
  <p:tag name="KSO_WM_BEAUTIFY_FLAG" val=""/>
</p:tagLst>
</file>

<file path=ppt/tags/tag1704.xml><?xml version="1.0" encoding="utf-8"?>
<p:tagLst xmlns:p="http://schemas.openxmlformats.org/presentationml/2006/main">
  <p:tag name="KSO_WM_BEAUTIFY_FLAG" val=""/>
</p:tagLst>
</file>

<file path=ppt/tags/tag1705.xml><?xml version="1.0" encoding="utf-8"?>
<p:tagLst xmlns:p="http://schemas.openxmlformats.org/presentationml/2006/main">
  <p:tag name="KSO_WM_BEAUTIFY_FLAG" val=""/>
</p:tagLst>
</file>

<file path=ppt/tags/tag1706.xml><?xml version="1.0" encoding="utf-8"?>
<p:tagLst xmlns:p="http://schemas.openxmlformats.org/presentationml/2006/main">
  <p:tag name="KSO_WM_BEAUTIFY_FLAG" val=""/>
</p:tagLst>
</file>

<file path=ppt/tags/tag1707.xml><?xml version="1.0" encoding="utf-8"?>
<p:tagLst xmlns:p="http://schemas.openxmlformats.org/presentationml/2006/main">
  <p:tag name="KSO_WM_BEAUTIFY_FLAG" val=""/>
</p:tagLst>
</file>

<file path=ppt/tags/tag1708.xml><?xml version="1.0" encoding="utf-8"?>
<p:tagLst xmlns:p="http://schemas.openxmlformats.org/presentationml/2006/main">
  <p:tag name="KSO_WM_BEAUTIFY_FLAG" val=""/>
</p:tagLst>
</file>

<file path=ppt/tags/tag1709.xml><?xml version="1.0" encoding="utf-8"?>
<p:tagLst xmlns:p="http://schemas.openxmlformats.org/presentationml/2006/main">
  <p:tag name="KSO_WM_BEAUTIFY_FLAG" val=""/>
</p:tagLst>
</file>

<file path=ppt/tags/tag1710.xml><?xml version="1.0" encoding="utf-8"?>
<p:tagLst xmlns:p="http://schemas.openxmlformats.org/presentationml/2006/main">
  <p:tag name="KSO_WM_BEAUTIFY_FLAG" val=""/>
</p:tagLst>
</file>

<file path=ppt/tags/tag1711.xml><?xml version="1.0" encoding="utf-8"?>
<p:tagLst xmlns:p="http://schemas.openxmlformats.org/presentationml/2006/main">
  <p:tag name="KSO_WM_BEAUTIFY_FLAG" val=""/>
</p:tagLst>
</file>

<file path=ppt/tags/tag1712.xml><?xml version="1.0" encoding="utf-8"?>
<p:tagLst xmlns:p="http://schemas.openxmlformats.org/presentationml/2006/main">
  <p:tag name="KSO_WM_BEAUTIFY_FLAG" val=""/>
</p:tagLst>
</file>

<file path=ppt/tags/tag1713.xml><?xml version="1.0" encoding="utf-8"?>
<p:tagLst xmlns:p="http://schemas.openxmlformats.org/presentationml/2006/main">
  <p:tag name="KSO_WM_BEAUTIFY_FLAG" val=""/>
</p:tagLst>
</file>

<file path=ppt/tags/tag1714.xml><?xml version="1.0" encoding="utf-8"?>
<p:tagLst xmlns:p="http://schemas.openxmlformats.org/presentationml/2006/main">
  <p:tag name="KSO_WM_BEAUTIFY_FLAG" val=""/>
</p:tagLst>
</file>

<file path=ppt/tags/tag1715.xml><?xml version="1.0" encoding="utf-8"?>
<p:tagLst xmlns:p="http://schemas.openxmlformats.org/presentationml/2006/main">
  <p:tag name="KSO_WM_BEAUTIFY_FLAG" val=""/>
</p:tagLst>
</file>

<file path=ppt/tags/tag1716.xml><?xml version="1.0" encoding="utf-8"?>
<p:tagLst xmlns:p="http://schemas.openxmlformats.org/presentationml/2006/main">
  <p:tag name="TABLE_ENDDRAG_ORIGIN_RECT" val="609*44"/>
  <p:tag name="TABLE_ENDDRAG_RECT" val="88*180*609*44"/>
  <p:tag name="KSO_WM_BEAUTIFY_FLAG" val=""/>
</p:tagLst>
</file>

<file path=ppt/tags/tag1717.xml><?xml version="1.0" encoding="utf-8"?>
<p:tagLst xmlns:p="http://schemas.openxmlformats.org/presentationml/2006/main">
  <p:tag name="KSO_WM_BEAUTIFY_FLAG" val=""/>
</p:tagLst>
</file>

<file path=ppt/tags/tag1718.xml><?xml version="1.0" encoding="utf-8"?>
<p:tagLst xmlns:p="http://schemas.openxmlformats.org/presentationml/2006/main">
  <p:tag name="KSO_WM_BEAUTIFY_FLAG" val=""/>
</p:tagLst>
</file>

<file path=ppt/tags/tag1719.xml><?xml version="1.0" encoding="utf-8"?>
<p:tagLst xmlns:p="http://schemas.openxmlformats.org/presentationml/2006/main">
  <p:tag name="KSO_WM_BEAUTIFY_FLAG" val=""/>
</p:tagLst>
</file>

<file path=ppt/tags/tag1720.xml><?xml version="1.0" encoding="utf-8"?>
<p:tagLst xmlns:p="http://schemas.openxmlformats.org/presentationml/2006/main">
  <p:tag name="KSO_WM_BEAUTIFY_FLAG" val=""/>
</p:tagLst>
</file>

<file path=ppt/tags/tag1721.xml><?xml version="1.0" encoding="utf-8"?>
<p:tagLst xmlns:p="http://schemas.openxmlformats.org/presentationml/2006/main">
  <p:tag name="KSO_WM_BEAUTIFY_FLAG" val=""/>
</p:tagLst>
</file>

<file path=ppt/tags/tag1722.xml><?xml version="1.0" encoding="utf-8"?>
<p:tagLst xmlns:p="http://schemas.openxmlformats.org/presentationml/2006/main">
  <p:tag name="KSO_WM_BEAUTIFY_FLAG" val=""/>
</p:tagLst>
</file>

<file path=ppt/tags/tag1723.xml><?xml version="1.0" encoding="utf-8"?>
<p:tagLst xmlns:p="http://schemas.openxmlformats.org/presentationml/2006/main">
  <p:tag name="KSO_WM_BEAUTIFY_FLAG" val=""/>
</p:tagLst>
</file>

<file path=ppt/tags/tag1724.xml><?xml version="1.0" encoding="utf-8"?>
<p:tagLst xmlns:p="http://schemas.openxmlformats.org/presentationml/2006/main">
  <p:tag name="KSO_WM_BEAUTIFY_FLAG" val=""/>
</p:tagLst>
</file>

<file path=ppt/tags/tag1725.xml><?xml version="1.0" encoding="utf-8"?>
<p:tagLst xmlns:p="http://schemas.openxmlformats.org/presentationml/2006/main">
  <p:tag name="KSO_WM_BEAUTIFY_FLAG" val=""/>
</p:tagLst>
</file>

<file path=ppt/tags/tag1726.xml><?xml version="1.0" encoding="utf-8"?>
<p:tagLst xmlns:p="http://schemas.openxmlformats.org/presentationml/2006/main">
  <p:tag name="KSO_WM_BEAUTIFY_FLAG" val=""/>
</p:tagLst>
</file>

<file path=ppt/tags/tag1727.xml><?xml version="1.0" encoding="utf-8"?>
<p:tagLst xmlns:p="http://schemas.openxmlformats.org/presentationml/2006/main">
  <p:tag name="KSO_WM_BEAUTIFY_FLAG" val=""/>
</p:tagLst>
</file>

<file path=ppt/tags/tag1728.xml><?xml version="1.0" encoding="utf-8"?>
<p:tagLst xmlns:p="http://schemas.openxmlformats.org/presentationml/2006/main">
  <p:tag name="KSO_WM_BEAUTIFY_FLAG" val=""/>
</p:tagLst>
</file>

<file path=ppt/tags/tag1729.xml><?xml version="1.0" encoding="utf-8"?>
<p:tagLst xmlns:p="http://schemas.openxmlformats.org/presentationml/2006/main">
  <p:tag name="KSO_WM_BEAUTIFY_FLAG" val=""/>
</p:tagLst>
</file>

<file path=ppt/tags/tag1730.xml><?xml version="1.0" encoding="utf-8"?>
<p:tagLst xmlns:p="http://schemas.openxmlformats.org/presentationml/2006/main">
  <p:tag name="KSO_WM_BEAUTIFY_FLAG" val=""/>
</p:tagLst>
</file>

<file path=ppt/tags/tag1731.xml><?xml version="1.0" encoding="utf-8"?>
<p:tagLst xmlns:p="http://schemas.openxmlformats.org/presentationml/2006/main">
  <p:tag name="KSO_WM_BEAUTIFY_FLAG" val=""/>
</p:tagLst>
</file>

<file path=ppt/tags/tag1732.xml><?xml version="1.0" encoding="utf-8"?>
<p:tagLst xmlns:p="http://schemas.openxmlformats.org/presentationml/2006/main">
  <p:tag name="KSO_WM_BEAUTIFY_FLAG" val=""/>
</p:tagLst>
</file>

<file path=ppt/tags/tag1733.xml><?xml version="1.0" encoding="utf-8"?>
<p:tagLst xmlns:p="http://schemas.openxmlformats.org/presentationml/2006/main">
  <p:tag name="KSO_WM_BEAUTIFY_FLAG" val=""/>
</p:tagLst>
</file>

<file path=ppt/tags/tag1734.xml><?xml version="1.0" encoding="utf-8"?>
<p:tagLst xmlns:p="http://schemas.openxmlformats.org/presentationml/2006/main">
  <p:tag name="KSO_WM_BEAUTIFY_FLAG" val=""/>
</p:tagLst>
</file>

<file path=ppt/tags/tag1735.xml><?xml version="1.0" encoding="utf-8"?>
<p:tagLst xmlns:p="http://schemas.openxmlformats.org/presentationml/2006/main">
  <p:tag name="KSO_WM_BEAUTIFY_FLAG" val=""/>
</p:tagLst>
</file>

<file path=ppt/tags/tag1736.xml><?xml version="1.0" encoding="utf-8"?>
<p:tagLst xmlns:p="http://schemas.openxmlformats.org/presentationml/2006/main">
  <p:tag name="KSO_WM_BEAUTIFY_FLAG" val=""/>
</p:tagLst>
</file>

<file path=ppt/tags/tag1737.xml><?xml version="1.0" encoding="utf-8"?>
<p:tagLst xmlns:p="http://schemas.openxmlformats.org/presentationml/2006/main">
  <p:tag name="KSO_WM_BEAUTIFY_FLAG" val=""/>
</p:tagLst>
</file>

<file path=ppt/tags/tag1738.xml><?xml version="1.0" encoding="utf-8"?>
<p:tagLst xmlns:p="http://schemas.openxmlformats.org/presentationml/2006/main">
  <p:tag name="KSO_WM_BEAUTIFY_FLAG" val=""/>
</p:tagLst>
</file>

<file path=ppt/tags/tag1739.xml><?xml version="1.0" encoding="utf-8"?>
<p:tagLst xmlns:p="http://schemas.openxmlformats.org/presentationml/2006/main">
  <p:tag name="KSO_WM_BEAUTIFY_FLAG" val=""/>
</p:tagLst>
</file>

<file path=ppt/tags/tag1740.xml><?xml version="1.0" encoding="utf-8"?>
<p:tagLst xmlns:p="http://schemas.openxmlformats.org/presentationml/2006/main">
  <p:tag name="KSO_WM_BEAUTIFY_FLAG" val=""/>
</p:tagLst>
</file>

<file path=ppt/tags/tag1741.xml><?xml version="1.0" encoding="utf-8"?>
<p:tagLst xmlns:p="http://schemas.openxmlformats.org/presentationml/2006/main">
  <p:tag name="KSO_WM_BEAUTIFY_FLAG" val=""/>
</p:tagLst>
</file>

<file path=ppt/tags/tag1742.xml><?xml version="1.0" encoding="utf-8"?>
<p:tagLst xmlns:p="http://schemas.openxmlformats.org/presentationml/2006/main">
  <p:tag name="KSO_WM_BEAUTIFY_FLAG" val=""/>
</p:tagLst>
</file>

<file path=ppt/tags/tag1743.xml><?xml version="1.0" encoding="utf-8"?>
<p:tagLst xmlns:p="http://schemas.openxmlformats.org/presentationml/2006/main">
  <p:tag name="KSO_WM_BEAUTIFY_FLAG" val=""/>
</p:tagLst>
</file>

<file path=ppt/tags/tag1744.xml><?xml version="1.0" encoding="utf-8"?>
<p:tagLst xmlns:p="http://schemas.openxmlformats.org/presentationml/2006/main">
  <p:tag name="KSO_WM_BEAUTIFY_FLAG" val=""/>
</p:tagLst>
</file>

<file path=ppt/tags/tag1745.xml><?xml version="1.0" encoding="utf-8"?>
<p:tagLst xmlns:p="http://schemas.openxmlformats.org/presentationml/2006/main">
  <p:tag name="KSO_WM_BEAUTIFY_FLAG" val=""/>
</p:tagLst>
</file>

<file path=ppt/tags/tag1746.xml><?xml version="1.0" encoding="utf-8"?>
<p:tagLst xmlns:p="http://schemas.openxmlformats.org/presentationml/2006/main">
  <p:tag name="KSO_WM_BEAUTIFY_FLAG" val=""/>
</p:tagLst>
</file>

<file path=ppt/tags/tag1747.xml><?xml version="1.0" encoding="utf-8"?>
<p:tagLst xmlns:p="http://schemas.openxmlformats.org/presentationml/2006/main">
  <p:tag name="KSO_WM_BEAUTIFY_FLAG" val=""/>
</p:tagLst>
</file>

<file path=ppt/tags/tag1748.xml><?xml version="1.0" encoding="utf-8"?>
<p:tagLst xmlns:p="http://schemas.openxmlformats.org/presentationml/2006/main">
  <p:tag name="KSO_WM_BEAUTIFY_FLAG" val=""/>
</p:tagLst>
</file>

<file path=ppt/tags/tag1749.xml><?xml version="1.0" encoding="utf-8"?>
<p:tagLst xmlns:p="http://schemas.openxmlformats.org/presentationml/2006/main">
  <p:tag name="KSO_WM_BEAUTIFY_FLAG" val=""/>
</p:tagLst>
</file>

<file path=ppt/tags/tag1750.xml><?xml version="1.0" encoding="utf-8"?>
<p:tagLst xmlns:p="http://schemas.openxmlformats.org/presentationml/2006/main">
  <p:tag name="KSO_WM_BEAUTIFY_FLAG" val=""/>
</p:tagLst>
</file>

<file path=ppt/tags/tag1751.xml><?xml version="1.0" encoding="utf-8"?>
<p:tagLst xmlns:p="http://schemas.openxmlformats.org/presentationml/2006/main">
  <p:tag name="KSO_WM_BEAUTIFY_FLAG" val=""/>
</p:tagLst>
</file>

<file path=ppt/tags/tag1752.xml><?xml version="1.0" encoding="utf-8"?>
<p:tagLst xmlns:p="http://schemas.openxmlformats.org/presentationml/2006/main">
  <p:tag name="KSO_WM_BEAUTIFY_FLAG" val=""/>
</p:tagLst>
</file>

<file path=ppt/tags/tag1753.xml><?xml version="1.0" encoding="utf-8"?>
<p:tagLst xmlns:p="http://schemas.openxmlformats.org/presentationml/2006/main">
  <p:tag name="KSO_WM_BEAUTIFY_FLAG" val=""/>
</p:tagLst>
</file>

<file path=ppt/tags/tag1754.xml><?xml version="1.0" encoding="utf-8"?>
<p:tagLst xmlns:p="http://schemas.openxmlformats.org/presentationml/2006/main">
  <p:tag name="KSO_WM_BEAUTIFY_FLAG" val=""/>
</p:tagLst>
</file>

<file path=ppt/tags/tag1755.xml><?xml version="1.0" encoding="utf-8"?>
<p:tagLst xmlns:p="http://schemas.openxmlformats.org/presentationml/2006/main">
  <p:tag name="KSO_WM_BEAUTIFY_FLAG" val=""/>
</p:tagLst>
</file>

<file path=ppt/tags/tag1756.xml><?xml version="1.0" encoding="utf-8"?>
<p:tagLst xmlns:p="http://schemas.openxmlformats.org/presentationml/2006/main">
  <p:tag name="KSO_WM_BEAUTIFY_FLAG" val=""/>
</p:tagLst>
</file>

<file path=ppt/tags/tag1757.xml><?xml version="1.0" encoding="utf-8"?>
<p:tagLst xmlns:p="http://schemas.openxmlformats.org/presentationml/2006/main">
  <p:tag name="KSO_WM_BEAUTIFY_FLAG" val=""/>
</p:tagLst>
</file>

<file path=ppt/tags/tag1758.xml><?xml version="1.0" encoding="utf-8"?>
<p:tagLst xmlns:p="http://schemas.openxmlformats.org/presentationml/2006/main">
  <p:tag name="KSO_WM_BEAUTIFY_FLAG" val=""/>
</p:tagLst>
</file>

<file path=ppt/tags/tag1759.xml><?xml version="1.0" encoding="utf-8"?>
<p:tagLst xmlns:p="http://schemas.openxmlformats.org/presentationml/2006/main">
  <p:tag name="KSO_WM_BEAUTIFY_FLAG" val=""/>
</p:tagLst>
</file>

<file path=ppt/tags/tag1760.xml><?xml version="1.0" encoding="utf-8"?>
<p:tagLst xmlns:p="http://schemas.openxmlformats.org/presentationml/2006/main">
  <p:tag name="KSO_WM_BEAUTIFY_FLAG" val=""/>
</p:tagLst>
</file>

<file path=ppt/tags/tag1761.xml><?xml version="1.0" encoding="utf-8"?>
<p:tagLst xmlns:p="http://schemas.openxmlformats.org/presentationml/2006/main">
  <p:tag name="KSO_WM_BEAUTIFY_FLAG" val=""/>
</p:tagLst>
</file>

<file path=ppt/tags/tag1762.xml><?xml version="1.0" encoding="utf-8"?>
<p:tagLst xmlns:p="http://schemas.openxmlformats.org/presentationml/2006/main">
  <p:tag name="KSO_WM_BEAUTIFY_FLAG" val=""/>
</p:tagLst>
</file>

<file path=ppt/tags/tag1763.xml><?xml version="1.0" encoding="utf-8"?>
<p:tagLst xmlns:p="http://schemas.openxmlformats.org/presentationml/2006/main">
  <p:tag name="KSO_WM_BEAUTIFY_FLAG" val=""/>
</p:tagLst>
</file>

<file path=ppt/tags/tag1764.xml><?xml version="1.0" encoding="utf-8"?>
<p:tagLst xmlns:p="http://schemas.openxmlformats.org/presentationml/2006/main">
  <p:tag name="KSO_WM_BEAUTIFY_FLAG" val=""/>
</p:tagLst>
</file>

<file path=ppt/tags/tag1765.xml><?xml version="1.0" encoding="utf-8"?>
<p:tagLst xmlns:p="http://schemas.openxmlformats.org/presentationml/2006/main">
  <p:tag name="KSO_WM_BEAUTIFY_FLAG" val=""/>
</p:tagLst>
</file>

<file path=ppt/tags/tag1766.xml><?xml version="1.0" encoding="utf-8"?>
<p:tagLst xmlns:p="http://schemas.openxmlformats.org/presentationml/2006/main">
  <p:tag name="KSO_WM_BEAUTIFY_FLAG" val=""/>
</p:tagLst>
</file>

<file path=ppt/tags/tag1767.xml><?xml version="1.0" encoding="utf-8"?>
<p:tagLst xmlns:p="http://schemas.openxmlformats.org/presentationml/2006/main">
  <p:tag name="KSO_WM_BEAUTIFY_FLAG" val=""/>
</p:tagLst>
</file>

<file path=ppt/tags/tag1768.xml><?xml version="1.0" encoding="utf-8"?>
<p:tagLst xmlns:p="http://schemas.openxmlformats.org/presentationml/2006/main">
  <p:tag name="KSO_WM_BEAUTIFY_FLAG" val=""/>
</p:tagLst>
</file>

<file path=ppt/tags/tag1769.xml><?xml version="1.0" encoding="utf-8"?>
<p:tagLst xmlns:p="http://schemas.openxmlformats.org/presentationml/2006/main">
  <p:tag name="KSO_WM_BEAUTIFY_FLAG" val=""/>
</p:tagLst>
</file>

<file path=ppt/tags/tag1770.xml><?xml version="1.0" encoding="utf-8"?>
<p:tagLst xmlns:p="http://schemas.openxmlformats.org/presentationml/2006/main">
  <p:tag name="KSO_WM_BEAUTIFY_FLAG" val=""/>
</p:tagLst>
</file>

<file path=ppt/tags/tag1771.xml><?xml version="1.0" encoding="utf-8"?>
<p:tagLst xmlns:p="http://schemas.openxmlformats.org/presentationml/2006/main">
  <p:tag name="KSO_WM_BEAUTIFY_FLAG" val=""/>
</p:tagLst>
</file>

<file path=ppt/tags/tag1772.xml><?xml version="1.0" encoding="utf-8"?>
<p:tagLst xmlns:p="http://schemas.openxmlformats.org/presentationml/2006/main">
  <p:tag name="KSO_WM_BEAUTIFY_FLAG" val=""/>
</p:tagLst>
</file>

<file path=ppt/tags/tag1773.xml><?xml version="1.0" encoding="utf-8"?>
<p:tagLst xmlns:p="http://schemas.openxmlformats.org/presentationml/2006/main">
  <p:tag name="KSO_WM_BEAUTIFY_FLAG" val=""/>
</p:tagLst>
</file>

<file path=ppt/tags/tag1774.xml><?xml version="1.0" encoding="utf-8"?>
<p:tagLst xmlns:p="http://schemas.openxmlformats.org/presentationml/2006/main">
  <p:tag name="KSO_WM_BEAUTIFY_FLAG" val=""/>
</p:tagLst>
</file>

<file path=ppt/tags/tag1775.xml><?xml version="1.0" encoding="utf-8"?>
<p:tagLst xmlns:p="http://schemas.openxmlformats.org/presentationml/2006/main">
  <p:tag name="KSO_WM_BEAUTIFY_FLAG" val=""/>
</p:tagLst>
</file>

<file path=ppt/tags/tag1776.xml><?xml version="1.0" encoding="utf-8"?>
<p:tagLst xmlns:p="http://schemas.openxmlformats.org/presentationml/2006/main">
  <p:tag name="KSO_WM_BEAUTIFY_FLAG" val=""/>
</p:tagLst>
</file>

<file path=ppt/tags/tag1777.xml><?xml version="1.0" encoding="utf-8"?>
<p:tagLst xmlns:p="http://schemas.openxmlformats.org/presentationml/2006/main">
  <p:tag name="KSO_WM_BEAUTIFY_FLAG" val=""/>
</p:tagLst>
</file>

<file path=ppt/tags/tag1778.xml><?xml version="1.0" encoding="utf-8"?>
<p:tagLst xmlns:p="http://schemas.openxmlformats.org/presentationml/2006/main">
  <p:tag name="KSO_WM_BEAUTIFY_FLAG" val=""/>
</p:tagLst>
</file>

<file path=ppt/tags/tag1779.xml><?xml version="1.0" encoding="utf-8"?>
<p:tagLst xmlns:p="http://schemas.openxmlformats.org/presentationml/2006/main">
  <p:tag name="KSO_WM_BEAUTIFY_FLAG" val=""/>
</p:tagLst>
</file>

<file path=ppt/tags/tag1780.xml><?xml version="1.0" encoding="utf-8"?>
<p:tagLst xmlns:p="http://schemas.openxmlformats.org/presentationml/2006/main">
  <p:tag name="KSO_WM_BEAUTIFY_FLAG" val=""/>
</p:tagLst>
</file>

<file path=ppt/tags/tag1781.xml><?xml version="1.0" encoding="utf-8"?>
<p:tagLst xmlns:p="http://schemas.openxmlformats.org/presentationml/2006/main">
  <p:tag name="KSO_WM_BEAUTIFY_FLAG" val=""/>
</p:tagLst>
</file>

<file path=ppt/tags/tag1782.xml><?xml version="1.0" encoding="utf-8"?>
<p:tagLst xmlns:p="http://schemas.openxmlformats.org/presentationml/2006/main">
  <p:tag name="KSO_WM_BEAUTIFY_FLAG" val=""/>
</p:tagLst>
</file>

<file path=ppt/tags/tag1783.xml><?xml version="1.0" encoding="utf-8"?>
<p:tagLst xmlns:p="http://schemas.openxmlformats.org/presentationml/2006/main">
  <p:tag name="KSO_WM_BEAUTIFY_FLAG" val=""/>
</p:tagLst>
</file>

<file path=ppt/tags/tag1784.xml><?xml version="1.0" encoding="utf-8"?>
<p:tagLst xmlns:p="http://schemas.openxmlformats.org/presentationml/2006/main">
  <p:tag name="KSO_WM_BEAUTIFY_FLAG" val=""/>
</p:tagLst>
</file>

<file path=ppt/tags/tag1785.xml><?xml version="1.0" encoding="utf-8"?>
<p:tagLst xmlns:p="http://schemas.openxmlformats.org/presentationml/2006/main">
  <p:tag name="KSO_WM_BEAUTIFY_FLAG" val=""/>
</p:tagLst>
</file>

<file path=ppt/tags/tag1786.xml><?xml version="1.0" encoding="utf-8"?>
<p:tagLst xmlns:p="http://schemas.openxmlformats.org/presentationml/2006/main">
  <p:tag name="KSO_WM_BEAUTIFY_FLAG" val=""/>
</p:tagLst>
</file>

<file path=ppt/tags/tag1787.xml><?xml version="1.0" encoding="utf-8"?>
<p:tagLst xmlns:p="http://schemas.openxmlformats.org/presentationml/2006/main">
  <p:tag name="KSO_WM_BEAUTIFY_FLAG" val=""/>
</p:tagLst>
</file>

<file path=ppt/tags/tag1788.xml><?xml version="1.0" encoding="utf-8"?>
<p:tagLst xmlns:p="http://schemas.openxmlformats.org/presentationml/2006/main">
  <p:tag name="KSO_WM_BEAUTIFY_FLAG" val=""/>
</p:tagLst>
</file>

<file path=ppt/tags/tag1789.xml><?xml version="1.0" encoding="utf-8"?>
<p:tagLst xmlns:p="http://schemas.openxmlformats.org/presentationml/2006/main">
  <p:tag name="KSO_WM_BEAUTIFY_FLAG" val=""/>
  <p:tag name="TABLE_ENDDRAG_ORIGIN_RECT" val="487*50"/>
  <p:tag name="TABLE_ENDDRAG_RECT" val="161*195*487*50"/>
</p:tagLst>
</file>

<file path=ppt/tags/tag1790.xml><?xml version="1.0" encoding="utf-8"?>
<p:tagLst xmlns:p="http://schemas.openxmlformats.org/presentationml/2006/main">
  <p:tag name="KSO_WM_BEAUTIFY_FLAG" val=""/>
</p:tagLst>
</file>

<file path=ppt/tags/tag1791.xml><?xml version="1.0" encoding="utf-8"?>
<p:tagLst xmlns:p="http://schemas.openxmlformats.org/presentationml/2006/main">
  <p:tag name="KSO_WM_BEAUTIFY_FLAG" val=""/>
</p:tagLst>
</file>

<file path=ppt/tags/tag1792.xml><?xml version="1.0" encoding="utf-8"?>
<p:tagLst xmlns:p="http://schemas.openxmlformats.org/presentationml/2006/main">
  <p:tag name="KSO_WM_BEAUTIFY_FLAG" val=""/>
</p:tagLst>
</file>

<file path=ppt/tags/tag1793.xml><?xml version="1.0" encoding="utf-8"?>
<p:tagLst xmlns:p="http://schemas.openxmlformats.org/presentationml/2006/main">
  <p:tag name="KSO_WM_BEAUTIFY_FLAG" val=""/>
</p:tagLst>
</file>

<file path=ppt/tags/tag1794.xml><?xml version="1.0" encoding="utf-8"?>
<p:tagLst xmlns:p="http://schemas.openxmlformats.org/presentationml/2006/main">
  <p:tag name="KSO_WM_BEAUTIFY_FLAG" val=""/>
</p:tagLst>
</file>

<file path=ppt/tags/tag1795.xml><?xml version="1.0" encoding="utf-8"?>
<p:tagLst xmlns:p="http://schemas.openxmlformats.org/presentationml/2006/main">
  <p:tag name="KSO_WM_BEAUTIFY_FLAG" val=""/>
</p:tagLst>
</file>

<file path=ppt/tags/tag1796.xml><?xml version="1.0" encoding="utf-8"?>
<p:tagLst xmlns:p="http://schemas.openxmlformats.org/presentationml/2006/main">
  <p:tag name="KSO_WM_BEAUTIFY_FLAG" val=""/>
</p:tagLst>
</file>

<file path=ppt/tags/tag1797.xml><?xml version="1.0" encoding="utf-8"?>
<p:tagLst xmlns:p="http://schemas.openxmlformats.org/presentationml/2006/main">
  <p:tag name="KSO_WM_BEAUTIFY_FLAG" val=""/>
</p:tagLst>
</file>

<file path=ppt/tags/tag1798.xml><?xml version="1.0" encoding="utf-8"?>
<p:tagLst xmlns:p="http://schemas.openxmlformats.org/presentationml/2006/main">
  <p:tag name="KSO_WM_BEAUTIFY_FLAG" val=""/>
</p:tagLst>
</file>

<file path=ppt/tags/tag1799.xml><?xml version="1.0" encoding="utf-8"?>
<p:tagLst xmlns:p="http://schemas.openxmlformats.org/presentationml/2006/main">
  <p:tag name="KSO_WM_BEAUTIFY_FLAG" val=""/>
</p:tagLst>
</file>

<file path=ppt/tags/tag1800.xml><?xml version="1.0" encoding="utf-8"?>
<p:tagLst xmlns:p="http://schemas.openxmlformats.org/presentationml/2006/main">
  <p:tag name="KSO_WM_BEAUTIFY_FLAG" val=""/>
</p:tagLst>
</file>

<file path=ppt/tags/tag1801.xml><?xml version="1.0" encoding="utf-8"?>
<p:tagLst xmlns:p="http://schemas.openxmlformats.org/presentationml/2006/main">
  <p:tag name="KSO_WM_BEAUTIFY_FLAG" val=""/>
</p:tagLst>
</file>

<file path=ppt/tags/tag1802.xml><?xml version="1.0" encoding="utf-8"?>
<p:tagLst xmlns:p="http://schemas.openxmlformats.org/presentationml/2006/main">
  <p:tag name="KSO_WM_BEAUTIFY_FLAG" val=""/>
</p:tagLst>
</file>

<file path=ppt/tags/tag1803.xml><?xml version="1.0" encoding="utf-8"?>
<p:tagLst xmlns:p="http://schemas.openxmlformats.org/presentationml/2006/main">
  <p:tag name="KSO_WM_BEAUTIFY_FLAG" val=""/>
</p:tagLst>
</file>

<file path=ppt/tags/tag1804.xml><?xml version="1.0" encoding="utf-8"?>
<p:tagLst xmlns:p="http://schemas.openxmlformats.org/presentationml/2006/main">
  <p:tag name="KSO_WM_BEAUTIFY_FLAG" val=""/>
</p:tagLst>
</file>

<file path=ppt/tags/tag1805.xml><?xml version="1.0" encoding="utf-8"?>
<p:tagLst xmlns:p="http://schemas.openxmlformats.org/presentationml/2006/main">
  <p:tag name="KSO_WM_BEAUTIFY_FLAG" val=""/>
</p:tagLst>
</file>

<file path=ppt/tags/tag1806.xml><?xml version="1.0" encoding="utf-8"?>
<p:tagLst xmlns:p="http://schemas.openxmlformats.org/presentationml/2006/main">
  <p:tag name="KSO_WM_BEAUTIFY_FLAG" val=""/>
</p:tagLst>
</file>

<file path=ppt/tags/tag1807.xml><?xml version="1.0" encoding="utf-8"?>
<p:tagLst xmlns:p="http://schemas.openxmlformats.org/presentationml/2006/main">
  <p:tag name="KSO_WM_BEAUTIFY_FLAG" val=""/>
</p:tagLst>
</file>

<file path=ppt/tags/tag1808.xml><?xml version="1.0" encoding="utf-8"?>
<p:tagLst xmlns:p="http://schemas.openxmlformats.org/presentationml/2006/main">
  <p:tag name="KSO_WM_BEAUTIFY_FLAG" val=""/>
</p:tagLst>
</file>

<file path=ppt/tags/tag1809.xml><?xml version="1.0" encoding="utf-8"?>
<p:tagLst xmlns:p="http://schemas.openxmlformats.org/presentationml/2006/main">
  <p:tag name="KSO_WM_BEAUTIFY_FLAG" val=""/>
</p:tagLst>
</file>

<file path=ppt/tags/tag1810.xml><?xml version="1.0" encoding="utf-8"?>
<p:tagLst xmlns:p="http://schemas.openxmlformats.org/presentationml/2006/main">
  <p:tag name="KSO_WM_BEAUTIFY_FLAG" val=""/>
</p:tagLst>
</file>

<file path=ppt/tags/tag1811.xml><?xml version="1.0" encoding="utf-8"?>
<p:tagLst xmlns:p="http://schemas.openxmlformats.org/presentationml/2006/main">
  <p:tag name="KSO_WM_BEAUTIFY_FLAG" val=""/>
</p:tagLst>
</file>

<file path=ppt/tags/tag1812.xml><?xml version="1.0" encoding="utf-8"?>
<p:tagLst xmlns:p="http://schemas.openxmlformats.org/presentationml/2006/main">
  <p:tag name="KSO_WM_BEAUTIFY_FLAG" val=""/>
</p:tagLst>
</file>

<file path=ppt/tags/tag1813.xml><?xml version="1.0" encoding="utf-8"?>
<p:tagLst xmlns:p="http://schemas.openxmlformats.org/presentationml/2006/main">
  <p:tag name="KSO_WM_BEAUTIFY_FLAG" val=""/>
</p:tagLst>
</file>

<file path=ppt/tags/tag1814.xml><?xml version="1.0" encoding="utf-8"?>
<p:tagLst xmlns:p="http://schemas.openxmlformats.org/presentationml/2006/main">
  <p:tag name="KSO_WM_BEAUTIFY_FLAG" val=""/>
</p:tagLst>
</file>

<file path=ppt/tags/tag1815.xml><?xml version="1.0" encoding="utf-8"?>
<p:tagLst xmlns:p="http://schemas.openxmlformats.org/presentationml/2006/main">
  <p:tag name="KSO_WM_BEAUTIFY_FLAG" val=""/>
</p:tagLst>
</file>

<file path=ppt/tags/tag1816.xml><?xml version="1.0" encoding="utf-8"?>
<p:tagLst xmlns:p="http://schemas.openxmlformats.org/presentationml/2006/main">
  <p:tag name="KSO_WM_BEAUTIFY_FLAG" val=""/>
</p:tagLst>
</file>

<file path=ppt/tags/tag1817.xml><?xml version="1.0" encoding="utf-8"?>
<p:tagLst xmlns:p="http://schemas.openxmlformats.org/presentationml/2006/main">
  <p:tag name="KSO_WM_BEAUTIFY_FLAG" val=""/>
</p:tagLst>
</file>

<file path=ppt/tags/tag1818.xml><?xml version="1.0" encoding="utf-8"?>
<p:tagLst xmlns:p="http://schemas.openxmlformats.org/presentationml/2006/main">
  <p:tag name="KSO_WM_BEAUTIFY_FLAG" val=""/>
</p:tagLst>
</file>

<file path=ppt/tags/tag1819.xml><?xml version="1.0" encoding="utf-8"?>
<p:tagLst xmlns:p="http://schemas.openxmlformats.org/presentationml/2006/main">
  <p:tag name="KSO_WM_BEAUTIFY_FLAG" val=""/>
</p:tagLst>
</file>

<file path=ppt/tags/tag1820.xml><?xml version="1.0" encoding="utf-8"?>
<p:tagLst xmlns:p="http://schemas.openxmlformats.org/presentationml/2006/main">
  <p:tag name="KSO_WM_BEAUTIFY_FLAG" val=""/>
</p:tagLst>
</file>

<file path=ppt/tags/tag1821.xml><?xml version="1.0" encoding="utf-8"?>
<p:tagLst xmlns:p="http://schemas.openxmlformats.org/presentationml/2006/main">
  <p:tag name="KSO_WM_BEAUTIFY_FLAG" val=""/>
</p:tagLst>
</file>

<file path=ppt/tags/tag1822.xml><?xml version="1.0" encoding="utf-8"?>
<p:tagLst xmlns:p="http://schemas.openxmlformats.org/presentationml/2006/main">
  <p:tag name="KSO_WM_BEAUTIFY_FLAG" val=""/>
</p:tagLst>
</file>

<file path=ppt/tags/tag1823.xml><?xml version="1.0" encoding="utf-8"?>
<p:tagLst xmlns:p="http://schemas.openxmlformats.org/presentationml/2006/main">
  <p:tag name="KSO_WM_BEAUTIFY_FLAG" val=""/>
</p:tagLst>
</file>

<file path=ppt/tags/tag1824.xml><?xml version="1.0" encoding="utf-8"?>
<p:tagLst xmlns:p="http://schemas.openxmlformats.org/presentationml/2006/main">
  <p:tag name="KSO_WM_BEAUTIFY_FLAG" val=""/>
</p:tagLst>
</file>

<file path=ppt/tags/tag1825.xml><?xml version="1.0" encoding="utf-8"?>
<p:tagLst xmlns:p="http://schemas.openxmlformats.org/presentationml/2006/main">
  <p:tag name="KSO_WM_BEAUTIFY_FLAG" val=""/>
</p:tagLst>
</file>

<file path=ppt/tags/tag1826.xml><?xml version="1.0" encoding="utf-8"?>
<p:tagLst xmlns:p="http://schemas.openxmlformats.org/presentationml/2006/main">
  <p:tag name="KSO_WM_BEAUTIFY_FLAG" val=""/>
</p:tagLst>
</file>

<file path=ppt/tags/tag1827.xml><?xml version="1.0" encoding="utf-8"?>
<p:tagLst xmlns:p="http://schemas.openxmlformats.org/presentationml/2006/main">
  <p:tag name="KSO_WM_BEAUTIFY_FLAG" val=""/>
</p:tagLst>
</file>

<file path=ppt/tags/tag1828.xml><?xml version="1.0" encoding="utf-8"?>
<p:tagLst xmlns:p="http://schemas.openxmlformats.org/presentationml/2006/main">
  <p:tag name="KSO_WM_BEAUTIFY_FLAG" val=""/>
</p:tagLst>
</file>

<file path=ppt/tags/tag1829.xml><?xml version="1.0" encoding="utf-8"?>
<p:tagLst xmlns:p="http://schemas.openxmlformats.org/presentationml/2006/main">
  <p:tag name="KSO_WM_BEAUTIFY_FLAG" val=""/>
</p:tagLst>
</file>

<file path=ppt/tags/tag1830.xml><?xml version="1.0" encoding="utf-8"?>
<p:tagLst xmlns:p="http://schemas.openxmlformats.org/presentationml/2006/main">
  <p:tag name="KSO_WM_BEAUTIFY_FLAG" val=""/>
</p:tagLst>
</file>

<file path=ppt/tags/tag1831.xml><?xml version="1.0" encoding="utf-8"?>
<p:tagLst xmlns:p="http://schemas.openxmlformats.org/presentationml/2006/main">
  <p:tag name="KSO_WM_BEAUTIFY_FLAG" val=""/>
</p:tagLst>
</file>

<file path=ppt/tags/tag1832.xml><?xml version="1.0" encoding="utf-8"?>
<p:tagLst xmlns:p="http://schemas.openxmlformats.org/presentationml/2006/main">
  <p:tag name="KSO_WM_BEAUTIFY_FLAG" val=""/>
</p:tagLst>
</file>

<file path=ppt/tags/tag1833.xml><?xml version="1.0" encoding="utf-8"?>
<p:tagLst xmlns:p="http://schemas.openxmlformats.org/presentationml/2006/main">
  <p:tag name="KSO_WM_BEAUTIFY_FLAG" val=""/>
</p:tagLst>
</file>

<file path=ppt/tags/tag1834.xml><?xml version="1.0" encoding="utf-8"?>
<p:tagLst xmlns:p="http://schemas.openxmlformats.org/presentationml/2006/main">
  <p:tag name="KSO_WM_BEAUTIFY_FLAG" val=""/>
</p:tagLst>
</file>

<file path=ppt/tags/tag1835.xml><?xml version="1.0" encoding="utf-8"?>
<p:tagLst xmlns:p="http://schemas.openxmlformats.org/presentationml/2006/main">
  <p:tag name="KSO_WM_BEAUTIFY_FLAG" val=""/>
</p:tagLst>
</file>

<file path=ppt/tags/tag1836.xml><?xml version="1.0" encoding="utf-8"?>
<p:tagLst xmlns:p="http://schemas.openxmlformats.org/presentationml/2006/main">
  <p:tag name="KSO_WM_BEAUTIFY_FLAG" val=""/>
</p:tagLst>
</file>

<file path=ppt/tags/tag1837.xml><?xml version="1.0" encoding="utf-8"?>
<p:tagLst xmlns:p="http://schemas.openxmlformats.org/presentationml/2006/main">
  <p:tag name="KSO_WM_BEAUTIFY_FLAG" val=""/>
</p:tagLst>
</file>

<file path=ppt/tags/tag1838.xml><?xml version="1.0" encoding="utf-8"?>
<p:tagLst xmlns:p="http://schemas.openxmlformats.org/presentationml/2006/main">
  <p:tag name="KSO_WM_BEAUTIFY_FLAG" val=""/>
</p:tagLst>
</file>

<file path=ppt/tags/tag1839.xml><?xml version="1.0" encoding="utf-8"?>
<p:tagLst xmlns:p="http://schemas.openxmlformats.org/presentationml/2006/main">
  <p:tag name="KSO_WM_BEAUTIFY_FLAG" val=""/>
</p:tagLst>
</file>

<file path=ppt/tags/tag1840.xml><?xml version="1.0" encoding="utf-8"?>
<p:tagLst xmlns:p="http://schemas.openxmlformats.org/presentationml/2006/main">
  <p:tag name="KSO_WM_BEAUTIFY_FLAG" val=""/>
</p:tagLst>
</file>

<file path=ppt/tags/tag1841.xml><?xml version="1.0" encoding="utf-8"?>
<p:tagLst xmlns:p="http://schemas.openxmlformats.org/presentationml/2006/main">
  <p:tag name="KSO_WM_BEAUTIFY_FLAG" val=""/>
</p:tagLst>
</file>

<file path=ppt/tags/tag1842.xml><?xml version="1.0" encoding="utf-8"?>
<p:tagLst xmlns:p="http://schemas.openxmlformats.org/presentationml/2006/main">
  <p:tag name="KSO_WM_BEAUTIFY_FLAG" val=""/>
</p:tagLst>
</file>

<file path=ppt/tags/tag1843.xml><?xml version="1.0" encoding="utf-8"?>
<p:tagLst xmlns:p="http://schemas.openxmlformats.org/presentationml/2006/main">
  <p:tag name="KSO_WM_BEAUTIFY_FLAG" val=""/>
</p:tagLst>
</file>

<file path=ppt/tags/tag1844.xml><?xml version="1.0" encoding="utf-8"?>
<p:tagLst xmlns:p="http://schemas.openxmlformats.org/presentationml/2006/main">
  <p:tag name="KSO_WM_BEAUTIFY_FLAG" val=""/>
</p:tagLst>
</file>

<file path=ppt/tags/tag1845.xml><?xml version="1.0" encoding="utf-8"?>
<p:tagLst xmlns:p="http://schemas.openxmlformats.org/presentationml/2006/main">
  <p:tag name="KSO_WM_BEAUTIFY_FLAG" val=""/>
</p:tagLst>
</file>

<file path=ppt/tags/tag1846.xml><?xml version="1.0" encoding="utf-8"?>
<p:tagLst xmlns:p="http://schemas.openxmlformats.org/presentationml/2006/main">
  <p:tag name="KSO_WM_BEAUTIFY_FLAG" val=""/>
</p:tagLst>
</file>

<file path=ppt/tags/tag1847.xml><?xml version="1.0" encoding="utf-8"?>
<p:tagLst xmlns:p="http://schemas.openxmlformats.org/presentationml/2006/main">
  <p:tag name="KSO_WM_BEAUTIFY_FLAG" val=""/>
</p:tagLst>
</file>

<file path=ppt/tags/tag1848.xml><?xml version="1.0" encoding="utf-8"?>
<p:tagLst xmlns:p="http://schemas.openxmlformats.org/presentationml/2006/main">
  <p:tag name="KSO_WM_BEAUTIFY_FLAG" val=""/>
</p:tagLst>
</file>

<file path=ppt/tags/tag1849.xml><?xml version="1.0" encoding="utf-8"?>
<p:tagLst xmlns:p="http://schemas.openxmlformats.org/presentationml/2006/main">
  <p:tag name="KSO_WM_BEAUTIFY_FLAG" val=""/>
</p:tagLst>
</file>

<file path=ppt/tags/tag1850.xml><?xml version="1.0" encoding="utf-8"?>
<p:tagLst xmlns:p="http://schemas.openxmlformats.org/presentationml/2006/main">
  <p:tag name="KSO_WM_BEAUTIFY_FLAG" val=""/>
</p:tagLst>
</file>

<file path=ppt/tags/tag1851.xml><?xml version="1.0" encoding="utf-8"?>
<p:tagLst xmlns:p="http://schemas.openxmlformats.org/presentationml/2006/main">
  <p:tag name="KSO_WM_BEAUTIFY_FLAG" val=""/>
</p:tagLst>
</file>

<file path=ppt/tags/tag1852.xml><?xml version="1.0" encoding="utf-8"?>
<p:tagLst xmlns:p="http://schemas.openxmlformats.org/presentationml/2006/main">
  <p:tag name="KSO_WM_BEAUTIFY_FLAG" val=""/>
</p:tagLst>
</file>

<file path=ppt/tags/tag1853.xml><?xml version="1.0" encoding="utf-8"?>
<p:tagLst xmlns:p="http://schemas.openxmlformats.org/presentationml/2006/main">
  <p:tag name="KSO_WM_BEAUTIFY_FLAG" val=""/>
</p:tagLst>
</file>

<file path=ppt/tags/tag1854.xml><?xml version="1.0" encoding="utf-8"?>
<p:tagLst xmlns:p="http://schemas.openxmlformats.org/presentationml/2006/main">
  <p:tag name="KSO_WM_BEAUTIFY_FLAG" val=""/>
</p:tagLst>
</file>

<file path=ppt/tags/tag1855.xml><?xml version="1.0" encoding="utf-8"?>
<p:tagLst xmlns:p="http://schemas.openxmlformats.org/presentationml/2006/main">
  <p:tag name="KSO_WM_BEAUTIFY_FLAG" val=""/>
</p:tagLst>
</file>

<file path=ppt/tags/tag1856.xml><?xml version="1.0" encoding="utf-8"?>
<p:tagLst xmlns:p="http://schemas.openxmlformats.org/presentationml/2006/main">
  <p:tag name="KSO_WM_BEAUTIFY_FLAG" val=""/>
</p:tagLst>
</file>

<file path=ppt/tags/tag1857.xml><?xml version="1.0" encoding="utf-8"?>
<p:tagLst xmlns:p="http://schemas.openxmlformats.org/presentationml/2006/main">
  <p:tag name="KSO_WM_BEAUTIFY_FLAG" val=""/>
</p:tagLst>
</file>

<file path=ppt/tags/tag1858.xml><?xml version="1.0" encoding="utf-8"?>
<p:tagLst xmlns:p="http://schemas.openxmlformats.org/presentationml/2006/main">
  <p:tag name="KSO_WM_BEAUTIFY_FLAG" val=""/>
</p:tagLst>
</file>

<file path=ppt/tags/tag1859.xml><?xml version="1.0" encoding="utf-8"?>
<p:tagLst xmlns:p="http://schemas.openxmlformats.org/presentationml/2006/main">
  <p:tag name="KSO_WM_BEAUTIFY_FLAG" val=""/>
</p:tagLst>
</file>

<file path=ppt/tags/tag1860.xml><?xml version="1.0" encoding="utf-8"?>
<p:tagLst xmlns:p="http://schemas.openxmlformats.org/presentationml/2006/main">
  <p:tag name="KSO_WM_BEAUTIFY_FLAG" val=""/>
</p:tagLst>
</file>

<file path=ppt/tags/tag1861.xml><?xml version="1.0" encoding="utf-8"?>
<p:tagLst xmlns:p="http://schemas.openxmlformats.org/presentationml/2006/main">
  <p:tag name="KSO_WM_BEAUTIFY_FLAG" val=""/>
</p:tagLst>
</file>

<file path=ppt/tags/tag1862.xml><?xml version="1.0" encoding="utf-8"?>
<p:tagLst xmlns:p="http://schemas.openxmlformats.org/presentationml/2006/main">
  <p:tag name="KSO_WM_BEAUTIFY_FLAG" val=""/>
</p:tagLst>
</file>

<file path=ppt/tags/tag1863.xml><?xml version="1.0" encoding="utf-8"?>
<p:tagLst xmlns:p="http://schemas.openxmlformats.org/presentationml/2006/main">
  <p:tag name="KSO_WM_BEAUTIFY_FLAG" val=""/>
</p:tagLst>
</file>

<file path=ppt/tags/tag1864.xml><?xml version="1.0" encoding="utf-8"?>
<p:tagLst xmlns:p="http://schemas.openxmlformats.org/presentationml/2006/main">
  <p:tag name="KSO_WM_BEAUTIFY_FLAG" val=""/>
</p:tagLst>
</file>

<file path=ppt/tags/tag1865.xml><?xml version="1.0" encoding="utf-8"?>
<p:tagLst xmlns:p="http://schemas.openxmlformats.org/presentationml/2006/main">
  <p:tag name="KSO_WM_BEAUTIFY_FLAG" val=""/>
</p:tagLst>
</file>

<file path=ppt/tags/tag1866.xml><?xml version="1.0" encoding="utf-8"?>
<p:tagLst xmlns:p="http://schemas.openxmlformats.org/presentationml/2006/main">
  <p:tag name="KSO_WM_BEAUTIFY_FLAG" val=""/>
</p:tagLst>
</file>

<file path=ppt/tags/tag1867.xml><?xml version="1.0" encoding="utf-8"?>
<p:tagLst xmlns:p="http://schemas.openxmlformats.org/presentationml/2006/main">
  <p:tag name="KSO_WM_BEAUTIFY_FLAG" val=""/>
</p:tagLst>
</file>

<file path=ppt/tags/tag1868.xml><?xml version="1.0" encoding="utf-8"?>
<p:tagLst xmlns:p="http://schemas.openxmlformats.org/presentationml/2006/main">
  <p:tag name="KSO_WM_BEAUTIFY_FLAG" val=""/>
</p:tagLst>
</file>

<file path=ppt/tags/tag1869.xml><?xml version="1.0" encoding="utf-8"?>
<p:tagLst xmlns:p="http://schemas.openxmlformats.org/presentationml/2006/main">
  <p:tag name="KSO_WM_BEAUTIFY_FLAG" val=""/>
</p:tagLst>
</file>

<file path=ppt/tags/tag1870.xml><?xml version="1.0" encoding="utf-8"?>
<p:tagLst xmlns:p="http://schemas.openxmlformats.org/presentationml/2006/main">
  <p:tag name="KSO_WM_BEAUTIFY_FLAG" val=""/>
</p:tagLst>
</file>

<file path=ppt/tags/tag1871.xml><?xml version="1.0" encoding="utf-8"?>
<p:tagLst xmlns:p="http://schemas.openxmlformats.org/presentationml/2006/main">
  <p:tag name="KSO_WM_BEAUTIFY_FLAG" val=""/>
</p:tagLst>
</file>

<file path=ppt/tags/tag1872.xml><?xml version="1.0" encoding="utf-8"?>
<p:tagLst xmlns:p="http://schemas.openxmlformats.org/presentationml/2006/main">
  <p:tag name="KSO_WM_BEAUTIFY_FLAG" val=""/>
</p:tagLst>
</file>

<file path=ppt/tags/tag1873.xml><?xml version="1.0" encoding="utf-8"?>
<p:tagLst xmlns:p="http://schemas.openxmlformats.org/presentationml/2006/main">
  <p:tag name="KSO_WM_BEAUTIFY_FLAG" val=""/>
</p:tagLst>
</file>

<file path=ppt/tags/tag1874.xml><?xml version="1.0" encoding="utf-8"?>
<p:tagLst xmlns:p="http://schemas.openxmlformats.org/presentationml/2006/main">
  <p:tag name="KSO_WM_BEAUTIFY_FLAG" val=""/>
</p:tagLst>
</file>

<file path=ppt/tags/tag1875.xml><?xml version="1.0" encoding="utf-8"?>
<p:tagLst xmlns:p="http://schemas.openxmlformats.org/presentationml/2006/main">
  <p:tag name="KSO_WM_BEAUTIFY_FLAG" val=""/>
</p:tagLst>
</file>

<file path=ppt/tags/tag1876.xml><?xml version="1.0" encoding="utf-8"?>
<p:tagLst xmlns:p="http://schemas.openxmlformats.org/presentationml/2006/main">
  <p:tag name="KSO_WM_BEAUTIFY_FLAG" val=""/>
</p:tagLst>
</file>

<file path=ppt/tags/tag1877.xml><?xml version="1.0" encoding="utf-8"?>
<p:tagLst xmlns:p="http://schemas.openxmlformats.org/presentationml/2006/main">
  <p:tag name="KSO_WM_BEAUTIFY_FLAG" val=""/>
</p:tagLst>
</file>

<file path=ppt/tags/tag1878.xml><?xml version="1.0" encoding="utf-8"?>
<p:tagLst xmlns:p="http://schemas.openxmlformats.org/presentationml/2006/main">
  <p:tag name="KSO_WM_BEAUTIFY_FLAG" val=""/>
</p:tagLst>
</file>

<file path=ppt/tags/tag1879.xml><?xml version="1.0" encoding="utf-8"?>
<p:tagLst xmlns:p="http://schemas.openxmlformats.org/presentationml/2006/main">
  <p:tag name="KSO_WM_BEAUTIFY_FLAG" val=""/>
</p:tagLst>
</file>

<file path=ppt/tags/tag1880.xml><?xml version="1.0" encoding="utf-8"?>
<p:tagLst xmlns:p="http://schemas.openxmlformats.org/presentationml/2006/main">
  <p:tag name="KSO_WM_BEAUTIFY_FLAG" val=""/>
</p:tagLst>
</file>

<file path=ppt/tags/tag1881.xml><?xml version="1.0" encoding="utf-8"?>
<p:tagLst xmlns:p="http://schemas.openxmlformats.org/presentationml/2006/main">
  <p:tag name="KSO_WM_BEAUTIFY_FLAG" val=""/>
</p:tagLst>
</file>

<file path=ppt/tags/tag1882.xml><?xml version="1.0" encoding="utf-8"?>
<p:tagLst xmlns:p="http://schemas.openxmlformats.org/presentationml/2006/main">
  <p:tag name="KSO_WM_BEAUTIFY_FLAG" val=""/>
</p:tagLst>
</file>

<file path=ppt/tags/tag1883.xml><?xml version="1.0" encoding="utf-8"?>
<p:tagLst xmlns:p="http://schemas.openxmlformats.org/presentationml/2006/main">
  <p:tag name="KSO_WM_BEAUTIFY_FLAG" val=""/>
</p:tagLst>
</file>

<file path=ppt/tags/tag1884.xml><?xml version="1.0" encoding="utf-8"?>
<p:tagLst xmlns:p="http://schemas.openxmlformats.org/presentationml/2006/main">
  <p:tag name="KSO_WM_BEAUTIFY_FLAG" val=""/>
</p:tagLst>
</file>

<file path=ppt/tags/tag1885.xml><?xml version="1.0" encoding="utf-8"?>
<p:tagLst xmlns:p="http://schemas.openxmlformats.org/presentationml/2006/main">
  <p:tag name="KSO_WM_BEAUTIFY_FLAG" val=""/>
</p:tagLst>
</file>

<file path=ppt/tags/tag1886.xml><?xml version="1.0" encoding="utf-8"?>
<p:tagLst xmlns:p="http://schemas.openxmlformats.org/presentationml/2006/main">
  <p:tag name="KSO_WM_BEAUTIFY_FLAG" val=""/>
</p:tagLst>
</file>

<file path=ppt/tags/tag1887.xml><?xml version="1.0" encoding="utf-8"?>
<p:tagLst xmlns:p="http://schemas.openxmlformats.org/presentationml/2006/main">
  <p:tag name="KSO_WM_BEAUTIFY_FLAG" val=""/>
</p:tagLst>
</file>

<file path=ppt/tags/tag1888.xml><?xml version="1.0" encoding="utf-8"?>
<p:tagLst xmlns:p="http://schemas.openxmlformats.org/presentationml/2006/main">
  <p:tag name="KSO_WM_BEAUTIFY_FLAG" val=""/>
</p:tagLst>
</file>

<file path=ppt/tags/tag1889.xml><?xml version="1.0" encoding="utf-8"?>
<p:tagLst xmlns:p="http://schemas.openxmlformats.org/presentationml/2006/main">
  <p:tag name="KSO_WM_BEAUTIFY_FLAG" val=""/>
</p:tagLst>
</file>

<file path=ppt/tags/tag1890.xml><?xml version="1.0" encoding="utf-8"?>
<p:tagLst xmlns:p="http://schemas.openxmlformats.org/presentationml/2006/main">
  <p:tag name="KSO_WM_BEAUTIFY_FLAG" val=""/>
</p:tagLst>
</file>

<file path=ppt/tags/tag1891.xml><?xml version="1.0" encoding="utf-8"?>
<p:tagLst xmlns:p="http://schemas.openxmlformats.org/presentationml/2006/main">
  <p:tag name="KSO_WM_BEAUTIFY_FLAG" val=""/>
</p:tagLst>
</file>

<file path=ppt/tags/tag1892.xml><?xml version="1.0" encoding="utf-8"?>
<p:tagLst xmlns:p="http://schemas.openxmlformats.org/presentationml/2006/main">
  <p:tag name="KSO_WM_BEAUTIFY_FLAG" val=""/>
</p:tagLst>
</file>

<file path=ppt/tags/tag1893.xml><?xml version="1.0" encoding="utf-8"?>
<p:tagLst xmlns:p="http://schemas.openxmlformats.org/presentationml/2006/main">
  <p:tag name="KSO_WM_BEAUTIFY_FLAG" val=""/>
</p:tagLst>
</file>

<file path=ppt/tags/tag1894.xml><?xml version="1.0" encoding="utf-8"?>
<p:tagLst xmlns:p="http://schemas.openxmlformats.org/presentationml/2006/main">
  <p:tag name="KSO_WM_BEAUTIFY_FLAG" val=""/>
</p:tagLst>
</file>

<file path=ppt/tags/tag1895.xml><?xml version="1.0" encoding="utf-8"?>
<p:tagLst xmlns:p="http://schemas.openxmlformats.org/presentationml/2006/main">
  <p:tag name="KSO_WM_BEAUTIFY_FLAG" val=""/>
</p:tagLst>
</file>

<file path=ppt/tags/tag1896.xml><?xml version="1.0" encoding="utf-8"?>
<p:tagLst xmlns:p="http://schemas.openxmlformats.org/presentationml/2006/main">
  <p:tag name="KSO_WM_BEAUTIFY_FLAG" val=""/>
</p:tagLst>
</file>

<file path=ppt/tags/tag1897.xml><?xml version="1.0" encoding="utf-8"?>
<p:tagLst xmlns:p="http://schemas.openxmlformats.org/presentationml/2006/main">
  <p:tag name="KSO_WM_BEAUTIFY_FLAG" val=""/>
</p:tagLst>
</file>

<file path=ppt/tags/tag1898.xml><?xml version="1.0" encoding="utf-8"?>
<p:tagLst xmlns:p="http://schemas.openxmlformats.org/presentationml/2006/main">
  <p:tag name="KSO_WM_BEAUTIFY_FLAG" val=""/>
</p:tagLst>
</file>

<file path=ppt/tags/tag1899.xml><?xml version="1.0" encoding="utf-8"?>
<p:tagLst xmlns:p="http://schemas.openxmlformats.org/presentationml/2006/main">
  <p:tag name="KSO_WM_BEAUTIFY_FLAG" val=""/>
</p:tagLst>
</file>

<file path=ppt/tags/tag1900.xml><?xml version="1.0" encoding="utf-8"?>
<p:tagLst xmlns:p="http://schemas.openxmlformats.org/presentationml/2006/main">
  <p:tag name="KSO_WM_BEAUTIFY_FLAG" val=""/>
</p:tagLst>
</file>

<file path=ppt/tags/tag1901.xml><?xml version="1.0" encoding="utf-8"?>
<p:tagLst xmlns:p="http://schemas.openxmlformats.org/presentationml/2006/main">
  <p:tag name="KSO_WM_BEAUTIFY_FLAG" val=""/>
</p:tagLst>
</file>

<file path=ppt/tags/tag1902.xml><?xml version="1.0" encoding="utf-8"?>
<p:tagLst xmlns:p="http://schemas.openxmlformats.org/presentationml/2006/main">
  <p:tag name="KSO_WM_BEAUTIFY_FLAG" val=""/>
</p:tagLst>
</file>

<file path=ppt/tags/tag1903.xml><?xml version="1.0" encoding="utf-8"?>
<p:tagLst xmlns:p="http://schemas.openxmlformats.org/presentationml/2006/main">
  <p:tag name="KSO_WM_BEAUTIFY_FLAG" val=""/>
</p:tagLst>
</file>

<file path=ppt/tags/tag1904.xml><?xml version="1.0" encoding="utf-8"?>
<p:tagLst xmlns:p="http://schemas.openxmlformats.org/presentationml/2006/main">
  <p:tag name="KSO_WM_BEAUTIFY_FLAG" val=""/>
</p:tagLst>
</file>

<file path=ppt/tags/tag1905.xml><?xml version="1.0" encoding="utf-8"?>
<p:tagLst xmlns:p="http://schemas.openxmlformats.org/presentationml/2006/main">
  <p:tag name="KSO_WM_BEAUTIFY_FLAG" val=""/>
</p:tagLst>
</file>

<file path=ppt/tags/tag1906.xml><?xml version="1.0" encoding="utf-8"?>
<p:tagLst xmlns:p="http://schemas.openxmlformats.org/presentationml/2006/main">
  <p:tag name="KSO_WM_BEAUTIFY_FLAG" val=""/>
</p:tagLst>
</file>

<file path=ppt/tags/tag1907.xml><?xml version="1.0" encoding="utf-8"?>
<p:tagLst xmlns:p="http://schemas.openxmlformats.org/presentationml/2006/main">
  <p:tag name="KSO_WM_BEAUTIFY_FLAG" val=""/>
</p:tagLst>
</file>

<file path=ppt/tags/tag1908.xml><?xml version="1.0" encoding="utf-8"?>
<p:tagLst xmlns:p="http://schemas.openxmlformats.org/presentationml/2006/main">
  <p:tag name="KSO_WM_BEAUTIFY_FLAG" val=""/>
</p:tagLst>
</file>

<file path=ppt/tags/tag1909.xml><?xml version="1.0" encoding="utf-8"?>
<p:tagLst xmlns:p="http://schemas.openxmlformats.org/presentationml/2006/main">
  <p:tag name="KSO_WM_BEAUTIFY_FLAG" val=""/>
</p:tagLst>
</file>

<file path=ppt/tags/tag1910.xml><?xml version="1.0" encoding="utf-8"?>
<p:tagLst xmlns:p="http://schemas.openxmlformats.org/presentationml/2006/main">
  <p:tag name="KSO_WM_BEAUTIFY_FLAG" val=""/>
</p:tagLst>
</file>

<file path=ppt/tags/tag1911.xml><?xml version="1.0" encoding="utf-8"?>
<p:tagLst xmlns:p="http://schemas.openxmlformats.org/presentationml/2006/main">
  <p:tag name="KSO_WM_BEAUTIFY_FLAG" val=""/>
</p:tagLst>
</file>

<file path=ppt/tags/tag1912.xml><?xml version="1.0" encoding="utf-8"?>
<p:tagLst xmlns:p="http://schemas.openxmlformats.org/presentationml/2006/main">
  <p:tag name="KSO_WM_BEAUTIFY_FLAG" val=""/>
</p:tagLst>
</file>

<file path=ppt/tags/tag1913.xml><?xml version="1.0" encoding="utf-8"?>
<p:tagLst xmlns:p="http://schemas.openxmlformats.org/presentationml/2006/main">
  <p:tag name="KSO_WM_BEAUTIFY_FLAG" val=""/>
</p:tagLst>
</file>

<file path=ppt/tags/tag1914.xml><?xml version="1.0" encoding="utf-8"?>
<p:tagLst xmlns:p="http://schemas.openxmlformats.org/presentationml/2006/main">
  <p:tag name="KSO_WM_BEAUTIFY_FLAG" val=""/>
</p:tagLst>
</file>

<file path=ppt/tags/tag1915.xml><?xml version="1.0" encoding="utf-8"?>
<p:tagLst xmlns:p="http://schemas.openxmlformats.org/presentationml/2006/main">
  <p:tag name="KSO_WM_BEAUTIFY_FLAG" val=""/>
</p:tagLst>
</file>

<file path=ppt/tags/tag1916.xml><?xml version="1.0" encoding="utf-8"?>
<p:tagLst xmlns:p="http://schemas.openxmlformats.org/presentationml/2006/main">
  <p:tag name="KSO_WM_BEAUTIFY_FLAG" val=""/>
</p:tagLst>
</file>

<file path=ppt/tags/tag1917.xml><?xml version="1.0" encoding="utf-8"?>
<p:tagLst xmlns:p="http://schemas.openxmlformats.org/presentationml/2006/main">
  <p:tag name="KSO_WM_BEAUTIFY_FLAG" val=""/>
</p:tagLst>
</file>

<file path=ppt/tags/tag1918.xml><?xml version="1.0" encoding="utf-8"?>
<p:tagLst xmlns:p="http://schemas.openxmlformats.org/presentationml/2006/main">
  <p:tag name="KSO_WM_BEAUTIFY_FLAG" val=""/>
</p:tagLst>
</file>

<file path=ppt/tags/tag1919.xml><?xml version="1.0" encoding="utf-8"?>
<p:tagLst xmlns:p="http://schemas.openxmlformats.org/presentationml/2006/main">
  <p:tag name="KSO_WM_BEAUTIFY_FLAG" val=""/>
</p:tagLst>
</file>

<file path=ppt/tags/tag1920.xml><?xml version="1.0" encoding="utf-8"?>
<p:tagLst xmlns:p="http://schemas.openxmlformats.org/presentationml/2006/main">
  <p:tag name="KSO_WM_BEAUTIFY_FLAG" val=""/>
</p:tagLst>
</file>

<file path=ppt/tags/tag1921.xml><?xml version="1.0" encoding="utf-8"?>
<p:tagLst xmlns:p="http://schemas.openxmlformats.org/presentationml/2006/main">
  <p:tag name="KSO_WM_BEAUTIFY_FLAG" val=""/>
</p:tagLst>
</file>

<file path=ppt/tags/tag1922.xml><?xml version="1.0" encoding="utf-8"?>
<p:tagLst xmlns:p="http://schemas.openxmlformats.org/presentationml/2006/main">
  <p:tag name="KSO_WM_BEAUTIFY_FLAG" val=""/>
</p:tagLst>
</file>

<file path=ppt/tags/tag1923.xml><?xml version="1.0" encoding="utf-8"?>
<p:tagLst xmlns:p="http://schemas.openxmlformats.org/presentationml/2006/main">
  <p:tag name="KSO_WM_BEAUTIFY_FLAG" val=""/>
</p:tagLst>
</file>

<file path=ppt/tags/tag1924.xml><?xml version="1.0" encoding="utf-8"?>
<p:tagLst xmlns:p="http://schemas.openxmlformats.org/presentationml/2006/main">
  <p:tag name="KSO_WM_BEAUTIFY_FLAG" val=""/>
</p:tagLst>
</file>

<file path=ppt/tags/tag1925.xml><?xml version="1.0" encoding="utf-8"?>
<p:tagLst xmlns:p="http://schemas.openxmlformats.org/presentationml/2006/main">
  <p:tag name="KSO_WM_BEAUTIFY_FLAG" val=""/>
</p:tagLst>
</file>

<file path=ppt/tags/tag1926.xml><?xml version="1.0" encoding="utf-8"?>
<p:tagLst xmlns:p="http://schemas.openxmlformats.org/presentationml/2006/main">
  <p:tag name="KSO_WM_BEAUTIFY_FLAG" val=""/>
</p:tagLst>
</file>

<file path=ppt/tags/tag1927.xml><?xml version="1.0" encoding="utf-8"?>
<p:tagLst xmlns:p="http://schemas.openxmlformats.org/presentationml/2006/main">
  <p:tag name="KSO_WM_BEAUTIFY_FLAG" val=""/>
</p:tagLst>
</file>

<file path=ppt/tags/tag1928.xml><?xml version="1.0" encoding="utf-8"?>
<p:tagLst xmlns:p="http://schemas.openxmlformats.org/presentationml/2006/main">
  <p:tag name="KSO_WM_BEAUTIFY_FLAG" val=""/>
</p:tagLst>
</file>

<file path=ppt/tags/tag1929.xml><?xml version="1.0" encoding="utf-8"?>
<p:tagLst xmlns:p="http://schemas.openxmlformats.org/presentationml/2006/main">
  <p:tag name="KSO_WM_BEAUTIFY_FLAG" val=""/>
</p:tagLst>
</file>

<file path=ppt/tags/tag1930.xml><?xml version="1.0" encoding="utf-8"?>
<p:tagLst xmlns:p="http://schemas.openxmlformats.org/presentationml/2006/main">
  <p:tag name="KSO_WM_BEAUTIFY_FLAG" val=""/>
</p:tagLst>
</file>

<file path=ppt/tags/tag1931.xml><?xml version="1.0" encoding="utf-8"?>
<p:tagLst xmlns:p="http://schemas.openxmlformats.org/presentationml/2006/main">
  <p:tag name="KSO_WM_BEAUTIFY_FLAG" val=""/>
</p:tagLst>
</file>

<file path=ppt/tags/tag1932.xml><?xml version="1.0" encoding="utf-8"?>
<p:tagLst xmlns:p="http://schemas.openxmlformats.org/presentationml/2006/main">
  <p:tag name="KSO_WM_BEAUTIFY_FLAG" val=""/>
</p:tagLst>
</file>

<file path=ppt/tags/tag1933.xml><?xml version="1.0" encoding="utf-8"?>
<p:tagLst xmlns:p="http://schemas.openxmlformats.org/presentationml/2006/main">
  <p:tag name="KSO_WM_BEAUTIFY_FLAG" val=""/>
</p:tagLst>
</file>

<file path=ppt/tags/tag1934.xml><?xml version="1.0" encoding="utf-8"?>
<p:tagLst xmlns:p="http://schemas.openxmlformats.org/presentationml/2006/main">
  <p:tag name="KSO_WM_BEAUTIFY_FLAG" val=""/>
</p:tagLst>
</file>

<file path=ppt/tags/tag1935.xml><?xml version="1.0" encoding="utf-8"?>
<p:tagLst xmlns:p="http://schemas.openxmlformats.org/presentationml/2006/main">
  <p:tag name="KSO_WM_BEAUTIFY_FLAG" val=""/>
</p:tagLst>
</file>

<file path=ppt/tags/tag1936.xml><?xml version="1.0" encoding="utf-8"?>
<p:tagLst xmlns:p="http://schemas.openxmlformats.org/presentationml/2006/main">
  <p:tag name="KSO_WM_BEAUTIFY_FLAG" val=""/>
</p:tagLst>
</file>

<file path=ppt/tags/tag1937.xml><?xml version="1.0" encoding="utf-8"?>
<p:tagLst xmlns:p="http://schemas.openxmlformats.org/presentationml/2006/main">
  <p:tag name="KSO_WM_BEAUTIFY_FLAG" val=""/>
</p:tagLst>
</file>

<file path=ppt/tags/tag1938.xml><?xml version="1.0" encoding="utf-8"?>
<p:tagLst xmlns:p="http://schemas.openxmlformats.org/presentationml/2006/main">
  <p:tag name="KSO_WM_BEAUTIFY_FLAG" val=""/>
</p:tagLst>
</file>

<file path=ppt/tags/tag1939.xml><?xml version="1.0" encoding="utf-8"?>
<p:tagLst xmlns:p="http://schemas.openxmlformats.org/presentationml/2006/main">
  <p:tag name="KSO_WM_BEAUTIFY_FLAG" val=""/>
</p:tagLst>
</file>

<file path=ppt/tags/tag1940.xml><?xml version="1.0" encoding="utf-8"?>
<p:tagLst xmlns:p="http://schemas.openxmlformats.org/presentationml/2006/main">
  <p:tag name="KSO_WM_BEAUTIFY_FLAG" val=""/>
</p:tagLst>
</file>

<file path=ppt/tags/tag1941.xml><?xml version="1.0" encoding="utf-8"?>
<p:tagLst xmlns:p="http://schemas.openxmlformats.org/presentationml/2006/main">
  <p:tag name="KSO_WM_BEAUTIFY_FLAG" val=""/>
</p:tagLst>
</file>

<file path=ppt/tags/tag1942.xml><?xml version="1.0" encoding="utf-8"?>
<p:tagLst xmlns:p="http://schemas.openxmlformats.org/presentationml/2006/main">
  <p:tag name="KSO_WM_BEAUTIFY_FLAG" val=""/>
</p:tagLst>
</file>

<file path=ppt/tags/tag1943.xml><?xml version="1.0" encoding="utf-8"?>
<p:tagLst xmlns:p="http://schemas.openxmlformats.org/presentationml/2006/main">
  <p:tag name="KSO_WM_BEAUTIFY_FLAG" val=""/>
</p:tagLst>
</file>

<file path=ppt/tags/tag1944.xml><?xml version="1.0" encoding="utf-8"?>
<p:tagLst xmlns:p="http://schemas.openxmlformats.org/presentationml/2006/main">
  <p:tag name="KSO_WM_BEAUTIFY_FLAG" val=""/>
</p:tagLst>
</file>

<file path=ppt/tags/tag1945.xml><?xml version="1.0" encoding="utf-8"?>
<p:tagLst xmlns:p="http://schemas.openxmlformats.org/presentationml/2006/main">
  <p:tag name="KSO_WM_BEAUTIFY_FLAG" val=""/>
</p:tagLst>
</file>

<file path=ppt/tags/tag1946.xml><?xml version="1.0" encoding="utf-8"?>
<p:tagLst xmlns:p="http://schemas.openxmlformats.org/presentationml/2006/main">
  <p:tag name="KSO_WM_BEAUTIFY_FLAG" val=""/>
</p:tagLst>
</file>

<file path=ppt/tags/tag1947.xml><?xml version="1.0" encoding="utf-8"?>
<p:tagLst xmlns:p="http://schemas.openxmlformats.org/presentationml/2006/main">
  <p:tag name="KSO_WM_BEAUTIFY_FLAG" val=""/>
</p:tagLst>
</file>

<file path=ppt/tags/tag1948.xml><?xml version="1.0" encoding="utf-8"?>
<p:tagLst xmlns:p="http://schemas.openxmlformats.org/presentationml/2006/main">
  <p:tag name="KSO_WM_BEAUTIFY_FLAG" val=""/>
</p:tagLst>
</file>

<file path=ppt/tags/tag1949.xml><?xml version="1.0" encoding="utf-8"?>
<p:tagLst xmlns:p="http://schemas.openxmlformats.org/presentationml/2006/main">
  <p:tag name="KSO_WM_BEAUTIFY_FLAG" val=""/>
</p:tagLst>
</file>

<file path=ppt/tags/tag1950.xml><?xml version="1.0" encoding="utf-8"?>
<p:tagLst xmlns:p="http://schemas.openxmlformats.org/presentationml/2006/main">
  <p:tag name="KSO_WM_BEAUTIFY_FLAG" val=""/>
</p:tagLst>
</file>

<file path=ppt/tags/tag1951.xml><?xml version="1.0" encoding="utf-8"?>
<p:tagLst xmlns:p="http://schemas.openxmlformats.org/presentationml/2006/main">
  <p:tag name="KSO_WM_BEAUTIFY_FLAG" val=""/>
</p:tagLst>
</file>

<file path=ppt/tags/tag1952.xml><?xml version="1.0" encoding="utf-8"?>
<p:tagLst xmlns:p="http://schemas.openxmlformats.org/presentationml/2006/main">
  <p:tag name="KSO_WM_BEAUTIFY_FLAG" val=""/>
</p:tagLst>
</file>

<file path=ppt/tags/tag1953.xml><?xml version="1.0" encoding="utf-8"?>
<p:tagLst xmlns:p="http://schemas.openxmlformats.org/presentationml/2006/main">
  <p:tag name="KSO_WM_BEAUTIFY_FLAG" val=""/>
</p:tagLst>
</file>

<file path=ppt/tags/tag1954.xml><?xml version="1.0" encoding="utf-8"?>
<p:tagLst xmlns:p="http://schemas.openxmlformats.org/presentationml/2006/main">
  <p:tag name="KSO_WM_BEAUTIFY_FLAG" val=""/>
</p:tagLst>
</file>

<file path=ppt/tags/tag1955.xml><?xml version="1.0" encoding="utf-8"?>
<p:tagLst xmlns:p="http://schemas.openxmlformats.org/presentationml/2006/main">
  <p:tag name="KSO_WM_BEAUTIFY_FLAG" val=""/>
</p:tagLst>
</file>

<file path=ppt/tags/tag1956.xml><?xml version="1.0" encoding="utf-8"?>
<p:tagLst xmlns:p="http://schemas.openxmlformats.org/presentationml/2006/main">
  <p:tag name="KSO_WM_BEAUTIFY_FLAG" val=""/>
</p:tagLst>
</file>

<file path=ppt/tags/tag1957.xml><?xml version="1.0" encoding="utf-8"?>
<p:tagLst xmlns:p="http://schemas.openxmlformats.org/presentationml/2006/main">
  <p:tag name="KSO_WM_BEAUTIFY_FLAG" val=""/>
</p:tagLst>
</file>

<file path=ppt/tags/tag1958.xml><?xml version="1.0" encoding="utf-8"?>
<p:tagLst xmlns:p="http://schemas.openxmlformats.org/presentationml/2006/main">
  <p:tag name="KSO_WM_BEAUTIFY_FLAG" val=""/>
</p:tagLst>
</file>

<file path=ppt/tags/tag1959.xml><?xml version="1.0" encoding="utf-8"?>
<p:tagLst xmlns:p="http://schemas.openxmlformats.org/presentationml/2006/main">
  <p:tag name="KSO_WM_BEAUTIFY_FLAG" val=""/>
</p:tagLst>
</file>

<file path=ppt/tags/tag1960.xml><?xml version="1.0" encoding="utf-8"?>
<p:tagLst xmlns:p="http://schemas.openxmlformats.org/presentationml/2006/main">
  <p:tag name="KSO_WM_BEAUTIFY_FLAG" val=""/>
</p:tagLst>
</file>

<file path=ppt/tags/tag1961.xml><?xml version="1.0" encoding="utf-8"?>
<p:tagLst xmlns:p="http://schemas.openxmlformats.org/presentationml/2006/main">
  <p:tag name="KSO_WM_BEAUTIFY_FLAG" val=""/>
</p:tagLst>
</file>

<file path=ppt/tags/tag1962.xml><?xml version="1.0" encoding="utf-8"?>
<p:tagLst xmlns:p="http://schemas.openxmlformats.org/presentationml/2006/main">
  <p:tag name="KSO_WM_BEAUTIFY_FLAG" val=""/>
</p:tagLst>
</file>

<file path=ppt/tags/tag1963.xml><?xml version="1.0" encoding="utf-8"?>
<p:tagLst xmlns:p="http://schemas.openxmlformats.org/presentationml/2006/main">
  <p:tag name="KSO_WM_BEAUTIFY_FLAG" val=""/>
</p:tagLst>
</file>

<file path=ppt/tags/tag1964.xml><?xml version="1.0" encoding="utf-8"?>
<p:tagLst xmlns:p="http://schemas.openxmlformats.org/presentationml/2006/main">
  <p:tag name="KSO_WM_BEAUTIFY_FLAG" val=""/>
</p:tagLst>
</file>

<file path=ppt/tags/tag1965.xml><?xml version="1.0" encoding="utf-8"?>
<p:tagLst xmlns:p="http://schemas.openxmlformats.org/presentationml/2006/main">
  <p:tag name="KSO_WM_BEAUTIFY_FLAG" val=""/>
</p:tagLst>
</file>

<file path=ppt/tags/tag1966.xml><?xml version="1.0" encoding="utf-8"?>
<p:tagLst xmlns:p="http://schemas.openxmlformats.org/presentationml/2006/main">
  <p:tag name="KSO_WM_BEAUTIFY_FLAG" val=""/>
</p:tagLst>
</file>

<file path=ppt/tags/tag1967.xml><?xml version="1.0" encoding="utf-8"?>
<p:tagLst xmlns:p="http://schemas.openxmlformats.org/presentationml/2006/main">
  <p:tag name="KSO_WM_BEAUTIFY_FLAG" val=""/>
</p:tagLst>
</file>

<file path=ppt/tags/tag1968.xml><?xml version="1.0" encoding="utf-8"?>
<p:tagLst xmlns:p="http://schemas.openxmlformats.org/presentationml/2006/main">
  <p:tag name="KSO_WM_BEAUTIFY_FLAG" val=""/>
</p:tagLst>
</file>

<file path=ppt/tags/tag1969.xml><?xml version="1.0" encoding="utf-8"?>
<p:tagLst xmlns:p="http://schemas.openxmlformats.org/presentationml/2006/main">
  <p:tag name="KSO_WM_BEAUTIFY_FLAG" val=""/>
</p:tagLst>
</file>

<file path=ppt/tags/tag1970.xml><?xml version="1.0" encoding="utf-8"?>
<p:tagLst xmlns:p="http://schemas.openxmlformats.org/presentationml/2006/main">
  <p:tag name="KSO_WM_BEAUTIFY_FLAG" val=""/>
</p:tagLst>
</file>

<file path=ppt/tags/tag1971.xml><?xml version="1.0" encoding="utf-8"?>
<p:tagLst xmlns:p="http://schemas.openxmlformats.org/presentationml/2006/main">
  <p:tag name="KSO_WM_BEAUTIFY_FLAG" val=""/>
</p:tagLst>
</file>

<file path=ppt/tags/tag1972.xml><?xml version="1.0" encoding="utf-8"?>
<p:tagLst xmlns:p="http://schemas.openxmlformats.org/presentationml/2006/main">
  <p:tag name="KSO_WM_BEAUTIFY_FLAG" val=""/>
</p:tagLst>
</file>

<file path=ppt/tags/tag1973.xml><?xml version="1.0" encoding="utf-8"?>
<p:tagLst xmlns:p="http://schemas.openxmlformats.org/presentationml/2006/main">
  <p:tag name="KSO_WM_BEAUTIFY_FLAG" val=""/>
</p:tagLst>
</file>

<file path=ppt/tags/tag1974.xml><?xml version="1.0" encoding="utf-8"?>
<p:tagLst xmlns:p="http://schemas.openxmlformats.org/presentationml/2006/main">
  <p:tag name="KSO_WM_BEAUTIFY_FLAG" val=""/>
</p:tagLst>
</file>

<file path=ppt/tags/tag1975.xml><?xml version="1.0" encoding="utf-8"?>
<p:tagLst xmlns:p="http://schemas.openxmlformats.org/presentationml/2006/main">
  <p:tag name="KSO_WM_BEAUTIFY_FLAG" val=""/>
</p:tagLst>
</file>

<file path=ppt/tags/tag1976.xml><?xml version="1.0" encoding="utf-8"?>
<p:tagLst xmlns:p="http://schemas.openxmlformats.org/presentationml/2006/main">
  <p:tag name="KSO_WM_BEAUTIFY_FLAG" val=""/>
</p:tagLst>
</file>

<file path=ppt/tags/tag1977.xml><?xml version="1.0" encoding="utf-8"?>
<p:tagLst xmlns:p="http://schemas.openxmlformats.org/presentationml/2006/main">
  <p:tag name="KSO_WM_BEAUTIFY_FLAG" val=""/>
</p:tagLst>
</file>

<file path=ppt/tags/tag1978.xml><?xml version="1.0" encoding="utf-8"?>
<p:tagLst xmlns:p="http://schemas.openxmlformats.org/presentationml/2006/main">
  <p:tag name="KSO_WM_BEAUTIFY_FLAG" val=""/>
</p:tagLst>
</file>

<file path=ppt/tags/tag1979.xml><?xml version="1.0" encoding="utf-8"?>
<p:tagLst xmlns:p="http://schemas.openxmlformats.org/presentationml/2006/main">
  <p:tag name="KSO_WM_BEAUTIFY_FLAG" val=""/>
</p:tagLst>
</file>

<file path=ppt/tags/tag1980.xml><?xml version="1.0" encoding="utf-8"?>
<p:tagLst xmlns:p="http://schemas.openxmlformats.org/presentationml/2006/main">
  <p:tag name="KSO_WM_BEAUTIFY_FLAG" val=""/>
</p:tagLst>
</file>

<file path=ppt/tags/tag1981.xml><?xml version="1.0" encoding="utf-8"?>
<p:tagLst xmlns:p="http://schemas.openxmlformats.org/presentationml/2006/main">
  <p:tag name="KSO_WM_BEAUTIFY_FLAG" val=""/>
</p:tagLst>
</file>

<file path=ppt/tags/tag1982.xml><?xml version="1.0" encoding="utf-8"?>
<p:tagLst xmlns:p="http://schemas.openxmlformats.org/presentationml/2006/main">
  <p:tag name="KSO_WM_BEAUTIFY_FLAG" val=""/>
</p:tagLst>
</file>

<file path=ppt/tags/tag1983.xml><?xml version="1.0" encoding="utf-8"?>
<p:tagLst xmlns:p="http://schemas.openxmlformats.org/presentationml/2006/main">
  <p:tag name="KSO_WM_BEAUTIFY_FLAG" val=""/>
</p:tagLst>
</file>

<file path=ppt/tags/tag1984.xml><?xml version="1.0" encoding="utf-8"?>
<p:tagLst xmlns:p="http://schemas.openxmlformats.org/presentationml/2006/main">
  <p:tag name="KSO_WM_BEAUTIFY_FLAG" val=""/>
</p:tagLst>
</file>

<file path=ppt/tags/tag1985.xml><?xml version="1.0" encoding="utf-8"?>
<p:tagLst xmlns:p="http://schemas.openxmlformats.org/presentationml/2006/main">
  <p:tag name="KSO_WM_BEAUTIFY_FLAG" val=""/>
</p:tagLst>
</file>

<file path=ppt/tags/tag1986.xml><?xml version="1.0" encoding="utf-8"?>
<p:tagLst xmlns:p="http://schemas.openxmlformats.org/presentationml/2006/main">
  <p:tag name="KSO_WM_BEAUTIFY_FLAG" val=""/>
</p:tagLst>
</file>

<file path=ppt/tags/tag1987.xml><?xml version="1.0" encoding="utf-8"?>
<p:tagLst xmlns:p="http://schemas.openxmlformats.org/presentationml/2006/main">
  <p:tag name="KSO_WM_BEAUTIFY_FLAG" val=""/>
</p:tagLst>
</file>

<file path=ppt/tags/tag1988.xml><?xml version="1.0" encoding="utf-8"?>
<p:tagLst xmlns:p="http://schemas.openxmlformats.org/presentationml/2006/main">
  <p:tag name="KSO_WM_BEAUTIFY_FLAG" val=""/>
</p:tagLst>
</file>

<file path=ppt/tags/tag1989.xml><?xml version="1.0" encoding="utf-8"?>
<p:tagLst xmlns:p="http://schemas.openxmlformats.org/presentationml/2006/main">
  <p:tag name="KSO_WM_BEAUTIFY_FLAG" val=""/>
</p:tagLst>
</file>

<file path=ppt/tags/tag1990.xml><?xml version="1.0" encoding="utf-8"?>
<p:tagLst xmlns:p="http://schemas.openxmlformats.org/presentationml/2006/main">
  <p:tag name="KSO_WM_BEAUTIFY_FLAG" val=""/>
</p:tagLst>
</file>

<file path=ppt/tags/tag1991.xml><?xml version="1.0" encoding="utf-8"?>
<p:tagLst xmlns:p="http://schemas.openxmlformats.org/presentationml/2006/main">
  <p:tag name="KSO_WM_BEAUTIFY_FLAG" val=""/>
</p:tagLst>
</file>

<file path=ppt/tags/tag1992.xml><?xml version="1.0" encoding="utf-8"?>
<p:tagLst xmlns:p="http://schemas.openxmlformats.org/presentationml/2006/main">
  <p:tag name="KSO_WM_BEAUTIFY_FLAG" val=""/>
</p:tagLst>
</file>

<file path=ppt/tags/tag1993.xml><?xml version="1.0" encoding="utf-8"?>
<p:tagLst xmlns:p="http://schemas.openxmlformats.org/presentationml/2006/main">
  <p:tag name="KSO_WM_BEAUTIFY_FLAG" val=""/>
</p:tagLst>
</file>

<file path=ppt/tags/tag1994.xml><?xml version="1.0" encoding="utf-8"?>
<p:tagLst xmlns:p="http://schemas.openxmlformats.org/presentationml/2006/main">
  <p:tag name="KSO_WM_BEAUTIFY_FLAG" val=""/>
</p:tagLst>
</file>

<file path=ppt/tags/tag1995.xml><?xml version="1.0" encoding="utf-8"?>
<p:tagLst xmlns:p="http://schemas.openxmlformats.org/presentationml/2006/main">
  <p:tag name="KSO_WM_BEAUTIFY_FLAG" val=""/>
</p:tagLst>
</file>

<file path=ppt/tags/tag1996.xml><?xml version="1.0" encoding="utf-8"?>
<p:tagLst xmlns:p="http://schemas.openxmlformats.org/presentationml/2006/main">
  <p:tag name="KSO_WM_BEAUTIFY_FLAG" val=""/>
</p:tagLst>
</file>

<file path=ppt/tags/tag1997.xml><?xml version="1.0" encoding="utf-8"?>
<p:tagLst xmlns:p="http://schemas.openxmlformats.org/presentationml/2006/main">
  <p:tag name="KSO_WM_BEAUTIFY_FLAG" val=""/>
</p:tagLst>
</file>

<file path=ppt/tags/tag1998.xml><?xml version="1.0" encoding="utf-8"?>
<p:tagLst xmlns:p="http://schemas.openxmlformats.org/presentationml/2006/main">
  <p:tag name="KSO_WM_BEAUTIFY_FLAG" val=""/>
</p:tagLst>
</file>

<file path=ppt/tags/tag1999.xml><?xml version="1.0" encoding="utf-8"?>
<p:tagLst xmlns:p="http://schemas.openxmlformats.org/presentationml/2006/main">
  <p:tag name="KSO_WM_BEAUTIFY_FLAG" val=""/>
</p:tagLst>
</file>

<file path=ppt/tags/tag2000.xml><?xml version="1.0" encoding="utf-8"?>
<p:tagLst xmlns:p="http://schemas.openxmlformats.org/presentationml/2006/main">
  <p:tag name="KSO_WM_BEAUTIFY_FLAG" val=""/>
</p:tagLst>
</file>

<file path=ppt/tags/tag2001.xml><?xml version="1.0" encoding="utf-8"?>
<p:tagLst xmlns:p="http://schemas.openxmlformats.org/presentationml/2006/main">
  <p:tag name="KSO_WM_BEAUTIFY_FLAG" val=""/>
</p:tagLst>
</file>

<file path=ppt/tags/tag2002.xml><?xml version="1.0" encoding="utf-8"?>
<p:tagLst xmlns:p="http://schemas.openxmlformats.org/presentationml/2006/main">
  <p:tag name="KSO_WM_BEAUTIFY_FLAG" val=""/>
</p:tagLst>
</file>

<file path=ppt/tags/tag2003.xml><?xml version="1.0" encoding="utf-8"?>
<p:tagLst xmlns:p="http://schemas.openxmlformats.org/presentationml/2006/main">
  <p:tag name="KSO_WM_BEAUTIFY_FLAG" val=""/>
</p:tagLst>
</file>

<file path=ppt/tags/tag2004.xml><?xml version="1.0" encoding="utf-8"?>
<p:tagLst xmlns:p="http://schemas.openxmlformats.org/presentationml/2006/main">
  <p:tag name="KSO_WM_BEAUTIFY_FLAG" val=""/>
</p:tagLst>
</file>

<file path=ppt/tags/tag2005.xml><?xml version="1.0" encoding="utf-8"?>
<p:tagLst xmlns:p="http://schemas.openxmlformats.org/presentationml/2006/main">
  <p:tag name="KSO_WM_BEAUTIFY_FLAG" val=""/>
</p:tagLst>
</file>

<file path=ppt/tags/tag2006.xml><?xml version="1.0" encoding="utf-8"?>
<p:tagLst xmlns:p="http://schemas.openxmlformats.org/presentationml/2006/main">
  <p:tag name="KSO_WM_BEAUTIFY_FLAG" val=""/>
</p:tagLst>
</file>

<file path=ppt/tags/tag2007.xml><?xml version="1.0" encoding="utf-8"?>
<p:tagLst xmlns:p="http://schemas.openxmlformats.org/presentationml/2006/main">
  <p:tag name="KSO_WM_BEAUTIFY_FLAG" val=""/>
</p:tagLst>
</file>

<file path=ppt/tags/tag2008.xml><?xml version="1.0" encoding="utf-8"?>
<p:tagLst xmlns:p="http://schemas.openxmlformats.org/presentationml/2006/main">
  <p:tag name="KSO_WM_BEAUTIFY_FLAG" val=""/>
</p:tagLst>
</file>

<file path=ppt/tags/tag2009.xml><?xml version="1.0" encoding="utf-8"?>
<p:tagLst xmlns:p="http://schemas.openxmlformats.org/presentationml/2006/main">
  <p:tag name="KSO_WM_BEAUTIFY_FLAG" val=""/>
</p:tagLst>
</file>

<file path=ppt/tags/tag2010.xml><?xml version="1.0" encoding="utf-8"?>
<p:tagLst xmlns:p="http://schemas.openxmlformats.org/presentationml/2006/main">
  <p:tag name="KSO_WM_BEAUTIFY_FLAG" val=""/>
</p:tagLst>
</file>

<file path=ppt/tags/tag2011.xml><?xml version="1.0" encoding="utf-8"?>
<p:tagLst xmlns:p="http://schemas.openxmlformats.org/presentationml/2006/main">
  <p:tag name="KSO_WM_BEAUTIFY_FLAG" val=""/>
</p:tagLst>
</file>

<file path=ppt/tags/tag2012.xml><?xml version="1.0" encoding="utf-8"?>
<p:tagLst xmlns:p="http://schemas.openxmlformats.org/presentationml/2006/main">
  <p:tag name="KSO_WM_BEAUTIFY_FLAG" val=""/>
</p:tagLst>
</file>

<file path=ppt/tags/tag2013.xml><?xml version="1.0" encoding="utf-8"?>
<p:tagLst xmlns:p="http://schemas.openxmlformats.org/presentationml/2006/main">
  <p:tag name="KSO_WM_BEAUTIFY_FLAG" val=""/>
</p:tagLst>
</file>

<file path=ppt/tags/tag2014.xml><?xml version="1.0" encoding="utf-8"?>
<p:tagLst xmlns:p="http://schemas.openxmlformats.org/presentationml/2006/main">
  <p:tag name="KSO_WM_BEAUTIFY_FLAG" val=""/>
</p:tagLst>
</file>

<file path=ppt/tags/tag2015.xml><?xml version="1.0" encoding="utf-8"?>
<p:tagLst xmlns:p="http://schemas.openxmlformats.org/presentationml/2006/main">
  <p:tag name="KSO_WM_BEAUTIFY_FLAG" val=""/>
</p:tagLst>
</file>

<file path=ppt/tags/tag2016.xml><?xml version="1.0" encoding="utf-8"?>
<p:tagLst xmlns:p="http://schemas.openxmlformats.org/presentationml/2006/main">
  <p:tag name="KSO_WM_BEAUTIFY_FLAG" val=""/>
</p:tagLst>
</file>

<file path=ppt/tags/tag2017.xml><?xml version="1.0" encoding="utf-8"?>
<p:tagLst xmlns:p="http://schemas.openxmlformats.org/presentationml/2006/main">
  <p:tag name="KSO_WM_BEAUTIFY_FLAG" val=""/>
</p:tagLst>
</file>

<file path=ppt/tags/tag2018.xml><?xml version="1.0" encoding="utf-8"?>
<p:tagLst xmlns:p="http://schemas.openxmlformats.org/presentationml/2006/main">
  <p:tag name="KSO_WM_BEAUTIFY_FLAG" val=""/>
</p:tagLst>
</file>

<file path=ppt/tags/tag2019.xml><?xml version="1.0" encoding="utf-8"?>
<p:tagLst xmlns:p="http://schemas.openxmlformats.org/presentationml/2006/main">
  <p:tag name="KSO_WM_BEAUTIFY_FLAG" val=""/>
</p:tagLst>
</file>

<file path=ppt/tags/tag2020.xml><?xml version="1.0" encoding="utf-8"?>
<p:tagLst xmlns:p="http://schemas.openxmlformats.org/presentationml/2006/main">
  <p:tag name="KSO_WM_BEAUTIFY_FLAG" val=""/>
</p:tagLst>
</file>

<file path=ppt/tags/tag2021.xml><?xml version="1.0" encoding="utf-8"?>
<p:tagLst xmlns:p="http://schemas.openxmlformats.org/presentationml/2006/main">
  <p:tag name="KSO_WM_BEAUTIFY_FLAG" val=""/>
</p:tagLst>
</file>

<file path=ppt/tags/tag2022.xml><?xml version="1.0" encoding="utf-8"?>
<p:tagLst xmlns:p="http://schemas.openxmlformats.org/presentationml/2006/main">
  <p:tag name="KSO_WM_BEAUTIFY_FLAG" val=""/>
</p:tagLst>
</file>

<file path=ppt/tags/tag2023.xml><?xml version="1.0" encoding="utf-8"?>
<p:tagLst xmlns:p="http://schemas.openxmlformats.org/presentationml/2006/main">
  <p:tag name="KSO_WM_BEAUTIFY_FLAG" val=""/>
</p:tagLst>
</file>

<file path=ppt/tags/tag2024.xml><?xml version="1.0" encoding="utf-8"?>
<p:tagLst xmlns:p="http://schemas.openxmlformats.org/presentationml/2006/main">
  <p:tag name="KSO_WM_BEAUTIFY_FLAG" val=""/>
</p:tagLst>
</file>

<file path=ppt/tags/tag2025.xml><?xml version="1.0" encoding="utf-8"?>
<p:tagLst xmlns:p="http://schemas.openxmlformats.org/presentationml/2006/main">
  <p:tag name="KSO_WM_BEAUTIFY_FLAG" val=""/>
</p:tagLst>
</file>

<file path=ppt/tags/tag2026.xml><?xml version="1.0" encoding="utf-8"?>
<p:tagLst xmlns:p="http://schemas.openxmlformats.org/presentationml/2006/main">
  <p:tag name="KSO_WM_BEAUTIFY_FLAG" val=""/>
</p:tagLst>
</file>

<file path=ppt/tags/tag2027.xml><?xml version="1.0" encoding="utf-8"?>
<p:tagLst xmlns:p="http://schemas.openxmlformats.org/presentationml/2006/main">
  <p:tag name="KSO_WM_BEAUTIFY_FLAG" val=""/>
</p:tagLst>
</file>

<file path=ppt/tags/tag2028.xml><?xml version="1.0" encoding="utf-8"?>
<p:tagLst xmlns:p="http://schemas.openxmlformats.org/presentationml/2006/main">
  <p:tag name="KSO_WM_BEAUTIFY_FLAG" val=""/>
</p:tagLst>
</file>

<file path=ppt/tags/tag2029.xml><?xml version="1.0" encoding="utf-8"?>
<p:tagLst xmlns:p="http://schemas.openxmlformats.org/presentationml/2006/main">
  <p:tag name="KSO_WM_BEAUTIFY_FLAG" val=""/>
</p:tagLst>
</file>

<file path=ppt/tags/tag2030.xml><?xml version="1.0" encoding="utf-8"?>
<p:tagLst xmlns:p="http://schemas.openxmlformats.org/presentationml/2006/main">
  <p:tag name="KSO_WM_BEAUTIFY_FLAG" val=""/>
</p:tagLst>
</file>

<file path=ppt/tags/tag2031.xml><?xml version="1.0" encoding="utf-8"?>
<p:tagLst xmlns:p="http://schemas.openxmlformats.org/presentationml/2006/main">
  <p:tag name="KSO_WM_BEAUTIFY_FLAG" val=""/>
</p:tagLst>
</file>

<file path=ppt/tags/tag2032.xml><?xml version="1.0" encoding="utf-8"?>
<p:tagLst xmlns:p="http://schemas.openxmlformats.org/presentationml/2006/main">
  <p:tag name="KSO_WM_BEAUTIFY_FLAG" val=""/>
</p:tagLst>
</file>

<file path=ppt/tags/tag2033.xml><?xml version="1.0" encoding="utf-8"?>
<p:tagLst xmlns:p="http://schemas.openxmlformats.org/presentationml/2006/main">
  <p:tag name="KSO_WM_BEAUTIFY_FLAG" val=""/>
</p:tagLst>
</file>

<file path=ppt/tags/tag2034.xml><?xml version="1.0" encoding="utf-8"?>
<p:tagLst xmlns:p="http://schemas.openxmlformats.org/presentationml/2006/main">
  <p:tag name="KSO_WM_BEAUTIFY_FLAG" val=""/>
</p:tagLst>
</file>

<file path=ppt/tags/tag2035.xml><?xml version="1.0" encoding="utf-8"?>
<p:tagLst xmlns:p="http://schemas.openxmlformats.org/presentationml/2006/main">
  <p:tag name="KSO_WM_BEAUTIFY_FLAG" val=""/>
</p:tagLst>
</file>

<file path=ppt/tags/tag2036.xml><?xml version="1.0" encoding="utf-8"?>
<p:tagLst xmlns:p="http://schemas.openxmlformats.org/presentationml/2006/main">
  <p:tag name="KSO_WM_BEAUTIFY_FLAG" val=""/>
</p:tagLst>
</file>

<file path=ppt/tags/tag2037.xml><?xml version="1.0" encoding="utf-8"?>
<p:tagLst xmlns:p="http://schemas.openxmlformats.org/presentationml/2006/main">
  <p:tag name="KSO_WM_BEAUTIFY_FLAG" val=""/>
</p:tagLst>
</file>

<file path=ppt/tags/tag2038.xml><?xml version="1.0" encoding="utf-8"?>
<p:tagLst xmlns:p="http://schemas.openxmlformats.org/presentationml/2006/main">
  <p:tag name="KSO_WM_BEAUTIFY_FLAG" val=""/>
</p:tagLst>
</file>

<file path=ppt/tags/tag2039.xml><?xml version="1.0" encoding="utf-8"?>
<p:tagLst xmlns:p="http://schemas.openxmlformats.org/presentationml/2006/main">
  <p:tag name="KSO_WM_BEAUTIFY_FLAG" val=""/>
</p:tagLst>
</file>

<file path=ppt/tags/tag2040.xml><?xml version="1.0" encoding="utf-8"?>
<p:tagLst xmlns:p="http://schemas.openxmlformats.org/presentationml/2006/main">
  <p:tag name="KSO_WM_BEAUTIFY_FLAG" val=""/>
</p:tagLst>
</file>

<file path=ppt/tags/tag2041.xml><?xml version="1.0" encoding="utf-8"?>
<p:tagLst xmlns:p="http://schemas.openxmlformats.org/presentationml/2006/main">
  <p:tag name="KSO_WM_BEAUTIFY_FLAG" val=""/>
</p:tagLst>
</file>

<file path=ppt/tags/tag2042.xml><?xml version="1.0" encoding="utf-8"?>
<p:tagLst xmlns:p="http://schemas.openxmlformats.org/presentationml/2006/main">
  <p:tag name="KSO_WM_BEAUTIFY_FLAG" val=""/>
</p:tagLst>
</file>

<file path=ppt/tags/tag2043.xml><?xml version="1.0" encoding="utf-8"?>
<p:tagLst xmlns:p="http://schemas.openxmlformats.org/presentationml/2006/main">
  <p:tag name="KSO_WM_BEAUTIFY_FLAG" val=""/>
</p:tagLst>
</file>

<file path=ppt/tags/tag2044.xml><?xml version="1.0" encoding="utf-8"?>
<p:tagLst xmlns:p="http://schemas.openxmlformats.org/presentationml/2006/main">
  <p:tag name="KSO_WM_BEAUTIFY_FLAG" val=""/>
</p:tagLst>
</file>

<file path=ppt/tags/tag2045.xml><?xml version="1.0" encoding="utf-8"?>
<p:tagLst xmlns:p="http://schemas.openxmlformats.org/presentationml/2006/main">
  <p:tag name="KSO_WM_BEAUTIFY_FLAG" val=""/>
</p:tagLst>
</file>

<file path=ppt/tags/tag2046.xml><?xml version="1.0" encoding="utf-8"?>
<p:tagLst xmlns:p="http://schemas.openxmlformats.org/presentationml/2006/main">
  <p:tag name="KSO_WM_BEAUTIFY_FLAG" val=""/>
</p:tagLst>
</file>

<file path=ppt/tags/tag2047.xml><?xml version="1.0" encoding="utf-8"?>
<p:tagLst xmlns:p="http://schemas.openxmlformats.org/presentationml/2006/main">
  <p:tag name="KSO_WM_BEAUTIFY_FLAG" val=""/>
</p:tagLst>
</file>

<file path=ppt/tags/tag2048.xml><?xml version="1.0" encoding="utf-8"?>
<p:tagLst xmlns:p="http://schemas.openxmlformats.org/presentationml/2006/main">
  <p:tag name="KSO_WM_BEAUTIFY_FLAG" val=""/>
</p:tagLst>
</file>

<file path=ppt/tags/tag2049.xml><?xml version="1.0" encoding="utf-8"?>
<p:tagLst xmlns:p="http://schemas.openxmlformats.org/presentationml/2006/main">
  <p:tag name="KSO_WM_BEAUTIFY_FLAG" val=""/>
</p:tagLst>
</file>

<file path=ppt/tags/tag2050.xml><?xml version="1.0" encoding="utf-8"?>
<p:tagLst xmlns:p="http://schemas.openxmlformats.org/presentationml/2006/main">
  <p:tag name="KSO_WM_BEAUTIFY_FLAG" val=""/>
</p:tagLst>
</file>

<file path=ppt/tags/tag2051.xml><?xml version="1.0" encoding="utf-8"?>
<p:tagLst xmlns:p="http://schemas.openxmlformats.org/presentationml/2006/main">
  <p:tag name="KSO_WM_BEAUTIFY_FLAG" val=""/>
</p:tagLst>
</file>

<file path=ppt/tags/tag2052.xml><?xml version="1.0" encoding="utf-8"?>
<p:tagLst xmlns:p="http://schemas.openxmlformats.org/presentationml/2006/main">
  <p:tag name="KSO_WM_BEAUTIFY_FLAG" val=""/>
</p:tagLst>
</file>

<file path=ppt/tags/tag2053.xml><?xml version="1.0" encoding="utf-8"?>
<p:tagLst xmlns:p="http://schemas.openxmlformats.org/presentationml/2006/main">
  <p:tag name="KSO_WM_BEAUTIFY_FLAG" val=""/>
</p:tagLst>
</file>

<file path=ppt/tags/tag2054.xml><?xml version="1.0" encoding="utf-8"?>
<p:tagLst xmlns:p="http://schemas.openxmlformats.org/presentationml/2006/main">
  <p:tag name="KSO_WM_BEAUTIFY_FLAG" val=""/>
</p:tagLst>
</file>

<file path=ppt/tags/tag2055.xml><?xml version="1.0" encoding="utf-8"?>
<p:tagLst xmlns:p="http://schemas.openxmlformats.org/presentationml/2006/main">
  <p:tag name="KSO_WM_BEAUTIFY_FLAG" val=""/>
</p:tagLst>
</file>

<file path=ppt/tags/tag2056.xml><?xml version="1.0" encoding="utf-8"?>
<p:tagLst xmlns:p="http://schemas.openxmlformats.org/presentationml/2006/main">
  <p:tag name="KSO_WM_BEAUTIFY_FLAG" val=""/>
</p:tagLst>
</file>

<file path=ppt/tags/tag2057.xml><?xml version="1.0" encoding="utf-8"?>
<p:tagLst xmlns:p="http://schemas.openxmlformats.org/presentationml/2006/main">
  <p:tag name="KSO_WM_BEAUTIFY_FLAG" val=""/>
</p:tagLst>
</file>

<file path=ppt/tags/tag2058.xml><?xml version="1.0" encoding="utf-8"?>
<p:tagLst xmlns:p="http://schemas.openxmlformats.org/presentationml/2006/main">
  <p:tag name="KSO_WM_BEAUTIFY_FLAG" val=""/>
</p:tagLst>
</file>

<file path=ppt/tags/tag2059.xml><?xml version="1.0" encoding="utf-8"?>
<p:tagLst xmlns:p="http://schemas.openxmlformats.org/presentationml/2006/main">
  <p:tag name="KSO_WM_BEAUTIFY_FLAG" val=""/>
</p:tagLst>
</file>

<file path=ppt/tags/tag2060.xml><?xml version="1.0" encoding="utf-8"?>
<p:tagLst xmlns:p="http://schemas.openxmlformats.org/presentationml/2006/main">
  <p:tag name="KSO_WM_BEAUTIFY_FLAG" val=""/>
</p:tagLst>
</file>

<file path=ppt/tags/tag2061.xml><?xml version="1.0" encoding="utf-8"?>
<p:tagLst xmlns:p="http://schemas.openxmlformats.org/presentationml/2006/main">
  <p:tag name="KSO_WM_BEAUTIFY_FLAG" val=""/>
</p:tagLst>
</file>

<file path=ppt/tags/tag2062.xml><?xml version="1.0" encoding="utf-8"?>
<p:tagLst xmlns:p="http://schemas.openxmlformats.org/presentationml/2006/main">
  <p:tag name="KSO_WM_BEAUTIFY_FLAG" val=""/>
</p:tagLst>
</file>

<file path=ppt/tags/tag2063.xml><?xml version="1.0" encoding="utf-8"?>
<p:tagLst xmlns:p="http://schemas.openxmlformats.org/presentationml/2006/main">
  <p:tag name="KSO_WM_BEAUTIFY_FLAG" val=""/>
</p:tagLst>
</file>

<file path=ppt/tags/tag2064.xml><?xml version="1.0" encoding="utf-8"?>
<p:tagLst xmlns:p="http://schemas.openxmlformats.org/presentationml/2006/main">
  <p:tag name="KSO_WM_BEAUTIFY_FLAG" val=""/>
</p:tagLst>
</file>

<file path=ppt/tags/tag2065.xml><?xml version="1.0" encoding="utf-8"?>
<p:tagLst xmlns:p="http://schemas.openxmlformats.org/presentationml/2006/main">
  <p:tag name="KSO_WM_BEAUTIFY_FLAG" val=""/>
</p:tagLst>
</file>

<file path=ppt/tags/tag2066.xml><?xml version="1.0" encoding="utf-8"?>
<p:tagLst xmlns:p="http://schemas.openxmlformats.org/presentationml/2006/main">
  <p:tag name="KSO_WM_BEAUTIFY_FLAG" val=""/>
</p:tagLst>
</file>

<file path=ppt/tags/tag2067.xml><?xml version="1.0" encoding="utf-8"?>
<p:tagLst xmlns:p="http://schemas.openxmlformats.org/presentationml/2006/main">
  <p:tag name="KSO_WM_BEAUTIFY_FLAG" val=""/>
</p:tagLst>
</file>

<file path=ppt/tags/tag2068.xml><?xml version="1.0" encoding="utf-8"?>
<p:tagLst xmlns:p="http://schemas.openxmlformats.org/presentationml/2006/main">
  <p:tag name="KSO_WM_BEAUTIFY_FLAG" val=""/>
</p:tagLst>
</file>

<file path=ppt/tags/tag2069.xml><?xml version="1.0" encoding="utf-8"?>
<p:tagLst xmlns:p="http://schemas.openxmlformats.org/presentationml/2006/main">
  <p:tag name="KSO_WM_BEAUTIFY_FLAG" val=""/>
</p:tagLst>
</file>

<file path=ppt/tags/tag2070.xml><?xml version="1.0" encoding="utf-8"?>
<p:tagLst xmlns:p="http://schemas.openxmlformats.org/presentationml/2006/main">
  <p:tag name="KSO_WM_BEAUTIFY_FLAG" val=""/>
</p:tagLst>
</file>

<file path=ppt/tags/tag2071.xml><?xml version="1.0" encoding="utf-8"?>
<p:tagLst xmlns:p="http://schemas.openxmlformats.org/presentationml/2006/main">
  <p:tag name="KSO_WM_BEAUTIFY_FLAG" val=""/>
</p:tagLst>
</file>

<file path=ppt/tags/tag2072.xml><?xml version="1.0" encoding="utf-8"?>
<p:tagLst xmlns:p="http://schemas.openxmlformats.org/presentationml/2006/main">
  <p:tag name="KSO_WM_BEAUTIFY_FLAG" val=""/>
</p:tagLst>
</file>

<file path=ppt/tags/tag2073.xml><?xml version="1.0" encoding="utf-8"?>
<p:tagLst xmlns:p="http://schemas.openxmlformats.org/presentationml/2006/main">
  <p:tag name="KSO_WM_BEAUTIFY_FLAG" val=""/>
</p:tagLst>
</file>

<file path=ppt/tags/tag2074.xml><?xml version="1.0" encoding="utf-8"?>
<p:tagLst xmlns:p="http://schemas.openxmlformats.org/presentationml/2006/main">
  <p:tag name="KSO_WM_BEAUTIFY_FLAG" val=""/>
</p:tagLst>
</file>

<file path=ppt/tags/tag2075.xml><?xml version="1.0" encoding="utf-8"?>
<p:tagLst xmlns:p="http://schemas.openxmlformats.org/presentationml/2006/main">
  <p:tag name="KSO_WM_BEAUTIFY_FLAG" val=""/>
</p:tagLst>
</file>

<file path=ppt/tags/tag2076.xml><?xml version="1.0" encoding="utf-8"?>
<p:tagLst xmlns:p="http://schemas.openxmlformats.org/presentationml/2006/main">
  <p:tag name="KSO_WM_BEAUTIFY_FLAG" val=""/>
</p:tagLst>
</file>

<file path=ppt/tags/tag2077.xml><?xml version="1.0" encoding="utf-8"?>
<p:tagLst xmlns:p="http://schemas.openxmlformats.org/presentationml/2006/main">
  <p:tag name="KSO_WM_BEAUTIFY_FLAG" val=""/>
</p:tagLst>
</file>

<file path=ppt/tags/tag2078.xml><?xml version="1.0" encoding="utf-8"?>
<p:tagLst xmlns:p="http://schemas.openxmlformats.org/presentationml/2006/main">
  <p:tag name="KSO_WM_BEAUTIFY_FLAG" val=""/>
</p:tagLst>
</file>

<file path=ppt/tags/tag2079.xml><?xml version="1.0" encoding="utf-8"?>
<p:tagLst xmlns:p="http://schemas.openxmlformats.org/presentationml/2006/main">
  <p:tag name="KSO_WM_BEAUTIFY_FLAG" val=""/>
</p:tagLst>
</file>

<file path=ppt/tags/tag2080.xml><?xml version="1.0" encoding="utf-8"?>
<p:tagLst xmlns:p="http://schemas.openxmlformats.org/presentationml/2006/main">
  <p:tag name="KSO_WM_BEAUTIFY_FLAG" val=""/>
</p:tagLst>
</file>

<file path=ppt/tags/tag2081.xml><?xml version="1.0" encoding="utf-8"?>
<p:tagLst xmlns:p="http://schemas.openxmlformats.org/presentationml/2006/main">
  <p:tag name="KSO_WM_BEAUTIFY_FLAG" val=""/>
  <p:tag name="TABLE_ENDDRAG_ORIGIN_RECT" val="391*5"/>
  <p:tag name="TABLE_ENDDRAG_RECT" val="252*138*391*6"/>
</p:tagLst>
</file>

<file path=ppt/tags/tag2082.xml><?xml version="1.0" encoding="utf-8"?>
<p:tagLst xmlns:p="http://schemas.openxmlformats.org/presentationml/2006/main">
  <p:tag name="KSO_WM_BEAUTIFY_FLAG" val=""/>
</p:tagLst>
</file>

<file path=ppt/tags/tag2083.xml><?xml version="1.0" encoding="utf-8"?>
<p:tagLst xmlns:p="http://schemas.openxmlformats.org/presentationml/2006/main">
  <p:tag name="KSO_WM_BEAUTIFY_FLAG" val=""/>
</p:tagLst>
</file>

<file path=ppt/tags/tag2084.xml><?xml version="1.0" encoding="utf-8"?>
<p:tagLst xmlns:p="http://schemas.openxmlformats.org/presentationml/2006/main">
  <p:tag name="KSO_WM_BEAUTIFY_FLAG" val=""/>
</p:tagLst>
</file>

<file path=ppt/tags/tag2085.xml><?xml version="1.0" encoding="utf-8"?>
<p:tagLst xmlns:p="http://schemas.openxmlformats.org/presentationml/2006/main">
  <p:tag name="KSO_WM_BEAUTIFY_FLAG" val=""/>
</p:tagLst>
</file>

<file path=ppt/tags/tag2086.xml><?xml version="1.0" encoding="utf-8"?>
<p:tagLst xmlns:p="http://schemas.openxmlformats.org/presentationml/2006/main">
  <p:tag name="KSO_WM_BEAUTIFY_FLAG" val=""/>
</p:tagLst>
</file>

<file path=ppt/tags/tag2087.xml><?xml version="1.0" encoding="utf-8"?>
<p:tagLst xmlns:p="http://schemas.openxmlformats.org/presentationml/2006/main">
  <p:tag name="KSO_WM_BEAUTIFY_FLAG" val=""/>
</p:tagLst>
</file>

<file path=ppt/tags/tag2088.xml><?xml version="1.0" encoding="utf-8"?>
<p:tagLst xmlns:p="http://schemas.openxmlformats.org/presentationml/2006/main">
  <p:tag name="KSO_WM_BEAUTIFY_FLAG" val=""/>
</p:tagLst>
</file>

<file path=ppt/tags/tag2089.xml><?xml version="1.0" encoding="utf-8"?>
<p:tagLst xmlns:p="http://schemas.openxmlformats.org/presentationml/2006/main">
  <p:tag name="KSO_WM_BEAUTIFY_FLAG" val=""/>
</p:tagLst>
</file>

<file path=ppt/tags/tag2090.xml><?xml version="1.0" encoding="utf-8"?>
<p:tagLst xmlns:p="http://schemas.openxmlformats.org/presentationml/2006/main">
  <p:tag name="KSO_WM_BEAUTIFY_FLAG" val=""/>
</p:tagLst>
</file>

<file path=ppt/tags/tag2091.xml><?xml version="1.0" encoding="utf-8"?>
<p:tagLst xmlns:p="http://schemas.openxmlformats.org/presentationml/2006/main">
  <p:tag name="KSO_WM_BEAUTIFY_FLAG" val=""/>
</p:tagLst>
</file>

<file path=ppt/tags/tag2092.xml><?xml version="1.0" encoding="utf-8"?>
<p:tagLst xmlns:p="http://schemas.openxmlformats.org/presentationml/2006/main">
  <p:tag name="KSO_WM_BEAUTIFY_FLAG" val=""/>
</p:tagLst>
</file>

<file path=ppt/tags/tag2093.xml><?xml version="1.0" encoding="utf-8"?>
<p:tagLst xmlns:p="http://schemas.openxmlformats.org/presentationml/2006/main">
  <p:tag name="KSO_WM_BEAUTIFY_FLAG" val=""/>
</p:tagLst>
</file>

<file path=ppt/tags/tag2094.xml><?xml version="1.0" encoding="utf-8"?>
<p:tagLst xmlns:p="http://schemas.openxmlformats.org/presentationml/2006/main">
  <p:tag name="KSO_WM_BEAUTIFY_FLAG" val=""/>
</p:tagLst>
</file>

<file path=ppt/tags/tag2095.xml><?xml version="1.0" encoding="utf-8"?>
<p:tagLst xmlns:p="http://schemas.openxmlformats.org/presentationml/2006/main">
  <p:tag name="KSO_WM_BEAUTIFY_FLAG" val=""/>
</p:tagLst>
</file>

<file path=ppt/tags/tag2096.xml><?xml version="1.0" encoding="utf-8"?>
<p:tagLst xmlns:p="http://schemas.openxmlformats.org/presentationml/2006/main">
  <p:tag name="KSO_WM_BEAUTIFY_FLAG" val=""/>
</p:tagLst>
</file>

<file path=ppt/tags/tag2097.xml><?xml version="1.0" encoding="utf-8"?>
<p:tagLst xmlns:p="http://schemas.openxmlformats.org/presentationml/2006/main">
  <p:tag name="KSO_WM_BEAUTIFY_FLAG" val=""/>
</p:tagLst>
</file>

<file path=ppt/tags/tag2098.xml><?xml version="1.0" encoding="utf-8"?>
<p:tagLst xmlns:p="http://schemas.openxmlformats.org/presentationml/2006/main">
  <p:tag name="KSO_WM_BEAUTIFY_FLAG" val=""/>
</p:tagLst>
</file>

<file path=ppt/tags/tag2099.xml><?xml version="1.0" encoding="utf-8"?>
<p:tagLst xmlns:p="http://schemas.openxmlformats.org/presentationml/2006/main">
  <p:tag name="KSO_WM_BEAUTIFY_FLAG" val=""/>
</p:tagLst>
</file>

<file path=ppt/tags/tag2100.xml><?xml version="1.0" encoding="utf-8"?>
<p:tagLst xmlns:p="http://schemas.openxmlformats.org/presentationml/2006/main">
  <p:tag name="KSO_WM_BEAUTIFY_FLAG" val=""/>
</p:tagLst>
</file>

<file path=ppt/tags/tag2101.xml><?xml version="1.0" encoding="utf-8"?>
<p:tagLst xmlns:p="http://schemas.openxmlformats.org/presentationml/2006/main">
  <p:tag name="KSO_WM_BEAUTIFY_FLAG" val=""/>
</p:tagLst>
</file>

<file path=ppt/tags/tag2102.xml><?xml version="1.0" encoding="utf-8"?>
<p:tagLst xmlns:p="http://schemas.openxmlformats.org/presentationml/2006/main">
  <p:tag name="KSO_WM_BEAUTIFY_FLAG" val=""/>
</p:tagLst>
</file>

<file path=ppt/tags/tag2103.xml><?xml version="1.0" encoding="utf-8"?>
<p:tagLst xmlns:p="http://schemas.openxmlformats.org/presentationml/2006/main">
  <p:tag name="KSO_WM_BEAUTIFY_FLAG" val=""/>
</p:tagLst>
</file>

<file path=ppt/tags/tag2104.xml><?xml version="1.0" encoding="utf-8"?>
<p:tagLst xmlns:p="http://schemas.openxmlformats.org/presentationml/2006/main">
  <p:tag name="KSO_WM_BEAUTIFY_FLAG" val=""/>
</p:tagLst>
</file>

<file path=ppt/tags/tag2105.xml><?xml version="1.0" encoding="utf-8"?>
<p:tagLst xmlns:p="http://schemas.openxmlformats.org/presentationml/2006/main">
  <p:tag name="KSO_WM_BEAUTIFY_FLAG" val=""/>
</p:tagLst>
</file>

<file path=ppt/tags/tag2106.xml><?xml version="1.0" encoding="utf-8"?>
<p:tagLst xmlns:p="http://schemas.openxmlformats.org/presentationml/2006/main">
  <p:tag name="KSO_WM_BEAUTIFY_FLAG" val=""/>
</p:tagLst>
</file>

<file path=ppt/tags/tag2107.xml><?xml version="1.0" encoding="utf-8"?>
<p:tagLst xmlns:p="http://schemas.openxmlformats.org/presentationml/2006/main">
  <p:tag name="KSO_WM_BEAUTIFY_FLAG" val=""/>
</p:tagLst>
</file>

<file path=ppt/tags/tag2108.xml><?xml version="1.0" encoding="utf-8"?>
<p:tagLst xmlns:p="http://schemas.openxmlformats.org/presentationml/2006/main">
  <p:tag name="KSO_WM_BEAUTIFY_FLAG" val=""/>
</p:tagLst>
</file>

<file path=ppt/tags/tag2109.xml><?xml version="1.0" encoding="utf-8"?>
<p:tagLst xmlns:p="http://schemas.openxmlformats.org/presentationml/2006/main">
  <p:tag name="KSO_WM_BEAUTIFY_FLAG" val=""/>
</p:tagLst>
</file>

<file path=ppt/tags/tag2110.xml><?xml version="1.0" encoding="utf-8"?>
<p:tagLst xmlns:p="http://schemas.openxmlformats.org/presentationml/2006/main">
  <p:tag name="KSO_WM_BEAUTIFY_FLAG" val=""/>
</p:tagLst>
</file>

<file path=ppt/tags/tag2111.xml><?xml version="1.0" encoding="utf-8"?>
<p:tagLst xmlns:p="http://schemas.openxmlformats.org/presentationml/2006/main">
  <p:tag name="KSO_WM_BEAUTIFY_FLAG" val=""/>
</p:tagLst>
</file>

<file path=ppt/tags/tag2112.xml><?xml version="1.0" encoding="utf-8"?>
<p:tagLst xmlns:p="http://schemas.openxmlformats.org/presentationml/2006/main">
  <p:tag name="KSO_WM_BEAUTIFY_FLAG" val=""/>
</p:tagLst>
</file>

<file path=ppt/tags/tag2113.xml><?xml version="1.0" encoding="utf-8"?>
<p:tagLst xmlns:p="http://schemas.openxmlformats.org/presentationml/2006/main">
  <p:tag name="KSO_WM_BEAUTIFY_FLAG" val=""/>
</p:tagLst>
</file>

<file path=ppt/tags/tag2114.xml><?xml version="1.0" encoding="utf-8"?>
<p:tagLst xmlns:p="http://schemas.openxmlformats.org/presentationml/2006/main">
  <p:tag name="KSO_WM_BEAUTIFY_FLAG" val=""/>
</p:tagLst>
</file>

<file path=ppt/tags/tag2115.xml><?xml version="1.0" encoding="utf-8"?>
<p:tagLst xmlns:p="http://schemas.openxmlformats.org/presentationml/2006/main">
  <p:tag name="KSO_WM_BEAUTIFY_FLAG" val=""/>
</p:tagLst>
</file>

<file path=ppt/tags/tag2116.xml><?xml version="1.0" encoding="utf-8"?>
<p:tagLst xmlns:p="http://schemas.openxmlformats.org/presentationml/2006/main">
  <p:tag name="KSO_WM_BEAUTIFY_FLAG" val=""/>
</p:tagLst>
</file>

<file path=ppt/tags/tag2117.xml><?xml version="1.0" encoding="utf-8"?>
<p:tagLst xmlns:p="http://schemas.openxmlformats.org/presentationml/2006/main">
  <p:tag name="KSO_WM_BEAUTIFY_FLAG" val=""/>
</p:tagLst>
</file>

<file path=ppt/tags/tag2118.xml><?xml version="1.0" encoding="utf-8"?>
<p:tagLst xmlns:p="http://schemas.openxmlformats.org/presentationml/2006/main">
  <p:tag name="KSO_WM_BEAUTIFY_FLAG" val=""/>
</p:tagLst>
</file>

<file path=ppt/tags/tag2119.xml><?xml version="1.0" encoding="utf-8"?>
<p:tagLst xmlns:p="http://schemas.openxmlformats.org/presentationml/2006/main">
  <p:tag name="KSO_WM_BEAUTIFY_FLAG" val=""/>
</p:tagLst>
</file>

<file path=ppt/tags/tag2120.xml><?xml version="1.0" encoding="utf-8"?>
<p:tagLst xmlns:p="http://schemas.openxmlformats.org/presentationml/2006/main">
  <p:tag name="KSO_WM_BEAUTIFY_FLAG" val=""/>
</p:tagLst>
</file>

<file path=ppt/tags/tag2121.xml><?xml version="1.0" encoding="utf-8"?>
<p:tagLst xmlns:p="http://schemas.openxmlformats.org/presentationml/2006/main">
  <p:tag name="KSO_WM_BEAUTIFY_FLAG" val=""/>
</p:tagLst>
</file>

<file path=ppt/tags/tag2122.xml><?xml version="1.0" encoding="utf-8"?>
<p:tagLst xmlns:p="http://schemas.openxmlformats.org/presentationml/2006/main">
  <p:tag name="KSO_WM_BEAUTIFY_FLAG" val=""/>
</p:tagLst>
</file>

<file path=ppt/tags/tag2123.xml><?xml version="1.0" encoding="utf-8"?>
<p:tagLst xmlns:p="http://schemas.openxmlformats.org/presentationml/2006/main">
  <p:tag name="KSO_WM_BEAUTIFY_FLAG" val=""/>
</p:tagLst>
</file>

<file path=ppt/tags/tag2124.xml><?xml version="1.0" encoding="utf-8"?>
<p:tagLst xmlns:p="http://schemas.openxmlformats.org/presentationml/2006/main">
  <p:tag name="KSO_WM_BEAUTIFY_FLAG" val=""/>
</p:tagLst>
</file>

<file path=ppt/tags/tag2125.xml><?xml version="1.0" encoding="utf-8"?>
<p:tagLst xmlns:p="http://schemas.openxmlformats.org/presentationml/2006/main">
  <p:tag name="KSO_WM_BEAUTIFY_FLAG" val=""/>
  <p:tag name="TABLE_ENDDRAG_ORIGIN_RECT" val="465*6"/>
  <p:tag name="TABLE_ENDDRAG_RECT" val="144*257*465*6"/>
</p:tagLst>
</file>

<file path=ppt/tags/tag2126.xml><?xml version="1.0" encoding="utf-8"?>
<p:tagLst xmlns:p="http://schemas.openxmlformats.org/presentationml/2006/main">
  <p:tag name="KSO_WM_BEAUTIFY_FLAG" val=""/>
</p:tagLst>
</file>

<file path=ppt/tags/tag2127.xml><?xml version="1.0" encoding="utf-8"?>
<p:tagLst xmlns:p="http://schemas.openxmlformats.org/presentationml/2006/main">
  <p:tag name="KSO_WM_BEAUTIFY_FLAG" val=""/>
</p:tagLst>
</file>

<file path=ppt/tags/tag2128.xml><?xml version="1.0" encoding="utf-8"?>
<p:tagLst xmlns:p="http://schemas.openxmlformats.org/presentationml/2006/main">
  <p:tag name="KSO_WM_BEAUTIFY_FLAG" val=""/>
</p:tagLst>
</file>

<file path=ppt/tags/tag2129.xml><?xml version="1.0" encoding="utf-8"?>
<p:tagLst xmlns:p="http://schemas.openxmlformats.org/presentationml/2006/main">
  <p:tag name="KSO_WM_BEAUTIFY_FLAG" val=""/>
</p:tagLst>
</file>

<file path=ppt/tags/tag2130.xml><?xml version="1.0" encoding="utf-8"?>
<p:tagLst xmlns:p="http://schemas.openxmlformats.org/presentationml/2006/main">
  <p:tag name="KSO_WM_BEAUTIFY_FLAG" val=""/>
</p:tagLst>
</file>

<file path=ppt/tags/tag2131.xml><?xml version="1.0" encoding="utf-8"?>
<p:tagLst xmlns:p="http://schemas.openxmlformats.org/presentationml/2006/main">
  <p:tag name="KSO_WM_BEAUTIFY_FLAG" val=""/>
</p:tagLst>
</file>

<file path=ppt/tags/tag2132.xml><?xml version="1.0" encoding="utf-8"?>
<p:tagLst xmlns:p="http://schemas.openxmlformats.org/presentationml/2006/main">
  <p:tag name="KSO_WM_BEAUTIFY_FLAG" val=""/>
</p:tagLst>
</file>

<file path=ppt/tags/tag2133.xml><?xml version="1.0" encoding="utf-8"?>
<p:tagLst xmlns:p="http://schemas.openxmlformats.org/presentationml/2006/main">
  <p:tag name="KSO_WM_BEAUTIFY_FLAG" val=""/>
</p:tagLst>
</file>

<file path=ppt/tags/tag2134.xml><?xml version="1.0" encoding="utf-8"?>
<p:tagLst xmlns:p="http://schemas.openxmlformats.org/presentationml/2006/main">
  <p:tag name="KSO_WM_BEAUTIFY_FLAG" val=""/>
</p:tagLst>
</file>

<file path=ppt/tags/tag2135.xml><?xml version="1.0" encoding="utf-8"?>
<p:tagLst xmlns:p="http://schemas.openxmlformats.org/presentationml/2006/main">
  <p:tag name="KSO_WM_BEAUTIFY_FLAG" val=""/>
</p:tagLst>
</file>

<file path=ppt/tags/tag2136.xml><?xml version="1.0" encoding="utf-8"?>
<p:tagLst xmlns:p="http://schemas.openxmlformats.org/presentationml/2006/main">
  <p:tag name="KSO_WM_BEAUTIFY_FLAG" val=""/>
</p:tagLst>
</file>

<file path=ppt/tags/tag2137.xml><?xml version="1.0" encoding="utf-8"?>
<p:tagLst xmlns:p="http://schemas.openxmlformats.org/presentationml/2006/main">
  <p:tag name="KSO_WM_BEAUTIFY_FLAG" val=""/>
</p:tagLst>
</file>

<file path=ppt/tags/tag2138.xml><?xml version="1.0" encoding="utf-8"?>
<p:tagLst xmlns:p="http://schemas.openxmlformats.org/presentationml/2006/main">
  <p:tag name="KSO_WM_BEAUTIFY_FLAG" val=""/>
</p:tagLst>
</file>

<file path=ppt/tags/tag2139.xml><?xml version="1.0" encoding="utf-8"?>
<p:tagLst xmlns:p="http://schemas.openxmlformats.org/presentationml/2006/main">
  <p:tag name="KSO_WM_BEAUTIFY_FLAG" val=""/>
</p:tagLst>
</file>

<file path=ppt/tags/tag2140.xml><?xml version="1.0" encoding="utf-8"?>
<p:tagLst xmlns:p="http://schemas.openxmlformats.org/presentationml/2006/main">
  <p:tag name="KSO_WM_BEAUTIFY_FLAG" val=""/>
</p:tagLst>
</file>

<file path=ppt/tags/tag2141.xml><?xml version="1.0" encoding="utf-8"?>
<p:tagLst xmlns:p="http://schemas.openxmlformats.org/presentationml/2006/main">
  <p:tag name="KSO_WM_BEAUTIFY_FLAG" val=""/>
</p:tagLst>
</file>

<file path=ppt/tags/tag2142.xml><?xml version="1.0" encoding="utf-8"?>
<p:tagLst xmlns:p="http://schemas.openxmlformats.org/presentationml/2006/main">
  <p:tag name="KSO_WM_BEAUTIFY_FLAG" val=""/>
</p:tagLst>
</file>

<file path=ppt/tags/tag2143.xml><?xml version="1.0" encoding="utf-8"?>
<p:tagLst xmlns:p="http://schemas.openxmlformats.org/presentationml/2006/main">
  <p:tag name="KSO_WM_BEAUTIFY_FLAG" val=""/>
</p:tagLst>
</file>

<file path=ppt/tags/tag2144.xml><?xml version="1.0" encoding="utf-8"?>
<p:tagLst xmlns:p="http://schemas.openxmlformats.org/presentationml/2006/main">
  <p:tag name="KSO_WM_BEAUTIFY_FLAG" val=""/>
</p:tagLst>
</file>

<file path=ppt/tags/tag2145.xml><?xml version="1.0" encoding="utf-8"?>
<p:tagLst xmlns:p="http://schemas.openxmlformats.org/presentationml/2006/main">
  <p:tag name="KSO_WM_BEAUTIFY_FLAG" val=""/>
</p:tagLst>
</file>

<file path=ppt/tags/tag2146.xml><?xml version="1.0" encoding="utf-8"?>
<p:tagLst xmlns:p="http://schemas.openxmlformats.org/presentationml/2006/main">
  <p:tag name="KSO_WM_BEAUTIFY_FLAG" val=""/>
</p:tagLst>
</file>

<file path=ppt/tags/tag2147.xml><?xml version="1.0" encoding="utf-8"?>
<p:tagLst xmlns:p="http://schemas.openxmlformats.org/presentationml/2006/main">
  <p:tag name="KSO_WM_BEAUTIFY_FLAG" val=""/>
</p:tagLst>
</file>

<file path=ppt/tags/tag2148.xml><?xml version="1.0" encoding="utf-8"?>
<p:tagLst xmlns:p="http://schemas.openxmlformats.org/presentationml/2006/main">
  <p:tag name="KSO_WM_BEAUTIFY_FLAG" val=""/>
</p:tagLst>
</file>

<file path=ppt/tags/tag2149.xml><?xml version="1.0" encoding="utf-8"?>
<p:tagLst xmlns:p="http://schemas.openxmlformats.org/presentationml/2006/main">
  <p:tag name="KSO_WM_BEAUTIFY_FLAG" val=""/>
</p:tagLst>
</file>

<file path=ppt/tags/tag2150.xml><?xml version="1.0" encoding="utf-8"?>
<p:tagLst xmlns:p="http://schemas.openxmlformats.org/presentationml/2006/main">
  <p:tag name="KSO_WM_BEAUTIFY_FLAG" val=""/>
</p:tagLst>
</file>

<file path=ppt/tags/tag2151.xml><?xml version="1.0" encoding="utf-8"?>
<p:tagLst xmlns:p="http://schemas.openxmlformats.org/presentationml/2006/main">
  <p:tag name="KSO_WM_BEAUTIFY_FLAG" val=""/>
</p:tagLst>
</file>

<file path=ppt/tags/tag2152.xml><?xml version="1.0" encoding="utf-8"?>
<p:tagLst xmlns:p="http://schemas.openxmlformats.org/presentationml/2006/main">
  <p:tag name="KSO_WM_BEAUTIFY_FLAG" val=""/>
</p:tagLst>
</file>

<file path=ppt/tags/tag2153.xml><?xml version="1.0" encoding="utf-8"?>
<p:tagLst xmlns:p="http://schemas.openxmlformats.org/presentationml/2006/main">
  <p:tag name="KSO_WM_BEAUTIFY_FLAG" val=""/>
</p:tagLst>
</file>

<file path=ppt/tags/tag2154.xml><?xml version="1.0" encoding="utf-8"?>
<p:tagLst xmlns:p="http://schemas.openxmlformats.org/presentationml/2006/main">
  <p:tag name="KSO_WM_BEAUTIFY_FLAG" val=""/>
</p:tagLst>
</file>

<file path=ppt/tags/tag2155.xml><?xml version="1.0" encoding="utf-8"?>
<p:tagLst xmlns:p="http://schemas.openxmlformats.org/presentationml/2006/main">
  <p:tag name="KSO_WM_BEAUTIFY_FLAG" val=""/>
</p:tagLst>
</file>

<file path=ppt/tags/tag2156.xml><?xml version="1.0" encoding="utf-8"?>
<p:tagLst xmlns:p="http://schemas.openxmlformats.org/presentationml/2006/main">
  <p:tag name="KSO_WM_BEAUTIFY_FLAG" val=""/>
</p:tagLst>
</file>

<file path=ppt/tags/tag2157.xml><?xml version="1.0" encoding="utf-8"?>
<p:tagLst xmlns:p="http://schemas.openxmlformats.org/presentationml/2006/main">
  <p:tag name="KSO_WM_BEAUTIFY_FLAG" val=""/>
</p:tagLst>
</file>

<file path=ppt/tags/tag2158.xml><?xml version="1.0" encoding="utf-8"?>
<p:tagLst xmlns:p="http://schemas.openxmlformats.org/presentationml/2006/main">
  <p:tag name="KSO_WM_BEAUTIFY_FLAG" val=""/>
</p:tagLst>
</file>

<file path=ppt/tags/tag2159.xml><?xml version="1.0" encoding="utf-8"?>
<p:tagLst xmlns:p="http://schemas.openxmlformats.org/presentationml/2006/main">
  <p:tag name="KSO_WM_BEAUTIFY_FLAG" val=""/>
</p:tagLst>
</file>

<file path=ppt/tags/tag2160.xml><?xml version="1.0" encoding="utf-8"?>
<p:tagLst xmlns:p="http://schemas.openxmlformats.org/presentationml/2006/main">
  <p:tag name="KSO_WM_BEAUTIFY_FLAG" val=""/>
</p:tagLst>
</file>

<file path=ppt/tags/tag2161.xml><?xml version="1.0" encoding="utf-8"?>
<p:tagLst xmlns:p="http://schemas.openxmlformats.org/presentationml/2006/main">
  <p:tag name="KSO_WM_BEAUTIFY_FLAG" val=""/>
</p:tagLst>
</file>

<file path=ppt/tags/tag2162.xml><?xml version="1.0" encoding="utf-8"?>
<p:tagLst xmlns:p="http://schemas.openxmlformats.org/presentationml/2006/main">
  <p:tag name="KSO_WM_BEAUTIFY_FLAG" val=""/>
</p:tagLst>
</file>

<file path=ppt/tags/tag2163.xml><?xml version="1.0" encoding="utf-8"?>
<p:tagLst xmlns:p="http://schemas.openxmlformats.org/presentationml/2006/main">
  <p:tag name="KSO_WM_BEAUTIFY_FLAG" val=""/>
</p:tagLst>
</file>

<file path=ppt/tags/tag2164.xml><?xml version="1.0" encoding="utf-8"?>
<p:tagLst xmlns:p="http://schemas.openxmlformats.org/presentationml/2006/main">
  <p:tag name="KSO_WM_BEAUTIFY_FLAG" val=""/>
</p:tagLst>
</file>

<file path=ppt/tags/tag2165.xml><?xml version="1.0" encoding="utf-8"?>
<p:tagLst xmlns:p="http://schemas.openxmlformats.org/presentationml/2006/main">
  <p:tag name="KSO_WM_BEAUTIFY_FLAG" val=""/>
</p:tagLst>
</file>

<file path=ppt/tags/tag2166.xml><?xml version="1.0" encoding="utf-8"?>
<p:tagLst xmlns:p="http://schemas.openxmlformats.org/presentationml/2006/main">
  <p:tag name="KSO_WM_BEAUTIFY_FLAG" val=""/>
</p:tagLst>
</file>

<file path=ppt/tags/tag2167.xml><?xml version="1.0" encoding="utf-8"?>
<p:tagLst xmlns:p="http://schemas.openxmlformats.org/presentationml/2006/main">
  <p:tag name="KSO_WM_BEAUTIFY_FLAG" val=""/>
</p:tagLst>
</file>

<file path=ppt/tags/tag2168.xml><?xml version="1.0" encoding="utf-8"?>
<p:tagLst xmlns:p="http://schemas.openxmlformats.org/presentationml/2006/main">
  <p:tag name="KSO_WM_BEAUTIFY_FLAG" val=""/>
</p:tagLst>
</file>

<file path=ppt/tags/tag2169.xml><?xml version="1.0" encoding="utf-8"?>
<p:tagLst xmlns:p="http://schemas.openxmlformats.org/presentationml/2006/main">
  <p:tag name="KSO_WM_BEAUTIFY_FLAG" val=""/>
</p:tagLst>
</file>

<file path=ppt/tags/tag2170.xml><?xml version="1.0" encoding="utf-8"?>
<p:tagLst xmlns:p="http://schemas.openxmlformats.org/presentationml/2006/main">
  <p:tag name="KSO_WM_BEAUTIFY_FLAG" val=""/>
</p:tagLst>
</file>

<file path=ppt/tags/tag2171.xml><?xml version="1.0" encoding="utf-8"?>
<p:tagLst xmlns:p="http://schemas.openxmlformats.org/presentationml/2006/main">
  <p:tag name="KSO_WM_BEAUTIFY_FLAG" val=""/>
</p:tagLst>
</file>

<file path=ppt/tags/tag2172.xml><?xml version="1.0" encoding="utf-8"?>
<p:tagLst xmlns:p="http://schemas.openxmlformats.org/presentationml/2006/main">
  <p:tag name="KSO_WM_BEAUTIFY_FLAG" val=""/>
</p:tagLst>
</file>

<file path=ppt/tags/tag2173.xml><?xml version="1.0" encoding="utf-8"?>
<p:tagLst xmlns:p="http://schemas.openxmlformats.org/presentationml/2006/main">
  <p:tag name="KSO_WM_BEAUTIFY_FLAG" val=""/>
</p:tagLst>
</file>

<file path=ppt/tags/tag2174.xml><?xml version="1.0" encoding="utf-8"?>
<p:tagLst xmlns:p="http://schemas.openxmlformats.org/presentationml/2006/main">
  <p:tag name="KSO_WM_BEAUTIFY_FLAG" val=""/>
</p:tagLst>
</file>

<file path=ppt/tags/tag2175.xml><?xml version="1.0" encoding="utf-8"?>
<p:tagLst xmlns:p="http://schemas.openxmlformats.org/presentationml/2006/main">
  <p:tag name="KSO_WM_BEAUTIFY_FLAG" val=""/>
</p:tagLst>
</file>

<file path=ppt/tags/tag2176.xml><?xml version="1.0" encoding="utf-8"?>
<p:tagLst xmlns:p="http://schemas.openxmlformats.org/presentationml/2006/main">
  <p:tag name="KSO_WM_BEAUTIFY_FLAG" val=""/>
</p:tagLst>
</file>

<file path=ppt/tags/tag2177.xml><?xml version="1.0" encoding="utf-8"?>
<p:tagLst xmlns:p="http://schemas.openxmlformats.org/presentationml/2006/main">
  <p:tag name="KSO_WM_BEAUTIFY_FLAG" val=""/>
</p:tagLst>
</file>

<file path=ppt/tags/tag2178.xml><?xml version="1.0" encoding="utf-8"?>
<p:tagLst xmlns:p="http://schemas.openxmlformats.org/presentationml/2006/main">
  <p:tag name="KSO_WM_BEAUTIFY_FLAG" val=""/>
</p:tagLst>
</file>

<file path=ppt/tags/tag2179.xml><?xml version="1.0" encoding="utf-8"?>
<p:tagLst xmlns:p="http://schemas.openxmlformats.org/presentationml/2006/main">
  <p:tag name="KSO_WM_BEAUTIFY_FLAG" val=""/>
</p:tagLst>
</file>

<file path=ppt/tags/tag2180.xml><?xml version="1.0" encoding="utf-8"?>
<p:tagLst xmlns:p="http://schemas.openxmlformats.org/presentationml/2006/main">
  <p:tag name="KSO_WM_BEAUTIFY_FLAG" val=""/>
</p:tagLst>
</file>

<file path=ppt/tags/tag2181.xml><?xml version="1.0" encoding="utf-8"?>
<p:tagLst xmlns:p="http://schemas.openxmlformats.org/presentationml/2006/main">
  <p:tag name="KSO_WM_BEAUTIFY_FLAG" val=""/>
</p:tagLst>
</file>

<file path=ppt/tags/tag2182.xml><?xml version="1.0" encoding="utf-8"?>
<p:tagLst xmlns:p="http://schemas.openxmlformats.org/presentationml/2006/main">
  <p:tag name="KSO_WM_BEAUTIFY_FLAG" val=""/>
</p:tagLst>
</file>

<file path=ppt/tags/tag2183.xml><?xml version="1.0" encoding="utf-8"?>
<p:tagLst xmlns:p="http://schemas.openxmlformats.org/presentationml/2006/main">
  <p:tag name="KSO_WM_BEAUTIFY_FLAG" val=""/>
</p:tagLst>
</file>

<file path=ppt/tags/tag2184.xml><?xml version="1.0" encoding="utf-8"?>
<p:tagLst xmlns:p="http://schemas.openxmlformats.org/presentationml/2006/main">
  <p:tag name="KSO_WM_BEAUTIFY_FLAG" val=""/>
</p:tagLst>
</file>

<file path=ppt/tags/tag2185.xml><?xml version="1.0" encoding="utf-8"?>
<p:tagLst xmlns:p="http://schemas.openxmlformats.org/presentationml/2006/main">
  <p:tag name="KSO_WM_BEAUTIFY_FLAG" val=""/>
</p:tagLst>
</file>

<file path=ppt/tags/tag2186.xml><?xml version="1.0" encoding="utf-8"?>
<p:tagLst xmlns:p="http://schemas.openxmlformats.org/presentationml/2006/main">
  <p:tag name="KSO_WM_BEAUTIFY_FLAG" val=""/>
</p:tagLst>
</file>

<file path=ppt/tags/tag2187.xml><?xml version="1.0" encoding="utf-8"?>
<p:tagLst xmlns:p="http://schemas.openxmlformats.org/presentationml/2006/main">
  <p:tag name="KSO_WM_BEAUTIFY_FLAG" val=""/>
</p:tagLst>
</file>

<file path=ppt/tags/tag2188.xml><?xml version="1.0" encoding="utf-8"?>
<p:tagLst xmlns:p="http://schemas.openxmlformats.org/presentationml/2006/main">
  <p:tag name="KSO_WM_BEAUTIFY_FLAG" val=""/>
</p:tagLst>
</file>

<file path=ppt/tags/tag2189.xml><?xml version="1.0" encoding="utf-8"?>
<p:tagLst xmlns:p="http://schemas.openxmlformats.org/presentationml/2006/main">
  <p:tag name="KSO_WM_BEAUTIFY_FLAG" val=""/>
</p:tagLst>
</file>

<file path=ppt/tags/tag2190.xml><?xml version="1.0" encoding="utf-8"?>
<p:tagLst xmlns:p="http://schemas.openxmlformats.org/presentationml/2006/main">
  <p:tag name="KSO_WM_BEAUTIFY_FLAG" val=""/>
</p:tagLst>
</file>

<file path=ppt/tags/tag2191.xml><?xml version="1.0" encoding="utf-8"?>
<p:tagLst xmlns:p="http://schemas.openxmlformats.org/presentationml/2006/main">
  <p:tag name="KSO_WM_BEAUTIFY_FLAG" val=""/>
</p:tagLst>
</file>

<file path=ppt/tags/tag2192.xml><?xml version="1.0" encoding="utf-8"?>
<p:tagLst xmlns:p="http://schemas.openxmlformats.org/presentationml/2006/main">
  <p:tag name="KSO_WM_BEAUTIFY_FLAG" val=""/>
</p:tagLst>
</file>

<file path=ppt/tags/tag2193.xml><?xml version="1.0" encoding="utf-8"?>
<p:tagLst xmlns:p="http://schemas.openxmlformats.org/presentationml/2006/main">
  <p:tag name="KSO_WM_BEAUTIFY_FLAG" val=""/>
</p:tagLst>
</file>

<file path=ppt/tags/tag2194.xml><?xml version="1.0" encoding="utf-8"?>
<p:tagLst xmlns:p="http://schemas.openxmlformats.org/presentationml/2006/main">
  <p:tag name="KSO_WM_BEAUTIFY_FLAG" val=""/>
</p:tagLst>
</file>

<file path=ppt/tags/tag2195.xml><?xml version="1.0" encoding="utf-8"?>
<p:tagLst xmlns:p="http://schemas.openxmlformats.org/presentationml/2006/main">
  <p:tag name="KSO_WM_BEAUTIFY_FLAG" val=""/>
</p:tagLst>
</file>

<file path=ppt/tags/tag2196.xml><?xml version="1.0" encoding="utf-8"?>
<p:tagLst xmlns:p="http://schemas.openxmlformats.org/presentationml/2006/main">
  <p:tag name="KSO_WM_BEAUTIFY_FLAG" val=""/>
</p:tagLst>
</file>

<file path=ppt/tags/tag2197.xml><?xml version="1.0" encoding="utf-8"?>
<p:tagLst xmlns:p="http://schemas.openxmlformats.org/presentationml/2006/main">
  <p:tag name="KSO_WM_BEAUTIFY_FLAG" val=""/>
</p:tagLst>
</file>

<file path=ppt/tags/tag2198.xml><?xml version="1.0" encoding="utf-8"?>
<p:tagLst xmlns:p="http://schemas.openxmlformats.org/presentationml/2006/main">
  <p:tag name="KSO_WM_BEAUTIFY_FLAG" val=""/>
</p:tagLst>
</file>

<file path=ppt/tags/tag2199.xml><?xml version="1.0" encoding="utf-8"?>
<p:tagLst xmlns:p="http://schemas.openxmlformats.org/presentationml/2006/main">
  <p:tag name="KSO_WM_BEAUTIFY_FLAG" val=""/>
</p:tagLst>
</file>

<file path=ppt/tags/tag2200.xml><?xml version="1.0" encoding="utf-8"?>
<p:tagLst xmlns:p="http://schemas.openxmlformats.org/presentationml/2006/main">
  <p:tag name="KSO_WM_BEAUTIFY_FLAG" val=""/>
</p:tagLst>
</file>

<file path=ppt/tags/tag2201.xml><?xml version="1.0" encoding="utf-8"?>
<p:tagLst xmlns:p="http://schemas.openxmlformats.org/presentationml/2006/main">
  <p:tag name="KSO_WM_BEAUTIFY_FLAG" val=""/>
</p:tagLst>
</file>

<file path=ppt/tags/tag2202.xml><?xml version="1.0" encoding="utf-8"?>
<p:tagLst xmlns:p="http://schemas.openxmlformats.org/presentationml/2006/main">
  <p:tag name="KSO_WM_BEAUTIFY_FLAG" val=""/>
</p:tagLst>
</file>

<file path=ppt/tags/tag2203.xml><?xml version="1.0" encoding="utf-8"?>
<p:tagLst xmlns:p="http://schemas.openxmlformats.org/presentationml/2006/main">
  <p:tag name="KSO_WM_BEAUTIFY_FLAG" val=""/>
</p:tagLst>
</file>

<file path=ppt/tags/tag2204.xml><?xml version="1.0" encoding="utf-8"?>
<p:tagLst xmlns:p="http://schemas.openxmlformats.org/presentationml/2006/main">
  <p:tag name="KSO_WM_BEAUTIFY_FLAG" val=""/>
</p:tagLst>
</file>

<file path=ppt/tags/tag2205.xml><?xml version="1.0" encoding="utf-8"?>
<p:tagLst xmlns:p="http://schemas.openxmlformats.org/presentationml/2006/main">
  <p:tag name="KSO_WM_BEAUTIFY_FLAG" val=""/>
</p:tagLst>
</file>

<file path=ppt/tags/tag2206.xml><?xml version="1.0" encoding="utf-8"?>
<p:tagLst xmlns:p="http://schemas.openxmlformats.org/presentationml/2006/main">
  <p:tag name="KSO_WM_BEAUTIFY_FLAG" val=""/>
</p:tagLst>
</file>

<file path=ppt/tags/tag2207.xml><?xml version="1.0" encoding="utf-8"?>
<p:tagLst xmlns:p="http://schemas.openxmlformats.org/presentationml/2006/main">
  <p:tag name="KSO_WM_BEAUTIFY_FLAG" val=""/>
</p:tagLst>
</file>

<file path=ppt/tags/tag2208.xml><?xml version="1.0" encoding="utf-8"?>
<p:tagLst xmlns:p="http://schemas.openxmlformats.org/presentationml/2006/main">
  <p:tag name="KSO_WM_BEAUTIFY_FLAG" val=""/>
</p:tagLst>
</file>

<file path=ppt/tags/tag2209.xml><?xml version="1.0" encoding="utf-8"?>
<p:tagLst xmlns:p="http://schemas.openxmlformats.org/presentationml/2006/main">
  <p:tag name="KSO_WM_BEAUTIFY_FLAG" val=""/>
</p:tagLst>
</file>

<file path=ppt/tags/tag2210.xml><?xml version="1.0" encoding="utf-8"?>
<p:tagLst xmlns:p="http://schemas.openxmlformats.org/presentationml/2006/main">
  <p:tag name="KSO_WM_BEAUTIFY_FLAG" val=""/>
</p:tagLst>
</file>

<file path=ppt/tags/tag2211.xml><?xml version="1.0" encoding="utf-8"?>
<p:tagLst xmlns:p="http://schemas.openxmlformats.org/presentationml/2006/main">
  <p:tag name="KSO_WM_BEAUTIFY_FLAG" val=""/>
</p:tagLst>
</file>

<file path=ppt/tags/tag2212.xml><?xml version="1.0" encoding="utf-8"?>
<p:tagLst xmlns:p="http://schemas.openxmlformats.org/presentationml/2006/main">
  <p:tag name="KSO_WM_BEAUTIFY_FLAG" val=""/>
</p:tagLst>
</file>

<file path=ppt/tags/tag2213.xml><?xml version="1.0" encoding="utf-8"?>
<p:tagLst xmlns:p="http://schemas.openxmlformats.org/presentationml/2006/main">
  <p:tag name="KSO_WM_BEAUTIFY_FLAG" val=""/>
</p:tagLst>
</file>

<file path=ppt/tags/tag2214.xml><?xml version="1.0" encoding="utf-8"?>
<p:tagLst xmlns:p="http://schemas.openxmlformats.org/presentationml/2006/main">
  <p:tag name="KSO_WM_BEAUTIFY_FLAG" val=""/>
</p:tagLst>
</file>

<file path=ppt/tags/tag2215.xml><?xml version="1.0" encoding="utf-8"?>
<p:tagLst xmlns:p="http://schemas.openxmlformats.org/presentationml/2006/main">
  <p:tag name="KSO_WM_BEAUTIFY_FLAG" val=""/>
</p:tagLst>
</file>

<file path=ppt/tags/tag2216.xml><?xml version="1.0" encoding="utf-8"?>
<p:tagLst xmlns:p="http://schemas.openxmlformats.org/presentationml/2006/main">
  <p:tag name="KSO_WM_BEAUTIFY_FLAG" val=""/>
</p:tagLst>
</file>

<file path=ppt/tags/tag2217.xml><?xml version="1.0" encoding="utf-8"?>
<p:tagLst xmlns:p="http://schemas.openxmlformats.org/presentationml/2006/main">
  <p:tag name="KSO_WM_BEAUTIFY_FLAG" val=""/>
</p:tagLst>
</file>

<file path=ppt/tags/tag2218.xml><?xml version="1.0" encoding="utf-8"?>
<p:tagLst xmlns:p="http://schemas.openxmlformats.org/presentationml/2006/main">
  <p:tag name="KSO_WM_BEAUTIFY_FLAG" val=""/>
</p:tagLst>
</file>

<file path=ppt/tags/tag2219.xml><?xml version="1.0" encoding="utf-8"?>
<p:tagLst xmlns:p="http://schemas.openxmlformats.org/presentationml/2006/main">
  <p:tag name="KSO_WM_BEAUTIFY_FLAG" val=""/>
</p:tagLst>
</file>

<file path=ppt/tags/tag2220.xml><?xml version="1.0" encoding="utf-8"?>
<p:tagLst xmlns:p="http://schemas.openxmlformats.org/presentationml/2006/main">
  <p:tag name="KSO_WM_BEAUTIFY_FLAG" val=""/>
</p:tagLst>
</file>

<file path=ppt/tags/tag2221.xml><?xml version="1.0" encoding="utf-8"?>
<p:tagLst xmlns:p="http://schemas.openxmlformats.org/presentationml/2006/main">
  <p:tag name="KSO_WM_BEAUTIFY_FLAG" val=""/>
</p:tagLst>
</file>

<file path=ppt/tags/tag2222.xml><?xml version="1.0" encoding="utf-8"?>
<p:tagLst xmlns:p="http://schemas.openxmlformats.org/presentationml/2006/main">
  <p:tag name="KSO_WM_BEAUTIFY_FLAG" val=""/>
</p:tagLst>
</file>

<file path=ppt/tags/tag2223.xml><?xml version="1.0" encoding="utf-8"?>
<p:tagLst xmlns:p="http://schemas.openxmlformats.org/presentationml/2006/main">
  <p:tag name="KSO_WM_BEAUTIFY_FLAG" val=""/>
</p:tagLst>
</file>

<file path=ppt/tags/tag2224.xml><?xml version="1.0" encoding="utf-8"?>
<p:tagLst xmlns:p="http://schemas.openxmlformats.org/presentationml/2006/main">
  <p:tag name="KSO_WM_BEAUTIFY_FLAG" val=""/>
</p:tagLst>
</file>

<file path=ppt/tags/tag2225.xml><?xml version="1.0" encoding="utf-8"?>
<p:tagLst xmlns:p="http://schemas.openxmlformats.org/presentationml/2006/main">
  <p:tag name="KSO_WM_BEAUTIFY_FLAG" val=""/>
</p:tagLst>
</file>

<file path=ppt/tags/tag2226.xml><?xml version="1.0" encoding="utf-8"?>
<p:tagLst xmlns:p="http://schemas.openxmlformats.org/presentationml/2006/main">
  <p:tag name="KSO_WM_BEAUTIFY_FLAG" val=""/>
</p:tagLst>
</file>

<file path=ppt/tags/tag2227.xml><?xml version="1.0" encoding="utf-8"?>
<p:tagLst xmlns:p="http://schemas.openxmlformats.org/presentationml/2006/main">
  <p:tag name="KSO_WM_BEAUTIFY_FLAG" val=""/>
</p:tagLst>
</file>

<file path=ppt/tags/tag2228.xml><?xml version="1.0" encoding="utf-8"?>
<p:tagLst xmlns:p="http://schemas.openxmlformats.org/presentationml/2006/main">
  <p:tag name="KSO_WM_BEAUTIFY_FLAG" val=""/>
</p:tagLst>
</file>

<file path=ppt/tags/tag2229.xml><?xml version="1.0" encoding="utf-8"?>
<p:tagLst xmlns:p="http://schemas.openxmlformats.org/presentationml/2006/main">
  <p:tag name="KSO_WM_BEAUTIFY_FLAG" val=""/>
</p:tagLst>
</file>

<file path=ppt/tags/tag2230.xml><?xml version="1.0" encoding="utf-8"?>
<p:tagLst xmlns:p="http://schemas.openxmlformats.org/presentationml/2006/main">
  <p:tag name="KSO_WM_BEAUTIFY_FLAG" val=""/>
</p:tagLst>
</file>

<file path=ppt/tags/tag2231.xml><?xml version="1.0" encoding="utf-8"?>
<p:tagLst xmlns:p="http://schemas.openxmlformats.org/presentationml/2006/main">
  <p:tag name="KSO_WM_BEAUTIFY_FLAG" val=""/>
</p:tagLst>
</file>

<file path=ppt/tags/tag2232.xml><?xml version="1.0" encoding="utf-8"?>
<p:tagLst xmlns:p="http://schemas.openxmlformats.org/presentationml/2006/main">
  <p:tag name="KSO_WM_BEAUTIFY_FLAG" val=""/>
</p:tagLst>
</file>

<file path=ppt/tags/tag2233.xml><?xml version="1.0" encoding="utf-8"?>
<p:tagLst xmlns:p="http://schemas.openxmlformats.org/presentationml/2006/main">
  <p:tag name="KSO_WM_BEAUTIFY_FLAG" val=""/>
</p:tagLst>
</file>

<file path=ppt/tags/tag2234.xml><?xml version="1.0" encoding="utf-8"?>
<p:tagLst xmlns:p="http://schemas.openxmlformats.org/presentationml/2006/main">
  <p:tag name="KSO_WM_BEAUTIFY_FLAG" val=""/>
</p:tagLst>
</file>

<file path=ppt/tags/tag2235.xml><?xml version="1.0" encoding="utf-8"?>
<p:tagLst xmlns:p="http://schemas.openxmlformats.org/presentationml/2006/main">
  <p:tag name="KSO_WM_BEAUTIFY_FLAG" val=""/>
</p:tagLst>
</file>

<file path=ppt/tags/tag2236.xml><?xml version="1.0" encoding="utf-8"?>
<p:tagLst xmlns:p="http://schemas.openxmlformats.org/presentationml/2006/main">
  <p:tag name="KSO_WM_BEAUTIFY_FLAG" val=""/>
</p:tagLst>
</file>

<file path=ppt/tags/tag2237.xml><?xml version="1.0" encoding="utf-8"?>
<p:tagLst xmlns:p="http://schemas.openxmlformats.org/presentationml/2006/main">
  <p:tag name="KSO_WM_BEAUTIFY_FLAG" val=""/>
</p:tagLst>
</file>

<file path=ppt/tags/tag2238.xml><?xml version="1.0" encoding="utf-8"?>
<p:tagLst xmlns:p="http://schemas.openxmlformats.org/presentationml/2006/main">
  <p:tag name="KSO_WM_BEAUTIFY_FLAG" val=""/>
</p:tagLst>
</file>

<file path=ppt/tags/tag2239.xml><?xml version="1.0" encoding="utf-8"?>
<p:tagLst xmlns:p="http://schemas.openxmlformats.org/presentationml/2006/main">
  <p:tag name="KSO_WM_BEAUTIFY_FLAG" val=""/>
</p:tagLst>
</file>

<file path=ppt/tags/tag2240.xml><?xml version="1.0" encoding="utf-8"?>
<p:tagLst xmlns:p="http://schemas.openxmlformats.org/presentationml/2006/main">
  <p:tag name="KSO_WM_BEAUTIFY_FLAG" val=""/>
</p:tagLst>
</file>

<file path=ppt/tags/tag2241.xml><?xml version="1.0" encoding="utf-8"?>
<p:tagLst xmlns:p="http://schemas.openxmlformats.org/presentationml/2006/main">
  <p:tag name="KSO_WM_BEAUTIFY_FLAG" val=""/>
</p:tagLst>
</file>

<file path=ppt/tags/tag2242.xml><?xml version="1.0" encoding="utf-8"?>
<p:tagLst xmlns:p="http://schemas.openxmlformats.org/presentationml/2006/main">
  <p:tag name="KSO_WM_BEAUTIFY_FLAG" val=""/>
</p:tagLst>
</file>

<file path=ppt/tags/tag2243.xml><?xml version="1.0" encoding="utf-8"?>
<p:tagLst xmlns:p="http://schemas.openxmlformats.org/presentationml/2006/main">
  <p:tag name="KSO_WM_BEAUTIFY_FLAG" val=""/>
</p:tagLst>
</file>

<file path=ppt/tags/tag2244.xml><?xml version="1.0" encoding="utf-8"?>
<p:tagLst xmlns:p="http://schemas.openxmlformats.org/presentationml/2006/main">
  <p:tag name="KSO_WM_BEAUTIFY_FLAG" val=""/>
</p:tagLst>
</file>

<file path=ppt/tags/tag2245.xml><?xml version="1.0" encoding="utf-8"?>
<p:tagLst xmlns:p="http://schemas.openxmlformats.org/presentationml/2006/main">
  <p:tag name="KSO_WM_BEAUTIFY_FLAG" val=""/>
</p:tagLst>
</file>

<file path=ppt/tags/tag2246.xml><?xml version="1.0" encoding="utf-8"?>
<p:tagLst xmlns:p="http://schemas.openxmlformats.org/presentationml/2006/main">
  <p:tag name="KSO_WM_BEAUTIFY_FLAG" val=""/>
</p:tagLst>
</file>

<file path=ppt/tags/tag2247.xml><?xml version="1.0" encoding="utf-8"?>
<p:tagLst xmlns:p="http://schemas.openxmlformats.org/presentationml/2006/main">
  <p:tag name="KSO_WM_BEAUTIFY_FLAG" val=""/>
</p:tagLst>
</file>

<file path=ppt/tags/tag2248.xml><?xml version="1.0" encoding="utf-8"?>
<p:tagLst xmlns:p="http://schemas.openxmlformats.org/presentationml/2006/main">
  <p:tag name="KSO_WM_BEAUTIFY_FLAG" val=""/>
</p:tagLst>
</file>

<file path=ppt/tags/tag2249.xml><?xml version="1.0" encoding="utf-8"?>
<p:tagLst xmlns:p="http://schemas.openxmlformats.org/presentationml/2006/main">
  <p:tag name="KSO_WM_BEAUTIFY_FLAG" val=""/>
</p:tagLst>
</file>

<file path=ppt/tags/tag2250.xml><?xml version="1.0" encoding="utf-8"?>
<p:tagLst xmlns:p="http://schemas.openxmlformats.org/presentationml/2006/main">
  <p:tag name="KSO_WM_BEAUTIFY_FLAG" val=""/>
</p:tagLst>
</file>

<file path=ppt/tags/tag2251.xml><?xml version="1.0" encoding="utf-8"?>
<p:tagLst xmlns:p="http://schemas.openxmlformats.org/presentationml/2006/main">
  <p:tag name="KSO_WM_BEAUTIFY_FLAG" val=""/>
</p:tagLst>
</file>

<file path=ppt/tags/tag2252.xml><?xml version="1.0" encoding="utf-8"?>
<p:tagLst xmlns:p="http://schemas.openxmlformats.org/presentationml/2006/main">
  <p:tag name="KSO_WM_BEAUTIFY_FLAG" val=""/>
</p:tagLst>
</file>

<file path=ppt/tags/tag2253.xml><?xml version="1.0" encoding="utf-8"?>
<p:tagLst xmlns:p="http://schemas.openxmlformats.org/presentationml/2006/main">
  <p:tag name="KSO_WM_BEAUTIFY_FLAG" val=""/>
</p:tagLst>
</file>

<file path=ppt/tags/tag2254.xml><?xml version="1.0" encoding="utf-8"?>
<p:tagLst xmlns:p="http://schemas.openxmlformats.org/presentationml/2006/main">
  <p:tag name="TABLE_ENDDRAG_ORIGIN_RECT" val="617*110"/>
  <p:tag name="TABLE_ENDDRAG_RECT" val="74*471*617*110"/>
  <p:tag name="KSO_WM_BEAUTIFY_FLAG" val=""/>
</p:tagLst>
</file>

<file path=ppt/tags/tag2255.xml><?xml version="1.0" encoding="utf-8"?>
<p:tagLst xmlns:p="http://schemas.openxmlformats.org/presentationml/2006/main">
  <p:tag name="KSO_WM_BEAUTIFY_FLAG" val=""/>
</p:tagLst>
</file>

<file path=ppt/tags/tag2256.xml><?xml version="1.0" encoding="utf-8"?>
<p:tagLst xmlns:p="http://schemas.openxmlformats.org/presentationml/2006/main">
  <p:tag name="KSO_WM_BEAUTIFY_FLAG" val=""/>
</p:tagLst>
</file>

<file path=ppt/tags/tag2257.xml><?xml version="1.0" encoding="utf-8"?>
<p:tagLst xmlns:p="http://schemas.openxmlformats.org/presentationml/2006/main">
  <p:tag name="KSO_WM_BEAUTIFY_FLAG" val=""/>
</p:tagLst>
</file>

<file path=ppt/tags/tag2258.xml><?xml version="1.0" encoding="utf-8"?>
<p:tagLst xmlns:p="http://schemas.openxmlformats.org/presentationml/2006/main">
  <p:tag name="KSO_WM_BEAUTIFY_FLAG" val=""/>
</p:tagLst>
</file>

<file path=ppt/tags/tag2259.xml><?xml version="1.0" encoding="utf-8"?>
<p:tagLst xmlns:p="http://schemas.openxmlformats.org/presentationml/2006/main">
  <p:tag name="KSO_WM_BEAUTIFY_FLAG" val=""/>
</p:tagLst>
</file>

<file path=ppt/tags/tag2260.xml><?xml version="1.0" encoding="utf-8"?>
<p:tagLst xmlns:p="http://schemas.openxmlformats.org/presentationml/2006/main">
  <p:tag name="KSO_WM_BEAUTIFY_FLAG" val=""/>
</p:tagLst>
</file>

<file path=ppt/tags/tag2261.xml><?xml version="1.0" encoding="utf-8"?>
<p:tagLst xmlns:p="http://schemas.openxmlformats.org/presentationml/2006/main">
  <p:tag name="KSO_WM_BEAUTIFY_FLAG" val=""/>
</p:tagLst>
</file>

<file path=ppt/tags/tag2262.xml><?xml version="1.0" encoding="utf-8"?>
<p:tagLst xmlns:p="http://schemas.openxmlformats.org/presentationml/2006/main">
  <p:tag name="KSO_WM_BEAUTIFY_FLAG" val=""/>
</p:tagLst>
</file>

<file path=ppt/tags/tag2263.xml><?xml version="1.0" encoding="utf-8"?>
<p:tagLst xmlns:p="http://schemas.openxmlformats.org/presentationml/2006/main">
  <p:tag name="KSO_WM_BEAUTIFY_FLAG" val=""/>
</p:tagLst>
</file>

<file path=ppt/tags/tag2264.xml><?xml version="1.0" encoding="utf-8"?>
<p:tagLst xmlns:p="http://schemas.openxmlformats.org/presentationml/2006/main">
  <p:tag name="KSO_WM_BEAUTIFY_FLAG" val=""/>
</p:tagLst>
</file>

<file path=ppt/tags/tag2265.xml><?xml version="1.0" encoding="utf-8"?>
<p:tagLst xmlns:p="http://schemas.openxmlformats.org/presentationml/2006/main">
  <p:tag name="KSO_WM_BEAUTIFY_FLAG" val=""/>
</p:tagLst>
</file>

<file path=ppt/tags/tag2266.xml><?xml version="1.0" encoding="utf-8"?>
<p:tagLst xmlns:p="http://schemas.openxmlformats.org/presentationml/2006/main">
  <p:tag name="KSO_WM_BEAUTIFY_FLAG" val=""/>
</p:tagLst>
</file>

<file path=ppt/tags/tag2267.xml><?xml version="1.0" encoding="utf-8"?>
<p:tagLst xmlns:p="http://schemas.openxmlformats.org/presentationml/2006/main">
  <p:tag name="KSO_WM_BEAUTIFY_FLAG" val=""/>
</p:tagLst>
</file>

<file path=ppt/tags/tag2268.xml><?xml version="1.0" encoding="utf-8"?>
<p:tagLst xmlns:p="http://schemas.openxmlformats.org/presentationml/2006/main">
  <p:tag name="KSO_WM_BEAUTIFY_FLAG" val=""/>
</p:tagLst>
</file>

<file path=ppt/tags/tag2269.xml><?xml version="1.0" encoding="utf-8"?>
<p:tagLst xmlns:p="http://schemas.openxmlformats.org/presentationml/2006/main">
  <p:tag name="KSO_WM_BEAUTIFY_FLAG" val=""/>
</p:tagLst>
</file>

<file path=ppt/tags/tag2270.xml><?xml version="1.0" encoding="utf-8"?>
<p:tagLst xmlns:p="http://schemas.openxmlformats.org/presentationml/2006/main">
  <p:tag name="KSO_WM_BEAUTIFY_FLAG" val=""/>
</p:tagLst>
</file>

<file path=ppt/tags/tag2271.xml><?xml version="1.0" encoding="utf-8"?>
<p:tagLst xmlns:p="http://schemas.openxmlformats.org/presentationml/2006/main">
  <p:tag name="KSO_WM_BEAUTIFY_FLAG" val=""/>
</p:tagLst>
</file>

<file path=ppt/tags/tag2272.xml><?xml version="1.0" encoding="utf-8"?>
<p:tagLst xmlns:p="http://schemas.openxmlformats.org/presentationml/2006/main">
  <p:tag name="KSO_WM_BEAUTIFY_FLAG" val=""/>
</p:tagLst>
</file>

<file path=ppt/tags/tag2273.xml><?xml version="1.0" encoding="utf-8"?>
<p:tagLst xmlns:p="http://schemas.openxmlformats.org/presentationml/2006/main">
  <p:tag name="KSO_WM_BEAUTIFY_FLAG" val=""/>
</p:tagLst>
</file>

<file path=ppt/tags/tag2274.xml><?xml version="1.0" encoding="utf-8"?>
<p:tagLst xmlns:p="http://schemas.openxmlformats.org/presentationml/2006/main">
  <p:tag name="KSO_WM_BEAUTIFY_FLAG" val=""/>
</p:tagLst>
</file>

<file path=ppt/tags/tag2275.xml><?xml version="1.0" encoding="utf-8"?>
<p:tagLst xmlns:p="http://schemas.openxmlformats.org/presentationml/2006/main">
  <p:tag name="KSO_WM_BEAUTIFY_FLAG" val=""/>
</p:tagLst>
</file>

<file path=ppt/tags/tag2276.xml><?xml version="1.0" encoding="utf-8"?>
<p:tagLst xmlns:p="http://schemas.openxmlformats.org/presentationml/2006/main">
  <p:tag name="KSO_WM_BEAUTIFY_FLAG" val=""/>
</p:tagLst>
</file>

<file path=ppt/tags/tag2277.xml><?xml version="1.0" encoding="utf-8"?>
<p:tagLst xmlns:p="http://schemas.openxmlformats.org/presentationml/2006/main">
  <p:tag name="KSO_WM_BEAUTIFY_FLAG" val=""/>
</p:tagLst>
</file>

<file path=ppt/tags/tag2278.xml><?xml version="1.0" encoding="utf-8"?>
<p:tagLst xmlns:p="http://schemas.openxmlformats.org/presentationml/2006/main">
  <p:tag name="KSO_WM_BEAUTIFY_FLAG" val=""/>
</p:tagLst>
</file>

<file path=ppt/tags/tag2279.xml><?xml version="1.0" encoding="utf-8"?>
<p:tagLst xmlns:p="http://schemas.openxmlformats.org/presentationml/2006/main">
  <p:tag name="KSO_WM_BEAUTIFY_FLAG" val=""/>
</p:tagLst>
</file>

<file path=ppt/tags/tag2280.xml><?xml version="1.0" encoding="utf-8"?>
<p:tagLst xmlns:p="http://schemas.openxmlformats.org/presentationml/2006/main">
  <p:tag name="KSO_WM_BEAUTIFY_FLAG" val=""/>
</p:tagLst>
</file>

<file path=ppt/tags/tag2281.xml><?xml version="1.0" encoding="utf-8"?>
<p:tagLst xmlns:p="http://schemas.openxmlformats.org/presentationml/2006/main">
  <p:tag name="KSO_WM_BEAUTIFY_FLAG" val=""/>
</p:tagLst>
</file>

<file path=ppt/tags/tag2282.xml><?xml version="1.0" encoding="utf-8"?>
<p:tagLst xmlns:p="http://schemas.openxmlformats.org/presentationml/2006/main">
  <p:tag name="KSO_WM_BEAUTIFY_FLAG" val=""/>
</p:tagLst>
</file>

<file path=ppt/tags/tag2283.xml><?xml version="1.0" encoding="utf-8"?>
<p:tagLst xmlns:p="http://schemas.openxmlformats.org/presentationml/2006/main">
  <p:tag name="KSO_WM_BEAUTIFY_FLAG" val=""/>
</p:tagLst>
</file>

<file path=ppt/tags/tag2284.xml><?xml version="1.0" encoding="utf-8"?>
<p:tagLst xmlns:p="http://schemas.openxmlformats.org/presentationml/2006/main">
  <p:tag name="KSO_WM_BEAUTIFY_FLAG" val=""/>
</p:tagLst>
</file>

<file path=ppt/tags/tag2285.xml><?xml version="1.0" encoding="utf-8"?>
<p:tagLst xmlns:p="http://schemas.openxmlformats.org/presentationml/2006/main">
  <p:tag name="KSO_WM_BEAUTIFY_FLAG" val=""/>
</p:tagLst>
</file>

<file path=ppt/tags/tag2286.xml><?xml version="1.0" encoding="utf-8"?>
<p:tagLst xmlns:p="http://schemas.openxmlformats.org/presentationml/2006/main">
  <p:tag name="KSO_WM_BEAUTIFY_FLAG" val=""/>
</p:tagLst>
</file>

<file path=ppt/tags/tag2287.xml><?xml version="1.0" encoding="utf-8"?>
<p:tagLst xmlns:p="http://schemas.openxmlformats.org/presentationml/2006/main">
  <p:tag name="KSO_WM_BEAUTIFY_FLAG" val=""/>
</p:tagLst>
</file>

<file path=ppt/tags/tag2288.xml><?xml version="1.0" encoding="utf-8"?>
<p:tagLst xmlns:p="http://schemas.openxmlformats.org/presentationml/2006/main">
  <p:tag name="KSO_WM_BEAUTIFY_FLAG" val=""/>
</p:tagLst>
</file>

<file path=ppt/tags/tag2289.xml><?xml version="1.0" encoding="utf-8"?>
<p:tagLst xmlns:p="http://schemas.openxmlformats.org/presentationml/2006/main">
  <p:tag name="KSO_WM_BEAUTIFY_FLAG" val=""/>
</p:tagLst>
</file>

<file path=ppt/tags/tag2290.xml><?xml version="1.0" encoding="utf-8"?>
<p:tagLst xmlns:p="http://schemas.openxmlformats.org/presentationml/2006/main">
  <p:tag name="KSO_WM_BEAUTIFY_FLAG" val=""/>
</p:tagLst>
</file>

<file path=ppt/tags/tag2291.xml><?xml version="1.0" encoding="utf-8"?>
<p:tagLst xmlns:p="http://schemas.openxmlformats.org/presentationml/2006/main">
  <p:tag name="KSO_WM_BEAUTIFY_FLAG" val=""/>
</p:tagLst>
</file>

<file path=ppt/tags/tag2292.xml><?xml version="1.0" encoding="utf-8"?>
<p:tagLst xmlns:p="http://schemas.openxmlformats.org/presentationml/2006/main">
  <p:tag name="KSO_WM_BEAUTIFY_FLAG" val=""/>
</p:tagLst>
</file>

<file path=ppt/tags/tag2293.xml><?xml version="1.0" encoding="utf-8"?>
<p:tagLst xmlns:p="http://schemas.openxmlformats.org/presentationml/2006/main">
  <p:tag name="KSO_WM_BEAUTIFY_FLAG" val=""/>
</p:tagLst>
</file>

<file path=ppt/tags/tag2294.xml><?xml version="1.0" encoding="utf-8"?>
<p:tagLst xmlns:p="http://schemas.openxmlformats.org/presentationml/2006/main">
  <p:tag name="KSO_WM_BEAUTIFY_FLAG" val=""/>
</p:tagLst>
</file>

<file path=ppt/tags/tag2295.xml><?xml version="1.0" encoding="utf-8"?>
<p:tagLst xmlns:p="http://schemas.openxmlformats.org/presentationml/2006/main">
  <p:tag name="KSO_WM_BEAUTIFY_FLAG" val=""/>
</p:tagLst>
</file>

<file path=ppt/tags/tag2296.xml><?xml version="1.0" encoding="utf-8"?>
<p:tagLst xmlns:p="http://schemas.openxmlformats.org/presentationml/2006/main">
  <p:tag name="KSO_WM_BEAUTIFY_FLAG" val=""/>
</p:tagLst>
</file>

<file path=ppt/tags/tag2297.xml><?xml version="1.0" encoding="utf-8"?>
<p:tagLst xmlns:p="http://schemas.openxmlformats.org/presentationml/2006/main">
  <p:tag name="KSO_WM_BEAUTIFY_FLAG" val=""/>
</p:tagLst>
</file>

<file path=ppt/tags/tag2298.xml><?xml version="1.0" encoding="utf-8"?>
<p:tagLst xmlns:p="http://schemas.openxmlformats.org/presentationml/2006/main">
  <p:tag name="KSO_WM_BEAUTIFY_FLAG" val=""/>
</p:tagLst>
</file>

<file path=ppt/tags/tag2299.xml><?xml version="1.0" encoding="utf-8"?>
<p:tagLst xmlns:p="http://schemas.openxmlformats.org/presentationml/2006/main">
  <p:tag name="KSO_WM_BEAUTIFY_FLAG" val=""/>
</p:tagLst>
</file>

<file path=ppt/tags/tag2300.xml><?xml version="1.0" encoding="utf-8"?>
<p:tagLst xmlns:p="http://schemas.openxmlformats.org/presentationml/2006/main">
  <p:tag name="KSO_WM_BEAUTIFY_FLAG" val=""/>
</p:tagLst>
</file>

<file path=ppt/tags/tag2301.xml><?xml version="1.0" encoding="utf-8"?>
<p:tagLst xmlns:p="http://schemas.openxmlformats.org/presentationml/2006/main">
  <p:tag name="KSO_WM_BEAUTIFY_FLAG" val=""/>
</p:tagLst>
</file>

<file path=ppt/tags/tag2302.xml><?xml version="1.0" encoding="utf-8"?>
<p:tagLst xmlns:p="http://schemas.openxmlformats.org/presentationml/2006/main">
  <p:tag name="KSO_WM_BEAUTIFY_FLAG" val=""/>
</p:tagLst>
</file>

<file path=ppt/tags/tag2303.xml><?xml version="1.0" encoding="utf-8"?>
<p:tagLst xmlns:p="http://schemas.openxmlformats.org/presentationml/2006/main">
  <p:tag name="KSO_WM_BEAUTIFY_FLAG" val=""/>
</p:tagLst>
</file>

<file path=ppt/tags/tag2304.xml><?xml version="1.0" encoding="utf-8"?>
<p:tagLst xmlns:p="http://schemas.openxmlformats.org/presentationml/2006/main">
  <p:tag name="KSO_WM_BEAUTIFY_FLAG" val=""/>
</p:tagLst>
</file>

<file path=ppt/tags/tag2305.xml><?xml version="1.0" encoding="utf-8"?>
<p:tagLst xmlns:p="http://schemas.openxmlformats.org/presentationml/2006/main">
  <p:tag name="KSO_WM_BEAUTIFY_FLAG" val=""/>
</p:tagLst>
</file>

<file path=ppt/tags/tag2306.xml><?xml version="1.0" encoding="utf-8"?>
<p:tagLst xmlns:p="http://schemas.openxmlformats.org/presentationml/2006/main">
  <p:tag name="KSO_WM_BEAUTIFY_FLAG" val=""/>
</p:tagLst>
</file>

<file path=ppt/tags/tag2307.xml><?xml version="1.0" encoding="utf-8"?>
<p:tagLst xmlns:p="http://schemas.openxmlformats.org/presentationml/2006/main">
  <p:tag name="KSO_WM_BEAUTIFY_FLAG" val=""/>
</p:tagLst>
</file>

<file path=ppt/tags/tag2308.xml><?xml version="1.0" encoding="utf-8"?>
<p:tagLst xmlns:p="http://schemas.openxmlformats.org/presentationml/2006/main">
  <p:tag name="KSO_WM_BEAUTIFY_FLAG" val=""/>
</p:tagLst>
</file>

<file path=ppt/tags/tag2309.xml><?xml version="1.0" encoding="utf-8"?>
<p:tagLst xmlns:p="http://schemas.openxmlformats.org/presentationml/2006/main">
  <p:tag name="KSO_WM_BEAUTIFY_FLAG" val=""/>
</p:tagLst>
</file>

<file path=ppt/tags/tag2310.xml><?xml version="1.0" encoding="utf-8"?>
<p:tagLst xmlns:p="http://schemas.openxmlformats.org/presentationml/2006/main">
  <p:tag name="KSO_WM_BEAUTIFY_FLAG" val=""/>
</p:tagLst>
</file>

<file path=ppt/tags/tag2311.xml><?xml version="1.0" encoding="utf-8"?>
<p:tagLst xmlns:p="http://schemas.openxmlformats.org/presentationml/2006/main">
  <p:tag name="KSO_WM_BEAUTIFY_FLAG" val=""/>
</p:tagLst>
</file>

<file path=ppt/tags/tag2312.xml><?xml version="1.0" encoding="utf-8"?>
<p:tagLst xmlns:p="http://schemas.openxmlformats.org/presentationml/2006/main">
  <p:tag name="KSO_WM_BEAUTIFY_FLAG" val=""/>
</p:tagLst>
</file>

<file path=ppt/tags/tag2313.xml><?xml version="1.0" encoding="utf-8"?>
<p:tagLst xmlns:p="http://schemas.openxmlformats.org/presentationml/2006/main">
  <p:tag name="KSO_WM_BEAUTIFY_FLAG" val=""/>
</p:tagLst>
</file>

<file path=ppt/tags/tag2314.xml><?xml version="1.0" encoding="utf-8"?>
<p:tagLst xmlns:p="http://schemas.openxmlformats.org/presentationml/2006/main">
  <p:tag name="KSO_WM_BEAUTIFY_FLAG" val=""/>
</p:tagLst>
</file>

<file path=ppt/tags/tag2315.xml><?xml version="1.0" encoding="utf-8"?>
<p:tagLst xmlns:p="http://schemas.openxmlformats.org/presentationml/2006/main">
  <p:tag name="KSO_WM_BEAUTIFY_FLAG" val=""/>
</p:tagLst>
</file>

<file path=ppt/tags/tag2316.xml><?xml version="1.0" encoding="utf-8"?>
<p:tagLst xmlns:p="http://schemas.openxmlformats.org/presentationml/2006/main">
  <p:tag name="KSO_WM_BEAUTIFY_FLAG" val=""/>
</p:tagLst>
</file>

<file path=ppt/tags/tag2317.xml><?xml version="1.0" encoding="utf-8"?>
<p:tagLst xmlns:p="http://schemas.openxmlformats.org/presentationml/2006/main">
  <p:tag name="KSO_WM_BEAUTIFY_FLAG" val=""/>
</p:tagLst>
</file>

<file path=ppt/tags/tag2318.xml><?xml version="1.0" encoding="utf-8"?>
<p:tagLst xmlns:p="http://schemas.openxmlformats.org/presentationml/2006/main">
  <p:tag name="KSO_WM_BEAUTIFY_FLAG" val=""/>
</p:tagLst>
</file>

<file path=ppt/tags/tag2319.xml><?xml version="1.0" encoding="utf-8"?>
<p:tagLst xmlns:p="http://schemas.openxmlformats.org/presentationml/2006/main">
  <p:tag name="KSO_WM_BEAUTIFY_FLAG" val=""/>
</p:tagLst>
</file>

<file path=ppt/tags/tag2320.xml><?xml version="1.0" encoding="utf-8"?>
<p:tagLst xmlns:p="http://schemas.openxmlformats.org/presentationml/2006/main">
  <p:tag name="KSO_WM_BEAUTIFY_FLAG" val=""/>
</p:tagLst>
</file>

<file path=ppt/tags/tag2321.xml><?xml version="1.0" encoding="utf-8"?>
<p:tagLst xmlns:p="http://schemas.openxmlformats.org/presentationml/2006/main">
  <p:tag name="KSO_WM_BEAUTIFY_FLAG" val=""/>
</p:tagLst>
</file>

<file path=ppt/tags/tag2322.xml><?xml version="1.0" encoding="utf-8"?>
<p:tagLst xmlns:p="http://schemas.openxmlformats.org/presentationml/2006/main">
  <p:tag name="KSO_WM_BEAUTIFY_FLAG" val=""/>
</p:tagLst>
</file>

<file path=ppt/tags/tag2323.xml><?xml version="1.0" encoding="utf-8"?>
<p:tagLst xmlns:p="http://schemas.openxmlformats.org/presentationml/2006/main">
  <p:tag name="KSO_WM_BEAUTIFY_FLAG" val=""/>
</p:tagLst>
</file>

<file path=ppt/tags/tag2324.xml><?xml version="1.0" encoding="utf-8"?>
<p:tagLst xmlns:p="http://schemas.openxmlformats.org/presentationml/2006/main">
  <p:tag name="KSO_WM_BEAUTIFY_FLAG" val=""/>
</p:tagLst>
</file>

<file path=ppt/tags/tag2325.xml><?xml version="1.0" encoding="utf-8"?>
<p:tagLst xmlns:p="http://schemas.openxmlformats.org/presentationml/2006/main">
  <p:tag name="KSO_WM_BEAUTIFY_FLAG" val=""/>
</p:tagLst>
</file>

<file path=ppt/tags/tag2326.xml><?xml version="1.0" encoding="utf-8"?>
<p:tagLst xmlns:p="http://schemas.openxmlformats.org/presentationml/2006/main">
  <p:tag name="KSO_WM_BEAUTIFY_FLAG" val=""/>
</p:tagLst>
</file>

<file path=ppt/tags/tag2327.xml><?xml version="1.0" encoding="utf-8"?>
<p:tagLst xmlns:p="http://schemas.openxmlformats.org/presentationml/2006/main">
  <p:tag name="KSO_WM_BEAUTIFY_FLAG" val=""/>
</p:tagLst>
</file>

<file path=ppt/tags/tag2328.xml><?xml version="1.0" encoding="utf-8"?>
<p:tagLst xmlns:p="http://schemas.openxmlformats.org/presentationml/2006/main">
  <p:tag name="KSO_WM_BEAUTIFY_FLAG" val=""/>
</p:tagLst>
</file>

<file path=ppt/tags/tag2329.xml><?xml version="1.0" encoding="utf-8"?>
<p:tagLst xmlns:p="http://schemas.openxmlformats.org/presentationml/2006/main">
  <p:tag name="KSO_WM_BEAUTIFY_FLAG" val=""/>
</p:tagLst>
</file>

<file path=ppt/tags/tag2330.xml><?xml version="1.0" encoding="utf-8"?>
<p:tagLst xmlns:p="http://schemas.openxmlformats.org/presentationml/2006/main">
  <p:tag name="KSO_WM_BEAUTIFY_FLAG" val=""/>
</p:tagLst>
</file>

<file path=ppt/tags/tag2331.xml><?xml version="1.0" encoding="utf-8"?>
<p:tagLst xmlns:p="http://schemas.openxmlformats.org/presentationml/2006/main">
  <p:tag name="KSO_WM_BEAUTIFY_FLAG" val=""/>
</p:tagLst>
</file>

<file path=ppt/tags/tag2332.xml><?xml version="1.0" encoding="utf-8"?>
<p:tagLst xmlns:p="http://schemas.openxmlformats.org/presentationml/2006/main">
  <p:tag name="KSO_WM_BEAUTIFY_FLAG" val=""/>
</p:tagLst>
</file>

<file path=ppt/tags/tag2333.xml><?xml version="1.0" encoding="utf-8"?>
<p:tagLst xmlns:p="http://schemas.openxmlformats.org/presentationml/2006/main">
  <p:tag name="KSO_WM_BEAUTIFY_FLAG" val=""/>
</p:tagLst>
</file>

<file path=ppt/tags/tag2334.xml><?xml version="1.0" encoding="utf-8"?>
<p:tagLst xmlns:p="http://schemas.openxmlformats.org/presentationml/2006/main">
  <p:tag name="KSO_WM_BEAUTIFY_FLAG" val=""/>
</p:tagLst>
</file>

<file path=ppt/tags/tag2335.xml><?xml version="1.0" encoding="utf-8"?>
<p:tagLst xmlns:p="http://schemas.openxmlformats.org/presentationml/2006/main">
  <p:tag name="KSO_WM_BEAUTIFY_FLAG" val=""/>
</p:tagLst>
</file>

<file path=ppt/tags/tag2336.xml><?xml version="1.0" encoding="utf-8"?>
<p:tagLst xmlns:p="http://schemas.openxmlformats.org/presentationml/2006/main">
  <p:tag name="KSO_WM_BEAUTIFY_FLAG" val=""/>
</p:tagLst>
</file>

<file path=ppt/tags/tag2337.xml><?xml version="1.0" encoding="utf-8"?>
<p:tagLst xmlns:p="http://schemas.openxmlformats.org/presentationml/2006/main">
  <p:tag name="KSO_WM_BEAUTIFY_FLAG" val=""/>
</p:tagLst>
</file>

<file path=ppt/tags/tag2338.xml><?xml version="1.0" encoding="utf-8"?>
<p:tagLst xmlns:p="http://schemas.openxmlformats.org/presentationml/2006/main">
  <p:tag name="KSO_WM_BEAUTIFY_FLAG" val=""/>
</p:tagLst>
</file>

<file path=ppt/tags/tag2339.xml><?xml version="1.0" encoding="utf-8"?>
<p:tagLst xmlns:p="http://schemas.openxmlformats.org/presentationml/2006/main">
  <p:tag name="KSO_WM_BEAUTIFY_FLAG" val=""/>
</p:tagLst>
</file>

<file path=ppt/tags/tag2340.xml><?xml version="1.0" encoding="utf-8"?>
<p:tagLst xmlns:p="http://schemas.openxmlformats.org/presentationml/2006/main">
  <p:tag name="KSO_WM_BEAUTIFY_FLAG" val=""/>
</p:tagLst>
</file>

<file path=ppt/tags/tag2341.xml><?xml version="1.0" encoding="utf-8"?>
<p:tagLst xmlns:p="http://schemas.openxmlformats.org/presentationml/2006/main">
  <p:tag name="KSO_WM_BEAUTIFY_FLAG" val=""/>
</p:tagLst>
</file>

<file path=ppt/tags/tag2342.xml><?xml version="1.0" encoding="utf-8"?>
<p:tagLst xmlns:p="http://schemas.openxmlformats.org/presentationml/2006/main">
  <p:tag name="KSO_WM_BEAUTIFY_FLAG" val=""/>
</p:tagLst>
</file>

<file path=ppt/tags/tag2343.xml><?xml version="1.0" encoding="utf-8"?>
<p:tagLst xmlns:p="http://schemas.openxmlformats.org/presentationml/2006/main">
  <p:tag name="KSO_WM_BEAUTIFY_FLAG" val=""/>
</p:tagLst>
</file>

<file path=ppt/tags/tag2344.xml><?xml version="1.0" encoding="utf-8"?>
<p:tagLst xmlns:p="http://schemas.openxmlformats.org/presentationml/2006/main">
  <p:tag name="KSO_WM_BEAUTIFY_FLAG" val=""/>
</p:tagLst>
</file>

<file path=ppt/tags/tag2345.xml><?xml version="1.0" encoding="utf-8"?>
<p:tagLst xmlns:p="http://schemas.openxmlformats.org/presentationml/2006/main">
  <p:tag name="KSO_WM_BEAUTIFY_FLAG" val=""/>
</p:tagLst>
</file>

<file path=ppt/tags/tag2346.xml><?xml version="1.0" encoding="utf-8"?>
<p:tagLst xmlns:p="http://schemas.openxmlformats.org/presentationml/2006/main">
  <p:tag name="KSO_WM_BEAUTIFY_FLAG" val=""/>
</p:tagLst>
</file>

<file path=ppt/tags/tag2347.xml><?xml version="1.0" encoding="utf-8"?>
<p:tagLst xmlns:p="http://schemas.openxmlformats.org/presentationml/2006/main">
  <p:tag name="KSO_WM_BEAUTIFY_FLAG" val=""/>
</p:tagLst>
</file>

<file path=ppt/tags/tag2348.xml><?xml version="1.0" encoding="utf-8"?>
<p:tagLst xmlns:p="http://schemas.openxmlformats.org/presentationml/2006/main">
  <p:tag name="KSO_WM_BEAUTIFY_FLAG" val=""/>
</p:tagLst>
</file>

<file path=ppt/tags/tag2349.xml><?xml version="1.0" encoding="utf-8"?>
<p:tagLst xmlns:p="http://schemas.openxmlformats.org/presentationml/2006/main">
  <p:tag name="KSO_WM_BEAUTIFY_FLAG" val=""/>
</p:tagLst>
</file>

<file path=ppt/tags/tag2350.xml><?xml version="1.0" encoding="utf-8"?>
<p:tagLst xmlns:p="http://schemas.openxmlformats.org/presentationml/2006/main">
  <p:tag name="KSO_WM_BEAUTIFY_FLAG" val=""/>
</p:tagLst>
</file>

<file path=ppt/tags/tag2351.xml><?xml version="1.0" encoding="utf-8"?>
<p:tagLst xmlns:p="http://schemas.openxmlformats.org/presentationml/2006/main">
  <p:tag name="KSO_WM_BEAUTIFY_FLAG" val=""/>
</p:tagLst>
</file>

<file path=ppt/tags/tag2352.xml><?xml version="1.0" encoding="utf-8"?>
<p:tagLst xmlns:p="http://schemas.openxmlformats.org/presentationml/2006/main">
  <p:tag name="KSO_WM_BEAUTIFY_FLAG" val=""/>
</p:tagLst>
</file>

<file path=ppt/tags/tag2353.xml><?xml version="1.0" encoding="utf-8"?>
<p:tagLst xmlns:p="http://schemas.openxmlformats.org/presentationml/2006/main">
  <p:tag name="KSO_WM_BEAUTIFY_FLAG" val=""/>
</p:tagLst>
</file>

<file path=ppt/tags/tag2354.xml><?xml version="1.0" encoding="utf-8"?>
<p:tagLst xmlns:p="http://schemas.openxmlformats.org/presentationml/2006/main">
  <p:tag name="KSO_WM_BEAUTIFY_FLAG" val=""/>
</p:tagLst>
</file>

<file path=ppt/tags/tag2355.xml><?xml version="1.0" encoding="utf-8"?>
<p:tagLst xmlns:p="http://schemas.openxmlformats.org/presentationml/2006/main">
  <p:tag name="KSO_WM_BEAUTIFY_FLAG" val=""/>
</p:tagLst>
</file>

<file path=ppt/tags/tag2356.xml><?xml version="1.0" encoding="utf-8"?>
<p:tagLst xmlns:p="http://schemas.openxmlformats.org/presentationml/2006/main">
  <p:tag name="KSO_WM_BEAUTIFY_FLAG" val=""/>
</p:tagLst>
</file>

<file path=ppt/tags/tag2357.xml><?xml version="1.0" encoding="utf-8"?>
<p:tagLst xmlns:p="http://schemas.openxmlformats.org/presentationml/2006/main">
  <p:tag name="KSO_WM_BEAUTIFY_FLAG" val=""/>
</p:tagLst>
</file>

<file path=ppt/tags/tag2358.xml><?xml version="1.0" encoding="utf-8"?>
<p:tagLst xmlns:p="http://schemas.openxmlformats.org/presentationml/2006/main">
  <p:tag name="KSO_WM_BEAUTIFY_FLAG" val=""/>
</p:tagLst>
</file>

<file path=ppt/tags/tag2359.xml><?xml version="1.0" encoding="utf-8"?>
<p:tagLst xmlns:p="http://schemas.openxmlformats.org/presentationml/2006/main">
  <p:tag name="KSO_WM_BEAUTIFY_FLAG" val=""/>
</p:tagLst>
</file>

<file path=ppt/tags/tag2360.xml><?xml version="1.0" encoding="utf-8"?>
<p:tagLst xmlns:p="http://schemas.openxmlformats.org/presentationml/2006/main">
  <p:tag name="KSO_WM_BEAUTIFY_FLAG" val=""/>
</p:tagLst>
</file>

<file path=ppt/tags/tag2361.xml><?xml version="1.0" encoding="utf-8"?>
<p:tagLst xmlns:p="http://schemas.openxmlformats.org/presentationml/2006/main">
  <p:tag name="KSO_WM_BEAUTIFY_FLAG" val=""/>
</p:tagLst>
</file>

<file path=ppt/tags/tag2362.xml><?xml version="1.0" encoding="utf-8"?>
<p:tagLst xmlns:p="http://schemas.openxmlformats.org/presentationml/2006/main">
  <p:tag name="KSO_WM_BEAUTIFY_FLAG" val=""/>
</p:tagLst>
</file>

<file path=ppt/tags/tag2363.xml><?xml version="1.0" encoding="utf-8"?>
<p:tagLst xmlns:p="http://schemas.openxmlformats.org/presentationml/2006/main">
  <p:tag name="KSO_WM_BEAUTIFY_FLAG" val=""/>
</p:tagLst>
</file>

<file path=ppt/tags/tag2364.xml><?xml version="1.0" encoding="utf-8"?>
<p:tagLst xmlns:p="http://schemas.openxmlformats.org/presentationml/2006/main">
  <p:tag name="KSO_WM_BEAUTIFY_FLAG" val=""/>
</p:tagLst>
</file>

<file path=ppt/tags/tag2365.xml><?xml version="1.0" encoding="utf-8"?>
<p:tagLst xmlns:p="http://schemas.openxmlformats.org/presentationml/2006/main">
  <p:tag name="KSO_WM_BEAUTIFY_FLAG" val=""/>
</p:tagLst>
</file>

<file path=ppt/tags/tag2366.xml><?xml version="1.0" encoding="utf-8"?>
<p:tagLst xmlns:p="http://schemas.openxmlformats.org/presentationml/2006/main">
  <p:tag name="KSO_WM_BEAUTIFY_FLAG" val=""/>
</p:tagLst>
</file>

<file path=ppt/tags/tag2367.xml><?xml version="1.0" encoding="utf-8"?>
<p:tagLst xmlns:p="http://schemas.openxmlformats.org/presentationml/2006/main">
  <p:tag name="KSO_WM_BEAUTIFY_FLAG" val=""/>
</p:tagLst>
</file>

<file path=ppt/tags/tag2368.xml><?xml version="1.0" encoding="utf-8"?>
<p:tagLst xmlns:p="http://schemas.openxmlformats.org/presentationml/2006/main">
  <p:tag name="KSO_WM_BEAUTIFY_FLAG" val=""/>
</p:tagLst>
</file>

<file path=ppt/tags/tag2369.xml><?xml version="1.0" encoding="utf-8"?>
<p:tagLst xmlns:p="http://schemas.openxmlformats.org/presentationml/2006/main">
  <p:tag name="KSO_WM_BEAUTIFY_FLAG" val=""/>
</p:tagLst>
</file>

<file path=ppt/tags/tag2370.xml><?xml version="1.0" encoding="utf-8"?>
<p:tagLst xmlns:p="http://schemas.openxmlformats.org/presentationml/2006/main">
  <p:tag name="KSO_WM_BEAUTIFY_FLAG" val=""/>
</p:tagLst>
</file>

<file path=ppt/tags/tag2371.xml><?xml version="1.0" encoding="utf-8"?>
<p:tagLst xmlns:p="http://schemas.openxmlformats.org/presentationml/2006/main">
  <p:tag name="KSO_WM_BEAUTIFY_FLAG" val=""/>
</p:tagLst>
</file>

<file path=ppt/tags/tag2372.xml><?xml version="1.0" encoding="utf-8"?>
<p:tagLst xmlns:p="http://schemas.openxmlformats.org/presentationml/2006/main">
  <p:tag name="KSO_WM_BEAUTIFY_FLAG" val=""/>
</p:tagLst>
</file>

<file path=ppt/tags/tag2373.xml><?xml version="1.0" encoding="utf-8"?>
<p:tagLst xmlns:p="http://schemas.openxmlformats.org/presentationml/2006/main">
  <p:tag name="KSO_WM_BEAUTIFY_FLAG" val=""/>
</p:tagLst>
</file>

<file path=ppt/tags/tag2374.xml><?xml version="1.0" encoding="utf-8"?>
<p:tagLst xmlns:p="http://schemas.openxmlformats.org/presentationml/2006/main">
  <p:tag name="KSO_WM_BEAUTIFY_FLAG" val=""/>
</p:tagLst>
</file>

<file path=ppt/tags/tag2375.xml><?xml version="1.0" encoding="utf-8"?>
<p:tagLst xmlns:p="http://schemas.openxmlformats.org/presentationml/2006/main">
  <p:tag name="KSO_WM_BEAUTIFY_FLAG" val=""/>
</p:tagLst>
</file>

<file path=ppt/tags/tag2376.xml><?xml version="1.0" encoding="utf-8"?>
<p:tagLst xmlns:p="http://schemas.openxmlformats.org/presentationml/2006/main">
  <p:tag name="KSO_WM_BEAUTIFY_FLAG" val=""/>
</p:tagLst>
</file>

<file path=ppt/tags/tag2377.xml><?xml version="1.0" encoding="utf-8"?>
<p:tagLst xmlns:p="http://schemas.openxmlformats.org/presentationml/2006/main">
  <p:tag name="KSO_WM_BEAUTIFY_FLAG" val=""/>
</p:tagLst>
</file>

<file path=ppt/tags/tag2378.xml><?xml version="1.0" encoding="utf-8"?>
<p:tagLst xmlns:p="http://schemas.openxmlformats.org/presentationml/2006/main">
  <p:tag name="KSO_WM_BEAUTIFY_FLAG" val=""/>
</p:tagLst>
</file>

<file path=ppt/tags/tag2379.xml><?xml version="1.0" encoding="utf-8"?>
<p:tagLst xmlns:p="http://schemas.openxmlformats.org/presentationml/2006/main">
  <p:tag name="KSO_WM_BEAUTIFY_FLAG" val=""/>
</p:tagLst>
</file>

<file path=ppt/tags/tag2380.xml><?xml version="1.0" encoding="utf-8"?>
<p:tagLst xmlns:p="http://schemas.openxmlformats.org/presentationml/2006/main">
  <p:tag name="KSO_WM_BEAUTIFY_FLAG" val=""/>
</p:tagLst>
</file>

<file path=ppt/tags/tag2381.xml><?xml version="1.0" encoding="utf-8"?>
<p:tagLst xmlns:p="http://schemas.openxmlformats.org/presentationml/2006/main">
  <p:tag name="KSO_WM_BEAUTIFY_FLAG" val=""/>
</p:tagLst>
</file>

<file path=ppt/tags/tag2382.xml><?xml version="1.0" encoding="utf-8"?>
<p:tagLst xmlns:p="http://schemas.openxmlformats.org/presentationml/2006/main">
  <p:tag name="KSO_WM_BEAUTIFY_FLAG" val=""/>
</p:tagLst>
</file>

<file path=ppt/tags/tag2383.xml><?xml version="1.0" encoding="utf-8"?>
<p:tagLst xmlns:p="http://schemas.openxmlformats.org/presentationml/2006/main">
  <p:tag name="KSO_WM_BEAUTIFY_FLAG" val=""/>
</p:tagLst>
</file>

<file path=ppt/tags/tag2384.xml><?xml version="1.0" encoding="utf-8"?>
<p:tagLst xmlns:p="http://schemas.openxmlformats.org/presentationml/2006/main">
  <p:tag name="KSO_WM_BEAUTIFY_FLAG" val=""/>
</p:tagLst>
</file>

<file path=ppt/tags/tag2385.xml><?xml version="1.0" encoding="utf-8"?>
<p:tagLst xmlns:p="http://schemas.openxmlformats.org/presentationml/2006/main">
  <p:tag name="KSO_WM_BEAUTIFY_FLAG" val=""/>
</p:tagLst>
</file>

<file path=ppt/tags/tag2386.xml><?xml version="1.0" encoding="utf-8"?>
<p:tagLst xmlns:p="http://schemas.openxmlformats.org/presentationml/2006/main">
  <p:tag name="KSO_WM_BEAUTIFY_FLAG" val=""/>
</p:tagLst>
</file>

<file path=ppt/tags/tag2387.xml><?xml version="1.0" encoding="utf-8"?>
<p:tagLst xmlns:p="http://schemas.openxmlformats.org/presentationml/2006/main">
  <p:tag name="KSO_WM_BEAUTIFY_FLAG" val=""/>
</p:tagLst>
</file>

<file path=ppt/tags/tag2388.xml><?xml version="1.0" encoding="utf-8"?>
<p:tagLst xmlns:p="http://schemas.openxmlformats.org/presentationml/2006/main">
  <p:tag name="KSO_WM_BEAUTIFY_FLAG" val=""/>
</p:tagLst>
</file>

<file path=ppt/tags/tag2389.xml><?xml version="1.0" encoding="utf-8"?>
<p:tagLst xmlns:p="http://schemas.openxmlformats.org/presentationml/2006/main">
  <p:tag name="KSO_WM_BEAUTIFY_FLAG" val=""/>
</p:tagLst>
</file>

<file path=ppt/tags/tag2390.xml><?xml version="1.0" encoding="utf-8"?>
<p:tagLst xmlns:p="http://schemas.openxmlformats.org/presentationml/2006/main">
  <p:tag name="KSO_WM_BEAUTIFY_FLAG" val=""/>
</p:tagLst>
</file>

<file path=ppt/tags/tag2391.xml><?xml version="1.0" encoding="utf-8"?>
<p:tagLst xmlns:p="http://schemas.openxmlformats.org/presentationml/2006/main">
  <p:tag name="KSO_WM_BEAUTIFY_FLAG" val=""/>
</p:tagLst>
</file>

<file path=ppt/tags/tag2392.xml><?xml version="1.0" encoding="utf-8"?>
<p:tagLst xmlns:p="http://schemas.openxmlformats.org/presentationml/2006/main">
  <p:tag name="KSO_WM_BEAUTIFY_FLAG" val=""/>
</p:tagLst>
</file>

<file path=ppt/tags/tag2393.xml><?xml version="1.0" encoding="utf-8"?>
<p:tagLst xmlns:p="http://schemas.openxmlformats.org/presentationml/2006/main">
  <p:tag name="KSO_WM_BEAUTIFY_FLAG" val=""/>
</p:tagLst>
</file>

<file path=ppt/tags/tag2394.xml><?xml version="1.0" encoding="utf-8"?>
<p:tagLst xmlns:p="http://schemas.openxmlformats.org/presentationml/2006/main">
  <p:tag name="KSO_WM_BEAUTIFY_FLAG" val=""/>
</p:tagLst>
</file>

<file path=ppt/tags/tag2395.xml><?xml version="1.0" encoding="utf-8"?>
<p:tagLst xmlns:p="http://schemas.openxmlformats.org/presentationml/2006/main">
  <p:tag name="KSO_WM_BEAUTIFY_FLAG" val=""/>
</p:tagLst>
</file>

<file path=ppt/tags/tag2396.xml><?xml version="1.0" encoding="utf-8"?>
<p:tagLst xmlns:p="http://schemas.openxmlformats.org/presentationml/2006/main">
  <p:tag name="KSO_WM_BEAUTIFY_FLAG" val=""/>
</p:tagLst>
</file>

<file path=ppt/tags/tag2397.xml><?xml version="1.0" encoding="utf-8"?>
<p:tagLst xmlns:p="http://schemas.openxmlformats.org/presentationml/2006/main">
  <p:tag name="KSO_WM_BEAUTIFY_FLAG" val=""/>
</p:tagLst>
</file>

<file path=ppt/tags/tag2398.xml><?xml version="1.0" encoding="utf-8"?>
<p:tagLst xmlns:p="http://schemas.openxmlformats.org/presentationml/2006/main">
  <p:tag name="KSO_WM_BEAUTIFY_FLAG" val=""/>
</p:tagLst>
</file>

<file path=ppt/tags/tag2399.xml><?xml version="1.0" encoding="utf-8"?>
<p:tagLst xmlns:p="http://schemas.openxmlformats.org/presentationml/2006/main">
  <p:tag name="KSO_WM_BEAUTIFY_FLAG" val=""/>
</p:tagLst>
</file>

<file path=ppt/tags/tag2400.xml><?xml version="1.0" encoding="utf-8"?>
<p:tagLst xmlns:p="http://schemas.openxmlformats.org/presentationml/2006/main">
  <p:tag name="KSO_WM_BEAUTIFY_FLAG" val=""/>
</p:tagLst>
</file>

<file path=ppt/tags/tag2401.xml><?xml version="1.0" encoding="utf-8"?>
<p:tagLst xmlns:p="http://schemas.openxmlformats.org/presentationml/2006/main">
  <p:tag name="KSO_WM_BEAUTIFY_FLAG" val=""/>
</p:tagLst>
</file>

<file path=ppt/tags/tag2402.xml><?xml version="1.0" encoding="utf-8"?>
<p:tagLst xmlns:p="http://schemas.openxmlformats.org/presentationml/2006/main">
  <p:tag name="KSO_WM_BEAUTIFY_FLAG" val=""/>
</p:tagLst>
</file>

<file path=ppt/tags/tag2403.xml><?xml version="1.0" encoding="utf-8"?>
<p:tagLst xmlns:p="http://schemas.openxmlformats.org/presentationml/2006/main">
  <p:tag name="KSO_WM_BEAUTIFY_FLAG" val=""/>
</p:tagLst>
</file>

<file path=ppt/tags/tag2404.xml><?xml version="1.0" encoding="utf-8"?>
<p:tagLst xmlns:p="http://schemas.openxmlformats.org/presentationml/2006/main">
  <p:tag name="KSO_WM_BEAUTIFY_FLAG" val=""/>
</p:tagLst>
</file>

<file path=ppt/tags/tag2405.xml><?xml version="1.0" encoding="utf-8"?>
<p:tagLst xmlns:p="http://schemas.openxmlformats.org/presentationml/2006/main">
  <p:tag name="KSO_WM_BEAUTIFY_FLAG" val=""/>
</p:tagLst>
</file>

<file path=ppt/tags/tag2406.xml><?xml version="1.0" encoding="utf-8"?>
<p:tagLst xmlns:p="http://schemas.openxmlformats.org/presentationml/2006/main">
  <p:tag name="KSO_WM_BEAUTIFY_FLAG" val=""/>
</p:tagLst>
</file>

<file path=ppt/tags/tag2407.xml><?xml version="1.0" encoding="utf-8"?>
<p:tagLst xmlns:p="http://schemas.openxmlformats.org/presentationml/2006/main">
  <p:tag name="KSO_WM_BEAUTIFY_FLAG" val=""/>
</p:tagLst>
</file>

<file path=ppt/tags/tag2408.xml><?xml version="1.0" encoding="utf-8"?>
<p:tagLst xmlns:p="http://schemas.openxmlformats.org/presentationml/2006/main">
  <p:tag name="KSO_WM_BEAUTIFY_FLAG" val=""/>
</p:tagLst>
</file>

<file path=ppt/tags/tag2409.xml><?xml version="1.0" encoding="utf-8"?>
<p:tagLst xmlns:p="http://schemas.openxmlformats.org/presentationml/2006/main">
  <p:tag name="KSO_WM_BEAUTIFY_FLAG" val=""/>
</p:tagLst>
</file>

<file path=ppt/tags/tag2410.xml><?xml version="1.0" encoding="utf-8"?>
<p:tagLst xmlns:p="http://schemas.openxmlformats.org/presentationml/2006/main">
  <p:tag name="KSO_WM_BEAUTIFY_FLAG" val=""/>
</p:tagLst>
</file>

<file path=ppt/tags/tag2411.xml><?xml version="1.0" encoding="utf-8"?>
<p:tagLst xmlns:p="http://schemas.openxmlformats.org/presentationml/2006/main">
  <p:tag name="KSO_WM_BEAUTIFY_FLAG" val=""/>
</p:tagLst>
</file>

<file path=ppt/tags/tag2412.xml><?xml version="1.0" encoding="utf-8"?>
<p:tagLst xmlns:p="http://schemas.openxmlformats.org/presentationml/2006/main">
  <p:tag name="KSO_WM_BEAUTIFY_FLAG" val=""/>
</p:tagLst>
</file>

<file path=ppt/tags/tag2413.xml><?xml version="1.0" encoding="utf-8"?>
<p:tagLst xmlns:p="http://schemas.openxmlformats.org/presentationml/2006/main">
  <p:tag name="KSO_WM_BEAUTIFY_FLAG" val=""/>
</p:tagLst>
</file>

<file path=ppt/tags/tag2414.xml><?xml version="1.0" encoding="utf-8"?>
<p:tagLst xmlns:p="http://schemas.openxmlformats.org/presentationml/2006/main">
  <p:tag name="KSO_WM_BEAUTIFY_FLAG" val=""/>
</p:tagLst>
</file>

<file path=ppt/tags/tag2415.xml><?xml version="1.0" encoding="utf-8"?>
<p:tagLst xmlns:p="http://schemas.openxmlformats.org/presentationml/2006/main">
  <p:tag name="KSO_WM_BEAUTIFY_FLAG" val=""/>
</p:tagLst>
</file>

<file path=ppt/tags/tag2416.xml><?xml version="1.0" encoding="utf-8"?>
<p:tagLst xmlns:p="http://schemas.openxmlformats.org/presentationml/2006/main">
  <p:tag name="KSO_WM_BEAUTIFY_FLAG" val=""/>
</p:tagLst>
</file>

<file path=ppt/tags/tag2417.xml><?xml version="1.0" encoding="utf-8"?>
<p:tagLst xmlns:p="http://schemas.openxmlformats.org/presentationml/2006/main">
  <p:tag name="KSO_WM_BEAUTIFY_FLAG" val=""/>
</p:tagLst>
</file>

<file path=ppt/tags/tag2418.xml><?xml version="1.0" encoding="utf-8"?>
<p:tagLst xmlns:p="http://schemas.openxmlformats.org/presentationml/2006/main">
  <p:tag name="KSO_WM_BEAUTIFY_FLAG" val=""/>
</p:tagLst>
</file>

<file path=ppt/tags/tag2419.xml><?xml version="1.0" encoding="utf-8"?>
<p:tagLst xmlns:p="http://schemas.openxmlformats.org/presentationml/2006/main">
  <p:tag name="KSO_WM_BEAUTIFY_FLAG" val=""/>
</p:tagLst>
</file>

<file path=ppt/tags/tag2420.xml><?xml version="1.0" encoding="utf-8"?>
<p:tagLst xmlns:p="http://schemas.openxmlformats.org/presentationml/2006/main">
  <p:tag name="KSO_WM_BEAUTIFY_FLAG" val=""/>
</p:tagLst>
</file>

<file path=ppt/tags/tag2421.xml><?xml version="1.0" encoding="utf-8"?>
<p:tagLst xmlns:p="http://schemas.openxmlformats.org/presentationml/2006/main">
  <p:tag name="KSO_WM_BEAUTIFY_FLAG" val=""/>
</p:tagLst>
</file>

<file path=ppt/tags/tag2422.xml><?xml version="1.0" encoding="utf-8"?>
<p:tagLst xmlns:p="http://schemas.openxmlformats.org/presentationml/2006/main">
  <p:tag name="KSO_WM_BEAUTIFY_FLAG" val=""/>
</p:tagLst>
</file>

<file path=ppt/tags/tag2423.xml><?xml version="1.0" encoding="utf-8"?>
<p:tagLst xmlns:p="http://schemas.openxmlformats.org/presentationml/2006/main">
  <p:tag name="KSO_WM_BEAUTIFY_FLAG" val=""/>
</p:tagLst>
</file>

<file path=ppt/tags/tag2424.xml><?xml version="1.0" encoding="utf-8"?>
<p:tagLst xmlns:p="http://schemas.openxmlformats.org/presentationml/2006/main">
  <p:tag name="KSO_WM_BEAUTIFY_FLAG" val=""/>
</p:tagLst>
</file>

<file path=ppt/tags/tag2425.xml><?xml version="1.0" encoding="utf-8"?>
<p:tagLst xmlns:p="http://schemas.openxmlformats.org/presentationml/2006/main">
  <p:tag name="KSO_WM_BEAUTIFY_FLAG" val=""/>
</p:tagLst>
</file>

<file path=ppt/tags/tag2426.xml><?xml version="1.0" encoding="utf-8"?>
<p:tagLst xmlns:p="http://schemas.openxmlformats.org/presentationml/2006/main">
  <p:tag name="KSO_WM_BEAUTIFY_FLAG" val=""/>
</p:tagLst>
</file>

<file path=ppt/tags/tag2427.xml><?xml version="1.0" encoding="utf-8"?>
<p:tagLst xmlns:p="http://schemas.openxmlformats.org/presentationml/2006/main">
  <p:tag name="KSO_WM_BEAUTIFY_FLAG" val=""/>
</p:tagLst>
</file>

<file path=ppt/tags/tag2428.xml><?xml version="1.0" encoding="utf-8"?>
<p:tagLst xmlns:p="http://schemas.openxmlformats.org/presentationml/2006/main">
  <p:tag name="KSO_WM_BEAUTIFY_FLAG" val=""/>
</p:tagLst>
</file>

<file path=ppt/tags/tag2429.xml><?xml version="1.0" encoding="utf-8"?>
<p:tagLst xmlns:p="http://schemas.openxmlformats.org/presentationml/2006/main">
  <p:tag name="KSO_WM_BEAUTIFY_FLAG" val=""/>
</p:tagLst>
</file>

<file path=ppt/tags/tag2430.xml><?xml version="1.0" encoding="utf-8"?>
<p:tagLst xmlns:p="http://schemas.openxmlformats.org/presentationml/2006/main">
  <p:tag name="KSO_WM_BEAUTIFY_FLAG" val=""/>
</p:tagLst>
</file>

<file path=ppt/tags/tag2431.xml><?xml version="1.0" encoding="utf-8"?>
<p:tagLst xmlns:p="http://schemas.openxmlformats.org/presentationml/2006/main">
  <p:tag name="KSO_WM_BEAUTIFY_FLAG" val=""/>
</p:tagLst>
</file>

<file path=ppt/tags/tag2432.xml><?xml version="1.0" encoding="utf-8"?>
<p:tagLst xmlns:p="http://schemas.openxmlformats.org/presentationml/2006/main">
  <p:tag name="KSO_WM_BEAUTIFY_FLAG" val=""/>
</p:tagLst>
</file>

<file path=ppt/tags/tag2433.xml><?xml version="1.0" encoding="utf-8"?>
<p:tagLst xmlns:p="http://schemas.openxmlformats.org/presentationml/2006/main">
  <p:tag name="KSO_WM_BEAUTIFY_FLAG" val=""/>
</p:tagLst>
</file>

<file path=ppt/tags/tag2434.xml><?xml version="1.0" encoding="utf-8"?>
<p:tagLst xmlns:p="http://schemas.openxmlformats.org/presentationml/2006/main">
  <p:tag name="KSO_WM_BEAUTIFY_FLAG" val=""/>
</p:tagLst>
</file>

<file path=ppt/tags/tag2435.xml><?xml version="1.0" encoding="utf-8"?>
<p:tagLst xmlns:p="http://schemas.openxmlformats.org/presentationml/2006/main">
  <p:tag name="KSO_WM_BEAUTIFY_FLAG" val=""/>
</p:tagLst>
</file>

<file path=ppt/tags/tag2436.xml><?xml version="1.0" encoding="utf-8"?>
<p:tagLst xmlns:p="http://schemas.openxmlformats.org/presentationml/2006/main">
  <p:tag name="KSO_WM_BEAUTIFY_FLAG" val=""/>
</p:tagLst>
</file>

<file path=ppt/tags/tag2437.xml><?xml version="1.0" encoding="utf-8"?>
<p:tagLst xmlns:p="http://schemas.openxmlformats.org/presentationml/2006/main">
  <p:tag name="KSO_WM_BEAUTIFY_FLAG" val=""/>
</p:tagLst>
</file>

<file path=ppt/tags/tag2438.xml><?xml version="1.0" encoding="utf-8"?>
<p:tagLst xmlns:p="http://schemas.openxmlformats.org/presentationml/2006/main">
  <p:tag name="KSO_WM_BEAUTIFY_FLAG" val=""/>
</p:tagLst>
</file>

<file path=ppt/tags/tag2439.xml><?xml version="1.0" encoding="utf-8"?>
<p:tagLst xmlns:p="http://schemas.openxmlformats.org/presentationml/2006/main">
  <p:tag name="KSO_WM_BEAUTIFY_FLAG" val=""/>
</p:tagLst>
</file>

<file path=ppt/tags/tag2440.xml><?xml version="1.0" encoding="utf-8"?>
<p:tagLst xmlns:p="http://schemas.openxmlformats.org/presentationml/2006/main">
  <p:tag name="KSO_WM_BEAUTIFY_FLAG" val=""/>
</p:tagLst>
</file>

<file path=ppt/tags/tag2441.xml><?xml version="1.0" encoding="utf-8"?>
<p:tagLst xmlns:p="http://schemas.openxmlformats.org/presentationml/2006/main">
  <p:tag name="KSO_WM_BEAUTIFY_FLAG" val=""/>
</p:tagLst>
</file>

<file path=ppt/tags/tag2442.xml><?xml version="1.0" encoding="utf-8"?>
<p:tagLst xmlns:p="http://schemas.openxmlformats.org/presentationml/2006/main">
  <p:tag name="KSO_WM_BEAUTIFY_FLAG" val=""/>
</p:tagLst>
</file>

<file path=ppt/tags/tag2443.xml><?xml version="1.0" encoding="utf-8"?>
<p:tagLst xmlns:p="http://schemas.openxmlformats.org/presentationml/2006/main">
  <p:tag name="KSO_WM_BEAUTIFY_FLAG" val=""/>
</p:tagLst>
</file>

<file path=ppt/tags/tag2444.xml><?xml version="1.0" encoding="utf-8"?>
<p:tagLst xmlns:p="http://schemas.openxmlformats.org/presentationml/2006/main">
  <p:tag name="KSO_WM_BEAUTIFY_FLAG" val=""/>
</p:tagLst>
</file>

<file path=ppt/tags/tag2445.xml><?xml version="1.0" encoding="utf-8"?>
<p:tagLst xmlns:p="http://schemas.openxmlformats.org/presentationml/2006/main">
  <p:tag name="KSO_WM_BEAUTIFY_FLAG" val=""/>
</p:tagLst>
</file>

<file path=ppt/tags/tag2446.xml><?xml version="1.0" encoding="utf-8"?>
<p:tagLst xmlns:p="http://schemas.openxmlformats.org/presentationml/2006/main">
  <p:tag name="KSO_WM_BEAUTIFY_FLAG" val=""/>
</p:tagLst>
</file>

<file path=ppt/tags/tag2447.xml><?xml version="1.0" encoding="utf-8"?>
<p:tagLst xmlns:p="http://schemas.openxmlformats.org/presentationml/2006/main">
  <p:tag name="KSO_WM_BEAUTIFY_FLAG" val=""/>
</p:tagLst>
</file>

<file path=ppt/tags/tag2448.xml><?xml version="1.0" encoding="utf-8"?>
<p:tagLst xmlns:p="http://schemas.openxmlformats.org/presentationml/2006/main">
  <p:tag name="KSO_WM_BEAUTIFY_FLAG" val=""/>
</p:tagLst>
</file>

<file path=ppt/tags/tag2449.xml><?xml version="1.0" encoding="utf-8"?>
<p:tagLst xmlns:p="http://schemas.openxmlformats.org/presentationml/2006/main">
  <p:tag name="KSO_WM_BEAUTIFY_FLAG" val=""/>
</p:tagLst>
</file>

<file path=ppt/tags/tag2450.xml><?xml version="1.0" encoding="utf-8"?>
<p:tagLst xmlns:p="http://schemas.openxmlformats.org/presentationml/2006/main">
  <p:tag name="KSO_WM_BEAUTIFY_FLAG" val=""/>
</p:tagLst>
</file>

<file path=ppt/tags/tag2451.xml><?xml version="1.0" encoding="utf-8"?>
<p:tagLst xmlns:p="http://schemas.openxmlformats.org/presentationml/2006/main">
  <p:tag name="KSO_WM_BEAUTIFY_FLAG" val=""/>
</p:tagLst>
</file>

<file path=ppt/tags/tag2452.xml><?xml version="1.0" encoding="utf-8"?>
<p:tagLst xmlns:p="http://schemas.openxmlformats.org/presentationml/2006/main">
  <p:tag name="KSO_WM_BEAUTIFY_FLAG" val=""/>
</p:tagLst>
</file>

<file path=ppt/tags/tag2453.xml><?xml version="1.0" encoding="utf-8"?>
<p:tagLst xmlns:p="http://schemas.openxmlformats.org/presentationml/2006/main">
  <p:tag name="KSO_WM_BEAUTIFY_FLAG" val=""/>
</p:tagLst>
</file>

<file path=ppt/tags/tag2454.xml><?xml version="1.0" encoding="utf-8"?>
<p:tagLst xmlns:p="http://schemas.openxmlformats.org/presentationml/2006/main">
  <p:tag name="KSO_WM_BEAUTIFY_FLAG" val=""/>
</p:tagLst>
</file>

<file path=ppt/tags/tag2455.xml><?xml version="1.0" encoding="utf-8"?>
<p:tagLst xmlns:p="http://schemas.openxmlformats.org/presentationml/2006/main">
  <p:tag name="KSO_WM_BEAUTIFY_FLAG" val=""/>
</p:tagLst>
</file>

<file path=ppt/tags/tag2456.xml><?xml version="1.0" encoding="utf-8"?>
<p:tagLst xmlns:p="http://schemas.openxmlformats.org/presentationml/2006/main">
  <p:tag name="KSO_WM_BEAUTIFY_FLAG" val=""/>
</p:tagLst>
</file>

<file path=ppt/tags/tag2457.xml><?xml version="1.0" encoding="utf-8"?>
<p:tagLst xmlns:p="http://schemas.openxmlformats.org/presentationml/2006/main">
  <p:tag name="KSO_WM_BEAUTIFY_FLAG" val=""/>
</p:tagLst>
</file>

<file path=ppt/tags/tag2458.xml><?xml version="1.0" encoding="utf-8"?>
<p:tagLst xmlns:p="http://schemas.openxmlformats.org/presentationml/2006/main">
  <p:tag name="KSO_WM_BEAUTIFY_FLAG" val=""/>
</p:tagLst>
</file>

<file path=ppt/tags/tag2459.xml><?xml version="1.0" encoding="utf-8"?>
<p:tagLst xmlns:p="http://schemas.openxmlformats.org/presentationml/2006/main">
  <p:tag name="KSO_WM_BEAUTIFY_FLAG" val=""/>
</p:tagLst>
</file>

<file path=ppt/tags/tag2460.xml><?xml version="1.0" encoding="utf-8"?>
<p:tagLst xmlns:p="http://schemas.openxmlformats.org/presentationml/2006/main">
  <p:tag name="KSO_WM_BEAUTIFY_FLAG" val=""/>
</p:tagLst>
</file>

<file path=ppt/tags/tag2461.xml><?xml version="1.0" encoding="utf-8"?>
<p:tagLst xmlns:p="http://schemas.openxmlformats.org/presentationml/2006/main">
  <p:tag name="KSO_WM_BEAUTIFY_FLAG" val=""/>
</p:tagLst>
</file>

<file path=ppt/tags/tag2462.xml><?xml version="1.0" encoding="utf-8"?>
<p:tagLst xmlns:p="http://schemas.openxmlformats.org/presentationml/2006/main">
  <p:tag name="KSO_WM_BEAUTIFY_FLAG" val=""/>
</p:tagLst>
</file>

<file path=ppt/tags/tag2463.xml><?xml version="1.0" encoding="utf-8"?>
<p:tagLst xmlns:p="http://schemas.openxmlformats.org/presentationml/2006/main">
  <p:tag name="KSO_WM_BEAUTIFY_FLAG" val=""/>
</p:tagLst>
</file>

<file path=ppt/tags/tag2464.xml><?xml version="1.0" encoding="utf-8"?>
<p:tagLst xmlns:p="http://schemas.openxmlformats.org/presentationml/2006/main">
  <p:tag name="KSO_WM_BEAUTIFY_FLAG" val=""/>
</p:tagLst>
</file>

<file path=ppt/tags/tag2465.xml><?xml version="1.0" encoding="utf-8"?>
<p:tagLst xmlns:p="http://schemas.openxmlformats.org/presentationml/2006/main">
  <p:tag name="KSO_WM_BEAUTIFY_FLAG" val=""/>
</p:tagLst>
</file>

<file path=ppt/tags/tag2466.xml><?xml version="1.0" encoding="utf-8"?>
<p:tagLst xmlns:p="http://schemas.openxmlformats.org/presentationml/2006/main">
  <p:tag name="KSO_WM_BEAUTIFY_FLAG" val=""/>
</p:tagLst>
</file>

<file path=ppt/tags/tag2467.xml><?xml version="1.0" encoding="utf-8"?>
<p:tagLst xmlns:p="http://schemas.openxmlformats.org/presentationml/2006/main">
  <p:tag name="KSO_WM_BEAUTIFY_FLAG" val=""/>
</p:tagLst>
</file>

<file path=ppt/tags/tag2468.xml><?xml version="1.0" encoding="utf-8"?>
<p:tagLst xmlns:p="http://schemas.openxmlformats.org/presentationml/2006/main">
  <p:tag name="KSO_WM_BEAUTIFY_FLAG" val=""/>
</p:tagLst>
</file>

<file path=ppt/tags/tag2469.xml><?xml version="1.0" encoding="utf-8"?>
<p:tagLst xmlns:p="http://schemas.openxmlformats.org/presentationml/2006/main">
  <p:tag name="KSO_WM_BEAUTIFY_FLAG" val=""/>
</p:tagLst>
</file>

<file path=ppt/tags/tag2470.xml><?xml version="1.0" encoding="utf-8"?>
<p:tagLst xmlns:p="http://schemas.openxmlformats.org/presentationml/2006/main">
  <p:tag name="KSO_WM_BEAUTIFY_FLAG" val=""/>
</p:tagLst>
</file>

<file path=ppt/tags/tag2471.xml><?xml version="1.0" encoding="utf-8"?>
<p:tagLst xmlns:p="http://schemas.openxmlformats.org/presentationml/2006/main">
  <p:tag name="KSO_WM_BEAUTIFY_FLAG" val=""/>
</p:tagLst>
</file>

<file path=ppt/tags/tag2472.xml><?xml version="1.0" encoding="utf-8"?>
<p:tagLst xmlns:p="http://schemas.openxmlformats.org/presentationml/2006/main">
  <p:tag name="KSO_WM_BEAUTIFY_FLAG" val=""/>
</p:tagLst>
</file>

<file path=ppt/tags/tag2473.xml><?xml version="1.0" encoding="utf-8"?>
<p:tagLst xmlns:p="http://schemas.openxmlformats.org/presentationml/2006/main">
  <p:tag name="KSO_WM_BEAUTIFY_FLAG" val=""/>
</p:tagLst>
</file>

<file path=ppt/tags/tag2474.xml><?xml version="1.0" encoding="utf-8"?>
<p:tagLst xmlns:p="http://schemas.openxmlformats.org/presentationml/2006/main">
  <p:tag name="KSO_WM_BEAUTIFY_FLAG" val=""/>
</p:tagLst>
</file>

<file path=ppt/tags/tag2475.xml><?xml version="1.0" encoding="utf-8"?>
<p:tagLst xmlns:p="http://schemas.openxmlformats.org/presentationml/2006/main">
  <p:tag name="KSO_WM_BEAUTIFY_FLAG" val=""/>
</p:tagLst>
</file>

<file path=ppt/tags/tag2476.xml><?xml version="1.0" encoding="utf-8"?>
<p:tagLst xmlns:p="http://schemas.openxmlformats.org/presentationml/2006/main">
  <p:tag name="KSO_WM_BEAUTIFY_FLAG" val=""/>
</p:tagLst>
</file>

<file path=ppt/tags/tag2477.xml><?xml version="1.0" encoding="utf-8"?>
<p:tagLst xmlns:p="http://schemas.openxmlformats.org/presentationml/2006/main">
  <p:tag name="KSO_WM_BEAUTIFY_FLAG" val=""/>
</p:tagLst>
</file>

<file path=ppt/tags/tag2478.xml><?xml version="1.0" encoding="utf-8"?>
<p:tagLst xmlns:p="http://schemas.openxmlformats.org/presentationml/2006/main">
  <p:tag name="KSO_WM_BEAUTIFY_FLAG" val=""/>
</p:tagLst>
</file>

<file path=ppt/tags/tag2479.xml><?xml version="1.0" encoding="utf-8"?>
<p:tagLst xmlns:p="http://schemas.openxmlformats.org/presentationml/2006/main">
  <p:tag name="KSO_WM_BEAUTIFY_FLAG" val=""/>
</p:tagLst>
</file>

<file path=ppt/tags/tag2480.xml><?xml version="1.0" encoding="utf-8"?>
<p:tagLst xmlns:p="http://schemas.openxmlformats.org/presentationml/2006/main">
  <p:tag name="KSO_WM_BEAUTIFY_FLAG" val=""/>
</p:tagLst>
</file>

<file path=ppt/tags/tag2481.xml><?xml version="1.0" encoding="utf-8"?>
<p:tagLst xmlns:p="http://schemas.openxmlformats.org/presentationml/2006/main">
  <p:tag name="KSO_WM_BEAUTIFY_FLAG" val=""/>
</p:tagLst>
</file>

<file path=ppt/tags/tag2482.xml><?xml version="1.0" encoding="utf-8"?>
<p:tagLst xmlns:p="http://schemas.openxmlformats.org/presentationml/2006/main">
  <p:tag name="KSO_WM_BEAUTIFY_FLAG" val=""/>
</p:tagLst>
</file>

<file path=ppt/tags/tag2483.xml><?xml version="1.0" encoding="utf-8"?>
<p:tagLst xmlns:p="http://schemas.openxmlformats.org/presentationml/2006/main">
  <p:tag name="KSO_WM_BEAUTIFY_FLAG" val=""/>
</p:tagLst>
</file>

<file path=ppt/tags/tag2484.xml><?xml version="1.0" encoding="utf-8"?>
<p:tagLst xmlns:p="http://schemas.openxmlformats.org/presentationml/2006/main">
  <p:tag name="KSO_WM_BEAUTIFY_FLAG" val=""/>
</p:tagLst>
</file>

<file path=ppt/tags/tag2485.xml><?xml version="1.0" encoding="utf-8"?>
<p:tagLst xmlns:p="http://schemas.openxmlformats.org/presentationml/2006/main">
  <p:tag name="KSO_WM_BEAUTIFY_FLAG" val=""/>
</p:tagLst>
</file>

<file path=ppt/tags/tag2486.xml><?xml version="1.0" encoding="utf-8"?>
<p:tagLst xmlns:p="http://schemas.openxmlformats.org/presentationml/2006/main">
  <p:tag name="KSO_WM_BEAUTIFY_FLAG" val=""/>
</p:tagLst>
</file>

<file path=ppt/tags/tag2487.xml><?xml version="1.0" encoding="utf-8"?>
<p:tagLst xmlns:p="http://schemas.openxmlformats.org/presentationml/2006/main">
  <p:tag name="KSO_WM_BEAUTIFY_FLAG" val=""/>
</p:tagLst>
</file>

<file path=ppt/tags/tag2488.xml><?xml version="1.0" encoding="utf-8"?>
<p:tagLst xmlns:p="http://schemas.openxmlformats.org/presentationml/2006/main">
  <p:tag name="KSO_WM_BEAUTIFY_FLAG" val=""/>
</p:tagLst>
</file>

<file path=ppt/tags/tag2489.xml><?xml version="1.0" encoding="utf-8"?>
<p:tagLst xmlns:p="http://schemas.openxmlformats.org/presentationml/2006/main">
  <p:tag name="KSO_WM_BEAUTIFY_FLAG" val=""/>
</p:tagLst>
</file>

<file path=ppt/tags/tag2490.xml><?xml version="1.0" encoding="utf-8"?>
<p:tagLst xmlns:p="http://schemas.openxmlformats.org/presentationml/2006/main">
  <p:tag name="KSO_WM_BEAUTIFY_FLAG" val=""/>
</p:tagLst>
</file>

<file path=ppt/tags/tag2491.xml><?xml version="1.0" encoding="utf-8"?>
<p:tagLst xmlns:p="http://schemas.openxmlformats.org/presentationml/2006/main">
  <p:tag name="KSO_WM_BEAUTIFY_FLAG" val=""/>
</p:tagLst>
</file>

<file path=ppt/tags/tag2492.xml><?xml version="1.0" encoding="utf-8"?>
<p:tagLst xmlns:p="http://schemas.openxmlformats.org/presentationml/2006/main">
  <p:tag name="KSO_WM_BEAUTIFY_FLAG" val=""/>
</p:tagLst>
</file>

<file path=ppt/tags/tag2493.xml><?xml version="1.0" encoding="utf-8"?>
<p:tagLst xmlns:p="http://schemas.openxmlformats.org/presentationml/2006/main">
  <p:tag name="KSO_WM_BEAUTIFY_FLAG" val=""/>
</p:tagLst>
</file>

<file path=ppt/tags/tag2494.xml><?xml version="1.0" encoding="utf-8"?>
<p:tagLst xmlns:p="http://schemas.openxmlformats.org/presentationml/2006/main">
  <p:tag name="KSO_WM_BEAUTIFY_FLAG" val=""/>
</p:tagLst>
</file>

<file path=ppt/tags/tag2495.xml><?xml version="1.0" encoding="utf-8"?>
<p:tagLst xmlns:p="http://schemas.openxmlformats.org/presentationml/2006/main">
  <p:tag name="KSO_WM_BEAUTIFY_FLAG" val=""/>
</p:tagLst>
</file>

<file path=ppt/tags/tag2496.xml><?xml version="1.0" encoding="utf-8"?>
<p:tagLst xmlns:p="http://schemas.openxmlformats.org/presentationml/2006/main">
  <p:tag name="KSO_WM_BEAUTIFY_FLAG" val=""/>
</p:tagLst>
</file>

<file path=ppt/tags/tag2497.xml><?xml version="1.0" encoding="utf-8"?>
<p:tagLst xmlns:p="http://schemas.openxmlformats.org/presentationml/2006/main">
  <p:tag name="KSO_WM_BEAUTIFY_FLAG" val=""/>
</p:tagLst>
</file>

<file path=ppt/tags/tag2498.xml><?xml version="1.0" encoding="utf-8"?>
<p:tagLst xmlns:p="http://schemas.openxmlformats.org/presentationml/2006/main">
  <p:tag name="KSO_WM_BEAUTIFY_FLAG" val=""/>
</p:tagLst>
</file>

<file path=ppt/tags/tag2499.xml><?xml version="1.0" encoding="utf-8"?>
<p:tagLst xmlns:p="http://schemas.openxmlformats.org/presentationml/2006/main">
  <p:tag name="KSO_WM_BEAUTIFY_FLAG" val=""/>
</p:tagLst>
</file>

<file path=ppt/tags/tag2500.xml><?xml version="1.0" encoding="utf-8"?>
<p:tagLst xmlns:p="http://schemas.openxmlformats.org/presentationml/2006/main">
  <p:tag name="KSO_WM_BEAUTIFY_FLAG" val=""/>
</p:tagLst>
</file>

<file path=ppt/tags/tag2501.xml><?xml version="1.0" encoding="utf-8"?>
<p:tagLst xmlns:p="http://schemas.openxmlformats.org/presentationml/2006/main">
  <p:tag name="KSO_WM_BEAUTIFY_FLAG" val=""/>
</p:tagLst>
</file>

<file path=ppt/tags/tag2502.xml><?xml version="1.0" encoding="utf-8"?>
<p:tagLst xmlns:p="http://schemas.openxmlformats.org/presentationml/2006/main">
  <p:tag name="KSO_WM_BEAUTIFY_FLAG" val=""/>
</p:tagLst>
</file>

<file path=ppt/tags/tag2503.xml><?xml version="1.0" encoding="utf-8"?>
<p:tagLst xmlns:p="http://schemas.openxmlformats.org/presentationml/2006/main">
  <p:tag name="KSO_WM_BEAUTIFY_FLAG" val=""/>
</p:tagLst>
</file>

<file path=ppt/tags/tag2504.xml><?xml version="1.0" encoding="utf-8"?>
<p:tagLst xmlns:p="http://schemas.openxmlformats.org/presentationml/2006/main">
  <p:tag name="KSO_WM_BEAUTIFY_FLAG" val=""/>
</p:tagLst>
</file>

<file path=ppt/tags/tag2505.xml><?xml version="1.0" encoding="utf-8"?>
<p:tagLst xmlns:p="http://schemas.openxmlformats.org/presentationml/2006/main">
  <p:tag name="KSO_WM_BEAUTIFY_FLAG" val=""/>
</p:tagLst>
</file>

<file path=ppt/tags/tag2506.xml><?xml version="1.0" encoding="utf-8"?>
<p:tagLst xmlns:p="http://schemas.openxmlformats.org/presentationml/2006/main">
  <p:tag name="KSO_WM_BEAUTIFY_FLAG" val=""/>
</p:tagLst>
</file>

<file path=ppt/tags/tag2507.xml><?xml version="1.0" encoding="utf-8"?>
<p:tagLst xmlns:p="http://schemas.openxmlformats.org/presentationml/2006/main">
  <p:tag name="KSO_WM_BEAUTIFY_FLAG" val=""/>
</p:tagLst>
</file>

<file path=ppt/tags/tag2508.xml><?xml version="1.0" encoding="utf-8"?>
<p:tagLst xmlns:p="http://schemas.openxmlformats.org/presentationml/2006/main">
  <p:tag name="KSO_WM_BEAUTIFY_FLAG" val=""/>
</p:tagLst>
</file>

<file path=ppt/tags/tag2509.xml><?xml version="1.0" encoding="utf-8"?>
<p:tagLst xmlns:p="http://schemas.openxmlformats.org/presentationml/2006/main">
  <p:tag name="KSO_WM_BEAUTIFY_FLAG" val=""/>
</p:tagLst>
</file>

<file path=ppt/tags/tag2510.xml><?xml version="1.0" encoding="utf-8"?>
<p:tagLst xmlns:p="http://schemas.openxmlformats.org/presentationml/2006/main">
  <p:tag name="KSO_WM_BEAUTIFY_FLAG" val=""/>
</p:tagLst>
</file>

<file path=ppt/tags/tag2511.xml><?xml version="1.0" encoding="utf-8"?>
<p:tagLst xmlns:p="http://schemas.openxmlformats.org/presentationml/2006/main">
  <p:tag name="KSO_WM_BEAUTIFY_FLAG" val=""/>
</p:tagLst>
</file>

<file path=ppt/tags/tag2512.xml><?xml version="1.0" encoding="utf-8"?>
<p:tagLst xmlns:p="http://schemas.openxmlformats.org/presentationml/2006/main">
  <p:tag name="KSO_WM_BEAUTIFY_FLAG" val=""/>
</p:tagLst>
</file>

<file path=ppt/tags/tag2513.xml><?xml version="1.0" encoding="utf-8"?>
<p:tagLst xmlns:p="http://schemas.openxmlformats.org/presentationml/2006/main">
  <p:tag name="KSO_WM_BEAUTIFY_FLAG" val=""/>
</p:tagLst>
</file>

<file path=ppt/tags/tag2514.xml><?xml version="1.0" encoding="utf-8"?>
<p:tagLst xmlns:p="http://schemas.openxmlformats.org/presentationml/2006/main">
  <p:tag name="KSO_WM_BEAUTIFY_FLAG" val=""/>
</p:tagLst>
</file>

<file path=ppt/tags/tag2515.xml><?xml version="1.0" encoding="utf-8"?>
<p:tagLst xmlns:p="http://schemas.openxmlformats.org/presentationml/2006/main">
  <p:tag name="KSO_WM_BEAUTIFY_FLAG" val=""/>
</p:tagLst>
</file>

<file path=ppt/tags/tag2516.xml><?xml version="1.0" encoding="utf-8"?>
<p:tagLst xmlns:p="http://schemas.openxmlformats.org/presentationml/2006/main">
  <p:tag name="KSO_WM_BEAUTIFY_FLAG" val=""/>
</p:tagLst>
</file>

<file path=ppt/tags/tag2517.xml><?xml version="1.0" encoding="utf-8"?>
<p:tagLst xmlns:p="http://schemas.openxmlformats.org/presentationml/2006/main">
  <p:tag name="KSO_WM_BEAUTIFY_FLAG" val=""/>
</p:tagLst>
</file>

<file path=ppt/tags/tag2518.xml><?xml version="1.0" encoding="utf-8"?>
<p:tagLst xmlns:p="http://schemas.openxmlformats.org/presentationml/2006/main">
  <p:tag name="KSO_WM_BEAUTIFY_FLAG" val=""/>
</p:tagLst>
</file>

<file path=ppt/tags/tag2519.xml><?xml version="1.0" encoding="utf-8"?>
<p:tagLst xmlns:p="http://schemas.openxmlformats.org/presentationml/2006/main">
  <p:tag name="KSO_WM_BEAUTIFY_FLAG" val=""/>
</p:tagLst>
</file>

<file path=ppt/tags/tag2520.xml><?xml version="1.0" encoding="utf-8"?>
<p:tagLst xmlns:p="http://schemas.openxmlformats.org/presentationml/2006/main">
  <p:tag name="KSO_WM_BEAUTIFY_FLAG" val=""/>
</p:tagLst>
</file>

<file path=ppt/tags/tag2521.xml><?xml version="1.0" encoding="utf-8"?>
<p:tagLst xmlns:p="http://schemas.openxmlformats.org/presentationml/2006/main">
  <p:tag name="KSO_WM_BEAUTIFY_FLAG" val=""/>
</p:tagLst>
</file>

<file path=ppt/tags/tag2522.xml><?xml version="1.0" encoding="utf-8"?>
<p:tagLst xmlns:p="http://schemas.openxmlformats.org/presentationml/2006/main">
  <p:tag name="KSO_WM_BEAUTIFY_FLAG" val=""/>
</p:tagLst>
</file>

<file path=ppt/tags/tag2523.xml><?xml version="1.0" encoding="utf-8"?>
<p:tagLst xmlns:p="http://schemas.openxmlformats.org/presentationml/2006/main">
  <p:tag name="KSO_WM_BEAUTIFY_FLAG" val=""/>
</p:tagLst>
</file>

<file path=ppt/tags/tag2524.xml><?xml version="1.0" encoding="utf-8"?>
<p:tagLst xmlns:p="http://schemas.openxmlformats.org/presentationml/2006/main">
  <p:tag name="KSO_WM_BEAUTIFY_FLAG" val=""/>
</p:tagLst>
</file>

<file path=ppt/tags/tag2525.xml><?xml version="1.0" encoding="utf-8"?>
<p:tagLst xmlns:p="http://schemas.openxmlformats.org/presentationml/2006/main">
  <p:tag name="KSO_WM_BEAUTIFY_FLAG" val=""/>
</p:tagLst>
</file>

<file path=ppt/tags/tag2526.xml><?xml version="1.0" encoding="utf-8"?>
<p:tagLst xmlns:p="http://schemas.openxmlformats.org/presentationml/2006/main">
  <p:tag name="KSO_WM_BEAUTIFY_FLAG" val=""/>
</p:tagLst>
</file>

<file path=ppt/tags/tag2527.xml><?xml version="1.0" encoding="utf-8"?>
<p:tagLst xmlns:p="http://schemas.openxmlformats.org/presentationml/2006/main">
  <p:tag name="KSO_WM_BEAUTIFY_FLAG" val=""/>
</p:tagLst>
</file>

<file path=ppt/tags/tag2528.xml><?xml version="1.0" encoding="utf-8"?>
<p:tagLst xmlns:p="http://schemas.openxmlformats.org/presentationml/2006/main">
  <p:tag name="KSO_WM_BEAUTIFY_FLAG" val=""/>
</p:tagLst>
</file>

<file path=ppt/tags/tag2529.xml><?xml version="1.0" encoding="utf-8"?>
<p:tagLst xmlns:p="http://schemas.openxmlformats.org/presentationml/2006/main">
  <p:tag name="KSO_WM_BEAUTIFY_FLAG" val=""/>
</p:tagLst>
</file>

<file path=ppt/tags/tag2530.xml><?xml version="1.0" encoding="utf-8"?>
<p:tagLst xmlns:p="http://schemas.openxmlformats.org/presentationml/2006/main">
  <p:tag name="KSO_WM_BEAUTIFY_FLAG" val=""/>
</p:tagLst>
</file>

<file path=ppt/tags/tag2531.xml><?xml version="1.0" encoding="utf-8"?>
<p:tagLst xmlns:p="http://schemas.openxmlformats.org/presentationml/2006/main">
  <p:tag name="KSO_WM_BEAUTIFY_FLAG" val=""/>
</p:tagLst>
</file>

<file path=ppt/tags/tag2532.xml><?xml version="1.0" encoding="utf-8"?>
<p:tagLst xmlns:p="http://schemas.openxmlformats.org/presentationml/2006/main">
  <p:tag name="KSO_WM_BEAUTIFY_FLAG" val=""/>
</p:tagLst>
</file>

<file path=ppt/tags/tag2533.xml><?xml version="1.0" encoding="utf-8"?>
<p:tagLst xmlns:p="http://schemas.openxmlformats.org/presentationml/2006/main">
  <p:tag name="KSO_WM_BEAUTIFY_FLAG" val=""/>
</p:tagLst>
</file>

<file path=ppt/tags/tag2534.xml><?xml version="1.0" encoding="utf-8"?>
<p:tagLst xmlns:p="http://schemas.openxmlformats.org/presentationml/2006/main">
  <p:tag name="KSO_WM_BEAUTIFY_FLAG" val=""/>
</p:tagLst>
</file>

<file path=ppt/tags/tag2535.xml><?xml version="1.0" encoding="utf-8"?>
<p:tagLst xmlns:p="http://schemas.openxmlformats.org/presentationml/2006/main">
  <p:tag name="KSO_WM_BEAUTIFY_FLAG" val=""/>
</p:tagLst>
</file>

<file path=ppt/tags/tag2536.xml><?xml version="1.0" encoding="utf-8"?>
<p:tagLst xmlns:p="http://schemas.openxmlformats.org/presentationml/2006/main">
  <p:tag name="KSO_WM_BEAUTIFY_FLAG" val=""/>
</p:tagLst>
</file>

<file path=ppt/tags/tag2537.xml><?xml version="1.0" encoding="utf-8"?>
<p:tagLst xmlns:p="http://schemas.openxmlformats.org/presentationml/2006/main">
  <p:tag name="KSO_WM_BEAUTIFY_FLAG" val=""/>
</p:tagLst>
</file>

<file path=ppt/tags/tag2538.xml><?xml version="1.0" encoding="utf-8"?>
<p:tagLst xmlns:p="http://schemas.openxmlformats.org/presentationml/2006/main">
  <p:tag name="KSO_WM_BEAUTIFY_FLAG" val=""/>
</p:tagLst>
</file>

<file path=ppt/tags/tag2539.xml><?xml version="1.0" encoding="utf-8"?>
<p:tagLst xmlns:p="http://schemas.openxmlformats.org/presentationml/2006/main">
  <p:tag name="KSO_WM_BEAUTIFY_FLAG" val=""/>
</p:tagLst>
</file>

<file path=ppt/tags/tag2540.xml><?xml version="1.0" encoding="utf-8"?>
<p:tagLst xmlns:p="http://schemas.openxmlformats.org/presentationml/2006/main">
  <p:tag name="KSO_WM_BEAUTIFY_FLAG" val=""/>
</p:tagLst>
</file>

<file path=ppt/tags/tag2541.xml><?xml version="1.0" encoding="utf-8"?>
<p:tagLst xmlns:p="http://schemas.openxmlformats.org/presentationml/2006/main">
  <p:tag name="KSO_WM_BEAUTIFY_FLAG" val=""/>
</p:tagLst>
</file>

<file path=ppt/tags/tag2542.xml><?xml version="1.0" encoding="utf-8"?>
<p:tagLst xmlns:p="http://schemas.openxmlformats.org/presentationml/2006/main">
  <p:tag name="KSO_WM_BEAUTIFY_FLAG" val=""/>
</p:tagLst>
</file>

<file path=ppt/tags/tag2543.xml><?xml version="1.0" encoding="utf-8"?>
<p:tagLst xmlns:p="http://schemas.openxmlformats.org/presentationml/2006/main">
  <p:tag name="KSO_WM_BEAUTIFY_FLAG" val=""/>
</p:tagLst>
</file>

<file path=ppt/tags/tag2544.xml><?xml version="1.0" encoding="utf-8"?>
<p:tagLst xmlns:p="http://schemas.openxmlformats.org/presentationml/2006/main">
  <p:tag name="KSO_WM_BEAUTIFY_FLAG" val=""/>
</p:tagLst>
</file>

<file path=ppt/tags/tag2545.xml><?xml version="1.0" encoding="utf-8"?>
<p:tagLst xmlns:p="http://schemas.openxmlformats.org/presentationml/2006/main">
  <p:tag name="KSO_WM_BEAUTIFY_FLAG" val=""/>
</p:tagLst>
</file>

<file path=ppt/tags/tag2546.xml><?xml version="1.0" encoding="utf-8"?>
<p:tagLst xmlns:p="http://schemas.openxmlformats.org/presentationml/2006/main">
  <p:tag name="KSO_WM_BEAUTIFY_FLAG" val=""/>
</p:tagLst>
</file>

<file path=ppt/tags/tag2547.xml><?xml version="1.0" encoding="utf-8"?>
<p:tagLst xmlns:p="http://schemas.openxmlformats.org/presentationml/2006/main">
  <p:tag name="KSO_WM_BEAUTIFY_FLAG" val=""/>
</p:tagLst>
</file>

<file path=ppt/tags/tag2548.xml><?xml version="1.0" encoding="utf-8"?>
<p:tagLst xmlns:p="http://schemas.openxmlformats.org/presentationml/2006/main">
  <p:tag name="KSO_WM_BEAUTIFY_FLAG" val=""/>
</p:tagLst>
</file>

<file path=ppt/tags/tag2549.xml><?xml version="1.0" encoding="utf-8"?>
<p:tagLst xmlns:p="http://schemas.openxmlformats.org/presentationml/2006/main">
  <p:tag name="KSO_WM_BEAUTIFY_FLAG" val=""/>
</p:tagLst>
</file>

<file path=ppt/tags/tag2550.xml><?xml version="1.0" encoding="utf-8"?>
<p:tagLst xmlns:p="http://schemas.openxmlformats.org/presentationml/2006/main">
  <p:tag name="KSO_WM_BEAUTIFY_FLAG" val=""/>
</p:tagLst>
</file>

<file path=ppt/tags/tag2551.xml><?xml version="1.0" encoding="utf-8"?>
<p:tagLst xmlns:p="http://schemas.openxmlformats.org/presentationml/2006/main">
  <p:tag name="KSO_WM_BEAUTIFY_FLAG" val=""/>
</p:tagLst>
</file>

<file path=ppt/tags/tag2552.xml><?xml version="1.0" encoding="utf-8"?>
<p:tagLst xmlns:p="http://schemas.openxmlformats.org/presentationml/2006/main">
  <p:tag name="KSO_WM_BEAUTIFY_FLAG" val=""/>
</p:tagLst>
</file>

<file path=ppt/tags/tag2553.xml><?xml version="1.0" encoding="utf-8"?>
<p:tagLst xmlns:p="http://schemas.openxmlformats.org/presentationml/2006/main">
  <p:tag name="KSO_WM_BEAUTIFY_FLAG" val=""/>
</p:tagLst>
</file>

<file path=ppt/tags/tag2554.xml><?xml version="1.0" encoding="utf-8"?>
<p:tagLst xmlns:p="http://schemas.openxmlformats.org/presentationml/2006/main">
  <p:tag name="KSO_WM_BEAUTIFY_FLAG" val=""/>
</p:tagLst>
</file>

<file path=ppt/tags/tag2555.xml><?xml version="1.0" encoding="utf-8"?>
<p:tagLst xmlns:p="http://schemas.openxmlformats.org/presentationml/2006/main">
  <p:tag name="KSO_WM_BEAUTIFY_FLAG" val=""/>
</p:tagLst>
</file>

<file path=ppt/tags/tag2556.xml><?xml version="1.0" encoding="utf-8"?>
<p:tagLst xmlns:p="http://schemas.openxmlformats.org/presentationml/2006/main">
  <p:tag name="KSO_WM_BEAUTIFY_FLAG" val=""/>
</p:tagLst>
</file>

<file path=ppt/tags/tag2557.xml><?xml version="1.0" encoding="utf-8"?>
<p:tagLst xmlns:p="http://schemas.openxmlformats.org/presentationml/2006/main">
  <p:tag name="KSO_WM_BEAUTIFY_FLAG" val=""/>
</p:tagLst>
</file>

<file path=ppt/tags/tag2558.xml><?xml version="1.0" encoding="utf-8"?>
<p:tagLst xmlns:p="http://schemas.openxmlformats.org/presentationml/2006/main">
  <p:tag name="KSO_WM_BEAUTIFY_FLAG" val=""/>
</p:tagLst>
</file>

<file path=ppt/tags/tag2559.xml><?xml version="1.0" encoding="utf-8"?>
<p:tagLst xmlns:p="http://schemas.openxmlformats.org/presentationml/2006/main">
  <p:tag name="KSO_WM_BEAUTIFY_FLAG" val=""/>
</p:tagLst>
</file>

<file path=ppt/tags/tag2560.xml><?xml version="1.0" encoding="utf-8"?>
<p:tagLst xmlns:p="http://schemas.openxmlformats.org/presentationml/2006/main">
  <p:tag name="KSO_WM_BEAUTIFY_FLAG" val=""/>
</p:tagLst>
</file>

<file path=ppt/tags/tag2561.xml><?xml version="1.0" encoding="utf-8"?>
<p:tagLst xmlns:p="http://schemas.openxmlformats.org/presentationml/2006/main">
  <p:tag name="KSO_WM_BEAUTIFY_FLAG" val=""/>
</p:tagLst>
</file>

<file path=ppt/tags/tag2562.xml><?xml version="1.0" encoding="utf-8"?>
<p:tagLst xmlns:p="http://schemas.openxmlformats.org/presentationml/2006/main">
  <p:tag name="KSO_WM_BEAUTIFY_FLAG" val=""/>
</p:tagLst>
</file>

<file path=ppt/tags/tag2563.xml><?xml version="1.0" encoding="utf-8"?>
<p:tagLst xmlns:p="http://schemas.openxmlformats.org/presentationml/2006/main">
  <p:tag name="KSO_WM_BEAUTIFY_FLAG" val=""/>
</p:tagLst>
</file>

<file path=ppt/tags/tag2564.xml><?xml version="1.0" encoding="utf-8"?>
<p:tagLst xmlns:p="http://schemas.openxmlformats.org/presentationml/2006/main">
  <p:tag name="KSO_WM_BEAUTIFY_FLAG" val=""/>
</p:tagLst>
</file>

<file path=ppt/tags/tag2565.xml><?xml version="1.0" encoding="utf-8"?>
<p:tagLst xmlns:p="http://schemas.openxmlformats.org/presentationml/2006/main">
  <p:tag name="KSO_WM_BEAUTIFY_FLAG" val=""/>
</p:tagLst>
</file>

<file path=ppt/tags/tag2566.xml><?xml version="1.0" encoding="utf-8"?>
<p:tagLst xmlns:p="http://schemas.openxmlformats.org/presentationml/2006/main">
  <p:tag name="KSO_WM_BEAUTIFY_FLAG" val=""/>
</p:tagLst>
</file>

<file path=ppt/tags/tag2567.xml><?xml version="1.0" encoding="utf-8"?>
<p:tagLst xmlns:p="http://schemas.openxmlformats.org/presentationml/2006/main">
  <p:tag name="KSO_WM_BEAUTIFY_FLAG" val=""/>
</p:tagLst>
</file>

<file path=ppt/tags/tag2568.xml><?xml version="1.0" encoding="utf-8"?>
<p:tagLst xmlns:p="http://schemas.openxmlformats.org/presentationml/2006/main">
  <p:tag name="KSO_WM_BEAUTIFY_FLAG" val=""/>
</p:tagLst>
</file>

<file path=ppt/tags/tag2569.xml><?xml version="1.0" encoding="utf-8"?>
<p:tagLst xmlns:p="http://schemas.openxmlformats.org/presentationml/2006/main">
  <p:tag name="KSO_WM_BEAUTIFY_FLAG" val=""/>
</p:tagLst>
</file>

<file path=ppt/tags/tag2570.xml><?xml version="1.0" encoding="utf-8"?>
<p:tagLst xmlns:p="http://schemas.openxmlformats.org/presentationml/2006/main">
  <p:tag name="KSO_WM_BEAUTIFY_FLAG" val=""/>
</p:tagLst>
</file>

<file path=ppt/tags/tag2571.xml><?xml version="1.0" encoding="utf-8"?>
<p:tagLst xmlns:p="http://schemas.openxmlformats.org/presentationml/2006/main">
  <p:tag name="KSO_WM_BEAUTIFY_FLAG" val=""/>
</p:tagLst>
</file>

<file path=ppt/tags/tag2572.xml><?xml version="1.0" encoding="utf-8"?>
<p:tagLst xmlns:p="http://schemas.openxmlformats.org/presentationml/2006/main">
  <p:tag name="KSO_WM_BEAUTIFY_FLAG" val=""/>
</p:tagLst>
</file>

<file path=ppt/tags/tag2573.xml><?xml version="1.0" encoding="utf-8"?>
<p:tagLst xmlns:p="http://schemas.openxmlformats.org/presentationml/2006/main">
  <p:tag name="KSO_WM_BEAUTIFY_FLAG" val=""/>
</p:tagLst>
</file>

<file path=ppt/tags/tag2574.xml><?xml version="1.0" encoding="utf-8"?>
<p:tagLst xmlns:p="http://schemas.openxmlformats.org/presentationml/2006/main">
  <p:tag name="KSO_WM_BEAUTIFY_FLAG" val=""/>
</p:tagLst>
</file>

<file path=ppt/tags/tag2575.xml><?xml version="1.0" encoding="utf-8"?>
<p:tagLst xmlns:p="http://schemas.openxmlformats.org/presentationml/2006/main">
  <p:tag name="KSO_WM_BEAUTIFY_FLAG" val=""/>
</p:tagLst>
</file>

<file path=ppt/tags/tag2576.xml><?xml version="1.0" encoding="utf-8"?>
<p:tagLst xmlns:p="http://schemas.openxmlformats.org/presentationml/2006/main">
  <p:tag name="KSO_WM_BEAUTIFY_FLAG" val=""/>
</p:tagLst>
</file>

<file path=ppt/tags/tag2577.xml><?xml version="1.0" encoding="utf-8"?>
<p:tagLst xmlns:p="http://schemas.openxmlformats.org/presentationml/2006/main">
  <p:tag name="KSO_WM_BEAUTIFY_FLAG" val=""/>
</p:tagLst>
</file>

<file path=ppt/tags/tag2578.xml><?xml version="1.0" encoding="utf-8"?>
<p:tagLst xmlns:p="http://schemas.openxmlformats.org/presentationml/2006/main">
  <p:tag name="KSO_WM_BEAUTIFY_FLAG" val=""/>
</p:tagLst>
</file>

<file path=ppt/tags/tag2579.xml><?xml version="1.0" encoding="utf-8"?>
<p:tagLst xmlns:p="http://schemas.openxmlformats.org/presentationml/2006/main">
  <p:tag name="KSO_WM_BEAUTIFY_FLAG" val=""/>
</p:tagLst>
</file>

<file path=ppt/tags/tag2580.xml><?xml version="1.0" encoding="utf-8"?>
<p:tagLst xmlns:p="http://schemas.openxmlformats.org/presentationml/2006/main">
  <p:tag name="KSO_WM_BEAUTIFY_FLAG" val=""/>
</p:tagLst>
</file>

<file path=ppt/tags/tag2581.xml><?xml version="1.0" encoding="utf-8"?>
<p:tagLst xmlns:p="http://schemas.openxmlformats.org/presentationml/2006/main">
  <p:tag name="KSO_WM_BEAUTIFY_FLAG" val=""/>
</p:tagLst>
</file>

<file path=ppt/tags/tag2582.xml><?xml version="1.0" encoding="utf-8"?>
<p:tagLst xmlns:p="http://schemas.openxmlformats.org/presentationml/2006/main">
  <p:tag name="KSO_WM_BEAUTIFY_FLAG" val=""/>
</p:tagLst>
</file>

<file path=ppt/tags/tag2583.xml><?xml version="1.0" encoding="utf-8"?>
<p:tagLst xmlns:p="http://schemas.openxmlformats.org/presentationml/2006/main">
  <p:tag name="KSO_WM_BEAUTIFY_FLAG" val=""/>
</p:tagLst>
</file>

<file path=ppt/tags/tag2584.xml><?xml version="1.0" encoding="utf-8"?>
<p:tagLst xmlns:p="http://schemas.openxmlformats.org/presentationml/2006/main">
  <p:tag name="KSO_WM_BEAUTIFY_FLAG" val=""/>
</p:tagLst>
</file>

<file path=ppt/tags/tag2585.xml><?xml version="1.0" encoding="utf-8"?>
<p:tagLst xmlns:p="http://schemas.openxmlformats.org/presentationml/2006/main">
  <p:tag name="KSO_WM_BEAUTIFY_FLAG" val=""/>
</p:tagLst>
</file>

<file path=ppt/tags/tag2586.xml><?xml version="1.0" encoding="utf-8"?>
<p:tagLst xmlns:p="http://schemas.openxmlformats.org/presentationml/2006/main">
  <p:tag name="KSO_WM_BEAUTIFY_FLAG" val=""/>
</p:tagLst>
</file>

<file path=ppt/tags/tag2587.xml><?xml version="1.0" encoding="utf-8"?>
<p:tagLst xmlns:p="http://schemas.openxmlformats.org/presentationml/2006/main">
  <p:tag name="KSO_WM_BEAUTIFY_FLAG" val=""/>
</p:tagLst>
</file>

<file path=ppt/tags/tag2588.xml><?xml version="1.0" encoding="utf-8"?>
<p:tagLst xmlns:p="http://schemas.openxmlformats.org/presentationml/2006/main">
  <p:tag name="KSO_WM_BEAUTIFY_FLAG" val=""/>
</p:tagLst>
</file>

<file path=ppt/tags/tag2589.xml><?xml version="1.0" encoding="utf-8"?>
<p:tagLst xmlns:p="http://schemas.openxmlformats.org/presentationml/2006/main">
  <p:tag name="KSO_WM_BEAUTIFY_FLAG" val=""/>
</p:tagLst>
</file>

<file path=ppt/tags/tag2590.xml><?xml version="1.0" encoding="utf-8"?>
<p:tagLst xmlns:p="http://schemas.openxmlformats.org/presentationml/2006/main">
  <p:tag name="KSO_WM_BEAUTIFY_FLAG" val=""/>
</p:tagLst>
</file>

<file path=ppt/tags/tag2591.xml><?xml version="1.0" encoding="utf-8"?>
<p:tagLst xmlns:p="http://schemas.openxmlformats.org/presentationml/2006/main">
  <p:tag name="KSO_WM_BEAUTIFY_FLAG" val=""/>
</p:tagLst>
</file>

<file path=ppt/tags/tag2592.xml><?xml version="1.0" encoding="utf-8"?>
<p:tagLst xmlns:p="http://schemas.openxmlformats.org/presentationml/2006/main">
  <p:tag name="KSO_WM_BEAUTIFY_FLAG" val=""/>
</p:tagLst>
</file>

<file path=ppt/tags/tag2593.xml><?xml version="1.0" encoding="utf-8"?>
<p:tagLst xmlns:p="http://schemas.openxmlformats.org/presentationml/2006/main">
  <p:tag name="KSO_WM_BEAUTIFY_FLAG" val=""/>
</p:tagLst>
</file>

<file path=ppt/tags/tag2594.xml><?xml version="1.0" encoding="utf-8"?>
<p:tagLst xmlns:p="http://schemas.openxmlformats.org/presentationml/2006/main">
  <p:tag name="KSO_WM_BEAUTIFY_FLAG" val=""/>
</p:tagLst>
</file>

<file path=ppt/tags/tag2595.xml><?xml version="1.0" encoding="utf-8"?>
<p:tagLst xmlns:p="http://schemas.openxmlformats.org/presentationml/2006/main">
  <p:tag name="KSO_WM_BEAUTIFY_FLAG" val=""/>
</p:tagLst>
</file>

<file path=ppt/tags/tag2596.xml><?xml version="1.0" encoding="utf-8"?>
<p:tagLst xmlns:p="http://schemas.openxmlformats.org/presentationml/2006/main">
  <p:tag name="KSO_WM_BEAUTIFY_FLAG" val=""/>
</p:tagLst>
</file>

<file path=ppt/tags/tag2597.xml><?xml version="1.0" encoding="utf-8"?>
<p:tagLst xmlns:p="http://schemas.openxmlformats.org/presentationml/2006/main">
  <p:tag name="KSO_WM_BEAUTIFY_FLAG" val=""/>
</p:tagLst>
</file>

<file path=ppt/tags/tag2598.xml><?xml version="1.0" encoding="utf-8"?>
<p:tagLst xmlns:p="http://schemas.openxmlformats.org/presentationml/2006/main">
  <p:tag name="KSO_WM_BEAUTIFY_FLAG" val=""/>
</p:tagLst>
</file>

<file path=ppt/tags/tag2599.xml><?xml version="1.0" encoding="utf-8"?>
<p:tagLst xmlns:p="http://schemas.openxmlformats.org/presentationml/2006/main">
  <p:tag name="KSO_WM_BEAUTIFY_FLAG" val=""/>
</p:tagLst>
</file>

<file path=ppt/tags/tag2600.xml><?xml version="1.0" encoding="utf-8"?>
<p:tagLst xmlns:p="http://schemas.openxmlformats.org/presentationml/2006/main">
  <p:tag name="KSO_WM_BEAUTIFY_FLAG" val=""/>
</p:tagLst>
</file>

<file path=ppt/tags/tag2601.xml><?xml version="1.0" encoding="utf-8"?>
<p:tagLst xmlns:p="http://schemas.openxmlformats.org/presentationml/2006/main">
  <p:tag name="KSO_WM_BEAUTIFY_FLAG" val=""/>
</p:tagLst>
</file>

<file path=ppt/tags/tag2602.xml><?xml version="1.0" encoding="utf-8"?>
<p:tagLst xmlns:p="http://schemas.openxmlformats.org/presentationml/2006/main">
  <p:tag name="KSO_WM_BEAUTIFY_FLAG" val=""/>
</p:tagLst>
</file>

<file path=ppt/tags/tag2603.xml><?xml version="1.0" encoding="utf-8"?>
<p:tagLst xmlns:p="http://schemas.openxmlformats.org/presentationml/2006/main">
  <p:tag name="KSO_WM_BEAUTIFY_FLAG" val=""/>
</p:tagLst>
</file>

<file path=ppt/tags/tag2604.xml><?xml version="1.0" encoding="utf-8"?>
<p:tagLst xmlns:p="http://schemas.openxmlformats.org/presentationml/2006/main">
  <p:tag name="KSO_WM_BEAUTIFY_FLAG" val=""/>
</p:tagLst>
</file>

<file path=ppt/tags/tag2605.xml><?xml version="1.0" encoding="utf-8"?>
<p:tagLst xmlns:p="http://schemas.openxmlformats.org/presentationml/2006/main">
  <p:tag name="KSO_WM_BEAUTIFY_FLAG" val=""/>
</p:tagLst>
</file>

<file path=ppt/tags/tag2606.xml><?xml version="1.0" encoding="utf-8"?>
<p:tagLst xmlns:p="http://schemas.openxmlformats.org/presentationml/2006/main">
  <p:tag name="KSO_WM_BEAUTIFY_FLAG" val=""/>
</p:tagLst>
</file>

<file path=ppt/tags/tag2607.xml><?xml version="1.0" encoding="utf-8"?>
<p:tagLst xmlns:p="http://schemas.openxmlformats.org/presentationml/2006/main">
  <p:tag name="KSO_WM_BEAUTIFY_FLAG" val=""/>
</p:tagLst>
</file>

<file path=ppt/tags/tag2608.xml><?xml version="1.0" encoding="utf-8"?>
<p:tagLst xmlns:p="http://schemas.openxmlformats.org/presentationml/2006/main">
  <p:tag name="KSO_WM_BEAUTIFY_FLAG" val=""/>
</p:tagLst>
</file>

<file path=ppt/tags/tag2609.xml><?xml version="1.0" encoding="utf-8"?>
<p:tagLst xmlns:p="http://schemas.openxmlformats.org/presentationml/2006/main">
  <p:tag name="KSO_WM_BEAUTIFY_FLAG" val=""/>
</p:tagLst>
</file>

<file path=ppt/tags/tag2610.xml><?xml version="1.0" encoding="utf-8"?>
<p:tagLst xmlns:p="http://schemas.openxmlformats.org/presentationml/2006/main">
  <p:tag name="KSO_WM_BEAUTIFY_FLAG" val=""/>
</p:tagLst>
</file>

<file path=ppt/tags/tag2611.xml><?xml version="1.0" encoding="utf-8"?>
<p:tagLst xmlns:p="http://schemas.openxmlformats.org/presentationml/2006/main">
  <p:tag name="KSO_WM_BEAUTIFY_FLAG" val=""/>
</p:tagLst>
</file>

<file path=ppt/tags/tag2612.xml><?xml version="1.0" encoding="utf-8"?>
<p:tagLst xmlns:p="http://schemas.openxmlformats.org/presentationml/2006/main">
  <p:tag name="KSO_WM_BEAUTIFY_FLAG" val=""/>
</p:tagLst>
</file>

<file path=ppt/tags/tag2613.xml><?xml version="1.0" encoding="utf-8"?>
<p:tagLst xmlns:p="http://schemas.openxmlformats.org/presentationml/2006/main">
  <p:tag name="KSO_WM_BEAUTIFY_FLAG" val=""/>
</p:tagLst>
</file>

<file path=ppt/tags/tag2614.xml><?xml version="1.0" encoding="utf-8"?>
<p:tagLst xmlns:p="http://schemas.openxmlformats.org/presentationml/2006/main">
  <p:tag name="KSO_WM_BEAUTIFY_FLAG" val=""/>
</p:tagLst>
</file>

<file path=ppt/tags/tag2615.xml><?xml version="1.0" encoding="utf-8"?>
<p:tagLst xmlns:p="http://schemas.openxmlformats.org/presentationml/2006/main">
  <p:tag name="KSO_WM_BEAUTIFY_FLAG" val=""/>
</p:tagLst>
</file>

<file path=ppt/tags/tag2616.xml><?xml version="1.0" encoding="utf-8"?>
<p:tagLst xmlns:p="http://schemas.openxmlformats.org/presentationml/2006/main">
  <p:tag name="KSO_WPP_MARK_KEY" val="3b834376-3f17-4eec-9f82-cc1c1bc8fcc2"/>
  <p:tag name="COMMONDATA" val="eyJoZGlkIjoiY2ZiYjY4MjU5YzBkYmJmZjUyNGJiOWY1ZTc3NzM1MGYifQ=="/>
  <p:tag name="commondata" val="eyJoZGlkIjoiMTYxYjYyZWE4M2VkN2ZhNjg5OWUzNDNjNjcyOTBhNGM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9050">
          <a:solidFill>
            <a:srgbClr val="808080"/>
          </a:solidFill>
          <a:miter lim="800000"/>
        </a:ln>
      </a:spPr>
      <a:bodyPr wrap="none" anchor="ctr"/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/>
  <Words>35500</Words>
  <Application>WPS 演示</Application>
  <PresentationFormat>全屏显示(4:3)</PresentationFormat>
  <Paragraphs>6549</Paragraphs>
  <Slides>85</Slides>
  <Notes>86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85</vt:i4>
      </vt:variant>
    </vt:vector>
  </HeadingPairs>
  <TitlesOfParts>
    <vt:vector size="97" baseType="lpstr">
      <vt:lpstr>Arial</vt:lpstr>
      <vt:lpstr>宋体</vt:lpstr>
      <vt:lpstr>Wingdings</vt:lpstr>
      <vt:lpstr>Times New Roman</vt:lpstr>
      <vt:lpstr>MS Gothic</vt:lpstr>
      <vt:lpstr>黑体</vt:lpstr>
      <vt:lpstr>Symbol</vt:lpstr>
      <vt:lpstr>微软雅黑</vt:lpstr>
      <vt:lpstr>Arial Unicode MS</vt:lpstr>
      <vt:lpstr>Cambria Math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>
  <dc:title>PowerPoint 演示文稿</dc:title>
  <cp:revision>2155</cp:revision>
</cp:coreProperties>
</file>

<file path=docProps/custom.xml><?xml version="1.0" encoding="utf-8"?>
<Properties xmlns="http://schemas.openxmlformats.org/officeDocument/2006/custom-properties"/>
</file>