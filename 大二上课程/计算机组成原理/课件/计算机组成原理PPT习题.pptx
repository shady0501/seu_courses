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40"/>
        <p:guide pos="381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74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1-BC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2-A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3-D</a:t>
            </a:r>
            <a:r>
              <a:rPr lang="zh-CN" altLang="en-US" dirty="0" smtClean="0"/>
              <a:t>，</a:t>
            </a:r>
            <a:r>
              <a:rPr lang="en-US" altLang="zh-CN" dirty="0" smtClean="0"/>
              <a:t>4-A</a:t>
            </a:r>
            <a:r>
              <a:rPr lang="zh-CN" altLang="en-US" dirty="0" smtClean="0"/>
              <a:t>，</a:t>
            </a:r>
            <a:r>
              <a:rPr lang="en-US" altLang="zh-CN" dirty="0" smtClean="0"/>
              <a:t>5-C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6-ABC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7-AB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8-B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9-B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1-BC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2-A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3-B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4-AB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例二</a:t>
            </a:r>
            <a:r>
              <a:rPr lang="en-US" altLang="zh-CN" dirty="0" smtClean="0"/>
              <a:t>   </a:t>
            </a:r>
            <a:r>
              <a:rPr lang="zh-CN" altLang="en-US" dirty="0" smtClean="0"/>
              <a:t>总指令数</a:t>
            </a:r>
            <a:r>
              <a:rPr lang="en-US" altLang="zh-CN" dirty="0" smtClean="0"/>
              <a:t>= 2 MB /2B=1 MB=</a:t>
            </a:r>
            <a:r>
              <a:rPr lang="en-US" altLang="zh-CN" b="1" spc="-5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en-US" altLang="zh-CN" b="1" spc="-50" baseline="3000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20</a:t>
            </a:r>
            <a:r>
              <a:rPr lang="en-US" altLang="zh-CN" b="1" spc="-5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dirty="0" smtClean="0"/>
              <a:t> </a:t>
            </a:r>
            <a:r>
              <a:rPr lang="zh-CN" altLang="en-US" dirty="0" smtClean="0"/>
              <a:t>指令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）优化前平均</a:t>
            </a:r>
            <a:r>
              <a:rPr lang="en-US" altLang="zh-CN" dirty="0" smtClean="0"/>
              <a:t>CPI=0.5</a:t>
            </a:r>
            <a:r>
              <a:rPr lang="zh-CN" altLang="en-US" dirty="0" smtClean="0"/>
              <a:t>*</a:t>
            </a:r>
            <a:r>
              <a:rPr lang="en-US" altLang="zh-CN" dirty="0" smtClean="0"/>
              <a:t>4+0.3</a:t>
            </a:r>
            <a:r>
              <a:rPr lang="zh-CN" altLang="en-US" dirty="0" smtClean="0"/>
              <a:t>*</a:t>
            </a:r>
            <a:r>
              <a:rPr lang="en-US" altLang="zh-CN" dirty="0" smtClean="0"/>
              <a:t>6+0.2</a:t>
            </a:r>
            <a:r>
              <a:rPr lang="zh-CN" altLang="en-US" dirty="0" smtClean="0"/>
              <a:t>*</a:t>
            </a:r>
            <a:r>
              <a:rPr lang="en-US" altLang="zh-CN" dirty="0" smtClean="0"/>
              <a:t>8=5.4</a:t>
            </a:r>
            <a:r>
              <a:rPr lang="zh-CN" altLang="en-US" dirty="0" smtClean="0"/>
              <a:t>，答案为</a:t>
            </a:r>
            <a:r>
              <a:rPr lang="en-US" altLang="zh-CN" dirty="0" smtClean="0"/>
              <a:t>A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MIPS</a:t>
            </a:r>
            <a:r>
              <a:rPr lang="zh-CN" altLang="en-US" dirty="0" smtClean="0"/>
              <a:t>数</a:t>
            </a:r>
            <a:r>
              <a:rPr lang="en-US" altLang="zh-CN" dirty="0" smtClean="0"/>
              <a:t>=I</a:t>
            </a:r>
            <a:r>
              <a:rPr lang="en-US" altLang="zh-CN" baseline="-25000" dirty="0" smtClean="0"/>
              <a:t>N</a:t>
            </a:r>
            <a:r>
              <a:rPr lang="en-US" altLang="zh-CN" dirty="0" smtClean="0"/>
              <a:t>/[(I</a:t>
            </a:r>
            <a:r>
              <a:rPr lang="en-US" altLang="zh-CN" baseline="-25000" dirty="0" smtClean="0"/>
              <a:t>N</a:t>
            </a:r>
            <a:r>
              <a:rPr lang="en-US" altLang="zh-CN" dirty="0" smtClean="0"/>
              <a:t>*CPI*T</a:t>
            </a:r>
            <a:r>
              <a:rPr lang="en-US" altLang="zh-CN" baseline="-25000" dirty="0" smtClean="0"/>
              <a:t>C</a:t>
            </a:r>
            <a:r>
              <a:rPr lang="en-US" altLang="zh-CN" dirty="0" smtClean="0"/>
              <a:t>)*10</a:t>
            </a:r>
            <a:r>
              <a:rPr lang="en-US" altLang="zh-CN" baseline="30000" dirty="0" smtClean="0"/>
              <a:t>6</a:t>
            </a:r>
            <a:r>
              <a:rPr lang="en-US" altLang="zh-CN" dirty="0" smtClean="0"/>
              <a:t>]=f/(CPI</a:t>
            </a:r>
            <a:r>
              <a:rPr lang="zh-CN" altLang="en-US" dirty="0" smtClean="0"/>
              <a:t>*</a:t>
            </a:r>
            <a:r>
              <a:rPr lang="en-US" altLang="zh-CN" dirty="0" smtClean="0"/>
              <a:t>10</a:t>
            </a:r>
            <a:r>
              <a:rPr lang="en-US" altLang="zh-CN" baseline="30000" dirty="0" smtClean="0"/>
              <a:t>6</a:t>
            </a:r>
            <a:r>
              <a:rPr lang="en-US" altLang="zh-CN" dirty="0" smtClean="0"/>
              <a:t>)=50</a:t>
            </a:r>
            <a:r>
              <a:rPr lang="zh-CN" altLang="en-US" dirty="0" smtClean="0"/>
              <a:t>*</a:t>
            </a:r>
            <a:r>
              <a:rPr lang="en-US" altLang="zh-CN" dirty="0" smtClean="0"/>
              <a:t>10</a:t>
            </a:r>
            <a:r>
              <a:rPr lang="en-US" altLang="zh-CN" baseline="30000" dirty="0" smtClean="0"/>
              <a:t>6</a:t>
            </a:r>
            <a:r>
              <a:rPr lang="en-US" altLang="zh-CN" dirty="0" smtClean="0"/>
              <a:t>/(5.4</a:t>
            </a:r>
            <a:r>
              <a:rPr lang="zh-CN" altLang="en-US" dirty="0" smtClean="0"/>
              <a:t>*</a:t>
            </a:r>
            <a:r>
              <a:rPr lang="en-US" altLang="zh-CN" dirty="0" smtClean="0"/>
              <a:t>10</a:t>
            </a:r>
            <a:r>
              <a:rPr lang="en-US" altLang="zh-CN" baseline="30000" dirty="0" smtClean="0"/>
              <a:t>6</a:t>
            </a:r>
            <a:r>
              <a:rPr lang="en-US" altLang="zh-CN" dirty="0" smtClean="0"/>
              <a:t>)=9.26MIPS</a:t>
            </a:r>
            <a:r>
              <a:rPr lang="zh-CN" altLang="en-US" dirty="0" smtClean="0"/>
              <a:t>，答案为</a:t>
            </a:r>
            <a:r>
              <a:rPr lang="en-US" altLang="zh-CN" dirty="0" smtClean="0"/>
              <a:t>B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只可能优化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类或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类指令（否则优化后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CPI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会增加）；</a:t>
            </a:r>
            <a:endParaRPr kumimoji="1" lang="zh-CN" altLang="zh-CN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若优化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类指令，则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CPI=[4*50%+6*30%+8*20%*0.8]/(50%+30%+20%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*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0.8)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≈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5.29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5.4-5.29=0.11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endParaRPr kumimoji="1" lang="zh-CN" altLang="zh-CN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若优化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类指令，则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CPI=[4*50%+6*30%*0.8+8*20%]/(50%+30%*0.8+20%)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≈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5.36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5.4-5.36=0.04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endParaRPr kumimoji="1" lang="zh-CN" altLang="zh-CN" sz="1200" kern="120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故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优化的是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类指令</a:t>
            </a:r>
            <a:r>
              <a:rPr kumimoji="1" lang="zh-CN" altLang="en-US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，答案为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4FB4F7-8A2D-4878-9281-C3C2BF0373C5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①</a:t>
            </a:r>
            <a:r>
              <a:rPr lang="en-US" altLang="zh-CN" dirty="0" smtClean="0"/>
              <a:t>C </a:t>
            </a:r>
            <a:r>
              <a:rPr lang="zh-CN" altLang="en-US" dirty="0" smtClean="0"/>
              <a:t>②</a:t>
            </a:r>
            <a:r>
              <a:rPr lang="en-US" altLang="zh-CN" dirty="0" smtClean="0"/>
              <a:t>B </a:t>
            </a:r>
            <a:r>
              <a:rPr lang="zh-CN" altLang="en-US" dirty="0" smtClean="0"/>
              <a:t>③</a:t>
            </a:r>
            <a:r>
              <a:rPr lang="en-US" altLang="zh-CN" dirty="0" smtClean="0"/>
              <a:t>C </a:t>
            </a:r>
            <a:r>
              <a:rPr lang="zh-CN" altLang="en-US" dirty="0" smtClean="0"/>
              <a:t>④</a:t>
            </a:r>
            <a:r>
              <a:rPr lang="en-US" altLang="zh-CN" dirty="0" smtClean="0"/>
              <a:t>A </a:t>
            </a:r>
            <a:r>
              <a:rPr lang="zh-CN" altLang="en-US" dirty="0" smtClean="0"/>
              <a:t>⑤</a:t>
            </a:r>
            <a:r>
              <a:rPr lang="en-US" altLang="zh-CN" dirty="0" smtClean="0"/>
              <a:t>B </a:t>
            </a:r>
            <a:r>
              <a:rPr lang="zh-CN" altLang="en-US" dirty="0" smtClean="0"/>
              <a:t>⑥</a:t>
            </a:r>
            <a:r>
              <a:rPr lang="en-US" altLang="zh-CN" dirty="0" smtClean="0"/>
              <a:t>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看检验位编码方法</a:t>
            </a:r>
            <a:endParaRPr lang="en-US" altLang="zh-CN" dirty="0" smtClean="0"/>
          </a:p>
          <a:p>
            <a:r>
              <a:rPr lang="zh-CN" altLang="en-US" dirty="0" smtClean="0"/>
              <a:t>注：若增加一个校验位，使每位数据加入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个校验组，即可检测出</a:t>
            </a:r>
            <a:r>
              <a:rPr lang="en-US" altLang="zh-CN" dirty="0" smtClean="0"/>
              <a:t>1</a:t>
            </a:r>
            <a:r>
              <a:rPr lang="zh-CN" altLang="en-US" dirty="0" smtClean="0"/>
              <a:t>位错和</a:t>
            </a:r>
            <a:r>
              <a:rPr lang="en-US" altLang="zh-CN" dirty="0" smtClean="0"/>
              <a:t>2</a:t>
            </a:r>
            <a:r>
              <a:rPr lang="zh-CN" altLang="en-US" dirty="0" smtClean="0"/>
              <a:t>位错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看检验位编码方法</a:t>
            </a:r>
            <a:endParaRPr lang="en-US" altLang="zh-CN" dirty="0" smtClean="0"/>
          </a:p>
          <a:p>
            <a:r>
              <a:rPr lang="zh-CN" altLang="en-US" dirty="0" smtClean="0"/>
              <a:t>注：若增加一个校验位，使每位数据加入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个校验组，即可检测出</a:t>
            </a:r>
            <a:r>
              <a:rPr lang="en-US" altLang="zh-CN" dirty="0" smtClean="0"/>
              <a:t>1</a:t>
            </a:r>
            <a:r>
              <a:rPr lang="zh-CN" altLang="en-US" dirty="0" smtClean="0"/>
              <a:t>位错和</a:t>
            </a:r>
            <a:r>
              <a:rPr lang="en-US" altLang="zh-CN" dirty="0" smtClean="0"/>
              <a:t>2</a:t>
            </a:r>
            <a:r>
              <a:rPr lang="zh-CN" altLang="en-US" dirty="0" smtClean="0"/>
              <a:t>位错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P38-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IEEE 754</a:t>
            </a:r>
            <a:r>
              <a:rPr lang="zh-CN" altLang="en-US" dirty="0" smtClean="0"/>
              <a:t>编码方法</a:t>
            </a:r>
            <a:endParaRPr lang="en-US" altLang="zh-CN" dirty="0" smtClean="0"/>
          </a:p>
          <a:p>
            <a:r>
              <a:rPr lang="zh-CN" altLang="en-US" dirty="0" smtClean="0"/>
              <a:t>练习：</a:t>
            </a:r>
            <a:r>
              <a:rPr lang="en-US" altLang="zh-CN" dirty="0" smtClean="0"/>
              <a:t>1 10000110 011010…0=C3340000H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逻辑操作</a:t>
            </a:r>
            <a:r>
              <a:rPr lang="en-US" altLang="zh-CN" dirty="0" smtClean="0"/>
              <a:t>(</a:t>
            </a:r>
            <a:r>
              <a:rPr lang="zh-CN" altLang="en-US" smtClean="0"/>
              <a:t>如</a:t>
            </a:r>
            <a:r>
              <a:rPr lang="en-US" altLang="zh-CN" smtClean="0"/>
              <a:t>&amp;)</a:t>
            </a:r>
            <a:r>
              <a:rPr lang="zh-CN" altLang="en-US" dirty="0" smtClean="0"/>
              <a:t>的</a:t>
            </a:r>
            <a:r>
              <a:rPr lang="en-US" altLang="zh-CN" dirty="0" smtClean="0"/>
              <a:t>OPD</a:t>
            </a:r>
            <a:r>
              <a:rPr lang="zh-CN" altLang="en-US" dirty="0" smtClean="0"/>
              <a:t>为逻辑数，应采用无符号扩展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9DF8B98-FB28-4A7D-A5E6-556048424D1F}" type="slidenum">
              <a:rPr lang="en-US" altLang="zh-CN"/>
            </a:fld>
            <a:endParaRPr lang="en-US" altLang="zh-CN"/>
          </a:p>
        </p:txBody>
      </p:sp>
      <p:sp>
        <p:nvSpPr>
          <p:cNvPr id="396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练习：</a:t>
            </a:r>
            <a:r>
              <a:rPr lang="en-US" altLang="zh-CN" dirty="0" smtClean="0"/>
              <a:t>[X+Y]</a:t>
            </a:r>
            <a:r>
              <a:rPr lang="zh-CN" altLang="en-US" baseline="-25000" dirty="0" smtClean="0"/>
              <a:t>补</a:t>
            </a:r>
            <a:r>
              <a:rPr lang="en-US" altLang="zh-CN" dirty="0" smtClean="0"/>
              <a:t>=00100111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[X-Y]</a:t>
            </a:r>
            <a:r>
              <a:rPr lang="zh-CN" altLang="en-US" baseline="-25000" dirty="0" smtClean="0"/>
              <a:t>补</a:t>
            </a:r>
            <a:r>
              <a:rPr lang="en-US" altLang="zh-CN" dirty="0" smtClean="0"/>
              <a:t>=11110111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看加法溢出特征，</a:t>
            </a:r>
            <a:r>
              <a:rPr lang="en-US" altLang="zh-CN" dirty="0" smtClean="0"/>
              <a:t>P50-</a:t>
            </a:r>
            <a:r>
              <a:rPr lang="zh-CN" altLang="en-US" dirty="0" smtClean="0"/>
              <a:t>看加法器与加减法器关系</a:t>
            </a:r>
            <a:endParaRPr lang="en-US" altLang="zh-CN" dirty="0" smtClean="0"/>
          </a:p>
          <a:p>
            <a:r>
              <a:rPr lang="en-US" altLang="zh-CN" dirty="0" err="1" smtClean="0"/>
              <a:t>a#b#z+abz</a:t>
            </a:r>
            <a:r>
              <a:rPr lang="en-US" altLang="zh-CN" dirty="0" smtClean="0"/>
              <a:t>#=</a:t>
            </a:r>
            <a:r>
              <a:rPr lang="en-US" altLang="zh-CN" dirty="0" err="1" smtClean="0"/>
              <a:t>a#b#z+a#zbz+az#b#z+az#bz</a:t>
            </a:r>
            <a:r>
              <a:rPr lang="en-US" altLang="zh-CN" dirty="0" smtClean="0"/>
              <a:t>#=(</a:t>
            </a:r>
            <a:r>
              <a:rPr lang="en-US" altLang="zh-CN" dirty="0" err="1" smtClean="0"/>
              <a:t>a#z+az</a:t>
            </a:r>
            <a:r>
              <a:rPr lang="en-US" altLang="zh-CN" dirty="0" smtClean="0"/>
              <a:t>#)(</a:t>
            </a:r>
            <a:r>
              <a:rPr lang="en-US" altLang="zh-CN" dirty="0" err="1" smtClean="0"/>
              <a:t>b#z+bz</a:t>
            </a:r>
            <a:r>
              <a:rPr lang="en-US" altLang="zh-CN" dirty="0" smtClean="0"/>
              <a:t>#)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75A9C76-2F73-48B8-9480-7A0D9E088AF2}" type="slidenum">
              <a:rPr lang="en-US" altLang="zh-CN"/>
            </a:fld>
            <a:endParaRPr lang="en-US" altLang="zh-CN"/>
          </a:p>
        </p:txBody>
      </p:sp>
      <p:sp>
        <p:nvSpPr>
          <p:cNvPr id="35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练习：</a:t>
            </a:r>
            <a:r>
              <a:rPr lang="en-US" altLang="zh-CN" dirty="0" smtClean="0"/>
              <a:t>[A]</a:t>
            </a:r>
            <a:r>
              <a:rPr lang="zh-CN" altLang="en-US" dirty="0" smtClean="0"/>
              <a:t>补</a:t>
            </a:r>
            <a:r>
              <a:rPr lang="en-US" altLang="zh-CN" dirty="0" smtClean="0"/>
              <a:t>=001111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[B]</a:t>
            </a:r>
            <a:r>
              <a:rPr lang="zh-CN" altLang="en-US" dirty="0" smtClean="0"/>
              <a:t>补</a:t>
            </a:r>
            <a:r>
              <a:rPr lang="en-US" altLang="zh-CN" dirty="0" smtClean="0"/>
              <a:t>=011000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[-B]</a:t>
            </a:r>
            <a:r>
              <a:rPr lang="zh-CN" altLang="en-US" dirty="0" smtClean="0"/>
              <a:t>补</a:t>
            </a:r>
            <a:r>
              <a:rPr lang="en-US" altLang="zh-CN" dirty="0" smtClean="0"/>
              <a:t>=101000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[A+B]</a:t>
            </a:r>
            <a:r>
              <a:rPr lang="zh-CN" altLang="en-US" dirty="0" smtClean="0"/>
              <a:t>补</a:t>
            </a:r>
            <a:r>
              <a:rPr lang="en-US" altLang="zh-CN" dirty="0" smtClean="0"/>
              <a:t>=100111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[A-B]</a:t>
            </a:r>
            <a:r>
              <a:rPr lang="zh-CN" altLang="en-US" dirty="0" smtClean="0"/>
              <a:t>补</a:t>
            </a:r>
            <a:r>
              <a:rPr lang="en-US" altLang="zh-CN" dirty="0" smtClean="0"/>
              <a:t>=110111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用</a:t>
            </a:r>
            <a:r>
              <a:rPr lang="en-US" altLang="zh-CN" dirty="0" smtClean="0"/>
              <a:t>1</a:t>
            </a:r>
            <a:r>
              <a:rPr lang="zh-CN" altLang="en-US" dirty="0" smtClean="0"/>
              <a:t>位符号位判断，</a:t>
            </a:r>
            <a:r>
              <a:rPr lang="en-US" altLang="zh-CN" dirty="0" smtClean="0"/>
              <a:t>A+B</a:t>
            </a:r>
            <a:r>
              <a:rPr lang="zh-CN" altLang="en-US" dirty="0" smtClean="0"/>
              <a:t>溢出（</a:t>
            </a:r>
            <a:r>
              <a:rPr lang="en-US" altLang="zh-CN" dirty="0" smtClean="0"/>
              <a:t>0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smtClean="0"/>
              <a:t>0=1</a:t>
            </a:r>
            <a:r>
              <a:rPr lang="zh-CN" altLang="en-US" dirty="0" smtClean="0"/>
              <a:t>），</a:t>
            </a:r>
            <a:r>
              <a:rPr lang="en-US" altLang="zh-CN" dirty="0" smtClean="0"/>
              <a:t>A-B</a:t>
            </a:r>
            <a:r>
              <a:rPr lang="zh-CN" altLang="en-US" dirty="0" smtClean="0"/>
              <a:t>不溢出（</a:t>
            </a:r>
            <a:r>
              <a:rPr lang="en-US" altLang="zh-CN" dirty="0" smtClean="0"/>
              <a:t>0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smtClean="0"/>
              <a:t>1=1</a:t>
            </a:r>
            <a:r>
              <a:rPr lang="zh-CN" altLang="en-US" dirty="0" smtClean="0"/>
              <a:t>）。</a:t>
            </a:r>
            <a:endParaRPr lang="zh-CN" altLang="zh-CN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练习</a:t>
            </a:r>
            <a:r>
              <a:rPr lang="zh-CN" altLang="en-US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74H+A3H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ZF=0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CF=1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OF=0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SF=0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74H-A3H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的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ZF=0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CF=1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OF=1</a:t>
            </a:r>
            <a:r>
              <a:rPr lang="zh-CN" altLang="en-US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SF=1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r>
              <a:rPr lang="en-US" altLang="zh-CN" dirty="0" smtClean="0"/>
              <a:t>x=10000110B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y=11110110B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z1=x-y=(0)10010000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z2=</a:t>
            </a:r>
            <a:r>
              <a:rPr lang="en-US" altLang="zh-CN" dirty="0" err="1" smtClean="0"/>
              <a:t>x+y</a:t>
            </a:r>
            <a:r>
              <a:rPr lang="en-US" altLang="zh-CN" dirty="0" smtClean="0"/>
              <a:t>=(1)01111100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(R1)=86H</a:t>
            </a:r>
            <a:r>
              <a:rPr lang="zh-CN" altLang="en-US" dirty="0" smtClean="0"/>
              <a:t>，</a:t>
            </a:r>
            <a:r>
              <a:rPr lang="en-US" altLang="zh-CN" dirty="0" smtClean="0"/>
              <a:t>(R5)=90H</a:t>
            </a:r>
            <a:r>
              <a:rPr lang="zh-CN" altLang="en-US" dirty="0" smtClean="0"/>
              <a:t>，</a:t>
            </a:r>
            <a:r>
              <a:rPr lang="en-US" altLang="zh-CN" dirty="0" smtClean="0"/>
              <a:t>(R6)=7CH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m=86H=-122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n=F6H</a:t>
            </a:r>
            <a:r>
              <a:rPr lang="zh-CN" altLang="en-US" dirty="0" smtClean="0"/>
              <a:t>，</a:t>
            </a:r>
            <a:r>
              <a:rPr lang="en-US" altLang="zh-CN" dirty="0" smtClean="0"/>
              <a:t>k1=m-n=x-y=86H-F6H=90H=-112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）能。加法器实现的是模</a:t>
            </a:r>
            <a:r>
              <a:rPr lang="en-US" altLang="zh-CN" dirty="0" smtClean="0"/>
              <a:t>2</a:t>
            </a:r>
            <a:r>
              <a:rPr lang="en-US" altLang="zh-CN" baseline="30000" dirty="0" smtClean="0"/>
              <a:t>n</a:t>
            </a:r>
            <a:r>
              <a:rPr lang="zh-CN" altLang="en-US" dirty="0" smtClean="0"/>
              <a:t>无符号加法运算；无符号的加法直接实现，减法用加补数来实现；根据补码加减公式，有符号的加法用机器数相加即可实现，减法用加机器数的补数即可实现；故整数加</a:t>
            </a:r>
            <a:r>
              <a:rPr lang="en-US" altLang="zh-CN" dirty="0" smtClean="0"/>
              <a:t>/</a:t>
            </a:r>
            <a:r>
              <a:rPr lang="zh-CN" altLang="en-US" dirty="0" smtClean="0"/>
              <a:t>减可用同一加法器及辅助电路实现。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）判断：若</a:t>
            </a:r>
            <a:r>
              <a:rPr lang="zh-CN" altLang="en-US" sz="1200" dirty="0" smtClean="0">
                <a:solidFill>
                  <a:schemeClr val="bg1">
                    <a:lumMod val="85000"/>
                  </a:schemeClr>
                </a:solidFill>
              </a:rPr>
              <a:t>同号相加或异号相减，结果与被加</a:t>
            </a:r>
            <a:r>
              <a:rPr lang="en-US" altLang="zh-CN" sz="1200" dirty="0" smtClean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zh-CN" altLang="en-US" sz="1200" dirty="0" smtClean="0">
                <a:solidFill>
                  <a:schemeClr val="bg1">
                    <a:lumMod val="85000"/>
                  </a:schemeClr>
                </a:solidFill>
              </a:rPr>
              <a:t>减</a:t>
            </a:r>
            <a:r>
              <a:rPr lang="en-US" altLang="zh-CN" sz="1200" dirty="0" smtClean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zh-CN" altLang="en-US" sz="1200" dirty="0" smtClean="0">
                <a:solidFill>
                  <a:schemeClr val="bg1">
                    <a:lumMod val="85000"/>
                  </a:schemeClr>
                </a:solidFill>
              </a:rPr>
              <a:t>数异号，则结果溢出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     </a:t>
            </a:r>
            <a:r>
              <a:rPr lang="zh-CN" altLang="en-US" dirty="0" smtClean="0"/>
              <a:t>应用：</a:t>
            </a:r>
            <a:r>
              <a:rPr lang="en-US" altLang="zh-CN" dirty="0" smtClean="0"/>
              <a:t>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  <a:r>
              <a:rPr lang="zh-CN" altLang="en-US" dirty="0" smtClean="0"/>
              <a:t>机器数的最高位均为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，仅</a:t>
            </a:r>
            <a:r>
              <a:rPr lang="en-US" altLang="zh-CN" dirty="0" smtClean="0"/>
              <a:t>k2</a:t>
            </a:r>
            <a:r>
              <a:rPr lang="zh-CN" altLang="en-US" dirty="0" smtClean="0"/>
              <a:t>可能溢出（有符号加法），</a:t>
            </a:r>
            <a:r>
              <a:rPr lang="en-US" altLang="zh-CN" dirty="0" smtClean="0"/>
              <a:t>k2=(1)01111100</a:t>
            </a:r>
            <a:r>
              <a:rPr lang="zh-CN" altLang="en-US" dirty="0" smtClean="0"/>
              <a:t>，溢出。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练习：</a:t>
            </a:r>
            <a:r>
              <a:rPr lang="en-US" altLang="zh-CN" dirty="0" smtClean="0"/>
              <a:t>B&gt;&gt;1=11110011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A+B&lt;&lt;2=10101011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P64-</a:t>
            </a:r>
            <a:r>
              <a:rPr lang="zh-CN" altLang="en-US" dirty="0" smtClean="0"/>
              <a:t>看无符号乘法运算规则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+mn-ea"/>
                <a:ea typeface="+mn-ea"/>
              </a:rPr>
              <a:t>思考：</a:t>
            </a:r>
            <a:r>
              <a:rPr lang="en-US" altLang="zh-CN" sz="1200" dirty="0" smtClean="0">
                <a:solidFill>
                  <a:schemeClr val="tx1"/>
                </a:solidFill>
                <a:latin typeface="+mn-ea"/>
                <a:ea typeface="+mn-ea"/>
              </a:rPr>
              <a:t>101 </a:t>
            </a:r>
            <a:r>
              <a:rPr lang="en-US" altLang="zh-CN" sz="1200" u="sng" dirty="0" smtClean="0">
                <a:solidFill>
                  <a:schemeClr val="tx1"/>
                </a:solidFill>
                <a:latin typeface="+mn-ea"/>
                <a:ea typeface="+mn-ea"/>
              </a:rPr>
              <a:t>000</a:t>
            </a:r>
            <a:r>
              <a:rPr lang="en-US" altLang="zh-CN" sz="1200" dirty="0" smtClean="0">
                <a:solidFill>
                  <a:schemeClr val="tx1"/>
                </a:solidFill>
                <a:latin typeface="+mn-ea"/>
                <a:ea typeface="+mn-ea"/>
              </a:rPr>
              <a:t> 001</a:t>
            </a:r>
            <a:r>
              <a:rPr lang="zh-CN" altLang="en-US" sz="1200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1200" dirty="0" smtClean="0">
                <a:solidFill>
                  <a:schemeClr val="tx1"/>
                </a:solidFill>
                <a:latin typeface="+mn-ea"/>
                <a:ea typeface="+mn-ea"/>
              </a:rPr>
              <a:t>R</a:t>
            </a:r>
            <a:r>
              <a:rPr lang="en-US" altLang="zh-CN" sz="1200" baseline="-18000" dirty="0" smtClean="0">
                <a:solidFill>
                  <a:schemeClr val="tx1"/>
                </a:solidFill>
                <a:latin typeface="+mn-ea"/>
                <a:ea typeface="+mn-ea"/>
              </a:rPr>
              <a:t>n-1</a:t>
            </a:r>
            <a:r>
              <a:rPr lang="zh-CN" altLang="en-US" sz="1200" dirty="0" smtClean="0">
                <a:solidFill>
                  <a:schemeClr val="tx1"/>
                </a:solidFill>
                <a:latin typeface="+mn-ea"/>
                <a:ea typeface="+mn-ea"/>
              </a:rPr>
              <a:t>＝</a:t>
            </a:r>
            <a:r>
              <a:rPr lang="en-US" altLang="zh-CN" sz="1200" dirty="0" smtClean="0">
                <a:solidFill>
                  <a:schemeClr val="tx1"/>
                </a:solidFill>
                <a:latin typeface="+mn-ea"/>
                <a:ea typeface="+mn-ea"/>
              </a:rPr>
              <a:t>S</a:t>
            </a:r>
            <a:endParaRPr lang="en-US" altLang="zh-CN" sz="1200" baseline="-1800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FE8EDC-34A9-4DEA-B9EA-ED3551F6672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5745;&#31639;&#26426;&#32452;&#25104;&#21407;&#29702;&#22797;&#20064;.pptx#-1,10,PowerPoint%20&#28436;&#31034;&#25991;&#31295;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计算机组成原理</a:t>
            </a:r>
            <a:r>
              <a:rPr lang="en-US" altLang="zh-CN"/>
              <a:t>PPT</a:t>
            </a:r>
            <a:r>
              <a:rPr lang="zh-CN" altLang="en-US"/>
              <a:t>习题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7925" y="3076645"/>
            <a:ext cx="10969200" cy="705600"/>
          </a:xfrm>
        </p:spPr>
        <p:txBody>
          <a:bodyPr>
            <a:normAutofit/>
          </a:bodyPr>
          <a:p>
            <a:pPr algn="ctr"/>
            <a:r>
              <a:rPr lang="zh-CN" altLang="en-US"/>
              <a:t>第一章</a:t>
            </a:r>
            <a:r>
              <a:rPr lang="en-US" altLang="zh-CN"/>
              <a:t>   </a:t>
            </a:r>
            <a:r>
              <a:rPr lang="zh-CN" altLang="en-US">
                <a:sym typeface="+mn-ea"/>
              </a:rPr>
              <a:t>计算机系统概述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775520" y="404664"/>
            <a:ext cx="8640960" cy="5400675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 ※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本节课堂练习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-1(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多选题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)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：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 </a:t>
            </a:r>
            <a:endParaRPr lang="en-US" altLang="zh-CN" b="1" dirty="0" smtClean="0"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1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、程序执行前，需预先存放在存储器中，其好处包括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A</a:t>
            </a: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.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实现自动访问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提高执行速度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提高编程效率</a:t>
            </a:r>
            <a:endParaRPr lang="en-US" altLang="zh-CN" sz="22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2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、程序中指令需逐条执行，其原因包括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A.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指令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可能为转移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型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指令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同时只能取一条指令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同时只能译码一条指令</a:t>
            </a:r>
            <a:endParaRPr lang="zh-CN" altLang="en-US" sz="22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3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下列选项中，不属于计算机主机的部件有</a:t>
            </a:r>
            <a:endParaRPr lang="en-US" altLang="zh-CN" sz="22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A.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运算器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控制器</a:t>
            </a: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C. 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主存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D.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磁盘</a:t>
            </a: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</a:t>
            </a:r>
            <a:endParaRPr lang="en-US" altLang="zh-CN" sz="2200" b="1" dirty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4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CPU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执行访存指令时，发出的存储器地址为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A.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主存地址      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主存地址或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Cache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地址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5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、程序执行过程中，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指令地址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用作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循环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变量，其存放部件是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A. IR        B. ID        C. PC        D. REGs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775520" y="404664"/>
            <a:ext cx="8640960" cy="5323205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 marL="719455" indent="-719455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 ※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本节课堂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练习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-2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(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多选题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)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ea typeface="+mn-ea"/>
                <a:sym typeface="微软雅黑" panose="020B0503020204020204" charset="-122"/>
              </a:rPr>
              <a:t>：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 </a:t>
            </a:r>
            <a:endParaRPr lang="en-US" altLang="zh-CN" b="1" dirty="0"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6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、下列部件名称解释中，正确的有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 marL="719455" indent="-719455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  A.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PC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指</a:t>
            </a:r>
            <a:r>
              <a:rPr lang="en-US" altLang="zh-CN" sz="2200" dirty="0" smtClean="0"/>
              <a:t>Program Counter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ID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指</a:t>
            </a:r>
            <a:r>
              <a:rPr lang="en-US" altLang="zh-CN" sz="2200" dirty="0" smtClean="0"/>
              <a:t>Instruction Decoder</a:t>
            </a:r>
            <a:endParaRPr lang="en-US" altLang="zh-CN" sz="2200" dirty="0" smtClean="0"/>
          </a:p>
          <a:p>
            <a:pPr marL="719455" indent="-719455"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C.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RAM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指随机访问存储器  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D.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主设备指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CPU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和主存</a:t>
            </a:r>
            <a:endParaRPr lang="en-US" altLang="zh-CN" sz="2200" b="1" dirty="0" smtClean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微软雅黑" panose="020B0503020204020204" charset="-122"/>
              </a:rPr>
              <a:t>  7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微软雅黑" panose="020B0503020204020204" charset="-122"/>
              </a:rPr>
              <a:t>、</a:t>
            </a:r>
            <a:r>
              <a:rPr lang="zh-CN" altLang="en-US" sz="2200" b="1" dirty="0">
                <a:solidFill>
                  <a:srgbClr val="000000"/>
                </a:solidFill>
                <a:latin typeface="+mj-ea"/>
                <a:sym typeface="微软雅黑" panose="020B0503020204020204" charset="-122"/>
              </a:rPr>
              <a:t>下列选项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中，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微软雅黑" panose="020B0503020204020204" charset="-122"/>
              </a:rPr>
              <a:t>ALU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ea typeface="+mn-ea"/>
                <a:sym typeface="微软雅黑" panose="020B0503020204020204" charset="-122"/>
              </a:rPr>
              <a:t>能实现的运算有</a:t>
            </a:r>
            <a:endParaRPr lang="en-US" altLang="zh-CN" sz="2200" b="1" dirty="0" smtClean="0">
              <a:solidFill>
                <a:srgbClr val="000000"/>
              </a:solidFill>
              <a:latin typeface="宋体" panose="02010600030101010101" pitchFamily="2" charset="-122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      A. </a:t>
            </a:r>
            <a:r>
              <a:rPr lang="zh-CN" altLang="en-US" sz="2200" b="1" dirty="0" smtClean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定点加法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 逻辑运算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C.</a:t>
            </a:r>
            <a:r>
              <a:rPr lang="zh-CN" altLang="en-US" sz="2200" b="1" dirty="0" smtClean="0">
                <a:solidFill>
                  <a:srgbClr val="000000"/>
                </a:solidFill>
                <a:latin typeface="+mj-ea"/>
                <a:ea typeface="+mj-ea"/>
                <a:sym typeface="微软雅黑" panose="020B0503020204020204" charset="-122"/>
              </a:rPr>
              <a:t> 浮点减法</a:t>
            </a:r>
            <a:endParaRPr lang="en-US" altLang="zh-CN" sz="2200" b="1" dirty="0" smtClean="0">
              <a:solidFill>
                <a:srgbClr val="000000"/>
              </a:solidFill>
              <a:latin typeface="+mj-ea"/>
              <a:ea typeface="+mj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8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、计算机中，显卡属于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A.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外设 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 I/O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接口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C.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外设或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I/O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接口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9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、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下列总线传输协议中，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时延完全取决于</a:t>
            </a: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从设备的步骤是</a:t>
            </a:r>
            <a:endParaRPr lang="en-US" altLang="zh-CN" sz="22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A. 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①</a:t>
            </a:r>
            <a:endParaRPr lang="en-US" altLang="zh-CN" sz="22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②</a:t>
            </a:r>
            <a:endParaRPr lang="en-US" altLang="zh-CN" sz="22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C.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③</a:t>
            </a:r>
            <a:endParaRPr lang="zh-CN" altLang="en-US" sz="2200" b="1" dirty="0">
              <a:solidFill>
                <a:srgbClr val="000000"/>
              </a:solidFill>
              <a:latin typeface="宋体" panose="02010600030101010101" pitchFamily="2" charset="-122"/>
              <a:sym typeface="微软雅黑" panose="020B050302020402020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4223979" y="4581152"/>
            <a:ext cx="3600213" cy="1584152"/>
            <a:chOff x="1398046" y="1556792"/>
            <a:chExt cx="3600213" cy="1584152"/>
          </a:xfrm>
        </p:grpSpPr>
        <p:sp>
          <p:nvSpPr>
            <p:cNvPr id="49" name="Line 226"/>
            <p:cNvSpPr>
              <a:spLocks noChangeShapeType="1"/>
            </p:cNvSpPr>
            <p:nvPr/>
          </p:nvSpPr>
          <p:spPr bwMode="auto">
            <a:xfrm>
              <a:off x="4572000" y="1772816"/>
              <a:ext cx="1" cy="136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dash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227"/>
            <p:cNvSpPr>
              <a:spLocks noChangeShapeType="1"/>
            </p:cNvSpPr>
            <p:nvPr/>
          </p:nvSpPr>
          <p:spPr bwMode="auto">
            <a:xfrm>
              <a:off x="2843808" y="1772816"/>
              <a:ext cx="0" cy="1368000"/>
            </a:xfrm>
            <a:prstGeom prst="line">
              <a:avLst/>
            </a:prstGeom>
            <a:noFill/>
            <a:ln w="9525">
              <a:solidFill>
                <a:srgbClr val="CC3300"/>
              </a:solidFill>
              <a:prstDash val="dash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230"/>
            <p:cNvSpPr>
              <a:spLocks noChangeShapeType="1"/>
            </p:cNvSpPr>
            <p:nvPr/>
          </p:nvSpPr>
          <p:spPr bwMode="auto">
            <a:xfrm flipH="1">
              <a:off x="2548984" y="1772816"/>
              <a:ext cx="1587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231"/>
            <p:cNvSpPr>
              <a:spLocks noChangeShapeType="1"/>
            </p:cNvSpPr>
            <p:nvPr/>
          </p:nvSpPr>
          <p:spPr bwMode="auto">
            <a:xfrm>
              <a:off x="3703566" y="1772816"/>
              <a:ext cx="0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32"/>
            <p:cNvSpPr>
              <a:spLocks noChangeShapeType="1"/>
            </p:cNvSpPr>
            <p:nvPr/>
          </p:nvSpPr>
          <p:spPr bwMode="auto">
            <a:xfrm flipH="1">
              <a:off x="4277325" y="1772816"/>
              <a:ext cx="0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233"/>
            <p:cNvSpPr>
              <a:spLocks noChangeShapeType="1"/>
            </p:cNvSpPr>
            <p:nvPr/>
          </p:nvSpPr>
          <p:spPr bwMode="auto">
            <a:xfrm>
              <a:off x="3125917" y="1772816"/>
              <a:ext cx="0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235"/>
            <p:cNvSpPr txBox="1">
              <a:spLocks noChangeArrowheads="1"/>
            </p:cNvSpPr>
            <p:nvPr/>
          </p:nvSpPr>
          <p:spPr bwMode="auto">
            <a:xfrm>
              <a:off x="1398046" y="1557784"/>
              <a:ext cx="1008063" cy="136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114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CLK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ctr">
                <a:lnSpc>
                  <a:spcPct val="114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ABus</a:t>
              </a:r>
              <a:endParaRPr lang="zh-CN" altLang="en-US" sz="1600" b="1" dirty="0">
                <a:latin typeface="+mn-ea"/>
                <a:ea typeface="+mn-ea"/>
              </a:endParaRPr>
            </a:p>
            <a:p>
              <a:pPr algn="ctr">
                <a:lnSpc>
                  <a:spcPct val="114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DBus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ctr">
                <a:lnSpc>
                  <a:spcPct val="114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CBus</a:t>
              </a:r>
              <a:r>
                <a:rPr lang="en-US" altLang="zh-CN" sz="1600" b="1" dirty="0" smtClean="0">
                  <a:latin typeface="+mn-ea"/>
                  <a:ea typeface="+mn-ea"/>
                </a:rPr>
                <a:t>(RD)</a:t>
              </a:r>
              <a:endParaRPr lang="zh-CN" altLang="en-US" sz="1600" b="1" dirty="0">
                <a:latin typeface="+mn-ea"/>
                <a:ea typeface="+mn-ea"/>
              </a:endParaRPr>
            </a:p>
            <a:p>
              <a:pPr algn="ctr">
                <a:lnSpc>
                  <a:spcPct val="114000"/>
                </a:lnSpc>
              </a:pPr>
              <a:r>
                <a:rPr lang="en-US" altLang="zh-CN" sz="1600" b="1" dirty="0" err="1" smtClean="0">
                  <a:latin typeface="+mn-ea"/>
                  <a:ea typeface="+mn-ea"/>
                </a:rPr>
                <a:t>CBus</a:t>
              </a:r>
              <a:r>
                <a:rPr lang="en-US" altLang="zh-CN" sz="1600" b="1" dirty="0" smtClean="0">
                  <a:latin typeface="+mn-ea"/>
                  <a:ea typeface="+mn-ea"/>
                </a:rPr>
                <a:t>(WR)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56" name="Line 236"/>
            <p:cNvSpPr>
              <a:spLocks noChangeShapeType="1"/>
            </p:cNvSpPr>
            <p:nvPr/>
          </p:nvSpPr>
          <p:spPr bwMode="auto">
            <a:xfrm>
              <a:off x="2406109" y="1953262"/>
              <a:ext cx="142875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237"/>
            <p:cNvSpPr>
              <a:spLocks noChangeShapeType="1"/>
            </p:cNvSpPr>
            <p:nvPr/>
          </p:nvSpPr>
          <p:spPr bwMode="auto">
            <a:xfrm flipV="1">
              <a:off x="2406109" y="2242883"/>
              <a:ext cx="129745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238"/>
            <p:cNvSpPr>
              <a:spLocks noChangeShapeType="1"/>
            </p:cNvSpPr>
            <p:nvPr/>
          </p:nvSpPr>
          <p:spPr bwMode="auto">
            <a:xfrm flipV="1">
              <a:off x="4422061" y="2242883"/>
              <a:ext cx="576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243"/>
            <p:cNvSpPr>
              <a:spLocks noChangeShapeType="1"/>
            </p:cNvSpPr>
            <p:nvPr/>
          </p:nvSpPr>
          <p:spPr bwMode="auto">
            <a:xfrm flipV="1">
              <a:off x="2405837" y="2636912"/>
              <a:ext cx="432000" cy="500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244"/>
            <p:cNvSpPr>
              <a:spLocks noChangeShapeType="1"/>
            </p:cNvSpPr>
            <p:nvPr/>
          </p:nvSpPr>
          <p:spPr bwMode="auto">
            <a:xfrm>
              <a:off x="2992316" y="2420888"/>
              <a:ext cx="1287316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255"/>
            <p:cNvSpPr>
              <a:spLocks noChangeShapeType="1"/>
            </p:cNvSpPr>
            <p:nvPr/>
          </p:nvSpPr>
          <p:spPr bwMode="auto">
            <a:xfrm flipV="1">
              <a:off x="4710092" y="1954849"/>
              <a:ext cx="288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257"/>
            <p:cNvSpPr>
              <a:spLocks noChangeShapeType="1"/>
            </p:cNvSpPr>
            <p:nvPr/>
          </p:nvSpPr>
          <p:spPr bwMode="auto">
            <a:xfrm>
              <a:off x="4855694" y="1772816"/>
              <a:ext cx="3559" cy="13680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262"/>
            <p:cNvSpPr>
              <a:spLocks noChangeShapeType="1"/>
            </p:cNvSpPr>
            <p:nvPr/>
          </p:nvSpPr>
          <p:spPr bwMode="auto">
            <a:xfrm flipH="1" flipV="1">
              <a:off x="4278044" y="2420888"/>
              <a:ext cx="144215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Line 263"/>
            <p:cNvSpPr>
              <a:spLocks noChangeShapeType="1"/>
            </p:cNvSpPr>
            <p:nvPr/>
          </p:nvSpPr>
          <p:spPr bwMode="auto">
            <a:xfrm>
              <a:off x="4422259" y="2636912"/>
              <a:ext cx="576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AutoShape 299"/>
            <p:cNvSpPr>
              <a:spLocks noChangeArrowheads="1"/>
            </p:cNvSpPr>
            <p:nvPr/>
          </p:nvSpPr>
          <p:spPr bwMode="auto">
            <a:xfrm>
              <a:off x="2550572" y="1846411"/>
              <a:ext cx="2159720" cy="216000"/>
            </a:xfrm>
            <a:prstGeom prst="hexagon">
              <a:avLst>
                <a:gd name="adj" fmla="val 49744"/>
                <a:gd name="vf" fmla="val 115470"/>
              </a:avLst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Text Box 300"/>
            <p:cNvSpPr txBox="1">
              <a:spLocks noChangeArrowheads="1"/>
            </p:cNvSpPr>
            <p:nvPr/>
          </p:nvSpPr>
          <p:spPr bwMode="auto">
            <a:xfrm>
              <a:off x="3341940" y="1844824"/>
              <a:ext cx="503238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地址</a:t>
              </a:r>
              <a:endParaRPr lang="zh-CN" altLang="en-US" sz="1600" b="1" dirty="0"/>
            </a:p>
          </p:txBody>
        </p:sp>
        <p:sp>
          <p:nvSpPr>
            <p:cNvPr id="67" name="AutoShape 301"/>
            <p:cNvSpPr>
              <a:spLocks noChangeArrowheads="1"/>
            </p:cNvSpPr>
            <p:nvPr/>
          </p:nvSpPr>
          <p:spPr bwMode="auto">
            <a:xfrm>
              <a:off x="3701981" y="2132856"/>
              <a:ext cx="720154" cy="216000"/>
            </a:xfrm>
            <a:prstGeom prst="hexagon">
              <a:avLst>
                <a:gd name="adj" fmla="val 56354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302"/>
            <p:cNvSpPr>
              <a:spLocks noChangeShapeType="1"/>
            </p:cNvSpPr>
            <p:nvPr/>
          </p:nvSpPr>
          <p:spPr bwMode="auto">
            <a:xfrm>
              <a:off x="2406109" y="2921770"/>
              <a:ext cx="2592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Box 304"/>
            <p:cNvSpPr txBox="1">
              <a:spLocks noChangeArrowheads="1"/>
            </p:cNvSpPr>
            <p:nvPr/>
          </p:nvSpPr>
          <p:spPr bwMode="auto">
            <a:xfrm>
              <a:off x="3773988" y="2134444"/>
              <a:ext cx="576263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b="1" dirty="0"/>
                <a:t>数据</a:t>
              </a:r>
              <a:endParaRPr lang="zh-CN" altLang="en-US" sz="1600" b="1" dirty="0"/>
            </a:p>
          </p:txBody>
        </p:sp>
        <p:sp>
          <p:nvSpPr>
            <p:cNvPr id="70" name="Line 243"/>
            <p:cNvSpPr>
              <a:spLocks noChangeShapeType="1"/>
            </p:cNvSpPr>
            <p:nvPr/>
          </p:nvSpPr>
          <p:spPr bwMode="auto">
            <a:xfrm>
              <a:off x="2415434" y="2708920"/>
              <a:ext cx="288032" cy="2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234"/>
            <p:cNvSpPr>
              <a:spLocks noChangeShapeType="1"/>
            </p:cNvSpPr>
            <p:nvPr/>
          </p:nvSpPr>
          <p:spPr bwMode="auto">
            <a:xfrm flipV="1">
              <a:off x="2843808" y="1556792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239"/>
            <p:cNvSpPr>
              <a:spLocks noChangeShapeType="1"/>
            </p:cNvSpPr>
            <p:nvPr/>
          </p:nvSpPr>
          <p:spPr bwMode="auto">
            <a:xfrm>
              <a:off x="2412901" y="1772816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240"/>
            <p:cNvSpPr>
              <a:spLocks noChangeShapeType="1"/>
            </p:cNvSpPr>
            <p:nvPr/>
          </p:nvSpPr>
          <p:spPr bwMode="auto">
            <a:xfrm flipH="1" flipV="1">
              <a:off x="2555776" y="1558379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241"/>
            <p:cNvSpPr>
              <a:spLocks noChangeShapeType="1"/>
            </p:cNvSpPr>
            <p:nvPr/>
          </p:nvSpPr>
          <p:spPr bwMode="auto">
            <a:xfrm>
              <a:off x="2549853" y="1556792"/>
              <a:ext cx="288032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Line 242"/>
            <p:cNvSpPr>
              <a:spLocks noChangeShapeType="1"/>
            </p:cNvSpPr>
            <p:nvPr/>
          </p:nvSpPr>
          <p:spPr bwMode="auto">
            <a:xfrm flipV="1">
              <a:off x="2843808" y="1778470"/>
              <a:ext cx="288000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Line 246"/>
            <p:cNvSpPr>
              <a:spLocks noChangeShapeType="1"/>
            </p:cNvSpPr>
            <p:nvPr/>
          </p:nvSpPr>
          <p:spPr bwMode="auto">
            <a:xfrm flipV="1">
              <a:off x="3419872" y="1559967"/>
              <a:ext cx="1588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Line 247"/>
            <p:cNvSpPr>
              <a:spLocks noChangeShapeType="1"/>
            </p:cNvSpPr>
            <p:nvPr/>
          </p:nvSpPr>
          <p:spPr bwMode="auto">
            <a:xfrm flipH="1" flipV="1">
              <a:off x="3131840" y="15615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Line 248"/>
            <p:cNvSpPr>
              <a:spLocks noChangeShapeType="1"/>
            </p:cNvSpPr>
            <p:nvPr/>
          </p:nvSpPr>
          <p:spPr bwMode="auto">
            <a:xfrm>
              <a:off x="3125917" y="1563142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258"/>
            <p:cNvSpPr>
              <a:spLocks noChangeShapeType="1"/>
            </p:cNvSpPr>
            <p:nvPr/>
          </p:nvSpPr>
          <p:spPr bwMode="auto">
            <a:xfrm>
              <a:off x="4854108" y="1556792"/>
              <a:ext cx="142875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234"/>
            <p:cNvSpPr>
              <a:spLocks noChangeShapeType="1"/>
            </p:cNvSpPr>
            <p:nvPr/>
          </p:nvSpPr>
          <p:spPr bwMode="auto">
            <a:xfrm flipV="1">
              <a:off x="3989292" y="1556792"/>
              <a:ext cx="1588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240"/>
            <p:cNvSpPr>
              <a:spLocks noChangeShapeType="1"/>
            </p:cNvSpPr>
            <p:nvPr/>
          </p:nvSpPr>
          <p:spPr bwMode="auto">
            <a:xfrm flipH="1" flipV="1">
              <a:off x="3701260" y="1558379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241"/>
            <p:cNvSpPr>
              <a:spLocks noChangeShapeType="1"/>
            </p:cNvSpPr>
            <p:nvPr/>
          </p:nvSpPr>
          <p:spPr bwMode="auto">
            <a:xfrm>
              <a:off x="3701261" y="1559965"/>
              <a:ext cx="288032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242"/>
            <p:cNvSpPr>
              <a:spLocks noChangeShapeType="1"/>
            </p:cNvSpPr>
            <p:nvPr/>
          </p:nvSpPr>
          <p:spPr bwMode="auto">
            <a:xfrm flipV="1">
              <a:off x="3989292" y="1778470"/>
              <a:ext cx="288033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246"/>
            <p:cNvSpPr>
              <a:spLocks noChangeShapeType="1"/>
            </p:cNvSpPr>
            <p:nvPr/>
          </p:nvSpPr>
          <p:spPr bwMode="auto">
            <a:xfrm flipH="1" flipV="1">
              <a:off x="4566943" y="1559966"/>
              <a:ext cx="1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247"/>
            <p:cNvSpPr>
              <a:spLocks noChangeShapeType="1"/>
            </p:cNvSpPr>
            <p:nvPr/>
          </p:nvSpPr>
          <p:spPr bwMode="auto">
            <a:xfrm flipH="1" flipV="1">
              <a:off x="4277324" y="15615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248"/>
            <p:cNvSpPr>
              <a:spLocks noChangeShapeType="1"/>
            </p:cNvSpPr>
            <p:nvPr/>
          </p:nvSpPr>
          <p:spPr bwMode="auto">
            <a:xfrm>
              <a:off x="4277325" y="1563142"/>
              <a:ext cx="2880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260"/>
            <p:cNvSpPr>
              <a:spLocks noChangeShapeType="1"/>
            </p:cNvSpPr>
            <p:nvPr/>
          </p:nvSpPr>
          <p:spPr bwMode="auto">
            <a:xfrm>
              <a:off x="3413948" y="1775296"/>
              <a:ext cx="287412" cy="1588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242"/>
            <p:cNvSpPr>
              <a:spLocks noChangeShapeType="1"/>
            </p:cNvSpPr>
            <p:nvPr/>
          </p:nvSpPr>
          <p:spPr bwMode="auto">
            <a:xfrm flipV="1">
              <a:off x="4557493" y="1778469"/>
              <a:ext cx="296615" cy="1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247"/>
            <p:cNvSpPr>
              <a:spLocks noChangeShapeType="1"/>
            </p:cNvSpPr>
            <p:nvPr/>
          </p:nvSpPr>
          <p:spPr bwMode="auto">
            <a:xfrm flipH="1" flipV="1">
              <a:off x="4854107" y="1561554"/>
              <a:ext cx="0" cy="216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245"/>
            <p:cNvSpPr>
              <a:spLocks noChangeShapeType="1"/>
            </p:cNvSpPr>
            <p:nvPr/>
          </p:nvSpPr>
          <p:spPr bwMode="auto">
            <a:xfrm flipV="1">
              <a:off x="2838206" y="2420988"/>
              <a:ext cx="154110" cy="216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Text Box 41"/>
            <p:cNvSpPr txBox="1">
              <a:spLocks noChangeArrowheads="1"/>
            </p:cNvSpPr>
            <p:nvPr/>
          </p:nvSpPr>
          <p:spPr bwMode="auto">
            <a:xfrm>
              <a:off x="2694190" y="2924944"/>
              <a:ext cx="2159917" cy="21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 smtClean="0"/>
                <a:t>①        ②       ③       ④</a:t>
              </a:r>
              <a:endParaRPr lang="zh-CN" altLang="en-US" sz="16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775520" y="404664"/>
            <a:ext cx="8640960" cy="5323205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 ※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本节课堂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练习（多选题）：</a:t>
            </a:r>
            <a:endParaRPr lang="en-US" altLang="zh-CN" b="1" dirty="0">
              <a:latin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1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、使用逻辑地址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(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不是物理地址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)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编程的原因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有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A.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主存容量可变         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程序装入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位置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未知  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C.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允许程序空间≥主存空间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  2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  <a:sym typeface="微软雅黑" panose="020B0503020204020204" charset="-122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PC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b="1" dirty="0">
                <a:latin typeface="宋体" panose="02010600030101010101" pitchFamily="2" charset="-122"/>
              </a:rPr>
              <a:t>PC)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＋</a:t>
            </a:r>
            <a:r>
              <a:rPr lang="zh-CN" altLang="en-US" sz="22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b="1" dirty="0">
                <a:uFillTx/>
                <a:latin typeface="宋体" panose="02010600030101010101" pitchFamily="2" charset="-122"/>
                <a:cs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中的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是指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446405" indent="-446405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     A. </a:t>
            </a:r>
            <a:r>
              <a:rPr lang="zh-CN" altLang="en-US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指令</a:t>
            </a:r>
            <a:r>
              <a:rPr lang="zh-CN" altLang="en-US" sz="2200" b="1" dirty="0">
                <a:latin typeface="宋体" panose="02010600030101010101" pitchFamily="2" charset="-122"/>
                <a:sym typeface="微软雅黑" panose="020B0503020204020204" charset="-122"/>
              </a:rPr>
              <a:t>所占</a:t>
            </a:r>
            <a:r>
              <a:rPr lang="zh-CN" altLang="en-US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存储单元数  </a:t>
            </a:r>
            <a:r>
              <a:rPr lang="en-US" altLang="zh-CN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B. </a:t>
            </a:r>
            <a:r>
              <a:rPr lang="zh-CN" altLang="en-US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指令所占二进制位数  </a:t>
            </a:r>
            <a:endParaRPr lang="en-US" altLang="zh-CN" sz="2200" b="1" dirty="0" smtClean="0">
              <a:latin typeface="宋体" panose="02010600030101010101" pitchFamily="2" charset="-122"/>
              <a:sym typeface="微软雅黑" panose="020B0503020204020204" charset="-122"/>
            </a:endParaRPr>
          </a:p>
          <a:p>
            <a:pPr marL="446405" indent="-446405"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     C.</a:t>
            </a:r>
            <a:r>
              <a:rPr lang="zh-CN" altLang="en-US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 数值</a:t>
            </a:r>
            <a:r>
              <a:rPr lang="en-US" altLang="zh-CN" sz="2200" b="1" dirty="0" smtClean="0">
                <a:latin typeface="宋体" panose="02010600030101010101" pitchFamily="2" charset="-122"/>
                <a:sym typeface="微软雅黑" panose="020B0503020204020204" charset="-122"/>
              </a:rPr>
              <a:t>1</a:t>
            </a:r>
            <a:endParaRPr lang="en-US" altLang="zh-CN" sz="2200" b="1" dirty="0" smtClean="0">
              <a:latin typeface="宋体" panose="02010600030101010101" pitchFamily="2" charset="-122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3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、转移型指令的下条指令地址计算，可以提前进行的原因是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A.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计算与指令内容无关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B.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计算与数据操作无关  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C.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其他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4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、程序执行过程中的循环，其实现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方法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是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ea typeface="+mn-ea"/>
                <a:sym typeface="微软雅黑" panose="020B0503020204020204" charset="-122"/>
              </a:rPr>
              <a:t>      A.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时序</a:t>
            </a:r>
            <a:r>
              <a:rPr lang="zh-CN" altLang="en-US" sz="2200" b="1" dirty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信号具有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周期性  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B. 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用</a:t>
            </a:r>
            <a:r>
              <a:rPr lang="en-US" altLang="zh-CN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PC</a:t>
            </a:r>
            <a:r>
              <a:rPr lang="zh-CN" altLang="en-US" sz="2200" b="1" dirty="0" smtClean="0">
                <a:solidFill>
                  <a:srgbClr val="000000"/>
                </a:solidFill>
                <a:latin typeface="+mn-ea"/>
                <a:sym typeface="微软雅黑" panose="020B0503020204020204" charset="-122"/>
              </a:rPr>
              <a:t>存放下条指令地址</a:t>
            </a:r>
            <a:endParaRPr lang="en-US" altLang="zh-CN" sz="2200" b="1" dirty="0" smtClean="0">
              <a:solidFill>
                <a:srgbClr val="000000"/>
              </a:solidFill>
              <a:latin typeface="+mn-ea"/>
              <a:ea typeface="+mn-ea"/>
              <a:sym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7AC38-6360-4109-9FCF-488A37030BC5}" type="slidenum">
              <a:rPr lang="en-US" altLang="zh-CN"/>
            </a:fld>
            <a:endParaRPr lang="en-US" altLang="zh-CN"/>
          </a:p>
        </p:txBody>
      </p:sp>
      <p:sp>
        <p:nvSpPr>
          <p:cNvPr id="264196" name="Text Box 4"/>
          <p:cNvSpPr txBox="1">
            <a:spLocks noChangeArrowheads="1"/>
          </p:cNvSpPr>
          <p:nvPr/>
        </p:nvSpPr>
        <p:spPr bwMode="auto">
          <a:xfrm>
            <a:off x="1703512" y="332259"/>
            <a:ext cx="8785225" cy="2130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1—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某机</a:t>
            </a:r>
            <a:r>
              <a:rPr lang="zh-CN" altLang="en-US" sz="2200" b="1" dirty="0">
                <a:latin typeface="宋体" panose="02010600030101010101" pitchFamily="2" charset="-122"/>
              </a:rPr>
              <a:t>主频为</a:t>
            </a:r>
            <a:r>
              <a:rPr lang="en-US" altLang="zh-CN" sz="2200" b="1" dirty="0">
                <a:latin typeface="宋体" panose="02010600030101010101" pitchFamily="2" charset="-122"/>
              </a:rPr>
              <a:t>2GHz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指令系统包含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类指令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dirty="0"/>
              <a:t>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类及</a:t>
            </a:r>
            <a:r>
              <a:rPr lang="en-US" altLang="zh-CN" sz="2200" dirty="0" err="1" smtClean="0"/>
              <a:t>ⅠⅠ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类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，指令长度均为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2B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，指令执行时间分别</a:t>
            </a:r>
            <a:r>
              <a:rPr lang="zh-CN" altLang="en-US" sz="2200" b="1" dirty="0">
                <a:latin typeface="宋体" panose="02010600030101010101" pitchFamily="2" charset="-122"/>
              </a:rPr>
              <a:t>为</a:t>
            </a:r>
            <a:r>
              <a:rPr lang="en-US" altLang="zh-CN" sz="2200" b="1" dirty="0">
                <a:latin typeface="宋体" panose="02010600030101010101" pitchFamily="2" charset="-122"/>
              </a:rPr>
              <a:t>5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个和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8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个主时钟</a:t>
            </a:r>
            <a:r>
              <a:rPr lang="zh-CN" altLang="en-US" sz="2200" b="1" dirty="0">
                <a:latin typeface="宋体" panose="02010600030101010101" pitchFamily="2" charset="-122"/>
              </a:rPr>
              <a:t>周期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。程序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执行时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，执行了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30000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条</a:t>
            </a:r>
            <a:r>
              <a:rPr lang="en-US" altLang="zh-CN" sz="2200" dirty="0"/>
              <a:t>Ⅰ</a:t>
            </a:r>
            <a:r>
              <a:rPr lang="zh-CN" altLang="en-US" sz="2200" b="1" dirty="0">
                <a:latin typeface="宋体" panose="02010600030101010101" pitchFamily="2" charset="-122"/>
              </a:rPr>
              <a:t>类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70000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条</a:t>
            </a:r>
            <a:r>
              <a:rPr lang="en-US" altLang="zh-CN" sz="2200" dirty="0"/>
              <a:t>Ⅱ</a:t>
            </a:r>
            <a:r>
              <a:rPr lang="zh-CN" altLang="en-US" sz="2200" b="1" dirty="0"/>
              <a:t>类</a:t>
            </a:r>
            <a:r>
              <a:rPr lang="zh-CN" altLang="en-US" sz="2200" b="1" dirty="0">
                <a:latin typeface="宋体" panose="02010600030101010101" pitchFamily="2" charset="-122"/>
              </a:rPr>
              <a:t>指令，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求程序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A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执行的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时间、平均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CPI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。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  <a:endParaRPr lang="zh-CN" altLang="en-US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264201" name="Text Box 9"/>
          <p:cNvSpPr txBox="1">
            <a:spLocks noChangeArrowheads="1"/>
          </p:cNvSpPr>
          <p:nvPr/>
        </p:nvSpPr>
        <p:spPr bwMode="auto">
          <a:xfrm>
            <a:off x="2855516" y="2044382"/>
            <a:ext cx="6840884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20000" dirty="0" smtClean="0"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(30000×5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＋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70000×8)/(2×10</a:t>
            </a:r>
            <a:r>
              <a:rPr lang="en-US" altLang="zh-CN" sz="2200" b="1" baseline="30000" dirty="0" smtClean="0">
                <a:latin typeface="宋体" panose="02010600030101010101" pitchFamily="2" charset="-122"/>
              </a:rPr>
              <a:t>9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355</a:t>
            </a:r>
            <a:r>
              <a:rPr lang="en-US" altLang="zh-CN" sz="2200" b="1" dirty="0" smtClean="0">
                <a:latin typeface="+mn-lt"/>
              </a:rPr>
              <a:t> </a:t>
            </a:r>
            <a:r>
              <a:rPr lang="en-US" altLang="zh-CN" sz="2200" dirty="0" err="1" smtClean="0">
                <a:latin typeface="+mn-lt"/>
              </a:rPr>
              <a:t>μ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；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CPI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30000/100000×5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＋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70000/100000×8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7.1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703388" y="2926188"/>
            <a:ext cx="8785225" cy="1822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2—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续例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。程序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B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大小</a:t>
            </a:r>
            <a:r>
              <a:rPr lang="zh-CN" altLang="en-US" sz="2200" b="1" dirty="0">
                <a:latin typeface="宋体" panose="02010600030101010101" pitchFamily="2" charset="-122"/>
              </a:rPr>
              <a:t>为</a:t>
            </a:r>
            <a:r>
              <a:rPr lang="en-US" altLang="zh-CN" sz="2200" b="1" dirty="0">
                <a:latin typeface="宋体" panose="02010600030101010101" pitchFamily="2" charset="-122"/>
              </a:rPr>
              <a:t>2MB</a:t>
            </a:r>
            <a:r>
              <a:rPr lang="zh-CN" altLang="en-US" sz="2200" b="1" dirty="0">
                <a:latin typeface="宋体" panose="02010600030101010101" pitchFamily="2" charset="-122"/>
              </a:rPr>
              <a:t>，其中</a:t>
            </a:r>
            <a:r>
              <a:rPr lang="en-US" altLang="zh-CN" sz="2200" b="1" dirty="0">
                <a:latin typeface="宋体" panose="02010600030101010101" pitchFamily="2" charset="-122"/>
              </a:rPr>
              <a:t>30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%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为</a:t>
            </a:r>
            <a:r>
              <a:rPr lang="en-US" altLang="zh-CN" sz="2200" dirty="0"/>
              <a:t>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类</a:t>
            </a:r>
            <a:r>
              <a:rPr lang="zh-CN" altLang="en-US" sz="2200" b="1" dirty="0">
                <a:latin typeface="宋体" panose="02010600030101010101" pitchFamily="2" charset="-122"/>
              </a:rPr>
              <a:t>指令；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程序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B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执行</a:t>
            </a:r>
            <a:r>
              <a:rPr lang="zh-CN" altLang="en-US" sz="2200" b="1" dirty="0">
                <a:latin typeface="宋体" panose="02010600030101010101" pitchFamily="2" charset="-122"/>
              </a:rPr>
              <a:t>时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dirty="0" smtClean="0"/>
              <a:t>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类</a:t>
            </a:r>
            <a:r>
              <a:rPr lang="zh-CN" altLang="en-US" sz="2200" b="1" dirty="0">
                <a:latin typeface="宋体" panose="02010600030101010101" pitchFamily="2" charset="-122"/>
              </a:rPr>
              <a:t>指令的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10%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和</a:t>
            </a:r>
            <a:r>
              <a:rPr lang="en-US" altLang="zh-CN" sz="2200" dirty="0" err="1" smtClean="0"/>
              <a:t>ⅠⅠ</a:t>
            </a:r>
            <a:r>
              <a:rPr lang="zh-CN" altLang="en-US" sz="2200" b="1" dirty="0" smtClean="0"/>
              <a:t>类</a:t>
            </a:r>
            <a:r>
              <a:rPr lang="zh-CN" altLang="en-US" sz="2200" b="1" dirty="0">
                <a:latin typeface="宋体" panose="02010600030101010101" pitchFamily="2" charset="-122"/>
              </a:rPr>
              <a:t>指令的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20%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各执行了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30</a:t>
            </a:r>
            <a:r>
              <a:rPr lang="zh-CN" altLang="en-US" sz="2200" b="1" dirty="0">
                <a:latin typeface="宋体" panose="02010600030101010101" pitchFamily="2" charset="-122"/>
              </a:rPr>
              <a:t>次，其余指令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均只执行了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latin typeface="宋体" panose="02010600030101010101" pitchFamily="2" charset="-122"/>
              </a:rPr>
              <a:t>次。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求程序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B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执行所需的时钟周期数。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2783383" y="4221088"/>
            <a:ext cx="7273057" cy="18611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代码中指令数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—</a:t>
            </a:r>
            <a:r>
              <a:rPr lang="en-US" altLang="zh-CN" sz="2200" dirty="0"/>
              <a:t>Ⅰ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类有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条，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Ⅱ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类有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条；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spc="-50" dirty="0" smtClean="0">
                <a:latin typeface="宋体" panose="02010600030101010101" pitchFamily="2" charset="-122"/>
              </a:rPr>
              <a:t>执行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的指令数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—</a:t>
            </a:r>
            <a:r>
              <a:rPr lang="en-US" altLang="zh-CN" sz="2200" b="1" spc="-50" dirty="0" smtClean="0">
                <a:latin typeface="+mn-lt"/>
              </a:rPr>
              <a:t> </a:t>
            </a:r>
            <a:r>
              <a:rPr lang="en-US" altLang="zh-CN" sz="2200" dirty="0" smtClean="0"/>
              <a:t>Ⅰ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类为</a:t>
            </a:r>
            <a:endParaRPr lang="en-US" altLang="zh-CN" sz="2200" b="1" spc="-50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spc="-50" dirty="0" smtClean="0">
                <a:latin typeface="宋体" panose="02010600030101010101" pitchFamily="2" charset="-122"/>
              </a:rPr>
              <a:t>    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</a:t>
            </a:r>
            <a:r>
              <a:rPr lang="en-US" altLang="zh-CN" sz="2200" dirty="0" err="1" smtClean="0"/>
              <a:t>ⅠⅠ</a:t>
            </a:r>
            <a:r>
              <a:rPr lang="zh-CN" altLang="en-US" sz="2200" b="1" spc="-50" dirty="0">
                <a:latin typeface="宋体" panose="02010600030101010101" pitchFamily="2" charset="-122"/>
              </a:rPr>
              <a:t>类为</a:t>
            </a:r>
            <a:endParaRPr lang="en-US" altLang="zh-CN" sz="2200" b="1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dirty="0" smtClean="0">
                <a:latin typeface="宋体" panose="02010600030101010101" pitchFamily="2" charset="-122"/>
              </a:rPr>
              <a:t>所</a:t>
            </a:r>
            <a:r>
              <a:rPr lang="zh-CN" altLang="en-US" sz="2200" b="1" dirty="0">
                <a:latin typeface="宋体" panose="02010600030101010101" pitchFamily="2" charset="-122"/>
              </a:rPr>
              <a:t>需时钟周期数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—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5159896" y="4221088"/>
            <a:ext cx="5328841" cy="18611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spc="-5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0.3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en-US" altLang="zh-CN" sz="2200" b="1" spc="-50" baseline="3000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20</a:t>
            </a:r>
            <a:r>
              <a:rPr lang="en-US" altLang="zh-CN" sz="2200" b="1" spc="-5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           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0.7*2</a:t>
            </a:r>
            <a:r>
              <a:rPr lang="en-US" altLang="zh-CN" sz="2200" b="1" spc="-50" baseline="30000" dirty="0" smtClean="0">
                <a:latin typeface="宋体" panose="02010600030101010101" pitchFamily="2" charset="-122"/>
              </a:rPr>
              <a:t>20</a:t>
            </a:r>
            <a:endParaRPr lang="en-US" altLang="zh-CN" sz="2200" b="1" spc="-50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spc="-50" dirty="0" smtClean="0">
                <a:latin typeface="宋体" panose="02010600030101010101" pitchFamily="2" charset="-122"/>
              </a:rPr>
              <a:t>   0.3*2</a:t>
            </a:r>
            <a:r>
              <a:rPr lang="en-US" altLang="zh-CN" sz="2200" b="1" spc="-50" baseline="30000" dirty="0" smtClean="0">
                <a:latin typeface="宋体" panose="02010600030101010101" pitchFamily="2" charset="-122"/>
              </a:rPr>
              <a:t>20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(10%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30+90%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1)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1.17*2</a:t>
            </a:r>
            <a:r>
              <a:rPr lang="en-US" altLang="zh-CN" sz="2200" b="1" spc="-50" baseline="30000" dirty="0" smtClean="0">
                <a:latin typeface="宋体" panose="02010600030101010101" pitchFamily="2" charset="-122"/>
              </a:rPr>
              <a:t>20 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条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spc="-50" dirty="0" smtClean="0">
                <a:latin typeface="宋体" panose="02010600030101010101" pitchFamily="2" charset="-122"/>
              </a:rPr>
              <a:t>   0.7*2</a:t>
            </a:r>
            <a:r>
              <a:rPr lang="en-US" altLang="zh-CN" sz="2200" b="1" spc="-50" baseline="30000" dirty="0" smtClean="0">
                <a:latin typeface="宋体" panose="02010600030101010101" pitchFamily="2" charset="-122"/>
              </a:rPr>
              <a:t>20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(20%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30+80%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1)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4.76*2</a:t>
            </a:r>
            <a:r>
              <a:rPr lang="en-US" altLang="zh-CN" sz="2200" b="1" spc="-50" baseline="30000" dirty="0" smtClean="0">
                <a:latin typeface="宋体" panose="02010600030101010101" pitchFamily="2" charset="-122"/>
              </a:rPr>
              <a:t>20 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条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；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spc="-50" dirty="0">
                <a:latin typeface="宋体" panose="02010600030101010101" pitchFamily="2" charset="-122"/>
              </a:rPr>
              <a:t>(1.17*2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5</a:t>
            </a:r>
            <a:r>
              <a:rPr lang="zh-CN" altLang="en-US" sz="2200" b="1" spc="-50" dirty="0">
                <a:latin typeface="宋体" panose="02010600030101010101" pitchFamily="2" charset="-122"/>
              </a:rPr>
              <a:t>＋</a:t>
            </a:r>
            <a:r>
              <a:rPr lang="en-US" altLang="zh-CN" sz="2200" b="1" spc="-50" dirty="0">
                <a:latin typeface="宋体" panose="02010600030101010101" pitchFamily="2" charset="-122"/>
              </a:rPr>
              <a:t>4.76*2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8)</a:t>
            </a:r>
            <a:r>
              <a:rPr lang="zh-CN" altLang="en-US" sz="2200" b="1" spc="-50" dirty="0">
                <a:latin typeface="宋体" panose="02010600030101010101" pitchFamily="2" charset="-122"/>
              </a:rPr>
              <a:t>＝</a:t>
            </a:r>
            <a:r>
              <a:rPr lang="en-US" altLang="zh-CN" sz="2200" b="1" spc="-50" dirty="0">
                <a:latin typeface="宋体" panose="02010600030101010101" pitchFamily="2" charset="-122"/>
              </a:rPr>
              <a:t>43.93</a:t>
            </a:r>
            <a:r>
              <a:rPr lang="zh-CN" altLang="en-US" sz="2200" b="1" spc="-50" dirty="0">
                <a:latin typeface="宋体" panose="02010600030101010101" pitchFamily="2" charset="-122"/>
              </a:rPr>
              <a:t>*</a:t>
            </a:r>
            <a:r>
              <a:rPr lang="en-US" altLang="zh-CN" sz="2200" b="1" spc="-50" dirty="0">
                <a:latin typeface="宋体" panose="02010600030101010101" pitchFamily="2" charset="-122"/>
              </a:rPr>
              <a:t>2</a:t>
            </a:r>
            <a:r>
              <a:rPr lang="en-US" altLang="zh-CN" sz="2200" b="1" spc="-50" baseline="30000" dirty="0">
                <a:latin typeface="宋体" panose="02010600030101010101" pitchFamily="2" charset="-122"/>
              </a:rPr>
              <a:t>20 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个</a:t>
            </a:r>
            <a:endParaRPr lang="en-US" altLang="zh-CN" sz="2200" b="1" spc="-50" dirty="0"/>
          </a:p>
        </p:txBody>
      </p:sp>
      <p:sp>
        <p:nvSpPr>
          <p:cNvPr id="15" name="AutoShape 1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51251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4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4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30075-6A9C-4F36-9F5B-72E0214112E2}" type="slidenum">
              <a:rPr lang="en-US" altLang="zh-CN"/>
            </a:fld>
            <a:endParaRPr lang="en-US" altLang="zh-CN"/>
          </a:p>
        </p:txBody>
      </p:sp>
      <p:sp>
        <p:nvSpPr>
          <p:cNvPr id="294916" name="Text Box 4"/>
          <p:cNvSpPr txBox="1">
            <a:spLocks noChangeArrowheads="1"/>
          </p:cNvSpPr>
          <p:nvPr/>
        </p:nvSpPr>
        <p:spPr bwMode="auto">
          <a:xfrm>
            <a:off x="1703388" y="357166"/>
            <a:ext cx="8785225" cy="22453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3—</a:t>
            </a:r>
            <a:r>
              <a:rPr lang="zh-CN" altLang="en-US" sz="2200" b="1" dirty="0">
                <a:latin typeface="宋体" panose="02010600030101010101" pitchFamily="2" charset="-122"/>
              </a:rPr>
              <a:t>计算机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M1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的主频</a:t>
            </a:r>
            <a:r>
              <a:rPr lang="zh-CN" altLang="en-US" sz="2200" b="1" dirty="0">
                <a:latin typeface="宋体" panose="02010600030101010101" pitchFamily="2" charset="-122"/>
              </a:rPr>
              <a:t>为</a:t>
            </a:r>
            <a:r>
              <a:rPr lang="en-US" altLang="zh-CN" sz="2200" b="1" dirty="0">
                <a:latin typeface="宋体" panose="02010600030101010101" pitchFamily="2" charset="-122"/>
              </a:rPr>
              <a:t>2GHz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，计算机</a:t>
            </a:r>
            <a:r>
              <a:rPr lang="en-US" altLang="zh-CN" sz="2200" b="1" dirty="0">
                <a:latin typeface="宋体" panose="02010600030101010101" pitchFamily="2" charset="-122"/>
              </a:rPr>
              <a:t>M2</a:t>
            </a:r>
            <a:r>
              <a:rPr lang="zh-CN" altLang="en-US" sz="2200" b="1" dirty="0">
                <a:latin typeface="宋体" panose="02010600030101010101" pitchFamily="2" charset="-122"/>
              </a:rPr>
              <a:t>与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>
                <a:latin typeface="宋体" panose="02010600030101010101" pitchFamily="2" charset="-122"/>
              </a:rPr>
              <a:t>具有相同的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ISA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800" dirty="0" smtClean="0">
                <a:latin typeface="+mn-lt"/>
              </a:rPr>
              <a:t>Instruction Set Architecture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M2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的主频</a:t>
            </a:r>
            <a:r>
              <a:rPr lang="zh-CN" altLang="en-US" sz="2200" b="1" dirty="0">
                <a:latin typeface="宋体" panose="02010600030101010101" pitchFamily="2" charset="-122"/>
              </a:rPr>
              <a:t>高于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CPI</a:t>
            </a:r>
            <a:r>
              <a:rPr lang="zh-CN" altLang="en-US" sz="2200" b="1" dirty="0">
                <a:latin typeface="宋体" panose="02010600030101010101" pitchFamily="2" charset="-122"/>
              </a:rPr>
              <a:t>大于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。</a:t>
            </a:r>
            <a:r>
              <a:rPr lang="zh-CN" altLang="en-US" sz="2200" b="1" dirty="0">
                <a:latin typeface="宋体" panose="02010600030101010101" pitchFamily="2" charset="-122"/>
              </a:rPr>
              <a:t>若程序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上的运行时间</a:t>
            </a:r>
            <a:r>
              <a:rPr lang="zh-CN" altLang="en-US" sz="2200" b="1" dirty="0">
                <a:latin typeface="宋体" panose="02010600030101010101" pitchFamily="2" charset="-122"/>
              </a:rPr>
              <a:t>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10s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dirty="0">
                <a:latin typeface="宋体" panose="02010600030101010101" pitchFamily="2" charset="-122"/>
              </a:rPr>
              <a:t>M2</a:t>
            </a:r>
            <a:r>
              <a:rPr lang="zh-CN" altLang="en-US" sz="2200" b="1" dirty="0">
                <a:latin typeface="宋体" panose="02010600030101010101" pitchFamily="2" charset="-122"/>
              </a:rPr>
              <a:t>上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运行所</a:t>
            </a:r>
            <a:r>
              <a:rPr lang="zh-CN" altLang="en-US" sz="2200" b="1" dirty="0">
                <a:latin typeface="宋体" panose="02010600030101010101" pitchFamily="2" charset="-122"/>
              </a:rPr>
              <a:t>需时钟周期数为在</a:t>
            </a:r>
            <a:r>
              <a:rPr lang="en-US" altLang="zh-CN" sz="2200" b="1" dirty="0">
                <a:latin typeface="宋体" panose="02010600030101010101" pitchFamily="2" charset="-122"/>
              </a:rPr>
              <a:t>M1</a:t>
            </a:r>
            <a:r>
              <a:rPr lang="zh-CN" altLang="en-US" sz="2200" b="1" dirty="0">
                <a:latin typeface="宋体" panose="02010600030101010101" pitchFamily="2" charset="-122"/>
              </a:rPr>
              <a:t>上的</a:t>
            </a:r>
            <a:r>
              <a:rPr lang="en-US" altLang="zh-CN" sz="2200" b="1" dirty="0">
                <a:latin typeface="宋体" panose="02010600030101010101" pitchFamily="2" charset="-122"/>
              </a:rPr>
              <a:t>1.5</a:t>
            </a:r>
            <a:r>
              <a:rPr lang="zh-CN" altLang="en-US" sz="2200" b="1" dirty="0">
                <a:latin typeface="宋体" panose="02010600030101010101" pitchFamily="2" charset="-122"/>
              </a:rPr>
              <a:t>倍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，欲使程序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A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在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M2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上运行时间为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6s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，则</a:t>
            </a:r>
            <a:r>
              <a:rPr lang="en-US" altLang="zh-CN" sz="2200" b="1" dirty="0">
                <a:latin typeface="宋体" panose="02010600030101010101" pitchFamily="2" charset="-122"/>
              </a:rPr>
              <a:t>M2</a:t>
            </a:r>
            <a:r>
              <a:rPr lang="zh-CN" altLang="en-US" sz="2200" b="1" dirty="0">
                <a:latin typeface="宋体" panose="02010600030101010101" pitchFamily="2" charset="-122"/>
              </a:rPr>
              <a:t>的主频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至少为多少？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解：</a:t>
            </a:r>
            <a:endParaRPr lang="zh-CN" altLang="en-US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294917" name="Text Box 5"/>
          <p:cNvSpPr txBox="1">
            <a:spLocks noChangeArrowheads="1"/>
          </p:cNvSpPr>
          <p:nvPr/>
        </p:nvSpPr>
        <p:spPr bwMode="auto">
          <a:xfrm>
            <a:off x="2855516" y="2097729"/>
            <a:ext cx="7416948" cy="220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设 </a:t>
            </a:r>
            <a:r>
              <a:rPr lang="zh-CN" altLang="en-US" sz="2200" b="1" dirty="0">
                <a:latin typeface="宋体" panose="02010600030101010101" pitchFamily="2" charset="-122"/>
              </a:rPr>
              <a:t>程序</a:t>
            </a:r>
            <a:r>
              <a:rPr lang="en-US" altLang="zh-CN" sz="2200" b="1" dirty="0">
                <a:latin typeface="宋体" panose="02010600030101010101" pitchFamily="2" charset="-122"/>
              </a:rPr>
              <a:t>A</a:t>
            </a:r>
            <a:r>
              <a:rPr lang="zh-CN" altLang="en-US" sz="2200" b="1" dirty="0">
                <a:latin typeface="宋体" panose="02010600030101010101" pitchFamily="2" charset="-122"/>
              </a:rPr>
              <a:t>在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M1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M2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上运行的时钟</a:t>
            </a:r>
            <a:r>
              <a:rPr lang="zh-CN" altLang="en-US" sz="2200" b="1" dirty="0">
                <a:latin typeface="宋体" panose="02010600030101010101" pitchFamily="2" charset="-122"/>
              </a:rPr>
              <a:t>周期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数各为</a:t>
            </a:r>
            <a:r>
              <a:rPr lang="en-US" altLang="zh-CN" sz="2200" i="1" dirty="0" smtClean="0">
                <a:latin typeface="+mn-lt"/>
              </a:rPr>
              <a:t>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</a:t>
            </a:r>
            <a:r>
              <a:rPr lang="en-US" altLang="zh-CN" sz="2200" i="1" dirty="0" smtClean="0">
                <a:latin typeface="+mn-lt"/>
              </a:rPr>
              <a:t>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则 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CPU-</a:t>
            </a:r>
            <a:r>
              <a:rPr lang="en-US" altLang="zh-CN" sz="2200" b="1" baseline="-14000" dirty="0" smtClean="0">
                <a:latin typeface="宋体" panose="02010600030101010101" pitchFamily="2" charset="-122"/>
              </a:rPr>
              <a:t>M1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i="1" dirty="0" smtClean="0">
                <a:latin typeface="+mn-lt"/>
              </a:rPr>
              <a:t>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1×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10s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i="1" dirty="0">
                <a:latin typeface="+mn-lt"/>
              </a:rPr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anose="02010600030101010101" pitchFamily="2" charset="-122"/>
              </a:rPr>
              <a:t>   </a:t>
            </a:r>
            <a:r>
              <a:rPr lang="en-US" altLang="zh-CN" sz="2200" i="1" dirty="0" smtClean="0"/>
              <a:t>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1.5×</a:t>
            </a:r>
            <a:r>
              <a:rPr lang="en-US" altLang="zh-CN" sz="2200" i="1" dirty="0" smtClean="0"/>
              <a:t>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i="1" dirty="0" smtClean="0"/>
              <a:t> N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CPU-M2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i="1" dirty="0"/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2×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</a:t>
            </a:r>
            <a:r>
              <a:rPr lang="en-US" altLang="zh-CN" sz="2200" b="1" dirty="0">
                <a:sym typeface="Symbol" panose="05050102010706020507"/>
              </a:rPr>
              <a:t> </a:t>
            </a:r>
            <a:r>
              <a:rPr lang="en-US" altLang="zh-CN" sz="2200" b="1" dirty="0" smtClean="0">
                <a:sym typeface="Symbol" panose="05050102010706020507"/>
              </a:rPr>
              <a:t>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6s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C</a:t>
            </a:r>
            <a:r>
              <a:rPr lang="en-US" altLang="zh-CN" sz="2200" b="1" dirty="0" smtClean="0">
                <a:sym typeface="Symbol" panose="05050102010706020507"/>
              </a:rPr>
              <a:t> </a:t>
            </a:r>
            <a:r>
              <a:rPr lang="en-US" altLang="zh-CN" sz="2200" b="1" dirty="0">
                <a:sym typeface="Symbol" panose="05050102010706020507"/>
              </a:rPr>
              <a:t>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则 </a:t>
            </a:r>
            <a:r>
              <a:rPr lang="en-US" altLang="zh-CN" sz="2200" i="1" dirty="0" smtClean="0"/>
              <a:t>f</a:t>
            </a:r>
            <a:r>
              <a:rPr lang="en-US" altLang="zh-CN" sz="2200" b="1" i="1" dirty="0" smtClean="0"/>
              <a:t> </a:t>
            </a:r>
            <a:r>
              <a:rPr lang="en-US" altLang="zh-CN" sz="2200" b="1" dirty="0">
                <a:sym typeface="Symbol" panose="05050102010706020507"/>
              </a:rPr>
              <a:t>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1/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C</a:t>
            </a:r>
            <a:r>
              <a:rPr lang="en-US" altLang="zh-CN" sz="2200" b="1" dirty="0">
                <a:sym typeface="Symbol" panose="05050102010706020507"/>
              </a:rPr>
              <a:t> 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294919" name="Text Box 7"/>
          <p:cNvSpPr txBox="1">
            <a:spLocks noChangeArrowheads="1"/>
          </p:cNvSpPr>
          <p:nvPr/>
        </p:nvSpPr>
        <p:spPr bwMode="auto">
          <a:xfrm>
            <a:off x="4799856" y="2492896"/>
            <a:ext cx="5112568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     </a:t>
            </a:r>
            <a:r>
              <a:rPr lang="en-US" altLang="zh-CN" sz="2200" b="1" dirty="0" smtClean="0">
                <a:latin typeface="+mn-lt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10s</a:t>
            </a:r>
            <a:r>
              <a:rPr lang="en-US" altLang="zh-CN" sz="2200" b="1" dirty="0" smtClean="0"/>
              <a:t>×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2GHz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20G</a:t>
            </a:r>
            <a:r>
              <a:rPr lang="zh-CN" altLang="en-US" sz="2200" b="1" dirty="0">
                <a:latin typeface="宋体" panose="02010600030101010101" pitchFamily="2" charset="-122"/>
              </a:rPr>
              <a:t>个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1.5×20G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30G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个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          </a:t>
            </a:r>
            <a:r>
              <a:rPr lang="en-US" altLang="zh-CN" sz="2200" b="1" dirty="0" smtClean="0">
                <a:latin typeface="+mn-lt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6s/30G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0.2</a:t>
            </a:r>
            <a:r>
              <a:rPr lang="en-US" altLang="zh-CN" sz="2200" b="1" dirty="0"/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ns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1/</a:t>
            </a:r>
            <a:r>
              <a:rPr lang="en-US" altLang="zh-CN" sz="2200" b="1" dirty="0">
                <a:latin typeface="宋体" panose="02010600030101010101" pitchFamily="2" charset="-122"/>
              </a:rPr>
              <a:t>0.2</a:t>
            </a:r>
            <a:r>
              <a:rPr lang="en-US" altLang="zh-CN" sz="2200" b="1" dirty="0"/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ns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5GHz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94922" name="Text Box 10"/>
          <p:cNvSpPr txBox="1">
            <a:spLocks noChangeArrowheads="1"/>
          </p:cNvSpPr>
          <p:nvPr/>
        </p:nvSpPr>
        <p:spPr bwMode="auto">
          <a:xfrm>
            <a:off x="1703388" y="4293096"/>
            <a:ext cx="8785225" cy="9372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分析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</a:rPr>
              <a:t>∵</a:t>
            </a:r>
            <a:r>
              <a:rPr lang="en-US" altLang="zh-CN" sz="2200" i="1" dirty="0">
                <a:latin typeface="+mn-lt"/>
              </a:rPr>
              <a:t>f</a:t>
            </a:r>
            <a:r>
              <a:rPr lang="en-US" altLang="zh-CN" sz="2200" b="1" i="1" dirty="0"/>
              <a:t> </a:t>
            </a:r>
            <a:r>
              <a:rPr lang="en-US" altLang="zh-CN" sz="2200" b="1" dirty="0" smtClean="0">
                <a:sym typeface="Symbol" panose="05050102010706020507"/>
              </a:rPr>
              <a:t>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/</a:t>
            </a:r>
            <a:r>
              <a:rPr lang="en-US" altLang="zh-CN" sz="2200" i="1" dirty="0">
                <a:latin typeface="+mn-lt"/>
              </a:rPr>
              <a:t>f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5/2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2.5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CPU-M1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/</a:t>
            </a:r>
            <a:r>
              <a:rPr lang="en-US" altLang="zh-CN" sz="2200" b="1" i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CPU-M2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>
                <a:latin typeface="宋体" panose="02010600030101010101" pitchFamily="2" charset="-122"/>
              </a:rPr>
              <a:t>10/6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1.67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＜</a:t>
            </a:r>
            <a:r>
              <a:rPr lang="en-US" altLang="zh-CN" sz="2200" i="1" dirty="0"/>
              <a:t> f</a:t>
            </a:r>
            <a:r>
              <a:rPr lang="en-US" altLang="zh-CN" sz="2200" b="1" i="1" dirty="0"/>
              <a:t> </a:t>
            </a:r>
            <a:r>
              <a:rPr lang="en-US" altLang="zh-CN" sz="2200" b="1" dirty="0">
                <a:sym typeface="Symbol" panose="05050102010706020507"/>
              </a:rPr>
              <a:t>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en-US" altLang="zh-CN" sz="2200" i="1" dirty="0"/>
              <a:t>f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  ∴主频只是影响系统性能的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因素之一</a:t>
            </a:r>
            <a:endParaRPr lang="zh-CN" altLang="en-US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4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49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49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949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94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7" grpId="0" bldLvl="0" animBg="1"/>
      <p:bldP spid="294922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6B0B-AB87-4307-BB1D-829EC9002D4F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775520" y="404664"/>
            <a:ext cx="8640960" cy="4669155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 ※</a:t>
            </a:r>
            <a:r>
              <a:rPr lang="zh-CN" altLang="en-US" b="1" dirty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本节课堂练习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sym typeface="微软雅黑" panose="020B0503020204020204" charset="-122"/>
              </a:rPr>
              <a:t>：</a:t>
            </a:r>
            <a:endParaRPr lang="en-US" altLang="zh-CN" b="1" dirty="0">
              <a:latin typeface="+mn-ea"/>
              <a:sym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latin typeface="+mn-ea"/>
                <a:ea typeface="+mn-ea"/>
              </a:rPr>
              <a:t>  某</a:t>
            </a:r>
            <a:r>
              <a:rPr lang="en-US" altLang="zh-CN" sz="2200" b="1" dirty="0" smtClean="0">
                <a:latin typeface="+mn-ea"/>
                <a:ea typeface="+mn-ea"/>
              </a:rPr>
              <a:t>CPU</a:t>
            </a:r>
            <a:r>
              <a:rPr lang="zh-CN" altLang="en-US" sz="2200" b="1" dirty="0" smtClean="0">
                <a:latin typeface="+mn-ea"/>
                <a:ea typeface="+mn-ea"/>
              </a:rPr>
              <a:t>的</a:t>
            </a:r>
            <a:r>
              <a:rPr lang="zh-CN" altLang="en-US" sz="2200" b="1" dirty="0" smtClean="0">
                <a:latin typeface="+mn-ea"/>
              </a:rPr>
              <a:t>主频为</a:t>
            </a:r>
            <a:r>
              <a:rPr lang="en-US" altLang="zh-CN" sz="2200" b="1" dirty="0" smtClean="0">
                <a:latin typeface="+mn-ea"/>
              </a:rPr>
              <a:t>50MHz</a:t>
            </a:r>
            <a:r>
              <a:rPr lang="zh-CN" altLang="en-US" sz="2200" b="1" dirty="0" smtClean="0">
                <a:latin typeface="+mn-ea"/>
              </a:rPr>
              <a:t>，所</a:t>
            </a:r>
            <a:r>
              <a:rPr lang="zh-CN" altLang="en-US" sz="2200" b="1" dirty="0" smtClean="0">
                <a:latin typeface="+mn-ea"/>
                <a:ea typeface="+mn-ea"/>
              </a:rPr>
              <a:t>支持的指令有</a:t>
            </a:r>
            <a:r>
              <a:rPr lang="en-US" altLang="zh-CN" sz="2200" b="1" dirty="0" smtClean="0">
                <a:latin typeface="+mn-ea"/>
                <a:ea typeface="+mn-ea"/>
              </a:rPr>
              <a:t>X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Y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Z</a:t>
            </a:r>
            <a:r>
              <a:rPr lang="zh-CN" altLang="en-US" sz="2200" b="1" dirty="0" smtClean="0">
                <a:latin typeface="+mn-ea"/>
                <a:ea typeface="+mn-ea"/>
              </a:rPr>
              <a:t>三类，</a:t>
            </a:r>
            <a:r>
              <a:rPr lang="zh-CN" altLang="en-US" sz="2200" b="1" dirty="0">
                <a:latin typeface="+mn-ea"/>
                <a:ea typeface="+mn-ea"/>
              </a:rPr>
              <a:t>其</a:t>
            </a:r>
            <a:r>
              <a:rPr lang="en-US" altLang="zh-CN" sz="2200" b="1" dirty="0">
                <a:latin typeface="+mn-ea"/>
                <a:ea typeface="+mn-ea"/>
              </a:rPr>
              <a:t>CPI</a:t>
            </a:r>
            <a:r>
              <a:rPr lang="zh-CN" altLang="en-US" sz="2200" b="1" dirty="0">
                <a:latin typeface="+mn-ea"/>
                <a:ea typeface="+mn-ea"/>
              </a:rPr>
              <a:t>分别</a:t>
            </a:r>
            <a:r>
              <a:rPr lang="zh-CN" altLang="en-US" sz="2200" b="1" dirty="0" smtClean="0">
                <a:latin typeface="+mn-ea"/>
                <a:ea typeface="+mn-ea"/>
              </a:rPr>
              <a:t>为</a:t>
            </a:r>
            <a:r>
              <a:rPr lang="en-US" altLang="zh-CN" sz="2200" b="1" dirty="0" smtClean="0">
                <a:latin typeface="+mn-ea"/>
                <a:ea typeface="+mn-ea"/>
              </a:rPr>
              <a:t>4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6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8</a:t>
            </a:r>
            <a:r>
              <a:rPr lang="zh-CN" altLang="en-US" sz="2200" b="1" dirty="0" smtClean="0">
                <a:latin typeface="+mn-ea"/>
                <a:ea typeface="+mn-ea"/>
              </a:rPr>
              <a:t>。假设</a:t>
            </a:r>
            <a:r>
              <a:rPr lang="zh-CN" altLang="en-US" sz="2200" b="1" dirty="0">
                <a:latin typeface="+mn-ea"/>
                <a:ea typeface="+mn-ea"/>
              </a:rPr>
              <a:t>程序</a:t>
            </a:r>
            <a:r>
              <a:rPr lang="en-US" altLang="zh-CN" sz="2200" b="1" dirty="0">
                <a:latin typeface="+mn-ea"/>
                <a:ea typeface="+mn-ea"/>
              </a:rPr>
              <a:t>P</a:t>
            </a:r>
            <a:r>
              <a:rPr lang="zh-CN" altLang="en-US" sz="2200" b="1" dirty="0">
                <a:latin typeface="+mn-ea"/>
                <a:ea typeface="+mn-ea"/>
              </a:rPr>
              <a:t>的</a:t>
            </a:r>
            <a:r>
              <a:rPr lang="zh-CN" altLang="en-US" sz="2200" b="1" dirty="0" smtClean="0">
                <a:latin typeface="+mn-ea"/>
                <a:ea typeface="+mn-ea"/>
              </a:rPr>
              <a:t>目标代码中，</a:t>
            </a:r>
            <a:r>
              <a:rPr lang="en-US" altLang="zh-CN" sz="2200" b="1" dirty="0">
                <a:latin typeface="+mn-ea"/>
                <a:ea typeface="+mn-ea"/>
              </a:rPr>
              <a:t>X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>
                <a:latin typeface="+mn-ea"/>
                <a:ea typeface="+mn-ea"/>
              </a:rPr>
              <a:t>Y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Z</a:t>
            </a:r>
            <a:r>
              <a:rPr lang="zh-CN" altLang="en-US" sz="2200" b="1" dirty="0" smtClean="0">
                <a:latin typeface="+mn-ea"/>
                <a:ea typeface="+mn-ea"/>
              </a:rPr>
              <a:t>类指令所占比例</a:t>
            </a:r>
            <a:r>
              <a:rPr lang="zh-CN" altLang="en-US" sz="2200" b="1" dirty="0">
                <a:latin typeface="+mn-ea"/>
                <a:ea typeface="+mn-ea"/>
              </a:rPr>
              <a:t>分别</a:t>
            </a:r>
            <a:r>
              <a:rPr lang="zh-CN" altLang="en-US" sz="2200" b="1" dirty="0" smtClean="0">
                <a:latin typeface="+mn-ea"/>
                <a:ea typeface="+mn-ea"/>
              </a:rPr>
              <a:t>为</a:t>
            </a:r>
            <a:r>
              <a:rPr lang="en-US" altLang="zh-CN" sz="2200" b="1" dirty="0" smtClean="0">
                <a:latin typeface="+mn-ea"/>
                <a:ea typeface="+mn-ea"/>
              </a:rPr>
              <a:t>50%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30%</a:t>
            </a:r>
            <a:r>
              <a:rPr lang="zh-CN" altLang="en-US" sz="2200" b="1" dirty="0" smtClean="0">
                <a:latin typeface="+mn-ea"/>
                <a:ea typeface="+mn-ea"/>
              </a:rPr>
              <a:t>、</a:t>
            </a:r>
            <a:r>
              <a:rPr lang="en-US" altLang="zh-CN" sz="2200" b="1" dirty="0" smtClean="0">
                <a:latin typeface="+mn-ea"/>
                <a:ea typeface="+mn-ea"/>
              </a:rPr>
              <a:t>20%</a:t>
            </a:r>
            <a:r>
              <a:rPr lang="zh-CN" altLang="en-US" sz="2200" b="1" dirty="0">
                <a:latin typeface="+mn-ea"/>
                <a:ea typeface="+mn-ea"/>
              </a:rPr>
              <a:t>。</a:t>
            </a:r>
            <a:r>
              <a:rPr lang="en-US" altLang="zh-CN" sz="2200" b="1" dirty="0">
                <a:latin typeface="+mn-ea"/>
                <a:ea typeface="+mn-ea"/>
              </a:rPr>
              <a:t>P</a:t>
            </a:r>
            <a:r>
              <a:rPr lang="zh-CN" altLang="en-US" sz="2200" b="1" dirty="0" smtClean="0">
                <a:latin typeface="+mn-ea"/>
                <a:ea typeface="+mn-ea"/>
              </a:rPr>
              <a:t>经过编译优化</a:t>
            </a:r>
            <a:r>
              <a:rPr lang="zh-CN" altLang="en-US" sz="2200" b="1" dirty="0">
                <a:latin typeface="+mn-ea"/>
                <a:ea typeface="+mn-ea"/>
              </a:rPr>
              <a:t>后，某类指令数量减少</a:t>
            </a:r>
            <a:r>
              <a:rPr lang="zh-CN" altLang="en-US" sz="2200" b="1" dirty="0" smtClean="0">
                <a:latin typeface="+mn-ea"/>
                <a:ea typeface="+mn-ea"/>
              </a:rPr>
              <a:t>了</a:t>
            </a:r>
            <a:r>
              <a:rPr lang="en-US" altLang="zh-CN" sz="2200" b="1" dirty="0" smtClean="0">
                <a:latin typeface="+mn-ea"/>
                <a:ea typeface="+mn-ea"/>
              </a:rPr>
              <a:t>20</a:t>
            </a:r>
            <a:r>
              <a:rPr lang="en-US" altLang="zh-CN" sz="2200" b="1" dirty="0">
                <a:latin typeface="+mn-ea"/>
                <a:ea typeface="+mn-ea"/>
              </a:rPr>
              <a:t>%</a:t>
            </a:r>
            <a:r>
              <a:rPr lang="zh-CN" altLang="en-US" sz="2200" b="1" dirty="0">
                <a:latin typeface="+mn-ea"/>
                <a:ea typeface="+mn-ea"/>
              </a:rPr>
              <a:t>，平均</a:t>
            </a:r>
            <a:r>
              <a:rPr lang="en-US" altLang="zh-CN" sz="2200" b="1" dirty="0">
                <a:latin typeface="+mn-ea"/>
                <a:ea typeface="+mn-ea"/>
              </a:rPr>
              <a:t>CPI</a:t>
            </a:r>
            <a:r>
              <a:rPr lang="zh-CN" altLang="en-US" sz="2200" b="1" dirty="0">
                <a:latin typeface="+mn-ea"/>
                <a:ea typeface="+mn-ea"/>
              </a:rPr>
              <a:t>减少</a:t>
            </a:r>
            <a:r>
              <a:rPr lang="zh-CN" altLang="en-US" sz="2200" b="1" dirty="0" smtClean="0">
                <a:latin typeface="+mn-ea"/>
                <a:ea typeface="+mn-ea"/>
              </a:rPr>
              <a:t>了</a:t>
            </a:r>
            <a:r>
              <a:rPr lang="en-US" altLang="zh-CN" sz="2200" b="1" dirty="0" smtClean="0">
                <a:latin typeface="+mn-ea"/>
                <a:ea typeface="+mn-ea"/>
              </a:rPr>
              <a:t>0.11</a:t>
            </a:r>
            <a:r>
              <a:rPr lang="zh-CN" altLang="en-US" sz="2200" b="1" dirty="0" smtClean="0">
                <a:latin typeface="+mn-ea"/>
                <a:ea typeface="+mn-ea"/>
              </a:rPr>
              <a:t>。回答下列问题：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latin typeface="+mn-ea"/>
                <a:ea typeface="+mn-ea"/>
              </a:rPr>
              <a:t>（</a:t>
            </a:r>
            <a:r>
              <a:rPr lang="en-US" altLang="zh-CN" sz="2200" b="1" dirty="0" smtClean="0">
                <a:latin typeface="+mn-ea"/>
                <a:ea typeface="+mn-ea"/>
              </a:rPr>
              <a:t>1</a:t>
            </a:r>
            <a:r>
              <a:rPr lang="zh-CN" altLang="en-US" sz="2200" b="1" dirty="0" smtClean="0">
                <a:latin typeface="+mn-ea"/>
                <a:ea typeface="+mn-ea"/>
              </a:rPr>
              <a:t>）程序</a:t>
            </a:r>
            <a:r>
              <a:rPr lang="en-US" altLang="zh-CN" sz="2200" b="1" dirty="0" smtClean="0">
                <a:latin typeface="+mn-ea"/>
                <a:ea typeface="+mn-ea"/>
              </a:rPr>
              <a:t>P</a:t>
            </a:r>
            <a:r>
              <a:rPr lang="zh-CN" altLang="en-US" sz="2200" b="1" dirty="0" smtClean="0">
                <a:latin typeface="+mn-ea"/>
                <a:ea typeface="+mn-ea"/>
              </a:rPr>
              <a:t>优化</a:t>
            </a:r>
            <a:r>
              <a:rPr lang="zh-CN" altLang="en-US" sz="2200" b="1" dirty="0">
                <a:latin typeface="+mn-ea"/>
                <a:ea typeface="+mn-ea"/>
              </a:rPr>
              <a:t>前的平均</a:t>
            </a:r>
            <a:r>
              <a:rPr lang="en-US" altLang="zh-CN" sz="2200" b="1" dirty="0" smtClean="0">
                <a:latin typeface="+mn-ea"/>
                <a:ea typeface="+mn-ea"/>
              </a:rPr>
              <a:t>CPI</a:t>
            </a:r>
            <a:r>
              <a:rPr lang="zh-CN" altLang="en-US" sz="2200" b="1" dirty="0" smtClean="0">
                <a:latin typeface="+mn-ea"/>
                <a:ea typeface="+mn-ea"/>
              </a:rPr>
              <a:t>为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latin typeface="+mn-ea"/>
                <a:ea typeface="+mn-ea"/>
              </a:rPr>
              <a:t>        A. 5.4          B. 5.8        C. 6.6  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latin typeface="+mn-ea"/>
                <a:ea typeface="+mn-ea"/>
              </a:rPr>
              <a:t>  （</a:t>
            </a:r>
            <a:r>
              <a:rPr lang="en-US" altLang="zh-CN" sz="2200" b="1" dirty="0" smtClean="0">
                <a:latin typeface="+mn-ea"/>
                <a:ea typeface="+mn-ea"/>
              </a:rPr>
              <a:t>2</a:t>
            </a:r>
            <a:r>
              <a:rPr lang="zh-CN" altLang="en-US" sz="2200" b="1" dirty="0" smtClean="0">
                <a:latin typeface="+mn-ea"/>
                <a:ea typeface="+mn-ea"/>
              </a:rPr>
              <a:t>）程序</a:t>
            </a:r>
            <a:r>
              <a:rPr lang="en-US" altLang="zh-CN" sz="2200" b="1" dirty="0" smtClean="0">
                <a:latin typeface="+mn-ea"/>
                <a:ea typeface="+mn-ea"/>
              </a:rPr>
              <a:t>P</a:t>
            </a:r>
            <a:r>
              <a:rPr lang="zh-CN" altLang="en-US" sz="2200" b="1" dirty="0" smtClean="0">
                <a:latin typeface="+mn-ea"/>
                <a:ea typeface="+mn-ea"/>
              </a:rPr>
              <a:t>优化前的</a:t>
            </a:r>
            <a:r>
              <a:rPr lang="zh-CN" altLang="en-US" sz="2200" b="1" dirty="0">
                <a:latin typeface="+mn-ea"/>
                <a:ea typeface="+mn-ea"/>
              </a:rPr>
              <a:t>吞吐率</a:t>
            </a:r>
            <a:r>
              <a:rPr lang="en-US" altLang="zh-CN" sz="2200" b="1" dirty="0">
                <a:latin typeface="+mn-ea"/>
                <a:ea typeface="+mn-ea"/>
              </a:rPr>
              <a:t>(MPIS</a:t>
            </a:r>
            <a:r>
              <a:rPr lang="zh-CN" altLang="en-US" sz="2200" b="1" dirty="0">
                <a:latin typeface="+mn-ea"/>
                <a:ea typeface="+mn-ea"/>
              </a:rPr>
              <a:t>数</a:t>
            </a:r>
            <a:r>
              <a:rPr lang="en-US" altLang="zh-CN" sz="2200" b="1" dirty="0">
                <a:latin typeface="+mn-ea"/>
                <a:ea typeface="+mn-ea"/>
              </a:rPr>
              <a:t>)</a:t>
            </a:r>
            <a:r>
              <a:rPr lang="zh-CN" altLang="en-US" sz="2200" b="1" dirty="0">
                <a:latin typeface="+mn-ea"/>
                <a:ea typeface="+mn-ea"/>
              </a:rPr>
              <a:t>为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+mn-ea"/>
              </a:rPr>
              <a:t>         A. 0.108</a:t>
            </a:r>
            <a:r>
              <a:rPr lang="en-US" altLang="zh-CN" sz="2200" b="1" baseline="-25000" dirty="0">
                <a:latin typeface="+mn-ea"/>
              </a:rPr>
              <a:t> </a:t>
            </a:r>
            <a:r>
              <a:rPr lang="en-US" altLang="zh-CN" sz="2200" b="1" dirty="0">
                <a:latin typeface="+mn-ea"/>
              </a:rPr>
              <a:t>MIPS   B. 9.26</a:t>
            </a:r>
            <a:r>
              <a:rPr lang="en-US" altLang="zh-CN" sz="2200" b="1" baseline="-25000" dirty="0">
                <a:latin typeface="+mn-ea"/>
              </a:rPr>
              <a:t> </a:t>
            </a:r>
            <a:r>
              <a:rPr lang="en-US" altLang="zh-CN" sz="2200" b="1" dirty="0">
                <a:latin typeface="+mn-ea"/>
              </a:rPr>
              <a:t>MIPS   C. 270</a:t>
            </a:r>
            <a:r>
              <a:rPr lang="en-US" altLang="zh-CN" sz="2200" b="1" baseline="-25000" dirty="0">
                <a:latin typeface="+mn-ea"/>
              </a:rPr>
              <a:t> </a:t>
            </a:r>
            <a:r>
              <a:rPr lang="en-US" altLang="zh-CN" sz="2200" b="1" dirty="0" smtClean="0">
                <a:latin typeface="+mn-ea"/>
              </a:rPr>
              <a:t>MIPS</a:t>
            </a:r>
            <a:endParaRPr lang="en-US" altLang="zh-CN" sz="2200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latin typeface="+mn-ea"/>
                <a:ea typeface="+mn-ea"/>
              </a:rPr>
              <a:t>（</a:t>
            </a:r>
            <a:r>
              <a:rPr lang="en-US" altLang="zh-CN" sz="2200" b="1" dirty="0">
                <a:latin typeface="+mn-ea"/>
                <a:ea typeface="+mn-ea"/>
              </a:rPr>
              <a:t>3</a:t>
            </a:r>
            <a:r>
              <a:rPr lang="zh-CN" altLang="en-US" sz="2200" b="1" dirty="0" smtClean="0">
                <a:latin typeface="+mn-ea"/>
                <a:ea typeface="+mn-ea"/>
              </a:rPr>
              <a:t>）优化程序</a:t>
            </a:r>
            <a:r>
              <a:rPr lang="en-US" altLang="zh-CN" sz="2200" b="1" dirty="0" smtClean="0">
                <a:latin typeface="+mn-ea"/>
                <a:ea typeface="+mn-ea"/>
              </a:rPr>
              <a:t>P</a:t>
            </a:r>
            <a:r>
              <a:rPr lang="zh-CN" altLang="en-US" sz="2200" b="1" dirty="0" smtClean="0">
                <a:latin typeface="+mn-ea"/>
                <a:ea typeface="+mn-ea"/>
              </a:rPr>
              <a:t>时，优化的指令类型为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  <a:ea typeface="+mn-ea"/>
              </a:rPr>
              <a:t>         A. </a:t>
            </a:r>
            <a:r>
              <a:rPr lang="en-US" altLang="zh-CN" sz="2200" b="1" dirty="0">
                <a:latin typeface="+mn-ea"/>
                <a:ea typeface="+mn-ea"/>
              </a:rPr>
              <a:t>X</a:t>
            </a:r>
            <a:r>
              <a:rPr lang="en-US" altLang="zh-CN" sz="2200" b="1" dirty="0" smtClean="0">
                <a:latin typeface="+mn-ea"/>
                <a:ea typeface="+mn-ea"/>
              </a:rPr>
              <a:t>            B. Y          C. Z</a:t>
            </a:r>
            <a:endParaRPr lang="en-US" altLang="zh-CN" sz="2200" b="1" dirty="0" smtClean="0">
              <a:latin typeface="+mn-ea"/>
              <a:ea typeface="+mn-ea"/>
            </a:endParaRPr>
          </a:p>
        </p:txBody>
      </p:sp>
      <p:sp>
        <p:nvSpPr>
          <p:cNvPr id="5" name="AutoShape 10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51251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7925" y="3076645"/>
            <a:ext cx="10969200" cy="705600"/>
          </a:xfrm>
        </p:spPr>
        <p:txBody>
          <a:bodyPr>
            <a:normAutofit/>
          </a:bodyPr>
          <a:p>
            <a:pPr algn="ctr"/>
            <a:r>
              <a:rPr lang="zh-CN" altLang="en-US">
                <a:sym typeface="+mn-ea"/>
              </a:rPr>
              <a:t>第二章 数据的表示与运算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1703388" y="332656"/>
            <a:ext cx="8785100" cy="1660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练习</a:t>
            </a:r>
            <a:r>
              <a:rPr lang="en-US" altLang="zh-CN" dirty="0" smtClean="0">
                <a:solidFill>
                  <a:srgbClr val="990099"/>
                </a:solidFill>
              </a:rPr>
              <a:t>3—</a:t>
            </a:r>
            <a:endParaRPr lang="en-US" altLang="zh-CN" dirty="0">
              <a:solidFill>
                <a:srgbClr val="990099"/>
              </a:solidFill>
            </a:endParaRPr>
          </a:p>
          <a:p>
            <a:r>
              <a:rPr lang="en-US" altLang="zh-CN" sz="2200" dirty="0">
                <a:solidFill>
                  <a:srgbClr val="990099"/>
                </a:solidFill>
              </a:rPr>
              <a:t>     </a:t>
            </a:r>
            <a:r>
              <a:rPr lang="en-US" altLang="zh-CN" sz="2200" dirty="0" smtClean="0">
                <a:solidFill>
                  <a:schemeClr val="tx1"/>
                </a:solidFill>
              </a:rPr>
              <a:t>①</a:t>
            </a:r>
            <a:r>
              <a:rPr lang="zh-CN" altLang="en-US" sz="2200" dirty="0">
                <a:solidFill>
                  <a:schemeClr val="tx1"/>
                </a:solidFill>
              </a:rPr>
              <a:t>若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=+01001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原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分别为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000" dirty="0" smtClean="0">
                <a:solidFill>
                  <a:schemeClr val="tx1"/>
                </a:solidFill>
              </a:rPr>
              <a:t>        A</a:t>
            </a:r>
            <a:r>
              <a:rPr lang="en-US" altLang="zh-CN" sz="2000" dirty="0">
                <a:solidFill>
                  <a:schemeClr val="tx1"/>
                </a:solidFill>
              </a:rPr>
              <a:t>. 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01001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10111  B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01001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01001  C</a:t>
            </a:r>
            <a:r>
              <a:rPr lang="en-US" altLang="zh-CN" sz="2000" dirty="0">
                <a:solidFill>
                  <a:schemeClr val="tx1"/>
                </a:solidFill>
              </a:rPr>
              <a:t>. 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01001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01001 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rgbClr val="990099"/>
                </a:solidFill>
              </a:rPr>
              <a:t>     </a:t>
            </a:r>
            <a:r>
              <a:rPr lang="en-US" altLang="zh-CN" sz="2200" dirty="0" smtClean="0">
                <a:solidFill>
                  <a:schemeClr val="tx1"/>
                </a:solidFill>
              </a:rPr>
              <a:t>②</a:t>
            </a:r>
            <a:r>
              <a:rPr lang="zh-CN" altLang="en-US" sz="2200" dirty="0" smtClean="0">
                <a:solidFill>
                  <a:schemeClr val="tx1"/>
                </a:solidFill>
              </a:rPr>
              <a:t>若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=-</a:t>
            </a:r>
            <a:r>
              <a:rPr lang="en-US" altLang="zh-CN" sz="2200" dirty="0">
                <a:solidFill>
                  <a:schemeClr val="tx1"/>
                </a:solidFill>
              </a:rPr>
              <a:t>01010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原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分别为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      A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01010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01010  </a:t>
            </a:r>
            <a:r>
              <a:rPr lang="en-US" altLang="zh-CN" sz="2000" dirty="0">
                <a:solidFill>
                  <a:schemeClr val="tx1"/>
                </a:solidFill>
              </a:rPr>
              <a:t>B. 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01010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10110  C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01010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10110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4" name="Text Box 53"/>
          <p:cNvSpPr txBox="1">
            <a:spLocks noChangeArrowheads="1"/>
          </p:cNvSpPr>
          <p:nvPr/>
        </p:nvSpPr>
        <p:spPr bwMode="auto">
          <a:xfrm>
            <a:off x="1703388" y="2420888"/>
            <a:ext cx="8785099" cy="1383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990099"/>
                </a:solidFill>
              </a:rPr>
              <a:t>     </a:t>
            </a:r>
            <a:r>
              <a:rPr lang="en-US" altLang="zh-CN" sz="2200" dirty="0" smtClean="0">
                <a:solidFill>
                  <a:schemeClr val="tx1"/>
                </a:solidFill>
              </a:rPr>
              <a:t>③</a:t>
            </a:r>
            <a:r>
              <a:rPr lang="zh-CN" altLang="en-US" sz="2200" dirty="0">
                <a:solidFill>
                  <a:schemeClr val="tx1"/>
                </a:solidFill>
              </a:rPr>
              <a:t>若</a:t>
            </a:r>
            <a:r>
              <a:rPr lang="en-US" altLang="zh-CN" sz="2200" dirty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</a:rPr>
              <a:t>=001010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分别为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000" dirty="0" smtClean="0">
                <a:solidFill>
                  <a:schemeClr val="tx1"/>
                </a:solidFill>
              </a:rPr>
              <a:t>        A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+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01010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10110  B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+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10110</a:t>
            </a:r>
            <a:r>
              <a:rPr lang="zh-CN" altLang="en-US" sz="2000" dirty="0">
                <a:solidFill>
                  <a:schemeClr val="tx1"/>
                </a:solidFill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10110  C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+0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1010</a:t>
            </a:r>
            <a:r>
              <a:rPr lang="zh-CN" altLang="en-US" sz="2000" dirty="0">
                <a:solidFill>
                  <a:schemeClr val="tx1"/>
                </a:solidFill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01010</a:t>
            </a:r>
            <a:endParaRPr lang="en-US" altLang="zh-CN" sz="2000" dirty="0" smtClean="0">
              <a:solidFill>
                <a:srgbClr val="990099"/>
              </a:solidFill>
            </a:endParaRPr>
          </a:p>
          <a:p>
            <a:r>
              <a:rPr lang="en-US" altLang="zh-CN" sz="2200" dirty="0" smtClean="0">
                <a:solidFill>
                  <a:srgbClr val="990099"/>
                </a:solidFill>
              </a:rPr>
              <a:t>     </a:t>
            </a:r>
            <a:r>
              <a:rPr lang="en-US" altLang="zh-CN" sz="2200" dirty="0" smtClean="0">
                <a:solidFill>
                  <a:schemeClr val="tx1"/>
                </a:solidFill>
              </a:rPr>
              <a:t>④</a:t>
            </a:r>
            <a:r>
              <a:rPr lang="zh-CN" altLang="en-US" sz="2200" dirty="0">
                <a:solidFill>
                  <a:schemeClr val="tx1"/>
                </a:solidFill>
              </a:rPr>
              <a:t>若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>
                <a:solidFill>
                  <a:schemeClr val="tx1"/>
                </a:solidFill>
              </a:rPr>
              <a:t>=101110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分别为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000" dirty="0" smtClean="0">
                <a:solidFill>
                  <a:schemeClr val="tx1"/>
                </a:solidFill>
              </a:rPr>
              <a:t>        A</a:t>
            </a:r>
            <a:r>
              <a:rPr lang="en-US" altLang="zh-CN" sz="2000" dirty="0">
                <a:solidFill>
                  <a:schemeClr val="tx1"/>
                </a:solidFill>
              </a:rPr>
              <a:t>. -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01110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10010 </a:t>
            </a:r>
            <a:r>
              <a:rPr lang="en-US" altLang="zh-CN" sz="2000" dirty="0" smtClean="0">
                <a:solidFill>
                  <a:schemeClr val="tx1"/>
                </a:solidFill>
              </a:rPr>
              <a:t> B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-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10010</a:t>
            </a:r>
            <a:r>
              <a:rPr lang="zh-CN" altLang="en-US" sz="2000" dirty="0">
                <a:solidFill>
                  <a:schemeClr val="tx1"/>
                </a:solidFill>
              </a:rPr>
              <a:t>和</a:t>
            </a:r>
            <a:r>
              <a:rPr lang="en-US" altLang="zh-CN" sz="2000" dirty="0">
                <a:solidFill>
                  <a:schemeClr val="tx1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10010 </a:t>
            </a:r>
            <a:r>
              <a:rPr lang="en-US" altLang="zh-CN" sz="2000" dirty="0" smtClean="0">
                <a:solidFill>
                  <a:schemeClr val="tx1"/>
                </a:solidFill>
              </a:rPr>
              <a:t> C</a:t>
            </a:r>
            <a:r>
              <a:rPr lang="en-US" altLang="zh-CN" sz="2000" dirty="0">
                <a:solidFill>
                  <a:schemeClr val="tx1"/>
                </a:solidFill>
              </a:rPr>
              <a:t>. </a:t>
            </a:r>
            <a:r>
              <a:rPr lang="en-US" altLang="zh-CN" sz="2000" dirty="0" smtClean="0">
                <a:solidFill>
                  <a:schemeClr val="tx1"/>
                </a:solidFill>
              </a:rPr>
              <a:t>-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01110</a:t>
            </a:r>
            <a:r>
              <a:rPr lang="zh-CN" altLang="en-US" sz="2000" dirty="0" smtClean="0">
                <a:solidFill>
                  <a:schemeClr val="tx1"/>
                </a:solidFill>
              </a:rPr>
              <a:t>和</a:t>
            </a:r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10010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5" name="Text Box 59"/>
          <p:cNvSpPr txBox="1">
            <a:spLocks noChangeArrowheads="1"/>
          </p:cNvSpPr>
          <p:nvPr/>
        </p:nvSpPr>
        <p:spPr bwMode="auto">
          <a:xfrm>
            <a:off x="1703389" y="4005064"/>
            <a:ext cx="8785098" cy="10039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200" dirty="0">
                <a:solidFill>
                  <a:srgbClr val="990099"/>
                </a:solidFill>
              </a:rPr>
              <a:t>     </a:t>
            </a:r>
            <a:r>
              <a:rPr lang="en-US" altLang="zh-CN" sz="2200" dirty="0" smtClean="0">
                <a:solidFill>
                  <a:schemeClr val="tx1"/>
                </a:solidFill>
              </a:rPr>
              <a:t>⑤</a:t>
            </a:r>
            <a:r>
              <a:rPr lang="zh-CN" altLang="en-US" sz="2200" dirty="0">
                <a:solidFill>
                  <a:schemeClr val="tx1"/>
                </a:solidFill>
              </a:rPr>
              <a:t>若</a:t>
            </a:r>
            <a:r>
              <a:rPr lang="en-US" altLang="zh-CN" sz="2200" dirty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200" dirty="0">
                <a:solidFill>
                  <a:schemeClr val="tx1"/>
                </a:solidFill>
              </a:rPr>
              <a:t>=001110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+01110</a:t>
            </a:r>
            <a:r>
              <a:rPr lang="en-US" altLang="zh-CN" sz="2200" baseline="-18000" dirty="0">
                <a:solidFill>
                  <a:schemeClr val="tx1"/>
                </a:solidFill>
              </a:rPr>
              <a:t> 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[-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zh-CN" altLang="en-US" sz="2200" baseline="-180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110010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35000"/>
              </a:lnSpc>
            </a:pPr>
            <a:r>
              <a:rPr lang="en-US" altLang="zh-CN" sz="2200" dirty="0" smtClean="0">
                <a:solidFill>
                  <a:schemeClr val="tx1"/>
                </a:solidFill>
              </a:rPr>
              <a:t>     ⑥</a:t>
            </a:r>
            <a:r>
              <a:rPr lang="zh-CN" altLang="en-US" sz="2200" dirty="0">
                <a:solidFill>
                  <a:schemeClr val="tx1"/>
                </a:solidFill>
              </a:rPr>
              <a:t>若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200" dirty="0">
                <a:solidFill>
                  <a:schemeClr val="tx1"/>
                </a:solidFill>
              </a:rPr>
              <a:t>=101110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zh-CN" altLang="en-US" sz="2200" baseline="-180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-10010</a:t>
            </a:r>
            <a:r>
              <a:rPr lang="en-US" altLang="zh-CN" sz="2200" baseline="-18000" dirty="0">
                <a:solidFill>
                  <a:schemeClr val="tx1"/>
                </a:solidFill>
              </a:rPr>
              <a:t> 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[-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zh-CN" altLang="en-US" sz="2200" baseline="-180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010010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207568" y="5062825"/>
            <a:ext cx="8208912" cy="1151808"/>
            <a:chOff x="683568" y="4077360"/>
            <a:chExt cx="8208912" cy="1151808"/>
          </a:xfrm>
        </p:grpSpPr>
        <p:sp>
          <p:nvSpPr>
            <p:cNvPr id="7" name="矩形 6"/>
            <p:cNvSpPr/>
            <p:nvPr/>
          </p:nvSpPr>
          <p:spPr bwMode="auto">
            <a:xfrm>
              <a:off x="7524328" y="4581128"/>
              <a:ext cx="1206000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 cap="flat" cmpd="sng" algn="ctr">
              <a:solidFill>
                <a:srgbClr val="CC99FF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 bwMode="auto">
            <a:xfrm>
              <a:off x="5096837" y="4941168"/>
              <a:ext cx="1152128" cy="28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 cap="flat" cmpd="sng" algn="ctr">
              <a:solidFill>
                <a:srgbClr val="CC99FF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Line 101"/>
            <p:cNvSpPr>
              <a:spLocks noChangeShapeType="1"/>
            </p:cNvSpPr>
            <p:nvPr/>
          </p:nvSpPr>
          <p:spPr bwMode="auto">
            <a:xfrm>
              <a:off x="7560064" y="4626692"/>
              <a:ext cx="367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2"/>
            <p:cNvSpPr>
              <a:spLocks noChangeShapeType="1"/>
            </p:cNvSpPr>
            <p:nvPr/>
          </p:nvSpPr>
          <p:spPr bwMode="auto">
            <a:xfrm>
              <a:off x="8186254" y="4626690"/>
              <a:ext cx="17621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01"/>
            <p:cNvSpPr>
              <a:spLocks noChangeShapeType="1"/>
            </p:cNvSpPr>
            <p:nvPr/>
          </p:nvSpPr>
          <p:spPr bwMode="auto">
            <a:xfrm>
              <a:off x="5119105" y="4989197"/>
              <a:ext cx="3875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02"/>
            <p:cNvSpPr>
              <a:spLocks noChangeShapeType="1"/>
            </p:cNvSpPr>
            <p:nvPr/>
          </p:nvSpPr>
          <p:spPr bwMode="auto">
            <a:xfrm>
              <a:off x="5772871" y="4997665"/>
              <a:ext cx="176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Box 100"/>
            <p:cNvSpPr txBox="1">
              <a:spLocks noChangeArrowheads="1"/>
            </p:cNvSpPr>
            <p:nvPr/>
          </p:nvSpPr>
          <p:spPr bwMode="auto">
            <a:xfrm>
              <a:off x="683568" y="4077360"/>
              <a:ext cx="8208912" cy="101473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Dot"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sz="2000" dirty="0" smtClean="0">
                  <a:solidFill>
                    <a:schemeClr val="tx1"/>
                  </a:solidFill>
                </a:rPr>
                <a:t>原码、补码编码规则： 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(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设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=±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)</a:t>
              </a:r>
              <a:endParaRPr lang="zh-CN" altLang="en-US" sz="2000" dirty="0">
                <a:solidFill>
                  <a:schemeClr val="tx1"/>
                </a:solidFill>
              </a:endParaRPr>
            </a:p>
            <a:p>
              <a:r>
                <a:rPr lang="zh-CN" altLang="en-US" sz="20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≥0</a:t>
              </a:r>
              <a:r>
                <a:rPr lang="zh-CN" altLang="en-US" sz="2000" dirty="0">
                  <a:solidFill>
                    <a:schemeClr val="tx1"/>
                  </a:solidFill>
                </a:rPr>
                <a:t>时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，</a:t>
              </a:r>
              <a:r>
                <a:rPr lang="en-US" altLang="zh-CN" sz="2000" dirty="0">
                  <a:solidFill>
                    <a:schemeClr val="tx1"/>
                  </a:solidFill>
                </a:rPr>
                <a:t>[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]</a:t>
              </a:r>
              <a:r>
                <a:rPr lang="zh-CN" altLang="en-US" sz="2000" baseline="-18000" dirty="0" smtClean="0">
                  <a:solidFill>
                    <a:schemeClr val="tx1"/>
                  </a:solidFill>
                </a:rPr>
                <a:t>原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=</a:t>
              </a:r>
              <a:r>
                <a:rPr lang="en-US" altLang="zh-CN" sz="20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 0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0 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；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[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]</a:t>
              </a:r>
              <a:r>
                <a:rPr lang="zh-CN" altLang="en-US" sz="2000" baseline="-18000" dirty="0">
                  <a:solidFill>
                    <a:schemeClr val="tx1"/>
                  </a:solidFill>
                </a:rPr>
                <a:t>补</a:t>
              </a:r>
              <a:r>
                <a:rPr lang="en-US" altLang="zh-CN" sz="2000" dirty="0">
                  <a:solidFill>
                    <a:schemeClr val="tx1"/>
                  </a:solidFill>
                </a:rPr>
                <a:t>=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+mn-lt"/>
                  <a:ea typeface="+mn-ea"/>
                </a:rPr>
                <a:t>0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>
                  <a:solidFill>
                    <a:schemeClr val="tx1"/>
                  </a:solidFill>
                </a:rPr>
                <a:t>…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0 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，</a:t>
              </a:r>
              <a:r>
                <a:rPr lang="zh-CN" altLang="en-US" sz="2000" spc="300" dirty="0" smtClean="0">
                  <a:solidFill>
                    <a:schemeClr val="tx1"/>
                  </a:solidFill>
                </a:rPr>
                <a:t> 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[-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]</a:t>
              </a:r>
              <a:r>
                <a:rPr lang="zh-CN" altLang="en-US" sz="2000" baseline="-18000" dirty="0">
                  <a:solidFill>
                    <a:schemeClr val="tx1"/>
                  </a:solidFill>
                </a:rPr>
                <a:t>补</a:t>
              </a:r>
              <a:r>
                <a:rPr lang="en-US" altLang="zh-CN" sz="2000" dirty="0">
                  <a:solidFill>
                    <a:schemeClr val="tx1"/>
                  </a:solidFill>
                </a:rPr>
                <a:t>=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  <a:latin typeface="+mn-lt"/>
                </a:rPr>
                <a:t>1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>
                  <a:solidFill>
                    <a:schemeClr val="tx1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+1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000" dirty="0" smtClean="0">
                <a:solidFill>
                  <a:schemeClr val="tx1"/>
                </a:solidFill>
              </a:endParaRPr>
            </a:p>
            <a:p>
              <a:r>
                <a:rPr lang="zh-CN" altLang="en-US" sz="20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zh-CN" altLang="en-US" sz="20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＜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0</a:t>
              </a:r>
              <a:r>
                <a:rPr lang="zh-CN" altLang="en-US" sz="2000" dirty="0">
                  <a:solidFill>
                    <a:schemeClr val="tx1"/>
                  </a:solidFill>
                </a:rPr>
                <a:t>时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，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[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]</a:t>
              </a:r>
              <a:r>
                <a:rPr lang="zh-CN" altLang="en-US" sz="2000" baseline="-18000" dirty="0">
                  <a:solidFill>
                    <a:schemeClr val="tx1"/>
                  </a:solidFill>
                </a:rPr>
                <a:t>原</a:t>
              </a:r>
              <a:r>
                <a:rPr lang="en-US" altLang="zh-CN" sz="2000" dirty="0">
                  <a:solidFill>
                    <a:schemeClr val="tx1"/>
                  </a:solidFill>
                </a:rPr>
                <a:t>=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0 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；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[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]</a:t>
              </a:r>
              <a:r>
                <a:rPr lang="zh-CN" altLang="en-US" sz="2000" baseline="-18000" dirty="0">
                  <a:solidFill>
                    <a:schemeClr val="tx1"/>
                  </a:solidFill>
                </a:rPr>
                <a:t>补</a:t>
              </a:r>
              <a:r>
                <a:rPr lang="en-US" altLang="zh-CN" sz="2000" dirty="0">
                  <a:solidFill>
                    <a:schemeClr val="tx1"/>
                  </a:solidFill>
                </a:rPr>
                <a:t>=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 smtClean="0">
                  <a:solidFill>
                    <a:schemeClr val="tx1"/>
                  </a:solidFill>
                  <a:latin typeface="+mn-lt"/>
                  <a:ea typeface="+mn-ea"/>
                </a:rPr>
                <a:t>1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…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+1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，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[-</a:t>
              </a:r>
              <a:r>
                <a: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dirty="0">
                  <a:solidFill>
                    <a:schemeClr val="tx1"/>
                  </a:solidFill>
                </a:rPr>
                <a:t>]</a:t>
              </a:r>
              <a:r>
                <a:rPr lang="zh-CN" altLang="en-US" sz="2000" baseline="-18000" dirty="0">
                  <a:solidFill>
                    <a:schemeClr val="tx1"/>
                  </a:solidFill>
                </a:rPr>
                <a:t>补</a:t>
              </a:r>
              <a:r>
                <a:rPr lang="en-US" altLang="zh-CN" sz="2000" dirty="0">
                  <a:solidFill>
                    <a:schemeClr val="tx1"/>
                  </a:solidFill>
                </a:rPr>
                <a:t>=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 smtClean="0">
                  <a:solidFill>
                    <a:schemeClr val="tx1"/>
                  </a:solidFill>
                  <a:latin typeface="+mn-lt"/>
                  <a:ea typeface="+mn-ea"/>
                </a:rPr>
                <a:t>0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n-2</a:t>
              </a:r>
              <a:r>
                <a:rPr lang="en-US" altLang="zh-CN" sz="2000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…</a:t>
              </a:r>
              <a:r>
                <a:rPr lang="en-US" altLang="zh-CN" sz="2000" i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en-US" altLang="zh-CN" sz="2000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000" baseline="-18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454732" y="4149080"/>
            <a:ext cx="3449468" cy="746018"/>
            <a:chOff x="3930732" y="4149080"/>
            <a:chExt cx="3449468" cy="746018"/>
          </a:xfrm>
        </p:grpSpPr>
        <p:sp>
          <p:nvSpPr>
            <p:cNvPr id="15" name="矩形 14"/>
            <p:cNvSpPr/>
            <p:nvPr/>
          </p:nvSpPr>
          <p:spPr bwMode="auto">
            <a:xfrm>
              <a:off x="3974164" y="4151521"/>
              <a:ext cx="1008000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3930732" y="4581128"/>
              <a:ext cx="1008000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6372200" y="4149080"/>
              <a:ext cx="1008000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6339654" y="4578687"/>
              <a:ext cx="1008000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CF2B8-C638-4DDE-B232-B89798203936}" type="slidenum">
              <a:rPr lang="en-US" altLang="zh-CN"/>
            </a:fld>
            <a:endParaRPr lang="en-US" altLang="zh-CN"/>
          </a:p>
        </p:txBody>
      </p:sp>
      <p:sp>
        <p:nvSpPr>
          <p:cNvPr id="28" name="Text Box 31"/>
          <p:cNvSpPr txBox="1">
            <a:spLocks noChangeArrowheads="1"/>
          </p:cNvSpPr>
          <p:nvPr/>
        </p:nvSpPr>
        <p:spPr bwMode="auto">
          <a:xfrm>
            <a:off x="1703388" y="332656"/>
            <a:ext cx="8785225" cy="20866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pPr marL="1973580" indent="-1973580"/>
            <a:r>
              <a:rPr lang="en-US" altLang="zh-CN" b="0" dirty="0" smtClean="0">
                <a:solidFill>
                  <a:srgbClr val="FF3399"/>
                </a:solidFill>
              </a:rPr>
              <a:t> ※</a:t>
            </a:r>
            <a:r>
              <a:rPr lang="zh-CN" altLang="en-US" dirty="0">
                <a:solidFill>
                  <a:srgbClr val="FF3399"/>
                </a:solidFill>
              </a:rPr>
              <a:t>机器</a:t>
            </a:r>
            <a:r>
              <a:rPr lang="zh-CN" altLang="en-US" dirty="0" smtClean="0">
                <a:solidFill>
                  <a:srgbClr val="FF3399"/>
                </a:solidFill>
              </a:rPr>
              <a:t>数编码小结：</a:t>
            </a:r>
            <a:endParaRPr lang="zh-CN" altLang="en-US" dirty="0">
              <a:solidFill>
                <a:srgbClr val="FF3399"/>
              </a:solidFill>
            </a:endParaRPr>
          </a:p>
          <a:p>
            <a:pPr marL="1973580" indent="-1973580">
              <a:spcBef>
                <a:spcPts val="200"/>
              </a:spcBef>
            </a:pPr>
            <a:r>
              <a:rPr lang="zh-CN" altLang="en-US" sz="2200" dirty="0">
                <a:solidFill>
                  <a:schemeClr val="accent2"/>
                </a:solidFill>
              </a:rPr>
              <a:t>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  </a:t>
            </a:r>
            <a:r>
              <a:rPr lang="zh-CN" altLang="en-US" sz="2200" dirty="0" smtClean="0">
                <a:solidFill>
                  <a:schemeClr val="tx1"/>
                </a:solidFill>
              </a:rPr>
              <a:t>①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原码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/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补码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/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移码的</a:t>
            </a:r>
            <a:r>
              <a:rPr lang="zh-CN" altLang="en-US" sz="2200" u="sng" spc="-40" dirty="0" smtClean="0">
                <a:solidFill>
                  <a:schemeClr val="tx1"/>
                </a:solidFill>
              </a:rPr>
              <a:t>最高位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均为</a:t>
            </a:r>
            <a:r>
              <a:rPr lang="zh-CN" altLang="en-US" sz="2200" spc="-40" dirty="0" smtClean="0">
                <a:solidFill>
                  <a:srgbClr val="990099"/>
                </a:solidFill>
              </a:rPr>
              <a:t>符号位、</a:t>
            </a:r>
            <a:r>
              <a:rPr lang="zh-CN" altLang="en-US" sz="2200" u="sng" spc="-40" dirty="0" smtClean="0">
                <a:solidFill>
                  <a:schemeClr val="tx1"/>
                </a:solidFill>
              </a:rPr>
              <a:t>其余位</a:t>
            </a:r>
            <a:r>
              <a:rPr lang="zh-CN" altLang="en-US" sz="2200" spc="-40" dirty="0">
                <a:solidFill>
                  <a:schemeClr val="tx1"/>
                </a:solidFill>
              </a:rPr>
              <a:t>均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为</a:t>
            </a:r>
            <a:r>
              <a:rPr lang="zh-CN" altLang="en-US" sz="2200" spc="-40" dirty="0" smtClean="0">
                <a:solidFill>
                  <a:srgbClr val="990099"/>
                </a:solidFill>
              </a:rPr>
              <a:t>数值位</a:t>
            </a:r>
            <a:endParaRPr lang="en-US" altLang="zh-CN" sz="2200" spc="-40" dirty="0" smtClean="0">
              <a:solidFill>
                <a:srgbClr val="990099"/>
              </a:solidFill>
            </a:endParaRPr>
          </a:p>
          <a:p>
            <a:pPr marL="1973580" indent="-1973580"/>
            <a:r>
              <a:rPr lang="en-US" altLang="zh-CN" sz="2200" dirty="0" smtClean="0">
                <a:solidFill>
                  <a:schemeClr val="tx1"/>
                </a:solidFill>
              </a:rPr>
              <a:t>    </a:t>
            </a:r>
            <a:r>
              <a:rPr lang="en-US" altLang="zh-CN" sz="2200" dirty="0" smtClean="0">
                <a:solidFill>
                  <a:schemeClr val="tx1"/>
                </a:solidFill>
              </a:rPr>
              <a:t>②</a:t>
            </a:r>
            <a:r>
              <a:rPr lang="zh-CN" altLang="en-US" sz="2200" dirty="0" smtClean="0">
                <a:solidFill>
                  <a:schemeClr val="tx1"/>
                </a:solidFill>
              </a:rPr>
              <a:t>符号位中，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原</a:t>
            </a:r>
            <a:r>
              <a:rPr lang="zh-CN" altLang="en-US" sz="2200" spc="-40" dirty="0">
                <a:solidFill>
                  <a:schemeClr val="tx1"/>
                </a:solidFill>
              </a:rPr>
              <a:t>码</a:t>
            </a:r>
            <a:r>
              <a:rPr lang="en-US" altLang="zh-CN" sz="2200" spc="-40" dirty="0">
                <a:solidFill>
                  <a:schemeClr val="tx1"/>
                </a:solidFill>
              </a:rPr>
              <a:t>/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补码用</a:t>
            </a:r>
            <a:r>
              <a:rPr lang="en-US" altLang="zh-CN" sz="2200" u="sng" spc="-40" dirty="0" smtClean="0">
                <a:solidFill>
                  <a:srgbClr val="990099"/>
                </a:solidFill>
              </a:rPr>
              <a:t>0/1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表示正</a:t>
            </a:r>
            <a:r>
              <a:rPr lang="en-US" altLang="zh-CN" sz="2200" spc="-40" dirty="0" smtClean="0">
                <a:solidFill>
                  <a:schemeClr val="tx1"/>
                </a:solidFill>
              </a:rPr>
              <a:t>/</a:t>
            </a:r>
            <a:r>
              <a:rPr lang="zh-CN" altLang="en-US" sz="2200" spc="-40" dirty="0" smtClean="0">
                <a:solidFill>
                  <a:schemeClr val="tx1"/>
                </a:solidFill>
              </a:rPr>
              <a:t>负，移码</a:t>
            </a:r>
            <a:r>
              <a:rPr lang="zh-CN" altLang="en-US" sz="2200" u="sng" spc="-40" dirty="0" smtClean="0">
                <a:solidFill>
                  <a:srgbClr val="990099"/>
                </a:solidFill>
              </a:rPr>
              <a:t>反之</a:t>
            </a:r>
            <a:endParaRPr lang="en-US" altLang="zh-CN" sz="2200" u="sng" dirty="0">
              <a:solidFill>
                <a:srgbClr val="990099"/>
              </a:solidFill>
            </a:endParaRPr>
          </a:p>
          <a:p>
            <a:pPr marL="1973580" indent="-1973580"/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</a:t>
            </a:r>
            <a:r>
              <a:rPr lang="zh-CN" altLang="en-US" sz="2200" dirty="0" smtClean="0">
                <a:solidFill>
                  <a:schemeClr val="tx1"/>
                </a:solidFill>
              </a:rPr>
              <a:t>③数值位中，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X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≥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时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，原码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补码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/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移码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|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|</a:t>
            </a:r>
            <a:r>
              <a:rPr lang="zh-CN" altLang="en-US" sz="2200" dirty="0" smtClean="0">
                <a:solidFill>
                  <a:schemeClr val="tx1"/>
                </a:solidFill>
              </a:rPr>
              <a:t>；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</a:t>
            </a:r>
            <a:r>
              <a:rPr lang="en-US" altLang="zh-CN" sz="2200" dirty="0" smtClean="0">
                <a:solidFill>
                  <a:schemeClr val="tx1"/>
                </a:solidFill>
              </a:rPr>
              <a:t>             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X</a:t>
            </a:r>
            <a:r>
              <a:rPr lang="zh-CN" altLang="en-US" sz="2200" dirty="0">
                <a:solidFill>
                  <a:schemeClr val="tx1"/>
                </a:solidFill>
              </a:rPr>
              <a:t>＜</a:t>
            </a:r>
            <a:r>
              <a:rPr lang="en-US" altLang="zh-CN" sz="2200" dirty="0">
                <a:solidFill>
                  <a:schemeClr val="tx1"/>
                </a:solidFill>
                <a:latin typeface="+mn-ea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ea"/>
              </a:rPr>
              <a:t>时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，原码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|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|</a:t>
            </a:r>
            <a:r>
              <a:rPr lang="zh-CN" altLang="en-US" sz="2200" dirty="0" smtClean="0">
                <a:solidFill>
                  <a:schemeClr val="tx1"/>
                </a:solidFill>
              </a:rPr>
              <a:t>，补码</a:t>
            </a:r>
            <a:r>
              <a:rPr lang="en-US" altLang="zh-CN" sz="2200" dirty="0" smtClean="0">
                <a:solidFill>
                  <a:schemeClr val="tx1"/>
                </a:solidFill>
              </a:rPr>
              <a:t>/</a:t>
            </a:r>
            <a:r>
              <a:rPr lang="zh-CN" altLang="en-US" sz="2200" dirty="0" smtClean="0">
                <a:solidFill>
                  <a:schemeClr val="tx1"/>
                </a:solidFill>
              </a:rPr>
              <a:t>移码＝</a:t>
            </a:r>
            <a:r>
              <a:rPr lang="en-US" altLang="zh-CN" sz="2200" dirty="0" smtClean="0">
                <a:solidFill>
                  <a:schemeClr val="tx1"/>
                </a:solidFill>
              </a:rPr>
              <a:t>|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|</a:t>
            </a:r>
            <a:r>
              <a:rPr lang="zh-CN" altLang="en-US" sz="22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1</a:t>
            </a:r>
            <a:endParaRPr lang="en-US" altLang="zh-CN" sz="2200" baseline="-16000" dirty="0" smtClean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sz="2200" dirty="0" smtClean="0">
                <a:solidFill>
                  <a:schemeClr val="tx1"/>
                </a:solidFill>
              </a:rPr>
              <a:t>    ④</a:t>
            </a:r>
            <a:r>
              <a:rPr lang="zh-CN" altLang="en-US" sz="2200" dirty="0" smtClean="0">
                <a:solidFill>
                  <a:schemeClr val="tx1"/>
                </a:solidFill>
              </a:rPr>
              <a:t>补码、移码比</a:t>
            </a:r>
            <a:r>
              <a:rPr lang="zh-CN" altLang="en-US" sz="2200" dirty="0">
                <a:solidFill>
                  <a:schemeClr val="tx1"/>
                </a:solidFill>
              </a:rPr>
              <a:t>原</a:t>
            </a:r>
            <a:r>
              <a:rPr lang="zh-CN" altLang="en-US" sz="2200" dirty="0" smtClean="0">
                <a:solidFill>
                  <a:schemeClr val="tx1"/>
                </a:solidFill>
              </a:rPr>
              <a:t>码</a:t>
            </a:r>
            <a:r>
              <a:rPr lang="zh-CN" altLang="en-US" sz="2200" u="sng" dirty="0" smtClean="0">
                <a:solidFill>
                  <a:srgbClr val="990099"/>
                </a:solidFill>
              </a:rPr>
              <a:t>多</a:t>
            </a:r>
            <a:r>
              <a:rPr lang="zh-CN" altLang="en-US" sz="2200" u="sng" dirty="0">
                <a:solidFill>
                  <a:srgbClr val="990099"/>
                </a:solidFill>
              </a:rPr>
              <a:t>表示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个负数</a:t>
            </a:r>
            <a:endParaRPr lang="en-US" altLang="zh-CN" sz="2200" dirty="0" smtClean="0">
              <a:solidFill>
                <a:srgbClr val="990099"/>
              </a:solidFill>
            </a:endParaRPr>
          </a:p>
        </p:txBody>
      </p:sp>
      <p:sp>
        <p:nvSpPr>
          <p:cNvPr id="29" name="Line 32"/>
          <p:cNvSpPr>
            <a:spLocks noChangeShapeType="1"/>
          </p:cNvSpPr>
          <p:nvPr/>
        </p:nvSpPr>
        <p:spPr bwMode="auto">
          <a:xfrm flipV="1">
            <a:off x="8439606" y="2155716"/>
            <a:ext cx="360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2567608" y="3068960"/>
            <a:ext cx="7559675" cy="1944216"/>
            <a:chOff x="1043608" y="3429000"/>
            <a:chExt cx="7559675" cy="1944216"/>
          </a:xfrm>
        </p:grpSpPr>
        <p:sp>
          <p:nvSpPr>
            <p:cNvPr id="33" name="Text Box 33"/>
            <p:cNvSpPr txBox="1">
              <a:spLocks noChangeArrowheads="1"/>
            </p:cNvSpPr>
            <p:nvPr/>
          </p:nvSpPr>
          <p:spPr bwMode="auto">
            <a:xfrm>
              <a:off x="1043608" y="3429000"/>
              <a:ext cx="7559675" cy="194421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100000"/>
                </a:lnSpc>
              </a:pPr>
              <a:r>
                <a:rPr lang="zh-CN" altLang="en-US" sz="2000" dirty="0">
                  <a:solidFill>
                    <a:schemeClr val="tx1"/>
                  </a:solidFill>
                </a:rPr>
                <a:t>原码    </a:t>
              </a:r>
              <a:r>
                <a:rPr lang="zh-CN" altLang="en-US" sz="2000" dirty="0">
                  <a:solidFill>
                    <a:srgbClr val="990099"/>
                  </a:solidFill>
                </a:rPr>
                <a:t>无</a:t>
              </a:r>
              <a:r>
                <a:rPr lang="zh-CN" altLang="en-US" sz="2000" dirty="0">
                  <a:solidFill>
                    <a:srgbClr val="FF3399"/>
                  </a:solidFill>
                </a:rPr>
                <a:t>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1…11 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0…01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0…00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                             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1…11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r>
                <a:rPr lang="zh-CN" altLang="en-US" sz="2000" dirty="0" smtClean="0">
                  <a:solidFill>
                    <a:schemeClr val="tx1"/>
                  </a:solidFill>
                </a:rPr>
                <a:t>补码</a:t>
              </a:r>
              <a:r>
                <a:rPr lang="zh-CN" altLang="en-US" sz="2000" dirty="0" smtClean="0"/>
                <a:t> </a:t>
              </a:r>
              <a:r>
                <a:rPr lang="zh-CN" altLang="en-US" sz="2000" dirty="0" smtClean="0">
                  <a:solidFill>
                    <a:srgbClr val="FF3399"/>
                  </a:solidFill>
                </a:rPr>
                <a:t>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1…11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2000" dirty="0" smtClean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1…11</a:t>
              </a:r>
              <a:endParaRPr lang="en-US" altLang="zh-CN" sz="2000" dirty="0" smtClean="0">
                <a:solidFill>
                  <a:schemeClr val="tx1"/>
                </a:solidFill>
              </a:endParaRPr>
            </a:p>
            <a:p>
              <a:r>
                <a:rPr lang="zh-CN" altLang="en-US" sz="2000" dirty="0" smtClean="0">
                  <a:solidFill>
                    <a:schemeClr val="tx1"/>
                  </a:solidFill>
                </a:rPr>
                <a:t>移码  </a:t>
              </a:r>
              <a:r>
                <a:rPr lang="en-US" altLang="zh-CN" sz="2000" dirty="0" smtClean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0…00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</a:rPr>
                <a:t>1…11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0…00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0…01     </a:t>
              </a:r>
              <a:r>
                <a:rPr lang="en-US" altLang="zh-CN" sz="2000" dirty="0">
                  <a:solidFill>
                    <a:srgbClr val="FF3399"/>
                  </a:solidFill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</a:rPr>
                <a:t>1…11</a:t>
              </a:r>
              <a:endParaRPr lang="en-US" altLang="zh-CN" sz="2000" dirty="0">
                <a:solidFill>
                  <a:schemeClr val="tx1"/>
                </a:solidFill>
              </a:endParaRPr>
            </a:p>
            <a:p>
              <a:pPr>
                <a:lnSpc>
                  <a:spcPct val="190000"/>
                </a:lnSpc>
              </a:pPr>
              <a:r>
                <a:rPr lang="zh-CN" altLang="en-US" sz="2000" dirty="0">
                  <a:solidFill>
                    <a:schemeClr val="tx1"/>
                  </a:solidFill>
                </a:rPr>
                <a:t>真值   </a:t>
              </a:r>
              <a:r>
                <a:rPr lang="en-US" altLang="zh-CN" sz="2000" dirty="0">
                  <a:solidFill>
                    <a:schemeClr val="tx1"/>
                  </a:solidFill>
                </a:rPr>
                <a:t>-2</a:t>
              </a:r>
              <a:r>
                <a:rPr lang="en-US" altLang="zh-CN" sz="20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2000" dirty="0">
                  <a:solidFill>
                    <a:schemeClr val="tx1"/>
                  </a:solidFill>
                </a:rPr>
                <a:t>  -(2</a:t>
              </a:r>
              <a:r>
                <a:rPr lang="en-US" altLang="zh-CN" sz="20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2000" dirty="0">
                  <a:solidFill>
                    <a:schemeClr val="tx1"/>
                  </a:solidFill>
                </a:rPr>
                <a:t>-1)    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-1     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0      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+1      +(2</a:t>
              </a:r>
              <a:r>
                <a:rPr lang="en-US" altLang="zh-CN" sz="2000" baseline="30000" dirty="0">
                  <a:solidFill>
                    <a:schemeClr val="tx1"/>
                  </a:solidFill>
                </a:rPr>
                <a:t>n-1</a:t>
              </a:r>
              <a:r>
                <a:rPr lang="en-US" altLang="zh-CN" sz="2000" dirty="0">
                  <a:solidFill>
                    <a:schemeClr val="tx1"/>
                  </a:solidFill>
                </a:rPr>
                <a:t>-1)</a:t>
              </a:r>
              <a:endParaRPr lang="en-US" altLang="zh-CN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34" name="Group 34"/>
            <p:cNvGrpSpPr/>
            <p:nvPr/>
          </p:nvGrpSpPr>
          <p:grpSpPr bwMode="auto">
            <a:xfrm>
              <a:off x="2051671" y="4797152"/>
              <a:ext cx="6408738" cy="144463"/>
              <a:chOff x="1519" y="2704"/>
              <a:chExt cx="4037" cy="91"/>
            </a:xfrm>
          </p:grpSpPr>
          <p:sp>
            <p:nvSpPr>
              <p:cNvPr id="35" name="Line 35"/>
              <p:cNvSpPr>
                <a:spLocks noChangeShapeType="1"/>
              </p:cNvSpPr>
              <p:nvPr/>
            </p:nvSpPr>
            <p:spPr bwMode="auto">
              <a:xfrm>
                <a:off x="1519" y="2795"/>
                <a:ext cx="403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tailEnd type="triangle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36"/>
              <p:cNvSpPr>
                <a:spLocks noChangeShapeType="1"/>
              </p:cNvSpPr>
              <p:nvPr/>
            </p:nvSpPr>
            <p:spPr bwMode="auto">
              <a:xfrm flipV="1">
                <a:off x="2244" y="2705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Line 37"/>
              <p:cNvSpPr>
                <a:spLocks noChangeShapeType="1"/>
              </p:cNvSpPr>
              <p:nvPr/>
            </p:nvSpPr>
            <p:spPr bwMode="auto">
              <a:xfrm flipV="1">
                <a:off x="5374" y="2705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Line 38"/>
              <p:cNvSpPr>
                <a:spLocks noChangeShapeType="1"/>
              </p:cNvSpPr>
              <p:nvPr/>
            </p:nvSpPr>
            <p:spPr bwMode="auto">
              <a:xfrm flipV="1">
                <a:off x="3787" y="2705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Line 39"/>
              <p:cNvSpPr>
                <a:spLocks noChangeShapeType="1"/>
              </p:cNvSpPr>
              <p:nvPr/>
            </p:nvSpPr>
            <p:spPr bwMode="auto">
              <a:xfrm flipV="1">
                <a:off x="3152" y="2705"/>
                <a:ext cx="0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40"/>
              <p:cNvSpPr>
                <a:spLocks noChangeShapeType="1"/>
              </p:cNvSpPr>
              <p:nvPr/>
            </p:nvSpPr>
            <p:spPr bwMode="auto">
              <a:xfrm flipV="1">
                <a:off x="4467" y="2705"/>
                <a:ext cx="0" cy="9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41"/>
              <p:cNvSpPr>
                <a:spLocks noChangeShapeType="1"/>
              </p:cNvSpPr>
              <p:nvPr/>
            </p:nvSpPr>
            <p:spPr bwMode="auto">
              <a:xfrm flipV="1">
                <a:off x="1609" y="2704"/>
                <a:ext cx="0" cy="90"/>
              </a:xfrm>
              <a:prstGeom prst="line">
                <a:avLst/>
              </a:prstGeom>
              <a:noFill/>
              <a:ln w="25400">
                <a:solidFill>
                  <a:srgbClr val="CC3300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2" name="Text Box 34"/>
          <p:cNvSpPr txBox="1">
            <a:spLocks noChangeArrowheads="1"/>
          </p:cNvSpPr>
          <p:nvPr/>
        </p:nvSpPr>
        <p:spPr bwMode="auto">
          <a:xfrm>
            <a:off x="1703388" y="5048714"/>
            <a:ext cx="8857107" cy="8864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dirty="0">
                <a:solidFill>
                  <a:srgbClr val="990099"/>
                </a:solidFill>
              </a:rPr>
              <a:t>    </a:t>
            </a:r>
            <a:r>
              <a:rPr lang="zh-CN" altLang="en-US" sz="2200" dirty="0" smtClean="0">
                <a:solidFill>
                  <a:srgbClr val="990099"/>
                </a:solidFill>
              </a:rPr>
              <a:t>测试</a:t>
            </a:r>
            <a:r>
              <a:rPr lang="en-US" altLang="zh-CN" sz="2200" dirty="0" smtClean="0">
                <a:solidFill>
                  <a:srgbClr val="990099"/>
                </a:solidFill>
              </a:rPr>
              <a:t>—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=+</a:t>
            </a:r>
            <a:r>
              <a:rPr lang="en-US" altLang="zh-CN" sz="2200" dirty="0" smtClean="0">
                <a:solidFill>
                  <a:schemeClr val="tx1"/>
                </a:solidFill>
              </a:rPr>
              <a:t>01001</a:t>
            </a:r>
            <a:r>
              <a:rPr lang="zh-CN" altLang="en-US" sz="2200" dirty="0" smtClean="0">
                <a:solidFill>
                  <a:schemeClr val="tx1"/>
                </a:solidFill>
              </a:rPr>
              <a:t>时，</a:t>
            </a:r>
            <a:r>
              <a:rPr lang="en-US" altLang="zh-CN" sz="2200" dirty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原</a:t>
            </a:r>
            <a:r>
              <a:rPr lang="en-US" altLang="zh-CN" sz="2200" dirty="0" smtClean="0">
                <a:solidFill>
                  <a:schemeClr val="tx1"/>
                </a:solidFill>
              </a:rPr>
              <a:t>=001001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200" dirty="0" smtClean="0">
                <a:solidFill>
                  <a:schemeClr val="tx1"/>
                </a:solidFill>
              </a:rPr>
              <a:t>=001001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移</a:t>
            </a:r>
            <a:r>
              <a:rPr lang="en-US" altLang="zh-CN" sz="2200" dirty="0" smtClean="0">
                <a:solidFill>
                  <a:schemeClr val="tx1"/>
                </a:solidFill>
              </a:rPr>
              <a:t>=101001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lnSpc>
                <a:spcPct val="135000"/>
              </a:lnSpc>
            </a:pPr>
            <a:r>
              <a:rPr lang="en-US" altLang="zh-CN" sz="2200" dirty="0">
                <a:solidFill>
                  <a:srgbClr val="990099"/>
                </a:solidFill>
              </a:rPr>
              <a:t> </a:t>
            </a:r>
            <a:r>
              <a:rPr lang="en-US" altLang="zh-CN" sz="2200" dirty="0" smtClean="0">
                <a:solidFill>
                  <a:srgbClr val="990099"/>
                </a:solidFill>
              </a:rPr>
              <a:t>         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=-01010</a:t>
            </a:r>
            <a:r>
              <a:rPr lang="zh-CN" altLang="en-US" sz="2200" dirty="0" smtClean="0">
                <a:solidFill>
                  <a:schemeClr val="tx1"/>
                </a:solidFill>
              </a:rPr>
              <a:t>时，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 smtClean="0">
                <a:solidFill>
                  <a:schemeClr val="tx1"/>
                </a:solidFill>
              </a:rPr>
              <a:t>原</a:t>
            </a:r>
            <a:r>
              <a:rPr lang="en-US" altLang="zh-CN" sz="2200" dirty="0" smtClean="0">
                <a:solidFill>
                  <a:schemeClr val="tx1"/>
                </a:solidFill>
              </a:rPr>
              <a:t>=101010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补</a:t>
            </a:r>
            <a:r>
              <a:rPr lang="en-US" altLang="zh-CN" sz="2200" dirty="0" smtClean="0">
                <a:solidFill>
                  <a:schemeClr val="tx1"/>
                </a:solidFill>
              </a:rPr>
              <a:t>=110110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en-US" altLang="zh-CN" sz="2200" dirty="0" smtClean="0">
                <a:solidFill>
                  <a:schemeClr val="tx1"/>
                </a:solidFill>
              </a:rPr>
              <a:t>[</a:t>
            </a:r>
            <a:r>
              <a:rPr lang="en-US" altLang="zh-CN" sz="22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200" dirty="0" smtClean="0">
                <a:solidFill>
                  <a:schemeClr val="tx1"/>
                </a:solidFill>
              </a:rPr>
              <a:t>]</a:t>
            </a:r>
            <a:r>
              <a:rPr lang="zh-CN" altLang="en-US" sz="2200" baseline="-18000" dirty="0">
                <a:solidFill>
                  <a:schemeClr val="tx1"/>
                </a:solidFill>
              </a:rPr>
              <a:t>移</a:t>
            </a:r>
            <a:r>
              <a:rPr lang="en-US" altLang="zh-CN" sz="2200" dirty="0" smtClean="0">
                <a:solidFill>
                  <a:schemeClr val="tx1"/>
                </a:solidFill>
              </a:rPr>
              <a:t>=010110             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700000" y="5159748"/>
            <a:ext cx="4728597" cy="720080"/>
            <a:chOff x="4214119" y="5445224"/>
            <a:chExt cx="4728597" cy="720080"/>
          </a:xfrm>
        </p:grpSpPr>
        <p:sp>
          <p:nvSpPr>
            <p:cNvPr id="44" name="矩形 43"/>
            <p:cNvSpPr/>
            <p:nvPr/>
          </p:nvSpPr>
          <p:spPr bwMode="auto">
            <a:xfrm>
              <a:off x="4241636" y="5445224"/>
              <a:ext cx="874800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4214119" y="5851334"/>
              <a:ext cx="853429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6166499" y="5445224"/>
              <a:ext cx="842887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6132934" y="5851334"/>
              <a:ext cx="853429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8099829" y="5445224"/>
              <a:ext cx="842887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8039269" y="5851334"/>
              <a:ext cx="864000" cy="31397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4" name="AutoShape 42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 rot="10800000">
            <a:off x="5592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4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3" name="Text Box 5"/>
          <p:cNvSpPr txBox="1">
            <a:spLocks noChangeArrowheads="1"/>
          </p:cNvSpPr>
          <p:nvPr/>
        </p:nvSpPr>
        <p:spPr bwMode="auto">
          <a:xfrm>
            <a:off x="1703388" y="1410944"/>
            <a:ext cx="8785225" cy="6838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rIns="18000">
            <a:spAutoFit/>
          </a:bodyPr>
          <a:lstStyle/>
          <a:p>
            <a:pPr marL="1698625" indent="-1698625"/>
            <a:r>
              <a:rPr lang="en-US" altLang="zh-CN" dirty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>
                <a:solidFill>
                  <a:srgbClr val="990099"/>
                </a:solidFill>
              </a:rPr>
              <a:t>5—</a:t>
            </a:r>
            <a:r>
              <a:rPr lang="zh-CN" altLang="en-US" dirty="0">
                <a:solidFill>
                  <a:schemeClr val="tx1"/>
                </a:solidFill>
              </a:rPr>
              <a:t>求字符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的</a:t>
            </a:r>
            <a:r>
              <a:rPr lang="en-US" altLang="zh-CN" dirty="0">
                <a:solidFill>
                  <a:schemeClr val="tx1"/>
                </a:solidFill>
              </a:rPr>
              <a:t>ASCII</a:t>
            </a:r>
            <a:r>
              <a:rPr lang="zh-CN" altLang="en-US" dirty="0">
                <a:solidFill>
                  <a:schemeClr val="tx1"/>
                </a:solidFill>
              </a:rPr>
              <a:t>码</a:t>
            </a:r>
            <a:r>
              <a:rPr lang="en-US" altLang="zh-CN" dirty="0">
                <a:solidFill>
                  <a:schemeClr val="tx1"/>
                </a:solidFill>
              </a:rPr>
              <a:t>(m</a:t>
            </a:r>
            <a:r>
              <a:rPr lang="en-US" altLang="zh-CN" baseline="-20000" dirty="0">
                <a:solidFill>
                  <a:schemeClr val="tx1"/>
                </a:solidFill>
              </a:rPr>
              <a:t>7</a:t>
            </a:r>
            <a:r>
              <a:rPr lang="en-US" altLang="zh-CN" dirty="0">
                <a:solidFill>
                  <a:schemeClr val="tx1"/>
                </a:solidFill>
              </a:rPr>
              <a:t>…m</a:t>
            </a:r>
            <a:r>
              <a:rPr lang="en-US" altLang="zh-CN" baseline="-20000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=1100010)</a:t>
            </a:r>
            <a:r>
              <a:rPr lang="zh-CN" altLang="en-US" dirty="0">
                <a:solidFill>
                  <a:schemeClr val="tx1"/>
                </a:solidFill>
              </a:rPr>
              <a:t>的海明偶校验</a:t>
            </a:r>
            <a:r>
              <a:rPr lang="zh-CN" altLang="en-US" dirty="0" smtClean="0">
                <a:solidFill>
                  <a:schemeClr val="tx1"/>
                </a:solidFill>
              </a:rPr>
              <a:t>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698625" indent="-1698625">
              <a:spcBef>
                <a:spcPts val="3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973B3-75B0-4384-8DFD-1F4D35A29530}" type="slidenum">
              <a:rPr lang="en-US" altLang="zh-CN"/>
            </a:fld>
            <a:endParaRPr lang="en-US" altLang="zh-CN"/>
          </a:p>
        </p:txBody>
      </p:sp>
      <p:sp>
        <p:nvSpPr>
          <p:cNvPr id="380932" name="Text Box 4"/>
          <p:cNvSpPr txBox="1">
            <a:spLocks noChangeArrowheads="1"/>
          </p:cNvSpPr>
          <p:nvPr/>
        </p:nvSpPr>
        <p:spPr bwMode="auto">
          <a:xfrm>
            <a:off x="2783507" y="1916832"/>
            <a:ext cx="7705105" cy="6838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dirty="0" smtClean="0">
                <a:solidFill>
                  <a:schemeClr val="tx1"/>
                </a:solidFill>
              </a:rPr>
              <a:t>∵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3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＜</a:t>
            </a:r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4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＞</a:t>
            </a:r>
            <a:r>
              <a:rPr lang="en-US" altLang="zh-CN" dirty="0" smtClean="0">
                <a:solidFill>
                  <a:schemeClr val="tx1"/>
                </a:solidFill>
              </a:rPr>
              <a:t>7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4  ∴</a:t>
            </a:r>
            <a:r>
              <a:rPr lang="zh-CN" altLang="en-US" dirty="0">
                <a:solidFill>
                  <a:schemeClr val="tx1"/>
                </a:solidFill>
              </a:rPr>
              <a:t>校验位</a:t>
            </a:r>
            <a:r>
              <a:rPr lang="zh-CN" altLang="en-US" dirty="0" smtClean="0">
                <a:solidFill>
                  <a:schemeClr val="tx1"/>
                </a:solidFill>
              </a:rPr>
              <a:t>位数＝</a:t>
            </a:r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位</a:t>
            </a:r>
            <a:r>
              <a:rPr lang="zh-CN" altLang="en-US" dirty="0" smtClean="0">
                <a:solidFill>
                  <a:schemeClr val="tx1"/>
                </a:solidFill>
              </a:rPr>
              <a:t>；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684780" indent="-2684780">
              <a:spcBef>
                <a:spcPts val="300"/>
              </a:spcBef>
            </a:pPr>
            <a:r>
              <a:rPr lang="zh-CN" altLang="en-US" dirty="0" smtClean="0">
                <a:solidFill>
                  <a:schemeClr val="tx1"/>
                </a:solidFill>
              </a:rPr>
              <a:t>按</a:t>
            </a:r>
            <a:r>
              <a:rPr lang="zh-CN" altLang="en-US" dirty="0">
                <a:solidFill>
                  <a:schemeClr val="tx1"/>
                </a:solidFill>
              </a:rPr>
              <a:t>故障字约定，校验码为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7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6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5</a:t>
            </a:r>
            <a:r>
              <a:rPr lang="en-US" altLang="zh-CN" dirty="0"/>
              <a:t>p</a:t>
            </a:r>
            <a:r>
              <a:rPr lang="en-US" altLang="zh-CN" baseline="-18000" dirty="0"/>
              <a:t>4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4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2</a:t>
            </a:r>
            <a:r>
              <a:rPr lang="en-US" altLang="zh-CN" dirty="0"/>
              <a:t>p</a:t>
            </a:r>
            <a:r>
              <a:rPr lang="en-US" altLang="zh-CN" baseline="-18000" dirty="0"/>
              <a:t>3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</a:t>
            </a:r>
            <a:r>
              <a:rPr lang="en-US" altLang="zh-CN" dirty="0"/>
              <a:t>p</a:t>
            </a:r>
            <a:r>
              <a:rPr lang="en-US" altLang="zh-CN" baseline="-18000" dirty="0"/>
              <a:t>2</a:t>
            </a:r>
            <a:r>
              <a:rPr lang="en-US" altLang="zh-CN" dirty="0"/>
              <a:t>p</a:t>
            </a:r>
            <a:r>
              <a:rPr lang="en-US" altLang="zh-CN" baseline="-18000" dirty="0"/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80934" name="Text Box 6"/>
          <p:cNvSpPr txBox="1">
            <a:spLocks noChangeArrowheads="1"/>
          </p:cNvSpPr>
          <p:nvPr/>
        </p:nvSpPr>
        <p:spPr bwMode="auto">
          <a:xfrm>
            <a:off x="1703388" y="358431"/>
            <a:ext cx="8785225" cy="6838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>
                <a:solidFill>
                  <a:srgbClr val="990099"/>
                </a:solidFill>
              </a:rPr>
              <a:t>4—</a:t>
            </a:r>
            <a:r>
              <a:rPr lang="zh-CN" altLang="en-US" dirty="0">
                <a:solidFill>
                  <a:schemeClr val="tx1"/>
                </a:solidFill>
              </a:rPr>
              <a:t>若数据有</a:t>
            </a:r>
            <a:r>
              <a:rPr lang="en-US" altLang="zh-CN" dirty="0">
                <a:solidFill>
                  <a:schemeClr val="tx1"/>
                </a:solidFill>
              </a:rPr>
              <a:t>16</a:t>
            </a:r>
            <a:r>
              <a:rPr lang="zh-CN" altLang="en-US" dirty="0">
                <a:solidFill>
                  <a:schemeClr val="tx1"/>
                </a:solidFill>
              </a:rPr>
              <a:t>位，则海明校验码的校验位最少为多少位</a:t>
            </a:r>
            <a:r>
              <a:rPr lang="en-US" altLang="zh-CN" dirty="0" smtClean="0">
                <a:solidFill>
                  <a:schemeClr val="tx1"/>
                </a:solidFill>
              </a:rPr>
              <a:t>?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80935" name="Text Box 7"/>
          <p:cNvSpPr txBox="1">
            <a:spLocks noChangeArrowheads="1"/>
          </p:cNvSpPr>
          <p:nvPr/>
        </p:nvSpPr>
        <p:spPr bwMode="auto">
          <a:xfrm>
            <a:off x="2783508" y="863501"/>
            <a:ext cx="7200924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98625" indent="-1698625"/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k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</a:rPr>
              <a:t>≥</a:t>
            </a:r>
            <a:r>
              <a:rPr lang="en-US" altLang="zh-CN" dirty="0" smtClean="0">
                <a:solidFill>
                  <a:schemeClr val="tx1"/>
                </a:solidFill>
              </a:rPr>
              <a:t>16</a:t>
            </a:r>
            <a:r>
              <a:rPr lang="zh-CN" altLang="en-US" dirty="0" smtClean="0">
                <a:solidFill>
                  <a:schemeClr val="tx1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k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k</a:t>
            </a:r>
            <a:r>
              <a:rPr lang="zh-CN" altLang="en-US" dirty="0">
                <a:solidFill>
                  <a:schemeClr val="tx1"/>
                </a:solidFill>
              </a:rPr>
              <a:t>最小为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位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4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＜</a:t>
            </a:r>
            <a:r>
              <a:rPr lang="en-US" altLang="zh-CN" dirty="0">
                <a:solidFill>
                  <a:schemeClr val="tx1"/>
                </a:solidFill>
              </a:rPr>
              <a:t>20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5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＞</a:t>
            </a:r>
            <a:r>
              <a:rPr lang="en-US" altLang="zh-CN" dirty="0">
                <a:solidFill>
                  <a:schemeClr val="tx1"/>
                </a:solidFill>
              </a:rPr>
              <a:t>21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80938" name="Text Box 10"/>
          <p:cNvSpPr txBox="1">
            <a:spLocks noChangeArrowheads="1"/>
          </p:cNvSpPr>
          <p:nvPr/>
        </p:nvSpPr>
        <p:spPr bwMode="auto">
          <a:xfrm>
            <a:off x="1703388" y="4842644"/>
            <a:ext cx="8785225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684780" indent="-2684780"/>
            <a:r>
              <a:rPr lang="en-US" altLang="zh-CN" dirty="0">
                <a:solidFill>
                  <a:schemeClr val="tx1"/>
                </a:solidFill>
              </a:rPr>
              <a:t>    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zh-CN" altLang="en-US" dirty="0" smtClean="0">
                <a:solidFill>
                  <a:schemeClr val="tx1"/>
                </a:solidFill>
              </a:rPr>
              <a:t>偶</a:t>
            </a:r>
            <a:r>
              <a:rPr lang="zh-CN" altLang="en-US" dirty="0">
                <a:solidFill>
                  <a:schemeClr val="tx1"/>
                </a:solidFill>
              </a:rPr>
              <a:t>校验</a:t>
            </a:r>
            <a:r>
              <a:rPr lang="zh-CN" altLang="en-US" dirty="0" smtClean="0">
                <a:solidFill>
                  <a:schemeClr val="tx1"/>
                </a:solidFill>
              </a:rPr>
              <a:t>码＝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6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5</a:t>
            </a:r>
            <a:r>
              <a:rPr lang="en-US" altLang="zh-CN" dirty="0" smtClean="0"/>
              <a:t>p</a:t>
            </a:r>
            <a:r>
              <a:rPr lang="en-US" altLang="zh-CN" baseline="-18000" dirty="0" smtClean="0"/>
              <a:t>4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3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dirty="0" smtClean="0"/>
              <a:t>p</a:t>
            </a:r>
            <a:r>
              <a:rPr lang="en-US" altLang="zh-CN" baseline="-18000" dirty="0" smtClean="0"/>
              <a:t>3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dirty="0" smtClean="0"/>
              <a:t>p</a:t>
            </a:r>
            <a:r>
              <a:rPr lang="en-US" altLang="zh-CN" baseline="-18000" dirty="0" smtClean="0"/>
              <a:t>2</a:t>
            </a:r>
            <a:r>
              <a:rPr lang="en-US" altLang="zh-CN" dirty="0" smtClean="0"/>
              <a:t>p</a:t>
            </a:r>
            <a:r>
              <a:rPr lang="en-US" altLang="zh-CN" baseline="-18000" dirty="0" smtClean="0"/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/>
              <a:t>1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/>
              <a:t>0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/>
              <a:t>0</a:t>
            </a:r>
            <a:endParaRPr lang="en-US" altLang="zh-CN" dirty="0"/>
          </a:p>
        </p:txBody>
      </p:sp>
      <p:sp>
        <p:nvSpPr>
          <p:cNvPr id="380940" name="Text Box 12"/>
          <p:cNvSpPr txBox="1">
            <a:spLocks noChangeArrowheads="1"/>
          </p:cNvSpPr>
          <p:nvPr/>
        </p:nvSpPr>
        <p:spPr bwMode="auto">
          <a:xfrm>
            <a:off x="1703512" y="2924944"/>
            <a:ext cx="8785225" cy="15068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2684780" indent="-268478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zh-CN" altLang="en-US" dirty="0" smtClean="0">
                <a:solidFill>
                  <a:schemeClr val="tx1"/>
                </a:solidFill>
              </a:rPr>
              <a:t>根据数据分组规则</a:t>
            </a:r>
            <a:r>
              <a:rPr lang="zh-CN" altLang="en-US" dirty="0">
                <a:solidFill>
                  <a:schemeClr val="tx1"/>
                </a:solidFill>
              </a:rPr>
              <a:t>，得  </a:t>
            </a:r>
            <a:r>
              <a:rPr lang="zh-CN" altLang="en-US" sz="2000" dirty="0">
                <a:solidFill>
                  <a:schemeClr val="tx1"/>
                </a:solidFill>
              </a:rPr>
              <a:t>（偶校验方式）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marL="2684780" indent="-2684780">
              <a:lnSpc>
                <a:spcPct val="100000"/>
              </a:lnSpc>
            </a:pPr>
            <a:r>
              <a:rPr lang="zh-CN" altLang="en-US" dirty="0">
                <a:solidFill>
                  <a:schemeClr val="tx1"/>
                </a:solidFill>
              </a:rPr>
              <a:t>         </a:t>
            </a:r>
            <a:r>
              <a:rPr lang="zh-CN" altLang="en-US" dirty="0" smtClean="0">
                <a:solidFill>
                  <a:schemeClr val="tx1"/>
                </a:solidFill>
              </a:rPr>
              <a:t>  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4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6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5 </a:t>
            </a:r>
            <a:r>
              <a:rPr lang="en-US" altLang="zh-CN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</a:t>
            </a:r>
            <a:r>
              <a:rPr lang="en-US" altLang="zh-CN" sz="18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en-US" altLang="zh-CN" dirty="0">
              <a:solidFill>
                <a:schemeClr val="tx1"/>
              </a:solidFill>
            </a:endParaRPr>
          </a:p>
          <a:p>
            <a:pPr marL="2684780" indent="-268478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  </a:t>
            </a:r>
            <a:r>
              <a:rPr lang="en-US" altLang="zh-CN" dirty="0" smtClean="0">
                <a:solidFill>
                  <a:schemeClr val="tx1"/>
                </a:solidFill>
              </a:rPr>
              <a:t>  p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3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   </a:t>
            </a:r>
            <a:r>
              <a:rPr lang="en-US" altLang="zh-CN" baseline="-25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aseline="30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8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3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en-US" altLang="zh-CN" dirty="0">
              <a:solidFill>
                <a:srgbClr val="990099"/>
              </a:solidFill>
            </a:endParaRPr>
          </a:p>
          <a:p>
            <a:pPr marL="2684780" indent="-268478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  </a:t>
            </a:r>
            <a:r>
              <a:rPr lang="en-US" altLang="zh-CN" dirty="0" smtClean="0">
                <a:solidFill>
                  <a:schemeClr val="tx1"/>
                </a:solidFill>
              </a:rPr>
              <a:t>  p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6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en-US" altLang="zh-CN" baseline="-25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3    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en-US" altLang="zh-CN" dirty="0">
              <a:solidFill>
                <a:schemeClr val="tx1"/>
              </a:solidFill>
            </a:endParaRPr>
          </a:p>
          <a:p>
            <a:pPr marL="2684780" indent="-268478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  </a:t>
            </a:r>
            <a:r>
              <a:rPr lang="en-US" altLang="zh-CN" dirty="0" smtClean="0">
                <a:solidFill>
                  <a:schemeClr val="tx1"/>
                </a:solidFill>
              </a:rPr>
              <a:t>  p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5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dirty="0" smtClean="0">
                <a:solidFill>
                  <a:schemeClr val="tx1"/>
                </a:solidFill>
              </a:rPr>
              <a:t>m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80958" name="AutoShape 3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67275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0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0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0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0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0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0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3" grpId="0" bldLvl="0" animBg="1"/>
      <p:bldP spid="380935" grpId="0" bldLvl="0" animBg="1"/>
      <p:bldP spid="380938" grpId="0" bldLvl="0" animBg="1"/>
      <p:bldP spid="380940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A9497-1F03-4305-9F4E-E9443314FDA7}" type="slidenum">
              <a:rPr lang="en-US" altLang="zh-CN"/>
            </a:fld>
            <a:endParaRPr lang="en-US" altLang="zh-CN"/>
          </a:p>
        </p:txBody>
      </p:sp>
      <p:sp>
        <p:nvSpPr>
          <p:cNvPr id="381974" name="Text Box 22"/>
          <p:cNvSpPr txBox="1">
            <a:spLocks noChangeArrowheads="1"/>
          </p:cNvSpPr>
          <p:nvPr/>
        </p:nvSpPr>
        <p:spPr bwMode="auto">
          <a:xfrm>
            <a:off x="1703388" y="325105"/>
            <a:ext cx="8785225" cy="1260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6—</a:t>
            </a:r>
            <a:r>
              <a:rPr lang="zh-CN" altLang="en-US" dirty="0" smtClean="0">
                <a:solidFill>
                  <a:schemeClr val="tx1"/>
                </a:solidFill>
              </a:rPr>
              <a:t>某海</a:t>
            </a:r>
            <a:r>
              <a:rPr lang="zh-CN" altLang="en-US" dirty="0">
                <a:solidFill>
                  <a:schemeClr val="tx1"/>
                </a:solidFill>
              </a:rPr>
              <a:t>明偶校验</a:t>
            </a:r>
            <a:r>
              <a:rPr lang="zh-CN" altLang="en-US" dirty="0" smtClean="0">
                <a:solidFill>
                  <a:schemeClr val="tx1"/>
                </a:solidFill>
              </a:rPr>
              <a:t>码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7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6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5</a:t>
            </a:r>
            <a:r>
              <a:rPr lang="en-US" altLang="zh-CN" dirty="0"/>
              <a:t>p</a:t>
            </a:r>
            <a:r>
              <a:rPr lang="en-US" altLang="zh-CN" baseline="-18000" dirty="0"/>
              <a:t>4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4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2</a:t>
            </a:r>
            <a:r>
              <a:rPr lang="en-US" altLang="zh-CN" dirty="0"/>
              <a:t>p</a:t>
            </a:r>
            <a:r>
              <a:rPr lang="en-US" altLang="zh-CN" baseline="-18000" dirty="0"/>
              <a:t>3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</a:t>
            </a:r>
            <a:r>
              <a:rPr lang="en-US" altLang="zh-CN" dirty="0"/>
              <a:t>p</a:t>
            </a:r>
            <a:r>
              <a:rPr lang="en-US" altLang="zh-CN" baseline="-18000" dirty="0"/>
              <a:t>2</a:t>
            </a:r>
            <a:r>
              <a:rPr lang="en-US" altLang="zh-CN" dirty="0"/>
              <a:t>p</a:t>
            </a:r>
            <a:r>
              <a:rPr lang="en-US" altLang="zh-CN" baseline="-18000" dirty="0"/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en-US" altLang="zh-CN" dirty="0" smtClean="0"/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001</a:t>
            </a:r>
            <a:r>
              <a:rPr lang="en-US" altLang="zh-CN" dirty="0" smtClean="0"/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/>
              <a:t>00</a:t>
            </a:r>
            <a:r>
              <a:rPr lang="zh-CN" altLang="en-US" dirty="0" smtClean="0">
                <a:solidFill>
                  <a:schemeClr val="tx1"/>
                </a:solidFill>
              </a:rPr>
              <a:t>，接收的校验码</a:t>
            </a:r>
            <a:r>
              <a:rPr lang="zh-CN" altLang="en-US" dirty="0">
                <a:solidFill>
                  <a:schemeClr val="tx1"/>
                </a:solidFill>
              </a:rPr>
              <a:t>为①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en-US" altLang="zh-CN" dirty="0" smtClean="0">
                <a:solidFill>
                  <a:srgbClr val="C00000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001</a:t>
            </a:r>
            <a:r>
              <a:rPr lang="en-US" altLang="zh-CN" dirty="0" smtClean="0">
                <a:solidFill>
                  <a:srgbClr val="C00000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rgbClr val="C00000"/>
                </a:solidFill>
              </a:rPr>
              <a:t>10</a:t>
            </a:r>
            <a:r>
              <a:rPr lang="zh-CN" altLang="en-US" dirty="0" smtClean="0">
                <a:solidFill>
                  <a:schemeClr val="tx1"/>
                </a:solidFill>
              </a:rPr>
              <a:t> ②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en-US" altLang="zh-CN" dirty="0" smtClean="0">
                <a:solidFill>
                  <a:srgbClr val="C00000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000</a:t>
            </a:r>
            <a:r>
              <a:rPr lang="en-US" altLang="zh-CN" dirty="0" smtClean="0">
                <a:solidFill>
                  <a:srgbClr val="C00000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rgbClr val="C00000"/>
                </a:solidFill>
              </a:rPr>
              <a:t>00</a:t>
            </a:r>
            <a:r>
              <a:rPr lang="zh-CN" altLang="en-US" dirty="0" smtClean="0">
                <a:solidFill>
                  <a:schemeClr val="tx1"/>
                </a:solidFill>
              </a:rPr>
              <a:t> ③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en-US" altLang="zh-CN" dirty="0" smtClean="0">
                <a:solidFill>
                  <a:srgbClr val="C00000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100</a:t>
            </a:r>
            <a:r>
              <a:rPr lang="en-US" altLang="zh-CN" dirty="0" smtClean="0">
                <a:solidFill>
                  <a:srgbClr val="C00000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rgbClr val="C00000"/>
                </a:solidFill>
              </a:rPr>
              <a:t>00</a:t>
            </a:r>
            <a:r>
              <a:rPr lang="zh-CN" altLang="en-US" dirty="0" smtClean="0">
                <a:solidFill>
                  <a:schemeClr val="tx1"/>
                </a:solidFill>
              </a:rPr>
              <a:t>，写出数据校验（检错并</a:t>
            </a:r>
            <a:r>
              <a:rPr lang="zh-CN" altLang="en-US" dirty="0">
                <a:solidFill>
                  <a:schemeClr val="tx1"/>
                </a:solidFill>
              </a:rPr>
              <a:t>纠错</a:t>
            </a:r>
            <a:r>
              <a:rPr lang="zh-CN" altLang="en-US" dirty="0" smtClean="0">
                <a:solidFill>
                  <a:schemeClr val="tx1"/>
                </a:solidFill>
              </a:rPr>
              <a:t>）结果。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accent2"/>
                </a:solidFill>
              </a:rPr>
              <a:t>   </a:t>
            </a:r>
            <a:r>
              <a:rPr lang="zh-CN" altLang="en-US" sz="2200" dirty="0">
                <a:solidFill>
                  <a:srgbClr val="990099"/>
                </a:solidFill>
              </a:rPr>
              <a:t>解：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sp>
        <p:nvSpPr>
          <p:cNvPr id="381975" name="Text Box 23"/>
          <p:cNvSpPr txBox="1">
            <a:spLocks noChangeArrowheads="1"/>
          </p:cNvSpPr>
          <p:nvPr/>
        </p:nvSpPr>
        <p:spPr bwMode="auto">
          <a:xfrm>
            <a:off x="2711499" y="1700808"/>
            <a:ext cx="7848997" cy="3138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sz="2200" dirty="0" smtClean="0">
                <a:solidFill>
                  <a:srgbClr val="990099"/>
                </a:solidFill>
              </a:rPr>
              <a:t>①</a:t>
            </a:r>
            <a:r>
              <a:rPr lang="zh-CN" altLang="en-US" sz="2200" dirty="0" smtClean="0">
                <a:solidFill>
                  <a:schemeClr val="tx1"/>
                </a:solidFill>
              </a:rPr>
              <a:t>接收的</a:t>
            </a:r>
            <a:r>
              <a:rPr lang="en-US" altLang="zh-CN" sz="2200" dirty="0" smtClean="0">
                <a:solidFill>
                  <a:schemeClr val="tx1"/>
                </a:solidFill>
              </a:rPr>
              <a:t>M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1100010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0110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 </a:t>
            </a:r>
            <a:r>
              <a:rPr lang="zh-CN" altLang="en-US" sz="2200" dirty="0" smtClean="0">
                <a:solidFill>
                  <a:schemeClr val="tx1"/>
                </a:solidFill>
              </a:rPr>
              <a:t>可得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0100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S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dirty="0">
                <a:solidFill>
                  <a:schemeClr val="tx1"/>
                </a:solidFill>
              </a:rPr>
              <a:t>(mod 2)</a:t>
            </a:r>
            <a:r>
              <a:rPr lang="zh-CN" altLang="en-US" sz="2200" dirty="0" smtClean="0">
                <a:solidFill>
                  <a:schemeClr val="tx1"/>
                </a:solidFill>
              </a:rPr>
              <a:t>，得</a:t>
            </a:r>
            <a:r>
              <a:rPr lang="en-US" altLang="zh-CN" sz="2200" dirty="0" smtClean="0">
                <a:solidFill>
                  <a:schemeClr val="tx1"/>
                </a:solidFill>
              </a:rPr>
              <a:t>S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0010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sz="2200" dirty="0">
                <a:solidFill>
                  <a:schemeClr val="tx1"/>
                </a:solidFill>
              </a:rPr>
              <a:t>  </a:t>
            </a:r>
            <a:r>
              <a:rPr lang="zh-CN" altLang="en-US" sz="2200" dirty="0" smtClean="0">
                <a:solidFill>
                  <a:schemeClr val="tx1"/>
                </a:solidFill>
              </a:rPr>
              <a:t>∴位置</a:t>
            </a:r>
            <a:r>
              <a:rPr lang="en-US" altLang="zh-CN" sz="2200" dirty="0">
                <a:solidFill>
                  <a:schemeClr val="tx1"/>
                </a:solidFill>
              </a:rPr>
              <a:t>2(p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有</a:t>
            </a:r>
            <a:r>
              <a:rPr lang="zh-CN" altLang="en-US" sz="2200" dirty="0" smtClean="0">
                <a:solidFill>
                  <a:schemeClr val="tx1"/>
                </a:solidFill>
              </a:rPr>
              <a:t>错误</a:t>
            </a:r>
            <a:r>
              <a:rPr lang="zh-CN" altLang="en-US" sz="2200" dirty="0">
                <a:solidFill>
                  <a:schemeClr val="tx1"/>
                </a:solidFill>
              </a:rPr>
              <a:t>，数据</a:t>
            </a:r>
            <a:r>
              <a:rPr lang="en-US" altLang="zh-CN" sz="2200" dirty="0" smtClean="0">
                <a:solidFill>
                  <a:schemeClr val="tx1"/>
                </a:solidFill>
              </a:rPr>
              <a:t>M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1100010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zh-CN" altLang="en-US" sz="2200" dirty="0" smtClean="0">
                <a:solidFill>
                  <a:srgbClr val="C00000"/>
                </a:solidFill>
              </a:rPr>
              <a:t>实际</a:t>
            </a:r>
            <a:r>
              <a:rPr lang="zh-CN" altLang="en-US" sz="2200" dirty="0" smtClean="0">
                <a:solidFill>
                  <a:schemeClr val="tx1"/>
                </a:solidFill>
              </a:rPr>
              <a:t>如此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rgbClr val="990099"/>
                </a:solidFill>
              </a:rPr>
              <a:t>②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1100000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0100</a:t>
            </a:r>
            <a:r>
              <a:rPr lang="zh-CN" altLang="en-US" sz="2200" dirty="0">
                <a:solidFill>
                  <a:schemeClr val="tx1"/>
                </a:solidFill>
              </a:rPr>
              <a:t>，可得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0001</a:t>
            </a:r>
            <a:r>
              <a:rPr lang="zh-CN" altLang="en-US" sz="2200" dirty="0">
                <a:solidFill>
                  <a:schemeClr val="tx1"/>
                </a:solidFill>
              </a:rPr>
              <a:t>，则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0101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chemeClr val="tx1"/>
                </a:solidFill>
              </a:rPr>
              <a:t>  </a:t>
            </a:r>
            <a:r>
              <a:rPr lang="zh-CN" altLang="en-US" sz="2200" dirty="0">
                <a:solidFill>
                  <a:schemeClr val="tx1"/>
                </a:solidFill>
              </a:rPr>
              <a:t>∴位置</a:t>
            </a:r>
            <a:r>
              <a:rPr lang="en-US" altLang="zh-CN" sz="2200" dirty="0">
                <a:solidFill>
                  <a:schemeClr val="tx1"/>
                </a:solidFill>
              </a:rPr>
              <a:t>5(m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有错误，数据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11000</a:t>
            </a:r>
            <a:r>
              <a:rPr lang="en-US" altLang="zh-CN" sz="2200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dirty="0">
                <a:solidFill>
                  <a:srgbClr val="C00000"/>
                </a:solidFill>
              </a:rPr>
              <a:t>实际</a:t>
            </a:r>
            <a:r>
              <a:rPr lang="zh-CN" altLang="en-US" sz="2200" dirty="0">
                <a:solidFill>
                  <a:schemeClr val="tx1"/>
                </a:solidFill>
              </a:rPr>
              <a:t>如此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rgbClr val="990099"/>
                </a:solidFill>
              </a:rPr>
              <a:t>③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1101000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0100</a:t>
            </a:r>
            <a:r>
              <a:rPr lang="zh-CN" altLang="en-US" sz="2200" dirty="0">
                <a:solidFill>
                  <a:schemeClr val="tx1"/>
                </a:solidFill>
              </a:rPr>
              <a:t>，可得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0110</a:t>
            </a:r>
            <a:r>
              <a:rPr lang="zh-CN" altLang="en-US" sz="2200" dirty="0">
                <a:solidFill>
                  <a:schemeClr val="tx1"/>
                </a:solidFill>
              </a:rPr>
              <a:t>，则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0010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sz="2200" dirty="0">
                <a:solidFill>
                  <a:schemeClr val="tx1"/>
                </a:solidFill>
              </a:rPr>
              <a:t>  ∴位置</a:t>
            </a:r>
            <a:r>
              <a:rPr lang="en-US" altLang="zh-CN" sz="2200" dirty="0">
                <a:solidFill>
                  <a:schemeClr val="tx1"/>
                </a:solidFill>
              </a:rPr>
              <a:t>2(p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有错误？</a:t>
            </a:r>
            <a:r>
              <a:rPr lang="zh-CN" altLang="en-US" sz="2200" dirty="0">
                <a:solidFill>
                  <a:srgbClr val="C00000"/>
                </a:solidFill>
              </a:rPr>
              <a:t>实际</a:t>
            </a:r>
            <a:r>
              <a:rPr lang="zh-CN" altLang="en-US" sz="2200" dirty="0">
                <a:solidFill>
                  <a:schemeClr val="tx1"/>
                </a:solidFill>
              </a:rPr>
              <a:t>为位置</a:t>
            </a:r>
            <a:r>
              <a:rPr lang="en-US" altLang="zh-CN" sz="2200" dirty="0">
                <a:solidFill>
                  <a:schemeClr val="tx1"/>
                </a:solidFill>
              </a:rPr>
              <a:t>7(m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4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及位置</a:t>
            </a:r>
            <a:r>
              <a:rPr lang="en-US" altLang="zh-CN" sz="2200" dirty="0">
                <a:solidFill>
                  <a:schemeClr val="tx1"/>
                </a:solidFill>
              </a:rPr>
              <a:t>5(m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错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sz="2200" dirty="0">
                <a:solidFill>
                  <a:schemeClr val="accent2"/>
                </a:solidFill>
              </a:rPr>
              <a:t>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错判原因</a:t>
            </a:r>
            <a:r>
              <a:rPr lang="zh-CN" altLang="en-US" sz="2200" dirty="0">
                <a:solidFill>
                  <a:schemeClr val="accent2"/>
                </a:solidFill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</a:rPr>
              <a:t>SEC</a:t>
            </a:r>
            <a:r>
              <a:rPr lang="zh-CN" altLang="en-US" sz="2200" dirty="0">
                <a:solidFill>
                  <a:schemeClr val="tx1"/>
                </a:solidFill>
              </a:rPr>
              <a:t>只能</a:t>
            </a:r>
            <a:r>
              <a:rPr lang="zh-CN" altLang="en-US" sz="2200" u="sng" dirty="0">
                <a:solidFill>
                  <a:schemeClr val="tx1"/>
                </a:solidFill>
              </a:rPr>
              <a:t>纠正</a:t>
            </a:r>
            <a:r>
              <a:rPr lang="en-US" altLang="zh-CN" sz="2200" u="sng" dirty="0">
                <a:solidFill>
                  <a:schemeClr val="tx1"/>
                </a:solidFill>
              </a:rPr>
              <a:t>1</a:t>
            </a:r>
            <a:r>
              <a:rPr lang="zh-CN" altLang="en-US" sz="2200" u="sng" dirty="0">
                <a:solidFill>
                  <a:schemeClr val="tx1"/>
                </a:solidFill>
              </a:rPr>
              <a:t>位错</a:t>
            </a:r>
            <a:r>
              <a:rPr lang="zh-CN" altLang="en-US" sz="2200" dirty="0">
                <a:solidFill>
                  <a:schemeClr val="tx1"/>
                </a:solidFill>
              </a:rPr>
              <a:t>，或</a:t>
            </a:r>
            <a:r>
              <a:rPr lang="zh-CN" altLang="en-US" sz="2200" u="sng" dirty="0">
                <a:solidFill>
                  <a:schemeClr val="tx1"/>
                </a:solidFill>
              </a:rPr>
              <a:t>检测</a:t>
            </a:r>
            <a:r>
              <a:rPr lang="en-US" altLang="zh-CN" sz="2200" u="sng" dirty="0">
                <a:solidFill>
                  <a:schemeClr val="tx1"/>
                </a:solidFill>
              </a:rPr>
              <a:t>2</a:t>
            </a:r>
            <a:r>
              <a:rPr lang="zh-CN" altLang="en-US" sz="2200" u="sng" dirty="0">
                <a:solidFill>
                  <a:schemeClr val="tx1"/>
                </a:solidFill>
              </a:rPr>
              <a:t>位错</a:t>
            </a:r>
            <a:r>
              <a:rPr lang="zh-CN" altLang="en-US" sz="2200" dirty="0" smtClean="0">
                <a:solidFill>
                  <a:schemeClr val="tx1"/>
                </a:solidFill>
              </a:rPr>
              <a:t>！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6" name="Text Box 1299"/>
          <p:cNvSpPr txBox="1">
            <a:spLocks noChangeArrowheads="1"/>
          </p:cNvSpPr>
          <p:nvPr/>
        </p:nvSpPr>
        <p:spPr bwMode="auto">
          <a:xfrm>
            <a:off x="1703389" y="5445224"/>
            <a:ext cx="2088356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校验方式：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*应用：</a:t>
            </a:r>
            <a:endParaRPr lang="zh-CN" altLang="en-US" dirty="0" smtClean="0">
              <a:solidFill>
                <a:schemeClr val="tx1"/>
              </a:solidFill>
            </a:endParaRPr>
          </a:p>
        </p:txBody>
      </p:sp>
      <p:sp>
        <p:nvSpPr>
          <p:cNvPr id="9" name="Text Box 1299"/>
          <p:cNvSpPr txBox="1">
            <a:spLocks noChangeArrowheads="1"/>
          </p:cNvSpPr>
          <p:nvPr/>
        </p:nvSpPr>
        <p:spPr bwMode="auto">
          <a:xfrm>
            <a:off x="2999656" y="5445224"/>
            <a:ext cx="7416824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dirty="0" smtClean="0">
                <a:solidFill>
                  <a:schemeClr val="tx1"/>
                </a:solidFill>
              </a:rPr>
              <a:t>    需并行校验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接收完才求</a:t>
            </a:r>
            <a:r>
              <a:rPr lang="en-US" altLang="zh-CN" sz="1800" dirty="0">
                <a:solidFill>
                  <a:schemeClr val="tx1"/>
                </a:solidFill>
              </a:rPr>
              <a:t>P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1800" dirty="0" smtClean="0">
                <a:solidFill>
                  <a:schemeClr val="tx1"/>
                </a:solidFill>
              </a:rPr>
              <a:t>、用</a:t>
            </a:r>
            <a:r>
              <a:rPr lang="zh-CN" altLang="en-US" sz="1800" u="sng" dirty="0">
                <a:solidFill>
                  <a:schemeClr val="tx1"/>
                </a:solidFill>
              </a:rPr>
              <a:t>译码器</a:t>
            </a:r>
            <a:r>
              <a:rPr lang="zh-CN" altLang="en-US" sz="1800" dirty="0">
                <a:solidFill>
                  <a:schemeClr val="tx1"/>
                </a:solidFill>
              </a:rPr>
              <a:t>纠错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2684780" indent="-2684780"/>
            <a:r>
              <a:rPr lang="zh-CN" altLang="en-US" dirty="0" smtClean="0">
                <a:solidFill>
                  <a:schemeClr val="tx1"/>
                </a:solidFill>
              </a:rPr>
              <a:t>常用于</a:t>
            </a:r>
            <a:r>
              <a:rPr lang="zh-CN" altLang="en-US" u="sng" dirty="0" smtClean="0">
                <a:solidFill>
                  <a:srgbClr val="990099"/>
                </a:solidFill>
              </a:rPr>
              <a:t>并行传输、存取</a:t>
            </a:r>
            <a:r>
              <a:rPr lang="zh-CN" altLang="en-US" dirty="0">
                <a:solidFill>
                  <a:schemeClr val="tx1"/>
                </a:solidFill>
              </a:rPr>
              <a:t>方面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出错概率小、可纠错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1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19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19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19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819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19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819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819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819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A9497-1F03-4305-9F4E-E9443314FDA7}" type="slidenum">
              <a:rPr lang="en-US" altLang="zh-CN"/>
            </a:fld>
            <a:endParaRPr lang="en-US" altLang="zh-CN"/>
          </a:p>
        </p:txBody>
      </p:sp>
      <p:sp>
        <p:nvSpPr>
          <p:cNvPr id="381974" name="Text Box 22"/>
          <p:cNvSpPr txBox="1">
            <a:spLocks noChangeArrowheads="1"/>
          </p:cNvSpPr>
          <p:nvPr/>
        </p:nvSpPr>
        <p:spPr bwMode="auto">
          <a:xfrm>
            <a:off x="1703388" y="325105"/>
            <a:ext cx="8785225" cy="1260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6—</a:t>
            </a:r>
            <a:r>
              <a:rPr lang="zh-CN" altLang="en-US" dirty="0" smtClean="0">
                <a:solidFill>
                  <a:schemeClr val="tx1"/>
                </a:solidFill>
              </a:rPr>
              <a:t>某海</a:t>
            </a:r>
            <a:r>
              <a:rPr lang="zh-CN" altLang="en-US" dirty="0">
                <a:solidFill>
                  <a:schemeClr val="tx1"/>
                </a:solidFill>
              </a:rPr>
              <a:t>明偶校验</a:t>
            </a:r>
            <a:r>
              <a:rPr lang="zh-CN" altLang="en-US" dirty="0" smtClean="0">
                <a:solidFill>
                  <a:schemeClr val="tx1"/>
                </a:solidFill>
              </a:rPr>
              <a:t>码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7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6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5</a:t>
            </a:r>
            <a:r>
              <a:rPr lang="en-US" altLang="zh-CN" dirty="0"/>
              <a:t>p</a:t>
            </a:r>
            <a:r>
              <a:rPr lang="en-US" altLang="zh-CN" baseline="-18000" dirty="0"/>
              <a:t>4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4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3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2</a:t>
            </a:r>
            <a:r>
              <a:rPr lang="en-US" altLang="zh-CN" dirty="0"/>
              <a:t>p</a:t>
            </a:r>
            <a:r>
              <a:rPr lang="en-US" altLang="zh-CN" baseline="-18000" dirty="0"/>
              <a:t>3</a:t>
            </a:r>
            <a:r>
              <a:rPr lang="en-US" altLang="zh-CN" dirty="0">
                <a:solidFill>
                  <a:schemeClr val="tx1"/>
                </a:solidFill>
              </a:rPr>
              <a:t>m</a:t>
            </a:r>
            <a:r>
              <a:rPr lang="en-US" altLang="zh-CN" baseline="-18000" dirty="0">
                <a:solidFill>
                  <a:schemeClr val="tx1"/>
                </a:solidFill>
              </a:rPr>
              <a:t>1</a:t>
            </a:r>
            <a:r>
              <a:rPr lang="en-US" altLang="zh-CN" dirty="0"/>
              <a:t>p</a:t>
            </a:r>
            <a:r>
              <a:rPr lang="en-US" altLang="zh-CN" baseline="-18000" dirty="0"/>
              <a:t>2</a:t>
            </a:r>
            <a:r>
              <a:rPr lang="en-US" altLang="zh-CN" dirty="0"/>
              <a:t>p</a:t>
            </a:r>
            <a:r>
              <a:rPr lang="en-US" altLang="zh-CN" baseline="-18000" dirty="0"/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en-US" altLang="zh-CN" dirty="0" smtClean="0"/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001</a:t>
            </a:r>
            <a:r>
              <a:rPr lang="en-US" altLang="zh-CN" dirty="0" smtClean="0"/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/>
              <a:t>00</a:t>
            </a:r>
            <a:r>
              <a:rPr lang="zh-CN" altLang="en-US" dirty="0" smtClean="0">
                <a:solidFill>
                  <a:schemeClr val="tx1"/>
                </a:solidFill>
              </a:rPr>
              <a:t>，接收的校验码</a:t>
            </a:r>
            <a:r>
              <a:rPr lang="zh-CN" altLang="en-US" dirty="0">
                <a:solidFill>
                  <a:schemeClr val="tx1"/>
                </a:solidFill>
              </a:rPr>
              <a:t>为①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en-US" altLang="zh-CN" dirty="0" smtClean="0">
                <a:solidFill>
                  <a:srgbClr val="C00000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001</a:t>
            </a:r>
            <a:r>
              <a:rPr lang="en-US" altLang="zh-CN" dirty="0" smtClean="0">
                <a:solidFill>
                  <a:srgbClr val="C00000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rgbClr val="C00000"/>
                </a:solidFill>
              </a:rPr>
              <a:t>10</a:t>
            </a:r>
            <a:r>
              <a:rPr lang="zh-CN" altLang="en-US" dirty="0" smtClean="0">
                <a:solidFill>
                  <a:schemeClr val="tx1"/>
                </a:solidFill>
              </a:rPr>
              <a:t> ②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en-US" altLang="zh-CN" dirty="0" smtClean="0">
                <a:solidFill>
                  <a:srgbClr val="C00000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000</a:t>
            </a:r>
            <a:r>
              <a:rPr lang="en-US" altLang="zh-CN" dirty="0" smtClean="0">
                <a:solidFill>
                  <a:srgbClr val="C00000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rgbClr val="C00000"/>
                </a:solidFill>
              </a:rPr>
              <a:t>00</a:t>
            </a:r>
            <a:r>
              <a:rPr lang="zh-CN" altLang="en-US" dirty="0" smtClean="0">
                <a:solidFill>
                  <a:schemeClr val="tx1"/>
                </a:solidFill>
              </a:rPr>
              <a:t> ③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en-US" altLang="zh-CN" dirty="0" smtClean="0">
                <a:solidFill>
                  <a:srgbClr val="C00000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100</a:t>
            </a:r>
            <a:r>
              <a:rPr lang="en-US" altLang="zh-CN" dirty="0" smtClean="0">
                <a:solidFill>
                  <a:srgbClr val="C00000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rgbClr val="C00000"/>
                </a:solidFill>
              </a:rPr>
              <a:t>00</a:t>
            </a:r>
            <a:r>
              <a:rPr lang="zh-CN" altLang="en-US" dirty="0" smtClean="0">
                <a:solidFill>
                  <a:schemeClr val="tx1"/>
                </a:solidFill>
              </a:rPr>
              <a:t>，写出数据校验（检错并</a:t>
            </a:r>
            <a:r>
              <a:rPr lang="zh-CN" altLang="en-US" dirty="0">
                <a:solidFill>
                  <a:schemeClr val="tx1"/>
                </a:solidFill>
              </a:rPr>
              <a:t>纠错</a:t>
            </a:r>
            <a:r>
              <a:rPr lang="zh-CN" altLang="en-US" dirty="0" smtClean="0">
                <a:solidFill>
                  <a:schemeClr val="tx1"/>
                </a:solidFill>
              </a:rPr>
              <a:t>）结果。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accent2"/>
                </a:solidFill>
              </a:rPr>
              <a:t>   </a:t>
            </a:r>
            <a:r>
              <a:rPr lang="zh-CN" altLang="en-US" sz="2200" dirty="0">
                <a:solidFill>
                  <a:srgbClr val="990099"/>
                </a:solidFill>
              </a:rPr>
              <a:t>解：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sp>
        <p:nvSpPr>
          <p:cNvPr id="381975" name="Text Box 23"/>
          <p:cNvSpPr txBox="1">
            <a:spLocks noChangeArrowheads="1"/>
          </p:cNvSpPr>
          <p:nvPr/>
        </p:nvSpPr>
        <p:spPr bwMode="auto">
          <a:xfrm>
            <a:off x="2711499" y="1700808"/>
            <a:ext cx="7848997" cy="3138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sz="2200" dirty="0" smtClean="0">
                <a:solidFill>
                  <a:srgbClr val="990099"/>
                </a:solidFill>
              </a:rPr>
              <a:t>①</a:t>
            </a:r>
            <a:r>
              <a:rPr lang="zh-CN" altLang="en-US" sz="2200" dirty="0" smtClean="0">
                <a:solidFill>
                  <a:schemeClr val="tx1"/>
                </a:solidFill>
              </a:rPr>
              <a:t>接收的</a:t>
            </a:r>
            <a:r>
              <a:rPr lang="en-US" altLang="zh-CN" sz="2200" dirty="0" smtClean="0">
                <a:solidFill>
                  <a:schemeClr val="tx1"/>
                </a:solidFill>
              </a:rPr>
              <a:t>M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1100010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0110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   </a:t>
            </a:r>
            <a:r>
              <a:rPr lang="zh-CN" altLang="en-US" sz="2200" dirty="0" smtClean="0">
                <a:solidFill>
                  <a:schemeClr val="tx1"/>
                </a:solidFill>
              </a:rPr>
              <a:t>可得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0100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S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＋</a:t>
            </a:r>
            <a:r>
              <a:rPr lang="en-US" altLang="zh-CN" sz="2200" dirty="0" smtClean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en-US" altLang="zh-CN" sz="2200" dirty="0">
                <a:solidFill>
                  <a:schemeClr val="tx1"/>
                </a:solidFill>
              </a:rPr>
              <a:t>(mod 2)</a:t>
            </a:r>
            <a:r>
              <a:rPr lang="zh-CN" altLang="en-US" sz="2200" dirty="0" smtClean="0">
                <a:solidFill>
                  <a:schemeClr val="tx1"/>
                </a:solidFill>
              </a:rPr>
              <a:t>，得</a:t>
            </a:r>
            <a:r>
              <a:rPr lang="en-US" altLang="zh-CN" sz="2200" dirty="0" smtClean="0">
                <a:solidFill>
                  <a:schemeClr val="tx1"/>
                </a:solidFill>
              </a:rPr>
              <a:t>S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0010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sz="2200" dirty="0">
                <a:solidFill>
                  <a:schemeClr val="tx1"/>
                </a:solidFill>
              </a:rPr>
              <a:t>  </a:t>
            </a:r>
            <a:r>
              <a:rPr lang="zh-CN" altLang="en-US" sz="2200" dirty="0" smtClean="0">
                <a:solidFill>
                  <a:schemeClr val="tx1"/>
                </a:solidFill>
              </a:rPr>
              <a:t>∴位置</a:t>
            </a:r>
            <a:r>
              <a:rPr lang="en-US" altLang="zh-CN" sz="2200" dirty="0">
                <a:solidFill>
                  <a:schemeClr val="tx1"/>
                </a:solidFill>
              </a:rPr>
              <a:t>2(p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dirty="0" smtClean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有</a:t>
            </a:r>
            <a:r>
              <a:rPr lang="zh-CN" altLang="en-US" sz="2200" dirty="0" smtClean="0">
                <a:solidFill>
                  <a:schemeClr val="tx1"/>
                </a:solidFill>
              </a:rPr>
              <a:t>错误</a:t>
            </a:r>
            <a:r>
              <a:rPr lang="zh-CN" altLang="en-US" sz="2200" dirty="0">
                <a:solidFill>
                  <a:schemeClr val="tx1"/>
                </a:solidFill>
              </a:rPr>
              <a:t>，数据</a:t>
            </a:r>
            <a:r>
              <a:rPr lang="en-US" altLang="zh-CN" sz="2200" dirty="0" smtClean="0">
                <a:solidFill>
                  <a:schemeClr val="tx1"/>
                </a:solidFill>
              </a:rPr>
              <a:t>M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1100010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zh-CN" altLang="en-US" sz="2200" dirty="0" smtClean="0">
                <a:solidFill>
                  <a:srgbClr val="C00000"/>
                </a:solidFill>
              </a:rPr>
              <a:t>实际</a:t>
            </a:r>
            <a:r>
              <a:rPr lang="zh-CN" altLang="en-US" sz="2200" dirty="0" smtClean="0">
                <a:solidFill>
                  <a:schemeClr val="tx1"/>
                </a:solidFill>
              </a:rPr>
              <a:t>如此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rgbClr val="990099"/>
                </a:solidFill>
              </a:rPr>
              <a:t>②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1100000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0100</a:t>
            </a:r>
            <a:r>
              <a:rPr lang="zh-CN" altLang="en-US" sz="2200" dirty="0">
                <a:solidFill>
                  <a:schemeClr val="tx1"/>
                </a:solidFill>
              </a:rPr>
              <a:t>，可得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0001</a:t>
            </a:r>
            <a:r>
              <a:rPr lang="zh-CN" altLang="en-US" sz="2200" dirty="0">
                <a:solidFill>
                  <a:schemeClr val="tx1"/>
                </a:solidFill>
              </a:rPr>
              <a:t>，则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0101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chemeClr val="tx1"/>
                </a:solidFill>
              </a:rPr>
              <a:t>  </a:t>
            </a:r>
            <a:r>
              <a:rPr lang="zh-CN" altLang="en-US" sz="2200" dirty="0">
                <a:solidFill>
                  <a:schemeClr val="tx1"/>
                </a:solidFill>
              </a:rPr>
              <a:t>∴位置</a:t>
            </a:r>
            <a:r>
              <a:rPr lang="en-US" altLang="zh-CN" sz="2200" dirty="0">
                <a:solidFill>
                  <a:schemeClr val="tx1"/>
                </a:solidFill>
              </a:rPr>
              <a:t>5(m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有错误，数据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11000</a:t>
            </a:r>
            <a:r>
              <a:rPr lang="en-US" altLang="zh-CN" sz="2200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zh-CN" altLang="en-US" sz="2200" dirty="0">
                <a:solidFill>
                  <a:srgbClr val="C00000"/>
                </a:solidFill>
              </a:rPr>
              <a:t>实际</a:t>
            </a:r>
            <a:r>
              <a:rPr lang="zh-CN" altLang="en-US" sz="2200" dirty="0">
                <a:solidFill>
                  <a:schemeClr val="tx1"/>
                </a:solidFill>
              </a:rPr>
              <a:t>如此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sz="2200" dirty="0">
                <a:solidFill>
                  <a:srgbClr val="990099"/>
                </a:solidFill>
              </a:rPr>
              <a:t>③</a:t>
            </a:r>
            <a:r>
              <a:rPr lang="en-US" altLang="zh-CN" sz="2200" dirty="0">
                <a:solidFill>
                  <a:schemeClr val="tx1"/>
                </a:solidFill>
              </a:rPr>
              <a:t>M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1101000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</a:t>
            </a:r>
            <a:r>
              <a:rPr lang="zh-CN" altLang="en-US" sz="2200" dirty="0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0100</a:t>
            </a:r>
            <a:r>
              <a:rPr lang="zh-CN" altLang="en-US" sz="2200" dirty="0">
                <a:solidFill>
                  <a:schemeClr val="tx1"/>
                </a:solidFill>
              </a:rPr>
              <a:t>，可得</a:t>
            </a:r>
            <a:r>
              <a:rPr lang="en-US" altLang="zh-CN" sz="2200" dirty="0">
                <a:solidFill>
                  <a:schemeClr val="tx1"/>
                </a:solidFill>
              </a:rPr>
              <a:t>P</a:t>
            </a:r>
            <a:r>
              <a:rPr lang="en-US" altLang="zh-CN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22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0110</a:t>
            </a:r>
            <a:r>
              <a:rPr lang="zh-CN" altLang="en-US" sz="2200" dirty="0">
                <a:solidFill>
                  <a:schemeClr val="tx1"/>
                </a:solidFill>
              </a:rPr>
              <a:t>，则</a:t>
            </a:r>
            <a:r>
              <a:rPr lang="en-US" altLang="zh-CN" sz="2200" dirty="0">
                <a:solidFill>
                  <a:schemeClr val="tx1"/>
                </a:solidFill>
              </a:rPr>
              <a:t>S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>
                <a:solidFill>
                  <a:schemeClr val="tx1"/>
                </a:solidFill>
              </a:rPr>
              <a:t>0010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sz="2200" dirty="0">
                <a:solidFill>
                  <a:schemeClr val="tx1"/>
                </a:solidFill>
              </a:rPr>
              <a:t>  ∴位置</a:t>
            </a:r>
            <a:r>
              <a:rPr lang="en-US" altLang="zh-CN" sz="2200" dirty="0">
                <a:solidFill>
                  <a:schemeClr val="tx1"/>
                </a:solidFill>
              </a:rPr>
              <a:t>2(p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有错误？</a:t>
            </a:r>
            <a:r>
              <a:rPr lang="zh-CN" altLang="en-US" sz="2200" dirty="0">
                <a:solidFill>
                  <a:srgbClr val="C00000"/>
                </a:solidFill>
              </a:rPr>
              <a:t>实际</a:t>
            </a:r>
            <a:r>
              <a:rPr lang="zh-CN" altLang="en-US" sz="2200" dirty="0">
                <a:solidFill>
                  <a:schemeClr val="tx1"/>
                </a:solidFill>
              </a:rPr>
              <a:t>为位置</a:t>
            </a:r>
            <a:r>
              <a:rPr lang="en-US" altLang="zh-CN" sz="2200" dirty="0">
                <a:solidFill>
                  <a:schemeClr val="tx1"/>
                </a:solidFill>
              </a:rPr>
              <a:t>7(m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4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及位置</a:t>
            </a:r>
            <a:r>
              <a:rPr lang="en-US" altLang="zh-CN" sz="2200" dirty="0">
                <a:solidFill>
                  <a:schemeClr val="tx1"/>
                </a:solidFill>
              </a:rPr>
              <a:t>5(m</a:t>
            </a:r>
            <a:r>
              <a:rPr lang="en-US" altLang="zh-CN" sz="2200" baseline="-18000" dirty="0">
                <a:solidFill>
                  <a:schemeClr val="tx1"/>
                </a:solidFill>
              </a:rPr>
              <a:t>2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>
                <a:solidFill>
                  <a:schemeClr val="tx1"/>
                </a:solidFill>
              </a:rPr>
              <a:t>错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marL="2684780" indent="-2684780"/>
            <a:r>
              <a:rPr lang="zh-CN" altLang="en-US" sz="2200" dirty="0">
                <a:solidFill>
                  <a:schemeClr val="accent2"/>
                </a:solidFill>
              </a:rPr>
              <a:t>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错判原因</a:t>
            </a:r>
            <a:r>
              <a:rPr lang="zh-CN" altLang="en-US" sz="2200" dirty="0">
                <a:solidFill>
                  <a:schemeClr val="accent2"/>
                </a:solidFill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</a:rPr>
              <a:t>SEC</a:t>
            </a:r>
            <a:r>
              <a:rPr lang="zh-CN" altLang="en-US" sz="2200" dirty="0">
                <a:solidFill>
                  <a:schemeClr val="tx1"/>
                </a:solidFill>
              </a:rPr>
              <a:t>只能</a:t>
            </a:r>
            <a:r>
              <a:rPr lang="zh-CN" altLang="en-US" sz="2200" u="sng" dirty="0">
                <a:solidFill>
                  <a:schemeClr val="tx1"/>
                </a:solidFill>
              </a:rPr>
              <a:t>纠正</a:t>
            </a:r>
            <a:r>
              <a:rPr lang="en-US" altLang="zh-CN" sz="2200" u="sng" dirty="0">
                <a:solidFill>
                  <a:schemeClr val="tx1"/>
                </a:solidFill>
              </a:rPr>
              <a:t>1</a:t>
            </a:r>
            <a:r>
              <a:rPr lang="zh-CN" altLang="en-US" sz="2200" u="sng" dirty="0">
                <a:solidFill>
                  <a:schemeClr val="tx1"/>
                </a:solidFill>
              </a:rPr>
              <a:t>位错</a:t>
            </a:r>
            <a:r>
              <a:rPr lang="zh-CN" altLang="en-US" sz="2200" dirty="0">
                <a:solidFill>
                  <a:schemeClr val="tx1"/>
                </a:solidFill>
              </a:rPr>
              <a:t>，或</a:t>
            </a:r>
            <a:r>
              <a:rPr lang="zh-CN" altLang="en-US" sz="2200" u="sng" dirty="0">
                <a:solidFill>
                  <a:schemeClr val="tx1"/>
                </a:solidFill>
              </a:rPr>
              <a:t>检测</a:t>
            </a:r>
            <a:r>
              <a:rPr lang="en-US" altLang="zh-CN" sz="2200" u="sng" dirty="0">
                <a:solidFill>
                  <a:schemeClr val="tx1"/>
                </a:solidFill>
              </a:rPr>
              <a:t>2</a:t>
            </a:r>
            <a:r>
              <a:rPr lang="zh-CN" altLang="en-US" sz="2200" u="sng" dirty="0">
                <a:solidFill>
                  <a:schemeClr val="tx1"/>
                </a:solidFill>
              </a:rPr>
              <a:t>位错</a:t>
            </a:r>
            <a:r>
              <a:rPr lang="zh-CN" altLang="en-US" sz="2200" dirty="0" smtClean="0">
                <a:solidFill>
                  <a:schemeClr val="tx1"/>
                </a:solidFill>
              </a:rPr>
              <a:t>！</a:t>
            </a:r>
            <a:endParaRPr lang="zh-CN" altLang="en-US" sz="2200" dirty="0">
              <a:solidFill>
                <a:schemeClr val="tx1"/>
              </a:solidFill>
            </a:endParaRPr>
          </a:p>
        </p:txBody>
      </p:sp>
      <p:sp>
        <p:nvSpPr>
          <p:cNvPr id="16" name="Text Box 1299"/>
          <p:cNvSpPr txBox="1">
            <a:spLocks noChangeArrowheads="1"/>
          </p:cNvSpPr>
          <p:nvPr/>
        </p:nvSpPr>
        <p:spPr bwMode="auto">
          <a:xfrm>
            <a:off x="1703389" y="5445224"/>
            <a:ext cx="2088356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校验方式：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2684780" indent="-2684780"/>
            <a:r>
              <a:rPr lang="en-US" altLang="zh-CN" dirty="0" smtClean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*应用：</a:t>
            </a:r>
            <a:endParaRPr lang="zh-CN" altLang="en-US" dirty="0" smtClean="0">
              <a:solidFill>
                <a:schemeClr val="tx1"/>
              </a:solidFill>
            </a:endParaRPr>
          </a:p>
        </p:txBody>
      </p:sp>
      <p:sp>
        <p:nvSpPr>
          <p:cNvPr id="9" name="Text Box 1299"/>
          <p:cNvSpPr txBox="1">
            <a:spLocks noChangeArrowheads="1"/>
          </p:cNvSpPr>
          <p:nvPr/>
        </p:nvSpPr>
        <p:spPr bwMode="auto">
          <a:xfrm>
            <a:off x="2999656" y="5445224"/>
            <a:ext cx="7416824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84780" indent="-2684780"/>
            <a:r>
              <a:rPr lang="zh-CN" altLang="en-US" dirty="0" smtClean="0">
                <a:solidFill>
                  <a:schemeClr val="tx1"/>
                </a:solidFill>
              </a:rPr>
              <a:t>    需并行校验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接收完才求</a:t>
            </a:r>
            <a:r>
              <a:rPr lang="en-US" altLang="zh-CN" sz="1800" dirty="0">
                <a:solidFill>
                  <a:schemeClr val="tx1"/>
                </a:solidFill>
              </a:rPr>
              <a:t>P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/>
              </a:rPr>
              <a:t></a:t>
            </a:r>
            <a:r>
              <a:rPr lang="zh-CN" altLang="en-US" sz="1800" dirty="0" smtClean="0">
                <a:solidFill>
                  <a:schemeClr val="tx1"/>
                </a:solidFill>
              </a:rPr>
              <a:t>、用</a:t>
            </a:r>
            <a:r>
              <a:rPr lang="zh-CN" altLang="en-US" sz="1800" u="sng" dirty="0">
                <a:solidFill>
                  <a:schemeClr val="tx1"/>
                </a:solidFill>
              </a:rPr>
              <a:t>译码器</a:t>
            </a:r>
            <a:r>
              <a:rPr lang="zh-CN" altLang="en-US" sz="1800" dirty="0">
                <a:solidFill>
                  <a:schemeClr val="tx1"/>
                </a:solidFill>
              </a:rPr>
              <a:t>纠错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pPr marL="2684780" indent="-2684780"/>
            <a:r>
              <a:rPr lang="zh-CN" altLang="en-US" dirty="0" smtClean="0">
                <a:solidFill>
                  <a:schemeClr val="tx1"/>
                </a:solidFill>
              </a:rPr>
              <a:t>常用于</a:t>
            </a:r>
            <a:r>
              <a:rPr lang="zh-CN" altLang="en-US" u="sng" dirty="0" smtClean="0">
                <a:solidFill>
                  <a:srgbClr val="990099"/>
                </a:solidFill>
              </a:rPr>
              <a:t>并行传输、存取</a:t>
            </a:r>
            <a:r>
              <a:rPr lang="zh-CN" altLang="en-US" dirty="0">
                <a:solidFill>
                  <a:schemeClr val="tx1"/>
                </a:solidFill>
              </a:rPr>
              <a:t>方面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出错概率小、可纠错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7680325" y="1628775"/>
            <a:ext cx="2965450" cy="108013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pPr marL="2684780" indent="-2684780">
              <a:lnSpc>
                <a:spcPct val="9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p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4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6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5 </a:t>
            </a:r>
            <a:r>
              <a:rPr lang="en-US" altLang="zh-CN" sz="1800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 </a:t>
            </a:r>
            <a:r>
              <a:rPr lang="en-US" altLang="zh-CN" sz="1800" dirty="0" smtClean="0">
                <a:solidFill>
                  <a:schemeClr val="tx1"/>
                </a:solidFill>
              </a:rPr>
              <a:t> 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marL="2684780" indent="-2684780">
              <a:lnSpc>
                <a:spcPct val="9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p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3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3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sz="1800" baseline="-18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18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1800" baseline="-250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1800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en-US" altLang="zh-CN" sz="1800" dirty="0">
              <a:solidFill>
                <a:srgbClr val="990099"/>
              </a:solidFill>
            </a:endParaRPr>
          </a:p>
          <a:p>
            <a:pPr marL="2684780" indent="-2684780">
              <a:lnSpc>
                <a:spcPct val="9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p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6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3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 marL="2684780" indent="-2684780">
              <a:lnSpc>
                <a:spcPct val="9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p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 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7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5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4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sz="18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en-US" altLang="zh-CN" sz="1800" dirty="0" smtClean="0">
                <a:solidFill>
                  <a:schemeClr val="tx1"/>
                </a:solidFill>
              </a:rPr>
              <a:t>m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endParaRPr lang="en-US" altLang="zh-CN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19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19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819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819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819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819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819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819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819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1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96" name="Rectangle 20"/>
          <p:cNvSpPr>
            <a:spLocks noChangeArrowheads="1"/>
          </p:cNvSpPr>
          <p:nvPr/>
        </p:nvSpPr>
        <p:spPr bwMode="auto">
          <a:xfrm>
            <a:off x="1703388" y="345551"/>
            <a:ext cx="878522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038" rIns="90000" bIns="46038">
            <a:spAutoFit/>
          </a:bodyPr>
          <a:lstStyle/>
          <a:p>
            <a:pPr algn="just" eaLnBrk="0" hangingPunct="0">
              <a:tabLst>
                <a:tab pos="2066925" algn="l"/>
              </a:tabLst>
            </a:pPr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4</a:t>
            </a:r>
            <a:r>
              <a:rPr lang="en-US" altLang="zh-CN" dirty="0" smtClean="0">
                <a:solidFill>
                  <a:srgbClr val="990099"/>
                </a:solidFill>
                <a:cs typeface="Times New Roman" panose="02020603050405020304" pitchFamily="18" charset="0"/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求</a:t>
            </a:r>
            <a:r>
              <a:rPr lang="en-US" altLang="zh-CN" dirty="0" smtClean="0">
                <a:solidFill>
                  <a:schemeClr val="tx1"/>
                </a:solidFill>
              </a:rPr>
              <a:t>-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11/128</a:t>
            </a:r>
            <a:r>
              <a:rPr lang="zh-CN" altLang="en-US" dirty="0" smtClean="0">
                <a:solidFill>
                  <a:schemeClr val="tx1"/>
                </a:solidFill>
              </a:rPr>
              <a:t>的</a:t>
            </a:r>
            <a:r>
              <a:rPr lang="en-US" altLang="zh-CN" dirty="0">
                <a:solidFill>
                  <a:schemeClr val="tx1"/>
                </a:solidFill>
              </a:rPr>
              <a:t>IEEE 754</a:t>
            </a:r>
            <a:r>
              <a:rPr lang="zh-CN" altLang="en-US" dirty="0" smtClean="0">
                <a:solidFill>
                  <a:schemeClr val="tx1"/>
                </a:solidFill>
              </a:rPr>
              <a:t>单精度浮点数的机器码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D7E8D-0DDD-405A-A32D-EF011042ACD1}" type="slidenum">
              <a:rPr lang="en-US" altLang="zh-CN"/>
            </a:fld>
            <a:endParaRPr lang="en-US" altLang="zh-CN" dirty="0"/>
          </a:p>
        </p:txBody>
      </p:sp>
      <p:sp>
        <p:nvSpPr>
          <p:cNvPr id="126995" name="Rectangle 19"/>
          <p:cNvSpPr>
            <a:spLocks noChangeArrowheads="1"/>
          </p:cNvSpPr>
          <p:nvPr/>
        </p:nvSpPr>
        <p:spPr bwMode="auto">
          <a:xfrm>
            <a:off x="1703388" y="2131527"/>
            <a:ext cx="878522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0000" tIns="46038" rIns="90000" bIns="46038">
            <a:spAutoFit/>
          </a:bodyPr>
          <a:lstStyle/>
          <a:p>
            <a:pPr algn="just" eaLnBrk="0" hangingPunct="0">
              <a:tabLst>
                <a:tab pos="2066925" algn="l"/>
              </a:tabLst>
            </a:pPr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5—</a:t>
            </a:r>
            <a:r>
              <a:rPr lang="zh-CN" altLang="en-US" dirty="0">
                <a:solidFill>
                  <a:schemeClr val="tx1"/>
                </a:solidFill>
              </a:rPr>
              <a:t>求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IEEE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754</a:t>
            </a:r>
            <a:r>
              <a:rPr lang="zh-CN" altLang="en-US" dirty="0">
                <a:solidFill>
                  <a:schemeClr val="tx1"/>
                </a:solidFill>
              </a:rPr>
              <a:t>单精度</a:t>
            </a:r>
            <a:r>
              <a:rPr lang="zh-CN" altLang="en-US" dirty="0" smtClean="0">
                <a:solidFill>
                  <a:schemeClr val="tx1"/>
                </a:solidFill>
              </a:rPr>
              <a:t>浮点数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CC968000H</a:t>
            </a:r>
            <a:r>
              <a:rPr lang="zh-CN" altLang="en-US" dirty="0" smtClean="0">
                <a:solidFill>
                  <a:schemeClr val="tx1"/>
                </a:solidFill>
              </a:rPr>
              <a:t>的</a:t>
            </a:r>
            <a:r>
              <a:rPr lang="zh-CN" altLang="en-US" dirty="0">
                <a:solidFill>
                  <a:schemeClr val="tx1"/>
                </a:solidFill>
              </a:rPr>
              <a:t>真值</a:t>
            </a:r>
            <a:r>
              <a:rPr lang="en-US" altLang="zh-CN" dirty="0" smtClean="0">
                <a:solidFill>
                  <a:schemeClr val="tx1"/>
                </a:solidFill>
              </a:rPr>
              <a:t>N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26997" name="Rectangle 21"/>
          <p:cNvSpPr>
            <a:spLocks noChangeArrowheads="1"/>
          </p:cNvSpPr>
          <p:nvPr/>
        </p:nvSpPr>
        <p:spPr bwMode="auto">
          <a:xfrm>
            <a:off x="2855515" y="790373"/>
            <a:ext cx="7633097" cy="922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038" rIns="90000" bIns="46038">
            <a:spAutoFit/>
          </a:bodyPr>
          <a:lstStyle/>
          <a:p>
            <a:pPr algn="just" eaLnBrk="0" hangingPunct="0">
              <a:tabLst>
                <a:tab pos="2066925" algn="l"/>
              </a:tabLst>
            </a:pPr>
            <a:r>
              <a:rPr lang="en-US" altLang="zh-CN" dirty="0" smtClean="0">
                <a:solidFill>
                  <a:schemeClr val="tx1"/>
                </a:solidFill>
              </a:rPr>
              <a:t>-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11/128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1011)</a:t>
            </a:r>
            <a:r>
              <a:rPr lang="en-US" altLang="zh-CN" baseline="-18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-7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chemeClr val="tx1"/>
                </a:solidFill>
              </a:rPr>
              <a:t>-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0.1011)</a:t>
            </a:r>
            <a:r>
              <a:rPr lang="en-US" altLang="zh-CN" baseline="-18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baseline="30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-3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endParaRPr lang="en-US" altLang="zh-CN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      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(-</a:t>
            </a:r>
            <a:r>
              <a:rPr lang="en-US" altLang="zh-CN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.011)</a:t>
            </a:r>
            <a:r>
              <a:rPr lang="en-US" altLang="zh-CN" baseline="-18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baseline="30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-4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(-1.</a:t>
            </a:r>
            <a:r>
              <a:rPr lang="en-US" altLang="zh-CN" dirty="0" smtClean="0">
                <a:solidFill>
                  <a:srgbClr val="990099"/>
                </a:solidFill>
                <a:cs typeface="Times New Roman" panose="02020603050405020304" pitchFamily="18" charset="0"/>
              </a:rPr>
              <a:t>011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baseline="-18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baseline="30000" dirty="0" smtClean="0">
                <a:solidFill>
                  <a:schemeClr val="accent2"/>
                </a:solidFill>
                <a:cs typeface="Times New Roman" panose="02020603050405020304" pitchFamily="18" charset="0"/>
              </a:rPr>
              <a:t>123</a:t>
            </a:r>
            <a:r>
              <a:rPr lang="en-US" altLang="zh-CN" baseline="30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-127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endParaRPr lang="en-US" altLang="zh-CN" dirty="0" smtClean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机器数为：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127092" name="Group 116"/>
          <p:cNvGrpSpPr/>
          <p:nvPr/>
        </p:nvGrpSpPr>
        <p:grpSpPr bwMode="auto">
          <a:xfrm>
            <a:off x="4512072" y="1800477"/>
            <a:ext cx="5465762" cy="323850"/>
            <a:chOff x="2019" y="1223"/>
            <a:chExt cx="3443" cy="204"/>
          </a:xfrm>
        </p:grpSpPr>
        <p:sp>
          <p:nvSpPr>
            <p:cNvPr id="127074" name="Text Box 98"/>
            <p:cNvSpPr txBox="1">
              <a:spLocks noChangeArrowheads="1"/>
            </p:cNvSpPr>
            <p:nvPr/>
          </p:nvSpPr>
          <p:spPr bwMode="auto">
            <a:xfrm>
              <a:off x="2019" y="1223"/>
              <a:ext cx="227" cy="20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tx1"/>
                  </a:solidFill>
                </a:rPr>
                <a:t>1 </a:t>
              </a:r>
              <a:endParaRPr lang="en-US" altLang="zh-CN" sz="2000" i="1" dirty="0">
                <a:solidFill>
                  <a:schemeClr val="tx1"/>
                </a:solidFill>
              </a:endParaRPr>
            </a:p>
          </p:txBody>
        </p:sp>
        <p:sp>
          <p:nvSpPr>
            <p:cNvPr id="127075" name="Text Box 99"/>
            <p:cNvSpPr txBox="1">
              <a:spLocks noChangeArrowheads="1"/>
            </p:cNvSpPr>
            <p:nvPr/>
          </p:nvSpPr>
          <p:spPr bwMode="auto">
            <a:xfrm>
              <a:off x="2246" y="1223"/>
              <a:ext cx="771" cy="20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 dirty="0">
                  <a:solidFill>
                    <a:schemeClr val="accent2"/>
                  </a:solidFill>
                </a:rPr>
                <a:t>0111</a:t>
              </a:r>
              <a:r>
                <a:rPr lang="en-US" altLang="zh-CN" sz="2000" dirty="0">
                  <a:solidFill>
                    <a:schemeClr val="accent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accent2"/>
                  </a:solidFill>
                </a:rPr>
                <a:t>1011</a:t>
              </a:r>
              <a:endParaRPr lang="en-US" altLang="zh-CN" sz="2000" i="1" dirty="0">
                <a:solidFill>
                  <a:schemeClr val="accent2"/>
                </a:solidFill>
              </a:endParaRPr>
            </a:p>
          </p:txBody>
        </p:sp>
        <p:sp>
          <p:nvSpPr>
            <p:cNvPr id="127076" name="Text Box 100"/>
            <p:cNvSpPr txBox="1">
              <a:spLocks noChangeArrowheads="1"/>
            </p:cNvSpPr>
            <p:nvPr/>
          </p:nvSpPr>
          <p:spPr bwMode="auto">
            <a:xfrm>
              <a:off x="3016" y="1223"/>
              <a:ext cx="2446" cy="20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rIns="180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2000" dirty="0">
                  <a:solidFill>
                    <a:srgbClr val="990099"/>
                  </a:solidFill>
                </a:rPr>
                <a:t>011</a:t>
              </a:r>
              <a:r>
                <a:rPr lang="en-US" altLang="zh-CN" sz="2000" dirty="0">
                  <a:solidFill>
                    <a:schemeClr val="tx1"/>
                  </a:solidFill>
                </a:rPr>
                <a:t>0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0000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0000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0000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0000</a:t>
              </a: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dirty="0">
                  <a:solidFill>
                    <a:schemeClr val="tx1"/>
                  </a:solidFill>
                </a:rPr>
                <a:t>000</a:t>
              </a:r>
              <a:endParaRPr lang="en-US" altLang="zh-CN" sz="2000" i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27079" name="Rectangle 103"/>
          <p:cNvSpPr>
            <a:spLocks noChangeArrowheads="1"/>
          </p:cNvSpPr>
          <p:nvPr/>
        </p:nvSpPr>
        <p:spPr bwMode="auto">
          <a:xfrm>
            <a:off x="2855640" y="2607958"/>
            <a:ext cx="7776864" cy="1599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038" rIns="90000" bIns="46038">
            <a:spAutoFit/>
          </a:bodyPr>
          <a:lstStyle/>
          <a:p>
            <a:pPr algn="just" eaLnBrk="0" hangingPunct="0">
              <a:tabLst>
                <a:tab pos="2066925" algn="l"/>
              </a:tabLst>
            </a:pPr>
            <a:r>
              <a:rPr lang="en-US" altLang="zh-CN" sz="2200" dirty="0">
                <a:solidFill>
                  <a:schemeClr val="tx1"/>
                </a:solidFill>
              </a:rPr>
              <a:t>CC968000H</a:t>
            </a:r>
            <a:r>
              <a:rPr lang="zh-CN" altLang="en-US" sz="2200" spc="-20" dirty="0">
                <a:solidFill>
                  <a:schemeClr val="tx1"/>
                </a:solidFill>
              </a:rPr>
              <a:t>＝</a:t>
            </a:r>
            <a:r>
              <a:rPr lang="en-US" altLang="zh-CN" sz="2200" u="sng" spc="-20" dirty="0">
                <a:solidFill>
                  <a:srgbClr val="FF3399"/>
                </a:solidFill>
              </a:rPr>
              <a:t>1</a:t>
            </a:r>
            <a:r>
              <a:rPr lang="en-US" altLang="zh-CN" sz="2200" spc="-2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200" u="sng" spc="-20" dirty="0">
                <a:solidFill>
                  <a:schemeClr val="accent2"/>
                </a:solidFill>
                <a:cs typeface="Times New Roman" panose="02020603050405020304" pitchFamily="18" charset="0"/>
              </a:rPr>
              <a:t>10011001</a:t>
            </a:r>
            <a:r>
              <a:rPr lang="en-US" altLang="zh-CN" sz="22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u="sng" spc="-20" dirty="0" smtClean="0">
                <a:solidFill>
                  <a:srgbClr val="990099"/>
                </a:solidFill>
                <a:cs typeface="Times New Roman" panose="02020603050405020304" pitchFamily="18" charset="0"/>
              </a:rPr>
              <a:t>00101101000000000000000</a:t>
            </a:r>
            <a:r>
              <a:rPr lang="zh-CN" altLang="en-US" sz="22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，规格化数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zh-CN" altLang="en-US" dirty="0" smtClean="0">
                <a:solidFill>
                  <a:schemeClr val="tx1"/>
                </a:solidFill>
              </a:rPr>
              <a:t>阶＝</a:t>
            </a:r>
            <a:r>
              <a:rPr lang="en-US" altLang="zh-CN" dirty="0" smtClean="0">
                <a:solidFill>
                  <a:schemeClr val="accent2"/>
                </a:solidFill>
                <a:cs typeface="Times New Roman" panose="02020603050405020304" pitchFamily="18" charset="0"/>
              </a:rPr>
              <a:t>10011001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</a:rPr>
              <a:t>－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en-US" altLang="zh-CN" dirty="0" smtClean="0">
                <a:solidFill>
                  <a:srgbClr val="0070C0"/>
                </a:solidFill>
              </a:rPr>
              <a:t>10000000-1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00011010B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+26</a:t>
            </a:r>
            <a:endParaRPr lang="en-US" altLang="zh-CN" baseline="-2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zh-CN" altLang="en-US" dirty="0" smtClean="0">
                <a:solidFill>
                  <a:schemeClr val="tx1"/>
                </a:solidFill>
              </a:rPr>
              <a:t>尾数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rgbClr val="C0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990099"/>
                </a:solidFill>
                <a:cs typeface="Times New Roman" panose="02020603050405020304" pitchFamily="18" charset="0"/>
              </a:rPr>
              <a:t>00101101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1.17578125</a:t>
            </a:r>
            <a:endParaRPr lang="en-US" altLang="zh-CN" baseline="-2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just" eaLnBrk="0" hangingPunct="0">
              <a:tabLst>
                <a:tab pos="2066925" algn="l"/>
              </a:tabLst>
            </a:pPr>
            <a:r>
              <a:rPr lang="en-US" altLang="zh-CN" dirty="0" smtClean="0">
                <a:solidFill>
                  <a:schemeClr val="tx1"/>
                </a:solidFill>
              </a:rPr>
              <a:t>∴N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(―1)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×1.17578125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×2</a:t>
            </a:r>
            <a:r>
              <a:rPr lang="en-US" altLang="zh-CN" baseline="30000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+26</a:t>
            </a:r>
            <a:r>
              <a:rPr lang="zh-CN" altLang="en-US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chemeClr val="tx1"/>
                </a:solidFill>
              </a:rPr>
              <a:t>1.17578125×2</a:t>
            </a:r>
            <a:r>
              <a:rPr lang="en-US" altLang="zh-CN" baseline="30000" dirty="0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26</a:t>
            </a:r>
            <a:endParaRPr lang="en-US" altLang="zh-CN" baseline="30000" dirty="0">
              <a:solidFill>
                <a:schemeClr val="tx1"/>
              </a:solidFill>
            </a:endParaRPr>
          </a:p>
        </p:txBody>
      </p:sp>
      <p:sp>
        <p:nvSpPr>
          <p:cNvPr id="21" name="AutoShape 62">
            <a:hlinkClick r:id="" action="ppaction://noaction"/>
          </p:cNvPr>
          <p:cNvSpPr>
            <a:spLocks noChangeArrowheads="1"/>
          </p:cNvSpPr>
          <p:nvPr/>
        </p:nvSpPr>
        <p:spPr bwMode="auto">
          <a:xfrm rot="16200000">
            <a:off x="775253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38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8" name="Text Box 106"/>
          <p:cNvSpPr txBox="1">
            <a:spLocks noChangeArrowheads="1"/>
          </p:cNvSpPr>
          <p:nvPr/>
        </p:nvSpPr>
        <p:spPr bwMode="auto">
          <a:xfrm>
            <a:off x="1703388" y="4933617"/>
            <a:ext cx="878522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 ※</a:t>
            </a:r>
            <a:r>
              <a:rPr lang="zh-CN" altLang="en-US" dirty="0" smtClean="0">
                <a:solidFill>
                  <a:srgbClr val="FF3399"/>
                </a:solidFill>
              </a:rPr>
              <a:t>数值数据的表示小结：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r>
              <a:rPr lang="en-US" altLang="zh-CN" dirty="0">
                <a:solidFill>
                  <a:srgbClr val="FF3399"/>
                </a:solidFill>
              </a:rPr>
              <a:t> </a:t>
            </a:r>
            <a:r>
              <a:rPr lang="en-US" altLang="zh-CN" dirty="0" smtClean="0">
                <a:solidFill>
                  <a:srgbClr val="FF3399"/>
                </a:solidFill>
              </a:rPr>
              <a:t>    </a:t>
            </a:r>
            <a:r>
              <a:rPr lang="zh-CN" altLang="en-US" dirty="0" smtClean="0">
                <a:solidFill>
                  <a:schemeClr val="tx1"/>
                </a:solidFill>
              </a:rPr>
              <a:t>二</a:t>
            </a:r>
            <a:r>
              <a:rPr lang="zh-CN" altLang="en-US" u="sng" dirty="0" smtClean="0">
                <a:solidFill>
                  <a:schemeClr val="tx1"/>
                </a:solidFill>
              </a:rPr>
              <a:t>进制</a:t>
            </a:r>
            <a:r>
              <a:rPr lang="zh-CN" altLang="en-US" dirty="0" smtClean="0">
                <a:solidFill>
                  <a:schemeClr val="tx1"/>
                </a:solidFill>
              </a:rPr>
              <a:t>，定点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浮点</a:t>
            </a:r>
            <a:r>
              <a:rPr lang="zh-CN" altLang="en-US" u="sng" dirty="0" smtClean="0">
                <a:solidFill>
                  <a:schemeClr val="tx1"/>
                </a:solidFill>
                <a:latin typeface="+mn-ea"/>
                <a:ea typeface="+mn-ea"/>
              </a:rPr>
              <a:t>格式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，某种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两种</a:t>
            </a:r>
            <a:r>
              <a:rPr lang="zh-CN" altLang="en-US" u="sng" dirty="0" smtClean="0">
                <a:solidFill>
                  <a:schemeClr val="tx1"/>
                </a:solidFill>
                <a:latin typeface="+mn-ea"/>
                <a:ea typeface="+mn-ea"/>
              </a:rPr>
              <a:t>编码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，几种</a:t>
            </a:r>
            <a:r>
              <a:rPr lang="zh-CN" altLang="en-US" u="sng" dirty="0" smtClean="0">
                <a:solidFill>
                  <a:schemeClr val="tx1"/>
                </a:solidFill>
                <a:latin typeface="+mn-ea"/>
                <a:ea typeface="+mn-ea"/>
              </a:rPr>
              <a:t>长度</a:t>
            </a:r>
            <a:endParaRPr lang="zh-CN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1703512" y="4425000"/>
            <a:ext cx="8136903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0000" tIns="46038" rIns="90000" bIns="46038">
            <a:spAutoFit/>
          </a:bodyPr>
          <a:lstStyle/>
          <a:p>
            <a:pPr algn="just" eaLnBrk="0" hangingPunct="0">
              <a:tabLst>
                <a:tab pos="2066925" algn="l"/>
              </a:tabLst>
            </a:pPr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>
                <a:solidFill>
                  <a:srgbClr val="990099"/>
                </a:solidFill>
              </a:rPr>
              <a:t>练习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写出</a:t>
            </a:r>
            <a:r>
              <a:rPr lang="en-US" altLang="zh-CN" dirty="0" smtClean="0">
                <a:solidFill>
                  <a:schemeClr val="tx1"/>
                </a:solidFill>
              </a:rPr>
              <a:t>-180</a:t>
            </a:r>
            <a:r>
              <a:rPr lang="zh-CN" altLang="en-US" dirty="0" smtClean="0">
                <a:solidFill>
                  <a:schemeClr val="tx1"/>
                </a:solidFill>
              </a:rPr>
              <a:t>的</a:t>
            </a:r>
            <a:r>
              <a:rPr lang="en-US" altLang="zh-CN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IEEE</a:t>
            </a:r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754</a:t>
            </a:r>
            <a:r>
              <a:rPr lang="zh-CN" altLang="en-US" dirty="0">
                <a:solidFill>
                  <a:schemeClr val="tx1"/>
                </a:solidFill>
              </a:rPr>
              <a:t>单精度</a:t>
            </a:r>
            <a:r>
              <a:rPr lang="zh-CN" altLang="en-US" dirty="0" smtClean="0">
                <a:solidFill>
                  <a:schemeClr val="tx1"/>
                </a:solidFill>
              </a:rPr>
              <a:t>浮点数的机器码</a:t>
            </a:r>
            <a:endParaRPr lang="en-US" altLang="zh-CN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6" name="AutoShape 29"/>
          <p:cNvSpPr/>
          <p:nvPr/>
        </p:nvSpPr>
        <p:spPr bwMode="auto">
          <a:xfrm>
            <a:off x="9264352" y="1016760"/>
            <a:ext cx="1152000" cy="252000"/>
          </a:xfrm>
          <a:prstGeom prst="borderCallout2">
            <a:avLst>
              <a:gd name="adj1" fmla="val 42290"/>
              <a:gd name="adj2" fmla="val -451"/>
              <a:gd name="adj3" fmla="val 42464"/>
              <a:gd name="adj4" fmla="val -14169"/>
              <a:gd name="adj5" fmla="val 131243"/>
              <a:gd name="adj6" fmla="val -45950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arrow" w="sm" len="sm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800" b="1" dirty="0" smtClean="0">
                <a:solidFill>
                  <a:schemeClr val="tx1"/>
                </a:solidFill>
              </a:rPr>
              <a:t>=[-4]</a:t>
            </a:r>
            <a:r>
              <a:rPr lang="zh-CN" altLang="en-US" sz="1800" b="1" baseline="-18000" dirty="0" smtClean="0">
                <a:solidFill>
                  <a:schemeClr val="tx1"/>
                </a:solidFill>
              </a:rPr>
              <a:t>移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-1</a:t>
            </a:r>
            <a:endParaRPr lang="en-US" altLang="zh-CN" sz="18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7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70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70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70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95" grpId="0" bldLvl="0" animBg="1"/>
      <p:bldP spid="126997" grpId="0" bldLvl="0" animBg="1"/>
      <p:bldP spid="18" grpId="0" bldLvl="0" animBg="1"/>
      <p:bldP spid="19" grpId="0" bldLvl="0" animBg="1"/>
      <p:bldP spid="1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55" name="Text Box 7"/>
          <p:cNvSpPr txBox="1">
            <a:spLocks noChangeArrowheads="1"/>
          </p:cNvSpPr>
          <p:nvPr/>
        </p:nvSpPr>
        <p:spPr bwMode="auto">
          <a:xfrm>
            <a:off x="3143672" y="4293096"/>
            <a:ext cx="504056" cy="351151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0" rIns="18000" bIns="0" anchor="ctr" anchorCtr="0"/>
          <a:lstStyle/>
          <a:p>
            <a:pPr algn="ctr">
              <a:lnSpc>
                <a:spcPct val="90000"/>
              </a:lnSpc>
            </a:pP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41H</a:t>
            </a: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56" name="Text Box 7"/>
          <p:cNvSpPr txBox="1">
            <a:spLocks noChangeArrowheads="1"/>
          </p:cNvSpPr>
          <p:nvPr/>
        </p:nvSpPr>
        <p:spPr bwMode="auto">
          <a:xfrm>
            <a:off x="3647728" y="4293096"/>
            <a:ext cx="2016224" cy="351151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50400" tIns="0" rIns="18000" bIns="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DCH</a:t>
            </a:r>
            <a:r>
              <a:rPr lang="en-US" altLang="zh-CN" sz="1800" b="1" spc="4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FFH</a:t>
            </a:r>
            <a:r>
              <a:rPr lang="en-US" altLang="zh-CN" sz="1800" b="1" spc="2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FFH</a:t>
            </a:r>
            <a:r>
              <a:rPr lang="en-US" altLang="zh-CN" sz="1800" b="1" spc="3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err="1" smtClean="0">
                <a:solidFill>
                  <a:schemeClr val="accent2"/>
                </a:solidFill>
                <a:latin typeface="宋体" panose="02010600030101010101" pitchFamily="2" charset="-122"/>
              </a:rPr>
              <a:t>FFH</a:t>
            </a: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2639616" y="4005064"/>
            <a:ext cx="7704856" cy="648072"/>
            <a:chOff x="611560" y="4869160"/>
            <a:chExt cx="7704856" cy="648072"/>
          </a:xfrm>
        </p:grpSpPr>
        <p:cxnSp>
          <p:nvCxnSpPr>
            <p:cNvPr id="58" name="直接连接符 57"/>
            <p:cNvCxnSpPr/>
            <p:nvPr/>
          </p:nvCxnSpPr>
          <p:spPr bwMode="auto">
            <a:xfrm>
              <a:off x="1115616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 bwMode="auto">
            <a:xfrm>
              <a:off x="971600" y="5157192"/>
              <a:ext cx="7344816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 bwMode="auto">
            <a:xfrm flipV="1">
              <a:off x="971600" y="5517231"/>
              <a:ext cx="7344816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直接连接符 60"/>
            <p:cNvCxnSpPr/>
            <p:nvPr/>
          </p:nvCxnSpPr>
          <p:spPr bwMode="auto">
            <a:xfrm>
              <a:off x="1619672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/>
          </p:nvCxnSpPr>
          <p:spPr bwMode="auto">
            <a:xfrm>
              <a:off x="3635896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/>
            <p:nvPr/>
          </p:nvCxnSpPr>
          <p:spPr bwMode="auto">
            <a:xfrm>
              <a:off x="4644008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/>
          </p:nvCxnSpPr>
          <p:spPr bwMode="auto">
            <a:xfrm>
              <a:off x="5652120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/>
          </p:nvCxnSpPr>
          <p:spPr bwMode="auto">
            <a:xfrm>
              <a:off x="7668344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直接连接符 65"/>
            <p:cNvCxnSpPr/>
            <p:nvPr/>
          </p:nvCxnSpPr>
          <p:spPr bwMode="auto">
            <a:xfrm>
              <a:off x="8172400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" name="直接连接符 66"/>
            <p:cNvCxnSpPr/>
            <p:nvPr/>
          </p:nvCxnSpPr>
          <p:spPr bwMode="auto">
            <a:xfrm>
              <a:off x="2123728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 bwMode="auto">
            <a:xfrm>
              <a:off x="2627784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/>
          </p:nvCxnSpPr>
          <p:spPr bwMode="auto">
            <a:xfrm>
              <a:off x="3131840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/>
            <p:nvPr/>
          </p:nvCxnSpPr>
          <p:spPr bwMode="auto">
            <a:xfrm>
              <a:off x="6156176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直接连接符 70"/>
            <p:cNvCxnSpPr/>
            <p:nvPr/>
          </p:nvCxnSpPr>
          <p:spPr bwMode="auto">
            <a:xfrm>
              <a:off x="6660232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/>
            <p:cNvCxnSpPr/>
            <p:nvPr/>
          </p:nvCxnSpPr>
          <p:spPr bwMode="auto">
            <a:xfrm>
              <a:off x="7164288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/>
            <p:nvPr/>
          </p:nvCxnSpPr>
          <p:spPr bwMode="auto">
            <a:xfrm>
              <a:off x="5148064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/>
          </p:nvCxnSpPr>
          <p:spPr bwMode="auto">
            <a:xfrm>
              <a:off x="4139952" y="5157192"/>
              <a:ext cx="0" cy="36004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 Box 7"/>
            <p:cNvSpPr txBox="1">
              <a:spLocks noChangeArrowheads="1"/>
            </p:cNvSpPr>
            <p:nvPr/>
          </p:nvSpPr>
          <p:spPr bwMode="auto">
            <a:xfrm>
              <a:off x="1187624" y="4869160"/>
              <a:ext cx="7056784" cy="2791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2  </a:t>
              </a:r>
              <a:r>
                <a:rPr lang="en-US" altLang="zh-CN" sz="1600" spc="-1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3    4   </a:t>
              </a:r>
              <a:r>
                <a:rPr lang="en-US" altLang="zh-CN" sz="1600" spc="-1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5   </a:t>
              </a:r>
              <a:r>
                <a:rPr lang="en-US" altLang="zh-CN" sz="1600" spc="-1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6   </a:t>
              </a:r>
              <a:r>
                <a:rPr lang="en-US" altLang="zh-CN" sz="1600" spc="-100" dirty="0">
                  <a:solidFill>
                    <a:schemeClr val="tx1"/>
                  </a:solidFill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</a:rPr>
                <a:t>7    8  </a:t>
              </a:r>
              <a:r>
                <a:rPr lang="en-US" altLang="zh-CN" sz="1600" spc="-1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9 </a:t>
              </a:r>
              <a:r>
                <a:rPr lang="en-US" altLang="zh-CN" sz="1600" spc="1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10</a:t>
              </a:r>
              <a:r>
                <a:rPr lang="en-US" altLang="zh-CN" sz="1600" spc="3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11   12   13</a:t>
              </a:r>
              <a:r>
                <a:rPr lang="en-US" altLang="zh-CN" sz="1600" spc="200" dirty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>
                  <a:solidFill>
                    <a:schemeClr val="tx1"/>
                  </a:solidFill>
                </a:rPr>
                <a:t>14   15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76" name="Text Box 7"/>
            <p:cNvSpPr txBox="1">
              <a:spLocks noChangeArrowheads="1"/>
            </p:cNvSpPr>
            <p:nvPr/>
          </p:nvSpPr>
          <p:spPr bwMode="auto">
            <a:xfrm>
              <a:off x="611560" y="5157192"/>
              <a:ext cx="504056" cy="35115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0" rIns="1800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MEM</a:t>
              </a:r>
              <a:endPara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77" name="Text Box 7"/>
          <p:cNvSpPr txBox="1">
            <a:spLocks noChangeArrowheads="1"/>
          </p:cNvSpPr>
          <p:nvPr/>
        </p:nvSpPr>
        <p:spPr bwMode="auto">
          <a:xfrm>
            <a:off x="5663952" y="4293096"/>
            <a:ext cx="1008112" cy="351151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50400" tIns="0" rIns="18000" bIns="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DCH</a:t>
            </a:r>
            <a:r>
              <a:rPr lang="en-US" altLang="zh-CN" sz="1800" b="1" spc="4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FFH</a:t>
            </a: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78" name="Text Box 7"/>
          <p:cNvSpPr txBox="1">
            <a:spLocks noChangeArrowheads="1"/>
          </p:cNvSpPr>
          <p:nvPr/>
        </p:nvSpPr>
        <p:spPr bwMode="auto">
          <a:xfrm>
            <a:off x="6672064" y="4293096"/>
            <a:ext cx="1008112" cy="351151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50400" tIns="0" rIns="18000" bIns="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40H</a:t>
            </a:r>
            <a:r>
              <a:rPr lang="en-US" altLang="zh-CN" sz="1800" b="1" spc="4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00H</a:t>
            </a: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79" name="Text Box 7"/>
          <p:cNvSpPr txBox="1">
            <a:spLocks noChangeArrowheads="1"/>
          </p:cNvSpPr>
          <p:nvPr/>
        </p:nvSpPr>
        <p:spPr bwMode="auto">
          <a:xfrm>
            <a:off x="7680176" y="4293096"/>
            <a:ext cx="2016224" cy="351151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50400" tIns="0" rIns="18000" bIns="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rgbClr val="C00000"/>
                </a:solidFill>
              </a:rPr>
              <a:t>00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H</a:t>
            </a:r>
            <a:r>
              <a:rPr lang="en-US" altLang="zh-CN" sz="1800" b="1" spc="4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dirty="0" err="1" smtClean="0">
                <a:solidFill>
                  <a:srgbClr val="C00000"/>
                </a:solidFill>
              </a:rPr>
              <a:t>00</a:t>
            </a:r>
            <a:r>
              <a:rPr lang="en-US" altLang="zh-CN" sz="1800" b="1" dirty="0" err="1" smtClean="0">
                <a:solidFill>
                  <a:srgbClr val="C00000"/>
                </a:solidFill>
                <a:latin typeface="宋体" panose="02010600030101010101" pitchFamily="2" charset="-122"/>
              </a:rPr>
              <a:t>H</a:t>
            </a:r>
            <a:r>
              <a:rPr lang="en-US" altLang="zh-CN" sz="1800" b="1" spc="2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dirty="0" smtClean="0">
                <a:solidFill>
                  <a:srgbClr val="C00000"/>
                </a:solidFill>
              </a:rPr>
              <a:t>20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H</a:t>
            </a:r>
            <a:r>
              <a:rPr lang="en-US" altLang="zh-CN" sz="1800" b="1" spc="3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dirty="0" smtClean="0">
                <a:solidFill>
                  <a:srgbClr val="C00000"/>
                </a:solidFill>
              </a:rPr>
              <a:t>42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H</a:t>
            </a: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06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8976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09" name="矩形 108"/>
          <p:cNvSpPr/>
          <p:nvPr/>
        </p:nvSpPr>
        <p:spPr bwMode="auto">
          <a:xfrm>
            <a:off x="3195867" y="4321671"/>
            <a:ext cx="421381" cy="30600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 Box 200"/>
          <p:cNvSpPr txBox="1">
            <a:spLocks noChangeArrowheads="1"/>
          </p:cNvSpPr>
          <p:nvPr/>
        </p:nvSpPr>
        <p:spPr bwMode="auto">
          <a:xfrm>
            <a:off x="2260600" y="687070"/>
            <a:ext cx="8913495" cy="34220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noAutofit/>
          </a:bodyPr>
          <a:lstStyle/>
          <a:p>
            <a:r>
              <a:rPr lang="zh-CN" altLang="en-US" b="1" dirty="0" smtClean="0">
                <a:solidFill>
                  <a:srgbClr val="800080"/>
                </a:solidFill>
                <a:latin typeface="+mn-ea"/>
                <a:ea typeface="+mn-ea"/>
              </a:rPr>
              <a:t>   测试</a:t>
            </a:r>
            <a:r>
              <a:rPr lang="en-US" altLang="zh-CN" b="1" dirty="0" smtClean="0">
                <a:solidFill>
                  <a:srgbClr val="800080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IA32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中，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MEM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+mn-ea"/>
                <a:ea typeface="+mn-ea"/>
              </a:rPr>
              <a:t>按字节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编址，数据在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MEM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中采用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+mn-ea"/>
                <a:ea typeface="+mn-ea"/>
              </a:rPr>
              <a:t>小端方式</a:t>
            </a:r>
            <a:r>
              <a:rPr lang="zh-CN" altLang="en-US" sz="2200" dirty="0">
                <a:solidFill>
                  <a:schemeClr val="tx1"/>
                </a:solidFill>
                <a:latin typeface="+mn-ea"/>
                <a:ea typeface="+mn-ea"/>
              </a:rPr>
              <a:t>存放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。下列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C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语句中，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数据从</a:t>
            </a:r>
            <a:r>
              <a:rPr lang="en-US" altLang="zh-CN" sz="2200" b="1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#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存储单元起</a:t>
            </a:r>
            <a:r>
              <a:rPr lang="zh-CN" altLang="en-US" sz="2200" b="1" u="sng" dirty="0" smtClean="0">
                <a:solidFill>
                  <a:schemeClr val="tx1"/>
                </a:solidFill>
                <a:latin typeface="+mn-ea"/>
                <a:ea typeface="+mn-ea"/>
              </a:rPr>
              <a:t>连续</a:t>
            </a:r>
            <a:r>
              <a:rPr lang="zh-CN" altLang="en-US" sz="2200" b="1" dirty="0" smtClean="0">
                <a:solidFill>
                  <a:schemeClr val="tx1"/>
                </a:solidFill>
                <a:latin typeface="+mn-ea"/>
                <a:ea typeface="+mn-ea"/>
              </a:rPr>
              <a:t>存放，写出存放结果</a:t>
            </a:r>
            <a:endParaRPr lang="en-US" altLang="zh-CN" sz="22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      char a=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A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  <a:sym typeface="Symbol" panose="05050102010706020507"/>
              </a:rPr>
              <a:t>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; 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//ASCII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码为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41H</a:t>
            </a:r>
            <a:endParaRPr lang="en-US" altLang="zh-CN" sz="22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      </a:t>
            </a:r>
            <a:r>
              <a:rPr lang="en-US" altLang="zh-CN" sz="2200" b="1" dirty="0" err="1" smtClean="0">
                <a:solidFill>
                  <a:schemeClr val="tx1"/>
                </a:solidFill>
                <a:latin typeface="+mn-ea"/>
                <a:ea typeface="+mn-ea"/>
              </a:rPr>
              <a:t>int</a:t>
            </a:r>
            <a:r>
              <a:rPr lang="en-US" altLang="zh-CN" sz="2200" b="1" dirty="0" smtClean="0">
                <a:solidFill>
                  <a:schemeClr val="tx1"/>
                </a:solidFill>
                <a:latin typeface="+mn-ea"/>
                <a:ea typeface="+mn-ea"/>
              </a:rPr>
              <a:t> b=-36; </a:t>
            </a:r>
            <a:endParaRPr lang="en-US" altLang="zh-CN" sz="22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      short c=b, d=</a:t>
            </a:r>
            <a:r>
              <a:rPr lang="en-US" altLang="zh-CN" sz="2200" dirty="0" err="1" smtClean="0">
                <a:solidFill>
                  <a:schemeClr val="tx1"/>
                </a:solidFill>
                <a:latin typeface="+mn-ea"/>
              </a:rPr>
              <a:t>a&amp;c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;</a:t>
            </a:r>
            <a:endParaRPr lang="en-US" altLang="zh-CN" sz="2200" b="1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10000"/>
              </a:lnSpc>
            </a:pP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      float e=40;</a:t>
            </a:r>
            <a:endParaRPr lang="en-US" altLang="zh-CN" sz="2200" dirty="0" smtClean="0">
              <a:solidFill>
                <a:srgbClr val="990099"/>
              </a:solidFill>
              <a:latin typeface="+mn-ea"/>
              <a:ea typeface="+mn-ea"/>
            </a:endParaRPr>
          </a:p>
          <a:p>
            <a:pPr>
              <a:spcBef>
                <a:spcPts val="300"/>
              </a:spcBef>
            </a:pP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chemeClr val="accent2"/>
                </a:solidFill>
                <a:latin typeface="+mn-ea"/>
                <a:ea typeface="+mn-ea"/>
              </a:rPr>
              <a:t>  </a:t>
            </a:r>
            <a:r>
              <a:rPr lang="zh-CN" altLang="en-US" sz="2200" dirty="0" smtClean="0">
                <a:solidFill>
                  <a:schemeClr val="accent2"/>
                </a:solidFill>
                <a:latin typeface="+mn-ea"/>
                <a:ea typeface="+mn-ea"/>
              </a:rPr>
              <a:t>数据表示：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①机器数长度分别为</a:t>
            </a:r>
            <a:r>
              <a:rPr lang="zh-CN" altLang="en-US" sz="22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</a:rPr>
              <a:t>4</a:t>
            </a:r>
            <a:r>
              <a:rPr lang="en-US" altLang="zh-CN" sz="2200" baseline="-180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</a:rPr>
              <a:t>个字节；</a:t>
            </a:r>
            <a:endParaRPr lang="en-US" altLang="zh-CN" sz="22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</a:pP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             ②编码</a:t>
            </a:r>
            <a:r>
              <a:rPr lang="zh-CN" altLang="en-US" sz="2200" spc="100" dirty="0" smtClean="0">
                <a:solidFill>
                  <a:schemeClr val="tx1"/>
                </a:solidFill>
                <a:latin typeface="+mn-ea"/>
                <a:ea typeface="+mn-ea"/>
              </a:rPr>
              <a:t>为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41H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FFFFFFDCH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FFDCH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0040H</a:t>
            </a:r>
            <a:r>
              <a:rPr lang="zh-CN" altLang="en-US" sz="2200" dirty="0" smtClean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  <a:latin typeface="+mn-ea"/>
                <a:ea typeface="+mn-ea"/>
              </a:rPr>
              <a:t>42200000H</a:t>
            </a:r>
            <a:endParaRPr lang="en-US" altLang="zh-CN" sz="2200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  <a:latin typeface="+mn-ea"/>
                <a:ea typeface="+mn-ea"/>
              </a:rPr>
              <a:t> </a:t>
            </a:r>
            <a:r>
              <a:rPr lang="en-US" altLang="zh-CN" sz="2200" dirty="0" smtClean="0">
                <a:solidFill>
                  <a:schemeClr val="accent2"/>
                </a:solidFill>
                <a:latin typeface="+mn-ea"/>
                <a:ea typeface="+mn-ea"/>
              </a:rPr>
              <a:t>  </a:t>
            </a:r>
            <a:r>
              <a:rPr lang="zh-CN" altLang="en-US" sz="2200" dirty="0" smtClean="0">
                <a:solidFill>
                  <a:schemeClr val="accent2"/>
                </a:solidFill>
                <a:latin typeface="+mn-ea"/>
                <a:ea typeface="+mn-ea"/>
              </a:rPr>
              <a:t>数据存放结果：</a:t>
            </a:r>
            <a:endParaRPr lang="en-US" altLang="zh-CN" sz="2200" dirty="0" smtClean="0">
              <a:solidFill>
                <a:schemeClr val="accent2"/>
              </a:solidFill>
              <a:latin typeface="+mn-ea"/>
              <a:ea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692303" y="4321671"/>
            <a:ext cx="1938122" cy="306000"/>
            <a:chOff x="2024287" y="4581128"/>
            <a:chExt cx="1938122" cy="306000"/>
          </a:xfrm>
        </p:grpSpPr>
        <p:sp>
          <p:nvSpPr>
            <p:cNvPr id="118" name="矩形 117"/>
            <p:cNvSpPr/>
            <p:nvPr/>
          </p:nvSpPr>
          <p:spPr bwMode="auto">
            <a:xfrm>
              <a:off x="2024287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9" name="矩形 118"/>
            <p:cNvSpPr/>
            <p:nvPr/>
          </p:nvSpPr>
          <p:spPr bwMode="auto">
            <a:xfrm>
              <a:off x="2535963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0" name="矩形 119"/>
            <p:cNvSpPr/>
            <p:nvPr/>
          </p:nvSpPr>
          <p:spPr bwMode="auto">
            <a:xfrm>
              <a:off x="3032399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1" name="矩形 120"/>
            <p:cNvSpPr/>
            <p:nvPr/>
          </p:nvSpPr>
          <p:spPr bwMode="auto">
            <a:xfrm>
              <a:off x="3541028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705480" y="4321671"/>
            <a:ext cx="933057" cy="306000"/>
            <a:chOff x="4037464" y="4581128"/>
            <a:chExt cx="933057" cy="306000"/>
          </a:xfrm>
        </p:grpSpPr>
        <p:sp>
          <p:nvSpPr>
            <p:cNvPr id="122" name="矩形 121"/>
            <p:cNvSpPr/>
            <p:nvPr/>
          </p:nvSpPr>
          <p:spPr bwMode="auto">
            <a:xfrm>
              <a:off x="4037464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3" name="矩形 122"/>
            <p:cNvSpPr/>
            <p:nvPr/>
          </p:nvSpPr>
          <p:spPr bwMode="auto">
            <a:xfrm>
              <a:off x="4549140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6721212" y="4321671"/>
            <a:ext cx="925437" cy="306000"/>
            <a:chOff x="5053196" y="4581128"/>
            <a:chExt cx="925437" cy="306000"/>
          </a:xfrm>
        </p:grpSpPr>
        <p:sp>
          <p:nvSpPr>
            <p:cNvPr id="124" name="矩形 123"/>
            <p:cNvSpPr/>
            <p:nvPr/>
          </p:nvSpPr>
          <p:spPr bwMode="auto">
            <a:xfrm>
              <a:off x="5053196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5" name="矩形 124"/>
            <p:cNvSpPr/>
            <p:nvPr/>
          </p:nvSpPr>
          <p:spPr bwMode="auto">
            <a:xfrm>
              <a:off x="5557252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721704" y="4321671"/>
            <a:ext cx="2449798" cy="306000"/>
            <a:chOff x="6053688" y="4581128"/>
            <a:chExt cx="2449798" cy="306000"/>
          </a:xfrm>
        </p:grpSpPr>
        <p:sp>
          <p:nvSpPr>
            <p:cNvPr id="126" name="矩形 125"/>
            <p:cNvSpPr/>
            <p:nvPr/>
          </p:nvSpPr>
          <p:spPr bwMode="auto">
            <a:xfrm>
              <a:off x="6053688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7" name="矩形 126"/>
            <p:cNvSpPr/>
            <p:nvPr/>
          </p:nvSpPr>
          <p:spPr bwMode="auto">
            <a:xfrm>
              <a:off x="6565364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8" name="矩形 127"/>
            <p:cNvSpPr/>
            <p:nvPr/>
          </p:nvSpPr>
          <p:spPr bwMode="auto">
            <a:xfrm>
              <a:off x="7061800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9" name="矩形 128"/>
            <p:cNvSpPr/>
            <p:nvPr/>
          </p:nvSpPr>
          <p:spPr bwMode="auto">
            <a:xfrm>
              <a:off x="7570429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0" name="矩形 129"/>
            <p:cNvSpPr/>
            <p:nvPr/>
          </p:nvSpPr>
          <p:spPr bwMode="auto">
            <a:xfrm>
              <a:off x="8082105" y="4581128"/>
              <a:ext cx="421381" cy="306000"/>
            </a:xfrm>
            <a:prstGeom prst="rect">
              <a:avLst/>
            </a:prstGeom>
            <a:solidFill>
              <a:srgbClr val="FFCC99"/>
            </a:solidFill>
            <a:ln w="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08" name="矩形 107"/>
          <p:cNvSpPr/>
          <p:nvPr/>
        </p:nvSpPr>
        <p:spPr bwMode="auto">
          <a:xfrm>
            <a:off x="6491476" y="2912140"/>
            <a:ext cx="1944216" cy="31397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" name="矩形 109"/>
          <p:cNvSpPr/>
          <p:nvPr/>
        </p:nvSpPr>
        <p:spPr bwMode="auto">
          <a:xfrm>
            <a:off x="4511675" y="3270885"/>
            <a:ext cx="506730" cy="28829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4" name="矩形 113"/>
          <p:cNvSpPr/>
          <p:nvPr/>
        </p:nvSpPr>
        <p:spPr bwMode="auto">
          <a:xfrm>
            <a:off x="5275580" y="3289935"/>
            <a:ext cx="1534160" cy="28829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5" name="矩形 114"/>
          <p:cNvSpPr/>
          <p:nvPr/>
        </p:nvSpPr>
        <p:spPr bwMode="auto">
          <a:xfrm>
            <a:off x="6995795" y="3284855"/>
            <a:ext cx="1032510" cy="28829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6" name="矩形 115"/>
          <p:cNvSpPr/>
          <p:nvPr/>
        </p:nvSpPr>
        <p:spPr bwMode="auto">
          <a:xfrm>
            <a:off x="8301990" y="3284855"/>
            <a:ext cx="890270" cy="28829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矩形 116"/>
          <p:cNvSpPr/>
          <p:nvPr/>
        </p:nvSpPr>
        <p:spPr bwMode="auto">
          <a:xfrm>
            <a:off x="9467850" y="3284855"/>
            <a:ext cx="1506220" cy="288290"/>
          </a:xfrm>
          <a:prstGeom prst="rect">
            <a:avLst/>
          </a:prstGeom>
          <a:solidFill>
            <a:srgbClr val="FFCC99"/>
          </a:solidFill>
          <a:ln w="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CC33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4079776" y="3559182"/>
            <a:ext cx="2412000" cy="585453"/>
            <a:chOff x="2411760" y="3468446"/>
            <a:chExt cx="2412000" cy="585453"/>
          </a:xfrm>
        </p:grpSpPr>
        <p:cxnSp>
          <p:nvCxnSpPr>
            <p:cNvPr id="24" name="直接箭头连接符 23"/>
            <p:cNvCxnSpPr/>
            <p:nvPr/>
          </p:nvCxnSpPr>
          <p:spPr bwMode="auto">
            <a:xfrm flipH="1">
              <a:off x="2411760" y="3468446"/>
              <a:ext cx="2412000" cy="585453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5" name="直接箭头连接符 104"/>
            <p:cNvCxnSpPr/>
            <p:nvPr/>
          </p:nvCxnSpPr>
          <p:spPr bwMode="auto">
            <a:xfrm flipH="1">
              <a:off x="2897784" y="3487174"/>
              <a:ext cx="1584000" cy="566725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  <a:effectLst/>
          </p:spPr>
        </p:cxnSp>
      </p:grpSp>
      <p:sp>
        <p:nvSpPr>
          <p:cNvPr id="49" name="Text Box 131"/>
          <p:cNvSpPr txBox="1">
            <a:spLocks noChangeArrowheads="1"/>
          </p:cNvSpPr>
          <p:nvPr/>
        </p:nvSpPr>
        <p:spPr bwMode="auto">
          <a:xfrm>
            <a:off x="6635658" y="1392566"/>
            <a:ext cx="3852830" cy="1170940"/>
          </a:xfrm>
          <a:prstGeom prst="rect">
            <a:avLst/>
          </a:prstGeom>
          <a:noFill/>
          <a:ln w="15875">
            <a:solidFill>
              <a:srgbClr val="990099"/>
            </a:solidFill>
            <a:prstDash val="dashDot"/>
            <a:miter lim="800000"/>
          </a:ln>
          <a:effectLst/>
        </p:spPr>
        <p:txBody>
          <a:bodyPr wrap="square" bIns="1800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 smtClean="0">
                <a:solidFill>
                  <a:srgbClr val="990099"/>
                </a:solidFill>
              </a:rPr>
              <a:t>小端方式</a:t>
            </a:r>
            <a:r>
              <a:rPr lang="en-US" altLang="zh-CN" sz="1800" dirty="0" smtClean="0">
                <a:solidFill>
                  <a:srgbClr val="990099"/>
                </a:solidFill>
              </a:rPr>
              <a:t>—</a:t>
            </a:r>
            <a:r>
              <a:rPr lang="zh-CN" altLang="en-US" sz="1800" dirty="0" smtClean="0">
                <a:solidFill>
                  <a:schemeClr val="tx1"/>
                </a:solidFill>
              </a:rPr>
              <a:t>数据</a:t>
            </a:r>
            <a:r>
              <a:rPr lang="zh-CN" altLang="en-US" sz="1800" u="sng" dirty="0" smtClean="0">
                <a:solidFill>
                  <a:schemeClr val="tx1"/>
                </a:solidFill>
              </a:rPr>
              <a:t>按字节顺序</a:t>
            </a:r>
            <a:r>
              <a:rPr lang="zh-CN" altLang="en-US" sz="1800" dirty="0" smtClean="0">
                <a:solidFill>
                  <a:schemeClr val="tx1"/>
                </a:solidFill>
              </a:rPr>
              <a:t>存放时，</a:t>
            </a:r>
            <a:r>
              <a:rPr lang="zh-CN" altLang="en-US" sz="1800" u="sng" dirty="0" smtClean="0">
                <a:solidFill>
                  <a:schemeClr val="tx1"/>
                </a:solidFill>
              </a:rPr>
              <a:t>地址最小</a:t>
            </a:r>
            <a:r>
              <a:rPr lang="zh-CN" altLang="en-US" sz="1800" dirty="0" smtClean="0">
                <a:solidFill>
                  <a:schemeClr val="tx1"/>
                </a:solidFill>
              </a:rPr>
              <a:t>的单元存放</a:t>
            </a:r>
            <a:r>
              <a:rPr lang="zh-CN" altLang="en-US" sz="1800" u="sng" dirty="0" smtClean="0">
                <a:solidFill>
                  <a:schemeClr val="tx1"/>
                </a:solidFill>
              </a:rPr>
              <a:t>最低有效字节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 smtClean="0">
                <a:solidFill>
                  <a:schemeClr val="tx1"/>
                </a:solidFill>
              </a:rPr>
              <a:t>  例：数据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3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2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1800" dirty="0" smtClean="0">
                <a:solidFill>
                  <a:schemeClr val="tx1"/>
                </a:solidFill>
              </a:rPr>
              <a:t>放在</a:t>
            </a:r>
            <a:r>
              <a:rPr lang="en-US" altLang="zh-CN" sz="1800" dirty="0" smtClean="0">
                <a:solidFill>
                  <a:schemeClr val="tx1"/>
                </a:solidFill>
              </a:rPr>
              <a:t>40#</a:t>
            </a:r>
            <a:r>
              <a:rPr lang="zh-CN" altLang="en-US" sz="1800" dirty="0" smtClean="0">
                <a:solidFill>
                  <a:schemeClr val="tx1"/>
                </a:solidFill>
              </a:rPr>
              <a:t>～</a:t>
            </a:r>
            <a:r>
              <a:rPr lang="en-US" altLang="zh-CN" sz="1800" dirty="0" smtClean="0">
                <a:solidFill>
                  <a:schemeClr val="tx1"/>
                </a:solidFill>
              </a:rPr>
              <a:t>43#</a:t>
            </a:r>
            <a:r>
              <a:rPr lang="zh-CN" altLang="en-US" sz="1800" dirty="0" smtClean="0">
                <a:solidFill>
                  <a:schemeClr val="tx1"/>
                </a:solidFill>
              </a:rPr>
              <a:t>单元中时，</a:t>
            </a:r>
            <a:r>
              <a:rPr lang="en-US" altLang="zh-CN" sz="1800" dirty="0">
                <a:solidFill>
                  <a:schemeClr val="tx1"/>
                </a:solidFill>
              </a:rPr>
              <a:t>40</a:t>
            </a:r>
            <a:r>
              <a:rPr lang="en-US" altLang="zh-CN" sz="1800" dirty="0" smtClean="0">
                <a:solidFill>
                  <a:schemeClr val="tx1"/>
                </a:solidFill>
              </a:rPr>
              <a:t>#</a:t>
            </a:r>
            <a:r>
              <a:rPr lang="zh-CN" altLang="en-US" sz="1800" dirty="0" smtClean="0">
                <a:solidFill>
                  <a:schemeClr val="tx1"/>
                </a:solidFill>
              </a:rPr>
              <a:t>存放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, </a:t>
            </a:r>
            <a:r>
              <a:rPr lang="en-US" altLang="zh-CN" sz="1800" dirty="0" smtClean="0">
                <a:solidFill>
                  <a:schemeClr val="tx1"/>
                </a:solidFill>
              </a:rPr>
              <a:t>41#</a:t>
            </a:r>
            <a:r>
              <a:rPr lang="zh-CN" altLang="en-US" sz="1800" dirty="0" smtClean="0">
                <a:solidFill>
                  <a:schemeClr val="tx1"/>
                </a:solidFill>
              </a:rPr>
              <a:t>存放</a:t>
            </a:r>
            <a:r>
              <a:rPr lang="en-US" altLang="zh-CN" sz="1800" dirty="0" smtClean="0">
                <a:solidFill>
                  <a:schemeClr val="tx1"/>
                </a:solidFill>
              </a:rPr>
              <a:t>B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</a:rPr>
              <a:t>,…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sp>
        <p:nvSpPr>
          <p:cNvPr id="112" name="AutoShape 62">
            <a:hlinkClick r:id="" action="ppaction://noaction"/>
          </p:cNvPr>
          <p:cNvSpPr>
            <a:spLocks noChangeArrowheads="1"/>
          </p:cNvSpPr>
          <p:nvPr/>
        </p:nvSpPr>
        <p:spPr bwMode="auto">
          <a:xfrm rot="16200000">
            <a:off x="451217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30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 bldLvl="0" animBg="1"/>
      <p:bldP spid="108" grpId="0" bldLvl="0" animBg="1"/>
      <p:bldP spid="110" grpId="0" bldLvl="0" animBg="1"/>
      <p:bldP spid="114" grpId="0" bldLvl="0" animBg="1"/>
      <p:bldP spid="115" grpId="0" bldLvl="0" animBg="1"/>
      <p:bldP spid="116" grpId="0" bldLvl="0" animBg="1"/>
      <p:bldP spid="117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0BFB0-A0E8-4555-BE80-C0615EF03C20}" type="slidenum">
              <a:rPr lang="en-US" altLang="zh-CN"/>
            </a:fld>
            <a:endParaRPr lang="en-US" altLang="zh-CN"/>
          </a:p>
        </p:txBody>
      </p:sp>
      <p:sp>
        <p:nvSpPr>
          <p:cNvPr id="261284" name="Text Box 164"/>
          <p:cNvSpPr txBox="1">
            <a:spLocks noChangeArrowheads="1"/>
          </p:cNvSpPr>
          <p:nvPr/>
        </p:nvSpPr>
        <p:spPr bwMode="auto">
          <a:xfrm>
            <a:off x="1703388" y="332656"/>
            <a:ext cx="878522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73580" indent="-1973580"/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>
                <a:solidFill>
                  <a:srgbClr val="990099"/>
                </a:solidFill>
              </a:rPr>
              <a:t>例</a:t>
            </a:r>
            <a:r>
              <a:rPr lang="en-US" altLang="zh-CN" dirty="0">
                <a:solidFill>
                  <a:srgbClr val="990099"/>
                </a:solidFill>
              </a:rPr>
              <a:t>2—</a:t>
            </a:r>
            <a:r>
              <a:rPr lang="zh-CN" altLang="en-US" dirty="0">
                <a:solidFill>
                  <a:schemeClr val="tx1"/>
                </a:solidFill>
              </a:rPr>
              <a:t>设</a:t>
            </a:r>
            <a:r>
              <a:rPr lang="en-US" altLang="zh-CN" dirty="0">
                <a:solidFill>
                  <a:schemeClr val="tx1"/>
                </a:solidFill>
              </a:rPr>
              <a:t>A=-01010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B=+01101</a:t>
            </a:r>
            <a:r>
              <a:rPr lang="zh-CN" altLang="en-US" dirty="0" smtClean="0">
                <a:solidFill>
                  <a:schemeClr val="tx1"/>
                </a:solidFill>
              </a:rPr>
              <a:t>，求</a:t>
            </a:r>
            <a:r>
              <a:rPr lang="en-US" altLang="zh-CN" dirty="0">
                <a:solidFill>
                  <a:schemeClr val="tx1"/>
                </a:solidFill>
              </a:rPr>
              <a:t>[A+B]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[A-B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dirty="0" smtClean="0">
                <a:solidFill>
                  <a:schemeClr val="tx1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zh-CN" altLang="en-US" baseline="-18000" dirty="0">
              <a:solidFill>
                <a:schemeClr val="tx1"/>
              </a:solidFill>
            </a:endParaRPr>
          </a:p>
        </p:txBody>
      </p:sp>
      <p:sp>
        <p:nvSpPr>
          <p:cNvPr id="261288" name="Text Box 168"/>
          <p:cNvSpPr txBox="1">
            <a:spLocks noChangeArrowheads="1"/>
          </p:cNvSpPr>
          <p:nvPr/>
        </p:nvSpPr>
        <p:spPr bwMode="auto">
          <a:xfrm>
            <a:off x="2855516" y="764704"/>
            <a:ext cx="7560964" cy="9988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973580" indent="-1973580"/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A]</a:t>
            </a:r>
            <a:r>
              <a:rPr lang="zh-CN" altLang="en-US" baseline="-20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=110110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[B]</a:t>
            </a:r>
            <a:r>
              <a:rPr lang="zh-CN" altLang="en-US" baseline="-20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smtClean="0">
                <a:solidFill>
                  <a:schemeClr val="tx1"/>
                </a:solidFill>
              </a:rPr>
              <a:t>001101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[-B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20000" dirty="0">
                <a:solidFill>
                  <a:schemeClr val="tx1"/>
                </a:solidFill>
              </a:rPr>
              <a:t>补</a:t>
            </a:r>
            <a:r>
              <a:rPr lang="en-US" altLang="zh-CN" dirty="0" smtClean="0">
                <a:solidFill>
                  <a:schemeClr val="tx1"/>
                </a:solidFill>
              </a:rPr>
              <a:t>=110011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1973580" indent="-1973580">
              <a:lnSpc>
                <a:spcPct val="114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A+B]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=[A]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+[B]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补</a:t>
            </a:r>
            <a:r>
              <a:rPr lang="en-US" altLang="zh-CN" dirty="0" smtClean="0">
                <a:solidFill>
                  <a:schemeClr val="tx1"/>
                </a:solidFill>
              </a:rPr>
              <a:t>=</a:t>
            </a:r>
            <a:r>
              <a:rPr lang="en-US" altLang="zh-CN" dirty="0">
                <a:solidFill>
                  <a:schemeClr val="tx1"/>
                </a:solidFill>
              </a:rPr>
              <a:t>110110+001101=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990099"/>
                </a:solidFill>
              </a:rPr>
              <a:t>0</a:t>
            </a:r>
            <a:r>
              <a:rPr lang="en-US" altLang="zh-CN" dirty="0">
                <a:solidFill>
                  <a:schemeClr val="tx1"/>
                </a:solidFill>
              </a:rPr>
              <a:t>00011</a:t>
            </a:r>
            <a:r>
              <a:rPr lang="zh-CN" altLang="en-US" dirty="0" smtClean="0">
                <a:solidFill>
                  <a:schemeClr val="tx1"/>
                </a:solidFill>
              </a:rPr>
              <a:t>， 符号</a:t>
            </a:r>
            <a:r>
              <a:rPr lang="zh-CN" altLang="en-US" dirty="0" smtClean="0">
                <a:solidFill>
                  <a:srgbClr val="990099"/>
                </a:solidFill>
              </a:rPr>
              <a:t>对</a:t>
            </a:r>
            <a:endParaRPr lang="en-US" altLang="zh-CN" dirty="0" smtClean="0">
              <a:solidFill>
                <a:srgbClr val="990099"/>
              </a:solidFill>
            </a:endParaRPr>
          </a:p>
          <a:p>
            <a:pPr marL="1973580" indent="-1973580">
              <a:lnSpc>
                <a:spcPct val="114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[A-B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=[A]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 smtClean="0">
                <a:solidFill>
                  <a:schemeClr val="tx1"/>
                </a:solidFill>
              </a:rPr>
              <a:t>+[-B</a:t>
            </a:r>
            <a:r>
              <a:rPr lang="en-US" altLang="zh-CN" dirty="0">
                <a:solidFill>
                  <a:schemeClr val="tx1"/>
                </a:solidFill>
              </a:rPr>
              <a:t>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smtClean="0">
                <a:solidFill>
                  <a:schemeClr val="tx1"/>
                </a:solidFill>
              </a:rPr>
              <a:t>110110+110011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01001</a:t>
            </a:r>
            <a:r>
              <a:rPr lang="zh-CN" altLang="en-US" dirty="0" smtClean="0">
                <a:solidFill>
                  <a:schemeClr val="tx1"/>
                </a:solidFill>
              </a:rPr>
              <a:t>，符号</a:t>
            </a:r>
            <a:r>
              <a:rPr lang="zh-CN" altLang="en-US" dirty="0" smtClean="0">
                <a:solidFill>
                  <a:srgbClr val="990099"/>
                </a:solidFill>
              </a:rPr>
              <a:t>对</a:t>
            </a:r>
            <a:endParaRPr lang="zh-CN" altLang="en-US" dirty="0">
              <a:solidFill>
                <a:srgbClr val="990099"/>
              </a:solidFill>
            </a:endParaRPr>
          </a:p>
        </p:txBody>
      </p:sp>
      <p:sp>
        <p:nvSpPr>
          <p:cNvPr id="261296" name="Text Box 176"/>
          <p:cNvSpPr txBox="1">
            <a:spLocks noChangeArrowheads="1"/>
          </p:cNvSpPr>
          <p:nvPr/>
        </p:nvSpPr>
        <p:spPr bwMode="auto">
          <a:xfrm>
            <a:off x="1703388" y="5705242"/>
            <a:ext cx="8964612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19250" indent="-1619250"/>
            <a:r>
              <a:rPr lang="en-US" altLang="zh-CN" dirty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练习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spc="-100" dirty="0" smtClean="0">
                <a:solidFill>
                  <a:schemeClr val="tx1"/>
                </a:solidFill>
              </a:rPr>
              <a:t>整数用</a:t>
            </a:r>
            <a:r>
              <a:rPr lang="en-US" altLang="zh-CN" spc="-100" dirty="0" smtClean="0">
                <a:solidFill>
                  <a:schemeClr val="tx1"/>
                </a:solidFill>
              </a:rPr>
              <a:t>8</a:t>
            </a:r>
            <a:r>
              <a:rPr lang="zh-CN" altLang="en-US" spc="-100" dirty="0" smtClean="0">
                <a:solidFill>
                  <a:schemeClr val="tx1"/>
                </a:solidFill>
              </a:rPr>
              <a:t>位补码表示，</a:t>
            </a:r>
            <a:r>
              <a:rPr lang="en-US" altLang="zh-CN" spc="-100" dirty="0" smtClean="0">
                <a:solidFill>
                  <a:schemeClr val="tx1"/>
                </a:solidFill>
              </a:rPr>
              <a:t>A</a:t>
            </a:r>
            <a:r>
              <a:rPr lang="en-US" altLang="zh-CN" spc="-100" dirty="0">
                <a:solidFill>
                  <a:schemeClr val="tx1"/>
                </a:solidFill>
              </a:rPr>
              <a:t>=+15</a:t>
            </a:r>
            <a:r>
              <a:rPr lang="zh-CN" altLang="en-US" spc="-100" dirty="0">
                <a:solidFill>
                  <a:schemeClr val="tx1"/>
                </a:solidFill>
              </a:rPr>
              <a:t>，</a:t>
            </a:r>
            <a:r>
              <a:rPr lang="en-US" altLang="zh-CN" spc="-100" dirty="0">
                <a:solidFill>
                  <a:schemeClr val="tx1"/>
                </a:solidFill>
              </a:rPr>
              <a:t>B=+24</a:t>
            </a:r>
            <a:r>
              <a:rPr lang="zh-CN" altLang="en-US" spc="-100" dirty="0" smtClean="0">
                <a:solidFill>
                  <a:schemeClr val="tx1"/>
                </a:solidFill>
              </a:rPr>
              <a:t>，求</a:t>
            </a:r>
            <a:r>
              <a:rPr lang="en-US" altLang="zh-CN" spc="-100" dirty="0">
                <a:solidFill>
                  <a:schemeClr val="tx1"/>
                </a:solidFill>
              </a:rPr>
              <a:t>[A+B]</a:t>
            </a:r>
            <a:r>
              <a:rPr lang="zh-CN" altLang="en-US" spc="-100" baseline="-18000" dirty="0">
                <a:solidFill>
                  <a:schemeClr val="tx1"/>
                </a:solidFill>
              </a:rPr>
              <a:t>补</a:t>
            </a:r>
            <a:r>
              <a:rPr lang="zh-CN" altLang="en-US" spc="-100" dirty="0">
                <a:solidFill>
                  <a:schemeClr val="tx1"/>
                </a:solidFill>
              </a:rPr>
              <a:t>、</a:t>
            </a:r>
            <a:r>
              <a:rPr lang="en-US" altLang="zh-CN" spc="-100" dirty="0">
                <a:solidFill>
                  <a:schemeClr val="tx1"/>
                </a:solidFill>
              </a:rPr>
              <a:t>[A-B]</a:t>
            </a:r>
            <a:r>
              <a:rPr lang="zh-CN" altLang="en-US" spc="-100" baseline="-18000" dirty="0" smtClean="0">
                <a:solidFill>
                  <a:schemeClr val="tx1"/>
                </a:solidFill>
              </a:rPr>
              <a:t>补</a:t>
            </a:r>
            <a:endParaRPr lang="en-US" altLang="zh-CN" spc="-100" baseline="-18000" dirty="0" smtClean="0">
              <a:solidFill>
                <a:schemeClr val="tx1"/>
              </a:solidFill>
            </a:endParaRPr>
          </a:p>
        </p:txBody>
      </p:sp>
      <p:sp>
        <p:nvSpPr>
          <p:cNvPr id="261297" name="Text Box 177"/>
          <p:cNvSpPr txBox="1">
            <a:spLocks noChangeArrowheads="1"/>
          </p:cNvSpPr>
          <p:nvPr/>
        </p:nvSpPr>
        <p:spPr bwMode="auto">
          <a:xfrm>
            <a:off x="1703388" y="5201186"/>
            <a:ext cx="8857108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*</a:t>
            </a:r>
            <a:r>
              <a:rPr lang="zh-CN" altLang="en-US" dirty="0" smtClean="0">
                <a:solidFill>
                  <a:srgbClr val="C00000"/>
                </a:solidFill>
              </a:rPr>
              <a:t>运算特征：</a:t>
            </a:r>
            <a:r>
              <a:rPr lang="zh-CN" altLang="en-US" dirty="0" smtClean="0">
                <a:solidFill>
                  <a:schemeClr val="tx1"/>
                </a:solidFill>
              </a:rPr>
              <a:t>减法</a:t>
            </a:r>
            <a:r>
              <a:rPr lang="zh-CN" altLang="en-US" dirty="0" smtClean="0">
                <a:solidFill>
                  <a:srgbClr val="990099"/>
                </a:solidFill>
              </a:rPr>
              <a:t>可以</a:t>
            </a:r>
            <a:r>
              <a:rPr lang="zh-CN" altLang="en-US" dirty="0" smtClean="0">
                <a:solidFill>
                  <a:schemeClr val="tx1"/>
                </a:solidFill>
              </a:rPr>
              <a:t>不比较大小，符号与数值</a:t>
            </a:r>
            <a:r>
              <a:rPr lang="zh-CN" altLang="en-US" dirty="0">
                <a:solidFill>
                  <a:srgbClr val="990099"/>
                </a:solidFill>
              </a:rPr>
              <a:t>可以</a:t>
            </a:r>
            <a:r>
              <a:rPr lang="zh-CN" altLang="en-US" dirty="0" smtClean="0">
                <a:solidFill>
                  <a:schemeClr val="tx1"/>
                </a:solidFill>
              </a:rPr>
              <a:t>一起运算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17" name="Text Box 25"/>
          <p:cNvSpPr txBox="1">
            <a:spLocks noChangeArrowheads="1"/>
          </p:cNvSpPr>
          <p:nvPr/>
        </p:nvSpPr>
        <p:spPr bwMode="auto">
          <a:xfrm>
            <a:off x="1703388" y="2924944"/>
            <a:ext cx="8857108" cy="20453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accent2"/>
                </a:solidFill>
              </a:rPr>
              <a:t>    符号与数值一起运算的</a:t>
            </a:r>
            <a:r>
              <a:rPr lang="zh-CN" altLang="en-US" u="sng" dirty="0" smtClean="0">
                <a:solidFill>
                  <a:schemeClr val="accent2"/>
                </a:solidFill>
              </a:rPr>
              <a:t>正确性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>
                <a:solidFill>
                  <a:schemeClr val="tx1"/>
                </a:solidFill>
              </a:rPr>
              <a:t>结果不溢出时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accent2"/>
                </a:solidFill>
              </a:rPr>
              <a:t>证明</a:t>
            </a:r>
            <a:r>
              <a:rPr lang="en-US" altLang="zh-CN" dirty="0" smtClean="0">
                <a:solidFill>
                  <a:schemeClr val="accent2"/>
                </a:solidFill>
              </a:rPr>
              <a:t>—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rgbClr val="990099"/>
                </a:solidFill>
              </a:rPr>
              <a:t>枚举法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en-US" altLang="zh-CN" sz="2000" dirty="0" smtClean="0">
                <a:solidFill>
                  <a:schemeClr val="tx1"/>
                </a:solidFill>
              </a:rPr>
              <a:t>         3+2</a:t>
            </a:r>
            <a:r>
              <a:rPr lang="zh-CN" altLang="en-US" sz="2000" dirty="0" smtClean="0">
                <a:solidFill>
                  <a:schemeClr val="tx1"/>
                </a:solidFill>
              </a:rPr>
              <a:t>及</a:t>
            </a:r>
            <a:r>
              <a:rPr lang="en-US" altLang="zh-CN" sz="2000" dirty="0" smtClean="0">
                <a:solidFill>
                  <a:schemeClr val="tx1"/>
                </a:solidFill>
              </a:rPr>
              <a:t>3-(-2)    3+(-2)</a:t>
            </a:r>
            <a:r>
              <a:rPr lang="zh-CN" altLang="en-US" sz="2000" dirty="0" smtClean="0">
                <a:solidFill>
                  <a:schemeClr val="tx1"/>
                </a:solidFill>
              </a:rPr>
              <a:t>及</a:t>
            </a:r>
            <a:r>
              <a:rPr lang="en-US" altLang="zh-CN" sz="2000" dirty="0" smtClean="0">
                <a:solidFill>
                  <a:schemeClr val="tx1"/>
                </a:solidFill>
              </a:rPr>
              <a:t>3-2   -3+2</a:t>
            </a:r>
            <a:r>
              <a:rPr lang="zh-CN" altLang="en-US" sz="2000" dirty="0" smtClean="0">
                <a:solidFill>
                  <a:schemeClr val="tx1"/>
                </a:solidFill>
              </a:rPr>
              <a:t>及</a:t>
            </a:r>
            <a:r>
              <a:rPr lang="en-US" altLang="zh-CN" sz="2000" dirty="0" smtClean="0">
                <a:solidFill>
                  <a:schemeClr val="tx1"/>
                </a:solidFill>
              </a:rPr>
              <a:t>-3-(-2)  -3+(-2)</a:t>
            </a:r>
            <a:r>
              <a:rPr lang="zh-CN" altLang="en-US" sz="2000" dirty="0" smtClean="0">
                <a:solidFill>
                  <a:schemeClr val="tx1"/>
                </a:solidFill>
              </a:rPr>
              <a:t>及</a:t>
            </a:r>
            <a:r>
              <a:rPr lang="en-US" altLang="zh-CN" sz="2000" dirty="0" smtClean="0">
                <a:solidFill>
                  <a:schemeClr val="tx1"/>
                </a:solidFill>
              </a:rPr>
              <a:t>-3-2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 smtClean="0">
                <a:solidFill>
                  <a:schemeClr val="tx1"/>
                </a:solidFill>
              </a:rPr>
              <a:t>         </a:t>
            </a:r>
            <a:r>
              <a:rPr lang="en-US" altLang="zh-CN" sz="2000" dirty="0" smtClean="0">
                <a:solidFill>
                  <a:srgbClr val="9900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011([+3]</a:t>
            </a:r>
            <a:r>
              <a:rPr lang="zh-CN" altLang="en-US" sz="2000" baseline="-16000" dirty="0" smtClean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   </a:t>
            </a:r>
            <a:r>
              <a:rPr lang="en-US" altLang="zh-CN" sz="2000" dirty="0" smtClean="0">
                <a:solidFill>
                  <a:srgbClr val="9900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011([+3]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  </a:t>
            </a:r>
            <a:r>
              <a:rPr lang="en-US" altLang="zh-CN" sz="2000" dirty="0" smtClean="0">
                <a:solidFill>
                  <a:srgbClr val="9900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101([-3]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  </a:t>
            </a:r>
            <a:r>
              <a:rPr lang="en-US" altLang="zh-CN" sz="2000" dirty="0" smtClean="0">
                <a:solidFill>
                  <a:srgbClr val="9900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101([-3]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     </a:t>
            </a:r>
            <a:r>
              <a:rPr lang="en-US" altLang="zh-CN" sz="2000" u="sng" dirty="0">
                <a:solidFill>
                  <a:schemeClr val="tx1"/>
                </a:solidFill>
              </a:rPr>
              <a:t>+ </a:t>
            </a:r>
            <a:r>
              <a:rPr lang="en-US" altLang="zh-CN" sz="2000" u="sng" dirty="0" smtClean="0">
                <a:solidFill>
                  <a:srgbClr val="0070C0"/>
                </a:solidFill>
              </a:rPr>
              <a:t>0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010</a:t>
            </a:r>
            <a:r>
              <a:rPr lang="en-US" altLang="zh-CN" sz="2000" dirty="0" smtClean="0">
                <a:solidFill>
                  <a:schemeClr val="tx1"/>
                </a:solidFill>
              </a:rPr>
              <a:t>([+2]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 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+ </a:t>
            </a:r>
            <a:r>
              <a:rPr lang="en-US" altLang="zh-CN" sz="2000" u="sng" dirty="0" smtClean="0">
                <a:solidFill>
                  <a:srgbClr val="0070C0"/>
                </a:solidFill>
              </a:rPr>
              <a:t>1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110</a:t>
            </a:r>
            <a:r>
              <a:rPr lang="en-US" altLang="zh-CN" sz="2000" dirty="0" smtClean="0">
                <a:solidFill>
                  <a:schemeClr val="tx1"/>
                </a:solidFill>
              </a:rPr>
              <a:t>([-2]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u="sng" dirty="0">
                <a:solidFill>
                  <a:schemeClr val="tx1"/>
                </a:solidFill>
              </a:rPr>
              <a:t>+ </a:t>
            </a:r>
            <a:r>
              <a:rPr lang="en-US" altLang="zh-CN" sz="2000" u="sng" dirty="0" smtClean="0">
                <a:solidFill>
                  <a:srgbClr val="0070C0"/>
                </a:solidFill>
              </a:rPr>
              <a:t>0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010</a:t>
            </a:r>
            <a:r>
              <a:rPr lang="en-US" altLang="zh-CN" sz="2000" dirty="0" smtClean="0">
                <a:solidFill>
                  <a:schemeClr val="tx1"/>
                </a:solidFill>
              </a:rPr>
              <a:t>([+2]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u="sng" dirty="0">
                <a:solidFill>
                  <a:schemeClr val="tx1"/>
                </a:solidFill>
              </a:rPr>
              <a:t>+ </a:t>
            </a:r>
            <a:r>
              <a:rPr lang="en-US" altLang="zh-CN" sz="2000" u="sng" dirty="0" smtClean="0">
                <a:solidFill>
                  <a:srgbClr val="0070C0"/>
                </a:solidFill>
              </a:rPr>
              <a:t>1</a:t>
            </a:r>
            <a:r>
              <a:rPr lang="en-US" altLang="zh-CN" sz="2000" u="sng" dirty="0" smtClean="0">
                <a:solidFill>
                  <a:schemeClr val="tx1"/>
                </a:solidFill>
              </a:rPr>
              <a:t>110</a:t>
            </a:r>
            <a:r>
              <a:rPr lang="en-US" altLang="zh-CN" sz="2000" dirty="0" smtClean="0">
                <a:solidFill>
                  <a:schemeClr val="tx1"/>
                </a:solidFill>
              </a:rPr>
              <a:t>([-2]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endParaRPr lang="en-US" altLang="zh-CN" sz="2000" u="sng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chemeClr val="tx1"/>
                </a:solidFill>
              </a:rPr>
              <a:t>      </a:t>
            </a:r>
            <a:r>
              <a:rPr lang="en-US" altLang="zh-CN" sz="2000" u="sng" dirty="0" smtClean="0">
                <a:solidFill>
                  <a:schemeClr val="accent2"/>
                </a:solidFill>
              </a:rPr>
              <a:t>0</a:t>
            </a:r>
            <a:r>
              <a:rPr lang="en-US" altLang="zh-CN" sz="2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sz="2000" dirty="0" smtClean="0">
                <a:solidFill>
                  <a:srgbClr val="FF33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101([</a:t>
            </a:r>
            <a:r>
              <a:rPr lang="en-US" altLang="zh-CN" sz="2000" dirty="0" smtClean="0">
                <a:solidFill>
                  <a:srgbClr val="FF3399"/>
                </a:solidFill>
              </a:rPr>
              <a:t>+</a:t>
            </a:r>
            <a:r>
              <a:rPr lang="en-US" altLang="zh-CN" sz="2000" dirty="0" smtClean="0">
                <a:solidFill>
                  <a:schemeClr val="tx1"/>
                </a:solidFill>
              </a:rPr>
              <a:t>5]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  </a:t>
            </a:r>
            <a:r>
              <a:rPr lang="en-US" altLang="zh-CN" sz="2000" u="sng" dirty="0" smtClean="0">
                <a:solidFill>
                  <a:schemeClr val="accent2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rgbClr val="FF3399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001([</a:t>
            </a:r>
            <a:r>
              <a:rPr lang="en-US" altLang="zh-CN" sz="2000" dirty="0" smtClean="0">
                <a:solidFill>
                  <a:srgbClr val="FF3399"/>
                </a:solidFill>
              </a:rPr>
              <a:t>+</a:t>
            </a:r>
            <a:r>
              <a:rPr lang="en-US" altLang="zh-CN" sz="2000" dirty="0" smtClean="0">
                <a:solidFill>
                  <a:schemeClr val="tx1"/>
                </a:solidFill>
              </a:rPr>
              <a:t>1]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u="sng" dirty="0" smtClean="0">
                <a:solidFill>
                  <a:schemeClr val="accent2"/>
                </a:solidFill>
              </a:rPr>
              <a:t>0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rgbClr val="FF33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111([</a:t>
            </a:r>
            <a:r>
              <a:rPr lang="en-US" altLang="zh-CN" sz="2000" dirty="0" smtClean="0">
                <a:solidFill>
                  <a:srgbClr val="FF3399"/>
                </a:solidFill>
              </a:rPr>
              <a:t>-</a:t>
            </a:r>
            <a:r>
              <a:rPr lang="en-US" altLang="zh-CN" sz="2000" dirty="0" smtClean="0">
                <a:solidFill>
                  <a:schemeClr val="tx1"/>
                </a:solidFill>
              </a:rPr>
              <a:t>1]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>
                <a:solidFill>
                  <a:schemeClr val="tx1"/>
                </a:solidFill>
              </a:rPr>
              <a:t>)</a:t>
            </a:r>
            <a:r>
              <a:rPr lang="en-US" altLang="zh-CN" sz="2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u="sng" dirty="0" smtClean="0">
                <a:solidFill>
                  <a:schemeClr val="accent2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dirty="0" smtClean="0">
                <a:solidFill>
                  <a:srgbClr val="FF3399"/>
                </a:solidFill>
              </a:rPr>
              <a:t>1</a:t>
            </a:r>
            <a:r>
              <a:rPr lang="en-US" altLang="zh-CN" sz="2000" dirty="0" smtClean="0">
                <a:solidFill>
                  <a:schemeClr val="tx1"/>
                </a:solidFill>
              </a:rPr>
              <a:t>011([</a:t>
            </a:r>
            <a:r>
              <a:rPr lang="en-US" altLang="zh-CN" sz="2000" dirty="0" smtClean="0">
                <a:solidFill>
                  <a:srgbClr val="FF3399"/>
                </a:solidFill>
              </a:rPr>
              <a:t>-</a:t>
            </a:r>
            <a:r>
              <a:rPr lang="en-US" altLang="zh-CN" sz="2000" dirty="0" smtClean="0">
                <a:solidFill>
                  <a:schemeClr val="tx1"/>
                </a:solidFill>
              </a:rPr>
              <a:t>5]</a:t>
            </a:r>
            <a:r>
              <a:rPr lang="zh-CN" altLang="en-US" sz="2000" baseline="-16000" dirty="0">
                <a:solidFill>
                  <a:schemeClr val="tx1"/>
                </a:solidFill>
              </a:rPr>
              <a:t>补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200" dirty="0">
                <a:solidFill>
                  <a:srgbClr val="990099"/>
                </a:solidFill>
              </a:rPr>
              <a:t> </a:t>
            </a:r>
            <a:r>
              <a:rPr lang="en-US" altLang="zh-CN" sz="2200" dirty="0" smtClean="0">
                <a:solidFill>
                  <a:srgbClr val="990099"/>
                </a:solidFill>
              </a:rPr>
              <a:t>       </a:t>
            </a:r>
            <a:r>
              <a:rPr lang="zh-CN" altLang="en-US" sz="2200" dirty="0" smtClean="0">
                <a:solidFill>
                  <a:srgbClr val="990099"/>
                </a:solidFill>
              </a:rPr>
              <a:t>结论：</a:t>
            </a:r>
            <a:r>
              <a:rPr lang="zh-CN" altLang="en-US" sz="2200" dirty="0" smtClean="0">
                <a:solidFill>
                  <a:schemeClr val="tx1"/>
                </a:solidFill>
              </a:rPr>
              <a:t>实际结果＝理论结果！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993141" y="2132856"/>
            <a:ext cx="4405963" cy="799639"/>
            <a:chOff x="2469141" y="5517232"/>
            <a:chExt cx="4405963" cy="799639"/>
          </a:xfrm>
        </p:grpSpPr>
        <p:sp>
          <p:nvSpPr>
            <p:cNvPr id="8" name="Text Box 16"/>
            <p:cNvSpPr txBox="1">
              <a:spLocks noChangeArrowheads="1"/>
            </p:cNvSpPr>
            <p:nvPr/>
          </p:nvSpPr>
          <p:spPr bwMode="auto">
            <a:xfrm>
              <a:off x="2469141" y="5524871"/>
              <a:ext cx="1872000" cy="79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 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110110 [-10]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u="sng" dirty="0" smtClean="0">
                  <a:solidFill>
                    <a:schemeClr val="tx1"/>
                  </a:solidFill>
                </a:rPr>
                <a:t>+ 001101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[+13]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1 </a:t>
              </a:r>
              <a:r>
                <a:rPr lang="en-US" altLang="zh-CN" sz="1800" dirty="0" smtClean="0">
                  <a:solidFill>
                    <a:srgbClr val="990099"/>
                  </a:solidFill>
                </a:rPr>
                <a:t>0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00011 [+03]</a:t>
              </a:r>
              <a:r>
                <a:rPr lang="zh-CN" altLang="en-US" sz="1800" baseline="-18000" dirty="0" smtClean="0">
                  <a:solidFill>
                    <a:schemeClr val="tx1"/>
                  </a:solidFill>
                </a:rPr>
                <a:t>补</a:t>
              </a:r>
              <a:endParaRPr lang="en-US" altLang="zh-CN" sz="1800" baseline="-18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9" name="Text Box 16"/>
            <p:cNvSpPr txBox="1">
              <a:spLocks noChangeArrowheads="1"/>
            </p:cNvSpPr>
            <p:nvPr/>
          </p:nvSpPr>
          <p:spPr bwMode="auto">
            <a:xfrm>
              <a:off x="5003104" y="5517232"/>
              <a:ext cx="1872000" cy="79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 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110110 [-10]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u="sng" dirty="0" smtClean="0">
                  <a:solidFill>
                    <a:schemeClr val="tx1"/>
                  </a:solidFill>
                </a:rPr>
                <a:t>+ 110011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[+13]</a:t>
              </a:r>
              <a:r>
                <a:rPr lang="zh-CN" altLang="en-US" sz="1800" baseline="-18000" dirty="0">
                  <a:solidFill>
                    <a:schemeClr val="tx1"/>
                  </a:solidFill>
                </a:rPr>
                <a:t>补</a:t>
              </a:r>
              <a:endParaRPr lang="zh-CN" altLang="en-US" sz="1800" baseline="-18000" dirty="0">
                <a:solidFill>
                  <a:schemeClr val="tx1"/>
                </a:solidFill>
              </a:endParaRPr>
            </a:p>
            <a:p>
              <a:pPr marL="457200" indent="-457200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1 </a:t>
              </a:r>
              <a:r>
                <a:rPr lang="en-US" altLang="zh-CN" sz="1800" dirty="0" smtClean="0">
                  <a:solidFill>
                    <a:srgbClr val="990099"/>
                  </a:solidFill>
                </a:rPr>
                <a:t>1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01001 [-23]</a:t>
              </a:r>
              <a:r>
                <a:rPr lang="zh-CN" altLang="en-US" sz="1800" baseline="-18000" dirty="0" smtClean="0">
                  <a:solidFill>
                    <a:schemeClr val="tx1"/>
                  </a:solidFill>
                </a:rPr>
                <a:t>补</a:t>
              </a:r>
              <a:endParaRPr lang="en-US" altLang="zh-CN" sz="1800" baseline="-18000" dirty="0" smtClean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343"/>
    </mc:Choice>
    <mc:Fallback>
      <p:transition spd="slow" advTm="183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1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1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6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6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296" grpId="0" bldLvl="0" animBg="1"/>
      <p:bldP spid="261297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016240" y="1772816"/>
            <a:ext cx="5472248" cy="684000"/>
            <a:chOff x="3492240" y="1772816"/>
            <a:chExt cx="5472248" cy="684000"/>
          </a:xfrm>
        </p:grpSpPr>
        <p:sp>
          <p:nvSpPr>
            <p:cNvPr id="31" name="Rectangle 183"/>
            <p:cNvSpPr>
              <a:spLocks noChangeArrowheads="1"/>
            </p:cNvSpPr>
            <p:nvPr/>
          </p:nvSpPr>
          <p:spPr bwMode="auto">
            <a:xfrm>
              <a:off x="3492240" y="1772816"/>
              <a:ext cx="3204000" cy="684000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en-US" altLang="zh-CN" sz="12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32" name="Rectangle 183"/>
            <p:cNvSpPr>
              <a:spLocks noChangeArrowheads="1"/>
            </p:cNvSpPr>
            <p:nvPr/>
          </p:nvSpPr>
          <p:spPr bwMode="auto">
            <a:xfrm>
              <a:off x="6912488" y="1772816"/>
              <a:ext cx="2052000" cy="684000"/>
            </a:xfrm>
            <a:prstGeom prst="rect">
              <a:avLst/>
            </a:prstGeom>
            <a:solidFill>
              <a:srgbClr val="CCFFFF"/>
            </a:solidFill>
            <a:ln w="12700" algn="ctr">
              <a:solidFill>
                <a:srgbClr val="990099"/>
              </a:solidFill>
              <a:prstDash val="sysDot"/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en-US" altLang="zh-CN" sz="1200" dirty="0">
                <a:solidFill>
                  <a:schemeClr val="tx1"/>
                </a:solidFill>
              </a:endParaRPr>
            </a:p>
            <a:p>
              <a:endParaRPr lang="zh-CN" alt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49" name="Text Box 28"/>
          <p:cNvSpPr txBox="1">
            <a:spLocks noChangeArrowheads="1"/>
          </p:cNvSpPr>
          <p:nvPr/>
        </p:nvSpPr>
        <p:spPr bwMode="auto">
          <a:xfrm>
            <a:off x="1703388" y="332656"/>
            <a:ext cx="6999594" cy="1566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*基于</a:t>
            </a:r>
            <a:r>
              <a:rPr lang="zh-CN" altLang="en-US" u="sng" dirty="0" smtClean="0">
                <a:solidFill>
                  <a:srgbClr val="C00000"/>
                </a:solidFill>
              </a:rPr>
              <a:t>内部加法器</a:t>
            </a:r>
            <a:r>
              <a:rPr lang="zh-CN" altLang="en-US" dirty="0" smtClean="0">
                <a:solidFill>
                  <a:srgbClr val="C00000"/>
                </a:solidFill>
              </a:rPr>
              <a:t>的溢出判断：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     </a:t>
            </a:r>
            <a:r>
              <a:rPr lang="zh-CN" altLang="en-US" dirty="0" smtClean="0">
                <a:solidFill>
                  <a:schemeClr val="tx1"/>
                </a:solidFill>
              </a:rPr>
              <a:t>设</a:t>
            </a:r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zh-CN" altLang="en-US" dirty="0" smtClean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 Z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溢出</a:t>
            </a:r>
            <a:r>
              <a:rPr lang="zh-CN" altLang="en-US" dirty="0">
                <a:solidFill>
                  <a:schemeClr val="accent2"/>
                </a:solidFill>
              </a:rPr>
              <a:t>特征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 (</a:t>
            </a:r>
            <a:r>
              <a:rPr lang="zh-CN" altLang="en-US" sz="1800" dirty="0" smtClean="0">
                <a:solidFill>
                  <a:schemeClr val="tx1"/>
                </a:solidFill>
              </a:rPr>
              <a:t>参考</a:t>
            </a:r>
            <a:r>
              <a:rPr lang="zh-CN" altLang="en-US" sz="1800" dirty="0" smtClean="0">
                <a:solidFill>
                  <a:srgbClr val="990099"/>
                </a:solidFill>
              </a:rPr>
              <a:t>上</a:t>
            </a:r>
            <a:r>
              <a:rPr lang="zh-CN" altLang="en-US" sz="1800" dirty="0">
                <a:solidFill>
                  <a:srgbClr val="990099"/>
                </a:solidFill>
              </a:rPr>
              <a:t>页例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22" name="AutoShape 6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3360390" y="652084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AutoShape 6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512518" y="651926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AutoShape 41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 rot="10800000">
            <a:off x="6672759" y="6519409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Text Box 27"/>
          <p:cNvSpPr txBox="1">
            <a:spLocks noChangeArrowheads="1"/>
          </p:cNvSpPr>
          <p:nvPr/>
        </p:nvSpPr>
        <p:spPr bwMode="auto">
          <a:xfrm>
            <a:off x="3935759" y="1624967"/>
            <a:ext cx="6624737" cy="768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 smtClean="0">
                <a:solidFill>
                  <a:schemeClr val="tx1"/>
                </a:solidFill>
              </a:rPr>
              <a:t>正</a:t>
            </a:r>
            <a:r>
              <a:rPr lang="zh-CN" altLang="en-US" sz="2200" dirty="0">
                <a:solidFill>
                  <a:schemeClr val="tx1"/>
                </a:solidFill>
              </a:rPr>
              <a:t>溢出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 smtClean="0">
                <a:solidFill>
                  <a:schemeClr val="tx1"/>
                </a:solidFill>
              </a:rPr>
              <a:t>时，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i="1" spc="-50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spc="-50" dirty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2200" spc="-50" dirty="0">
                <a:solidFill>
                  <a:schemeClr val="tx1"/>
                </a:solidFill>
                <a:sym typeface="Symbol" panose="05050102010706020507"/>
              </a:rPr>
              <a:t>0</a:t>
            </a:r>
            <a:r>
              <a:rPr lang="zh-CN" altLang="en-US" sz="2200" spc="-50" dirty="0" smtClean="0">
                <a:solidFill>
                  <a:schemeClr val="tx1"/>
                </a:solidFill>
                <a:sym typeface="Symbol" panose="05050102010706020507"/>
              </a:rPr>
              <a:t>、</a:t>
            </a:r>
            <a:r>
              <a:rPr lang="en-US" altLang="zh-CN" sz="2200" i="1" spc="-50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n-2</a:t>
            </a:r>
            <a:r>
              <a:rPr lang="zh-CN" altLang="en-US" sz="2200" spc="-50" dirty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2200" spc="-50" dirty="0" smtClean="0">
                <a:solidFill>
                  <a:schemeClr val="tx1"/>
                </a:solidFill>
                <a:sym typeface="Symbol" panose="05050102010706020507"/>
              </a:rPr>
              <a:t>1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chemeClr val="tx1"/>
                </a:solidFill>
              </a:rPr>
              <a:t>负</a:t>
            </a:r>
            <a:r>
              <a:rPr lang="zh-CN" altLang="en-US" sz="2200" dirty="0">
                <a:solidFill>
                  <a:schemeClr val="tx1"/>
                </a:solidFill>
              </a:rPr>
              <a:t>溢出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1</a:t>
            </a:r>
            <a:r>
              <a:rPr lang="en-US" altLang="zh-CN" sz="2200" dirty="0">
                <a:solidFill>
                  <a:schemeClr val="tx1"/>
                </a:solidFill>
              </a:rPr>
              <a:t>)</a:t>
            </a:r>
            <a:r>
              <a:rPr lang="zh-CN" altLang="en-US" sz="2200" dirty="0" smtClean="0">
                <a:solidFill>
                  <a:schemeClr val="tx1"/>
                </a:solidFill>
              </a:rPr>
              <a:t>时，</a:t>
            </a:r>
            <a:r>
              <a:rPr lang="en-US" altLang="zh-CN" sz="2200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i="1" spc="-50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spc="-50" dirty="0" smtClean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2200" spc="-50" dirty="0" smtClean="0">
                <a:solidFill>
                  <a:schemeClr val="tx1"/>
                </a:solidFill>
                <a:sym typeface="Symbol" panose="05050102010706020507"/>
              </a:rPr>
              <a:t>1</a:t>
            </a:r>
            <a:r>
              <a:rPr lang="zh-CN" altLang="en-US" sz="2200" spc="-50" dirty="0" smtClean="0">
                <a:solidFill>
                  <a:schemeClr val="tx1"/>
                </a:solidFill>
                <a:sym typeface="Symbol" panose="05050102010706020507"/>
              </a:rPr>
              <a:t>、</a:t>
            </a:r>
            <a:r>
              <a:rPr lang="en-US" altLang="zh-CN" sz="2200" i="1" spc="-50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spc="-50" baseline="-18000" dirty="0" smtClean="0">
                <a:solidFill>
                  <a:schemeClr val="tx1"/>
                </a:solidFill>
              </a:rPr>
              <a:t>n-2</a:t>
            </a:r>
            <a:r>
              <a:rPr lang="zh-CN" altLang="en-US" sz="2200" spc="-50" dirty="0" smtClean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2200" spc="-50" dirty="0" smtClean="0">
                <a:solidFill>
                  <a:schemeClr val="tx1"/>
                </a:solidFill>
                <a:sym typeface="Symbol" panose="05050102010706020507"/>
              </a:rPr>
              <a:t>0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7896200" y="620688"/>
            <a:ext cx="2304256" cy="995587"/>
            <a:chOff x="6156177" y="3933056"/>
            <a:chExt cx="2304256" cy="995587"/>
          </a:xfrm>
        </p:grpSpPr>
        <p:sp>
          <p:nvSpPr>
            <p:cNvPr id="51" name="Line 201"/>
            <p:cNvSpPr>
              <a:spLocks noChangeShapeType="1"/>
            </p:cNvSpPr>
            <p:nvPr/>
          </p:nvSpPr>
          <p:spPr bwMode="auto">
            <a:xfrm flipH="1">
              <a:off x="7842841" y="4498234"/>
              <a:ext cx="204677" cy="2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2" name="Text Box 213"/>
            <p:cNvSpPr txBox="1">
              <a:spLocks noChangeArrowheads="1"/>
            </p:cNvSpPr>
            <p:nvPr/>
          </p:nvSpPr>
          <p:spPr bwMode="auto">
            <a:xfrm>
              <a:off x="8028433" y="4293095"/>
              <a:ext cx="432000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i="1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C</a:t>
              </a:r>
              <a:r>
                <a:rPr lang="en-US" altLang="zh-CN" sz="1800" baseline="-18000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-1</a:t>
              </a:r>
              <a:endParaRPr lang="en-US" altLang="zh-CN" sz="1800" baseline="-18000" dirty="0" smtClean="0">
                <a:solidFill>
                  <a:schemeClr val="tx1"/>
                </a:solidFill>
                <a:latin typeface="+mn-ea"/>
                <a:ea typeface="+mn-ea"/>
                <a:cs typeface="Arial Unicode MS" panose="020B0604020202020204" pitchFamily="34" charset="-122"/>
              </a:endParaRPr>
            </a:p>
          </p:txBody>
        </p:sp>
        <p:sp>
          <p:nvSpPr>
            <p:cNvPr id="53" name="流程图: 手动操作 52"/>
            <p:cNvSpPr/>
            <p:nvPr/>
          </p:nvSpPr>
          <p:spPr bwMode="auto">
            <a:xfrm>
              <a:off x="6596504" y="4217341"/>
              <a:ext cx="1431881" cy="435796"/>
            </a:xfrm>
            <a:prstGeom prst="flowChartManualOperation">
              <a:avLst/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加法器</a:t>
              </a:r>
              <a:endParaRPr kumimoji="1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54" name="Line 189"/>
            <p:cNvSpPr>
              <a:spLocks noChangeShapeType="1"/>
            </p:cNvSpPr>
            <p:nvPr/>
          </p:nvSpPr>
          <p:spPr bwMode="auto">
            <a:xfrm flipH="1">
              <a:off x="6948264" y="3933056"/>
              <a:ext cx="0" cy="291516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5" name="Line 189"/>
            <p:cNvSpPr>
              <a:spLocks noChangeShapeType="1"/>
            </p:cNvSpPr>
            <p:nvPr/>
          </p:nvSpPr>
          <p:spPr bwMode="auto">
            <a:xfrm flipH="1">
              <a:off x="7740352" y="3933056"/>
              <a:ext cx="0" cy="291516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6" name="Line 189"/>
            <p:cNvSpPr>
              <a:spLocks noChangeShapeType="1"/>
            </p:cNvSpPr>
            <p:nvPr/>
          </p:nvSpPr>
          <p:spPr bwMode="auto">
            <a:xfrm>
              <a:off x="7344307" y="4653136"/>
              <a:ext cx="0" cy="275507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7" name="Text Box 213"/>
            <p:cNvSpPr txBox="1">
              <a:spLocks noChangeArrowheads="1"/>
            </p:cNvSpPr>
            <p:nvPr/>
          </p:nvSpPr>
          <p:spPr bwMode="auto">
            <a:xfrm>
              <a:off x="6660233" y="3933056"/>
              <a:ext cx="1080121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A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+mn-ea"/>
                  <a:cs typeface="Arial Unicode MS" panose="020B0604020202020204" pitchFamily="34" charset="-122"/>
                  <a:sym typeface="Symbol" panose="05050102010706020507"/>
                </a:rPr>
                <a:t>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     B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  <a:sym typeface="Symbol" panose="05050102010706020507"/>
                </a:rPr>
                <a:t></a:t>
              </a:r>
              <a:endParaRPr lang="en-US" altLang="zh-CN" sz="18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8" name="Text Box 213"/>
            <p:cNvSpPr txBox="1">
              <a:spLocks noChangeArrowheads="1"/>
            </p:cNvSpPr>
            <p:nvPr/>
          </p:nvSpPr>
          <p:spPr bwMode="auto">
            <a:xfrm>
              <a:off x="7092280" y="4674908"/>
              <a:ext cx="180019" cy="20349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Z</a:t>
              </a:r>
              <a:endParaRPr lang="en-US" altLang="zh-CN" sz="18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9" name="Line 201"/>
            <p:cNvSpPr>
              <a:spLocks noChangeShapeType="1"/>
            </p:cNvSpPr>
            <p:nvPr/>
          </p:nvSpPr>
          <p:spPr bwMode="auto">
            <a:xfrm flipH="1">
              <a:off x="6556489" y="4511888"/>
              <a:ext cx="2368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60" name="Text Box 213"/>
            <p:cNvSpPr txBox="1">
              <a:spLocks noChangeArrowheads="1"/>
            </p:cNvSpPr>
            <p:nvPr/>
          </p:nvSpPr>
          <p:spPr bwMode="auto">
            <a:xfrm>
              <a:off x="6156177" y="4293096"/>
              <a:ext cx="432047" cy="43204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0000"/>
                </a:lnSpc>
              </a:pPr>
              <a:r>
                <a:rPr lang="en-US" altLang="zh-CN" sz="1800" i="1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C</a:t>
              </a:r>
              <a:r>
                <a:rPr lang="en-US" altLang="zh-CN" sz="1800" baseline="-18000" dirty="0" smtClean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n-1</a:t>
              </a:r>
              <a:endParaRPr lang="en-US" altLang="zh-CN" sz="1800" baseline="-18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2" name="Text Box 27"/>
          <p:cNvSpPr txBox="1">
            <a:spLocks noChangeArrowheads="1"/>
          </p:cNvSpPr>
          <p:nvPr/>
        </p:nvSpPr>
        <p:spPr bwMode="auto">
          <a:xfrm>
            <a:off x="1703388" y="2492896"/>
            <a:ext cx="8713091" cy="7067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accent2"/>
                </a:solidFill>
              </a:rPr>
              <a:t>   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判断方法①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用</a:t>
            </a:r>
            <a:r>
              <a:rPr lang="en-US" altLang="zh-CN" u="sng" dirty="0" smtClean="0">
                <a:solidFill>
                  <a:schemeClr val="tx1"/>
                </a:solidFill>
              </a:rPr>
              <a:t>1</a:t>
            </a:r>
            <a:r>
              <a:rPr lang="zh-CN" altLang="en-US" u="sng" dirty="0" smtClean="0">
                <a:solidFill>
                  <a:schemeClr val="tx1"/>
                </a:solidFill>
              </a:rPr>
              <a:t>位符号位</a:t>
            </a:r>
            <a:r>
              <a:rPr lang="zh-CN" altLang="en-US" dirty="0" smtClean="0">
                <a:solidFill>
                  <a:schemeClr val="tx1"/>
                </a:solidFill>
              </a:rPr>
              <a:t>判断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rgbClr val="990099"/>
                </a:solidFill>
              </a:rPr>
              <a:t>                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OF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i="1" spc="-100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i="1" spc="-100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spc="-1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i="1" spc="-100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＋</a:t>
            </a:r>
            <a:r>
              <a:rPr lang="en-US" altLang="zh-CN" sz="2200" i="1" spc="-100" dirty="0" smtClean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i="1" spc="-100" dirty="0" smtClean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spc="-1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i="1" spc="-100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sz="2200" spc="-1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(</a:t>
            </a:r>
            <a:r>
              <a:rPr lang="en-US" altLang="zh-CN" sz="2200" i="1" spc="-100" dirty="0">
                <a:solidFill>
                  <a:schemeClr val="tx1"/>
                </a:solidFill>
                <a:latin typeface="+mn-lt"/>
              </a:rPr>
              <a:t>a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b="0" spc="-10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i="1" spc="-100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)(</a:t>
            </a:r>
            <a:r>
              <a:rPr lang="en-US" altLang="zh-CN" sz="2200" i="1" spc="-100" dirty="0">
                <a:solidFill>
                  <a:schemeClr val="tx1"/>
                </a:solidFill>
                <a:latin typeface="+mn-lt"/>
              </a:rPr>
              <a:t>b</a:t>
            </a:r>
            <a:r>
              <a:rPr lang="en-US" altLang="zh-CN" sz="2200" spc="-100" dirty="0">
                <a:solidFill>
                  <a:schemeClr val="tx1"/>
                </a:solidFill>
                <a:sym typeface="Symbol" panose="05050102010706020507"/>
              </a:rPr>
              <a:t></a:t>
            </a:r>
            <a:r>
              <a:rPr lang="en-US" altLang="zh-CN" sz="2200" spc="-100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sz="2200" b="0" spc="-10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i="1" spc="-100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sz="2200" spc="-1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spc="-100" dirty="0" smtClean="0">
                <a:solidFill>
                  <a:schemeClr val="tx1"/>
                </a:solidFill>
              </a:rPr>
              <a:t>)</a:t>
            </a:r>
            <a:endParaRPr lang="en-US" altLang="zh-CN" sz="2200" spc="-100" dirty="0">
              <a:solidFill>
                <a:schemeClr val="tx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818328" y="3101618"/>
            <a:ext cx="2465672" cy="57719"/>
            <a:chOff x="3448336" y="3101618"/>
            <a:chExt cx="2465672" cy="57719"/>
          </a:xfrm>
        </p:grpSpPr>
        <p:cxnSp>
          <p:nvCxnSpPr>
            <p:cNvPr id="63" name="直接连接符 62"/>
            <p:cNvCxnSpPr/>
            <p:nvPr/>
          </p:nvCxnSpPr>
          <p:spPr bwMode="auto">
            <a:xfrm>
              <a:off x="3448336" y="3159337"/>
              <a:ext cx="32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/>
          </p:nvCxnSpPr>
          <p:spPr bwMode="auto">
            <a:xfrm>
              <a:off x="3825944" y="3101618"/>
              <a:ext cx="378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5" name="直接连接符 64"/>
            <p:cNvCxnSpPr/>
            <p:nvPr/>
          </p:nvCxnSpPr>
          <p:spPr bwMode="auto">
            <a:xfrm>
              <a:off x="5590008" y="3149815"/>
              <a:ext cx="32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6" name="Text Box 28"/>
          <p:cNvSpPr txBox="1">
            <a:spLocks noChangeArrowheads="1"/>
          </p:cNvSpPr>
          <p:nvPr/>
        </p:nvSpPr>
        <p:spPr bwMode="auto">
          <a:xfrm>
            <a:off x="1703388" y="3429000"/>
            <a:ext cx="8785225" cy="7537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   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判断方法②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用</a:t>
            </a:r>
            <a:r>
              <a:rPr lang="zh-CN" altLang="en-US" u="sng" dirty="0" smtClean="0">
                <a:solidFill>
                  <a:schemeClr val="tx1"/>
                </a:solidFill>
              </a:rPr>
              <a:t>进位</a:t>
            </a:r>
            <a:r>
              <a:rPr lang="zh-CN" altLang="en-US" u="sng" dirty="0">
                <a:solidFill>
                  <a:schemeClr val="tx1"/>
                </a:solidFill>
              </a:rPr>
              <a:t>位</a:t>
            </a:r>
            <a:r>
              <a:rPr lang="zh-CN" altLang="en-US" dirty="0" smtClean="0">
                <a:solidFill>
                  <a:schemeClr val="tx1"/>
                </a:solidFill>
              </a:rPr>
              <a:t>判断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zh-CN" altLang="en-US" dirty="0" smtClean="0">
                <a:solidFill>
                  <a:srgbClr val="990099"/>
                </a:solidFill>
              </a:rPr>
              <a:t>                </a:t>
            </a:r>
            <a:r>
              <a:rPr lang="en-US" altLang="zh-CN" sz="2200" dirty="0" smtClean="0">
                <a:solidFill>
                  <a:schemeClr val="tx1"/>
                </a:solidFill>
              </a:rPr>
              <a:t>OF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2200" b="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2200" i="1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n-2</a:t>
            </a: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67" name="Text Box 18"/>
          <p:cNvSpPr txBox="1">
            <a:spLocks noChangeArrowheads="1"/>
          </p:cNvSpPr>
          <p:nvPr/>
        </p:nvSpPr>
        <p:spPr bwMode="auto">
          <a:xfrm>
            <a:off x="1703388" y="4293096"/>
            <a:ext cx="878522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73580" indent="-1973580"/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4—</a:t>
            </a:r>
            <a:r>
              <a:rPr lang="zh-CN" altLang="en-US" spc="-100" dirty="0" smtClean="0">
                <a:solidFill>
                  <a:schemeClr val="tx1"/>
                </a:solidFill>
              </a:rPr>
              <a:t>设</a:t>
            </a:r>
            <a:r>
              <a:rPr lang="en-US" altLang="zh-CN" spc="-100" dirty="0">
                <a:solidFill>
                  <a:schemeClr val="tx1"/>
                </a:solidFill>
              </a:rPr>
              <a:t>[A]</a:t>
            </a:r>
            <a:r>
              <a:rPr lang="zh-CN" altLang="en-US" spc="-100" baseline="-18000" dirty="0">
                <a:solidFill>
                  <a:schemeClr val="tx1"/>
                </a:solidFill>
              </a:rPr>
              <a:t>补</a:t>
            </a:r>
            <a:r>
              <a:rPr lang="en-US" altLang="zh-CN" spc="-100" dirty="0">
                <a:solidFill>
                  <a:schemeClr val="tx1"/>
                </a:solidFill>
              </a:rPr>
              <a:t>=1010</a:t>
            </a:r>
            <a:r>
              <a:rPr lang="zh-CN" altLang="en-US" spc="-100" dirty="0">
                <a:solidFill>
                  <a:schemeClr val="tx1"/>
                </a:solidFill>
              </a:rPr>
              <a:t>，</a:t>
            </a:r>
            <a:r>
              <a:rPr lang="en-US" altLang="zh-CN" spc="-100" dirty="0">
                <a:solidFill>
                  <a:schemeClr val="tx1"/>
                </a:solidFill>
              </a:rPr>
              <a:t>[B]</a:t>
            </a:r>
            <a:r>
              <a:rPr lang="zh-CN" altLang="en-US" spc="-100" baseline="-18000" dirty="0">
                <a:solidFill>
                  <a:schemeClr val="tx1"/>
                </a:solidFill>
              </a:rPr>
              <a:t>补</a:t>
            </a:r>
            <a:r>
              <a:rPr lang="en-US" altLang="zh-CN" spc="-100" dirty="0">
                <a:solidFill>
                  <a:schemeClr val="tx1"/>
                </a:solidFill>
              </a:rPr>
              <a:t>=</a:t>
            </a:r>
            <a:r>
              <a:rPr lang="en-US" altLang="zh-CN" spc="-100" dirty="0" smtClean="0">
                <a:solidFill>
                  <a:schemeClr val="tx1"/>
                </a:solidFill>
              </a:rPr>
              <a:t>0011</a:t>
            </a:r>
            <a:r>
              <a:rPr lang="zh-CN" altLang="en-US" spc="-100" dirty="0" smtClean="0">
                <a:solidFill>
                  <a:schemeClr val="tx1"/>
                </a:solidFill>
              </a:rPr>
              <a:t>，</a:t>
            </a:r>
            <a:r>
              <a:rPr lang="en-US" altLang="zh-CN" spc="-100" dirty="0" smtClean="0">
                <a:solidFill>
                  <a:schemeClr val="tx1"/>
                </a:solidFill>
              </a:rPr>
              <a:t>[</a:t>
            </a:r>
            <a:r>
              <a:rPr lang="en-US" altLang="zh-CN" spc="-100" dirty="0">
                <a:solidFill>
                  <a:schemeClr val="tx1"/>
                </a:solidFill>
              </a:rPr>
              <a:t>A+B]</a:t>
            </a:r>
            <a:r>
              <a:rPr lang="zh-CN" altLang="en-US" spc="-100" baseline="-18000" dirty="0">
                <a:solidFill>
                  <a:schemeClr val="tx1"/>
                </a:solidFill>
              </a:rPr>
              <a:t>补</a:t>
            </a:r>
            <a:r>
              <a:rPr lang="zh-CN" altLang="en-US" spc="-100" dirty="0">
                <a:solidFill>
                  <a:schemeClr val="tx1"/>
                </a:solidFill>
              </a:rPr>
              <a:t>、</a:t>
            </a:r>
            <a:r>
              <a:rPr lang="en-US" altLang="zh-CN" spc="-100" dirty="0">
                <a:solidFill>
                  <a:schemeClr val="tx1"/>
                </a:solidFill>
              </a:rPr>
              <a:t>[A-B]</a:t>
            </a:r>
            <a:r>
              <a:rPr lang="zh-CN" altLang="en-US" spc="-100" baseline="-18000" dirty="0" smtClean="0">
                <a:solidFill>
                  <a:schemeClr val="tx1"/>
                </a:solidFill>
              </a:rPr>
              <a:t>补</a:t>
            </a:r>
            <a:r>
              <a:rPr lang="zh-CN" altLang="en-US" spc="-100" dirty="0" smtClean="0">
                <a:solidFill>
                  <a:schemeClr val="tx1"/>
                </a:solidFill>
              </a:rPr>
              <a:t>溢出否</a:t>
            </a:r>
            <a:r>
              <a:rPr lang="en-US" altLang="zh-CN" spc="-100" dirty="0" smtClean="0">
                <a:solidFill>
                  <a:schemeClr val="tx1"/>
                </a:solidFill>
              </a:rPr>
              <a:t>?</a:t>
            </a:r>
            <a:endParaRPr lang="en-US" altLang="zh-CN" spc="-100" dirty="0" smtClean="0">
              <a:solidFill>
                <a:schemeClr val="tx1"/>
              </a:solidFill>
            </a:endParaRPr>
          </a:p>
          <a:p>
            <a:pPr marL="1973580" indent="-1973580"/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解：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A+B]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 smtClean="0">
                <a:solidFill>
                  <a:schemeClr val="tx1"/>
                </a:solidFill>
              </a:rPr>
              <a:t>=1010+0011=</a:t>
            </a:r>
            <a:r>
              <a:rPr lang="en-US" altLang="zh-CN" u="sng" dirty="0" smtClean="0">
                <a:solidFill>
                  <a:schemeClr val="accent2"/>
                </a:solidFill>
              </a:rPr>
              <a:t>0</a:t>
            </a:r>
            <a:r>
              <a:rPr lang="en-US" altLang="zh-CN" sz="12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rgbClr val="FF3399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</a:rPr>
              <a:t>101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A-B]</a:t>
            </a:r>
            <a:r>
              <a:rPr lang="zh-CN" altLang="en-US" baseline="-18000" dirty="0">
                <a:solidFill>
                  <a:schemeClr val="tx1"/>
                </a:solidFill>
              </a:rPr>
              <a:t>补</a:t>
            </a:r>
            <a:r>
              <a:rPr lang="en-US" altLang="zh-CN" dirty="0" smtClean="0">
                <a:solidFill>
                  <a:schemeClr val="tx1"/>
                </a:solidFill>
              </a:rPr>
              <a:t>=1010+1101=</a:t>
            </a:r>
            <a:r>
              <a:rPr lang="en-US" altLang="zh-CN" u="sng" dirty="0" smtClean="0">
                <a:solidFill>
                  <a:schemeClr val="accent2"/>
                </a:solidFill>
              </a:rPr>
              <a:t>1</a:t>
            </a:r>
            <a:r>
              <a:rPr lang="en-US" altLang="zh-CN" sz="12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rgbClr val="FF3399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</a:rPr>
              <a:t>111 </a:t>
            </a:r>
            <a:endParaRPr lang="en-US" altLang="zh-CN" dirty="0">
              <a:solidFill>
                <a:srgbClr val="990099"/>
              </a:solidFill>
            </a:endParaRPr>
          </a:p>
        </p:txBody>
      </p:sp>
      <p:graphicFrame>
        <p:nvGraphicFramePr>
          <p:cNvPr id="68" name="表格 67"/>
          <p:cNvGraphicFramePr>
            <a:graphicFrameLocks noGrp="1"/>
          </p:cNvGraphicFramePr>
          <p:nvPr/>
        </p:nvGraphicFramePr>
        <p:xfrm>
          <a:off x="2999656" y="5301208"/>
          <a:ext cx="6984365" cy="104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080"/>
                <a:gridCol w="2663825"/>
                <a:gridCol w="2664460"/>
              </a:tblGrid>
              <a:tr h="360045">
                <a:tc>
                  <a:txBody>
                    <a:bodyPr/>
                    <a:lstStyle/>
                    <a:p>
                      <a:endParaRPr lang="zh-CN" altLang="en-US" sz="2000" b="1" dirty="0"/>
                    </a:p>
                  </a:txBody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spc="-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[A+B]</a:t>
                      </a:r>
                      <a:r>
                        <a:rPr lang="zh-CN" altLang="en-US" sz="2000" b="1" spc="-1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补</a:t>
                      </a:r>
                      <a:r>
                        <a:rPr lang="zh-CN" altLang="en-US" sz="2000" b="1" spc="-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溢出判断</a:t>
                      </a:r>
                      <a:endParaRPr lang="zh-CN" altLang="en-US" sz="2000" b="1" baseline="0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spc="-1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[A-B]</a:t>
                      </a:r>
                      <a:r>
                        <a:rPr lang="zh-CN" altLang="en-US" sz="2000" b="1" spc="-1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补</a:t>
                      </a:r>
                      <a:r>
                        <a:rPr lang="zh-CN" altLang="en-US" sz="2000" b="1" spc="-1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溢出判断</a:t>
                      </a:r>
                      <a:endParaRPr lang="zh-CN" altLang="en-US" sz="20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340995">
                <a:tc>
                  <a:txBody>
                    <a:bodyPr/>
                    <a:lstStyle/>
                    <a:p>
                      <a:r>
                        <a:rPr lang="zh-CN" altLang="en-US" sz="2000" b="1" dirty="0" smtClean="0"/>
                        <a:t>使用方法①</a:t>
                      </a:r>
                      <a:endParaRPr lang="zh-CN" altLang="en-US" sz="2000" b="1" dirty="0"/>
                    </a:p>
                  </a:txBody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OF=</a:t>
                      </a:r>
                      <a:endParaRPr lang="zh-CN" altLang="en-US" sz="20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OF=</a:t>
                      </a:r>
                      <a:endParaRPr lang="zh-CN" altLang="en-US" sz="20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0360">
                <a:tc>
                  <a:txBody>
                    <a:bodyPr/>
                    <a:lstStyle/>
                    <a:p>
                      <a:r>
                        <a:rPr lang="zh-CN" altLang="en-US" sz="2000" b="1" dirty="0" smtClean="0"/>
                        <a:t>使用方法②</a:t>
                      </a:r>
                      <a:endParaRPr lang="zh-CN" altLang="en-US" sz="2000" b="1" dirty="0"/>
                    </a:p>
                  </a:txBody>
                  <a:tcPr marL="36000" marR="36000" marT="18000" marB="180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OF=</a:t>
                      </a:r>
                      <a:endParaRPr lang="zh-CN" altLang="en-US" sz="20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OF=</a:t>
                      </a:r>
                      <a:endParaRPr lang="zh-CN" altLang="en-US" sz="2000" b="1" dirty="0"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Text Box 213"/>
          <p:cNvSpPr txBox="1">
            <a:spLocks noChangeArrowheads="1"/>
          </p:cNvSpPr>
          <p:nvPr/>
        </p:nvSpPr>
        <p:spPr bwMode="auto">
          <a:xfrm>
            <a:off x="5159896" y="5661248"/>
            <a:ext cx="4608512" cy="6263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90000" tIns="93600" rIns="18000" bIns="10800" anchor="ctr"/>
          <a:lstStyle/>
          <a:p>
            <a:pPr>
              <a:lnSpc>
                <a:spcPct val="105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(1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1)(0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1)=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0</a:t>
            </a:r>
            <a:r>
              <a:rPr lang="en-US" altLang="zh-CN" sz="2000" spc="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    (1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0)(1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0)=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1</a:t>
            </a:r>
            <a:endParaRPr lang="en-US" altLang="zh-CN" sz="2000" dirty="0" smtClean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+mn-ea"/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0=0        </a:t>
            </a:r>
            <a:r>
              <a:rPr lang="en-US" altLang="zh-CN" sz="2000" spc="200" dirty="0" smtClean="0">
                <a:solidFill>
                  <a:schemeClr val="tx1"/>
                </a:solidFill>
                <a:latin typeface="+mn-ea"/>
              </a:rPr>
              <a:t>   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    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sym typeface="Symbol" panose="05050102010706020507"/>
              </a:rPr>
              <a:t></a:t>
            </a:r>
            <a:r>
              <a:rPr lang="en-US" altLang="zh-CN" sz="2000" dirty="0" smtClean="0">
                <a:solidFill>
                  <a:schemeClr val="tx1"/>
                </a:solidFill>
                <a:latin typeface="+mn-ea"/>
              </a:rPr>
              <a:t>0=1</a:t>
            </a:r>
            <a:endParaRPr lang="zh-CN" altLang="en-US" sz="2000" dirty="0">
              <a:latin typeface="+mn-ea"/>
            </a:endParaRPr>
          </a:p>
        </p:txBody>
      </p:sp>
      <p:sp>
        <p:nvSpPr>
          <p:cNvPr id="28" name="AutoShape 62">
            <a:hlinkClick r:id="rId1" action="ppaction://hlinkpres?slideindex=10&amp;slidetitle=PowerPoint 演示文稿"/>
          </p:cNvPr>
          <p:cNvSpPr>
            <a:spLocks noChangeArrowheads="1"/>
          </p:cNvSpPr>
          <p:nvPr/>
        </p:nvSpPr>
        <p:spPr bwMode="auto">
          <a:xfrm rot="5400000">
            <a:off x="5574209" y="6543774"/>
            <a:ext cx="287337" cy="251867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9" name="AutoShape 62">
            <a:hlinkClick r:id="" action="ppaction://noaction"/>
          </p:cNvPr>
          <p:cNvSpPr>
            <a:spLocks noChangeArrowheads="1"/>
          </p:cNvSpPr>
          <p:nvPr/>
        </p:nvSpPr>
        <p:spPr bwMode="auto">
          <a:xfrm rot="16200000">
            <a:off x="8832651" y="6519062"/>
            <a:ext cx="287338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50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  <p:bldP spid="62" grpId="0" bldLvl="0" animBg="1"/>
      <p:bldP spid="66" grpId="0" bldLvl="0" animBg="1"/>
      <p:bldP spid="67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2FEE-AC88-4D90-9461-B227C7FB5A61}" type="slidenum">
              <a:rPr lang="en-US" altLang="zh-CN"/>
            </a:fld>
            <a:endParaRPr lang="en-US" altLang="zh-CN"/>
          </a:p>
        </p:txBody>
      </p:sp>
      <p:sp>
        <p:nvSpPr>
          <p:cNvPr id="263255" name="Text Box 87"/>
          <p:cNvSpPr txBox="1">
            <a:spLocks noChangeArrowheads="1"/>
          </p:cNvSpPr>
          <p:nvPr/>
        </p:nvSpPr>
        <p:spPr bwMode="auto">
          <a:xfrm>
            <a:off x="1703388" y="332656"/>
            <a:ext cx="8785225" cy="922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   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r>
              <a:rPr lang="zh-CN" altLang="en-US" dirty="0" smtClean="0">
                <a:solidFill>
                  <a:schemeClr val="accent2"/>
                </a:solidFill>
              </a:rPr>
              <a:t>判断</a:t>
            </a:r>
            <a:r>
              <a:rPr lang="zh-CN" altLang="en-US" dirty="0">
                <a:solidFill>
                  <a:schemeClr val="accent2"/>
                </a:solidFill>
              </a:rPr>
              <a:t>方法</a:t>
            </a:r>
            <a:r>
              <a:rPr lang="zh-CN" altLang="en-US" dirty="0" smtClean="0">
                <a:solidFill>
                  <a:schemeClr val="accent2"/>
                </a:solidFill>
              </a:rPr>
              <a:t>③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用</a:t>
            </a:r>
            <a:r>
              <a:rPr lang="en-US" altLang="zh-CN" u="sng" dirty="0" smtClean="0">
                <a:solidFill>
                  <a:schemeClr val="tx1"/>
                </a:solidFill>
              </a:rPr>
              <a:t>2</a:t>
            </a:r>
            <a:r>
              <a:rPr lang="zh-CN" altLang="en-US" u="sng" dirty="0" smtClean="0">
                <a:solidFill>
                  <a:schemeClr val="tx1"/>
                </a:solidFill>
              </a:rPr>
              <a:t>位符号位</a:t>
            </a:r>
            <a:r>
              <a:rPr lang="zh-CN" altLang="en-US" dirty="0">
                <a:solidFill>
                  <a:schemeClr val="tx1"/>
                </a:solidFill>
              </a:rPr>
              <a:t>判断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rgbClr val="990099"/>
                </a:solidFill>
              </a:rPr>
              <a:t>      </a:t>
            </a:r>
            <a:r>
              <a:rPr lang="zh-CN" altLang="en-US" dirty="0" smtClean="0">
                <a:solidFill>
                  <a:srgbClr val="990099"/>
                </a:solidFill>
              </a:rPr>
              <a:t> 变形补码：</a:t>
            </a:r>
            <a:r>
              <a:rPr lang="zh-CN" altLang="en-US" dirty="0" smtClean="0">
                <a:solidFill>
                  <a:schemeClr val="tx1"/>
                </a:solidFill>
              </a:rPr>
              <a:t>采用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个符号位的补码</a:t>
            </a:r>
            <a:r>
              <a:rPr lang="en-US" altLang="zh-CN" dirty="0" smtClean="0">
                <a:solidFill>
                  <a:schemeClr val="tx1"/>
                </a:solidFill>
              </a:rPr>
              <a:t>[Z]</a:t>
            </a:r>
            <a:r>
              <a:rPr lang="zh-CN" altLang="en-US" baseline="-18000" dirty="0">
                <a:solidFill>
                  <a:schemeClr val="tx1"/>
                </a:solidFill>
              </a:rPr>
              <a:t>变补</a:t>
            </a:r>
            <a:r>
              <a:rPr lang="en-US" altLang="zh-CN" dirty="0" smtClean="0">
                <a:solidFill>
                  <a:schemeClr val="tx1"/>
                </a:solidFill>
              </a:rPr>
              <a:t>=</a:t>
            </a:r>
            <a:r>
              <a:rPr lang="en-US" altLang="zh-CN" i="1" dirty="0" smtClean="0">
                <a:solidFill>
                  <a:srgbClr val="FF3399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rgbClr val="FF3399"/>
                </a:solidFill>
              </a:rPr>
              <a:t>n</a:t>
            </a:r>
            <a:r>
              <a:rPr lang="en-US" altLang="zh-CN" i="1" dirty="0" smtClean="0">
                <a:solidFill>
                  <a:srgbClr val="FF3399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rgbClr val="FF3399"/>
                </a:solidFill>
              </a:rPr>
              <a:t>n-1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</a:rPr>
              <a:t>…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endParaRPr lang="zh-CN" altLang="en-US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               </a:t>
            </a:r>
            <a:r>
              <a:rPr lang="zh-CN" altLang="en-US" dirty="0" smtClean="0">
                <a:solidFill>
                  <a:schemeClr val="tx1"/>
                </a:solidFill>
              </a:rPr>
              <a:t>  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dirty="0">
                <a:solidFill>
                  <a:schemeClr val="tx1"/>
                </a:solidFill>
              </a:rPr>
              <a:t>表示符号</a:t>
            </a:r>
            <a:r>
              <a:rPr lang="en-US" altLang="zh-CN" dirty="0">
                <a:solidFill>
                  <a:schemeClr val="tx1"/>
                </a:solidFill>
              </a:rPr>
              <a:t>(00</a:t>
            </a:r>
            <a:r>
              <a:rPr lang="zh-CN" altLang="en-US" dirty="0">
                <a:solidFill>
                  <a:schemeClr val="tx1"/>
                </a:solidFill>
              </a:rPr>
              <a:t>为正数、</a:t>
            </a:r>
            <a:r>
              <a:rPr lang="en-US" altLang="zh-CN" dirty="0">
                <a:solidFill>
                  <a:schemeClr val="tx1"/>
                </a:solidFill>
              </a:rPr>
              <a:t>11</a:t>
            </a:r>
            <a:r>
              <a:rPr lang="zh-CN" altLang="en-US" dirty="0">
                <a:solidFill>
                  <a:schemeClr val="tx1"/>
                </a:solidFill>
              </a:rPr>
              <a:t>为负数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63256" name="Text Box 88"/>
          <p:cNvSpPr txBox="1">
            <a:spLocks noChangeArrowheads="1"/>
          </p:cNvSpPr>
          <p:nvPr/>
        </p:nvSpPr>
        <p:spPr bwMode="auto">
          <a:xfrm>
            <a:off x="1703388" y="2924944"/>
            <a:ext cx="8857108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5—</a:t>
            </a:r>
            <a:r>
              <a:rPr lang="zh-CN" altLang="en-US" dirty="0">
                <a:solidFill>
                  <a:schemeClr val="tx1"/>
                </a:solidFill>
              </a:rPr>
              <a:t>设</a:t>
            </a:r>
            <a:r>
              <a:rPr lang="en-US" altLang="zh-CN" dirty="0">
                <a:solidFill>
                  <a:schemeClr val="tx1"/>
                </a:solidFill>
              </a:rPr>
              <a:t>A=-</a:t>
            </a:r>
            <a:r>
              <a:rPr lang="en-US" altLang="zh-CN" dirty="0" smtClean="0">
                <a:solidFill>
                  <a:schemeClr val="tx1"/>
                </a:solidFill>
              </a:rPr>
              <a:t>110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B=+011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A+B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25000" dirty="0">
                <a:solidFill>
                  <a:schemeClr val="tx1"/>
                </a:solidFill>
              </a:rPr>
              <a:t>变</a:t>
            </a:r>
            <a:r>
              <a:rPr lang="zh-CN" altLang="en-US" baseline="-25000" dirty="0" smtClean="0">
                <a:solidFill>
                  <a:schemeClr val="tx1"/>
                </a:solidFill>
              </a:rPr>
              <a:t>补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[A-B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25000" dirty="0">
                <a:solidFill>
                  <a:schemeClr val="tx1"/>
                </a:solidFill>
              </a:rPr>
              <a:t>变补</a:t>
            </a:r>
            <a:r>
              <a:rPr lang="zh-CN" altLang="en-US" dirty="0">
                <a:solidFill>
                  <a:schemeClr val="tx1"/>
                </a:solidFill>
              </a:rPr>
              <a:t>是否</a:t>
            </a:r>
            <a:r>
              <a:rPr lang="zh-CN" altLang="en-US" dirty="0" smtClean="0">
                <a:solidFill>
                  <a:schemeClr val="tx1"/>
                </a:solidFill>
              </a:rPr>
              <a:t>溢出</a:t>
            </a:r>
            <a:r>
              <a:rPr lang="en-US" altLang="zh-CN" dirty="0" smtClean="0">
                <a:solidFill>
                  <a:schemeClr val="tx1"/>
                </a:solidFill>
              </a:rPr>
              <a:t>?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rgbClr val="990099"/>
                </a:solidFill>
              </a:rPr>
              <a:t>    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en-US" altLang="zh-CN" baseline="-20000" dirty="0">
              <a:solidFill>
                <a:schemeClr val="tx1"/>
              </a:solidFill>
            </a:endParaRPr>
          </a:p>
        </p:txBody>
      </p:sp>
      <p:sp>
        <p:nvSpPr>
          <p:cNvPr id="263259" name="Text Box 91"/>
          <p:cNvSpPr txBox="1">
            <a:spLocks noChangeArrowheads="1"/>
          </p:cNvSpPr>
          <p:nvPr/>
        </p:nvSpPr>
        <p:spPr bwMode="auto">
          <a:xfrm>
            <a:off x="1703388" y="1693257"/>
            <a:ext cx="8785225" cy="9353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  </a:t>
            </a:r>
            <a:r>
              <a:rPr lang="en-US" altLang="zh-CN" dirty="0" smtClean="0">
                <a:solidFill>
                  <a:srgbClr val="990099"/>
                </a:solidFill>
              </a:rPr>
              <a:t> </a:t>
            </a:r>
            <a:r>
              <a:rPr lang="zh-CN" altLang="en-US" dirty="0" smtClean="0">
                <a:solidFill>
                  <a:srgbClr val="990099"/>
                </a:solidFill>
              </a:rPr>
              <a:t>依据：</a:t>
            </a:r>
            <a:r>
              <a:rPr lang="zh-CN" altLang="en-US" dirty="0" smtClean="0">
                <a:solidFill>
                  <a:schemeClr val="tx1"/>
                </a:solidFill>
              </a:rPr>
              <a:t>正溢出时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01</a:t>
            </a:r>
            <a:r>
              <a:rPr lang="zh-CN" altLang="en-US" dirty="0" smtClean="0">
                <a:solidFill>
                  <a:schemeClr val="tx1"/>
                </a:solidFill>
              </a:rPr>
              <a:t>，负溢出</a:t>
            </a:r>
            <a:r>
              <a:rPr lang="zh-CN" altLang="en-US" dirty="0">
                <a:solidFill>
                  <a:schemeClr val="tx1"/>
                </a:solidFill>
              </a:rPr>
              <a:t>时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</a:t>
            </a:r>
            <a:r>
              <a:rPr lang="en-US" altLang="zh-CN" i="1" dirty="0" smtClean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10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                     (</a:t>
            </a:r>
            <a:r>
              <a:rPr lang="en-US" altLang="zh-CN" sz="1800" i="1" spc="-50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1800" spc="-50" baseline="-18000" dirty="0">
                <a:solidFill>
                  <a:schemeClr val="tx1"/>
                </a:solidFill>
              </a:rPr>
              <a:t>n-1</a:t>
            </a:r>
            <a:r>
              <a:rPr lang="zh-CN" altLang="en-US" sz="1800" spc="-50" dirty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1800" spc="-50" dirty="0" smtClean="0">
                <a:solidFill>
                  <a:schemeClr val="tx1"/>
                </a:solidFill>
                <a:sym typeface="Symbol" panose="05050102010706020507"/>
              </a:rPr>
              <a:t>0</a:t>
            </a:r>
            <a:r>
              <a:rPr lang="zh-CN" altLang="en-US" sz="1800" spc="-50" dirty="0" smtClean="0">
                <a:solidFill>
                  <a:schemeClr val="tx1"/>
                </a:solidFill>
                <a:sym typeface="Symbol" panose="05050102010706020507"/>
              </a:rPr>
              <a:t>、</a:t>
            </a:r>
            <a:r>
              <a:rPr lang="en-US" altLang="zh-CN" sz="1800" i="1" spc="-50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1800" spc="-50" baseline="-18000" dirty="0" smtClean="0">
                <a:solidFill>
                  <a:schemeClr val="tx1"/>
                </a:solidFill>
              </a:rPr>
              <a:t>n-2</a:t>
            </a:r>
            <a:r>
              <a:rPr lang="zh-CN" altLang="en-US" sz="1800" spc="-50" dirty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1800" spc="-50" dirty="0">
                <a:solidFill>
                  <a:schemeClr val="tx1"/>
                </a:solidFill>
                <a:sym typeface="Symbol" panose="05050102010706020507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</a:rPr>
              <a:t>)        (</a:t>
            </a:r>
            <a:r>
              <a:rPr lang="en-US" altLang="zh-CN" sz="1800" i="1" spc="-50" dirty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1800" spc="-50" baseline="-18000" dirty="0">
                <a:solidFill>
                  <a:schemeClr val="tx1"/>
                </a:solidFill>
              </a:rPr>
              <a:t>n-1</a:t>
            </a:r>
            <a:r>
              <a:rPr lang="zh-CN" altLang="en-US" sz="1800" spc="-50" dirty="0" smtClean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1800" spc="-50" dirty="0" smtClean="0">
                <a:solidFill>
                  <a:schemeClr val="tx1"/>
                </a:solidFill>
                <a:sym typeface="Symbol" panose="05050102010706020507"/>
              </a:rPr>
              <a:t>1</a:t>
            </a:r>
            <a:r>
              <a:rPr lang="zh-CN" altLang="en-US" sz="1800" spc="-50" dirty="0" smtClean="0">
                <a:solidFill>
                  <a:schemeClr val="tx1"/>
                </a:solidFill>
                <a:sym typeface="Symbol" panose="05050102010706020507"/>
              </a:rPr>
              <a:t>、</a:t>
            </a:r>
            <a:r>
              <a:rPr lang="en-US" altLang="zh-CN" sz="1800" i="1" spc="-50" dirty="0" smtClean="0">
                <a:solidFill>
                  <a:schemeClr val="tx1"/>
                </a:solidFill>
                <a:latin typeface="+mn-lt"/>
              </a:rPr>
              <a:t>C</a:t>
            </a:r>
            <a:r>
              <a:rPr lang="en-US" altLang="zh-CN" sz="1800" spc="-50" baseline="-18000" dirty="0" smtClean="0">
                <a:solidFill>
                  <a:schemeClr val="tx1"/>
                </a:solidFill>
              </a:rPr>
              <a:t>n-2</a:t>
            </a:r>
            <a:r>
              <a:rPr lang="zh-CN" altLang="en-US" sz="1800" spc="-50" dirty="0" smtClean="0">
                <a:solidFill>
                  <a:schemeClr val="tx1"/>
                </a:solidFill>
                <a:sym typeface="Symbol" panose="05050102010706020507"/>
              </a:rPr>
              <a:t>＝</a:t>
            </a:r>
            <a:r>
              <a:rPr lang="en-US" altLang="zh-CN" sz="1800" spc="-50" dirty="0" smtClean="0">
                <a:solidFill>
                  <a:schemeClr val="tx1"/>
                </a:solidFill>
                <a:sym typeface="Symbol" panose="05050102010706020507"/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accent2"/>
              </a:solidFill>
            </a:endParaRPr>
          </a:p>
          <a:p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   </a:t>
            </a:r>
            <a:r>
              <a:rPr lang="zh-CN" altLang="en-US" dirty="0" smtClean="0">
                <a:solidFill>
                  <a:srgbClr val="990099"/>
                </a:solidFill>
              </a:rPr>
              <a:t>溢出逻辑：</a:t>
            </a:r>
            <a:r>
              <a:rPr lang="en-US" altLang="zh-CN" dirty="0" smtClean="0">
                <a:solidFill>
                  <a:schemeClr val="tx1"/>
                </a:solidFill>
              </a:rPr>
              <a:t>OF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i="1" dirty="0">
                <a:solidFill>
                  <a:schemeClr val="tx1"/>
                </a:solidFill>
                <a:latin typeface="+mn-lt"/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63262" name="Text Box 94"/>
          <p:cNvSpPr txBox="1">
            <a:spLocks noChangeArrowheads="1"/>
          </p:cNvSpPr>
          <p:nvPr/>
        </p:nvSpPr>
        <p:spPr bwMode="auto">
          <a:xfrm>
            <a:off x="1703388" y="3408441"/>
            <a:ext cx="8785225" cy="15379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973580" indent="-1973580"/>
            <a:r>
              <a:rPr lang="en-US" altLang="zh-CN" dirty="0" smtClean="0">
                <a:solidFill>
                  <a:srgbClr val="990099"/>
                </a:solidFill>
              </a:rPr>
              <a:t>        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>
                <a:solidFill>
                  <a:schemeClr val="tx1"/>
                </a:solidFill>
              </a:rPr>
              <a:t>变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补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smtClean="0">
                <a:solidFill>
                  <a:srgbClr val="FF3399"/>
                </a:solidFill>
              </a:rPr>
              <a:t>11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010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[B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>
                <a:solidFill>
                  <a:schemeClr val="tx1"/>
                </a:solidFill>
              </a:rPr>
              <a:t>变补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smtClean="0">
                <a:solidFill>
                  <a:srgbClr val="FF3399"/>
                </a:solidFill>
              </a:rPr>
              <a:t>00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011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[-B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>
                <a:solidFill>
                  <a:schemeClr val="tx1"/>
                </a:solidFill>
              </a:rPr>
              <a:t>变补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dirty="0" smtClean="0">
                <a:solidFill>
                  <a:srgbClr val="FF3399"/>
                </a:solidFill>
              </a:rPr>
              <a:t>11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101 </a:t>
            </a:r>
            <a:endParaRPr lang="en-US" altLang="zh-CN" dirty="0">
              <a:solidFill>
                <a:schemeClr val="tx1"/>
              </a:solidFill>
            </a:endParaRPr>
          </a:p>
          <a:p>
            <a:pPr marL="1973580" indent="-1973580">
              <a:lnSpc>
                <a:spcPct val="100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        </a:t>
            </a:r>
            <a:r>
              <a:rPr lang="en-US" altLang="zh-CN" dirty="0">
                <a:solidFill>
                  <a:schemeClr val="tx1"/>
                </a:solidFill>
              </a:rPr>
              <a:t>[A+B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变补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= 11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010      </a:t>
            </a:r>
            <a:r>
              <a:rPr lang="en-US" altLang="zh-CN" dirty="0">
                <a:solidFill>
                  <a:schemeClr val="tx1"/>
                </a:solidFill>
              </a:rPr>
              <a:t>[A-B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变补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= 11</a:t>
            </a:r>
            <a:r>
              <a:rPr lang="en-US" altLang="zh-CN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010</a:t>
            </a:r>
            <a:endParaRPr lang="en-US" altLang="zh-CN" dirty="0">
              <a:solidFill>
                <a:schemeClr val="tx1"/>
              </a:solidFill>
            </a:endParaRPr>
          </a:p>
          <a:p>
            <a:pPr marL="1973580" indent="-1973580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     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 </a:t>
            </a:r>
            <a:r>
              <a:rPr lang="en-US" altLang="zh-CN" sz="2000" baseline="-250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</a:t>
            </a:r>
            <a:r>
              <a:rPr lang="en-US" altLang="zh-CN" u="sng" dirty="0">
                <a:solidFill>
                  <a:schemeClr val="tx1"/>
                </a:solidFill>
              </a:rPr>
              <a:t>+ </a:t>
            </a:r>
            <a:r>
              <a:rPr lang="en-US" altLang="zh-CN" u="sng" dirty="0" smtClean="0">
                <a:solidFill>
                  <a:schemeClr val="tx1"/>
                </a:solidFill>
              </a:rPr>
              <a:t>00</a:t>
            </a:r>
            <a:r>
              <a:rPr lang="en-US" altLang="zh-CN" u="sng" dirty="0" smtClean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u="sng" dirty="0" smtClean="0">
                <a:solidFill>
                  <a:schemeClr val="tx1"/>
                </a:solidFill>
              </a:rPr>
              <a:t>011</a:t>
            </a:r>
            <a:r>
              <a:rPr lang="en-US" altLang="zh-CN" dirty="0" smtClean="0">
                <a:solidFill>
                  <a:schemeClr val="tx1"/>
                </a:solidFill>
              </a:rPr>
              <a:t>        </a:t>
            </a:r>
            <a:r>
              <a:rPr lang="en-US" altLang="zh-CN" sz="2000" dirty="0" smtClean="0">
                <a:solidFill>
                  <a:schemeClr val="tx1"/>
                </a:solidFill>
              </a:rPr>
              <a:t>   </a:t>
            </a:r>
            <a:r>
              <a:rPr lang="en-US" altLang="zh-CN" dirty="0" smtClean="0">
                <a:solidFill>
                  <a:schemeClr val="tx1"/>
                </a:solidFill>
              </a:rPr>
              <a:t>    </a:t>
            </a:r>
            <a:r>
              <a:rPr lang="en-US" altLang="zh-CN" u="sng" dirty="0">
                <a:solidFill>
                  <a:schemeClr val="tx1"/>
                </a:solidFill>
              </a:rPr>
              <a:t>+ </a:t>
            </a:r>
            <a:r>
              <a:rPr lang="en-US" altLang="zh-CN" u="sng" dirty="0" smtClean="0">
                <a:solidFill>
                  <a:schemeClr val="tx1"/>
                </a:solidFill>
              </a:rPr>
              <a:t>11</a:t>
            </a:r>
            <a:r>
              <a:rPr lang="en-US" altLang="zh-CN" u="sng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u="sng" dirty="0" smtClean="0">
                <a:solidFill>
                  <a:schemeClr val="tx1"/>
                </a:solidFill>
              </a:rPr>
              <a:t>101</a:t>
            </a:r>
            <a:endParaRPr lang="en-US" altLang="zh-CN" u="sng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          </a:t>
            </a:r>
            <a:r>
              <a:rPr lang="en-US" altLang="zh-CN" sz="2000" dirty="0">
                <a:solidFill>
                  <a:schemeClr val="tx1"/>
                </a:solidFill>
              </a:rPr>
              <a:t>   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</a:rPr>
              <a:t>   </a:t>
            </a:r>
            <a:r>
              <a:rPr lang="en-US" altLang="zh-CN" dirty="0" smtClean="0">
                <a:solidFill>
                  <a:srgbClr val="FF3399"/>
                </a:solidFill>
              </a:rPr>
              <a:t>11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101         </a:t>
            </a:r>
            <a:r>
              <a:rPr lang="en-US" altLang="zh-CN" baseline="-25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  </a:t>
            </a:r>
            <a:r>
              <a:rPr lang="en-US" altLang="zh-CN" dirty="0" smtClean="0">
                <a:solidFill>
                  <a:srgbClr val="FF3399"/>
                </a:solidFill>
              </a:rPr>
              <a:t>10</a:t>
            </a:r>
            <a:r>
              <a:rPr lang="en-US" altLang="zh-CN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111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   OF=1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  <a:ea typeface="+mn-ea"/>
              </a:rPr>
              <a:t>=0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  <a:ea typeface="+mn-ea"/>
              </a:rPr>
              <a:t>，不溢出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OF=1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dirty="0" smtClean="0">
                <a:solidFill>
                  <a:schemeClr val="tx1"/>
                </a:solidFill>
                <a:latin typeface="+mn-ea"/>
              </a:rPr>
              <a:t>=0</a:t>
            </a:r>
            <a:r>
              <a:rPr lang="zh-CN" altLang="en-US" dirty="0" smtClean="0">
                <a:solidFill>
                  <a:schemeClr val="tx1"/>
                </a:solidFill>
                <a:latin typeface="+mn-ea"/>
              </a:rPr>
              <a:t>，溢出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3270" name="AutoShape 10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512519" y="6526039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71" name="Text Box 103"/>
          <p:cNvSpPr txBox="1">
            <a:spLocks noChangeArrowheads="1"/>
          </p:cNvSpPr>
          <p:nvPr/>
        </p:nvSpPr>
        <p:spPr bwMode="auto">
          <a:xfrm>
            <a:off x="1703388" y="5437673"/>
            <a:ext cx="878522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524000" indent="-1524000"/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zh-CN" altLang="en-US" dirty="0">
                <a:solidFill>
                  <a:srgbClr val="990099"/>
                </a:solidFill>
              </a:rPr>
              <a:t>练习</a:t>
            </a:r>
            <a:r>
              <a:rPr lang="en-US" altLang="zh-CN" dirty="0">
                <a:solidFill>
                  <a:srgbClr val="990099"/>
                </a:solidFill>
              </a:rPr>
              <a:t>—</a:t>
            </a:r>
            <a:r>
              <a:rPr lang="zh-CN" altLang="en-US" dirty="0">
                <a:solidFill>
                  <a:schemeClr val="tx1"/>
                </a:solidFill>
              </a:rPr>
              <a:t>设</a:t>
            </a:r>
            <a:r>
              <a:rPr lang="en-US" altLang="zh-CN" dirty="0">
                <a:solidFill>
                  <a:schemeClr val="tx1"/>
                </a:solidFill>
              </a:rPr>
              <a:t>A=+15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B=+24</a:t>
            </a:r>
            <a:r>
              <a:rPr lang="zh-CN" altLang="en-US" dirty="0" smtClean="0">
                <a:solidFill>
                  <a:schemeClr val="tx1"/>
                </a:solidFill>
              </a:rPr>
              <a:t>，补码含</a:t>
            </a:r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r>
              <a:rPr lang="zh-CN" altLang="en-US" dirty="0" smtClean="0">
                <a:solidFill>
                  <a:schemeClr val="tx1"/>
                </a:solidFill>
              </a:rPr>
              <a:t>个数值位，判断</a:t>
            </a:r>
            <a:r>
              <a:rPr lang="en-US" altLang="zh-CN" dirty="0">
                <a:solidFill>
                  <a:schemeClr val="tx1"/>
                </a:solidFill>
              </a:rPr>
              <a:t>A+B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A-B</a:t>
            </a:r>
            <a:r>
              <a:rPr lang="zh-CN" altLang="en-US" dirty="0" smtClean="0">
                <a:solidFill>
                  <a:schemeClr val="tx1"/>
                </a:solidFill>
              </a:rPr>
              <a:t>结果是否溢出</a:t>
            </a:r>
            <a:r>
              <a:rPr lang="en-US" altLang="zh-CN" dirty="0" smtClean="0">
                <a:solidFill>
                  <a:schemeClr val="tx1"/>
                </a:solidFill>
              </a:rPr>
              <a:t>(</a:t>
            </a:r>
            <a:r>
              <a:rPr lang="zh-CN" altLang="en-US" dirty="0" smtClean="0">
                <a:solidFill>
                  <a:schemeClr val="tx1"/>
                </a:solidFill>
              </a:rPr>
              <a:t>方法不限</a:t>
            </a:r>
            <a:r>
              <a:rPr lang="en-US" altLang="zh-CN" dirty="0" smtClean="0">
                <a:solidFill>
                  <a:schemeClr val="tx1"/>
                </a:solidFill>
              </a:rPr>
              <a:t>)</a:t>
            </a:r>
            <a:endParaRPr lang="zh-CN" altLang="en-US" baseline="-18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3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3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256" grpId="0" bldLvl="0" animBg="1"/>
      <p:bldP spid="263259" grpId="0" bldLvl="0" animBg="1"/>
      <p:bldP spid="263262" grpId="0" bldLvl="0" animBg="1"/>
      <p:bldP spid="263271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323"/>
          <p:cNvSpPr txBox="1">
            <a:spLocks noChangeArrowheads="1"/>
          </p:cNvSpPr>
          <p:nvPr/>
        </p:nvSpPr>
        <p:spPr bwMode="auto">
          <a:xfrm>
            <a:off x="1703512" y="332656"/>
            <a:ext cx="4582014" cy="2799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3</a:t>
            </a:r>
            <a:r>
              <a:rPr lang="zh-CN" altLang="en-US" dirty="0" smtClean="0">
                <a:solidFill>
                  <a:srgbClr val="FF3399"/>
                </a:solidFill>
              </a:rPr>
              <a:t>、加减</a:t>
            </a:r>
            <a:r>
              <a:rPr lang="zh-CN" altLang="en-US" dirty="0">
                <a:solidFill>
                  <a:srgbClr val="FF3399"/>
                </a:solidFill>
              </a:rPr>
              <a:t>法器</a:t>
            </a:r>
            <a:r>
              <a:rPr lang="zh-CN" altLang="en-US" dirty="0" smtClean="0">
                <a:solidFill>
                  <a:srgbClr val="FF3399"/>
                </a:solidFill>
              </a:rPr>
              <a:t>的结果标志</a:t>
            </a:r>
            <a:endParaRPr lang="en-US" altLang="zh-CN" dirty="0" smtClean="0">
              <a:solidFill>
                <a:srgbClr val="FF3399"/>
              </a:solidFill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 smtClean="0">
                <a:solidFill>
                  <a:srgbClr val="C00000"/>
                </a:solidFill>
              </a:rPr>
              <a:t>*关系运算的实现：</a:t>
            </a:r>
            <a:endParaRPr lang="en-US" altLang="zh-CN" dirty="0" smtClean="0">
              <a:solidFill>
                <a:srgbClr val="C00000"/>
              </a:solidFill>
            </a:endParaRPr>
          </a:p>
          <a:p>
            <a:r>
              <a:rPr lang="zh-CN" altLang="en-US" spc="-100" dirty="0">
                <a:solidFill>
                  <a:schemeClr val="accent2"/>
                </a:solidFill>
              </a:rPr>
              <a:t> </a:t>
            </a:r>
            <a:r>
              <a:rPr lang="zh-CN" altLang="en-US" spc="-100" dirty="0" smtClean="0">
                <a:solidFill>
                  <a:schemeClr val="accent2"/>
                </a:solidFill>
              </a:rPr>
              <a:t>   无</a:t>
            </a:r>
            <a:r>
              <a:rPr lang="zh-CN" altLang="en-US" spc="-100" dirty="0">
                <a:solidFill>
                  <a:schemeClr val="accent2"/>
                </a:solidFill>
              </a:rPr>
              <a:t>符号关系运算</a:t>
            </a:r>
            <a:r>
              <a:rPr lang="en-US" altLang="zh-CN" spc="-100" dirty="0">
                <a:solidFill>
                  <a:schemeClr val="accent2"/>
                </a:solidFill>
              </a:rPr>
              <a:t>—</a:t>
            </a:r>
            <a:endParaRPr lang="en-US" altLang="zh-CN" spc="-100" dirty="0">
              <a:solidFill>
                <a:schemeClr val="accent2"/>
              </a:solidFill>
            </a:endParaRPr>
          </a:p>
          <a:p>
            <a:endParaRPr lang="en-US" altLang="zh-CN" spc="-100" dirty="0">
              <a:solidFill>
                <a:schemeClr val="accent2"/>
              </a:solidFill>
            </a:endParaRPr>
          </a:p>
          <a:p>
            <a:endParaRPr lang="en-US" altLang="zh-CN" spc="-100" dirty="0">
              <a:solidFill>
                <a:schemeClr val="accent2"/>
              </a:solidFill>
            </a:endParaRPr>
          </a:p>
          <a:p>
            <a:endParaRPr lang="en-US" altLang="zh-CN" spc="-100" dirty="0">
              <a:solidFill>
                <a:schemeClr val="accent2"/>
              </a:solidFill>
            </a:endParaRPr>
          </a:p>
          <a:p>
            <a:pPr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pc="-100" dirty="0">
                <a:solidFill>
                  <a:schemeClr val="accent2"/>
                </a:solidFill>
              </a:rPr>
              <a:t>   </a:t>
            </a:r>
            <a:r>
              <a:rPr lang="zh-CN" altLang="en-US" spc="-100" dirty="0" smtClean="0">
                <a:solidFill>
                  <a:schemeClr val="accent2"/>
                </a:solidFill>
              </a:rPr>
              <a:t> 有</a:t>
            </a:r>
            <a:r>
              <a:rPr lang="zh-CN" altLang="en-US" spc="-100" dirty="0">
                <a:solidFill>
                  <a:schemeClr val="accent2"/>
                </a:solidFill>
              </a:rPr>
              <a:t>符号关系运算</a:t>
            </a:r>
            <a:r>
              <a:rPr lang="en-US" altLang="zh-CN" spc="-100" dirty="0">
                <a:solidFill>
                  <a:schemeClr val="accent2"/>
                </a:solidFill>
              </a:rPr>
              <a:t>—</a:t>
            </a:r>
            <a:endParaRPr lang="en-US" altLang="zh-CN" spc="-100" dirty="0" smtClean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rgbClr val="C00000"/>
              </a:solidFill>
            </a:endParaRPr>
          </a:p>
        </p:txBody>
      </p:sp>
      <p:sp>
        <p:nvSpPr>
          <p:cNvPr id="4" name="Text Box 323"/>
          <p:cNvSpPr txBox="1">
            <a:spLocks noChangeArrowheads="1"/>
          </p:cNvSpPr>
          <p:nvPr/>
        </p:nvSpPr>
        <p:spPr bwMode="auto">
          <a:xfrm>
            <a:off x="4692000" y="1224000"/>
            <a:ext cx="5760640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pc="-50" dirty="0" smtClean="0">
                <a:solidFill>
                  <a:schemeClr val="tx1"/>
                </a:solidFill>
              </a:rPr>
              <a:t>①</a:t>
            </a:r>
            <a:r>
              <a:rPr lang="zh-CN" altLang="en-US" spc="-50" dirty="0">
                <a:solidFill>
                  <a:schemeClr val="tx1"/>
                </a:solidFill>
              </a:rPr>
              <a:t>通过</a:t>
            </a:r>
            <a:r>
              <a:rPr lang="zh-CN" altLang="en-US" u="sng" spc="-50" dirty="0">
                <a:solidFill>
                  <a:srgbClr val="0070C0"/>
                </a:solidFill>
              </a:rPr>
              <a:t>减法运算</a:t>
            </a:r>
            <a:r>
              <a:rPr lang="en-US" altLang="zh-CN" sz="1800" spc="-50" dirty="0">
                <a:solidFill>
                  <a:schemeClr val="tx1"/>
                </a:solidFill>
              </a:rPr>
              <a:t>(</a:t>
            </a:r>
            <a:r>
              <a:rPr lang="zh-CN" altLang="en-US" sz="1800" spc="-50" dirty="0">
                <a:solidFill>
                  <a:schemeClr val="tx1"/>
                </a:solidFill>
              </a:rPr>
              <a:t>无符号减法</a:t>
            </a:r>
            <a:r>
              <a:rPr lang="en-US" altLang="zh-CN" sz="1800" spc="-50" dirty="0">
                <a:solidFill>
                  <a:schemeClr val="tx1"/>
                </a:solidFill>
              </a:rPr>
              <a:t>)</a:t>
            </a:r>
            <a:r>
              <a:rPr lang="zh-CN" altLang="en-US" spc="-50" dirty="0">
                <a:solidFill>
                  <a:schemeClr val="tx1"/>
                </a:solidFill>
              </a:rPr>
              <a:t>，</a:t>
            </a:r>
            <a:r>
              <a:rPr lang="zh-CN" altLang="en-US" u="sng" spc="-50" dirty="0">
                <a:solidFill>
                  <a:srgbClr val="990099"/>
                </a:solidFill>
              </a:rPr>
              <a:t>产生</a:t>
            </a:r>
            <a:r>
              <a:rPr lang="zh-CN" altLang="en-US" spc="-50" dirty="0">
                <a:solidFill>
                  <a:schemeClr val="tx1"/>
                </a:solidFill>
              </a:rPr>
              <a:t>结果</a:t>
            </a:r>
            <a:r>
              <a:rPr lang="zh-CN" altLang="en-US" spc="-50" dirty="0" smtClean="0">
                <a:solidFill>
                  <a:schemeClr val="tx1"/>
                </a:solidFill>
              </a:rPr>
              <a:t>标志</a:t>
            </a:r>
            <a:r>
              <a:rPr lang="en-US" altLang="zh-CN" spc="-50" dirty="0" smtClean="0">
                <a:solidFill>
                  <a:schemeClr val="tx1"/>
                </a:solidFill>
              </a:rPr>
              <a:t> </a:t>
            </a:r>
            <a:endParaRPr lang="en-US" altLang="zh-CN" spc="-50" dirty="0">
              <a:solidFill>
                <a:schemeClr val="tx1"/>
              </a:solidFill>
            </a:endParaRPr>
          </a:p>
          <a:p>
            <a:r>
              <a:rPr lang="zh-CN" altLang="en-US" spc="-50" dirty="0" smtClean="0">
                <a:solidFill>
                  <a:schemeClr val="tx1"/>
                </a:solidFill>
              </a:rPr>
              <a:t>②</a:t>
            </a:r>
            <a:r>
              <a:rPr lang="zh-CN" altLang="en-US" spc="-50" dirty="0">
                <a:solidFill>
                  <a:schemeClr val="tx1"/>
                </a:solidFill>
              </a:rPr>
              <a:t>通过</a:t>
            </a:r>
            <a:r>
              <a:rPr lang="zh-CN" altLang="en-US" u="sng" spc="-50" dirty="0" smtClean="0">
                <a:solidFill>
                  <a:srgbClr val="0070C0"/>
                </a:solidFill>
              </a:rPr>
              <a:t>逻辑操作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(</a:t>
            </a:r>
            <a:r>
              <a:rPr lang="zh-CN" altLang="en-US" sz="1800" spc="-50" dirty="0" smtClean="0">
                <a:solidFill>
                  <a:schemeClr val="tx1"/>
                </a:solidFill>
              </a:rPr>
              <a:t>针对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CF/ZF)</a:t>
            </a:r>
            <a:r>
              <a:rPr lang="zh-CN" altLang="en-US" spc="-50" dirty="0">
                <a:solidFill>
                  <a:schemeClr val="tx1"/>
                </a:solidFill>
              </a:rPr>
              <a:t>，</a:t>
            </a:r>
            <a:r>
              <a:rPr lang="zh-CN" altLang="en-US" u="sng" spc="-50" dirty="0">
                <a:solidFill>
                  <a:srgbClr val="990099"/>
                </a:solidFill>
              </a:rPr>
              <a:t>形成</a:t>
            </a:r>
            <a:r>
              <a:rPr lang="zh-CN" altLang="en-US" spc="-50" dirty="0">
                <a:solidFill>
                  <a:schemeClr val="tx1"/>
                </a:solidFill>
              </a:rPr>
              <a:t>运算结果</a:t>
            </a:r>
            <a:endParaRPr lang="en-US" altLang="zh-CN" spc="-50" dirty="0">
              <a:solidFill>
                <a:schemeClr val="tx1"/>
              </a:solidFill>
            </a:endParaRPr>
          </a:p>
        </p:txBody>
      </p:sp>
      <p:sp>
        <p:nvSpPr>
          <p:cNvPr id="5" name="Text Box 323"/>
          <p:cNvSpPr txBox="1">
            <a:spLocks noChangeArrowheads="1"/>
          </p:cNvSpPr>
          <p:nvPr/>
        </p:nvSpPr>
        <p:spPr bwMode="auto">
          <a:xfrm>
            <a:off x="4692352" y="3168000"/>
            <a:ext cx="5975648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pc="-50" dirty="0" smtClean="0">
                <a:solidFill>
                  <a:schemeClr val="tx1"/>
                </a:solidFill>
              </a:rPr>
              <a:t>①</a:t>
            </a:r>
            <a:r>
              <a:rPr lang="zh-CN" altLang="en-US" spc="-50" dirty="0">
                <a:solidFill>
                  <a:schemeClr val="tx1"/>
                </a:solidFill>
              </a:rPr>
              <a:t>通过</a:t>
            </a:r>
            <a:r>
              <a:rPr lang="zh-CN" altLang="en-US" u="sng" spc="-50" dirty="0">
                <a:solidFill>
                  <a:srgbClr val="0070C0"/>
                </a:solidFill>
              </a:rPr>
              <a:t>减法运算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(</a:t>
            </a:r>
            <a:r>
              <a:rPr lang="zh-CN" altLang="en-US" sz="1800" spc="-50" dirty="0" smtClean="0">
                <a:solidFill>
                  <a:schemeClr val="tx1"/>
                </a:solidFill>
              </a:rPr>
              <a:t>有符号</a:t>
            </a:r>
            <a:r>
              <a:rPr lang="zh-CN" altLang="en-US" sz="1800" spc="-50" dirty="0">
                <a:solidFill>
                  <a:schemeClr val="tx1"/>
                </a:solidFill>
              </a:rPr>
              <a:t>减法</a:t>
            </a:r>
            <a:r>
              <a:rPr lang="en-US" altLang="zh-CN" sz="1800" spc="-50" dirty="0">
                <a:solidFill>
                  <a:schemeClr val="tx1"/>
                </a:solidFill>
              </a:rPr>
              <a:t>)</a:t>
            </a:r>
            <a:r>
              <a:rPr lang="zh-CN" altLang="en-US" spc="-50" dirty="0">
                <a:solidFill>
                  <a:schemeClr val="tx1"/>
                </a:solidFill>
              </a:rPr>
              <a:t>，</a:t>
            </a:r>
            <a:r>
              <a:rPr lang="zh-CN" altLang="en-US" u="sng" spc="-50" dirty="0">
                <a:solidFill>
                  <a:srgbClr val="990099"/>
                </a:solidFill>
              </a:rPr>
              <a:t>产生</a:t>
            </a:r>
            <a:r>
              <a:rPr lang="zh-CN" altLang="en-US" spc="-50" dirty="0">
                <a:solidFill>
                  <a:schemeClr val="tx1"/>
                </a:solidFill>
              </a:rPr>
              <a:t>结果</a:t>
            </a:r>
            <a:r>
              <a:rPr lang="zh-CN" altLang="en-US" spc="-50" dirty="0" smtClean="0">
                <a:solidFill>
                  <a:schemeClr val="tx1"/>
                </a:solidFill>
              </a:rPr>
              <a:t>标志</a:t>
            </a:r>
            <a:r>
              <a:rPr lang="en-US" altLang="zh-CN" spc="-50" dirty="0" smtClean="0">
                <a:solidFill>
                  <a:schemeClr val="tx1"/>
                </a:solidFill>
              </a:rPr>
              <a:t> </a:t>
            </a:r>
            <a:endParaRPr lang="en-US" altLang="zh-CN" spc="-50" dirty="0">
              <a:solidFill>
                <a:schemeClr val="tx1"/>
              </a:solidFill>
            </a:endParaRPr>
          </a:p>
          <a:p>
            <a:r>
              <a:rPr lang="zh-CN" altLang="en-US" spc="-50" dirty="0" smtClean="0">
                <a:solidFill>
                  <a:schemeClr val="tx1"/>
                </a:solidFill>
              </a:rPr>
              <a:t>②</a:t>
            </a:r>
            <a:r>
              <a:rPr lang="zh-CN" altLang="en-US" spc="-50" dirty="0">
                <a:solidFill>
                  <a:schemeClr val="tx1"/>
                </a:solidFill>
              </a:rPr>
              <a:t>通过</a:t>
            </a:r>
            <a:r>
              <a:rPr lang="zh-CN" altLang="en-US" u="sng" spc="-50" dirty="0" smtClean="0">
                <a:solidFill>
                  <a:srgbClr val="0070C0"/>
                </a:solidFill>
              </a:rPr>
              <a:t>逻辑操作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(</a:t>
            </a:r>
            <a:r>
              <a:rPr lang="zh-CN" altLang="en-US" sz="1800" spc="-50" dirty="0" smtClean="0">
                <a:solidFill>
                  <a:schemeClr val="tx1"/>
                </a:solidFill>
              </a:rPr>
              <a:t>针对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OF</a:t>
            </a:r>
            <a:r>
              <a:rPr lang="en-US" altLang="zh-CN" sz="1800" spc="-50" dirty="0">
                <a:solidFill>
                  <a:schemeClr val="tx1"/>
                </a:solidFill>
              </a:rPr>
              <a:t>/</a:t>
            </a:r>
            <a:r>
              <a:rPr lang="en-US" altLang="zh-CN" sz="1800" spc="-50" dirty="0" smtClean="0">
                <a:solidFill>
                  <a:schemeClr val="tx1"/>
                </a:solidFill>
              </a:rPr>
              <a:t>SF/ZF)</a:t>
            </a:r>
            <a:r>
              <a:rPr lang="zh-CN" altLang="en-US" spc="-50" dirty="0">
                <a:solidFill>
                  <a:schemeClr val="tx1"/>
                </a:solidFill>
              </a:rPr>
              <a:t>，</a:t>
            </a:r>
            <a:r>
              <a:rPr lang="zh-CN" altLang="en-US" u="sng" spc="-50" dirty="0">
                <a:solidFill>
                  <a:srgbClr val="990099"/>
                </a:solidFill>
              </a:rPr>
              <a:t>形成</a:t>
            </a:r>
            <a:r>
              <a:rPr lang="zh-CN" altLang="en-US" spc="-50" dirty="0">
                <a:solidFill>
                  <a:schemeClr val="tx1"/>
                </a:solidFill>
              </a:rPr>
              <a:t>运算结果</a:t>
            </a:r>
            <a:endParaRPr lang="en-US" altLang="zh-CN" spc="-50" dirty="0">
              <a:solidFill>
                <a:schemeClr val="tx1"/>
              </a:solidFill>
            </a:endParaRPr>
          </a:p>
        </p:txBody>
      </p:sp>
      <p:graphicFrame>
        <p:nvGraphicFramePr>
          <p:cNvPr id="6" name="Group 136"/>
          <p:cNvGraphicFramePr>
            <a:graphicFrameLocks noGrp="1"/>
          </p:cNvGraphicFramePr>
          <p:nvPr/>
        </p:nvGraphicFramePr>
        <p:xfrm>
          <a:off x="3647728" y="2232000"/>
          <a:ext cx="5544185" cy="931545"/>
        </p:xfrm>
        <a:graphic>
          <a:graphicData uri="http://schemas.openxmlformats.org/drawingml/2006/table">
            <a:tbl>
              <a:tblPr/>
              <a:tblGrid>
                <a:gridCol w="288290"/>
                <a:gridCol w="1296035"/>
                <a:gridCol w="791845"/>
                <a:gridCol w="791845"/>
                <a:gridCol w="791845"/>
                <a:gridCol w="791845"/>
                <a:gridCol w="792480"/>
              </a:tblGrid>
              <a:tr h="31051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关系运算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A≥B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A≤B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＞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＜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31051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accent2"/>
                          </a:solidFill>
                        </a:rPr>
                        <a:t>实现</a:t>
                      </a:r>
                      <a:endParaRPr lang="zh-CN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36000" marR="36000" marT="18000" marB="18000" vert="eaVert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①减法运算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，产生标志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(ZF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及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515">
                <a:tc vMerge="1">
                  <a:tcPr marL="18000" marR="18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②逻辑操作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5519937" y="2880000"/>
            <a:ext cx="2088000" cy="288000"/>
            <a:chOff x="3211907" y="4509088"/>
            <a:chExt cx="2088000" cy="288000"/>
          </a:xfrm>
        </p:grpSpPr>
        <p:sp>
          <p:nvSpPr>
            <p:cNvPr id="8" name="Text Box 101"/>
            <p:cNvSpPr txBox="1">
              <a:spLocks noChangeArrowheads="1"/>
            </p:cNvSpPr>
            <p:nvPr/>
          </p:nvSpPr>
          <p:spPr bwMode="auto">
            <a:xfrm>
              <a:off x="3211907" y="4509088"/>
              <a:ext cx="2088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dirty="0" smtClean="0">
                  <a:solidFill>
                    <a:schemeClr val="tx1"/>
                  </a:solidFill>
                </a:rPr>
                <a:t>CF   CF+ZF  </a:t>
              </a:r>
              <a:r>
                <a:rPr lang="en-US" altLang="zh-CN" sz="1800" dirty="0" err="1" smtClean="0">
                  <a:solidFill>
                    <a:schemeClr val="tx1"/>
                  </a:solidFill>
                </a:rPr>
                <a:t>CF+ZF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/>
            <p:cNvCxnSpPr/>
            <p:nvPr/>
          </p:nvCxnSpPr>
          <p:spPr bwMode="auto">
            <a:xfrm>
              <a:off x="3239690" y="4519888"/>
              <a:ext cx="2160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>
              <a:off x="4626328" y="4519888"/>
              <a:ext cx="5760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1" name="Text Box 101"/>
          <p:cNvSpPr txBox="1">
            <a:spLocks noChangeArrowheads="1"/>
          </p:cNvSpPr>
          <p:nvPr/>
        </p:nvSpPr>
        <p:spPr bwMode="auto">
          <a:xfrm>
            <a:off x="7896201" y="2880000"/>
            <a:ext cx="1224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CF     ZF</a:t>
            </a:r>
            <a:endParaRPr lang="en-US" altLang="zh-CN" sz="1800" baseline="-18000" dirty="0">
              <a:solidFill>
                <a:schemeClr val="tx1"/>
              </a:solidFill>
            </a:endParaRPr>
          </a:p>
        </p:txBody>
      </p:sp>
      <p:graphicFrame>
        <p:nvGraphicFramePr>
          <p:cNvPr id="12" name="Group 136"/>
          <p:cNvGraphicFramePr>
            <a:graphicFrameLocks noGrp="1"/>
          </p:cNvGraphicFramePr>
          <p:nvPr/>
        </p:nvGraphicFramePr>
        <p:xfrm>
          <a:off x="3647729" y="4221341"/>
          <a:ext cx="6480175" cy="931545"/>
        </p:xfrm>
        <a:graphic>
          <a:graphicData uri="http://schemas.openxmlformats.org/drawingml/2006/table">
            <a:tbl>
              <a:tblPr/>
              <a:tblGrid>
                <a:gridCol w="288290"/>
                <a:gridCol w="1296035"/>
                <a:gridCol w="791845"/>
                <a:gridCol w="1151890"/>
                <a:gridCol w="1151890"/>
                <a:gridCol w="935990"/>
                <a:gridCol w="864235"/>
              </a:tblGrid>
              <a:tr h="31051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关系运算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A≥B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A≤B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＞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＜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31051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accent2"/>
                          </a:solidFill>
                        </a:rPr>
                        <a:t>实现</a:t>
                      </a:r>
                      <a:endParaRPr lang="zh-CN" altLang="en-US" sz="18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36000" marR="36000" marT="18000" marB="18000" vert="eaVert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①减法运算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   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，产生标志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(ZF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OF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及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0515">
                <a:tc vMerge="1">
                  <a:tcPr marL="18000" marR="18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②逻辑操作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5303913" y="4869445"/>
            <a:ext cx="2988000" cy="288000"/>
            <a:chOff x="3358693" y="5694159"/>
            <a:chExt cx="2988000" cy="361749"/>
          </a:xfrm>
        </p:grpSpPr>
        <p:sp>
          <p:nvSpPr>
            <p:cNvPr id="14" name="Text Box 101"/>
            <p:cNvSpPr txBox="1">
              <a:spLocks noChangeArrowheads="1"/>
            </p:cNvSpPr>
            <p:nvPr/>
          </p:nvSpPr>
          <p:spPr bwMode="auto">
            <a:xfrm>
              <a:off x="3358693" y="5694159"/>
              <a:ext cx="2988000" cy="36174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46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800" dirty="0">
                  <a:solidFill>
                    <a:schemeClr val="tx1"/>
                  </a:solidFill>
                </a:rPr>
                <a:t>OF</a:t>
              </a:r>
              <a:r>
                <a:rPr lang="en-US" altLang="zh-CN" sz="1800" dirty="0">
                  <a:solidFill>
                    <a:schemeClr val="tx1"/>
                  </a:solidFill>
                  <a:sym typeface="Symbol" panose="05050102010706020507"/>
                </a:rPr>
                <a:t>SF</a:t>
              </a:r>
              <a:r>
                <a:rPr lang="en-US" altLang="zh-CN" sz="1400" spc="-1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OF</a:t>
              </a:r>
              <a:r>
                <a:rPr lang="en-US" altLang="zh-CN" sz="1800" dirty="0" smtClean="0">
                  <a:solidFill>
                    <a:schemeClr val="tx1"/>
                  </a:solidFill>
                  <a:sym typeface="Symbol" panose="05050102010706020507"/>
                </a:rPr>
                <a:t>SF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+ZF</a:t>
              </a:r>
              <a:r>
                <a:rPr lang="en-US" altLang="zh-CN" sz="14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OF</a:t>
              </a:r>
              <a:r>
                <a:rPr lang="en-US" altLang="zh-CN" sz="1800" dirty="0" smtClean="0">
                  <a:solidFill>
                    <a:schemeClr val="tx1"/>
                  </a:solidFill>
                  <a:sym typeface="Symbol" panose="05050102010706020507"/>
                </a:rPr>
                <a:t>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SF</a:t>
              </a:r>
              <a:r>
                <a:rPr lang="en-US" altLang="zh-CN" sz="1800" dirty="0" smtClean="0">
                  <a:solidFill>
                    <a:schemeClr val="tx1"/>
                  </a:solidFill>
                  <a:latin typeface="+mn-lt"/>
                </a:rPr>
                <a:t>·</a:t>
              </a:r>
              <a:r>
                <a:rPr lang="en-US" altLang="zh-CN" sz="1800" dirty="0" smtClean="0">
                  <a:solidFill>
                    <a:schemeClr val="tx1"/>
                  </a:solidFill>
                </a:rPr>
                <a:t>ZF</a:t>
              </a:r>
              <a:endParaRPr lang="en-US" altLang="zh-CN" sz="18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 bwMode="auto">
            <a:xfrm>
              <a:off x="3389285" y="5727514"/>
              <a:ext cx="64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/>
            <p:cNvCxnSpPr/>
            <p:nvPr/>
          </p:nvCxnSpPr>
          <p:spPr bwMode="auto">
            <a:xfrm>
              <a:off x="5349597" y="5727514"/>
              <a:ext cx="63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/>
          </p:nvCxnSpPr>
          <p:spPr bwMode="auto">
            <a:xfrm>
              <a:off x="6075947" y="5727514"/>
              <a:ext cx="21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Text Box 101"/>
          <p:cNvSpPr txBox="1">
            <a:spLocks noChangeArrowheads="1"/>
          </p:cNvSpPr>
          <p:nvPr/>
        </p:nvSpPr>
        <p:spPr bwMode="auto">
          <a:xfrm>
            <a:off x="8472433" y="4869413"/>
            <a:ext cx="1512000" cy="28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OF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SF</a:t>
            </a:r>
            <a:r>
              <a:rPr lang="en-US" altLang="zh-CN" sz="1800" dirty="0" smtClean="0">
                <a:solidFill>
                  <a:schemeClr val="tx1"/>
                </a:solidFill>
              </a:rPr>
              <a:t>    ZF</a:t>
            </a:r>
            <a:endParaRPr lang="en-US" altLang="zh-CN" sz="1800" baseline="-18000" dirty="0">
              <a:solidFill>
                <a:schemeClr val="tx1"/>
              </a:solidFill>
            </a:endParaRPr>
          </a:p>
        </p:txBody>
      </p:sp>
      <p:sp>
        <p:nvSpPr>
          <p:cNvPr id="19" name="Text Box 176"/>
          <p:cNvSpPr txBox="1">
            <a:spLocks noChangeArrowheads="1"/>
          </p:cNvSpPr>
          <p:nvPr/>
        </p:nvSpPr>
        <p:spPr bwMode="auto">
          <a:xfrm>
            <a:off x="2855595" y="5157470"/>
            <a:ext cx="7597140" cy="922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dirty="0">
                <a:solidFill>
                  <a:srgbClr val="990099"/>
                </a:solidFill>
              </a:rPr>
              <a:t>分析</a:t>
            </a:r>
            <a:r>
              <a:rPr lang="en-US" altLang="zh-CN" sz="1800" dirty="0" smtClean="0">
                <a:solidFill>
                  <a:srgbClr val="990099"/>
                </a:solidFill>
              </a:rPr>
              <a:t>—</a:t>
            </a:r>
            <a:r>
              <a:rPr lang="en-US" altLang="zh-CN" sz="1800" dirty="0" smtClean="0">
                <a:solidFill>
                  <a:schemeClr val="tx1"/>
                </a:solidFill>
              </a:rPr>
              <a:t>4</a:t>
            </a:r>
            <a:r>
              <a:rPr lang="zh-CN" altLang="en-US" sz="1800" dirty="0">
                <a:solidFill>
                  <a:schemeClr val="tx1"/>
                </a:solidFill>
              </a:rPr>
              <a:t>位</a:t>
            </a:r>
            <a:r>
              <a:rPr lang="zh-CN" altLang="en-US" sz="1800" dirty="0" smtClean="0">
                <a:solidFill>
                  <a:schemeClr val="tx1"/>
                </a:solidFill>
              </a:rPr>
              <a:t>补码</a:t>
            </a:r>
            <a:r>
              <a:rPr lang="zh-CN" altLang="en-US" sz="1800" dirty="0">
                <a:solidFill>
                  <a:schemeClr val="tx1"/>
                </a:solidFill>
              </a:rPr>
              <a:t>减法</a:t>
            </a:r>
            <a:r>
              <a:rPr lang="zh-CN" altLang="en-US" sz="1800" dirty="0" smtClean="0">
                <a:solidFill>
                  <a:schemeClr val="tx1"/>
                </a:solidFill>
              </a:rPr>
              <a:t>，</a:t>
            </a:r>
            <a:r>
              <a:rPr lang="en-US" altLang="zh-CN" sz="1800" dirty="0" smtClean="0">
                <a:solidFill>
                  <a:schemeClr val="tx1"/>
                </a:solidFill>
              </a:rPr>
              <a:t> </a:t>
            </a:r>
            <a:r>
              <a:rPr lang="en-US" altLang="zh-CN" sz="1800" dirty="0">
                <a:solidFill>
                  <a:schemeClr val="tx1"/>
                </a:solidFill>
              </a:rPr>
              <a:t>(-1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sz="1800" dirty="0" smtClean="0">
                <a:solidFill>
                  <a:schemeClr val="tx1"/>
                </a:solidFill>
              </a:rPr>
              <a:t>＜</a:t>
            </a:r>
            <a:r>
              <a:rPr lang="en-US" altLang="zh-CN" sz="1800" dirty="0" smtClean="0">
                <a:solidFill>
                  <a:schemeClr val="tx1"/>
                </a:solidFill>
              </a:rPr>
              <a:t>4    (-</a:t>
            </a:r>
            <a:r>
              <a:rPr lang="en-US" altLang="zh-CN" sz="1800" dirty="0">
                <a:solidFill>
                  <a:schemeClr val="tx1"/>
                </a:solidFill>
              </a:rPr>
              <a:t>5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sz="1800" dirty="0" smtClean="0">
                <a:solidFill>
                  <a:schemeClr val="tx1"/>
                </a:solidFill>
              </a:rPr>
              <a:t>＜</a:t>
            </a:r>
            <a:r>
              <a:rPr lang="en-US" altLang="zh-CN" sz="1800" dirty="0" smtClean="0">
                <a:solidFill>
                  <a:schemeClr val="tx1"/>
                </a:solidFill>
              </a:rPr>
              <a:t>4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      4</a:t>
            </a:r>
            <a:r>
              <a:rPr lang="zh-CN" altLang="en-US" sz="1800" dirty="0" smtClean="0">
                <a:solidFill>
                  <a:schemeClr val="tx1"/>
                </a:solidFill>
                <a:sym typeface="Symbol" panose="05050102010706020507"/>
              </a:rPr>
              <a:t>≮</a:t>
            </a:r>
            <a:r>
              <a:rPr lang="en-US" altLang="zh-CN" sz="1800" dirty="0" smtClean="0">
                <a:solidFill>
                  <a:schemeClr val="tx1"/>
                </a:solidFill>
              </a:rPr>
              <a:t>3</a:t>
            </a:r>
            <a:r>
              <a:rPr lang="zh-CN" altLang="en-US" sz="1800" dirty="0" smtClean="0">
                <a:solidFill>
                  <a:schemeClr val="tx1"/>
                </a:solidFill>
              </a:rPr>
              <a:t>      </a:t>
            </a:r>
            <a:r>
              <a:rPr lang="en-US" altLang="zh-CN" sz="1800" dirty="0" smtClean="0">
                <a:solidFill>
                  <a:schemeClr val="tx1"/>
                </a:solidFill>
              </a:rPr>
              <a:t>5</a:t>
            </a:r>
            <a:r>
              <a:rPr lang="zh-CN" altLang="en-US" sz="1800" dirty="0" smtClean="0">
                <a:solidFill>
                  <a:schemeClr val="tx1"/>
                </a:solidFill>
                <a:sym typeface="Symbol" panose="05050102010706020507"/>
              </a:rPr>
              <a:t>≮</a:t>
            </a:r>
            <a:r>
              <a:rPr lang="en-US" altLang="zh-CN" sz="1800" dirty="0" smtClean="0">
                <a:solidFill>
                  <a:schemeClr val="tx1"/>
                </a:solidFill>
              </a:rPr>
              <a:t>(-4)</a:t>
            </a:r>
            <a:endParaRPr lang="en-US" altLang="zh-CN" sz="1800" dirty="0">
              <a:solidFill>
                <a:schemeClr val="tx1"/>
              </a:solidFill>
              <a:sym typeface="Symbol" panose="05050102010706020507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                    =</a:t>
            </a:r>
            <a:r>
              <a:rPr lang="en-US" altLang="zh-CN" sz="1800" dirty="0" smtClean="0">
                <a:solidFill>
                  <a:srgbClr val="990099"/>
                </a:solidFill>
                <a:sym typeface="Symbol" panose="05050102010706020507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011(-5)  =</a:t>
            </a:r>
            <a:r>
              <a:rPr lang="en-US" altLang="zh-CN" sz="1800" dirty="0" smtClean="0">
                <a:solidFill>
                  <a:srgbClr val="990099"/>
                </a:solidFill>
                <a:sym typeface="Symbol" panose="05050102010706020507"/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111(</a:t>
            </a:r>
            <a:r>
              <a:rPr lang="en-US" altLang="zh-CN" sz="1800" dirty="0" smtClean="0">
                <a:solidFill>
                  <a:srgbClr val="FF3399"/>
                </a:solidFill>
                <a:sym typeface="Symbol" panose="05050102010706020507"/>
              </a:rPr>
              <a:t>+7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)  =</a:t>
            </a:r>
            <a:r>
              <a:rPr lang="en-US" altLang="zh-CN" sz="1800" dirty="0" smtClean="0">
                <a:solidFill>
                  <a:srgbClr val="990099"/>
                </a:solidFill>
                <a:sym typeface="Symbol" panose="05050102010706020507"/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001(+1)  =</a:t>
            </a:r>
            <a:r>
              <a:rPr lang="en-US" altLang="zh-CN" sz="1800" dirty="0" smtClean="0">
                <a:solidFill>
                  <a:srgbClr val="990099"/>
                </a:solidFill>
                <a:sym typeface="Symbol" panose="05050102010706020507"/>
              </a:rPr>
              <a:t>1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001(</a:t>
            </a:r>
            <a:r>
              <a:rPr lang="en-US" altLang="zh-CN" sz="1800" dirty="0" smtClean="0">
                <a:solidFill>
                  <a:srgbClr val="FF3399"/>
                </a:solidFill>
                <a:sym typeface="Symbol" panose="05050102010706020507"/>
              </a:rPr>
              <a:t>-7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)</a:t>
            </a:r>
            <a:endParaRPr lang="en-US" altLang="zh-CN" sz="1800" dirty="0" smtClean="0">
              <a:solidFill>
                <a:schemeClr val="tx1"/>
              </a:solidFill>
              <a:sym typeface="Symbol" panose="05050102010706020507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smtClean="0">
                <a:solidFill>
                  <a:srgbClr val="0070C0"/>
                </a:solidFill>
              </a:rPr>
              <a:t>                    OF=0,SF=1  OF=1,SF=0  OF=0,SF=0  OF=1,SF=1</a:t>
            </a:r>
            <a:endParaRPr lang="en-US" altLang="zh-CN" sz="1800" dirty="0" smtClean="0">
              <a:solidFill>
                <a:srgbClr val="0070C0"/>
              </a:solidFill>
              <a:sym typeface="Symbol" panose="05050102010706020507"/>
            </a:endParaRPr>
          </a:p>
        </p:txBody>
      </p:sp>
      <p:sp>
        <p:nvSpPr>
          <p:cNvPr id="20" name="AutoShape 6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672758" y="651926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AutoShape 62">
            <a:hlinkClick r:id="" action="ppaction://noaction"/>
          </p:cNvPr>
          <p:cNvSpPr>
            <a:spLocks noChangeArrowheads="1"/>
          </p:cNvSpPr>
          <p:nvPr/>
        </p:nvSpPr>
        <p:spPr bwMode="auto">
          <a:xfrm rot="16200000">
            <a:off x="559229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43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2" name="Text Box 101"/>
          <p:cNvSpPr txBox="1">
            <a:spLocks noChangeArrowheads="1"/>
          </p:cNvSpPr>
          <p:nvPr/>
        </p:nvSpPr>
        <p:spPr bwMode="auto">
          <a:xfrm>
            <a:off x="1775520" y="3672000"/>
            <a:ext cx="1908000" cy="468000"/>
          </a:xfrm>
          <a:prstGeom prst="rect">
            <a:avLst/>
          </a:prstGeom>
          <a:noFill/>
          <a:ln w="12700">
            <a:solidFill>
              <a:srgbClr val="C00000"/>
            </a:solidFill>
            <a:prstDash val="sysDash"/>
            <a:miter lim="800000"/>
          </a:ln>
          <a:effectLst/>
        </p:spPr>
        <p:txBody>
          <a:bodyPr lIns="54000" tIns="10800" rIns="18000" bIns="10800" anchor="ctr" anchorCtr="0"/>
          <a:lstStyle/>
          <a:p>
            <a:pPr>
              <a:lnSpc>
                <a:spcPct val="90000"/>
              </a:lnSpc>
            </a:pPr>
            <a:r>
              <a:rPr lang="en-US" altLang="zh-CN" sz="1600" dirty="0" smtClean="0">
                <a:solidFill>
                  <a:srgbClr val="C00000"/>
                </a:solidFill>
              </a:rPr>
              <a:t>OF—</a:t>
            </a:r>
            <a:r>
              <a:rPr lang="en-US" altLang="zh-CN" sz="1600" dirty="0" smtClean="0">
                <a:solidFill>
                  <a:schemeClr val="tx1"/>
                </a:solidFill>
              </a:rPr>
              <a:t>Overflow Flag</a:t>
            </a:r>
            <a:endParaRPr lang="en-US" altLang="zh-CN" sz="1600" dirty="0" smtClean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1600" dirty="0" smtClean="0">
                <a:solidFill>
                  <a:srgbClr val="C00000"/>
                </a:solidFill>
              </a:rPr>
              <a:t>SF—</a:t>
            </a:r>
            <a:r>
              <a:rPr lang="en-US" altLang="zh-CN" sz="1600" dirty="0" smtClean="0">
                <a:solidFill>
                  <a:schemeClr val="tx1"/>
                </a:solidFill>
              </a:rPr>
              <a:t>Signal Flag</a:t>
            </a:r>
            <a:endParaRPr lang="en-US" altLang="zh-CN" sz="1600" dirty="0" smtClean="0">
              <a:solidFill>
                <a:schemeClr val="tx1"/>
              </a:solidFill>
            </a:endParaRPr>
          </a:p>
        </p:txBody>
      </p:sp>
      <p:sp>
        <p:nvSpPr>
          <p:cNvPr id="75" name="Text Box 28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496185" y="5976000"/>
            <a:ext cx="7052945" cy="4756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973580" indent="-197358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练习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8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位加法器完成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74H+A3H</a:t>
            </a:r>
            <a:r>
              <a:rPr lang="zh-CN" altLang="en-US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74H-A3H</a:t>
            </a:r>
            <a:r>
              <a:rPr lang="zh-CN" sz="2000" b="1" dirty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后，标志各是多少？</a:t>
            </a:r>
            <a:endParaRPr lang="zh-CN" altLang="zh-CN" sz="2000" b="1" dirty="0" smtClean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11" grpId="0" bldLvl="0" animBg="1"/>
      <p:bldP spid="18" grpId="0" bldLvl="0" animBg="1"/>
      <p:bldP spid="19" grpId="0" bldLvl="0" animBg="1"/>
      <p:bldP spid="22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775520" y="404664"/>
            <a:ext cx="8712968" cy="4123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</a:rPr>
              <a:t> ※</a:t>
            </a:r>
            <a:r>
              <a:rPr lang="zh-CN" altLang="en-US" dirty="0" smtClean="0">
                <a:solidFill>
                  <a:srgbClr val="C00000"/>
                </a:solidFill>
              </a:rPr>
              <a:t>习题课</a:t>
            </a:r>
            <a:r>
              <a:rPr lang="en-US" altLang="zh-CN" dirty="0" smtClean="0">
                <a:solidFill>
                  <a:srgbClr val="C00000"/>
                </a:solidFill>
              </a:rPr>
              <a:t>-1</a:t>
            </a:r>
            <a:r>
              <a:rPr lang="zh-CN" altLang="zh-CN" dirty="0" smtClean="0">
                <a:solidFill>
                  <a:srgbClr val="C00000"/>
                </a:solidFill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</a:rPr>
              <a:t>[2011</a:t>
            </a:r>
            <a:r>
              <a:rPr lang="zh-CN" altLang="zh-CN" sz="2000" dirty="0">
                <a:solidFill>
                  <a:schemeClr val="tx1"/>
                </a:solidFill>
              </a:rPr>
              <a:t>年研究生入学统考题</a:t>
            </a:r>
            <a:r>
              <a:rPr lang="en-US" altLang="zh-CN" sz="2000" dirty="0">
                <a:solidFill>
                  <a:schemeClr val="tx1"/>
                </a:solidFill>
              </a:rPr>
              <a:t>]</a:t>
            </a:r>
            <a:endParaRPr lang="zh-CN" altLang="zh-CN" sz="2000" dirty="0">
              <a:solidFill>
                <a:schemeClr val="tx1"/>
              </a:solidFill>
            </a:endParaRPr>
          </a:p>
          <a:p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</a:rPr>
              <a:t> </a:t>
            </a:r>
            <a:r>
              <a:rPr lang="zh-CN" altLang="zh-CN" sz="2200" dirty="0" smtClean="0">
                <a:solidFill>
                  <a:schemeClr val="tx1"/>
                </a:solidFill>
              </a:rPr>
              <a:t>假定</a:t>
            </a:r>
            <a:r>
              <a:rPr lang="zh-CN" altLang="zh-CN" sz="2200" dirty="0">
                <a:solidFill>
                  <a:schemeClr val="tx1"/>
                </a:solidFill>
              </a:rPr>
              <a:t>在一个</a:t>
            </a:r>
            <a:r>
              <a:rPr lang="en-US" altLang="zh-CN" sz="2200" dirty="0">
                <a:solidFill>
                  <a:schemeClr val="tx1"/>
                </a:solidFill>
              </a:rPr>
              <a:t>8</a:t>
            </a:r>
            <a:r>
              <a:rPr lang="zh-CN" altLang="zh-CN" sz="2200" dirty="0">
                <a:solidFill>
                  <a:schemeClr val="tx1"/>
                </a:solidFill>
              </a:rPr>
              <a:t>位字长的计算机中运行</a:t>
            </a:r>
            <a:r>
              <a:rPr lang="zh-CN" altLang="zh-CN" sz="2200" dirty="0" smtClean="0">
                <a:solidFill>
                  <a:schemeClr val="tx1"/>
                </a:solidFill>
              </a:rPr>
              <a:t>如下</a:t>
            </a:r>
            <a:r>
              <a:rPr lang="en-US" altLang="zh-CN" sz="2200" dirty="0" smtClean="0">
                <a:solidFill>
                  <a:schemeClr val="tx1"/>
                </a:solidFill>
              </a:rPr>
              <a:t>C</a:t>
            </a:r>
            <a:r>
              <a:rPr lang="zh-CN" altLang="zh-CN" sz="2200" dirty="0">
                <a:solidFill>
                  <a:schemeClr val="tx1"/>
                </a:solidFill>
              </a:rPr>
              <a:t>程序段：</a:t>
            </a:r>
            <a:endParaRPr lang="zh-CN" altLang="zh-CN" sz="22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 smtClean="0">
                <a:solidFill>
                  <a:schemeClr val="tx1"/>
                </a:solidFill>
              </a:rPr>
              <a:t>    unsigned </a:t>
            </a:r>
            <a:r>
              <a:rPr lang="en-US" altLang="zh-CN" sz="2200" dirty="0" err="1">
                <a:solidFill>
                  <a:schemeClr val="tx1"/>
                </a:solidFill>
              </a:rPr>
              <a:t>int</a:t>
            </a:r>
            <a:r>
              <a:rPr lang="en-US" altLang="zh-CN" sz="2200" dirty="0">
                <a:solidFill>
                  <a:schemeClr val="tx1"/>
                </a:solidFill>
              </a:rPr>
              <a:t> x </a:t>
            </a:r>
            <a:r>
              <a:rPr lang="en-US" altLang="zh-CN" sz="2200" dirty="0" smtClean="0">
                <a:solidFill>
                  <a:schemeClr val="tx1"/>
                </a:solidFill>
              </a:rPr>
              <a:t>= 134, y </a:t>
            </a:r>
            <a:r>
              <a:rPr lang="en-US" altLang="zh-CN" sz="2200" dirty="0">
                <a:solidFill>
                  <a:schemeClr val="tx1"/>
                </a:solidFill>
              </a:rPr>
              <a:t>= </a:t>
            </a:r>
            <a:r>
              <a:rPr lang="en-US" altLang="zh-CN" sz="2200" dirty="0" smtClean="0">
                <a:solidFill>
                  <a:schemeClr val="tx1"/>
                </a:solidFill>
              </a:rPr>
              <a:t>246, </a:t>
            </a:r>
            <a:r>
              <a:rPr lang="en-US" altLang="zh-CN" sz="2200" dirty="0">
                <a:solidFill>
                  <a:schemeClr val="tx1"/>
                </a:solidFill>
              </a:rPr>
              <a:t>z1 = </a:t>
            </a:r>
            <a:r>
              <a:rPr lang="en-US" altLang="zh-CN" sz="2200" dirty="0" smtClean="0">
                <a:solidFill>
                  <a:schemeClr val="tx1"/>
                </a:solidFill>
              </a:rPr>
              <a:t>x-y</a:t>
            </a:r>
            <a:r>
              <a:rPr lang="en-US" altLang="zh-CN" sz="2200" dirty="0">
                <a:solidFill>
                  <a:schemeClr val="tx1"/>
                </a:solidFill>
              </a:rPr>
              <a:t>, z2 = 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x+y</a:t>
            </a:r>
            <a:r>
              <a:rPr lang="en-US" altLang="zh-CN" sz="2200" dirty="0" smtClean="0">
                <a:solidFill>
                  <a:schemeClr val="tx1"/>
                </a:solidFill>
              </a:rPr>
              <a:t>;</a:t>
            </a:r>
            <a:endParaRPr lang="zh-CN" altLang="zh-CN" sz="22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 smtClean="0">
                <a:solidFill>
                  <a:schemeClr val="tx1"/>
                </a:solidFill>
              </a:rPr>
              <a:t>    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int</a:t>
            </a:r>
            <a:r>
              <a:rPr lang="en-US" altLang="zh-CN" sz="2200" dirty="0" smtClean="0">
                <a:solidFill>
                  <a:schemeClr val="tx1"/>
                </a:solidFill>
              </a:rPr>
              <a:t> </a:t>
            </a:r>
            <a:r>
              <a:rPr lang="en-US" altLang="zh-CN" sz="2200" dirty="0">
                <a:solidFill>
                  <a:schemeClr val="tx1"/>
                </a:solidFill>
              </a:rPr>
              <a:t>m = </a:t>
            </a:r>
            <a:r>
              <a:rPr lang="en-US" altLang="zh-CN" sz="2200" dirty="0" smtClean="0">
                <a:solidFill>
                  <a:schemeClr val="tx1"/>
                </a:solidFill>
              </a:rPr>
              <a:t>x, n </a:t>
            </a:r>
            <a:r>
              <a:rPr lang="en-US" altLang="zh-CN" sz="2200" dirty="0">
                <a:solidFill>
                  <a:schemeClr val="tx1"/>
                </a:solidFill>
              </a:rPr>
              <a:t>= </a:t>
            </a:r>
            <a:r>
              <a:rPr lang="en-US" altLang="zh-CN" sz="2200" dirty="0" smtClean="0">
                <a:solidFill>
                  <a:schemeClr val="tx1"/>
                </a:solidFill>
              </a:rPr>
              <a:t>y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de-DE" altLang="zh-CN" sz="2200" dirty="0" smtClean="0">
                <a:solidFill>
                  <a:schemeClr val="tx1"/>
                </a:solidFill>
              </a:rPr>
              <a:t>k1 </a:t>
            </a:r>
            <a:r>
              <a:rPr lang="de-DE" altLang="zh-CN" sz="2200" dirty="0">
                <a:solidFill>
                  <a:schemeClr val="tx1"/>
                </a:solidFill>
              </a:rPr>
              <a:t>= </a:t>
            </a:r>
            <a:r>
              <a:rPr lang="de-DE" altLang="zh-CN" sz="2200" dirty="0" smtClean="0">
                <a:solidFill>
                  <a:schemeClr val="tx1"/>
                </a:solidFill>
              </a:rPr>
              <a:t>m-n</a:t>
            </a:r>
            <a:r>
              <a:rPr lang="en-US" altLang="zh-CN" sz="2200" dirty="0" smtClean="0">
                <a:solidFill>
                  <a:schemeClr val="tx1"/>
                </a:solidFill>
              </a:rPr>
              <a:t>, </a:t>
            </a:r>
            <a:r>
              <a:rPr lang="de-DE" altLang="zh-CN" sz="2200" dirty="0" smtClean="0">
                <a:solidFill>
                  <a:schemeClr val="tx1"/>
                </a:solidFill>
              </a:rPr>
              <a:t>k2 </a:t>
            </a:r>
            <a:r>
              <a:rPr lang="de-DE" altLang="zh-CN" sz="2200" dirty="0">
                <a:solidFill>
                  <a:schemeClr val="tx1"/>
                </a:solidFill>
              </a:rPr>
              <a:t>= </a:t>
            </a:r>
            <a:r>
              <a:rPr lang="de-DE" altLang="zh-CN" sz="2200" dirty="0" smtClean="0">
                <a:solidFill>
                  <a:schemeClr val="tx1"/>
                </a:solidFill>
              </a:rPr>
              <a:t>m+n</a:t>
            </a:r>
            <a:r>
              <a:rPr lang="de-DE" altLang="zh-CN" sz="2200" dirty="0">
                <a:solidFill>
                  <a:schemeClr val="tx1"/>
                </a:solidFill>
              </a:rPr>
              <a:t>;</a:t>
            </a:r>
            <a:endParaRPr lang="zh-CN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</a:t>
            </a:r>
            <a:r>
              <a:rPr lang="zh-CN" altLang="zh-CN" sz="2200" dirty="0" smtClean="0">
                <a:solidFill>
                  <a:schemeClr val="tx1"/>
                </a:solidFill>
              </a:rPr>
              <a:t>若</a:t>
            </a:r>
            <a:r>
              <a:rPr lang="zh-CN" altLang="zh-CN" sz="2200" dirty="0">
                <a:solidFill>
                  <a:schemeClr val="tx1"/>
                </a:solidFill>
              </a:rPr>
              <a:t>编译器编译</a:t>
            </a:r>
            <a:r>
              <a:rPr lang="zh-CN" altLang="zh-CN" sz="2200" dirty="0" smtClean="0">
                <a:solidFill>
                  <a:schemeClr val="tx1"/>
                </a:solidFill>
              </a:rPr>
              <a:t>时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r>
              <a:rPr lang="zh-CN" altLang="zh-CN" sz="2200" dirty="0" smtClean="0">
                <a:solidFill>
                  <a:schemeClr val="tx1"/>
                </a:solidFill>
              </a:rPr>
              <a:t>将</a:t>
            </a:r>
            <a:r>
              <a:rPr lang="de-DE" altLang="zh-CN" sz="2200" dirty="0">
                <a:solidFill>
                  <a:schemeClr val="tx1"/>
                </a:solidFill>
              </a:rPr>
              <a:t>8</a:t>
            </a:r>
            <a:r>
              <a:rPr lang="zh-CN" altLang="zh-CN" sz="2200" dirty="0">
                <a:solidFill>
                  <a:schemeClr val="tx1"/>
                </a:solidFill>
              </a:rPr>
              <a:t>个</a:t>
            </a:r>
            <a:r>
              <a:rPr lang="de-DE" altLang="zh-CN" sz="2200" dirty="0">
                <a:solidFill>
                  <a:schemeClr val="tx1"/>
                </a:solidFill>
              </a:rPr>
              <a:t>8</a:t>
            </a:r>
            <a:r>
              <a:rPr lang="zh-CN" altLang="zh-CN" sz="2200" dirty="0">
                <a:solidFill>
                  <a:schemeClr val="tx1"/>
                </a:solidFill>
              </a:rPr>
              <a:t>位寄存器</a:t>
            </a:r>
            <a:r>
              <a:rPr lang="de-DE" altLang="zh-CN" sz="2200" dirty="0">
                <a:solidFill>
                  <a:schemeClr val="tx1"/>
                </a:solidFill>
              </a:rPr>
              <a:t>R1</a:t>
            </a:r>
            <a:r>
              <a:rPr lang="de-DE" altLang="zh-CN" sz="2200" dirty="0">
                <a:solidFill>
                  <a:schemeClr val="tx1"/>
                </a:solidFill>
                <a:latin typeface="+mn-lt"/>
              </a:rPr>
              <a:t>~</a:t>
            </a:r>
            <a:r>
              <a:rPr lang="de-DE" altLang="zh-CN" sz="2200" dirty="0">
                <a:solidFill>
                  <a:schemeClr val="tx1"/>
                </a:solidFill>
              </a:rPr>
              <a:t>R8</a:t>
            </a:r>
            <a:r>
              <a:rPr lang="zh-CN" altLang="zh-CN" sz="2200" dirty="0">
                <a:solidFill>
                  <a:schemeClr val="tx1"/>
                </a:solidFill>
              </a:rPr>
              <a:t>分别分配给变量</a:t>
            </a:r>
            <a:r>
              <a:rPr lang="de-DE" altLang="zh-CN" sz="2200" dirty="0">
                <a:solidFill>
                  <a:schemeClr val="tx1"/>
                </a:solidFill>
              </a:rPr>
              <a:t>x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y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m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n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z1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z2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k1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k2</a:t>
            </a:r>
            <a:r>
              <a:rPr lang="zh-CN" altLang="zh-CN" sz="2200" dirty="0">
                <a:solidFill>
                  <a:schemeClr val="tx1"/>
                </a:solidFill>
              </a:rPr>
              <a:t>。请回答下列问题</a:t>
            </a:r>
            <a:r>
              <a:rPr lang="zh-CN" altLang="zh-CN" sz="2200" dirty="0" smtClean="0">
                <a:solidFill>
                  <a:schemeClr val="tx1"/>
                </a:solidFill>
              </a:rPr>
              <a:t>。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</a:t>
            </a:r>
            <a:r>
              <a:rPr lang="zh-CN" altLang="zh-CN" sz="2200" dirty="0" smtClean="0">
                <a:solidFill>
                  <a:schemeClr val="tx1"/>
                </a:solidFill>
              </a:rPr>
              <a:t>（</a:t>
            </a:r>
            <a:r>
              <a:rPr lang="de-DE" altLang="zh-CN" sz="2200" dirty="0">
                <a:solidFill>
                  <a:schemeClr val="tx1"/>
                </a:solidFill>
              </a:rPr>
              <a:t>1</a:t>
            </a:r>
            <a:r>
              <a:rPr lang="zh-CN" altLang="zh-CN" sz="2200" dirty="0">
                <a:solidFill>
                  <a:schemeClr val="tx1"/>
                </a:solidFill>
              </a:rPr>
              <a:t>）执行上述程序段后，寄存器</a:t>
            </a:r>
            <a:r>
              <a:rPr lang="de-DE" altLang="zh-CN" sz="2200" dirty="0">
                <a:solidFill>
                  <a:schemeClr val="tx1"/>
                </a:solidFill>
              </a:rPr>
              <a:t>R1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de-DE" altLang="zh-CN" sz="2200" dirty="0">
                <a:solidFill>
                  <a:schemeClr val="tx1"/>
                </a:solidFill>
              </a:rPr>
              <a:t>R5</a:t>
            </a:r>
            <a:r>
              <a:rPr lang="zh-CN" altLang="zh-CN" sz="2200" dirty="0">
                <a:solidFill>
                  <a:schemeClr val="tx1"/>
                </a:solidFill>
              </a:rPr>
              <a:t>和</a:t>
            </a:r>
            <a:r>
              <a:rPr lang="de-DE" altLang="zh-CN" sz="2200" dirty="0">
                <a:solidFill>
                  <a:schemeClr val="tx1"/>
                </a:solidFill>
              </a:rPr>
              <a:t>R6</a:t>
            </a:r>
            <a:r>
              <a:rPr lang="zh-CN" altLang="zh-CN" sz="2200" dirty="0">
                <a:solidFill>
                  <a:schemeClr val="tx1"/>
                </a:solidFill>
              </a:rPr>
              <a:t>的内容分别是什么</a:t>
            </a:r>
            <a:r>
              <a:rPr lang="zh-CN" altLang="zh-CN" sz="2200" dirty="0" smtClean="0">
                <a:solidFill>
                  <a:schemeClr val="tx1"/>
                </a:solidFill>
              </a:rPr>
              <a:t>？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</a:t>
            </a:r>
            <a:r>
              <a:rPr lang="zh-CN" altLang="zh-CN" sz="2200" dirty="0" smtClean="0">
                <a:solidFill>
                  <a:schemeClr val="tx1"/>
                </a:solidFill>
              </a:rPr>
              <a:t>（</a:t>
            </a:r>
            <a:r>
              <a:rPr lang="de-DE" altLang="zh-CN" sz="2200" dirty="0" smtClean="0">
                <a:solidFill>
                  <a:schemeClr val="tx1"/>
                </a:solidFill>
              </a:rPr>
              <a:t>2</a:t>
            </a:r>
            <a:r>
              <a:rPr lang="zh-CN" altLang="zh-CN" sz="2200" dirty="0" smtClean="0">
                <a:solidFill>
                  <a:schemeClr val="tx1"/>
                </a:solidFill>
              </a:rPr>
              <a:t>）执行上述程序段后，变量</a:t>
            </a:r>
            <a:r>
              <a:rPr lang="de-DE" altLang="zh-CN" sz="2200" dirty="0" smtClean="0">
                <a:solidFill>
                  <a:schemeClr val="tx1"/>
                </a:solidFill>
              </a:rPr>
              <a:t>m</a:t>
            </a:r>
            <a:r>
              <a:rPr lang="zh-CN" altLang="zh-CN" sz="2200" dirty="0" smtClean="0">
                <a:solidFill>
                  <a:schemeClr val="tx1"/>
                </a:solidFill>
              </a:rPr>
              <a:t>和</a:t>
            </a:r>
            <a:r>
              <a:rPr lang="de-DE" altLang="zh-CN" sz="2200" dirty="0" smtClean="0">
                <a:solidFill>
                  <a:schemeClr val="tx1"/>
                </a:solidFill>
              </a:rPr>
              <a:t>k1</a:t>
            </a:r>
            <a:r>
              <a:rPr lang="zh-CN" altLang="zh-CN" sz="2200" dirty="0" smtClean="0">
                <a:solidFill>
                  <a:schemeClr val="tx1"/>
                </a:solidFill>
              </a:rPr>
              <a:t>的值分别是什么？（十进制）</a:t>
            </a:r>
            <a:endParaRPr lang="zh-CN" altLang="zh-CN" sz="2200" dirty="0" smtClean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</a:t>
            </a:r>
            <a:r>
              <a:rPr lang="zh-CN" altLang="zh-CN" sz="2200" dirty="0" smtClean="0">
                <a:solidFill>
                  <a:schemeClr val="tx1"/>
                </a:solidFill>
              </a:rPr>
              <a:t>（</a:t>
            </a:r>
            <a:r>
              <a:rPr lang="de-DE" altLang="zh-CN" sz="2200" dirty="0">
                <a:solidFill>
                  <a:schemeClr val="tx1"/>
                </a:solidFill>
              </a:rPr>
              <a:t>3</a:t>
            </a:r>
            <a:r>
              <a:rPr lang="zh-CN" altLang="zh-CN" sz="2200" dirty="0">
                <a:solidFill>
                  <a:schemeClr val="tx1"/>
                </a:solidFill>
              </a:rPr>
              <a:t>）上述程序段涉及带符号整数加</a:t>
            </a:r>
            <a:r>
              <a:rPr lang="de-DE" altLang="zh-CN" sz="2200" dirty="0">
                <a:solidFill>
                  <a:schemeClr val="tx1"/>
                </a:solidFill>
              </a:rPr>
              <a:t>/</a:t>
            </a:r>
            <a:r>
              <a:rPr lang="zh-CN" altLang="zh-CN" sz="2200" dirty="0">
                <a:solidFill>
                  <a:schemeClr val="tx1"/>
                </a:solidFill>
              </a:rPr>
              <a:t>减、无符号整数加</a:t>
            </a:r>
            <a:r>
              <a:rPr lang="de-DE" altLang="zh-CN" sz="2200" dirty="0">
                <a:solidFill>
                  <a:schemeClr val="tx1"/>
                </a:solidFill>
              </a:rPr>
              <a:t>/</a:t>
            </a:r>
            <a:r>
              <a:rPr lang="zh-CN" altLang="zh-CN" sz="2200" dirty="0">
                <a:solidFill>
                  <a:schemeClr val="tx1"/>
                </a:solidFill>
              </a:rPr>
              <a:t>减运算，这四种运算能否利用同一个加法器及辅助电路实现？简述理由。</a:t>
            </a:r>
            <a:endParaRPr lang="zh-CN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</a:t>
            </a:r>
            <a:r>
              <a:rPr lang="zh-CN" altLang="zh-CN" sz="2200" dirty="0" smtClean="0">
                <a:solidFill>
                  <a:schemeClr val="tx1"/>
                </a:solidFill>
              </a:rPr>
              <a:t>（</a:t>
            </a:r>
            <a:r>
              <a:rPr lang="de-DE" altLang="zh-CN" sz="2200" dirty="0">
                <a:solidFill>
                  <a:schemeClr val="tx1"/>
                </a:solidFill>
              </a:rPr>
              <a:t>4</a:t>
            </a:r>
            <a:r>
              <a:rPr lang="zh-CN" altLang="zh-CN" sz="2200" dirty="0" smtClean="0">
                <a:solidFill>
                  <a:schemeClr val="tx1"/>
                </a:solidFill>
              </a:rPr>
              <a:t>）如何</a:t>
            </a:r>
            <a:r>
              <a:rPr lang="zh-CN" altLang="zh-CN" sz="2200" dirty="0">
                <a:solidFill>
                  <a:schemeClr val="tx1"/>
                </a:solidFill>
              </a:rPr>
              <a:t>判断带符号整数加</a:t>
            </a:r>
            <a:r>
              <a:rPr lang="de-DE" altLang="zh-CN" sz="2200" dirty="0">
                <a:solidFill>
                  <a:schemeClr val="tx1"/>
                </a:solidFill>
              </a:rPr>
              <a:t>/</a:t>
            </a:r>
            <a:r>
              <a:rPr lang="zh-CN" altLang="zh-CN" sz="2200" dirty="0">
                <a:solidFill>
                  <a:schemeClr val="tx1"/>
                </a:solidFill>
              </a:rPr>
              <a:t>减运算的结果是否发生溢出？上述程序段中，哪些带符号整数运算语句的执行结果会发生溢出？</a:t>
            </a:r>
            <a:endParaRPr lang="zh-CN" altLang="zh-CN" sz="2200" dirty="0">
              <a:solidFill>
                <a:schemeClr val="tx1"/>
              </a:solidFill>
            </a:endParaRPr>
          </a:p>
        </p:txBody>
      </p:sp>
      <p:sp>
        <p:nvSpPr>
          <p:cNvPr id="4" name="AutoShape 62">
            <a:hlinkClick r:id="" action="ppaction://noaction"/>
          </p:cNvPr>
          <p:cNvSpPr>
            <a:spLocks noChangeArrowheads="1"/>
          </p:cNvSpPr>
          <p:nvPr/>
        </p:nvSpPr>
        <p:spPr bwMode="auto">
          <a:xfrm rot="16200000">
            <a:off x="775253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54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75520" y="5369382"/>
            <a:ext cx="8892480" cy="10814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）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x=10000110B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y=11110110B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z1=x-y=(0)10010000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z2=</a:t>
            </a:r>
            <a:r>
              <a:rPr lang="en-US" altLang="zh-CN" sz="1400" dirty="0" err="1">
                <a:solidFill>
                  <a:schemeClr val="bg1">
                    <a:lumMod val="85000"/>
                  </a:schemeClr>
                </a:solidFill>
              </a:rPr>
              <a:t>x+y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=(1)01111100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(R1)=86H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(R5)=90H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(R6)=</a:t>
            </a: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7CH</a:t>
            </a:r>
            <a:endParaRPr lang="en-US" altLang="zh-CN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）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m=86H=-122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n=F6H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k1=m-n=x-y=86H-F6H=90H=-</a:t>
            </a: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112</a:t>
            </a:r>
            <a:endParaRPr lang="en-US" altLang="zh-CN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ct val="30000"/>
              </a:spcBef>
              <a:defRPr/>
            </a:pP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4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）判断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：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同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号相加或异号相减，结果与被加</a:t>
            </a: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减</a:t>
            </a: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数异号。仅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k2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可能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溢出</a:t>
            </a: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有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符号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加</a:t>
            </a:r>
            <a:r>
              <a:rPr lang="en-US" altLang="zh-CN" sz="1400" dirty="0" smtClean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bg1">
                    <a:lumMod val="85000"/>
                  </a:schemeClr>
                </a:solidFill>
              </a:rPr>
              <a:t>k2=(1)01111100</a:t>
            </a:r>
            <a:r>
              <a:rPr lang="zh-CN" altLang="en-US" sz="1400" dirty="0">
                <a:solidFill>
                  <a:schemeClr val="bg1">
                    <a:lumMod val="85000"/>
                  </a:schemeClr>
                </a:solidFill>
              </a:rPr>
              <a:t>，</a:t>
            </a:r>
            <a:r>
              <a:rPr lang="zh-CN" altLang="en-US" sz="1400" dirty="0" smtClean="0">
                <a:solidFill>
                  <a:schemeClr val="bg1">
                    <a:lumMod val="85000"/>
                  </a:schemeClr>
                </a:solidFill>
              </a:rPr>
              <a:t>溢出</a:t>
            </a:r>
            <a:endParaRPr lang="zh-CN" alt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92"/>
          <p:cNvSpPr txBox="1">
            <a:spLocks noChangeArrowheads="1"/>
          </p:cNvSpPr>
          <p:nvPr/>
        </p:nvSpPr>
        <p:spPr bwMode="auto">
          <a:xfrm>
            <a:off x="1703388" y="333301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60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sz="2400" dirty="0"/>
              <a:t>二、移位运算</a:t>
            </a:r>
            <a:endParaRPr lang="zh-CN" altLang="en-US" sz="2400" dirty="0"/>
          </a:p>
        </p:txBody>
      </p:sp>
      <p:sp>
        <p:nvSpPr>
          <p:cNvPr id="6" name="Text Box 95"/>
          <p:cNvSpPr txBox="1">
            <a:spLocks noChangeArrowheads="1"/>
          </p:cNvSpPr>
          <p:nvPr/>
        </p:nvSpPr>
        <p:spPr bwMode="auto">
          <a:xfrm>
            <a:off x="1703388" y="828000"/>
            <a:ext cx="8821768" cy="12128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   </a:t>
            </a:r>
            <a:r>
              <a:rPr lang="zh-CN" altLang="en-US" dirty="0" smtClean="0">
                <a:solidFill>
                  <a:schemeClr val="accent2"/>
                </a:solidFill>
              </a:rPr>
              <a:t>运算类型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逻辑左移、逻辑右移、算术左移、算术右移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                     (</a:t>
            </a:r>
            <a:r>
              <a:rPr lang="zh-CN" altLang="en-US" sz="1800" dirty="0" smtClean="0">
                <a:solidFill>
                  <a:schemeClr val="tx1"/>
                </a:solidFill>
              </a:rPr>
              <a:t>针对无符号数</a:t>
            </a:r>
            <a:r>
              <a:rPr lang="en-US" altLang="zh-CN" sz="1800" dirty="0" smtClean="0">
                <a:solidFill>
                  <a:schemeClr val="tx1"/>
                </a:solidFill>
              </a:rPr>
              <a:t>)             (</a:t>
            </a:r>
            <a:r>
              <a:rPr lang="zh-CN" altLang="en-US" sz="1800" dirty="0" smtClean="0">
                <a:solidFill>
                  <a:schemeClr val="tx1"/>
                </a:solidFill>
              </a:rPr>
              <a:t>针对有符号数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   </a:t>
            </a:r>
            <a:r>
              <a:rPr lang="zh-CN" altLang="en-US" dirty="0" smtClean="0">
                <a:solidFill>
                  <a:srgbClr val="990099"/>
                </a:solidFill>
              </a:rPr>
              <a:t>功能：</a:t>
            </a:r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r>
              <a:rPr lang="en-US" altLang="zh-CN" spc="-30" dirty="0" smtClean="0">
                <a:solidFill>
                  <a:schemeClr val="tx1"/>
                </a:solidFill>
              </a:rPr>
              <a:t>×2</a:t>
            </a:r>
            <a:r>
              <a:rPr lang="en-US" altLang="zh-CN" spc="-30" baseline="30000" dirty="0" smtClean="0">
                <a:solidFill>
                  <a:schemeClr val="tx1"/>
                </a:solidFill>
              </a:rPr>
              <a:t>k</a:t>
            </a:r>
            <a:r>
              <a:rPr lang="zh-CN" altLang="en-US" spc="-30" dirty="0" smtClean="0">
                <a:solidFill>
                  <a:schemeClr val="tx1"/>
                </a:solidFill>
              </a:rPr>
              <a:t>或</a:t>
            </a:r>
            <a:r>
              <a:rPr lang="en-US" altLang="zh-CN" spc="-30" dirty="0" smtClean="0">
                <a:solidFill>
                  <a:schemeClr val="tx1"/>
                </a:solidFill>
              </a:rPr>
              <a:t>A÷2</a:t>
            </a:r>
            <a:r>
              <a:rPr lang="en-US" altLang="zh-CN" spc="-30" baseline="30000" dirty="0" smtClean="0">
                <a:solidFill>
                  <a:schemeClr val="tx1"/>
                </a:solidFill>
              </a:rPr>
              <a:t>k</a:t>
            </a:r>
            <a:r>
              <a:rPr lang="zh-CN" altLang="en-US" spc="-30" dirty="0" smtClean="0">
                <a:solidFill>
                  <a:schemeClr val="tx1"/>
                </a:solidFill>
              </a:rPr>
              <a:t>，</a:t>
            </a:r>
            <a:r>
              <a:rPr lang="en-US" altLang="zh-CN" spc="-30" dirty="0" smtClean="0">
                <a:solidFill>
                  <a:schemeClr val="tx1"/>
                </a:solidFill>
              </a:rPr>
              <a:t>A</a:t>
            </a:r>
            <a:r>
              <a:rPr lang="zh-CN" altLang="en-US" spc="-30" dirty="0" smtClean="0">
                <a:solidFill>
                  <a:schemeClr val="tx1"/>
                </a:solidFill>
              </a:rPr>
              <a:t>为数据、</a:t>
            </a:r>
            <a:r>
              <a:rPr lang="en-US" altLang="zh-CN" spc="-30" dirty="0" smtClean="0">
                <a:solidFill>
                  <a:schemeClr val="tx1"/>
                </a:solidFill>
              </a:rPr>
              <a:t>k</a:t>
            </a:r>
            <a:r>
              <a:rPr lang="zh-CN" altLang="en-US" spc="-30" dirty="0" smtClean="0">
                <a:solidFill>
                  <a:schemeClr val="tx1"/>
                </a:solidFill>
              </a:rPr>
              <a:t>为移位</a:t>
            </a:r>
            <a:r>
              <a:rPr lang="zh-CN" altLang="en-US" spc="-30" dirty="0" smtClean="0">
                <a:solidFill>
                  <a:schemeClr val="tx1"/>
                </a:solidFill>
              </a:rPr>
              <a:t>位数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rgbClr val="990099"/>
                </a:solidFill>
              </a:rPr>
              <a:t>       </a:t>
            </a:r>
            <a:r>
              <a:rPr lang="zh-CN" altLang="en-US" dirty="0" smtClean="0">
                <a:solidFill>
                  <a:srgbClr val="990099"/>
                </a:solidFill>
              </a:rPr>
              <a:t>表示：</a:t>
            </a:r>
            <a:r>
              <a:rPr lang="en-US" altLang="zh-CN" dirty="0" smtClean="0">
                <a:solidFill>
                  <a:schemeClr val="tx1"/>
                </a:solidFill>
              </a:rPr>
              <a:t>&lt;&lt;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L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&gt;&gt;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L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&lt;&lt;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A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&gt;&gt;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A</a:t>
            </a:r>
            <a:r>
              <a:rPr lang="zh-CN" altLang="en-US" dirty="0" smtClean="0">
                <a:solidFill>
                  <a:schemeClr val="tx1"/>
                </a:solidFill>
              </a:rPr>
              <a:t>    </a:t>
            </a:r>
            <a:r>
              <a:rPr lang="zh-CN" altLang="en-US" dirty="0" smtClean="0">
                <a:solidFill>
                  <a:schemeClr val="tx1"/>
                </a:solidFill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rgbClr val="FF3399"/>
                </a:solidFill>
              </a:rPr>
              <a:t>L</a:t>
            </a:r>
            <a:r>
              <a:rPr lang="en-US" altLang="zh-CN" sz="1800" b="0" dirty="0" smtClean="0">
                <a:solidFill>
                  <a:schemeClr val="tx1"/>
                </a:solidFill>
                <a:latin typeface="+mn-lt"/>
              </a:rPr>
              <a:t>ogical shift</a:t>
            </a:r>
            <a:r>
              <a:rPr lang="zh-CN" altLang="en-US" sz="1800" dirty="0" smtClean="0">
                <a:solidFill>
                  <a:schemeClr val="tx1"/>
                </a:solidFill>
                <a:latin typeface="+mn-lt"/>
              </a:rPr>
              <a:t>及</a:t>
            </a:r>
            <a:r>
              <a:rPr lang="en-US" altLang="zh-CN" sz="1800" b="0" dirty="0" smtClean="0">
                <a:solidFill>
                  <a:srgbClr val="FF3399"/>
                </a:solidFill>
                <a:latin typeface="+mn-lt"/>
              </a:rPr>
              <a:t>A</a:t>
            </a:r>
            <a:r>
              <a:rPr lang="en-US" altLang="zh-CN" sz="1800" b="0" dirty="0" smtClean="0">
                <a:solidFill>
                  <a:schemeClr val="tx1"/>
                </a:solidFill>
                <a:latin typeface="+mn-lt"/>
              </a:rPr>
              <a:t>rithmetic shift</a:t>
            </a:r>
            <a:endParaRPr lang="en-US" altLang="zh-CN" sz="220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Text Box 268"/>
          <p:cNvSpPr txBox="1">
            <a:spLocks noChangeArrowheads="1"/>
          </p:cNvSpPr>
          <p:nvPr/>
        </p:nvSpPr>
        <p:spPr bwMode="auto">
          <a:xfrm>
            <a:off x="1703388" y="2535287"/>
            <a:ext cx="878522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1</a:t>
            </a:r>
            <a:r>
              <a:rPr lang="zh-CN" altLang="en-US" dirty="0" smtClean="0">
                <a:solidFill>
                  <a:srgbClr val="FF3399"/>
                </a:solidFill>
              </a:rPr>
              <a:t>、逻辑移位</a:t>
            </a:r>
            <a:r>
              <a:rPr lang="en-US" altLang="zh-CN" sz="1600" dirty="0" smtClean="0">
                <a:solidFill>
                  <a:srgbClr val="FF3399"/>
                </a:solidFill>
              </a:rPr>
              <a:t>(</a:t>
            </a:r>
            <a:r>
              <a:rPr lang="en-US" altLang="zh-CN" sz="1600" b="0" dirty="0" smtClean="0">
                <a:solidFill>
                  <a:srgbClr val="FF3399"/>
                </a:solidFill>
                <a:latin typeface="+mn-lt"/>
              </a:rPr>
              <a:t>Logical Shift</a:t>
            </a:r>
            <a:r>
              <a:rPr lang="en-US" altLang="zh-CN" sz="1600" dirty="0" smtClean="0">
                <a:solidFill>
                  <a:srgbClr val="FF3399"/>
                </a:solidFill>
              </a:rPr>
              <a:t>)</a:t>
            </a:r>
            <a:r>
              <a:rPr lang="zh-CN" altLang="en-US" dirty="0" smtClean="0">
                <a:solidFill>
                  <a:srgbClr val="FF3399"/>
                </a:solidFill>
              </a:rPr>
              <a:t>运算</a:t>
            </a:r>
            <a:endParaRPr lang="zh-CN" altLang="en-US" dirty="0">
              <a:solidFill>
                <a:srgbClr val="FF3399"/>
              </a:solidFill>
            </a:endParaRPr>
          </a:p>
          <a:p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运算方法：</a:t>
            </a:r>
            <a:endParaRPr lang="zh-CN" altLang="en-US" u="sng" dirty="0">
              <a:solidFill>
                <a:srgbClr val="990099"/>
              </a:solidFill>
            </a:endParaRPr>
          </a:p>
        </p:txBody>
      </p:sp>
      <p:sp>
        <p:nvSpPr>
          <p:cNvPr id="30" name="Text Box 269"/>
          <p:cNvSpPr txBox="1">
            <a:spLocks noChangeArrowheads="1"/>
          </p:cNvSpPr>
          <p:nvPr/>
        </p:nvSpPr>
        <p:spPr bwMode="auto">
          <a:xfrm>
            <a:off x="1703388" y="4831992"/>
            <a:ext cx="8785225" cy="922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990099"/>
                </a:solidFill>
              </a:rPr>
              <a:t>    </a:t>
            </a:r>
            <a:r>
              <a:rPr lang="en-US" altLang="zh-CN" dirty="0" smtClean="0">
                <a:solidFill>
                  <a:srgbClr val="990099"/>
                </a:solidFill>
              </a:rPr>
              <a:t>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1—</a:t>
            </a:r>
            <a:r>
              <a:rPr lang="zh-CN" altLang="en-US" dirty="0" smtClean="0">
                <a:solidFill>
                  <a:schemeClr val="tx1"/>
                </a:solidFill>
              </a:rPr>
              <a:t>无符号整数的机器码为</a:t>
            </a:r>
            <a:r>
              <a:rPr lang="en-US" altLang="zh-CN" dirty="0" smtClean="0">
                <a:solidFill>
                  <a:schemeClr val="tx1"/>
                </a:solidFill>
              </a:rPr>
              <a:t>8</a:t>
            </a:r>
            <a:r>
              <a:rPr lang="zh-CN" altLang="en-US" dirty="0" smtClean="0">
                <a:solidFill>
                  <a:schemeClr val="tx1"/>
                </a:solidFill>
              </a:rPr>
              <a:t>位，求</a:t>
            </a:r>
            <a:r>
              <a:rPr lang="en-US" altLang="zh-CN" dirty="0" smtClean="0">
                <a:solidFill>
                  <a:schemeClr val="tx1"/>
                </a:solidFill>
              </a:rPr>
              <a:t>57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&lt;&lt;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L 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57</a:t>
            </a:r>
            <a:r>
              <a:rPr lang="en-US" altLang="zh-CN" baseline="-16000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&gt;&gt;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L 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解：</a:t>
            </a:r>
            <a:r>
              <a:rPr lang="en-US" altLang="zh-CN" dirty="0" smtClean="0">
                <a:solidFill>
                  <a:schemeClr val="tx1"/>
                </a:solidFill>
              </a:rPr>
              <a:t>57=</a:t>
            </a:r>
            <a:r>
              <a:rPr lang="en-US" altLang="zh-CN" dirty="0" smtClean="0">
                <a:solidFill>
                  <a:schemeClr val="accent2"/>
                </a:solidFill>
              </a:rPr>
              <a:t>00</a:t>
            </a:r>
            <a:r>
              <a:rPr lang="en-US" altLang="zh-CN" dirty="0" smtClean="0">
                <a:solidFill>
                  <a:schemeClr val="tx1"/>
                </a:solidFill>
              </a:rPr>
              <a:t>111001B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         57=001110</a:t>
            </a:r>
            <a:r>
              <a:rPr lang="en-US" altLang="zh-CN" dirty="0" smtClean="0">
                <a:solidFill>
                  <a:schemeClr val="accent2"/>
                </a:solidFill>
              </a:rPr>
              <a:t>01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Text Box 269"/>
          <p:cNvSpPr txBox="1">
            <a:spLocks noChangeArrowheads="1"/>
          </p:cNvSpPr>
          <p:nvPr/>
        </p:nvSpPr>
        <p:spPr bwMode="auto">
          <a:xfrm>
            <a:off x="5231904" y="5293657"/>
            <a:ext cx="4032448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57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&lt;&lt;</a:t>
            </a:r>
            <a:r>
              <a:rPr lang="en-US" altLang="zh-CN" baseline="-16000" dirty="0">
                <a:solidFill>
                  <a:schemeClr val="tx1"/>
                </a:solidFill>
              </a:rPr>
              <a:t>L 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228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111001</a:t>
            </a:r>
            <a:r>
              <a:rPr lang="en-US" altLang="zh-CN" dirty="0" smtClean="0">
                <a:solidFill>
                  <a:srgbClr val="FF3399"/>
                </a:solidFill>
              </a:rPr>
              <a:t>00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zh-CN" altLang="en-US" dirty="0" smtClean="0">
                <a:solidFill>
                  <a:schemeClr val="tx1"/>
                </a:solidFill>
              </a:rPr>
              <a:t>；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57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&gt;&gt;</a:t>
            </a:r>
            <a:r>
              <a:rPr lang="en-US" altLang="zh-CN" baseline="-16000" dirty="0">
                <a:solidFill>
                  <a:schemeClr val="tx1"/>
                </a:solidFill>
              </a:rPr>
              <a:t>L </a:t>
            </a:r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r>
              <a:rPr lang="zh-CN" altLang="en-US" dirty="0" smtClean="0">
                <a:solidFill>
                  <a:schemeClr val="tx1"/>
                </a:solidFill>
              </a:rPr>
              <a:t>＝ </a:t>
            </a:r>
            <a:r>
              <a:rPr lang="en-US" altLang="zh-CN" dirty="0" smtClean="0">
                <a:solidFill>
                  <a:schemeClr val="tx1"/>
                </a:solidFill>
              </a:rPr>
              <a:t>14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rgbClr val="FF3399"/>
                </a:solidFill>
              </a:rPr>
              <a:t>00</a:t>
            </a:r>
            <a:r>
              <a:rPr lang="en-US" altLang="zh-CN" dirty="0" smtClean="0">
                <a:solidFill>
                  <a:schemeClr val="tx1"/>
                </a:solidFill>
              </a:rPr>
              <a:t>001110B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1" name="Text Box 95"/>
          <p:cNvSpPr txBox="1">
            <a:spLocks noChangeArrowheads="1"/>
          </p:cNvSpPr>
          <p:nvPr/>
        </p:nvSpPr>
        <p:spPr bwMode="auto">
          <a:xfrm>
            <a:off x="3647727" y="2996952"/>
            <a:ext cx="6840886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机器</a:t>
            </a:r>
            <a:r>
              <a:rPr lang="zh-CN" altLang="en-US" dirty="0">
                <a:solidFill>
                  <a:schemeClr val="tx1"/>
                </a:solidFill>
              </a:rPr>
              <a:t>数</a:t>
            </a:r>
            <a:r>
              <a:rPr lang="zh-CN" altLang="en-US" u="sng" dirty="0">
                <a:solidFill>
                  <a:srgbClr val="990099"/>
                </a:solidFill>
              </a:rPr>
              <a:t>整体</a:t>
            </a:r>
            <a:r>
              <a:rPr lang="zh-CN" altLang="en-US" u="sng" dirty="0" smtClean="0">
                <a:solidFill>
                  <a:srgbClr val="990099"/>
                </a:solidFill>
              </a:rPr>
              <a:t>移位</a:t>
            </a:r>
            <a:r>
              <a:rPr lang="zh-CN" altLang="en-US" dirty="0" smtClean="0">
                <a:solidFill>
                  <a:schemeClr val="tx1"/>
                </a:solidFill>
              </a:rPr>
              <a:t>；           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dirty="0" smtClean="0">
                <a:solidFill>
                  <a:schemeClr val="tx1"/>
                </a:solidFill>
              </a:rPr>
              <a:t>移出的数位</a:t>
            </a:r>
            <a:r>
              <a:rPr lang="zh-CN" altLang="en-US" u="sng" dirty="0" smtClean="0">
                <a:solidFill>
                  <a:srgbClr val="990099"/>
                </a:solidFill>
              </a:rPr>
              <a:t>丢弃</a:t>
            </a:r>
            <a:r>
              <a:rPr lang="zh-CN" altLang="en-US" dirty="0" smtClean="0">
                <a:solidFill>
                  <a:schemeClr val="tx1"/>
                </a:solidFill>
              </a:rPr>
              <a:t>，出现的空位</a:t>
            </a:r>
            <a:r>
              <a:rPr lang="zh-CN" altLang="en-US" u="sng" dirty="0" smtClean="0">
                <a:solidFill>
                  <a:srgbClr val="990099"/>
                </a:solidFill>
              </a:rPr>
              <a:t>补</a:t>
            </a:r>
            <a:r>
              <a:rPr lang="en-US" altLang="zh-CN" u="sng" dirty="0" smtClean="0">
                <a:solidFill>
                  <a:srgbClr val="990099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无符号数</a:t>
            </a:r>
            <a:r>
              <a:rPr lang="en-US" altLang="zh-CN" sz="1800" spc="-30" dirty="0">
                <a:solidFill>
                  <a:schemeClr val="tx1"/>
                </a:solidFill>
              </a:rPr>
              <a:t>×2</a:t>
            </a:r>
            <a:r>
              <a:rPr lang="en-US" altLang="zh-CN" sz="1800" spc="-30" baseline="30000" dirty="0">
                <a:solidFill>
                  <a:schemeClr val="tx1"/>
                </a:solidFill>
              </a:rPr>
              <a:t>k</a:t>
            </a:r>
            <a:r>
              <a:rPr lang="zh-CN" altLang="en-US" sz="1800" spc="-30" dirty="0" smtClean="0">
                <a:solidFill>
                  <a:schemeClr val="tx1"/>
                </a:solidFill>
              </a:rPr>
              <a:t>或</a:t>
            </a:r>
            <a:r>
              <a:rPr lang="en-US" altLang="zh-CN" sz="1800" spc="-30" dirty="0" smtClean="0">
                <a:solidFill>
                  <a:schemeClr val="tx1"/>
                </a:solidFill>
              </a:rPr>
              <a:t>÷</a:t>
            </a:r>
            <a:r>
              <a:rPr lang="en-US" altLang="zh-CN" sz="1800" spc="-30" dirty="0">
                <a:solidFill>
                  <a:schemeClr val="tx1"/>
                </a:solidFill>
              </a:rPr>
              <a:t>2</a:t>
            </a:r>
            <a:r>
              <a:rPr lang="en-US" altLang="zh-CN" sz="1800" spc="-30" baseline="30000" dirty="0">
                <a:solidFill>
                  <a:schemeClr val="tx1"/>
                </a:solidFill>
              </a:rPr>
              <a:t>k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080654" y="4005064"/>
            <a:ext cx="4608369" cy="792088"/>
            <a:chOff x="3563887" y="3645024"/>
            <a:chExt cx="4608369" cy="792088"/>
          </a:xfrm>
        </p:grpSpPr>
        <p:sp>
          <p:nvSpPr>
            <p:cNvPr id="13" name="Rectangle 436"/>
            <p:cNvSpPr>
              <a:spLocks noChangeArrowheads="1"/>
            </p:cNvSpPr>
            <p:nvPr/>
          </p:nvSpPr>
          <p:spPr bwMode="auto">
            <a:xfrm>
              <a:off x="3563887" y="3645024"/>
              <a:ext cx="1800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436"/>
            <p:cNvSpPr>
              <a:spLocks noChangeArrowheads="1"/>
            </p:cNvSpPr>
            <p:nvPr/>
          </p:nvSpPr>
          <p:spPr bwMode="auto">
            <a:xfrm>
              <a:off x="3563888" y="4149774"/>
              <a:ext cx="1296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436"/>
            <p:cNvSpPr>
              <a:spLocks noChangeArrowheads="1"/>
            </p:cNvSpPr>
            <p:nvPr/>
          </p:nvSpPr>
          <p:spPr bwMode="auto">
            <a:xfrm>
              <a:off x="4860088" y="4149080"/>
              <a:ext cx="504000" cy="287338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空位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接连接符 3"/>
            <p:cNvCxnSpPr/>
            <p:nvPr/>
          </p:nvCxnSpPr>
          <p:spPr bwMode="auto">
            <a:xfrm>
              <a:off x="4067944" y="3645024"/>
              <a:ext cx="0" cy="28733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直接连接符 3"/>
            <p:cNvCxnSpPr/>
            <p:nvPr/>
          </p:nvCxnSpPr>
          <p:spPr bwMode="auto">
            <a:xfrm flipH="1">
              <a:off x="4499992" y="3789040"/>
              <a:ext cx="360000" cy="50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9" name="Line 443"/>
            <p:cNvSpPr>
              <a:spLocks noChangeShapeType="1"/>
            </p:cNvSpPr>
            <p:nvPr/>
          </p:nvSpPr>
          <p:spPr bwMode="auto">
            <a:xfrm flipH="1">
              <a:off x="3563888" y="4041040"/>
              <a:ext cx="214313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444"/>
            <p:cNvSpPr>
              <a:spLocks noChangeShapeType="1"/>
            </p:cNvSpPr>
            <p:nvPr/>
          </p:nvSpPr>
          <p:spPr bwMode="auto">
            <a:xfrm flipH="1">
              <a:off x="3779912" y="3789040"/>
              <a:ext cx="0" cy="25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436"/>
            <p:cNvSpPr>
              <a:spLocks noChangeArrowheads="1"/>
            </p:cNvSpPr>
            <p:nvPr/>
          </p:nvSpPr>
          <p:spPr bwMode="auto">
            <a:xfrm>
              <a:off x="6372199" y="3645024"/>
              <a:ext cx="1800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436"/>
            <p:cNvSpPr>
              <a:spLocks noChangeArrowheads="1"/>
            </p:cNvSpPr>
            <p:nvPr/>
          </p:nvSpPr>
          <p:spPr bwMode="auto">
            <a:xfrm>
              <a:off x="6876256" y="4149774"/>
              <a:ext cx="1296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436"/>
            <p:cNvSpPr>
              <a:spLocks noChangeArrowheads="1"/>
            </p:cNvSpPr>
            <p:nvPr/>
          </p:nvSpPr>
          <p:spPr bwMode="auto">
            <a:xfrm>
              <a:off x="6372200" y="4149080"/>
              <a:ext cx="504000" cy="287338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空位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直接连接符 3"/>
            <p:cNvCxnSpPr/>
            <p:nvPr/>
          </p:nvCxnSpPr>
          <p:spPr bwMode="auto">
            <a:xfrm>
              <a:off x="7668344" y="3645024"/>
              <a:ext cx="0" cy="28733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直接连接符 3"/>
            <p:cNvCxnSpPr/>
            <p:nvPr/>
          </p:nvCxnSpPr>
          <p:spPr bwMode="auto">
            <a:xfrm>
              <a:off x="6804288" y="3789040"/>
              <a:ext cx="360000" cy="50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8" name="Line 443"/>
            <p:cNvSpPr>
              <a:spLocks noChangeShapeType="1"/>
            </p:cNvSpPr>
            <p:nvPr/>
          </p:nvSpPr>
          <p:spPr bwMode="auto">
            <a:xfrm>
              <a:off x="7884367" y="4041040"/>
              <a:ext cx="28783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444"/>
            <p:cNvSpPr>
              <a:spLocks noChangeShapeType="1"/>
            </p:cNvSpPr>
            <p:nvPr/>
          </p:nvSpPr>
          <p:spPr bwMode="auto">
            <a:xfrm flipH="1">
              <a:off x="7884368" y="3789040"/>
              <a:ext cx="0" cy="25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30" grpId="0" bldLvl="0" animBg="1"/>
      <p:bldP spid="31" grpId="0" bldLvl="0" animBg="1"/>
      <p:bldP spid="11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E22D-6816-48EB-8EDC-05469F5F8085}" type="slidenum">
              <a:rPr lang="en-US" altLang="zh-CN"/>
            </a:fld>
            <a:endParaRPr lang="en-US" altLang="zh-CN"/>
          </a:p>
        </p:txBody>
      </p:sp>
      <p:sp>
        <p:nvSpPr>
          <p:cNvPr id="393238" name="Text Box 22"/>
          <p:cNvSpPr txBox="1">
            <a:spLocks noChangeArrowheads="1"/>
          </p:cNvSpPr>
          <p:nvPr/>
        </p:nvSpPr>
        <p:spPr bwMode="auto">
          <a:xfrm>
            <a:off x="1703388" y="334293"/>
            <a:ext cx="8785225" cy="6838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2</a:t>
            </a:r>
            <a:r>
              <a:rPr lang="zh-CN" altLang="en-US" dirty="0" smtClean="0">
                <a:solidFill>
                  <a:srgbClr val="FF3399"/>
                </a:solidFill>
              </a:rPr>
              <a:t>、算术移位</a:t>
            </a:r>
            <a:r>
              <a:rPr lang="en-US" altLang="zh-CN" sz="1800" dirty="0" smtClean="0">
                <a:solidFill>
                  <a:srgbClr val="FF3399"/>
                </a:solidFill>
              </a:rPr>
              <a:t>(</a:t>
            </a:r>
            <a:r>
              <a:rPr lang="en-US" altLang="zh-CN" sz="1800" b="0" dirty="0" smtClean="0">
                <a:solidFill>
                  <a:srgbClr val="FF3399"/>
                </a:solidFill>
                <a:latin typeface="+mn-lt"/>
              </a:rPr>
              <a:t>Arithmetic shift</a:t>
            </a:r>
            <a:r>
              <a:rPr lang="en-US" altLang="zh-CN" sz="1800" dirty="0" smtClean="0">
                <a:solidFill>
                  <a:srgbClr val="FF3399"/>
                </a:solidFill>
              </a:rPr>
              <a:t>)</a:t>
            </a:r>
            <a:r>
              <a:rPr lang="zh-CN" altLang="en-US" dirty="0" smtClean="0">
                <a:solidFill>
                  <a:srgbClr val="FF3399"/>
                </a:solidFill>
              </a:rPr>
              <a:t>运算    </a:t>
            </a:r>
            <a:endParaRPr lang="zh-CN" altLang="en-US" dirty="0">
              <a:solidFill>
                <a:schemeClr val="tx1"/>
              </a:solidFill>
            </a:endParaRPr>
          </a:p>
          <a:p>
            <a:pPr>
              <a:spcBef>
                <a:spcPts val="300"/>
              </a:spcBef>
            </a:pPr>
            <a:r>
              <a:rPr lang="en-US" altLang="zh-CN" dirty="0" smtClean="0">
                <a:solidFill>
                  <a:srgbClr val="C00000"/>
                </a:solidFill>
              </a:rPr>
              <a:t> *</a:t>
            </a:r>
            <a:r>
              <a:rPr lang="zh-CN" altLang="en-US" dirty="0" smtClean="0">
                <a:solidFill>
                  <a:srgbClr val="C00000"/>
                </a:solidFill>
              </a:rPr>
              <a:t>运算方法：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graphicFrame>
        <p:nvGraphicFramePr>
          <p:cNvPr id="393554" name="Group 338"/>
          <p:cNvGraphicFramePr>
            <a:graphicFrameLocks noGrp="1"/>
          </p:cNvGraphicFramePr>
          <p:nvPr/>
        </p:nvGraphicFramePr>
        <p:xfrm>
          <a:off x="2783632" y="4221088"/>
          <a:ext cx="7272655" cy="1223645"/>
        </p:xfrm>
        <a:graphic>
          <a:graphicData uri="http://schemas.openxmlformats.org/drawingml/2006/table">
            <a:tbl>
              <a:tblPr/>
              <a:tblGrid>
                <a:gridCol w="2204720"/>
                <a:gridCol w="649605"/>
                <a:gridCol w="863600"/>
                <a:gridCol w="936625"/>
                <a:gridCol w="97155"/>
                <a:gridCol w="649605"/>
                <a:gridCol w="934720"/>
                <a:gridCol w="936625"/>
              </a:tblGrid>
              <a:tr h="29591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例</a:t>
                      </a: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真值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原码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补码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真值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原码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补码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9654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左移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(Y&lt;&lt;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-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算术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(Y&gt;&gt;</a:t>
                      </a:r>
                      <a:r>
                        <a:rPr kumimoji="1" lang="en-US" altLang="zh-CN" sz="1800" b="1" i="0" u="none" strike="noStrike" kern="1200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1)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93298" name="Text Box 82"/>
          <p:cNvSpPr txBox="1">
            <a:spLocks noChangeArrowheads="1"/>
          </p:cNvSpPr>
          <p:nvPr/>
        </p:nvSpPr>
        <p:spPr bwMode="auto">
          <a:xfrm>
            <a:off x="3536493" y="829161"/>
            <a:ext cx="6952120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机器数</a:t>
            </a:r>
            <a:r>
              <a:rPr lang="zh-CN" altLang="en-US" u="sng" dirty="0" smtClean="0">
                <a:solidFill>
                  <a:srgbClr val="990099"/>
                </a:solidFill>
              </a:rPr>
              <a:t>符号位</a:t>
            </a:r>
            <a:r>
              <a:rPr lang="zh-CN" altLang="en-US" dirty="0" smtClean="0">
                <a:solidFill>
                  <a:schemeClr val="tx1"/>
                </a:solidFill>
              </a:rPr>
              <a:t>不变、</a:t>
            </a:r>
            <a:r>
              <a:rPr lang="zh-CN" altLang="en-US" u="sng" dirty="0" smtClean="0">
                <a:solidFill>
                  <a:srgbClr val="990099"/>
                </a:solidFill>
              </a:rPr>
              <a:t>数值位</a:t>
            </a:r>
            <a:r>
              <a:rPr lang="zh-CN" altLang="en-US" dirty="0" smtClean="0">
                <a:solidFill>
                  <a:schemeClr val="tx1"/>
                </a:solidFill>
              </a:rPr>
              <a:t>整体移位</a:t>
            </a:r>
            <a:r>
              <a:rPr lang="zh-CN" altLang="en-US" dirty="0" smtClean="0">
                <a:solidFill>
                  <a:schemeClr val="tx1"/>
                </a:solidFill>
              </a:rPr>
              <a:t>；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en-US" spc="-100" dirty="0" smtClean="0">
                <a:solidFill>
                  <a:schemeClr val="tx1"/>
                </a:solidFill>
              </a:rPr>
              <a:t>移出</a:t>
            </a:r>
            <a:r>
              <a:rPr lang="zh-CN" altLang="en-US" spc="-100" dirty="0">
                <a:solidFill>
                  <a:schemeClr val="tx1"/>
                </a:solidFill>
              </a:rPr>
              <a:t>的</a:t>
            </a:r>
            <a:r>
              <a:rPr lang="zh-CN" altLang="en-US" spc="-100" dirty="0" smtClean="0">
                <a:solidFill>
                  <a:schemeClr val="tx1"/>
                </a:solidFill>
              </a:rPr>
              <a:t>数位</a:t>
            </a:r>
            <a:r>
              <a:rPr lang="zh-CN" altLang="en-US" u="sng" spc="-100" dirty="0" smtClean="0">
                <a:solidFill>
                  <a:srgbClr val="990099"/>
                </a:solidFill>
              </a:rPr>
              <a:t>丢弃</a:t>
            </a:r>
            <a:r>
              <a:rPr lang="zh-CN" altLang="en-US" spc="-100" dirty="0" smtClean="0">
                <a:solidFill>
                  <a:schemeClr val="tx1"/>
                </a:solidFill>
              </a:rPr>
              <a:t>，出现的</a:t>
            </a:r>
            <a:r>
              <a:rPr lang="zh-CN" altLang="en-US" dirty="0" smtClean="0">
                <a:solidFill>
                  <a:schemeClr val="tx1"/>
                </a:solidFill>
              </a:rPr>
              <a:t>空位</a:t>
            </a:r>
            <a:r>
              <a:rPr lang="zh-CN" altLang="en-US" u="sng" dirty="0">
                <a:solidFill>
                  <a:srgbClr val="990099"/>
                </a:solidFill>
              </a:rPr>
              <a:t>根据</a:t>
            </a:r>
            <a:r>
              <a:rPr lang="zh-CN" altLang="en-US" u="sng" dirty="0" smtClean="0">
                <a:solidFill>
                  <a:srgbClr val="990099"/>
                </a:solidFill>
              </a:rPr>
              <a:t>编码特征添补</a:t>
            </a:r>
            <a:endParaRPr lang="en-US" altLang="zh-CN" u="sng" dirty="0">
              <a:solidFill>
                <a:srgbClr val="990099"/>
              </a:solidFill>
            </a:endParaRPr>
          </a:p>
        </p:txBody>
      </p:sp>
      <p:graphicFrame>
        <p:nvGraphicFramePr>
          <p:cNvPr id="393584" name="Group 368"/>
          <p:cNvGraphicFramePr>
            <a:graphicFrameLocks noGrp="1"/>
          </p:cNvGraphicFramePr>
          <p:nvPr/>
        </p:nvGraphicFramePr>
        <p:xfrm>
          <a:off x="3647728" y="3170794"/>
          <a:ext cx="4896485" cy="889635"/>
        </p:xfrm>
        <a:graphic>
          <a:graphicData uri="http://schemas.openxmlformats.org/drawingml/2006/table">
            <a:tbl>
              <a:tblPr/>
              <a:tblGrid>
                <a:gridCol w="714375"/>
                <a:gridCol w="936625"/>
                <a:gridCol w="1561465"/>
                <a:gridCol w="1684020"/>
              </a:tblGrid>
              <a:tr h="2965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码制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符号位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左移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空位添补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右移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空位添补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原码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保持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不变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  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65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补码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补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补符号位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93572" name="Text Box 356"/>
          <p:cNvSpPr txBox="1">
            <a:spLocks noChangeArrowheads="1"/>
          </p:cNvSpPr>
          <p:nvPr/>
        </p:nvSpPr>
        <p:spPr bwMode="auto">
          <a:xfrm>
            <a:off x="8327603" y="4797152"/>
            <a:ext cx="720725" cy="612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18000" tIns="46800" rIns="18000" bIns="10800"/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010</a:t>
            </a:r>
            <a:r>
              <a:rPr lang="en-US" altLang="zh-CN" sz="1800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sz="1800" dirty="0">
              <a:solidFill>
                <a:srgbClr val="FF3399"/>
              </a:solidFill>
            </a:endParaRP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en-US" altLang="zh-CN" sz="1800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001</a:t>
            </a:r>
            <a:endParaRPr lang="en-US" altLang="zh-CN" sz="1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93573" name="Text Box 357"/>
          <p:cNvSpPr txBox="1">
            <a:spLocks noChangeArrowheads="1"/>
          </p:cNvSpPr>
          <p:nvPr/>
        </p:nvSpPr>
        <p:spPr bwMode="auto">
          <a:xfrm>
            <a:off x="9263707" y="4797152"/>
            <a:ext cx="720725" cy="612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18000" tIns="46800" rIns="18000" bIns="10800"/>
          <a:lstStyle/>
          <a:p>
            <a:pPr>
              <a:lnSpc>
                <a:spcPct val="90000"/>
              </a:lnSpc>
            </a:pP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110</a:t>
            </a:r>
            <a:r>
              <a:rPr lang="en-US" altLang="zh-CN" sz="1800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sz="1800" dirty="0">
              <a:solidFill>
                <a:srgbClr val="FF3399"/>
              </a:solidFill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altLang="zh-CN" sz="1800" dirty="0">
                <a:solidFill>
                  <a:srgbClr val="990099"/>
                </a:solidFill>
              </a:rPr>
              <a:t>1</a:t>
            </a:r>
            <a:r>
              <a:rPr lang="en-US" altLang="zh-CN" sz="1800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en-US" altLang="zh-CN" sz="1800" dirty="0">
                <a:solidFill>
                  <a:schemeClr val="tx1"/>
                </a:solidFill>
              </a:rPr>
              <a:t>111</a:t>
            </a:r>
            <a:endParaRPr lang="en-US" altLang="zh-CN" sz="1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" name="Text Box 356"/>
          <p:cNvSpPr txBox="1">
            <a:spLocks noChangeArrowheads="1"/>
          </p:cNvSpPr>
          <p:nvPr/>
        </p:nvSpPr>
        <p:spPr bwMode="auto">
          <a:xfrm>
            <a:off x="5735315" y="4808139"/>
            <a:ext cx="720725" cy="612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18000" tIns="46800" rIns="18000" bIns="10800"/>
          <a:lstStyle/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rgbClr val="990099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010</a:t>
            </a:r>
            <a:r>
              <a:rPr lang="en-US" altLang="zh-CN" sz="1800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sz="1800" dirty="0">
              <a:solidFill>
                <a:srgbClr val="FF3399"/>
              </a:solidFill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altLang="zh-CN" sz="1800" dirty="0" smtClean="0">
                <a:solidFill>
                  <a:srgbClr val="990099"/>
                </a:solidFill>
              </a:rPr>
              <a:t>0</a:t>
            </a:r>
            <a:r>
              <a:rPr lang="en-US" altLang="zh-CN" sz="1800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001</a:t>
            </a:r>
            <a:endParaRPr lang="en-US" altLang="zh-CN" sz="1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" name="Text Box 357"/>
          <p:cNvSpPr txBox="1">
            <a:spLocks noChangeArrowheads="1"/>
          </p:cNvSpPr>
          <p:nvPr/>
        </p:nvSpPr>
        <p:spPr bwMode="auto">
          <a:xfrm>
            <a:off x="6600056" y="4808139"/>
            <a:ext cx="720725" cy="612000"/>
          </a:xfrm>
          <a:prstGeom prst="rect">
            <a:avLst/>
          </a:prstGeom>
          <a:noFill/>
          <a:ln w="19050" algn="ctr">
            <a:noFill/>
            <a:miter lim="800000"/>
          </a:ln>
          <a:effectLst/>
        </p:spPr>
        <p:txBody>
          <a:bodyPr lIns="36000" tIns="46800" rIns="18000" bIns="10800"/>
          <a:lstStyle/>
          <a:p>
            <a:pPr>
              <a:lnSpc>
                <a:spcPct val="90000"/>
              </a:lnSpc>
            </a:pPr>
            <a:r>
              <a:rPr lang="en-US" altLang="zh-CN" sz="1800" dirty="0" smtClean="0">
                <a:solidFill>
                  <a:srgbClr val="990099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010</a:t>
            </a:r>
            <a:r>
              <a:rPr lang="en-US" altLang="zh-CN" sz="1800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endParaRPr lang="en-US" altLang="zh-CN" sz="1800" dirty="0">
              <a:solidFill>
                <a:srgbClr val="FF3399"/>
              </a:solidFill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r>
              <a:rPr lang="en-US" altLang="zh-CN" sz="1800" dirty="0" smtClean="0">
                <a:solidFill>
                  <a:srgbClr val="990099"/>
                </a:solidFill>
              </a:rPr>
              <a:t>0</a:t>
            </a:r>
            <a:r>
              <a:rPr lang="en-US" altLang="zh-CN" sz="1800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001</a:t>
            </a:r>
            <a:endParaRPr lang="en-US" altLang="zh-CN" sz="1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" name="Text Box 103"/>
          <p:cNvSpPr txBox="1">
            <a:spLocks noChangeArrowheads="1"/>
          </p:cNvSpPr>
          <p:nvPr/>
        </p:nvSpPr>
        <p:spPr bwMode="auto">
          <a:xfrm>
            <a:off x="1703388" y="5517232"/>
            <a:ext cx="8785225" cy="768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524000" indent="-1524000"/>
            <a:r>
              <a:rPr lang="en-US" altLang="zh-CN" sz="2200" dirty="0">
                <a:solidFill>
                  <a:srgbClr val="990099"/>
                </a:solidFill>
              </a:rPr>
              <a:t>    </a:t>
            </a:r>
            <a:r>
              <a:rPr lang="zh-CN" altLang="en-US" sz="2200" dirty="0">
                <a:solidFill>
                  <a:srgbClr val="990099"/>
                </a:solidFill>
              </a:rPr>
              <a:t>练习</a:t>
            </a:r>
            <a:r>
              <a:rPr lang="en-US" altLang="zh-CN" sz="2200" dirty="0" smtClean="0">
                <a:solidFill>
                  <a:srgbClr val="990099"/>
                </a:solidFill>
              </a:rPr>
              <a:t>—</a:t>
            </a:r>
            <a:r>
              <a:rPr lang="zh-CN" altLang="en-US" sz="2200" dirty="0" smtClean="0">
                <a:solidFill>
                  <a:schemeClr val="tx1"/>
                </a:solidFill>
              </a:rPr>
              <a:t>整数用</a:t>
            </a:r>
            <a:r>
              <a:rPr lang="en-US" altLang="zh-CN" sz="2200" dirty="0" smtClean="0">
                <a:solidFill>
                  <a:schemeClr val="tx1"/>
                </a:solidFill>
              </a:rPr>
              <a:t>8</a:t>
            </a:r>
            <a:r>
              <a:rPr lang="zh-CN" altLang="en-US" sz="2200" dirty="0" smtClean="0">
                <a:solidFill>
                  <a:schemeClr val="tx1"/>
                </a:solidFill>
              </a:rPr>
              <a:t>位补码表示，设</a:t>
            </a:r>
            <a:r>
              <a:rPr lang="en-US" altLang="zh-CN" sz="2200" dirty="0" smtClean="0">
                <a:solidFill>
                  <a:schemeClr val="tx1"/>
                </a:solidFill>
              </a:rPr>
              <a:t>A=+</a:t>
            </a:r>
            <a:r>
              <a:rPr lang="en-US" altLang="zh-CN" sz="2200" dirty="0">
                <a:solidFill>
                  <a:schemeClr val="tx1"/>
                </a:solidFill>
              </a:rPr>
              <a:t>15</a:t>
            </a:r>
            <a:r>
              <a:rPr lang="zh-CN" altLang="en-US" sz="2200" dirty="0">
                <a:solidFill>
                  <a:schemeClr val="tx1"/>
                </a:solidFill>
              </a:rPr>
              <a:t>，</a:t>
            </a:r>
            <a:r>
              <a:rPr lang="en-US" altLang="zh-CN" sz="2200" dirty="0">
                <a:solidFill>
                  <a:schemeClr val="tx1"/>
                </a:solidFill>
              </a:rPr>
              <a:t>B</a:t>
            </a:r>
            <a:r>
              <a:rPr lang="en-US" altLang="zh-CN" sz="2200" dirty="0" smtClean="0">
                <a:solidFill>
                  <a:schemeClr val="tx1"/>
                </a:solidFill>
              </a:rPr>
              <a:t>=-25</a:t>
            </a:r>
            <a:r>
              <a:rPr lang="zh-CN" altLang="en-US" sz="2200" dirty="0" smtClean="0">
                <a:solidFill>
                  <a:schemeClr val="tx1"/>
                </a:solidFill>
              </a:rPr>
              <a:t>，写出</a:t>
            </a:r>
            <a:r>
              <a:rPr lang="en-US" altLang="zh-CN" sz="2200" dirty="0" smtClean="0">
                <a:solidFill>
                  <a:schemeClr val="tx1"/>
                </a:solidFill>
              </a:rPr>
              <a:t>B&gt;&gt;1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A+B&lt;&lt;2</a:t>
            </a:r>
            <a:r>
              <a:rPr lang="zh-CN" altLang="en-US" sz="2200" dirty="0" smtClean="0">
                <a:solidFill>
                  <a:schemeClr val="tx1"/>
                </a:solidFill>
              </a:rPr>
              <a:t>的机器数</a:t>
            </a:r>
            <a:endParaRPr lang="zh-CN" altLang="en-US" sz="2200" baseline="-18000" dirty="0">
              <a:solidFill>
                <a:schemeClr val="tx1"/>
              </a:solidFill>
            </a:endParaRPr>
          </a:p>
        </p:txBody>
      </p:sp>
      <p:sp>
        <p:nvSpPr>
          <p:cNvPr id="33" name="AutoShape 6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591945" y="651926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Text Box 103"/>
          <p:cNvSpPr txBox="1">
            <a:spLocks noChangeArrowheads="1"/>
          </p:cNvSpPr>
          <p:nvPr/>
        </p:nvSpPr>
        <p:spPr bwMode="auto">
          <a:xfrm>
            <a:off x="1703512" y="2636912"/>
            <a:ext cx="8785225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1524000" indent="-1524000"/>
            <a:r>
              <a:rPr lang="zh-CN" altLang="en-US" dirty="0" smtClean="0">
                <a:solidFill>
                  <a:schemeClr val="accent2"/>
                </a:solidFill>
              </a:rPr>
              <a:t>    空位添补规则</a:t>
            </a:r>
            <a:r>
              <a:rPr lang="en-US" altLang="zh-CN" dirty="0" smtClean="0">
                <a:solidFill>
                  <a:schemeClr val="accent2"/>
                </a:solidFill>
              </a:rPr>
              <a:t>—  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有符号机器数</a:t>
            </a:r>
            <a:r>
              <a:rPr lang="en-US" altLang="zh-CN" sz="1800" spc="-30" dirty="0">
                <a:solidFill>
                  <a:schemeClr val="tx1"/>
                </a:solidFill>
              </a:rPr>
              <a:t>×2</a:t>
            </a:r>
            <a:r>
              <a:rPr lang="en-US" altLang="zh-CN" sz="1800" spc="-30" baseline="30000" dirty="0">
                <a:solidFill>
                  <a:schemeClr val="tx1"/>
                </a:solidFill>
              </a:rPr>
              <a:t>k</a:t>
            </a:r>
            <a:r>
              <a:rPr lang="zh-CN" altLang="en-US" sz="1800" spc="-30" dirty="0">
                <a:solidFill>
                  <a:schemeClr val="tx1"/>
                </a:solidFill>
              </a:rPr>
              <a:t>或</a:t>
            </a:r>
            <a:r>
              <a:rPr lang="en-US" altLang="zh-CN" sz="1800" spc="-30" dirty="0">
                <a:solidFill>
                  <a:schemeClr val="tx1"/>
                </a:solidFill>
              </a:rPr>
              <a:t>÷2</a:t>
            </a:r>
            <a:r>
              <a:rPr lang="en-US" altLang="zh-CN" sz="1800" spc="-30" baseline="30000" dirty="0">
                <a:solidFill>
                  <a:schemeClr val="tx1"/>
                </a:solidFill>
              </a:rPr>
              <a:t>k</a:t>
            </a:r>
            <a:r>
              <a:rPr lang="en-US" altLang="zh-CN" sz="1800" dirty="0">
                <a:solidFill>
                  <a:schemeClr val="tx1"/>
                </a:solidFill>
              </a:rPr>
              <a:t>)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647728" y="1844824"/>
            <a:ext cx="5040416" cy="792088"/>
            <a:chOff x="2123728" y="1844824"/>
            <a:chExt cx="5040416" cy="792088"/>
          </a:xfrm>
        </p:grpSpPr>
        <p:sp>
          <p:nvSpPr>
            <p:cNvPr id="13" name="Rectangle 436"/>
            <p:cNvSpPr>
              <a:spLocks noChangeArrowheads="1"/>
            </p:cNvSpPr>
            <p:nvPr/>
          </p:nvSpPr>
          <p:spPr bwMode="auto">
            <a:xfrm>
              <a:off x="2123728" y="1844824"/>
              <a:ext cx="432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符号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436"/>
            <p:cNvSpPr>
              <a:spLocks noChangeArrowheads="1"/>
            </p:cNvSpPr>
            <p:nvPr/>
          </p:nvSpPr>
          <p:spPr bwMode="auto">
            <a:xfrm>
              <a:off x="2555775" y="1844824"/>
              <a:ext cx="1800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436"/>
            <p:cNvSpPr>
              <a:spLocks noChangeArrowheads="1"/>
            </p:cNvSpPr>
            <p:nvPr/>
          </p:nvSpPr>
          <p:spPr bwMode="auto">
            <a:xfrm>
              <a:off x="2123728" y="2349574"/>
              <a:ext cx="432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符号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436"/>
            <p:cNvSpPr>
              <a:spLocks noChangeArrowheads="1"/>
            </p:cNvSpPr>
            <p:nvPr/>
          </p:nvSpPr>
          <p:spPr bwMode="auto">
            <a:xfrm>
              <a:off x="2555776" y="2349574"/>
              <a:ext cx="1296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436"/>
            <p:cNvSpPr>
              <a:spLocks noChangeArrowheads="1"/>
            </p:cNvSpPr>
            <p:nvPr/>
          </p:nvSpPr>
          <p:spPr bwMode="auto">
            <a:xfrm>
              <a:off x="3851976" y="2348880"/>
              <a:ext cx="504000" cy="287338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空位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接连接符 3"/>
            <p:cNvCxnSpPr/>
            <p:nvPr/>
          </p:nvCxnSpPr>
          <p:spPr bwMode="auto">
            <a:xfrm>
              <a:off x="3059832" y="1844824"/>
              <a:ext cx="0" cy="28733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3"/>
            <p:cNvCxnSpPr/>
            <p:nvPr/>
          </p:nvCxnSpPr>
          <p:spPr bwMode="auto">
            <a:xfrm flipH="1">
              <a:off x="3491880" y="1988840"/>
              <a:ext cx="360000" cy="50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2" name="Line 443"/>
            <p:cNvSpPr>
              <a:spLocks noChangeShapeType="1"/>
            </p:cNvSpPr>
            <p:nvPr/>
          </p:nvSpPr>
          <p:spPr bwMode="auto">
            <a:xfrm flipH="1">
              <a:off x="2555776" y="2240840"/>
              <a:ext cx="214313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444"/>
            <p:cNvSpPr>
              <a:spLocks noChangeShapeType="1"/>
            </p:cNvSpPr>
            <p:nvPr/>
          </p:nvSpPr>
          <p:spPr bwMode="auto">
            <a:xfrm flipH="1">
              <a:off x="2771800" y="1988840"/>
              <a:ext cx="0" cy="25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436"/>
            <p:cNvSpPr>
              <a:spLocks noChangeArrowheads="1"/>
            </p:cNvSpPr>
            <p:nvPr/>
          </p:nvSpPr>
          <p:spPr bwMode="auto">
            <a:xfrm>
              <a:off x="4932040" y="1844824"/>
              <a:ext cx="432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符号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436"/>
            <p:cNvSpPr>
              <a:spLocks noChangeArrowheads="1"/>
            </p:cNvSpPr>
            <p:nvPr/>
          </p:nvSpPr>
          <p:spPr bwMode="auto">
            <a:xfrm>
              <a:off x="5364087" y="1844824"/>
              <a:ext cx="1800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436"/>
            <p:cNvSpPr>
              <a:spLocks noChangeArrowheads="1"/>
            </p:cNvSpPr>
            <p:nvPr/>
          </p:nvSpPr>
          <p:spPr bwMode="auto">
            <a:xfrm>
              <a:off x="4932040" y="2349574"/>
              <a:ext cx="432000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符号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 436"/>
            <p:cNvSpPr>
              <a:spLocks noChangeArrowheads="1"/>
            </p:cNvSpPr>
            <p:nvPr/>
          </p:nvSpPr>
          <p:spPr bwMode="auto">
            <a:xfrm>
              <a:off x="5868144" y="2349574"/>
              <a:ext cx="1296000" cy="287338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数值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436"/>
            <p:cNvSpPr>
              <a:spLocks noChangeArrowheads="1"/>
            </p:cNvSpPr>
            <p:nvPr/>
          </p:nvSpPr>
          <p:spPr bwMode="auto">
            <a:xfrm>
              <a:off x="5364088" y="2348880"/>
              <a:ext cx="504000" cy="287338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空位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直接连接符 3"/>
            <p:cNvCxnSpPr/>
            <p:nvPr/>
          </p:nvCxnSpPr>
          <p:spPr bwMode="auto">
            <a:xfrm>
              <a:off x="6660232" y="1844824"/>
              <a:ext cx="0" cy="287338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直接连接符 3"/>
            <p:cNvCxnSpPr/>
            <p:nvPr/>
          </p:nvCxnSpPr>
          <p:spPr bwMode="auto">
            <a:xfrm>
              <a:off x="5796176" y="1988840"/>
              <a:ext cx="360000" cy="50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1" name="Line 443"/>
            <p:cNvSpPr>
              <a:spLocks noChangeShapeType="1"/>
            </p:cNvSpPr>
            <p:nvPr/>
          </p:nvSpPr>
          <p:spPr bwMode="auto">
            <a:xfrm>
              <a:off x="6876255" y="2240840"/>
              <a:ext cx="287831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444"/>
            <p:cNvSpPr>
              <a:spLocks noChangeShapeType="1"/>
            </p:cNvSpPr>
            <p:nvPr/>
          </p:nvSpPr>
          <p:spPr bwMode="auto">
            <a:xfrm flipH="1">
              <a:off x="6876256" y="1988840"/>
              <a:ext cx="0" cy="252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5" name="直接连接符 3"/>
            <p:cNvCxnSpPr/>
            <p:nvPr/>
          </p:nvCxnSpPr>
          <p:spPr bwMode="auto">
            <a:xfrm>
              <a:off x="2339752" y="2132162"/>
              <a:ext cx="0" cy="21741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7" name="直接连接符 3"/>
            <p:cNvCxnSpPr/>
            <p:nvPr/>
          </p:nvCxnSpPr>
          <p:spPr bwMode="auto">
            <a:xfrm>
              <a:off x="5148064" y="2132856"/>
              <a:ext cx="0" cy="21741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9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9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9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39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98" grpId="0" bldLvl="0" animBg="1" autoUpdateAnimBg="0"/>
      <p:bldP spid="393572" grpId="0" bldLvl="0" animBg="1"/>
      <p:bldP spid="393573" grpId="0" bldLvl="0" animBg="1"/>
      <p:bldP spid="14" grpId="0" bldLvl="0" animBg="1"/>
      <p:bldP spid="15" grpId="0" bldLvl="0" animBg="1"/>
      <p:bldP spid="11" grpId="0" bldLvl="0" animBg="1"/>
      <p:bldP spid="34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99"/>
          <p:cNvSpPr txBox="1">
            <a:spLocks noChangeArrowheads="1"/>
          </p:cNvSpPr>
          <p:nvPr/>
        </p:nvSpPr>
        <p:spPr bwMode="auto">
          <a:xfrm>
            <a:off x="1703388" y="320413"/>
            <a:ext cx="878522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 smtClean="0">
                <a:solidFill>
                  <a:srgbClr val="990099"/>
                </a:solidFill>
              </a:rPr>
              <a:t>1—</a:t>
            </a:r>
            <a:r>
              <a:rPr lang="zh-CN" altLang="en-US" dirty="0">
                <a:solidFill>
                  <a:schemeClr val="tx1"/>
                </a:solidFill>
              </a:rPr>
              <a:t>设</a:t>
            </a:r>
            <a:r>
              <a:rPr lang="en-US" altLang="zh-CN" dirty="0" smtClean="0">
                <a:solidFill>
                  <a:schemeClr val="tx1"/>
                </a:solidFill>
              </a:rPr>
              <a:t>A=111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B=110</a:t>
            </a:r>
            <a:r>
              <a:rPr lang="zh-CN" altLang="en-US" dirty="0" smtClean="0">
                <a:solidFill>
                  <a:schemeClr val="tx1"/>
                </a:solidFill>
              </a:rPr>
              <a:t>，用一位乘法</a:t>
            </a:r>
            <a:r>
              <a:rPr lang="zh-CN" altLang="en-US" dirty="0">
                <a:solidFill>
                  <a:schemeClr val="tx1"/>
                </a:solidFill>
              </a:rPr>
              <a:t>求</a:t>
            </a:r>
            <a:r>
              <a:rPr lang="en-US" altLang="zh-CN" dirty="0">
                <a:solidFill>
                  <a:schemeClr val="tx1"/>
                </a:solidFill>
              </a:rPr>
              <a:t>[A×B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无</a:t>
            </a:r>
            <a:endParaRPr lang="en-US" altLang="zh-CN" baseline="-18000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rgbClr val="990099"/>
                </a:solidFill>
              </a:rPr>
              <a:t>    </a:t>
            </a:r>
            <a:r>
              <a:rPr lang="zh-CN" altLang="en-US" dirty="0">
                <a:solidFill>
                  <a:srgbClr val="990099"/>
                </a:solidFill>
              </a:rPr>
              <a:t>解：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Group 149"/>
          <p:cNvGraphicFramePr>
            <a:graphicFrameLocks noGrp="1"/>
          </p:cNvGraphicFramePr>
          <p:nvPr/>
        </p:nvGraphicFramePr>
        <p:xfrm>
          <a:off x="3143672" y="908720"/>
          <a:ext cx="5760085" cy="3645535"/>
        </p:xfrm>
        <a:graphic>
          <a:graphicData uri="http://schemas.openxmlformats.org/drawingml/2006/table">
            <a:tbl>
              <a:tblPr/>
              <a:tblGrid>
                <a:gridCol w="1368425"/>
                <a:gridCol w="720090"/>
                <a:gridCol w="791845"/>
                <a:gridCol w="2879725"/>
              </a:tblGrid>
              <a:tr h="3282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部分积高位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低位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乘数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000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11</a:t>
                      </a:r>
                      <a:r>
                        <a:rPr kumimoji="1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初始部分积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734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+ 000</a:t>
                      </a:r>
                      <a:endParaRPr kumimoji="1" lang="en-US" altLang="zh-CN" sz="2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</a:t>
                      </a:r>
                      <a:r>
                        <a:rPr kumimoji="1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当前乘数位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=0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部分积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带进位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25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+ 111</a:t>
                      </a:r>
                      <a:endParaRPr kumimoji="1" lang="en-US" altLang="zh-CN" sz="2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11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当前乘数位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部分积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带进位右移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18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+ 111</a:t>
                      </a:r>
                      <a:endParaRPr kumimoji="1" lang="en-US" altLang="zh-CN" sz="20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01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9900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9900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000" b="1" i="0" u="sng" strike="noStrike" cap="none" normalizeH="0" baseline="0" dirty="0" smtClean="0">
                        <a:ln>
                          <a:noFill/>
                        </a:ln>
                        <a:solidFill>
                          <a:srgbClr val="FF33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当前乘数位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=1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高</a:t>
                      </a:r>
                      <a:r>
                        <a:rPr kumimoji="1" lang="en-US" altLang="zh-CN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 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部分积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1800" b="1" i="0" u="none" strike="noStrike" cap="none" normalizeH="0" baseline="-16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带进位右移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36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4151848" y="2099718"/>
            <a:ext cx="504000" cy="2345778"/>
            <a:chOff x="2699792" y="2531766"/>
            <a:chExt cx="647701" cy="2345778"/>
          </a:xfrm>
        </p:grpSpPr>
        <p:sp>
          <p:nvSpPr>
            <p:cNvPr id="6" name="Line 144"/>
            <p:cNvSpPr>
              <a:spLocks noChangeShapeType="1"/>
            </p:cNvSpPr>
            <p:nvPr/>
          </p:nvSpPr>
          <p:spPr bwMode="auto">
            <a:xfrm>
              <a:off x="2699792" y="2531766"/>
              <a:ext cx="647701" cy="3683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7" name="Line 145"/>
            <p:cNvSpPr>
              <a:spLocks noChangeShapeType="1"/>
            </p:cNvSpPr>
            <p:nvPr/>
          </p:nvSpPr>
          <p:spPr bwMode="auto">
            <a:xfrm>
              <a:off x="2699792" y="3466805"/>
              <a:ext cx="647701" cy="3683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8" name="Line 146"/>
            <p:cNvSpPr>
              <a:spLocks noChangeShapeType="1"/>
            </p:cNvSpPr>
            <p:nvPr/>
          </p:nvSpPr>
          <p:spPr bwMode="auto">
            <a:xfrm>
              <a:off x="2699792" y="4509244"/>
              <a:ext cx="647701" cy="368300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" name="Text Box 99"/>
          <p:cNvSpPr txBox="1">
            <a:spLocks noChangeArrowheads="1"/>
          </p:cNvSpPr>
          <p:nvPr/>
        </p:nvSpPr>
        <p:spPr bwMode="auto">
          <a:xfrm>
            <a:off x="2397003" y="4641666"/>
            <a:ext cx="8091610" cy="3683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pPr marL="990600" indent="-990600"/>
            <a:r>
              <a:rPr lang="zh-CN" altLang="en-US" dirty="0" smtClean="0">
                <a:solidFill>
                  <a:srgbClr val="990099"/>
                </a:solidFill>
              </a:rPr>
              <a:t>练习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无符号整数用</a:t>
            </a:r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r>
              <a:rPr lang="zh-CN" altLang="en-US" dirty="0" smtClean="0">
                <a:solidFill>
                  <a:schemeClr val="tx1"/>
                </a:solidFill>
              </a:rPr>
              <a:t>位无符号编码表示，用无符号一位乘法求</a:t>
            </a:r>
            <a:r>
              <a:rPr lang="en-US" altLang="zh-CN" dirty="0" smtClean="0">
                <a:solidFill>
                  <a:schemeClr val="tx1"/>
                </a:solidFill>
              </a:rPr>
              <a:t>[9×6]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无</a:t>
            </a:r>
            <a:endParaRPr lang="en-US" altLang="zh-CN" baseline="-18000" dirty="0" smtClean="0">
              <a:solidFill>
                <a:schemeClr val="tx1"/>
              </a:solidFill>
            </a:endParaRPr>
          </a:p>
        </p:txBody>
      </p:sp>
      <p:sp>
        <p:nvSpPr>
          <p:cNvPr id="14" name="AutoShape 21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439817" y="6524302"/>
            <a:ext cx="287337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592639" y="6524302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7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512519" y="6524303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AutoShape 62">
            <a:hlinkClick r:id="" action="ppaction://noaction"/>
          </p:cNvPr>
          <p:cNvSpPr>
            <a:spLocks noChangeArrowheads="1"/>
          </p:cNvSpPr>
          <p:nvPr/>
        </p:nvSpPr>
        <p:spPr bwMode="auto">
          <a:xfrm rot="16200000">
            <a:off x="5592291" y="6524104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64</a:t>
            </a:r>
            <a:endParaRPr lang="en-US" altLang="zh-CN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8" name="Text Box 200"/>
          <p:cNvSpPr txBox="1">
            <a:spLocks noChangeArrowheads="1"/>
          </p:cNvSpPr>
          <p:nvPr/>
        </p:nvSpPr>
        <p:spPr bwMode="auto">
          <a:xfrm>
            <a:off x="1703388" y="332656"/>
            <a:ext cx="8785100" cy="675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3399"/>
                </a:solidFill>
              </a:rPr>
              <a:t>3</a:t>
            </a:r>
            <a:r>
              <a:rPr lang="zh-CN" altLang="en-US" dirty="0" smtClean="0">
                <a:solidFill>
                  <a:srgbClr val="FF3399"/>
                </a:solidFill>
              </a:rPr>
              <a:t>、</a:t>
            </a:r>
            <a:r>
              <a:rPr lang="zh-CN" altLang="en-US" dirty="0">
                <a:solidFill>
                  <a:srgbClr val="FF3399"/>
                </a:solidFill>
              </a:rPr>
              <a:t>原码</a:t>
            </a:r>
            <a:r>
              <a:rPr lang="zh-CN" altLang="en-US" dirty="0" smtClean="0">
                <a:solidFill>
                  <a:srgbClr val="FF3399"/>
                </a:solidFill>
              </a:rPr>
              <a:t>乘法运算     </a:t>
            </a:r>
            <a:r>
              <a:rPr lang="en-US" altLang="zh-CN" sz="2000" dirty="0" smtClean="0">
                <a:solidFill>
                  <a:schemeClr val="tx1"/>
                </a:solidFill>
              </a:rPr>
              <a:t>(</a:t>
            </a:r>
            <a:r>
              <a:rPr lang="zh-CN" altLang="en-US" sz="2000" dirty="0" smtClean="0">
                <a:solidFill>
                  <a:schemeClr val="tx1"/>
                </a:solidFill>
              </a:rPr>
              <a:t>只讨论</a:t>
            </a:r>
            <a:r>
              <a:rPr lang="zh-CN" altLang="en-US" sz="2000" dirty="0" smtClean="0">
                <a:solidFill>
                  <a:srgbClr val="990099"/>
                </a:solidFill>
              </a:rPr>
              <a:t>小数</a:t>
            </a:r>
            <a:r>
              <a:rPr lang="zh-CN" altLang="en-US" sz="2000" dirty="0" smtClean="0">
                <a:solidFill>
                  <a:schemeClr val="tx1"/>
                </a:solidFill>
              </a:rPr>
              <a:t>一位乘法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rgbClr val="C00000"/>
                </a:solidFill>
              </a:rPr>
              <a:t>    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A×B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原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[A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原</a:t>
            </a:r>
            <a:r>
              <a:rPr lang="en-US" altLang="zh-CN" dirty="0" smtClean="0">
                <a:solidFill>
                  <a:srgbClr val="FF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×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原</a:t>
            </a:r>
            <a:r>
              <a:rPr lang="zh-CN" altLang="en-US" dirty="0" smtClean="0">
                <a:solidFill>
                  <a:schemeClr val="tx1"/>
                </a:solidFill>
              </a:rPr>
              <a:t>，结果为≤</a:t>
            </a:r>
            <a:r>
              <a:rPr lang="en-US" altLang="zh-CN" dirty="0" smtClean="0">
                <a:solidFill>
                  <a:schemeClr val="tx1"/>
                </a:solidFill>
              </a:rPr>
              <a:t>2n-1</a:t>
            </a:r>
            <a:r>
              <a:rPr lang="zh-CN" altLang="en-US" dirty="0" smtClean="0">
                <a:solidFill>
                  <a:schemeClr val="tx1"/>
                </a:solidFill>
              </a:rPr>
              <a:t>位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0" name="Text Box 200"/>
          <p:cNvSpPr txBox="1">
            <a:spLocks noChangeArrowheads="1"/>
          </p:cNvSpPr>
          <p:nvPr/>
        </p:nvSpPr>
        <p:spPr bwMode="auto">
          <a:xfrm>
            <a:off x="1703511" y="1268760"/>
            <a:ext cx="4032447" cy="21380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dirty="0" smtClean="0">
                <a:solidFill>
                  <a:srgbClr val="C00000"/>
                </a:solidFill>
              </a:rPr>
              <a:t> *运算方法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endParaRPr lang="en-US" altLang="zh-CN" baseline="-18000" dirty="0" smtClean="0">
              <a:solidFill>
                <a:srgbClr val="C00000"/>
              </a:solidFill>
            </a:endParaRPr>
          </a:p>
          <a:p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dirty="0">
              <a:solidFill>
                <a:schemeClr val="accent2"/>
              </a:solidFill>
            </a:endParaRPr>
          </a:p>
          <a:p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乘积数值的递</a:t>
            </a:r>
            <a:r>
              <a:rPr lang="zh-CN" altLang="en-US" dirty="0">
                <a:solidFill>
                  <a:schemeClr val="accent2"/>
                </a:solidFill>
              </a:rPr>
              <a:t>推公式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endParaRPr lang="en-US" altLang="zh-CN" sz="2000" dirty="0" smtClean="0">
              <a:solidFill>
                <a:schemeClr val="accent2"/>
              </a:solidFill>
            </a:endParaRPr>
          </a:p>
          <a:p>
            <a:endParaRPr lang="en-US" altLang="zh-CN" sz="1800" dirty="0" smtClean="0">
              <a:solidFill>
                <a:schemeClr val="accent2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dirty="0" smtClean="0">
                <a:solidFill>
                  <a:schemeClr val="accent2"/>
                </a:solidFill>
              </a:rPr>
              <a:t>    </a:t>
            </a:r>
            <a:r>
              <a:rPr lang="zh-CN" altLang="en-US" dirty="0" smtClean="0">
                <a:solidFill>
                  <a:schemeClr val="accent2"/>
                </a:solidFill>
              </a:rPr>
              <a:t>实质</a:t>
            </a:r>
            <a:r>
              <a:rPr lang="en-US" altLang="zh-CN" dirty="0" smtClean="0">
                <a:solidFill>
                  <a:schemeClr val="accent2"/>
                </a:solidFill>
              </a:rPr>
              <a:t>—</a:t>
            </a:r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22" name="Text Box 200"/>
          <p:cNvSpPr txBox="1">
            <a:spLocks noChangeArrowheads="1"/>
          </p:cNvSpPr>
          <p:nvPr/>
        </p:nvSpPr>
        <p:spPr bwMode="auto">
          <a:xfrm>
            <a:off x="2639616" y="1268760"/>
            <a:ext cx="7848872" cy="922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accent2"/>
                </a:solidFill>
              </a:rPr>
              <a:t>      </a:t>
            </a:r>
            <a:r>
              <a:rPr lang="zh-CN" altLang="en-US" dirty="0" smtClean="0">
                <a:solidFill>
                  <a:schemeClr val="tx1"/>
                </a:solidFill>
              </a:rPr>
              <a:t>设</a:t>
            </a:r>
            <a:r>
              <a:rPr lang="en-US" altLang="zh-CN" dirty="0" smtClean="0">
                <a:solidFill>
                  <a:schemeClr val="tx1"/>
                </a:solidFill>
              </a:rPr>
              <a:t>[B]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原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rgbClr val="990099"/>
                </a:solidFill>
              </a:rPr>
              <a:t>b</a:t>
            </a:r>
            <a:r>
              <a:rPr lang="en-US" altLang="zh-CN" baseline="-18000" dirty="0" smtClean="0">
                <a:solidFill>
                  <a:srgbClr val="990099"/>
                </a:solidFill>
              </a:rPr>
              <a:t>n-1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n-2</a:t>
            </a:r>
            <a:r>
              <a:rPr lang="en-US" altLang="zh-CN" dirty="0" smtClean="0">
                <a:solidFill>
                  <a:schemeClr val="tx1"/>
                </a:solidFill>
              </a:rPr>
              <a:t>…b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[A×B]</a:t>
            </a:r>
            <a:r>
              <a:rPr lang="zh-CN" altLang="en-US" baseline="-16000" dirty="0" smtClean="0">
                <a:solidFill>
                  <a:schemeClr val="tx1"/>
                </a:solidFill>
              </a:rPr>
              <a:t>原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2n-2</a:t>
            </a:r>
            <a:r>
              <a:rPr lang="en-US" altLang="zh-CN" dirty="0" smtClean="0">
                <a:solidFill>
                  <a:schemeClr val="tx1"/>
                </a:solidFill>
              </a:rPr>
              <a:t>…z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①</a:t>
            </a:r>
            <a:r>
              <a:rPr lang="zh-CN" altLang="en-US" dirty="0" smtClean="0">
                <a:solidFill>
                  <a:schemeClr val="tx1"/>
                </a:solidFill>
              </a:rPr>
              <a:t>求乘积符号，</a:t>
            </a:r>
            <a:r>
              <a:rPr lang="en-US" altLang="zh-CN" dirty="0" smtClean="0">
                <a:solidFill>
                  <a:schemeClr val="tx1"/>
                </a:solidFill>
              </a:rPr>
              <a:t>S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P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a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smtClean="0">
                <a:solidFill>
                  <a:schemeClr val="tx1"/>
                </a:solidFill>
              </a:rPr>
              <a:t>b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n-1</a:t>
            </a:r>
            <a:r>
              <a:rPr lang="zh-CN" altLang="en-US" dirty="0" smtClean="0">
                <a:solidFill>
                  <a:schemeClr val="tx1"/>
                </a:solidFill>
              </a:rPr>
              <a:t>，  </a:t>
            </a:r>
            <a:r>
              <a:rPr lang="zh-CN" altLang="en-US" baseline="-25000" dirty="0" smtClean="0">
                <a:solidFill>
                  <a:schemeClr val="tx1"/>
                </a:solidFill>
              </a:rPr>
              <a:t>  </a:t>
            </a:r>
            <a:r>
              <a:rPr lang="en-US" altLang="zh-CN" dirty="0" smtClean="0">
                <a:solidFill>
                  <a:schemeClr val="tx1"/>
                </a:solidFill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2n-2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S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P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②</a:t>
            </a:r>
            <a:r>
              <a:rPr lang="zh-CN" altLang="en-US" dirty="0" smtClean="0">
                <a:solidFill>
                  <a:schemeClr val="tx1"/>
                </a:solidFill>
              </a:rPr>
              <a:t>求乘积数值，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|</a:t>
            </a:r>
            <a:r>
              <a:rPr lang="en-US" altLang="zh-CN" dirty="0">
                <a:solidFill>
                  <a:schemeClr val="tx1"/>
                </a:solidFill>
              </a:rPr>
              <a:t>A|×|B</a:t>
            </a:r>
            <a:r>
              <a:rPr lang="en-US" altLang="zh-CN" dirty="0" smtClean="0">
                <a:solidFill>
                  <a:schemeClr val="tx1"/>
                </a:solidFill>
              </a:rPr>
              <a:t>|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r>
              <a:rPr lang="en-US" altLang="zh-CN" dirty="0" smtClean="0">
                <a:solidFill>
                  <a:schemeClr val="tx1"/>
                </a:solidFill>
              </a:rPr>
              <a:t>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2n-3</a:t>
            </a:r>
            <a:r>
              <a:rPr lang="en-US" altLang="zh-CN" dirty="0" smtClean="0">
                <a:solidFill>
                  <a:schemeClr val="tx1"/>
                </a:solidFill>
              </a:rPr>
              <a:t>…z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P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23" name="Text Box 267"/>
          <p:cNvSpPr txBox="1">
            <a:spLocks noChangeArrowheads="1"/>
          </p:cNvSpPr>
          <p:nvPr/>
        </p:nvSpPr>
        <p:spPr bwMode="auto">
          <a:xfrm>
            <a:off x="2855640" y="3102059"/>
            <a:ext cx="7704856" cy="6756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i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en-US" altLang="zh-CN" baseline="-20000" dirty="0" smtClean="0">
                <a:solidFill>
                  <a:schemeClr val="tx1"/>
                </a:solidFill>
              </a:rPr>
              <a:t>i-1</a:t>
            </a:r>
            <a:r>
              <a:rPr lang="zh-CN" altLang="en-US" dirty="0" smtClean="0">
                <a:solidFill>
                  <a:srgbClr val="990099"/>
                </a:solidFill>
              </a:rPr>
              <a:t>＋</a:t>
            </a:r>
            <a:r>
              <a:rPr lang="en-US" altLang="zh-CN" dirty="0" smtClean="0">
                <a:solidFill>
                  <a:schemeClr val="tx1"/>
                </a:solidFill>
              </a:rPr>
              <a:t>|A|×b</a:t>
            </a:r>
            <a:r>
              <a:rPr lang="en-US" altLang="zh-CN" baseline="-16000" dirty="0" smtClean="0">
                <a:solidFill>
                  <a:schemeClr val="tx1"/>
                </a:solidFill>
              </a:rPr>
              <a:t>i-1</a:t>
            </a:r>
            <a:r>
              <a:rPr lang="en-US" altLang="zh-CN" dirty="0" smtClean="0">
                <a:solidFill>
                  <a:schemeClr val="tx1"/>
                </a:solidFill>
              </a:rPr>
              <a:t>)×2</a:t>
            </a:r>
            <a:r>
              <a:rPr lang="en-US" altLang="zh-CN" baseline="30000" dirty="0" smtClean="0">
                <a:solidFill>
                  <a:schemeClr val="tx1"/>
                </a:solidFill>
              </a:rPr>
              <a:t>-1</a:t>
            </a:r>
            <a:r>
              <a:rPr lang="en-US" altLang="zh-CN" dirty="0" smtClean="0">
                <a:solidFill>
                  <a:schemeClr val="tx1"/>
                </a:solidFill>
              </a:rPr>
              <a:t>   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rgbClr val="990099"/>
                </a:solidFill>
              </a:rPr>
              <a:t>n-1</a:t>
            </a:r>
            <a:r>
              <a:rPr lang="zh-CN" altLang="en-US" sz="1800" dirty="0" smtClean="0">
                <a:solidFill>
                  <a:srgbClr val="990099"/>
                </a:solidFill>
              </a:rPr>
              <a:t>位</a:t>
            </a:r>
            <a:r>
              <a:rPr lang="zh-CN" altLang="en-US" sz="1800" dirty="0" smtClean="0">
                <a:solidFill>
                  <a:schemeClr val="tx1"/>
                </a:solidFill>
              </a:rPr>
              <a:t>加法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无</a:t>
            </a:r>
            <a:r>
              <a:rPr lang="zh-CN" altLang="en-US" sz="1800" dirty="0">
                <a:solidFill>
                  <a:schemeClr val="tx1"/>
                </a:solidFill>
              </a:rPr>
              <a:t>符号</a:t>
            </a:r>
            <a:r>
              <a:rPr lang="zh-CN" altLang="en-US" sz="1800" dirty="0" smtClean="0">
                <a:solidFill>
                  <a:schemeClr val="tx1"/>
                </a:solidFill>
              </a:rPr>
              <a:t>乘法为</a:t>
            </a:r>
            <a:r>
              <a:rPr lang="en-US" altLang="zh-CN" sz="1800" dirty="0" smtClean="0">
                <a:solidFill>
                  <a:srgbClr val="0070C0"/>
                </a:solidFill>
              </a:rPr>
              <a:t>n</a:t>
            </a:r>
            <a:r>
              <a:rPr lang="zh-CN" altLang="en-US" sz="1800" dirty="0" smtClean="0">
                <a:solidFill>
                  <a:srgbClr val="0070C0"/>
                </a:solidFill>
              </a:rPr>
              <a:t>位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baseline="30000" dirty="0" smtClean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                        </a:t>
            </a:r>
            <a:r>
              <a:rPr lang="en-US" altLang="zh-CN" sz="2000" spc="300" dirty="0" smtClean="0">
                <a:solidFill>
                  <a:schemeClr val="tx1"/>
                </a:solidFill>
              </a:rPr>
              <a:t>  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rgbClr val="990099"/>
                </a:solidFill>
              </a:rPr>
              <a:t>n-1</a:t>
            </a:r>
            <a:r>
              <a:rPr lang="zh-CN" altLang="en-US" sz="1800" dirty="0" smtClean="0">
                <a:solidFill>
                  <a:srgbClr val="990099"/>
                </a:solidFill>
              </a:rPr>
              <a:t>次</a:t>
            </a:r>
            <a:r>
              <a:rPr lang="zh-CN" altLang="en-US" sz="1800" dirty="0" smtClean="0">
                <a:solidFill>
                  <a:schemeClr val="tx1"/>
                </a:solidFill>
              </a:rPr>
              <a:t>循环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无符号乘法为</a:t>
            </a:r>
            <a:r>
              <a:rPr lang="en-US" altLang="zh-CN" sz="1800" dirty="0" smtClean="0">
                <a:solidFill>
                  <a:srgbClr val="0070C0"/>
                </a:solidFill>
              </a:rPr>
              <a:t>n</a:t>
            </a:r>
            <a:r>
              <a:rPr lang="zh-CN" altLang="en-US" sz="1800" dirty="0" smtClean="0">
                <a:solidFill>
                  <a:srgbClr val="0070C0"/>
                </a:solidFill>
              </a:rPr>
              <a:t>次</a:t>
            </a:r>
            <a:r>
              <a:rPr lang="en-US" altLang="zh-CN" sz="2000" dirty="0" smtClean="0">
                <a:solidFill>
                  <a:schemeClr val="tx1"/>
                </a:solidFill>
              </a:rPr>
              <a:t>)</a:t>
            </a:r>
            <a:endParaRPr lang="en-US" altLang="zh-CN" sz="2000" dirty="0">
              <a:solidFill>
                <a:srgbClr val="990099"/>
              </a:solidFill>
            </a:endParaRPr>
          </a:p>
        </p:txBody>
      </p:sp>
      <p:sp>
        <p:nvSpPr>
          <p:cNvPr id="24" name="Text Box 99"/>
          <p:cNvSpPr txBox="1">
            <a:spLocks noChangeArrowheads="1"/>
          </p:cNvSpPr>
          <p:nvPr/>
        </p:nvSpPr>
        <p:spPr bwMode="auto">
          <a:xfrm>
            <a:off x="1703512" y="4409241"/>
            <a:ext cx="8785225" cy="6451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rgbClr val="990099"/>
                </a:solidFill>
              </a:rPr>
              <a:t>    </a:t>
            </a:r>
            <a:r>
              <a:rPr lang="zh-CN" altLang="en-US" dirty="0" smtClean="0">
                <a:solidFill>
                  <a:srgbClr val="990099"/>
                </a:solidFill>
              </a:rPr>
              <a:t>例</a:t>
            </a:r>
            <a:r>
              <a:rPr lang="en-US" altLang="zh-CN" dirty="0">
                <a:solidFill>
                  <a:srgbClr val="990099"/>
                </a:solidFill>
              </a:rPr>
              <a:t>3</a:t>
            </a:r>
            <a:r>
              <a:rPr lang="en-US" altLang="zh-CN" dirty="0" smtClean="0">
                <a:solidFill>
                  <a:srgbClr val="990099"/>
                </a:solidFill>
              </a:rPr>
              <a:t>—</a:t>
            </a:r>
            <a:r>
              <a:rPr lang="zh-CN" altLang="en-US" dirty="0" smtClean="0">
                <a:solidFill>
                  <a:schemeClr val="tx1"/>
                </a:solidFill>
              </a:rPr>
              <a:t>设</a:t>
            </a:r>
            <a:r>
              <a:rPr lang="en-US" altLang="zh-CN" dirty="0" smtClean="0">
                <a:solidFill>
                  <a:schemeClr val="tx1"/>
                </a:solidFill>
              </a:rPr>
              <a:t>[A]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原</a:t>
            </a:r>
            <a:r>
              <a:rPr lang="en-US" altLang="zh-CN" dirty="0" smtClean="0">
                <a:solidFill>
                  <a:schemeClr val="tx1"/>
                </a:solidFill>
              </a:rPr>
              <a:t>=0.111</a:t>
            </a:r>
            <a:r>
              <a:rPr lang="zh-CN" altLang="en-US" dirty="0" smtClean="0">
                <a:solidFill>
                  <a:schemeClr val="tx1"/>
                </a:solidFill>
              </a:rPr>
              <a:t>、</a:t>
            </a: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A]</a:t>
            </a:r>
            <a:r>
              <a:rPr lang="zh-CN" altLang="en-US" baseline="-18000" dirty="0">
                <a:solidFill>
                  <a:schemeClr val="tx1"/>
                </a:solidFill>
              </a:rPr>
              <a:t>原</a:t>
            </a:r>
            <a:r>
              <a:rPr lang="en-US" altLang="zh-CN" dirty="0" smtClean="0">
                <a:solidFill>
                  <a:schemeClr val="tx1"/>
                </a:solidFill>
              </a:rPr>
              <a:t>=1.110</a:t>
            </a:r>
            <a:r>
              <a:rPr lang="zh-CN" altLang="en-US" dirty="0" smtClean="0">
                <a:solidFill>
                  <a:schemeClr val="tx1"/>
                </a:solidFill>
              </a:rPr>
              <a:t>，求</a:t>
            </a:r>
            <a:r>
              <a:rPr lang="en-US" altLang="zh-CN" dirty="0">
                <a:solidFill>
                  <a:schemeClr val="tx1"/>
                </a:solidFill>
              </a:rPr>
              <a:t>[A×B</a:t>
            </a:r>
            <a:r>
              <a:rPr lang="en-US" altLang="zh-CN" dirty="0" smtClean="0">
                <a:solidFill>
                  <a:schemeClr val="tx1"/>
                </a:solidFill>
              </a:rPr>
              <a:t>]</a:t>
            </a:r>
            <a:r>
              <a:rPr lang="zh-CN" altLang="en-US" baseline="-18000" dirty="0" smtClean="0">
                <a:solidFill>
                  <a:schemeClr val="tx1"/>
                </a:solidFill>
              </a:rPr>
              <a:t>原</a:t>
            </a:r>
            <a:endParaRPr lang="en-US" altLang="zh-CN" baseline="-18000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</a:t>
            </a:r>
            <a:r>
              <a:rPr lang="zh-CN" altLang="en-US" dirty="0" smtClean="0">
                <a:solidFill>
                  <a:srgbClr val="990099"/>
                </a:solidFill>
              </a:rPr>
              <a:t>解</a:t>
            </a:r>
            <a:r>
              <a:rPr lang="zh-CN" altLang="en-US" dirty="0">
                <a:solidFill>
                  <a:srgbClr val="990099"/>
                </a:solidFill>
              </a:rPr>
              <a:t>：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Text Box 100"/>
          <p:cNvSpPr txBox="1">
            <a:spLocks noChangeArrowheads="1"/>
          </p:cNvSpPr>
          <p:nvPr/>
        </p:nvSpPr>
        <p:spPr bwMode="auto">
          <a:xfrm>
            <a:off x="2922437" y="4841289"/>
            <a:ext cx="7566299" cy="9988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chemeClr val="tx1"/>
                </a:solidFill>
              </a:rPr>
              <a:t>|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dirty="0" smtClean="0">
                <a:solidFill>
                  <a:schemeClr val="tx1"/>
                </a:solidFill>
              </a:rPr>
              <a:t>|=0.111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|B</a:t>
            </a:r>
            <a:r>
              <a:rPr lang="en-US" altLang="zh-CN" dirty="0" smtClean="0">
                <a:solidFill>
                  <a:schemeClr val="tx1"/>
                </a:solidFill>
              </a:rPr>
              <a:t>|=0.110</a:t>
            </a:r>
            <a:r>
              <a:rPr lang="zh-CN" altLang="en-US" dirty="0" smtClean="0">
                <a:solidFill>
                  <a:schemeClr val="tx1"/>
                </a:solidFill>
              </a:rPr>
              <a:t>；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S</a:t>
            </a:r>
            <a:r>
              <a:rPr lang="en-US" altLang="zh-CN" baseline="-18000" dirty="0" smtClean="0">
                <a:solidFill>
                  <a:schemeClr val="tx1"/>
                </a:solidFill>
              </a:rPr>
              <a:t>P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r>
              <a:rPr lang="en-US" altLang="zh-CN" b="0" dirty="0" smtClean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/>
              <a:t>1</a:t>
            </a:r>
            <a:r>
              <a:rPr lang="zh-CN" altLang="en-US" dirty="0" smtClean="0">
                <a:solidFill>
                  <a:schemeClr val="tx1"/>
                </a:solidFill>
              </a:rPr>
              <a:t>；</a:t>
            </a:r>
            <a:r>
              <a:rPr lang="en-US" altLang="zh-CN" dirty="0" smtClean="0">
                <a:solidFill>
                  <a:schemeClr val="tx1"/>
                </a:solidFill>
              </a:rPr>
              <a:t>P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>
                <a:solidFill>
                  <a:schemeClr val="tx1"/>
                </a:solidFill>
              </a:rPr>
              <a:t>|A|×|B</a:t>
            </a:r>
            <a:r>
              <a:rPr lang="en-US" altLang="zh-CN" dirty="0" smtClean="0">
                <a:solidFill>
                  <a:schemeClr val="tx1"/>
                </a:solidFill>
              </a:rPr>
              <a:t>|</a:t>
            </a:r>
            <a:r>
              <a:rPr lang="zh-CN" altLang="en-US" dirty="0" smtClean="0">
                <a:solidFill>
                  <a:schemeClr val="tx1"/>
                </a:solidFill>
              </a:rPr>
              <a:t>＝</a:t>
            </a:r>
            <a:r>
              <a:rPr lang="en-US" altLang="zh-CN" dirty="0" smtClean="0">
                <a:solidFill>
                  <a:schemeClr val="tx1"/>
                </a:solidFill>
              </a:rPr>
              <a:t>0.101010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同例</a:t>
            </a:r>
            <a:r>
              <a:rPr lang="en-US" altLang="zh-CN" sz="1800" dirty="0" smtClean="0">
                <a:solidFill>
                  <a:schemeClr val="tx1"/>
                </a:solidFill>
              </a:rPr>
              <a:t>1[</a:t>
            </a:r>
            <a:r>
              <a:rPr lang="zh-CN" altLang="en-US" sz="1800" dirty="0" smtClean="0">
                <a:solidFill>
                  <a:schemeClr val="tx1"/>
                </a:solidFill>
              </a:rPr>
              <a:t>循环</a:t>
            </a:r>
            <a:r>
              <a:rPr lang="en-US" altLang="zh-CN" sz="1800" dirty="0" smtClean="0">
                <a:solidFill>
                  <a:schemeClr val="tx1"/>
                </a:solidFill>
              </a:rPr>
              <a:t>3</a:t>
            </a:r>
            <a:r>
              <a:rPr lang="zh-CN" altLang="en-US" sz="1800" dirty="0" smtClean="0">
                <a:solidFill>
                  <a:schemeClr val="tx1"/>
                </a:solidFill>
              </a:rPr>
              <a:t>次</a:t>
            </a:r>
            <a:r>
              <a:rPr lang="en-US" altLang="zh-CN" sz="1800" dirty="0" smtClean="0">
                <a:solidFill>
                  <a:schemeClr val="tx1"/>
                </a:solidFill>
              </a:rPr>
              <a:t>])</a:t>
            </a:r>
            <a:r>
              <a:rPr lang="zh-CN" altLang="en-US" dirty="0" smtClean="0">
                <a:solidFill>
                  <a:schemeClr val="tx1"/>
                </a:solidFill>
              </a:rPr>
              <a:t>，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altLang="zh-CN" dirty="0" smtClean="0">
                <a:solidFill>
                  <a:schemeClr val="tx1"/>
                </a:solidFill>
              </a:rPr>
              <a:t>[</a:t>
            </a:r>
            <a:r>
              <a:rPr lang="en-US" altLang="zh-CN" dirty="0">
                <a:solidFill>
                  <a:schemeClr val="tx1"/>
                </a:solidFill>
              </a:rPr>
              <a:t>A×B]</a:t>
            </a:r>
            <a:r>
              <a:rPr lang="zh-CN" altLang="en-US" baseline="-16000" dirty="0">
                <a:solidFill>
                  <a:schemeClr val="tx1"/>
                </a:solidFill>
              </a:rPr>
              <a:t>原</a:t>
            </a:r>
            <a:r>
              <a:rPr lang="zh-CN" altLang="en-US" dirty="0">
                <a:solidFill>
                  <a:schemeClr val="tx1"/>
                </a:solidFill>
              </a:rPr>
              <a:t>＝</a:t>
            </a:r>
            <a:r>
              <a:rPr lang="en-US" altLang="zh-CN" dirty="0" smtClean="0"/>
              <a:t>1.</a:t>
            </a:r>
            <a:r>
              <a:rPr lang="en-US" altLang="zh-CN" dirty="0" smtClean="0">
                <a:solidFill>
                  <a:schemeClr val="tx1"/>
                </a:solidFill>
              </a:rPr>
              <a:t>101010</a:t>
            </a:r>
            <a:endParaRPr lang="en-US" altLang="zh-CN" dirty="0">
              <a:solidFill>
                <a:srgbClr val="990099"/>
              </a:solidFill>
            </a:endParaRPr>
          </a:p>
        </p:txBody>
      </p:sp>
      <p:sp>
        <p:nvSpPr>
          <p:cNvPr id="27" name="Text Box 267"/>
          <p:cNvSpPr txBox="1">
            <a:spLocks noChangeArrowheads="1"/>
          </p:cNvSpPr>
          <p:nvPr/>
        </p:nvSpPr>
        <p:spPr bwMode="auto">
          <a:xfrm>
            <a:off x="3287688" y="3883114"/>
            <a:ext cx="7201049" cy="368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符号</a:t>
            </a:r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</a:rPr>
              <a:t>数值</a:t>
            </a:r>
            <a:r>
              <a:rPr lang="zh-CN" altLang="en-US" u="sng" dirty="0">
                <a:solidFill>
                  <a:schemeClr val="tx1"/>
                </a:solidFill>
              </a:rPr>
              <a:t>分开运算</a:t>
            </a:r>
            <a:r>
              <a:rPr lang="zh-CN" altLang="en-US" dirty="0" smtClean="0">
                <a:solidFill>
                  <a:schemeClr val="tx1"/>
                </a:solidFill>
              </a:rPr>
              <a:t>，数值</a:t>
            </a:r>
            <a:r>
              <a:rPr lang="zh-CN" altLang="en-US" dirty="0">
                <a:solidFill>
                  <a:schemeClr val="tx1"/>
                </a:solidFill>
              </a:rPr>
              <a:t>相乘</a:t>
            </a:r>
            <a:r>
              <a:rPr lang="zh-CN" altLang="en-US" dirty="0" smtClean="0">
                <a:solidFill>
                  <a:schemeClr val="tx1"/>
                </a:solidFill>
              </a:rPr>
              <a:t>为</a:t>
            </a:r>
            <a:r>
              <a:rPr lang="zh-CN" altLang="en-US" u="sng" dirty="0" smtClean="0">
                <a:solidFill>
                  <a:schemeClr val="tx1"/>
                </a:solidFill>
              </a:rPr>
              <a:t>无符号乘法</a:t>
            </a:r>
            <a:r>
              <a:rPr lang="en-US" altLang="zh-CN" sz="1800" dirty="0" smtClean="0">
                <a:solidFill>
                  <a:schemeClr val="tx1"/>
                </a:solidFill>
              </a:rPr>
              <a:t>(n-1</a:t>
            </a:r>
            <a:r>
              <a:rPr lang="zh-CN" altLang="en-US" sz="1800" dirty="0">
                <a:solidFill>
                  <a:schemeClr val="tx1"/>
                </a:solidFill>
              </a:rPr>
              <a:t>位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zh-CN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 bldLvl="0" animBg="1"/>
      <p:bldP spid="24" grpId="0" bldLvl="0" animBg="1"/>
      <p:bldP spid="27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1703512" y="1196752"/>
            <a:ext cx="3564680" cy="2538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</a:t>
            </a:r>
            <a:r>
              <a:rPr lang="en-US" altLang="zh-CN" sz="2200" dirty="0" smtClean="0">
                <a:solidFill>
                  <a:schemeClr val="accent2"/>
                </a:solidFill>
              </a:rPr>
              <a:t>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①加法器输出函数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>
                <a:solidFill>
                  <a:schemeClr val="accent2"/>
                </a:solidFill>
              </a:rPr>
              <a:t> </a:t>
            </a:r>
            <a:r>
              <a:rPr lang="en-US" altLang="zh-CN" sz="2200" dirty="0" smtClean="0">
                <a:solidFill>
                  <a:schemeClr val="accent2"/>
                </a:solidFill>
              </a:rPr>
              <a:t>  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加法器内部逻辑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accent2"/>
                </a:solidFill>
              </a:rPr>
              <a:t> 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②</a:t>
            </a:r>
            <a:r>
              <a:rPr lang="en-US" altLang="zh-CN" sz="2200" dirty="0" smtClean="0">
                <a:solidFill>
                  <a:schemeClr val="accent2"/>
                </a:solidFill>
              </a:rPr>
              <a:t>ALU</a:t>
            </a:r>
            <a:r>
              <a:rPr lang="zh-CN" altLang="en-US" sz="2200" dirty="0" smtClean="0">
                <a:solidFill>
                  <a:schemeClr val="accent2"/>
                </a:solidFill>
              </a:rPr>
              <a:t>输出函数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600"/>
              </a:spcBef>
            </a:pPr>
            <a:r>
              <a:rPr lang="en-US" altLang="zh-CN" sz="2200" dirty="0" smtClean="0">
                <a:solidFill>
                  <a:schemeClr val="accent2"/>
                </a:solidFill>
              </a:rPr>
              <a:t>      ALU</a:t>
            </a:r>
            <a:r>
              <a:rPr lang="zh-CN" altLang="en-US" sz="2200" dirty="0" smtClean="0">
                <a:solidFill>
                  <a:schemeClr val="accent2"/>
                </a:solidFill>
              </a:rPr>
              <a:t>内部逻辑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</p:txBody>
      </p:sp>
      <p:sp>
        <p:nvSpPr>
          <p:cNvPr id="34" name="Text Box 1015"/>
          <p:cNvSpPr txBox="1">
            <a:spLocks noChangeArrowheads="1"/>
          </p:cNvSpPr>
          <p:nvPr/>
        </p:nvSpPr>
        <p:spPr bwMode="auto">
          <a:xfrm>
            <a:off x="4439920" y="1196975"/>
            <a:ext cx="6315075" cy="2873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tx1"/>
                </a:solidFill>
              </a:rPr>
              <a:t>   op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1</a:t>
            </a:r>
            <a:r>
              <a:rPr lang="en-US" altLang="zh-CN" sz="2200" baseline="-18000" dirty="0" smtClean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0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00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01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*</a:t>
            </a:r>
            <a:r>
              <a:rPr lang="zh-CN" altLang="en-US" sz="2200" dirty="0" smtClean="0">
                <a:solidFill>
                  <a:schemeClr val="tx1"/>
                </a:solidFill>
              </a:rPr>
              <a:t>时，</a:t>
            </a:r>
            <a:r>
              <a:rPr lang="en-US" altLang="zh-CN" sz="2200" dirty="0" smtClean="0">
                <a:solidFill>
                  <a:schemeClr val="tx1"/>
                </a:solidFill>
              </a:rPr>
              <a:t>Z</a:t>
            </a:r>
            <a:r>
              <a:rPr lang="zh-CN" altLang="en-US" sz="2200" dirty="0" smtClean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A&amp;B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A</a:t>
            </a:r>
            <a:r>
              <a:rPr lang="zh-CN" altLang="zh-CN" sz="2200" dirty="0">
                <a:solidFill>
                  <a:schemeClr val="tx1"/>
                </a:solidFill>
              </a:rPr>
              <a:t>⊕</a:t>
            </a:r>
            <a:r>
              <a:rPr lang="en-US" altLang="zh-CN" sz="2200" dirty="0" smtClean="0">
                <a:solidFill>
                  <a:schemeClr val="tx1"/>
                </a:solidFill>
              </a:rPr>
              <a:t>B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smtClean="0">
                <a:solidFill>
                  <a:schemeClr val="tx1"/>
                </a:solidFill>
              </a:rPr>
              <a:t>A+B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tx1"/>
                </a:solidFill>
              </a:rPr>
              <a:t>   </a:t>
            </a:r>
            <a:r>
              <a:rPr lang="zh-CN" altLang="en-US" sz="2200" u="sng" dirty="0" smtClean="0">
                <a:solidFill>
                  <a:schemeClr val="tx1"/>
                </a:solidFill>
              </a:rPr>
              <a:t>逻辑运算</a:t>
            </a:r>
            <a:r>
              <a:rPr lang="zh-CN" altLang="en-US" sz="2200" dirty="0" smtClean="0">
                <a:solidFill>
                  <a:schemeClr val="tx1"/>
                </a:solidFill>
              </a:rPr>
              <a:t>复用</a:t>
            </a:r>
            <a:r>
              <a:rPr lang="zh-CN" altLang="en-US" sz="2200" u="sng" dirty="0" smtClean="0">
                <a:solidFill>
                  <a:schemeClr val="tx1"/>
                </a:solidFill>
              </a:rPr>
              <a:t>加法运算</a:t>
            </a:r>
            <a:r>
              <a:rPr lang="zh-CN" altLang="en-US" sz="2200" dirty="0" smtClean="0">
                <a:solidFill>
                  <a:schemeClr val="tx1"/>
                </a:solidFill>
              </a:rPr>
              <a:t>结果</a:t>
            </a: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endParaRPr lang="zh-CN" altLang="en-US" sz="2200" u="sng" spc="-50" dirty="0" smtClean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200" u="sng" spc="-50" dirty="0" smtClean="0">
                <a:solidFill>
                  <a:schemeClr val="tx1"/>
                </a:solidFill>
              </a:rPr>
              <a:t>算术运算</a:t>
            </a:r>
            <a:r>
              <a:rPr lang="zh-CN" altLang="en-US" sz="2200" spc="-50" dirty="0" smtClean="0">
                <a:solidFill>
                  <a:schemeClr val="tx1"/>
                </a:solidFill>
              </a:rPr>
              <a:t>增加数据源，</a:t>
            </a:r>
            <a:r>
              <a:rPr lang="zh-CN" altLang="en-US" sz="2200" u="sng" spc="-50" dirty="0" smtClean="0">
                <a:solidFill>
                  <a:schemeClr val="tx1"/>
                </a:solidFill>
              </a:rPr>
              <a:t>逻辑运算</a:t>
            </a:r>
            <a:r>
              <a:rPr lang="zh-CN" altLang="en-US" sz="2200" spc="-50" dirty="0">
                <a:solidFill>
                  <a:schemeClr val="tx1"/>
                </a:solidFill>
              </a:rPr>
              <a:t>复用</a:t>
            </a:r>
            <a:r>
              <a:rPr lang="zh-CN" altLang="en-US" sz="2200" spc="-50" dirty="0" smtClean="0">
                <a:solidFill>
                  <a:schemeClr val="tx1"/>
                </a:solidFill>
              </a:rPr>
              <a:t>加法器</a:t>
            </a:r>
            <a:endParaRPr lang="en-US" altLang="zh-CN" sz="2200" spc="-50" dirty="0" smtClean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spc="-50" dirty="0" smtClean="0">
                <a:solidFill>
                  <a:schemeClr val="tx1"/>
                </a:solidFill>
              </a:rPr>
              <a:t> </a:t>
            </a:r>
            <a:r>
              <a:rPr lang="en-US" altLang="zh-CN" sz="1600" spc="-50" dirty="0" smtClean="0">
                <a:solidFill>
                  <a:schemeClr val="tx1"/>
                </a:solidFill>
              </a:rPr>
              <a:t>           </a:t>
            </a:r>
            <a:r>
              <a:rPr lang="en-US" altLang="zh-CN" sz="1600" spc="-50" dirty="0" smtClean="0">
                <a:solidFill>
                  <a:schemeClr val="tx1"/>
                </a:solidFill>
              </a:rPr>
              <a:t>(</a:t>
            </a:r>
            <a:r>
              <a:rPr lang="zh-CN" altLang="en-US" sz="1600" spc="-50" dirty="0">
                <a:solidFill>
                  <a:schemeClr val="tx1"/>
                </a:solidFill>
              </a:rPr>
              <a:t>入端为</a:t>
            </a:r>
            <a:r>
              <a:rPr lang="en-US" altLang="zh-CN" sz="1600" spc="-50" dirty="0" smtClean="0">
                <a:solidFill>
                  <a:schemeClr val="tx1"/>
                </a:solidFill>
              </a:rPr>
              <a:t>A</a:t>
            </a:r>
            <a:r>
              <a:rPr lang="zh-CN" altLang="en-US" sz="1600" spc="-50" dirty="0" smtClean="0">
                <a:solidFill>
                  <a:schemeClr val="tx1"/>
                </a:solidFill>
              </a:rPr>
              <a:t>、</a:t>
            </a:r>
            <a:r>
              <a:rPr lang="en-US" altLang="zh-CN" sz="1600" spc="-50" dirty="0" smtClean="0">
                <a:solidFill>
                  <a:schemeClr val="tx1"/>
                </a:solidFill>
              </a:rPr>
              <a:t>B/1)                 </a:t>
            </a:r>
            <a:r>
              <a:rPr lang="en-US" altLang="zh-CN" sz="1600" spc="-50" dirty="0" smtClean="0">
                <a:solidFill>
                  <a:schemeClr val="tx1"/>
                </a:solidFill>
              </a:rPr>
              <a:t>(</a:t>
            </a:r>
            <a:r>
              <a:rPr lang="zh-CN" altLang="en-US" sz="1600" spc="-50" dirty="0" smtClean="0">
                <a:solidFill>
                  <a:schemeClr val="tx1"/>
                </a:solidFill>
              </a:rPr>
              <a:t>入端为</a:t>
            </a:r>
            <a:r>
              <a:rPr lang="en-US" altLang="zh-CN" sz="1600" spc="-50" dirty="0" smtClean="0">
                <a:solidFill>
                  <a:schemeClr val="tx1"/>
                </a:solidFill>
              </a:rPr>
              <a:t>A</a:t>
            </a:r>
            <a:r>
              <a:rPr lang="zh-CN" altLang="en-US" sz="1600" spc="-50" dirty="0" smtClean="0">
                <a:solidFill>
                  <a:schemeClr val="tx1"/>
                </a:solidFill>
              </a:rPr>
              <a:t>、</a:t>
            </a:r>
            <a:r>
              <a:rPr lang="en-US" altLang="zh-CN" sz="1600" spc="-50" dirty="0" smtClean="0">
                <a:solidFill>
                  <a:schemeClr val="tx1"/>
                </a:solidFill>
              </a:rPr>
              <a:t>B</a:t>
            </a:r>
            <a:r>
              <a:rPr lang="en-US" altLang="zh-CN" sz="1600" spc="-50" dirty="0" smtClean="0">
                <a:solidFill>
                  <a:schemeClr val="tx1"/>
                </a:solidFill>
              </a:rPr>
              <a:t>)</a:t>
            </a:r>
            <a:endParaRPr lang="zh-CN" altLang="en-US" sz="2000" spc="-50" dirty="0">
              <a:solidFill>
                <a:schemeClr val="tx1"/>
              </a:solidFill>
            </a:endParaRPr>
          </a:p>
        </p:txBody>
      </p:sp>
      <p:grpSp>
        <p:nvGrpSpPr>
          <p:cNvPr id="188" name="组合 187"/>
          <p:cNvGrpSpPr/>
          <p:nvPr/>
        </p:nvGrpSpPr>
        <p:grpSpPr>
          <a:xfrm>
            <a:off x="2063552" y="4021068"/>
            <a:ext cx="3960704" cy="2232232"/>
            <a:chOff x="683608" y="3501008"/>
            <a:chExt cx="3960704" cy="2232232"/>
          </a:xfrm>
        </p:grpSpPr>
        <p:sp>
          <p:nvSpPr>
            <p:cNvPr id="189" name="Rectangle 403"/>
            <p:cNvSpPr>
              <a:spLocks noChangeArrowheads="1"/>
            </p:cNvSpPr>
            <p:nvPr/>
          </p:nvSpPr>
          <p:spPr bwMode="auto">
            <a:xfrm>
              <a:off x="1187936" y="3861024"/>
              <a:ext cx="2952328" cy="151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0" name="Rectangle 403"/>
            <p:cNvSpPr>
              <a:spLocks noChangeArrowheads="1"/>
            </p:cNvSpPr>
            <p:nvPr/>
          </p:nvSpPr>
          <p:spPr bwMode="auto">
            <a:xfrm>
              <a:off x="1259944" y="3933032"/>
              <a:ext cx="1224000" cy="136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1" name="Line 420"/>
            <p:cNvSpPr>
              <a:spLocks noChangeShapeType="1"/>
            </p:cNvSpPr>
            <p:nvPr/>
          </p:nvSpPr>
          <p:spPr bwMode="auto">
            <a:xfrm flipV="1">
              <a:off x="2052032" y="386102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Line 420"/>
            <p:cNvSpPr>
              <a:spLocks noChangeShapeType="1"/>
            </p:cNvSpPr>
            <p:nvPr/>
          </p:nvSpPr>
          <p:spPr bwMode="auto">
            <a:xfrm flipV="1">
              <a:off x="2268056" y="386102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Line 430"/>
            <p:cNvSpPr>
              <a:spLocks noChangeShapeType="1"/>
            </p:cNvSpPr>
            <p:nvPr/>
          </p:nvSpPr>
          <p:spPr bwMode="auto">
            <a:xfrm flipH="1" flipV="1">
              <a:off x="1187936" y="4437088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94" name="Line 420"/>
            <p:cNvSpPr>
              <a:spLocks noChangeShapeType="1"/>
            </p:cNvSpPr>
            <p:nvPr/>
          </p:nvSpPr>
          <p:spPr bwMode="auto">
            <a:xfrm flipV="1">
              <a:off x="1979752" y="5229200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Rectangle 403"/>
            <p:cNvSpPr>
              <a:spLocks noChangeArrowheads="1"/>
            </p:cNvSpPr>
            <p:nvPr/>
          </p:nvSpPr>
          <p:spPr bwMode="auto">
            <a:xfrm>
              <a:off x="2844120" y="3933032"/>
              <a:ext cx="1224000" cy="136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" name="Line 420"/>
            <p:cNvSpPr>
              <a:spLocks noChangeShapeType="1"/>
            </p:cNvSpPr>
            <p:nvPr/>
          </p:nvSpPr>
          <p:spPr bwMode="auto">
            <a:xfrm flipV="1">
              <a:off x="3636272" y="386102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426"/>
            <p:cNvSpPr>
              <a:spLocks noChangeShapeType="1"/>
            </p:cNvSpPr>
            <p:nvPr/>
          </p:nvSpPr>
          <p:spPr bwMode="auto">
            <a:xfrm flipH="1" flipV="1">
              <a:off x="3420248" y="4437088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Line 420"/>
            <p:cNvSpPr>
              <a:spLocks noChangeShapeType="1"/>
            </p:cNvSpPr>
            <p:nvPr/>
          </p:nvSpPr>
          <p:spPr bwMode="auto">
            <a:xfrm flipV="1">
              <a:off x="3852296" y="386102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420"/>
            <p:cNvSpPr>
              <a:spLocks noChangeShapeType="1"/>
            </p:cNvSpPr>
            <p:nvPr/>
          </p:nvSpPr>
          <p:spPr bwMode="auto">
            <a:xfrm flipV="1">
              <a:off x="3563888" y="522916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430"/>
            <p:cNvSpPr>
              <a:spLocks noChangeShapeType="1"/>
            </p:cNvSpPr>
            <p:nvPr/>
          </p:nvSpPr>
          <p:spPr bwMode="auto">
            <a:xfrm flipH="1" flipV="1">
              <a:off x="2484080" y="4437088"/>
              <a:ext cx="7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01" name="Line 430"/>
            <p:cNvSpPr>
              <a:spLocks noChangeShapeType="1"/>
            </p:cNvSpPr>
            <p:nvPr/>
          </p:nvSpPr>
          <p:spPr bwMode="auto">
            <a:xfrm flipH="1" flipV="1">
              <a:off x="2772112" y="4437088"/>
              <a:ext cx="7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02" name="Text Box 408"/>
            <p:cNvSpPr txBox="1">
              <a:spLocks noChangeArrowheads="1"/>
            </p:cNvSpPr>
            <p:nvPr/>
          </p:nvSpPr>
          <p:spPr bwMode="auto">
            <a:xfrm>
              <a:off x="2556112" y="4293072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aseline="-20000" dirty="0" smtClean="0">
                  <a:solidFill>
                    <a:schemeClr val="tx1"/>
                  </a:solidFill>
                </a:rPr>
                <a:t>…</a:t>
              </a:r>
              <a:endParaRPr lang="en-US" altLang="zh-CN" sz="1600" baseline="-20000" dirty="0">
                <a:solidFill>
                  <a:schemeClr val="tx1"/>
                </a:solidFill>
              </a:endParaRPr>
            </a:p>
          </p:txBody>
        </p:sp>
        <p:sp>
          <p:nvSpPr>
            <p:cNvPr id="203" name="Line 430"/>
            <p:cNvSpPr>
              <a:spLocks noChangeShapeType="1"/>
            </p:cNvSpPr>
            <p:nvPr/>
          </p:nvSpPr>
          <p:spPr bwMode="auto">
            <a:xfrm flipH="1" flipV="1">
              <a:off x="4140280" y="4437112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04" name="Line 430"/>
            <p:cNvSpPr>
              <a:spLocks noChangeShapeType="1"/>
            </p:cNvSpPr>
            <p:nvPr/>
          </p:nvSpPr>
          <p:spPr bwMode="auto">
            <a:xfrm flipH="1" flipV="1">
              <a:off x="1043920" y="4437112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05" name="Line 420"/>
            <p:cNvSpPr>
              <a:spLocks noChangeShapeType="1"/>
            </p:cNvSpPr>
            <p:nvPr/>
          </p:nvSpPr>
          <p:spPr bwMode="auto">
            <a:xfrm>
              <a:off x="2052032" y="371700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Line 420"/>
            <p:cNvSpPr>
              <a:spLocks noChangeShapeType="1"/>
            </p:cNvSpPr>
            <p:nvPr/>
          </p:nvSpPr>
          <p:spPr bwMode="auto">
            <a:xfrm>
              <a:off x="2268056" y="371700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Line 420"/>
            <p:cNvSpPr>
              <a:spLocks noChangeShapeType="1"/>
            </p:cNvSpPr>
            <p:nvPr/>
          </p:nvSpPr>
          <p:spPr bwMode="auto">
            <a:xfrm>
              <a:off x="3636208" y="371700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420"/>
            <p:cNvSpPr>
              <a:spLocks noChangeShapeType="1"/>
            </p:cNvSpPr>
            <p:nvPr/>
          </p:nvSpPr>
          <p:spPr bwMode="auto">
            <a:xfrm>
              <a:off x="3852232" y="3717008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420"/>
            <p:cNvSpPr>
              <a:spLocks noChangeShapeType="1"/>
            </p:cNvSpPr>
            <p:nvPr/>
          </p:nvSpPr>
          <p:spPr bwMode="auto">
            <a:xfrm>
              <a:off x="1979776" y="5373216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420"/>
            <p:cNvSpPr>
              <a:spLocks noChangeShapeType="1"/>
            </p:cNvSpPr>
            <p:nvPr/>
          </p:nvSpPr>
          <p:spPr bwMode="auto">
            <a:xfrm>
              <a:off x="3563888" y="537319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430"/>
            <p:cNvSpPr>
              <a:spLocks noChangeShapeType="1"/>
            </p:cNvSpPr>
            <p:nvPr/>
          </p:nvSpPr>
          <p:spPr bwMode="auto">
            <a:xfrm flipH="1" flipV="1">
              <a:off x="4140280" y="4941168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12" name="Text Box 408"/>
            <p:cNvSpPr txBox="1">
              <a:spLocks noChangeArrowheads="1"/>
            </p:cNvSpPr>
            <p:nvPr/>
          </p:nvSpPr>
          <p:spPr bwMode="auto">
            <a:xfrm>
              <a:off x="4284280" y="4298508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</a:rPr>
                <a:t>in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3" name="Text Box 408"/>
            <p:cNvSpPr txBox="1">
              <a:spLocks noChangeArrowheads="1"/>
            </p:cNvSpPr>
            <p:nvPr/>
          </p:nvSpPr>
          <p:spPr bwMode="auto">
            <a:xfrm>
              <a:off x="683608" y="4298508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</a:rPr>
                <a:t>out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4" name="Text Box 408"/>
            <p:cNvSpPr txBox="1">
              <a:spLocks noChangeArrowheads="1"/>
            </p:cNvSpPr>
            <p:nvPr/>
          </p:nvSpPr>
          <p:spPr bwMode="auto">
            <a:xfrm>
              <a:off x="3492192" y="3501008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5" name="Text Box 408"/>
            <p:cNvSpPr txBox="1">
              <a:spLocks noChangeArrowheads="1"/>
            </p:cNvSpPr>
            <p:nvPr/>
          </p:nvSpPr>
          <p:spPr bwMode="auto">
            <a:xfrm>
              <a:off x="1908016" y="3501008"/>
              <a:ext cx="50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7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7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6" name="Text Box 408"/>
            <p:cNvSpPr txBox="1">
              <a:spLocks noChangeArrowheads="1"/>
            </p:cNvSpPr>
            <p:nvPr/>
          </p:nvSpPr>
          <p:spPr bwMode="auto">
            <a:xfrm>
              <a:off x="1907768" y="5517240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Z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7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7" name="Text Box 408"/>
            <p:cNvSpPr txBox="1">
              <a:spLocks noChangeArrowheads="1"/>
            </p:cNvSpPr>
            <p:nvPr/>
          </p:nvSpPr>
          <p:spPr bwMode="auto">
            <a:xfrm>
              <a:off x="3491904" y="5517232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Z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8" name="Text Box 408"/>
            <p:cNvSpPr txBox="1">
              <a:spLocks noChangeArrowheads="1"/>
            </p:cNvSpPr>
            <p:nvPr/>
          </p:nvSpPr>
          <p:spPr bwMode="auto">
            <a:xfrm>
              <a:off x="4284312" y="479715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19" name="Text Box 408"/>
            <p:cNvSpPr txBox="1">
              <a:spLocks noChangeArrowheads="1"/>
            </p:cNvSpPr>
            <p:nvPr/>
          </p:nvSpPr>
          <p:spPr bwMode="auto">
            <a:xfrm>
              <a:off x="2555816" y="3573016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aseline="-20000" dirty="0" smtClean="0">
                  <a:solidFill>
                    <a:schemeClr val="tx1"/>
                  </a:solidFill>
                </a:rPr>
                <a:t>…</a:t>
              </a:r>
              <a:endParaRPr lang="en-US" altLang="zh-CN" sz="1600" baseline="-20000" dirty="0">
                <a:solidFill>
                  <a:schemeClr val="tx1"/>
                </a:solidFill>
              </a:endParaRPr>
            </a:p>
          </p:txBody>
        </p:sp>
        <p:sp>
          <p:nvSpPr>
            <p:cNvPr id="220" name="Text Box 408"/>
            <p:cNvSpPr txBox="1">
              <a:spLocks noChangeArrowheads="1"/>
            </p:cNvSpPr>
            <p:nvPr/>
          </p:nvSpPr>
          <p:spPr bwMode="auto">
            <a:xfrm>
              <a:off x="2555840" y="5373216"/>
              <a:ext cx="21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aseline="-20000" dirty="0" smtClean="0">
                  <a:solidFill>
                    <a:schemeClr val="tx1"/>
                  </a:solidFill>
                </a:rPr>
                <a:t>…</a:t>
              </a:r>
              <a:endParaRPr lang="en-US" altLang="zh-CN" sz="1600" baseline="-20000" dirty="0">
                <a:solidFill>
                  <a:schemeClr val="tx1"/>
                </a:solidFill>
              </a:endParaRPr>
            </a:p>
          </p:txBody>
        </p:sp>
        <p:sp>
          <p:nvSpPr>
            <p:cNvPr id="221" name="Text Box 408"/>
            <p:cNvSpPr txBox="1">
              <a:spLocks noChangeArrowheads="1"/>
            </p:cNvSpPr>
            <p:nvPr/>
          </p:nvSpPr>
          <p:spPr bwMode="auto">
            <a:xfrm>
              <a:off x="4284008" y="501315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1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22" name="Line 430"/>
            <p:cNvSpPr>
              <a:spLocks noChangeShapeType="1"/>
            </p:cNvSpPr>
            <p:nvPr/>
          </p:nvSpPr>
          <p:spPr bwMode="auto">
            <a:xfrm flipH="1" flipV="1">
              <a:off x="4139992" y="5157168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99"/>
          <p:cNvSpPr txBox="1">
            <a:spLocks noChangeArrowheads="1"/>
          </p:cNvSpPr>
          <p:nvPr/>
        </p:nvSpPr>
        <p:spPr bwMode="auto">
          <a:xfrm>
            <a:off x="1703512" y="332656"/>
            <a:ext cx="8784975" cy="1106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dirty="0" smtClean="0">
                <a:solidFill>
                  <a:srgbClr val="990099"/>
                </a:solidFill>
              </a:rPr>
              <a:t>    例</a:t>
            </a:r>
            <a:r>
              <a:rPr lang="en-US" altLang="zh-CN" sz="2200" dirty="0" smtClean="0">
                <a:solidFill>
                  <a:srgbClr val="990099"/>
                </a:solidFill>
              </a:rPr>
              <a:t>2</a:t>
            </a:r>
            <a:r>
              <a:rPr lang="zh-CN" altLang="en-US" sz="2200" dirty="0" smtClean="0">
                <a:solidFill>
                  <a:srgbClr val="990099"/>
                </a:solidFill>
              </a:rPr>
              <a:t>：</a:t>
            </a:r>
            <a:r>
              <a:rPr lang="zh-CN" altLang="zh-CN" sz="2200" dirty="0">
                <a:solidFill>
                  <a:srgbClr val="0070C0"/>
                </a:solidFill>
              </a:rPr>
              <a:t>设计</a:t>
            </a:r>
            <a:r>
              <a:rPr lang="zh-CN" altLang="zh-CN" sz="2200" dirty="0">
                <a:solidFill>
                  <a:schemeClr val="tx1"/>
                </a:solidFill>
              </a:rPr>
              <a:t>支持</a:t>
            </a:r>
            <a:r>
              <a:rPr lang="en-US" altLang="zh-CN" sz="2200" dirty="0">
                <a:solidFill>
                  <a:schemeClr val="tx1"/>
                </a:solidFill>
              </a:rPr>
              <a:t>A&amp;B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A</a:t>
            </a:r>
            <a:r>
              <a:rPr lang="zh-CN" altLang="zh-CN" sz="2200" dirty="0">
                <a:solidFill>
                  <a:schemeClr val="tx1"/>
                </a:solidFill>
              </a:rPr>
              <a:t>⊕</a:t>
            </a:r>
            <a:r>
              <a:rPr lang="en-US" altLang="zh-CN" sz="2200" dirty="0" smtClean="0">
                <a:solidFill>
                  <a:schemeClr val="tx1"/>
                </a:solidFill>
              </a:rPr>
              <a:t>B</a:t>
            </a:r>
            <a:r>
              <a:rPr lang="zh-CN" altLang="zh-CN" sz="2200" dirty="0" smtClean="0">
                <a:solidFill>
                  <a:schemeClr val="tx1"/>
                </a:solidFill>
              </a:rPr>
              <a:t>的</a:t>
            </a:r>
            <a:r>
              <a:rPr lang="en-US" altLang="zh-CN" sz="2200" dirty="0" smtClean="0">
                <a:solidFill>
                  <a:schemeClr val="tx1"/>
                </a:solidFill>
              </a:rPr>
              <a:t>8</a:t>
            </a:r>
            <a:r>
              <a:rPr lang="zh-CN" altLang="en-US" sz="2200" dirty="0" smtClean="0">
                <a:solidFill>
                  <a:schemeClr val="tx1"/>
                </a:solidFill>
              </a:rPr>
              <a:t>位加法器；</a:t>
            </a:r>
            <a:r>
              <a:rPr lang="zh-CN" altLang="zh-CN" sz="2200" dirty="0" smtClean="0">
                <a:solidFill>
                  <a:schemeClr val="tx1"/>
                </a:solidFill>
              </a:rPr>
              <a:t>基于</a:t>
            </a:r>
            <a:r>
              <a:rPr lang="zh-CN" altLang="en-US" sz="2200" dirty="0" smtClean="0">
                <a:solidFill>
                  <a:schemeClr val="tx1"/>
                </a:solidFill>
              </a:rPr>
              <a:t>上述</a:t>
            </a:r>
            <a:r>
              <a:rPr lang="zh-CN" altLang="zh-CN" sz="2200" dirty="0" smtClean="0">
                <a:solidFill>
                  <a:schemeClr val="tx1"/>
                </a:solidFill>
              </a:rPr>
              <a:t>加法</a:t>
            </a:r>
            <a:r>
              <a:rPr lang="zh-CN" altLang="en-US" sz="2200" dirty="0" smtClean="0">
                <a:solidFill>
                  <a:schemeClr val="tx1"/>
                </a:solidFill>
              </a:rPr>
              <a:t>器</a:t>
            </a:r>
            <a:r>
              <a:rPr lang="zh-CN" altLang="zh-CN" sz="2200" dirty="0" smtClean="0">
                <a:solidFill>
                  <a:schemeClr val="tx1"/>
                </a:solidFill>
              </a:rPr>
              <a:t>，</a:t>
            </a:r>
            <a:r>
              <a:rPr lang="zh-CN" altLang="zh-CN" sz="2200" dirty="0" smtClean="0">
                <a:solidFill>
                  <a:srgbClr val="0070C0"/>
                </a:solidFill>
              </a:rPr>
              <a:t>设计</a:t>
            </a:r>
            <a:r>
              <a:rPr lang="zh-CN" altLang="en-US" sz="2200" dirty="0" smtClean="0">
                <a:solidFill>
                  <a:schemeClr val="tx1"/>
                </a:solidFill>
              </a:rPr>
              <a:t>支持</a:t>
            </a:r>
            <a:r>
              <a:rPr lang="en-US" altLang="zh-CN" sz="2200" dirty="0" smtClean="0">
                <a:solidFill>
                  <a:schemeClr val="tx1"/>
                </a:solidFill>
              </a:rPr>
              <a:t>A+B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A-B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A+1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A-1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A&amp;B</a:t>
            </a:r>
            <a:r>
              <a:rPr lang="zh-CN" altLang="zh-CN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A</a:t>
            </a:r>
            <a:r>
              <a:rPr lang="zh-CN" altLang="zh-CN" sz="2200" dirty="0">
                <a:solidFill>
                  <a:schemeClr val="tx1"/>
                </a:solidFill>
              </a:rPr>
              <a:t>⊕</a:t>
            </a:r>
            <a:r>
              <a:rPr lang="en-US" altLang="zh-CN" sz="2200" dirty="0">
                <a:solidFill>
                  <a:schemeClr val="tx1"/>
                </a:solidFill>
              </a:rPr>
              <a:t>B</a:t>
            </a:r>
            <a:r>
              <a:rPr lang="zh-CN" altLang="zh-CN" sz="2200" dirty="0" smtClean="0">
                <a:solidFill>
                  <a:schemeClr val="tx1"/>
                </a:solidFill>
              </a:rPr>
              <a:t>的</a:t>
            </a:r>
            <a:r>
              <a:rPr lang="en-US" altLang="zh-CN" sz="2200" dirty="0" smtClean="0">
                <a:solidFill>
                  <a:schemeClr val="tx1"/>
                </a:solidFill>
              </a:rPr>
              <a:t>8</a:t>
            </a:r>
            <a:r>
              <a:rPr lang="zh-CN" altLang="en-US" sz="2200" dirty="0" smtClean="0">
                <a:solidFill>
                  <a:schemeClr val="tx1"/>
                </a:solidFill>
              </a:rPr>
              <a:t>位</a:t>
            </a:r>
            <a:r>
              <a:rPr lang="en-US" altLang="zh-CN" sz="2200" dirty="0" smtClean="0">
                <a:solidFill>
                  <a:schemeClr val="tx1"/>
                </a:solidFill>
              </a:rPr>
              <a:t>ALU</a:t>
            </a:r>
            <a:r>
              <a:rPr lang="zh-CN" altLang="en-US" sz="2200" dirty="0" smtClean="0">
                <a:solidFill>
                  <a:schemeClr val="tx1"/>
                </a:solidFill>
              </a:rPr>
              <a:t>，产生</a:t>
            </a:r>
            <a:r>
              <a:rPr lang="en-US" altLang="zh-CN" sz="2200" dirty="0" err="1">
                <a:solidFill>
                  <a:schemeClr val="tx1"/>
                </a:solidFill>
              </a:rPr>
              <a:t>C</a:t>
            </a:r>
            <a:r>
              <a:rPr lang="en-US" altLang="zh-CN" sz="2200" baseline="-18000" dirty="0" err="1">
                <a:solidFill>
                  <a:schemeClr val="tx1"/>
                </a:solidFill>
              </a:rPr>
              <a:t>out</a:t>
            </a:r>
            <a:r>
              <a:rPr lang="zh-CN" altLang="en-US" sz="2200" dirty="0">
                <a:solidFill>
                  <a:schemeClr val="tx1"/>
                </a:solidFill>
              </a:rPr>
              <a:t>及</a:t>
            </a:r>
            <a:r>
              <a:rPr lang="en-US" altLang="zh-CN" sz="2200" dirty="0">
                <a:solidFill>
                  <a:schemeClr val="tx1"/>
                </a:solidFill>
              </a:rPr>
              <a:t>ZF/OF/SF</a:t>
            </a:r>
            <a:endParaRPr lang="en-US" altLang="zh-CN" sz="2200" dirty="0">
              <a:solidFill>
                <a:schemeClr val="tx1"/>
              </a:solidFill>
            </a:endParaRPr>
          </a:p>
        </p:txBody>
      </p:sp>
      <p:sp>
        <p:nvSpPr>
          <p:cNvPr id="35" name="Text Box 1015"/>
          <p:cNvSpPr txBox="1">
            <a:spLocks noChangeArrowheads="1"/>
          </p:cNvSpPr>
          <p:nvPr/>
        </p:nvSpPr>
        <p:spPr bwMode="auto">
          <a:xfrm>
            <a:off x="8184232" y="5965284"/>
            <a:ext cx="2466375" cy="57606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800" dirty="0" err="1">
                <a:solidFill>
                  <a:schemeClr val="tx1"/>
                </a:solidFill>
              </a:rPr>
              <a:t>C</a:t>
            </a:r>
            <a:r>
              <a:rPr lang="en-US" altLang="zh-CN" sz="1800" baseline="-18000" dirty="0" err="1">
                <a:solidFill>
                  <a:schemeClr val="tx1"/>
                </a:solidFill>
              </a:rPr>
              <a:t>out</a:t>
            </a:r>
            <a:r>
              <a:rPr lang="en-US" altLang="zh-CN" sz="1800" dirty="0">
                <a:solidFill>
                  <a:schemeClr val="tx1"/>
                </a:solidFill>
              </a:rPr>
              <a:t>=C7</a:t>
            </a:r>
            <a:r>
              <a:rPr lang="zh-CN" altLang="en-US" sz="1800" dirty="0">
                <a:solidFill>
                  <a:schemeClr val="tx1"/>
                </a:solidFill>
              </a:rPr>
              <a:t>，</a:t>
            </a: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OF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=(</a:t>
            </a:r>
            <a:r>
              <a:rPr lang="en-US" altLang="zh-CN" sz="1800" dirty="0">
                <a:solidFill>
                  <a:schemeClr val="tx1"/>
                </a:solidFill>
              </a:rPr>
              <a:t>C</a:t>
            </a:r>
            <a:r>
              <a:rPr lang="en-US" altLang="zh-CN" sz="1800" baseline="-18000" dirty="0">
                <a:solidFill>
                  <a:schemeClr val="tx1"/>
                </a:solidFill>
              </a:rPr>
              <a:t>7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</a:t>
            </a:r>
            <a:r>
              <a:rPr lang="en-US" altLang="zh-CN" sz="1800" dirty="0">
                <a:solidFill>
                  <a:schemeClr val="tx1"/>
                </a:solidFill>
              </a:rPr>
              <a:t>C</a:t>
            </a:r>
            <a:r>
              <a:rPr lang="en-US" altLang="zh-CN" sz="1800" baseline="-18000" dirty="0">
                <a:solidFill>
                  <a:schemeClr val="tx1"/>
                </a:solidFill>
              </a:rPr>
              <a:t>6</a:t>
            </a:r>
            <a:r>
              <a:rPr lang="en-US" altLang="zh-CN" sz="1800" dirty="0">
                <a:solidFill>
                  <a:schemeClr val="tx1"/>
                </a:solidFill>
                <a:sym typeface="Symbol" panose="05050102010706020507"/>
              </a:rPr>
              <a:t>)</a:t>
            </a:r>
            <a:r>
              <a:rPr lang="zh-CN" altLang="en-US" sz="1800" dirty="0" smtClean="0">
                <a:solidFill>
                  <a:schemeClr val="tx1"/>
                </a:solidFill>
                <a:sym typeface="Symbol" panose="05050102010706020507"/>
              </a:rPr>
              <a:t>，</a:t>
            </a:r>
            <a:endParaRPr lang="en-US" altLang="zh-CN" sz="1800" dirty="0" smtClean="0">
              <a:solidFill>
                <a:schemeClr val="tx1"/>
              </a:solidFill>
              <a:sym typeface="Symbol" panose="05050102010706020507"/>
            </a:endParaRPr>
          </a:p>
          <a:p>
            <a:pPr>
              <a:lnSpc>
                <a:spcPct val="100000"/>
              </a:lnSpc>
            </a:pPr>
            <a:r>
              <a:rPr lang="en-US" altLang="zh-CN" sz="1800" dirty="0" smtClean="0">
                <a:solidFill>
                  <a:schemeClr val="tx1"/>
                </a:solidFill>
                <a:sym typeface="Symbol" panose="05050102010706020507"/>
              </a:rPr>
              <a:t>SF=F</a:t>
            </a:r>
            <a:r>
              <a:rPr lang="en-US" altLang="zh-CN" sz="1800" baseline="-18000" dirty="0" smtClean="0">
                <a:solidFill>
                  <a:schemeClr val="tx1"/>
                </a:solidFill>
                <a:sym typeface="Symbol" panose="05050102010706020507"/>
              </a:rPr>
              <a:t>7</a:t>
            </a:r>
            <a:r>
              <a:rPr lang="zh-CN" altLang="en-US" sz="1800" dirty="0" smtClean="0">
                <a:solidFill>
                  <a:schemeClr val="tx1"/>
                </a:solidFill>
                <a:sym typeface="Symbol" panose="05050102010706020507"/>
              </a:rPr>
              <a:t>，</a:t>
            </a:r>
            <a:r>
              <a:rPr lang="en-US" altLang="zh-CN" sz="1800" dirty="0" smtClean="0">
                <a:solidFill>
                  <a:schemeClr val="tx1"/>
                </a:solidFill>
              </a:rPr>
              <a:t>ZF=</a:t>
            </a:r>
            <a:r>
              <a:rPr lang="en-US" altLang="zh-CN" sz="1800" dirty="0" smtClean="0">
                <a:solidFill>
                  <a:schemeClr val="tx1"/>
                </a:solidFill>
                <a:latin typeface="+mn-lt"/>
              </a:rPr>
              <a:t>~</a:t>
            </a:r>
            <a:r>
              <a:rPr lang="en-US" altLang="zh-CN" sz="1800" dirty="0" smtClean="0">
                <a:solidFill>
                  <a:schemeClr val="tx1"/>
                </a:solidFill>
              </a:rPr>
              <a:t>(F</a:t>
            </a:r>
            <a:r>
              <a:rPr lang="en-US" altLang="zh-CN" sz="1800" baseline="-18000" dirty="0">
                <a:solidFill>
                  <a:schemeClr val="tx1"/>
                </a:solidFill>
              </a:rPr>
              <a:t>7</a:t>
            </a:r>
            <a:r>
              <a:rPr lang="en-US" altLang="zh-CN" sz="1800" dirty="0" smtClean="0">
                <a:solidFill>
                  <a:schemeClr val="tx1"/>
                </a:solidFill>
              </a:rPr>
              <a:t>+…+F</a:t>
            </a:r>
            <a:r>
              <a:rPr lang="en-US" altLang="zh-CN" sz="1800" baseline="-18000" dirty="0">
                <a:solidFill>
                  <a:schemeClr val="tx1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graphicFrame>
        <p:nvGraphicFramePr>
          <p:cNvPr id="223" name="表格 22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737100" y="1924685"/>
          <a:ext cx="4968240" cy="15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935"/>
                <a:gridCol w="576580"/>
                <a:gridCol w="575945"/>
                <a:gridCol w="575945"/>
                <a:gridCol w="575945"/>
                <a:gridCol w="575945"/>
                <a:gridCol w="575945"/>
              </a:tblGrid>
              <a:tr h="309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100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101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15</a:t>
                      </a:r>
                      <a:r>
                        <a:rPr lang="en-US" altLang="zh-CN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A+B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A-B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A+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 smtClean="0">
                        <a:solidFill>
                          <a:srgbClr val="9900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A-</a:t>
                      </a:r>
                      <a:r>
                        <a:rPr lang="en-US" altLang="zh-CN" sz="18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800" b="1" dirty="0" smtClean="0">
                        <a:solidFill>
                          <a:srgbClr val="990099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A&amp;B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Symbol" panose="05050102010706020507"/>
                        </a:rPr>
                        <a:t>B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r>
                        <a:rPr lang="en-US" altLang="zh-CN" sz="1800" b="1" baseline="-18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out</a:t>
                      </a:r>
                      <a:endParaRPr lang="zh-CN" altLang="en-US" sz="18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加法器最高位进位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098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ZF/OF/SF</a:t>
                      </a:r>
                      <a:endParaRPr lang="zh-CN" altLang="en-US" sz="1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按运算结果形成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2856167" y="4669084"/>
            <a:ext cx="2663681" cy="864128"/>
            <a:chOff x="1476223" y="4221032"/>
            <a:chExt cx="2663681" cy="864128"/>
          </a:xfrm>
        </p:grpSpPr>
        <p:sp>
          <p:nvSpPr>
            <p:cNvPr id="138" name="Line 420"/>
            <p:cNvSpPr>
              <a:spLocks noChangeShapeType="1"/>
            </p:cNvSpPr>
            <p:nvPr/>
          </p:nvSpPr>
          <p:spPr bwMode="auto">
            <a:xfrm>
              <a:off x="1619984" y="4221032"/>
              <a:ext cx="57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420"/>
            <p:cNvSpPr>
              <a:spLocks noChangeShapeType="1"/>
            </p:cNvSpPr>
            <p:nvPr/>
          </p:nvSpPr>
          <p:spPr bwMode="auto">
            <a:xfrm>
              <a:off x="1908016" y="4581184"/>
              <a:ext cx="57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Line 420"/>
            <p:cNvSpPr>
              <a:spLocks noChangeShapeType="1"/>
            </p:cNvSpPr>
            <p:nvPr/>
          </p:nvSpPr>
          <p:spPr bwMode="auto">
            <a:xfrm>
              <a:off x="3204224" y="4221032"/>
              <a:ext cx="570" cy="72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420"/>
            <p:cNvSpPr>
              <a:spLocks noChangeShapeType="1"/>
            </p:cNvSpPr>
            <p:nvPr/>
          </p:nvSpPr>
          <p:spPr bwMode="auto">
            <a:xfrm>
              <a:off x="3492256" y="4581184"/>
              <a:ext cx="57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430"/>
            <p:cNvSpPr>
              <a:spLocks noChangeShapeType="1"/>
            </p:cNvSpPr>
            <p:nvPr/>
          </p:nvSpPr>
          <p:spPr bwMode="auto">
            <a:xfrm flipH="1" flipV="1">
              <a:off x="1979752" y="5013152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60" name="流程图: 手动操作 259"/>
            <p:cNvSpPr/>
            <p:nvPr/>
          </p:nvSpPr>
          <p:spPr bwMode="auto">
            <a:xfrm>
              <a:off x="1476223" y="4941160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64" name="Line 430"/>
            <p:cNvSpPr>
              <a:spLocks noChangeShapeType="1"/>
            </p:cNvSpPr>
            <p:nvPr/>
          </p:nvSpPr>
          <p:spPr bwMode="auto">
            <a:xfrm flipH="1" flipV="1">
              <a:off x="3563904" y="5013128"/>
              <a:ext cx="57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68" name="流程图: 手动操作 267"/>
            <p:cNvSpPr/>
            <p:nvPr/>
          </p:nvSpPr>
          <p:spPr bwMode="auto">
            <a:xfrm>
              <a:off x="3060375" y="4941136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69" name="AutoShape 406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 rot="10800000">
            <a:off x="667275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712020" y="4525100"/>
            <a:ext cx="2807916" cy="1224120"/>
            <a:chOff x="1332076" y="4365080"/>
            <a:chExt cx="2807916" cy="1224120"/>
          </a:xfrm>
        </p:grpSpPr>
        <p:sp>
          <p:nvSpPr>
            <p:cNvPr id="145" name="Line 426"/>
            <p:cNvSpPr>
              <a:spLocks noChangeShapeType="1"/>
            </p:cNvSpPr>
            <p:nvPr/>
          </p:nvSpPr>
          <p:spPr bwMode="auto">
            <a:xfrm flipH="1" flipV="1">
              <a:off x="1836008" y="4797128"/>
              <a:ext cx="64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Text Box 427"/>
            <p:cNvSpPr txBox="1">
              <a:spLocks noChangeArrowheads="1"/>
            </p:cNvSpPr>
            <p:nvPr/>
          </p:nvSpPr>
          <p:spPr bwMode="auto">
            <a:xfrm>
              <a:off x="1980024" y="4578934"/>
              <a:ext cx="360000" cy="1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=1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47" name="Line 420"/>
            <p:cNvSpPr>
              <a:spLocks noChangeShapeType="1"/>
            </p:cNvSpPr>
            <p:nvPr/>
          </p:nvSpPr>
          <p:spPr bwMode="auto">
            <a:xfrm flipV="1">
              <a:off x="2124040" y="4725120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420"/>
            <p:cNvSpPr>
              <a:spLocks noChangeShapeType="1"/>
            </p:cNvSpPr>
            <p:nvPr/>
          </p:nvSpPr>
          <p:spPr bwMode="auto">
            <a:xfrm>
              <a:off x="2340064" y="479710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Text Box 427"/>
            <p:cNvSpPr txBox="1">
              <a:spLocks noChangeArrowheads="1"/>
            </p:cNvSpPr>
            <p:nvPr/>
          </p:nvSpPr>
          <p:spPr bwMode="auto">
            <a:xfrm>
              <a:off x="2052032" y="4941144"/>
              <a:ext cx="360000" cy="14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>
                  <a:solidFill>
                    <a:schemeClr val="tx1"/>
                  </a:solidFill>
                </a:rPr>
                <a:t>=1</a:t>
              </a:r>
              <a:endParaRPr lang="en-US" altLang="zh-CN" sz="1400">
                <a:solidFill>
                  <a:schemeClr val="tx1"/>
                </a:solidFill>
              </a:endParaRPr>
            </a:p>
          </p:txBody>
        </p:sp>
        <p:sp>
          <p:nvSpPr>
            <p:cNvPr id="150" name="Text Box 418"/>
            <p:cNvSpPr txBox="1">
              <a:spLocks noChangeArrowheads="1"/>
            </p:cNvSpPr>
            <p:nvPr/>
          </p:nvSpPr>
          <p:spPr bwMode="auto">
            <a:xfrm>
              <a:off x="1332076" y="4437144"/>
              <a:ext cx="215900" cy="50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dirty="0">
                  <a:solidFill>
                    <a:schemeClr val="tx1"/>
                  </a:solidFill>
                </a:rPr>
                <a:t>≥1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151" name="Text Box 421"/>
            <p:cNvSpPr txBox="1">
              <a:spLocks noChangeArrowheads="1"/>
            </p:cNvSpPr>
            <p:nvPr/>
          </p:nvSpPr>
          <p:spPr bwMode="auto">
            <a:xfrm>
              <a:off x="1691545" y="4725120"/>
              <a:ext cx="144463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52" name="Line 430"/>
            <p:cNvSpPr>
              <a:spLocks noChangeShapeType="1"/>
            </p:cNvSpPr>
            <p:nvPr/>
          </p:nvSpPr>
          <p:spPr bwMode="auto">
            <a:xfrm flipH="1" flipV="1">
              <a:off x="1549117" y="4509096"/>
              <a:ext cx="142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3" name="Text Box 434"/>
            <p:cNvSpPr txBox="1">
              <a:spLocks noChangeArrowheads="1"/>
            </p:cNvSpPr>
            <p:nvPr/>
          </p:nvSpPr>
          <p:spPr bwMode="auto">
            <a:xfrm>
              <a:off x="1691992" y="4365080"/>
              <a:ext cx="144463" cy="2159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&amp;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54" name="Line 435"/>
            <p:cNvSpPr>
              <a:spLocks noChangeShapeType="1"/>
            </p:cNvSpPr>
            <p:nvPr/>
          </p:nvSpPr>
          <p:spPr bwMode="auto">
            <a:xfrm flipH="1" flipV="1">
              <a:off x="1836008" y="4437088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5" name="Line 435"/>
            <p:cNvSpPr>
              <a:spLocks noChangeShapeType="1"/>
            </p:cNvSpPr>
            <p:nvPr/>
          </p:nvSpPr>
          <p:spPr bwMode="auto">
            <a:xfrm flipH="1" flipV="1">
              <a:off x="1836008" y="4509096"/>
              <a:ext cx="43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6" name="Line 435"/>
            <p:cNvSpPr>
              <a:spLocks noChangeShapeType="1"/>
            </p:cNvSpPr>
            <p:nvPr/>
          </p:nvSpPr>
          <p:spPr bwMode="auto">
            <a:xfrm flipH="1" flipV="1">
              <a:off x="1836008" y="4869136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7" name="Line 430"/>
            <p:cNvSpPr>
              <a:spLocks noChangeShapeType="1"/>
            </p:cNvSpPr>
            <p:nvPr/>
          </p:nvSpPr>
          <p:spPr bwMode="auto">
            <a:xfrm flipH="1" flipV="1">
              <a:off x="1547976" y="4869136"/>
              <a:ext cx="142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8" name="Line 420"/>
            <p:cNvSpPr>
              <a:spLocks noChangeShapeType="1"/>
            </p:cNvSpPr>
            <p:nvPr/>
          </p:nvSpPr>
          <p:spPr bwMode="auto">
            <a:xfrm flipV="1">
              <a:off x="2196048" y="5085184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Text Box 427"/>
            <p:cNvSpPr txBox="1">
              <a:spLocks noChangeArrowheads="1"/>
            </p:cNvSpPr>
            <p:nvPr/>
          </p:nvSpPr>
          <p:spPr bwMode="auto">
            <a:xfrm>
              <a:off x="3564264" y="4578934"/>
              <a:ext cx="360000" cy="1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=1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62" name="Line 420"/>
            <p:cNvSpPr>
              <a:spLocks noChangeShapeType="1"/>
            </p:cNvSpPr>
            <p:nvPr/>
          </p:nvSpPr>
          <p:spPr bwMode="auto">
            <a:xfrm flipV="1">
              <a:off x="3708280" y="4725120"/>
              <a:ext cx="0" cy="21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420"/>
            <p:cNvSpPr>
              <a:spLocks noChangeShapeType="1"/>
            </p:cNvSpPr>
            <p:nvPr/>
          </p:nvSpPr>
          <p:spPr bwMode="auto">
            <a:xfrm>
              <a:off x="3924304" y="479710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Text Box 427"/>
            <p:cNvSpPr txBox="1">
              <a:spLocks noChangeArrowheads="1"/>
            </p:cNvSpPr>
            <p:nvPr/>
          </p:nvSpPr>
          <p:spPr bwMode="auto">
            <a:xfrm>
              <a:off x="3636272" y="4941144"/>
              <a:ext cx="360000" cy="14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>
                  <a:solidFill>
                    <a:schemeClr val="tx1"/>
                  </a:solidFill>
                </a:rPr>
                <a:t>=1</a:t>
              </a:r>
              <a:endParaRPr lang="en-US" altLang="zh-CN" sz="1400">
                <a:solidFill>
                  <a:schemeClr val="tx1"/>
                </a:solidFill>
              </a:endParaRPr>
            </a:p>
          </p:txBody>
        </p:sp>
        <p:sp>
          <p:nvSpPr>
            <p:cNvPr id="165" name="Text Box 418"/>
            <p:cNvSpPr txBox="1">
              <a:spLocks noChangeArrowheads="1"/>
            </p:cNvSpPr>
            <p:nvPr/>
          </p:nvSpPr>
          <p:spPr bwMode="auto">
            <a:xfrm>
              <a:off x="2916316" y="4437144"/>
              <a:ext cx="215900" cy="50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dirty="0">
                  <a:solidFill>
                    <a:schemeClr val="tx1"/>
                  </a:solidFill>
                </a:rPr>
                <a:t>≥1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166" name="Text Box 421"/>
            <p:cNvSpPr txBox="1">
              <a:spLocks noChangeArrowheads="1"/>
            </p:cNvSpPr>
            <p:nvPr/>
          </p:nvSpPr>
          <p:spPr bwMode="auto">
            <a:xfrm>
              <a:off x="3275785" y="4725120"/>
              <a:ext cx="144463" cy="2159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&amp;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67" name="Line 430"/>
            <p:cNvSpPr>
              <a:spLocks noChangeShapeType="1"/>
            </p:cNvSpPr>
            <p:nvPr/>
          </p:nvSpPr>
          <p:spPr bwMode="auto">
            <a:xfrm flipH="1" flipV="1">
              <a:off x="3133357" y="4509096"/>
              <a:ext cx="142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68" name="Text Box 434"/>
            <p:cNvSpPr txBox="1">
              <a:spLocks noChangeArrowheads="1"/>
            </p:cNvSpPr>
            <p:nvPr/>
          </p:nvSpPr>
          <p:spPr bwMode="auto">
            <a:xfrm>
              <a:off x="3276232" y="4365080"/>
              <a:ext cx="144463" cy="2159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&amp;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169" name="Line 435"/>
            <p:cNvSpPr>
              <a:spLocks noChangeShapeType="1"/>
            </p:cNvSpPr>
            <p:nvPr/>
          </p:nvSpPr>
          <p:spPr bwMode="auto">
            <a:xfrm flipH="1" flipV="1">
              <a:off x="3420248" y="4437088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0" name="Line 435"/>
            <p:cNvSpPr>
              <a:spLocks noChangeShapeType="1"/>
            </p:cNvSpPr>
            <p:nvPr/>
          </p:nvSpPr>
          <p:spPr bwMode="auto">
            <a:xfrm flipH="1" flipV="1">
              <a:off x="3420248" y="4509096"/>
              <a:ext cx="43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1" name="Line 435"/>
            <p:cNvSpPr>
              <a:spLocks noChangeShapeType="1"/>
            </p:cNvSpPr>
            <p:nvPr/>
          </p:nvSpPr>
          <p:spPr bwMode="auto">
            <a:xfrm flipH="1" flipV="1">
              <a:off x="3420248" y="4869136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2" name="Line 430"/>
            <p:cNvSpPr>
              <a:spLocks noChangeShapeType="1"/>
            </p:cNvSpPr>
            <p:nvPr/>
          </p:nvSpPr>
          <p:spPr bwMode="auto">
            <a:xfrm flipH="1" flipV="1">
              <a:off x="3132216" y="4869136"/>
              <a:ext cx="1428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3" name="Line 430"/>
            <p:cNvSpPr>
              <a:spLocks noChangeShapeType="1"/>
            </p:cNvSpPr>
            <p:nvPr/>
          </p:nvSpPr>
          <p:spPr bwMode="auto">
            <a:xfrm flipH="1" flipV="1">
              <a:off x="2844192" y="4797128"/>
              <a:ext cx="7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4" name="Line 420"/>
            <p:cNvSpPr>
              <a:spLocks noChangeShapeType="1"/>
            </p:cNvSpPr>
            <p:nvPr/>
          </p:nvSpPr>
          <p:spPr bwMode="auto">
            <a:xfrm flipV="1">
              <a:off x="3780288" y="5085184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Line 420"/>
            <p:cNvSpPr>
              <a:spLocks noChangeShapeType="1"/>
            </p:cNvSpPr>
            <p:nvPr/>
          </p:nvSpPr>
          <p:spPr bwMode="auto">
            <a:xfrm flipV="1">
              <a:off x="3780200" y="5085160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流程图: 手动操作 158"/>
            <p:cNvSpPr/>
            <p:nvPr/>
          </p:nvSpPr>
          <p:spPr bwMode="auto">
            <a:xfrm>
              <a:off x="1691792" y="5445200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0" name="Line 420"/>
            <p:cNvSpPr>
              <a:spLocks noChangeShapeType="1"/>
            </p:cNvSpPr>
            <p:nvPr/>
          </p:nvSpPr>
          <p:spPr bwMode="auto">
            <a:xfrm flipV="1">
              <a:off x="1763728" y="5373184"/>
              <a:ext cx="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Line 430"/>
            <p:cNvSpPr>
              <a:spLocks noChangeShapeType="1"/>
            </p:cNvSpPr>
            <p:nvPr/>
          </p:nvSpPr>
          <p:spPr bwMode="auto">
            <a:xfrm flipH="1" flipV="1">
              <a:off x="2195840" y="5517208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76" name="流程图: 手动操作 175"/>
            <p:cNvSpPr/>
            <p:nvPr/>
          </p:nvSpPr>
          <p:spPr bwMode="auto">
            <a:xfrm>
              <a:off x="3275944" y="5445176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7" name="Line 420"/>
            <p:cNvSpPr>
              <a:spLocks noChangeShapeType="1"/>
            </p:cNvSpPr>
            <p:nvPr/>
          </p:nvSpPr>
          <p:spPr bwMode="auto">
            <a:xfrm flipV="1">
              <a:off x="3347880" y="5373160"/>
              <a:ext cx="0" cy="7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Line 430"/>
            <p:cNvSpPr>
              <a:spLocks noChangeShapeType="1"/>
            </p:cNvSpPr>
            <p:nvPr/>
          </p:nvSpPr>
          <p:spPr bwMode="auto">
            <a:xfrm flipH="1" flipV="1">
              <a:off x="3779992" y="5517184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6240016" y="4021068"/>
            <a:ext cx="3672368" cy="2232248"/>
            <a:chOff x="4644008" y="2924968"/>
            <a:chExt cx="3672368" cy="2232248"/>
          </a:xfrm>
        </p:grpSpPr>
        <p:sp>
          <p:nvSpPr>
            <p:cNvPr id="179" name="Rectangle 403"/>
            <p:cNvSpPr>
              <a:spLocks noChangeArrowheads="1"/>
            </p:cNvSpPr>
            <p:nvPr/>
          </p:nvSpPr>
          <p:spPr bwMode="auto">
            <a:xfrm>
              <a:off x="5148328" y="3284984"/>
              <a:ext cx="2664000" cy="151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0" name="Line 191"/>
            <p:cNvSpPr>
              <a:spLocks noChangeShapeType="1"/>
            </p:cNvSpPr>
            <p:nvPr/>
          </p:nvSpPr>
          <p:spPr bwMode="auto">
            <a:xfrm flipH="1">
              <a:off x="5004072" y="3573040"/>
              <a:ext cx="28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Line 191"/>
            <p:cNvSpPr>
              <a:spLocks noChangeShapeType="1"/>
            </p:cNvSpPr>
            <p:nvPr/>
          </p:nvSpPr>
          <p:spPr bwMode="auto">
            <a:xfrm flipH="1">
              <a:off x="5004072" y="4509096"/>
              <a:ext cx="72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199"/>
            <p:cNvSpPr>
              <a:spLocks noChangeShapeType="1"/>
            </p:cNvSpPr>
            <p:nvPr/>
          </p:nvSpPr>
          <p:spPr bwMode="auto">
            <a:xfrm>
              <a:off x="6300192" y="4725192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199"/>
            <p:cNvSpPr>
              <a:spLocks noChangeShapeType="1"/>
            </p:cNvSpPr>
            <p:nvPr/>
          </p:nvSpPr>
          <p:spPr bwMode="auto">
            <a:xfrm>
              <a:off x="6300192" y="314098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199"/>
            <p:cNvSpPr>
              <a:spLocks noChangeShapeType="1"/>
            </p:cNvSpPr>
            <p:nvPr/>
          </p:nvSpPr>
          <p:spPr bwMode="auto">
            <a:xfrm>
              <a:off x="5940152" y="314098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Line 191"/>
            <p:cNvSpPr>
              <a:spLocks noChangeShapeType="1"/>
            </p:cNvSpPr>
            <p:nvPr/>
          </p:nvSpPr>
          <p:spPr bwMode="auto">
            <a:xfrm flipH="1">
              <a:off x="5004072" y="4005088"/>
              <a:ext cx="28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Line 191"/>
            <p:cNvSpPr>
              <a:spLocks noChangeShapeType="1"/>
            </p:cNvSpPr>
            <p:nvPr/>
          </p:nvSpPr>
          <p:spPr bwMode="auto">
            <a:xfrm flipH="1">
              <a:off x="5004072" y="4221112"/>
              <a:ext cx="288000" cy="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Text Box 408"/>
            <p:cNvSpPr txBox="1">
              <a:spLocks noChangeArrowheads="1"/>
            </p:cNvSpPr>
            <p:nvPr/>
          </p:nvSpPr>
          <p:spPr bwMode="auto">
            <a:xfrm>
              <a:off x="4716048" y="3429024"/>
              <a:ext cx="288000" cy="86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ZF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 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OF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SF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262" name="Text Box 408"/>
            <p:cNvSpPr txBox="1">
              <a:spLocks noChangeArrowheads="1"/>
            </p:cNvSpPr>
            <p:nvPr/>
          </p:nvSpPr>
          <p:spPr bwMode="auto">
            <a:xfrm>
              <a:off x="4644008" y="436508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</a:rPr>
                <a:t>out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63" name="Text Box 408"/>
            <p:cNvSpPr txBox="1">
              <a:spLocks noChangeArrowheads="1"/>
            </p:cNvSpPr>
            <p:nvPr/>
          </p:nvSpPr>
          <p:spPr bwMode="auto">
            <a:xfrm>
              <a:off x="5868232" y="2924968"/>
              <a:ext cx="575944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 </a:t>
              </a:r>
              <a:r>
                <a:rPr lang="en-US" altLang="zh-CN" sz="14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265" name="Text Box 408"/>
            <p:cNvSpPr txBox="1">
              <a:spLocks noChangeArrowheads="1"/>
            </p:cNvSpPr>
            <p:nvPr/>
          </p:nvSpPr>
          <p:spPr bwMode="auto">
            <a:xfrm>
              <a:off x="6156208" y="4941216"/>
              <a:ext cx="28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F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266" name="Text Box 408"/>
            <p:cNvSpPr txBox="1">
              <a:spLocks noChangeArrowheads="1"/>
            </p:cNvSpPr>
            <p:nvPr/>
          </p:nvSpPr>
          <p:spPr bwMode="auto">
            <a:xfrm>
              <a:off x="7956336" y="3861024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67" name="Line 430"/>
            <p:cNvSpPr>
              <a:spLocks noChangeShapeType="1"/>
            </p:cNvSpPr>
            <p:nvPr/>
          </p:nvSpPr>
          <p:spPr bwMode="auto">
            <a:xfrm flipH="1" flipV="1">
              <a:off x="7812320" y="400504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70" name="Text Box 408"/>
            <p:cNvSpPr txBox="1">
              <a:spLocks noChangeArrowheads="1"/>
            </p:cNvSpPr>
            <p:nvPr/>
          </p:nvSpPr>
          <p:spPr bwMode="auto">
            <a:xfrm>
              <a:off x="7956376" y="342900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1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71" name="Line 430"/>
            <p:cNvSpPr>
              <a:spLocks noChangeShapeType="1"/>
            </p:cNvSpPr>
            <p:nvPr/>
          </p:nvSpPr>
          <p:spPr bwMode="auto">
            <a:xfrm flipH="1" flipV="1">
              <a:off x="7812360" y="3573016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72" name="Text Box 408"/>
            <p:cNvSpPr txBox="1">
              <a:spLocks noChangeArrowheads="1"/>
            </p:cNvSpPr>
            <p:nvPr/>
          </p:nvSpPr>
          <p:spPr bwMode="auto">
            <a:xfrm>
              <a:off x="7956376" y="4509168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op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2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273" name="Line 430"/>
            <p:cNvSpPr>
              <a:spLocks noChangeShapeType="1"/>
            </p:cNvSpPr>
            <p:nvPr/>
          </p:nvSpPr>
          <p:spPr bwMode="auto">
            <a:xfrm flipH="1" flipV="1">
              <a:off x="7812360" y="465316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</p:grpSp>
      <p:grpSp>
        <p:nvGrpSpPr>
          <p:cNvPr id="274" name="组合 273"/>
          <p:cNvGrpSpPr/>
          <p:nvPr/>
        </p:nvGrpSpPr>
        <p:grpSpPr>
          <a:xfrm>
            <a:off x="8544352" y="5677268"/>
            <a:ext cx="720000" cy="144000"/>
            <a:chOff x="6948344" y="4797272"/>
            <a:chExt cx="720000" cy="144000"/>
          </a:xfrm>
        </p:grpSpPr>
        <p:sp>
          <p:nvSpPr>
            <p:cNvPr id="275" name="Line 201"/>
            <p:cNvSpPr>
              <a:spLocks noChangeShapeType="1"/>
            </p:cNvSpPr>
            <p:nvPr/>
          </p:nvSpPr>
          <p:spPr bwMode="auto">
            <a:xfrm flipH="1">
              <a:off x="6948344" y="4869264"/>
              <a:ext cx="50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" name="Text Box 434"/>
            <p:cNvSpPr txBox="1">
              <a:spLocks noChangeArrowheads="1"/>
            </p:cNvSpPr>
            <p:nvPr/>
          </p:nvSpPr>
          <p:spPr bwMode="auto">
            <a:xfrm>
              <a:off x="7524344" y="4797272"/>
              <a:ext cx="144000" cy="14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277" name="椭圆 276"/>
            <p:cNvSpPr/>
            <p:nvPr/>
          </p:nvSpPr>
          <p:spPr bwMode="auto">
            <a:xfrm>
              <a:off x="7452320" y="4827702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8" name="组合 277"/>
          <p:cNvGrpSpPr/>
          <p:nvPr/>
        </p:nvGrpSpPr>
        <p:grpSpPr>
          <a:xfrm>
            <a:off x="7752184" y="4381060"/>
            <a:ext cx="1481082" cy="360000"/>
            <a:chOff x="6187230" y="3285008"/>
            <a:chExt cx="1481082" cy="360000"/>
          </a:xfrm>
        </p:grpSpPr>
        <p:sp>
          <p:nvSpPr>
            <p:cNvPr id="279" name="Line 199"/>
            <p:cNvSpPr>
              <a:spLocks noChangeShapeType="1"/>
            </p:cNvSpPr>
            <p:nvPr/>
          </p:nvSpPr>
          <p:spPr bwMode="auto">
            <a:xfrm>
              <a:off x="6331246" y="3285016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0" name="流程图: 手动操作 279"/>
            <p:cNvSpPr/>
            <p:nvPr/>
          </p:nvSpPr>
          <p:spPr bwMode="auto">
            <a:xfrm>
              <a:off x="6187230" y="3501008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1" name="Line 199"/>
            <p:cNvSpPr>
              <a:spLocks noChangeShapeType="1"/>
            </p:cNvSpPr>
            <p:nvPr/>
          </p:nvSpPr>
          <p:spPr bwMode="auto">
            <a:xfrm>
              <a:off x="6588224" y="3357008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2" name="Text Box 408"/>
            <p:cNvSpPr txBox="1">
              <a:spLocks noChangeArrowheads="1"/>
            </p:cNvSpPr>
            <p:nvPr/>
          </p:nvSpPr>
          <p:spPr bwMode="auto">
            <a:xfrm>
              <a:off x="6876256" y="3285008"/>
              <a:ext cx="14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1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283" name="Line 199"/>
            <p:cNvSpPr>
              <a:spLocks noChangeShapeType="1"/>
            </p:cNvSpPr>
            <p:nvPr/>
          </p:nvSpPr>
          <p:spPr bwMode="auto">
            <a:xfrm flipH="1" flipV="1">
              <a:off x="6588224" y="3356968"/>
              <a:ext cx="288032" cy="24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non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4" name="Line 430"/>
            <p:cNvSpPr>
              <a:spLocks noChangeShapeType="1"/>
            </p:cNvSpPr>
            <p:nvPr/>
          </p:nvSpPr>
          <p:spPr bwMode="auto">
            <a:xfrm flipH="1" flipV="1">
              <a:off x="6696312" y="3573016"/>
              <a:ext cx="97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</p:grpSp>
      <p:grpSp>
        <p:nvGrpSpPr>
          <p:cNvPr id="285" name="组合 284"/>
          <p:cNvGrpSpPr/>
          <p:nvPr/>
        </p:nvGrpSpPr>
        <p:grpSpPr>
          <a:xfrm>
            <a:off x="7863630" y="4741100"/>
            <a:ext cx="1040682" cy="719960"/>
            <a:chOff x="6555654" y="4509176"/>
            <a:chExt cx="1040682" cy="719960"/>
          </a:xfrm>
        </p:grpSpPr>
        <p:sp>
          <p:nvSpPr>
            <p:cNvPr id="286" name="流程图: 手动操作 285"/>
            <p:cNvSpPr/>
            <p:nvPr/>
          </p:nvSpPr>
          <p:spPr bwMode="auto">
            <a:xfrm>
              <a:off x="6555654" y="4797144"/>
              <a:ext cx="576000" cy="144000"/>
            </a:xfrm>
            <a:prstGeom prst="flowChartManualOperation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2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0  1</a:t>
              </a:r>
              <a:endParaRPr kumimoji="1" lang="zh-CN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7" name="Line 199"/>
            <p:cNvSpPr>
              <a:spLocks noChangeShapeType="1"/>
            </p:cNvSpPr>
            <p:nvPr/>
          </p:nvSpPr>
          <p:spPr bwMode="auto">
            <a:xfrm>
              <a:off x="6732240" y="4509176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8" name="椭圆 287"/>
            <p:cNvSpPr/>
            <p:nvPr/>
          </p:nvSpPr>
          <p:spPr bwMode="auto">
            <a:xfrm>
              <a:off x="6948264" y="4725152"/>
              <a:ext cx="72000" cy="7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Line 199"/>
            <p:cNvSpPr>
              <a:spLocks noChangeShapeType="1"/>
            </p:cNvSpPr>
            <p:nvPr/>
          </p:nvSpPr>
          <p:spPr bwMode="auto">
            <a:xfrm>
              <a:off x="6984339" y="4581144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0" name="Line 420"/>
            <p:cNvSpPr>
              <a:spLocks noChangeShapeType="1"/>
            </p:cNvSpPr>
            <p:nvPr/>
          </p:nvSpPr>
          <p:spPr bwMode="auto">
            <a:xfrm flipV="1">
              <a:off x="6732239" y="4581128"/>
              <a:ext cx="252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1" name="Line 430"/>
            <p:cNvSpPr>
              <a:spLocks noChangeShapeType="1"/>
            </p:cNvSpPr>
            <p:nvPr/>
          </p:nvSpPr>
          <p:spPr bwMode="auto">
            <a:xfrm flipH="1" flipV="1">
              <a:off x="7056336" y="4869136"/>
              <a:ext cx="54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arrow" w="sm" len="sm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292" name="Line 191"/>
            <p:cNvSpPr>
              <a:spLocks noChangeShapeType="1"/>
            </p:cNvSpPr>
            <p:nvPr/>
          </p:nvSpPr>
          <p:spPr bwMode="auto">
            <a:xfrm flipH="1">
              <a:off x="7236296" y="4869136"/>
              <a:ext cx="0" cy="360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3" name="组合 292"/>
          <p:cNvGrpSpPr/>
          <p:nvPr/>
        </p:nvGrpSpPr>
        <p:grpSpPr>
          <a:xfrm>
            <a:off x="8544368" y="5029180"/>
            <a:ext cx="648000" cy="720016"/>
            <a:chOff x="7236392" y="4869160"/>
            <a:chExt cx="648000" cy="720016"/>
          </a:xfrm>
        </p:grpSpPr>
        <p:sp>
          <p:nvSpPr>
            <p:cNvPr id="294" name="Text Box 434"/>
            <p:cNvSpPr txBox="1">
              <a:spLocks noChangeArrowheads="1"/>
            </p:cNvSpPr>
            <p:nvPr/>
          </p:nvSpPr>
          <p:spPr bwMode="auto">
            <a:xfrm>
              <a:off x="7452336" y="4869160"/>
              <a:ext cx="144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295" name="Line 191"/>
            <p:cNvSpPr>
              <a:spLocks noChangeShapeType="1"/>
            </p:cNvSpPr>
            <p:nvPr/>
          </p:nvSpPr>
          <p:spPr bwMode="auto">
            <a:xfrm flipH="1">
              <a:off x="7668344" y="5013176"/>
              <a:ext cx="0" cy="57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oval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6" name="Line 201"/>
            <p:cNvSpPr>
              <a:spLocks noChangeShapeType="1"/>
            </p:cNvSpPr>
            <p:nvPr/>
          </p:nvSpPr>
          <p:spPr bwMode="auto">
            <a:xfrm flipH="1">
              <a:off x="7596344" y="5013176"/>
              <a:ext cx="7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Line 201"/>
            <p:cNvSpPr>
              <a:spLocks noChangeShapeType="1"/>
            </p:cNvSpPr>
            <p:nvPr/>
          </p:nvSpPr>
          <p:spPr bwMode="auto">
            <a:xfrm flipH="1">
              <a:off x="7236392" y="5445224"/>
              <a:ext cx="64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191"/>
            <p:cNvSpPr>
              <a:spLocks noChangeShapeType="1"/>
            </p:cNvSpPr>
            <p:nvPr/>
          </p:nvSpPr>
          <p:spPr bwMode="auto">
            <a:xfrm flipH="1">
              <a:off x="7884368" y="4941064"/>
              <a:ext cx="0" cy="504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9" name="组合 298"/>
          <p:cNvGrpSpPr/>
          <p:nvPr/>
        </p:nvGrpSpPr>
        <p:grpSpPr>
          <a:xfrm>
            <a:off x="6888080" y="4381284"/>
            <a:ext cx="2520296" cy="1475952"/>
            <a:chOff x="5580104" y="4221264"/>
            <a:chExt cx="2520296" cy="1475952"/>
          </a:xfrm>
        </p:grpSpPr>
        <p:sp>
          <p:nvSpPr>
            <p:cNvPr id="300" name="Text Box 184"/>
            <p:cNvSpPr txBox="1">
              <a:spLocks noChangeArrowheads="1"/>
            </p:cNvSpPr>
            <p:nvPr/>
          </p:nvSpPr>
          <p:spPr bwMode="auto">
            <a:xfrm>
              <a:off x="6012160" y="5229128"/>
              <a:ext cx="1008000" cy="43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8</a:t>
              </a:r>
              <a:r>
                <a:rPr lang="zh-CN" altLang="en-US" sz="1600" dirty="0" smtClean="0">
                  <a:solidFill>
                    <a:schemeClr val="tx1"/>
                  </a:solidFill>
                </a:rPr>
                <a:t>位</a:t>
              </a:r>
              <a:r>
                <a:rPr lang="zh-CN" altLang="en-US" sz="1600" dirty="0">
                  <a:solidFill>
                    <a:schemeClr val="tx1"/>
                  </a:solidFill>
                </a:rPr>
                <a:t>加法器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01" name="Text Box 193"/>
            <p:cNvSpPr txBox="1">
              <a:spLocks noChangeArrowheads="1"/>
            </p:cNvSpPr>
            <p:nvPr/>
          </p:nvSpPr>
          <p:spPr bwMode="auto">
            <a:xfrm>
              <a:off x="5580104" y="4293152"/>
              <a:ext cx="288000" cy="936000"/>
            </a:xfrm>
            <a:prstGeom prst="rect">
              <a:avLst/>
            </a:prstGeom>
            <a:solidFill>
              <a:srgbClr val="CC99FF">
                <a:alpha val="85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标志形成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02" name="Line 191"/>
            <p:cNvSpPr>
              <a:spLocks noChangeShapeType="1"/>
            </p:cNvSpPr>
            <p:nvPr/>
          </p:nvSpPr>
          <p:spPr bwMode="auto">
            <a:xfrm flipH="1">
              <a:off x="7020272" y="5301136"/>
              <a:ext cx="21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199"/>
            <p:cNvSpPr>
              <a:spLocks noChangeShapeType="1"/>
            </p:cNvSpPr>
            <p:nvPr/>
          </p:nvSpPr>
          <p:spPr bwMode="auto">
            <a:xfrm>
              <a:off x="6876256" y="5013160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Line 199"/>
            <p:cNvSpPr>
              <a:spLocks noChangeShapeType="1"/>
            </p:cNvSpPr>
            <p:nvPr/>
          </p:nvSpPr>
          <p:spPr bwMode="auto">
            <a:xfrm>
              <a:off x="6228184" y="4221264"/>
              <a:ext cx="0" cy="100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201"/>
            <p:cNvSpPr>
              <a:spLocks noChangeShapeType="1"/>
            </p:cNvSpPr>
            <p:nvPr/>
          </p:nvSpPr>
          <p:spPr bwMode="auto">
            <a:xfrm flipH="1">
              <a:off x="7952215" y="5589240"/>
              <a:ext cx="14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Text Box 434"/>
            <p:cNvSpPr txBox="1">
              <a:spLocks noChangeArrowheads="1"/>
            </p:cNvSpPr>
            <p:nvPr/>
          </p:nvSpPr>
          <p:spPr bwMode="auto">
            <a:xfrm>
              <a:off x="7380288" y="4401216"/>
              <a:ext cx="652216" cy="129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26000" rIns="18000" bIns="10800" anchor="t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 smtClean="0">
                  <a:solidFill>
                    <a:schemeClr val="tx1"/>
                  </a:solidFill>
                </a:rPr>
                <a:t>  控制</a:t>
              </a:r>
              <a:endParaRPr lang="en-US" altLang="zh-CN" sz="14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400" dirty="0" smtClean="0">
                  <a:solidFill>
                    <a:schemeClr val="tx1"/>
                  </a:solidFill>
                </a:rPr>
                <a:t>  逻辑</a:t>
              </a:r>
              <a:endParaRPr lang="en-US" altLang="zh-CN" sz="14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4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307" name="Line 201"/>
            <p:cNvSpPr>
              <a:spLocks noChangeShapeType="1"/>
            </p:cNvSpPr>
            <p:nvPr/>
          </p:nvSpPr>
          <p:spPr bwMode="auto">
            <a:xfrm flipH="1">
              <a:off x="7884368" y="4509072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" name="Line 201"/>
            <p:cNvSpPr>
              <a:spLocks noChangeShapeType="1"/>
            </p:cNvSpPr>
            <p:nvPr/>
          </p:nvSpPr>
          <p:spPr bwMode="auto">
            <a:xfrm flipH="1">
              <a:off x="7596400" y="4941096"/>
              <a:ext cx="504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201"/>
            <p:cNvSpPr>
              <a:spLocks noChangeShapeType="1"/>
            </p:cNvSpPr>
            <p:nvPr/>
          </p:nvSpPr>
          <p:spPr bwMode="auto">
            <a:xfrm flipH="1">
              <a:off x="7020272" y="5589240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201"/>
            <p:cNvSpPr>
              <a:spLocks noChangeShapeType="1"/>
            </p:cNvSpPr>
            <p:nvPr/>
          </p:nvSpPr>
          <p:spPr bwMode="auto">
            <a:xfrm flipH="1">
              <a:off x="7020272" y="5445224"/>
              <a:ext cx="216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99"/>
          <p:cNvSpPr txBox="1">
            <a:spLocks noChangeArrowheads="1"/>
          </p:cNvSpPr>
          <p:nvPr/>
        </p:nvSpPr>
        <p:spPr bwMode="auto">
          <a:xfrm>
            <a:off x="1703512" y="3861048"/>
            <a:ext cx="5328591" cy="178371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dirty="0" smtClean="0">
                <a:solidFill>
                  <a:schemeClr val="accent2"/>
                </a:solidFill>
              </a:rPr>
              <a:t>    移位功能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accent2"/>
                </a:solidFill>
              </a:rPr>
              <a:t> 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控制信号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r>
              <a:rPr lang="zh-CN" altLang="en-US" sz="2200" dirty="0">
                <a:solidFill>
                  <a:schemeClr val="tx1"/>
                </a:solidFill>
              </a:rPr>
              <a:t>指令</a:t>
            </a:r>
            <a:r>
              <a:rPr lang="en-US" altLang="zh-CN" sz="2200" dirty="0" err="1">
                <a:solidFill>
                  <a:schemeClr val="tx1"/>
                </a:solidFill>
              </a:rPr>
              <a:t>Rb</a:t>
            </a:r>
            <a:r>
              <a:rPr lang="zh-CN" altLang="en-US" sz="2200" dirty="0">
                <a:solidFill>
                  <a:schemeClr val="tx1"/>
                </a:solidFill>
              </a:rPr>
              <a:t>←</a:t>
            </a:r>
            <a:r>
              <a:rPr lang="en-US" altLang="zh-CN" sz="2200" dirty="0" err="1">
                <a:solidFill>
                  <a:schemeClr val="tx1"/>
                </a:solidFill>
              </a:rPr>
              <a:t>Rb</a:t>
            </a:r>
            <a:r>
              <a:rPr lang="en-US" altLang="zh-CN" sz="2200" dirty="0">
                <a:solidFill>
                  <a:schemeClr val="tx1"/>
                </a:solidFill>
              </a:rPr>
              <a:t>-Ra</a:t>
            </a:r>
            <a:r>
              <a:rPr lang="zh-CN" altLang="en-US" sz="2200" dirty="0">
                <a:solidFill>
                  <a:schemeClr val="tx1"/>
                </a:solidFill>
              </a:rPr>
              <a:t>：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dirty="0" smtClean="0">
                <a:solidFill>
                  <a:schemeClr val="tx1"/>
                </a:solidFill>
              </a:rPr>
              <a:t>              指令</a:t>
            </a:r>
            <a:r>
              <a:rPr lang="en-US" altLang="zh-CN" sz="2200" dirty="0" err="1">
                <a:solidFill>
                  <a:schemeClr val="tx1"/>
                </a:solidFill>
              </a:rPr>
              <a:t>Rb</a:t>
            </a:r>
            <a:r>
              <a:rPr lang="zh-CN" altLang="en-US" sz="2200" dirty="0">
                <a:solidFill>
                  <a:schemeClr val="tx1"/>
                </a:solidFill>
              </a:rPr>
              <a:t>←</a:t>
            </a:r>
            <a:r>
              <a:rPr lang="en-US" altLang="zh-CN" sz="2200" dirty="0">
                <a:solidFill>
                  <a:schemeClr val="tx1"/>
                </a:solidFill>
              </a:rPr>
              <a:t>(</a:t>
            </a:r>
            <a:r>
              <a:rPr lang="en-US" altLang="zh-CN" sz="2200" dirty="0" err="1">
                <a:solidFill>
                  <a:schemeClr val="tx1"/>
                </a:solidFill>
              </a:rPr>
              <a:t>Rb+Ra</a:t>
            </a:r>
            <a:r>
              <a:rPr lang="en-US" altLang="zh-CN" sz="2200" dirty="0">
                <a:solidFill>
                  <a:schemeClr val="tx1"/>
                </a:solidFill>
              </a:rPr>
              <a:t>)&gt;&gt;</a:t>
            </a:r>
            <a:r>
              <a:rPr lang="en-US" altLang="zh-CN" sz="2200" baseline="-18000" dirty="0">
                <a:solidFill>
                  <a:schemeClr val="tx1"/>
                </a:solidFill>
              </a:rPr>
              <a:t>L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>
                <a:solidFill>
                  <a:schemeClr val="tx1"/>
                </a:solidFill>
              </a:rPr>
              <a:t>：</a:t>
            </a:r>
            <a:endParaRPr lang="en-US" altLang="zh-CN" sz="2200" dirty="0" smtClean="0">
              <a:solidFill>
                <a:schemeClr val="accent2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200" dirty="0" smtClean="0">
                <a:solidFill>
                  <a:schemeClr val="accent2"/>
                </a:solidFill>
              </a:rPr>
              <a:t>    </a:t>
            </a:r>
            <a:r>
              <a:rPr lang="zh-CN" altLang="en-US" sz="2200" dirty="0" smtClean="0">
                <a:solidFill>
                  <a:schemeClr val="accent2"/>
                </a:solidFill>
              </a:rPr>
              <a:t>乘法支持</a:t>
            </a:r>
            <a:r>
              <a:rPr lang="en-US" altLang="zh-CN" sz="2200" dirty="0" smtClean="0">
                <a:solidFill>
                  <a:schemeClr val="accent2"/>
                </a:solidFill>
              </a:rPr>
              <a:t>—</a:t>
            </a:r>
            <a:endParaRPr lang="en-US" altLang="zh-CN" sz="2200" dirty="0" smtClean="0">
              <a:solidFill>
                <a:schemeClr val="accent2"/>
              </a:solidFill>
            </a:endParaRPr>
          </a:p>
        </p:txBody>
      </p:sp>
      <p:sp>
        <p:nvSpPr>
          <p:cNvPr id="4" name="Text Box 199"/>
          <p:cNvSpPr txBox="1">
            <a:spLocks noChangeArrowheads="1"/>
          </p:cNvSpPr>
          <p:nvPr/>
        </p:nvSpPr>
        <p:spPr bwMode="auto">
          <a:xfrm>
            <a:off x="1703512" y="332656"/>
            <a:ext cx="8712968" cy="768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2200" dirty="0" smtClean="0">
                <a:solidFill>
                  <a:srgbClr val="990099"/>
                </a:solidFill>
              </a:rPr>
              <a:t>    例</a:t>
            </a:r>
            <a:r>
              <a:rPr lang="en-US" altLang="zh-CN" sz="2200" dirty="0">
                <a:solidFill>
                  <a:srgbClr val="990099"/>
                </a:solidFill>
              </a:rPr>
              <a:t>3</a:t>
            </a:r>
            <a:r>
              <a:rPr lang="zh-CN" altLang="en-US" sz="2200" dirty="0" smtClean="0">
                <a:solidFill>
                  <a:srgbClr val="990099"/>
                </a:solidFill>
              </a:rPr>
              <a:t>：</a:t>
            </a:r>
            <a:r>
              <a:rPr lang="zh-CN" altLang="en-US" sz="2200" dirty="0" smtClean="0">
                <a:solidFill>
                  <a:schemeClr val="tx1"/>
                </a:solidFill>
              </a:rPr>
              <a:t>分析运算器</a:t>
            </a:r>
            <a:r>
              <a:rPr lang="en-US" altLang="zh-CN" sz="2200" dirty="0" smtClean="0">
                <a:solidFill>
                  <a:schemeClr val="tx1"/>
                </a:solidFill>
              </a:rPr>
              <a:t>29C101</a:t>
            </a:r>
            <a:r>
              <a:rPr lang="zh-CN" altLang="en-US" sz="2200" dirty="0" smtClean="0">
                <a:solidFill>
                  <a:schemeClr val="tx1"/>
                </a:solidFill>
              </a:rPr>
              <a:t>的移位功能，写出实现指令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Rb</a:t>
            </a:r>
            <a:r>
              <a:rPr lang="zh-CN" altLang="en-US" sz="2200" dirty="0" smtClean="0">
                <a:solidFill>
                  <a:schemeClr val="tx1"/>
                </a:solidFill>
              </a:rPr>
              <a:t>←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Rb</a:t>
            </a:r>
            <a:r>
              <a:rPr lang="en-US" altLang="zh-CN" sz="2200" dirty="0" smtClean="0">
                <a:solidFill>
                  <a:schemeClr val="tx1"/>
                </a:solidFill>
              </a:rPr>
              <a:t>-Ra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Rb</a:t>
            </a:r>
            <a:r>
              <a:rPr lang="zh-CN" altLang="en-US" sz="2200" dirty="0" smtClean="0">
                <a:solidFill>
                  <a:schemeClr val="tx1"/>
                </a:solidFill>
              </a:rPr>
              <a:t>←</a:t>
            </a:r>
            <a:r>
              <a:rPr lang="en-US" altLang="zh-CN" sz="2200" dirty="0" smtClean="0">
                <a:solidFill>
                  <a:schemeClr val="tx1"/>
                </a:solidFill>
              </a:rPr>
              <a:t>(</a:t>
            </a:r>
            <a:r>
              <a:rPr lang="en-US" altLang="zh-CN" sz="2200" dirty="0" err="1" smtClean="0">
                <a:solidFill>
                  <a:schemeClr val="tx1"/>
                </a:solidFill>
              </a:rPr>
              <a:t>Ra+Rb</a:t>
            </a:r>
            <a:r>
              <a:rPr lang="en-US" altLang="zh-CN" sz="2200" dirty="0" smtClean="0">
                <a:solidFill>
                  <a:schemeClr val="tx1"/>
                </a:solidFill>
              </a:rPr>
              <a:t>)&gt;&gt;</a:t>
            </a:r>
            <a:r>
              <a:rPr lang="en-US" altLang="zh-CN" sz="2200" baseline="-18000" dirty="0" smtClean="0">
                <a:solidFill>
                  <a:schemeClr val="tx1"/>
                </a:solidFill>
              </a:rPr>
              <a:t>L</a:t>
            </a:r>
            <a:r>
              <a:rPr lang="en-US" altLang="zh-CN" sz="2200" dirty="0" smtClean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功能</a:t>
            </a:r>
            <a:r>
              <a:rPr lang="zh-CN" altLang="zh-CN" sz="2200" dirty="0" smtClean="0">
                <a:solidFill>
                  <a:schemeClr val="tx1"/>
                </a:solidFill>
              </a:rPr>
              <a:t>的</a:t>
            </a:r>
            <a:r>
              <a:rPr lang="zh-CN" altLang="en-US" sz="2200" dirty="0" smtClean="0">
                <a:solidFill>
                  <a:schemeClr val="tx1"/>
                </a:solidFill>
              </a:rPr>
              <a:t>控制信号，说明其如何支持乘法运算</a:t>
            </a:r>
            <a:endParaRPr lang="en-US" altLang="zh-CN" sz="2200" dirty="0" smtClean="0">
              <a:solidFill>
                <a:schemeClr val="tx1"/>
              </a:solidFill>
            </a:endParaRPr>
          </a:p>
        </p:txBody>
      </p:sp>
      <p:sp>
        <p:nvSpPr>
          <p:cNvPr id="5" name="Text Box 200"/>
          <p:cNvSpPr txBox="1">
            <a:spLocks noChangeArrowheads="1"/>
          </p:cNvSpPr>
          <p:nvPr/>
        </p:nvSpPr>
        <p:spPr bwMode="auto">
          <a:xfrm>
            <a:off x="3719736" y="3880003"/>
            <a:ext cx="6840760" cy="20745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200" dirty="0" smtClean="0">
                <a:solidFill>
                  <a:schemeClr val="tx1"/>
                </a:solidFill>
              </a:rPr>
              <a:t>左移</a:t>
            </a:r>
            <a:r>
              <a:rPr lang="en-US" altLang="zh-CN" sz="2200" dirty="0" smtClean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位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如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en-US" altLang="zh-CN" sz="1800" dirty="0">
                <a:solidFill>
                  <a:schemeClr val="tx1"/>
                </a:solidFill>
              </a:rPr>
              <a:t>F‖R</a:t>
            </a:r>
            <a:r>
              <a:rPr lang="en-US" altLang="zh-CN" sz="1800" baseline="-18000" dirty="0">
                <a:solidFill>
                  <a:schemeClr val="tx1"/>
                </a:solidFill>
              </a:rPr>
              <a:t>0</a:t>
            </a:r>
            <a:r>
              <a:rPr lang="en-US" altLang="zh-CN" sz="1800" dirty="0">
                <a:solidFill>
                  <a:schemeClr val="tx1"/>
                </a:solidFill>
              </a:rPr>
              <a:t>)&lt;&lt;</a:t>
            </a:r>
            <a:r>
              <a:rPr lang="en-US" altLang="zh-CN" sz="1800" dirty="0" smtClean="0">
                <a:solidFill>
                  <a:schemeClr val="tx1"/>
                </a:solidFill>
              </a:rPr>
              <a:t>1)</a:t>
            </a:r>
            <a:r>
              <a:rPr lang="zh-CN" altLang="en-US" sz="2200" dirty="0" smtClean="0">
                <a:solidFill>
                  <a:schemeClr val="tx1"/>
                </a:solidFill>
              </a:rPr>
              <a:t>、</a:t>
            </a:r>
            <a:r>
              <a:rPr lang="zh-CN" altLang="en-US" sz="2200" dirty="0">
                <a:solidFill>
                  <a:schemeClr val="tx1"/>
                </a:solidFill>
              </a:rPr>
              <a:t>右</a:t>
            </a:r>
            <a:r>
              <a:rPr lang="zh-CN" altLang="en-US" sz="2200" dirty="0" smtClean="0">
                <a:solidFill>
                  <a:schemeClr val="tx1"/>
                </a:solidFill>
              </a:rPr>
              <a:t>移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如</a:t>
            </a:r>
            <a:r>
              <a:rPr lang="en-US" altLang="zh-CN" sz="1800" dirty="0">
                <a:solidFill>
                  <a:schemeClr val="tx1"/>
                </a:solidFill>
              </a:rPr>
              <a:t>Q</a:t>
            </a:r>
            <a:r>
              <a:rPr lang="en-US" altLang="zh-CN" sz="1800" baseline="-18000" dirty="0">
                <a:solidFill>
                  <a:schemeClr val="tx1"/>
                </a:solidFill>
              </a:rPr>
              <a:t>n-1</a:t>
            </a:r>
            <a:r>
              <a:rPr lang="en-US" altLang="zh-CN" sz="1800" dirty="0">
                <a:solidFill>
                  <a:schemeClr val="tx1"/>
                </a:solidFill>
              </a:rPr>
              <a:t>‖Q)&gt;&gt;1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sz="2000" dirty="0" smtClean="0">
                <a:solidFill>
                  <a:schemeClr val="tx1"/>
                </a:solidFill>
              </a:rPr>
              <a:t>、直通</a:t>
            </a:r>
            <a:r>
              <a:rPr lang="zh-CN" altLang="en-US" sz="2200" dirty="0" smtClean="0">
                <a:solidFill>
                  <a:schemeClr val="tx1"/>
                </a:solidFill>
              </a:rPr>
              <a:t>，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2</a:t>
            </a:r>
            <a:r>
              <a:rPr lang="zh-CN" altLang="en-US" sz="2200" dirty="0" smtClean="0">
                <a:solidFill>
                  <a:schemeClr val="tx1"/>
                </a:solidFill>
              </a:rPr>
              <a:t>个移位器</a:t>
            </a:r>
            <a:r>
              <a:rPr lang="zh-CN" altLang="en-US" sz="2200" dirty="0" smtClean="0">
                <a:solidFill>
                  <a:srgbClr val="990099"/>
                </a:solidFill>
              </a:rPr>
              <a:t>可</a:t>
            </a:r>
            <a:r>
              <a:rPr lang="zh-CN" altLang="en-US" sz="2200" dirty="0" smtClean="0">
                <a:solidFill>
                  <a:schemeClr val="tx1"/>
                </a:solidFill>
              </a:rPr>
              <a:t>级联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en-US" altLang="zh-CN" sz="1800" dirty="0">
                <a:solidFill>
                  <a:schemeClr val="tx1"/>
                </a:solidFill>
              </a:rPr>
              <a:t>Q</a:t>
            </a:r>
            <a:r>
              <a:rPr lang="en-US" altLang="zh-CN" sz="18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R</a:t>
            </a:r>
            <a:r>
              <a:rPr lang="en-US" altLang="zh-CN" sz="1800" baseline="-18000" dirty="0" smtClean="0">
                <a:solidFill>
                  <a:schemeClr val="tx1"/>
                </a:solidFill>
              </a:rPr>
              <a:t>0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endParaRPr lang="en-US" altLang="zh-CN" sz="1800" dirty="0" smtClean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             011 </a:t>
            </a:r>
            <a:r>
              <a:rPr lang="en-US" altLang="zh-CN" sz="2200" u="sng" dirty="0" smtClean="0">
                <a:solidFill>
                  <a:schemeClr val="tx1"/>
                </a:solidFill>
              </a:rPr>
              <a:t>001</a:t>
            </a:r>
            <a:r>
              <a:rPr lang="en-US" altLang="zh-CN" sz="2200" dirty="0" smtClean="0">
                <a:solidFill>
                  <a:schemeClr val="tx1"/>
                </a:solidFill>
              </a:rPr>
              <a:t> 001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en-US" altLang="zh-CN" sz="2200" dirty="0" smtClean="0">
                <a:solidFill>
                  <a:schemeClr val="tx1"/>
                </a:solidFill>
              </a:rPr>
              <a:t>                     101 </a:t>
            </a:r>
            <a:r>
              <a:rPr lang="en-US" altLang="zh-CN" sz="2200" u="sng" dirty="0">
                <a:solidFill>
                  <a:schemeClr val="tx1"/>
                </a:solidFill>
              </a:rPr>
              <a:t>000</a:t>
            </a:r>
            <a:r>
              <a:rPr lang="en-US" altLang="zh-CN" sz="2200" dirty="0">
                <a:solidFill>
                  <a:schemeClr val="tx1"/>
                </a:solidFill>
              </a:rPr>
              <a:t> 001</a:t>
            </a:r>
            <a:r>
              <a:rPr lang="zh-CN" altLang="en-US" sz="2200" dirty="0">
                <a:solidFill>
                  <a:schemeClr val="tx1"/>
                </a:solidFill>
              </a:rPr>
              <a:t>、</a:t>
            </a:r>
            <a:r>
              <a:rPr lang="en-US" altLang="zh-CN" sz="2200" dirty="0">
                <a:solidFill>
                  <a:schemeClr val="tx1"/>
                </a:solidFill>
              </a:rPr>
              <a:t>R</a:t>
            </a:r>
            <a:r>
              <a:rPr lang="en-US" altLang="zh-CN" sz="22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2200" dirty="0">
                <a:solidFill>
                  <a:schemeClr val="tx1"/>
                </a:solidFill>
              </a:rPr>
              <a:t>＝</a:t>
            </a:r>
            <a:r>
              <a:rPr lang="en-US" altLang="zh-CN" sz="2200" dirty="0" smtClean="0">
                <a:solidFill>
                  <a:schemeClr val="tx1"/>
                </a:solidFill>
              </a:rPr>
              <a:t>0</a:t>
            </a:r>
            <a:endParaRPr lang="en-US" altLang="zh-CN" sz="2200" dirty="0">
              <a:solidFill>
                <a:schemeClr val="tx1"/>
              </a:solidFill>
            </a:endParaRPr>
          </a:p>
          <a:p>
            <a:r>
              <a:rPr lang="zh-CN" altLang="en-US" sz="2200" dirty="0" smtClean="0">
                <a:solidFill>
                  <a:schemeClr val="tx1"/>
                </a:solidFill>
              </a:rPr>
              <a:t>每次</a:t>
            </a:r>
            <a:r>
              <a:rPr lang="zh-CN" altLang="en-US" sz="2200" dirty="0">
                <a:solidFill>
                  <a:schemeClr val="tx1"/>
                </a:solidFill>
              </a:rPr>
              <a:t>乘</a:t>
            </a:r>
            <a:r>
              <a:rPr lang="en-US" altLang="zh-CN" sz="2200" dirty="0">
                <a:solidFill>
                  <a:schemeClr val="tx1"/>
                </a:solidFill>
              </a:rPr>
              <a:t>1</a:t>
            </a:r>
            <a:r>
              <a:rPr lang="zh-CN" altLang="en-US" sz="2200" dirty="0" smtClean="0">
                <a:solidFill>
                  <a:schemeClr val="tx1"/>
                </a:solidFill>
              </a:rPr>
              <a:t>位，</a:t>
            </a:r>
            <a:r>
              <a:rPr lang="zh-CN" altLang="en-US" sz="2200" dirty="0">
                <a:solidFill>
                  <a:schemeClr val="tx1"/>
                </a:solidFill>
              </a:rPr>
              <a:t>外部循环</a:t>
            </a:r>
            <a:r>
              <a:rPr lang="zh-CN" altLang="en-US" sz="2200" dirty="0" smtClean="0">
                <a:solidFill>
                  <a:schemeClr val="tx1"/>
                </a:solidFill>
              </a:rPr>
              <a:t>实现</a:t>
            </a:r>
            <a:r>
              <a:rPr lang="en-US" altLang="zh-CN" sz="2200" dirty="0" smtClean="0">
                <a:solidFill>
                  <a:schemeClr val="tx1"/>
                </a:solidFill>
              </a:rPr>
              <a:t>n</a:t>
            </a:r>
            <a:r>
              <a:rPr lang="zh-CN" altLang="en-US" sz="2200" dirty="0" smtClean="0">
                <a:solidFill>
                  <a:schemeClr val="tx1"/>
                </a:solidFill>
              </a:rPr>
              <a:t>位</a:t>
            </a:r>
            <a:r>
              <a:rPr lang="zh-CN" altLang="en-US" sz="2200" dirty="0" smtClean="0">
                <a:solidFill>
                  <a:schemeClr val="tx1"/>
                </a:solidFill>
              </a:rPr>
              <a:t>乘法 </a:t>
            </a:r>
            <a:endParaRPr lang="en-US" altLang="zh-CN" sz="2200" dirty="0">
              <a:solidFill>
                <a:schemeClr val="tx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zh-CN" sz="1800" dirty="0" smtClean="0">
                <a:solidFill>
                  <a:schemeClr val="tx1"/>
                </a:solidFill>
              </a:rPr>
              <a:t>     </a:t>
            </a:r>
            <a:r>
              <a:rPr lang="zh-CN" altLang="en-US" sz="1800" b="0" dirty="0" smtClean="0">
                <a:solidFill>
                  <a:schemeClr val="tx1"/>
                </a:solidFill>
              </a:rPr>
              <a:t>└</a:t>
            </a:r>
            <a:r>
              <a:rPr lang="zh-CN" altLang="en-US" sz="1800" dirty="0" smtClean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chemeClr val="tx1"/>
                </a:solidFill>
              </a:rPr>
              <a:t>Q</a:t>
            </a:r>
            <a:r>
              <a:rPr lang="zh-CN" altLang="en-US" sz="1800" dirty="0">
                <a:solidFill>
                  <a:schemeClr val="tx1"/>
                </a:solidFill>
              </a:rPr>
              <a:t>＋</a:t>
            </a:r>
            <a:r>
              <a:rPr lang="en-US" altLang="zh-CN" sz="1800" dirty="0" smtClean="0">
                <a:solidFill>
                  <a:schemeClr val="tx1"/>
                </a:solidFill>
              </a:rPr>
              <a:t>A</a:t>
            </a:r>
            <a:r>
              <a:rPr lang="zh-CN" altLang="en-US" sz="1800" dirty="0" smtClean="0">
                <a:solidFill>
                  <a:schemeClr val="tx1"/>
                </a:solidFill>
              </a:rPr>
              <a:t>或</a:t>
            </a:r>
            <a:r>
              <a:rPr lang="en-US" altLang="zh-CN" sz="1800" dirty="0" smtClean="0">
                <a:solidFill>
                  <a:schemeClr val="tx1"/>
                </a:solidFill>
              </a:rPr>
              <a:t>0</a:t>
            </a:r>
            <a:r>
              <a:rPr lang="zh-CN" altLang="en-US" sz="1800" dirty="0" smtClean="0">
                <a:solidFill>
                  <a:schemeClr val="tx1"/>
                </a:solidFill>
              </a:rPr>
              <a:t>，</a:t>
            </a:r>
            <a:r>
              <a:rPr lang="en-US" altLang="zh-CN" sz="1800" dirty="0" smtClean="0">
                <a:solidFill>
                  <a:schemeClr val="tx1"/>
                </a:solidFill>
              </a:rPr>
              <a:t>GPR[b</a:t>
            </a:r>
            <a:r>
              <a:rPr lang="en-US" altLang="zh-CN" sz="1800" dirty="0">
                <a:solidFill>
                  <a:schemeClr val="tx1"/>
                </a:solidFill>
              </a:rPr>
              <a:t>]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en-US" altLang="zh-CN" sz="1800" dirty="0">
                <a:solidFill>
                  <a:schemeClr val="tx1"/>
                </a:solidFill>
              </a:rPr>
              <a:t>F/2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Q</a:t>
            </a:r>
            <a:r>
              <a:rPr lang="zh-CN" altLang="en-US" sz="1800" dirty="0">
                <a:solidFill>
                  <a:schemeClr val="tx1"/>
                </a:solidFill>
              </a:rPr>
              <a:t>←</a:t>
            </a:r>
            <a:r>
              <a:rPr lang="en-US" altLang="zh-CN" sz="1800" dirty="0" smtClean="0">
                <a:solidFill>
                  <a:schemeClr val="tx1"/>
                </a:solidFill>
              </a:rPr>
              <a:t>Q/2</a:t>
            </a:r>
            <a:r>
              <a:rPr lang="zh-CN" altLang="en-US" sz="1800" dirty="0" smtClean="0">
                <a:solidFill>
                  <a:schemeClr val="tx1"/>
                </a:solidFill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</a:rPr>
              <a:t>R</a:t>
            </a:r>
            <a:r>
              <a:rPr lang="en-US" altLang="zh-CN" sz="18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C</a:t>
            </a:r>
            <a:r>
              <a:rPr lang="zh-CN" altLang="en-US" sz="1800" dirty="0">
                <a:solidFill>
                  <a:schemeClr val="tx1"/>
                </a:solidFill>
              </a:rPr>
              <a:t>或</a:t>
            </a:r>
            <a:r>
              <a:rPr lang="en-US" altLang="zh-CN" sz="1800" dirty="0">
                <a:solidFill>
                  <a:schemeClr val="tx1"/>
                </a:solidFill>
              </a:rPr>
              <a:t>S</a:t>
            </a:r>
            <a:r>
              <a:rPr lang="zh-CN" altLang="en-US" sz="1800" dirty="0">
                <a:solidFill>
                  <a:schemeClr val="tx1"/>
                </a:solidFill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</a:rPr>
              <a:t>Q</a:t>
            </a:r>
            <a:r>
              <a:rPr lang="en-US" altLang="zh-CN" sz="1800" baseline="-18000" dirty="0">
                <a:solidFill>
                  <a:schemeClr val="tx1"/>
                </a:solidFill>
              </a:rPr>
              <a:t>n-1</a:t>
            </a:r>
            <a:r>
              <a:rPr lang="zh-CN" altLang="en-US" sz="1800" dirty="0">
                <a:solidFill>
                  <a:schemeClr val="tx1"/>
                </a:solidFill>
              </a:rPr>
              <a:t>＝</a:t>
            </a:r>
            <a:r>
              <a:rPr lang="en-US" altLang="zh-CN" sz="1800" dirty="0">
                <a:solidFill>
                  <a:schemeClr val="tx1"/>
                </a:solidFill>
              </a:rPr>
              <a:t>R</a:t>
            </a:r>
            <a:r>
              <a:rPr lang="en-US" altLang="zh-CN" sz="1800" baseline="-18000" dirty="0">
                <a:solidFill>
                  <a:schemeClr val="tx1"/>
                </a:solidFill>
              </a:rPr>
              <a:t>0</a:t>
            </a:r>
            <a:endParaRPr lang="en-US" altLang="zh-CN" sz="1800" dirty="0" smtClean="0">
              <a:solidFill>
                <a:schemeClr val="tx1"/>
              </a:solidFill>
            </a:endParaRPr>
          </a:p>
        </p:txBody>
      </p:sp>
      <p:cxnSp>
        <p:nvCxnSpPr>
          <p:cNvPr id="86" name="直接连接符 85"/>
          <p:cNvCxnSpPr/>
          <p:nvPr/>
        </p:nvCxnSpPr>
        <p:spPr bwMode="auto">
          <a:xfrm>
            <a:off x="9162408" y="3130082"/>
            <a:ext cx="108000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03" name="表格 202"/>
          <p:cNvGraphicFramePr>
            <a:graphicFrameLocks noGrp="1"/>
          </p:cNvGraphicFramePr>
          <p:nvPr/>
        </p:nvGraphicFramePr>
        <p:xfrm>
          <a:off x="6816080" y="1412776"/>
          <a:ext cx="3495675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190"/>
                <a:gridCol w="759460"/>
                <a:gridCol w="503555"/>
                <a:gridCol w="432435"/>
                <a:gridCol w="97155"/>
                <a:gridCol w="550545"/>
                <a:gridCol w="97155"/>
                <a:gridCol w="262890"/>
                <a:gridCol w="288290"/>
              </a:tblGrid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 hMerge="1">
                  <a:tcPr marL="36000" marR="36000" marT="18000" marB="18000"/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GPR[b]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ALU</a:t>
                      </a:r>
                      <a:endParaRPr lang="zh-CN" altLang="en-US" sz="16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R+S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S-R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R-S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∨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F/2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Q/2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∧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F/2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∧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⊕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⊙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4" name="AutoShape 40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512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0" name="AutoShape 29"/>
          <p:cNvSpPr/>
          <p:nvPr/>
        </p:nvSpPr>
        <p:spPr bwMode="auto">
          <a:xfrm>
            <a:off x="7320296" y="6345352"/>
            <a:ext cx="1440000" cy="252000"/>
          </a:xfrm>
          <a:prstGeom prst="borderCallout2">
            <a:avLst>
              <a:gd name="adj1" fmla="val 54051"/>
              <a:gd name="adj2" fmla="val 99838"/>
              <a:gd name="adj3" fmla="val 53705"/>
              <a:gd name="adj4" fmla="val 114546"/>
              <a:gd name="adj5" fmla="val -33847"/>
              <a:gd name="adj6" fmla="val 123588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有</a:t>
            </a:r>
            <a:r>
              <a:rPr lang="en-US" altLang="zh-CN" sz="1600" b="1" dirty="0" smtClean="0">
                <a:solidFill>
                  <a:schemeClr val="tx1"/>
                </a:solidFill>
              </a:rPr>
              <a:t>/</a:t>
            </a:r>
            <a:r>
              <a:rPr lang="zh-CN" altLang="en-US" sz="1600" b="1" dirty="0" smtClean="0">
                <a:solidFill>
                  <a:schemeClr val="tx1"/>
                </a:solidFill>
              </a:rPr>
              <a:t>无符号乘法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71" name="AutoShape 29"/>
          <p:cNvSpPr/>
          <p:nvPr/>
        </p:nvSpPr>
        <p:spPr bwMode="auto">
          <a:xfrm>
            <a:off x="9264352" y="1016760"/>
            <a:ext cx="1152000" cy="252000"/>
          </a:xfrm>
          <a:prstGeom prst="borderCallout2">
            <a:avLst>
              <a:gd name="adj1" fmla="val 54051"/>
              <a:gd name="adj2" fmla="val -1185"/>
              <a:gd name="adj3" fmla="val 53705"/>
              <a:gd name="adj4" fmla="val -12454"/>
              <a:gd name="adj5" fmla="val 499052"/>
              <a:gd name="adj6" fmla="val -123609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</a:rPr>
              <a:t>不写寄存器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73" name="AutoShape 29"/>
          <p:cNvSpPr/>
          <p:nvPr/>
        </p:nvSpPr>
        <p:spPr bwMode="auto">
          <a:xfrm>
            <a:off x="1631504" y="2996952"/>
            <a:ext cx="792000" cy="252000"/>
          </a:xfrm>
          <a:prstGeom prst="borderCallout2">
            <a:avLst>
              <a:gd name="adj1" fmla="val 3239"/>
              <a:gd name="adj2" fmla="val 72616"/>
              <a:gd name="adj3" fmla="val -53285"/>
              <a:gd name="adj4" fmla="val 73948"/>
              <a:gd name="adj5" fmla="val -110749"/>
              <a:gd name="adj6" fmla="val 92548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600" b="1" dirty="0" smtClean="0">
                <a:solidFill>
                  <a:schemeClr val="tx1"/>
                </a:solidFill>
              </a:rPr>
              <a:t>C</a:t>
            </a:r>
            <a:r>
              <a:rPr lang="zh-CN" altLang="en-US" sz="1600" dirty="0" smtClean="0">
                <a:solidFill>
                  <a:schemeClr val="tx1"/>
                </a:solidFill>
              </a:rPr>
              <a:t>即</a:t>
            </a:r>
            <a:r>
              <a:rPr lang="en-US" altLang="zh-CN" sz="1600" dirty="0" err="1" smtClean="0">
                <a:solidFill>
                  <a:schemeClr val="tx1"/>
                </a:solidFill>
              </a:rPr>
              <a:t>C</a:t>
            </a:r>
            <a:r>
              <a:rPr lang="en-US" altLang="zh-CN" sz="1600" baseline="-18000" dirty="0" err="1" smtClean="0">
                <a:solidFill>
                  <a:schemeClr val="tx1"/>
                </a:solidFill>
              </a:rPr>
              <a:t>out</a:t>
            </a:r>
            <a:endParaRPr lang="en-US" altLang="zh-CN" sz="1600" b="1" baseline="-18000" dirty="0" smtClean="0">
              <a:solidFill>
                <a:schemeClr val="tx1"/>
              </a:solidFill>
            </a:endParaRPr>
          </a:p>
        </p:txBody>
      </p:sp>
      <p:sp>
        <p:nvSpPr>
          <p:cNvPr id="122" name="AutoShape 29"/>
          <p:cNvSpPr/>
          <p:nvPr/>
        </p:nvSpPr>
        <p:spPr bwMode="auto">
          <a:xfrm>
            <a:off x="7968368" y="4797152"/>
            <a:ext cx="2160000" cy="288000"/>
          </a:xfrm>
          <a:prstGeom prst="borderCallout2">
            <a:avLst>
              <a:gd name="adj1" fmla="val 54051"/>
              <a:gd name="adj2" fmla="val -1185"/>
              <a:gd name="adj3" fmla="val 53705"/>
              <a:gd name="adj4" fmla="val -12454"/>
              <a:gd name="adj5" fmla="val 161369"/>
              <a:gd name="adj6" fmla="val -79196"/>
            </a:avLst>
          </a:prstGeom>
          <a:noFill/>
          <a:ln w="12700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zh-CN" altLang="en-US" sz="1800" b="1" dirty="0" smtClean="0">
                <a:solidFill>
                  <a:schemeClr val="tx1"/>
                </a:solidFill>
              </a:rPr>
              <a:t>思考：改为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&gt;&gt;</a:t>
            </a:r>
            <a:r>
              <a:rPr lang="en-US" altLang="zh-CN" sz="1800" b="1" baseline="-18000" dirty="0" smtClean="0">
                <a:solidFill>
                  <a:schemeClr val="tx1"/>
                </a:solidFill>
              </a:rPr>
              <a:t>A</a:t>
            </a:r>
            <a:r>
              <a:rPr lang="en-US" altLang="zh-CN" sz="1800" b="1" dirty="0" smtClean="0">
                <a:solidFill>
                  <a:schemeClr val="tx1"/>
                </a:solidFill>
              </a:rPr>
              <a:t>1</a:t>
            </a:r>
            <a:r>
              <a:rPr lang="zh-CN" altLang="en-US" sz="1800" b="1" dirty="0" smtClean="0">
                <a:solidFill>
                  <a:schemeClr val="tx1"/>
                </a:solidFill>
              </a:rPr>
              <a:t>呢？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grpSp>
        <p:nvGrpSpPr>
          <p:cNvPr id="123" name="组合 122"/>
          <p:cNvGrpSpPr/>
          <p:nvPr/>
        </p:nvGrpSpPr>
        <p:grpSpPr>
          <a:xfrm>
            <a:off x="1883464" y="1268760"/>
            <a:ext cx="4752528" cy="2592288"/>
            <a:chOff x="539552" y="1268760"/>
            <a:chExt cx="4752528" cy="2592288"/>
          </a:xfrm>
        </p:grpSpPr>
        <p:sp>
          <p:nvSpPr>
            <p:cNvPr id="124" name="Rectangle 293"/>
            <p:cNvSpPr>
              <a:spLocks noChangeArrowheads="1"/>
            </p:cNvSpPr>
            <p:nvPr/>
          </p:nvSpPr>
          <p:spPr bwMode="auto">
            <a:xfrm>
              <a:off x="1476008" y="1268760"/>
              <a:ext cx="3096000" cy="2520000"/>
            </a:xfrm>
            <a:prstGeom prst="rect">
              <a:avLst/>
            </a:prstGeom>
            <a:solidFill>
              <a:srgbClr val="CCFF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25" name="Text Box 254"/>
            <p:cNvSpPr txBox="1">
              <a:spLocks noChangeArrowheads="1"/>
            </p:cNvSpPr>
            <p:nvPr/>
          </p:nvSpPr>
          <p:spPr bwMode="auto">
            <a:xfrm>
              <a:off x="2195648" y="3356992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移位器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6" name="Text Box 255"/>
            <p:cNvSpPr txBox="1">
              <a:spLocks noChangeArrowheads="1"/>
            </p:cNvSpPr>
            <p:nvPr/>
          </p:nvSpPr>
          <p:spPr bwMode="auto">
            <a:xfrm>
              <a:off x="3563992" y="1340824"/>
              <a:ext cx="936000" cy="504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寄存器组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GPRs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27" name="Text Box 256"/>
            <p:cNvSpPr txBox="1">
              <a:spLocks noChangeArrowheads="1"/>
            </p:cNvSpPr>
            <p:nvPr/>
          </p:nvSpPr>
          <p:spPr bwMode="auto">
            <a:xfrm>
              <a:off x="1691632" y="1628848"/>
              <a:ext cx="864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锁存器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A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28" name="Text Box 264"/>
            <p:cNvSpPr txBox="1">
              <a:spLocks noChangeArrowheads="1"/>
            </p:cNvSpPr>
            <p:nvPr/>
          </p:nvSpPr>
          <p:spPr bwMode="auto">
            <a:xfrm rot="5400000">
              <a:off x="1629562" y="2456896"/>
              <a:ext cx="14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400" dirty="0">
                  <a:solidFill>
                    <a:srgbClr val="990099"/>
                  </a:solidFill>
                  <a:latin typeface="+mn-ea"/>
                  <a:ea typeface="+mn-ea"/>
                </a:rPr>
                <a:t>…</a:t>
              </a:r>
              <a:endParaRPr lang="en-US" altLang="zh-CN" sz="1400" dirty="0">
                <a:solidFill>
                  <a:srgbClr val="990099"/>
                </a:solidFill>
                <a:latin typeface="+mn-ea"/>
                <a:ea typeface="+mn-ea"/>
              </a:endParaRPr>
            </a:p>
          </p:txBody>
        </p:sp>
        <p:sp>
          <p:nvSpPr>
            <p:cNvPr id="129" name="AutoShape 266"/>
            <p:cNvSpPr>
              <a:spLocks noChangeArrowheads="1"/>
            </p:cNvSpPr>
            <p:nvPr/>
          </p:nvSpPr>
          <p:spPr bwMode="auto">
            <a:xfrm>
              <a:off x="1835696" y="2423090"/>
              <a:ext cx="1440000" cy="288000"/>
            </a:xfrm>
            <a:custGeom>
              <a:avLst/>
              <a:gdLst>
                <a:gd name="G0" fmla="+- 4232 0 0"/>
                <a:gd name="G1" fmla="+- 21600 0 4232"/>
                <a:gd name="G2" fmla="*/ 4232 1 2"/>
                <a:gd name="G3" fmla="+- 21600 0 G2"/>
                <a:gd name="G4" fmla="+/ 4232 21600 2"/>
                <a:gd name="G5" fmla="+/ G1 0 2"/>
                <a:gd name="G6" fmla="*/ 21600 21600 4232"/>
                <a:gd name="G7" fmla="*/ G6 1 2"/>
                <a:gd name="G8" fmla="+- 21600 0 G7"/>
                <a:gd name="G9" fmla="*/ 21600 1 2"/>
                <a:gd name="G10" fmla="+- 4232 0 G9"/>
                <a:gd name="G11" fmla="?: G10 G8 0"/>
                <a:gd name="G12" fmla="?: G10 G7 21600"/>
                <a:gd name="T0" fmla="*/ 19484 w 21600"/>
                <a:gd name="T1" fmla="*/ 10800 h 21600"/>
                <a:gd name="T2" fmla="*/ 10800 w 21600"/>
                <a:gd name="T3" fmla="*/ 21600 h 21600"/>
                <a:gd name="T4" fmla="*/ 2116 w 21600"/>
                <a:gd name="T5" fmla="*/ 10800 h 21600"/>
                <a:gd name="T6" fmla="*/ 10800 w 21600"/>
                <a:gd name="T7" fmla="*/ 0 h 21600"/>
                <a:gd name="T8" fmla="*/ 3916 w 21600"/>
                <a:gd name="T9" fmla="*/ 3916 h 21600"/>
                <a:gd name="T10" fmla="*/ 17684 w 21600"/>
                <a:gd name="T11" fmla="*/ 1768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232" y="21600"/>
                  </a:lnTo>
                  <a:lnTo>
                    <a:pt x="1736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wrap="square" lIns="36000" tIns="36000" rIns="36000" bIns="36000" anchor="ctr">
              <a:noAutofit/>
            </a:bodyPr>
            <a:lstStyle/>
            <a:p>
              <a:pPr algn="ctr"/>
              <a:r>
                <a:rPr lang="en-US" altLang="zh-CN" sz="1800" dirty="0" smtClean="0">
                  <a:solidFill>
                    <a:schemeClr val="tx1"/>
                  </a:solidFill>
                </a:rPr>
                <a:t>ALU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30" name="Text Box 268"/>
            <p:cNvSpPr txBox="1">
              <a:spLocks noChangeArrowheads="1"/>
            </p:cNvSpPr>
            <p:nvPr/>
          </p:nvSpPr>
          <p:spPr bwMode="auto">
            <a:xfrm>
              <a:off x="1835696" y="2058646"/>
              <a:ext cx="576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MUX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31" name="Text Box 271"/>
            <p:cNvSpPr txBox="1">
              <a:spLocks noChangeArrowheads="1"/>
            </p:cNvSpPr>
            <p:nvPr/>
          </p:nvSpPr>
          <p:spPr bwMode="auto">
            <a:xfrm>
              <a:off x="2627640" y="1627955"/>
              <a:ext cx="864000" cy="216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锁存器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32" name="Text Box 297"/>
            <p:cNvSpPr txBox="1">
              <a:spLocks noChangeArrowheads="1"/>
            </p:cNvSpPr>
            <p:nvPr/>
          </p:nvSpPr>
          <p:spPr bwMode="auto">
            <a:xfrm>
              <a:off x="755648" y="1770961"/>
              <a:ext cx="6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输入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D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33" name="直接箭头连接符 132"/>
            <p:cNvCxnSpPr/>
            <p:nvPr/>
          </p:nvCxnSpPr>
          <p:spPr bwMode="auto">
            <a:xfrm>
              <a:off x="2267744" y="1843955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4" name="直接箭头连接符 133"/>
            <p:cNvCxnSpPr/>
            <p:nvPr/>
          </p:nvCxnSpPr>
          <p:spPr bwMode="auto">
            <a:xfrm>
              <a:off x="2267744" y="1412776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35" name="Text Box 268"/>
            <p:cNvSpPr txBox="1">
              <a:spLocks noChangeArrowheads="1"/>
            </p:cNvSpPr>
            <p:nvPr/>
          </p:nvSpPr>
          <p:spPr bwMode="auto">
            <a:xfrm>
              <a:off x="2771800" y="2058646"/>
              <a:ext cx="576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MUX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36" name="直接箭头连接符 135"/>
            <p:cNvCxnSpPr/>
            <p:nvPr/>
          </p:nvCxnSpPr>
          <p:spPr bwMode="auto">
            <a:xfrm flipH="1">
              <a:off x="3059824" y="1484760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7" name="直接箭头连接符 136"/>
            <p:cNvCxnSpPr/>
            <p:nvPr/>
          </p:nvCxnSpPr>
          <p:spPr bwMode="auto">
            <a:xfrm flipH="1" flipV="1">
              <a:off x="1331616" y="2495098"/>
              <a:ext cx="57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8" name="直接箭头连接符 103"/>
            <p:cNvCxnSpPr/>
            <p:nvPr/>
          </p:nvCxnSpPr>
          <p:spPr bwMode="auto">
            <a:xfrm>
              <a:off x="2552436" y="3573016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39" name="直接箭头连接符 138"/>
            <p:cNvCxnSpPr/>
            <p:nvPr/>
          </p:nvCxnSpPr>
          <p:spPr bwMode="auto">
            <a:xfrm flipH="1" flipV="1">
              <a:off x="1331632" y="2636912"/>
              <a:ext cx="72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0" name="Text Box 254"/>
            <p:cNvSpPr txBox="1">
              <a:spLocks noChangeArrowheads="1"/>
            </p:cNvSpPr>
            <p:nvPr/>
          </p:nvSpPr>
          <p:spPr bwMode="auto">
            <a:xfrm>
              <a:off x="3275712" y="3359170"/>
              <a:ext cx="864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Q</a:t>
              </a: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寄存器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41" name="直接箭头连接符 140"/>
            <p:cNvCxnSpPr/>
            <p:nvPr/>
          </p:nvCxnSpPr>
          <p:spPr bwMode="auto">
            <a:xfrm>
              <a:off x="3059832" y="1844848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2" name="直接箭头连接符 155"/>
            <p:cNvCxnSpPr/>
            <p:nvPr/>
          </p:nvCxnSpPr>
          <p:spPr bwMode="auto">
            <a:xfrm flipV="1">
              <a:off x="2627784" y="220488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43" name="直接箭头连接符 142"/>
            <p:cNvCxnSpPr/>
            <p:nvPr/>
          </p:nvCxnSpPr>
          <p:spPr bwMode="auto">
            <a:xfrm>
              <a:off x="1979712" y="1898848"/>
              <a:ext cx="0" cy="16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4" name="直接箭头连接符 51"/>
            <p:cNvCxnSpPr/>
            <p:nvPr/>
          </p:nvCxnSpPr>
          <p:spPr bwMode="auto">
            <a:xfrm>
              <a:off x="1403712" y="1898394"/>
              <a:ext cx="57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145" name="直接箭头连接符 144"/>
            <p:cNvCxnSpPr/>
            <p:nvPr/>
          </p:nvCxnSpPr>
          <p:spPr bwMode="auto">
            <a:xfrm>
              <a:off x="2051728" y="2243090"/>
              <a:ext cx="0" cy="18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6" name="直接箭头连接符 145"/>
            <p:cNvCxnSpPr/>
            <p:nvPr/>
          </p:nvCxnSpPr>
          <p:spPr bwMode="auto">
            <a:xfrm>
              <a:off x="2915816" y="1916848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7" name="直接箭头连接符 51"/>
            <p:cNvCxnSpPr/>
            <p:nvPr/>
          </p:nvCxnSpPr>
          <p:spPr bwMode="auto">
            <a:xfrm>
              <a:off x="2267832" y="1916832"/>
              <a:ext cx="64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cxnSp>
          <p:nvCxnSpPr>
            <p:cNvPr id="148" name="直接箭头连接符 147"/>
            <p:cNvCxnSpPr/>
            <p:nvPr/>
          </p:nvCxnSpPr>
          <p:spPr bwMode="auto">
            <a:xfrm flipH="1" flipV="1">
              <a:off x="2411760" y="220486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49" name="直接箭头连接符 155"/>
            <p:cNvCxnSpPr/>
            <p:nvPr/>
          </p:nvCxnSpPr>
          <p:spPr bwMode="auto">
            <a:xfrm flipH="1">
              <a:off x="2628016" y="2276872"/>
              <a:ext cx="208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50" name="直接箭头连接符 149"/>
            <p:cNvCxnSpPr/>
            <p:nvPr/>
          </p:nvCxnSpPr>
          <p:spPr bwMode="auto">
            <a:xfrm>
              <a:off x="3203848" y="1916848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1" name="直接箭头连接符 51"/>
            <p:cNvCxnSpPr/>
            <p:nvPr/>
          </p:nvCxnSpPr>
          <p:spPr bwMode="auto">
            <a:xfrm flipH="1" flipV="1">
              <a:off x="3203848" y="1916832"/>
              <a:ext cx="1152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152" name="直接箭头连接符 151"/>
            <p:cNvCxnSpPr/>
            <p:nvPr/>
          </p:nvCxnSpPr>
          <p:spPr bwMode="auto">
            <a:xfrm>
              <a:off x="3059832" y="2243090"/>
              <a:ext cx="0" cy="18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3" name="直接箭头连接符 152"/>
            <p:cNvCxnSpPr/>
            <p:nvPr/>
          </p:nvCxnSpPr>
          <p:spPr bwMode="auto">
            <a:xfrm flipH="1" flipV="1">
              <a:off x="3347864" y="2204864"/>
              <a:ext cx="136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54" name="Text Box 254"/>
            <p:cNvSpPr txBox="1">
              <a:spLocks noChangeArrowheads="1"/>
            </p:cNvSpPr>
            <p:nvPr/>
          </p:nvSpPr>
          <p:spPr bwMode="auto">
            <a:xfrm>
              <a:off x="3347784" y="2996952"/>
              <a:ext cx="72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移位器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155" name="直接箭头连接符 154"/>
            <p:cNvCxnSpPr/>
            <p:nvPr/>
          </p:nvCxnSpPr>
          <p:spPr bwMode="auto">
            <a:xfrm>
              <a:off x="3203848" y="3287161"/>
              <a:ext cx="1512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6" name="直接箭头连接符 155"/>
            <p:cNvCxnSpPr/>
            <p:nvPr/>
          </p:nvCxnSpPr>
          <p:spPr bwMode="auto">
            <a:xfrm>
              <a:off x="3707760" y="3212968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7" name="直接箭头连接符 156"/>
            <p:cNvCxnSpPr/>
            <p:nvPr/>
          </p:nvCxnSpPr>
          <p:spPr bwMode="auto">
            <a:xfrm>
              <a:off x="3707904" y="3575194"/>
              <a:ext cx="0" cy="7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58" name="直接箭头连接符 51"/>
            <p:cNvCxnSpPr/>
            <p:nvPr/>
          </p:nvCxnSpPr>
          <p:spPr bwMode="auto">
            <a:xfrm>
              <a:off x="3707904" y="3647202"/>
              <a:ext cx="64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159" name="直接箭头连接符 51"/>
            <p:cNvCxnSpPr/>
            <p:nvPr/>
          </p:nvCxnSpPr>
          <p:spPr bwMode="auto">
            <a:xfrm flipH="1">
              <a:off x="2051632" y="2996952"/>
              <a:ext cx="504152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cxnSp>
          <p:nvCxnSpPr>
            <p:cNvPr id="160" name="直接箭头连接符 51"/>
            <p:cNvCxnSpPr/>
            <p:nvPr/>
          </p:nvCxnSpPr>
          <p:spPr bwMode="auto">
            <a:xfrm>
              <a:off x="2555904" y="2780928"/>
              <a:ext cx="108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cxnSp>
          <p:nvCxnSpPr>
            <p:cNvPr id="161" name="直接箭头连接符 51"/>
            <p:cNvCxnSpPr/>
            <p:nvPr/>
          </p:nvCxnSpPr>
          <p:spPr bwMode="auto">
            <a:xfrm flipV="1">
              <a:off x="4355896" y="1917056"/>
              <a:ext cx="0" cy="172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162" name="直接箭头连接符 161"/>
            <p:cNvCxnSpPr/>
            <p:nvPr/>
          </p:nvCxnSpPr>
          <p:spPr bwMode="auto">
            <a:xfrm flipH="1" flipV="1">
              <a:off x="2051696" y="2780928"/>
              <a:ext cx="50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sp>
          <p:nvSpPr>
            <p:cNvPr id="163" name="Text Box 268"/>
            <p:cNvSpPr txBox="1">
              <a:spLocks noChangeArrowheads="1"/>
            </p:cNvSpPr>
            <p:nvPr/>
          </p:nvSpPr>
          <p:spPr bwMode="auto">
            <a:xfrm>
              <a:off x="1691656" y="2708920"/>
              <a:ext cx="360000" cy="1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dirty="0" smtClean="0">
                  <a:solidFill>
                    <a:schemeClr val="tx1"/>
                  </a:solidFill>
                </a:rPr>
                <a:t>Zero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64" name="直接箭头连接符 163"/>
            <p:cNvCxnSpPr/>
            <p:nvPr/>
          </p:nvCxnSpPr>
          <p:spPr bwMode="auto">
            <a:xfrm flipH="1" flipV="1">
              <a:off x="1331536" y="2780928"/>
              <a:ext cx="36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65" name="直接箭头连接符 164"/>
            <p:cNvCxnSpPr/>
            <p:nvPr/>
          </p:nvCxnSpPr>
          <p:spPr bwMode="auto">
            <a:xfrm flipH="1" flipV="1">
              <a:off x="2915648" y="3429000"/>
              <a:ext cx="216000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66" name="直接箭头连接符 165"/>
            <p:cNvCxnSpPr/>
            <p:nvPr/>
          </p:nvCxnSpPr>
          <p:spPr bwMode="auto">
            <a:xfrm flipH="1" flipV="1">
              <a:off x="4067800" y="3067348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67" name="直接箭头连接符 155"/>
            <p:cNvCxnSpPr/>
            <p:nvPr/>
          </p:nvCxnSpPr>
          <p:spPr bwMode="auto">
            <a:xfrm flipV="1">
              <a:off x="2987824" y="2855154"/>
              <a:ext cx="0" cy="36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8" name="直接箭头连接符 155"/>
            <p:cNvCxnSpPr/>
            <p:nvPr/>
          </p:nvCxnSpPr>
          <p:spPr bwMode="auto">
            <a:xfrm flipH="1">
              <a:off x="2988032" y="2852936"/>
              <a:ext cx="172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69" name="Text Box 408"/>
            <p:cNvSpPr txBox="1">
              <a:spLocks noChangeArrowheads="1"/>
            </p:cNvSpPr>
            <p:nvPr/>
          </p:nvSpPr>
          <p:spPr bwMode="auto">
            <a:xfrm>
              <a:off x="4716080" y="2132888"/>
              <a:ext cx="57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2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170" name="直接箭头连接符 169"/>
            <p:cNvCxnSpPr/>
            <p:nvPr/>
          </p:nvCxnSpPr>
          <p:spPr bwMode="auto">
            <a:xfrm flipH="1" flipV="1">
              <a:off x="3222024" y="2495106"/>
              <a:ext cx="149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71" name="Text Box 408"/>
            <p:cNvSpPr txBox="1">
              <a:spLocks noChangeArrowheads="1"/>
            </p:cNvSpPr>
            <p:nvPr/>
          </p:nvSpPr>
          <p:spPr bwMode="auto">
            <a:xfrm>
              <a:off x="4716136" y="2384904"/>
              <a:ext cx="50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5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3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172" name="Text Box 408"/>
            <p:cNvSpPr txBox="1">
              <a:spLocks noChangeArrowheads="1"/>
            </p:cNvSpPr>
            <p:nvPr/>
          </p:nvSpPr>
          <p:spPr bwMode="auto">
            <a:xfrm>
              <a:off x="4716080" y="2852960"/>
              <a:ext cx="50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8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6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173" name="直接箭头连接符 172"/>
            <p:cNvCxnSpPr/>
            <p:nvPr/>
          </p:nvCxnSpPr>
          <p:spPr bwMode="auto">
            <a:xfrm flipH="1">
              <a:off x="4067800" y="3140936"/>
              <a:ext cx="648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74" name="直接箭头连接符 173"/>
            <p:cNvCxnSpPr/>
            <p:nvPr/>
          </p:nvCxnSpPr>
          <p:spPr bwMode="auto">
            <a:xfrm>
              <a:off x="1331640" y="3500969"/>
              <a:ext cx="864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75" name="直接箭头连接符 174"/>
            <p:cNvCxnSpPr/>
            <p:nvPr/>
          </p:nvCxnSpPr>
          <p:spPr bwMode="auto">
            <a:xfrm flipH="1">
              <a:off x="1331640" y="3645024"/>
              <a:ext cx="1728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76" name="直接箭头连接符 155"/>
            <p:cNvCxnSpPr/>
            <p:nvPr/>
          </p:nvCxnSpPr>
          <p:spPr bwMode="auto">
            <a:xfrm flipV="1">
              <a:off x="2915648" y="3501008"/>
              <a:ext cx="144088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none"/>
            </a:ln>
            <a:effectLst/>
          </p:spPr>
        </p:cxnSp>
        <p:cxnSp>
          <p:nvCxnSpPr>
            <p:cNvPr id="177" name="直接箭头连接符 155"/>
            <p:cNvCxnSpPr/>
            <p:nvPr/>
          </p:nvCxnSpPr>
          <p:spPr bwMode="auto">
            <a:xfrm>
              <a:off x="3059664" y="3501008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8" name="直接箭头连接符 155"/>
            <p:cNvCxnSpPr/>
            <p:nvPr/>
          </p:nvCxnSpPr>
          <p:spPr bwMode="auto">
            <a:xfrm>
              <a:off x="3203848" y="3140944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79" name="直接箭头连接符 155"/>
            <p:cNvCxnSpPr/>
            <p:nvPr/>
          </p:nvCxnSpPr>
          <p:spPr bwMode="auto">
            <a:xfrm flipH="1">
              <a:off x="3203920" y="3140968"/>
              <a:ext cx="143864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none"/>
            </a:ln>
            <a:effectLst/>
          </p:spPr>
        </p:cxnSp>
        <p:cxnSp>
          <p:nvCxnSpPr>
            <p:cNvPr id="180" name="直接箭头连接符 155"/>
            <p:cNvCxnSpPr/>
            <p:nvPr/>
          </p:nvCxnSpPr>
          <p:spPr bwMode="auto">
            <a:xfrm>
              <a:off x="4283824" y="2999146"/>
              <a:ext cx="43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81" name="直接箭头连接符 155"/>
            <p:cNvCxnSpPr/>
            <p:nvPr/>
          </p:nvCxnSpPr>
          <p:spPr bwMode="auto">
            <a:xfrm flipV="1">
              <a:off x="4283824" y="2999138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82" name="Text Box 408"/>
            <p:cNvSpPr txBox="1">
              <a:spLocks noChangeArrowheads="1"/>
            </p:cNvSpPr>
            <p:nvPr/>
          </p:nvSpPr>
          <p:spPr bwMode="auto">
            <a:xfrm>
              <a:off x="4716080" y="3071178"/>
              <a:ext cx="360000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70000"/>
                </a:lnSpc>
              </a:pPr>
              <a:r>
                <a:rPr lang="en-US" altLang="zh-CN" sz="1600" dirty="0">
                  <a:solidFill>
                    <a:schemeClr val="tx1"/>
                  </a:solidFill>
                </a:rPr>
                <a:t>Q</a:t>
              </a:r>
              <a:r>
                <a:rPr lang="en-US" altLang="zh-CN" sz="1600" baseline="-18000" dirty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Q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n-1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183" name="Text Box 408"/>
            <p:cNvSpPr txBox="1">
              <a:spLocks noChangeArrowheads="1"/>
            </p:cNvSpPr>
            <p:nvPr/>
          </p:nvSpPr>
          <p:spPr bwMode="auto">
            <a:xfrm>
              <a:off x="971576" y="3357032"/>
              <a:ext cx="360000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R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n-1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R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184" name="直接箭头连接符 183"/>
            <p:cNvCxnSpPr/>
            <p:nvPr/>
          </p:nvCxnSpPr>
          <p:spPr bwMode="auto">
            <a:xfrm flipH="1">
              <a:off x="3060016" y="2639114"/>
              <a:ext cx="165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85" name="Text Box 408"/>
            <p:cNvSpPr txBox="1">
              <a:spLocks noChangeArrowheads="1"/>
            </p:cNvSpPr>
            <p:nvPr/>
          </p:nvSpPr>
          <p:spPr bwMode="auto">
            <a:xfrm>
              <a:off x="4716096" y="2567130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</a:rPr>
                <a:t>in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sp>
          <p:nvSpPr>
            <p:cNvPr id="186" name="Text Box 297"/>
            <p:cNvSpPr txBox="1">
              <a:spLocks noChangeArrowheads="1"/>
            </p:cNvSpPr>
            <p:nvPr/>
          </p:nvSpPr>
          <p:spPr bwMode="auto">
            <a:xfrm>
              <a:off x="1871696" y="2240888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chemeClr val="tx1"/>
                  </a:solidFill>
                </a:rPr>
                <a:t>R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7" name="Text Box 297"/>
            <p:cNvSpPr txBox="1">
              <a:spLocks noChangeArrowheads="1"/>
            </p:cNvSpPr>
            <p:nvPr/>
          </p:nvSpPr>
          <p:spPr bwMode="auto">
            <a:xfrm>
              <a:off x="2915816" y="2240888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S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8" name="Text Box 297"/>
            <p:cNvSpPr txBox="1">
              <a:spLocks noChangeArrowheads="1"/>
            </p:cNvSpPr>
            <p:nvPr/>
          </p:nvSpPr>
          <p:spPr bwMode="auto">
            <a:xfrm>
              <a:off x="2555776" y="2816952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 smtClean="0">
                  <a:solidFill>
                    <a:schemeClr val="tx1"/>
                  </a:solidFill>
                </a:rPr>
                <a:t>F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89" name="直接箭头连接符 188"/>
            <p:cNvCxnSpPr/>
            <p:nvPr/>
          </p:nvCxnSpPr>
          <p:spPr bwMode="auto">
            <a:xfrm>
              <a:off x="2555752" y="2711130"/>
              <a:ext cx="0" cy="64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0" name="直接箭头连接符 51"/>
            <p:cNvCxnSpPr/>
            <p:nvPr/>
          </p:nvCxnSpPr>
          <p:spPr bwMode="auto">
            <a:xfrm flipV="1">
              <a:off x="4427840" y="1844824"/>
              <a:ext cx="0" cy="187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191" name="直接箭头连接符 190"/>
            <p:cNvCxnSpPr/>
            <p:nvPr/>
          </p:nvCxnSpPr>
          <p:spPr bwMode="auto">
            <a:xfrm>
              <a:off x="3923784" y="2783106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2" name="直接箭头连接符 51"/>
            <p:cNvCxnSpPr/>
            <p:nvPr/>
          </p:nvCxnSpPr>
          <p:spPr bwMode="auto">
            <a:xfrm flipH="1" flipV="1">
              <a:off x="3923832" y="2780928"/>
              <a:ext cx="432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cxnSp>
          <p:nvCxnSpPr>
            <p:cNvPr id="193" name="直接箭头连接符 192"/>
            <p:cNvCxnSpPr/>
            <p:nvPr/>
          </p:nvCxnSpPr>
          <p:spPr bwMode="auto">
            <a:xfrm>
              <a:off x="3635752" y="2783106"/>
              <a:ext cx="0" cy="21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94" name="Text Box 297"/>
            <p:cNvSpPr txBox="1">
              <a:spLocks noChangeArrowheads="1"/>
            </p:cNvSpPr>
            <p:nvPr/>
          </p:nvSpPr>
          <p:spPr bwMode="auto">
            <a:xfrm>
              <a:off x="1727680" y="3321008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</a:rPr>
                <a:t>Y</a:t>
              </a:r>
              <a:endParaRPr lang="zh-CN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5" name="Text Box 268"/>
            <p:cNvSpPr txBox="1">
              <a:spLocks noChangeArrowheads="1"/>
            </p:cNvSpPr>
            <p:nvPr/>
          </p:nvSpPr>
          <p:spPr bwMode="auto">
            <a:xfrm>
              <a:off x="1691704" y="3140968"/>
              <a:ext cx="432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MUX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96" name="直接箭头连接符 51"/>
            <p:cNvCxnSpPr/>
            <p:nvPr/>
          </p:nvCxnSpPr>
          <p:spPr bwMode="auto">
            <a:xfrm>
              <a:off x="2555992" y="3717032"/>
              <a:ext cx="1872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197" name="直接箭头连接符 51"/>
            <p:cNvCxnSpPr/>
            <p:nvPr/>
          </p:nvCxnSpPr>
          <p:spPr bwMode="auto">
            <a:xfrm>
              <a:off x="2051632" y="2996952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198" name="直接箭头连接符 103"/>
            <p:cNvCxnSpPr/>
            <p:nvPr/>
          </p:nvCxnSpPr>
          <p:spPr bwMode="auto">
            <a:xfrm>
              <a:off x="1907704" y="3321048"/>
              <a:ext cx="0" cy="54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99" name="直接箭头连接符 198"/>
            <p:cNvCxnSpPr/>
            <p:nvPr/>
          </p:nvCxnSpPr>
          <p:spPr bwMode="auto">
            <a:xfrm flipH="1" flipV="1">
              <a:off x="2123704" y="3212976"/>
              <a:ext cx="864000" cy="1588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00" name="直接箭头连接符 155"/>
            <p:cNvCxnSpPr/>
            <p:nvPr/>
          </p:nvCxnSpPr>
          <p:spPr bwMode="auto">
            <a:xfrm flipV="1">
              <a:off x="3131840" y="2924944"/>
              <a:ext cx="0" cy="50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1" name="直接箭头连接符 155"/>
            <p:cNvCxnSpPr/>
            <p:nvPr/>
          </p:nvCxnSpPr>
          <p:spPr bwMode="auto">
            <a:xfrm flipH="1">
              <a:off x="3132024" y="2924944"/>
              <a:ext cx="158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02" name="直接箭头连接符 51"/>
            <p:cNvCxnSpPr/>
            <p:nvPr/>
          </p:nvCxnSpPr>
          <p:spPr bwMode="auto">
            <a:xfrm flipH="1" flipV="1">
              <a:off x="3059832" y="1484784"/>
              <a:ext cx="50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205" name="直接箭头连接符 51"/>
            <p:cNvCxnSpPr/>
            <p:nvPr/>
          </p:nvCxnSpPr>
          <p:spPr bwMode="auto">
            <a:xfrm flipH="1" flipV="1">
              <a:off x="2267904" y="1412776"/>
              <a:ext cx="129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207" name="直接箭头连接符 206"/>
            <p:cNvCxnSpPr/>
            <p:nvPr/>
          </p:nvCxnSpPr>
          <p:spPr bwMode="auto">
            <a:xfrm flipH="1">
              <a:off x="4499824" y="1412776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208" name="直接箭头连接符 207"/>
            <p:cNvCxnSpPr/>
            <p:nvPr/>
          </p:nvCxnSpPr>
          <p:spPr bwMode="auto">
            <a:xfrm flipH="1">
              <a:off x="4499992" y="1556792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sp>
          <p:nvSpPr>
            <p:cNvPr id="209" name="Text Box 408"/>
            <p:cNvSpPr txBox="1">
              <a:spLocks noChangeArrowheads="1"/>
            </p:cNvSpPr>
            <p:nvPr/>
          </p:nvSpPr>
          <p:spPr bwMode="auto">
            <a:xfrm>
              <a:off x="4716016" y="1340768"/>
              <a:ext cx="144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7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endParaRPr lang="en-US" altLang="zh-CN" sz="1600" baseline="-18000" dirty="0" smtClean="0">
                <a:solidFill>
                  <a:schemeClr val="tx1"/>
                </a:solidFill>
              </a:endParaRPr>
            </a:p>
          </p:txBody>
        </p:sp>
        <p:cxnSp>
          <p:nvCxnSpPr>
            <p:cNvPr id="274" name="直接箭头连接符 103"/>
            <p:cNvCxnSpPr/>
            <p:nvPr/>
          </p:nvCxnSpPr>
          <p:spPr bwMode="auto">
            <a:xfrm>
              <a:off x="1763664" y="2996952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75" name="直接箭头连接符 51"/>
            <p:cNvCxnSpPr/>
            <p:nvPr/>
          </p:nvCxnSpPr>
          <p:spPr bwMode="auto">
            <a:xfrm>
              <a:off x="1547640" y="2996952"/>
              <a:ext cx="21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276" name="直接箭头连接符 51"/>
            <p:cNvCxnSpPr/>
            <p:nvPr/>
          </p:nvCxnSpPr>
          <p:spPr bwMode="auto">
            <a:xfrm>
              <a:off x="1547664" y="1952992"/>
              <a:ext cx="0" cy="10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  <a:effectLst/>
          </p:spPr>
        </p:cxnSp>
        <p:cxnSp>
          <p:nvCxnSpPr>
            <p:cNvPr id="277" name="直接箭头连接符 51"/>
            <p:cNvCxnSpPr/>
            <p:nvPr/>
          </p:nvCxnSpPr>
          <p:spPr bwMode="auto">
            <a:xfrm flipH="1" flipV="1">
              <a:off x="1547664" y="1952680"/>
              <a:ext cx="72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sp>
          <p:nvSpPr>
            <p:cNvPr id="278" name="Text Box 408"/>
            <p:cNvSpPr txBox="1">
              <a:spLocks noChangeArrowheads="1"/>
            </p:cNvSpPr>
            <p:nvPr/>
          </p:nvSpPr>
          <p:spPr bwMode="auto">
            <a:xfrm>
              <a:off x="539552" y="2492928"/>
              <a:ext cx="792064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S/Z/C/V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" grpId="0" bldLvl="0" animBg="1"/>
      <p:bldP spid="122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CA591-8AB8-422E-B769-DC3EBB4193A6}" type="slidenum">
              <a:rPr lang="en-US" altLang="zh-CN" smtClean="0"/>
            </a:fld>
            <a:endParaRPr lang="en-US" altLang="zh-CN"/>
          </a:p>
        </p:txBody>
      </p:sp>
      <p:sp>
        <p:nvSpPr>
          <p:cNvPr id="99" name="Text Box 199"/>
          <p:cNvSpPr txBox="1">
            <a:spLocks noChangeArrowheads="1"/>
          </p:cNvSpPr>
          <p:nvPr/>
        </p:nvSpPr>
        <p:spPr bwMode="auto">
          <a:xfrm>
            <a:off x="1703512" y="332656"/>
            <a:ext cx="4536504" cy="922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dirty="0" smtClean="0">
                <a:solidFill>
                  <a:srgbClr val="990099"/>
                </a:solidFill>
              </a:rPr>
              <a:t>     例</a:t>
            </a:r>
            <a:r>
              <a:rPr lang="en-US" altLang="zh-CN" dirty="0" smtClean="0">
                <a:solidFill>
                  <a:srgbClr val="990099"/>
                </a:solidFill>
              </a:rPr>
              <a:t>4</a:t>
            </a:r>
            <a:r>
              <a:rPr lang="zh-CN" altLang="en-US" dirty="0" smtClean="0">
                <a:solidFill>
                  <a:srgbClr val="990099"/>
                </a:solidFill>
              </a:rPr>
              <a:t>：</a:t>
            </a:r>
            <a:r>
              <a:rPr lang="en-US" altLang="zh-CN" dirty="0" smtClean="0">
                <a:solidFill>
                  <a:schemeClr val="tx1"/>
                </a:solidFill>
              </a:rPr>
              <a:t>29C101</a:t>
            </a:r>
            <a:r>
              <a:rPr lang="zh-CN" altLang="en-US" dirty="0" smtClean="0">
                <a:solidFill>
                  <a:schemeClr val="tx1"/>
                </a:solidFill>
              </a:rPr>
              <a:t>引脚连接的</a:t>
            </a:r>
            <a:r>
              <a:rPr lang="zh-CN" altLang="en-US" dirty="0">
                <a:solidFill>
                  <a:schemeClr val="tx1"/>
                </a:solidFill>
              </a:rPr>
              <a:t>控制</a:t>
            </a:r>
            <a:r>
              <a:rPr lang="zh-CN" altLang="en-US" dirty="0" smtClean="0">
                <a:solidFill>
                  <a:schemeClr val="tx1"/>
                </a:solidFill>
              </a:rPr>
              <a:t>逻辑如下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同上页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altLang="en-US" dirty="0" smtClean="0">
                <a:solidFill>
                  <a:schemeClr val="tx1"/>
                </a:solidFill>
              </a:rPr>
              <a:t>，写出实现表中指令功能的控制信号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graphicFrame>
        <p:nvGraphicFramePr>
          <p:cNvPr id="100" name="表格 99"/>
          <p:cNvGraphicFramePr>
            <a:graphicFrameLocks noGrp="1"/>
          </p:cNvGraphicFramePr>
          <p:nvPr/>
        </p:nvGraphicFramePr>
        <p:xfrm>
          <a:off x="2423592" y="4653136"/>
          <a:ext cx="7848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115"/>
                <a:gridCol w="648335"/>
                <a:gridCol w="679450"/>
                <a:gridCol w="544830"/>
                <a:gridCol w="647700"/>
                <a:gridCol w="648335"/>
                <a:gridCol w="647700"/>
                <a:gridCol w="576580"/>
                <a:gridCol w="503555"/>
              </a:tblGrid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指令            控制信号</a:t>
                      </a:r>
                      <a:endParaRPr lang="zh-CN" altLang="en-US" sz="18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en-US" altLang="zh-CN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SFS</a:t>
                      </a: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zh-CN" altLang="en-US" sz="18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8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SCI</a:t>
                      </a:r>
                      <a:endParaRPr lang="zh-CN" altLang="en-US" sz="1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SSH</a:t>
                      </a:r>
                      <a:endParaRPr lang="zh-CN" altLang="en-US" sz="1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R2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R2-R1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PSR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Z/C/V/S</a:t>
                      </a:r>
                      <a:endParaRPr lang="zh-CN" altLang="en-US" sz="1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R2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R2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⊕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R1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PSR</a:t>
                      </a:r>
                      <a:r>
                        <a:rPr lang="zh-CN" altLang="en-US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←</a:t>
                      </a:r>
                      <a:r>
                        <a:rPr lang="en-US" altLang="zh-CN" sz="18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Z/0/0/S</a:t>
                      </a: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8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1" name="表格 100"/>
          <p:cNvGraphicFramePr>
            <a:graphicFrameLocks noGrp="1"/>
          </p:cNvGraphicFramePr>
          <p:nvPr/>
        </p:nvGraphicFramePr>
        <p:xfrm>
          <a:off x="2567608" y="1844824"/>
          <a:ext cx="3495675" cy="2171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190"/>
                <a:gridCol w="759460"/>
                <a:gridCol w="503555"/>
                <a:gridCol w="432435"/>
                <a:gridCol w="97155"/>
                <a:gridCol w="550545"/>
                <a:gridCol w="97155"/>
                <a:gridCol w="262890"/>
                <a:gridCol w="288290"/>
              </a:tblGrid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~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CFF"/>
                    </a:solidFill>
                  </a:tcPr>
                </a:tc>
                <a:tc hMerge="1">
                  <a:tcPr marL="36000" marR="36000" marT="18000" marB="18000"/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GPR[b]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Y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ALU</a:t>
                      </a:r>
                      <a:endParaRPr lang="zh-CN" altLang="en-US" sz="16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R+S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S-R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R-S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∨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F/2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Q/2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∧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F/2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∧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⊕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+mn-ea"/>
                        </a:rPr>
                        <a:t>⊙</a:t>
                      </a: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7" name="Text Box 408"/>
          <p:cNvSpPr txBox="1">
            <a:spLocks noChangeArrowheads="1"/>
          </p:cNvSpPr>
          <p:nvPr/>
        </p:nvSpPr>
        <p:spPr bwMode="auto">
          <a:xfrm>
            <a:off x="5338445" y="5477510"/>
            <a:ext cx="5777230" cy="72009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54000" tIns="10800" rIns="18000" bIns="10800" anchor="t" anchorCtr="0"/>
          <a:lstStyle/>
          <a:p>
            <a:r>
              <a:rPr lang="en-US" altLang="zh-CN" sz="2000" b="1" dirty="0" smtClean="0">
                <a:solidFill>
                  <a:schemeClr val="tx1"/>
                </a:solidFill>
              </a:rPr>
              <a:t>0010  0001  001  011   001   001   01      /</a:t>
            </a:r>
            <a:endParaRPr lang="en-US" altLang="zh-CN" sz="2000" b="1" dirty="0" smtClean="0">
              <a:solidFill>
                <a:schemeClr val="tx1"/>
              </a:solidFill>
            </a:endParaRPr>
          </a:p>
          <a:p>
            <a:endParaRPr lang="en-US" altLang="zh-CN" sz="2000" b="1" dirty="0" smtClean="0">
              <a:solidFill>
                <a:schemeClr val="tx1"/>
              </a:solidFill>
            </a:endParaRPr>
          </a:p>
          <a:p>
            <a:r>
              <a:rPr lang="en-US" altLang="zh-CN" sz="2000" b="1" dirty="0" smtClean="0">
                <a:solidFill>
                  <a:schemeClr val="tx1"/>
                </a:solidFill>
              </a:rPr>
              <a:t>0010  0001  010  </a:t>
            </a:r>
            <a:r>
              <a:rPr lang="en-US" altLang="zh-CN" sz="2000" b="1" dirty="0">
                <a:solidFill>
                  <a:schemeClr val="tx1"/>
                </a:solidFill>
              </a:rPr>
              <a:t>011   </a:t>
            </a:r>
            <a:r>
              <a:rPr lang="en-US" altLang="zh-CN" sz="2000" b="1" dirty="0" smtClean="0">
                <a:solidFill>
                  <a:schemeClr val="tx1"/>
                </a:solidFill>
              </a:rPr>
              <a:t>110   </a:t>
            </a:r>
            <a:r>
              <a:rPr lang="en-US" altLang="zh-CN" sz="2000" b="1" dirty="0">
                <a:solidFill>
                  <a:schemeClr val="tx1"/>
                </a:solidFill>
              </a:rPr>
              <a:t>001   00  </a:t>
            </a:r>
            <a:r>
              <a:rPr lang="en-US" altLang="zh-CN" sz="2000" b="1" dirty="0" smtClean="0">
                <a:solidFill>
                  <a:schemeClr val="tx1"/>
                </a:solidFill>
              </a:rPr>
              <a:t>    /</a:t>
            </a:r>
            <a:endParaRPr lang="en-US" altLang="zh-CN" sz="2000" b="1" dirty="0" smtClean="0">
              <a:solidFill>
                <a:schemeClr val="tx1"/>
              </a:solidFill>
            </a:endParaRPr>
          </a:p>
          <a:p>
            <a:endParaRPr lang="en-US" altLang="zh-CN" sz="1800" dirty="0" smtClean="0">
              <a:solidFill>
                <a:schemeClr val="tx1"/>
              </a:solidFill>
            </a:endParaRPr>
          </a:p>
          <a:p>
            <a:endParaRPr lang="en-US" altLang="zh-CN" sz="1800" baseline="-18000" dirty="0">
              <a:solidFill>
                <a:schemeClr val="tx1"/>
              </a:solidFill>
            </a:endParaRPr>
          </a:p>
        </p:txBody>
      </p:sp>
      <p:sp>
        <p:nvSpPr>
          <p:cNvPr id="12" name="AutoShape 26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59263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6312024" y="1844824"/>
          <a:ext cx="1008380" cy="120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190"/>
                <a:gridCol w="504190"/>
              </a:tblGrid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SCI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</a:t>
                      </a:r>
                      <a:r>
                        <a:rPr lang="en-US" altLang="zh-CN" sz="1600" b="1" kern="1200" baseline="-180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</a:t>
                      </a:r>
                      <a:endParaRPr lang="zh-CN" altLang="en-US" sz="1600" b="1" kern="1200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CF#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7536160" y="1869856"/>
          <a:ext cx="2376170" cy="96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190"/>
                <a:gridCol w="504190"/>
                <a:gridCol w="360045"/>
                <a:gridCol w="503555"/>
                <a:gridCol w="504190"/>
              </a:tblGrid>
              <a:tr h="241300">
                <a:tc row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SSH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左移</a:t>
                      </a:r>
                      <a:endParaRPr lang="zh-CN" altLang="en-US" sz="16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右移</a:t>
                      </a:r>
                      <a:endParaRPr lang="zh-CN" altLang="en-US" sz="16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 v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zh-CN" altLang="en-US" sz="16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</a:t>
                      </a:r>
                      <a:r>
                        <a:rPr lang="en-US" altLang="zh-CN" sz="1600" b="1" kern="1200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n-1</a:t>
                      </a:r>
                      <a:endParaRPr lang="zh-CN" altLang="en-US" sz="1600" b="1" kern="1200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Q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n-1</a:t>
                      </a:r>
                      <a:endParaRPr lang="zh-CN" altLang="en-US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zh-CN" altLang="en-US" sz="1600" b="1" baseline="-18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</a:t>
                      </a:r>
                      <a:r>
                        <a:rPr lang="en-US" altLang="zh-CN" sz="1600" b="1" baseline="-180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baseline="-180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7536160" y="2996952"/>
          <a:ext cx="237617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190"/>
                <a:gridCol w="431800"/>
                <a:gridCol w="432435"/>
                <a:gridCol w="503555"/>
                <a:gridCol w="504190"/>
              </a:tblGrid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ZF</a:t>
                      </a:r>
                      <a:endParaRPr lang="zh-CN" altLang="en-US" sz="16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CF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OF</a:t>
                      </a:r>
                      <a:endParaRPr lang="zh-CN" altLang="en-US" sz="16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SF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C#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Z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zh-CN" altLang="en-US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</a:t>
                      </a:r>
                      <a:endParaRPr lang="en-US" altLang="zh-CN" sz="16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100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Vu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101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en-US" altLang="zh-CN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Vs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zh-CN" sz="16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87" name="组合 86"/>
          <p:cNvGrpSpPr/>
          <p:nvPr/>
        </p:nvGrpSpPr>
        <p:grpSpPr>
          <a:xfrm>
            <a:off x="6456040" y="476672"/>
            <a:ext cx="3960440" cy="1152128"/>
            <a:chOff x="4932040" y="476672"/>
            <a:chExt cx="3960440" cy="1152128"/>
          </a:xfrm>
        </p:grpSpPr>
        <p:sp>
          <p:nvSpPr>
            <p:cNvPr id="88" name="Text Box 253"/>
            <p:cNvSpPr txBox="1">
              <a:spLocks noChangeArrowheads="1"/>
            </p:cNvSpPr>
            <p:nvPr/>
          </p:nvSpPr>
          <p:spPr bwMode="auto">
            <a:xfrm>
              <a:off x="4932040" y="690947"/>
              <a:ext cx="504000" cy="288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PSR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89" name="直接箭头连接符 88"/>
            <p:cNvCxnSpPr/>
            <p:nvPr/>
          </p:nvCxnSpPr>
          <p:spPr bwMode="auto">
            <a:xfrm>
              <a:off x="6938799" y="656704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sp>
          <p:nvSpPr>
            <p:cNvPr id="90" name="Text Box 253"/>
            <p:cNvSpPr txBox="1">
              <a:spLocks noChangeArrowheads="1"/>
            </p:cNvSpPr>
            <p:nvPr/>
          </p:nvSpPr>
          <p:spPr bwMode="auto">
            <a:xfrm>
              <a:off x="6660176" y="764792"/>
              <a:ext cx="792000" cy="504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</a:rPr>
                <a:t>运算器</a:t>
              </a:r>
              <a:endParaRPr lang="en-US" altLang="zh-CN" sz="1600" dirty="0" smtClean="0">
                <a:solidFill>
                  <a:schemeClr val="tx1"/>
                </a:solidFill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29C101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91" name="直接箭头连接符 90"/>
            <p:cNvCxnSpPr/>
            <p:nvPr/>
          </p:nvCxnSpPr>
          <p:spPr bwMode="auto">
            <a:xfrm flipH="1">
              <a:off x="7442863" y="834955"/>
              <a:ext cx="21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2" name="Text Box 254"/>
            <p:cNvSpPr txBox="1">
              <a:spLocks noChangeArrowheads="1"/>
            </p:cNvSpPr>
            <p:nvPr/>
          </p:nvSpPr>
          <p:spPr bwMode="auto">
            <a:xfrm>
              <a:off x="7658863" y="690979"/>
              <a:ext cx="864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err="1" smtClean="0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1600" baseline="-18000" dirty="0" err="1" smtClean="0">
                  <a:solidFill>
                    <a:schemeClr val="tx1"/>
                  </a:solidFill>
                  <a:latin typeface="+mn-ea"/>
                  <a:ea typeface="+mn-ea"/>
                </a:rPr>
                <a:t>in</a:t>
              </a: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连接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93" name="Text Box 254"/>
            <p:cNvSpPr txBox="1">
              <a:spLocks noChangeArrowheads="1"/>
            </p:cNvSpPr>
            <p:nvPr/>
          </p:nvSpPr>
          <p:spPr bwMode="auto">
            <a:xfrm>
              <a:off x="7658927" y="1052736"/>
              <a:ext cx="1008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R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/Q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连接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94" name="Text Box 254"/>
            <p:cNvSpPr txBox="1">
              <a:spLocks noChangeArrowheads="1"/>
            </p:cNvSpPr>
            <p:nvPr/>
          </p:nvSpPr>
          <p:spPr bwMode="auto">
            <a:xfrm>
              <a:off x="5724072" y="690947"/>
              <a:ext cx="720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源选择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95" name="Text Box 254"/>
            <p:cNvSpPr txBox="1">
              <a:spLocks noChangeArrowheads="1"/>
            </p:cNvSpPr>
            <p:nvPr/>
          </p:nvSpPr>
          <p:spPr bwMode="auto">
            <a:xfrm>
              <a:off x="5220208" y="1050987"/>
              <a:ext cx="1224000" cy="28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R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/Q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zh-CN" altLang="en-US" sz="1600" dirty="0" smtClean="0">
                  <a:solidFill>
                    <a:schemeClr val="tx1"/>
                  </a:solidFill>
                  <a:latin typeface="+mn-ea"/>
                  <a:ea typeface="+mn-ea"/>
                </a:rPr>
                <a:t>连接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96" name="直接箭头连接符 95"/>
            <p:cNvCxnSpPr/>
            <p:nvPr/>
          </p:nvCxnSpPr>
          <p:spPr bwMode="auto">
            <a:xfrm flipH="1">
              <a:off x="6444144" y="834963"/>
              <a:ext cx="216000" cy="8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7" name="直接箭头连接符 96"/>
            <p:cNvCxnSpPr/>
            <p:nvPr/>
          </p:nvCxnSpPr>
          <p:spPr bwMode="auto">
            <a:xfrm>
              <a:off x="6444144" y="1196752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8" name="直接箭头连接符 97"/>
            <p:cNvCxnSpPr/>
            <p:nvPr/>
          </p:nvCxnSpPr>
          <p:spPr bwMode="auto">
            <a:xfrm flipH="1">
              <a:off x="7442799" y="1196752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2" name="直接箭头连接符 101"/>
            <p:cNvCxnSpPr/>
            <p:nvPr/>
          </p:nvCxnSpPr>
          <p:spPr bwMode="auto">
            <a:xfrm flipH="1" flipV="1">
              <a:off x="5436040" y="834963"/>
              <a:ext cx="288000" cy="0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3" name="直接箭头连接符 102"/>
            <p:cNvCxnSpPr/>
            <p:nvPr/>
          </p:nvCxnSpPr>
          <p:spPr bwMode="auto">
            <a:xfrm flipV="1">
              <a:off x="6866311" y="1268760"/>
              <a:ext cx="424" cy="180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4" name="直接箭头连接符 103"/>
            <p:cNvCxnSpPr/>
            <p:nvPr/>
          </p:nvCxnSpPr>
          <p:spPr bwMode="auto">
            <a:xfrm flipV="1">
              <a:off x="7226351" y="1268760"/>
              <a:ext cx="424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05" name="直接箭头连接符 104"/>
            <p:cNvCxnSpPr/>
            <p:nvPr/>
          </p:nvCxnSpPr>
          <p:spPr bwMode="auto">
            <a:xfrm>
              <a:off x="7154823" y="656704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106" name="直接箭头连接符 105"/>
            <p:cNvCxnSpPr/>
            <p:nvPr/>
          </p:nvCxnSpPr>
          <p:spPr bwMode="auto">
            <a:xfrm flipV="1">
              <a:off x="8018935" y="1340768"/>
              <a:ext cx="424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08" name="Text Box 408"/>
            <p:cNvSpPr txBox="1">
              <a:spLocks noChangeArrowheads="1"/>
            </p:cNvSpPr>
            <p:nvPr/>
          </p:nvSpPr>
          <p:spPr bwMode="auto">
            <a:xfrm>
              <a:off x="8090943" y="134079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SSH</a:t>
              </a:r>
              <a:endParaRPr lang="en-US" altLang="zh-CN" sz="1600" dirty="0" smtClean="0">
                <a:solidFill>
                  <a:srgbClr val="FF3399"/>
                </a:solidFill>
              </a:endParaRPr>
            </a:p>
          </p:txBody>
        </p:sp>
        <p:cxnSp>
          <p:nvCxnSpPr>
            <p:cNvPr id="109" name="直接箭头连接符 108"/>
            <p:cNvCxnSpPr/>
            <p:nvPr/>
          </p:nvCxnSpPr>
          <p:spPr bwMode="auto">
            <a:xfrm flipV="1">
              <a:off x="6011640" y="1340768"/>
              <a:ext cx="424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10" name="Text Box 408"/>
            <p:cNvSpPr txBox="1">
              <a:spLocks noChangeArrowheads="1"/>
            </p:cNvSpPr>
            <p:nvPr/>
          </p:nvSpPr>
          <p:spPr bwMode="auto">
            <a:xfrm>
              <a:off x="6084112" y="134079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SSH</a:t>
              </a:r>
              <a:endParaRPr lang="en-US" altLang="zh-CN" sz="1600" baseline="-18000" dirty="0">
                <a:solidFill>
                  <a:srgbClr val="FF3399"/>
                </a:solidFill>
              </a:endParaRPr>
            </a:p>
          </p:txBody>
        </p:sp>
        <p:cxnSp>
          <p:nvCxnSpPr>
            <p:cNvPr id="111" name="直接箭头连接符 110"/>
            <p:cNvCxnSpPr/>
            <p:nvPr/>
          </p:nvCxnSpPr>
          <p:spPr bwMode="auto">
            <a:xfrm>
              <a:off x="8018935" y="476672"/>
              <a:ext cx="848" cy="21602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12" name="Text Box 408"/>
            <p:cNvSpPr txBox="1">
              <a:spLocks noChangeArrowheads="1"/>
            </p:cNvSpPr>
            <p:nvPr/>
          </p:nvSpPr>
          <p:spPr bwMode="auto">
            <a:xfrm>
              <a:off x="8090943" y="47667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SCI</a:t>
              </a:r>
              <a:endParaRPr lang="en-US" altLang="zh-CN" sz="1600" baseline="-18000" dirty="0">
                <a:solidFill>
                  <a:srgbClr val="FF3399"/>
                </a:solidFill>
              </a:endParaRPr>
            </a:p>
          </p:txBody>
        </p:sp>
        <p:cxnSp>
          <p:nvCxnSpPr>
            <p:cNvPr id="113" name="直接箭头连接符 112"/>
            <p:cNvCxnSpPr/>
            <p:nvPr/>
          </p:nvCxnSpPr>
          <p:spPr bwMode="auto">
            <a:xfrm>
              <a:off x="6155328" y="476672"/>
              <a:ext cx="848" cy="21602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14" name="Text Box 408"/>
            <p:cNvSpPr txBox="1">
              <a:spLocks noChangeArrowheads="1"/>
            </p:cNvSpPr>
            <p:nvPr/>
          </p:nvSpPr>
          <p:spPr bwMode="auto">
            <a:xfrm>
              <a:off x="6228224" y="476672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rgbClr val="FF3399"/>
                  </a:solidFill>
                </a:rPr>
                <a:t>SFS</a:t>
              </a:r>
              <a:endParaRPr lang="en-US" altLang="zh-CN" sz="1600" baseline="-18000" dirty="0">
                <a:solidFill>
                  <a:srgbClr val="FF3399"/>
                </a:solidFill>
              </a:endParaRPr>
            </a:p>
          </p:txBody>
        </p:sp>
        <p:cxnSp>
          <p:nvCxnSpPr>
            <p:cNvPr id="115" name="直接箭头连接符 114"/>
            <p:cNvCxnSpPr/>
            <p:nvPr/>
          </p:nvCxnSpPr>
          <p:spPr bwMode="auto">
            <a:xfrm flipH="1">
              <a:off x="8523015" y="836712"/>
              <a:ext cx="21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6" name="直接箭头连接符 115"/>
            <p:cNvCxnSpPr/>
            <p:nvPr/>
          </p:nvCxnSpPr>
          <p:spPr bwMode="auto">
            <a:xfrm flipH="1">
              <a:off x="8676480" y="1124744"/>
              <a:ext cx="21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7" name="直接箭头连接符 116"/>
            <p:cNvCxnSpPr/>
            <p:nvPr/>
          </p:nvCxnSpPr>
          <p:spPr bwMode="auto">
            <a:xfrm>
              <a:off x="5004072" y="112474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18" name="Text Box 408"/>
            <p:cNvSpPr txBox="1">
              <a:spLocks noChangeArrowheads="1"/>
            </p:cNvSpPr>
            <p:nvPr/>
          </p:nvSpPr>
          <p:spPr bwMode="auto">
            <a:xfrm>
              <a:off x="6794783" y="476704"/>
              <a:ext cx="504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a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  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b</a:t>
              </a:r>
              <a:endParaRPr lang="en-US" altLang="zh-CN" sz="1600" dirty="0">
                <a:solidFill>
                  <a:schemeClr val="tx1"/>
                </a:solidFill>
              </a:endParaRPr>
            </a:p>
          </p:txBody>
        </p:sp>
        <p:sp>
          <p:nvSpPr>
            <p:cNvPr id="119" name="Text Box 408"/>
            <p:cNvSpPr txBox="1">
              <a:spLocks noChangeArrowheads="1"/>
            </p:cNvSpPr>
            <p:nvPr/>
          </p:nvSpPr>
          <p:spPr bwMode="auto">
            <a:xfrm>
              <a:off x="6794807" y="1484800"/>
              <a:ext cx="720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 smtClean="0">
                  <a:solidFill>
                    <a:schemeClr val="tx1"/>
                  </a:solidFill>
                </a:rPr>
                <a:t>D 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8</a:t>
              </a:r>
              <a:r>
                <a:rPr lang="en-US" altLang="zh-CN" sz="1600" dirty="0" smtClean="0">
                  <a:solidFill>
                    <a:schemeClr val="tx1"/>
                  </a:solidFill>
                  <a:latin typeface="+mn-lt"/>
                </a:rPr>
                <a:t>~</a:t>
              </a:r>
              <a:r>
                <a:rPr lang="en-US" altLang="zh-CN" sz="1600" dirty="0" smtClean="0">
                  <a:solidFill>
                    <a:schemeClr val="tx1"/>
                  </a:solidFill>
                </a:rPr>
                <a:t>I</a:t>
              </a:r>
              <a:r>
                <a:rPr lang="en-US" altLang="zh-CN" sz="1600" baseline="-18000" dirty="0" smtClean="0">
                  <a:solidFill>
                    <a:schemeClr val="tx1"/>
                  </a:solidFill>
                </a:rPr>
                <a:t>0</a:t>
              </a:r>
              <a:endParaRPr lang="en-US" altLang="zh-CN" sz="1600" baseline="-18000" dirty="0">
                <a:solidFill>
                  <a:schemeClr val="tx1"/>
                </a:solidFill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 bwMode="auto">
            <a:xfrm>
              <a:off x="6012160" y="476704"/>
              <a:ext cx="0" cy="215992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1" name="直接箭头连接符 120"/>
            <p:cNvCxnSpPr/>
            <p:nvPr/>
          </p:nvCxnSpPr>
          <p:spPr bwMode="auto">
            <a:xfrm flipH="1">
              <a:off x="8676480" y="1268760"/>
              <a:ext cx="216000" cy="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2" name="直接箭头连接符 121"/>
            <p:cNvCxnSpPr/>
            <p:nvPr/>
          </p:nvCxnSpPr>
          <p:spPr bwMode="auto">
            <a:xfrm>
              <a:off x="5004072" y="126876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3" name="直接箭头连接符 122"/>
            <p:cNvCxnSpPr/>
            <p:nvPr/>
          </p:nvCxnSpPr>
          <p:spPr bwMode="auto">
            <a:xfrm>
              <a:off x="6444208" y="112474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4" name="直接箭头连接符 123"/>
            <p:cNvCxnSpPr/>
            <p:nvPr/>
          </p:nvCxnSpPr>
          <p:spPr bwMode="auto">
            <a:xfrm flipH="1">
              <a:off x="7452320" y="1124744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5" name="直接箭头连接符 124"/>
            <p:cNvCxnSpPr/>
            <p:nvPr/>
          </p:nvCxnSpPr>
          <p:spPr bwMode="auto">
            <a:xfrm>
              <a:off x="5868144" y="548696"/>
              <a:ext cx="0" cy="144000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6" name="直接箭头连接符 125"/>
            <p:cNvCxnSpPr/>
            <p:nvPr/>
          </p:nvCxnSpPr>
          <p:spPr bwMode="auto">
            <a:xfrm flipV="1">
              <a:off x="5184040" y="548696"/>
              <a:ext cx="0" cy="144000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7" name="直接箭头连接符 126"/>
            <p:cNvCxnSpPr/>
            <p:nvPr/>
          </p:nvCxnSpPr>
          <p:spPr bwMode="auto">
            <a:xfrm>
              <a:off x="5184040" y="548696"/>
              <a:ext cx="684104" cy="0"/>
            </a:xfrm>
            <a:prstGeom prst="straightConnector1">
              <a:avLst/>
            </a:prstGeom>
            <a:noFill/>
            <a:ln w="2540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28" name="直接箭头连接符 127"/>
            <p:cNvCxnSpPr/>
            <p:nvPr/>
          </p:nvCxnSpPr>
          <p:spPr bwMode="auto">
            <a:xfrm>
              <a:off x="5004048" y="1196752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RAINPROBLEM" val="ProblemBody"/>
</p:tagLst>
</file>

<file path=ppt/tags/tag68.xml><?xml version="1.0" encoding="utf-8"?>
<p:tagLst xmlns:p="http://schemas.openxmlformats.org/presentationml/2006/main">
  <p:tag name="RAINPROBLEM" val="ProblemBody"/>
</p:tagLst>
</file>

<file path=ppt/tags/tag69.xml><?xml version="1.0" encoding="utf-8"?>
<p:tagLst xmlns:p="http://schemas.openxmlformats.org/presentationml/2006/main">
  <p:tag name="RAINPROBLEM" val="ProblemBody"/>
</p:tagLst>
</file>

<file path=ppt/tags/tag70.xml><?xml version="1.0" encoding="utf-8"?>
<p:tagLst xmlns:p="http://schemas.openxmlformats.org/presentationml/2006/main">
  <p:tag name="RAINPROBLEM" val="ProblemBody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TABLE_ENDDRAG_ORIGIN_RECT" val="391*59"/>
  <p:tag name="TABLE_ENDDRAG_RECT" val="360*159*391*59"/>
</p:tagLst>
</file>

<file path=ppt/tags/tag74.xml><?xml version="1.0" encoding="utf-8"?>
<p:tagLst xmlns:p="http://schemas.openxmlformats.org/presentationml/2006/main">
  <p:tag name="commondata" val="eyJoZGlkIjoiMTYxYjYyZWE4M2VkN2ZhNjg5OWUzNDNjNjcyOTBhNG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11919</Words>
  <Application>WPS 演示</Application>
  <PresentationFormat>宽屏</PresentationFormat>
  <Paragraphs>1412</Paragraphs>
  <Slides>28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黑体</vt:lpstr>
      <vt:lpstr>Symbol</vt:lpstr>
      <vt:lpstr>Times New Roman</vt:lpstr>
      <vt:lpstr>新宋体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第一章   计算机系统概述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空白演示</dc:title>
  <cp:revision>156</cp:revision>
</cp:coreProperties>
</file>

<file path=docProps/custom.xml><?xml version="1.0" encoding="utf-8"?>
<Properties xmlns="http://schemas.openxmlformats.org/officeDocument/2006/custom-properties"/>
</file>