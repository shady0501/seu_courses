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51"/>
  </p:handoutMasterIdLst>
  <p:sldIdLst>
    <p:sldId id="256" r:id="rId3"/>
    <p:sldId id="436" r:id="rId4"/>
    <p:sldId id="437" r:id="rId6"/>
    <p:sldId id="258" r:id="rId7"/>
    <p:sldId id="441" r:id="rId8"/>
    <p:sldId id="461" r:id="rId9"/>
    <p:sldId id="442" r:id="rId10"/>
    <p:sldId id="443" r:id="rId11"/>
    <p:sldId id="478" r:id="rId12"/>
    <p:sldId id="410" r:id="rId13"/>
    <p:sldId id="445" r:id="rId14"/>
    <p:sldId id="414" r:id="rId15"/>
    <p:sldId id="415" r:id="rId16"/>
    <p:sldId id="417" r:id="rId17"/>
    <p:sldId id="384" r:id="rId18"/>
    <p:sldId id="351" r:id="rId19"/>
    <p:sldId id="357" r:id="rId20"/>
    <p:sldId id="447" r:id="rId21"/>
    <p:sldId id="448" r:id="rId22"/>
    <p:sldId id="471" r:id="rId23"/>
    <p:sldId id="472" r:id="rId24"/>
    <p:sldId id="481" r:id="rId25"/>
    <p:sldId id="482" r:id="rId26"/>
    <p:sldId id="444" r:id="rId27"/>
    <p:sldId id="345" r:id="rId28"/>
    <p:sldId id="449" r:id="rId29"/>
    <p:sldId id="450" r:id="rId30"/>
    <p:sldId id="452" r:id="rId31"/>
    <p:sldId id="385" r:id="rId32"/>
    <p:sldId id="451" r:id="rId33"/>
    <p:sldId id="473" r:id="rId34"/>
    <p:sldId id="423" r:id="rId35"/>
    <p:sldId id="424" r:id="rId36"/>
    <p:sldId id="425" r:id="rId37"/>
    <p:sldId id="426" r:id="rId38"/>
    <p:sldId id="434" r:id="rId39"/>
    <p:sldId id="427" r:id="rId40"/>
    <p:sldId id="474" r:id="rId41"/>
    <p:sldId id="428" r:id="rId42"/>
    <p:sldId id="465" r:id="rId43"/>
    <p:sldId id="365" r:id="rId44"/>
    <p:sldId id="477" r:id="rId45"/>
    <p:sldId id="479" r:id="rId46"/>
    <p:sldId id="484" r:id="rId47"/>
    <p:sldId id="470" r:id="rId48"/>
    <p:sldId id="518" r:id="rId49"/>
    <p:sldId id="485" r:id="rId50"/>
  </p:sldIdLst>
  <p:sldSz cx="9144000" cy="6858000" type="screen4x3"/>
  <p:notesSz cx="6858000" cy="9144000"/>
  <p:custDataLst>
    <p:tags r:id="rId5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FF3399"/>
    <a:srgbClr val="FFCC99"/>
    <a:srgbClr val="FFCCFF"/>
    <a:srgbClr val="CCFFFF"/>
    <a:srgbClr val="CCECFF"/>
    <a:srgbClr val="CCCCFF"/>
    <a:srgbClr val="99CCFF"/>
    <a:srgbClr val="CC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5" autoAdjust="0"/>
    <p:restoredTop sz="93631" autoAdjust="0"/>
  </p:normalViewPr>
  <p:slideViewPr>
    <p:cSldViewPr showGuides="1">
      <p:cViewPr>
        <p:scale>
          <a:sx n="70" d="100"/>
          <a:sy n="70" d="100"/>
        </p:scale>
        <p:origin x="-754" y="-178"/>
      </p:cViewPr>
      <p:guideLst>
        <p:guide orient="horz" pos="218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gs" Target="tags/tag117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handoutMaster" Target="handoutMasters/handoutMaster1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91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B9C60E3C-46FB-46DC-BD8E-DECE327E31D9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064FB4F7-8A2D-4878-9281-C3C2BF0373C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考核的层次：识记、领会、简单应用、综合应用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2</a:t>
            </a:r>
            <a:r>
              <a:rPr lang="zh-CN" altLang="en-US" dirty="0" smtClean="0"/>
              <a:t>学时（模型</a:t>
            </a:r>
            <a:r>
              <a:rPr lang="en-US" altLang="zh-CN" dirty="0" smtClean="0"/>
              <a:t>+</a:t>
            </a:r>
            <a:r>
              <a:rPr lang="zh-CN" altLang="en-US" dirty="0" smtClean="0"/>
              <a:t>组成之部件组成），</a:t>
            </a:r>
            <a:r>
              <a:rPr lang="en-US" altLang="zh-CN" dirty="0" smtClean="0"/>
              <a:t>3</a:t>
            </a:r>
            <a:r>
              <a:rPr lang="zh-CN" altLang="en-US" smtClean="0"/>
              <a:t>学时（部件互连、工作过程、性能指标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思考：可存储信息、与外部通信，用户可定制功能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ENIAC</a:t>
            </a:r>
            <a:r>
              <a:rPr lang="zh-CN" altLang="en-US" dirty="0" smtClean="0"/>
              <a:t>：用改变开关及连线来编程，用打孔卡片</a:t>
            </a:r>
            <a:r>
              <a:rPr lang="en-US" altLang="zh-CN" dirty="0" smtClean="0"/>
              <a:t>I/O</a:t>
            </a:r>
            <a:r>
              <a:rPr lang="zh-CN" altLang="en-US" dirty="0" smtClean="0"/>
              <a:t>数据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申威</a:t>
            </a:r>
            <a:r>
              <a:rPr lang="en-US" altLang="zh-CN" dirty="0" smtClean="0"/>
              <a:t>CPU--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Alpha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架构、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SW64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指令集，总参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56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所，机型有神威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·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太湖之光；</a:t>
            </a:r>
            <a:endParaRPr kumimoji="1"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龙芯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CPU—MIPS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架构、扩展的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MIPS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指令集，中科院计算所，多用于政府、部队；</a:t>
            </a:r>
            <a:endParaRPr kumimoji="1"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海思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—ARMv8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授权，鲲鹏、麒麟等，华为；飞腾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—ARM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指令集，国防科大，天河系列计算机；</a:t>
            </a:r>
            <a:endParaRPr kumimoji="1"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兆芯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—x86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架构授权，上海兆芯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C367B03-4102-4474-B271-9EE7854CDE25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部件功能：运算器</a:t>
            </a:r>
            <a:r>
              <a:rPr lang="en-US" altLang="zh-CN" dirty="0"/>
              <a:t>—</a:t>
            </a:r>
            <a:r>
              <a:rPr lang="zh-CN" altLang="en-US" dirty="0"/>
              <a:t>进行算术</a:t>
            </a:r>
            <a:r>
              <a:rPr lang="en-US" altLang="zh-CN" dirty="0"/>
              <a:t>/</a:t>
            </a:r>
            <a:r>
              <a:rPr lang="zh-CN" altLang="en-US" dirty="0"/>
              <a:t>逻辑运算；存储器</a:t>
            </a:r>
            <a:r>
              <a:rPr lang="en-US" altLang="zh-CN" dirty="0"/>
              <a:t>—</a:t>
            </a:r>
            <a:r>
              <a:rPr lang="zh-CN" altLang="en-US" dirty="0"/>
              <a:t>存储程序和数据；控制器</a:t>
            </a:r>
            <a:r>
              <a:rPr lang="en-US" altLang="zh-CN" dirty="0"/>
              <a:t>—</a:t>
            </a:r>
            <a:r>
              <a:rPr lang="zh-CN" altLang="en-US" dirty="0"/>
              <a:t>控制程序执行过程</a:t>
            </a:r>
            <a:r>
              <a:rPr lang="en-US" altLang="zh-CN" dirty="0"/>
              <a:t>(</a:t>
            </a:r>
            <a:r>
              <a:rPr lang="zh-CN" altLang="en-US" dirty="0"/>
              <a:t>各部件自动、协调地工作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endParaRPr lang="zh-CN" altLang="en-US" dirty="0"/>
          </a:p>
          <a:p>
            <a:r>
              <a:rPr lang="zh-CN" altLang="en-US" dirty="0"/>
              <a:t>      </a:t>
            </a:r>
            <a:r>
              <a:rPr lang="zh-CN" altLang="en-US" dirty="0" smtClean="0"/>
              <a:t>    </a:t>
            </a:r>
            <a:r>
              <a:rPr lang="zh-CN" altLang="en-US" dirty="0"/>
              <a:t>输入设备</a:t>
            </a:r>
            <a:r>
              <a:rPr lang="en-US" altLang="zh-CN" dirty="0"/>
              <a:t>—</a:t>
            </a:r>
            <a:r>
              <a:rPr lang="zh-CN" altLang="en-US" dirty="0"/>
              <a:t>将外部信息形式→机器内部信息形式；输出设备</a:t>
            </a:r>
            <a:r>
              <a:rPr lang="en-US" altLang="zh-CN" dirty="0"/>
              <a:t>—</a:t>
            </a:r>
            <a:r>
              <a:rPr lang="zh-CN" altLang="en-US" dirty="0"/>
              <a:t>将机器内部信息形式→外部信息</a:t>
            </a:r>
            <a:r>
              <a:rPr lang="zh-CN" altLang="en-US" dirty="0" smtClean="0"/>
              <a:t>形式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有跳转型指令的原因：计算机具有逻辑判断功能，执行顺序会变化</a:t>
            </a:r>
            <a:endParaRPr lang="en-US" altLang="zh-CN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P7-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ENIAC</a:t>
            </a:r>
            <a:r>
              <a:rPr lang="zh-CN" altLang="en-US" dirty="0" smtClean="0"/>
              <a:t>编程方式</a:t>
            </a:r>
            <a:r>
              <a:rPr lang="en-US" altLang="zh-CN" dirty="0" smtClean="0"/>
              <a:t>(</a:t>
            </a:r>
            <a:r>
              <a:rPr lang="zh-CN" altLang="en-US" dirty="0" smtClean="0"/>
              <a:t>改变开关及连线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，放在存储器中好处：编程时卡片打孔，执行时访问电子部件</a:t>
            </a:r>
            <a:r>
              <a:rPr lang="en-US" altLang="zh-CN" dirty="0" smtClean="0"/>
              <a:t>(</a:t>
            </a:r>
            <a:r>
              <a:rPr lang="zh-CN" altLang="en-US" dirty="0" smtClean="0"/>
              <a:t>原来为机械部件</a:t>
            </a:r>
            <a:r>
              <a:rPr lang="en-US" altLang="zh-CN" dirty="0" smtClean="0"/>
              <a:t>)</a:t>
            </a:r>
            <a:endParaRPr lang="zh-CN" altLang="en-US" dirty="0" smtClean="0"/>
          </a:p>
          <a:p>
            <a:r>
              <a:rPr lang="zh-CN" altLang="en-US" dirty="0" smtClean="0"/>
              <a:t>思考①：指令存放部件与执行部件不同</a:t>
            </a:r>
            <a:r>
              <a:rPr lang="en-US" altLang="zh-CN" dirty="0" smtClean="0"/>
              <a:t>(</a:t>
            </a:r>
            <a:r>
              <a:rPr lang="zh-CN" altLang="en-US" dirty="0" smtClean="0"/>
              <a:t>上页紫线</a:t>
            </a:r>
            <a:r>
              <a:rPr lang="en-US" altLang="zh-CN" dirty="0" smtClean="0"/>
              <a:t>)</a:t>
            </a:r>
            <a:r>
              <a:rPr lang="zh-CN" altLang="en-US" dirty="0" smtClean="0"/>
              <a:t>；下条指令地址由当前指令产生</a:t>
            </a:r>
            <a:r>
              <a:rPr lang="en-US" altLang="zh-CN" dirty="0" smtClean="0"/>
              <a:t>(</a:t>
            </a:r>
            <a:r>
              <a:rPr lang="zh-CN" altLang="en-US" dirty="0" smtClean="0"/>
              <a:t>存在转移型指令</a:t>
            </a:r>
            <a:r>
              <a:rPr lang="en-US" altLang="zh-CN" dirty="0" smtClean="0"/>
              <a:t>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思考②：指令操作用二进制表示、部件用独立信号控制；用</a:t>
            </a:r>
            <a:r>
              <a:rPr lang="en-US" altLang="zh-CN" dirty="0" smtClean="0"/>
              <a:t>MEM</a:t>
            </a:r>
            <a:r>
              <a:rPr lang="zh-CN" altLang="en-US" dirty="0" smtClean="0"/>
              <a:t>地址表示</a:t>
            </a:r>
            <a:r>
              <a:rPr lang="en-US" altLang="zh-CN" dirty="0" smtClean="0"/>
              <a:t>(</a:t>
            </a:r>
            <a:r>
              <a:rPr lang="zh-CN" altLang="en-US" dirty="0" smtClean="0"/>
              <a:t>同一部件有多种编址方式不妥</a:t>
            </a:r>
            <a:r>
              <a:rPr lang="en-US" altLang="zh-CN" dirty="0" smtClean="0"/>
              <a:t>[</a:t>
            </a:r>
            <a:r>
              <a:rPr lang="zh-CN" altLang="en-US" dirty="0" smtClean="0"/>
              <a:t>自找麻烦</a:t>
            </a:r>
            <a:r>
              <a:rPr lang="en-US" altLang="zh-CN" dirty="0" smtClean="0"/>
              <a:t>])</a:t>
            </a:r>
            <a:endParaRPr lang="en-US" altLang="zh-CN" dirty="0" smtClean="0"/>
          </a:p>
          <a:p>
            <a:r>
              <a:rPr lang="zh-CN" altLang="en-US" dirty="0" smtClean="0"/>
              <a:t>思考③：存储单元长度＝指令</a:t>
            </a:r>
            <a:r>
              <a:rPr lang="en-US" altLang="zh-CN" dirty="0" smtClean="0"/>
              <a:t>/</a:t>
            </a:r>
            <a:r>
              <a:rPr lang="zh-CN" altLang="en-US" dirty="0" smtClean="0"/>
              <a:t>数据的最小值，指令</a:t>
            </a:r>
            <a:r>
              <a:rPr lang="en-US" altLang="zh-CN" dirty="0" smtClean="0"/>
              <a:t>/</a:t>
            </a:r>
            <a:r>
              <a:rPr lang="zh-CN" altLang="en-US" dirty="0" smtClean="0"/>
              <a:t>数据可占多个存储单元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P10-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看运算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-I/O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串行，上页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看程序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MEM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与硬件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MEM(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主存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单元长度相同</a:t>
            </a:r>
            <a:endParaRPr lang="zh-CN" altLang="en-US" dirty="0" smtClean="0"/>
          </a:p>
          <a:p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主存（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Main Memory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）、辅存（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Secondary Memory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D4416FB-565C-4518-B507-5ACB98AB7B93}" type="slidenum">
              <a:rPr lang="en-US" altLang="zh-CN"/>
            </a:fld>
            <a:endParaRPr lang="en-US" altLang="zh-CN"/>
          </a:p>
        </p:txBody>
      </p:sp>
      <p:sp>
        <p:nvSpPr>
          <p:cNvPr id="286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accent2"/>
                </a:solidFill>
              </a:rPr>
              <a:t>思考：</a:t>
            </a:r>
            <a:r>
              <a:rPr lang="en-US" altLang="zh-CN" dirty="0" smtClean="0">
                <a:solidFill>
                  <a:schemeClr val="accent2"/>
                </a:solidFill>
              </a:rPr>
              <a:t>A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r>
              <a:rPr lang="zh-CN" altLang="en-US" dirty="0" smtClean="0">
                <a:solidFill>
                  <a:srgbClr val="990099"/>
                </a:solidFill>
              </a:rPr>
              <a:t>存储</a:t>
            </a:r>
            <a:r>
              <a:rPr lang="zh-CN" altLang="en-US" dirty="0">
                <a:solidFill>
                  <a:srgbClr val="990099"/>
                </a:solidFill>
              </a:rPr>
              <a:t>字</a:t>
            </a:r>
            <a:r>
              <a:rPr lang="en-US" altLang="zh-CN" dirty="0">
                <a:solidFill>
                  <a:srgbClr val="990099"/>
                </a:solidFill>
              </a:rPr>
              <a:t>—</a:t>
            </a:r>
            <a:r>
              <a:rPr lang="zh-CN" altLang="en-US" u="sng" dirty="0"/>
              <a:t>存储单元</a:t>
            </a:r>
            <a:r>
              <a:rPr lang="zh-CN" altLang="en-US" dirty="0"/>
              <a:t>内存储的</a:t>
            </a:r>
            <a:r>
              <a:rPr lang="zh-CN" altLang="en-US" dirty="0" smtClean="0"/>
              <a:t>二进制编码</a:t>
            </a:r>
            <a:r>
              <a:rPr lang="en-US" altLang="zh-CN" dirty="0" smtClean="0"/>
              <a:t>(</a:t>
            </a:r>
            <a:r>
              <a:rPr lang="zh-CN" altLang="en-US" dirty="0" smtClean="0"/>
              <a:t>信息内容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，存储</a:t>
            </a:r>
            <a:r>
              <a:rPr lang="zh-CN" altLang="en-US" dirty="0"/>
              <a:t>字长</a:t>
            </a:r>
            <a:r>
              <a:rPr lang="en-US" altLang="zh-CN" dirty="0"/>
              <a:t>—</a:t>
            </a:r>
            <a:r>
              <a:rPr lang="zh-CN" altLang="en-US" dirty="0"/>
              <a:t>存储字所含二进制信息的</a:t>
            </a:r>
            <a:r>
              <a:rPr lang="zh-CN" altLang="en-US" dirty="0" smtClean="0"/>
              <a:t>位数。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077B4B2-EC8D-495F-AF62-FCA8E5299439}" type="slidenum">
              <a:rPr lang="en-US" altLang="zh-CN"/>
            </a:fld>
            <a:endParaRPr lang="en-US" altLang="zh-CN"/>
          </a:p>
        </p:txBody>
      </p:sp>
      <p:sp>
        <p:nvSpPr>
          <p:cNvPr id="28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思考①：存储器、寄存器、计数器  思考④：</a:t>
            </a:r>
            <a:r>
              <a:rPr lang="en-US" altLang="zh-CN" dirty="0" smtClean="0"/>
              <a:t>ALU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MUX</a:t>
            </a:r>
            <a:r>
              <a:rPr lang="zh-CN" altLang="en-US" dirty="0" smtClean="0"/>
              <a:t>、触发器</a:t>
            </a:r>
            <a:endParaRPr lang="en-US" altLang="zh-CN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看功能实现</a:t>
            </a:r>
            <a:r>
              <a:rPr lang="en-US" altLang="zh-CN" dirty="0" smtClean="0"/>
              <a:t>-</a:t>
            </a:r>
            <a:r>
              <a:rPr lang="zh-CN" altLang="en-US" dirty="0" smtClean="0"/>
              <a:t>部件控制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思考①：每个设备有唯一的编号（地址），</a:t>
            </a:r>
            <a:r>
              <a:rPr lang="en-US" altLang="zh-CN" dirty="0" smtClean="0"/>
              <a:t>CPU</a:t>
            </a:r>
            <a:r>
              <a:rPr lang="zh-CN" altLang="en-US" dirty="0" smtClean="0"/>
              <a:t>按地址访问   思考②：表示从设备完成操作，使交互时延最小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1-BC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2-A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3-D</a:t>
            </a:r>
            <a:r>
              <a:rPr lang="zh-CN" altLang="en-US" dirty="0" smtClean="0"/>
              <a:t>，</a:t>
            </a:r>
            <a:r>
              <a:rPr lang="en-US" altLang="zh-CN" dirty="0" smtClean="0"/>
              <a:t>4-A</a:t>
            </a:r>
            <a:r>
              <a:rPr lang="zh-CN" altLang="en-US" dirty="0" smtClean="0"/>
              <a:t>，</a:t>
            </a:r>
            <a:r>
              <a:rPr lang="en-US" altLang="zh-CN" dirty="0" smtClean="0"/>
              <a:t>5-C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6-ABC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7-AB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8-B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9-B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实际机器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所写程序能够被硬件直接识别的执行的机器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汇编语言级、高级语言级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方便程序员；</a:t>
            </a:r>
            <a:r>
              <a:rPr lang="en-US" altLang="zh-CN" dirty="0" smtClean="0"/>
              <a:t>OS</a:t>
            </a:r>
            <a:r>
              <a:rPr lang="zh-CN" altLang="en-US" dirty="0" smtClean="0"/>
              <a:t>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提高好用性</a:t>
            </a:r>
            <a:r>
              <a:rPr lang="en-US" altLang="zh-CN" dirty="0" smtClean="0"/>
              <a:t>(</a:t>
            </a:r>
            <a:r>
              <a:rPr lang="zh-CN" altLang="en-US" dirty="0" smtClean="0"/>
              <a:t>非程序员用户</a:t>
            </a:r>
            <a:r>
              <a:rPr lang="en-US" altLang="zh-CN" dirty="0" smtClean="0"/>
              <a:t>)</a:t>
            </a:r>
            <a:r>
              <a:rPr lang="zh-CN" altLang="en-US" dirty="0" smtClean="0"/>
              <a:t>；</a:t>
            </a:r>
            <a:r>
              <a:rPr lang="en-US" altLang="zh-CN" dirty="0" err="1" smtClean="0"/>
              <a:t>uPrg</a:t>
            </a:r>
            <a:r>
              <a:rPr lang="zh-CN" altLang="en-US" dirty="0" smtClean="0"/>
              <a:t>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提高硬件性能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设计角色的引入（性能与成本）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关系举例：乘法功能的有</a:t>
            </a:r>
            <a:r>
              <a:rPr lang="en-US" altLang="zh-CN" dirty="0" smtClean="0"/>
              <a:t>/</a:t>
            </a:r>
            <a:r>
              <a:rPr lang="zh-CN" altLang="en-US" dirty="0" smtClean="0"/>
              <a:t>无、乘法器</a:t>
            </a:r>
            <a:r>
              <a:rPr lang="en-US" altLang="zh-CN" dirty="0" smtClean="0"/>
              <a:t>/</a:t>
            </a:r>
            <a:r>
              <a:rPr lang="zh-CN" altLang="en-US" dirty="0" smtClean="0"/>
              <a:t>加法</a:t>
            </a:r>
            <a:r>
              <a:rPr lang="en-US" altLang="zh-CN" dirty="0" smtClean="0"/>
              <a:t>+</a:t>
            </a:r>
            <a:r>
              <a:rPr lang="zh-CN" altLang="en-US" dirty="0" smtClean="0"/>
              <a:t>移位、器件，存储系统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容量</a:t>
            </a:r>
            <a:r>
              <a:rPr lang="en-US" altLang="zh-CN" dirty="0" smtClean="0"/>
              <a:t>+</a:t>
            </a:r>
            <a:r>
              <a:rPr lang="zh-CN" altLang="en-US" dirty="0" smtClean="0"/>
              <a:t>编址、速度保证、芯片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看指令地址计算的特点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思考：时序信号是周期性的，</a:t>
            </a:r>
            <a:r>
              <a:rPr lang="en-US" altLang="zh-CN" dirty="0" smtClean="0"/>
              <a:t>PC</a:t>
            </a:r>
            <a:r>
              <a:rPr lang="zh-CN" altLang="en-US" dirty="0" smtClean="0"/>
              <a:t>存放指令地址，各信号产生与时序信号绑定自可实现。  </a:t>
            </a:r>
            <a:r>
              <a:rPr lang="en-US" altLang="zh-CN" dirty="0" smtClean="0"/>
              <a:t>P17-</a:t>
            </a:r>
            <a:r>
              <a:rPr lang="zh-CN" altLang="en-US" dirty="0" smtClean="0"/>
              <a:t>看时序信号组成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P15-</a:t>
            </a:r>
            <a:r>
              <a:rPr lang="zh-CN" altLang="en-US" dirty="0" smtClean="0"/>
              <a:t>看运算器组成，</a:t>
            </a:r>
            <a:r>
              <a:rPr lang="en-US" altLang="zh-CN" dirty="0" smtClean="0"/>
              <a:t>P16-</a:t>
            </a:r>
            <a:r>
              <a:rPr lang="zh-CN" altLang="en-US" dirty="0" smtClean="0"/>
              <a:t>看控制器组成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1-BC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2-A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3-B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4-AB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P29-</a:t>
            </a:r>
            <a:r>
              <a:rPr lang="zh-CN" altLang="en-US" dirty="0" smtClean="0"/>
              <a:t>看机器字长</a:t>
            </a:r>
            <a:r>
              <a:rPr lang="en-US" altLang="zh-CN" dirty="0" smtClean="0"/>
              <a:t>-ALU</a:t>
            </a:r>
            <a:r>
              <a:rPr lang="zh-CN" altLang="en-US" dirty="0" smtClean="0"/>
              <a:t>宽度关系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KiB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MiB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GiB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于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1999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年由国际电工协会（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IEC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）拟定，于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2008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年并入国际标准化组织（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ISO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）文件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P17-</a:t>
            </a:r>
            <a:r>
              <a:rPr lang="zh-CN" altLang="en-US" dirty="0" smtClean="0"/>
              <a:t>看执行周期</a:t>
            </a:r>
            <a:r>
              <a:rPr lang="en-US" altLang="zh-CN" dirty="0" smtClean="0"/>
              <a:t>-CPI-T</a:t>
            </a:r>
            <a:r>
              <a:rPr lang="en-US" altLang="zh-CN" baseline="-25000" dirty="0" smtClean="0"/>
              <a:t>C</a:t>
            </a:r>
            <a:r>
              <a:rPr lang="zh-CN" altLang="en-US" baseline="0" dirty="0" smtClean="0"/>
              <a:t>的关系</a:t>
            </a:r>
            <a:endParaRPr lang="zh-CN" altLang="en-US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例二</a:t>
            </a:r>
            <a:r>
              <a:rPr lang="en-US" altLang="zh-CN" dirty="0" smtClean="0"/>
              <a:t>   </a:t>
            </a:r>
            <a:r>
              <a:rPr lang="zh-CN" altLang="en-US" dirty="0" smtClean="0"/>
              <a:t>总指令数</a:t>
            </a:r>
            <a:r>
              <a:rPr lang="en-US" altLang="zh-CN" dirty="0" smtClean="0"/>
              <a:t>= 2 MB /2B=1 MB=</a:t>
            </a:r>
            <a:r>
              <a:rPr lang="en-US" altLang="zh-CN" b="1" spc="-5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b="1" spc="-50" baseline="3000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20</a:t>
            </a:r>
            <a:r>
              <a:rPr lang="en-US" altLang="zh-CN" b="1" spc="-5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dirty="0" smtClean="0"/>
              <a:t> </a:t>
            </a:r>
            <a:r>
              <a:rPr lang="zh-CN" altLang="en-US" dirty="0" smtClean="0"/>
              <a:t>指令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RAS—</a:t>
            </a:r>
            <a:r>
              <a:rPr lang="en-US" altLang="zh-CN" dirty="0" err="1" smtClean="0"/>
              <a:t>Reliablity</a:t>
            </a:r>
            <a:r>
              <a:rPr lang="en-US" altLang="zh-CN" dirty="0" smtClean="0"/>
              <a:t>,</a:t>
            </a:r>
            <a:r>
              <a:rPr lang="en-US" altLang="zh-CN" baseline="0" dirty="0" smtClean="0"/>
              <a:t> Availability, </a:t>
            </a:r>
            <a:r>
              <a:rPr lang="en-US" altLang="zh-CN" baseline="0" dirty="0" err="1" smtClean="0"/>
              <a:t>Servicebility</a:t>
            </a:r>
            <a:endParaRPr lang="en-US" altLang="zh-CN" baseline="0" dirty="0" smtClean="0"/>
          </a:p>
          <a:p>
            <a:r>
              <a:rPr lang="zh-CN" altLang="en-US" baseline="0" dirty="0" smtClean="0"/>
              <a:t>可用性</a:t>
            </a:r>
            <a:r>
              <a:rPr lang="en-US" altLang="zh-CN" baseline="0" dirty="0" smtClean="0"/>
              <a:t>=MTTF/(MTTF+MTTR)</a:t>
            </a:r>
            <a:r>
              <a:rPr lang="zh-CN" altLang="en-US" baseline="0" dirty="0" smtClean="0"/>
              <a:t>，</a:t>
            </a:r>
            <a:r>
              <a:rPr lang="en-US" altLang="zh-CN" baseline="0" dirty="0" smtClean="0"/>
              <a:t>MTTF</a:t>
            </a:r>
            <a:r>
              <a:rPr lang="zh-CN" altLang="en-US" baseline="0" dirty="0" smtClean="0"/>
              <a:t>为平均无故障时间，</a:t>
            </a:r>
            <a:r>
              <a:rPr lang="en-US" altLang="zh-CN" baseline="0" dirty="0" smtClean="0"/>
              <a:t>MTTR</a:t>
            </a:r>
            <a:r>
              <a:rPr lang="zh-CN" altLang="en-US" baseline="0" dirty="0" smtClean="0"/>
              <a:t>为平均修复时间</a:t>
            </a:r>
            <a:endParaRPr lang="en-US" altLang="zh-CN" baseline="0" dirty="0" smtClean="0"/>
          </a:p>
          <a:p>
            <a:r>
              <a:rPr lang="zh-CN" altLang="en-US" baseline="0" dirty="0" smtClean="0"/>
              <a:t>好用性</a:t>
            </a:r>
            <a:r>
              <a:rPr lang="en-US" altLang="zh-CN" baseline="0" dirty="0" smtClean="0"/>
              <a:t>~</a:t>
            </a:r>
            <a:r>
              <a:rPr lang="zh-CN" altLang="en-US" baseline="0" dirty="0" smtClean="0"/>
              <a:t>环境系统、界面，环境（命令行、</a:t>
            </a:r>
            <a:r>
              <a:rPr lang="en-US" altLang="zh-CN" baseline="0" dirty="0" smtClean="0"/>
              <a:t>GUI</a:t>
            </a:r>
            <a:r>
              <a:rPr lang="zh-CN" altLang="en-US" baseline="0" dirty="0" smtClean="0"/>
              <a:t>、服务器、浏览器）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）优化前平均</a:t>
            </a:r>
            <a:r>
              <a:rPr lang="en-US" altLang="zh-CN" dirty="0" smtClean="0"/>
              <a:t>CPI=0.5</a:t>
            </a:r>
            <a:r>
              <a:rPr lang="zh-CN" altLang="en-US" dirty="0" smtClean="0"/>
              <a:t>*</a:t>
            </a:r>
            <a:r>
              <a:rPr lang="en-US" altLang="zh-CN" dirty="0" smtClean="0"/>
              <a:t>4+0.3</a:t>
            </a:r>
            <a:r>
              <a:rPr lang="zh-CN" altLang="en-US" dirty="0" smtClean="0"/>
              <a:t>*</a:t>
            </a:r>
            <a:r>
              <a:rPr lang="en-US" altLang="zh-CN" dirty="0" smtClean="0"/>
              <a:t>6+0.2</a:t>
            </a:r>
            <a:r>
              <a:rPr lang="zh-CN" altLang="en-US" dirty="0" smtClean="0"/>
              <a:t>*</a:t>
            </a:r>
            <a:r>
              <a:rPr lang="en-US" altLang="zh-CN" dirty="0" smtClean="0"/>
              <a:t>8=5.4</a:t>
            </a:r>
            <a:r>
              <a:rPr lang="zh-CN" altLang="en-US" dirty="0" smtClean="0"/>
              <a:t>，答案为</a:t>
            </a:r>
            <a:r>
              <a:rPr lang="en-US" altLang="zh-CN" dirty="0" smtClean="0"/>
              <a:t>A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MIPS</a:t>
            </a:r>
            <a:r>
              <a:rPr lang="zh-CN" altLang="en-US" dirty="0" smtClean="0"/>
              <a:t>数</a:t>
            </a:r>
            <a:r>
              <a:rPr lang="en-US" altLang="zh-CN" dirty="0" smtClean="0"/>
              <a:t>=I</a:t>
            </a:r>
            <a:r>
              <a:rPr lang="en-US" altLang="zh-CN" baseline="-25000" dirty="0" smtClean="0"/>
              <a:t>N</a:t>
            </a:r>
            <a:r>
              <a:rPr lang="en-US" altLang="zh-CN" dirty="0" smtClean="0"/>
              <a:t>/[(I</a:t>
            </a:r>
            <a:r>
              <a:rPr lang="en-US" altLang="zh-CN" baseline="-25000" dirty="0" smtClean="0"/>
              <a:t>N</a:t>
            </a:r>
            <a:r>
              <a:rPr lang="en-US" altLang="zh-CN" dirty="0" smtClean="0"/>
              <a:t>*CPI*T</a:t>
            </a:r>
            <a:r>
              <a:rPr lang="en-US" altLang="zh-CN" baseline="-25000" dirty="0" smtClean="0"/>
              <a:t>C</a:t>
            </a:r>
            <a:r>
              <a:rPr lang="en-US" altLang="zh-CN" dirty="0" smtClean="0"/>
              <a:t>)*10</a:t>
            </a:r>
            <a:r>
              <a:rPr lang="en-US" altLang="zh-CN" baseline="30000" dirty="0" smtClean="0"/>
              <a:t>6</a:t>
            </a:r>
            <a:r>
              <a:rPr lang="en-US" altLang="zh-CN" dirty="0" smtClean="0"/>
              <a:t>]=f/(CPI</a:t>
            </a:r>
            <a:r>
              <a:rPr lang="zh-CN" altLang="en-US" dirty="0" smtClean="0"/>
              <a:t>*</a:t>
            </a:r>
            <a:r>
              <a:rPr lang="en-US" altLang="zh-CN" dirty="0" smtClean="0"/>
              <a:t>10</a:t>
            </a:r>
            <a:r>
              <a:rPr lang="en-US" altLang="zh-CN" baseline="30000" dirty="0" smtClean="0"/>
              <a:t>6</a:t>
            </a:r>
            <a:r>
              <a:rPr lang="en-US" altLang="zh-CN" dirty="0" smtClean="0"/>
              <a:t>)=50</a:t>
            </a:r>
            <a:r>
              <a:rPr lang="zh-CN" altLang="en-US" dirty="0" smtClean="0"/>
              <a:t>*</a:t>
            </a:r>
            <a:r>
              <a:rPr lang="en-US" altLang="zh-CN" dirty="0" smtClean="0"/>
              <a:t>10</a:t>
            </a:r>
            <a:r>
              <a:rPr lang="en-US" altLang="zh-CN" baseline="30000" dirty="0" smtClean="0"/>
              <a:t>6</a:t>
            </a:r>
            <a:r>
              <a:rPr lang="en-US" altLang="zh-CN" dirty="0" smtClean="0"/>
              <a:t>/(5.4</a:t>
            </a:r>
            <a:r>
              <a:rPr lang="zh-CN" altLang="en-US" dirty="0" smtClean="0"/>
              <a:t>*</a:t>
            </a:r>
            <a:r>
              <a:rPr lang="en-US" altLang="zh-CN" dirty="0" smtClean="0"/>
              <a:t>10</a:t>
            </a:r>
            <a:r>
              <a:rPr lang="en-US" altLang="zh-CN" baseline="30000" dirty="0" smtClean="0"/>
              <a:t>6</a:t>
            </a:r>
            <a:r>
              <a:rPr lang="en-US" altLang="zh-CN" dirty="0" smtClean="0"/>
              <a:t>)=9.26MIPS</a:t>
            </a:r>
            <a:r>
              <a:rPr lang="zh-CN" altLang="en-US" dirty="0" smtClean="0"/>
              <a:t>，答案为</a:t>
            </a:r>
            <a:r>
              <a:rPr lang="en-US" altLang="zh-CN" dirty="0" smtClean="0"/>
              <a:t>B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只可能优化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类或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类指令（否则优化后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CPI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会增加）；</a:t>
            </a:r>
            <a:endParaRPr kumimoji="1" lang="zh-CN" altLang="zh-CN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若优化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类指令，则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CPI=[4*50%+6*30%+8*20%*0.8]/(50%+30%+20%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0.8)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≈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5.29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5.4-5.29=0.11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endParaRPr kumimoji="1" lang="zh-CN" altLang="zh-CN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若优化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类指令，则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CPI=[4*50%+6*30%*0.8+8*20%]/(50%+30%*0.8+20%)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≈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5.36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5.4-5.36=0.04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endParaRPr kumimoji="1" lang="zh-CN" altLang="zh-CN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故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优化的是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类指令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，答案为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SIMD--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single instruction multiple data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缓冲器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将弱逻辑型号转换为强逻辑型号的电路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三态门</a:t>
            </a:r>
            <a:r>
              <a:rPr lang="en-US" altLang="zh-CN" dirty="0" smtClean="0"/>
              <a:t>—</a:t>
            </a:r>
            <a:r>
              <a:rPr lang="zh-CN" altLang="en-US" dirty="0" smtClean="0"/>
              <a:t>三态接口电路，仅用于数字信号的传输控制</a:t>
            </a:r>
            <a:endParaRPr lang="en-US" altLang="zh-CN" dirty="0" smtClean="0"/>
          </a:p>
          <a:p>
            <a:r>
              <a:rPr lang="zh-CN" altLang="en-US" dirty="0" smtClean="0"/>
              <a:t>传输门</a:t>
            </a:r>
            <a:r>
              <a:rPr lang="en-US" altLang="zh-CN" dirty="0" smtClean="0"/>
              <a:t>—</a:t>
            </a:r>
            <a:r>
              <a:rPr lang="zh-CN" altLang="en-US" dirty="0" smtClean="0"/>
              <a:t>逻辑控制开关，可用于模拟信号及数字信号的传输控制</a:t>
            </a:r>
            <a:endParaRPr lang="en-US" altLang="zh-CN" dirty="0" smtClean="0"/>
          </a:p>
          <a:p>
            <a:r>
              <a:rPr lang="en-US" altLang="zh-CN" dirty="0" smtClean="0"/>
              <a:t>JK/T</a:t>
            </a:r>
            <a:r>
              <a:rPr lang="zh-CN" altLang="en-US" dirty="0" smtClean="0"/>
              <a:t>触发器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用于</a:t>
            </a:r>
            <a:r>
              <a:rPr lang="en-US" altLang="zh-CN" dirty="0" err="1" smtClean="0"/>
              <a:t>Qn</a:t>
            </a:r>
            <a:r>
              <a:rPr lang="zh-CN" altLang="en-US" dirty="0" smtClean="0"/>
              <a:t>状态翻转（</a:t>
            </a:r>
            <a:r>
              <a:rPr lang="en-US" altLang="zh-CN" dirty="0" smtClean="0"/>
              <a:t>JK=11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T=1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31B15-8AAE-400E-8B54-4B0535C6637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781408-89F6-4C5E-85F1-A62B1622164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38BAFD-D46A-4D98-B56B-A2E4045AF5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8CD47-3CD7-456E-8447-171C2A0CD20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0AEF4E-52FA-41DE-B29C-0FAB10F79B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60C4A-9F48-48BC-AC32-C625B5058F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6" name="灯片编号占位符 3"/>
          <p:cNvSpPr txBox="1"/>
          <p:nvPr userDrawn="1"/>
        </p:nvSpPr>
        <p:spPr bwMode="auto">
          <a:xfrm>
            <a:off x="2704" y="6453336"/>
            <a:ext cx="1184920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4B0925-ED3B-4093-8760-25E736EA3E4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8EA6A-C686-4D06-B2CF-B75658A6F9C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3F9708-0814-4B5F-8625-E1D4ECA0891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A93B77-EF59-460C-BD4F-964341D8BB3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13225536-7DD7-4159-B7E6-5CC8C732343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slide" Target="slide44.xml"/><Relationship Id="rId2" Type="http://schemas.openxmlformats.org/officeDocument/2006/relationships/slide" Target="slide45.xml"/><Relationship Id="rId1" Type="http://schemas.openxmlformats.org/officeDocument/2006/relationships/slide" Target="slide4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slide" Target="slide32.xml"/><Relationship Id="rId4" Type="http://schemas.openxmlformats.org/officeDocument/2006/relationships/slide" Target="slide26.xml"/><Relationship Id="rId3" Type="http://schemas.openxmlformats.org/officeDocument/2006/relationships/slide" Target="slide22.xml"/><Relationship Id="rId2" Type="http://schemas.openxmlformats.org/officeDocument/2006/relationships/slide" Target="slide12.xml"/><Relationship Id="rId1" Type="http://schemas.openxmlformats.org/officeDocument/2006/relationships/slide" Target="slide1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slide" Target="slide4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slide" Target="slide1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slide" Target="slide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slide" Target="slid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slide" Target="slide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slide" Target="slide47.xml"/><Relationship Id="rId1" Type="http://schemas.openxmlformats.org/officeDocument/2006/relationships/slide" Target="slide2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slide" Target="slide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1" Type="http://schemas.openxmlformats.org/officeDocument/2006/relationships/slide" Target="slide3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99" Type="http://schemas.openxmlformats.org/officeDocument/2006/relationships/tags" Target="../tags/tag100.xml"/><Relationship Id="rId98" Type="http://schemas.openxmlformats.org/officeDocument/2006/relationships/tags" Target="../tags/tag99.xml"/><Relationship Id="rId97" Type="http://schemas.openxmlformats.org/officeDocument/2006/relationships/tags" Target="../tags/tag98.xml"/><Relationship Id="rId96" Type="http://schemas.openxmlformats.org/officeDocument/2006/relationships/tags" Target="../tags/tag97.xml"/><Relationship Id="rId95" Type="http://schemas.openxmlformats.org/officeDocument/2006/relationships/tags" Target="../tags/tag96.xml"/><Relationship Id="rId94" Type="http://schemas.openxmlformats.org/officeDocument/2006/relationships/tags" Target="../tags/tag95.xml"/><Relationship Id="rId93" Type="http://schemas.openxmlformats.org/officeDocument/2006/relationships/tags" Target="../tags/tag94.xml"/><Relationship Id="rId92" Type="http://schemas.openxmlformats.org/officeDocument/2006/relationships/tags" Target="../tags/tag93.xml"/><Relationship Id="rId91" Type="http://schemas.openxmlformats.org/officeDocument/2006/relationships/tags" Target="../tags/tag92.xml"/><Relationship Id="rId90" Type="http://schemas.openxmlformats.org/officeDocument/2006/relationships/tags" Target="../tags/tag91.xml"/><Relationship Id="rId9" Type="http://schemas.openxmlformats.org/officeDocument/2006/relationships/tags" Target="../tags/tag10.xml"/><Relationship Id="rId89" Type="http://schemas.openxmlformats.org/officeDocument/2006/relationships/tags" Target="../tags/tag90.xml"/><Relationship Id="rId88" Type="http://schemas.openxmlformats.org/officeDocument/2006/relationships/tags" Target="../tags/tag89.xml"/><Relationship Id="rId87" Type="http://schemas.openxmlformats.org/officeDocument/2006/relationships/tags" Target="../tags/tag88.xml"/><Relationship Id="rId86" Type="http://schemas.openxmlformats.org/officeDocument/2006/relationships/tags" Target="../tags/tag87.xml"/><Relationship Id="rId85" Type="http://schemas.openxmlformats.org/officeDocument/2006/relationships/tags" Target="../tags/tag86.xml"/><Relationship Id="rId84" Type="http://schemas.openxmlformats.org/officeDocument/2006/relationships/tags" Target="../tags/tag85.xml"/><Relationship Id="rId83" Type="http://schemas.openxmlformats.org/officeDocument/2006/relationships/tags" Target="../tags/tag84.xml"/><Relationship Id="rId82" Type="http://schemas.openxmlformats.org/officeDocument/2006/relationships/tags" Target="../tags/tag83.xml"/><Relationship Id="rId81" Type="http://schemas.openxmlformats.org/officeDocument/2006/relationships/tags" Target="../tags/tag82.xml"/><Relationship Id="rId80" Type="http://schemas.openxmlformats.org/officeDocument/2006/relationships/tags" Target="../tags/tag81.xml"/><Relationship Id="rId8" Type="http://schemas.openxmlformats.org/officeDocument/2006/relationships/tags" Target="../tags/tag9.xml"/><Relationship Id="rId79" Type="http://schemas.openxmlformats.org/officeDocument/2006/relationships/tags" Target="../tags/tag80.xml"/><Relationship Id="rId78" Type="http://schemas.openxmlformats.org/officeDocument/2006/relationships/tags" Target="../tags/tag79.xml"/><Relationship Id="rId77" Type="http://schemas.openxmlformats.org/officeDocument/2006/relationships/tags" Target="../tags/tag78.xml"/><Relationship Id="rId76" Type="http://schemas.openxmlformats.org/officeDocument/2006/relationships/tags" Target="../tags/tag77.xml"/><Relationship Id="rId75" Type="http://schemas.openxmlformats.org/officeDocument/2006/relationships/tags" Target="../tags/tag76.xml"/><Relationship Id="rId74" Type="http://schemas.openxmlformats.org/officeDocument/2006/relationships/tags" Target="../tags/tag75.xml"/><Relationship Id="rId73" Type="http://schemas.openxmlformats.org/officeDocument/2006/relationships/tags" Target="../tags/tag74.xml"/><Relationship Id="rId72" Type="http://schemas.openxmlformats.org/officeDocument/2006/relationships/tags" Target="../tags/tag73.xml"/><Relationship Id="rId71" Type="http://schemas.openxmlformats.org/officeDocument/2006/relationships/tags" Target="../tags/tag72.xml"/><Relationship Id="rId70" Type="http://schemas.openxmlformats.org/officeDocument/2006/relationships/tags" Target="../tags/tag71.xml"/><Relationship Id="rId7" Type="http://schemas.openxmlformats.org/officeDocument/2006/relationships/tags" Target="../tags/tag8.xml"/><Relationship Id="rId69" Type="http://schemas.openxmlformats.org/officeDocument/2006/relationships/tags" Target="../tags/tag70.xml"/><Relationship Id="rId68" Type="http://schemas.openxmlformats.org/officeDocument/2006/relationships/tags" Target="../tags/tag69.xml"/><Relationship Id="rId67" Type="http://schemas.openxmlformats.org/officeDocument/2006/relationships/tags" Target="../tags/tag68.xml"/><Relationship Id="rId66" Type="http://schemas.openxmlformats.org/officeDocument/2006/relationships/tags" Target="../tags/tag67.xml"/><Relationship Id="rId65" Type="http://schemas.openxmlformats.org/officeDocument/2006/relationships/tags" Target="../tags/tag66.xml"/><Relationship Id="rId64" Type="http://schemas.openxmlformats.org/officeDocument/2006/relationships/tags" Target="../tags/tag65.xml"/><Relationship Id="rId63" Type="http://schemas.openxmlformats.org/officeDocument/2006/relationships/tags" Target="../tags/tag64.xml"/><Relationship Id="rId62" Type="http://schemas.openxmlformats.org/officeDocument/2006/relationships/tags" Target="../tags/tag63.xml"/><Relationship Id="rId61" Type="http://schemas.openxmlformats.org/officeDocument/2006/relationships/tags" Target="../tags/tag62.xml"/><Relationship Id="rId60" Type="http://schemas.openxmlformats.org/officeDocument/2006/relationships/tags" Target="../tags/tag61.xml"/><Relationship Id="rId6" Type="http://schemas.openxmlformats.org/officeDocument/2006/relationships/tags" Target="../tags/tag7.xml"/><Relationship Id="rId59" Type="http://schemas.openxmlformats.org/officeDocument/2006/relationships/tags" Target="../tags/tag60.xml"/><Relationship Id="rId58" Type="http://schemas.openxmlformats.org/officeDocument/2006/relationships/tags" Target="../tags/tag59.xml"/><Relationship Id="rId57" Type="http://schemas.openxmlformats.org/officeDocument/2006/relationships/tags" Target="../tags/tag58.xml"/><Relationship Id="rId56" Type="http://schemas.openxmlformats.org/officeDocument/2006/relationships/tags" Target="../tags/tag57.xml"/><Relationship Id="rId55" Type="http://schemas.openxmlformats.org/officeDocument/2006/relationships/tags" Target="../tags/tag56.xml"/><Relationship Id="rId54" Type="http://schemas.openxmlformats.org/officeDocument/2006/relationships/tags" Target="../tags/tag55.xml"/><Relationship Id="rId53" Type="http://schemas.openxmlformats.org/officeDocument/2006/relationships/tags" Target="../tags/tag54.xml"/><Relationship Id="rId52" Type="http://schemas.openxmlformats.org/officeDocument/2006/relationships/tags" Target="../tags/tag53.xml"/><Relationship Id="rId51" Type="http://schemas.openxmlformats.org/officeDocument/2006/relationships/tags" Target="../tags/tag52.xml"/><Relationship Id="rId50" Type="http://schemas.openxmlformats.org/officeDocument/2006/relationships/tags" Target="../tags/tag51.xml"/><Relationship Id="rId5" Type="http://schemas.openxmlformats.org/officeDocument/2006/relationships/tags" Target="../tags/tag6.xml"/><Relationship Id="rId49" Type="http://schemas.openxmlformats.org/officeDocument/2006/relationships/tags" Target="../tags/tag50.xml"/><Relationship Id="rId48" Type="http://schemas.openxmlformats.org/officeDocument/2006/relationships/tags" Target="../tags/tag49.xml"/><Relationship Id="rId47" Type="http://schemas.openxmlformats.org/officeDocument/2006/relationships/tags" Target="../tags/tag48.xml"/><Relationship Id="rId46" Type="http://schemas.openxmlformats.org/officeDocument/2006/relationships/tags" Target="../tags/tag47.xml"/><Relationship Id="rId45" Type="http://schemas.openxmlformats.org/officeDocument/2006/relationships/tags" Target="../tags/tag46.xml"/><Relationship Id="rId44" Type="http://schemas.openxmlformats.org/officeDocument/2006/relationships/tags" Target="../tags/tag45.xml"/><Relationship Id="rId43" Type="http://schemas.openxmlformats.org/officeDocument/2006/relationships/tags" Target="../tags/tag44.xml"/><Relationship Id="rId42" Type="http://schemas.openxmlformats.org/officeDocument/2006/relationships/tags" Target="../tags/tag43.xml"/><Relationship Id="rId41" Type="http://schemas.openxmlformats.org/officeDocument/2006/relationships/tags" Target="../tags/tag42.xml"/><Relationship Id="rId40" Type="http://schemas.openxmlformats.org/officeDocument/2006/relationships/tags" Target="../tags/tag41.xml"/><Relationship Id="rId4" Type="http://schemas.openxmlformats.org/officeDocument/2006/relationships/tags" Target="../tags/tag5.xml"/><Relationship Id="rId39" Type="http://schemas.openxmlformats.org/officeDocument/2006/relationships/tags" Target="../tags/tag40.xml"/><Relationship Id="rId38" Type="http://schemas.openxmlformats.org/officeDocument/2006/relationships/tags" Target="../tags/tag39.xml"/><Relationship Id="rId37" Type="http://schemas.openxmlformats.org/officeDocument/2006/relationships/tags" Target="../tags/tag38.xml"/><Relationship Id="rId36" Type="http://schemas.openxmlformats.org/officeDocument/2006/relationships/tags" Target="../tags/tag37.xml"/><Relationship Id="rId35" Type="http://schemas.openxmlformats.org/officeDocument/2006/relationships/tags" Target="../tags/tag36.xml"/><Relationship Id="rId34" Type="http://schemas.openxmlformats.org/officeDocument/2006/relationships/tags" Target="../tags/tag35.xml"/><Relationship Id="rId33" Type="http://schemas.openxmlformats.org/officeDocument/2006/relationships/tags" Target="../tags/tag34.xml"/><Relationship Id="rId32" Type="http://schemas.openxmlformats.org/officeDocument/2006/relationships/tags" Target="../tags/tag33.xml"/><Relationship Id="rId31" Type="http://schemas.openxmlformats.org/officeDocument/2006/relationships/tags" Target="../tags/tag32.xml"/><Relationship Id="rId30" Type="http://schemas.openxmlformats.org/officeDocument/2006/relationships/tags" Target="../tags/tag31.xml"/><Relationship Id="rId3" Type="http://schemas.openxmlformats.org/officeDocument/2006/relationships/tags" Target="../tags/tag4.xml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tags" Target="../tags/tag3.xml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8" Type="http://schemas.openxmlformats.org/officeDocument/2006/relationships/notesSlide" Target="../notesSlides/notesSlide15.xml"/><Relationship Id="rId107" Type="http://schemas.openxmlformats.org/officeDocument/2006/relationships/slideLayout" Target="../slideLayouts/slideLayout7.xml"/><Relationship Id="rId106" Type="http://schemas.openxmlformats.org/officeDocument/2006/relationships/tags" Target="../tags/tag107.xml"/><Relationship Id="rId105" Type="http://schemas.openxmlformats.org/officeDocument/2006/relationships/tags" Target="../tags/tag106.xml"/><Relationship Id="rId104" Type="http://schemas.openxmlformats.org/officeDocument/2006/relationships/tags" Target="../tags/tag105.xml"/><Relationship Id="rId103" Type="http://schemas.openxmlformats.org/officeDocument/2006/relationships/tags" Target="../tags/tag104.xml"/><Relationship Id="rId102" Type="http://schemas.openxmlformats.org/officeDocument/2006/relationships/tags" Target="../tags/tag103.xml"/><Relationship Id="rId101" Type="http://schemas.openxmlformats.org/officeDocument/2006/relationships/tags" Target="../tags/tag102.xml"/><Relationship Id="rId100" Type="http://schemas.openxmlformats.org/officeDocument/2006/relationships/tags" Target="../tags/tag101.xml"/><Relationship Id="rId10" Type="http://schemas.openxmlformats.org/officeDocument/2006/relationships/tags" Target="../tags/tag11.xml"/><Relationship Id="rId1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slide" Target="slide17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7.xml"/><Relationship Id="rId3" Type="http://schemas.openxmlformats.org/officeDocument/2006/relationships/slide" Target="slide16.xml"/><Relationship Id="rId2" Type="http://schemas.openxmlformats.org/officeDocument/2006/relationships/slide" Target="slide15.xml"/><Relationship Id="rId1" Type="http://schemas.openxmlformats.org/officeDocument/2006/relationships/slide" Target="slide3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0.xml"/><Relationship Id="rId1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slide" Target="slide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2" Type="http://schemas.openxmlformats.org/officeDocument/2006/relationships/slide" Target="slide17.xml"/><Relationship Id="rId1" Type="http://schemas.openxmlformats.org/officeDocument/2006/relationships/slide" Target="slide3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7.xml"/><Relationship Id="rId7" Type="http://schemas.openxmlformats.org/officeDocument/2006/relationships/slide" Target="slide34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5.wmf"/><Relationship Id="rId10" Type="http://schemas.openxmlformats.org/officeDocument/2006/relationships/notesSlide" Target="../notesSlides/notesSlide32.xml"/><Relationship Id="rId1" Type="http://schemas.openxmlformats.org/officeDocument/2006/relationships/oleObject" Target="../embeddings/oleObject2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2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7.xml"/><Relationship Id="rId2" Type="http://schemas.openxmlformats.org/officeDocument/2006/relationships/hyperlink" Target="&#35745;&#31639;&#26426;&#32452;&#25104;&#21407;&#29702;&#22797;&#20064;.pptx#-1,25,PowerPoint%20&#28436;&#31034;&#25991;&#31295;" TargetMode="External"/><Relationship Id="rId1" Type="http://schemas.openxmlformats.org/officeDocument/2006/relationships/slide" Target="slide4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slide" Target="slide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slide" Target="slide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3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16.xml"/><Relationship Id="rId6" Type="http://schemas.openxmlformats.org/officeDocument/2006/relationships/slide" Target="slide6.xml"/><Relationship Id="rId5" Type="http://schemas.openxmlformats.org/officeDocument/2006/relationships/image" Target="../media/image9.png"/><Relationship Id="rId4" Type="http://schemas.openxmlformats.org/officeDocument/2006/relationships/tags" Target="../tags/tag115.xml"/><Relationship Id="rId3" Type="http://schemas.openxmlformats.org/officeDocument/2006/relationships/image" Target="../media/image8.png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1003300" y="1916113"/>
            <a:ext cx="7240588" cy="9144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anchor="ctr" anchorCtr="1">
            <a:spAutoFit/>
          </a:bodyPr>
          <a:lstStyle/>
          <a:p>
            <a:pPr algn="ctr"/>
            <a:r>
              <a:rPr lang="zh-CN" altLang="en-US" sz="5400" b="1" dirty="0">
                <a:ea typeface="楷体_GB2312" pitchFamily="49" charset="-122"/>
              </a:rPr>
              <a:t>计算</a:t>
            </a:r>
            <a:r>
              <a:rPr lang="zh-CN" altLang="en-US" sz="5400" b="1" dirty="0" smtClean="0">
                <a:ea typeface="楷体_GB2312" pitchFamily="49" charset="-122"/>
              </a:rPr>
              <a:t>机组成原理</a:t>
            </a:r>
            <a:endParaRPr lang="zh-CN" altLang="en-US" sz="5400" b="1" dirty="0">
              <a:ea typeface="楷体_GB2312" pitchFamily="49" charset="-122"/>
            </a:endParaRP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1403350" y="3284538"/>
            <a:ext cx="6624638" cy="1312862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CC3300"/>
                </a:solidFill>
              </a:rPr>
              <a:t>东南大学计算机学院  任国林</a:t>
            </a:r>
            <a:endParaRPr lang="zh-CN" altLang="en-US" sz="3600" b="1" dirty="0">
              <a:solidFill>
                <a:srgbClr val="CC3300"/>
              </a:solidFill>
            </a:endParaRPr>
          </a:p>
          <a:p>
            <a:pPr algn="ctr"/>
            <a:r>
              <a:rPr lang="zh-CN" altLang="en-US" sz="800" b="1" dirty="0"/>
              <a:t> </a:t>
            </a:r>
            <a:endParaRPr lang="zh-CN" altLang="en-US" sz="800" b="1" dirty="0"/>
          </a:p>
          <a:p>
            <a:pPr algn="ctr"/>
            <a:r>
              <a:rPr lang="en-US" altLang="zh-CN" sz="3600" b="1" dirty="0"/>
              <a:t>Email: </a:t>
            </a:r>
            <a:r>
              <a:rPr lang="en-US" altLang="zh-CN" sz="3600" dirty="0" smtClean="0"/>
              <a:t>renguolin@sina.com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430245" y="1293811"/>
            <a:ext cx="8356597" cy="19774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目标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1—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掌握计算机硬件的组成及工作原理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latin typeface="宋体" panose="02010600030101010101" pitchFamily="2" charset="-122"/>
              </a:rPr>
              <a:t>*建立计算机的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整机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概念</a:t>
            </a:r>
            <a:r>
              <a:rPr lang="zh-CN" altLang="en-US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                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关联</a:t>
            </a: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软件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硬件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)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latin typeface="宋体" panose="02010600030101010101" pitchFamily="2" charset="-122"/>
              </a:rPr>
              <a:t>*掌握计算机硬件的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组成及工作原理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理解硬件组成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控制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)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latin typeface="宋体" panose="02010600030101010101" pitchFamily="2" charset="-122"/>
              </a:rPr>
              <a:t>*了解计算机组成的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新技术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拓展知识面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)</a:t>
            </a:r>
            <a:endParaRPr lang="zh-CN" altLang="en-US" sz="1800" u="sng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430245" y="3310969"/>
            <a:ext cx="8356597" cy="205440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目标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2—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培养设计与开发能力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   *</a:t>
            </a:r>
            <a:r>
              <a:rPr lang="zh-CN" altLang="en-US" b="1" dirty="0" smtClean="0">
                <a:latin typeface="宋体" panose="02010600030101010101" pitchFamily="2" charset="-122"/>
              </a:rPr>
              <a:t>能够进行计算机硬件的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逻辑设计</a:t>
            </a:r>
            <a:r>
              <a:rPr lang="zh-CN" altLang="en-US" b="1" dirty="0" smtClean="0">
                <a:latin typeface="宋体" panose="02010600030101010101" pitchFamily="2" charset="-122"/>
              </a:rPr>
              <a:t>    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分析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解决问题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)</a:t>
            </a:r>
            <a:endParaRPr lang="en-US" altLang="zh-CN" dirty="0" smtClean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 smtClean="0">
                <a:latin typeface="宋体" panose="02010600030101010101" pitchFamily="2" charset="-122"/>
              </a:rPr>
              <a:t>   *掌握计算机硬件的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开发流程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        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工具使用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)</a:t>
            </a:r>
            <a:endParaRPr lang="en-US" altLang="zh-CN" dirty="0" smtClean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latin typeface="宋体" panose="02010600030101010101" pitchFamily="2" charset="-122"/>
              </a:rPr>
              <a:t>*能够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b="1" dirty="0" smtClean="0">
                <a:latin typeface="宋体" panose="02010600030101010101" pitchFamily="2" charset="-122"/>
              </a:rPr>
              <a:t>所设计计算机硬件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工程实践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)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323528" y="571480"/>
            <a:ext cx="8568952" cy="584775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chemeClr val="bg1"/>
                </a:solidFill>
                <a:latin typeface="宋体" panose="02010600030101010101" pitchFamily="2" charset="-122"/>
              </a:rPr>
              <a:t>课程目标</a:t>
            </a:r>
            <a:endParaRPr lang="zh-CN" altLang="en-US" sz="3200" b="1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23528" y="571480"/>
            <a:ext cx="8568952" cy="584775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chemeClr val="bg1"/>
                </a:solidFill>
                <a:latin typeface="宋体" panose="02010600030101010101" pitchFamily="2" charset="-122"/>
              </a:rPr>
              <a:t>教学要求</a:t>
            </a:r>
            <a:endParaRPr lang="zh-CN" altLang="en-US" sz="3200" b="1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323528" y="1268760"/>
            <a:ext cx="8568952" cy="41135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先修课程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数字逻辑电路，程序设计基础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2100"/>
              </a:spcBef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教学方式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理论教学</a:t>
            </a:r>
            <a:r>
              <a:rPr lang="en-US" altLang="zh-CN" sz="2000" b="1" dirty="0">
                <a:latin typeface="宋体" panose="02010600030101010101" pitchFamily="2" charset="-122"/>
              </a:rPr>
              <a:t>(64</a:t>
            </a:r>
            <a:r>
              <a:rPr lang="zh-CN" altLang="en-US" sz="2000" b="1" dirty="0">
                <a:latin typeface="宋体" panose="02010600030101010101" pitchFamily="2" charset="-122"/>
              </a:rPr>
              <a:t>学时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＋实验教学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(16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学时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参考教材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任国林</a:t>
            </a:r>
            <a:r>
              <a:rPr lang="en-US" altLang="zh-CN" b="1" dirty="0" smtClean="0">
                <a:latin typeface="宋体" panose="02010600030101010101" pitchFamily="2" charset="-122"/>
              </a:rPr>
              <a:t>.</a:t>
            </a:r>
            <a:r>
              <a:rPr lang="zh-CN" altLang="en-US" b="1" dirty="0" smtClean="0">
                <a:latin typeface="宋体" panose="02010600030101010101" pitchFamily="2" charset="-122"/>
              </a:rPr>
              <a:t>计算机组成原理</a:t>
            </a:r>
            <a:r>
              <a:rPr lang="en-US" altLang="zh-CN" b="1" dirty="0" smtClean="0">
                <a:latin typeface="宋体" panose="02010600030101010101" pitchFamily="2" charset="-122"/>
              </a:rPr>
              <a:t>(</a:t>
            </a:r>
            <a:r>
              <a:rPr lang="zh-CN" altLang="en-US" b="1" dirty="0" smtClean="0">
                <a:latin typeface="宋体" panose="02010600030101010101" pitchFamily="2" charset="-122"/>
              </a:rPr>
              <a:t>第</a:t>
            </a:r>
            <a:r>
              <a:rPr lang="en-US" altLang="zh-CN" b="1" dirty="0" smtClean="0"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latin typeface="宋体" panose="02010600030101010101" pitchFamily="2" charset="-122"/>
              </a:rPr>
              <a:t>版</a:t>
            </a:r>
            <a:r>
              <a:rPr lang="en-US" altLang="zh-CN" b="1" dirty="0" smtClean="0">
                <a:latin typeface="宋体" panose="02010600030101010101" pitchFamily="2" charset="-122"/>
              </a:rPr>
              <a:t>). </a:t>
            </a:r>
            <a:r>
              <a:rPr lang="zh-CN" altLang="en-US" b="1" dirty="0" smtClean="0">
                <a:latin typeface="宋体" panose="02010600030101010101" pitchFamily="2" charset="-122"/>
              </a:rPr>
              <a:t>电子工业出版社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       </a:t>
            </a:r>
            <a:r>
              <a:rPr lang="zh-CN" altLang="en-US" b="1" dirty="0" smtClean="0">
                <a:latin typeface="宋体" panose="02010600030101010101" pitchFamily="2" charset="-122"/>
              </a:rPr>
              <a:t>任国林</a:t>
            </a:r>
            <a:r>
              <a:rPr lang="en-US" altLang="zh-CN" b="1" dirty="0" smtClean="0">
                <a:latin typeface="宋体" panose="02010600030101010101" pitchFamily="2" charset="-122"/>
              </a:rPr>
              <a:t>.</a:t>
            </a:r>
            <a:r>
              <a:rPr lang="zh-CN" altLang="en-US" b="1" dirty="0" smtClean="0">
                <a:latin typeface="宋体" panose="02010600030101010101" pitchFamily="2" charset="-122"/>
              </a:rPr>
              <a:t>计算机组成原理实验讲义</a:t>
            </a:r>
            <a:r>
              <a:rPr lang="en-US" altLang="zh-CN" b="1" dirty="0" smtClean="0">
                <a:latin typeface="宋体" panose="02010600030101010101" pitchFamily="2" charset="-122"/>
              </a:rPr>
              <a:t>(2023</a:t>
            </a:r>
            <a:r>
              <a:rPr lang="zh-CN" altLang="en-US" b="1" dirty="0" smtClean="0">
                <a:latin typeface="宋体" panose="02010600030101010101" pitchFamily="2" charset="-122"/>
              </a:rPr>
              <a:t>版</a:t>
            </a:r>
            <a:r>
              <a:rPr lang="en-US" altLang="zh-CN" b="1" dirty="0" smtClean="0">
                <a:latin typeface="宋体" panose="02010600030101010101" pitchFamily="2" charset="-122"/>
              </a:rPr>
              <a:t>). </a:t>
            </a:r>
            <a:r>
              <a:rPr lang="zh-CN" altLang="en-US" b="1" dirty="0" smtClean="0">
                <a:latin typeface="宋体" panose="02010600030101010101" pitchFamily="2" charset="-122"/>
              </a:rPr>
              <a:t>自编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考核方式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考勤</a:t>
            </a:r>
            <a:r>
              <a:rPr lang="en-US" altLang="zh-CN" b="1" dirty="0" smtClean="0"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</a:rPr>
              <a:t>作业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(20%)</a:t>
            </a:r>
            <a:r>
              <a:rPr lang="zh-CN" altLang="en-US" b="1" dirty="0" smtClean="0">
                <a:latin typeface="宋体" panose="02010600030101010101" pitchFamily="2" charset="-122"/>
              </a:rPr>
              <a:t>＋实验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15%)</a:t>
            </a:r>
            <a:r>
              <a:rPr lang="zh-CN" altLang="en-US" b="1" dirty="0" smtClean="0">
                <a:latin typeface="宋体" panose="02010600030101010101" pitchFamily="2" charset="-122"/>
              </a:rPr>
              <a:t>＋测验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(15%)</a:t>
            </a:r>
            <a:r>
              <a:rPr lang="zh-CN" altLang="en-US" b="1" dirty="0" smtClean="0">
                <a:latin typeface="宋体" panose="02010600030101010101" pitchFamily="2" charset="-122"/>
              </a:rPr>
              <a:t>＋</a:t>
            </a:r>
            <a:r>
              <a:rPr lang="zh-CN" altLang="en-US" b="1" dirty="0">
                <a:latin typeface="宋体" panose="02010600030101010101" pitchFamily="2" charset="-122"/>
              </a:rPr>
              <a:t>考试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(50%)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457200" indent="-457200">
              <a:lnSpc>
                <a:spcPct val="105000"/>
              </a:lnSpc>
              <a:spcBef>
                <a:spcPts val="30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                 [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逢周三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交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    [4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次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        [3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次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教学进度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共</a:t>
            </a:r>
            <a:r>
              <a:rPr lang="en-US" altLang="zh-CN" b="1" dirty="0" smtClean="0">
                <a:latin typeface="宋体" panose="02010600030101010101" pitchFamily="2" charset="-122"/>
              </a:rPr>
              <a:t>12</a:t>
            </a:r>
            <a:r>
              <a:rPr lang="zh-CN" altLang="en-US" b="1" dirty="0" smtClean="0">
                <a:latin typeface="宋体" panose="02010600030101010101" pitchFamily="2" charset="-122"/>
              </a:rPr>
              <a:t>周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PPT1-P45)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5" name="Text Box 349"/>
          <p:cNvSpPr txBox="1">
            <a:spLocks noChangeArrowheads="1"/>
          </p:cNvSpPr>
          <p:nvPr/>
        </p:nvSpPr>
        <p:spPr bwMode="auto">
          <a:xfrm>
            <a:off x="899592" y="1844824"/>
            <a:ext cx="7920048" cy="648000"/>
          </a:xfrm>
          <a:prstGeom prst="rect">
            <a:avLst/>
          </a:prstGeom>
          <a:noFill/>
          <a:ln w="15875">
            <a:solidFill>
              <a:schemeClr val="tx1">
                <a:lumMod val="50000"/>
                <a:lumOff val="50000"/>
              </a:schemeClr>
            </a:solidFill>
            <a:prstDash val="sysDot"/>
            <a:miter lim="800000"/>
          </a:ln>
          <a:effectLst/>
        </p:spPr>
        <p:txBody>
          <a:bodyPr wrap="square" lIns="90000" tIns="10800" rIns="18000" bIns="10800" anchor="ctr" anchorCtr="0">
            <a:noAutofit/>
          </a:bodyPr>
          <a:lstStyle/>
          <a:p>
            <a:r>
              <a:rPr lang="zh-CN" altLang="en-US" sz="18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数电要求：</a:t>
            </a:r>
            <a:r>
              <a:rPr lang="zh-CN" altLang="en-US" sz="1800" dirty="0" smtClean="0">
                <a:latin typeface="宋体" panose="02010600030101010101" pitchFamily="2" charset="-122"/>
              </a:rPr>
              <a:t>逻辑函数的表示</a:t>
            </a:r>
            <a:r>
              <a:rPr lang="zh-CN" altLang="en-US" sz="1800" dirty="0">
                <a:latin typeface="宋体" panose="02010600030101010101" pitchFamily="2" charset="-122"/>
              </a:rPr>
              <a:t>及</a:t>
            </a:r>
            <a:r>
              <a:rPr lang="zh-CN" altLang="en-US" sz="1800" dirty="0" smtClean="0">
                <a:latin typeface="宋体" panose="02010600030101010101" pitchFamily="2" charset="-122"/>
              </a:rPr>
              <a:t>化简</a:t>
            </a:r>
            <a:r>
              <a:rPr lang="zh-CN" altLang="en-US" sz="1800" dirty="0" smtClean="0">
                <a:latin typeface="宋体" panose="02010600030101010101" pitchFamily="2" charset="-122"/>
              </a:rPr>
              <a:t>，组合逻辑电路</a:t>
            </a:r>
            <a:r>
              <a:rPr lang="zh-CN" altLang="en-US" sz="1800" dirty="0" smtClean="0">
                <a:latin typeface="宋体" panose="02010600030101010101" pitchFamily="2" charset="-122"/>
              </a:rPr>
              <a:t>、时序逻辑电路</a:t>
            </a:r>
            <a:r>
              <a:rPr lang="zh-CN" altLang="en-US" sz="1800" dirty="0" smtClean="0">
                <a:latin typeface="宋体" panose="02010600030101010101" pitchFamily="2" charset="-122"/>
              </a:rPr>
              <a:t>的设计</a:t>
            </a:r>
            <a:endParaRPr lang="en-US" altLang="zh-CN" sz="1800" dirty="0" smtClean="0">
              <a:latin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r>
              <a:rPr lang="zh-CN" altLang="en-US" sz="18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软件要求：</a:t>
            </a:r>
            <a:r>
              <a:rPr lang="zh-CN" altLang="en-US" sz="1800" dirty="0" smtClean="0">
                <a:latin typeface="宋体" panose="02010600030101010101" pitchFamily="2" charset="-122"/>
              </a:rPr>
              <a:t>了解</a:t>
            </a:r>
            <a:r>
              <a:rPr lang="en-US" altLang="zh-CN" sz="1800" dirty="0" smtClean="0"/>
              <a:t>C</a:t>
            </a:r>
            <a:r>
              <a:rPr lang="zh-CN" altLang="en-US" sz="1800" dirty="0"/>
              <a:t>语言的数据类型、语句</a:t>
            </a:r>
            <a:r>
              <a:rPr lang="zh-CN" altLang="en-US" sz="1800" dirty="0" smtClean="0"/>
              <a:t>功能、程序组成及执行过程</a:t>
            </a:r>
            <a:endParaRPr lang="zh-CN" altLang="en-US" sz="1800" dirty="0">
              <a:latin typeface="宋体" panose="02010600030101010101" pitchFamily="2" charset="-122"/>
            </a:endParaRPr>
          </a:p>
        </p:txBody>
      </p:sp>
      <p:sp>
        <p:nvSpPr>
          <p:cNvPr id="8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5400000">
            <a:off x="3456224" y="6057639"/>
            <a:ext cx="287337" cy="122413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转数电要求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" name="Text Box 349"/>
          <p:cNvSpPr txBox="1">
            <a:spLocks noChangeArrowheads="1"/>
          </p:cNvSpPr>
          <p:nvPr/>
        </p:nvSpPr>
        <p:spPr bwMode="auto">
          <a:xfrm>
            <a:off x="971600" y="5481955"/>
            <a:ext cx="6120680" cy="429895"/>
          </a:xfrm>
          <a:prstGeom prst="rect">
            <a:avLst/>
          </a:prstGeom>
          <a:noFill/>
          <a:ln w="12700">
            <a:noFill/>
            <a:prstDash val="sysDot"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课程群：</a:t>
            </a:r>
            <a:r>
              <a:rPr lang="zh-CN" altLang="en-US" sz="2200" b="1" dirty="0" smtClean="0">
                <a:latin typeface="+mn-ea"/>
                <a:ea typeface="+mn-ea"/>
              </a:rPr>
              <a:t>名称</a:t>
            </a:r>
            <a:r>
              <a:rPr lang="en-US" altLang="zh-CN" sz="2200" b="1" dirty="0" smtClean="0">
                <a:latin typeface="+mn-ea"/>
                <a:ea typeface="+mn-ea"/>
              </a:rPr>
              <a:t>CO-2023-Ren</a:t>
            </a:r>
            <a:r>
              <a:rPr lang="zh-CN" altLang="en-US" sz="2200" b="1" dirty="0" smtClean="0">
                <a:latin typeface="+mn-ea"/>
                <a:ea typeface="+mn-ea"/>
              </a:rPr>
              <a:t>，群号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9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5400000">
            <a:off x="6696584" y="6056945"/>
            <a:ext cx="287337" cy="122413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转</a:t>
            </a:r>
            <a:r>
              <a:rPr lang="zh-CN" altLang="en-US" sz="1600" dirty="0" smtClean="0">
                <a:solidFill>
                  <a:schemeClr val="bg2"/>
                </a:solidFill>
                <a:latin typeface="+mn-ea"/>
                <a:ea typeface="+mn-ea"/>
              </a:rPr>
              <a:t>学习思考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0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5400000">
            <a:off x="5112408" y="6056945"/>
            <a:ext cx="287337" cy="122413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转教学进度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D137-C19B-469C-BA78-A0BD1EA0AC38}" type="slidenum">
              <a:rPr lang="en-US" altLang="zh-CN"/>
            </a:fld>
            <a:endParaRPr lang="en-US" altLang="zh-CN"/>
          </a:p>
        </p:txBody>
      </p:sp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762000" y="2589213"/>
            <a:ext cx="7467600" cy="822341"/>
          </a:xfrm>
          <a:prstGeom prst="rect">
            <a:avLst/>
          </a:prstGeom>
          <a:solidFill>
            <a:srgbClr val="CC99FF">
              <a:alpha val="80000"/>
            </a:srgb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章 计算机系统</a:t>
            </a:r>
            <a:r>
              <a:rPr lang="zh-CN" altLang="en-US" sz="4400" b="1" dirty="0" smtClean="0">
                <a:latin typeface="黑体" panose="02010609060101010101" pitchFamily="2" charset="-122"/>
                <a:ea typeface="黑体" panose="02010609060101010101" pitchFamily="2" charset="-122"/>
              </a:rPr>
              <a:t>概述</a:t>
            </a:r>
            <a:endParaRPr lang="zh-CN" altLang="en-US" sz="44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08"/>
          <p:cNvSpPr txBox="1">
            <a:spLocks noChangeArrowheads="1"/>
          </p:cNvSpPr>
          <p:nvPr/>
        </p:nvSpPr>
        <p:spPr bwMode="auto">
          <a:xfrm>
            <a:off x="142844" y="332656"/>
            <a:ext cx="8821644" cy="60939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主要内容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⑴ 计算机的发展历程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功能与软硬件，产生与发展，国内发展现状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⑵ 计算机硬件组成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计算机模型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硬件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结构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软件组成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工作</a:t>
            </a:r>
            <a:r>
              <a:rPr lang="zh-CN" altLang="en-US" sz="1800" b="1" dirty="0">
                <a:latin typeface="宋体" panose="02010600030101010101" pitchFamily="2" charset="-122"/>
              </a:rPr>
              <a:t>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基本结构，部件组成，部件互连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总线互连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操作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⑶ 计算机层次结构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△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←△表示要求为识记层次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系统的层次结构，结构与组成的关系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组成的任务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⑷ 计算机工作过程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工作方式的实现方案，程序执行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过程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准备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执行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⑸ 计算机性能指标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硬件技术指标，计算机性能指标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总体要求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271780" indent="-2717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+mn-ea"/>
              </a:rPr>
              <a:t>    </a:t>
            </a:r>
            <a:r>
              <a:rPr lang="zh-CN" altLang="en-US" sz="2200" b="1" u="sng" dirty="0" smtClean="0">
                <a:solidFill>
                  <a:schemeClr val="accent2"/>
                </a:solidFill>
                <a:latin typeface="+mn-ea"/>
              </a:rPr>
              <a:t>了解</a:t>
            </a:r>
            <a:r>
              <a:rPr lang="zh-CN" altLang="en-US" sz="2200" b="1" dirty="0">
                <a:latin typeface="+mn-ea"/>
              </a:rPr>
              <a:t>硬件</a:t>
            </a:r>
            <a:r>
              <a:rPr lang="zh-CN" altLang="en-US" sz="2200" b="1" dirty="0" smtClean="0">
                <a:latin typeface="+mn-ea"/>
              </a:rPr>
              <a:t>组成，</a:t>
            </a:r>
            <a:r>
              <a:rPr lang="zh-CN" altLang="en-US" sz="2200" b="1" u="sng" dirty="0" smtClean="0">
                <a:solidFill>
                  <a:schemeClr val="accent2"/>
                </a:solidFill>
                <a:latin typeface="+mn-ea"/>
              </a:rPr>
              <a:t>理解</a:t>
            </a:r>
            <a:r>
              <a:rPr lang="zh-CN" altLang="en-US" sz="2200" b="1" dirty="0">
                <a:latin typeface="+mn-ea"/>
              </a:rPr>
              <a:t>硬件</a:t>
            </a:r>
            <a:r>
              <a:rPr lang="zh-CN" altLang="en-US" sz="2200" b="1" dirty="0" smtClean="0">
                <a:latin typeface="+mn-ea"/>
              </a:rPr>
              <a:t>工作过程，</a:t>
            </a:r>
            <a:r>
              <a:rPr lang="zh-CN" altLang="en-US" sz="2200" b="1" u="sng" dirty="0" smtClean="0">
                <a:solidFill>
                  <a:schemeClr val="accent2"/>
                </a:solidFill>
                <a:latin typeface="+mn-ea"/>
              </a:rPr>
              <a:t>可计算</a:t>
            </a:r>
            <a:r>
              <a:rPr lang="zh-CN" altLang="en-US" sz="2200" b="1" dirty="0" smtClean="0">
                <a:latin typeface="+mn-ea"/>
              </a:rPr>
              <a:t>程序执行性能</a:t>
            </a:r>
            <a:endParaRPr lang="en-US" altLang="zh-CN" sz="2200" b="1" dirty="0">
              <a:latin typeface="+mn-ea"/>
            </a:endParaRPr>
          </a:p>
        </p:txBody>
      </p:sp>
      <p:sp>
        <p:nvSpPr>
          <p:cNvPr id="5" name="AutoShape 452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308998" y="2132856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45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308304" y="2564904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45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220073" y="2997646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452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220073" y="3861742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45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220073" y="47258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776808" y="332656"/>
            <a:ext cx="746760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3000" b="1" dirty="0">
                <a:latin typeface="宋体" panose="02010600030101010101" pitchFamily="2" charset="-122"/>
              </a:rPr>
              <a:t>§1.1 </a:t>
            </a:r>
            <a:r>
              <a:rPr lang="zh-CN" altLang="en-US" sz="3000" b="1" dirty="0" smtClean="0">
                <a:latin typeface="宋体" panose="02010600030101010101" pitchFamily="2" charset="-122"/>
              </a:rPr>
              <a:t>计算机的发展历程</a:t>
            </a:r>
            <a:endParaRPr lang="zh-CN" altLang="en-US" sz="3000" b="1" dirty="0">
              <a:latin typeface="宋体" panose="02010600030101010101" pitchFamily="2" charset="-122"/>
            </a:endParaRPr>
          </a:p>
        </p:txBody>
      </p:sp>
      <p:sp>
        <p:nvSpPr>
          <p:cNvPr id="13" name="Text Box 108"/>
          <p:cNvSpPr txBox="1">
            <a:spLocks noChangeArrowheads="1"/>
          </p:cNvSpPr>
          <p:nvPr/>
        </p:nvSpPr>
        <p:spPr bwMode="auto">
          <a:xfrm>
            <a:off x="142844" y="1798602"/>
            <a:ext cx="5293252" cy="341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、计算机的功能与软硬件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*计算机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*计算机的软硬件：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硬件的实质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软件的实质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spc="6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相互关联</a:t>
            </a:r>
            <a:r>
              <a:rPr lang="en-US" altLang="zh-CN" b="1" spc="6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spc="6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Text Box 122"/>
          <p:cNvSpPr txBox="1">
            <a:spLocks noChangeArrowheads="1"/>
          </p:cNvSpPr>
          <p:nvPr/>
        </p:nvSpPr>
        <p:spPr bwMode="auto">
          <a:xfrm>
            <a:off x="827584" y="2780928"/>
            <a:ext cx="8047101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数据处理，数据存储，数据传送，执行</a:t>
            </a:r>
            <a:r>
              <a:rPr lang="zh-CN" altLang="en-US" b="1" dirty="0">
                <a:latin typeface="宋体" panose="02010600030101010101" pitchFamily="2" charset="-122"/>
              </a:rPr>
              <a:t>用户编制的</a:t>
            </a:r>
            <a:r>
              <a:rPr lang="zh-CN" altLang="en-US" b="1" dirty="0" smtClean="0">
                <a:latin typeface="宋体" panose="02010600030101010101" pitchFamily="2" charset="-122"/>
              </a:rPr>
              <a:t>程序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1" name="Text Box 111"/>
          <p:cNvSpPr txBox="1">
            <a:spLocks noChangeArrowheads="1"/>
          </p:cNvSpPr>
          <p:nvPr/>
        </p:nvSpPr>
        <p:spPr bwMode="auto">
          <a:xfrm>
            <a:off x="2699792" y="3679864"/>
            <a:ext cx="6084759" cy="1822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具备特定功能的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部件</a:t>
            </a:r>
            <a:endParaRPr lang="en-US" altLang="zh-CN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sng" dirty="0" smtClean="0">
                <a:latin typeface="宋体" panose="02010600030101010101" pitchFamily="2" charset="-122"/>
              </a:rPr>
              <a:t>表示用户需求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信息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软件功能</a:t>
            </a:r>
            <a:r>
              <a:rPr lang="zh-CN" altLang="en-US" b="1" dirty="0">
                <a:latin typeface="宋体" panose="02010600030101010101" pitchFamily="2" charset="-122"/>
              </a:rPr>
              <a:t>靠硬件</a:t>
            </a:r>
            <a:r>
              <a:rPr lang="zh-CN" altLang="en-US" b="1" u="sng" dirty="0">
                <a:solidFill>
                  <a:srgbClr val="0066FF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硬件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性能</a:t>
            </a:r>
            <a:r>
              <a:rPr lang="zh-CN" altLang="en-US" b="1" dirty="0">
                <a:latin typeface="宋体" panose="02010600030101010101" pitchFamily="2" charset="-122"/>
              </a:rPr>
              <a:t>靠软件</a:t>
            </a:r>
            <a:r>
              <a:rPr lang="zh-CN" altLang="en-US" b="1" u="sng" dirty="0" smtClean="0">
                <a:solidFill>
                  <a:srgbClr val="0066FF"/>
                </a:solidFill>
                <a:latin typeface="宋体" panose="02010600030101010101" pitchFamily="2" charset="-122"/>
              </a:rPr>
              <a:t>反映</a:t>
            </a:r>
            <a:endParaRPr lang="en-US" altLang="zh-CN" b="1" u="sng" dirty="0" smtClean="0">
              <a:solidFill>
                <a:srgbClr val="0066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dirty="0" smtClean="0">
                <a:latin typeface="宋体" panose="02010600030101010101" pitchFamily="2" charset="-122"/>
                <a:sym typeface="+mn-ea"/>
              </a:rPr>
              <a:t>└─</a:t>
            </a:r>
            <a:r>
              <a:rPr lang="zh-CN" altLang="en-US" sz="1800" dirty="0" smtClean="0">
                <a:latin typeface="宋体" panose="02010600030101010101" pitchFamily="2" charset="-122"/>
                <a:sym typeface="+mn-ea"/>
              </a:rPr>
              <a:t>───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→┴→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构成一个系统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10" name="Text Box 275"/>
          <p:cNvSpPr txBox="1">
            <a:spLocks noChangeArrowheads="1"/>
          </p:cNvSpPr>
          <p:nvPr/>
        </p:nvSpPr>
        <p:spPr bwMode="auto">
          <a:xfrm>
            <a:off x="179512" y="908720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200" b="1" dirty="0">
                <a:latin typeface="宋体" panose="02010600030101010101" pitchFamily="2" charset="-122"/>
              </a:rPr>
              <a:t>计算机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的功能与软硬件，计算机</a:t>
            </a:r>
            <a:r>
              <a:rPr lang="zh-CN" altLang="en-US" sz="2200" b="1" dirty="0">
                <a:latin typeface="宋体" panose="02010600030101010101" pitchFamily="2" charset="-122"/>
              </a:rPr>
              <a:t>的产生与发展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国内计算机的发展现状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3275856" y="2448000"/>
            <a:ext cx="4248472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计算机</a:t>
            </a:r>
            <a:r>
              <a:rPr lang="zh-CN" altLang="en-US" sz="1800" b="1" dirty="0">
                <a:latin typeface="宋体" panose="02010600030101010101" pitchFamily="2" charset="-122"/>
              </a:rPr>
              <a:t>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计算器多了哪些功能？</a:t>
            </a:r>
            <a:endParaRPr lang="en-US" altLang="zh-CN" sz="1800" dirty="0">
              <a:latin typeface="宋体" panose="02010600030101010101" pitchFamily="2" charset="-122"/>
            </a:endParaRPr>
          </a:p>
        </p:txBody>
      </p:sp>
      <p:sp>
        <p:nvSpPr>
          <p:cNvPr id="8" name="AutoShape 62">
            <a:hlinkClick r:id="rId1" action="ppaction://hlinksldjump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3527557" y="5913707"/>
            <a:ext cx="287337" cy="1512000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转</a:t>
            </a:r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PPT</a:t>
            </a:r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组界面织</a:t>
            </a:r>
            <a:endParaRPr lang="zh-CN" altLang="en-US" sz="1600" u="none" dirty="0" smtClean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EF4D9-D184-403B-BADF-98FE0C70DAAB}" type="slidenum">
              <a:rPr lang="en-US" altLang="zh-CN"/>
            </a:fld>
            <a:endParaRPr lang="en-US" altLang="zh-CN"/>
          </a:p>
        </p:txBody>
      </p:sp>
      <p:graphicFrame>
        <p:nvGraphicFramePr>
          <p:cNvPr id="174411" name="Group 331"/>
          <p:cNvGraphicFramePr>
            <a:graphicFrameLocks noGrp="1"/>
          </p:cNvGraphicFramePr>
          <p:nvPr/>
        </p:nvGraphicFramePr>
        <p:xfrm>
          <a:off x="1619672" y="3284984"/>
          <a:ext cx="7272808" cy="2263104"/>
        </p:xfrm>
        <a:graphic>
          <a:graphicData uri="http://schemas.openxmlformats.org/drawingml/2006/table">
            <a:tbl>
              <a:tblPr/>
              <a:tblGrid>
                <a:gridCol w="1296417"/>
                <a:gridCol w="1223863"/>
                <a:gridCol w="1296144"/>
                <a:gridCol w="1512168"/>
                <a:gridCol w="576064"/>
                <a:gridCol w="1368152"/>
              </a:tblGrid>
              <a:tr h="2645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第一代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第二代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第三代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第四代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年代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1946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1958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1958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1964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1964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1971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1971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至今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元器件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电子管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晶体管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SSI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MSI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LSI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VLSI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ULSI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主存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磁心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半导体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辅存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纸带、磁带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磁盘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光盘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字长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4/8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8/16/32/64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单道批处理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多道批、分时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速度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/s)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40,000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200,000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1,000,000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2500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亿万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12" y="1340768"/>
            <a:ext cx="3240360" cy="1728192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992" y="1340768"/>
            <a:ext cx="1039360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utoShape 23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275"/>
          <p:cNvSpPr txBox="1">
            <a:spLocks noChangeArrowheads="1"/>
          </p:cNvSpPr>
          <p:nvPr/>
        </p:nvSpPr>
        <p:spPr bwMode="auto">
          <a:xfrm>
            <a:off x="179513" y="332656"/>
            <a:ext cx="3672408" cy="58631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计算机的产生与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发展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*产生：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*发展：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趋势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74355" name="Text Box 275"/>
          <p:cNvSpPr txBox="1">
            <a:spLocks noChangeArrowheads="1"/>
          </p:cNvSpPr>
          <p:nvPr/>
        </p:nvSpPr>
        <p:spPr bwMode="auto">
          <a:xfrm>
            <a:off x="1403400" y="778241"/>
            <a:ext cx="7561214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ENIAC</a:t>
            </a:r>
            <a:r>
              <a:rPr lang="zh-CN" altLang="en-US" b="1" dirty="0" smtClean="0">
                <a:latin typeface="宋体" panose="02010600030101010101" pitchFamily="2" charset="-122"/>
              </a:rPr>
              <a:t>，用改变开关及连线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编程</a:t>
            </a:r>
            <a:r>
              <a:rPr lang="zh-CN" altLang="en-US" b="1" dirty="0" smtClean="0">
                <a:latin typeface="宋体" panose="02010600030101010101" pitchFamily="2" charset="-122"/>
              </a:rPr>
              <a:t>，用打孔卡片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存放数据</a:t>
            </a:r>
            <a:endParaRPr lang="zh-CN" altLang="en-US" b="1" u="sng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74400" name="Text Box 320"/>
          <p:cNvSpPr txBox="1">
            <a:spLocks noChangeArrowheads="1"/>
          </p:cNvSpPr>
          <p:nvPr/>
        </p:nvSpPr>
        <p:spPr bwMode="auto">
          <a:xfrm>
            <a:off x="1475657" y="5608489"/>
            <a:ext cx="7560840" cy="8448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第四</a:t>
            </a:r>
            <a:r>
              <a:rPr lang="zh-CN" altLang="en-US" b="1" dirty="0">
                <a:latin typeface="宋体" panose="02010600030101010101" pitchFamily="2" charset="-122"/>
              </a:rPr>
              <a:t>代起</a:t>
            </a:r>
            <a:r>
              <a:rPr lang="zh-CN" altLang="en-US" b="1" dirty="0" smtClean="0">
                <a:latin typeface="宋体" panose="02010600030101010101" pitchFamily="2" charset="-122"/>
              </a:rPr>
              <a:t>向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两极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微型机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大型机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发展</a:t>
            </a:r>
            <a:r>
              <a:rPr lang="en-US" altLang="zh-CN" b="1" dirty="0" smtClean="0">
                <a:latin typeface="宋体" panose="02010600030101010101" pitchFamily="2" charset="-122"/>
              </a:rPr>
              <a:t>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←应用普及所致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微型化、网络化、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智能化→</a:t>
            </a:r>
            <a:r>
              <a:rPr lang="zh-CN" altLang="en-US" sz="1800" dirty="0" smtClean="0">
                <a:latin typeface="宋体" panose="02010600030101010101" pitchFamily="2" charset="-122"/>
              </a:rPr>
              <a:t>┘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←巨型化、并行化、超高速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221"/>
    </mc:Choice>
    <mc:Fallback>
      <p:transition spd="slow" advTm="212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74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55" grpId="0"/>
      <p:bldP spid="17440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3B744-7E1B-4FE2-A17F-CE2EE61751D9}" type="slidenum">
              <a:rPr lang="en-US" altLang="zh-CN"/>
            </a:fld>
            <a:endParaRPr lang="en-US" altLang="zh-CN"/>
          </a:p>
        </p:txBody>
      </p:sp>
      <p:sp>
        <p:nvSpPr>
          <p:cNvPr id="230503" name="Text Box 103"/>
          <p:cNvSpPr txBox="1">
            <a:spLocks noChangeArrowheads="1"/>
          </p:cNvSpPr>
          <p:nvPr/>
        </p:nvSpPr>
        <p:spPr bwMode="auto">
          <a:xfrm>
            <a:off x="179389" y="357166"/>
            <a:ext cx="4392612" cy="53245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微型计算机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的产生与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发展：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趋势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30855" name="Group 455"/>
          <p:cNvGraphicFramePr>
            <a:graphicFrameLocks noGrp="1"/>
          </p:cNvGraphicFramePr>
          <p:nvPr/>
        </p:nvGraphicFramePr>
        <p:xfrm>
          <a:off x="899591" y="908720"/>
          <a:ext cx="7560841" cy="3696945"/>
        </p:xfrm>
        <a:graphic>
          <a:graphicData uri="http://schemas.openxmlformats.org/drawingml/2006/table">
            <a:tbl>
              <a:tblPr/>
              <a:tblGrid>
                <a:gridCol w="1440161"/>
                <a:gridCol w="576063"/>
                <a:gridCol w="1008113"/>
                <a:gridCol w="936104"/>
                <a:gridCol w="2880320"/>
                <a:gridCol w="720080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微处理器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字长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主频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其他特点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年代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</a:tr>
              <a:tr h="3190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8080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2MHz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1974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8086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4.77MHz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实模式    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(16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I/O)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1978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8088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4.77MHz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20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    ( 8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I/O)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1979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80286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6MHz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保护模式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段式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VM)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</a:tr>
              <a:tr h="122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80386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12.5MHz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保护模式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页式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VM)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1985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80486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25MHz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RISC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流水线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1989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66MHz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超标量流水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MMX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1993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 Pro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133MHz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超级流水、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动态执行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1995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 Ⅱ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200MHz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1997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 Ⅲ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450MHz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SSE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、非阻塞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1999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</a:tr>
              <a:tr h="182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 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3.2GHz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SSE2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Trace Cache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Core 2 Duo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1.6GHz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双核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0744" name="Text Box 344"/>
          <p:cNvSpPr txBox="1">
            <a:spLocks noChangeArrowheads="1"/>
          </p:cNvSpPr>
          <p:nvPr/>
        </p:nvSpPr>
        <p:spPr bwMode="auto">
          <a:xfrm>
            <a:off x="1835447" y="4645585"/>
            <a:ext cx="590490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pPr marL="2155825" indent="-2155825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开发</a:t>
            </a:r>
            <a:r>
              <a:rPr lang="zh-CN" altLang="en-US" b="1" dirty="0">
                <a:latin typeface="宋体" panose="02010600030101010101" pitchFamily="2" charset="-122"/>
              </a:rPr>
              <a:t>并行性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操作级→指令级→线程级→内核级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2155825" indent="-2155825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面向应用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桌面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服务器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嵌入式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             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7" name="Text Box 344"/>
          <p:cNvSpPr txBox="1">
            <a:spLocks noChangeArrowheads="1"/>
          </p:cNvSpPr>
          <p:nvPr/>
        </p:nvSpPr>
        <p:spPr bwMode="auto">
          <a:xfrm>
            <a:off x="179512" y="5589240"/>
            <a:ext cx="8785225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pPr marL="2155825" indent="-2155825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本课程的目标：</a:t>
            </a:r>
            <a:r>
              <a:rPr lang="zh-CN" altLang="en-US" b="1" dirty="0" smtClean="0">
                <a:latin typeface="宋体" panose="02010600030101010101" pitchFamily="2" charset="-122"/>
              </a:rPr>
              <a:t>≤</a:t>
            </a:r>
            <a:r>
              <a:rPr lang="en-US" altLang="zh-CN" b="1" dirty="0" smtClean="0">
                <a:latin typeface="宋体" panose="02010600030101010101" pitchFamily="2" charset="-122"/>
              </a:rPr>
              <a:t>80386</a:t>
            </a:r>
            <a:r>
              <a:rPr lang="zh-CN" altLang="en-US" b="1" dirty="0" smtClean="0">
                <a:latin typeface="宋体" panose="02010600030101010101" pitchFamily="2" charset="-122"/>
              </a:rPr>
              <a:t>级       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←硬件基础课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74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03"/>
          <p:cNvSpPr txBox="1">
            <a:spLocks noChangeArrowheads="1"/>
          </p:cNvSpPr>
          <p:nvPr/>
        </p:nvSpPr>
        <p:spPr bwMode="auto">
          <a:xfrm>
            <a:off x="179389" y="357166"/>
            <a:ext cx="5040684" cy="47089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国内计算机发展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的现状及危机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现状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   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--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关键是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CPU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技术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</a:rPr>
              <a:t>   </a:t>
            </a:r>
            <a:r>
              <a:rPr lang="en-US" altLang="zh-CN" b="1" dirty="0">
                <a:solidFill>
                  <a:schemeClr val="accent2"/>
                </a:solidFill>
                <a:latin typeface="+mn-ea"/>
              </a:rPr>
              <a:t>CPU</a:t>
            </a:r>
            <a:r>
              <a:rPr lang="zh-CN" altLang="en-US" b="1" dirty="0">
                <a:solidFill>
                  <a:schemeClr val="accent2"/>
                </a:solidFill>
                <a:latin typeface="+mn-ea"/>
              </a:rPr>
              <a:t>设计</a:t>
            </a:r>
            <a:r>
              <a:rPr lang="en-US" altLang="zh-CN" b="1" dirty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制造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危机：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应对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+mn-ea"/>
              </a:rPr>
              <a:t>    宏观</a:t>
            </a:r>
            <a:r>
              <a:rPr lang="zh-CN" altLang="en-US" b="1" dirty="0">
                <a:solidFill>
                  <a:schemeClr val="accent2"/>
                </a:solidFill>
                <a:latin typeface="+mn-ea"/>
              </a:rPr>
              <a:t>层面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b="1" dirty="0">
                <a:solidFill>
                  <a:schemeClr val="accent2"/>
                </a:solidFill>
                <a:latin typeface="+mn-ea"/>
                <a:ea typeface="+mn-ea"/>
              </a:rPr>
              <a:t>微</a:t>
            </a:r>
            <a:r>
              <a:rPr lang="zh-CN" altLang="en-US" b="1" dirty="0" smtClean="0">
                <a:solidFill>
                  <a:schemeClr val="accent2"/>
                </a:solidFill>
                <a:latin typeface="+mn-ea"/>
                <a:ea typeface="+mn-ea"/>
              </a:rPr>
              <a:t>观层面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5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6" name="Text Box 103"/>
          <p:cNvSpPr txBox="1">
            <a:spLocks noChangeArrowheads="1"/>
          </p:cNvSpPr>
          <p:nvPr/>
        </p:nvSpPr>
        <p:spPr bwMode="auto">
          <a:xfrm>
            <a:off x="827584" y="1268760"/>
            <a:ext cx="8208912" cy="42462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+mn-ea"/>
                <a:ea typeface="+mn-ea"/>
              </a:rPr>
              <a:t>         有申威</a:t>
            </a:r>
            <a:r>
              <a:rPr lang="zh-CN" altLang="en-US" b="1" dirty="0">
                <a:latin typeface="+mn-ea"/>
                <a:ea typeface="+mn-ea"/>
              </a:rPr>
              <a:t>、</a:t>
            </a:r>
            <a:r>
              <a:rPr lang="zh-CN" altLang="en-US" b="1" dirty="0" smtClean="0">
                <a:latin typeface="+mn-ea"/>
                <a:ea typeface="+mn-ea"/>
              </a:rPr>
              <a:t>龙芯等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自主产权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en-US" b="1" dirty="0" smtClean="0">
                <a:latin typeface="+mn-ea"/>
                <a:ea typeface="+mn-ea"/>
              </a:rPr>
              <a:t>，鲲鹏、飞腾等</a:t>
            </a:r>
            <a:r>
              <a:rPr lang="en-US" altLang="zh-CN" sz="1800" b="1" dirty="0" smtClean="0">
                <a:latin typeface="+mn-ea"/>
                <a:ea typeface="+mn-ea"/>
              </a:rPr>
              <a:t>(ISA</a:t>
            </a:r>
            <a:r>
              <a:rPr lang="zh-CN" altLang="en-US" sz="1800" b="1" dirty="0" smtClean="0">
                <a:latin typeface="+mn-ea"/>
                <a:ea typeface="+mn-ea"/>
              </a:rPr>
              <a:t>授权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en-US" b="1" dirty="0" smtClean="0">
                <a:latin typeface="+mn-ea"/>
                <a:ea typeface="+mn-ea"/>
              </a:rPr>
              <a:t>，</a:t>
            </a:r>
            <a:endParaRPr lang="en-US" altLang="zh-CN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+mn-ea"/>
                <a:ea typeface="+mn-ea"/>
              </a:rPr>
              <a:t> </a:t>
            </a:r>
            <a:r>
              <a:rPr lang="en-US" altLang="zh-CN" b="1" dirty="0" smtClean="0">
                <a:latin typeface="+mn-ea"/>
                <a:ea typeface="+mn-ea"/>
              </a:rPr>
              <a:t>        </a:t>
            </a:r>
            <a:r>
              <a:rPr lang="zh-CN" altLang="en-US" b="1" dirty="0" smtClean="0">
                <a:latin typeface="+mn-ea"/>
                <a:ea typeface="+mn-ea"/>
              </a:rPr>
              <a:t>兆芯等</a:t>
            </a:r>
            <a:r>
              <a:rPr lang="en-US" altLang="zh-CN" sz="1800" b="1" dirty="0" smtClean="0">
                <a:latin typeface="+mn-ea"/>
                <a:ea typeface="+mn-ea"/>
              </a:rPr>
              <a:t>(IP</a:t>
            </a:r>
            <a:r>
              <a:rPr lang="zh-CN" altLang="en-US" sz="1800" b="1" dirty="0" smtClean="0">
                <a:latin typeface="+mn-ea"/>
                <a:ea typeface="+mn-ea"/>
              </a:rPr>
              <a:t>核授权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endParaRPr lang="en-US" altLang="zh-CN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+mn-ea"/>
                <a:ea typeface="+mn-ea"/>
              </a:rPr>
              <a:t>         7nm</a:t>
            </a:r>
            <a:r>
              <a:rPr lang="zh-CN" altLang="en-US" b="1" dirty="0" smtClean="0">
                <a:latin typeface="+mn-ea"/>
                <a:ea typeface="+mn-ea"/>
              </a:rPr>
              <a:t>级自给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中芯国际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en-US" b="1" dirty="0" smtClean="0">
                <a:latin typeface="+mn-ea"/>
                <a:ea typeface="+mn-ea"/>
              </a:rPr>
              <a:t>，＜</a:t>
            </a:r>
            <a:r>
              <a:rPr lang="en-US" altLang="zh-CN" b="1" dirty="0" smtClean="0">
                <a:latin typeface="+mn-ea"/>
              </a:rPr>
              <a:t>7</a:t>
            </a:r>
            <a:r>
              <a:rPr lang="en-US" altLang="zh-CN" b="1" dirty="0" smtClean="0">
                <a:latin typeface="+mn-ea"/>
              </a:rPr>
              <a:t>nm</a:t>
            </a:r>
            <a:r>
              <a:rPr lang="zh-CN" altLang="en-US" b="1" dirty="0">
                <a:latin typeface="+mn-ea"/>
              </a:rPr>
              <a:t>级</a:t>
            </a:r>
            <a:r>
              <a:rPr lang="zh-CN" altLang="en-US" b="1" dirty="0" smtClean="0">
                <a:latin typeface="+mn-ea"/>
                <a:ea typeface="+mn-ea"/>
              </a:rPr>
              <a:t>外包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台积电、三星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en-US" altLang="zh-CN" b="1" dirty="0" smtClean="0">
                <a:latin typeface="+mn-ea"/>
                <a:ea typeface="+mn-ea"/>
              </a:rPr>
              <a:t> </a:t>
            </a:r>
            <a:endParaRPr lang="en-US" altLang="zh-CN" sz="18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+mn-ea"/>
                <a:ea typeface="+mn-ea"/>
              </a:rPr>
              <a:t>            </a:t>
            </a:r>
            <a:r>
              <a:rPr lang="en-US" altLang="zh-CN" sz="1800" b="1" dirty="0" smtClean="0">
                <a:latin typeface="+mn-ea"/>
                <a:ea typeface="+mn-ea"/>
              </a:rPr>
              <a:t>--</a:t>
            </a:r>
            <a:r>
              <a:rPr lang="zh-CN" altLang="en-US" sz="1800" b="1" dirty="0">
                <a:latin typeface="+mn-ea"/>
                <a:ea typeface="+mn-ea"/>
              </a:rPr>
              <a:t>被</a:t>
            </a:r>
            <a:r>
              <a:rPr lang="zh-CN" altLang="en-US" sz="1800" b="1" dirty="0" smtClean="0">
                <a:latin typeface="+mn-ea"/>
                <a:ea typeface="+mn-ea"/>
              </a:rPr>
              <a:t>打压而非竞争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+mn-ea"/>
                <a:ea typeface="+mn-ea"/>
              </a:rPr>
              <a:t>技术封锁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不给授权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en-US" b="1" dirty="0" smtClean="0">
                <a:latin typeface="+mn-ea"/>
                <a:ea typeface="+mn-ea"/>
              </a:rPr>
              <a:t>，国家霸权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不许生产</a:t>
            </a:r>
            <a:r>
              <a:rPr lang="en-US" altLang="zh-CN" sz="1800" b="1" dirty="0" smtClean="0">
                <a:latin typeface="+mn-ea"/>
                <a:ea typeface="+mn-ea"/>
              </a:rPr>
              <a:t>/</a:t>
            </a:r>
            <a:r>
              <a:rPr lang="zh-CN" altLang="en-US" sz="1800" b="1" dirty="0" smtClean="0">
                <a:latin typeface="+mn-ea"/>
                <a:ea typeface="+mn-ea"/>
              </a:rPr>
              <a:t>销售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endParaRPr lang="en-US" altLang="zh-CN" sz="18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+mn-ea"/>
                <a:ea typeface="+mn-ea"/>
              </a:rPr>
              <a:t>            </a:t>
            </a:r>
            <a:r>
              <a:rPr lang="en-US" altLang="zh-CN" sz="1800" b="1" dirty="0" smtClean="0">
                <a:latin typeface="+mn-ea"/>
                <a:ea typeface="+mn-ea"/>
              </a:rPr>
              <a:t>--</a:t>
            </a:r>
            <a:r>
              <a:rPr lang="zh-CN" altLang="en-US" sz="1800" b="1" dirty="0" smtClean="0">
                <a:latin typeface="+mn-ea"/>
                <a:ea typeface="+mn-ea"/>
              </a:rPr>
              <a:t>要自强</a:t>
            </a:r>
            <a:endParaRPr lang="en-US" altLang="zh-CN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+mn-ea"/>
                <a:ea typeface="+mn-ea"/>
              </a:rPr>
              <a:t>          </a:t>
            </a:r>
            <a:r>
              <a:rPr lang="zh-CN" altLang="en-US" b="1" dirty="0" smtClean="0">
                <a:latin typeface="+mn-ea"/>
                <a:ea typeface="+mn-ea"/>
              </a:rPr>
              <a:t>长远布局、增大投入、强化基础教育等</a:t>
            </a:r>
            <a:endParaRPr lang="en-US" altLang="zh-CN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+mn-ea"/>
                <a:ea typeface="+mn-ea"/>
              </a:rPr>
              <a:t> </a:t>
            </a:r>
            <a:r>
              <a:rPr lang="en-US" altLang="zh-CN" b="1" dirty="0" smtClean="0">
                <a:latin typeface="+mn-ea"/>
                <a:ea typeface="+mn-ea"/>
              </a:rPr>
              <a:t>         </a:t>
            </a:r>
            <a:r>
              <a:rPr lang="zh-CN" altLang="en-US" b="1" dirty="0" smtClean="0">
                <a:latin typeface="+mn-ea"/>
                <a:ea typeface="+mn-ea"/>
              </a:rPr>
              <a:t>我是中国人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站</a:t>
            </a:r>
            <a:r>
              <a:rPr lang="zh-CN" altLang="en-US" sz="1800" b="1" dirty="0">
                <a:latin typeface="+mn-ea"/>
                <a:ea typeface="+mn-ea"/>
              </a:rPr>
              <a:t>着</a:t>
            </a:r>
            <a:r>
              <a:rPr lang="zh-CN" altLang="en-US" sz="1800" b="1" dirty="0" smtClean="0">
                <a:latin typeface="+mn-ea"/>
                <a:ea typeface="+mn-ea"/>
              </a:rPr>
              <a:t>做人</a:t>
            </a:r>
            <a:r>
              <a:rPr lang="en-US" altLang="zh-CN" sz="1800" b="1" dirty="0" smtClean="0">
                <a:latin typeface="+mn-ea"/>
                <a:ea typeface="+mn-ea"/>
              </a:rPr>
              <a:t>/</a:t>
            </a:r>
            <a:r>
              <a:rPr lang="zh-CN" altLang="en-US" sz="1800" b="1" dirty="0" smtClean="0">
                <a:latin typeface="+mn-ea"/>
                <a:ea typeface="+mn-ea"/>
              </a:rPr>
              <a:t>国盛我荣</a:t>
            </a:r>
            <a:r>
              <a:rPr lang="en-US" altLang="zh-CN" sz="1800" b="1" dirty="0" smtClean="0">
                <a:latin typeface="+mn-ea"/>
                <a:ea typeface="+mn-ea"/>
              </a:rPr>
              <a:t>/</a:t>
            </a:r>
            <a:r>
              <a:rPr lang="zh-CN" altLang="en-US" sz="1800" b="1" dirty="0" smtClean="0">
                <a:latin typeface="+mn-ea"/>
                <a:ea typeface="+mn-ea"/>
              </a:rPr>
              <a:t>匹夫有责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en-US" b="1" dirty="0" smtClean="0">
                <a:latin typeface="+mn-ea"/>
                <a:ea typeface="+mn-ea"/>
              </a:rPr>
              <a:t> </a:t>
            </a:r>
            <a:endParaRPr lang="en-US" altLang="zh-CN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+mn-ea"/>
                <a:ea typeface="+mn-ea"/>
              </a:rPr>
              <a:t>          我是践行者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有理想</a:t>
            </a:r>
            <a:r>
              <a:rPr lang="en-US" altLang="zh-CN" sz="1800" b="1" dirty="0" smtClean="0">
                <a:latin typeface="+mn-ea"/>
                <a:ea typeface="+mn-ea"/>
              </a:rPr>
              <a:t>/</a:t>
            </a:r>
            <a:r>
              <a:rPr lang="zh-CN" altLang="en-US" sz="1800" b="1" dirty="0" smtClean="0">
                <a:latin typeface="+mn-ea"/>
                <a:ea typeface="+mn-ea"/>
              </a:rPr>
              <a:t>学文化</a:t>
            </a:r>
            <a:r>
              <a:rPr lang="en-US" altLang="zh-CN" sz="1800" b="1" dirty="0" smtClean="0">
                <a:latin typeface="+mn-ea"/>
                <a:ea typeface="+mn-ea"/>
              </a:rPr>
              <a:t>/</a:t>
            </a:r>
            <a:r>
              <a:rPr lang="zh-CN" altLang="en-US" sz="1800" b="1" dirty="0" smtClean="0">
                <a:latin typeface="+mn-ea"/>
                <a:ea typeface="+mn-ea"/>
              </a:rPr>
              <a:t>肯付出</a:t>
            </a:r>
            <a:r>
              <a:rPr lang="en-US" altLang="zh-CN" sz="1800" b="1" dirty="0" smtClean="0">
                <a:latin typeface="+mn-ea"/>
                <a:ea typeface="+mn-ea"/>
              </a:rPr>
              <a:t>/</a:t>
            </a:r>
            <a:r>
              <a:rPr lang="zh-CN" altLang="en-US" sz="1800" b="1" dirty="0" smtClean="0">
                <a:latin typeface="+mn-ea"/>
                <a:ea typeface="+mn-ea"/>
              </a:rPr>
              <a:t>能坚持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endParaRPr lang="en-US" altLang="zh-CN" b="1" dirty="0" smtClean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179512" y="5991671"/>
            <a:ext cx="403244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工作方式：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软件执行方式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179263" y="1854057"/>
            <a:ext cx="3693838" cy="42066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硬件结构：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软件组成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程序组成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指令组成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指令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数据表示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程序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执行顺序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5B10-0008-445D-855C-F301CD0F2A55}" type="slidenum">
              <a:rPr lang="en-US" altLang="zh-CN"/>
            </a:fld>
            <a:endParaRPr lang="en-US" altLang="zh-CN"/>
          </a:p>
        </p:txBody>
      </p:sp>
      <p:sp>
        <p:nvSpPr>
          <p:cNvPr id="243716" name="Text Box 4"/>
          <p:cNvSpPr txBox="1">
            <a:spLocks noChangeArrowheads="1"/>
          </p:cNvSpPr>
          <p:nvPr/>
        </p:nvSpPr>
        <p:spPr bwMode="auto">
          <a:xfrm>
            <a:off x="762000" y="299547"/>
            <a:ext cx="746760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3000" b="1" dirty="0">
                <a:latin typeface="宋体" panose="02010600030101010101" pitchFamily="2" charset="-122"/>
              </a:rPr>
              <a:t>§</a:t>
            </a:r>
            <a:r>
              <a:rPr lang="en-US" altLang="zh-CN" sz="3000" b="1" dirty="0" smtClean="0">
                <a:latin typeface="宋体" panose="02010600030101010101" pitchFamily="2" charset="-122"/>
              </a:rPr>
              <a:t>1.2 </a:t>
            </a:r>
            <a:r>
              <a:rPr lang="zh-CN" altLang="en-US" sz="3000" b="1" dirty="0" smtClean="0">
                <a:latin typeface="宋体" panose="02010600030101010101" pitchFamily="2" charset="-122"/>
              </a:rPr>
              <a:t>计算机的硬件组成</a:t>
            </a:r>
            <a:endParaRPr lang="zh-CN" altLang="en-US" sz="3000" b="1" dirty="0">
              <a:latin typeface="宋体" panose="02010600030101010101" pitchFamily="2" charset="-122"/>
            </a:endParaRPr>
          </a:p>
        </p:txBody>
      </p:sp>
      <p:sp>
        <p:nvSpPr>
          <p:cNvPr id="243718" name="Text Box 6"/>
          <p:cNvSpPr txBox="1">
            <a:spLocks noChangeArrowheads="1"/>
          </p:cNvSpPr>
          <p:nvPr/>
        </p:nvSpPr>
        <p:spPr bwMode="auto">
          <a:xfrm>
            <a:off x="179263" y="1383159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r>
              <a:rPr lang="zh-CN" altLang="en-US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、计算机模型 </a:t>
            </a:r>
            <a:r>
              <a:rPr lang="en-US" altLang="zh-CN" sz="2000" b="1" dirty="0" smtClean="0">
                <a:latin typeface="+mn-ea"/>
                <a:ea typeface="+mn-ea"/>
              </a:rPr>
              <a:t>(</a:t>
            </a:r>
            <a:r>
              <a:rPr lang="zh-CN" altLang="en-US" sz="2000" b="1" dirty="0" smtClean="0">
                <a:latin typeface="+mn-ea"/>
                <a:ea typeface="+mn-ea"/>
              </a:rPr>
              <a:t>又称冯</a:t>
            </a:r>
            <a:r>
              <a:rPr lang="en-US" altLang="zh-CN" sz="2000" b="1" dirty="0">
                <a:latin typeface="+mn-lt"/>
                <a:ea typeface="+mn-ea"/>
              </a:rPr>
              <a:t>·</a:t>
            </a:r>
            <a:r>
              <a:rPr lang="zh-CN" altLang="en-US" sz="2000" b="1" dirty="0" smtClean="0">
                <a:latin typeface="+mn-ea"/>
                <a:ea typeface="+mn-ea"/>
              </a:rPr>
              <a:t>诺依曼计算机</a:t>
            </a:r>
            <a:r>
              <a:rPr lang="en-US" altLang="zh-CN" sz="2000" b="1" dirty="0" smtClean="0">
                <a:latin typeface="+mn-ea"/>
                <a:ea typeface="+mn-ea"/>
              </a:rPr>
              <a:t>)</a:t>
            </a:r>
            <a:endParaRPr lang="zh-CN" altLang="en-US" sz="2200" b="1" dirty="0">
              <a:latin typeface="+mn-ea"/>
              <a:ea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/>
        </p:nvSpPr>
        <p:spPr bwMode="auto">
          <a:xfrm>
            <a:off x="2005870" y="1854057"/>
            <a:ext cx="695886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由</a:t>
            </a:r>
            <a:r>
              <a:rPr lang="en-US" altLang="zh-CN" b="1" u="sng" dirty="0" smtClean="0">
                <a:latin typeface="宋体" panose="02010600030101010101" pitchFamily="2" charset="-122"/>
              </a:rPr>
              <a:t>5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种部件</a:t>
            </a:r>
            <a:r>
              <a:rPr lang="zh-CN" altLang="en-US" b="1" dirty="0" smtClean="0">
                <a:latin typeface="宋体" panose="02010600030101010101" pitchFamily="2" charset="-122"/>
              </a:rPr>
              <a:t>组成</a:t>
            </a:r>
            <a:r>
              <a:rPr lang="zh-CN" altLang="en-US" b="1" dirty="0">
                <a:latin typeface="宋体" panose="02010600030101010101" pitchFamily="2" charset="-122"/>
              </a:rPr>
              <a:t>，以</a:t>
            </a:r>
            <a:r>
              <a:rPr lang="zh-CN" altLang="en-US" b="1" u="sng" dirty="0">
                <a:latin typeface="宋体" panose="02010600030101010101" pitchFamily="2" charset="-122"/>
              </a:rPr>
              <a:t>运算器</a:t>
            </a:r>
            <a:r>
              <a:rPr lang="zh-CN" altLang="en-US" b="1" dirty="0">
                <a:latin typeface="宋体" panose="02010600030101010101" pitchFamily="2" charset="-122"/>
              </a:rPr>
              <a:t>为</a:t>
            </a:r>
            <a:r>
              <a:rPr lang="zh-CN" altLang="en-US" b="1" dirty="0" smtClean="0">
                <a:latin typeface="宋体" panose="02010600030101010101" pitchFamily="2" charset="-122"/>
              </a:rPr>
              <a:t>中心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运算与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串行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AutoShape 230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526"/>
          <p:cNvSpPr txBox="1">
            <a:spLocks noChangeArrowheads="1"/>
          </p:cNvSpPr>
          <p:nvPr/>
        </p:nvSpPr>
        <p:spPr bwMode="auto">
          <a:xfrm>
            <a:off x="179512" y="909881"/>
            <a:ext cx="8785225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200" b="1" dirty="0" smtClean="0">
                <a:latin typeface="+mn-ea"/>
                <a:ea typeface="+mn-ea"/>
              </a:rPr>
              <a:t>计算机模型，计算机硬件的结构、部件组成、部件互连</a:t>
            </a:r>
            <a:endParaRPr lang="en-US" altLang="zh-CN" sz="2200" b="1" u="none" dirty="0" smtClean="0">
              <a:latin typeface="+mn-ea"/>
              <a:ea typeface="+mn-ea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2268000" y="2420888"/>
            <a:ext cx="5832392" cy="936000"/>
            <a:chOff x="1933901" y="2492896"/>
            <a:chExt cx="5832392" cy="936000"/>
          </a:xfrm>
        </p:grpSpPr>
        <p:sp>
          <p:nvSpPr>
            <p:cNvPr id="85" name="Text Box 36"/>
            <p:cNvSpPr txBox="1">
              <a:spLocks noChangeArrowheads="1"/>
            </p:cNvSpPr>
            <p:nvPr/>
          </p:nvSpPr>
          <p:spPr bwMode="auto">
            <a:xfrm>
              <a:off x="3662181" y="2492896"/>
              <a:ext cx="1152000" cy="93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4" name="Text Box 36"/>
            <p:cNvSpPr txBox="1">
              <a:spLocks noChangeArrowheads="1"/>
            </p:cNvSpPr>
            <p:nvPr/>
          </p:nvSpPr>
          <p:spPr bwMode="auto">
            <a:xfrm>
              <a:off x="5822293" y="2492896"/>
              <a:ext cx="1944000" cy="86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>
                <a:lnSpc>
                  <a:spcPct val="105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注：    数据信息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       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指令信息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      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控制信息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4" name="Text Box 36"/>
            <p:cNvSpPr txBox="1">
              <a:spLocks noChangeArrowheads="1"/>
            </p:cNvSpPr>
            <p:nvPr/>
          </p:nvSpPr>
          <p:spPr bwMode="auto">
            <a:xfrm>
              <a:off x="3806165" y="3068992"/>
              <a:ext cx="864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控制器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36"/>
            <p:cNvSpPr txBox="1">
              <a:spLocks noChangeArrowheads="1"/>
            </p:cNvSpPr>
            <p:nvPr/>
          </p:nvSpPr>
          <p:spPr bwMode="auto">
            <a:xfrm>
              <a:off x="3806165" y="2564936"/>
              <a:ext cx="864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运算器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66" name="直接箭头连接符 65"/>
            <p:cNvCxnSpPr/>
            <p:nvPr/>
          </p:nvCxnSpPr>
          <p:spPr bwMode="auto">
            <a:xfrm flipV="1">
              <a:off x="4211960" y="2852960"/>
              <a:ext cx="0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7" name="直接箭头连接符 66"/>
            <p:cNvCxnSpPr/>
            <p:nvPr/>
          </p:nvCxnSpPr>
          <p:spPr bwMode="auto">
            <a:xfrm flipV="1">
              <a:off x="4670221" y="2636912"/>
              <a:ext cx="504000" cy="2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8" name="Text Box 36"/>
            <p:cNvSpPr txBox="1">
              <a:spLocks noChangeArrowheads="1"/>
            </p:cNvSpPr>
            <p:nvPr/>
          </p:nvSpPr>
          <p:spPr bwMode="auto">
            <a:xfrm>
              <a:off x="5174253" y="2564904"/>
              <a:ext cx="288000" cy="79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存储器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69" name="直接箭头连接符 68"/>
            <p:cNvCxnSpPr/>
            <p:nvPr/>
          </p:nvCxnSpPr>
          <p:spPr bwMode="auto">
            <a:xfrm flipH="1">
              <a:off x="4670221" y="2780928"/>
              <a:ext cx="50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0" name="直接箭头连接符 69"/>
            <p:cNvCxnSpPr/>
            <p:nvPr/>
          </p:nvCxnSpPr>
          <p:spPr bwMode="auto">
            <a:xfrm flipH="1">
              <a:off x="4670221" y="3140968"/>
              <a:ext cx="5040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1" name="直接箭头连接符 70"/>
            <p:cNvCxnSpPr/>
            <p:nvPr/>
          </p:nvCxnSpPr>
          <p:spPr bwMode="auto">
            <a:xfrm>
              <a:off x="4670221" y="3284984"/>
              <a:ext cx="50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72" name="Text Box 36"/>
            <p:cNvSpPr txBox="1">
              <a:spLocks noChangeArrowheads="1"/>
            </p:cNvSpPr>
            <p:nvPr/>
          </p:nvSpPr>
          <p:spPr bwMode="auto">
            <a:xfrm>
              <a:off x="2294013" y="2492896"/>
              <a:ext cx="100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输入设备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3" name="直接箭头连接符 72"/>
            <p:cNvCxnSpPr/>
            <p:nvPr/>
          </p:nvCxnSpPr>
          <p:spPr bwMode="auto">
            <a:xfrm>
              <a:off x="3302069" y="2636912"/>
              <a:ext cx="50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" name="直接箭头连接符 78"/>
            <p:cNvCxnSpPr/>
            <p:nvPr/>
          </p:nvCxnSpPr>
          <p:spPr bwMode="auto">
            <a:xfrm rot="10800000" flipV="1">
              <a:off x="3518069" y="2780951"/>
              <a:ext cx="288000" cy="216000"/>
            </a:xfrm>
            <a:prstGeom prst="bentConnector3">
              <a:avLst>
                <a:gd name="adj1" fmla="val 98841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5" name="直接箭头连接符 74"/>
            <p:cNvCxnSpPr/>
            <p:nvPr/>
          </p:nvCxnSpPr>
          <p:spPr bwMode="auto">
            <a:xfrm flipH="1">
              <a:off x="3302045" y="2996952"/>
              <a:ext cx="21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6" name="Text Box 36"/>
            <p:cNvSpPr txBox="1">
              <a:spLocks noChangeArrowheads="1"/>
            </p:cNvSpPr>
            <p:nvPr/>
          </p:nvSpPr>
          <p:spPr bwMode="auto">
            <a:xfrm>
              <a:off x="2294013" y="2852968"/>
              <a:ext cx="100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输出设备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7" name="直接箭头连接符 76"/>
            <p:cNvCxnSpPr/>
            <p:nvPr/>
          </p:nvCxnSpPr>
          <p:spPr bwMode="auto">
            <a:xfrm flipV="1">
              <a:off x="1933901" y="2636912"/>
              <a:ext cx="36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78" name="直接箭头连接符 77"/>
            <p:cNvCxnSpPr/>
            <p:nvPr/>
          </p:nvCxnSpPr>
          <p:spPr bwMode="auto">
            <a:xfrm>
              <a:off x="2077901" y="2996952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79" name="直接箭头连接符 93"/>
            <p:cNvCxnSpPr/>
            <p:nvPr/>
          </p:nvCxnSpPr>
          <p:spPr bwMode="auto">
            <a:xfrm rot="10800000">
              <a:off x="2078069" y="2996975"/>
              <a:ext cx="1728000" cy="216000"/>
            </a:xfrm>
            <a:prstGeom prst="bentConnector3">
              <a:avLst>
                <a:gd name="adj1" fmla="val 100469"/>
              </a:avLst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80" name="直接箭头连接符 96"/>
            <p:cNvCxnSpPr/>
            <p:nvPr/>
          </p:nvCxnSpPr>
          <p:spPr bwMode="auto">
            <a:xfrm rot="10800000">
              <a:off x="1934069" y="2636983"/>
              <a:ext cx="1872000" cy="648000"/>
            </a:xfrm>
            <a:prstGeom prst="bentConnector3">
              <a:avLst>
                <a:gd name="adj1" fmla="val 100348"/>
              </a:avLst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81" name="直接箭头连接符 80"/>
            <p:cNvCxnSpPr/>
            <p:nvPr/>
          </p:nvCxnSpPr>
          <p:spPr bwMode="auto">
            <a:xfrm>
              <a:off x="6254341" y="3179108"/>
              <a:ext cx="4032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 bwMode="auto">
            <a:xfrm flipV="1">
              <a:off x="6254341" y="2649611"/>
              <a:ext cx="401567" cy="2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/>
            <p:cNvCxnSpPr/>
            <p:nvPr/>
          </p:nvCxnSpPr>
          <p:spPr bwMode="auto">
            <a:xfrm flipV="1">
              <a:off x="6255160" y="2936756"/>
              <a:ext cx="401567" cy="2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5" name="Text Box 349"/>
          <p:cNvSpPr txBox="1">
            <a:spLocks noChangeArrowheads="1"/>
          </p:cNvSpPr>
          <p:nvPr/>
        </p:nvSpPr>
        <p:spPr bwMode="auto">
          <a:xfrm>
            <a:off x="971600" y="6165304"/>
            <a:ext cx="7560000" cy="288000"/>
          </a:xfrm>
          <a:prstGeom prst="rect">
            <a:avLst/>
          </a:prstGeom>
          <a:solidFill>
            <a:srgbClr val="CCFFFF">
              <a:alpha val="80000"/>
            </a:srgbClr>
          </a:solidFill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54000" tIns="10800" rIns="36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8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PPT</a:t>
            </a:r>
            <a:r>
              <a:rPr lang="zh-CN" altLang="en-US" sz="18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约定：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表示原因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表示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结果，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行</a:t>
            </a:r>
            <a:r>
              <a:rPr lang="zh-CN" altLang="en-US" sz="1800" b="1" dirty="0">
                <a:latin typeface="宋体" panose="02010600030101010101" pitchFamily="2" charset="-122"/>
              </a:rPr>
              <a:t>尾的“←文字”为说明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解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释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54" name="Text Box 83"/>
          <p:cNvSpPr txBox="1">
            <a:spLocks noChangeArrowheads="1"/>
          </p:cNvSpPr>
          <p:nvPr/>
        </p:nvSpPr>
        <p:spPr bwMode="auto">
          <a:xfrm>
            <a:off x="2340005" y="3501008"/>
            <a:ext cx="6624736" cy="2676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spc="-50" dirty="0">
                <a:latin typeface="宋体" panose="02010600030101010101" pitchFamily="2" charset="-122"/>
              </a:rPr>
              <a:t>指令序列，</a:t>
            </a:r>
            <a:r>
              <a:rPr lang="zh-CN" altLang="en-US" b="1" spc="-50" dirty="0">
                <a:latin typeface="宋体" panose="02010600030101010101" pitchFamily="2" charset="-122"/>
                <a:sym typeface="+mn-ea"/>
              </a:rPr>
              <a:t>指令类型有</a:t>
            </a:r>
            <a:r>
              <a:rPr lang="zh-CN" altLang="en-US" b="1" u="sng" spc="-50" dirty="0" smtClean="0">
                <a:latin typeface="宋体" panose="02010600030101010101" pitchFamily="2" charset="-122"/>
                <a:sym typeface="+mn-ea"/>
              </a:rPr>
              <a:t>顺序型</a:t>
            </a:r>
            <a:r>
              <a:rPr lang="en-US" altLang="zh-CN" b="1" u="sng" spc="-50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b="1" u="sng" spc="-50" dirty="0" smtClean="0">
                <a:latin typeface="宋体" panose="02010600030101010101" pitchFamily="2" charset="-122"/>
                <a:sym typeface="+mn-ea"/>
              </a:rPr>
              <a:t>转移</a:t>
            </a:r>
            <a:r>
              <a:rPr lang="zh-CN" altLang="en-US" b="1" u="sng" spc="-50" dirty="0">
                <a:latin typeface="宋体" panose="02010600030101010101" pitchFamily="2" charset="-122"/>
                <a:sym typeface="+mn-ea"/>
              </a:rPr>
              <a:t>型</a:t>
            </a:r>
            <a:endParaRPr lang="en-US" altLang="zh-CN" b="1" spc="-50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spc="-50" dirty="0">
                <a:latin typeface="宋体" panose="02010600030101010101" pitchFamily="2" charset="-122"/>
                <a:sym typeface="+mn-ea"/>
              </a:rPr>
              <a:t>指令位置用</a:t>
            </a:r>
            <a:r>
              <a:rPr lang="zh-CN" altLang="en-US" b="1" u="sng" spc="-50" dirty="0">
                <a:latin typeface="宋体" panose="02010600030101010101" pitchFamily="2" charset="-122"/>
                <a:sym typeface="+mn-ea"/>
              </a:rPr>
              <a:t>指令地址</a:t>
            </a:r>
            <a:r>
              <a:rPr lang="zh-CN" altLang="en-US" b="1" spc="-50" dirty="0" smtClean="0">
                <a:latin typeface="宋体" panose="02010600030101010101" pitchFamily="2" charset="-122"/>
                <a:sym typeface="+mn-ea"/>
              </a:rPr>
              <a:t>表示</a:t>
            </a:r>
            <a:r>
              <a:rPr lang="en-US" altLang="zh-CN" b="1" spc="-50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800" b="1" spc="-50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spc="-50" dirty="0" smtClean="0">
                <a:latin typeface="宋体" panose="02010600030101010101" pitchFamily="2" charset="-122"/>
                <a:sym typeface="+mn-ea"/>
              </a:rPr>
              <a:t>┘</a:t>
            </a:r>
            <a:endParaRPr lang="en-US" altLang="zh-CN" b="1" spc="-50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操作码</a:t>
            </a:r>
            <a:r>
              <a:rPr lang="zh-CN" altLang="en-US" b="1" dirty="0">
                <a:latin typeface="宋体" panose="02010600030101010101" pitchFamily="2" charset="-122"/>
              </a:rPr>
              <a:t>＋地址码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表示数据存放位置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u="sng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二进制</a:t>
            </a:r>
            <a:r>
              <a:rPr lang="zh-CN" altLang="en-US" b="1" dirty="0">
                <a:latin typeface="宋体" panose="02010600030101010101" pitchFamily="2" charset="-122"/>
              </a:rPr>
              <a:t>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→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运算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为</a:t>
            </a:r>
            <a:r>
              <a:rPr lang="zh-CN" altLang="en-US" sz="1800" b="1" dirty="0">
                <a:latin typeface="宋体" panose="02010600030101010101" pitchFamily="2" charset="-122"/>
              </a:rPr>
              <a:t>二进制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spc="-50" dirty="0">
                <a:latin typeface="宋体" panose="02010600030101010101" pitchFamily="2" charset="-122"/>
              </a:rPr>
              <a:t> </a:t>
            </a:r>
            <a:r>
              <a:rPr lang="zh-CN" altLang="en-US" b="1" spc="-50" dirty="0" smtClean="0">
                <a:latin typeface="宋体" panose="02010600030101010101" pitchFamily="2" charset="-122"/>
              </a:rPr>
              <a:t>     </a:t>
            </a:r>
            <a:r>
              <a:rPr lang="zh-CN" altLang="en-US" b="1" spc="-5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取决于</a:t>
            </a:r>
            <a:r>
              <a:rPr lang="zh-CN" altLang="en-US" b="1" u="sng" spc="-50" dirty="0" smtClean="0">
                <a:latin typeface="宋体" panose="02010600030101010101" pitchFamily="2" charset="-122"/>
              </a:rPr>
              <a:t>指令类型</a:t>
            </a:r>
            <a:r>
              <a:rPr lang="zh-CN" altLang="en-US" b="1" spc="-50" dirty="0" smtClean="0">
                <a:latin typeface="宋体" panose="02010600030101010101" pitchFamily="2" charset="-122"/>
              </a:rPr>
              <a:t>及</a:t>
            </a:r>
            <a:r>
              <a:rPr lang="zh-CN" altLang="en-US" b="1" u="sng" spc="-50" dirty="0" smtClean="0">
                <a:latin typeface="宋体" panose="02010600030101010101" pitchFamily="2" charset="-122"/>
              </a:rPr>
              <a:t>执行结果</a:t>
            </a:r>
            <a:endParaRPr lang="en-US" altLang="zh-CN" b="1" spc="-50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 smtClean="0">
                <a:latin typeface="宋体" panose="02010600030101010101" pitchFamily="2" charset="-122"/>
              </a:rPr>
              <a:t>           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→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下条指令地址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由</a:t>
            </a:r>
            <a:r>
              <a:rPr lang="zh-CN" altLang="en-US" sz="1800" b="1" u="sng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当前指令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产生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→指令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串行执行</a:t>
            </a:r>
            <a:endParaRPr lang="en-US" altLang="zh-CN" sz="1800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7236296" y="5193224"/>
            <a:ext cx="1656120" cy="252000"/>
            <a:chOff x="2447892" y="4509120"/>
            <a:chExt cx="1656120" cy="252000"/>
          </a:xfrm>
        </p:grpSpPr>
        <p:sp>
          <p:nvSpPr>
            <p:cNvPr id="87" name="Text Box 65"/>
            <p:cNvSpPr txBox="1">
              <a:spLocks noChangeArrowheads="1"/>
            </p:cNvSpPr>
            <p:nvPr/>
          </p:nvSpPr>
          <p:spPr bwMode="auto">
            <a:xfrm>
              <a:off x="2447892" y="4509120"/>
              <a:ext cx="576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8" name="Text Box 65"/>
            <p:cNvSpPr txBox="1">
              <a:spLocks noChangeArrowheads="1"/>
            </p:cNvSpPr>
            <p:nvPr/>
          </p:nvSpPr>
          <p:spPr bwMode="auto">
            <a:xfrm>
              <a:off x="3023940" y="4509120"/>
              <a:ext cx="43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9" name="Text Box 65"/>
            <p:cNvSpPr txBox="1">
              <a:spLocks noChangeArrowheads="1"/>
            </p:cNvSpPr>
            <p:nvPr/>
          </p:nvSpPr>
          <p:spPr bwMode="auto">
            <a:xfrm>
              <a:off x="3456012" y="4509120"/>
              <a:ext cx="64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A2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6732240" y="4077072"/>
            <a:ext cx="2232248" cy="1008024"/>
            <a:chOff x="6444208" y="2924944"/>
            <a:chExt cx="2232248" cy="1008024"/>
          </a:xfrm>
        </p:grpSpPr>
        <p:sp>
          <p:nvSpPr>
            <p:cNvPr id="91" name="Text Box 36"/>
            <p:cNvSpPr txBox="1">
              <a:spLocks noChangeArrowheads="1"/>
            </p:cNvSpPr>
            <p:nvPr/>
          </p:nvSpPr>
          <p:spPr bwMode="auto">
            <a:xfrm>
              <a:off x="7308408" y="3213048"/>
              <a:ext cx="1368000" cy="648000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92" name="直接连接符 91"/>
            <p:cNvCxnSpPr/>
            <p:nvPr/>
          </p:nvCxnSpPr>
          <p:spPr bwMode="auto">
            <a:xfrm>
              <a:off x="7308304" y="3429000"/>
              <a:ext cx="136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连接符 92"/>
            <p:cNvCxnSpPr/>
            <p:nvPr/>
          </p:nvCxnSpPr>
          <p:spPr bwMode="auto">
            <a:xfrm>
              <a:off x="7308304" y="3140968"/>
              <a:ext cx="0" cy="79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直接连接符 93"/>
            <p:cNvCxnSpPr/>
            <p:nvPr/>
          </p:nvCxnSpPr>
          <p:spPr bwMode="auto">
            <a:xfrm>
              <a:off x="8676456" y="3140968"/>
              <a:ext cx="0" cy="79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直接连接符 94"/>
            <p:cNvCxnSpPr/>
            <p:nvPr/>
          </p:nvCxnSpPr>
          <p:spPr bwMode="auto">
            <a:xfrm>
              <a:off x="7308304" y="3212976"/>
              <a:ext cx="136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连接符 95"/>
            <p:cNvCxnSpPr/>
            <p:nvPr/>
          </p:nvCxnSpPr>
          <p:spPr bwMode="auto">
            <a:xfrm>
              <a:off x="7308304" y="3861048"/>
              <a:ext cx="136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7" name="Text Box 36"/>
            <p:cNvSpPr txBox="1">
              <a:spLocks noChangeArrowheads="1"/>
            </p:cNvSpPr>
            <p:nvPr/>
          </p:nvSpPr>
          <p:spPr bwMode="auto">
            <a:xfrm>
              <a:off x="6588224" y="3212976"/>
              <a:ext cx="648000" cy="64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70C0"/>
                  </a:solidFill>
                  <a:latin typeface="+mn-ea"/>
                  <a:ea typeface="+mn-ea"/>
                </a:rPr>
                <a:t>1…00</a:t>
              </a:r>
              <a:endParaRPr lang="en-US" altLang="zh-CN" sz="1600" b="1" dirty="0" smtClean="0">
                <a:solidFill>
                  <a:srgbClr val="0070C0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70C0"/>
                  </a:solidFill>
                  <a:latin typeface="+mn-ea"/>
                </a:rPr>
                <a:t>1…</a:t>
              </a:r>
              <a:r>
                <a:rPr lang="en-US" altLang="zh-CN" sz="1600" b="1" u="none" dirty="0" smtClean="0">
                  <a:solidFill>
                    <a:srgbClr val="0070C0"/>
                  </a:solidFill>
                  <a:latin typeface="+mn-ea"/>
                  <a:ea typeface="+mn-ea"/>
                </a:rPr>
                <a:t>01</a:t>
              </a:r>
              <a:endParaRPr lang="en-US" altLang="zh-CN" sz="1600" b="1" u="none" dirty="0" smtClean="0">
                <a:solidFill>
                  <a:srgbClr val="0070C0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70C0"/>
                  </a:solidFill>
                  <a:latin typeface="+mn-ea"/>
                </a:rPr>
                <a:t>1…10</a:t>
              </a:r>
              <a:endParaRPr lang="en-US" altLang="zh-CN" sz="1600" b="1" dirty="0">
                <a:solidFill>
                  <a:srgbClr val="0070C0"/>
                </a:solidFill>
                <a:latin typeface="+mn-ea"/>
                <a:ea typeface="+mn-ea"/>
              </a:endParaRPr>
            </a:p>
          </p:txBody>
        </p:sp>
        <p:cxnSp>
          <p:nvCxnSpPr>
            <p:cNvPr id="98" name="直接连接符 97"/>
            <p:cNvCxnSpPr/>
            <p:nvPr/>
          </p:nvCxnSpPr>
          <p:spPr bwMode="auto">
            <a:xfrm>
              <a:off x="7308304" y="3645024"/>
              <a:ext cx="136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9" name="Text Box 261"/>
            <p:cNvSpPr txBox="1">
              <a:spLocks noChangeArrowheads="1"/>
            </p:cNvSpPr>
            <p:nvPr/>
          </p:nvSpPr>
          <p:spPr bwMode="auto">
            <a:xfrm>
              <a:off x="6444208" y="2924944"/>
              <a:ext cx="22320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/>
                <a:t>指令地址    指令内容 </a:t>
              </a:r>
              <a:endParaRPr lang="en-US" altLang="zh-CN" sz="1600" b="1" baseline="-20000" dirty="0"/>
            </a:p>
          </p:txBody>
        </p:sp>
      </p:grpSp>
      <p:sp>
        <p:nvSpPr>
          <p:cNvPr id="100" name="Text Box 36"/>
          <p:cNvSpPr txBox="1">
            <a:spLocks noChangeArrowheads="1"/>
          </p:cNvSpPr>
          <p:nvPr/>
        </p:nvSpPr>
        <p:spPr bwMode="auto">
          <a:xfrm>
            <a:off x="7596488" y="4365176"/>
            <a:ext cx="1368000" cy="648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R1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R1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+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(R0)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R2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R2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&amp;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(R1)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R2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)=0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时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转</a:t>
            </a:r>
            <a:r>
              <a:rPr lang="en-US" altLang="zh-CN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4#</a:t>
            </a:r>
            <a:endParaRPr lang="en-US" altLang="zh-CN" sz="1600" b="1" u="none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101" name="Text Box 36"/>
          <p:cNvSpPr txBox="1">
            <a:spLocks noChangeArrowheads="1"/>
          </p:cNvSpPr>
          <p:nvPr/>
        </p:nvSpPr>
        <p:spPr bwMode="auto">
          <a:xfrm>
            <a:off x="7740352" y="4365176"/>
            <a:ext cx="1008000" cy="648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0001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00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</a:pPr>
            <a:r>
              <a: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0100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10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01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</a:pPr>
            <a:r>
              <a: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10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10</a:t>
            </a:r>
            <a:r>
              <a:rPr lang="en-US" altLang="zh-CN" sz="16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0100</a:t>
            </a:r>
            <a:endParaRPr lang="en-US" altLang="zh-CN" sz="16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8" grpId="1"/>
      <p:bldP spid="243718" grpId="0" animBg="1"/>
      <p:bldP spid="243719" grpId="0"/>
      <p:bldP spid="45" grpId="0" animBg="1"/>
      <p:bldP spid="100" grpId="0" bldLvl="0" animBg="1"/>
      <p:bldP spid="100" grpId="1" bldLvl="0" animBg="1"/>
      <p:bldP spid="10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71600" y="5076318"/>
            <a:ext cx="1716934" cy="1521034"/>
            <a:chOff x="7236296" y="3500162"/>
            <a:chExt cx="1716934" cy="1521034"/>
          </a:xfrm>
        </p:grpSpPr>
        <p:sp>
          <p:nvSpPr>
            <p:cNvPr id="57" name="Rectangle 251"/>
            <p:cNvSpPr>
              <a:spLocks noChangeArrowheads="1"/>
            </p:cNvSpPr>
            <p:nvPr/>
          </p:nvSpPr>
          <p:spPr bwMode="auto">
            <a:xfrm>
              <a:off x="7668798" y="3501750"/>
              <a:ext cx="792163" cy="107950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252"/>
            <p:cNvSpPr>
              <a:spLocks noChangeShapeType="1"/>
            </p:cNvSpPr>
            <p:nvPr/>
          </p:nvSpPr>
          <p:spPr bwMode="auto">
            <a:xfrm>
              <a:off x="7668798" y="3716064"/>
              <a:ext cx="7921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254"/>
            <p:cNvSpPr>
              <a:spLocks noChangeShapeType="1"/>
            </p:cNvSpPr>
            <p:nvPr/>
          </p:nvSpPr>
          <p:spPr bwMode="auto">
            <a:xfrm>
              <a:off x="7668798" y="4149450"/>
              <a:ext cx="7921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255"/>
            <p:cNvSpPr>
              <a:spLocks noChangeShapeType="1"/>
            </p:cNvSpPr>
            <p:nvPr/>
          </p:nvSpPr>
          <p:spPr bwMode="auto">
            <a:xfrm>
              <a:off x="7667212" y="4365350"/>
              <a:ext cx="79375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Text Box 256"/>
            <p:cNvSpPr txBox="1">
              <a:spLocks noChangeArrowheads="1"/>
            </p:cNvSpPr>
            <p:nvPr/>
          </p:nvSpPr>
          <p:spPr bwMode="auto">
            <a:xfrm>
              <a:off x="7236296" y="3500162"/>
              <a:ext cx="430915" cy="108108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5000"/>
                </a:lnSpc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  0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170000"/>
                </a:lnSpc>
                <a:spcBef>
                  <a:spcPts val="900"/>
                </a:spcBef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spcBef>
                  <a:spcPts val="1500"/>
                </a:spcBef>
              </a:pPr>
              <a:r>
                <a:rPr lang="en-US" altLang="zh-CN" sz="1400" b="1" dirty="0" smtClean="0"/>
                <a:t>2</a:t>
              </a:r>
              <a:r>
                <a:rPr lang="en-US" altLang="zh-CN" sz="1400" b="1" i="1" baseline="30000" dirty="0" smtClean="0"/>
                <a:t>n 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-1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257"/>
            <p:cNvSpPr txBox="1">
              <a:spLocks noChangeArrowheads="1"/>
            </p:cNvSpPr>
            <p:nvPr/>
          </p:nvSpPr>
          <p:spPr bwMode="auto">
            <a:xfrm>
              <a:off x="7988795" y="3832631"/>
              <a:ext cx="288925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r>
                <a:rPr lang="en-US" altLang="zh-CN" sz="1800" b="1" dirty="0"/>
                <a:t>…</a:t>
              </a:r>
              <a:endParaRPr lang="en-US" altLang="zh-CN" sz="1800" b="1" baseline="-20000" dirty="0"/>
            </a:p>
          </p:txBody>
        </p:sp>
        <p:sp>
          <p:nvSpPr>
            <p:cNvPr id="99" name="Line 258"/>
            <p:cNvSpPr>
              <a:spLocks noChangeShapeType="1"/>
            </p:cNvSpPr>
            <p:nvPr/>
          </p:nvSpPr>
          <p:spPr bwMode="auto">
            <a:xfrm flipH="1">
              <a:off x="8316499" y="3501750"/>
              <a:ext cx="0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259"/>
            <p:cNvSpPr>
              <a:spLocks noChangeShapeType="1"/>
            </p:cNvSpPr>
            <p:nvPr/>
          </p:nvSpPr>
          <p:spPr bwMode="auto">
            <a:xfrm>
              <a:off x="7811674" y="3501750"/>
              <a:ext cx="0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Text Box 260"/>
            <p:cNvSpPr txBox="1">
              <a:spLocks noChangeArrowheads="1"/>
            </p:cNvSpPr>
            <p:nvPr/>
          </p:nvSpPr>
          <p:spPr bwMode="auto">
            <a:xfrm>
              <a:off x="7884699" y="3501750"/>
              <a:ext cx="360363" cy="2286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  <a:endParaRPr lang="en-US" altLang="zh-CN" sz="1600" b="1" baseline="-20000" dirty="0">
                <a:latin typeface="+mn-ea"/>
                <a:ea typeface="+mn-ea"/>
              </a:endParaRPr>
            </a:p>
          </p:txBody>
        </p:sp>
        <p:sp>
          <p:nvSpPr>
            <p:cNvPr id="102" name="Text Box 261"/>
            <p:cNvSpPr txBox="1">
              <a:spLocks noChangeArrowheads="1"/>
            </p:cNvSpPr>
            <p:nvPr/>
          </p:nvSpPr>
          <p:spPr bwMode="auto">
            <a:xfrm>
              <a:off x="7880562" y="4618801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400" b="1" i="1" dirty="0" smtClean="0"/>
                <a:t>w</a:t>
              </a:r>
              <a:r>
                <a:rPr lang="zh-CN" altLang="en-US" sz="1400" b="1" dirty="0" smtClean="0"/>
                <a:t>位</a:t>
              </a:r>
              <a:endParaRPr lang="en-US" altLang="zh-CN" sz="1400" b="1" baseline="-20000" dirty="0"/>
            </a:p>
          </p:txBody>
        </p:sp>
        <p:sp>
          <p:nvSpPr>
            <p:cNvPr id="103" name="Text Box 263"/>
            <p:cNvSpPr txBox="1">
              <a:spLocks noChangeArrowheads="1"/>
            </p:cNvSpPr>
            <p:nvPr/>
          </p:nvSpPr>
          <p:spPr bwMode="auto">
            <a:xfrm>
              <a:off x="7668799" y="4149450"/>
              <a:ext cx="792163" cy="2159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400" b="1" dirty="0" smtClean="0">
                  <a:latin typeface="宋体" panose="02010600030101010101" pitchFamily="2" charset="-122"/>
                </a:rPr>
                <a:t>存储单元</a:t>
              </a:r>
              <a:endParaRPr lang="zh-CN" altLang="en-US" sz="14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04" name="右大括号 103"/>
            <p:cNvSpPr/>
            <p:nvPr/>
          </p:nvSpPr>
          <p:spPr bwMode="auto">
            <a:xfrm>
              <a:off x="8476596" y="3500923"/>
              <a:ext cx="45719" cy="1080322"/>
            </a:xfrm>
            <a:prstGeom prst="rightBrace">
              <a:avLst>
                <a:gd name="adj1" fmla="val 53467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Text Box 256"/>
            <p:cNvSpPr txBox="1">
              <a:spLocks noChangeArrowheads="1"/>
            </p:cNvSpPr>
            <p:nvPr/>
          </p:nvSpPr>
          <p:spPr bwMode="auto">
            <a:xfrm>
              <a:off x="8522315" y="3932971"/>
              <a:ext cx="430915" cy="2167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spcBef>
                  <a:spcPts val="1500"/>
                </a:spcBef>
              </a:pPr>
              <a:r>
                <a:rPr lang="en-US" altLang="zh-CN" sz="1400" b="1" dirty="0" smtClean="0"/>
                <a:t>2</a:t>
              </a:r>
              <a:r>
                <a:rPr lang="en-US" altLang="zh-CN" sz="1400" b="1" i="1" baseline="30000" dirty="0" smtClean="0"/>
                <a:t>n 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个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49" name="右大括号 48"/>
            <p:cNvSpPr/>
            <p:nvPr/>
          </p:nvSpPr>
          <p:spPr bwMode="auto">
            <a:xfrm>
              <a:off x="8040546" y="4229196"/>
              <a:ext cx="46800" cy="792000"/>
            </a:xfrm>
            <a:prstGeom prst="rightBrace">
              <a:avLst>
                <a:gd name="adj1" fmla="val 53467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" name="Text Box 16"/>
          <p:cNvSpPr txBox="1">
            <a:spLocks noChangeArrowheads="1"/>
          </p:cNvSpPr>
          <p:nvPr/>
        </p:nvSpPr>
        <p:spPr bwMode="auto">
          <a:xfrm>
            <a:off x="142844" y="332656"/>
            <a:ext cx="8882394" cy="24006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工作方式： </a:t>
            </a:r>
            <a:r>
              <a:rPr lang="en-US" altLang="zh-CN" sz="2000" dirty="0" smtClean="0">
                <a:latin typeface="+mn-ea"/>
              </a:rPr>
              <a:t>—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又</a:t>
            </a:r>
            <a:r>
              <a:rPr lang="zh-CN" altLang="en-US" sz="2000" b="1" dirty="0">
                <a:latin typeface="宋体" panose="02010600030101010101" pitchFamily="2" charset="-122"/>
              </a:rPr>
              <a:t>称</a:t>
            </a:r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存储程序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方式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 smtClean="0">
                <a:latin typeface="宋体" panose="02010600030101010101" pitchFamily="2" charset="-122"/>
              </a:rPr>
              <a:t>    ⑴程序和数据</a:t>
            </a:r>
            <a:r>
              <a:rPr lang="zh-CN" altLang="en-US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预先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存放</a:t>
            </a:r>
            <a:r>
              <a:rPr lang="zh-CN" altLang="en-US" b="1" dirty="0" smtClean="0">
                <a:latin typeface="宋体" panose="02010600030101010101" pitchFamily="2" charset="-122"/>
              </a:rPr>
              <a:t>在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存储器</a:t>
            </a:r>
            <a:r>
              <a:rPr lang="zh-CN" altLang="en-US" b="1" dirty="0" smtClean="0">
                <a:latin typeface="宋体" panose="02010600030101010101" pitchFamily="2" charset="-122"/>
              </a:rPr>
              <a:t>中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←提高编程效率、执行速度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</a:rPr>
              <a:t>⑵机器</a:t>
            </a:r>
            <a:r>
              <a:rPr lang="zh-CN" altLang="en-US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工作时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自动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逐条</a:t>
            </a:r>
            <a:r>
              <a:rPr lang="zh-CN" altLang="en-US" b="1" dirty="0" smtClean="0">
                <a:latin typeface="宋体" panose="02010600030101010101" pitchFamily="2" charset="-122"/>
              </a:rPr>
              <a:t>地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取出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指令并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b="1" dirty="0" smtClean="0">
                <a:latin typeface="宋体" panose="02010600030101010101" pitchFamily="2" charset="-122"/>
              </a:rPr>
              <a:t> 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程序的执行过程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sng" dirty="0" smtClean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grpSp>
        <p:nvGrpSpPr>
          <p:cNvPr id="113" name="组合 112"/>
          <p:cNvGrpSpPr/>
          <p:nvPr/>
        </p:nvGrpSpPr>
        <p:grpSpPr>
          <a:xfrm>
            <a:off x="1403648" y="2802777"/>
            <a:ext cx="5628615" cy="770239"/>
            <a:chOff x="1463665" y="4780926"/>
            <a:chExt cx="5628615" cy="770239"/>
          </a:xfrm>
        </p:grpSpPr>
        <p:sp>
          <p:nvSpPr>
            <p:cNvPr id="112" name="矩形 111"/>
            <p:cNvSpPr/>
            <p:nvPr/>
          </p:nvSpPr>
          <p:spPr bwMode="auto">
            <a:xfrm>
              <a:off x="1463665" y="4780926"/>
              <a:ext cx="3900423" cy="43200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" name="Text Box 311"/>
            <p:cNvSpPr txBox="1">
              <a:spLocks noChangeArrowheads="1"/>
            </p:cNvSpPr>
            <p:nvPr/>
          </p:nvSpPr>
          <p:spPr bwMode="auto">
            <a:xfrm>
              <a:off x="1572743" y="4851985"/>
              <a:ext cx="839017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取指令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5" name="Text Box 314"/>
            <p:cNvSpPr txBox="1">
              <a:spLocks noChangeArrowheads="1"/>
            </p:cNvSpPr>
            <p:nvPr/>
          </p:nvSpPr>
          <p:spPr bwMode="auto">
            <a:xfrm>
              <a:off x="2749900" y="4851985"/>
              <a:ext cx="1030012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分析指令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6" name="Text Box 316"/>
            <p:cNvSpPr txBox="1">
              <a:spLocks noChangeArrowheads="1"/>
            </p:cNvSpPr>
            <p:nvPr/>
          </p:nvSpPr>
          <p:spPr bwMode="auto">
            <a:xfrm>
              <a:off x="4139952" y="4851985"/>
              <a:ext cx="1104104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执行指令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7" name="直接箭头连接符 76"/>
            <p:cNvCxnSpPr>
              <a:stCxn id="74" idx="3"/>
              <a:endCxn id="75" idx="1"/>
            </p:cNvCxnSpPr>
            <p:nvPr/>
          </p:nvCxnSpPr>
          <p:spPr bwMode="auto">
            <a:xfrm>
              <a:off x="2411760" y="4995985"/>
              <a:ext cx="3381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8" name="直接箭头连接符 77"/>
            <p:cNvCxnSpPr>
              <a:stCxn id="75" idx="3"/>
              <a:endCxn id="76" idx="1"/>
            </p:cNvCxnSpPr>
            <p:nvPr/>
          </p:nvCxnSpPr>
          <p:spPr bwMode="auto">
            <a:xfrm>
              <a:off x="3779912" y="4995985"/>
              <a:ext cx="3600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9" name="Text Box 316"/>
            <p:cNvSpPr txBox="1">
              <a:spLocks noChangeArrowheads="1"/>
            </p:cNvSpPr>
            <p:nvPr/>
          </p:nvSpPr>
          <p:spPr bwMode="auto">
            <a:xfrm>
              <a:off x="5580112" y="4853570"/>
              <a:ext cx="1512168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计算指令地址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0" name="直接箭头连接符 79"/>
            <p:cNvCxnSpPr>
              <a:stCxn id="76" idx="3"/>
              <a:endCxn id="79" idx="1"/>
            </p:cNvCxnSpPr>
            <p:nvPr/>
          </p:nvCxnSpPr>
          <p:spPr bwMode="auto">
            <a:xfrm>
              <a:off x="5244056" y="4995985"/>
              <a:ext cx="336056" cy="1585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1" name="直接箭头连接符 27"/>
            <p:cNvCxnSpPr>
              <a:stCxn id="79" idx="3"/>
              <a:endCxn id="74" idx="1"/>
            </p:cNvCxnSpPr>
            <p:nvPr/>
          </p:nvCxnSpPr>
          <p:spPr bwMode="auto">
            <a:xfrm flipH="1" flipV="1">
              <a:off x="1572743" y="4995985"/>
              <a:ext cx="5519537" cy="1585"/>
            </a:xfrm>
            <a:prstGeom prst="bentConnector5">
              <a:avLst>
                <a:gd name="adj1" fmla="val -4142"/>
                <a:gd name="adj2" fmla="val 20173943"/>
                <a:gd name="adj3" fmla="val 104142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2" name="Text Box 316"/>
            <p:cNvSpPr txBox="1">
              <a:spLocks noChangeArrowheads="1"/>
            </p:cNvSpPr>
            <p:nvPr/>
          </p:nvSpPr>
          <p:spPr bwMode="auto">
            <a:xfrm>
              <a:off x="1619672" y="5335165"/>
              <a:ext cx="1010252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指令地址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3" name="Line 97"/>
            <p:cNvSpPr>
              <a:spLocks noChangeShapeType="1"/>
            </p:cNvSpPr>
            <p:nvPr/>
          </p:nvSpPr>
          <p:spPr bwMode="auto">
            <a:xfrm flipH="1" flipV="1">
              <a:off x="2039729" y="5119117"/>
              <a:ext cx="0" cy="216718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7" name="直接箭头连接符 41"/>
            <p:cNvCxnSpPr>
              <a:stCxn id="79" idx="2"/>
            </p:cNvCxnSpPr>
            <p:nvPr/>
          </p:nvCxnSpPr>
          <p:spPr bwMode="auto">
            <a:xfrm rot="5400000">
              <a:off x="4338196" y="3467570"/>
              <a:ext cx="324000" cy="3672000"/>
            </a:xfrm>
            <a:prstGeom prst="bentConnector2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14" name="Text Box 83"/>
          <p:cNvSpPr txBox="1">
            <a:spLocks noChangeArrowheads="1"/>
          </p:cNvSpPr>
          <p:nvPr/>
        </p:nvSpPr>
        <p:spPr bwMode="auto">
          <a:xfrm>
            <a:off x="3347864" y="2134294"/>
            <a:ext cx="3096344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循环</a:t>
            </a:r>
            <a:r>
              <a:rPr lang="zh-CN" altLang="en-US" b="1" dirty="0">
                <a:latin typeface="宋体" panose="02010600030101010101" pitchFamily="2" charset="-122"/>
              </a:rPr>
              <a:t>的</a:t>
            </a:r>
            <a:r>
              <a:rPr lang="zh-CN" altLang="en-US" b="1" u="sng" dirty="0">
                <a:latin typeface="宋体" panose="02010600030101010101" pitchFamily="2" charset="-122"/>
              </a:rPr>
              <a:t>指令执行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过程</a:t>
            </a:r>
            <a:r>
              <a:rPr lang="zh-CN" altLang="en-US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56" name="AutoShape 45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Text Box 16"/>
          <p:cNvSpPr txBox="1">
            <a:spLocks noChangeArrowheads="1"/>
          </p:cNvSpPr>
          <p:nvPr/>
        </p:nvSpPr>
        <p:spPr bwMode="auto">
          <a:xfrm>
            <a:off x="1404456" y="1808076"/>
            <a:ext cx="6552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需要取指令的原因是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；需要逐条执行的原因是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。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</a:t>
            </a:r>
            <a:endParaRPr lang="en-US" altLang="zh-CN" sz="1800" dirty="0">
              <a:latin typeface="宋体" panose="02010600030101010101" pitchFamily="2" charset="-122"/>
            </a:endParaRPr>
          </a:p>
        </p:txBody>
      </p:sp>
      <p:sp>
        <p:nvSpPr>
          <p:cNvPr id="64" name="Text Box 349"/>
          <p:cNvSpPr txBox="1">
            <a:spLocks noChangeArrowheads="1"/>
          </p:cNvSpPr>
          <p:nvPr/>
        </p:nvSpPr>
        <p:spPr bwMode="auto">
          <a:xfrm>
            <a:off x="2843808" y="5805296"/>
            <a:ext cx="4104000" cy="288000"/>
          </a:xfrm>
          <a:prstGeom prst="rect">
            <a:avLst/>
          </a:prstGeom>
          <a:solidFill>
            <a:srgbClr val="CCFFFF">
              <a:alpha val="80000"/>
            </a:srgbClr>
          </a:solidFill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8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PPT</a:t>
            </a:r>
            <a:r>
              <a:rPr lang="zh-CN" altLang="en-US" sz="18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约定：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所有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思考均有答案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备注栏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中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47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2" name="Text Box 17"/>
          <p:cNvSpPr txBox="1">
            <a:spLocks noChangeArrowheads="1"/>
          </p:cNvSpPr>
          <p:nvPr/>
        </p:nvSpPr>
        <p:spPr bwMode="auto">
          <a:xfrm>
            <a:off x="142844" y="4012615"/>
            <a:ext cx="2547039" cy="10413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存储器结构：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参数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53" name="Text Box 16"/>
          <p:cNvSpPr txBox="1">
            <a:spLocks noChangeArrowheads="1"/>
          </p:cNvSpPr>
          <p:nvPr/>
        </p:nvSpPr>
        <p:spPr bwMode="auto">
          <a:xfrm>
            <a:off x="1738884" y="4005064"/>
            <a:ext cx="7081588" cy="10413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由</a:t>
            </a:r>
            <a:r>
              <a:rPr lang="zh-CN" altLang="en-US" b="1" u="sng" dirty="0">
                <a:latin typeface="宋体" panose="02010600030101010101" pitchFamily="2" charset="-122"/>
              </a:rPr>
              <a:t>定长单元</a:t>
            </a:r>
            <a:r>
              <a:rPr lang="zh-CN" altLang="en-US" b="1" dirty="0">
                <a:latin typeface="宋体" panose="02010600030101010101" pitchFamily="2" charset="-122"/>
              </a:rPr>
              <a:t>构成的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一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维</a:t>
            </a:r>
            <a:r>
              <a:rPr lang="zh-CN" altLang="en-US" b="1" dirty="0" smtClean="0">
                <a:latin typeface="宋体" panose="02010600030101010101" pitchFamily="2" charset="-122"/>
              </a:rPr>
              <a:t>线性空间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按地址</a:t>
            </a:r>
            <a:r>
              <a:rPr lang="zh-CN" altLang="en-US" b="1" dirty="0">
                <a:latin typeface="宋体" panose="02010600030101010101" pitchFamily="2" charset="-122"/>
              </a:rPr>
              <a:t>访问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b="1" spc="-100" dirty="0" smtClean="0">
                <a:latin typeface="宋体" panose="02010600030101010101" pitchFamily="2" charset="-122"/>
              </a:rPr>
              <a:t>存储单元</a:t>
            </a:r>
            <a:r>
              <a:rPr lang="zh-CN" altLang="en-US" b="1" spc="-100" dirty="0">
                <a:latin typeface="宋体" panose="02010600030101010101" pitchFamily="2" charset="-122"/>
              </a:rPr>
              <a:t>长度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(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即编址单位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)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、存储单元</a:t>
            </a:r>
            <a:r>
              <a:rPr lang="zh-CN" altLang="en-US" b="1" spc="-100" dirty="0">
                <a:latin typeface="宋体" panose="02010600030101010101" pitchFamily="2" charset="-122"/>
              </a:rPr>
              <a:t>个数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(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即</a:t>
            </a:r>
            <a:r>
              <a:rPr lang="zh-CN" altLang="en-US" sz="2000" b="1" spc="-100" dirty="0" smtClean="0">
                <a:latin typeface="宋体" panose="02010600030101010101" pitchFamily="2" charset="-122"/>
              </a:rPr>
              <a:t>地址位数</a:t>
            </a:r>
            <a:r>
              <a:rPr lang="en-US" altLang="zh-CN" sz="2000" b="1" spc="-100" dirty="0" smtClean="0">
                <a:latin typeface="宋体" panose="02010600030101010101" pitchFamily="2" charset="-122"/>
              </a:rPr>
              <a:t>)</a:t>
            </a:r>
            <a:endParaRPr lang="zh-CN" altLang="en-US" b="1" spc="-100" dirty="0">
              <a:latin typeface="宋体" panose="02010600030101010101" pitchFamily="2" charset="-122"/>
            </a:endParaRPr>
          </a:p>
        </p:txBody>
      </p:sp>
      <p:sp>
        <p:nvSpPr>
          <p:cNvPr id="110" name="Text Box 349"/>
          <p:cNvSpPr txBox="1">
            <a:spLocks noChangeArrowheads="1"/>
          </p:cNvSpPr>
          <p:nvPr/>
        </p:nvSpPr>
        <p:spPr bwMode="auto">
          <a:xfrm>
            <a:off x="2844152" y="6165336"/>
            <a:ext cx="3168000" cy="288000"/>
          </a:xfrm>
          <a:prstGeom prst="rect">
            <a:avLst/>
          </a:prstGeom>
          <a:solidFill>
            <a:srgbClr val="CCFFFF">
              <a:alpha val="80000"/>
            </a:srgbClr>
          </a:solidFill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8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PPT</a:t>
            </a:r>
            <a:r>
              <a:rPr lang="zh-CN" altLang="en-US" sz="18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约定：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存储器</a:t>
            </a:r>
            <a:r>
              <a:rPr lang="zh-CN" altLang="en-US" sz="1800" b="1" dirty="0">
                <a:latin typeface="宋体" panose="02010600030101010101" pitchFamily="2" charset="-122"/>
              </a:rPr>
              <a:t>常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简写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为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MEM</a:t>
            </a:r>
            <a:endParaRPr lang="en-US" altLang="zh-CN" sz="18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3" name="Text Box 16"/>
          <p:cNvSpPr txBox="1">
            <a:spLocks noChangeArrowheads="1"/>
          </p:cNvSpPr>
          <p:nvPr/>
        </p:nvSpPr>
        <p:spPr bwMode="auto">
          <a:xfrm>
            <a:off x="2987824" y="5013176"/>
            <a:ext cx="5257269" cy="64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271780" indent="-271780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思考③：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指令与数据长度可能不同</a:t>
            </a:r>
            <a:r>
              <a:rPr lang="zh-CN" altLang="en-US" sz="1800" b="1" dirty="0">
                <a:latin typeface="宋体" panose="02010600030101010101" pitchFamily="2" charset="-122"/>
              </a:rPr>
              <a:t>，为使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存储效率</a:t>
            </a:r>
            <a:r>
              <a:rPr lang="zh-CN" altLang="en-US" sz="1800" b="1" dirty="0">
                <a:latin typeface="宋体" panose="02010600030101010101" pitchFamily="2" charset="-122"/>
              </a:rPr>
              <a:t>最高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，存储单元长度应如何约定？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44" name="Text Box 16"/>
          <p:cNvSpPr txBox="1">
            <a:spLocks noChangeArrowheads="1"/>
          </p:cNvSpPr>
          <p:nvPr/>
        </p:nvSpPr>
        <p:spPr bwMode="auto">
          <a:xfrm>
            <a:off x="1403648" y="3681064"/>
            <a:ext cx="7056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1076325" indent="-1076325"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>
                <a:latin typeface="宋体" panose="02010600030101010101" pitchFamily="2" charset="-122"/>
              </a:rPr>
              <a:t>为什么需要分析指令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？指令地址应该用什么部件地址表示？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46" name="AutoShape 338"/>
          <p:cNvSpPr/>
          <p:nvPr/>
        </p:nvSpPr>
        <p:spPr bwMode="auto">
          <a:xfrm>
            <a:off x="7164288" y="5949280"/>
            <a:ext cx="1872000" cy="252000"/>
          </a:xfrm>
          <a:prstGeom prst="borderCallout2">
            <a:avLst>
              <a:gd name="adj1" fmla="val -6813"/>
              <a:gd name="adj2" fmla="val 65027"/>
              <a:gd name="adj3" fmla="val -108897"/>
              <a:gd name="adj4" fmla="val 65113"/>
              <a:gd name="adj5" fmla="val -244768"/>
              <a:gd name="adj6" fmla="val 2945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 anchor="ctr" anchorCtr="1"/>
          <a:lstStyle/>
          <a:p>
            <a:pPr lvl="0" algn="ctr"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＝有效位数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总位数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54" grpId="0" animBg="1"/>
      <p:bldP spid="64" grpId="0" animBg="1"/>
      <p:bldP spid="110" grpId="0" animBg="1"/>
      <p:bldP spid="43" grpId="0" animBg="1"/>
      <p:bldP spid="44" grpId="0" animBg="1"/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1D41-3C5C-4D6A-BD81-623F87B6C384}" type="slidenum">
              <a:rPr lang="en-US" altLang="zh-CN"/>
            </a:fld>
            <a:endParaRPr lang="en-US" altLang="zh-CN"/>
          </a:p>
        </p:txBody>
      </p:sp>
      <p:sp>
        <p:nvSpPr>
          <p:cNvPr id="248944" name="Text Box 112"/>
          <p:cNvSpPr txBox="1">
            <a:spLocks noChangeArrowheads="1"/>
          </p:cNvSpPr>
          <p:nvPr/>
        </p:nvSpPr>
        <p:spPr bwMode="auto">
          <a:xfrm>
            <a:off x="179388" y="40466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二</a:t>
            </a:r>
            <a:r>
              <a:rPr lang="zh-CN" altLang="en-US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zh-CN" altLang="en-US" b="1" dirty="0" smtClean="0">
                <a:solidFill>
                  <a:srgbClr val="FF0000"/>
                </a:solidFill>
                <a:ea typeface="黑体" panose="02010609060101010101" pitchFamily="2" charset="-122"/>
              </a:rPr>
              <a:t>计算机硬件组成 </a:t>
            </a:r>
            <a:r>
              <a:rPr lang="en-US" altLang="zh-CN" sz="2000" b="1" dirty="0" smtClean="0">
                <a:latin typeface="+mn-ea"/>
                <a:ea typeface="+mn-ea"/>
              </a:rPr>
              <a:t>(</a:t>
            </a:r>
            <a:r>
              <a:rPr lang="zh-CN" altLang="en-US" sz="2000" b="1" dirty="0" smtClean="0">
                <a:latin typeface="+mn-ea"/>
                <a:ea typeface="+mn-ea"/>
              </a:rPr>
              <a:t>指现代计算机</a:t>
            </a:r>
            <a:r>
              <a:rPr lang="en-US" altLang="zh-CN" sz="20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endParaRPr lang="zh-CN" altLang="en-US" sz="2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49120" name="Text Box 288"/>
          <p:cNvSpPr txBox="1">
            <a:spLocks noChangeArrowheads="1"/>
          </p:cNvSpPr>
          <p:nvPr/>
        </p:nvSpPr>
        <p:spPr bwMode="auto">
          <a:xfrm>
            <a:off x="179388" y="1340768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、计算机的基本结构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*组织方法：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65" name="Text Box 72"/>
          <p:cNvSpPr txBox="1">
            <a:spLocks noChangeArrowheads="1"/>
          </p:cNvSpPr>
          <p:nvPr/>
        </p:nvSpPr>
        <p:spPr bwMode="auto">
          <a:xfrm>
            <a:off x="179388" y="2276872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改进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多种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存储器共存</a:t>
            </a:r>
            <a:r>
              <a:rPr lang="zh-CN" altLang="en-US" b="1" dirty="0">
                <a:latin typeface="宋体" panose="02010600030101010101" pitchFamily="2" charset="-122"/>
              </a:rPr>
              <a:t>的存储器结构  </a:t>
            </a:r>
            <a:r>
              <a:rPr lang="zh-CN" altLang="en-US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←提高</a:t>
            </a:r>
            <a:r>
              <a:rPr lang="en-US" altLang="zh-CN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性</a:t>
            </a:r>
            <a:r>
              <a:rPr lang="en-US" altLang="zh-CN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价</a:t>
            </a:r>
            <a:endParaRPr lang="en-US" altLang="zh-CN" sz="1800" b="1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实现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存储器由主存＋辅存构成，</a:t>
            </a:r>
            <a:endParaRPr lang="zh-CN" altLang="en-US" b="1" u="sng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28" name="Text Box 72"/>
          <p:cNvSpPr txBox="1">
            <a:spLocks noChangeArrowheads="1"/>
          </p:cNvSpPr>
          <p:nvPr/>
        </p:nvSpPr>
        <p:spPr bwMode="auto">
          <a:xfrm>
            <a:off x="179512" y="4898484"/>
            <a:ext cx="8856984" cy="13388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改进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以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存储器为中心</a:t>
            </a:r>
            <a:r>
              <a:rPr lang="zh-CN" altLang="en-US" b="1" dirty="0">
                <a:latin typeface="宋体" panose="02010600030101010101" pitchFamily="2" charset="-122"/>
              </a:rPr>
              <a:t>的硬件</a:t>
            </a:r>
            <a:r>
              <a:rPr lang="zh-CN" altLang="en-US" b="1" dirty="0" smtClean="0">
                <a:latin typeface="宋体" panose="02010600030101010101" pitchFamily="2" charset="-122"/>
              </a:rPr>
              <a:t>结构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←提高</a:t>
            </a:r>
            <a:r>
              <a:rPr lang="en-US" altLang="zh-CN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性能</a:t>
            </a:r>
            <a:endParaRPr lang="en-US" altLang="zh-CN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            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运算与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I/O</a:t>
            </a:r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并行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         ←冯氏模型为串行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实现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缓冲技术＋</a:t>
            </a:r>
            <a:r>
              <a:rPr lang="en-US" altLang="zh-CN" b="1" dirty="0" smtClean="0"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latin typeface="宋体" panose="02010600030101010101" pitchFamily="2" charset="-122"/>
              </a:rPr>
              <a:t>技术</a:t>
            </a:r>
            <a:r>
              <a:rPr lang="en-US" altLang="zh-CN" b="1" dirty="0" smtClean="0">
                <a:latin typeface="宋体" panose="02010600030101010101" pitchFamily="2" charset="-122"/>
              </a:rPr>
              <a:t>  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←第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3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章、第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7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章</a:t>
            </a:r>
            <a:r>
              <a:rPr lang="zh-CN" altLang="en-US" sz="1800" b="1" dirty="0">
                <a:latin typeface="宋体" panose="02010600030101010101" pitchFamily="2" charset="-122"/>
              </a:rPr>
              <a:t>讨论</a:t>
            </a:r>
            <a:endParaRPr lang="zh-CN" altLang="en-US" sz="1800" b="1" dirty="0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3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5690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9" name="Text Box 288"/>
          <p:cNvSpPr txBox="1">
            <a:spLocks noChangeArrowheads="1"/>
          </p:cNvSpPr>
          <p:nvPr/>
        </p:nvSpPr>
        <p:spPr bwMode="auto">
          <a:xfrm>
            <a:off x="179512" y="836712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所含内容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结构、部件组成、部件互连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←部件组成基于结构</a:t>
            </a:r>
            <a:endParaRPr lang="zh-CN" altLang="en-US" sz="1400" b="1" dirty="0">
              <a:latin typeface="宋体" panose="0201060003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547664" y="3572267"/>
            <a:ext cx="4608064" cy="1296893"/>
            <a:chOff x="1691959" y="4932724"/>
            <a:chExt cx="4608064" cy="1296893"/>
          </a:xfrm>
        </p:grpSpPr>
        <p:sp>
          <p:nvSpPr>
            <p:cNvPr id="33" name="Rectangle 93"/>
            <p:cNvSpPr>
              <a:spLocks noChangeArrowheads="1"/>
            </p:cNvSpPr>
            <p:nvPr/>
          </p:nvSpPr>
          <p:spPr bwMode="auto">
            <a:xfrm>
              <a:off x="1691959" y="4933617"/>
              <a:ext cx="2448000" cy="129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88"/>
            <p:cNvSpPr txBox="1">
              <a:spLocks noChangeArrowheads="1"/>
            </p:cNvSpPr>
            <p:nvPr/>
          </p:nvSpPr>
          <p:spPr bwMode="auto">
            <a:xfrm>
              <a:off x="4788023" y="4933617"/>
              <a:ext cx="1512000" cy="129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spcAft>
                  <a:spcPts val="300"/>
                </a:spcAft>
              </a:pPr>
              <a:r>
                <a:rPr lang="zh-CN" altLang="en-US" sz="1800" b="1" dirty="0" smtClean="0">
                  <a:solidFill>
                    <a:srgbClr val="C00000"/>
                  </a:solidFill>
                </a:rPr>
                <a:t>外部设备</a:t>
              </a:r>
              <a:endParaRPr lang="en-US" altLang="zh-CN" sz="1800" b="1" dirty="0" smtClean="0">
                <a:solidFill>
                  <a:srgbClr val="C00000"/>
                </a:solidFill>
              </a:endParaRPr>
            </a:p>
            <a:p>
              <a:pPr>
                <a:spcBef>
                  <a:spcPts val="300"/>
                </a:spcBef>
              </a:pPr>
              <a:r>
                <a:rPr lang="en-US" altLang="zh-CN" sz="1800" b="1" dirty="0" smtClean="0"/>
                <a:t>  ·</a:t>
              </a:r>
              <a:r>
                <a:rPr lang="zh-CN" altLang="en-US" sz="1800" b="1" dirty="0" smtClean="0"/>
                <a:t>输入设备</a:t>
              </a:r>
              <a:endParaRPr lang="en-US" altLang="zh-CN" sz="1800" b="1" dirty="0" smtClean="0"/>
            </a:p>
            <a:p>
              <a:r>
                <a:rPr lang="en-US" altLang="zh-CN" sz="1800" b="1" dirty="0" smtClean="0"/>
                <a:t>  ·</a:t>
              </a:r>
              <a:r>
                <a:rPr lang="zh-CN" altLang="en-US" sz="1800" b="1" dirty="0" smtClean="0"/>
                <a:t>输出设备</a:t>
              </a:r>
              <a:endParaRPr lang="zh-CN" altLang="en-US" sz="1800" b="1" dirty="0"/>
            </a:p>
            <a:p>
              <a:r>
                <a:rPr lang="en-US" altLang="zh-CN" sz="1800" b="1" dirty="0" smtClean="0"/>
                <a:t>  ·</a:t>
              </a:r>
              <a:r>
                <a:rPr lang="zh-CN" altLang="en-US" sz="1800" b="1" dirty="0" smtClean="0">
                  <a:solidFill>
                    <a:srgbClr val="990099"/>
                  </a:solidFill>
                </a:rPr>
                <a:t>辅助存储器</a:t>
              </a:r>
              <a:endParaRPr lang="en-US" altLang="zh-CN" sz="1800" b="1" dirty="0" smtClean="0">
                <a:solidFill>
                  <a:srgbClr val="990099"/>
                </a:solidFill>
              </a:endParaRPr>
            </a:p>
          </p:txBody>
        </p:sp>
        <p:sp>
          <p:nvSpPr>
            <p:cNvPr id="35" name="Line 89"/>
            <p:cNvSpPr>
              <a:spLocks noChangeShapeType="1"/>
            </p:cNvSpPr>
            <p:nvPr/>
          </p:nvSpPr>
          <p:spPr bwMode="auto">
            <a:xfrm>
              <a:off x="2987823" y="5301208"/>
              <a:ext cx="720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90"/>
            <p:cNvSpPr>
              <a:spLocks noChangeArrowheads="1"/>
            </p:cNvSpPr>
            <p:nvPr/>
          </p:nvSpPr>
          <p:spPr bwMode="auto">
            <a:xfrm>
              <a:off x="1763687" y="5041753"/>
              <a:ext cx="1224000" cy="11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Text Box 91"/>
            <p:cNvSpPr txBox="1">
              <a:spLocks noChangeArrowheads="1"/>
            </p:cNvSpPr>
            <p:nvPr/>
          </p:nvSpPr>
          <p:spPr bwMode="auto">
            <a:xfrm>
              <a:off x="3707903" y="5077633"/>
              <a:ext cx="360000" cy="108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zh-CN" altLang="en-US" sz="1800" b="1" dirty="0">
                  <a:solidFill>
                    <a:srgbClr val="990099"/>
                  </a:solidFill>
                </a:rPr>
                <a:t>主</a:t>
              </a:r>
              <a:endParaRPr lang="zh-CN" altLang="en-US" sz="1800" b="1" dirty="0">
                <a:solidFill>
                  <a:srgbClr val="990099"/>
                </a:solidFill>
              </a:endParaRPr>
            </a:p>
            <a:p>
              <a:pPr algn="ctr">
                <a:lnSpc>
                  <a:spcPct val="95000"/>
                </a:lnSpc>
              </a:pPr>
              <a:r>
                <a:rPr lang="zh-CN" altLang="en-US" sz="1800" b="1" dirty="0">
                  <a:solidFill>
                    <a:srgbClr val="990099"/>
                  </a:solidFill>
                </a:rPr>
                <a:t>存</a:t>
              </a:r>
              <a:endParaRPr lang="zh-CN" altLang="en-US" sz="1800" b="1" dirty="0">
                <a:solidFill>
                  <a:srgbClr val="990099"/>
                </a:solidFill>
              </a:endParaRPr>
            </a:p>
            <a:p>
              <a:pPr algn="ctr">
                <a:lnSpc>
                  <a:spcPct val="95000"/>
                </a:lnSpc>
              </a:pPr>
              <a:r>
                <a:rPr lang="zh-CN" altLang="en-US" sz="1800" b="1" dirty="0">
                  <a:solidFill>
                    <a:srgbClr val="990099"/>
                  </a:solidFill>
                </a:rPr>
                <a:t>储</a:t>
              </a:r>
              <a:endParaRPr lang="zh-CN" altLang="en-US" sz="1800" b="1" dirty="0">
                <a:solidFill>
                  <a:srgbClr val="990099"/>
                </a:solidFill>
              </a:endParaRPr>
            </a:p>
            <a:p>
              <a:pPr algn="ctr">
                <a:lnSpc>
                  <a:spcPct val="95000"/>
                </a:lnSpc>
              </a:pPr>
              <a:r>
                <a:rPr lang="zh-CN" altLang="en-US" sz="1800" b="1" dirty="0" smtClean="0">
                  <a:solidFill>
                    <a:srgbClr val="990099"/>
                  </a:solidFill>
                </a:rPr>
                <a:t>器</a:t>
              </a:r>
              <a:endParaRPr lang="zh-CN" altLang="en-US" sz="1800" b="1" dirty="0">
                <a:solidFill>
                  <a:srgbClr val="990099"/>
                </a:solidFill>
              </a:endParaRPr>
            </a:p>
          </p:txBody>
        </p:sp>
        <p:sp>
          <p:nvSpPr>
            <p:cNvPr id="38" name="Line 92"/>
            <p:cNvSpPr>
              <a:spLocks noChangeShapeType="1"/>
            </p:cNvSpPr>
            <p:nvPr/>
          </p:nvSpPr>
          <p:spPr bwMode="auto">
            <a:xfrm flipV="1">
              <a:off x="2987823" y="5941729"/>
              <a:ext cx="72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94"/>
            <p:cNvSpPr>
              <a:spLocks noChangeShapeType="1"/>
            </p:cNvSpPr>
            <p:nvPr/>
          </p:nvSpPr>
          <p:spPr bwMode="auto">
            <a:xfrm flipV="1">
              <a:off x="4141538" y="5301208"/>
              <a:ext cx="646113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95"/>
            <p:cNvSpPr>
              <a:spLocks noChangeShapeType="1"/>
            </p:cNvSpPr>
            <p:nvPr/>
          </p:nvSpPr>
          <p:spPr bwMode="auto">
            <a:xfrm flipV="1">
              <a:off x="4139951" y="5878165"/>
              <a:ext cx="6477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96"/>
            <p:cNvSpPr>
              <a:spLocks noChangeShapeType="1"/>
            </p:cNvSpPr>
            <p:nvPr/>
          </p:nvSpPr>
          <p:spPr bwMode="auto">
            <a:xfrm flipH="1" flipV="1">
              <a:off x="4139951" y="6022181"/>
              <a:ext cx="6477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97"/>
            <p:cNvSpPr txBox="1">
              <a:spLocks noChangeArrowheads="1"/>
            </p:cNvSpPr>
            <p:nvPr/>
          </p:nvSpPr>
          <p:spPr bwMode="auto">
            <a:xfrm>
              <a:off x="1907704" y="5797745"/>
              <a:ext cx="936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/>
                <a:t>控制器</a:t>
              </a:r>
              <a:endParaRPr lang="en-US" altLang="zh-CN" sz="1800" b="1" dirty="0"/>
            </a:p>
          </p:txBody>
        </p:sp>
        <p:sp>
          <p:nvSpPr>
            <p:cNvPr id="43" name="Text Box 98"/>
            <p:cNvSpPr txBox="1">
              <a:spLocks noChangeArrowheads="1"/>
            </p:cNvSpPr>
            <p:nvPr/>
          </p:nvSpPr>
          <p:spPr bwMode="auto">
            <a:xfrm>
              <a:off x="2123727" y="5041513"/>
              <a:ext cx="57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CPU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44" name="Line 99"/>
            <p:cNvSpPr>
              <a:spLocks noChangeShapeType="1"/>
            </p:cNvSpPr>
            <p:nvPr/>
          </p:nvSpPr>
          <p:spPr bwMode="auto">
            <a:xfrm flipH="1" flipV="1">
              <a:off x="2411758" y="5574879"/>
              <a:ext cx="1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100"/>
            <p:cNvSpPr txBox="1">
              <a:spLocks noChangeArrowheads="1"/>
            </p:cNvSpPr>
            <p:nvPr/>
          </p:nvSpPr>
          <p:spPr bwMode="auto">
            <a:xfrm>
              <a:off x="1907704" y="5293689"/>
              <a:ext cx="936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/>
                <a:t>运算器</a:t>
              </a:r>
              <a:endParaRPr lang="en-US" altLang="zh-CN" sz="1800" b="1" dirty="0"/>
            </a:p>
          </p:txBody>
        </p:sp>
        <p:sp>
          <p:nvSpPr>
            <p:cNvPr id="46" name="Text Box 101"/>
            <p:cNvSpPr txBox="1">
              <a:spLocks noChangeArrowheads="1"/>
            </p:cNvSpPr>
            <p:nvPr/>
          </p:nvSpPr>
          <p:spPr bwMode="auto">
            <a:xfrm>
              <a:off x="3059831" y="4932724"/>
              <a:ext cx="576000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solidFill>
                    <a:srgbClr val="C00000"/>
                  </a:solidFill>
                </a:rPr>
                <a:t>主机</a:t>
              </a:r>
              <a:endParaRPr lang="zh-CN" altLang="en-US" sz="1800" b="1" dirty="0">
                <a:solidFill>
                  <a:srgbClr val="C00000"/>
                </a:solidFill>
              </a:endParaRPr>
            </a:p>
          </p:txBody>
        </p:sp>
        <p:sp>
          <p:nvSpPr>
            <p:cNvPr id="47" name="Line 116"/>
            <p:cNvSpPr>
              <a:spLocks noChangeShapeType="1"/>
            </p:cNvSpPr>
            <p:nvPr/>
          </p:nvSpPr>
          <p:spPr bwMode="auto">
            <a:xfrm flipH="1" flipV="1">
              <a:off x="2987823" y="6022181"/>
              <a:ext cx="720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119"/>
            <p:cNvSpPr>
              <a:spLocks noChangeShapeType="1"/>
            </p:cNvSpPr>
            <p:nvPr/>
          </p:nvSpPr>
          <p:spPr bwMode="auto">
            <a:xfrm>
              <a:off x="2987823" y="5659660"/>
              <a:ext cx="720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120"/>
            <p:cNvSpPr>
              <a:spLocks noChangeShapeType="1"/>
            </p:cNvSpPr>
            <p:nvPr/>
          </p:nvSpPr>
          <p:spPr bwMode="auto">
            <a:xfrm>
              <a:off x="4139951" y="5661248"/>
              <a:ext cx="6477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" name="AutoShape 45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Text Box 288"/>
          <p:cNvSpPr txBox="1">
            <a:spLocks noChangeArrowheads="1"/>
          </p:cNvSpPr>
          <p:nvPr/>
        </p:nvSpPr>
        <p:spPr bwMode="auto">
          <a:xfrm>
            <a:off x="2051595" y="1802433"/>
            <a:ext cx="6768877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基于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冯</a:t>
            </a:r>
            <a:r>
              <a:rPr lang="en-US" altLang="zh-CN" b="1" u="sng" dirty="0">
                <a:latin typeface="+mn-lt"/>
              </a:rPr>
              <a:t>·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诺依曼计算机</a:t>
            </a:r>
            <a:r>
              <a:rPr lang="zh-CN" altLang="en-US" b="1" dirty="0" smtClean="0">
                <a:latin typeface="宋体" panose="02010600030101010101" pitchFamily="2" charset="-122"/>
              </a:rPr>
              <a:t>进行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改进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←尚无更好的模型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50" name="Text Box 72"/>
          <p:cNvSpPr txBox="1">
            <a:spLocks noChangeArrowheads="1"/>
          </p:cNvSpPr>
          <p:nvPr/>
        </p:nvSpPr>
        <p:spPr bwMode="auto">
          <a:xfrm>
            <a:off x="5220072" y="2728169"/>
            <a:ext cx="3024460" cy="8448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CPU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只</a:t>
            </a:r>
            <a:r>
              <a:rPr lang="zh-CN" altLang="en-US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直接访问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主存</a:t>
            </a:r>
            <a:endParaRPr lang="zh-CN" altLang="en-US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即冯氏模型的存储器→</a:t>
            </a:r>
            <a:r>
              <a:rPr lang="zh-CN" altLang="en-US" sz="1800" dirty="0" smtClean="0">
                <a:latin typeface="宋体" panose="02010600030101010101" pitchFamily="2" charset="-122"/>
              </a:rPr>
              <a:t>┘</a:t>
            </a:r>
            <a:endParaRPr lang="en-US" altLang="zh-CN" sz="1800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51" name="Text Box 349"/>
          <p:cNvSpPr txBox="1">
            <a:spLocks noChangeArrowheads="1"/>
          </p:cNvSpPr>
          <p:nvPr/>
        </p:nvSpPr>
        <p:spPr bwMode="auto">
          <a:xfrm>
            <a:off x="6516488" y="3645160"/>
            <a:ext cx="2448000" cy="1224000"/>
          </a:xfrm>
          <a:prstGeom prst="rect">
            <a:avLst/>
          </a:prstGeom>
          <a:solidFill>
            <a:srgbClr val="CCFFFF">
              <a:alpha val="80000"/>
            </a:srgbClr>
          </a:solidFill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r>
              <a:rPr lang="en-US" altLang="zh-CN" sz="18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PPT</a:t>
            </a:r>
            <a:r>
              <a:rPr lang="zh-CN" altLang="en-US" sz="18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约定：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原理图中，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地址线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为深红色线、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数据线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为蓝色线、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控制线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为粉红色线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120" grpId="0"/>
      <p:bldP spid="28" grpId="0"/>
      <p:bldP spid="30" grpId="0"/>
      <p:bldP spid="50" grpId="0"/>
      <p:bldP spid="5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6124C-3D4E-4056-B55C-4307BAE5E75C}" type="slidenum">
              <a:rPr lang="en-US" altLang="zh-CN"/>
            </a:fld>
            <a:endParaRPr lang="en-US" altLang="zh-CN"/>
          </a:p>
        </p:txBody>
      </p:sp>
      <p:sp>
        <p:nvSpPr>
          <p:cNvPr id="250898" name="Text Box 18"/>
          <p:cNvSpPr txBox="1">
            <a:spLocks noChangeArrowheads="1"/>
          </p:cNvSpPr>
          <p:nvPr/>
        </p:nvSpPr>
        <p:spPr bwMode="auto">
          <a:xfrm>
            <a:off x="179513" y="307957"/>
            <a:ext cx="4104455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、计算机的主要部件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50899" name="Text Box 19"/>
          <p:cNvSpPr txBox="1">
            <a:spLocks noChangeArrowheads="1"/>
          </p:cNvSpPr>
          <p:nvPr/>
        </p:nvSpPr>
        <p:spPr bwMode="auto">
          <a:xfrm>
            <a:off x="179388" y="829161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存储器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--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指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RAM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800" dirty="0" smtClean="0">
                <a:solidFill>
                  <a:srgbClr val="FF3399"/>
                </a:solidFill>
              </a:rPr>
              <a:t>R</a:t>
            </a:r>
            <a:r>
              <a:rPr lang="en-US" altLang="zh-CN" sz="1800" dirty="0" smtClean="0"/>
              <a:t>andom </a:t>
            </a:r>
            <a:r>
              <a:rPr lang="en-US" altLang="zh-CN" sz="1800" dirty="0">
                <a:solidFill>
                  <a:srgbClr val="FF3399"/>
                </a:solidFill>
              </a:rPr>
              <a:t>A</a:t>
            </a:r>
            <a:r>
              <a:rPr lang="en-US" altLang="zh-CN" sz="1800" dirty="0"/>
              <a:t>ccess </a:t>
            </a:r>
            <a:r>
              <a:rPr lang="en-US" altLang="zh-CN" sz="1800" dirty="0" smtClean="0">
                <a:solidFill>
                  <a:srgbClr val="FF3399"/>
                </a:solidFill>
              </a:rPr>
              <a:t>M</a:t>
            </a:r>
            <a:r>
              <a:rPr lang="en-US" altLang="zh-CN" sz="1800" dirty="0" smtClean="0"/>
              <a:t>emory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存储</a:t>
            </a:r>
            <a:r>
              <a:rPr lang="zh-CN" altLang="en-US" b="1" dirty="0" smtClean="0">
                <a:latin typeface="宋体" panose="02010600030101010101" pitchFamily="2" charset="-122"/>
              </a:rPr>
              <a:t>信息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指令和数据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，按地址进行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访问</a:t>
            </a:r>
            <a:endParaRPr lang="en-US" altLang="zh-CN" b="1" u="sng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en-US" altLang="zh-CN" sz="20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251053" name="Text Box 173"/>
          <p:cNvSpPr txBox="1">
            <a:spLocks noChangeArrowheads="1"/>
          </p:cNvSpPr>
          <p:nvPr/>
        </p:nvSpPr>
        <p:spPr bwMode="auto">
          <a:xfrm>
            <a:off x="1438418" y="1772816"/>
            <a:ext cx="7382054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存储矩阵、地址译码器、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控制电路等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251057" name="Text Box 177"/>
          <p:cNvSpPr txBox="1">
            <a:spLocks noChangeArrowheads="1"/>
          </p:cNvSpPr>
          <p:nvPr/>
        </p:nvSpPr>
        <p:spPr bwMode="auto">
          <a:xfrm>
            <a:off x="179388" y="4154284"/>
            <a:ext cx="8785225" cy="1645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术语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存储元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(cell)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、存储单元</a:t>
            </a:r>
            <a:r>
              <a:rPr lang="en-US" altLang="zh-CN" sz="1800" b="1" dirty="0">
                <a:latin typeface="宋体" panose="02010600030101010101" pitchFamily="2" charset="-122"/>
              </a:rPr>
              <a:t>(supercell)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zh-CN" altLang="en-US" sz="2200" b="1" dirty="0" smtClean="0"/>
              <a:t>存储矩阵；</a:t>
            </a:r>
            <a:endParaRPr lang="zh-CN" altLang="en-US" sz="2200" b="1" dirty="0" smtClean="0"/>
          </a:p>
          <a:p>
            <a:pPr>
              <a:lnSpc>
                <a:spcPct val="10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                </a:t>
            </a:r>
            <a:r>
              <a:rPr lang="en-US" altLang="zh-CN" sz="1600" dirty="0" smtClean="0">
                <a:latin typeface="宋体" panose="02010600030101010101" pitchFamily="2" charset="-122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存储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位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存储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个对应的所有位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存储字，存储字长；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存储单元所存放的信息、信息长度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     存储单元</a:t>
            </a:r>
            <a:r>
              <a:rPr lang="zh-CN" altLang="en-US" sz="2200" b="1" dirty="0">
                <a:latin typeface="宋体" panose="02010600030101010101" pitchFamily="2" charset="-122"/>
              </a:rPr>
              <a:t>地址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、存储单元长度，存储容量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grpSp>
        <p:nvGrpSpPr>
          <p:cNvPr id="251058" name="Group 178"/>
          <p:cNvGrpSpPr/>
          <p:nvPr/>
        </p:nvGrpSpPr>
        <p:grpSpPr bwMode="auto">
          <a:xfrm>
            <a:off x="1044575" y="2348880"/>
            <a:ext cx="2951163" cy="1728788"/>
            <a:chOff x="703" y="1291"/>
            <a:chExt cx="1859" cy="1089"/>
          </a:xfrm>
        </p:grpSpPr>
        <p:sp>
          <p:nvSpPr>
            <p:cNvPr id="251059" name="Text Box 179"/>
            <p:cNvSpPr txBox="1">
              <a:spLocks noChangeArrowheads="1"/>
            </p:cNvSpPr>
            <p:nvPr/>
          </p:nvSpPr>
          <p:spPr bwMode="auto">
            <a:xfrm>
              <a:off x="703" y="1571"/>
              <a:ext cx="363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>
                  <a:latin typeface="宋体" panose="02010600030101010101" pitchFamily="2" charset="-122"/>
                </a:rPr>
                <a:t>地址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51060" name="Rectangle 180"/>
            <p:cNvSpPr>
              <a:spLocks noChangeArrowheads="1"/>
            </p:cNvSpPr>
            <p:nvPr/>
          </p:nvSpPr>
          <p:spPr bwMode="auto">
            <a:xfrm>
              <a:off x="1292" y="1291"/>
              <a:ext cx="1270" cy="1089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061" name="Line 181"/>
            <p:cNvSpPr>
              <a:spLocks noChangeShapeType="1"/>
            </p:cNvSpPr>
            <p:nvPr/>
          </p:nvSpPr>
          <p:spPr bwMode="auto">
            <a:xfrm>
              <a:off x="1656" y="1381"/>
              <a:ext cx="181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62" name="Text Box 182"/>
            <p:cNvSpPr txBox="1">
              <a:spLocks noChangeArrowheads="1"/>
            </p:cNvSpPr>
            <p:nvPr/>
          </p:nvSpPr>
          <p:spPr bwMode="auto">
            <a:xfrm>
              <a:off x="1701" y="1458"/>
              <a:ext cx="182" cy="408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CC3300"/>
                  </a:solidFill>
                </a:rPr>
                <a:t>……</a:t>
              </a:r>
              <a:endParaRPr lang="en-US" altLang="zh-CN" sz="1800" b="1" dirty="0">
                <a:solidFill>
                  <a:srgbClr val="CC3300"/>
                </a:solidFill>
              </a:endParaRPr>
            </a:p>
          </p:txBody>
        </p:sp>
        <p:sp>
          <p:nvSpPr>
            <p:cNvPr id="251063" name="Text Box 183"/>
            <p:cNvSpPr txBox="1">
              <a:spLocks noChangeArrowheads="1"/>
            </p:cNvSpPr>
            <p:nvPr/>
          </p:nvSpPr>
          <p:spPr bwMode="auto">
            <a:xfrm>
              <a:off x="1837" y="1336"/>
              <a:ext cx="635" cy="680"/>
            </a:xfrm>
            <a:prstGeom prst="rect">
              <a:avLst/>
            </a:prstGeom>
            <a:solidFill>
              <a:srgbClr val="99CCFF">
                <a:alpha val="9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存储</a:t>
              </a:r>
              <a:endParaRPr lang="zh-CN" altLang="en-US" sz="18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矩阵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51064" name="Text Box 184"/>
            <p:cNvSpPr txBox="1">
              <a:spLocks noChangeArrowheads="1"/>
            </p:cNvSpPr>
            <p:nvPr/>
          </p:nvSpPr>
          <p:spPr bwMode="auto">
            <a:xfrm>
              <a:off x="1837" y="2161"/>
              <a:ext cx="635" cy="1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>
                  <a:latin typeface="宋体" panose="02010600030101010101" pitchFamily="2" charset="-122"/>
                </a:rPr>
                <a:t>I/O</a:t>
              </a:r>
              <a:r>
                <a:rPr lang="zh-CN" altLang="en-US" sz="1800" b="1">
                  <a:latin typeface="宋体" panose="02010600030101010101" pitchFamily="2" charset="-122"/>
                </a:rPr>
                <a:t>电路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51065" name="Text Box 185"/>
            <p:cNvSpPr txBox="1">
              <a:spLocks noChangeArrowheads="1"/>
            </p:cNvSpPr>
            <p:nvPr/>
          </p:nvSpPr>
          <p:spPr bwMode="auto">
            <a:xfrm>
              <a:off x="1429" y="1336"/>
              <a:ext cx="226" cy="77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地址译码器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51066" name="Line 186"/>
            <p:cNvSpPr>
              <a:spLocks noChangeShapeType="1"/>
            </p:cNvSpPr>
            <p:nvPr/>
          </p:nvSpPr>
          <p:spPr bwMode="auto">
            <a:xfrm>
              <a:off x="1656" y="1472"/>
              <a:ext cx="181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67" name="Line 187"/>
            <p:cNvSpPr>
              <a:spLocks noChangeShapeType="1"/>
            </p:cNvSpPr>
            <p:nvPr/>
          </p:nvSpPr>
          <p:spPr bwMode="auto">
            <a:xfrm>
              <a:off x="1656" y="1933"/>
              <a:ext cx="181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68" name="Line 188"/>
            <p:cNvSpPr>
              <a:spLocks noChangeShapeType="1"/>
            </p:cNvSpPr>
            <p:nvPr/>
          </p:nvSpPr>
          <p:spPr bwMode="auto">
            <a:xfrm>
              <a:off x="1066" y="1661"/>
              <a:ext cx="363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69" name="Line 189"/>
            <p:cNvSpPr>
              <a:spLocks noChangeShapeType="1"/>
            </p:cNvSpPr>
            <p:nvPr/>
          </p:nvSpPr>
          <p:spPr bwMode="auto">
            <a:xfrm flipH="1">
              <a:off x="1882" y="2025"/>
              <a:ext cx="0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0" name="Line 190"/>
            <p:cNvSpPr>
              <a:spLocks noChangeShapeType="1"/>
            </p:cNvSpPr>
            <p:nvPr/>
          </p:nvSpPr>
          <p:spPr bwMode="auto">
            <a:xfrm flipH="1">
              <a:off x="1972" y="2025"/>
              <a:ext cx="0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1" name="Line 191"/>
            <p:cNvSpPr>
              <a:spLocks noChangeShapeType="1"/>
            </p:cNvSpPr>
            <p:nvPr/>
          </p:nvSpPr>
          <p:spPr bwMode="auto">
            <a:xfrm flipH="1">
              <a:off x="2426" y="2025"/>
              <a:ext cx="0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2" name="Text Box 192"/>
            <p:cNvSpPr txBox="1">
              <a:spLocks noChangeArrowheads="1"/>
            </p:cNvSpPr>
            <p:nvPr/>
          </p:nvSpPr>
          <p:spPr bwMode="auto">
            <a:xfrm>
              <a:off x="1972" y="1980"/>
              <a:ext cx="454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accent2"/>
                  </a:solidFill>
                </a:rPr>
                <a:t>……</a:t>
              </a:r>
              <a:endParaRPr lang="en-US" altLang="zh-CN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251073" name="Line 193"/>
            <p:cNvSpPr>
              <a:spLocks noChangeShapeType="1"/>
            </p:cNvSpPr>
            <p:nvPr/>
          </p:nvSpPr>
          <p:spPr bwMode="auto">
            <a:xfrm flipV="1">
              <a:off x="1066" y="2296"/>
              <a:ext cx="771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4" name="Line 194"/>
            <p:cNvSpPr>
              <a:spLocks noChangeShapeType="1"/>
            </p:cNvSpPr>
            <p:nvPr/>
          </p:nvSpPr>
          <p:spPr bwMode="auto">
            <a:xfrm>
              <a:off x="1383" y="2205"/>
              <a:ext cx="454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5" name="Line 195"/>
            <p:cNvSpPr>
              <a:spLocks noChangeShapeType="1"/>
            </p:cNvSpPr>
            <p:nvPr/>
          </p:nvSpPr>
          <p:spPr bwMode="auto">
            <a:xfrm flipH="1">
              <a:off x="1383" y="2069"/>
              <a:ext cx="0" cy="13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6" name="Text Box 196"/>
            <p:cNvSpPr txBox="1">
              <a:spLocks noChangeArrowheads="1"/>
            </p:cNvSpPr>
            <p:nvPr/>
          </p:nvSpPr>
          <p:spPr bwMode="auto">
            <a:xfrm>
              <a:off x="703" y="2206"/>
              <a:ext cx="363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>
                  <a:latin typeface="宋体" panose="02010600030101010101" pitchFamily="2" charset="-122"/>
                </a:rPr>
                <a:t>数据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51077" name="Text Box 197"/>
            <p:cNvSpPr txBox="1">
              <a:spLocks noChangeArrowheads="1"/>
            </p:cNvSpPr>
            <p:nvPr/>
          </p:nvSpPr>
          <p:spPr bwMode="auto">
            <a:xfrm>
              <a:off x="703" y="1979"/>
              <a:ext cx="363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>
                  <a:latin typeface="宋体" panose="02010600030101010101" pitchFamily="2" charset="-122"/>
                </a:rPr>
                <a:t>命令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51078" name="Line 198"/>
            <p:cNvSpPr>
              <a:spLocks noChangeShapeType="1"/>
            </p:cNvSpPr>
            <p:nvPr/>
          </p:nvSpPr>
          <p:spPr bwMode="auto">
            <a:xfrm>
              <a:off x="1066" y="2069"/>
              <a:ext cx="317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9" name="Text Box 199"/>
            <p:cNvSpPr txBox="1">
              <a:spLocks noChangeArrowheads="1"/>
            </p:cNvSpPr>
            <p:nvPr/>
          </p:nvSpPr>
          <p:spPr bwMode="auto">
            <a:xfrm>
              <a:off x="1111" y="2115"/>
              <a:ext cx="181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i="1"/>
                <a:t>w</a:t>
              </a:r>
              <a:endParaRPr lang="en-US" altLang="zh-CN" sz="1800" b="1"/>
            </a:p>
          </p:txBody>
        </p:sp>
        <p:sp>
          <p:nvSpPr>
            <p:cNvPr id="251080" name="Line 200"/>
            <p:cNvSpPr>
              <a:spLocks noChangeShapeType="1"/>
            </p:cNvSpPr>
            <p:nvPr/>
          </p:nvSpPr>
          <p:spPr bwMode="auto">
            <a:xfrm flipH="1">
              <a:off x="1202" y="2251"/>
              <a:ext cx="45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81" name="Text Box 201"/>
            <p:cNvSpPr txBox="1">
              <a:spLocks noChangeArrowheads="1"/>
            </p:cNvSpPr>
            <p:nvPr/>
          </p:nvSpPr>
          <p:spPr bwMode="auto">
            <a:xfrm>
              <a:off x="1111" y="1480"/>
              <a:ext cx="181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i="1"/>
                <a:t>n</a:t>
              </a:r>
              <a:endParaRPr lang="en-US" altLang="zh-CN" sz="1800" b="1"/>
            </a:p>
          </p:txBody>
        </p:sp>
        <p:sp>
          <p:nvSpPr>
            <p:cNvPr id="251082" name="Line 202"/>
            <p:cNvSpPr>
              <a:spLocks noChangeShapeType="1"/>
            </p:cNvSpPr>
            <p:nvPr/>
          </p:nvSpPr>
          <p:spPr bwMode="auto">
            <a:xfrm flipH="1">
              <a:off x="1202" y="1616"/>
              <a:ext cx="45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300192" y="2793826"/>
            <a:ext cx="720080" cy="431726"/>
            <a:chOff x="6411941" y="2925142"/>
            <a:chExt cx="720080" cy="431726"/>
          </a:xfrm>
        </p:grpSpPr>
        <p:sp>
          <p:nvSpPr>
            <p:cNvPr id="251144" name="AutoShape 264"/>
            <p:cNvSpPr>
              <a:spLocks noChangeArrowheads="1"/>
            </p:cNvSpPr>
            <p:nvPr/>
          </p:nvSpPr>
          <p:spPr bwMode="auto">
            <a:xfrm>
              <a:off x="6411941" y="3214067"/>
              <a:ext cx="720080" cy="142801"/>
            </a:xfrm>
            <a:prstGeom prst="leftRightArrow">
              <a:avLst>
                <a:gd name="adj1" fmla="val 48889"/>
                <a:gd name="adj2" fmla="val 81563"/>
              </a:avLst>
            </a:prstGeom>
            <a:noFill/>
            <a:ln w="15875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145" name="Text Box 265"/>
            <p:cNvSpPr txBox="1">
              <a:spLocks noChangeArrowheads="1"/>
            </p:cNvSpPr>
            <p:nvPr/>
          </p:nvSpPr>
          <p:spPr bwMode="auto">
            <a:xfrm>
              <a:off x="6483950" y="2925142"/>
              <a:ext cx="576064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zh-CN" altLang="en-US" sz="1800" b="1" dirty="0">
                  <a:solidFill>
                    <a:srgbClr val="990099"/>
                  </a:solidFill>
                </a:rPr>
                <a:t>抽象</a:t>
              </a:r>
              <a:endParaRPr lang="zh-CN" altLang="en-US" sz="1800" b="1" dirty="0">
                <a:solidFill>
                  <a:srgbClr val="990099"/>
                </a:solidFill>
              </a:endParaRP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3635896" y="2277513"/>
            <a:ext cx="2554325" cy="1799381"/>
            <a:chOff x="3565179" y="2242778"/>
            <a:chExt cx="2554325" cy="1799381"/>
          </a:xfrm>
        </p:grpSpPr>
        <p:sp>
          <p:nvSpPr>
            <p:cNvPr id="145" name="AutoShape 204"/>
            <p:cNvSpPr>
              <a:spLocks noChangeArrowheads="1"/>
            </p:cNvSpPr>
            <p:nvPr/>
          </p:nvSpPr>
          <p:spPr bwMode="auto">
            <a:xfrm>
              <a:off x="3565179" y="2903554"/>
              <a:ext cx="720726" cy="144462"/>
            </a:xfrm>
            <a:prstGeom prst="leftRightArrow">
              <a:avLst>
                <a:gd name="adj1" fmla="val 48889"/>
                <a:gd name="adj2" fmla="val 80444"/>
              </a:avLst>
            </a:prstGeom>
            <a:noFill/>
            <a:ln w="15875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Rectangle 206"/>
            <p:cNvSpPr>
              <a:spLocks noChangeArrowheads="1"/>
            </p:cNvSpPr>
            <p:nvPr/>
          </p:nvSpPr>
          <p:spPr bwMode="auto">
            <a:xfrm>
              <a:off x="4787901" y="2470166"/>
              <a:ext cx="1225550" cy="122396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Rectangle 207"/>
            <p:cNvSpPr>
              <a:spLocks noChangeArrowheads="1"/>
            </p:cNvSpPr>
            <p:nvPr/>
          </p:nvSpPr>
          <p:spPr bwMode="auto">
            <a:xfrm>
              <a:off x="4860926" y="2614629"/>
              <a:ext cx="142875" cy="142875"/>
            </a:xfrm>
            <a:prstGeom prst="rect">
              <a:avLst/>
            </a:prstGeom>
            <a:solidFill>
              <a:srgbClr val="99330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Rectangle 208"/>
            <p:cNvSpPr>
              <a:spLocks noChangeArrowheads="1"/>
            </p:cNvSpPr>
            <p:nvPr/>
          </p:nvSpPr>
          <p:spPr bwMode="auto">
            <a:xfrm>
              <a:off x="5430845" y="2614629"/>
              <a:ext cx="142875" cy="142875"/>
            </a:xfrm>
            <a:prstGeom prst="rect">
              <a:avLst/>
            </a:prstGeom>
            <a:solidFill>
              <a:srgbClr val="99330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Rectangle 209"/>
            <p:cNvSpPr>
              <a:spLocks noChangeArrowheads="1"/>
            </p:cNvSpPr>
            <p:nvPr/>
          </p:nvSpPr>
          <p:spPr bwMode="auto">
            <a:xfrm>
              <a:off x="5724526" y="2614629"/>
              <a:ext cx="142875" cy="142875"/>
            </a:xfrm>
            <a:prstGeom prst="rect">
              <a:avLst/>
            </a:prstGeom>
            <a:solidFill>
              <a:srgbClr val="99330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210"/>
            <p:cNvSpPr>
              <a:spLocks noChangeShapeType="1"/>
            </p:cNvSpPr>
            <p:nvPr/>
          </p:nvSpPr>
          <p:spPr bwMode="auto">
            <a:xfrm>
              <a:off x="4716463" y="2543191"/>
              <a:ext cx="1081088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211"/>
            <p:cNvSpPr>
              <a:spLocks noChangeShapeType="1"/>
            </p:cNvSpPr>
            <p:nvPr/>
          </p:nvSpPr>
          <p:spPr bwMode="auto">
            <a:xfrm>
              <a:off x="5076826" y="2686066"/>
              <a:ext cx="0" cy="108108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212"/>
            <p:cNvSpPr>
              <a:spLocks noChangeShapeType="1"/>
            </p:cNvSpPr>
            <p:nvPr/>
          </p:nvSpPr>
          <p:spPr bwMode="auto">
            <a:xfrm>
              <a:off x="5003801" y="2686066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213"/>
            <p:cNvSpPr>
              <a:spLocks noChangeShapeType="1"/>
            </p:cNvSpPr>
            <p:nvPr/>
          </p:nvSpPr>
          <p:spPr bwMode="auto">
            <a:xfrm>
              <a:off x="5646745" y="2686066"/>
              <a:ext cx="0" cy="108108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214"/>
            <p:cNvSpPr>
              <a:spLocks noChangeShapeType="1"/>
            </p:cNvSpPr>
            <p:nvPr/>
          </p:nvSpPr>
          <p:spPr bwMode="auto">
            <a:xfrm>
              <a:off x="5572132" y="2686066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215"/>
            <p:cNvSpPr>
              <a:spLocks noChangeShapeType="1"/>
            </p:cNvSpPr>
            <p:nvPr/>
          </p:nvSpPr>
          <p:spPr bwMode="auto">
            <a:xfrm>
              <a:off x="5942013" y="2686066"/>
              <a:ext cx="0" cy="108108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216"/>
            <p:cNvSpPr>
              <a:spLocks noChangeShapeType="1"/>
            </p:cNvSpPr>
            <p:nvPr/>
          </p:nvSpPr>
          <p:spPr bwMode="auto">
            <a:xfrm>
              <a:off x="5867401" y="2686066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217"/>
            <p:cNvSpPr>
              <a:spLocks noChangeShapeType="1"/>
            </p:cNvSpPr>
            <p:nvPr/>
          </p:nvSpPr>
          <p:spPr bwMode="auto">
            <a:xfrm>
              <a:off x="5795963" y="2541604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218"/>
            <p:cNvSpPr>
              <a:spLocks noChangeShapeType="1"/>
            </p:cNvSpPr>
            <p:nvPr/>
          </p:nvSpPr>
          <p:spPr bwMode="auto">
            <a:xfrm>
              <a:off x="5500695" y="2541604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219"/>
            <p:cNvSpPr>
              <a:spLocks noChangeShapeType="1"/>
            </p:cNvSpPr>
            <p:nvPr/>
          </p:nvSpPr>
          <p:spPr bwMode="auto">
            <a:xfrm>
              <a:off x="4932363" y="2541604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Text Box 220"/>
            <p:cNvSpPr txBox="1">
              <a:spLocks noChangeArrowheads="1"/>
            </p:cNvSpPr>
            <p:nvPr/>
          </p:nvSpPr>
          <p:spPr bwMode="auto">
            <a:xfrm>
              <a:off x="5141918" y="2541604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sp>
          <p:nvSpPr>
            <p:cNvPr id="161" name="Rectangle 221"/>
            <p:cNvSpPr>
              <a:spLocks noChangeArrowheads="1"/>
            </p:cNvSpPr>
            <p:nvPr/>
          </p:nvSpPr>
          <p:spPr bwMode="auto">
            <a:xfrm>
              <a:off x="4860926" y="2903554"/>
              <a:ext cx="142875" cy="142875"/>
            </a:xfrm>
            <a:prstGeom prst="rect">
              <a:avLst/>
            </a:prstGeom>
            <a:solidFill>
              <a:srgbClr val="99330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Rectangle 222"/>
            <p:cNvSpPr>
              <a:spLocks noChangeArrowheads="1"/>
            </p:cNvSpPr>
            <p:nvPr/>
          </p:nvSpPr>
          <p:spPr bwMode="auto">
            <a:xfrm>
              <a:off x="5430845" y="2903554"/>
              <a:ext cx="142875" cy="142875"/>
            </a:xfrm>
            <a:prstGeom prst="rect">
              <a:avLst/>
            </a:prstGeom>
            <a:solidFill>
              <a:srgbClr val="99330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" name="Rectangle 223"/>
            <p:cNvSpPr>
              <a:spLocks noChangeArrowheads="1"/>
            </p:cNvSpPr>
            <p:nvPr/>
          </p:nvSpPr>
          <p:spPr bwMode="auto">
            <a:xfrm>
              <a:off x="5724526" y="2903554"/>
              <a:ext cx="142875" cy="142875"/>
            </a:xfrm>
            <a:prstGeom prst="rect">
              <a:avLst/>
            </a:prstGeom>
            <a:solidFill>
              <a:srgbClr val="99330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Line 224"/>
            <p:cNvSpPr>
              <a:spLocks noChangeShapeType="1"/>
            </p:cNvSpPr>
            <p:nvPr/>
          </p:nvSpPr>
          <p:spPr bwMode="auto">
            <a:xfrm flipV="1">
              <a:off x="4716463" y="2832116"/>
              <a:ext cx="1081088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225"/>
            <p:cNvSpPr>
              <a:spLocks noChangeShapeType="1"/>
            </p:cNvSpPr>
            <p:nvPr/>
          </p:nvSpPr>
          <p:spPr bwMode="auto">
            <a:xfrm>
              <a:off x="5003801" y="2974991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226"/>
            <p:cNvSpPr>
              <a:spLocks noChangeShapeType="1"/>
            </p:cNvSpPr>
            <p:nvPr/>
          </p:nvSpPr>
          <p:spPr bwMode="auto">
            <a:xfrm>
              <a:off x="5572132" y="2974991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227"/>
            <p:cNvSpPr>
              <a:spLocks noChangeShapeType="1"/>
            </p:cNvSpPr>
            <p:nvPr/>
          </p:nvSpPr>
          <p:spPr bwMode="auto">
            <a:xfrm>
              <a:off x="5867401" y="2974991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228"/>
            <p:cNvSpPr>
              <a:spLocks noChangeShapeType="1"/>
            </p:cNvSpPr>
            <p:nvPr/>
          </p:nvSpPr>
          <p:spPr bwMode="auto">
            <a:xfrm>
              <a:off x="5795963" y="2830529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229"/>
            <p:cNvSpPr>
              <a:spLocks noChangeShapeType="1"/>
            </p:cNvSpPr>
            <p:nvPr/>
          </p:nvSpPr>
          <p:spPr bwMode="auto">
            <a:xfrm>
              <a:off x="5500695" y="2830529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230"/>
            <p:cNvSpPr>
              <a:spLocks noChangeShapeType="1"/>
            </p:cNvSpPr>
            <p:nvPr/>
          </p:nvSpPr>
          <p:spPr bwMode="auto">
            <a:xfrm>
              <a:off x="4932363" y="2830529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Text Box 231"/>
            <p:cNvSpPr txBox="1">
              <a:spLocks noChangeArrowheads="1"/>
            </p:cNvSpPr>
            <p:nvPr/>
          </p:nvSpPr>
          <p:spPr bwMode="auto">
            <a:xfrm>
              <a:off x="5141918" y="2830529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  <a:endParaRPr lang="en-US" altLang="zh-CN" sz="1800" b="1"/>
            </a:p>
          </p:txBody>
        </p:sp>
        <p:sp>
          <p:nvSpPr>
            <p:cNvPr id="172" name="Rectangle 232"/>
            <p:cNvSpPr>
              <a:spLocks noChangeArrowheads="1"/>
            </p:cNvSpPr>
            <p:nvPr/>
          </p:nvSpPr>
          <p:spPr bwMode="auto">
            <a:xfrm>
              <a:off x="4860926" y="3479816"/>
              <a:ext cx="142875" cy="142875"/>
            </a:xfrm>
            <a:prstGeom prst="rect">
              <a:avLst/>
            </a:prstGeom>
            <a:solidFill>
              <a:srgbClr val="99330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" name="Rectangle 233"/>
            <p:cNvSpPr>
              <a:spLocks noChangeArrowheads="1"/>
            </p:cNvSpPr>
            <p:nvPr/>
          </p:nvSpPr>
          <p:spPr bwMode="auto">
            <a:xfrm>
              <a:off x="5430845" y="3479816"/>
              <a:ext cx="142875" cy="142875"/>
            </a:xfrm>
            <a:prstGeom prst="rect">
              <a:avLst/>
            </a:prstGeom>
            <a:solidFill>
              <a:srgbClr val="99330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" name="Rectangle 234"/>
            <p:cNvSpPr>
              <a:spLocks noChangeArrowheads="1"/>
            </p:cNvSpPr>
            <p:nvPr/>
          </p:nvSpPr>
          <p:spPr bwMode="auto">
            <a:xfrm>
              <a:off x="5724526" y="3479816"/>
              <a:ext cx="142875" cy="142875"/>
            </a:xfrm>
            <a:prstGeom prst="rect">
              <a:avLst/>
            </a:prstGeom>
            <a:solidFill>
              <a:srgbClr val="99330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Line 235"/>
            <p:cNvSpPr>
              <a:spLocks noChangeShapeType="1"/>
            </p:cNvSpPr>
            <p:nvPr/>
          </p:nvSpPr>
          <p:spPr bwMode="auto">
            <a:xfrm flipV="1">
              <a:off x="4716463" y="3408379"/>
              <a:ext cx="1081088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236"/>
            <p:cNvSpPr>
              <a:spLocks noChangeShapeType="1"/>
            </p:cNvSpPr>
            <p:nvPr/>
          </p:nvSpPr>
          <p:spPr bwMode="auto">
            <a:xfrm>
              <a:off x="5003801" y="3551254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237"/>
            <p:cNvSpPr>
              <a:spLocks noChangeShapeType="1"/>
            </p:cNvSpPr>
            <p:nvPr/>
          </p:nvSpPr>
          <p:spPr bwMode="auto">
            <a:xfrm>
              <a:off x="5572132" y="3551254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238"/>
            <p:cNvSpPr>
              <a:spLocks noChangeShapeType="1"/>
            </p:cNvSpPr>
            <p:nvPr/>
          </p:nvSpPr>
          <p:spPr bwMode="auto">
            <a:xfrm>
              <a:off x="5867401" y="3551254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239"/>
            <p:cNvSpPr>
              <a:spLocks noChangeShapeType="1"/>
            </p:cNvSpPr>
            <p:nvPr/>
          </p:nvSpPr>
          <p:spPr bwMode="auto">
            <a:xfrm>
              <a:off x="5795963" y="3406791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240"/>
            <p:cNvSpPr>
              <a:spLocks noChangeShapeType="1"/>
            </p:cNvSpPr>
            <p:nvPr/>
          </p:nvSpPr>
          <p:spPr bwMode="auto">
            <a:xfrm>
              <a:off x="5500695" y="3406791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241"/>
            <p:cNvSpPr>
              <a:spLocks noChangeShapeType="1"/>
            </p:cNvSpPr>
            <p:nvPr/>
          </p:nvSpPr>
          <p:spPr bwMode="auto">
            <a:xfrm>
              <a:off x="4932363" y="3406791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Text Box 242"/>
            <p:cNvSpPr txBox="1">
              <a:spLocks noChangeArrowheads="1"/>
            </p:cNvSpPr>
            <p:nvPr/>
          </p:nvSpPr>
          <p:spPr bwMode="auto">
            <a:xfrm>
              <a:off x="5141918" y="3406791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  <a:endParaRPr lang="en-US" altLang="zh-CN" sz="1800" b="1"/>
            </a:p>
          </p:txBody>
        </p:sp>
        <p:sp>
          <p:nvSpPr>
            <p:cNvPr id="183" name="Text Box 243"/>
            <p:cNvSpPr txBox="1">
              <a:spLocks noChangeArrowheads="1"/>
            </p:cNvSpPr>
            <p:nvPr/>
          </p:nvSpPr>
          <p:spPr bwMode="auto">
            <a:xfrm>
              <a:off x="5724526" y="3117866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sp>
          <p:nvSpPr>
            <p:cNvPr id="184" name="Text Box 244"/>
            <p:cNvSpPr txBox="1">
              <a:spLocks noChangeArrowheads="1"/>
            </p:cNvSpPr>
            <p:nvPr/>
          </p:nvSpPr>
          <p:spPr bwMode="auto">
            <a:xfrm>
              <a:off x="5427670" y="3117866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  <a:endParaRPr lang="en-US" altLang="zh-CN" sz="1800" b="1"/>
            </a:p>
          </p:txBody>
        </p:sp>
        <p:sp>
          <p:nvSpPr>
            <p:cNvPr id="185" name="Text Box 245"/>
            <p:cNvSpPr txBox="1">
              <a:spLocks noChangeArrowheads="1"/>
            </p:cNvSpPr>
            <p:nvPr/>
          </p:nvSpPr>
          <p:spPr bwMode="auto">
            <a:xfrm>
              <a:off x="4859338" y="3117866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  <a:endParaRPr lang="en-US" altLang="zh-CN" sz="1800" b="1"/>
            </a:p>
          </p:txBody>
        </p:sp>
        <p:sp>
          <p:nvSpPr>
            <p:cNvPr id="186" name="Text Box 246"/>
            <p:cNvSpPr txBox="1">
              <a:spLocks noChangeArrowheads="1"/>
            </p:cNvSpPr>
            <p:nvPr/>
          </p:nvSpPr>
          <p:spPr bwMode="auto">
            <a:xfrm>
              <a:off x="4213251" y="2397141"/>
              <a:ext cx="504800" cy="122713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i="1" dirty="0" smtClean="0"/>
                <a:t>2</a:t>
              </a:r>
              <a:r>
                <a:rPr lang="en-US" altLang="zh-CN" sz="1600" b="1" i="1" baseline="30000" dirty="0" smtClean="0"/>
                <a:t>n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-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7" name="Text Box 247"/>
            <p:cNvSpPr txBox="1">
              <a:spLocks noChangeArrowheads="1"/>
            </p:cNvSpPr>
            <p:nvPr/>
          </p:nvSpPr>
          <p:spPr bwMode="auto">
            <a:xfrm>
              <a:off x="4714876" y="2242778"/>
              <a:ext cx="1225550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i="1" dirty="0" smtClean="0"/>
                <a:t>w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-1</a:t>
              </a:r>
              <a:r>
                <a:rPr lang="en-US" altLang="zh-CN" sz="800" b="1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…</a:t>
              </a:r>
              <a:r>
                <a:rPr lang="en-US" altLang="zh-CN" sz="900" b="1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 </a:t>
              </a:r>
              <a:r>
                <a:rPr lang="en-US" altLang="zh-CN" sz="800" b="1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248"/>
            <p:cNvSpPr txBox="1">
              <a:spLocks noChangeArrowheads="1"/>
            </p:cNvSpPr>
            <p:nvPr/>
          </p:nvSpPr>
          <p:spPr bwMode="auto">
            <a:xfrm>
              <a:off x="4357267" y="2974917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sp>
          <p:nvSpPr>
            <p:cNvPr id="189" name="Text Box 267"/>
            <p:cNvSpPr txBox="1">
              <a:spLocks noChangeArrowheads="1"/>
            </p:cNvSpPr>
            <p:nvPr/>
          </p:nvSpPr>
          <p:spPr bwMode="auto">
            <a:xfrm>
              <a:off x="4573291" y="3754822"/>
              <a:ext cx="1546213" cy="28733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示例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: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一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维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排列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916766" y="2204864"/>
            <a:ext cx="1846938" cy="1743075"/>
            <a:chOff x="6916766" y="2336180"/>
            <a:chExt cx="1846938" cy="1743075"/>
          </a:xfrm>
        </p:grpSpPr>
        <p:grpSp>
          <p:nvGrpSpPr>
            <p:cNvPr id="251130" name="Group 250"/>
            <p:cNvGrpSpPr/>
            <p:nvPr/>
          </p:nvGrpSpPr>
          <p:grpSpPr bwMode="auto">
            <a:xfrm>
              <a:off x="6916766" y="2336180"/>
              <a:ext cx="1727200" cy="1743075"/>
              <a:chOff x="4241" y="1154"/>
              <a:chExt cx="1088" cy="1098"/>
            </a:xfrm>
          </p:grpSpPr>
          <p:sp>
            <p:nvSpPr>
              <p:cNvPr id="251131" name="Rectangle 251"/>
              <p:cNvSpPr>
                <a:spLocks noChangeArrowheads="1"/>
              </p:cNvSpPr>
              <p:nvPr/>
            </p:nvSpPr>
            <p:spPr bwMode="auto">
              <a:xfrm>
                <a:off x="4603" y="1390"/>
                <a:ext cx="725" cy="862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1132" name="Line 252"/>
              <p:cNvSpPr>
                <a:spLocks noChangeShapeType="1"/>
              </p:cNvSpPr>
              <p:nvPr/>
            </p:nvSpPr>
            <p:spPr bwMode="auto">
              <a:xfrm>
                <a:off x="4603" y="1571"/>
                <a:ext cx="7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1133" name="Line 253"/>
              <p:cNvSpPr>
                <a:spLocks noChangeShapeType="1"/>
              </p:cNvSpPr>
              <p:nvPr/>
            </p:nvSpPr>
            <p:spPr bwMode="auto">
              <a:xfrm>
                <a:off x="4603" y="1753"/>
                <a:ext cx="7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1134" name="Line 254"/>
              <p:cNvSpPr>
                <a:spLocks noChangeShapeType="1"/>
              </p:cNvSpPr>
              <p:nvPr/>
            </p:nvSpPr>
            <p:spPr bwMode="auto">
              <a:xfrm>
                <a:off x="4603" y="2070"/>
                <a:ext cx="7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1136" name="Text Box 256"/>
              <p:cNvSpPr txBox="1">
                <a:spLocks noChangeArrowheads="1"/>
              </p:cNvSpPr>
              <p:nvPr/>
            </p:nvSpPr>
            <p:spPr bwMode="auto">
              <a:xfrm>
                <a:off x="4241" y="1389"/>
                <a:ext cx="362" cy="86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5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0</a:t>
                </a:r>
                <a:endParaRPr lang="en-US" altLang="zh-CN" sz="1800" b="1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5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1</a:t>
                </a:r>
                <a:endParaRPr lang="en-US" altLang="zh-CN" sz="1800" b="1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7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…</a:t>
                </a:r>
                <a:endParaRPr lang="en-US" altLang="zh-CN" sz="1800" b="1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15000"/>
                  </a:lnSpc>
                  <a:spcBef>
                    <a:spcPts val="600"/>
                  </a:spcBef>
                </a:pPr>
                <a:r>
                  <a:rPr lang="en-US" altLang="zh-CN" sz="1800" b="1" i="1" dirty="0" smtClean="0"/>
                  <a:t>2</a:t>
                </a:r>
                <a:r>
                  <a:rPr lang="en-US" altLang="zh-CN" sz="1800" b="1" i="1" baseline="30000" dirty="0" smtClean="0"/>
                  <a:t>n 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-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1</a:t>
                </a:r>
                <a:endParaRPr lang="en-US" altLang="zh-CN" sz="1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51137" name="Text Box 257"/>
              <p:cNvSpPr txBox="1">
                <a:spLocks noChangeArrowheads="1"/>
              </p:cNvSpPr>
              <p:nvPr/>
            </p:nvSpPr>
            <p:spPr bwMode="auto">
              <a:xfrm>
                <a:off x="4829" y="1799"/>
                <a:ext cx="318" cy="27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vert="eaVert" lIns="18000" tIns="10800" rIns="18000" bIns="10800"/>
              <a:lstStyle/>
              <a:p>
                <a:r>
                  <a:rPr lang="en-US" altLang="zh-CN" b="1"/>
                  <a:t>…</a:t>
                </a:r>
                <a:endParaRPr lang="en-US" altLang="zh-CN" b="1" baseline="-20000"/>
              </a:p>
            </p:txBody>
          </p:sp>
          <p:sp>
            <p:nvSpPr>
              <p:cNvPr id="251138" name="Line 258"/>
              <p:cNvSpPr>
                <a:spLocks noChangeShapeType="1"/>
              </p:cNvSpPr>
              <p:nvPr/>
            </p:nvSpPr>
            <p:spPr bwMode="auto">
              <a:xfrm>
                <a:off x="5147" y="1390"/>
                <a:ext cx="1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1139" name="Line 259"/>
              <p:cNvSpPr>
                <a:spLocks noChangeShapeType="1"/>
              </p:cNvSpPr>
              <p:nvPr/>
            </p:nvSpPr>
            <p:spPr bwMode="auto">
              <a:xfrm>
                <a:off x="4785" y="1390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1140" name="Text Box 260"/>
              <p:cNvSpPr txBox="1">
                <a:spLocks noChangeArrowheads="1"/>
              </p:cNvSpPr>
              <p:nvPr/>
            </p:nvSpPr>
            <p:spPr bwMode="auto">
              <a:xfrm>
                <a:off x="4875" y="1390"/>
                <a:ext cx="227" cy="1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en-US" altLang="zh-CN" sz="1800" b="1">
                    <a:latin typeface="宋体" panose="02010600030101010101" pitchFamily="2" charset="-122"/>
                  </a:rPr>
                  <a:t>…</a:t>
                </a:r>
                <a:endParaRPr lang="en-US" altLang="zh-CN" sz="1800" b="1" baseline="-20000">
                  <a:latin typeface="宋体" panose="02010600030101010101" pitchFamily="2" charset="-122"/>
                </a:endParaRPr>
              </a:p>
            </p:txBody>
          </p:sp>
          <p:sp>
            <p:nvSpPr>
              <p:cNvPr id="251141" name="Text Box 261"/>
              <p:cNvSpPr txBox="1">
                <a:spLocks noChangeArrowheads="1"/>
              </p:cNvSpPr>
              <p:nvPr/>
            </p:nvSpPr>
            <p:spPr bwMode="auto">
              <a:xfrm>
                <a:off x="4558" y="1154"/>
                <a:ext cx="771" cy="18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/>
                <a:r>
                  <a:rPr lang="en-US" altLang="zh-CN" sz="1600" b="1" i="1" dirty="0" smtClean="0"/>
                  <a:t>w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个存储元</a:t>
                </a:r>
                <a:endParaRPr lang="en-US" altLang="zh-CN" sz="1600" b="1" i="1" baseline="-20000" dirty="0"/>
              </a:p>
            </p:txBody>
          </p:sp>
          <p:sp>
            <p:nvSpPr>
              <p:cNvPr id="251142" name="AutoShape 262"/>
              <p:cNvSpPr/>
              <p:nvPr/>
            </p:nvSpPr>
            <p:spPr bwMode="auto">
              <a:xfrm rot="5400000">
                <a:off x="4943" y="983"/>
                <a:ext cx="46" cy="725"/>
              </a:xfrm>
              <a:prstGeom prst="leftBrace">
                <a:avLst>
                  <a:gd name="adj1" fmla="val 131341"/>
                  <a:gd name="adj2" fmla="val 50000"/>
                </a:avLst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1143" name="Text Box 263"/>
              <p:cNvSpPr txBox="1">
                <a:spLocks noChangeArrowheads="1"/>
              </p:cNvSpPr>
              <p:nvPr/>
            </p:nvSpPr>
            <p:spPr bwMode="auto">
              <a:xfrm>
                <a:off x="4669" y="2088"/>
                <a:ext cx="635" cy="13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zh-CN" altLang="en-US" sz="1600" b="1" dirty="0" smtClean="0">
                    <a:latin typeface="宋体" panose="02010600030101010101" pitchFamily="2" charset="-122"/>
                  </a:rPr>
                  <a:t>存储单元</a:t>
                </a:r>
                <a:endParaRPr lang="zh-CN" altLang="en-US" sz="1600" b="1" baseline="-20000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2" name="右大括号 1"/>
            <p:cNvSpPr/>
            <p:nvPr/>
          </p:nvSpPr>
          <p:spPr bwMode="auto">
            <a:xfrm>
              <a:off x="8675451" y="2733168"/>
              <a:ext cx="88253" cy="1332000"/>
            </a:xfrm>
            <a:prstGeom prst="rightBrace">
              <a:avLst>
                <a:gd name="adj1" fmla="val 53467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0" name="Text Box 16"/>
          <p:cNvSpPr txBox="1">
            <a:spLocks noChangeArrowheads="1"/>
          </p:cNvSpPr>
          <p:nvPr/>
        </p:nvSpPr>
        <p:spPr bwMode="auto">
          <a:xfrm>
            <a:off x="1043608" y="5805770"/>
            <a:ext cx="7776864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上图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RAM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的容量为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A. 2</a:t>
            </a:r>
            <a:r>
              <a:rPr lang="en-US" altLang="zh-CN" sz="1800" b="1" i="1" baseline="30000" dirty="0" smtClean="0"/>
              <a:t>n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×</a:t>
            </a:r>
            <a:r>
              <a:rPr lang="en-US" altLang="zh-CN" sz="1800" b="1" i="1" dirty="0" smtClean="0"/>
              <a:t>w</a:t>
            </a:r>
            <a:r>
              <a:rPr lang="zh-CN" altLang="en-US" sz="1800" b="1" dirty="0" smtClean="0"/>
              <a:t>位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B. 2</a:t>
            </a:r>
            <a:r>
              <a:rPr lang="en-US" altLang="zh-CN" sz="1800" b="1" i="1" baseline="30000" dirty="0" smtClean="0"/>
              <a:t>n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位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C. 2</a:t>
            </a:r>
            <a:r>
              <a:rPr lang="en-US" altLang="zh-CN" sz="1800" b="1" i="1" baseline="30000" dirty="0" smtClean="0"/>
              <a:t>n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×</a:t>
            </a:r>
            <a:r>
              <a:rPr lang="en-US" altLang="zh-CN" sz="1800" b="1" i="1" dirty="0" smtClean="0"/>
              <a:t>w</a:t>
            </a:r>
            <a:r>
              <a:rPr lang="zh-CN" altLang="en-US" sz="1800" b="1" dirty="0" smtClean="0"/>
              <a:t>字节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D. 2</a:t>
            </a:r>
            <a:r>
              <a:rPr lang="en-US" altLang="zh-CN" sz="1800" b="1" i="1" baseline="30000" dirty="0" smtClean="0"/>
              <a:t>n</a:t>
            </a:r>
            <a:r>
              <a:rPr lang="zh-CN" altLang="en-US" sz="1800" b="1" dirty="0">
                <a:latin typeface="宋体" panose="02010600030101010101" pitchFamily="2" charset="-122"/>
              </a:rPr>
              <a:t>字节</a:t>
            </a:r>
            <a:endParaRPr lang="en-US" altLang="zh-CN" sz="1800" dirty="0">
              <a:latin typeface="+mn-ea"/>
            </a:endParaRPr>
          </a:p>
        </p:txBody>
      </p:sp>
      <p:sp>
        <p:nvSpPr>
          <p:cNvPr id="99" name="Text Box 16"/>
          <p:cNvSpPr txBox="1">
            <a:spLocks noChangeArrowheads="1"/>
          </p:cNvSpPr>
          <p:nvPr/>
        </p:nvSpPr>
        <p:spPr bwMode="auto">
          <a:xfrm>
            <a:off x="6660515" y="4652645"/>
            <a:ext cx="2160000" cy="288290"/>
          </a:xfrm>
          <a:prstGeom prst="rect">
            <a:avLst/>
          </a:prstGeom>
          <a:noFill/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数电课程中概念混淆！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 flipH="1" flipV="1">
            <a:off x="3419217" y="1268859"/>
            <a:ext cx="216535" cy="65024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 advTm="16369"/>
    </mc:Choice>
    <mc:Fallback>
      <p:transition spd="slow" advTm="163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5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1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510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510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510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99" grpId="0"/>
      <p:bldP spid="251053" grpId="0"/>
      <p:bldP spid="100" grpId="0" bldLvl="0" animBg="1"/>
      <p:bldP spid="9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0847-F652-4986-B365-21999B7EB8FE}" type="slidenum">
              <a:rPr lang="en-US" altLang="zh-CN"/>
            </a:fld>
            <a:endParaRPr lang="en-US" altLang="zh-CN"/>
          </a:p>
        </p:txBody>
      </p:sp>
      <p:sp>
        <p:nvSpPr>
          <p:cNvPr id="252952" name="Text Box 24"/>
          <p:cNvSpPr txBox="1">
            <a:spLocks noChangeArrowheads="1"/>
          </p:cNvSpPr>
          <p:nvPr/>
        </p:nvSpPr>
        <p:spPr bwMode="auto">
          <a:xfrm>
            <a:off x="179388" y="332656"/>
            <a:ext cx="3243262" cy="41703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访问的实现过程：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读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操作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写操作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253148" name="Group 220"/>
          <p:cNvGrpSpPr/>
          <p:nvPr/>
        </p:nvGrpSpPr>
        <p:grpSpPr bwMode="auto">
          <a:xfrm>
            <a:off x="3420021" y="1349807"/>
            <a:ext cx="3024187" cy="2520950"/>
            <a:chOff x="1655" y="890"/>
            <a:chExt cx="1905" cy="1588"/>
          </a:xfrm>
        </p:grpSpPr>
        <p:sp>
          <p:nvSpPr>
            <p:cNvPr id="252972" name="Rectangle 44"/>
            <p:cNvSpPr>
              <a:spLocks noChangeArrowheads="1"/>
            </p:cNvSpPr>
            <p:nvPr/>
          </p:nvSpPr>
          <p:spPr bwMode="auto">
            <a:xfrm>
              <a:off x="1837" y="890"/>
              <a:ext cx="1723" cy="158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2980" name="Line 52"/>
            <p:cNvSpPr>
              <a:spLocks noChangeShapeType="1"/>
            </p:cNvSpPr>
            <p:nvPr/>
          </p:nvSpPr>
          <p:spPr bwMode="auto">
            <a:xfrm>
              <a:off x="1655" y="1344"/>
              <a:ext cx="318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990" name="Line 62"/>
            <p:cNvSpPr>
              <a:spLocks noChangeShapeType="1"/>
            </p:cNvSpPr>
            <p:nvPr/>
          </p:nvSpPr>
          <p:spPr bwMode="auto">
            <a:xfrm flipV="1">
              <a:off x="1656" y="2069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37" name="Line 109"/>
            <p:cNvSpPr>
              <a:spLocks noChangeShapeType="1"/>
            </p:cNvSpPr>
            <p:nvPr/>
          </p:nvSpPr>
          <p:spPr bwMode="auto">
            <a:xfrm>
              <a:off x="2199" y="1026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38" name="Text Box 110"/>
            <p:cNvSpPr txBox="1">
              <a:spLocks noChangeArrowheads="1"/>
            </p:cNvSpPr>
            <p:nvPr/>
          </p:nvSpPr>
          <p:spPr bwMode="auto">
            <a:xfrm>
              <a:off x="2245" y="1389"/>
              <a:ext cx="182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  <a:endParaRPr lang="en-US" altLang="zh-CN" sz="1800" b="1"/>
            </a:p>
          </p:txBody>
        </p:sp>
        <p:sp>
          <p:nvSpPr>
            <p:cNvPr id="253040" name="Text Box 112"/>
            <p:cNvSpPr txBox="1">
              <a:spLocks noChangeArrowheads="1"/>
            </p:cNvSpPr>
            <p:nvPr/>
          </p:nvSpPr>
          <p:spPr bwMode="auto">
            <a:xfrm>
              <a:off x="2426" y="2161"/>
              <a:ext cx="1044" cy="2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>
                  <a:latin typeface="宋体" panose="02010600030101010101" pitchFamily="2" charset="-122"/>
                </a:rPr>
                <a:t>I/O</a:t>
              </a:r>
              <a:r>
                <a:rPr lang="zh-CN" altLang="en-US" sz="1800" b="1">
                  <a:latin typeface="宋体" panose="02010600030101010101" pitchFamily="2" charset="-122"/>
                </a:rPr>
                <a:t>电路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53041" name="Text Box 113"/>
            <p:cNvSpPr txBox="1">
              <a:spLocks noChangeArrowheads="1"/>
            </p:cNvSpPr>
            <p:nvPr/>
          </p:nvSpPr>
          <p:spPr bwMode="auto">
            <a:xfrm>
              <a:off x="1972" y="981"/>
              <a:ext cx="226" cy="81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>
                  <a:latin typeface="宋体" panose="02010600030101010101" pitchFamily="2" charset="-122"/>
                </a:rPr>
                <a:t>地址译码器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53044" name="Line 116"/>
            <p:cNvSpPr>
              <a:spLocks noChangeShapeType="1"/>
            </p:cNvSpPr>
            <p:nvPr/>
          </p:nvSpPr>
          <p:spPr bwMode="auto">
            <a:xfrm>
              <a:off x="2607" y="1979"/>
              <a:ext cx="1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45" name="Line 117"/>
            <p:cNvSpPr>
              <a:spLocks noChangeShapeType="1"/>
            </p:cNvSpPr>
            <p:nvPr/>
          </p:nvSpPr>
          <p:spPr bwMode="auto">
            <a:xfrm>
              <a:off x="2879" y="1979"/>
              <a:ext cx="1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46" name="Line 118"/>
            <p:cNvSpPr>
              <a:spLocks noChangeShapeType="1"/>
            </p:cNvSpPr>
            <p:nvPr/>
          </p:nvSpPr>
          <p:spPr bwMode="auto">
            <a:xfrm flipH="1">
              <a:off x="3424" y="1979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48" name="Line 120"/>
            <p:cNvSpPr>
              <a:spLocks noChangeShapeType="1"/>
            </p:cNvSpPr>
            <p:nvPr/>
          </p:nvSpPr>
          <p:spPr bwMode="auto">
            <a:xfrm>
              <a:off x="2472" y="2069"/>
              <a:ext cx="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994" name="Rectangle 66"/>
            <p:cNvSpPr>
              <a:spLocks noChangeArrowheads="1"/>
            </p:cNvSpPr>
            <p:nvPr/>
          </p:nvSpPr>
          <p:spPr bwMode="auto">
            <a:xfrm>
              <a:off x="2381" y="981"/>
              <a:ext cx="1089" cy="99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2995" name="Rectangle 67"/>
            <p:cNvSpPr>
              <a:spLocks noChangeArrowheads="1"/>
            </p:cNvSpPr>
            <p:nvPr/>
          </p:nvSpPr>
          <p:spPr bwMode="auto">
            <a:xfrm>
              <a:off x="2426" y="1117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2996" name="Rectangle 68"/>
            <p:cNvSpPr>
              <a:spLocks noChangeArrowheads="1"/>
            </p:cNvSpPr>
            <p:nvPr/>
          </p:nvSpPr>
          <p:spPr bwMode="auto">
            <a:xfrm>
              <a:off x="2699" y="1117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2997" name="Rectangle 69"/>
            <p:cNvSpPr>
              <a:spLocks noChangeArrowheads="1"/>
            </p:cNvSpPr>
            <p:nvPr/>
          </p:nvSpPr>
          <p:spPr bwMode="auto">
            <a:xfrm>
              <a:off x="3242" y="1117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2998" name="Line 70"/>
            <p:cNvSpPr>
              <a:spLocks noChangeShapeType="1"/>
            </p:cNvSpPr>
            <p:nvPr/>
          </p:nvSpPr>
          <p:spPr bwMode="auto">
            <a:xfrm flipV="1">
              <a:off x="2381" y="1026"/>
              <a:ext cx="9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999" name="Line 71"/>
            <p:cNvSpPr>
              <a:spLocks noChangeShapeType="1"/>
            </p:cNvSpPr>
            <p:nvPr/>
          </p:nvSpPr>
          <p:spPr bwMode="auto">
            <a:xfrm flipH="1">
              <a:off x="2608" y="1162"/>
              <a:ext cx="0" cy="8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0" name="Line 72"/>
            <p:cNvSpPr>
              <a:spLocks noChangeShapeType="1"/>
            </p:cNvSpPr>
            <p:nvPr/>
          </p:nvSpPr>
          <p:spPr bwMode="auto">
            <a:xfrm>
              <a:off x="2516" y="1162"/>
              <a:ext cx="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1" name="Line 73"/>
            <p:cNvSpPr>
              <a:spLocks noChangeShapeType="1"/>
            </p:cNvSpPr>
            <p:nvPr/>
          </p:nvSpPr>
          <p:spPr bwMode="auto">
            <a:xfrm flipH="1">
              <a:off x="2880" y="1162"/>
              <a:ext cx="0" cy="8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2" name="Line 74"/>
            <p:cNvSpPr>
              <a:spLocks noChangeShapeType="1"/>
            </p:cNvSpPr>
            <p:nvPr/>
          </p:nvSpPr>
          <p:spPr bwMode="auto">
            <a:xfrm>
              <a:off x="2789" y="1162"/>
              <a:ext cx="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3" name="Line 75"/>
            <p:cNvSpPr>
              <a:spLocks noChangeShapeType="1"/>
            </p:cNvSpPr>
            <p:nvPr/>
          </p:nvSpPr>
          <p:spPr bwMode="auto">
            <a:xfrm flipH="1">
              <a:off x="3424" y="1162"/>
              <a:ext cx="0" cy="8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4" name="Line 76"/>
            <p:cNvSpPr>
              <a:spLocks noChangeShapeType="1"/>
            </p:cNvSpPr>
            <p:nvPr/>
          </p:nvSpPr>
          <p:spPr bwMode="auto">
            <a:xfrm>
              <a:off x="3333" y="1162"/>
              <a:ext cx="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5" name="Line 77"/>
            <p:cNvSpPr>
              <a:spLocks noChangeShapeType="1"/>
            </p:cNvSpPr>
            <p:nvPr/>
          </p:nvSpPr>
          <p:spPr bwMode="auto">
            <a:xfrm>
              <a:off x="3288" y="1026"/>
              <a:ext cx="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6" name="Line 78"/>
            <p:cNvSpPr>
              <a:spLocks noChangeShapeType="1"/>
            </p:cNvSpPr>
            <p:nvPr/>
          </p:nvSpPr>
          <p:spPr bwMode="auto">
            <a:xfrm>
              <a:off x="2744" y="1026"/>
              <a:ext cx="1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7" name="Line 79"/>
            <p:cNvSpPr>
              <a:spLocks noChangeShapeType="1"/>
            </p:cNvSpPr>
            <p:nvPr/>
          </p:nvSpPr>
          <p:spPr bwMode="auto">
            <a:xfrm>
              <a:off x="2472" y="1026"/>
              <a:ext cx="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9" name="Rectangle 81"/>
            <p:cNvSpPr>
              <a:spLocks noChangeArrowheads="1"/>
            </p:cNvSpPr>
            <p:nvPr/>
          </p:nvSpPr>
          <p:spPr bwMode="auto">
            <a:xfrm>
              <a:off x="2426" y="1390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10" name="Rectangle 82"/>
            <p:cNvSpPr>
              <a:spLocks noChangeArrowheads="1"/>
            </p:cNvSpPr>
            <p:nvPr/>
          </p:nvSpPr>
          <p:spPr bwMode="auto">
            <a:xfrm>
              <a:off x="2699" y="1390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11" name="Rectangle 83"/>
            <p:cNvSpPr>
              <a:spLocks noChangeArrowheads="1"/>
            </p:cNvSpPr>
            <p:nvPr/>
          </p:nvSpPr>
          <p:spPr bwMode="auto">
            <a:xfrm>
              <a:off x="3242" y="1390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12" name="Line 84"/>
            <p:cNvSpPr>
              <a:spLocks noChangeShapeType="1"/>
            </p:cNvSpPr>
            <p:nvPr/>
          </p:nvSpPr>
          <p:spPr bwMode="auto">
            <a:xfrm flipV="1">
              <a:off x="2381" y="1298"/>
              <a:ext cx="9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13" name="Line 85"/>
            <p:cNvSpPr>
              <a:spLocks noChangeShapeType="1"/>
            </p:cNvSpPr>
            <p:nvPr/>
          </p:nvSpPr>
          <p:spPr bwMode="auto">
            <a:xfrm flipV="1">
              <a:off x="2517" y="1434"/>
              <a:ext cx="91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14" name="Line 86"/>
            <p:cNvSpPr>
              <a:spLocks noChangeShapeType="1"/>
            </p:cNvSpPr>
            <p:nvPr/>
          </p:nvSpPr>
          <p:spPr bwMode="auto">
            <a:xfrm flipV="1">
              <a:off x="2789" y="1434"/>
              <a:ext cx="91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15" name="Line 87"/>
            <p:cNvSpPr>
              <a:spLocks noChangeShapeType="1"/>
            </p:cNvSpPr>
            <p:nvPr/>
          </p:nvSpPr>
          <p:spPr bwMode="auto">
            <a:xfrm flipV="1">
              <a:off x="3333" y="1434"/>
              <a:ext cx="91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16" name="Line 88"/>
            <p:cNvSpPr>
              <a:spLocks noChangeShapeType="1"/>
            </p:cNvSpPr>
            <p:nvPr/>
          </p:nvSpPr>
          <p:spPr bwMode="auto">
            <a:xfrm>
              <a:off x="3288" y="1298"/>
              <a:ext cx="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17" name="Line 89"/>
            <p:cNvSpPr>
              <a:spLocks noChangeShapeType="1"/>
            </p:cNvSpPr>
            <p:nvPr/>
          </p:nvSpPr>
          <p:spPr bwMode="auto">
            <a:xfrm>
              <a:off x="2744" y="1298"/>
              <a:ext cx="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18" name="Line 90"/>
            <p:cNvSpPr>
              <a:spLocks noChangeShapeType="1"/>
            </p:cNvSpPr>
            <p:nvPr/>
          </p:nvSpPr>
          <p:spPr bwMode="auto">
            <a:xfrm>
              <a:off x="2472" y="1298"/>
              <a:ext cx="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0" name="Rectangle 92"/>
            <p:cNvSpPr>
              <a:spLocks noChangeArrowheads="1"/>
            </p:cNvSpPr>
            <p:nvPr/>
          </p:nvSpPr>
          <p:spPr bwMode="auto">
            <a:xfrm>
              <a:off x="2426" y="1843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21" name="Rectangle 93"/>
            <p:cNvSpPr>
              <a:spLocks noChangeArrowheads="1"/>
            </p:cNvSpPr>
            <p:nvPr/>
          </p:nvSpPr>
          <p:spPr bwMode="auto">
            <a:xfrm>
              <a:off x="2699" y="1843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22" name="Rectangle 94"/>
            <p:cNvSpPr>
              <a:spLocks noChangeArrowheads="1"/>
            </p:cNvSpPr>
            <p:nvPr/>
          </p:nvSpPr>
          <p:spPr bwMode="auto">
            <a:xfrm>
              <a:off x="3242" y="1843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23" name="Line 95"/>
            <p:cNvSpPr>
              <a:spLocks noChangeShapeType="1"/>
            </p:cNvSpPr>
            <p:nvPr/>
          </p:nvSpPr>
          <p:spPr bwMode="auto">
            <a:xfrm flipV="1">
              <a:off x="2381" y="1752"/>
              <a:ext cx="9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4" name="Line 96"/>
            <p:cNvSpPr>
              <a:spLocks noChangeShapeType="1"/>
            </p:cNvSpPr>
            <p:nvPr/>
          </p:nvSpPr>
          <p:spPr bwMode="auto">
            <a:xfrm>
              <a:off x="2516" y="1888"/>
              <a:ext cx="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5" name="Line 97"/>
            <p:cNvSpPr>
              <a:spLocks noChangeShapeType="1"/>
            </p:cNvSpPr>
            <p:nvPr/>
          </p:nvSpPr>
          <p:spPr bwMode="auto">
            <a:xfrm>
              <a:off x="2789" y="1888"/>
              <a:ext cx="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6" name="Line 98"/>
            <p:cNvSpPr>
              <a:spLocks noChangeShapeType="1"/>
            </p:cNvSpPr>
            <p:nvPr/>
          </p:nvSpPr>
          <p:spPr bwMode="auto">
            <a:xfrm>
              <a:off x="3333" y="1888"/>
              <a:ext cx="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7" name="Line 99"/>
            <p:cNvSpPr>
              <a:spLocks noChangeShapeType="1"/>
            </p:cNvSpPr>
            <p:nvPr/>
          </p:nvSpPr>
          <p:spPr bwMode="auto">
            <a:xfrm>
              <a:off x="3288" y="1752"/>
              <a:ext cx="0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8" name="Line 100"/>
            <p:cNvSpPr>
              <a:spLocks noChangeShapeType="1"/>
            </p:cNvSpPr>
            <p:nvPr/>
          </p:nvSpPr>
          <p:spPr bwMode="auto">
            <a:xfrm>
              <a:off x="2744" y="1752"/>
              <a:ext cx="0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9" name="Line 101"/>
            <p:cNvSpPr>
              <a:spLocks noChangeShapeType="1"/>
            </p:cNvSpPr>
            <p:nvPr/>
          </p:nvSpPr>
          <p:spPr bwMode="auto">
            <a:xfrm>
              <a:off x="2472" y="1752"/>
              <a:ext cx="0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31" name="Text Box 103"/>
            <p:cNvSpPr txBox="1">
              <a:spLocks noChangeArrowheads="1"/>
            </p:cNvSpPr>
            <p:nvPr/>
          </p:nvSpPr>
          <p:spPr bwMode="auto">
            <a:xfrm>
              <a:off x="3243" y="1525"/>
              <a:ext cx="181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  <a:endParaRPr lang="en-US" altLang="zh-CN" sz="1800" b="1"/>
            </a:p>
          </p:txBody>
        </p:sp>
        <p:sp>
          <p:nvSpPr>
            <p:cNvPr id="253032" name="Text Box 104"/>
            <p:cNvSpPr txBox="1">
              <a:spLocks noChangeArrowheads="1"/>
            </p:cNvSpPr>
            <p:nvPr/>
          </p:nvSpPr>
          <p:spPr bwMode="auto">
            <a:xfrm>
              <a:off x="2698" y="1525"/>
              <a:ext cx="181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  <a:endParaRPr lang="en-US" altLang="zh-CN" sz="1800" b="1"/>
            </a:p>
          </p:txBody>
        </p:sp>
        <p:sp>
          <p:nvSpPr>
            <p:cNvPr id="253033" name="Text Box 105"/>
            <p:cNvSpPr txBox="1">
              <a:spLocks noChangeArrowheads="1"/>
            </p:cNvSpPr>
            <p:nvPr/>
          </p:nvSpPr>
          <p:spPr bwMode="auto">
            <a:xfrm>
              <a:off x="2426" y="1525"/>
              <a:ext cx="181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  <a:endParaRPr lang="en-US" altLang="zh-CN" sz="1800" b="1"/>
            </a:p>
          </p:txBody>
        </p:sp>
        <p:sp>
          <p:nvSpPr>
            <p:cNvPr id="253050" name="Rectangle 122"/>
            <p:cNvSpPr>
              <a:spLocks noChangeArrowheads="1"/>
            </p:cNvSpPr>
            <p:nvPr/>
          </p:nvSpPr>
          <p:spPr bwMode="auto">
            <a:xfrm>
              <a:off x="2970" y="1117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51" name="Line 123"/>
            <p:cNvSpPr>
              <a:spLocks noChangeShapeType="1"/>
            </p:cNvSpPr>
            <p:nvPr/>
          </p:nvSpPr>
          <p:spPr bwMode="auto">
            <a:xfrm>
              <a:off x="3152" y="1162"/>
              <a:ext cx="0" cy="8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52" name="Line 124"/>
            <p:cNvSpPr>
              <a:spLocks noChangeShapeType="1"/>
            </p:cNvSpPr>
            <p:nvPr/>
          </p:nvSpPr>
          <p:spPr bwMode="auto">
            <a:xfrm>
              <a:off x="3059" y="1162"/>
              <a:ext cx="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53" name="Line 125"/>
            <p:cNvSpPr>
              <a:spLocks noChangeShapeType="1"/>
            </p:cNvSpPr>
            <p:nvPr/>
          </p:nvSpPr>
          <p:spPr bwMode="auto">
            <a:xfrm>
              <a:off x="3014" y="1026"/>
              <a:ext cx="2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54" name="Rectangle 126"/>
            <p:cNvSpPr>
              <a:spLocks noChangeArrowheads="1"/>
            </p:cNvSpPr>
            <p:nvPr/>
          </p:nvSpPr>
          <p:spPr bwMode="auto">
            <a:xfrm>
              <a:off x="2971" y="1390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55" name="Line 127"/>
            <p:cNvSpPr>
              <a:spLocks noChangeShapeType="1"/>
            </p:cNvSpPr>
            <p:nvPr/>
          </p:nvSpPr>
          <p:spPr bwMode="auto">
            <a:xfrm flipV="1">
              <a:off x="3059" y="1434"/>
              <a:ext cx="93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56" name="Line 128"/>
            <p:cNvSpPr>
              <a:spLocks noChangeShapeType="1"/>
            </p:cNvSpPr>
            <p:nvPr/>
          </p:nvSpPr>
          <p:spPr bwMode="auto">
            <a:xfrm>
              <a:off x="3014" y="1298"/>
              <a:ext cx="2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57" name="Rectangle 129"/>
            <p:cNvSpPr>
              <a:spLocks noChangeArrowheads="1"/>
            </p:cNvSpPr>
            <p:nvPr/>
          </p:nvSpPr>
          <p:spPr bwMode="auto">
            <a:xfrm>
              <a:off x="2971" y="1843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58" name="Line 130"/>
            <p:cNvSpPr>
              <a:spLocks noChangeShapeType="1"/>
            </p:cNvSpPr>
            <p:nvPr/>
          </p:nvSpPr>
          <p:spPr bwMode="auto">
            <a:xfrm>
              <a:off x="3059" y="1888"/>
              <a:ext cx="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59" name="Line 131"/>
            <p:cNvSpPr>
              <a:spLocks noChangeShapeType="1"/>
            </p:cNvSpPr>
            <p:nvPr/>
          </p:nvSpPr>
          <p:spPr bwMode="auto">
            <a:xfrm>
              <a:off x="3014" y="1752"/>
              <a:ext cx="2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0" name="Text Box 132"/>
            <p:cNvSpPr txBox="1">
              <a:spLocks noChangeArrowheads="1"/>
            </p:cNvSpPr>
            <p:nvPr/>
          </p:nvSpPr>
          <p:spPr bwMode="auto">
            <a:xfrm>
              <a:off x="2970" y="1525"/>
              <a:ext cx="181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  <a:endParaRPr lang="en-US" altLang="zh-CN" sz="1800" b="1"/>
            </a:p>
          </p:txBody>
        </p:sp>
        <p:sp>
          <p:nvSpPr>
            <p:cNvPr id="253062" name="Line 134"/>
            <p:cNvSpPr>
              <a:spLocks noChangeShapeType="1"/>
            </p:cNvSpPr>
            <p:nvPr/>
          </p:nvSpPr>
          <p:spPr bwMode="auto">
            <a:xfrm flipH="1">
              <a:off x="3152" y="1979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3" name="Line 135"/>
            <p:cNvSpPr>
              <a:spLocks noChangeShapeType="1"/>
            </p:cNvSpPr>
            <p:nvPr/>
          </p:nvSpPr>
          <p:spPr bwMode="auto">
            <a:xfrm>
              <a:off x="2199" y="1298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4" name="Line 136"/>
            <p:cNvSpPr>
              <a:spLocks noChangeShapeType="1"/>
            </p:cNvSpPr>
            <p:nvPr/>
          </p:nvSpPr>
          <p:spPr bwMode="auto">
            <a:xfrm>
              <a:off x="2199" y="1752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5" name="Line 137"/>
            <p:cNvSpPr>
              <a:spLocks noChangeShapeType="1"/>
            </p:cNvSpPr>
            <p:nvPr/>
          </p:nvSpPr>
          <p:spPr bwMode="auto">
            <a:xfrm>
              <a:off x="1655" y="2205"/>
              <a:ext cx="7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6" name="Line 138"/>
            <p:cNvSpPr>
              <a:spLocks noChangeShapeType="1"/>
            </p:cNvSpPr>
            <p:nvPr/>
          </p:nvSpPr>
          <p:spPr bwMode="auto">
            <a:xfrm flipV="1">
              <a:off x="1655" y="2250"/>
              <a:ext cx="77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7" name="Line 139"/>
            <p:cNvSpPr>
              <a:spLocks noChangeShapeType="1"/>
            </p:cNvSpPr>
            <p:nvPr/>
          </p:nvSpPr>
          <p:spPr bwMode="auto">
            <a:xfrm>
              <a:off x="1655" y="2296"/>
              <a:ext cx="7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8" name="Line 140"/>
            <p:cNvSpPr>
              <a:spLocks noChangeShapeType="1"/>
            </p:cNvSpPr>
            <p:nvPr/>
          </p:nvSpPr>
          <p:spPr bwMode="auto">
            <a:xfrm>
              <a:off x="1655" y="2341"/>
              <a:ext cx="7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3224" name="Group 296"/>
          <p:cNvGrpSpPr/>
          <p:nvPr/>
        </p:nvGrpSpPr>
        <p:grpSpPr bwMode="auto">
          <a:xfrm>
            <a:off x="2269083" y="1781607"/>
            <a:ext cx="1655763" cy="288925"/>
            <a:chOff x="930" y="1162"/>
            <a:chExt cx="1043" cy="182"/>
          </a:xfrm>
        </p:grpSpPr>
        <p:sp>
          <p:nvSpPr>
            <p:cNvPr id="252971" name="Text Box 43"/>
            <p:cNvSpPr txBox="1">
              <a:spLocks noChangeArrowheads="1"/>
            </p:cNvSpPr>
            <p:nvPr/>
          </p:nvSpPr>
          <p:spPr bwMode="auto">
            <a:xfrm>
              <a:off x="930" y="1162"/>
              <a:ext cx="861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①0…01</a:t>
              </a:r>
              <a:endPara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3069" name="Line 141"/>
            <p:cNvSpPr>
              <a:spLocks noChangeShapeType="1"/>
            </p:cNvSpPr>
            <p:nvPr/>
          </p:nvSpPr>
          <p:spPr bwMode="auto">
            <a:xfrm>
              <a:off x="930" y="1344"/>
              <a:ext cx="1043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3226" name="Group 298"/>
          <p:cNvGrpSpPr/>
          <p:nvPr/>
        </p:nvGrpSpPr>
        <p:grpSpPr bwMode="auto">
          <a:xfrm>
            <a:off x="2269083" y="2934132"/>
            <a:ext cx="2447925" cy="288925"/>
            <a:chOff x="930" y="1888"/>
            <a:chExt cx="1542" cy="182"/>
          </a:xfrm>
        </p:grpSpPr>
        <p:sp>
          <p:nvSpPr>
            <p:cNvPr id="252989" name="Text Box 61"/>
            <p:cNvSpPr txBox="1">
              <a:spLocks noChangeArrowheads="1"/>
            </p:cNvSpPr>
            <p:nvPr/>
          </p:nvSpPr>
          <p:spPr bwMode="auto">
            <a:xfrm>
              <a:off x="930" y="1888"/>
              <a:ext cx="907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①Read</a:t>
              </a:r>
              <a:endPara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3072" name="Line 144"/>
            <p:cNvSpPr>
              <a:spLocks noChangeShapeType="1"/>
            </p:cNvSpPr>
            <p:nvPr/>
          </p:nvSpPr>
          <p:spPr bwMode="auto">
            <a:xfrm>
              <a:off x="930" y="2069"/>
              <a:ext cx="1542" cy="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3073" name="Line 145"/>
          <p:cNvSpPr>
            <a:spLocks noChangeShapeType="1"/>
          </p:cNvSpPr>
          <p:nvPr/>
        </p:nvSpPr>
        <p:spPr bwMode="auto">
          <a:xfrm>
            <a:off x="4715421" y="3221469"/>
            <a:ext cx="1587" cy="144463"/>
          </a:xfrm>
          <a:prstGeom prst="line">
            <a:avLst/>
          </a:prstGeom>
          <a:noFill/>
          <a:ln w="19050">
            <a:solidFill>
              <a:srgbClr val="FF3399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53085" name="Text Box 157"/>
          <p:cNvSpPr txBox="1">
            <a:spLocks noChangeArrowheads="1"/>
          </p:cNvSpPr>
          <p:nvPr/>
        </p:nvSpPr>
        <p:spPr bwMode="auto">
          <a:xfrm>
            <a:off x="3926433" y="1494269"/>
            <a:ext cx="358775" cy="1295400"/>
          </a:xfrm>
          <a:prstGeom prst="rect">
            <a:avLst/>
          </a:prstGeom>
          <a:solidFill>
            <a:srgbClr val="FF6600">
              <a:alpha val="60001"/>
            </a:srgb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vert="eaVert" lIns="18000" tIns="10800" rIns="18000" bIns="10800" anchor="ctr"/>
          <a:lstStyle/>
          <a:p>
            <a:pPr algn="ctr"/>
            <a:r>
              <a:rPr lang="zh-CN" altLang="en-US" sz="1800" b="1">
                <a:latin typeface="宋体" panose="02010600030101010101" pitchFamily="2" charset="-122"/>
              </a:rPr>
              <a:t>地址译码器</a:t>
            </a:r>
            <a:endParaRPr lang="zh-CN" altLang="en-US" sz="1800" b="1">
              <a:latin typeface="宋体" panose="02010600030101010101" pitchFamily="2" charset="-122"/>
            </a:endParaRPr>
          </a:p>
        </p:txBody>
      </p:sp>
      <p:grpSp>
        <p:nvGrpSpPr>
          <p:cNvPr id="253149" name="Group 221"/>
          <p:cNvGrpSpPr/>
          <p:nvPr/>
        </p:nvGrpSpPr>
        <p:grpSpPr bwMode="auto">
          <a:xfrm>
            <a:off x="4717008" y="1997507"/>
            <a:ext cx="1295400" cy="144462"/>
            <a:chOff x="2472" y="1298"/>
            <a:chExt cx="816" cy="91"/>
          </a:xfrm>
        </p:grpSpPr>
        <p:sp>
          <p:nvSpPr>
            <p:cNvPr id="253112" name="Line 184"/>
            <p:cNvSpPr>
              <a:spLocks noChangeShapeType="1"/>
            </p:cNvSpPr>
            <p:nvPr/>
          </p:nvSpPr>
          <p:spPr bwMode="auto">
            <a:xfrm>
              <a:off x="3287" y="1298"/>
              <a:ext cx="1" cy="91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113" name="Line 185"/>
            <p:cNvSpPr>
              <a:spLocks noChangeShapeType="1"/>
            </p:cNvSpPr>
            <p:nvPr/>
          </p:nvSpPr>
          <p:spPr bwMode="auto">
            <a:xfrm>
              <a:off x="2743" y="1298"/>
              <a:ext cx="1" cy="91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114" name="Line 186"/>
            <p:cNvSpPr>
              <a:spLocks noChangeShapeType="1"/>
            </p:cNvSpPr>
            <p:nvPr/>
          </p:nvSpPr>
          <p:spPr bwMode="auto">
            <a:xfrm>
              <a:off x="2472" y="1298"/>
              <a:ext cx="0" cy="91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134" name="Line 206"/>
            <p:cNvSpPr>
              <a:spLocks noChangeShapeType="1"/>
            </p:cNvSpPr>
            <p:nvPr/>
          </p:nvSpPr>
          <p:spPr bwMode="auto">
            <a:xfrm>
              <a:off x="3013" y="1298"/>
              <a:ext cx="3" cy="91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3140" name="Line 212"/>
          <p:cNvSpPr>
            <a:spLocks noChangeShapeType="1"/>
          </p:cNvSpPr>
          <p:nvPr/>
        </p:nvSpPr>
        <p:spPr bwMode="auto">
          <a:xfrm>
            <a:off x="4285208" y="1997507"/>
            <a:ext cx="1727200" cy="0"/>
          </a:xfrm>
          <a:prstGeom prst="line">
            <a:avLst/>
          </a:prstGeom>
          <a:noFill/>
          <a:ln w="25400">
            <a:solidFill>
              <a:srgbClr val="CC33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53156" name="Text Box 228"/>
          <p:cNvSpPr txBox="1">
            <a:spLocks noChangeArrowheads="1"/>
          </p:cNvSpPr>
          <p:nvPr/>
        </p:nvSpPr>
        <p:spPr bwMode="auto">
          <a:xfrm>
            <a:off x="4643983" y="3365932"/>
            <a:ext cx="1657350" cy="358775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电路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grpSp>
        <p:nvGrpSpPr>
          <p:cNvPr id="253217" name="Group 289"/>
          <p:cNvGrpSpPr/>
          <p:nvPr/>
        </p:nvGrpSpPr>
        <p:grpSpPr bwMode="auto">
          <a:xfrm>
            <a:off x="4647158" y="2141969"/>
            <a:ext cx="1581150" cy="142875"/>
            <a:chOff x="2428" y="1389"/>
            <a:chExt cx="996" cy="90"/>
          </a:xfrm>
        </p:grpSpPr>
        <p:sp>
          <p:nvSpPr>
            <p:cNvPr id="253176" name="Rectangle 248"/>
            <p:cNvSpPr>
              <a:spLocks noChangeArrowheads="1"/>
            </p:cNvSpPr>
            <p:nvPr/>
          </p:nvSpPr>
          <p:spPr bwMode="auto">
            <a:xfrm>
              <a:off x="2428" y="1389"/>
              <a:ext cx="90" cy="90"/>
            </a:xfrm>
            <a:prstGeom prst="rect">
              <a:avLst/>
            </a:prstGeom>
            <a:solidFill>
              <a:srgbClr val="3366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177" name="Rectangle 249"/>
            <p:cNvSpPr>
              <a:spLocks noChangeArrowheads="1"/>
            </p:cNvSpPr>
            <p:nvPr/>
          </p:nvSpPr>
          <p:spPr bwMode="auto">
            <a:xfrm>
              <a:off x="2701" y="1389"/>
              <a:ext cx="90" cy="90"/>
            </a:xfrm>
            <a:prstGeom prst="rect">
              <a:avLst/>
            </a:prstGeom>
            <a:solidFill>
              <a:srgbClr val="3366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178" name="Rectangle 250"/>
            <p:cNvSpPr>
              <a:spLocks noChangeArrowheads="1"/>
            </p:cNvSpPr>
            <p:nvPr/>
          </p:nvSpPr>
          <p:spPr bwMode="auto">
            <a:xfrm>
              <a:off x="3244" y="1389"/>
              <a:ext cx="90" cy="90"/>
            </a:xfrm>
            <a:prstGeom prst="rect">
              <a:avLst/>
            </a:prstGeom>
            <a:solidFill>
              <a:srgbClr val="3366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180" name="Line 252"/>
            <p:cNvSpPr>
              <a:spLocks noChangeShapeType="1"/>
            </p:cNvSpPr>
            <p:nvPr/>
          </p:nvSpPr>
          <p:spPr bwMode="auto">
            <a:xfrm flipV="1">
              <a:off x="2517" y="1434"/>
              <a:ext cx="91" cy="1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181" name="Line 253"/>
            <p:cNvSpPr>
              <a:spLocks noChangeShapeType="1"/>
            </p:cNvSpPr>
            <p:nvPr/>
          </p:nvSpPr>
          <p:spPr bwMode="auto">
            <a:xfrm flipV="1">
              <a:off x="2789" y="1434"/>
              <a:ext cx="91" cy="1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182" name="Line 254"/>
            <p:cNvSpPr>
              <a:spLocks noChangeShapeType="1"/>
            </p:cNvSpPr>
            <p:nvPr/>
          </p:nvSpPr>
          <p:spPr bwMode="auto">
            <a:xfrm flipV="1">
              <a:off x="3333" y="1434"/>
              <a:ext cx="91" cy="1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203" name="Rectangle 275"/>
            <p:cNvSpPr>
              <a:spLocks noChangeArrowheads="1"/>
            </p:cNvSpPr>
            <p:nvPr/>
          </p:nvSpPr>
          <p:spPr bwMode="auto">
            <a:xfrm>
              <a:off x="2973" y="1389"/>
              <a:ext cx="90" cy="90"/>
            </a:xfrm>
            <a:prstGeom prst="rect">
              <a:avLst/>
            </a:prstGeom>
            <a:solidFill>
              <a:srgbClr val="3366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204" name="Line 276"/>
            <p:cNvSpPr>
              <a:spLocks noChangeShapeType="1"/>
            </p:cNvSpPr>
            <p:nvPr/>
          </p:nvSpPr>
          <p:spPr bwMode="auto">
            <a:xfrm flipV="1">
              <a:off x="3059" y="1434"/>
              <a:ext cx="93" cy="1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3228" name="Group 300"/>
          <p:cNvGrpSpPr/>
          <p:nvPr/>
        </p:nvGrpSpPr>
        <p:grpSpPr bwMode="auto">
          <a:xfrm>
            <a:off x="2269083" y="3437369"/>
            <a:ext cx="2374900" cy="503238"/>
            <a:chOff x="930" y="2205"/>
            <a:chExt cx="1496" cy="317"/>
          </a:xfrm>
        </p:grpSpPr>
        <p:sp>
          <p:nvSpPr>
            <p:cNvPr id="252960" name="Text Box 32"/>
            <p:cNvSpPr txBox="1">
              <a:spLocks noChangeArrowheads="1"/>
            </p:cNvSpPr>
            <p:nvPr/>
          </p:nvSpPr>
          <p:spPr bwMode="auto">
            <a:xfrm>
              <a:off x="930" y="2341"/>
              <a:ext cx="908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②1#</a:t>
              </a:r>
              <a:r>
                <a:rPr lang="zh-CN" altLang="en-US" sz="1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的存储字</a:t>
              </a:r>
              <a:endParaRPr lang="zh-CN" altLang="en-US" sz="1800" b="1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253227" name="Group 299"/>
            <p:cNvGrpSpPr/>
            <p:nvPr/>
          </p:nvGrpSpPr>
          <p:grpSpPr bwMode="auto">
            <a:xfrm>
              <a:off x="930" y="2205"/>
              <a:ext cx="1496" cy="136"/>
              <a:chOff x="930" y="2205"/>
              <a:chExt cx="1496" cy="136"/>
            </a:xfrm>
          </p:grpSpPr>
          <p:sp>
            <p:nvSpPr>
              <p:cNvPr id="253213" name="Line 285"/>
              <p:cNvSpPr>
                <a:spLocks noChangeShapeType="1"/>
              </p:cNvSpPr>
              <p:nvPr/>
            </p:nvSpPr>
            <p:spPr bwMode="auto">
              <a:xfrm>
                <a:off x="930" y="2205"/>
                <a:ext cx="1496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 type="triangle" w="med" len="med"/>
                <a:tailEnd type="none" w="sm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3214" name="Line 286"/>
              <p:cNvSpPr>
                <a:spLocks noChangeShapeType="1"/>
              </p:cNvSpPr>
              <p:nvPr/>
            </p:nvSpPr>
            <p:spPr bwMode="auto">
              <a:xfrm flipV="1">
                <a:off x="930" y="2250"/>
                <a:ext cx="1496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 type="triangle" w="med" len="med"/>
                <a:tailEnd type="none" w="sm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3215" name="Line 287"/>
              <p:cNvSpPr>
                <a:spLocks noChangeShapeType="1"/>
              </p:cNvSpPr>
              <p:nvPr/>
            </p:nvSpPr>
            <p:spPr bwMode="auto">
              <a:xfrm>
                <a:off x="930" y="2296"/>
                <a:ext cx="1496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 type="triangle" w="med" len="med"/>
                <a:tailEnd type="none" w="sm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3216" name="Line 288"/>
              <p:cNvSpPr>
                <a:spLocks noChangeShapeType="1"/>
              </p:cNvSpPr>
              <p:nvPr/>
            </p:nvSpPr>
            <p:spPr bwMode="auto">
              <a:xfrm>
                <a:off x="930" y="2341"/>
                <a:ext cx="1496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 type="triangle" w="med" len="med"/>
                <a:tailEnd type="none" w="sm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53221" name="Group 293"/>
          <p:cNvGrpSpPr/>
          <p:nvPr/>
        </p:nvGrpSpPr>
        <p:grpSpPr bwMode="auto">
          <a:xfrm>
            <a:off x="4932908" y="2213407"/>
            <a:ext cx="1295400" cy="1152525"/>
            <a:chOff x="2608" y="1434"/>
            <a:chExt cx="816" cy="726"/>
          </a:xfrm>
        </p:grpSpPr>
        <p:sp>
          <p:nvSpPr>
            <p:cNvPr id="253160" name="Line 232"/>
            <p:cNvSpPr>
              <a:spLocks noChangeShapeType="1"/>
            </p:cNvSpPr>
            <p:nvPr/>
          </p:nvSpPr>
          <p:spPr bwMode="auto">
            <a:xfrm flipH="1">
              <a:off x="2608" y="1434"/>
              <a:ext cx="0" cy="72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218" name="Line 290"/>
            <p:cNvSpPr>
              <a:spLocks noChangeShapeType="1"/>
            </p:cNvSpPr>
            <p:nvPr/>
          </p:nvSpPr>
          <p:spPr bwMode="auto">
            <a:xfrm flipH="1">
              <a:off x="2880" y="1434"/>
              <a:ext cx="0" cy="72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219" name="Line 291"/>
            <p:cNvSpPr>
              <a:spLocks noChangeShapeType="1"/>
            </p:cNvSpPr>
            <p:nvPr/>
          </p:nvSpPr>
          <p:spPr bwMode="auto">
            <a:xfrm flipH="1">
              <a:off x="3152" y="1434"/>
              <a:ext cx="0" cy="72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220" name="Line 292"/>
            <p:cNvSpPr>
              <a:spLocks noChangeShapeType="1"/>
            </p:cNvSpPr>
            <p:nvPr/>
          </p:nvSpPr>
          <p:spPr bwMode="auto">
            <a:xfrm flipH="1">
              <a:off x="3424" y="1434"/>
              <a:ext cx="0" cy="72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3230" name="Text Box 302"/>
          <p:cNvSpPr txBox="1">
            <a:spLocks noChangeArrowheads="1"/>
          </p:cNvSpPr>
          <p:nvPr/>
        </p:nvSpPr>
        <p:spPr bwMode="auto">
          <a:xfrm>
            <a:off x="2123479" y="3940607"/>
            <a:ext cx="6408961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接收</a:t>
            </a:r>
            <a:r>
              <a:rPr lang="zh-CN" altLang="en-US" b="1" dirty="0">
                <a:latin typeface="宋体" panose="02010600030101010101" pitchFamily="2" charset="-122"/>
              </a:rPr>
              <a:t>地址及</a:t>
            </a:r>
            <a:r>
              <a:rPr lang="zh-CN" altLang="en-US" b="1" dirty="0" smtClean="0">
                <a:latin typeface="宋体" panose="02010600030101010101" pitchFamily="2" charset="-122"/>
              </a:rPr>
              <a:t>命令、</a:t>
            </a:r>
            <a:r>
              <a:rPr lang="zh-CN" altLang="en-US" b="1" dirty="0">
                <a:latin typeface="宋体" panose="02010600030101010101" pitchFamily="2" charset="-122"/>
              </a:rPr>
              <a:t>数据，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选择</a:t>
            </a:r>
            <a:r>
              <a:rPr lang="zh-CN" altLang="en-US" b="1" dirty="0" smtClean="0">
                <a:latin typeface="宋体" panose="02010600030101010101" pitchFamily="2" charset="-122"/>
              </a:rPr>
              <a:t>单元、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b="1" dirty="0" smtClean="0">
                <a:latin typeface="宋体" panose="02010600030101010101" pitchFamily="2" charset="-122"/>
              </a:rPr>
              <a:t>操作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10" name="Text Box 177"/>
          <p:cNvSpPr txBox="1">
            <a:spLocks noChangeArrowheads="1"/>
          </p:cNvSpPr>
          <p:nvPr/>
        </p:nvSpPr>
        <p:spPr bwMode="auto">
          <a:xfrm>
            <a:off x="179263" y="4444370"/>
            <a:ext cx="8857233" cy="17235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*应用：</a:t>
            </a:r>
            <a:r>
              <a:rPr lang="zh-CN" altLang="en-US" b="1" dirty="0" smtClean="0">
                <a:latin typeface="宋体" panose="02010600030101010101" pitchFamily="2" charset="-122"/>
              </a:rPr>
              <a:t>有主存、</a:t>
            </a:r>
            <a:r>
              <a:rPr lang="en-US" altLang="zh-CN" b="1" dirty="0" smtClean="0">
                <a:latin typeface="宋体" panose="02010600030101010101" pitchFamily="2" charset="-122"/>
              </a:rPr>
              <a:t>Cache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U</a:t>
            </a:r>
            <a:r>
              <a:rPr lang="zh-CN" altLang="en-US" b="1" dirty="0" smtClean="0">
                <a:latin typeface="宋体" panose="02010600030101010101" pitchFamily="2" charset="-122"/>
              </a:rPr>
              <a:t>盘等      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←磁盘不是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RAM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  注意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⑴存储器是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抽象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，主存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/Cache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是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实例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←如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C++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类的定义和实例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        ⑵存储器参数名称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随实例改变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←便于区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分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          (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如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主存单元、主存地址、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Cache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容量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111" name="Text Box 24"/>
          <p:cNvSpPr txBox="1">
            <a:spLocks noChangeArrowheads="1"/>
          </p:cNvSpPr>
          <p:nvPr/>
        </p:nvSpPr>
        <p:spPr bwMode="auto">
          <a:xfrm>
            <a:off x="2123604" y="794321"/>
            <a:ext cx="669686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sng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接收</a:t>
            </a:r>
            <a:r>
              <a:rPr lang="zh-CN" altLang="en-US" b="1" spc="-100" dirty="0">
                <a:latin typeface="宋体" panose="02010600030101010101" pitchFamily="2" charset="-122"/>
              </a:rPr>
              <a:t>地址及命令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，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选择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单元、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操作、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输出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数据</a:t>
            </a:r>
            <a:endParaRPr lang="zh-CN" altLang="en-US" b="1" spc="-1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750"/>
                                        <p:tgtEl>
                                          <p:spTgt spid="25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750"/>
                                        <p:tgtEl>
                                          <p:spTgt spid="25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750"/>
                                        <p:tgtEl>
                                          <p:spTgt spid="25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750"/>
                                        <p:tgtEl>
                                          <p:spTgt spid="25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750"/>
                                        <p:tgtEl>
                                          <p:spTgt spid="25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750"/>
                                        <p:tgtEl>
                                          <p:spTgt spid="25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1000"/>
                                        <p:tgtEl>
                                          <p:spTgt spid="25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750"/>
                                        <p:tgtEl>
                                          <p:spTgt spid="25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25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750"/>
                                        <p:tgtEl>
                                          <p:spTgt spid="25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250"/>
                            </p:stCondLst>
                            <p:childTnLst>
                              <p:par>
                                <p:cTn id="4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8" dur="1000"/>
                                        <p:tgtEl>
                                          <p:spTgt spid="25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5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073" grpId="0" animBg="1"/>
      <p:bldP spid="253085" grpId="0" animBg="1"/>
      <p:bldP spid="253140" grpId="0" animBg="1"/>
      <p:bldP spid="253156" grpId="0" animBg="1"/>
      <p:bldP spid="253230" grpId="0"/>
      <p:bldP spid="1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179389" y="332656"/>
            <a:ext cx="6264819" cy="24391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运算器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b="1" dirty="0" smtClean="0">
                <a:latin typeface="宋体" panose="02010600030101010101" pitchFamily="2" charset="-122"/>
              </a:rPr>
              <a:t>各种运算、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暂存</a:t>
            </a:r>
            <a:r>
              <a:rPr lang="zh-CN" altLang="en-US" b="1" dirty="0" smtClean="0">
                <a:latin typeface="宋体" panose="02010600030101010101" pitchFamily="2" charset="-122"/>
              </a:rPr>
              <a:t>运算结果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数据类型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>
                <a:latin typeface="宋体" panose="02010600030101010101" pitchFamily="2" charset="-122"/>
              </a:rPr>
              <a:t>整数、实数、布尔数</a:t>
            </a:r>
            <a:r>
              <a:rPr lang="zh-CN" altLang="en-US" b="1" dirty="0" smtClean="0">
                <a:latin typeface="宋体" panose="02010600030101010101" pitchFamily="2" charset="-122"/>
              </a:rPr>
              <a:t>等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运算类型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算术、逻辑、移位、浮点等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8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A17D-73F6-4FE6-9E4B-02281BDB0D47}" type="slidenum">
              <a:rPr lang="en-US" altLang="zh-CN"/>
            </a:fld>
            <a:endParaRPr lang="en-US" altLang="zh-CN" dirty="0"/>
          </a:p>
        </p:txBody>
      </p:sp>
      <p:sp>
        <p:nvSpPr>
          <p:cNvPr id="206896" name="Text Box 48"/>
          <p:cNvSpPr txBox="1">
            <a:spLocks noChangeArrowheads="1"/>
          </p:cNvSpPr>
          <p:nvPr/>
        </p:nvSpPr>
        <p:spPr bwMode="auto">
          <a:xfrm>
            <a:off x="1403648" y="2197313"/>
            <a:ext cx="7632848" cy="8448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ALU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600" dirty="0" smtClean="0">
                <a:latin typeface="+mn-lt"/>
              </a:rPr>
              <a:t>Arithmetic Logic Unit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FPU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600" dirty="0"/>
              <a:t>Float Point </a:t>
            </a:r>
            <a:r>
              <a:rPr lang="en-US" altLang="zh-CN" sz="1600" dirty="0" smtClean="0"/>
              <a:t>Unit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</a:rPr>
              <a:t>REGs</a:t>
            </a:r>
            <a:r>
              <a:rPr lang="zh-CN" altLang="en-US" b="1" spc="-150" dirty="0" smtClean="0">
                <a:latin typeface="宋体" panose="02010600030101010101" pitchFamily="2" charset="-122"/>
              </a:rPr>
              <a:t>等</a:t>
            </a:r>
            <a:endParaRPr lang="en-US" altLang="zh-CN" b="1" spc="-150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spc="-150" dirty="0" smtClean="0">
                <a:latin typeface="宋体" panose="02010600030101010101" pitchFamily="2" charset="-122"/>
              </a:rPr>
              <a:t> </a:t>
            </a:r>
            <a:r>
              <a:rPr lang="zh-CN" altLang="en-US" sz="1800" spc="-15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spc="-150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u="sng" spc="-15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组合逻辑</a:t>
            </a:r>
            <a:r>
              <a:rPr lang="zh-CN" altLang="en-US" sz="1800" b="1" spc="-150" dirty="0" smtClean="0">
                <a:latin typeface="宋体" panose="02010600030101010101" pitchFamily="2" charset="-122"/>
              </a:rPr>
              <a:t>部件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       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按地址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访问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读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写</a:t>
            </a:r>
            <a:r>
              <a:rPr lang="en-US" altLang="zh-CN" sz="1800" b="1" dirty="0">
                <a:latin typeface="宋体" panose="02010600030101010101" pitchFamily="2" charset="-122"/>
              </a:rPr>
              <a:t>)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→</a:t>
            </a:r>
            <a:r>
              <a:rPr lang="en-US" altLang="zh-CN" sz="1800" dirty="0" smtClean="0">
                <a:latin typeface="宋体" panose="02010600030101010101" pitchFamily="2" charset="-122"/>
              </a:rPr>
              <a:t>┴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可同时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读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写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172" name="Text Box 179"/>
          <p:cNvSpPr txBox="1">
            <a:spLocks noChangeArrowheads="1"/>
          </p:cNvSpPr>
          <p:nvPr/>
        </p:nvSpPr>
        <p:spPr bwMode="auto">
          <a:xfrm>
            <a:off x="179388" y="4293096"/>
            <a:ext cx="2952106" cy="18170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*操作的控制方法：</a:t>
            </a:r>
            <a:endParaRPr lang="en-US" altLang="zh-CN" sz="2200" b="1" u="sng" dirty="0" smtClean="0">
              <a:latin typeface="宋体" panose="02010600030101010101" pitchFamily="2" charset="-122"/>
            </a:endParaRPr>
          </a:p>
          <a:p>
            <a:pPr marL="457200" indent="-457200">
              <a:lnSpc>
                <a:spcPct val="114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spc="35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加法运算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dirty="0" smtClean="0"/>
          </a:p>
          <a:p>
            <a:pPr marL="457200" indent="-457200">
              <a:lnSpc>
                <a:spcPct val="114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REG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读操作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457200" indent="-457200">
              <a:lnSpc>
                <a:spcPct val="114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REG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写操作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2" name="AutoShape 71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Text Box 16"/>
          <p:cNvSpPr txBox="1">
            <a:spLocks noChangeArrowheads="1"/>
          </p:cNvSpPr>
          <p:nvPr/>
        </p:nvSpPr>
        <p:spPr bwMode="auto">
          <a:xfrm>
            <a:off x="5932189" y="915978"/>
            <a:ext cx="2960291" cy="64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271780" indent="-271780">
              <a:lnSpc>
                <a:spcPct val="114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可存储</a:t>
            </a:r>
            <a:r>
              <a:rPr lang="zh-CN" altLang="en-US" sz="1800" b="1" dirty="0">
                <a:latin typeface="宋体" panose="02010600030101010101" pitchFamily="2" charset="-122"/>
              </a:rPr>
              <a:t>信息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的数电元件有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等</a:t>
            </a:r>
            <a:endParaRPr lang="en-US" altLang="zh-CN" sz="1800" dirty="0">
              <a:latin typeface="+mn-ea"/>
            </a:endParaRPr>
          </a:p>
        </p:txBody>
      </p:sp>
      <p:sp>
        <p:nvSpPr>
          <p:cNvPr id="70" name="Text Box 349"/>
          <p:cNvSpPr txBox="1">
            <a:spLocks noChangeArrowheads="1"/>
          </p:cNvSpPr>
          <p:nvPr/>
        </p:nvSpPr>
        <p:spPr bwMode="auto">
          <a:xfrm>
            <a:off x="4355976" y="3069032"/>
            <a:ext cx="4536000" cy="648000"/>
          </a:xfrm>
          <a:prstGeom prst="rect">
            <a:avLst/>
          </a:prstGeom>
          <a:solidFill>
            <a:srgbClr val="CCFFFF">
              <a:alpha val="80000"/>
            </a:srgbClr>
          </a:solidFill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r>
              <a:rPr lang="en-US" altLang="zh-CN" sz="1800" b="1" u="none" dirty="0" smtClean="0">
                <a:solidFill>
                  <a:srgbClr val="FF3399"/>
                </a:solidFill>
                <a:latin typeface="+mn-ea"/>
                <a:ea typeface="+mn-ea"/>
              </a:rPr>
              <a:t>PPT</a:t>
            </a:r>
            <a:r>
              <a:rPr lang="zh-CN" altLang="en-US" sz="1800" b="1" u="none" dirty="0" smtClean="0">
                <a:solidFill>
                  <a:srgbClr val="FF3399"/>
                </a:solidFill>
                <a:latin typeface="+mn-ea"/>
                <a:ea typeface="+mn-ea"/>
              </a:rPr>
              <a:t>约定：</a:t>
            </a:r>
            <a:r>
              <a:rPr lang="en-US" altLang="zh-CN" sz="1800" b="1" dirty="0" smtClean="0">
                <a:latin typeface="+mn-ea"/>
                <a:ea typeface="+mn-ea"/>
              </a:rPr>
              <a:t>REG </a:t>
            </a:r>
            <a:r>
              <a:rPr lang="zh-CN" altLang="en-US" sz="1800" b="1" dirty="0" smtClean="0">
                <a:latin typeface="+mn-ea"/>
                <a:ea typeface="+mn-ea"/>
              </a:rPr>
              <a:t>为</a:t>
            </a:r>
            <a:r>
              <a:rPr lang="zh-CN" altLang="en-US" sz="1800" b="1" u="sng" dirty="0" smtClean="0">
                <a:latin typeface="+mn-ea"/>
                <a:ea typeface="+mn-ea"/>
              </a:rPr>
              <a:t>寄存</a:t>
            </a:r>
            <a:r>
              <a:rPr lang="zh-CN" altLang="en-US" sz="1800" b="1" u="sng" dirty="0" smtClean="0">
                <a:solidFill>
                  <a:schemeClr val="tx1"/>
                </a:solidFill>
                <a:latin typeface="+mn-ea"/>
                <a:ea typeface="+mn-ea"/>
              </a:rPr>
              <a:t>器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zh-CN" sz="1800" dirty="0" smtClean="0"/>
              <a:t>register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简写，</a:t>
            </a:r>
            <a:endParaRPr lang="en-US" altLang="zh-CN" sz="1800" b="1" u="none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zh-CN" sz="1800" b="1" dirty="0" smtClean="0">
                <a:latin typeface="+mn-ea"/>
                <a:ea typeface="+mn-ea"/>
              </a:rPr>
              <a:t>         REGs</a:t>
            </a:r>
            <a:r>
              <a:rPr lang="zh-CN" altLang="en-US" sz="1800" b="1" dirty="0" smtClean="0">
                <a:latin typeface="+mn-ea"/>
                <a:ea typeface="+mn-ea"/>
              </a:rPr>
              <a:t>为</a:t>
            </a:r>
            <a:r>
              <a:rPr lang="zh-CN" altLang="en-US" sz="1800" b="1" u="sng" dirty="0" smtClean="0">
                <a:solidFill>
                  <a:schemeClr val="tx1"/>
                </a:solidFill>
                <a:latin typeface="+mn-ea"/>
                <a:ea typeface="+mn-ea"/>
              </a:rPr>
              <a:t>寄存器组</a:t>
            </a:r>
            <a:r>
              <a:rPr lang="en-US" altLang="zh-CN" sz="1800" b="1" dirty="0" smtClean="0">
                <a:latin typeface="+mn-ea"/>
              </a:rPr>
              <a:t>(</a:t>
            </a:r>
            <a:r>
              <a:rPr lang="en-US" altLang="zh-CN" sz="1800" dirty="0" smtClean="0"/>
              <a:t>register set</a:t>
            </a:r>
            <a:r>
              <a:rPr lang="en-US" altLang="zh-CN" sz="1800" b="1" dirty="0" smtClean="0">
                <a:latin typeface="+mn-ea"/>
              </a:rPr>
              <a:t>)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简写</a:t>
            </a:r>
            <a:endParaRPr lang="en-US" altLang="zh-CN" sz="1800" b="1" u="none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8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Text Box 179"/>
          <p:cNvSpPr txBox="1">
            <a:spLocks noChangeArrowheads="1"/>
          </p:cNvSpPr>
          <p:nvPr/>
        </p:nvSpPr>
        <p:spPr bwMode="auto">
          <a:xfrm>
            <a:off x="2555651" y="4764568"/>
            <a:ext cx="6336829" cy="1282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14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A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i="1" dirty="0" smtClean="0">
                <a:latin typeface="+mn-lt"/>
              </a:rPr>
              <a:t>d</a:t>
            </a:r>
            <a:r>
              <a:rPr lang="en-US" altLang="zh-CN" sz="2200" dirty="0" smtClean="0">
                <a:latin typeface="+mn-lt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B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i="1" dirty="0" smtClean="0"/>
              <a:t>d</a:t>
            </a:r>
            <a:r>
              <a:rPr lang="en-US" altLang="zh-CN" sz="2200" dirty="0" smtClean="0"/>
              <a:t>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200" i="1" dirty="0" smtClean="0"/>
              <a:t>x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延迟</a:t>
            </a:r>
            <a:r>
              <a:rPr lang="en-US" altLang="zh-CN" sz="2200" i="1" u="sng" dirty="0" smtClean="0">
                <a:solidFill>
                  <a:srgbClr val="0070C0"/>
                </a:solidFill>
                <a:latin typeface="+mn-lt"/>
              </a:rPr>
              <a:t>t</a:t>
            </a:r>
            <a:r>
              <a:rPr lang="en-US" altLang="zh-CN" sz="2200" u="sng" dirty="0" smtClean="0">
                <a:solidFill>
                  <a:srgbClr val="0070C0"/>
                </a:solidFill>
                <a:latin typeface="+mn-lt"/>
              </a:rPr>
              <a:t>1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+mn-lt"/>
              </a:rPr>
              <a:t>后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F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i="1" dirty="0"/>
              <a:t> d</a:t>
            </a:r>
            <a:r>
              <a:rPr lang="en-US" altLang="zh-CN" sz="2200" i="1" baseline="-25000" dirty="0"/>
              <a:t> </a:t>
            </a:r>
            <a:r>
              <a:rPr lang="en-US" altLang="zh-CN" sz="2200" dirty="0" smtClean="0"/>
              <a:t>1</a:t>
            </a:r>
            <a:r>
              <a:rPr lang="en-US" altLang="zh-CN" sz="1800" dirty="0" smtClean="0"/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op</a:t>
            </a:r>
            <a:r>
              <a:rPr lang="en-US" altLang="zh-CN" sz="1400" i="1" dirty="0" smtClean="0">
                <a:latin typeface="+mn-ea"/>
                <a:ea typeface="+mn-ea"/>
              </a:rPr>
              <a:t> </a:t>
            </a:r>
            <a:r>
              <a:rPr lang="en-US" altLang="zh-CN" sz="2200" i="1" dirty="0"/>
              <a:t>d</a:t>
            </a:r>
            <a:r>
              <a:rPr lang="en-US" altLang="zh-CN" sz="2200" i="1" baseline="-25000" dirty="0"/>
              <a:t> </a:t>
            </a:r>
            <a:r>
              <a:rPr lang="en-US" altLang="zh-CN" sz="2200" dirty="0" smtClean="0"/>
              <a:t>2</a:t>
            </a:r>
            <a:endParaRPr lang="en-US" altLang="zh-CN" sz="2200" dirty="0" smtClean="0"/>
          </a:p>
          <a:p>
            <a:pPr marL="457200" indent="-457200">
              <a:lnSpc>
                <a:spcPct val="114000"/>
              </a:lnSpc>
            </a:pPr>
            <a:r>
              <a:rPr lang="en-US" altLang="zh-CN" b="1" dirty="0" err="1" smtClean="0">
                <a:latin typeface="宋体" panose="02010600030101010101" pitchFamily="2" charset="-122"/>
              </a:rPr>
              <a:t>r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i="1" dirty="0" smtClean="0">
                <a:latin typeface="+mn-lt"/>
              </a:rPr>
              <a:t>y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dirty="0" smtClean="0"/>
              <a:t> </a:t>
            </a:r>
            <a:r>
              <a:rPr lang="zh-CN" altLang="en-US" sz="2200" b="1" u="sng" dirty="0" smtClean="0">
                <a:solidFill>
                  <a:srgbClr val="0070C0"/>
                </a:solidFill>
              </a:rPr>
              <a:t>延迟</a:t>
            </a:r>
            <a:r>
              <a:rPr lang="en-US" altLang="zh-CN" sz="2200" i="1" u="sng" dirty="0" smtClean="0">
                <a:solidFill>
                  <a:srgbClr val="0070C0"/>
                </a:solidFill>
              </a:rPr>
              <a:t>t</a:t>
            </a:r>
            <a:r>
              <a:rPr lang="en-US" altLang="zh-CN" sz="2200" u="sng" dirty="0" smtClean="0">
                <a:solidFill>
                  <a:srgbClr val="0070C0"/>
                </a:solidFill>
              </a:rPr>
              <a:t>2</a:t>
            </a:r>
            <a:r>
              <a:rPr lang="zh-CN" altLang="en-US" sz="2200" b="1" u="sng" dirty="0" smtClean="0">
                <a:solidFill>
                  <a:srgbClr val="0070C0"/>
                </a:solidFill>
              </a:rPr>
              <a:t>后</a:t>
            </a:r>
            <a:r>
              <a:rPr lang="en-US" altLang="zh-CN" sz="2200" b="1" dirty="0" smtClean="0">
                <a:latin typeface="+mn-ea"/>
                <a:ea typeface="+mn-ea"/>
              </a:rPr>
              <a:t>Q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REG</a:t>
            </a:r>
            <a:r>
              <a:rPr lang="en-US" altLang="zh-CN" sz="2200" i="1" baseline="-18000" dirty="0" err="1" smtClean="0"/>
              <a:t>y</a:t>
            </a:r>
            <a:r>
              <a:rPr lang="zh-CN" altLang="en-US" sz="2200" b="1" dirty="0" smtClean="0"/>
              <a:t>所存内容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457200" indent="-457200">
              <a:lnSpc>
                <a:spcPct val="114000"/>
              </a:lnSpc>
            </a:pPr>
            <a:r>
              <a:rPr lang="en-US" altLang="zh-CN" sz="2200" b="1" dirty="0" err="1" smtClean="0">
                <a:latin typeface="宋体" panose="02010600030101010101" pitchFamily="2" charset="-122"/>
              </a:rPr>
              <a:t>rW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i="1" dirty="0" smtClean="0">
                <a:latin typeface="+mn-lt"/>
              </a:rPr>
              <a:t>z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D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i="1" dirty="0" smtClean="0"/>
              <a:t>d</a:t>
            </a:r>
            <a:r>
              <a:rPr lang="en-US" altLang="zh-CN" sz="2200" dirty="0" smtClean="0"/>
              <a:t>3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 err="1" smtClean="0">
                <a:solidFill>
                  <a:srgbClr val="990099"/>
                </a:solidFill>
                <a:latin typeface="宋体" panose="02010600030101010101" pitchFamily="2" charset="-122"/>
              </a:rPr>
              <a:t>Wr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CP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上升沿后</a:t>
            </a:r>
            <a:r>
              <a:rPr lang="en-US" altLang="zh-CN" sz="2200" i="1" u="sng" dirty="0" smtClean="0">
                <a:solidFill>
                  <a:srgbClr val="0070C0"/>
                </a:solidFill>
              </a:rPr>
              <a:t>t</a:t>
            </a:r>
            <a:r>
              <a:rPr lang="en-US" altLang="zh-CN" sz="2200" u="sng" dirty="0" smtClean="0">
                <a:solidFill>
                  <a:srgbClr val="0070C0"/>
                </a:solidFill>
              </a:rPr>
              <a:t>3</a:t>
            </a:r>
            <a:r>
              <a:rPr lang="zh-CN" altLang="en-US" sz="2200" b="1" u="sng" dirty="0" smtClean="0">
                <a:solidFill>
                  <a:srgbClr val="0070C0"/>
                </a:solidFill>
              </a:rPr>
              <a:t>时</a:t>
            </a:r>
            <a:r>
              <a:rPr lang="zh-CN" altLang="en-US" sz="2200" b="1" dirty="0" smtClean="0"/>
              <a:t>操作完成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0" name="Text Box 16"/>
          <p:cNvSpPr txBox="1">
            <a:spLocks noChangeArrowheads="1"/>
          </p:cNvSpPr>
          <p:nvPr/>
        </p:nvSpPr>
        <p:spPr bwMode="auto">
          <a:xfrm>
            <a:off x="4644424" y="4221088"/>
            <a:ext cx="3384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892175" indent="-892175">
              <a:lnSpc>
                <a:spcPct val="105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思考③：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REGs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的引脚如何组织？</a:t>
            </a:r>
            <a:endParaRPr lang="en-US" altLang="zh-CN" sz="1800" dirty="0">
              <a:latin typeface="+mn-ea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65865" y="3068960"/>
            <a:ext cx="3646095" cy="1159000"/>
            <a:chOff x="2555800" y="3297114"/>
            <a:chExt cx="3646095" cy="1159000"/>
          </a:xfrm>
        </p:grpSpPr>
        <p:sp>
          <p:nvSpPr>
            <p:cNvPr id="37" name="Text Box 183"/>
            <p:cNvSpPr txBox="1">
              <a:spLocks noChangeArrowheads="1"/>
            </p:cNvSpPr>
            <p:nvPr/>
          </p:nvSpPr>
          <p:spPr bwMode="auto">
            <a:xfrm>
              <a:off x="2555800" y="3729186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+mn-ea"/>
                  <a:ea typeface="+mn-ea"/>
                </a:rPr>
                <a:t>op</a:t>
              </a:r>
              <a:endParaRPr lang="en-US" altLang="zh-CN" sz="1600" b="1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41" name="Rectangle 184"/>
            <p:cNvSpPr>
              <a:spLocks noChangeArrowheads="1"/>
            </p:cNvSpPr>
            <p:nvPr/>
          </p:nvSpPr>
          <p:spPr bwMode="auto">
            <a:xfrm>
              <a:off x="2901967" y="3510090"/>
              <a:ext cx="2844000" cy="720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prstDash val="dashDot"/>
              <a:miter lim="800000"/>
            </a:ln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43" name="AutoShape 189"/>
            <p:cNvSpPr>
              <a:spLocks noChangeArrowheads="1"/>
            </p:cNvSpPr>
            <p:nvPr/>
          </p:nvSpPr>
          <p:spPr bwMode="auto">
            <a:xfrm>
              <a:off x="2949371" y="3657202"/>
              <a:ext cx="1008000" cy="360000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36000" tIns="18000" rIns="36000" bIns="18000" anchor="ctr"/>
            <a:lstStyle/>
            <a:p>
              <a:pPr lvl="0"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ALU</a:t>
              </a:r>
              <a:endPara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Text Box 193"/>
            <p:cNvSpPr txBox="1">
              <a:spLocks noChangeArrowheads="1"/>
            </p:cNvSpPr>
            <p:nvPr/>
          </p:nvSpPr>
          <p:spPr bwMode="auto">
            <a:xfrm>
              <a:off x="4139952" y="3585146"/>
              <a:ext cx="1512000" cy="54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rgbClr val="000000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寄存器组</a:t>
              </a:r>
              <a:r>
                <a:rPr lang="en-US" altLang="zh-CN" sz="18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REGs</a:t>
              </a:r>
              <a:endPara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如</a:t>
              </a: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8</a:t>
              </a: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个</a:t>
              </a: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×16</a:t>
              </a: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位</a:t>
              </a: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4" name="直接箭头连接符 63"/>
            <p:cNvCxnSpPr/>
            <p:nvPr/>
          </p:nvCxnSpPr>
          <p:spPr bwMode="auto">
            <a:xfrm flipV="1">
              <a:off x="2787528" y="3845238"/>
              <a:ext cx="25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/>
              <a:tailEnd type="arrow" w="sm" len="sm"/>
            </a:ln>
            <a:effectLst/>
          </p:spPr>
        </p:cxnSp>
        <p:sp>
          <p:nvSpPr>
            <p:cNvPr id="71" name="Text Box 191"/>
            <p:cNvSpPr txBox="1">
              <a:spLocks noChangeArrowheads="1"/>
            </p:cNvSpPr>
            <p:nvPr/>
          </p:nvSpPr>
          <p:spPr bwMode="auto">
            <a:xfrm>
              <a:off x="2987824" y="3297114"/>
              <a:ext cx="792000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A     B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2" name="Text Box 191"/>
            <p:cNvSpPr txBox="1">
              <a:spLocks noChangeArrowheads="1"/>
            </p:cNvSpPr>
            <p:nvPr/>
          </p:nvSpPr>
          <p:spPr bwMode="auto">
            <a:xfrm>
              <a:off x="3275856" y="4233218"/>
              <a:ext cx="216000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3" name="直接箭头连接符 28"/>
            <p:cNvCxnSpPr/>
            <p:nvPr/>
          </p:nvCxnSpPr>
          <p:spPr bwMode="auto">
            <a:xfrm>
              <a:off x="3131840" y="3297146"/>
              <a:ext cx="1" cy="36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74" name="直接箭头连接符 28"/>
            <p:cNvCxnSpPr/>
            <p:nvPr/>
          </p:nvCxnSpPr>
          <p:spPr bwMode="auto">
            <a:xfrm>
              <a:off x="3779912" y="3297114"/>
              <a:ext cx="0" cy="36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75" name="直接箭头连接符 28"/>
            <p:cNvCxnSpPr/>
            <p:nvPr/>
          </p:nvCxnSpPr>
          <p:spPr bwMode="auto">
            <a:xfrm>
              <a:off x="3491880" y="4024114"/>
              <a:ext cx="0" cy="43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76" name="直接箭头连接符 28"/>
            <p:cNvCxnSpPr/>
            <p:nvPr/>
          </p:nvCxnSpPr>
          <p:spPr bwMode="auto">
            <a:xfrm flipH="1" flipV="1">
              <a:off x="4932040" y="3297146"/>
              <a:ext cx="0" cy="28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77" name="直接箭头连接符 28"/>
            <p:cNvCxnSpPr/>
            <p:nvPr/>
          </p:nvCxnSpPr>
          <p:spPr bwMode="auto">
            <a:xfrm flipV="1">
              <a:off x="4932040" y="4125242"/>
              <a:ext cx="0" cy="32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78" name="直接箭头连接符 77"/>
            <p:cNvCxnSpPr/>
            <p:nvPr/>
          </p:nvCxnSpPr>
          <p:spPr bwMode="auto">
            <a:xfrm flipH="1">
              <a:off x="5644881" y="364502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/>
              <a:tailEnd type="triangle" w="sm" len="sm"/>
            </a:ln>
            <a:effectLst/>
          </p:spPr>
        </p:cxnSp>
        <p:cxnSp>
          <p:nvCxnSpPr>
            <p:cNvPr id="79" name="直接箭头连接符 78"/>
            <p:cNvCxnSpPr/>
            <p:nvPr/>
          </p:nvCxnSpPr>
          <p:spPr bwMode="auto">
            <a:xfrm flipH="1">
              <a:off x="5652120" y="401719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/>
              <a:tailEnd type="arrow" w="sm" len="sm"/>
            </a:ln>
            <a:effectLst/>
          </p:spPr>
        </p:cxnSp>
        <p:cxnSp>
          <p:nvCxnSpPr>
            <p:cNvPr id="80" name="直接箭头连接符 79"/>
            <p:cNvCxnSpPr/>
            <p:nvPr/>
          </p:nvCxnSpPr>
          <p:spPr bwMode="auto">
            <a:xfrm flipH="1">
              <a:off x="5652120" y="3873178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/>
              <a:tailEnd type="triangle" w="sm" len="sm"/>
            </a:ln>
            <a:effectLst/>
          </p:spPr>
        </p:cxnSp>
        <p:sp>
          <p:nvSpPr>
            <p:cNvPr id="82" name="Text Box 183"/>
            <p:cNvSpPr txBox="1">
              <a:spLocks noChangeArrowheads="1"/>
            </p:cNvSpPr>
            <p:nvPr/>
          </p:nvSpPr>
          <p:spPr bwMode="auto">
            <a:xfrm>
              <a:off x="5868144" y="3513138"/>
              <a:ext cx="288000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CC3300"/>
                  </a:solidFill>
                  <a:latin typeface="+mn-ea"/>
                  <a:ea typeface="+mn-ea"/>
                </a:rPr>
                <a:t>rR</a:t>
              </a:r>
              <a:endParaRPr lang="en-US" altLang="zh-CN" sz="1600" b="1" dirty="0">
                <a:solidFill>
                  <a:srgbClr val="CC3300"/>
                </a:solidFill>
                <a:latin typeface="+mn-ea"/>
                <a:ea typeface="+mn-ea"/>
              </a:endParaRPr>
            </a:p>
          </p:txBody>
        </p:sp>
        <p:sp>
          <p:nvSpPr>
            <p:cNvPr id="83" name="Text Box 183"/>
            <p:cNvSpPr txBox="1">
              <a:spLocks noChangeArrowheads="1"/>
            </p:cNvSpPr>
            <p:nvPr/>
          </p:nvSpPr>
          <p:spPr bwMode="auto">
            <a:xfrm>
              <a:off x="5868144" y="3729162"/>
              <a:ext cx="288000" cy="648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CC3300"/>
                  </a:solidFill>
                  <a:latin typeface="+mn-ea"/>
                  <a:ea typeface="+mn-ea"/>
                </a:rPr>
                <a:t>rW</a:t>
              </a:r>
              <a:endParaRPr lang="en-US" altLang="zh-CN" sz="1600" b="1" dirty="0" smtClean="0">
                <a:solidFill>
                  <a:srgbClr val="CC3300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+mn-ea"/>
                  <a:ea typeface="+mn-ea"/>
                </a:rPr>
                <a:t>Wr</a:t>
              </a:r>
              <a:endParaRPr lang="en-US" altLang="zh-CN" sz="1600" b="1" dirty="0" smtClean="0">
                <a:solidFill>
                  <a:srgbClr val="FF3399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CP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84" name="直接箭头连接符 83"/>
            <p:cNvCxnSpPr/>
            <p:nvPr/>
          </p:nvCxnSpPr>
          <p:spPr bwMode="auto">
            <a:xfrm flipV="1">
              <a:off x="5508104" y="4125226"/>
              <a:ext cx="1" cy="180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/>
              <a:tailEnd type="arrow" w="sm" len="sm"/>
            </a:ln>
            <a:effectLst/>
          </p:spPr>
        </p:cxnSp>
        <p:cxnSp>
          <p:nvCxnSpPr>
            <p:cNvPr id="85" name="直接箭头连接符 84"/>
            <p:cNvCxnSpPr/>
            <p:nvPr/>
          </p:nvCxnSpPr>
          <p:spPr bwMode="auto">
            <a:xfrm flipH="1">
              <a:off x="5508106" y="4305225"/>
              <a:ext cx="36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cxnSp>
        <p:sp>
          <p:nvSpPr>
            <p:cNvPr id="86" name="Text Box 191"/>
            <p:cNvSpPr txBox="1">
              <a:spLocks noChangeArrowheads="1"/>
            </p:cNvSpPr>
            <p:nvPr/>
          </p:nvSpPr>
          <p:spPr bwMode="auto">
            <a:xfrm>
              <a:off x="4716016" y="4233218"/>
              <a:ext cx="216000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7" name="Text Box 191"/>
            <p:cNvSpPr txBox="1">
              <a:spLocks noChangeArrowheads="1"/>
            </p:cNvSpPr>
            <p:nvPr/>
          </p:nvSpPr>
          <p:spPr bwMode="auto">
            <a:xfrm>
              <a:off x="4716016" y="3297114"/>
              <a:ext cx="171690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8" name="右大括号 87"/>
            <p:cNvSpPr/>
            <p:nvPr/>
          </p:nvSpPr>
          <p:spPr bwMode="auto">
            <a:xfrm>
              <a:off x="6156176" y="3801170"/>
              <a:ext cx="45719" cy="503416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8" name="Text Box 16"/>
          <p:cNvSpPr txBox="1">
            <a:spLocks noChangeArrowheads="1"/>
          </p:cNvSpPr>
          <p:nvPr/>
        </p:nvSpPr>
        <p:spPr bwMode="auto">
          <a:xfrm>
            <a:off x="2915816" y="6057328"/>
            <a:ext cx="4032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271780" indent="-271780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思考④：</a:t>
            </a:r>
            <a:r>
              <a:rPr lang="en-US" altLang="zh-CN" sz="1800" b="1" i="1" dirty="0" smtClean="0">
                <a:latin typeface="+mn-lt"/>
              </a:rPr>
              <a:t>t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1</a:t>
            </a:r>
            <a:r>
              <a:rPr lang="en-US" altLang="zh-CN" sz="1800" b="1" dirty="0" smtClean="0">
                <a:latin typeface="+mn-lt"/>
              </a:rPr>
              <a:t>~</a:t>
            </a:r>
            <a:r>
              <a:rPr lang="en-US" altLang="zh-CN" sz="1800" b="1" i="1" dirty="0">
                <a:latin typeface="+mn-lt"/>
              </a:rPr>
              <a:t>t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3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分别是哪个</a:t>
            </a:r>
            <a:r>
              <a:rPr lang="zh-CN" altLang="en-US" sz="1800" b="1" dirty="0">
                <a:latin typeface="宋体" panose="02010600030101010101" pitchFamily="2" charset="-122"/>
              </a:rPr>
              <a:t>元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件的延迟？</a:t>
            </a:r>
            <a:endParaRPr lang="en-US" altLang="zh-CN" sz="1800" dirty="0">
              <a:latin typeface="+mn-ea"/>
            </a:endParaRPr>
          </a:p>
        </p:txBody>
      </p:sp>
      <p:sp>
        <p:nvSpPr>
          <p:cNvPr id="122" name="Text Box 16"/>
          <p:cNvSpPr txBox="1">
            <a:spLocks noChangeArrowheads="1"/>
          </p:cNvSpPr>
          <p:nvPr/>
        </p:nvSpPr>
        <p:spPr bwMode="auto">
          <a:xfrm>
            <a:off x="4644368" y="3825080"/>
            <a:ext cx="3636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271780" indent="-271780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D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触发器至少有哪些引脚？</a:t>
            </a:r>
            <a:endParaRPr lang="en-US" altLang="zh-CN" sz="1800" dirty="0">
              <a:latin typeface="+mn-ea"/>
            </a:endParaRPr>
          </a:p>
        </p:txBody>
      </p:sp>
      <p:sp>
        <p:nvSpPr>
          <p:cNvPr id="123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5400000">
            <a:off x="4140299" y="6525690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47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424"/>
    </mc:Choice>
    <mc:Fallback>
      <p:transition spd="slow" advTm="194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96" grpId="0"/>
      <p:bldP spid="172" grpId="0"/>
      <p:bldP spid="44" grpId="0" animBg="1"/>
      <p:bldP spid="70" grpId="0" animBg="1"/>
      <p:bldP spid="40" grpId="0" animBg="1"/>
      <p:bldP spid="68" grpId="0" animBg="1"/>
      <p:bldP spid="122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24" name="Text Box 308"/>
          <p:cNvSpPr txBox="1">
            <a:spLocks noChangeArrowheads="1"/>
          </p:cNvSpPr>
          <p:nvPr/>
        </p:nvSpPr>
        <p:spPr bwMode="auto">
          <a:xfrm>
            <a:off x="179388" y="332656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控制器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功能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控制</a:t>
            </a:r>
            <a:r>
              <a:rPr lang="zh-CN" altLang="en-US" b="1" dirty="0">
                <a:latin typeface="宋体" panose="02010600030101010101" pitchFamily="2" charset="-122"/>
              </a:rPr>
              <a:t>各部件</a:t>
            </a:r>
            <a:r>
              <a:rPr lang="zh-CN" altLang="en-US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协调地</a:t>
            </a:r>
            <a:r>
              <a:rPr lang="zh-CN" altLang="en-US" b="1" dirty="0" smtClean="0">
                <a:latin typeface="宋体" panose="02010600030101010101" pitchFamily="2" charset="-122"/>
              </a:rPr>
              <a:t>工作，以实现</a:t>
            </a:r>
            <a:r>
              <a:rPr lang="zh-CN" altLang="en-US" b="1" u="sng" dirty="0">
                <a:latin typeface="宋体" panose="02010600030101010101" pitchFamily="2" charset="-122"/>
              </a:rPr>
              <a:t>程序执行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过程</a:t>
            </a:r>
            <a:r>
              <a:rPr lang="zh-CN" altLang="en-US" b="1" dirty="0" smtClean="0">
                <a:latin typeface="宋体" panose="02010600030101010101" pitchFamily="2" charset="-122"/>
              </a:rPr>
              <a:t> 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82" name="AutoShape 71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2F4A4-3F44-4BF1-9249-E850563696DD}" type="slidenum">
              <a:rPr lang="en-US" altLang="zh-CN"/>
            </a:fld>
            <a:endParaRPr lang="en-US" altLang="zh-CN" dirty="0"/>
          </a:p>
        </p:txBody>
      </p:sp>
      <p:sp>
        <p:nvSpPr>
          <p:cNvPr id="163125" name="Text Box 309"/>
          <p:cNvSpPr txBox="1">
            <a:spLocks noChangeArrowheads="1"/>
          </p:cNvSpPr>
          <p:nvPr/>
        </p:nvSpPr>
        <p:spPr bwMode="auto">
          <a:xfrm>
            <a:off x="158943" y="1268760"/>
            <a:ext cx="8785225" cy="37471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程序执行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过程的实现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思路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需求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实现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2051720" y="1916832"/>
            <a:ext cx="6480552" cy="504056"/>
            <a:chOff x="1907704" y="1340768"/>
            <a:chExt cx="6480552" cy="504056"/>
          </a:xfrm>
        </p:grpSpPr>
        <p:sp>
          <p:nvSpPr>
            <p:cNvPr id="60" name="矩形 59"/>
            <p:cNvSpPr/>
            <p:nvPr/>
          </p:nvSpPr>
          <p:spPr bwMode="auto">
            <a:xfrm>
              <a:off x="1907704" y="1412824"/>
              <a:ext cx="4680520" cy="43200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Text Box 311"/>
            <p:cNvSpPr txBox="1">
              <a:spLocks noChangeArrowheads="1"/>
            </p:cNvSpPr>
            <p:nvPr/>
          </p:nvSpPr>
          <p:spPr bwMode="auto">
            <a:xfrm>
              <a:off x="2051720" y="1484816"/>
              <a:ext cx="1296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取指令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2" name="Text Box 314"/>
            <p:cNvSpPr txBox="1">
              <a:spLocks noChangeArrowheads="1"/>
            </p:cNvSpPr>
            <p:nvPr/>
          </p:nvSpPr>
          <p:spPr bwMode="auto">
            <a:xfrm>
              <a:off x="3779912" y="1484816"/>
              <a:ext cx="1080000" cy="288000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分析指令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3" name="Text Box 316"/>
            <p:cNvSpPr txBox="1">
              <a:spLocks noChangeArrowheads="1"/>
            </p:cNvSpPr>
            <p:nvPr/>
          </p:nvSpPr>
          <p:spPr bwMode="auto">
            <a:xfrm>
              <a:off x="5292216" y="1484816"/>
              <a:ext cx="1224000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执行指令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4" name="直接箭头连接符 63"/>
            <p:cNvCxnSpPr>
              <a:stCxn id="61" idx="3"/>
              <a:endCxn id="62" idx="1"/>
            </p:cNvCxnSpPr>
            <p:nvPr/>
          </p:nvCxnSpPr>
          <p:spPr bwMode="auto">
            <a:xfrm>
              <a:off x="3347720" y="1628816"/>
              <a:ext cx="432192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接箭头连接符 64"/>
            <p:cNvCxnSpPr>
              <a:stCxn id="62" idx="3"/>
              <a:endCxn id="63" idx="1"/>
            </p:cNvCxnSpPr>
            <p:nvPr/>
          </p:nvCxnSpPr>
          <p:spPr bwMode="auto">
            <a:xfrm>
              <a:off x="4859912" y="1628816"/>
              <a:ext cx="43230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6" name="Text Box 316"/>
            <p:cNvSpPr txBox="1">
              <a:spLocks noChangeArrowheads="1"/>
            </p:cNvSpPr>
            <p:nvPr/>
          </p:nvSpPr>
          <p:spPr bwMode="auto">
            <a:xfrm>
              <a:off x="6876256" y="1340768"/>
              <a:ext cx="1512000" cy="50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计算指令地址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循环处理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7" name="直接箭头连接符 66"/>
            <p:cNvCxnSpPr/>
            <p:nvPr/>
          </p:nvCxnSpPr>
          <p:spPr bwMode="auto">
            <a:xfrm flipV="1">
              <a:off x="6516216" y="1628800"/>
              <a:ext cx="36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8" name="直接箭头连接符 27"/>
            <p:cNvCxnSpPr>
              <a:stCxn id="66" idx="3"/>
              <a:endCxn id="61" idx="1"/>
            </p:cNvCxnSpPr>
            <p:nvPr/>
          </p:nvCxnSpPr>
          <p:spPr bwMode="auto">
            <a:xfrm flipH="1">
              <a:off x="2051720" y="1592768"/>
              <a:ext cx="6336536" cy="36048"/>
            </a:xfrm>
            <a:prstGeom prst="bentConnector5">
              <a:avLst>
                <a:gd name="adj1" fmla="val -3608"/>
                <a:gd name="adj2" fmla="val -939164"/>
                <a:gd name="adj3" fmla="val 104360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90" name="Text Box 63"/>
          <p:cNvSpPr txBox="1">
            <a:spLocks noChangeArrowheads="1"/>
          </p:cNvSpPr>
          <p:nvPr/>
        </p:nvSpPr>
        <p:spPr bwMode="auto">
          <a:xfrm>
            <a:off x="1403648" y="4437112"/>
            <a:ext cx="7740352" cy="8448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PC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IR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ID</a:t>
            </a:r>
            <a:r>
              <a:rPr lang="zh-CN" altLang="en-US" b="1" dirty="0" smtClean="0">
                <a:latin typeface="宋体" panose="02010600030101010101" pitchFamily="2" charset="-122"/>
              </a:rPr>
              <a:t>、时序部件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zh-CN" altLang="en-US" b="1" dirty="0" smtClean="0">
                <a:latin typeface="宋体" panose="02010600030101010101" pitchFamily="2" charset="-122"/>
              </a:rPr>
              <a:t>控制信号形成部件等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          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←产生时序信号     └←产生指令所需的控制信号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83" name="Text Box 63"/>
          <p:cNvSpPr txBox="1">
            <a:spLocks noChangeArrowheads="1"/>
          </p:cNvSpPr>
          <p:nvPr/>
        </p:nvSpPr>
        <p:spPr bwMode="auto">
          <a:xfrm>
            <a:off x="1728192" y="2492896"/>
            <a:ext cx="7308304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设置</a:t>
            </a:r>
            <a:r>
              <a:rPr lang="zh-CN" altLang="en-US" b="1" dirty="0" smtClean="0">
                <a:latin typeface="宋体" panose="02010600030101010101" pitchFamily="2" charset="-122"/>
              </a:rPr>
              <a:t>相应器件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如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PC/ID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等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按序进行</a:t>
            </a:r>
            <a:r>
              <a:rPr lang="zh-CN" altLang="en-US" b="1" dirty="0" smtClean="0">
                <a:latin typeface="宋体" panose="02010600030101010101" pitchFamily="2" charset="-122"/>
              </a:rPr>
              <a:t>相应操作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00348" y="5249353"/>
            <a:ext cx="6067996" cy="1203983"/>
            <a:chOff x="1672357" y="5321361"/>
            <a:chExt cx="6067996" cy="1203983"/>
          </a:xfrm>
        </p:grpSpPr>
        <p:sp>
          <p:nvSpPr>
            <p:cNvPr id="239" name="Rectangle 65" descr="轮廓式菱形"/>
            <p:cNvSpPr>
              <a:spLocks noChangeArrowheads="1"/>
            </p:cNvSpPr>
            <p:nvPr/>
          </p:nvSpPr>
          <p:spPr bwMode="auto">
            <a:xfrm>
              <a:off x="1979713" y="5321361"/>
              <a:ext cx="5760640" cy="106286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0" name="Text Box 66"/>
            <p:cNvSpPr txBox="1">
              <a:spLocks noChangeArrowheads="1"/>
            </p:cNvSpPr>
            <p:nvPr/>
          </p:nvSpPr>
          <p:spPr bwMode="auto">
            <a:xfrm>
              <a:off x="2150939" y="5949030"/>
              <a:ext cx="1584325" cy="3602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指令寄存器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41" name="Line 67"/>
            <p:cNvSpPr>
              <a:spLocks noChangeShapeType="1"/>
            </p:cNvSpPr>
            <p:nvPr/>
          </p:nvSpPr>
          <p:spPr bwMode="auto">
            <a:xfrm flipH="1">
              <a:off x="5651674" y="6165946"/>
              <a:ext cx="0" cy="35939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Text Box 68"/>
            <p:cNvSpPr txBox="1">
              <a:spLocks noChangeArrowheads="1"/>
            </p:cNvSpPr>
            <p:nvPr/>
          </p:nvSpPr>
          <p:spPr bwMode="auto">
            <a:xfrm>
              <a:off x="5867821" y="6121869"/>
              <a:ext cx="360363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</a:rPr>
                <a:t>…</a:t>
              </a:r>
              <a:endParaRPr lang="en-US" altLang="zh-CN" sz="1800" b="1" dirty="0">
                <a:solidFill>
                  <a:srgbClr val="FF3399"/>
                </a:solidFill>
              </a:endParaRPr>
            </a:p>
          </p:txBody>
        </p:sp>
        <p:sp>
          <p:nvSpPr>
            <p:cNvPr id="243" name="Text Box 69"/>
            <p:cNvSpPr txBox="1">
              <a:spLocks noChangeArrowheads="1"/>
            </p:cNvSpPr>
            <p:nvPr/>
          </p:nvSpPr>
          <p:spPr bwMode="auto">
            <a:xfrm>
              <a:off x="2150939" y="5445222"/>
              <a:ext cx="1584325" cy="35775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程序计数器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44" name="Text Box 70"/>
            <p:cNvSpPr txBox="1">
              <a:spLocks noChangeArrowheads="1"/>
            </p:cNvSpPr>
            <p:nvPr/>
          </p:nvSpPr>
          <p:spPr bwMode="auto">
            <a:xfrm>
              <a:off x="4066852" y="5664472"/>
              <a:ext cx="865188" cy="644846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指令译码器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45" name="Text Box 71"/>
            <p:cNvSpPr txBox="1">
              <a:spLocks noChangeArrowheads="1"/>
            </p:cNvSpPr>
            <p:nvPr/>
          </p:nvSpPr>
          <p:spPr bwMode="auto">
            <a:xfrm>
              <a:off x="5356448" y="5445222"/>
              <a:ext cx="1150938" cy="720725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>
                  <a:latin typeface="宋体" panose="02010600030101010101" pitchFamily="2" charset="-122"/>
                </a:rPr>
                <a:t>控制信号形成部件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46" name="Text Box 74"/>
            <p:cNvSpPr txBox="1">
              <a:spLocks noChangeArrowheads="1"/>
            </p:cNvSpPr>
            <p:nvPr/>
          </p:nvSpPr>
          <p:spPr bwMode="auto">
            <a:xfrm>
              <a:off x="6948264" y="5479924"/>
              <a:ext cx="649288" cy="64611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时序部件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47" name="Line 75"/>
            <p:cNvSpPr>
              <a:spLocks noChangeShapeType="1"/>
            </p:cNvSpPr>
            <p:nvPr/>
          </p:nvSpPr>
          <p:spPr bwMode="auto">
            <a:xfrm flipH="1" flipV="1">
              <a:off x="6507386" y="5622763"/>
              <a:ext cx="440878" cy="133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76"/>
            <p:cNvSpPr>
              <a:spLocks noChangeShapeType="1"/>
            </p:cNvSpPr>
            <p:nvPr/>
          </p:nvSpPr>
          <p:spPr bwMode="auto">
            <a:xfrm flipV="1">
              <a:off x="4924152" y="5802980"/>
              <a:ext cx="432296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77"/>
            <p:cNvSpPr>
              <a:spLocks noChangeShapeType="1"/>
            </p:cNvSpPr>
            <p:nvPr/>
          </p:nvSpPr>
          <p:spPr bwMode="auto">
            <a:xfrm>
              <a:off x="3735264" y="6092698"/>
              <a:ext cx="341263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78"/>
            <p:cNvSpPr>
              <a:spLocks noChangeShapeType="1"/>
            </p:cNvSpPr>
            <p:nvPr/>
          </p:nvSpPr>
          <p:spPr bwMode="auto">
            <a:xfrm flipH="1">
              <a:off x="1672357" y="5733254"/>
              <a:ext cx="478582" cy="0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79"/>
            <p:cNvSpPr>
              <a:spLocks noChangeShapeType="1"/>
            </p:cNvSpPr>
            <p:nvPr/>
          </p:nvSpPr>
          <p:spPr bwMode="auto">
            <a:xfrm>
              <a:off x="1672357" y="6098627"/>
              <a:ext cx="478582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Text Box 81"/>
            <p:cNvSpPr txBox="1">
              <a:spLocks noChangeArrowheads="1"/>
            </p:cNvSpPr>
            <p:nvPr/>
          </p:nvSpPr>
          <p:spPr bwMode="auto">
            <a:xfrm>
              <a:off x="4098387" y="5321361"/>
              <a:ext cx="1121685" cy="30274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</a:rPr>
                <a:t>控制单元</a:t>
              </a: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253" name="Text Box 83"/>
            <p:cNvSpPr txBox="1">
              <a:spLocks noChangeArrowheads="1"/>
            </p:cNvSpPr>
            <p:nvPr/>
          </p:nvSpPr>
          <p:spPr bwMode="auto">
            <a:xfrm>
              <a:off x="6659339" y="5646005"/>
              <a:ext cx="288925" cy="28733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CC3300"/>
                  </a:solidFill>
                </a:rPr>
                <a:t>…</a:t>
              </a:r>
              <a:endParaRPr lang="en-US" altLang="zh-CN" sz="1800" b="1" dirty="0">
                <a:solidFill>
                  <a:srgbClr val="CC3300"/>
                </a:solidFill>
              </a:endParaRPr>
            </a:p>
          </p:txBody>
        </p:sp>
        <p:sp>
          <p:nvSpPr>
            <p:cNvPr id="254" name="Line 84"/>
            <p:cNvSpPr>
              <a:spLocks noChangeShapeType="1"/>
            </p:cNvSpPr>
            <p:nvPr/>
          </p:nvSpPr>
          <p:spPr bwMode="auto">
            <a:xfrm flipV="1">
              <a:off x="4932040" y="6021286"/>
              <a:ext cx="424408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85"/>
            <p:cNvSpPr>
              <a:spLocks noChangeShapeType="1"/>
            </p:cNvSpPr>
            <p:nvPr/>
          </p:nvSpPr>
          <p:spPr bwMode="auto">
            <a:xfrm flipH="1">
              <a:off x="5796136" y="6167535"/>
              <a:ext cx="0" cy="357808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86"/>
            <p:cNvSpPr>
              <a:spLocks noChangeShapeType="1"/>
            </p:cNvSpPr>
            <p:nvPr/>
          </p:nvSpPr>
          <p:spPr bwMode="auto">
            <a:xfrm flipH="1">
              <a:off x="6300192" y="6165948"/>
              <a:ext cx="0" cy="359396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75"/>
            <p:cNvSpPr>
              <a:spLocks noChangeShapeType="1"/>
            </p:cNvSpPr>
            <p:nvPr/>
          </p:nvSpPr>
          <p:spPr bwMode="auto">
            <a:xfrm flipH="1" flipV="1">
              <a:off x="6507386" y="5949724"/>
              <a:ext cx="440878" cy="133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78"/>
            <p:cNvSpPr>
              <a:spLocks noChangeShapeType="1"/>
            </p:cNvSpPr>
            <p:nvPr/>
          </p:nvSpPr>
          <p:spPr bwMode="auto">
            <a:xfrm>
              <a:off x="1672357" y="5517230"/>
              <a:ext cx="485849" cy="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" name="直接连接符 2"/>
            <p:cNvCxnSpPr/>
            <p:nvPr/>
          </p:nvCxnSpPr>
          <p:spPr bwMode="auto">
            <a:xfrm>
              <a:off x="3905895" y="5321361"/>
              <a:ext cx="0" cy="1062866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4" name="AutoShape 45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4451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22818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Text Box 16"/>
          <p:cNvSpPr txBox="1">
            <a:spLocks noChangeArrowheads="1"/>
          </p:cNvSpPr>
          <p:nvPr/>
        </p:nvSpPr>
        <p:spPr bwMode="auto">
          <a:xfrm>
            <a:off x="324000" y="3069096"/>
            <a:ext cx="1980000" cy="12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271780" indent="-271780">
              <a:lnSpc>
                <a:spcPct val="90000"/>
              </a:lnSpc>
            </a:pPr>
            <a:r>
              <a:rPr lang="zh-CN" altLang="en-US" sz="1600" b="1" dirty="0" smtClean="0">
                <a:solidFill>
                  <a:srgbClr val="990099"/>
                </a:solidFill>
                <a:latin typeface="+mn-ea"/>
                <a:ea typeface="+mn-ea"/>
              </a:rPr>
              <a:t>指令功能例：</a:t>
            </a:r>
            <a:endParaRPr lang="en-US" altLang="zh-CN" sz="1600" b="1" dirty="0" smtClean="0">
              <a:solidFill>
                <a:srgbClr val="990099"/>
              </a:solidFill>
              <a:latin typeface="+mn-ea"/>
              <a:ea typeface="+mn-ea"/>
            </a:endParaRPr>
          </a:p>
          <a:p>
            <a:pPr marL="271780" indent="-271780">
              <a:lnSpc>
                <a:spcPct val="90000"/>
              </a:lnSpc>
            </a:pPr>
            <a:r>
              <a:rPr lang="zh-CN" altLang="en-US" sz="1600" b="1" dirty="0" smtClean="0">
                <a:latin typeface="+mn-ea"/>
                <a:ea typeface="+mn-ea"/>
              </a:rPr>
              <a:t>①</a:t>
            </a:r>
            <a:r>
              <a:rPr lang="en-US" altLang="zh-CN" sz="1600" b="1" dirty="0" smtClean="0">
                <a:latin typeface="+mn-ea"/>
                <a:ea typeface="+mn-ea"/>
              </a:rPr>
              <a:t>R[3]</a:t>
            </a:r>
            <a:r>
              <a:rPr lang="zh-CN" altLang="en-US" sz="1600" b="1" dirty="0" smtClean="0">
                <a:latin typeface="+mn-ea"/>
                <a:ea typeface="+mn-ea"/>
              </a:rPr>
              <a:t>←</a:t>
            </a:r>
            <a:r>
              <a:rPr lang="en-US" altLang="zh-CN" sz="1600" b="1" dirty="0" smtClean="0">
                <a:latin typeface="+mn-ea"/>
                <a:ea typeface="+mn-ea"/>
              </a:rPr>
              <a:t>R[1]+M[20]</a:t>
            </a:r>
            <a:endParaRPr lang="en-US" altLang="zh-CN" sz="1600" b="1" dirty="0" smtClean="0">
              <a:latin typeface="+mn-ea"/>
              <a:ea typeface="+mn-ea"/>
            </a:endParaRPr>
          </a:p>
          <a:p>
            <a:pPr marL="271780" indent="-271780">
              <a:lnSpc>
                <a:spcPct val="90000"/>
              </a:lnSpc>
            </a:pPr>
            <a:r>
              <a:rPr lang="en-US" altLang="zh-CN" sz="1600" b="1" dirty="0" smtClean="0">
                <a:latin typeface="+mn-ea"/>
                <a:ea typeface="+mn-ea"/>
              </a:rPr>
              <a:t>  (</a:t>
            </a:r>
            <a:r>
              <a:rPr lang="zh-CN" altLang="en-US" sz="1600" b="1" dirty="0" smtClean="0">
                <a:latin typeface="+mn-ea"/>
                <a:ea typeface="+mn-ea"/>
              </a:rPr>
              <a:t>隐含</a:t>
            </a:r>
            <a:r>
              <a:rPr lang="en-US" altLang="zh-CN" sz="1600" b="1" dirty="0" smtClean="0">
                <a:latin typeface="+mn-ea"/>
                <a:ea typeface="+mn-ea"/>
              </a:rPr>
              <a:t>PC</a:t>
            </a:r>
            <a:r>
              <a:rPr lang="zh-CN" altLang="en-US" sz="1600" b="1" dirty="0" smtClean="0">
                <a:latin typeface="+mn-ea"/>
                <a:ea typeface="+mn-ea"/>
              </a:rPr>
              <a:t>←</a:t>
            </a:r>
            <a:r>
              <a:rPr lang="en-US" altLang="zh-CN" sz="1600" b="1" dirty="0" smtClean="0">
                <a:latin typeface="+mn-ea"/>
                <a:ea typeface="+mn-ea"/>
              </a:rPr>
              <a:t>PC+</a:t>
            </a:r>
            <a:r>
              <a: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en-US" altLang="zh-CN" sz="1600" b="1" dirty="0" smtClean="0">
              <a:latin typeface="+mn-ea"/>
              <a:ea typeface="+mn-ea"/>
            </a:endParaRPr>
          </a:p>
          <a:p>
            <a:pPr marL="271780" indent="-271780">
              <a:lnSpc>
                <a:spcPct val="90000"/>
              </a:lnSpc>
              <a:spcBef>
                <a:spcPts val="300"/>
              </a:spcBef>
            </a:pPr>
            <a:r>
              <a:rPr lang="zh-CN" altLang="en-US" sz="1600" b="1" dirty="0" smtClean="0">
                <a:latin typeface="+mn-ea"/>
                <a:ea typeface="+mn-ea"/>
              </a:rPr>
              <a:t>②</a:t>
            </a:r>
            <a:r>
              <a:rPr lang="en-US" altLang="zh-CN" sz="1600" b="1" dirty="0" smtClean="0">
                <a:latin typeface="+mn-ea"/>
                <a:ea typeface="+mn-ea"/>
              </a:rPr>
              <a:t>R[3]=0</a:t>
            </a:r>
            <a:r>
              <a:rPr lang="zh-CN" altLang="en-US" sz="1600" b="1" dirty="0" smtClean="0">
                <a:latin typeface="+mn-ea"/>
                <a:ea typeface="+mn-ea"/>
              </a:rPr>
              <a:t>时</a:t>
            </a:r>
            <a:r>
              <a:rPr lang="en-US" altLang="zh-CN" sz="1600" b="1" dirty="0" smtClean="0">
                <a:latin typeface="+mn-ea"/>
                <a:ea typeface="+mn-ea"/>
              </a:rPr>
              <a:t>PC</a:t>
            </a:r>
            <a:r>
              <a:rPr lang="zh-CN" altLang="en-US" sz="1600" b="1" dirty="0" smtClean="0">
                <a:latin typeface="+mn-ea"/>
                <a:ea typeface="+mn-ea"/>
              </a:rPr>
              <a:t>←</a:t>
            </a:r>
            <a:r>
              <a:rPr lang="en-US" altLang="zh-CN" sz="1600" b="1" dirty="0" smtClean="0">
                <a:latin typeface="+mn-ea"/>
                <a:ea typeface="+mn-ea"/>
              </a:rPr>
              <a:t>4</a:t>
            </a:r>
            <a:r>
              <a:rPr lang="zh-CN" altLang="en-US" sz="1600" b="1" dirty="0" smtClean="0">
                <a:latin typeface="+mn-ea"/>
                <a:ea typeface="+mn-ea"/>
              </a:rPr>
              <a:t>、</a:t>
            </a:r>
            <a:endParaRPr lang="en-US" altLang="zh-CN" sz="1600" b="1" dirty="0" smtClean="0">
              <a:latin typeface="+mn-ea"/>
              <a:ea typeface="+mn-ea"/>
            </a:endParaRPr>
          </a:p>
          <a:p>
            <a:pPr marL="271780" indent="-271780">
              <a:lnSpc>
                <a:spcPct val="90000"/>
              </a:lnSpc>
            </a:pPr>
            <a:r>
              <a:rPr lang="zh-CN" altLang="en-US" sz="1600" b="1" dirty="0" smtClean="0">
                <a:latin typeface="+mn-ea"/>
                <a:ea typeface="+mn-ea"/>
              </a:rPr>
              <a:t>   否则</a:t>
            </a:r>
            <a:r>
              <a:rPr lang="en-US" altLang="zh-CN" sz="1600" b="1" dirty="0">
                <a:latin typeface="+mn-ea"/>
                <a:ea typeface="+mn-ea"/>
              </a:rPr>
              <a:t>PC</a:t>
            </a:r>
            <a:r>
              <a:rPr lang="zh-CN" altLang="en-US" sz="1600" b="1" dirty="0" smtClean="0">
                <a:latin typeface="+mn-ea"/>
                <a:ea typeface="+mn-ea"/>
              </a:rPr>
              <a:t>←</a:t>
            </a:r>
            <a:r>
              <a:rPr lang="en-US" altLang="zh-CN" sz="1600" b="1" dirty="0" smtClean="0">
                <a:latin typeface="+mn-ea"/>
                <a:ea typeface="+mn-ea"/>
              </a:rPr>
              <a:t>PC+</a:t>
            </a:r>
            <a:r>
              <a: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endParaRPr lang="en-US" altLang="zh-CN" sz="1600" b="1" dirty="0" smtClean="0">
              <a:latin typeface="+mn-ea"/>
              <a:ea typeface="+mn-ea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2555776" y="3284984"/>
            <a:ext cx="6048528" cy="1080088"/>
            <a:chOff x="1543528" y="3464968"/>
            <a:chExt cx="6048528" cy="1080088"/>
          </a:xfrm>
        </p:grpSpPr>
        <p:grpSp>
          <p:nvGrpSpPr>
            <p:cNvPr id="94" name="组合 93"/>
            <p:cNvGrpSpPr/>
            <p:nvPr/>
          </p:nvGrpSpPr>
          <p:grpSpPr>
            <a:xfrm>
              <a:off x="1543528" y="3464968"/>
              <a:ext cx="6048528" cy="1080088"/>
              <a:chOff x="1259632" y="3158126"/>
              <a:chExt cx="6048528" cy="1080088"/>
            </a:xfrm>
          </p:grpSpPr>
          <p:sp>
            <p:nvSpPr>
              <p:cNvPr id="102" name="Text Box 352"/>
              <p:cNvSpPr txBox="1">
                <a:spLocks noChangeArrowheads="1"/>
              </p:cNvSpPr>
              <p:nvPr/>
            </p:nvSpPr>
            <p:spPr bwMode="auto">
              <a:xfrm>
                <a:off x="1259632" y="3158126"/>
                <a:ext cx="936000" cy="54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>
                    <a:latin typeface="宋体" panose="02010600030101010101" pitchFamily="2" charset="-122"/>
                  </a:rPr>
                  <a:t>指令地址寄存器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PC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05" name="Text Box 354"/>
              <p:cNvSpPr txBox="1">
                <a:spLocks noChangeArrowheads="1"/>
              </p:cNvSpPr>
              <p:nvPr/>
            </p:nvSpPr>
            <p:spPr bwMode="auto">
              <a:xfrm>
                <a:off x="1259632" y="3950214"/>
                <a:ext cx="2016000" cy="288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>
                    <a:latin typeface="宋体" panose="02010600030101010101" pitchFamily="2" charset="-122"/>
                  </a:rPr>
                  <a:t>存储器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06" name="Text Box 365"/>
              <p:cNvSpPr txBox="1">
                <a:spLocks noChangeArrowheads="1"/>
              </p:cNvSpPr>
              <p:nvPr/>
            </p:nvSpPr>
            <p:spPr bwMode="auto">
              <a:xfrm>
                <a:off x="2339752" y="3158126"/>
                <a:ext cx="936000" cy="54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>
                    <a:latin typeface="宋体" panose="02010600030101010101" pitchFamily="2" charset="-122"/>
                  </a:rPr>
                  <a:t>指令内容寄存器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IR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13" name="Text Box 408"/>
              <p:cNvSpPr txBox="1">
                <a:spLocks noChangeArrowheads="1"/>
              </p:cNvSpPr>
              <p:nvPr/>
            </p:nvSpPr>
            <p:spPr bwMode="auto">
              <a:xfrm>
                <a:off x="3563888" y="3158126"/>
                <a:ext cx="720000" cy="792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 smtClean="0">
                    <a:latin typeface="宋体" panose="02010600030101010101" pitchFamily="2" charset="-122"/>
                  </a:rPr>
                  <a:t>指令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 algn="ctr"/>
                <a:r>
                  <a:rPr lang="zh-CN" altLang="en-US" sz="1600" b="1" dirty="0" smtClean="0">
                    <a:latin typeface="宋体" panose="02010600030101010101" pitchFamily="2" charset="-122"/>
                  </a:rPr>
                  <a:t>译码器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 algn="ctr"/>
                <a:r>
                  <a:rPr lang="en-US" altLang="zh-CN" sz="1600" b="1" dirty="0" smtClean="0">
                    <a:latin typeface="宋体" panose="02010600030101010101" pitchFamily="2" charset="-122"/>
                  </a:rPr>
                  <a:t>ID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14" name="Text Box 439"/>
              <p:cNvSpPr txBox="1">
                <a:spLocks noChangeArrowheads="1"/>
              </p:cNvSpPr>
              <p:nvPr/>
            </p:nvSpPr>
            <p:spPr bwMode="auto">
              <a:xfrm>
                <a:off x="6012160" y="3162277"/>
                <a:ext cx="576000" cy="288000"/>
              </a:xfrm>
              <a:prstGeom prst="rect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 smtClean="0"/>
                  <a:t>＋</a:t>
                </a:r>
                <a:r>
                  <a:rPr lang="zh-CN" altLang="en-US" sz="1600" b="1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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1600" b="1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</a:t>
                </a:r>
                <a:endParaRPr lang="en-US" altLang="zh-CN" sz="1600" dirty="0"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endParaRPr>
              </a:p>
            </p:txBody>
          </p:sp>
          <p:sp>
            <p:nvSpPr>
              <p:cNvPr id="116" name="Text Box 460"/>
              <p:cNvSpPr txBox="1">
                <a:spLocks noChangeArrowheads="1"/>
              </p:cNvSpPr>
              <p:nvPr/>
            </p:nvSpPr>
            <p:spPr bwMode="auto">
              <a:xfrm>
                <a:off x="6012160" y="3662214"/>
                <a:ext cx="1296000" cy="288000"/>
              </a:xfrm>
              <a:prstGeom prst="rect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 smtClean="0">
                    <a:latin typeface="宋体" panose="02010600030101010101" pitchFamily="2" charset="-122"/>
                  </a:rPr>
                  <a:t>地址计算部件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17" name="Text Box 460"/>
              <p:cNvSpPr txBox="1">
                <a:spLocks noChangeArrowheads="1"/>
              </p:cNvSpPr>
              <p:nvPr/>
            </p:nvSpPr>
            <p:spPr bwMode="auto">
              <a:xfrm>
                <a:off x="4716016" y="3158158"/>
                <a:ext cx="1152000" cy="288000"/>
              </a:xfrm>
              <a:prstGeom prst="rect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 smtClean="0">
                    <a:latin typeface="宋体" panose="02010600030101010101" pitchFamily="2" charset="-122"/>
                  </a:rPr>
                  <a:t>功能部件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95" name="组合 94"/>
            <p:cNvGrpSpPr/>
            <p:nvPr/>
          </p:nvGrpSpPr>
          <p:grpSpPr>
            <a:xfrm>
              <a:off x="4855896" y="4257056"/>
              <a:ext cx="1296000" cy="288000"/>
              <a:chOff x="4855896" y="4257056"/>
              <a:chExt cx="1296000" cy="288000"/>
            </a:xfrm>
          </p:grpSpPr>
          <p:sp>
            <p:nvSpPr>
              <p:cNvPr id="96" name="Text Box 354"/>
              <p:cNvSpPr txBox="1">
                <a:spLocks noChangeArrowheads="1"/>
              </p:cNvSpPr>
              <p:nvPr/>
            </p:nvSpPr>
            <p:spPr bwMode="auto">
              <a:xfrm>
                <a:off x="4855896" y="4257056"/>
                <a:ext cx="720000" cy="288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97" name="Text Box 354"/>
              <p:cNvSpPr txBox="1">
                <a:spLocks noChangeArrowheads="1"/>
              </p:cNvSpPr>
              <p:nvPr/>
            </p:nvSpPr>
            <p:spPr bwMode="auto">
              <a:xfrm>
                <a:off x="5571840" y="4257056"/>
                <a:ext cx="576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98" name="Text Box 354"/>
              <p:cNvSpPr txBox="1">
                <a:spLocks noChangeArrowheads="1"/>
              </p:cNvSpPr>
              <p:nvPr/>
            </p:nvSpPr>
            <p:spPr bwMode="auto">
              <a:xfrm>
                <a:off x="4855896" y="4257056"/>
                <a:ext cx="1296000" cy="288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 smtClean="0">
                    <a:latin typeface="宋体" panose="02010600030101010101" pitchFamily="2" charset="-122"/>
                  </a:rPr>
                  <a:t>存储器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/REGs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</p:grpSp>
      </p:grpSp>
      <p:cxnSp>
        <p:nvCxnSpPr>
          <p:cNvPr id="119" name="直接箭头连接符 118"/>
          <p:cNvCxnSpPr/>
          <p:nvPr/>
        </p:nvCxnSpPr>
        <p:spPr bwMode="auto">
          <a:xfrm flipV="1">
            <a:off x="4067944" y="3834501"/>
            <a:ext cx="0" cy="252000"/>
          </a:xfrm>
          <a:prstGeom prst="straightConnector1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1" name="直接箭头连接符 120"/>
          <p:cNvCxnSpPr/>
          <p:nvPr/>
        </p:nvCxnSpPr>
        <p:spPr bwMode="auto">
          <a:xfrm>
            <a:off x="2987824" y="3834501"/>
            <a:ext cx="0" cy="252000"/>
          </a:xfrm>
          <a:prstGeom prst="straightConnector1">
            <a:avLst/>
          </a:prstGeom>
          <a:noFill/>
          <a:ln w="19050" cap="flat" cmpd="sng" algn="ctr">
            <a:solidFill>
              <a:srgbClr val="CC33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2" name="直接箭头连接符 121"/>
          <p:cNvCxnSpPr/>
          <p:nvPr/>
        </p:nvCxnSpPr>
        <p:spPr bwMode="auto">
          <a:xfrm>
            <a:off x="4572000" y="3508849"/>
            <a:ext cx="288000" cy="0"/>
          </a:xfrm>
          <a:prstGeom prst="straightConnector1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23" name="组合 122"/>
          <p:cNvGrpSpPr/>
          <p:nvPr/>
        </p:nvGrpSpPr>
        <p:grpSpPr>
          <a:xfrm>
            <a:off x="5580112" y="3419571"/>
            <a:ext cx="216024" cy="513485"/>
            <a:chOff x="4286248" y="4418115"/>
            <a:chExt cx="216024" cy="513485"/>
          </a:xfrm>
        </p:grpSpPr>
        <p:cxnSp>
          <p:nvCxnSpPr>
            <p:cNvPr id="128" name="直接连接符 127"/>
            <p:cNvCxnSpPr/>
            <p:nvPr/>
          </p:nvCxnSpPr>
          <p:spPr bwMode="auto">
            <a:xfrm>
              <a:off x="4286248" y="4418115"/>
              <a:ext cx="216024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直接连接符 128"/>
            <p:cNvCxnSpPr/>
            <p:nvPr/>
          </p:nvCxnSpPr>
          <p:spPr bwMode="auto">
            <a:xfrm>
              <a:off x="4286248" y="4706147"/>
              <a:ext cx="216024" cy="1588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0" name="直接连接符 129"/>
            <p:cNvCxnSpPr/>
            <p:nvPr/>
          </p:nvCxnSpPr>
          <p:spPr bwMode="auto">
            <a:xfrm>
              <a:off x="4286248" y="4787584"/>
              <a:ext cx="216024" cy="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直接连接符 130"/>
            <p:cNvCxnSpPr/>
            <p:nvPr/>
          </p:nvCxnSpPr>
          <p:spPr bwMode="auto">
            <a:xfrm>
              <a:off x="4286248" y="4931600"/>
              <a:ext cx="216024" cy="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2" name="组合 131"/>
          <p:cNvGrpSpPr/>
          <p:nvPr/>
        </p:nvGrpSpPr>
        <p:grpSpPr>
          <a:xfrm>
            <a:off x="5796160" y="3419571"/>
            <a:ext cx="864072" cy="657501"/>
            <a:chOff x="5359976" y="3635597"/>
            <a:chExt cx="864072" cy="657501"/>
          </a:xfrm>
        </p:grpSpPr>
        <p:cxnSp>
          <p:nvCxnSpPr>
            <p:cNvPr id="133" name="直接连接符 141"/>
            <p:cNvCxnSpPr/>
            <p:nvPr/>
          </p:nvCxnSpPr>
          <p:spPr bwMode="auto">
            <a:xfrm>
              <a:off x="5360048" y="4005098"/>
              <a:ext cx="864000" cy="288000"/>
            </a:xfrm>
            <a:prstGeom prst="bentConnector3">
              <a:avLst>
                <a:gd name="adj1" fmla="val 99777"/>
              </a:avLst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4" name="直接连接符 141"/>
            <p:cNvCxnSpPr/>
            <p:nvPr/>
          </p:nvCxnSpPr>
          <p:spPr bwMode="auto">
            <a:xfrm rot="16200000" flipH="1">
              <a:off x="5359992" y="3923630"/>
              <a:ext cx="360000" cy="360000"/>
            </a:xfrm>
            <a:prstGeom prst="bentConnector3">
              <a:avLst>
                <a:gd name="adj1" fmla="val 932"/>
              </a:avLst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5" name="直接连接符 134"/>
            <p:cNvCxnSpPr/>
            <p:nvPr/>
          </p:nvCxnSpPr>
          <p:spPr bwMode="auto">
            <a:xfrm>
              <a:off x="5359976" y="3635597"/>
              <a:ext cx="216000" cy="1588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cxnSp>
        <p:nvCxnSpPr>
          <p:cNvPr id="136" name="直接箭头连接符 160"/>
          <p:cNvCxnSpPr/>
          <p:nvPr/>
        </p:nvCxnSpPr>
        <p:spPr bwMode="auto">
          <a:xfrm>
            <a:off x="7092280" y="3573016"/>
            <a:ext cx="0" cy="285467"/>
          </a:xfrm>
          <a:prstGeom prst="straightConnector1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37" name="组合 136"/>
          <p:cNvGrpSpPr/>
          <p:nvPr/>
        </p:nvGrpSpPr>
        <p:grpSpPr>
          <a:xfrm>
            <a:off x="5796136" y="3789072"/>
            <a:ext cx="1294858" cy="288000"/>
            <a:chOff x="4716732" y="5126670"/>
            <a:chExt cx="1294858" cy="288000"/>
          </a:xfrm>
        </p:grpSpPr>
        <p:cxnSp>
          <p:nvCxnSpPr>
            <p:cNvPr id="138" name="直接连接符 141"/>
            <p:cNvCxnSpPr/>
            <p:nvPr/>
          </p:nvCxnSpPr>
          <p:spPr bwMode="auto">
            <a:xfrm>
              <a:off x="4716732" y="5270670"/>
              <a:ext cx="1222850" cy="144000"/>
            </a:xfrm>
            <a:prstGeom prst="bentConnector3">
              <a:avLst>
                <a:gd name="adj1" fmla="val 99851"/>
              </a:avLst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9" name="直接箭头连接符 160"/>
            <p:cNvCxnSpPr/>
            <p:nvPr/>
          </p:nvCxnSpPr>
          <p:spPr bwMode="auto">
            <a:xfrm>
              <a:off x="6011590" y="5126670"/>
              <a:ext cx="0" cy="28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40" name="组合 139"/>
          <p:cNvGrpSpPr/>
          <p:nvPr/>
        </p:nvGrpSpPr>
        <p:grpSpPr>
          <a:xfrm>
            <a:off x="6228184" y="3573072"/>
            <a:ext cx="504056" cy="504000"/>
            <a:chOff x="5652120" y="3591826"/>
            <a:chExt cx="504056" cy="715787"/>
          </a:xfrm>
        </p:grpSpPr>
        <p:cxnSp>
          <p:nvCxnSpPr>
            <p:cNvPr id="141" name="直接箭头连接符 140"/>
            <p:cNvCxnSpPr/>
            <p:nvPr/>
          </p:nvCxnSpPr>
          <p:spPr bwMode="auto">
            <a:xfrm flipV="1">
              <a:off x="5652120" y="3591826"/>
              <a:ext cx="0" cy="715787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2" name="直接箭头连接符 141"/>
            <p:cNvCxnSpPr/>
            <p:nvPr/>
          </p:nvCxnSpPr>
          <p:spPr bwMode="auto">
            <a:xfrm flipV="1">
              <a:off x="6156176" y="3591826"/>
              <a:ext cx="0" cy="715785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43" name="组合 142"/>
          <p:cNvGrpSpPr/>
          <p:nvPr/>
        </p:nvGrpSpPr>
        <p:grpSpPr>
          <a:xfrm>
            <a:off x="2987776" y="3013622"/>
            <a:ext cx="5940000" cy="919434"/>
            <a:chOff x="2987776" y="3229557"/>
            <a:chExt cx="5940000" cy="919434"/>
          </a:xfrm>
        </p:grpSpPr>
        <p:cxnSp>
          <p:nvCxnSpPr>
            <p:cNvPr id="144" name="直接箭头连接符 222"/>
            <p:cNvCxnSpPr/>
            <p:nvPr/>
          </p:nvCxnSpPr>
          <p:spPr bwMode="auto">
            <a:xfrm rot="5400000" flipH="1" flipV="1">
              <a:off x="2879887" y="3464991"/>
              <a:ext cx="792000" cy="576000"/>
            </a:xfrm>
            <a:prstGeom prst="bentConnector3">
              <a:avLst>
                <a:gd name="adj1" fmla="val 272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45" name="直接箭头连接符 222"/>
            <p:cNvCxnSpPr/>
            <p:nvPr/>
          </p:nvCxnSpPr>
          <p:spPr bwMode="auto">
            <a:xfrm rot="10800000" flipV="1">
              <a:off x="2987776" y="3229557"/>
              <a:ext cx="5940000" cy="288000"/>
            </a:xfrm>
            <a:prstGeom prst="bentConnector3">
              <a:avLst>
                <a:gd name="adj1" fmla="val 100040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6" name="直接箭头连接符 222"/>
            <p:cNvCxnSpPr/>
            <p:nvPr/>
          </p:nvCxnSpPr>
          <p:spPr bwMode="auto">
            <a:xfrm flipV="1">
              <a:off x="7884368" y="3230329"/>
              <a:ext cx="792000" cy="432000"/>
            </a:xfrm>
            <a:prstGeom prst="bentConnector3">
              <a:avLst>
                <a:gd name="adj1" fmla="val 99906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7" name="Text Box 479"/>
            <p:cNvSpPr txBox="1">
              <a:spLocks noChangeArrowheads="1"/>
            </p:cNvSpPr>
            <p:nvPr/>
          </p:nvSpPr>
          <p:spPr bwMode="auto">
            <a:xfrm>
              <a:off x="7956456" y="3357015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顺序时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8" name="直接箭头连接符 222"/>
            <p:cNvCxnSpPr/>
            <p:nvPr/>
          </p:nvCxnSpPr>
          <p:spPr bwMode="auto">
            <a:xfrm>
              <a:off x="3563888" y="3356991"/>
              <a:ext cx="4032000" cy="144000"/>
            </a:xfrm>
            <a:prstGeom prst="bentConnector3">
              <a:avLst>
                <a:gd name="adj1" fmla="val 99971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49" name="组合 148"/>
          <p:cNvGrpSpPr/>
          <p:nvPr/>
        </p:nvGrpSpPr>
        <p:grpSpPr>
          <a:xfrm>
            <a:off x="7020272" y="3006485"/>
            <a:ext cx="1872208" cy="936000"/>
            <a:chOff x="6372200" y="3322461"/>
            <a:chExt cx="1872208" cy="936000"/>
          </a:xfrm>
        </p:grpSpPr>
        <p:cxnSp>
          <p:nvCxnSpPr>
            <p:cNvPr id="150" name="直接箭头连接符 222"/>
            <p:cNvCxnSpPr/>
            <p:nvPr/>
          </p:nvCxnSpPr>
          <p:spPr bwMode="auto">
            <a:xfrm>
              <a:off x="6372200" y="4258461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1" name="直接箭头连接符 222"/>
            <p:cNvCxnSpPr/>
            <p:nvPr/>
          </p:nvCxnSpPr>
          <p:spPr bwMode="auto">
            <a:xfrm rot="5400000" flipH="1" flipV="1">
              <a:off x="7632376" y="3646461"/>
              <a:ext cx="936000" cy="288000"/>
            </a:xfrm>
            <a:prstGeom prst="bentConnector3">
              <a:avLst>
                <a:gd name="adj1" fmla="val -751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2" name="Text Box 479"/>
            <p:cNvSpPr txBox="1">
              <a:spLocks noChangeArrowheads="1"/>
            </p:cNvSpPr>
            <p:nvPr/>
          </p:nvSpPr>
          <p:spPr bwMode="auto">
            <a:xfrm>
              <a:off x="7524408" y="3826413"/>
              <a:ext cx="720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转移时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72000" y="576000"/>
            <a:ext cx="4176000" cy="25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p>
            <a:pPr marL="990600" indent="-990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PC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dirty="0" smtClean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Program Counter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ID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dirty="0" smtClean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Instruction Decoder</a:t>
            </a:r>
            <a:endParaRPr lang="en-US" altLang="zh-CN" sz="1600" dirty="0" smtClean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3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7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7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/>
      <p:bldP spid="83" grpId="0"/>
      <p:bldP spid="92" grpId="0" bldLvl="0" animBg="1"/>
      <p:bldP spid="2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895E-3574-44A5-8E0F-6AF250B56886}" type="slidenum">
              <a:rPr lang="en-US" altLang="zh-CN"/>
            </a:fld>
            <a:endParaRPr lang="en-US" altLang="zh-CN"/>
          </a:p>
        </p:txBody>
      </p:sp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179389" y="3501008"/>
            <a:ext cx="7271096" cy="22852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(4)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输入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输出设备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b="1" dirty="0" smtClean="0">
                <a:latin typeface="宋体" panose="02010600030101010101" pitchFamily="2" charset="-122"/>
              </a:rPr>
              <a:t>信息的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、格式转换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类型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>
                <a:latin typeface="宋体" panose="02010600030101010101" pitchFamily="2" charset="-122"/>
              </a:rPr>
              <a:t>键盘、鼠标、显示器、打印机、磁盘</a:t>
            </a:r>
            <a:r>
              <a:rPr lang="zh-CN" altLang="en-US" b="1" dirty="0" smtClean="0">
                <a:latin typeface="宋体" panose="02010600030101010101" pitchFamily="2" charset="-122"/>
              </a:rPr>
              <a:t>等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组成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 smtClean="0">
                <a:latin typeface="宋体" panose="02010600030101010101" pitchFamily="2" charset="-122"/>
              </a:rPr>
              <a:t>      </a:t>
            </a:r>
            <a:r>
              <a:rPr lang="zh-CN" altLang="en-US" sz="1600" dirty="0" smtClean="0">
                <a:latin typeface="宋体" panose="02010600030101010101" pitchFamily="2" charset="-122"/>
              </a:rPr>
              <a:t> </a:t>
            </a:r>
            <a:r>
              <a:rPr lang="zh-CN" altLang="en-US" sz="1800" dirty="0" smtClean="0">
                <a:latin typeface="宋体" panose="02010600030101010101" pitchFamily="2" charset="-122"/>
              </a:rPr>
              <a:t>      │       </a:t>
            </a:r>
            <a:r>
              <a:rPr lang="zh-CN" altLang="en-US" sz="1800" dirty="0">
                <a:latin typeface="宋体" panose="02010600030101010101" pitchFamily="2" charset="-122"/>
              </a:rPr>
              <a:t>│</a:t>
            </a: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34" name="Text Box 63"/>
          <p:cNvSpPr txBox="1">
            <a:spLocks noChangeArrowheads="1"/>
          </p:cNvSpPr>
          <p:nvPr/>
        </p:nvSpPr>
        <p:spPr bwMode="auto">
          <a:xfrm>
            <a:off x="1403350" y="4869180"/>
            <a:ext cx="7280275" cy="14243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部件＋</a:t>
            </a:r>
            <a:r>
              <a:rPr lang="en-US" altLang="zh-CN" b="1" dirty="0" smtClean="0">
                <a:latin typeface="宋体" panose="02010600030101010101" pitchFamily="2" charset="-122"/>
              </a:rPr>
              <a:t>[</a:t>
            </a:r>
            <a:r>
              <a:rPr lang="zh-CN" altLang="en-US" b="1" dirty="0" smtClean="0">
                <a:latin typeface="宋体" panose="02010600030101010101" pitchFamily="2" charset="-122"/>
              </a:rPr>
              <a:t>驱动器＋</a:t>
            </a:r>
            <a:r>
              <a:rPr lang="en-US" altLang="zh-CN" b="1" dirty="0" smtClean="0">
                <a:latin typeface="宋体" panose="02010600030101010101" pitchFamily="2" charset="-122"/>
              </a:rPr>
              <a:t>]</a:t>
            </a:r>
            <a:r>
              <a:rPr lang="zh-CN" altLang="en-US" b="1" dirty="0" smtClean="0">
                <a:latin typeface="宋体" panose="02010600030101010101" pitchFamily="2" charset="-122"/>
              </a:rPr>
              <a:t>设备控制器</a:t>
            </a:r>
            <a:r>
              <a:rPr lang="en-US" altLang="zh-CN" b="1" dirty="0" smtClean="0">
                <a:latin typeface="宋体" panose="02010600030101010101" pitchFamily="2" charset="-122"/>
              </a:rPr>
              <a:t>      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[]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表示可缺省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   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←提供</a:t>
            </a:r>
            <a:r>
              <a:rPr lang="zh-CN" altLang="en-US" sz="1800" b="1" dirty="0">
                <a:latin typeface="宋体" panose="02010600030101010101" pitchFamily="2" charset="-122"/>
              </a:rPr>
              <a:t>外部接口，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实现操作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传送</a:t>
            </a:r>
            <a:r>
              <a:rPr lang="zh-CN" altLang="en-US" sz="1800" b="1" dirty="0">
                <a:latin typeface="宋体" panose="02010600030101010101" pitchFamily="2" charset="-122"/>
              </a:rPr>
              <a:t>控制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│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协调各部件的工作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传感器＋控制电路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机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、光、电、磁等部件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115" name="AutoShape 230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" name="AutoShape 23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" name="AutoShape 45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156176" y="6524451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" name="Text Box 179"/>
          <p:cNvSpPr txBox="1">
            <a:spLocks noChangeArrowheads="1"/>
          </p:cNvSpPr>
          <p:nvPr/>
        </p:nvSpPr>
        <p:spPr bwMode="auto">
          <a:xfrm>
            <a:off x="179388" y="332656"/>
            <a:ext cx="7921004" cy="32685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时序信号例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</a:pPr>
            <a:endParaRPr lang="en-US" altLang="zh-CN" b="1" u="sng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</a:pPr>
            <a:endParaRPr lang="en-US" altLang="zh-CN" b="1" u="sng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</a:pPr>
            <a:endParaRPr lang="en-US" altLang="zh-CN" b="1" u="sng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</a:pPr>
            <a:endParaRPr lang="en-US" altLang="zh-CN" b="1" u="sng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90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*控制原理：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按序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产生</a:t>
            </a:r>
            <a:r>
              <a:rPr lang="zh-CN" altLang="en-US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当前指令</a:t>
            </a:r>
            <a:r>
              <a:rPr lang="zh-CN" altLang="en-US" b="1" dirty="0" smtClean="0">
                <a:latin typeface="宋体" panose="02010600030101010101" pitchFamily="2" charset="-122"/>
              </a:rPr>
              <a:t>所需的操作控制信号</a:t>
            </a:r>
            <a:endParaRPr lang="en-US" altLang="zh-CN" sz="1800" b="1" dirty="0" smtClean="0">
              <a:latin typeface="+mn-ea"/>
            </a:endParaRPr>
          </a:p>
          <a:p>
            <a:pPr marL="457200" indent="-457200">
              <a:lnSpc>
                <a:spcPct val="105000"/>
              </a:lnSpc>
            </a:pPr>
            <a:r>
              <a:rPr lang="zh-CN" altLang="en-US" sz="1800" b="1" dirty="0" smtClean="0">
                <a:latin typeface="+mn-ea"/>
              </a:rPr>
              <a:t>                    </a:t>
            </a:r>
            <a:r>
              <a:rPr lang="zh-CN" altLang="en-US" sz="1800" dirty="0" smtClean="0">
                <a:latin typeface="+mn-ea"/>
              </a:rPr>
              <a:t>└</a:t>
            </a:r>
            <a:r>
              <a:rPr lang="zh-CN" altLang="en-US" sz="1800" b="1" dirty="0" smtClean="0">
                <a:latin typeface="+mn-ea"/>
              </a:rPr>
              <a:t>←与</a:t>
            </a:r>
            <a:r>
              <a:rPr lang="zh-CN" altLang="en-US" sz="1800" b="1" u="sng" dirty="0" smtClean="0">
                <a:latin typeface="+mn-ea"/>
              </a:rPr>
              <a:t>时序信号</a:t>
            </a:r>
            <a:r>
              <a:rPr lang="zh-CN" altLang="en-US" sz="1800" b="1" dirty="0" smtClean="0">
                <a:latin typeface="+mn-ea"/>
              </a:rPr>
              <a:t>绑定，如</a:t>
            </a:r>
            <a:r>
              <a:rPr lang="zh-CN" altLang="en-US" sz="1800" b="1" dirty="0">
                <a:latin typeface="+mn-ea"/>
              </a:rPr>
              <a:t>取</a:t>
            </a:r>
            <a:r>
              <a:rPr lang="zh-CN" altLang="en-US" sz="1800" b="1" dirty="0" smtClean="0">
                <a:latin typeface="+mn-ea"/>
              </a:rPr>
              <a:t>指时写</a:t>
            </a:r>
            <a:r>
              <a:rPr lang="en-US" altLang="zh-CN" sz="1800" b="1" dirty="0" smtClean="0">
                <a:latin typeface="+mn-ea"/>
              </a:rPr>
              <a:t>IR</a:t>
            </a:r>
            <a:r>
              <a:rPr lang="zh-CN" altLang="en-US" sz="1800" b="1" dirty="0" smtClean="0">
                <a:latin typeface="+mn-ea"/>
              </a:rPr>
              <a:t>、执行时写</a:t>
            </a:r>
            <a:r>
              <a:rPr lang="en-US" altLang="zh-CN" sz="1800" b="1" dirty="0" smtClean="0">
                <a:latin typeface="+mn-ea"/>
              </a:rPr>
              <a:t>REGs</a:t>
            </a:r>
            <a:endParaRPr lang="en-US" altLang="zh-CN" sz="1800" b="1" baseline="-18000" dirty="0">
              <a:latin typeface="+mn-ea"/>
            </a:endParaRPr>
          </a:p>
        </p:txBody>
      </p:sp>
      <p:grpSp>
        <p:nvGrpSpPr>
          <p:cNvPr id="302" name="组合 301"/>
          <p:cNvGrpSpPr/>
          <p:nvPr/>
        </p:nvGrpSpPr>
        <p:grpSpPr>
          <a:xfrm>
            <a:off x="2843808" y="404664"/>
            <a:ext cx="4898359" cy="1801263"/>
            <a:chOff x="1619672" y="691665"/>
            <a:chExt cx="4898359" cy="1801263"/>
          </a:xfrm>
        </p:grpSpPr>
        <p:sp>
          <p:nvSpPr>
            <p:cNvPr id="303" name="Text Box 225"/>
            <p:cNvSpPr txBox="1">
              <a:spLocks noChangeArrowheads="1"/>
            </p:cNvSpPr>
            <p:nvPr/>
          </p:nvSpPr>
          <p:spPr bwMode="auto">
            <a:xfrm>
              <a:off x="1691672" y="907689"/>
              <a:ext cx="1080000" cy="151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指信号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IF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分析信号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105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执行信号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EX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zh-CN" altLang="en-US" sz="1600" b="1" dirty="0" smtClean="0">
                  <a:solidFill>
                    <a:srgbClr val="0033CC"/>
                  </a:solidFill>
                  <a:latin typeface="宋体" panose="02010600030101010101" pitchFamily="2" charset="-122"/>
                </a:rPr>
                <a:t>节拍信号</a:t>
              </a:r>
              <a:r>
                <a:rPr lang="en-US" altLang="zh-CN" sz="1600" b="1" dirty="0" smtClean="0">
                  <a:solidFill>
                    <a:srgbClr val="0033CC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 smtClean="0">
                  <a:solidFill>
                    <a:srgbClr val="0033CC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="1" baseline="-14000" dirty="0">
                <a:solidFill>
                  <a:srgbClr val="0033CC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zh-CN" altLang="en-US" sz="1600" b="1" dirty="0" smtClean="0">
                  <a:solidFill>
                    <a:srgbClr val="0033CC"/>
                  </a:solidFill>
                  <a:latin typeface="宋体" panose="02010600030101010101" pitchFamily="2" charset="-122"/>
                </a:rPr>
                <a:t>节拍信号</a:t>
              </a:r>
              <a:r>
                <a:rPr lang="en-US" altLang="zh-CN" sz="1600" b="1" dirty="0" smtClean="0">
                  <a:solidFill>
                    <a:srgbClr val="0033CC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 smtClean="0">
                  <a:solidFill>
                    <a:srgbClr val="0033CC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600" b="1" baseline="-14000" dirty="0">
                <a:solidFill>
                  <a:srgbClr val="0033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4" name="Line 226"/>
            <p:cNvSpPr>
              <a:spLocks noChangeShapeType="1"/>
            </p:cNvSpPr>
            <p:nvPr/>
          </p:nvSpPr>
          <p:spPr bwMode="auto">
            <a:xfrm flipH="1">
              <a:off x="2915688" y="764928"/>
              <a:ext cx="0" cy="1728000"/>
            </a:xfrm>
            <a:prstGeom prst="line">
              <a:avLst/>
            </a:prstGeom>
            <a:noFill/>
            <a:ln w="9525" cmpd="sng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227"/>
            <p:cNvSpPr>
              <a:spLocks noChangeShapeType="1"/>
            </p:cNvSpPr>
            <p:nvPr/>
          </p:nvSpPr>
          <p:spPr bwMode="auto">
            <a:xfrm>
              <a:off x="3779912" y="908928"/>
              <a:ext cx="0" cy="158400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Line 228"/>
            <p:cNvSpPr>
              <a:spLocks noChangeShapeType="1"/>
            </p:cNvSpPr>
            <p:nvPr/>
          </p:nvSpPr>
          <p:spPr bwMode="auto">
            <a:xfrm>
              <a:off x="5508104" y="763897"/>
              <a:ext cx="224" cy="172800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Text Box 229"/>
            <p:cNvSpPr txBox="1">
              <a:spLocks noChangeArrowheads="1"/>
            </p:cNvSpPr>
            <p:nvPr/>
          </p:nvSpPr>
          <p:spPr bwMode="auto">
            <a:xfrm>
              <a:off x="3707904" y="691665"/>
              <a:ext cx="1008063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指令周期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8" name="Line 230"/>
            <p:cNvSpPr>
              <a:spLocks noChangeShapeType="1"/>
            </p:cNvSpPr>
            <p:nvPr/>
          </p:nvSpPr>
          <p:spPr bwMode="auto">
            <a:xfrm flipH="1">
              <a:off x="2916727" y="834887"/>
              <a:ext cx="828000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231"/>
            <p:cNvSpPr>
              <a:spLocks noChangeShapeType="1"/>
            </p:cNvSpPr>
            <p:nvPr/>
          </p:nvSpPr>
          <p:spPr bwMode="auto">
            <a:xfrm>
              <a:off x="4680104" y="834887"/>
              <a:ext cx="828000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236"/>
            <p:cNvSpPr>
              <a:spLocks noChangeShapeType="1"/>
            </p:cNvSpPr>
            <p:nvPr/>
          </p:nvSpPr>
          <p:spPr bwMode="auto">
            <a:xfrm>
              <a:off x="3348529" y="1916991"/>
              <a:ext cx="432000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237"/>
            <p:cNvSpPr>
              <a:spLocks noChangeShapeType="1"/>
            </p:cNvSpPr>
            <p:nvPr/>
          </p:nvSpPr>
          <p:spPr bwMode="auto">
            <a:xfrm flipH="1" flipV="1">
              <a:off x="2918317" y="1734387"/>
              <a:ext cx="0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Line 238"/>
            <p:cNvSpPr>
              <a:spLocks noChangeShapeType="1"/>
            </p:cNvSpPr>
            <p:nvPr/>
          </p:nvSpPr>
          <p:spPr bwMode="auto">
            <a:xfrm flipV="1">
              <a:off x="3348529" y="1734387"/>
              <a:ext cx="0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239"/>
            <p:cNvSpPr>
              <a:spLocks noChangeShapeType="1"/>
            </p:cNvSpPr>
            <p:nvPr/>
          </p:nvSpPr>
          <p:spPr bwMode="auto">
            <a:xfrm>
              <a:off x="2918317" y="1734387"/>
              <a:ext cx="430213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Line 240"/>
            <p:cNvSpPr>
              <a:spLocks noChangeShapeType="1"/>
            </p:cNvSpPr>
            <p:nvPr/>
          </p:nvSpPr>
          <p:spPr bwMode="auto">
            <a:xfrm flipV="1">
              <a:off x="2775442" y="1916991"/>
              <a:ext cx="144463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Line 243"/>
            <p:cNvSpPr>
              <a:spLocks noChangeShapeType="1"/>
            </p:cNvSpPr>
            <p:nvPr/>
          </p:nvSpPr>
          <p:spPr bwMode="auto">
            <a:xfrm flipV="1">
              <a:off x="3780329" y="2165320"/>
              <a:ext cx="432000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Line 244"/>
            <p:cNvSpPr>
              <a:spLocks noChangeShapeType="1"/>
            </p:cNvSpPr>
            <p:nvPr/>
          </p:nvSpPr>
          <p:spPr bwMode="auto">
            <a:xfrm flipH="1" flipV="1">
              <a:off x="3348529" y="1990016"/>
              <a:ext cx="1588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Line 245"/>
            <p:cNvSpPr>
              <a:spLocks noChangeShapeType="1"/>
            </p:cNvSpPr>
            <p:nvPr/>
          </p:nvSpPr>
          <p:spPr bwMode="auto">
            <a:xfrm flipV="1">
              <a:off x="3780329" y="1990016"/>
              <a:ext cx="0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Line 246"/>
            <p:cNvSpPr>
              <a:spLocks noChangeShapeType="1"/>
            </p:cNvSpPr>
            <p:nvPr/>
          </p:nvSpPr>
          <p:spPr bwMode="auto">
            <a:xfrm flipV="1">
              <a:off x="3348529" y="1990016"/>
              <a:ext cx="431677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Line 247"/>
            <p:cNvSpPr>
              <a:spLocks noChangeShapeType="1"/>
            </p:cNvSpPr>
            <p:nvPr/>
          </p:nvSpPr>
          <p:spPr bwMode="auto">
            <a:xfrm flipV="1">
              <a:off x="2772267" y="2165320"/>
              <a:ext cx="576263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Line 251"/>
            <p:cNvSpPr>
              <a:spLocks noChangeShapeType="1"/>
            </p:cNvSpPr>
            <p:nvPr/>
          </p:nvSpPr>
          <p:spPr bwMode="auto">
            <a:xfrm>
              <a:off x="2771523" y="1663346"/>
              <a:ext cx="187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252"/>
            <p:cNvSpPr>
              <a:spLocks noChangeShapeType="1"/>
            </p:cNvSpPr>
            <p:nvPr/>
          </p:nvSpPr>
          <p:spPr bwMode="auto">
            <a:xfrm>
              <a:off x="2771832" y="1411745"/>
              <a:ext cx="1008000" cy="15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Line 253"/>
            <p:cNvSpPr>
              <a:spLocks noChangeShapeType="1"/>
            </p:cNvSpPr>
            <p:nvPr/>
          </p:nvSpPr>
          <p:spPr bwMode="auto">
            <a:xfrm>
              <a:off x="2771688" y="1160158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Line 254"/>
            <p:cNvSpPr>
              <a:spLocks noChangeShapeType="1"/>
            </p:cNvSpPr>
            <p:nvPr/>
          </p:nvSpPr>
          <p:spPr bwMode="auto">
            <a:xfrm flipH="1" flipV="1">
              <a:off x="2916729" y="980366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Line 255"/>
            <p:cNvSpPr>
              <a:spLocks noChangeShapeType="1"/>
            </p:cNvSpPr>
            <p:nvPr/>
          </p:nvSpPr>
          <p:spPr bwMode="auto">
            <a:xfrm flipV="1">
              <a:off x="3780034" y="1160158"/>
              <a:ext cx="172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Line 256"/>
            <p:cNvSpPr>
              <a:spLocks noChangeShapeType="1"/>
            </p:cNvSpPr>
            <p:nvPr/>
          </p:nvSpPr>
          <p:spPr bwMode="auto">
            <a:xfrm flipH="1" flipV="1">
              <a:off x="3780034" y="980366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Line 257"/>
            <p:cNvSpPr>
              <a:spLocks noChangeShapeType="1"/>
            </p:cNvSpPr>
            <p:nvPr/>
          </p:nvSpPr>
          <p:spPr bwMode="auto">
            <a:xfrm>
              <a:off x="2916729" y="980366"/>
              <a:ext cx="8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Line 258"/>
            <p:cNvSpPr>
              <a:spLocks noChangeShapeType="1"/>
            </p:cNvSpPr>
            <p:nvPr/>
          </p:nvSpPr>
          <p:spPr bwMode="auto">
            <a:xfrm flipH="1" flipV="1">
              <a:off x="4644008" y="1484770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Line 259"/>
            <p:cNvSpPr>
              <a:spLocks noChangeShapeType="1"/>
            </p:cNvSpPr>
            <p:nvPr/>
          </p:nvSpPr>
          <p:spPr bwMode="auto">
            <a:xfrm flipV="1">
              <a:off x="5508501" y="1663346"/>
              <a:ext cx="100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Line 260"/>
            <p:cNvSpPr>
              <a:spLocks noChangeShapeType="1"/>
            </p:cNvSpPr>
            <p:nvPr/>
          </p:nvSpPr>
          <p:spPr bwMode="auto">
            <a:xfrm>
              <a:off x="4644008" y="1484770"/>
              <a:ext cx="8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Line 261"/>
            <p:cNvSpPr>
              <a:spLocks noChangeShapeType="1"/>
            </p:cNvSpPr>
            <p:nvPr/>
          </p:nvSpPr>
          <p:spPr bwMode="auto">
            <a:xfrm flipH="1" flipV="1">
              <a:off x="5508501" y="1484770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Line 284"/>
            <p:cNvSpPr>
              <a:spLocks noChangeShapeType="1"/>
            </p:cNvSpPr>
            <p:nvPr/>
          </p:nvSpPr>
          <p:spPr bwMode="auto">
            <a:xfrm>
              <a:off x="4210125" y="1916991"/>
              <a:ext cx="432000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Line 285"/>
            <p:cNvSpPr>
              <a:spLocks noChangeShapeType="1"/>
            </p:cNvSpPr>
            <p:nvPr/>
          </p:nvSpPr>
          <p:spPr bwMode="auto">
            <a:xfrm flipH="1" flipV="1">
              <a:off x="3779912" y="1734387"/>
              <a:ext cx="1588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286"/>
            <p:cNvSpPr>
              <a:spLocks noChangeShapeType="1"/>
            </p:cNvSpPr>
            <p:nvPr/>
          </p:nvSpPr>
          <p:spPr bwMode="auto">
            <a:xfrm flipV="1">
              <a:off x="4210125" y="1734387"/>
              <a:ext cx="0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Line 287"/>
            <p:cNvSpPr>
              <a:spLocks noChangeShapeType="1"/>
            </p:cNvSpPr>
            <p:nvPr/>
          </p:nvSpPr>
          <p:spPr bwMode="auto">
            <a:xfrm>
              <a:off x="3779912" y="1734387"/>
              <a:ext cx="430213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Line 288"/>
            <p:cNvSpPr>
              <a:spLocks noChangeShapeType="1"/>
            </p:cNvSpPr>
            <p:nvPr/>
          </p:nvSpPr>
          <p:spPr bwMode="auto">
            <a:xfrm>
              <a:off x="4641925" y="2165320"/>
              <a:ext cx="432000" cy="1588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Line 289"/>
            <p:cNvSpPr>
              <a:spLocks noChangeShapeType="1"/>
            </p:cNvSpPr>
            <p:nvPr/>
          </p:nvSpPr>
          <p:spPr bwMode="auto">
            <a:xfrm flipH="1" flipV="1">
              <a:off x="4211712" y="1988428"/>
              <a:ext cx="1588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Line 290"/>
            <p:cNvSpPr>
              <a:spLocks noChangeShapeType="1"/>
            </p:cNvSpPr>
            <p:nvPr/>
          </p:nvSpPr>
          <p:spPr bwMode="auto">
            <a:xfrm flipV="1">
              <a:off x="4641925" y="1988428"/>
              <a:ext cx="0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291"/>
            <p:cNvSpPr>
              <a:spLocks noChangeShapeType="1"/>
            </p:cNvSpPr>
            <p:nvPr/>
          </p:nvSpPr>
          <p:spPr bwMode="auto">
            <a:xfrm>
              <a:off x="4211712" y="1988428"/>
              <a:ext cx="430213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Line 299"/>
            <p:cNvSpPr>
              <a:spLocks noChangeShapeType="1"/>
            </p:cNvSpPr>
            <p:nvPr/>
          </p:nvSpPr>
          <p:spPr bwMode="auto">
            <a:xfrm flipH="1" flipV="1">
              <a:off x="5508501" y="980366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258"/>
            <p:cNvSpPr>
              <a:spLocks noChangeShapeType="1"/>
            </p:cNvSpPr>
            <p:nvPr/>
          </p:nvSpPr>
          <p:spPr bwMode="auto">
            <a:xfrm flipV="1">
              <a:off x="3779912" y="1231745"/>
              <a:ext cx="122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259"/>
            <p:cNvSpPr>
              <a:spLocks noChangeShapeType="1"/>
            </p:cNvSpPr>
            <p:nvPr/>
          </p:nvSpPr>
          <p:spPr bwMode="auto">
            <a:xfrm flipV="1">
              <a:off x="4644852" y="1411895"/>
              <a:ext cx="172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Line 260"/>
            <p:cNvSpPr>
              <a:spLocks noChangeShapeType="1"/>
            </p:cNvSpPr>
            <p:nvPr/>
          </p:nvSpPr>
          <p:spPr bwMode="auto">
            <a:xfrm>
              <a:off x="3780034" y="1231745"/>
              <a:ext cx="8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Line 261"/>
            <p:cNvSpPr>
              <a:spLocks noChangeShapeType="1"/>
            </p:cNvSpPr>
            <p:nvPr/>
          </p:nvSpPr>
          <p:spPr bwMode="auto">
            <a:xfrm flipH="1" flipV="1">
              <a:off x="4644852" y="1231745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Line 242"/>
            <p:cNvSpPr>
              <a:spLocks noChangeShapeType="1"/>
            </p:cNvSpPr>
            <p:nvPr/>
          </p:nvSpPr>
          <p:spPr bwMode="auto">
            <a:xfrm flipH="1" flipV="1">
              <a:off x="5509245" y="1733197"/>
              <a:ext cx="0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Line 284"/>
            <p:cNvSpPr>
              <a:spLocks noChangeShapeType="1"/>
            </p:cNvSpPr>
            <p:nvPr/>
          </p:nvSpPr>
          <p:spPr bwMode="auto">
            <a:xfrm>
              <a:off x="5074221" y="1915801"/>
              <a:ext cx="432000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Line 285"/>
            <p:cNvSpPr>
              <a:spLocks noChangeShapeType="1"/>
            </p:cNvSpPr>
            <p:nvPr/>
          </p:nvSpPr>
          <p:spPr bwMode="auto">
            <a:xfrm flipH="1" flipV="1">
              <a:off x="4644008" y="1733197"/>
              <a:ext cx="0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Line 286"/>
            <p:cNvSpPr>
              <a:spLocks noChangeShapeType="1"/>
            </p:cNvSpPr>
            <p:nvPr/>
          </p:nvSpPr>
          <p:spPr bwMode="auto">
            <a:xfrm flipV="1">
              <a:off x="5074221" y="1733197"/>
              <a:ext cx="0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Line 287"/>
            <p:cNvSpPr>
              <a:spLocks noChangeShapeType="1"/>
            </p:cNvSpPr>
            <p:nvPr/>
          </p:nvSpPr>
          <p:spPr bwMode="auto">
            <a:xfrm>
              <a:off x="4644008" y="1733197"/>
              <a:ext cx="430213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Line 288"/>
            <p:cNvSpPr>
              <a:spLocks noChangeShapeType="1"/>
            </p:cNvSpPr>
            <p:nvPr/>
          </p:nvSpPr>
          <p:spPr bwMode="auto">
            <a:xfrm>
              <a:off x="5506021" y="2164130"/>
              <a:ext cx="432000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Line 289"/>
            <p:cNvSpPr>
              <a:spLocks noChangeShapeType="1"/>
            </p:cNvSpPr>
            <p:nvPr/>
          </p:nvSpPr>
          <p:spPr bwMode="auto">
            <a:xfrm flipH="1" flipV="1">
              <a:off x="5075808" y="1987238"/>
              <a:ext cx="0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Line 290"/>
            <p:cNvSpPr>
              <a:spLocks noChangeShapeType="1"/>
            </p:cNvSpPr>
            <p:nvPr/>
          </p:nvSpPr>
          <p:spPr bwMode="auto">
            <a:xfrm flipV="1">
              <a:off x="5506021" y="1987238"/>
              <a:ext cx="0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291"/>
            <p:cNvSpPr>
              <a:spLocks noChangeShapeType="1"/>
            </p:cNvSpPr>
            <p:nvPr/>
          </p:nvSpPr>
          <p:spPr bwMode="auto">
            <a:xfrm>
              <a:off x="5075808" y="1987238"/>
              <a:ext cx="430213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227"/>
            <p:cNvSpPr>
              <a:spLocks noChangeShapeType="1"/>
            </p:cNvSpPr>
            <p:nvPr/>
          </p:nvSpPr>
          <p:spPr bwMode="auto">
            <a:xfrm>
              <a:off x="4644008" y="907689"/>
              <a:ext cx="0" cy="158400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Line 232"/>
            <p:cNvSpPr>
              <a:spLocks noChangeShapeType="1"/>
            </p:cNvSpPr>
            <p:nvPr/>
          </p:nvSpPr>
          <p:spPr bwMode="auto">
            <a:xfrm flipH="1" flipV="1">
              <a:off x="2918194" y="2250365"/>
              <a:ext cx="1588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Line 233"/>
            <p:cNvSpPr>
              <a:spLocks noChangeShapeType="1"/>
            </p:cNvSpPr>
            <p:nvPr/>
          </p:nvSpPr>
          <p:spPr bwMode="auto">
            <a:xfrm flipV="1">
              <a:off x="3132506" y="2250365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Line 234"/>
            <p:cNvSpPr>
              <a:spLocks noChangeShapeType="1"/>
            </p:cNvSpPr>
            <p:nvPr/>
          </p:nvSpPr>
          <p:spPr bwMode="auto">
            <a:xfrm flipV="1">
              <a:off x="2918194" y="2248778"/>
              <a:ext cx="214313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Line 262"/>
            <p:cNvSpPr>
              <a:spLocks noChangeShapeType="1"/>
            </p:cNvSpPr>
            <p:nvPr/>
          </p:nvSpPr>
          <p:spPr bwMode="auto">
            <a:xfrm flipV="1">
              <a:off x="3132506" y="2419294"/>
              <a:ext cx="2159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Line 263"/>
            <p:cNvSpPr>
              <a:spLocks noChangeShapeType="1"/>
            </p:cNvSpPr>
            <p:nvPr/>
          </p:nvSpPr>
          <p:spPr bwMode="auto">
            <a:xfrm flipH="1" flipV="1">
              <a:off x="3349994" y="2250365"/>
              <a:ext cx="1588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Line 264"/>
            <p:cNvSpPr>
              <a:spLocks noChangeShapeType="1"/>
            </p:cNvSpPr>
            <p:nvPr/>
          </p:nvSpPr>
          <p:spPr bwMode="auto">
            <a:xfrm flipV="1">
              <a:off x="3564306" y="2250365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Line 265"/>
            <p:cNvSpPr>
              <a:spLocks noChangeShapeType="1"/>
            </p:cNvSpPr>
            <p:nvPr/>
          </p:nvSpPr>
          <p:spPr bwMode="auto">
            <a:xfrm flipV="1">
              <a:off x="3349994" y="2248778"/>
              <a:ext cx="214313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Line 266"/>
            <p:cNvSpPr>
              <a:spLocks noChangeShapeType="1"/>
            </p:cNvSpPr>
            <p:nvPr/>
          </p:nvSpPr>
          <p:spPr bwMode="auto">
            <a:xfrm flipV="1">
              <a:off x="3564306" y="2419294"/>
              <a:ext cx="2159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Line 267"/>
            <p:cNvSpPr>
              <a:spLocks noChangeShapeType="1"/>
            </p:cNvSpPr>
            <p:nvPr/>
          </p:nvSpPr>
          <p:spPr bwMode="auto">
            <a:xfrm flipH="1" flipV="1">
              <a:off x="3781794" y="2250365"/>
              <a:ext cx="1588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268"/>
            <p:cNvSpPr>
              <a:spLocks noChangeShapeType="1"/>
            </p:cNvSpPr>
            <p:nvPr/>
          </p:nvSpPr>
          <p:spPr bwMode="auto">
            <a:xfrm flipV="1">
              <a:off x="3996106" y="2250365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Line 269"/>
            <p:cNvSpPr>
              <a:spLocks noChangeShapeType="1"/>
            </p:cNvSpPr>
            <p:nvPr/>
          </p:nvSpPr>
          <p:spPr bwMode="auto">
            <a:xfrm flipV="1">
              <a:off x="3781794" y="2248778"/>
              <a:ext cx="214313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270"/>
            <p:cNvSpPr>
              <a:spLocks noChangeShapeType="1"/>
            </p:cNvSpPr>
            <p:nvPr/>
          </p:nvSpPr>
          <p:spPr bwMode="auto">
            <a:xfrm flipV="1">
              <a:off x="3997694" y="2419294"/>
              <a:ext cx="214313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Line 271"/>
            <p:cNvSpPr>
              <a:spLocks noChangeShapeType="1"/>
            </p:cNvSpPr>
            <p:nvPr/>
          </p:nvSpPr>
          <p:spPr bwMode="auto">
            <a:xfrm flipH="1" flipV="1">
              <a:off x="4213594" y="2250365"/>
              <a:ext cx="1588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Line 272"/>
            <p:cNvSpPr>
              <a:spLocks noChangeShapeType="1"/>
            </p:cNvSpPr>
            <p:nvPr/>
          </p:nvSpPr>
          <p:spPr bwMode="auto">
            <a:xfrm flipV="1">
              <a:off x="4427906" y="2250365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273"/>
            <p:cNvSpPr>
              <a:spLocks noChangeShapeType="1"/>
            </p:cNvSpPr>
            <p:nvPr/>
          </p:nvSpPr>
          <p:spPr bwMode="auto">
            <a:xfrm flipV="1">
              <a:off x="4213594" y="2248778"/>
              <a:ext cx="214313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274"/>
            <p:cNvSpPr>
              <a:spLocks noChangeShapeType="1"/>
            </p:cNvSpPr>
            <p:nvPr/>
          </p:nvSpPr>
          <p:spPr bwMode="auto">
            <a:xfrm flipV="1">
              <a:off x="4427906" y="2419294"/>
              <a:ext cx="2159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Line 275"/>
            <p:cNvSpPr>
              <a:spLocks noChangeShapeType="1"/>
            </p:cNvSpPr>
            <p:nvPr/>
          </p:nvSpPr>
          <p:spPr bwMode="auto">
            <a:xfrm flipH="1" flipV="1">
              <a:off x="4646981" y="2250365"/>
              <a:ext cx="1588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Line 276"/>
            <p:cNvSpPr>
              <a:spLocks noChangeShapeType="1"/>
            </p:cNvSpPr>
            <p:nvPr/>
          </p:nvSpPr>
          <p:spPr bwMode="auto">
            <a:xfrm flipV="1">
              <a:off x="4861294" y="2250365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Line 277"/>
            <p:cNvSpPr>
              <a:spLocks noChangeShapeType="1"/>
            </p:cNvSpPr>
            <p:nvPr/>
          </p:nvSpPr>
          <p:spPr bwMode="auto">
            <a:xfrm flipV="1">
              <a:off x="4646981" y="2248778"/>
              <a:ext cx="214313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Line 278"/>
            <p:cNvSpPr>
              <a:spLocks noChangeShapeType="1"/>
            </p:cNvSpPr>
            <p:nvPr/>
          </p:nvSpPr>
          <p:spPr bwMode="auto">
            <a:xfrm flipV="1">
              <a:off x="4862881" y="2419294"/>
              <a:ext cx="214313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Line 279"/>
            <p:cNvSpPr>
              <a:spLocks noChangeShapeType="1"/>
            </p:cNvSpPr>
            <p:nvPr/>
          </p:nvSpPr>
          <p:spPr bwMode="auto">
            <a:xfrm flipH="1" flipV="1">
              <a:off x="5078781" y="2250365"/>
              <a:ext cx="1588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280"/>
            <p:cNvSpPr>
              <a:spLocks noChangeShapeType="1"/>
            </p:cNvSpPr>
            <p:nvPr/>
          </p:nvSpPr>
          <p:spPr bwMode="auto">
            <a:xfrm flipV="1">
              <a:off x="5293094" y="2250365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281"/>
            <p:cNvSpPr>
              <a:spLocks noChangeShapeType="1"/>
            </p:cNvSpPr>
            <p:nvPr/>
          </p:nvSpPr>
          <p:spPr bwMode="auto">
            <a:xfrm flipV="1">
              <a:off x="5078781" y="2248778"/>
              <a:ext cx="214313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282"/>
            <p:cNvSpPr>
              <a:spLocks noChangeShapeType="1"/>
            </p:cNvSpPr>
            <p:nvPr/>
          </p:nvSpPr>
          <p:spPr bwMode="auto">
            <a:xfrm flipV="1">
              <a:off x="2775442" y="2420880"/>
              <a:ext cx="141165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Text Box 305"/>
            <p:cNvSpPr txBox="1">
              <a:spLocks noChangeArrowheads="1"/>
            </p:cNvSpPr>
            <p:nvPr/>
          </p:nvSpPr>
          <p:spPr bwMode="auto">
            <a:xfrm>
              <a:off x="1619672" y="2204864"/>
              <a:ext cx="1152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110000"/>
                </a:lnSpc>
              </a:pPr>
              <a:r>
                <a:rPr lang="zh-CN" altLang="en-US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主时钟信号</a:t>
              </a:r>
              <a:endPara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79" name="Line 266"/>
            <p:cNvSpPr>
              <a:spLocks noChangeShapeType="1"/>
            </p:cNvSpPr>
            <p:nvPr/>
          </p:nvSpPr>
          <p:spPr bwMode="auto">
            <a:xfrm flipV="1">
              <a:off x="5291356" y="2418030"/>
              <a:ext cx="2159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Line 267"/>
            <p:cNvSpPr>
              <a:spLocks noChangeShapeType="1"/>
            </p:cNvSpPr>
            <p:nvPr/>
          </p:nvSpPr>
          <p:spPr bwMode="auto">
            <a:xfrm flipH="1" flipV="1">
              <a:off x="5508844" y="2249101"/>
              <a:ext cx="1588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Line 268"/>
            <p:cNvSpPr>
              <a:spLocks noChangeShapeType="1"/>
            </p:cNvSpPr>
            <p:nvPr/>
          </p:nvSpPr>
          <p:spPr bwMode="auto">
            <a:xfrm flipV="1">
              <a:off x="5723156" y="2249101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Line 269"/>
            <p:cNvSpPr>
              <a:spLocks noChangeShapeType="1"/>
            </p:cNvSpPr>
            <p:nvPr/>
          </p:nvSpPr>
          <p:spPr bwMode="auto">
            <a:xfrm flipV="1">
              <a:off x="5508844" y="2247514"/>
              <a:ext cx="214313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Line 270"/>
            <p:cNvSpPr>
              <a:spLocks noChangeShapeType="1"/>
            </p:cNvSpPr>
            <p:nvPr/>
          </p:nvSpPr>
          <p:spPr bwMode="auto">
            <a:xfrm flipV="1">
              <a:off x="5724744" y="2418030"/>
              <a:ext cx="214313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Line 271"/>
            <p:cNvSpPr>
              <a:spLocks noChangeShapeType="1"/>
            </p:cNvSpPr>
            <p:nvPr/>
          </p:nvSpPr>
          <p:spPr bwMode="auto">
            <a:xfrm flipH="1" flipV="1">
              <a:off x="5940644" y="2249101"/>
              <a:ext cx="1588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Line 272"/>
            <p:cNvSpPr>
              <a:spLocks noChangeShapeType="1"/>
            </p:cNvSpPr>
            <p:nvPr/>
          </p:nvSpPr>
          <p:spPr bwMode="auto">
            <a:xfrm flipV="1">
              <a:off x="6154956" y="2249101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Line 273"/>
            <p:cNvSpPr>
              <a:spLocks noChangeShapeType="1"/>
            </p:cNvSpPr>
            <p:nvPr/>
          </p:nvSpPr>
          <p:spPr bwMode="auto">
            <a:xfrm flipV="1">
              <a:off x="5940644" y="2247514"/>
              <a:ext cx="214313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" name="Line 274"/>
            <p:cNvSpPr>
              <a:spLocks noChangeShapeType="1"/>
            </p:cNvSpPr>
            <p:nvPr/>
          </p:nvSpPr>
          <p:spPr bwMode="auto">
            <a:xfrm flipV="1">
              <a:off x="6154956" y="2418030"/>
              <a:ext cx="2159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" name="Line 275"/>
            <p:cNvSpPr>
              <a:spLocks noChangeShapeType="1"/>
            </p:cNvSpPr>
            <p:nvPr/>
          </p:nvSpPr>
          <p:spPr bwMode="auto">
            <a:xfrm flipH="1" flipV="1">
              <a:off x="6374031" y="2249101"/>
              <a:ext cx="1588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" name="Line 277"/>
            <p:cNvSpPr>
              <a:spLocks noChangeShapeType="1"/>
            </p:cNvSpPr>
            <p:nvPr/>
          </p:nvSpPr>
          <p:spPr bwMode="auto">
            <a:xfrm flipV="1">
              <a:off x="6374031" y="2247514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" name="Line 255"/>
            <p:cNvSpPr>
              <a:spLocks noChangeShapeType="1"/>
            </p:cNvSpPr>
            <p:nvPr/>
          </p:nvSpPr>
          <p:spPr bwMode="auto">
            <a:xfrm flipV="1">
              <a:off x="6373044" y="1159489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1" name="Line 256"/>
            <p:cNvSpPr>
              <a:spLocks noChangeShapeType="1"/>
            </p:cNvSpPr>
            <p:nvPr/>
          </p:nvSpPr>
          <p:spPr bwMode="auto">
            <a:xfrm flipH="1" flipV="1">
              <a:off x="6373044" y="979697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" name="Line 257"/>
            <p:cNvSpPr>
              <a:spLocks noChangeShapeType="1"/>
            </p:cNvSpPr>
            <p:nvPr/>
          </p:nvSpPr>
          <p:spPr bwMode="auto">
            <a:xfrm>
              <a:off x="5508104" y="979697"/>
              <a:ext cx="8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3" name="Line 260"/>
            <p:cNvSpPr>
              <a:spLocks noChangeShapeType="1"/>
            </p:cNvSpPr>
            <p:nvPr/>
          </p:nvSpPr>
          <p:spPr bwMode="auto">
            <a:xfrm>
              <a:off x="6373044" y="1231075"/>
              <a:ext cx="144000" cy="66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4" name="Line 299"/>
            <p:cNvSpPr>
              <a:spLocks noChangeShapeType="1"/>
            </p:cNvSpPr>
            <p:nvPr/>
          </p:nvSpPr>
          <p:spPr bwMode="auto">
            <a:xfrm flipH="1" flipV="1">
              <a:off x="6372200" y="1231745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5" name="Line 236"/>
            <p:cNvSpPr>
              <a:spLocks noChangeShapeType="1"/>
            </p:cNvSpPr>
            <p:nvPr/>
          </p:nvSpPr>
          <p:spPr bwMode="auto">
            <a:xfrm>
              <a:off x="5938316" y="1915801"/>
              <a:ext cx="432000" cy="119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" name="Line 238"/>
            <p:cNvSpPr>
              <a:spLocks noChangeShapeType="1"/>
            </p:cNvSpPr>
            <p:nvPr/>
          </p:nvSpPr>
          <p:spPr bwMode="auto">
            <a:xfrm flipV="1">
              <a:off x="5938316" y="1733197"/>
              <a:ext cx="0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7" name="Line 239"/>
            <p:cNvSpPr>
              <a:spLocks noChangeShapeType="1"/>
            </p:cNvSpPr>
            <p:nvPr/>
          </p:nvSpPr>
          <p:spPr bwMode="auto">
            <a:xfrm>
              <a:off x="5508104" y="1733197"/>
              <a:ext cx="430213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8" name="Line 243"/>
            <p:cNvSpPr>
              <a:spLocks noChangeShapeType="1"/>
            </p:cNvSpPr>
            <p:nvPr/>
          </p:nvSpPr>
          <p:spPr bwMode="auto">
            <a:xfrm flipV="1">
              <a:off x="6370116" y="2166337"/>
              <a:ext cx="144000" cy="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" name="Line 244"/>
            <p:cNvSpPr>
              <a:spLocks noChangeShapeType="1"/>
            </p:cNvSpPr>
            <p:nvPr/>
          </p:nvSpPr>
          <p:spPr bwMode="auto">
            <a:xfrm flipH="1" flipV="1">
              <a:off x="5938316" y="1979302"/>
              <a:ext cx="1588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" name="Line 245"/>
            <p:cNvSpPr>
              <a:spLocks noChangeShapeType="1"/>
            </p:cNvSpPr>
            <p:nvPr/>
          </p:nvSpPr>
          <p:spPr bwMode="auto">
            <a:xfrm flipV="1">
              <a:off x="6370116" y="1988826"/>
              <a:ext cx="0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Line 246"/>
            <p:cNvSpPr>
              <a:spLocks noChangeShapeType="1"/>
            </p:cNvSpPr>
            <p:nvPr/>
          </p:nvSpPr>
          <p:spPr bwMode="auto">
            <a:xfrm flipV="1">
              <a:off x="5938316" y="1987238"/>
              <a:ext cx="431800" cy="1588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Line 227"/>
            <p:cNvSpPr>
              <a:spLocks noChangeShapeType="1"/>
            </p:cNvSpPr>
            <p:nvPr/>
          </p:nvSpPr>
          <p:spPr bwMode="auto">
            <a:xfrm>
              <a:off x="6372200" y="907689"/>
              <a:ext cx="0" cy="158400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Line 242"/>
            <p:cNvSpPr>
              <a:spLocks noChangeShapeType="1"/>
            </p:cNvSpPr>
            <p:nvPr/>
          </p:nvSpPr>
          <p:spPr bwMode="auto">
            <a:xfrm flipH="1" flipV="1">
              <a:off x="6373341" y="1733197"/>
              <a:ext cx="1588" cy="18000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Line 239"/>
            <p:cNvSpPr>
              <a:spLocks noChangeShapeType="1"/>
            </p:cNvSpPr>
            <p:nvPr/>
          </p:nvSpPr>
          <p:spPr bwMode="auto">
            <a:xfrm>
              <a:off x="6372200" y="1733197"/>
              <a:ext cx="144000" cy="1190"/>
            </a:xfrm>
            <a:prstGeom prst="line">
              <a:avLst/>
            </a:prstGeom>
            <a:noFill/>
            <a:ln w="15875">
              <a:solidFill>
                <a:srgbClr val="0033CC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" name="Line 230"/>
            <p:cNvSpPr>
              <a:spLocks noChangeShapeType="1"/>
            </p:cNvSpPr>
            <p:nvPr/>
          </p:nvSpPr>
          <p:spPr bwMode="auto">
            <a:xfrm flipH="1">
              <a:off x="5508104" y="834887"/>
              <a:ext cx="1008000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6" name="组合 405"/>
          <p:cNvGrpSpPr/>
          <p:nvPr/>
        </p:nvGrpSpPr>
        <p:grpSpPr>
          <a:xfrm>
            <a:off x="2915936" y="2205895"/>
            <a:ext cx="4823061" cy="504000"/>
            <a:chOff x="1691800" y="2492896"/>
            <a:chExt cx="4823061" cy="504000"/>
          </a:xfrm>
        </p:grpSpPr>
        <p:sp>
          <p:nvSpPr>
            <p:cNvPr id="407" name="Line 236"/>
            <p:cNvSpPr>
              <a:spLocks noChangeShapeType="1"/>
            </p:cNvSpPr>
            <p:nvPr/>
          </p:nvSpPr>
          <p:spPr bwMode="auto">
            <a:xfrm flipV="1">
              <a:off x="3778076" y="2706268"/>
              <a:ext cx="21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Line 237"/>
            <p:cNvSpPr>
              <a:spLocks noChangeShapeType="1"/>
            </p:cNvSpPr>
            <p:nvPr/>
          </p:nvSpPr>
          <p:spPr bwMode="auto">
            <a:xfrm flipH="1" flipV="1">
              <a:off x="3347864" y="2526268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Line 239"/>
            <p:cNvSpPr>
              <a:spLocks noChangeShapeType="1"/>
            </p:cNvSpPr>
            <p:nvPr/>
          </p:nvSpPr>
          <p:spPr bwMode="auto">
            <a:xfrm>
              <a:off x="3347864" y="2526268"/>
              <a:ext cx="430213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" name="Line 240"/>
            <p:cNvSpPr>
              <a:spLocks noChangeShapeType="1"/>
            </p:cNvSpPr>
            <p:nvPr/>
          </p:nvSpPr>
          <p:spPr bwMode="auto">
            <a:xfrm>
              <a:off x="2775443" y="2706268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" name="Line 237"/>
            <p:cNvSpPr>
              <a:spLocks noChangeShapeType="1"/>
            </p:cNvSpPr>
            <p:nvPr/>
          </p:nvSpPr>
          <p:spPr bwMode="auto">
            <a:xfrm flipH="1" flipV="1">
              <a:off x="3777580" y="2528872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" name="Line 236"/>
            <p:cNvSpPr>
              <a:spLocks noChangeShapeType="1"/>
            </p:cNvSpPr>
            <p:nvPr/>
          </p:nvSpPr>
          <p:spPr bwMode="auto">
            <a:xfrm>
              <a:off x="5504493" y="2960928"/>
              <a:ext cx="10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" name="Line 237"/>
            <p:cNvSpPr>
              <a:spLocks noChangeShapeType="1"/>
            </p:cNvSpPr>
            <p:nvPr/>
          </p:nvSpPr>
          <p:spPr bwMode="auto">
            <a:xfrm flipH="1" flipV="1">
              <a:off x="5074281" y="2780928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" name="Line 239"/>
            <p:cNvSpPr>
              <a:spLocks noChangeShapeType="1"/>
            </p:cNvSpPr>
            <p:nvPr/>
          </p:nvSpPr>
          <p:spPr bwMode="auto">
            <a:xfrm>
              <a:off x="5074281" y="2780928"/>
              <a:ext cx="430213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" name="Line 240"/>
            <p:cNvSpPr>
              <a:spLocks noChangeShapeType="1"/>
            </p:cNvSpPr>
            <p:nvPr/>
          </p:nvSpPr>
          <p:spPr bwMode="auto">
            <a:xfrm>
              <a:off x="2771800" y="2960928"/>
              <a:ext cx="23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" name="Line 237"/>
            <p:cNvSpPr>
              <a:spLocks noChangeShapeType="1"/>
            </p:cNvSpPr>
            <p:nvPr/>
          </p:nvSpPr>
          <p:spPr bwMode="auto">
            <a:xfrm flipH="1" flipV="1">
              <a:off x="5503997" y="2780928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" name="Line 237"/>
            <p:cNvSpPr>
              <a:spLocks noChangeShapeType="1"/>
            </p:cNvSpPr>
            <p:nvPr/>
          </p:nvSpPr>
          <p:spPr bwMode="auto">
            <a:xfrm flipH="1" flipV="1">
              <a:off x="5940152" y="2526268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" name="Line 239"/>
            <p:cNvSpPr>
              <a:spLocks noChangeShapeType="1"/>
            </p:cNvSpPr>
            <p:nvPr/>
          </p:nvSpPr>
          <p:spPr bwMode="auto">
            <a:xfrm>
              <a:off x="5940152" y="2526268"/>
              <a:ext cx="430213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" name="Line 237"/>
            <p:cNvSpPr>
              <a:spLocks noChangeShapeType="1"/>
            </p:cNvSpPr>
            <p:nvPr/>
          </p:nvSpPr>
          <p:spPr bwMode="auto">
            <a:xfrm flipH="1" flipV="1">
              <a:off x="6369868" y="2528872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" name="Line 236"/>
            <p:cNvSpPr>
              <a:spLocks noChangeShapeType="1"/>
            </p:cNvSpPr>
            <p:nvPr/>
          </p:nvSpPr>
          <p:spPr bwMode="auto">
            <a:xfrm>
              <a:off x="6370861" y="2708872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" name="Text Box 225"/>
            <p:cNvSpPr txBox="1">
              <a:spLocks noChangeArrowheads="1"/>
            </p:cNvSpPr>
            <p:nvPr/>
          </p:nvSpPr>
          <p:spPr bwMode="auto">
            <a:xfrm>
              <a:off x="1691800" y="2492896"/>
              <a:ext cx="1080000" cy="50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105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写信号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REGs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写信号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9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9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9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69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Box 4"/>
          <p:cNvSpPr txBox="1">
            <a:spLocks noChangeArrowheads="1"/>
          </p:cNvSpPr>
          <p:nvPr/>
        </p:nvSpPr>
        <p:spPr bwMode="auto">
          <a:xfrm>
            <a:off x="2631679" y="2634181"/>
            <a:ext cx="5472002" cy="23133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设备通过</a:t>
            </a:r>
            <a:r>
              <a:rPr lang="en-US" altLang="zh-CN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b="1" dirty="0" smtClean="0">
                <a:latin typeface="宋体" panose="02010600030101010101" pitchFamily="2" charset="-122"/>
              </a:rPr>
              <a:t>连接到总线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 smtClean="0">
                <a:latin typeface="+mn-ea"/>
              </a:rPr>
              <a:t>             </a:t>
            </a:r>
            <a:r>
              <a:rPr lang="en-US" altLang="zh-CN" sz="1800" dirty="0" smtClean="0">
                <a:latin typeface="+mn-ea"/>
              </a:rPr>
              <a:t> </a:t>
            </a:r>
            <a:r>
              <a:rPr lang="zh-CN" altLang="en-US" sz="1800" dirty="0" smtClean="0">
                <a:latin typeface="+mn-ea"/>
              </a:rPr>
              <a:t> └</a:t>
            </a:r>
            <a:r>
              <a:rPr lang="zh-CN" altLang="en-US" sz="1800" b="1" dirty="0" smtClean="0">
                <a:latin typeface="+mn-ea"/>
              </a:rPr>
              <a:t>←</a:t>
            </a:r>
            <a:r>
              <a:rPr lang="zh-CN" altLang="en-US" sz="1800" b="1" dirty="0" smtClean="0">
                <a:solidFill>
                  <a:srgbClr val="0070C0"/>
                </a:solidFill>
                <a:latin typeface="+mn-ea"/>
              </a:rPr>
              <a:t>协调</a:t>
            </a:r>
            <a:r>
              <a:rPr lang="zh-CN" altLang="en-US" sz="1800" b="1" dirty="0" smtClean="0"/>
              <a:t>速度</a:t>
            </a:r>
            <a:r>
              <a:rPr lang="en-US" altLang="zh-CN" sz="1800" b="1" dirty="0"/>
              <a:t>/</a:t>
            </a:r>
            <a:r>
              <a:rPr lang="zh-CN" altLang="en-US" sz="1800" b="1" dirty="0" smtClean="0"/>
              <a:t>电平</a:t>
            </a:r>
            <a:r>
              <a:rPr lang="en-US" altLang="zh-CN" sz="1800" b="1" dirty="0" smtClean="0">
                <a:latin typeface="+mn-ea"/>
              </a:rPr>
              <a:t>/</a:t>
            </a:r>
            <a:r>
              <a:rPr lang="zh-CN" altLang="en-US" sz="1800" b="1" dirty="0" smtClean="0">
                <a:latin typeface="+mn-ea"/>
              </a:rPr>
              <a:t>格式</a:t>
            </a:r>
            <a:r>
              <a:rPr lang="zh-CN" altLang="en-US" sz="1800" b="1" dirty="0" smtClean="0"/>
              <a:t>等</a:t>
            </a:r>
            <a:r>
              <a:rPr lang="zh-CN" altLang="en-US" sz="1800" b="1" dirty="0">
                <a:solidFill>
                  <a:srgbClr val="0070C0"/>
                </a:solidFill>
              </a:rPr>
              <a:t>差异</a:t>
            </a:r>
            <a:endParaRPr lang="en-US" altLang="zh-CN" sz="1800" b="1" dirty="0">
              <a:solidFill>
                <a:srgbClr val="0070C0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总线上设备类型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     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基于传输中的角色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总线操作类型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             (</a:t>
            </a:r>
            <a:r>
              <a:rPr lang="zh-CN" altLang="en-US" sz="1600" b="1" dirty="0">
                <a:latin typeface="宋体" panose="02010600030101010101" pitchFamily="2" charset="-122"/>
              </a:rPr>
              <a:t>基于主设备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84" name="Text Box 4"/>
          <p:cNvSpPr txBox="1">
            <a:spLocks noChangeArrowheads="1"/>
          </p:cNvSpPr>
          <p:nvPr/>
        </p:nvSpPr>
        <p:spPr bwMode="auto">
          <a:xfrm>
            <a:off x="179513" y="332656"/>
            <a:ext cx="3600400" cy="55797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、计算机的部件互连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互连类型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总线结构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*总线定义：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*互连特点：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*总线互连方法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系统总线组成：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267317" y="764704"/>
            <a:ext cx="6121107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有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总线方式</a:t>
            </a:r>
            <a:r>
              <a:rPr lang="zh-CN" altLang="en-US" b="1" dirty="0" smtClean="0">
                <a:latin typeface="宋体" panose="02010600030101010101" pitchFamily="2" charset="-122"/>
              </a:rPr>
              <a:t>、专用方式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又称分散方式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点点方式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2000" b="1" u="sng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79712" y="1700808"/>
            <a:ext cx="6984776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指用于</a:t>
            </a:r>
            <a:r>
              <a:rPr lang="zh-CN" altLang="en-US" b="1" u="sng" dirty="0">
                <a:latin typeface="宋体" panose="02010600030101010101" pitchFamily="2" charset="-122"/>
              </a:rPr>
              <a:t>信息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传输</a:t>
            </a:r>
            <a:r>
              <a:rPr lang="zh-CN" altLang="en-US" b="1" dirty="0">
                <a:latin typeface="宋体" panose="02010600030101010101" pitchFamily="2" charset="-122"/>
              </a:rPr>
              <a:t>的一组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公共</a:t>
            </a:r>
            <a:r>
              <a:rPr lang="zh-CN" altLang="en-US" b="1" dirty="0" smtClean="0">
                <a:latin typeface="宋体" panose="02010600030101010101" pitchFamily="2" charset="-122"/>
              </a:rPr>
              <a:t>信号线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←类似教室过道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分时传输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同时发送设备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≤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、可扩展性好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不改变</a:t>
            </a:r>
            <a:r>
              <a:rPr lang="zh-CN" altLang="en-US" sz="1800" b="1" dirty="0">
                <a:latin typeface="宋体" panose="02010600030101010101" pitchFamily="2" charset="-122"/>
              </a:rPr>
              <a:t>线路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54" name="Text Box 91"/>
          <p:cNvSpPr txBox="1">
            <a:spLocks noChangeArrowheads="1"/>
          </p:cNvSpPr>
          <p:nvPr/>
        </p:nvSpPr>
        <p:spPr bwMode="auto">
          <a:xfrm>
            <a:off x="2627784" y="5328000"/>
            <a:ext cx="6336827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地址总线、数据总线、控制总线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控制线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状态线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58" name="Text Box 4"/>
          <p:cNvSpPr txBox="1">
            <a:spLocks noChangeArrowheads="1"/>
          </p:cNvSpPr>
          <p:nvPr/>
        </p:nvSpPr>
        <p:spPr bwMode="auto">
          <a:xfrm>
            <a:off x="6372000" y="3430270"/>
            <a:ext cx="2664000" cy="12744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990600" indent="-990600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latin typeface="宋体" panose="02010600030101010101" pitchFamily="2" charset="-122"/>
              </a:rPr>
              <a:t>主设备、从设备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990600" indent="-990600">
              <a:lnSpc>
                <a:spcPct val="9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发起者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   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响应者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marL="990600" indent="-9906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 smtClean="0">
                <a:latin typeface="宋体" panose="02010600030101010101" pitchFamily="2" charset="-122"/>
              </a:rPr>
              <a:t>读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从→主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、写</a:t>
            </a:r>
            <a:endParaRPr lang="en-US" altLang="zh-CN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60" name="Text Box 4"/>
          <p:cNvSpPr txBox="1">
            <a:spLocks noChangeArrowheads="1"/>
          </p:cNvSpPr>
          <p:nvPr/>
        </p:nvSpPr>
        <p:spPr bwMode="auto">
          <a:xfrm>
            <a:off x="4788025" y="5003884"/>
            <a:ext cx="3384375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如何区分不同从设备？</a:t>
            </a:r>
            <a:endParaRPr lang="en-US" altLang="zh-CN" sz="18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50" name="Text Box 4"/>
          <p:cNvSpPr txBox="1">
            <a:spLocks noChangeArrowheads="1"/>
          </p:cNvSpPr>
          <p:nvPr/>
        </p:nvSpPr>
        <p:spPr bwMode="auto">
          <a:xfrm>
            <a:off x="1187623" y="5939988"/>
            <a:ext cx="6264697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设置</a:t>
            </a:r>
            <a:r>
              <a:rPr lang="zh-CN" altLang="en-US" sz="1800" b="1" dirty="0">
                <a:latin typeface="宋体" panose="02010600030101010101" pitchFamily="2" charset="-122"/>
              </a:rPr>
              <a:t>状态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线有什么好处？ 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类比：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说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bye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后挂电话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7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8" name="组合 47"/>
          <p:cNvGrpSpPr/>
          <p:nvPr/>
        </p:nvGrpSpPr>
        <p:grpSpPr>
          <a:xfrm>
            <a:off x="216000" y="3220527"/>
            <a:ext cx="3960296" cy="1728192"/>
            <a:chOff x="179512" y="3573016"/>
            <a:chExt cx="3960296" cy="1728192"/>
          </a:xfrm>
        </p:grpSpPr>
        <p:sp>
          <p:nvSpPr>
            <p:cNvPr id="49" name="Line 34"/>
            <p:cNvSpPr>
              <a:spLocks noChangeShapeType="1"/>
            </p:cNvSpPr>
            <p:nvPr/>
          </p:nvSpPr>
          <p:spPr bwMode="auto">
            <a:xfrm>
              <a:off x="971600" y="4291557"/>
              <a:ext cx="0" cy="145555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Box 35"/>
            <p:cNvSpPr txBox="1">
              <a:spLocks noChangeArrowheads="1"/>
            </p:cNvSpPr>
            <p:nvPr/>
          </p:nvSpPr>
          <p:spPr bwMode="auto">
            <a:xfrm>
              <a:off x="3025964" y="3609520"/>
              <a:ext cx="864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9" name="Line 37"/>
            <p:cNvSpPr>
              <a:spLocks noChangeShapeType="1"/>
            </p:cNvSpPr>
            <p:nvPr/>
          </p:nvSpPr>
          <p:spPr bwMode="auto">
            <a:xfrm flipV="1">
              <a:off x="179512" y="4437112"/>
              <a:ext cx="3960000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38"/>
            <p:cNvSpPr>
              <a:spLocks noChangeShapeType="1"/>
            </p:cNvSpPr>
            <p:nvPr/>
          </p:nvSpPr>
          <p:spPr bwMode="auto">
            <a:xfrm>
              <a:off x="3419872" y="3860601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 Box 40"/>
            <p:cNvSpPr txBox="1">
              <a:spLocks noChangeArrowheads="1"/>
            </p:cNvSpPr>
            <p:nvPr/>
          </p:nvSpPr>
          <p:spPr bwMode="auto">
            <a:xfrm>
              <a:off x="2483768" y="4833184"/>
              <a:ext cx="360000" cy="252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63" name="Text Box 41"/>
            <p:cNvSpPr txBox="1">
              <a:spLocks noChangeArrowheads="1"/>
            </p:cNvSpPr>
            <p:nvPr/>
          </p:nvSpPr>
          <p:spPr bwMode="auto">
            <a:xfrm>
              <a:off x="1763688" y="4149080"/>
              <a:ext cx="936000" cy="288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/>
                <a:t>系统总线</a:t>
              </a:r>
              <a:endParaRPr lang="zh-CN" altLang="en-US" sz="1600" b="1" dirty="0"/>
            </a:p>
          </p:txBody>
        </p:sp>
        <p:sp>
          <p:nvSpPr>
            <p:cNvPr id="64" name="Text Box 66"/>
            <p:cNvSpPr txBox="1">
              <a:spLocks noChangeArrowheads="1"/>
            </p:cNvSpPr>
            <p:nvPr/>
          </p:nvSpPr>
          <p:spPr bwMode="auto">
            <a:xfrm>
              <a:off x="2843808" y="4005064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主存控制器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5" name="Line 67"/>
            <p:cNvSpPr>
              <a:spLocks noChangeShapeType="1"/>
            </p:cNvSpPr>
            <p:nvPr/>
          </p:nvSpPr>
          <p:spPr bwMode="auto">
            <a:xfrm flipH="1">
              <a:off x="3419872" y="4255896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 Box 70"/>
            <p:cNvSpPr txBox="1">
              <a:spLocks noChangeArrowheads="1"/>
            </p:cNvSpPr>
            <p:nvPr/>
          </p:nvSpPr>
          <p:spPr bwMode="auto">
            <a:xfrm>
              <a:off x="251520" y="3645024"/>
              <a:ext cx="1440000" cy="64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CPU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7" name="Text Box 72"/>
            <p:cNvSpPr txBox="1">
              <a:spLocks noChangeArrowheads="1"/>
            </p:cNvSpPr>
            <p:nvPr/>
          </p:nvSpPr>
          <p:spPr bwMode="auto">
            <a:xfrm>
              <a:off x="251608" y="4618574"/>
              <a:ext cx="79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USB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接口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8" name="Text Box 73"/>
            <p:cNvSpPr txBox="1">
              <a:spLocks noChangeArrowheads="1"/>
            </p:cNvSpPr>
            <p:nvPr/>
          </p:nvSpPr>
          <p:spPr bwMode="auto">
            <a:xfrm>
              <a:off x="323600" y="5013176"/>
              <a:ext cx="648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键盘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9" name="Line 74"/>
            <p:cNvSpPr>
              <a:spLocks noChangeShapeType="1"/>
            </p:cNvSpPr>
            <p:nvPr/>
          </p:nvSpPr>
          <p:spPr bwMode="auto">
            <a:xfrm>
              <a:off x="611560" y="4868713"/>
              <a:ext cx="0" cy="1444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75"/>
            <p:cNvSpPr>
              <a:spLocks noChangeShapeType="1"/>
            </p:cNvSpPr>
            <p:nvPr/>
          </p:nvSpPr>
          <p:spPr bwMode="auto">
            <a:xfrm>
              <a:off x="611560" y="4437112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Text Box 76"/>
            <p:cNvSpPr txBox="1">
              <a:spLocks noChangeArrowheads="1"/>
            </p:cNvSpPr>
            <p:nvPr/>
          </p:nvSpPr>
          <p:spPr bwMode="auto">
            <a:xfrm>
              <a:off x="1259632" y="4616987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显示适配器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2" name="Text Box 77"/>
            <p:cNvSpPr txBox="1">
              <a:spLocks noChangeArrowheads="1"/>
            </p:cNvSpPr>
            <p:nvPr/>
          </p:nvSpPr>
          <p:spPr bwMode="auto">
            <a:xfrm>
              <a:off x="1403744" y="5013176"/>
              <a:ext cx="864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显示器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3" name="Line 78"/>
            <p:cNvSpPr>
              <a:spLocks noChangeShapeType="1"/>
            </p:cNvSpPr>
            <p:nvPr/>
          </p:nvSpPr>
          <p:spPr bwMode="auto">
            <a:xfrm>
              <a:off x="1835696" y="4868713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79"/>
            <p:cNvSpPr>
              <a:spLocks noChangeShapeType="1"/>
            </p:cNvSpPr>
            <p:nvPr/>
          </p:nvSpPr>
          <p:spPr bwMode="auto">
            <a:xfrm>
              <a:off x="1835696" y="4437112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 Box 80"/>
            <p:cNvSpPr txBox="1">
              <a:spLocks noChangeArrowheads="1"/>
            </p:cNvSpPr>
            <p:nvPr/>
          </p:nvSpPr>
          <p:spPr bwMode="auto">
            <a:xfrm>
              <a:off x="2915816" y="4616987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硬盘控制器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6" name="Text Box 81"/>
            <p:cNvSpPr txBox="1">
              <a:spLocks noChangeArrowheads="1"/>
            </p:cNvSpPr>
            <p:nvPr/>
          </p:nvSpPr>
          <p:spPr bwMode="auto">
            <a:xfrm>
              <a:off x="3059832" y="5013176"/>
              <a:ext cx="864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硬盘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7" name="Line 82"/>
            <p:cNvSpPr>
              <a:spLocks noChangeShapeType="1"/>
            </p:cNvSpPr>
            <p:nvPr/>
          </p:nvSpPr>
          <p:spPr bwMode="auto">
            <a:xfrm>
              <a:off x="3491880" y="4868713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83"/>
            <p:cNvSpPr>
              <a:spLocks noChangeShapeType="1"/>
            </p:cNvSpPr>
            <p:nvPr/>
          </p:nvSpPr>
          <p:spPr bwMode="auto">
            <a:xfrm>
              <a:off x="3491880" y="4437112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 Box 87"/>
            <p:cNvSpPr txBox="1">
              <a:spLocks noChangeArrowheads="1"/>
            </p:cNvSpPr>
            <p:nvPr/>
          </p:nvSpPr>
          <p:spPr bwMode="auto">
            <a:xfrm>
              <a:off x="323528" y="4041096"/>
              <a:ext cx="133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总线接口单元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0" name="矩形 79"/>
            <p:cNvSpPr/>
            <p:nvPr/>
          </p:nvSpPr>
          <p:spPr bwMode="auto">
            <a:xfrm>
              <a:off x="2771800" y="3573016"/>
              <a:ext cx="1296000" cy="7200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矩形 80"/>
            <p:cNvSpPr/>
            <p:nvPr/>
          </p:nvSpPr>
          <p:spPr bwMode="auto">
            <a:xfrm>
              <a:off x="2843808" y="4581208"/>
              <a:ext cx="1296000" cy="7200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矩形 81"/>
            <p:cNvSpPr/>
            <p:nvPr/>
          </p:nvSpPr>
          <p:spPr bwMode="auto">
            <a:xfrm>
              <a:off x="1187624" y="4581208"/>
              <a:ext cx="1296000" cy="7200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" name="矩形 82"/>
            <p:cNvSpPr/>
            <p:nvPr/>
          </p:nvSpPr>
          <p:spPr bwMode="auto">
            <a:xfrm>
              <a:off x="179512" y="4581208"/>
              <a:ext cx="936000" cy="7200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ldLvl="0" animBg="1"/>
      <p:bldP spid="60" grpId="0" animBg="1"/>
      <p:bldP spid="5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3817095" cy="42473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总线传输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*传输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过程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⑴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地址期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    ⑵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数据期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*传输协议：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635896" y="764704"/>
            <a:ext cx="5256584" cy="14770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sng" dirty="0" smtClean="0">
                <a:latin typeface="宋体" panose="02010600030101010101" pitchFamily="2" charset="-122"/>
              </a:rPr>
              <a:t>主</a:t>
            </a:r>
            <a:r>
              <a:rPr lang="zh-CN" altLang="en-US" b="1" u="sng" dirty="0">
                <a:latin typeface="宋体" panose="02010600030101010101" pitchFamily="2" charset="-122"/>
              </a:rPr>
              <a:t>设备</a:t>
            </a:r>
            <a:r>
              <a:rPr lang="zh-CN" altLang="en-US" b="1" dirty="0" smtClean="0">
                <a:latin typeface="宋体" panose="02010600030101010101" pitchFamily="2" charset="-122"/>
              </a:rPr>
              <a:t>发送地址、</a:t>
            </a:r>
            <a:r>
              <a:rPr lang="zh-CN" altLang="en-US" b="1" dirty="0">
                <a:latin typeface="宋体" panose="02010600030101010101" pitchFamily="2" charset="-122"/>
              </a:rPr>
              <a:t>命令</a:t>
            </a:r>
            <a:r>
              <a:rPr lang="zh-CN" altLang="en-US" b="1" dirty="0" smtClean="0">
                <a:latin typeface="宋体" panose="02010600030101010101" pitchFamily="2" charset="-122"/>
              </a:rPr>
              <a:t>，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开始～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命令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sng" dirty="0" smtClean="0">
                <a:latin typeface="宋体" panose="02010600030101010101" pitchFamily="2" charset="-122"/>
              </a:rPr>
              <a:t>从设备</a:t>
            </a:r>
            <a:r>
              <a:rPr lang="zh-CN" altLang="en-US" b="1" dirty="0" smtClean="0">
                <a:latin typeface="宋体" panose="02010600030101010101" pitchFamily="2" charset="-122"/>
              </a:rPr>
              <a:t>判断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所有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、响应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一个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sng" dirty="0" smtClean="0">
                <a:latin typeface="宋体" panose="02010600030101010101" pitchFamily="2" charset="-122"/>
              </a:rPr>
              <a:t>双方</a:t>
            </a:r>
            <a:r>
              <a:rPr lang="zh-CN" altLang="en-US" b="1" dirty="0" smtClean="0">
                <a:latin typeface="宋体" panose="02010600030101010101" pitchFamily="2" charset="-122"/>
              </a:rPr>
              <a:t>按命令要求交换数据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←传输～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状态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96000" y="2268000"/>
            <a:ext cx="3465735" cy="1716399"/>
            <a:chOff x="673522" y="3143236"/>
            <a:chExt cx="3465735" cy="1716399"/>
          </a:xfrm>
        </p:grpSpPr>
        <p:sp>
          <p:nvSpPr>
            <p:cNvPr id="6" name="Line 601"/>
            <p:cNvSpPr>
              <a:spLocks noChangeShapeType="1"/>
            </p:cNvSpPr>
            <p:nvPr/>
          </p:nvSpPr>
          <p:spPr bwMode="auto">
            <a:xfrm flipV="1">
              <a:off x="1619672" y="3575035"/>
              <a:ext cx="0" cy="1005199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602"/>
            <p:cNvSpPr>
              <a:spLocks noChangeShapeType="1"/>
            </p:cNvSpPr>
            <p:nvPr/>
          </p:nvSpPr>
          <p:spPr bwMode="auto">
            <a:xfrm flipV="1">
              <a:off x="1364298" y="3575035"/>
              <a:ext cx="0" cy="1150108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Box 603"/>
            <p:cNvSpPr txBox="1">
              <a:spLocks noChangeArrowheads="1"/>
            </p:cNvSpPr>
            <p:nvPr/>
          </p:nvSpPr>
          <p:spPr bwMode="auto">
            <a:xfrm>
              <a:off x="755576" y="3143236"/>
              <a:ext cx="936104" cy="430212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2000" b="1" u="none">
                  <a:latin typeface="宋体" panose="02010600030101010101" pitchFamily="2" charset="-122"/>
                </a:rPr>
                <a:t>CPU</a:t>
              </a:r>
              <a:endParaRPr lang="en-US" altLang="zh-CN" sz="2000" b="1" u="none">
                <a:latin typeface="宋体" panose="02010600030101010101" pitchFamily="2" charset="-122"/>
              </a:endParaRPr>
            </a:p>
          </p:txBody>
        </p:sp>
        <p:sp>
          <p:nvSpPr>
            <p:cNvPr id="10" name="Line 604"/>
            <p:cNvSpPr>
              <a:spLocks noChangeShapeType="1"/>
            </p:cNvSpPr>
            <p:nvPr/>
          </p:nvSpPr>
          <p:spPr bwMode="auto">
            <a:xfrm flipV="1">
              <a:off x="673522" y="4446880"/>
              <a:ext cx="2962376" cy="1591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605"/>
            <p:cNvSpPr>
              <a:spLocks noChangeShapeType="1"/>
            </p:cNvSpPr>
            <p:nvPr/>
          </p:nvSpPr>
          <p:spPr bwMode="auto">
            <a:xfrm>
              <a:off x="673523" y="4589760"/>
              <a:ext cx="2962376" cy="1587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606"/>
            <p:cNvSpPr>
              <a:spLocks noChangeShapeType="1"/>
            </p:cNvSpPr>
            <p:nvPr/>
          </p:nvSpPr>
          <p:spPr bwMode="auto">
            <a:xfrm>
              <a:off x="683568" y="4730476"/>
              <a:ext cx="2952332" cy="5333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607"/>
            <p:cNvSpPr txBox="1">
              <a:spLocks noChangeArrowheads="1"/>
            </p:cNvSpPr>
            <p:nvPr/>
          </p:nvSpPr>
          <p:spPr bwMode="auto">
            <a:xfrm>
              <a:off x="3635896" y="4281785"/>
              <a:ext cx="503361" cy="5778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ABus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DBus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CBus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608"/>
            <p:cNvSpPr txBox="1">
              <a:spLocks noChangeArrowheads="1"/>
            </p:cNvSpPr>
            <p:nvPr/>
          </p:nvSpPr>
          <p:spPr bwMode="auto">
            <a:xfrm>
              <a:off x="1835696" y="3143236"/>
              <a:ext cx="793106" cy="4318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2000" b="1" u="none" dirty="0">
                  <a:latin typeface="宋体" panose="02010600030101010101" pitchFamily="2" charset="-122"/>
                </a:rPr>
                <a:t>主存</a:t>
              </a:r>
              <a:endParaRPr lang="zh-CN" altLang="en-US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" name="Line 609"/>
            <p:cNvSpPr>
              <a:spLocks noChangeShapeType="1"/>
            </p:cNvSpPr>
            <p:nvPr/>
          </p:nvSpPr>
          <p:spPr bwMode="auto">
            <a:xfrm>
              <a:off x="1259632" y="3575036"/>
              <a:ext cx="0" cy="1150108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610"/>
            <p:cNvSpPr>
              <a:spLocks noChangeShapeType="1"/>
            </p:cNvSpPr>
            <p:nvPr/>
          </p:nvSpPr>
          <p:spPr bwMode="auto">
            <a:xfrm>
              <a:off x="828477" y="3575035"/>
              <a:ext cx="0" cy="871849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612"/>
            <p:cNvSpPr>
              <a:spLocks noChangeShapeType="1"/>
            </p:cNvSpPr>
            <p:nvPr/>
          </p:nvSpPr>
          <p:spPr bwMode="auto">
            <a:xfrm flipV="1">
              <a:off x="2555776" y="3573448"/>
              <a:ext cx="0" cy="1006786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613"/>
            <p:cNvSpPr>
              <a:spLocks noChangeShapeType="1"/>
            </p:cNvSpPr>
            <p:nvPr/>
          </p:nvSpPr>
          <p:spPr bwMode="auto">
            <a:xfrm flipV="1">
              <a:off x="1907704" y="3573447"/>
              <a:ext cx="0" cy="873436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614"/>
            <p:cNvSpPr>
              <a:spLocks noChangeShapeType="1"/>
            </p:cNvSpPr>
            <p:nvPr/>
          </p:nvSpPr>
          <p:spPr bwMode="auto">
            <a:xfrm flipV="1">
              <a:off x="2123728" y="3573448"/>
              <a:ext cx="0" cy="1162362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615"/>
            <p:cNvSpPr>
              <a:spLocks noChangeShapeType="1"/>
            </p:cNvSpPr>
            <p:nvPr/>
          </p:nvSpPr>
          <p:spPr bwMode="auto">
            <a:xfrm>
              <a:off x="2228394" y="3573448"/>
              <a:ext cx="0" cy="1162362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616"/>
            <p:cNvSpPr txBox="1">
              <a:spLocks noChangeArrowheads="1"/>
            </p:cNvSpPr>
            <p:nvPr/>
          </p:nvSpPr>
          <p:spPr bwMode="auto">
            <a:xfrm>
              <a:off x="2915817" y="3143236"/>
              <a:ext cx="720080" cy="4318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2000" b="1" dirty="0" smtClean="0">
                  <a:latin typeface="宋体" panose="02010600030101010101" pitchFamily="2" charset="-122"/>
                </a:rPr>
                <a:t>外</a:t>
              </a:r>
              <a:r>
                <a:rPr lang="zh-CN" altLang="en-US" sz="2000" b="1" u="none" dirty="0" smtClean="0">
                  <a:latin typeface="宋体" panose="02010600030101010101" pitchFamily="2" charset="-122"/>
                </a:rPr>
                <a:t>设</a:t>
              </a:r>
              <a:endParaRPr lang="zh-CN" altLang="en-US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6" name="Line 620"/>
            <p:cNvSpPr>
              <a:spLocks noChangeShapeType="1"/>
            </p:cNvSpPr>
            <p:nvPr/>
          </p:nvSpPr>
          <p:spPr bwMode="auto">
            <a:xfrm flipV="1">
              <a:off x="2987825" y="3575036"/>
              <a:ext cx="0" cy="873436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621"/>
            <p:cNvSpPr>
              <a:spLocks noChangeShapeType="1"/>
            </p:cNvSpPr>
            <p:nvPr/>
          </p:nvSpPr>
          <p:spPr bwMode="auto">
            <a:xfrm flipV="1">
              <a:off x="3203849" y="3575035"/>
              <a:ext cx="0" cy="1150107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622"/>
            <p:cNvSpPr>
              <a:spLocks noChangeShapeType="1"/>
            </p:cNvSpPr>
            <p:nvPr/>
          </p:nvSpPr>
          <p:spPr bwMode="auto">
            <a:xfrm>
              <a:off x="3308515" y="3575036"/>
              <a:ext cx="0" cy="1160774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623"/>
            <p:cNvSpPr>
              <a:spLocks noChangeShapeType="1"/>
            </p:cNvSpPr>
            <p:nvPr/>
          </p:nvSpPr>
          <p:spPr bwMode="auto">
            <a:xfrm flipV="1">
              <a:off x="3563889" y="3575036"/>
              <a:ext cx="0" cy="1005198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2844000" y="2700000"/>
            <a:ext cx="615613" cy="1162362"/>
            <a:chOff x="2227501" y="3573016"/>
            <a:chExt cx="615613" cy="1162362"/>
          </a:xfrm>
        </p:grpSpPr>
        <p:sp>
          <p:nvSpPr>
            <p:cNvPr id="24" name="Text Box 618"/>
            <p:cNvSpPr txBox="1">
              <a:spLocks noChangeArrowheads="1"/>
            </p:cNvSpPr>
            <p:nvPr/>
          </p:nvSpPr>
          <p:spPr bwMode="auto">
            <a:xfrm>
              <a:off x="2272061" y="3646473"/>
              <a:ext cx="211707" cy="78919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②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状态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5" name="Text Box 619"/>
            <p:cNvSpPr txBox="1">
              <a:spLocks noChangeArrowheads="1"/>
            </p:cNvSpPr>
            <p:nvPr/>
          </p:nvSpPr>
          <p:spPr bwMode="auto">
            <a:xfrm>
              <a:off x="2628802" y="3646472"/>
              <a:ext cx="214312" cy="79063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③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8" name="Line 612"/>
            <p:cNvSpPr>
              <a:spLocks noChangeShapeType="1"/>
            </p:cNvSpPr>
            <p:nvPr/>
          </p:nvSpPr>
          <p:spPr bwMode="auto">
            <a:xfrm flipV="1">
              <a:off x="2554883" y="3573016"/>
              <a:ext cx="0" cy="1006786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triangle" w="lg" len="med"/>
              <a:tailEnd type="non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615"/>
            <p:cNvSpPr>
              <a:spLocks noChangeShapeType="1"/>
            </p:cNvSpPr>
            <p:nvPr/>
          </p:nvSpPr>
          <p:spPr bwMode="auto">
            <a:xfrm>
              <a:off x="2227501" y="3573016"/>
              <a:ext cx="0" cy="1162362"/>
            </a:xfrm>
            <a:prstGeom prst="line">
              <a:avLst/>
            </a:prstGeom>
            <a:noFill/>
            <a:ln w="2222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1188000" y="2700000"/>
            <a:ext cx="698599" cy="1150109"/>
            <a:chOff x="560140" y="3574604"/>
            <a:chExt cx="698599" cy="1150109"/>
          </a:xfrm>
        </p:grpSpPr>
        <p:sp>
          <p:nvSpPr>
            <p:cNvPr id="17" name="Text Box 611"/>
            <p:cNvSpPr txBox="1">
              <a:spLocks noChangeArrowheads="1"/>
            </p:cNvSpPr>
            <p:nvPr/>
          </p:nvSpPr>
          <p:spPr bwMode="auto">
            <a:xfrm>
              <a:off x="560140" y="3646473"/>
              <a:ext cx="267444" cy="8004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①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" name="Text Box 617"/>
            <p:cNvSpPr txBox="1">
              <a:spLocks noChangeArrowheads="1"/>
            </p:cNvSpPr>
            <p:nvPr/>
          </p:nvSpPr>
          <p:spPr bwMode="auto">
            <a:xfrm>
              <a:off x="971353" y="3646473"/>
              <a:ext cx="267940" cy="8004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 smtClean="0">
                  <a:latin typeface="宋体" panose="02010600030101010101" pitchFamily="2" charset="-122"/>
                </a:rPr>
                <a:t>①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命令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R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6" name="Line 609"/>
            <p:cNvSpPr>
              <a:spLocks noChangeShapeType="1"/>
            </p:cNvSpPr>
            <p:nvPr/>
          </p:nvSpPr>
          <p:spPr bwMode="auto">
            <a:xfrm>
              <a:off x="1258739" y="3574605"/>
              <a:ext cx="0" cy="1150108"/>
            </a:xfrm>
            <a:prstGeom prst="line">
              <a:avLst/>
            </a:prstGeom>
            <a:noFill/>
            <a:ln w="2222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610"/>
            <p:cNvSpPr>
              <a:spLocks noChangeShapeType="1"/>
            </p:cNvSpPr>
            <p:nvPr/>
          </p:nvSpPr>
          <p:spPr bwMode="auto">
            <a:xfrm>
              <a:off x="827584" y="3574604"/>
              <a:ext cx="0" cy="871849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5328000" y="2268000"/>
            <a:ext cx="3538442" cy="1716399"/>
            <a:chOff x="4561950" y="3140968"/>
            <a:chExt cx="3538442" cy="1716399"/>
          </a:xfrm>
        </p:grpSpPr>
        <p:sp>
          <p:nvSpPr>
            <p:cNvPr id="67" name="Line 601"/>
            <p:cNvSpPr>
              <a:spLocks noChangeShapeType="1"/>
            </p:cNvSpPr>
            <p:nvPr/>
          </p:nvSpPr>
          <p:spPr bwMode="auto">
            <a:xfrm flipV="1">
              <a:off x="5436791" y="3572767"/>
              <a:ext cx="0" cy="1005199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02"/>
            <p:cNvSpPr>
              <a:spLocks noChangeShapeType="1"/>
            </p:cNvSpPr>
            <p:nvPr/>
          </p:nvSpPr>
          <p:spPr bwMode="auto">
            <a:xfrm flipV="1">
              <a:off x="5181417" y="3572767"/>
              <a:ext cx="0" cy="1150108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Box 603"/>
            <p:cNvSpPr txBox="1">
              <a:spLocks noChangeArrowheads="1"/>
            </p:cNvSpPr>
            <p:nvPr/>
          </p:nvSpPr>
          <p:spPr bwMode="auto">
            <a:xfrm>
              <a:off x="4572695" y="3140968"/>
              <a:ext cx="936104" cy="430212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CPU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0" name="Line 604"/>
            <p:cNvSpPr>
              <a:spLocks noChangeShapeType="1"/>
            </p:cNvSpPr>
            <p:nvPr/>
          </p:nvSpPr>
          <p:spPr bwMode="auto">
            <a:xfrm flipV="1">
              <a:off x="4561950" y="4444612"/>
              <a:ext cx="2962376" cy="1591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605"/>
            <p:cNvSpPr>
              <a:spLocks noChangeShapeType="1"/>
            </p:cNvSpPr>
            <p:nvPr/>
          </p:nvSpPr>
          <p:spPr bwMode="auto">
            <a:xfrm>
              <a:off x="4561951" y="4587492"/>
              <a:ext cx="2962376" cy="1587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606"/>
            <p:cNvSpPr>
              <a:spLocks noChangeShapeType="1"/>
            </p:cNvSpPr>
            <p:nvPr/>
          </p:nvSpPr>
          <p:spPr bwMode="auto">
            <a:xfrm>
              <a:off x="4571996" y="4728208"/>
              <a:ext cx="2952332" cy="5333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 Box 607"/>
            <p:cNvSpPr txBox="1">
              <a:spLocks noChangeArrowheads="1"/>
            </p:cNvSpPr>
            <p:nvPr/>
          </p:nvSpPr>
          <p:spPr bwMode="auto">
            <a:xfrm>
              <a:off x="7525023" y="4279517"/>
              <a:ext cx="575369" cy="5778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ABus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DBus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CBus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4" name="Text Box 608"/>
            <p:cNvSpPr txBox="1">
              <a:spLocks noChangeArrowheads="1"/>
            </p:cNvSpPr>
            <p:nvPr/>
          </p:nvSpPr>
          <p:spPr bwMode="auto">
            <a:xfrm>
              <a:off x="5724823" y="3140968"/>
              <a:ext cx="793106" cy="4318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2000" b="1" u="none" dirty="0">
                  <a:latin typeface="宋体" panose="02010600030101010101" pitchFamily="2" charset="-122"/>
                </a:rPr>
                <a:t>主存</a:t>
              </a:r>
              <a:endParaRPr lang="zh-CN" altLang="en-US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5" name="Line 609"/>
            <p:cNvSpPr>
              <a:spLocks noChangeShapeType="1"/>
            </p:cNvSpPr>
            <p:nvPr/>
          </p:nvSpPr>
          <p:spPr bwMode="auto">
            <a:xfrm>
              <a:off x="5076751" y="3572768"/>
              <a:ext cx="0" cy="1150108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610"/>
            <p:cNvSpPr>
              <a:spLocks noChangeShapeType="1"/>
            </p:cNvSpPr>
            <p:nvPr/>
          </p:nvSpPr>
          <p:spPr bwMode="auto">
            <a:xfrm>
              <a:off x="4645596" y="3572767"/>
              <a:ext cx="0" cy="871849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612"/>
            <p:cNvSpPr>
              <a:spLocks noChangeShapeType="1"/>
            </p:cNvSpPr>
            <p:nvPr/>
          </p:nvSpPr>
          <p:spPr bwMode="auto">
            <a:xfrm flipV="1">
              <a:off x="6444903" y="3571180"/>
              <a:ext cx="0" cy="1006786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613"/>
            <p:cNvSpPr>
              <a:spLocks noChangeShapeType="1"/>
            </p:cNvSpPr>
            <p:nvPr/>
          </p:nvSpPr>
          <p:spPr bwMode="auto">
            <a:xfrm flipV="1">
              <a:off x="5796831" y="3571179"/>
              <a:ext cx="0" cy="873436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614"/>
            <p:cNvSpPr>
              <a:spLocks noChangeShapeType="1"/>
            </p:cNvSpPr>
            <p:nvPr/>
          </p:nvSpPr>
          <p:spPr bwMode="auto">
            <a:xfrm flipV="1">
              <a:off x="6012855" y="3571180"/>
              <a:ext cx="0" cy="1162362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615"/>
            <p:cNvSpPr>
              <a:spLocks noChangeShapeType="1"/>
            </p:cNvSpPr>
            <p:nvPr/>
          </p:nvSpPr>
          <p:spPr bwMode="auto">
            <a:xfrm>
              <a:off x="6117521" y="3571180"/>
              <a:ext cx="0" cy="1162362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Box 616"/>
            <p:cNvSpPr txBox="1">
              <a:spLocks noChangeArrowheads="1"/>
            </p:cNvSpPr>
            <p:nvPr/>
          </p:nvSpPr>
          <p:spPr bwMode="auto">
            <a:xfrm>
              <a:off x="6804944" y="3140968"/>
              <a:ext cx="720080" cy="4318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2000" b="1" dirty="0" smtClean="0">
                  <a:latin typeface="宋体" panose="02010600030101010101" pitchFamily="2" charset="-122"/>
                </a:rPr>
                <a:t>外</a:t>
              </a:r>
              <a:r>
                <a:rPr lang="zh-CN" altLang="en-US" sz="2000" b="1" u="none" dirty="0" smtClean="0">
                  <a:latin typeface="宋体" panose="02010600030101010101" pitchFamily="2" charset="-122"/>
                </a:rPr>
                <a:t>设</a:t>
              </a:r>
              <a:endParaRPr lang="zh-CN" altLang="en-US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2" name="Line 620"/>
            <p:cNvSpPr>
              <a:spLocks noChangeShapeType="1"/>
            </p:cNvSpPr>
            <p:nvPr/>
          </p:nvSpPr>
          <p:spPr bwMode="auto">
            <a:xfrm flipV="1">
              <a:off x="6876952" y="3572768"/>
              <a:ext cx="0" cy="873436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621"/>
            <p:cNvSpPr>
              <a:spLocks noChangeShapeType="1"/>
            </p:cNvSpPr>
            <p:nvPr/>
          </p:nvSpPr>
          <p:spPr bwMode="auto">
            <a:xfrm flipV="1">
              <a:off x="7092976" y="3572767"/>
              <a:ext cx="0" cy="1150107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622"/>
            <p:cNvSpPr>
              <a:spLocks noChangeShapeType="1"/>
            </p:cNvSpPr>
            <p:nvPr/>
          </p:nvSpPr>
          <p:spPr bwMode="auto">
            <a:xfrm>
              <a:off x="7197642" y="3572768"/>
              <a:ext cx="0" cy="1160774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623"/>
            <p:cNvSpPr>
              <a:spLocks noChangeShapeType="1"/>
            </p:cNvSpPr>
            <p:nvPr/>
          </p:nvSpPr>
          <p:spPr bwMode="auto">
            <a:xfrm flipV="1">
              <a:off x="7453016" y="3572768"/>
              <a:ext cx="0" cy="1005198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6192000" y="2700000"/>
            <a:ext cx="1008310" cy="1006786"/>
            <a:chOff x="1618779" y="3573016"/>
            <a:chExt cx="1008310" cy="1006786"/>
          </a:xfrm>
        </p:grpSpPr>
        <p:sp>
          <p:nvSpPr>
            <p:cNvPr id="88" name="Text Box 619"/>
            <p:cNvSpPr txBox="1">
              <a:spLocks noChangeArrowheads="1"/>
            </p:cNvSpPr>
            <p:nvPr/>
          </p:nvSpPr>
          <p:spPr bwMode="auto">
            <a:xfrm>
              <a:off x="1665482" y="3646472"/>
              <a:ext cx="214312" cy="79063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②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9" name="Line 601"/>
            <p:cNvSpPr>
              <a:spLocks noChangeShapeType="1"/>
            </p:cNvSpPr>
            <p:nvPr/>
          </p:nvSpPr>
          <p:spPr bwMode="auto">
            <a:xfrm flipV="1">
              <a:off x="1618779" y="3574603"/>
              <a:ext cx="0" cy="1005199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triangle" w="lg" len="med"/>
              <a:tailEnd type="none" w="lg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612"/>
            <p:cNvSpPr>
              <a:spLocks noChangeShapeType="1"/>
            </p:cNvSpPr>
            <p:nvPr/>
          </p:nvSpPr>
          <p:spPr bwMode="auto">
            <a:xfrm flipV="1">
              <a:off x="2627089" y="3573016"/>
              <a:ext cx="0" cy="1006786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none" w="med" len="med"/>
              <a:tailEnd type="triangle" w="lg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5148000" y="2700000"/>
            <a:ext cx="698599" cy="1150109"/>
            <a:chOff x="560140" y="3574604"/>
            <a:chExt cx="698599" cy="1150109"/>
          </a:xfrm>
        </p:grpSpPr>
        <p:sp>
          <p:nvSpPr>
            <p:cNvPr id="94" name="Text Box 611"/>
            <p:cNvSpPr txBox="1">
              <a:spLocks noChangeArrowheads="1"/>
            </p:cNvSpPr>
            <p:nvPr/>
          </p:nvSpPr>
          <p:spPr bwMode="auto">
            <a:xfrm>
              <a:off x="560140" y="3646473"/>
              <a:ext cx="267444" cy="8004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①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5" name="Text Box 617"/>
            <p:cNvSpPr txBox="1">
              <a:spLocks noChangeArrowheads="1"/>
            </p:cNvSpPr>
            <p:nvPr/>
          </p:nvSpPr>
          <p:spPr bwMode="auto">
            <a:xfrm>
              <a:off x="971353" y="3646473"/>
              <a:ext cx="267940" cy="8004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 smtClean="0">
                  <a:latin typeface="宋体" panose="02010600030101010101" pitchFamily="2" charset="-122"/>
                </a:rPr>
                <a:t>①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命令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W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" name="Line 609"/>
            <p:cNvSpPr>
              <a:spLocks noChangeShapeType="1"/>
            </p:cNvSpPr>
            <p:nvPr/>
          </p:nvSpPr>
          <p:spPr bwMode="auto">
            <a:xfrm>
              <a:off x="1258739" y="3574605"/>
              <a:ext cx="0" cy="1150108"/>
            </a:xfrm>
            <a:prstGeom prst="line">
              <a:avLst/>
            </a:prstGeom>
            <a:noFill/>
            <a:ln w="2222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610"/>
            <p:cNvSpPr>
              <a:spLocks noChangeShapeType="1"/>
            </p:cNvSpPr>
            <p:nvPr/>
          </p:nvSpPr>
          <p:spPr bwMode="auto">
            <a:xfrm>
              <a:off x="832135" y="3574604"/>
              <a:ext cx="0" cy="871849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520000" y="2700000"/>
            <a:ext cx="1297037" cy="1162363"/>
            <a:chOff x="2555578" y="3212976"/>
            <a:chExt cx="1297037" cy="1162363"/>
          </a:xfrm>
        </p:grpSpPr>
        <p:sp>
          <p:nvSpPr>
            <p:cNvPr id="216" name="Line 613"/>
            <p:cNvSpPr>
              <a:spLocks noChangeShapeType="1"/>
            </p:cNvSpPr>
            <p:nvPr/>
          </p:nvSpPr>
          <p:spPr bwMode="auto">
            <a:xfrm flipV="1">
              <a:off x="2555578" y="3212976"/>
              <a:ext cx="0" cy="873436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614"/>
            <p:cNvSpPr>
              <a:spLocks noChangeShapeType="1"/>
            </p:cNvSpPr>
            <p:nvPr/>
          </p:nvSpPr>
          <p:spPr bwMode="auto">
            <a:xfrm flipV="1">
              <a:off x="2771602" y="3212977"/>
              <a:ext cx="0" cy="1162362"/>
            </a:xfrm>
            <a:prstGeom prst="line">
              <a:avLst/>
            </a:prstGeom>
            <a:noFill/>
            <a:ln w="2222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620"/>
            <p:cNvSpPr>
              <a:spLocks noChangeShapeType="1"/>
            </p:cNvSpPr>
            <p:nvPr/>
          </p:nvSpPr>
          <p:spPr bwMode="auto">
            <a:xfrm flipV="1">
              <a:off x="3635699" y="3214565"/>
              <a:ext cx="0" cy="873436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621"/>
            <p:cNvSpPr>
              <a:spLocks noChangeShapeType="1"/>
            </p:cNvSpPr>
            <p:nvPr/>
          </p:nvSpPr>
          <p:spPr bwMode="auto">
            <a:xfrm flipV="1">
              <a:off x="3852615" y="3214564"/>
              <a:ext cx="0" cy="1150107"/>
            </a:xfrm>
            <a:prstGeom prst="line">
              <a:avLst/>
            </a:prstGeom>
            <a:noFill/>
            <a:ln w="2222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552000" y="2700000"/>
            <a:ext cx="1296144" cy="1162363"/>
            <a:chOff x="6588224" y="3212976"/>
            <a:chExt cx="1296144" cy="1162363"/>
          </a:xfrm>
        </p:grpSpPr>
        <p:sp>
          <p:nvSpPr>
            <p:cNvPr id="220" name="Line 613"/>
            <p:cNvSpPr>
              <a:spLocks noChangeShapeType="1"/>
            </p:cNvSpPr>
            <p:nvPr/>
          </p:nvSpPr>
          <p:spPr bwMode="auto">
            <a:xfrm flipV="1">
              <a:off x="6588224" y="3212976"/>
              <a:ext cx="0" cy="873436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614"/>
            <p:cNvSpPr>
              <a:spLocks noChangeShapeType="1"/>
            </p:cNvSpPr>
            <p:nvPr/>
          </p:nvSpPr>
          <p:spPr bwMode="auto">
            <a:xfrm flipV="1">
              <a:off x="6804248" y="3212977"/>
              <a:ext cx="0" cy="1162362"/>
            </a:xfrm>
            <a:prstGeom prst="line">
              <a:avLst/>
            </a:prstGeom>
            <a:noFill/>
            <a:ln w="2222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620"/>
            <p:cNvSpPr>
              <a:spLocks noChangeShapeType="1"/>
            </p:cNvSpPr>
            <p:nvPr/>
          </p:nvSpPr>
          <p:spPr bwMode="auto">
            <a:xfrm flipV="1">
              <a:off x="7668344" y="3214565"/>
              <a:ext cx="0" cy="873436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621"/>
            <p:cNvSpPr>
              <a:spLocks noChangeShapeType="1"/>
            </p:cNvSpPr>
            <p:nvPr/>
          </p:nvSpPr>
          <p:spPr bwMode="auto">
            <a:xfrm flipV="1">
              <a:off x="7884368" y="3214564"/>
              <a:ext cx="0" cy="1150107"/>
            </a:xfrm>
            <a:prstGeom prst="line">
              <a:avLst/>
            </a:prstGeom>
            <a:noFill/>
            <a:ln w="2222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7" name="Text Box 91"/>
          <p:cNvSpPr txBox="1">
            <a:spLocks noChangeArrowheads="1"/>
          </p:cNvSpPr>
          <p:nvPr/>
        </p:nvSpPr>
        <p:spPr bwMode="auto">
          <a:xfrm>
            <a:off x="2051720" y="4005064"/>
            <a:ext cx="6984776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步骤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时序约定，如传输</a:t>
            </a:r>
            <a:r>
              <a:rPr lang="zh-CN" altLang="en-US" sz="2200" b="1" dirty="0">
                <a:latin typeface="宋体" panose="02010600030101010101" pitchFamily="2" charset="-122"/>
              </a:rPr>
              <a:t>周期＝</a:t>
            </a:r>
            <a:r>
              <a:rPr lang="en-US" altLang="zh-CN" sz="2200" b="1" dirty="0">
                <a:latin typeface="宋体" panose="02010600030101010101" pitchFamily="2" charset="-122"/>
              </a:rPr>
              <a:t>4</a:t>
            </a:r>
            <a:r>
              <a:rPr lang="zh-CN" altLang="en-US" sz="2200" b="1" dirty="0">
                <a:latin typeface="宋体" panose="02010600030101010101" pitchFamily="2" charset="-122"/>
              </a:rPr>
              <a:t>个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步骤、同步</a:t>
            </a:r>
            <a:r>
              <a:rPr lang="zh-CN" altLang="en-US" sz="2200" b="1" dirty="0">
                <a:latin typeface="宋体" panose="02010600030101010101" pitchFamily="2" charset="-122"/>
              </a:rPr>
              <a:t>方式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定时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68" name="AutoShape 338"/>
          <p:cNvSpPr/>
          <p:nvPr/>
        </p:nvSpPr>
        <p:spPr bwMode="auto">
          <a:xfrm>
            <a:off x="2771800" y="512704"/>
            <a:ext cx="4896000" cy="288000"/>
          </a:xfrm>
          <a:prstGeom prst="borderCallout2">
            <a:avLst>
              <a:gd name="adj1" fmla="val 49883"/>
              <a:gd name="adj2" fmla="val -53"/>
              <a:gd name="adj3" fmla="val 49853"/>
              <a:gd name="adj4" fmla="val -5258"/>
              <a:gd name="adj5" fmla="val 178565"/>
              <a:gd name="adj6" fmla="val -17108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 anchor="ctr" anchorCtr="1"/>
          <a:lstStyle/>
          <a:p>
            <a:pPr lvl="0" algn="ctr"/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类比：</a:t>
            </a:r>
            <a:r>
              <a:rPr lang="zh-CN" altLang="en-US" sz="16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教室内交互过程</a:t>
            </a:r>
            <a:r>
              <a: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老师要王二把作业本交上来</a:t>
            </a:r>
            <a:r>
              <a: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980000" y="2700000"/>
            <a:ext cx="255374" cy="1150108"/>
            <a:chOff x="2012866" y="2710507"/>
            <a:chExt cx="255374" cy="1150108"/>
          </a:xfrm>
        </p:grpSpPr>
        <p:sp>
          <p:nvSpPr>
            <p:cNvPr id="171" name="Line 601"/>
            <p:cNvSpPr>
              <a:spLocks noChangeShapeType="1"/>
            </p:cNvSpPr>
            <p:nvPr/>
          </p:nvSpPr>
          <p:spPr bwMode="auto">
            <a:xfrm flipV="1">
              <a:off x="2268240" y="2710507"/>
              <a:ext cx="0" cy="1005199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none" w="med" len="med"/>
              <a:tailEnd type="triangle" w="lg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602"/>
            <p:cNvSpPr>
              <a:spLocks noChangeShapeType="1"/>
            </p:cNvSpPr>
            <p:nvPr/>
          </p:nvSpPr>
          <p:spPr bwMode="auto">
            <a:xfrm flipV="1">
              <a:off x="2012866" y="2710507"/>
              <a:ext cx="0" cy="1150108"/>
            </a:xfrm>
            <a:prstGeom prst="line">
              <a:avLst/>
            </a:prstGeom>
            <a:noFill/>
            <a:ln w="2222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8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29" name="Text Box 608"/>
          <p:cNvSpPr txBox="1">
            <a:spLocks noChangeArrowheads="1"/>
          </p:cNvSpPr>
          <p:nvPr/>
        </p:nvSpPr>
        <p:spPr bwMode="auto">
          <a:xfrm>
            <a:off x="2448000" y="2268000"/>
            <a:ext cx="793106" cy="431800"/>
          </a:xfrm>
          <a:prstGeom prst="rect">
            <a:avLst/>
          </a:prstGeom>
          <a:noFill/>
          <a:ln w="28575">
            <a:solidFill>
              <a:srgbClr val="990099"/>
            </a:solidFill>
            <a:miter lim="800000"/>
          </a:ln>
          <a:effectLst/>
        </p:spPr>
        <p:txBody>
          <a:bodyPr lIns="18000" tIns="10800" rIns="18000" bIns="10800" anchor="ctr"/>
          <a:lstStyle/>
          <a:p>
            <a:pPr algn="ctr"/>
            <a:endParaRPr lang="zh-CN" altLang="en-US" sz="2000" b="1" u="none" dirty="0">
              <a:latin typeface="宋体" panose="0201060003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940000" y="2700000"/>
            <a:ext cx="1191676" cy="1162362"/>
            <a:chOff x="5972612" y="2718445"/>
            <a:chExt cx="1191676" cy="1162362"/>
          </a:xfrm>
        </p:grpSpPr>
        <p:sp>
          <p:nvSpPr>
            <p:cNvPr id="130" name="Text Box 618"/>
            <p:cNvSpPr txBox="1">
              <a:spLocks noChangeArrowheads="1"/>
            </p:cNvSpPr>
            <p:nvPr/>
          </p:nvSpPr>
          <p:spPr bwMode="auto">
            <a:xfrm>
              <a:off x="6952581" y="2791902"/>
              <a:ext cx="211707" cy="78919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③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状态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1" name="Line 602"/>
            <p:cNvSpPr>
              <a:spLocks noChangeShapeType="1"/>
            </p:cNvSpPr>
            <p:nvPr/>
          </p:nvSpPr>
          <p:spPr bwMode="auto">
            <a:xfrm flipV="1">
              <a:off x="5972612" y="2720032"/>
              <a:ext cx="0" cy="1150108"/>
            </a:xfrm>
            <a:prstGeom prst="line">
              <a:avLst/>
            </a:prstGeom>
            <a:noFill/>
            <a:ln w="2222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615"/>
            <p:cNvSpPr>
              <a:spLocks noChangeShapeType="1"/>
            </p:cNvSpPr>
            <p:nvPr/>
          </p:nvSpPr>
          <p:spPr bwMode="auto">
            <a:xfrm>
              <a:off x="6908914" y="2718445"/>
              <a:ext cx="0" cy="1162362"/>
            </a:xfrm>
            <a:prstGeom prst="line">
              <a:avLst/>
            </a:prstGeom>
            <a:noFill/>
            <a:ln w="2222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4" name="AutoShape 45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" name="Text Box 4"/>
          <p:cNvSpPr txBox="1">
            <a:spLocks noChangeArrowheads="1"/>
          </p:cNvSpPr>
          <p:nvPr/>
        </p:nvSpPr>
        <p:spPr bwMode="auto">
          <a:xfrm>
            <a:off x="1403648" y="6246000"/>
            <a:ext cx="3384375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信号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线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RD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与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RD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有和差别？</a:t>
            </a:r>
            <a:endParaRPr lang="en-US" altLang="zh-CN" sz="18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309" name="Line 258"/>
          <p:cNvSpPr>
            <a:spLocks noChangeShapeType="1"/>
          </p:cNvSpPr>
          <p:nvPr/>
        </p:nvSpPr>
        <p:spPr bwMode="auto">
          <a:xfrm>
            <a:off x="3276000" y="6269970"/>
            <a:ext cx="216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1367155" y="4532630"/>
            <a:ext cx="3384550" cy="1655445"/>
            <a:chOff x="2492" y="5443"/>
            <a:chExt cx="5330" cy="2607"/>
          </a:xfrm>
        </p:grpSpPr>
        <p:cxnSp>
          <p:nvCxnSpPr>
            <p:cNvPr id="34" name="直接连接符 33"/>
            <p:cNvCxnSpPr/>
            <p:nvPr>
              <p:custDataLst>
                <p:tags r:id="rId2"/>
              </p:custDataLst>
            </p:nvPr>
          </p:nvCxnSpPr>
          <p:spPr bwMode="auto">
            <a:xfrm>
              <a:off x="5613" y="5727"/>
              <a:ext cx="1" cy="2268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3"/>
              </p:custDataLst>
            </p:nvPr>
          </p:nvCxnSpPr>
          <p:spPr bwMode="auto">
            <a:xfrm>
              <a:off x="4930" y="5443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4"/>
              </p:custDataLst>
            </p:nvPr>
          </p:nvCxnSpPr>
          <p:spPr bwMode="auto">
            <a:xfrm flipH="1">
              <a:off x="4248" y="5443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Text Box 16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20" y="5443"/>
              <a:ext cx="3118" cy="283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7780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①   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②</a:t>
              </a:r>
              <a:r>
                <a:rPr lang="en-US" altLang="zh-CN" sz="1600" b="1" baseline="-25000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③  ④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8" name="AutoShape 21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250" y="6123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9" name="直接连接符 38"/>
            <p:cNvCxnSpPr/>
            <p:nvPr>
              <p:custDataLst>
                <p:tags r:id="rId7"/>
              </p:custDataLst>
            </p:nvPr>
          </p:nvCxnSpPr>
          <p:spPr bwMode="auto">
            <a:xfrm>
              <a:off x="4080" y="6010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4250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>
              <p:custDataLst>
                <p:tags r:id="rId9"/>
              </p:custDataLst>
            </p:nvPr>
          </p:nvCxnSpPr>
          <p:spPr bwMode="auto">
            <a:xfrm>
              <a:off x="4250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4590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11"/>
              </p:custDataLst>
            </p:nvPr>
          </p:nvCxnSpPr>
          <p:spPr bwMode="auto">
            <a:xfrm>
              <a:off x="4590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4932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>
              <p:custDataLst>
                <p:tags r:id="rId13"/>
              </p:custDataLst>
            </p:nvPr>
          </p:nvCxnSpPr>
          <p:spPr bwMode="auto">
            <a:xfrm>
              <a:off x="4930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5271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接连接符 46"/>
            <p:cNvCxnSpPr/>
            <p:nvPr>
              <p:custDataLst>
                <p:tags r:id="rId15"/>
              </p:custDataLst>
            </p:nvPr>
          </p:nvCxnSpPr>
          <p:spPr bwMode="auto">
            <a:xfrm>
              <a:off x="5280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>
              <p:custDataLst>
                <p:tags r:id="rId16"/>
              </p:custDataLst>
            </p:nvPr>
          </p:nvCxnSpPr>
          <p:spPr bwMode="auto">
            <a:xfrm>
              <a:off x="4080" y="6265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/>
            <p:cNvCxnSpPr/>
            <p:nvPr>
              <p:custDataLst>
                <p:tags r:id="rId17"/>
              </p:custDataLst>
            </p:nvPr>
          </p:nvCxnSpPr>
          <p:spPr bwMode="auto">
            <a:xfrm>
              <a:off x="4080" y="6662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4080" y="6917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连接符 50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4590" y="6917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20"/>
              </p:custDataLst>
            </p:nvPr>
          </p:nvCxnSpPr>
          <p:spPr bwMode="auto">
            <a:xfrm>
              <a:off x="4590" y="7201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4080" y="7314"/>
              <a:ext cx="374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4" name="Text Box 148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492" y="5670"/>
              <a:ext cx="1531" cy="238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时钟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状态线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RDY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5" name="直接连接符 54"/>
            <p:cNvCxnSpPr/>
            <p:nvPr>
              <p:custDataLst>
                <p:tags r:id="rId23"/>
              </p:custDataLst>
            </p:nvPr>
          </p:nvCxnSpPr>
          <p:spPr bwMode="auto">
            <a:xfrm>
              <a:off x="4080" y="7597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连接符 58"/>
            <p:cNvCxnSpPr/>
            <p:nvPr>
              <p:custDataLst>
                <p:tags r:id="rId24"/>
              </p:custDataLst>
            </p:nvPr>
          </p:nvCxnSpPr>
          <p:spPr bwMode="auto">
            <a:xfrm>
              <a:off x="3654" y="6877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25"/>
              </p:custDataLst>
            </p:nvPr>
          </p:nvCxnSpPr>
          <p:spPr bwMode="auto">
            <a:xfrm>
              <a:off x="3654" y="7285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26"/>
              </p:custDataLst>
            </p:nvPr>
          </p:nvCxnSpPr>
          <p:spPr bwMode="auto">
            <a:xfrm>
              <a:off x="6288" y="5443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27"/>
              </p:custDataLst>
            </p:nvPr>
          </p:nvCxnSpPr>
          <p:spPr bwMode="auto">
            <a:xfrm>
              <a:off x="6969" y="5443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7649" y="5443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直接连接符 86"/>
            <p:cNvCxnSpPr/>
            <p:nvPr>
              <p:custDataLst>
                <p:tags r:id="rId29"/>
              </p:custDataLst>
            </p:nvPr>
          </p:nvCxnSpPr>
          <p:spPr bwMode="auto">
            <a:xfrm>
              <a:off x="7479" y="626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0" name="AutoShape 215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288" y="6520"/>
              <a:ext cx="119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D1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2" name="直接连接符 91"/>
            <p:cNvCxnSpPr/>
            <p:nvPr>
              <p:custDataLst>
                <p:tags r:id="rId31"/>
              </p:custDataLst>
            </p:nvPr>
          </p:nvCxnSpPr>
          <p:spPr bwMode="auto">
            <a:xfrm>
              <a:off x="7479" y="666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直接连接符 97"/>
            <p:cNvCxnSpPr/>
            <p:nvPr>
              <p:custDataLst>
                <p:tags r:id="rId32"/>
              </p:custDataLst>
            </p:nvPr>
          </p:nvCxnSpPr>
          <p:spPr bwMode="auto">
            <a:xfrm>
              <a:off x="7309" y="6917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7309" y="6917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7649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35"/>
              </p:custDataLst>
            </p:nvPr>
          </p:nvCxnSpPr>
          <p:spPr bwMode="auto">
            <a:xfrm>
              <a:off x="7649" y="5726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628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37"/>
              </p:custDataLst>
            </p:nvPr>
          </p:nvCxnSpPr>
          <p:spPr bwMode="auto">
            <a:xfrm>
              <a:off x="6288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662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/>
            <p:cNvCxnSpPr/>
            <p:nvPr>
              <p:custDataLst>
                <p:tags r:id="rId39"/>
              </p:custDataLst>
            </p:nvPr>
          </p:nvCxnSpPr>
          <p:spPr bwMode="auto">
            <a:xfrm>
              <a:off x="6628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连接符 106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6970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/>
            <p:cNvCxnSpPr/>
            <p:nvPr>
              <p:custDataLst>
                <p:tags r:id="rId41"/>
              </p:custDataLst>
            </p:nvPr>
          </p:nvCxnSpPr>
          <p:spPr bwMode="auto">
            <a:xfrm>
              <a:off x="6968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7309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43"/>
              </p:custDataLst>
            </p:nvPr>
          </p:nvCxnSpPr>
          <p:spPr bwMode="auto">
            <a:xfrm>
              <a:off x="7318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5615" y="5727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接连接符 111"/>
            <p:cNvCxnSpPr/>
            <p:nvPr>
              <p:custDataLst>
                <p:tags r:id="rId45"/>
              </p:custDataLst>
            </p:nvPr>
          </p:nvCxnSpPr>
          <p:spPr bwMode="auto">
            <a:xfrm>
              <a:off x="5613" y="572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直接连接符 112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5954" y="5727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连接符 113"/>
            <p:cNvCxnSpPr/>
            <p:nvPr>
              <p:custDataLst>
                <p:tags r:id="rId47"/>
              </p:custDataLst>
            </p:nvPr>
          </p:nvCxnSpPr>
          <p:spPr bwMode="auto">
            <a:xfrm>
              <a:off x="5963" y="601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4080" y="7710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6" name="直接连接符 115"/>
            <p:cNvCxnSpPr/>
            <p:nvPr>
              <p:custDataLst>
                <p:tags r:id="rId49"/>
              </p:custDataLst>
            </p:nvPr>
          </p:nvCxnSpPr>
          <p:spPr bwMode="auto">
            <a:xfrm>
              <a:off x="4080" y="799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1" name="直接连接符 310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4931" y="7710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2" name="直接连接符 311"/>
            <p:cNvCxnSpPr/>
            <p:nvPr>
              <p:custDataLst>
                <p:tags r:id="rId51"/>
              </p:custDataLst>
            </p:nvPr>
          </p:nvCxnSpPr>
          <p:spPr bwMode="auto">
            <a:xfrm>
              <a:off x="4931" y="7994"/>
              <a:ext cx="113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3" name="直接连接符 312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6065" y="7710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4" name="直接连接符 313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6065" y="7710"/>
              <a:ext cx="175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6" name="组合 135"/>
          <p:cNvGrpSpPr/>
          <p:nvPr/>
        </p:nvGrpSpPr>
        <p:grpSpPr>
          <a:xfrm>
            <a:off x="5147945" y="4532630"/>
            <a:ext cx="3384550" cy="1620520"/>
            <a:chOff x="8220" y="5443"/>
            <a:chExt cx="5330" cy="2552"/>
          </a:xfrm>
        </p:grpSpPr>
        <p:cxnSp>
          <p:nvCxnSpPr>
            <p:cNvPr id="117" name="直接连接符 116"/>
            <p:cNvCxnSpPr/>
            <p:nvPr>
              <p:custDataLst>
                <p:tags r:id="rId54"/>
              </p:custDataLst>
            </p:nvPr>
          </p:nvCxnSpPr>
          <p:spPr bwMode="auto">
            <a:xfrm>
              <a:off x="12019" y="5727"/>
              <a:ext cx="0" cy="2268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接连接符 117"/>
            <p:cNvCxnSpPr/>
            <p:nvPr>
              <p:custDataLst>
                <p:tags r:id="rId55"/>
              </p:custDataLst>
            </p:nvPr>
          </p:nvCxnSpPr>
          <p:spPr bwMode="auto">
            <a:xfrm>
              <a:off x="10658" y="5443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直接连接符 118"/>
            <p:cNvCxnSpPr/>
            <p:nvPr>
              <p:custDataLst>
                <p:tags r:id="rId56"/>
              </p:custDataLst>
            </p:nvPr>
          </p:nvCxnSpPr>
          <p:spPr bwMode="auto">
            <a:xfrm>
              <a:off x="11338" y="5443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0" name="直接连接符 119"/>
            <p:cNvCxnSpPr/>
            <p:nvPr>
              <p:custDataLst>
                <p:tags r:id="rId57"/>
              </p:custDataLst>
            </p:nvPr>
          </p:nvCxnSpPr>
          <p:spPr bwMode="auto">
            <a:xfrm flipH="1">
              <a:off x="9976" y="5443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1" name="Text Box 161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10148" y="5443"/>
              <a:ext cx="3118" cy="283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7780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①  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②</a:t>
              </a:r>
              <a:r>
                <a:rPr lang="en-US" altLang="zh-CN" sz="1600" b="1" baseline="-25000" dirty="0" smtClean="0"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   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③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    ④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2" name="AutoShape 215"/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9978" y="6123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23" name="直接连接符 122"/>
            <p:cNvCxnSpPr/>
            <p:nvPr>
              <p:custDataLst>
                <p:tags r:id="rId60"/>
              </p:custDataLst>
            </p:nvPr>
          </p:nvCxnSpPr>
          <p:spPr bwMode="auto">
            <a:xfrm>
              <a:off x="9808" y="6010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4" name="直接连接符 123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997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>
              <p:custDataLst>
                <p:tags r:id="rId62"/>
              </p:custDataLst>
            </p:nvPr>
          </p:nvCxnSpPr>
          <p:spPr bwMode="auto">
            <a:xfrm>
              <a:off x="9978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1031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连接符 126"/>
            <p:cNvCxnSpPr/>
            <p:nvPr>
              <p:custDataLst>
                <p:tags r:id="rId64"/>
              </p:custDataLst>
            </p:nvPr>
          </p:nvCxnSpPr>
          <p:spPr bwMode="auto">
            <a:xfrm>
              <a:off x="10318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直接连接符 132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10660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直接连接符 134"/>
            <p:cNvCxnSpPr/>
            <p:nvPr>
              <p:custDataLst>
                <p:tags r:id="rId66"/>
              </p:custDataLst>
            </p:nvPr>
          </p:nvCxnSpPr>
          <p:spPr bwMode="auto">
            <a:xfrm>
              <a:off x="10658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直接连接符 136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10999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直接连接符 137"/>
            <p:cNvCxnSpPr/>
            <p:nvPr>
              <p:custDataLst>
                <p:tags r:id="rId68"/>
              </p:custDataLst>
            </p:nvPr>
          </p:nvCxnSpPr>
          <p:spPr bwMode="auto">
            <a:xfrm>
              <a:off x="11008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直接连接符 138"/>
            <p:cNvCxnSpPr/>
            <p:nvPr>
              <p:custDataLst>
                <p:tags r:id="rId69"/>
              </p:custDataLst>
            </p:nvPr>
          </p:nvCxnSpPr>
          <p:spPr bwMode="auto">
            <a:xfrm>
              <a:off x="9808" y="6265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0" name="AutoShape 215"/>
            <p:cNvSpPr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10658" y="6520"/>
              <a:ext cx="255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D1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41" name="直接连接符 140"/>
            <p:cNvCxnSpPr/>
            <p:nvPr>
              <p:custDataLst>
                <p:tags r:id="rId71"/>
              </p:custDataLst>
            </p:nvPr>
          </p:nvCxnSpPr>
          <p:spPr bwMode="auto">
            <a:xfrm>
              <a:off x="9808" y="6662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直接连接符 141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9808" y="7314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直接连接符 142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10318" y="731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直接连接符 143"/>
            <p:cNvCxnSpPr/>
            <p:nvPr>
              <p:custDataLst>
                <p:tags r:id="rId74"/>
              </p:custDataLst>
            </p:nvPr>
          </p:nvCxnSpPr>
          <p:spPr bwMode="auto">
            <a:xfrm>
              <a:off x="10318" y="7597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直接连接符 144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9808" y="6917"/>
              <a:ext cx="374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6" name="Text Box 148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8220" y="5670"/>
              <a:ext cx="1531" cy="19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时钟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状态线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RDY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47" name="直接连接符 146"/>
            <p:cNvCxnSpPr/>
            <p:nvPr>
              <p:custDataLst>
                <p:tags r:id="rId77"/>
              </p:custDataLst>
            </p:nvPr>
          </p:nvCxnSpPr>
          <p:spPr bwMode="auto">
            <a:xfrm>
              <a:off x="9808" y="7200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接连接符 147"/>
            <p:cNvCxnSpPr/>
            <p:nvPr>
              <p:custDataLst>
                <p:tags r:id="rId78"/>
              </p:custDataLst>
            </p:nvPr>
          </p:nvCxnSpPr>
          <p:spPr bwMode="auto">
            <a:xfrm>
              <a:off x="9382" y="6877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79"/>
              </p:custDataLst>
            </p:nvPr>
          </p:nvCxnSpPr>
          <p:spPr bwMode="auto">
            <a:xfrm>
              <a:off x="9382" y="7285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直接连接符 149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1133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81"/>
              </p:custDataLst>
            </p:nvPr>
          </p:nvCxnSpPr>
          <p:spPr bwMode="auto">
            <a:xfrm>
              <a:off x="11338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连接符 151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1167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直接连接符 152"/>
            <p:cNvCxnSpPr/>
            <p:nvPr>
              <p:custDataLst>
                <p:tags r:id="rId83"/>
              </p:custDataLst>
            </p:nvPr>
          </p:nvCxnSpPr>
          <p:spPr bwMode="auto">
            <a:xfrm>
              <a:off x="11678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直接连接符 153"/>
            <p:cNvCxnSpPr/>
            <p:nvPr>
              <p:custDataLst>
                <p:tags r:id="rId84"/>
              </p:custDataLst>
            </p:nvPr>
          </p:nvCxnSpPr>
          <p:spPr bwMode="auto">
            <a:xfrm>
              <a:off x="12697" y="5443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5" name="直接连接符 154"/>
            <p:cNvCxnSpPr/>
            <p:nvPr>
              <p:custDataLst>
                <p:tags r:id="rId85"/>
              </p:custDataLst>
            </p:nvPr>
          </p:nvCxnSpPr>
          <p:spPr bwMode="auto">
            <a:xfrm flipH="1">
              <a:off x="13377" y="5443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直接连接符 155"/>
            <p:cNvCxnSpPr/>
            <p:nvPr>
              <p:custDataLst>
                <p:tags r:id="rId86"/>
              </p:custDataLst>
            </p:nvPr>
          </p:nvCxnSpPr>
          <p:spPr bwMode="auto">
            <a:xfrm>
              <a:off x="13207" y="626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87"/>
              </p:custDataLst>
            </p:nvPr>
          </p:nvCxnSpPr>
          <p:spPr bwMode="auto">
            <a:xfrm>
              <a:off x="13207" y="666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88"/>
              </p:custDataLst>
            </p:nvPr>
          </p:nvCxnSpPr>
          <p:spPr bwMode="auto">
            <a:xfrm>
              <a:off x="13037" y="7314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接连接符 158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13037" y="731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13377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接连接符 160"/>
            <p:cNvCxnSpPr/>
            <p:nvPr>
              <p:custDataLst>
                <p:tags r:id="rId91"/>
              </p:custDataLst>
            </p:nvPr>
          </p:nvCxnSpPr>
          <p:spPr bwMode="auto">
            <a:xfrm>
              <a:off x="13377" y="5726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接连接符 161"/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1269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直接连接符 162"/>
            <p:cNvCxnSpPr/>
            <p:nvPr>
              <p:custDataLst>
                <p:tags r:id="rId93"/>
              </p:custDataLst>
            </p:nvPr>
          </p:nvCxnSpPr>
          <p:spPr bwMode="auto">
            <a:xfrm>
              <a:off x="12696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直接连接符 163"/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13037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直接连接符 164"/>
            <p:cNvCxnSpPr/>
            <p:nvPr>
              <p:custDataLst>
                <p:tags r:id="rId95"/>
              </p:custDataLst>
            </p:nvPr>
          </p:nvCxnSpPr>
          <p:spPr bwMode="auto">
            <a:xfrm>
              <a:off x="13046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6" name="直接连接符 165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12019" y="5727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9" name="直接连接符 168"/>
            <p:cNvCxnSpPr/>
            <p:nvPr>
              <p:custDataLst>
                <p:tags r:id="rId97"/>
              </p:custDataLst>
            </p:nvPr>
          </p:nvCxnSpPr>
          <p:spPr bwMode="auto">
            <a:xfrm>
              <a:off x="12019" y="572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0" name="直接连接符 169"/>
            <p:cNvCxnSpPr/>
            <p:nvPr>
              <p:custDataLst>
                <p:tags r:id="rId98"/>
              </p:custDataLst>
            </p:nvPr>
          </p:nvCxnSpPr>
          <p:spPr bwMode="auto">
            <a:xfrm flipV="1">
              <a:off x="12359" y="5727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3" name="直接连接符 172"/>
            <p:cNvCxnSpPr/>
            <p:nvPr>
              <p:custDataLst>
                <p:tags r:id="rId99"/>
              </p:custDataLst>
            </p:nvPr>
          </p:nvCxnSpPr>
          <p:spPr bwMode="auto">
            <a:xfrm>
              <a:off x="12359" y="601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直接连接符 173"/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9808" y="7710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直接连接符 174"/>
            <p:cNvCxnSpPr/>
            <p:nvPr>
              <p:custDataLst>
                <p:tags r:id="rId101"/>
              </p:custDataLst>
            </p:nvPr>
          </p:nvCxnSpPr>
          <p:spPr bwMode="auto">
            <a:xfrm>
              <a:off x="9808" y="799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直接连接符 176"/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10659" y="7710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8" name="直接连接符 177"/>
            <p:cNvCxnSpPr/>
            <p:nvPr>
              <p:custDataLst>
                <p:tags r:id="rId103"/>
              </p:custDataLst>
            </p:nvPr>
          </p:nvCxnSpPr>
          <p:spPr bwMode="auto">
            <a:xfrm>
              <a:off x="10659" y="7994"/>
              <a:ext cx="181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12472" y="7710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0" name="直接连接符 179"/>
            <p:cNvCxnSpPr/>
            <p:nvPr>
              <p:custDataLst>
                <p:tags r:id="rId105"/>
              </p:custDataLst>
            </p:nvPr>
          </p:nvCxnSpPr>
          <p:spPr bwMode="auto">
            <a:xfrm flipV="1">
              <a:off x="12472" y="7710"/>
              <a:ext cx="107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1" name="Text Box 608"/>
          <p:cNvSpPr txBox="1">
            <a:spLocks noChangeArrowheads="1"/>
          </p:cNvSpPr>
          <p:nvPr>
            <p:custDataLst>
              <p:tags r:id="rId106"/>
            </p:custDataLst>
          </p:nvPr>
        </p:nvSpPr>
        <p:spPr bwMode="auto">
          <a:xfrm>
            <a:off x="6480000" y="2268000"/>
            <a:ext cx="793106" cy="431800"/>
          </a:xfrm>
          <a:prstGeom prst="rect">
            <a:avLst/>
          </a:prstGeom>
          <a:noFill/>
          <a:ln w="28575">
            <a:solidFill>
              <a:srgbClr val="990099"/>
            </a:solidFill>
            <a:miter lim="800000"/>
          </a:ln>
          <a:effectLst/>
        </p:spPr>
        <p:txBody>
          <a:bodyPr lIns="18000" tIns="10800" rIns="18000" bIns="10800" anchor="ctr"/>
          <a:p>
            <a:pPr algn="ctr"/>
            <a:endParaRPr lang="zh-CN" altLang="en-US" sz="20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5" presetClass="entr" presetSubtype="1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/>
      <p:bldP spid="129" grpId="0" bldLvl="0" animBg="1"/>
      <p:bldP spid="308" grpId="0" bldLvl="0" animBg="1"/>
      <p:bldP spid="309" grpId="0" bldLvl="0" animBg="1"/>
      <p:bldP spid="181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51520" y="404664"/>
            <a:ext cx="8640960" cy="5516895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 ※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本节课堂练习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-1(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多选题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)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：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 </a:t>
            </a:r>
            <a:endParaRPr lang="en-US" altLang="zh-CN" b="1" dirty="0" smtClean="0"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1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、程序执行前，需预先存放在存储器中，其好处包括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A</a:t>
            </a: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.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实现自动访问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提高执行速度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提高编程效率</a:t>
            </a:r>
            <a:endParaRPr lang="en-US" altLang="zh-CN" sz="22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2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、程序中指令需逐条执行，其原因包括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A.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指令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可能为转移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型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指令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同时只能取一条指令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同时只能译码一条指令</a:t>
            </a:r>
            <a:endParaRPr lang="zh-CN" altLang="en-US" sz="22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3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下列选项中，不属于计算机主机的部件有</a:t>
            </a:r>
            <a:endParaRPr lang="en-US" altLang="zh-CN" sz="22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A.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运算器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控制器</a:t>
            </a: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C. 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主存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D.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磁盘</a:t>
            </a: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</a:t>
            </a:r>
            <a:endParaRPr lang="en-US" altLang="zh-CN" sz="22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4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CPU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执行访存指令时，发出的存储器地址为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A.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主存地址      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主存地址或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Cache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地址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5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、程序执行过程中，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指令地址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用作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循环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变量，其存放部件是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A. IR        B. ID        C. PC        D. REGs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51520" y="404664"/>
            <a:ext cx="8640960" cy="5439951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 marL="719455" indent="-719455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 ※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本节课堂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练习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-2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(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多选题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)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：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 </a:t>
            </a:r>
            <a:endParaRPr lang="en-US" altLang="zh-CN" b="1" dirty="0"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6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、下列部件名称解释中，正确的有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  A.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PC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指</a:t>
            </a:r>
            <a:r>
              <a:rPr lang="en-US" altLang="zh-CN" sz="2200" dirty="0" smtClean="0"/>
              <a:t>Program Counter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ID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指</a:t>
            </a:r>
            <a:r>
              <a:rPr lang="en-US" altLang="zh-CN" sz="2200" dirty="0" smtClean="0"/>
              <a:t>Instruction Decoder</a:t>
            </a:r>
            <a:endParaRPr lang="en-US" altLang="zh-CN" sz="2200" dirty="0" smtClean="0"/>
          </a:p>
          <a:p>
            <a:pPr marL="719455" indent="-719455"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C.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RAM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指随机访问存储器  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D.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主设备指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CPU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和主存</a:t>
            </a:r>
            <a:endParaRPr lang="en-US" altLang="zh-CN" sz="2200" b="1" dirty="0" smtClean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微软雅黑" panose="020B0503020204020204" charset="-122"/>
              </a:rPr>
              <a:t>  7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微软雅黑" panose="020B0503020204020204" charset="-122"/>
              </a:rPr>
              <a:t>、</a:t>
            </a:r>
            <a:r>
              <a:rPr lang="zh-CN" altLang="en-US" sz="2200" b="1" dirty="0">
                <a:solidFill>
                  <a:srgbClr val="000000"/>
                </a:solidFill>
                <a:latin typeface="+mj-ea"/>
                <a:sym typeface="微软雅黑" panose="020B0503020204020204" charset="-122"/>
              </a:rPr>
              <a:t>下列选项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中，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微软雅黑" panose="020B0503020204020204" charset="-122"/>
              </a:rPr>
              <a:t>ALU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微软雅黑" panose="020B0503020204020204" charset="-122"/>
              </a:rPr>
              <a:t>能实现的运算有</a:t>
            </a:r>
            <a:endParaRPr lang="en-US" altLang="zh-CN" sz="2200" b="1" dirty="0" smtClean="0">
              <a:solidFill>
                <a:srgbClr val="000000"/>
              </a:solidFill>
              <a:latin typeface="宋体" panose="02010600030101010101" pitchFamily="2" charset="-122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      A. </a:t>
            </a:r>
            <a:r>
              <a:rPr lang="zh-CN" altLang="en-US" sz="2200" b="1" dirty="0" smtClean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定点加法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 逻辑运算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C.</a:t>
            </a:r>
            <a:r>
              <a:rPr lang="zh-CN" altLang="en-US" sz="2200" b="1" dirty="0" smtClean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 浮点减法</a:t>
            </a:r>
            <a:endParaRPr lang="en-US" altLang="zh-CN" sz="2200" b="1" dirty="0" smtClean="0">
              <a:solidFill>
                <a:srgbClr val="000000"/>
              </a:solidFill>
              <a:latin typeface="+mj-ea"/>
              <a:ea typeface="+mj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8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、计算机中，显卡属于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A.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外设 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 I/O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接口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外设或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I/O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接口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9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、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下列总线传输协议中，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时延完全取决于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从设备的步骤是</a:t>
            </a:r>
            <a:endParaRPr lang="en-US" altLang="zh-CN" sz="22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A. 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①</a:t>
            </a:r>
            <a:endParaRPr lang="en-US" altLang="zh-CN" sz="22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②</a:t>
            </a:r>
            <a:endParaRPr lang="en-US" altLang="zh-CN" sz="22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C.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③</a:t>
            </a:r>
            <a:endParaRPr lang="zh-CN" altLang="en-US" sz="22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2699979" y="4581152"/>
            <a:ext cx="3600213" cy="1584152"/>
            <a:chOff x="1398046" y="1556792"/>
            <a:chExt cx="3600213" cy="1584152"/>
          </a:xfrm>
        </p:grpSpPr>
        <p:sp>
          <p:nvSpPr>
            <p:cNvPr id="49" name="Line 226"/>
            <p:cNvSpPr>
              <a:spLocks noChangeShapeType="1"/>
            </p:cNvSpPr>
            <p:nvPr/>
          </p:nvSpPr>
          <p:spPr bwMode="auto">
            <a:xfrm>
              <a:off x="4572000" y="1772816"/>
              <a:ext cx="1" cy="136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dash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227"/>
            <p:cNvSpPr>
              <a:spLocks noChangeShapeType="1"/>
            </p:cNvSpPr>
            <p:nvPr/>
          </p:nvSpPr>
          <p:spPr bwMode="auto">
            <a:xfrm>
              <a:off x="2843808" y="1772816"/>
              <a:ext cx="0" cy="136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dash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230"/>
            <p:cNvSpPr>
              <a:spLocks noChangeShapeType="1"/>
            </p:cNvSpPr>
            <p:nvPr/>
          </p:nvSpPr>
          <p:spPr bwMode="auto">
            <a:xfrm flipH="1">
              <a:off x="2548984" y="1772816"/>
              <a:ext cx="1587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231"/>
            <p:cNvSpPr>
              <a:spLocks noChangeShapeType="1"/>
            </p:cNvSpPr>
            <p:nvPr/>
          </p:nvSpPr>
          <p:spPr bwMode="auto">
            <a:xfrm>
              <a:off x="3703566" y="1772816"/>
              <a:ext cx="0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32"/>
            <p:cNvSpPr>
              <a:spLocks noChangeShapeType="1"/>
            </p:cNvSpPr>
            <p:nvPr/>
          </p:nvSpPr>
          <p:spPr bwMode="auto">
            <a:xfrm flipH="1">
              <a:off x="4277325" y="1772816"/>
              <a:ext cx="0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33"/>
            <p:cNvSpPr>
              <a:spLocks noChangeShapeType="1"/>
            </p:cNvSpPr>
            <p:nvPr/>
          </p:nvSpPr>
          <p:spPr bwMode="auto">
            <a:xfrm>
              <a:off x="3125917" y="1772816"/>
              <a:ext cx="0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235"/>
            <p:cNvSpPr txBox="1">
              <a:spLocks noChangeArrowheads="1"/>
            </p:cNvSpPr>
            <p:nvPr/>
          </p:nvSpPr>
          <p:spPr bwMode="auto">
            <a:xfrm>
              <a:off x="1398046" y="1557784"/>
              <a:ext cx="1008063" cy="136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114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CLK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ctr">
                <a:lnSpc>
                  <a:spcPct val="114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ABus</a:t>
              </a:r>
              <a:endParaRPr lang="zh-CN" altLang="en-US" sz="1600" b="1" dirty="0">
                <a:latin typeface="+mn-ea"/>
                <a:ea typeface="+mn-ea"/>
              </a:endParaRPr>
            </a:p>
            <a:p>
              <a:pPr algn="ctr">
                <a:lnSpc>
                  <a:spcPct val="114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DBus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ctr">
                <a:lnSpc>
                  <a:spcPct val="114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CBus</a:t>
              </a:r>
              <a:r>
                <a:rPr lang="en-US" altLang="zh-CN" sz="1600" b="1" dirty="0" smtClean="0">
                  <a:latin typeface="+mn-ea"/>
                  <a:ea typeface="+mn-ea"/>
                </a:rPr>
                <a:t>(RD)</a:t>
              </a:r>
              <a:endParaRPr lang="zh-CN" altLang="en-US" sz="1600" b="1" dirty="0">
                <a:latin typeface="+mn-ea"/>
                <a:ea typeface="+mn-ea"/>
              </a:endParaRPr>
            </a:p>
            <a:p>
              <a:pPr algn="ctr">
                <a:lnSpc>
                  <a:spcPct val="114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CBus</a:t>
              </a:r>
              <a:r>
                <a:rPr lang="en-US" altLang="zh-CN" sz="1600" b="1" dirty="0" smtClean="0">
                  <a:latin typeface="+mn-ea"/>
                  <a:ea typeface="+mn-ea"/>
                </a:rPr>
                <a:t>(WR)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56" name="Line 236"/>
            <p:cNvSpPr>
              <a:spLocks noChangeShapeType="1"/>
            </p:cNvSpPr>
            <p:nvPr/>
          </p:nvSpPr>
          <p:spPr bwMode="auto">
            <a:xfrm>
              <a:off x="2406109" y="1953262"/>
              <a:ext cx="142875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237"/>
            <p:cNvSpPr>
              <a:spLocks noChangeShapeType="1"/>
            </p:cNvSpPr>
            <p:nvPr/>
          </p:nvSpPr>
          <p:spPr bwMode="auto">
            <a:xfrm flipV="1">
              <a:off x="2406109" y="2242883"/>
              <a:ext cx="129745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238"/>
            <p:cNvSpPr>
              <a:spLocks noChangeShapeType="1"/>
            </p:cNvSpPr>
            <p:nvPr/>
          </p:nvSpPr>
          <p:spPr bwMode="auto">
            <a:xfrm flipV="1">
              <a:off x="4422061" y="2242883"/>
              <a:ext cx="57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243"/>
            <p:cNvSpPr>
              <a:spLocks noChangeShapeType="1"/>
            </p:cNvSpPr>
            <p:nvPr/>
          </p:nvSpPr>
          <p:spPr bwMode="auto">
            <a:xfrm flipV="1">
              <a:off x="2405837" y="2636912"/>
              <a:ext cx="432000" cy="500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244"/>
            <p:cNvSpPr>
              <a:spLocks noChangeShapeType="1"/>
            </p:cNvSpPr>
            <p:nvPr/>
          </p:nvSpPr>
          <p:spPr bwMode="auto">
            <a:xfrm>
              <a:off x="2992316" y="2420888"/>
              <a:ext cx="128731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255"/>
            <p:cNvSpPr>
              <a:spLocks noChangeShapeType="1"/>
            </p:cNvSpPr>
            <p:nvPr/>
          </p:nvSpPr>
          <p:spPr bwMode="auto">
            <a:xfrm flipV="1">
              <a:off x="4710092" y="1954849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257"/>
            <p:cNvSpPr>
              <a:spLocks noChangeShapeType="1"/>
            </p:cNvSpPr>
            <p:nvPr/>
          </p:nvSpPr>
          <p:spPr bwMode="auto">
            <a:xfrm>
              <a:off x="4855694" y="1772816"/>
              <a:ext cx="3559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262"/>
            <p:cNvSpPr>
              <a:spLocks noChangeShapeType="1"/>
            </p:cNvSpPr>
            <p:nvPr/>
          </p:nvSpPr>
          <p:spPr bwMode="auto">
            <a:xfrm flipH="1" flipV="1">
              <a:off x="4278044" y="2420888"/>
              <a:ext cx="14421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263"/>
            <p:cNvSpPr>
              <a:spLocks noChangeShapeType="1"/>
            </p:cNvSpPr>
            <p:nvPr/>
          </p:nvSpPr>
          <p:spPr bwMode="auto">
            <a:xfrm>
              <a:off x="4422259" y="2636912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AutoShape 299"/>
            <p:cNvSpPr>
              <a:spLocks noChangeArrowheads="1"/>
            </p:cNvSpPr>
            <p:nvPr/>
          </p:nvSpPr>
          <p:spPr bwMode="auto">
            <a:xfrm>
              <a:off x="2550572" y="1846411"/>
              <a:ext cx="2159720" cy="216000"/>
            </a:xfrm>
            <a:prstGeom prst="hexagon">
              <a:avLst>
                <a:gd name="adj" fmla="val 49744"/>
                <a:gd name="vf" fmla="val 115470"/>
              </a:avLst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Text Box 300"/>
            <p:cNvSpPr txBox="1">
              <a:spLocks noChangeArrowheads="1"/>
            </p:cNvSpPr>
            <p:nvPr/>
          </p:nvSpPr>
          <p:spPr bwMode="auto">
            <a:xfrm>
              <a:off x="3341940" y="1844824"/>
              <a:ext cx="5032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地址</a:t>
              </a:r>
              <a:endParaRPr lang="zh-CN" altLang="en-US" sz="1600" b="1" dirty="0"/>
            </a:p>
          </p:txBody>
        </p:sp>
        <p:sp>
          <p:nvSpPr>
            <p:cNvPr id="67" name="AutoShape 301"/>
            <p:cNvSpPr>
              <a:spLocks noChangeArrowheads="1"/>
            </p:cNvSpPr>
            <p:nvPr/>
          </p:nvSpPr>
          <p:spPr bwMode="auto">
            <a:xfrm>
              <a:off x="3701981" y="2132856"/>
              <a:ext cx="720154" cy="216000"/>
            </a:xfrm>
            <a:prstGeom prst="hexagon">
              <a:avLst>
                <a:gd name="adj" fmla="val 56354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302"/>
            <p:cNvSpPr>
              <a:spLocks noChangeShapeType="1"/>
            </p:cNvSpPr>
            <p:nvPr/>
          </p:nvSpPr>
          <p:spPr bwMode="auto">
            <a:xfrm>
              <a:off x="2406109" y="2921770"/>
              <a:ext cx="259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Box 304"/>
            <p:cNvSpPr txBox="1">
              <a:spLocks noChangeArrowheads="1"/>
            </p:cNvSpPr>
            <p:nvPr/>
          </p:nvSpPr>
          <p:spPr bwMode="auto">
            <a:xfrm>
              <a:off x="3773988" y="2134444"/>
              <a:ext cx="576263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/>
                <a:t>数据</a:t>
              </a:r>
              <a:endParaRPr lang="zh-CN" altLang="en-US" sz="1600" b="1" dirty="0"/>
            </a:p>
          </p:txBody>
        </p:sp>
        <p:sp>
          <p:nvSpPr>
            <p:cNvPr id="70" name="Line 243"/>
            <p:cNvSpPr>
              <a:spLocks noChangeShapeType="1"/>
            </p:cNvSpPr>
            <p:nvPr/>
          </p:nvSpPr>
          <p:spPr bwMode="auto">
            <a:xfrm>
              <a:off x="2415434" y="2708920"/>
              <a:ext cx="288032" cy="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234"/>
            <p:cNvSpPr>
              <a:spLocks noChangeShapeType="1"/>
            </p:cNvSpPr>
            <p:nvPr/>
          </p:nvSpPr>
          <p:spPr bwMode="auto">
            <a:xfrm flipV="1">
              <a:off x="2843808" y="1556792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239"/>
            <p:cNvSpPr>
              <a:spLocks noChangeShapeType="1"/>
            </p:cNvSpPr>
            <p:nvPr/>
          </p:nvSpPr>
          <p:spPr bwMode="auto">
            <a:xfrm>
              <a:off x="2412901" y="1772816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240"/>
            <p:cNvSpPr>
              <a:spLocks noChangeShapeType="1"/>
            </p:cNvSpPr>
            <p:nvPr/>
          </p:nvSpPr>
          <p:spPr bwMode="auto">
            <a:xfrm flipH="1" flipV="1">
              <a:off x="2555776" y="1558379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241"/>
            <p:cNvSpPr>
              <a:spLocks noChangeShapeType="1"/>
            </p:cNvSpPr>
            <p:nvPr/>
          </p:nvSpPr>
          <p:spPr bwMode="auto">
            <a:xfrm>
              <a:off x="2549853" y="1556792"/>
              <a:ext cx="288032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242"/>
            <p:cNvSpPr>
              <a:spLocks noChangeShapeType="1"/>
            </p:cNvSpPr>
            <p:nvPr/>
          </p:nvSpPr>
          <p:spPr bwMode="auto">
            <a:xfrm flipV="1">
              <a:off x="2843808" y="1778470"/>
              <a:ext cx="288000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246"/>
            <p:cNvSpPr>
              <a:spLocks noChangeShapeType="1"/>
            </p:cNvSpPr>
            <p:nvPr/>
          </p:nvSpPr>
          <p:spPr bwMode="auto">
            <a:xfrm flipV="1">
              <a:off x="3419872" y="1559967"/>
              <a:ext cx="1588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247"/>
            <p:cNvSpPr>
              <a:spLocks noChangeShapeType="1"/>
            </p:cNvSpPr>
            <p:nvPr/>
          </p:nvSpPr>
          <p:spPr bwMode="auto">
            <a:xfrm flipH="1" flipV="1">
              <a:off x="3131840" y="15615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248"/>
            <p:cNvSpPr>
              <a:spLocks noChangeShapeType="1"/>
            </p:cNvSpPr>
            <p:nvPr/>
          </p:nvSpPr>
          <p:spPr bwMode="auto">
            <a:xfrm>
              <a:off x="3125917" y="1563142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258"/>
            <p:cNvSpPr>
              <a:spLocks noChangeShapeType="1"/>
            </p:cNvSpPr>
            <p:nvPr/>
          </p:nvSpPr>
          <p:spPr bwMode="auto">
            <a:xfrm>
              <a:off x="4854108" y="155679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234"/>
            <p:cNvSpPr>
              <a:spLocks noChangeShapeType="1"/>
            </p:cNvSpPr>
            <p:nvPr/>
          </p:nvSpPr>
          <p:spPr bwMode="auto">
            <a:xfrm flipV="1">
              <a:off x="3989292" y="1556792"/>
              <a:ext cx="1588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240"/>
            <p:cNvSpPr>
              <a:spLocks noChangeShapeType="1"/>
            </p:cNvSpPr>
            <p:nvPr/>
          </p:nvSpPr>
          <p:spPr bwMode="auto">
            <a:xfrm flipH="1" flipV="1">
              <a:off x="3701260" y="1558379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241"/>
            <p:cNvSpPr>
              <a:spLocks noChangeShapeType="1"/>
            </p:cNvSpPr>
            <p:nvPr/>
          </p:nvSpPr>
          <p:spPr bwMode="auto">
            <a:xfrm>
              <a:off x="3701261" y="1559965"/>
              <a:ext cx="288032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242"/>
            <p:cNvSpPr>
              <a:spLocks noChangeShapeType="1"/>
            </p:cNvSpPr>
            <p:nvPr/>
          </p:nvSpPr>
          <p:spPr bwMode="auto">
            <a:xfrm flipV="1">
              <a:off x="3989292" y="1778470"/>
              <a:ext cx="288033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246"/>
            <p:cNvSpPr>
              <a:spLocks noChangeShapeType="1"/>
            </p:cNvSpPr>
            <p:nvPr/>
          </p:nvSpPr>
          <p:spPr bwMode="auto">
            <a:xfrm flipH="1" flipV="1">
              <a:off x="4566943" y="1559966"/>
              <a:ext cx="1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247"/>
            <p:cNvSpPr>
              <a:spLocks noChangeShapeType="1"/>
            </p:cNvSpPr>
            <p:nvPr/>
          </p:nvSpPr>
          <p:spPr bwMode="auto">
            <a:xfrm flipH="1" flipV="1">
              <a:off x="4277324" y="15615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248"/>
            <p:cNvSpPr>
              <a:spLocks noChangeShapeType="1"/>
            </p:cNvSpPr>
            <p:nvPr/>
          </p:nvSpPr>
          <p:spPr bwMode="auto">
            <a:xfrm>
              <a:off x="4277325" y="1563142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260"/>
            <p:cNvSpPr>
              <a:spLocks noChangeShapeType="1"/>
            </p:cNvSpPr>
            <p:nvPr/>
          </p:nvSpPr>
          <p:spPr bwMode="auto">
            <a:xfrm>
              <a:off x="3413948" y="1775296"/>
              <a:ext cx="287412" cy="1588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242"/>
            <p:cNvSpPr>
              <a:spLocks noChangeShapeType="1"/>
            </p:cNvSpPr>
            <p:nvPr/>
          </p:nvSpPr>
          <p:spPr bwMode="auto">
            <a:xfrm flipV="1">
              <a:off x="4557493" y="1778469"/>
              <a:ext cx="296615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247"/>
            <p:cNvSpPr>
              <a:spLocks noChangeShapeType="1"/>
            </p:cNvSpPr>
            <p:nvPr/>
          </p:nvSpPr>
          <p:spPr bwMode="auto">
            <a:xfrm flipH="1" flipV="1">
              <a:off x="4854107" y="15615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245"/>
            <p:cNvSpPr>
              <a:spLocks noChangeShapeType="1"/>
            </p:cNvSpPr>
            <p:nvPr/>
          </p:nvSpPr>
          <p:spPr bwMode="auto">
            <a:xfrm flipV="1">
              <a:off x="2838206" y="2420988"/>
              <a:ext cx="154110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Text Box 41"/>
            <p:cNvSpPr txBox="1">
              <a:spLocks noChangeArrowheads="1"/>
            </p:cNvSpPr>
            <p:nvPr/>
          </p:nvSpPr>
          <p:spPr bwMode="auto">
            <a:xfrm>
              <a:off x="2694190" y="2924944"/>
              <a:ext cx="2159917" cy="21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 smtClean="0"/>
                <a:t>①        ②       ③       ④</a:t>
              </a:r>
              <a:endParaRPr lang="zh-CN" altLang="en-US" sz="16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109"/>
          <p:cNvSpPr txBox="1">
            <a:spLocks noChangeArrowheads="1"/>
          </p:cNvSpPr>
          <p:nvPr/>
        </p:nvSpPr>
        <p:spPr bwMode="auto">
          <a:xfrm>
            <a:off x="179263" y="1844824"/>
            <a:ext cx="3023887" cy="45381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系统的层次抽象：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基于应用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层次转换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用户类型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776808" y="285728"/>
            <a:ext cx="746760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3000" b="1" dirty="0">
                <a:latin typeface="宋体" panose="02010600030101010101" pitchFamily="2" charset="-122"/>
              </a:rPr>
              <a:t>§</a:t>
            </a:r>
            <a:r>
              <a:rPr lang="en-US" altLang="zh-CN" sz="3000" b="1" dirty="0" smtClean="0">
                <a:latin typeface="宋体" panose="02010600030101010101" pitchFamily="2" charset="-122"/>
              </a:rPr>
              <a:t>1.3 </a:t>
            </a:r>
            <a:r>
              <a:rPr lang="zh-CN" altLang="en-US" sz="3000" b="1" dirty="0" smtClean="0">
                <a:latin typeface="宋体" panose="02010600030101010101" pitchFamily="2" charset="-122"/>
              </a:rPr>
              <a:t>计算机</a:t>
            </a:r>
            <a:r>
              <a:rPr lang="zh-CN" altLang="en-US" sz="3000" b="1" dirty="0">
                <a:latin typeface="宋体" panose="02010600030101010101" pitchFamily="2" charset="-122"/>
              </a:rPr>
              <a:t>系统</a:t>
            </a:r>
            <a:r>
              <a:rPr lang="zh-CN" altLang="en-US" sz="3000" b="1" dirty="0" smtClean="0">
                <a:latin typeface="宋体" panose="02010600030101010101" pitchFamily="2" charset="-122"/>
              </a:rPr>
              <a:t>的层次结构</a:t>
            </a:r>
            <a:endParaRPr lang="zh-CN" altLang="en-US" sz="3000" b="1" dirty="0">
              <a:latin typeface="宋体" panose="02010600030101010101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9263" y="1420092"/>
            <a:ext cx="8785225" cy="424732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、计算机系统的</a:t>
            </a:r>
            <a:r>
              <a:rPr lang="zh-CN" altLang="en-US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层次结构</a:t>
            </a:r>
            <a:endParaRPr lang="zh-CN" altLang="en-US" b="1" dirty="0">
              <a:solidFill>
                <a:srgbClr val="FF3300"/>
              </a:solidFill>
              <a:latin typeface="宋体" panose="0201060003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Text Box 526"/>
          <p:cNvSpPr txBox="1">
            <a:spLocks noChangeArrowheads="1"/>
          </p:cNvSpPr>
          <p:nvPr/>
        </p:nvSpPr>
        <p:spPr bwMode="auto">
          <a:xfrm>
            <a:off x="179512" y="909881"/>
            <a:ext cx="8785225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200" b="1" u="none" dirty="0" smtClean="0">
                <a:latin typeface="+mn-ea"/>
                <a:ea typeface="+mn-ea"/>
              </a:rPr>
              <a:t>系统的</a:t>
            </a:r>
            <a:r>
              <a:rPr lang="zh-CN" altLang="en-US" sz="2200" b="1" dirty="0" smtClean="0">
                <a:latin typeface="+mn-ea"/>
                <a:ea typeface="+mn-ea"/>
              </a:rPr>
              <a:t>层次结构，结构与组成的关系</a:t>
            </a:r>
            <a:r>
              <a:rPr lang="en-US" altLang="zh-CN" sz="2000" b="1" dirty="0" smtClean="0">
                <a:latin typeface="+mn-ea"/>
                <a:ea typeface="+mn-ea"/>
              </a:rPr>
              <a:t>(</a:t>
            </a:r>
            <a:r>
              <a:rPr lang="zh-CN" altLang="en-US" sz="2000" b="1" dirty="0" smtClean="0">
                <a:latin typeface="+mn-ea"/>
                <a:ea typeface="+mn-ea"/>
              </a:rPr>
              <a:t>→组成的任务</a:t>
            </a:r>
            <a:r>
              <a:rPr lang="en-US" altLang="zh-CN" sz="2000" b="1" dirty="0" smtClean="0">
                <a:latin typeface="+mn-ea"/>
                <a:ea typeface="+mn-ea"/>
              </a:rPr>
              <a:t>)</a:t>
            </a:r>
            <a:endParaRPr lang="en-US" altLang="zh-CN" sz="2000" b="1" u="none" dirty="0" smtClean="0">
              <a:latin typeface="+mn-ea"/>
              <a:ea typeface="+mn-ea"/>
            </a:endParaRPr>
          </a:p>
        </p:txBody>
      </p:sp>
      <p:sp>
        <p:nvSpPr>
          <p:cNvPr id="20" name="Text Box 109"/>
          <p:cNvSpPr txBox="1">
            <a:spLocks noChangeArrowheads="1"/>
          </p:cNvSpPr>
          <p:nvPr/>
        </p:nvSpPr>
        <p:spPr bwMode="auto">
          <a:xfrm>
            <a:off x="2899495" y="1844824"/>
            <a:ext cx="6064993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ISA</a:t>
            </a:r>
            <a:r>
              <a:rPr lang="zh-CN" altLang="en-US" b="1" dirty="0">
                <a:latin typeface="宋体" panose="02010600030101010101" pitchFamily="2" charset="-122"/>
              </a:rPr>
              <a:t>为软件</a:t>
            </a:r>
            <a:r>
              <a:rPr lang="en-US" altLang="zh-CN" b="1" dirty="0">
                <a:latin typeface="宋体" panose="02010600030101010101" pitchFamily="2" charset="-122"/>
              </a:rPr>
              <a:t>/</a:t>
            </a:r>
            <a:r>
              <a:rPr lang="zh-CN" altLang="en-US" b="1" dirty="0">
                <a:latin typeface="宋体" panose="02010600030101010101" pitchFamily="2" charset="-122"/>
              </a:rPr>
              <a:t>硬件交界面  </a:t>
            </a:r>
            <a:r>
              <a:rPr lang="zh-CN" altLang="en-US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←硬件仅识别机器语言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544336" y="2925112"/>
            <a:ext cx="3276136" cy="720000"/>
            <a:chOff x="5616112" y="3357072"/>
            <a:chExt cx="3276136" cy="720000"/>
          </a:xfrm>
        </p:grpSpPr>
        <p:sp>
          <p:nvSpPr>
            <p:cNvPr id="29" name="Text Box 99"/>
            <p:cNvSpPr txBox="1">
              <a:spLocks noChangeArrowheads="1"/>
            </p:cNvSpPr>
            <p:nvPr/>
          </p:nvSpPr>
          <p:spPr bwMode="auto">
            <a:xfrm>
              <a:off x="5724248" y="3357072"/>
              <a:ext cx="3168000" cy="72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应用程序员：应用程序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系统程序员：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OS/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编译器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/DBMS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等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系统管理员：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OS/DBMS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等配置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维护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0" name="左大括号 29"/>
            <p:cNvSpPr/>
            <p:nvPr/>
          </p:nvSpPr>
          <p:spPr bwMode="auto">
            <a:xfrm>
              <a:off x="5616112" y="3447139"/>
              <a:ext cx="108000" cy="576000"/>
            </a:xfrm>
            <a:prstGeom prst="leftBrace">
              <a:avLst>
                <a:gd name="adj1" fmla="val 32678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" name="Text Box 109"/>
          <p:cNvSpPr txBox="1">
            <a:spLocks noChangeArrowheads="1"/>
          </p:cNvSpPr>
          <p:nvPr/>
        </p:nvSpPr>
        <p:spPr bwMode="auto">
          <a:xfrm>
            <a:off x="2411512" y="5229200"/>
            <a:ext cx="6553226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下层为上层</a:t>
            </a:r>
            <a:r>
              <a:rPr lang="zh-CN" altLang="en-US" b="1" dirty="0">
                <a:latin typeface="宋体" panose="02010600030101010101" pitchFamily="2" charset="-122"/>
              </a:rPr>
              <a:t>提供抽象接口     </a:t>
            </a:r>
            <a:r>
              <a:rPr lang="zh-CN" altLang="en-US" sz="1800" b="1" dirty="0">
                <a:latin typeface="宋体" panose="02010600030101010101" pitchFamily="2" charset="-122"/>
              </a:rPr>
              <a:t>←便于编程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设计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最终用户、系统管理员，应用</a:t>
            </a:r>
            <a:r>
              <a:rPr lang="en-US" altLang="zh-CN" b="1" dirty="0" smtClean="0"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</a:rPr>
              <a:t>系统程序员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572232" y="2564904"/>
            <a:ext cx="1152128" cy="1152160"/>
            <a:chOff x="4427150" y="2852936"/>
            <a:chExt cx="1152128" cy="1152160"/>
          </a:xfrm>
        </p:grpSpPr>
        <p:sp>
          <p:nvSpPr>
            <p:cNvPr id="34" name="右大括号 33"/>
            <p:cNvSpPr/>
            <p:nvPr/>
          </p:nvSpPr>
          <p:spPr bwMode="auto">
            <a:xfrm>
              <a:off x="4427150" y="3141008"/>
              <a:ext cx="108000" cy="864088"/>
            </a:xfrm>
            <a:prstGeom prst="rightBrace">
              <a:avLst>
                <a:gd name="adj1" fmla="val 36634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Text Box 99"/>
            <p:cNvSpPr txBox="1">
              <a:spLocks noChangeArrowheads="1"/>
            </p:cNvSpPr>
            <p:nvPr/>
          </p:nvSpPr>
          <p:spPr bwMode="auto">
            <a:xfrm>
              <a:off x="4571166" y="2852936"/>
              <a:ext cx="1008112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最终用户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8" name="Text Box 99"/>
            <p:cNvSpPr txBox="1">
              <a:spLocks noChangeArrowheads="1"/>
            </p:cNvSpPr>
            <p:nvPr/>
          </p:nvSpPr>
          <p:spPr bwMode="auto">
            <a:xfrm>
              <a:off x="4571166" y="3429120"/>
              <a:ext cx="792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程序员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3" name="右大括号 42"/>
            <p:cNvSpPr/>
            <p:nvPr/>
          </p:nvSpPr>
          <p:spPr bwMode="auto">
            <a:xfrm>
              <a:off x="4427984" y="2853000"/>
              <a:ext cx="108000" cy="288000"/>
            </a:xfrm>
            <a:prstGeom prst="rightBrace">
              <a:avLst>
                <a:gd name="adj1" fmla="val 29559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620738" y="2564904"/>
            <a:ext cx="4823510" cy="2592312"/>
            <a:chOff x="1475656" y="2852936"/>
            <a:chExt cx="4823510" cy="2592312"/>
          </a:xfrm>
        </p:grpSpPr>
        <p:sp>
          <p:nvSpPr>
            <p:cNvPr id="7" name="Text Box 88"/>
            <p:cNvSpPr txBox="1">
              <a:spLocks noChangeArrowheads="1"/>
            </p:cNvSpPr>
            <p:nvPr/>
          </p:nvSpPr>
          <p:spPr bwMode="auto">
            <a:xfrm>
              <a:off x="1979150" y="2852936"/>
              <a:ext cx="2448000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应用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问题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" name="Text Box 88"/>
            <p:cNvSpPr txBox="1">
              <a:spLocks noChangeArrowheads="1"/>
            </p:cNvSpPr>
            <p:nvPr/>
          </p:nvSpPr>
          <p:spPr bwMode="auto">
            <a:xfrm>
              <a:off x="1978894" y="3141008"/>
              <a:ext cx="2448000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算法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" name="Text Box 88"/>
            <p:cNvSpPr txBox="1">
              <a:spLocks noChangeArrowheads="1"/>
            </p:cNvSpPr>
            <p:nvPr/>
          </p:nvSpPr>
          <p:spPr bwMode="auto">
            <a:xfrm>
              <a:off x="1978894" y="3429080"/>
              <a:ext cx="2448000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编程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语言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" name="Text Box 88"/>
            <p:cNvSpPr txBox="1">
              <a:spLocks noChangeArrowheads="1"/>
            </p:cNvSpPr>
            <p:nvPr/>
          </p:nvSpPr>
          <p:spPr bwMode="auto">
            <a:xfrm>
              <a:off x="1979150" y="3717152"/>
              <a:ext cx="2448000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操作系统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虚拟机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88"/>
            <p:cNvSpPr txBox="1">
              <a:spLocks noChangeArrowheads="1"/>
            </p:cNvSpPr>
            <p:nvPr/>
          </p:nvSpPr>
          <p:spPr bwMode="auto">
            <a:xfrm>
              <a:off x="1978894" y="4005192"/>
              <a:ext cx="2448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指令集体系结构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(ISA)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" name="Text Box 88"/>
            <p:cNvSpPr txBox="1">
              <a:spLocks noChangeArrowheads="1"/>
            </p:cNvSpPr>
            <p:nvPr/>
          </p:nvSpPr>
          <p:spPr bwMode="auto">
            <a:xfrm>
              <a:off x="1978894" y="4293184"/>
              <a:ext cx="2448000" cy="2880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微体系结构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88"/>
            <p:cNvSpPr txBox="1">
              <a:spLocks noChangeArrowheads="1"/>
            </p:cNvSpPr>
            <p:nvPr/>
          </p:nvSpPr>
          <p:spPr bwMode="auto">
            <a:xfrm>
              <a:off x="1979150" y="4581176"/>
              <a:ext cx="2448000" cy="2880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功能部件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/RTL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88"/>
            <p:cNvSpPr txBox="1">
              <a:spLocks noChangeArrowheads="1"/>
            </p:cNvSpPr>
            <p:nvPr/>
          </p:nvSpPr>
          <p:spPr bwMode="auto">
            <a:xfrm>
              <a:off x="1978894" y="4869136"/>
              <a:ext cx="2448000" cy="2880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数字逻辑电路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88"/>
            <p:cNvSpPr txBox="1">
              <a:spLocks noChangeArrowheads="1"/>
            </p:cNvSpPr>
            <p:nvPr/>
          </p:nvSpPr>
          <p:spPr bwMode="auto">
            <a:xfrm>
              <a:off x="1978894" y="5157128"/>
              <a:ext cx="2448000" cy="2880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器件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" name="Line 58"/>
            <p:cNvSpPr>
              <a:spLocks noChangeShapeType="1"/>
            </p:cNvSpPr>
            <p:nvPr/>
          </p:nvSpPr>
          <p:spPr bwMode="auto">
            <a:xfrm>
              <a:off x="1475656" y="4149168"/>
              <a:ext cx="5032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99"/>
            <p:cNvSpPr txBox="1">
              <a:spLocks noChangeArrowheads="1"/>
            </p:cNvSpPr>
            <p:nvPr/>
          </p:nvSpPr>
          <p:spPr bwMode="auto">
            <a:xfrm>
              <a:off x="1618886" y="3501096"/>
              <a:ext cx="288000" cy="50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软件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" name="Text Box 100"/>
            <p:cNvSpPr txBox="1">
              <a:spLocks noChangeArrowheads="1"/>
            </p:cNvSpPr>
            <p:nvPr/>
          </p:nvSpPr>
          <p:spPr bwMode="auto">
            <a:xfrm>
              <a:off x="1618886" y="4365248"/>
              <a:ext cx="288000" cy="50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硬件</a:t>
              </a:r>
              <a:endPara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Line 58"/>
            <p:cNvSpPr>
              <a:spLocks noChangeShapeType="1"/>
            </p:cNvSpPr>
            <p:nvPr/>
          </p:nvSpPr>
          <p:spPr bwMode="auto">
            <a:xfrm flipH="1">
              <a:off x="1586161" y="3429088"/>
              <a:ext cx="0" cy="151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triangle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右大括号 44"/>
            <p:cNvSpPr/>
            <p:nvPr/>
          </p:nvSpPr>
          <p:spPr bwMode="auto">
            <a:xfrm>
              <a:off x="4427150" y="4005152"/>
              <a:ext cx="108000" cy="864088"/>
            </a:xfrm>
            <a:prstGeom prst="rightBrace">
              <a:avLst>
                <a:gd name="adj1" fmla="val 34276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右大括号 45"/>
            <p:cNvSpPr/>
            <p:nvPr/>
          </p:nvSpPr>
          <p:spPr bwMode="auto">
            <a:xfrm>
              <a:off x="4427150" y="4869248"/>
              <a:ext cx="108000" cy="576000"/>
            </a:xfrm>
            <a:prstGeom prst="rightBrace">
              <a:avLst>
                <a:gd name="adj1" fmla="val 29559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Text Box 99"/>
            <p:cNvSpPr txBox="1">
              <a:spLocks noChangeArrowheads="1"/>
            </p:cNvSpPr>
            <p:nvPr/>
          </p:nvSpPr>
          <p:spPr bwMode="auto">
            <a:xfrm>
              <a:off x="4571166" y="4293216"/>
              <a:ext cx="172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架构师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设计者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99"/>
            <p:cNvSpPr txBox="1">
              <a:spLocks noChangeArrowheads="1"/>
            </p:cNvSpPr>
            <p:nvPr/>
          </p:nvSpPr>
          <p:spPr bwMode="auto">
            <a:xfrm>
              <a:off x="4571166" y="5013296"/>
              <a:ext cx="1224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电子工程师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51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AutoShape 338"/>
          <p:cNvSpPr/>
          <p:nvPr/>
        </p:nvSpPr>
        <p:spPr bwMode="auto">
          <a:xfrm>
            <a:off x="7308480" y="3861048"/>
            <a:ext cx="1584000" cy="252000"/>
          </a:xfrm>
          <a:prstGeom prst="borderCallout2">
            <a:avLst>
              <a:gd name="adj1" fmla="val 47637"/>
              <a:gd name="adj2" fmla="val 745"/>
              <a:gd name="adj3" fmla="val 49959"/>
              <a:gd name="adj4" fmla="val -9108"/>
              <a:gd name="adj5" fmla="val -90684"/>
              <a:gd name="adj6" fmla="val -15141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b" anchorCtr="0"/>
          <a:lstStyle/>
          <a:p>
            <a:pPr lvl="0" algn="ctr"/>
            <a:r>
              <a:rPr lang="en-US" altLang="zh-CN" sz="1600" dirty="0">
                <a:solidFill>
                  <a:srgbClr val="000000"/>
                </a:solidFill>
                <a:latin typeface="Times New Roman" panose="02020603050405020304"/>
              </a:rPr>
              <a:t>Operating </a:t>
            </a:r>
            <a:r>
              <a:rPr lang="en-US" altLang="zh-CN" sz="1600" dirty="0" smtClean="0">
                <a:solidFill>
                  <a:srgbClr val="000000"/>
                </a:solidFill>
                <a:latin typeface="Times New Roman" panose="02020603050405020304"/>
              </a:rPr>
              <a:t>System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" grpId="0" animBg="1"/>
      <p:bldP spid="20" grpId="0"/>
      <p:bldP spid="5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56" name="Text Box 109"/>
          <p:cNvSpPr txBox="1">
            <a:spLocks noChangeArrowheads="1"/>
          </p:cNvSpPr>
          <p:nvPr/>
        </p:nvSpPr>
        <p:spPr bwMode="auto">
          <a:xfrm>
            <a:off x="179263" y="332656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面向编程语言的层次结构：</a:t>
            </a:r>
            <a:r>
              <a:rPr lang="zh-CN" altLang="en-US" b="1" dirty="0" smtClean="0">
                <a:latin typeface="宋体" panose="02010600030101010101" pitchFamily="2" charset="-122"/>
              </a:rPr>
              <a:t>结构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编程环境＋执行环境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有所不同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97" name="Text Box 109"/>
          <p:cNvSpPr txBox="1">
            <a:spLocks noChangeArrowheads="1"/>
          </p:cNvSpPr>
          <p:nvPr/>
        </p:nvSpPr>
        <p:spPr bwMode="auto">
          <a:xfrm>
            <a:off x="179512" y="5445224"/>
            <a:ext cx="8785225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术语：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800" dirty="0"/>
              <a:t>Instruction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、语句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800" dirty="0" smtClean="0"/>
              <a:t>Statement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，翻译、解释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98" name="AutoShape 338"/>
          <p:cNvSpPr/>
          <p:nvPr/>
        </p:nvSpPr>
        <p:spPr bwMode="auto">
          <a:xfrm>
            <a:off x="3635896" y="5949280"/>
            <a:ext cx="4033814" cy="308422"/>
          </a:xfrm>
          <a:prstGeom prst="borderCallout2">
            <a:avLst>
              <a:gd name="adj1" fmla="val 49610"/>
              <a:gd name="adj2" fmla="val -119"/>
              <a:gd name="adj3" fmla="val 49834"/>
              <a:gd name="adj4" fmla="val -6146"/>
              <a:gd name="adj5" fmla="val -39799"/>
              <a:gd name="adj6" fmla="val -11514"/>
            </a:avLst>
          </a:prstGeom>
          <a:noFill/>
          <a:ln w="12700">
            <a:solidFill>
              <a:srgbClr val="990099"/>
            </a:solidFill>
            <a:prstDash val="sysDot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不是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/>
              </a:rPr>
              <a:t>Order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/>
              </a:rPr>
              <a:t>Command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！更不是</a:t>
            </a:r>
            <a:r>
              <a:rPr lang="en-US" altLang="zh-CN" sz="1800" dirty="0" err="1" smtClean="0">
                <a:latin typeface="+mn-lt"/>
              </a:rPr>
              <a:t>zhiling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！</a:t>
            </a:r>
            <a:endParaRPr lang="zh-CN" altLang="en-US" sz="1800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102" name="Text Box 73"/>
          <p:cNvSpPr txBox="1">
            <a:spLocks noChangeArrowheads="1"/>
          </p:cNvSpPr>
          <p:nvPr/>
        </p:nvSpPr>
        <p:spPr bwMode="auto">
          <a:xfrm>
            <a:off x="1390933" y="836712"/>
            <a:ext cx="5760000" cy="360000"/>
          </a:xfrm>
          <a:prstGeom prst="rect">
            <a:avLst/>
          </a:prstGeom>
          <a:solidFill>
            <a:srgbClr val="FFCC99">
              <a:alpha val="80000"/>
            </a:srgbClr>
          </a:solidFill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r>
              <a:rPr lang="zh-CN" altLang="en-US" sz="2000" b="1" dirty="0" smtClean="0">
                <a:latin typeface="宋体" panose="02010600030101010101" pitchFamily="2" charset="-122"/>
              </a:rPr>
              <a:t> 编程语言                          执行机制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11" name="AutoShape 45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9" name="Group 101"/>
          <p:cNvGrpSpPr/>
          <p:nvPr/>
        </p:nvGrpSpPr>
        <p:grpSpPr bwMode="auto">
          <a:xfrm>
            <a:off x="3275242" y="2059708"/>
            <a:ext cx="4824413" cy="2160588"/>
            <a:chOff x="2471" y="1932"/>
            <a:chExt cx="3039" cy="1361"/>
          </a:xfrm>
        </p:grpSpPr>
        <p:sp>
          <p:nvSpPr>
            <p:cNvPr id="112" name="Text Box 99"/>
            <p:cNvSpPr txBox="1">
              <a:spLocks noChangeArrowheads="1"/>
            </p:cNvSpPr>
            <p:nvPr/>
          </p:nvSpPr>
          <p:spPr bwMode="auto">
            <a:xfrm>
              <a:off x="5284" y="1978"/>
              <a:ext cx="181" cy="59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虚拟机器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3" name="Text Box 100"/>
            <p:cNvSpPr txBox="1">
              <a:spLocks noChangeArrowheads="1"/>
            </p:cNvSpPr>
            <p:nvPr/>
          </p:nvSpPr>
          <p:spPr bwMode="auto">
            <a:xfrm>
              <a:off x="5284" y="2658"/>
              <a:ext cx="181" cy="59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实际机器</a:t>
              </a:r>
              <a:endPara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4" name="Line 84"/>
            <p:cNvSpPr>
              <a:spLocks noChangeShapeType="1"/>
            </p:cNvSpPr>
            <p:nvPr/>
          </p:nvSpPr>
          <p:spPr bwMode="auto">
            <a:xfrm>
              <a:off x="2471" y="2614"/>
              <a:ext cx="3039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98"/>
            <p:cNvSpPr>
              <a:spLocks noChangeShapeType="1"/>
            </p:cNvSpPr>
            <p:nvPr/>
          </p:nvSpPr>
          <p:spPr bwMode="auto">
            <a:xfrm flipV="1">
              <a:off x="5284" y="1932"/>
              <a:ext cx="0" cy="136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ot"/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6" name="Line 68"/>
          <p:cNvSpPr>
            <a:spLocks noChangeShapeType="1"/>
          </p:cNvSpPr>
          <p:nvPr/>
        </p:nvSpPr>
        <p:spPr bwMode="auto">
          <a:xfrm>
            <a:off x="4355976" y="2205186"/>
            <a:ext cx="0" cy="1008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17" name="组合 116"/>
          <p:cNvGrpSpPr/>
          <p:nvPr/>
        </p:nvGrpSpPr>
        <p:grpSpPr>
          <a:xfrm>
            <a:off x="5508104" y="3213670"/>
            <a:ext cx="2089151" cy="287338"/>
            <a:chOff x="5292080" y="4077766"/>
            <a:chExt cx="2089151" cy="287338"/>
          </a:xfrm>
        </p:grpSpPr>
        <p:sp>
          <p:nvSpPr>
            <p:cNvPr id="118" name="Text Box 19"/>
            <p:cNvSpPr txBox="1">
              <a:spLocks noChangeArrowheads="1"/>
            </p:cNvSpPr>
            <p:nvPr/>
          </p:nvSpPr>
          <p:spPr bwMode="auto">
            <a:xfrm>
              <a:off x="5652443" y="4077766"/>
              <a:ext cx="1728788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直接执行机器指令</a:t>
              </a:r>
              <a:endPara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9" name="Line 20"/>
            <p:cNvSpPr>
              <a:spLocks noChangeShapeType="1"/>
            </p:cNvSpPr>
            <p:nvPr/>
          </p:nvSpPr>
          <p:spPr bwMode="auto">
            <a:xfrm flipH="1">
              <a:off x="5292080" y="4221535"/>
              <a:ext cx="360363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1331640" y="3213008"/>
            <a:ext cx="4103373" cy="293412"/>
            <a:chOff x="1115616" y="4077104"/>
            <a:chExt cx="4103373" cy="293412"/>
          </a:xfrm>
        </p:grpSpPr>
        <p:sp>
          <p:nvSpPr>
            <p:cNvPr id="121" name="Text Box 6"/>
            <p:cNvSpPr txBox="1">
              <a:spLocks noChangeArrowheads="1"/>
            </p:cNvSpPr>
            <p:nvPr/>
          </p:nvSpPr>
          <p:spPr bwMode="auto">
            <a:xfrm>
              <a:off x="3058989" y="4077104"/>
              <a:ext cx="2160000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机器语言级机器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M1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2" name="Text Box 21"/>
            <p:cNvSpPr txBox="1">
              <a:spLocks noChangeArrowheads="1"/>
            </p:cNvSpPr>
            <p:nvPr/>
          </p:nvSpPr>
          <p:spPr bwMode="auto">
            <a:xfrm>
              <a:off x="1115616" y="4081591"/>
              <a:ext cx="1512000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用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机器语言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编程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3" name="Line 58"/>
            <p:cNvSpPr>
              <a:spLocks noChangeShapeType="1"/>
            </p:cNvSpPr>
            <p:nvPr/>
          </p:nvSpPr>
          <p:spPr bwMode="auto">
            <a:xfrm>
              <a:off x="2699832" y="4224466"/>
              <a:ext cx="36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4" name="Text Box 87"/>
          <p:cNvSpPr txBox="1">
            <a:spLocks noChangeArrowheads="1"/>
          </p:cNvSpPr>
          <p:nvPr/>
        </p:nvSpPr>
        <p:spPr bwMode="auto">
          <a:xfrm>
            <a:off x="4499992" y="2852968"/>
            <a:ext cx="158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r>
              <a:rPr lang="zh-CN" altLang="en-US" sz="1600" b="1" dirty="0">
                <a:latin typeface="宋体" panose="02010600030101010101" pitchFamily="2" charset="-122"/>
              </a:rPr>
              <a:t>用</a:t>
            </a: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机器语言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解释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1331808" y="2549546"/>
            <a:ext cx="5400336" cy="302728"/>
            <a:chOff x="1115784" y="3341634"/>
            <a:chExt cx="5400336" cy="302728"/>
          </a:xfrm>
        </p:grpSpPr>
        <p:sp>
          <p:nvSpPr>
            <p:cNvPr id="126" name="Text Box 78"/>
            <p:cNvSpPr txBox="1">
              <a:spLocks noChangeArrowheads="1"/>
            </p:cNvSpPr>
            <p:nvPr/>
          </p:nvSpPr>
          <p:spPr bwMode="auto">
            <a:xfrm>
              <a:off x="3058988" y="3341634"/>
              <a:ext cx="2160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操作系统级机器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M2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7" name="Text Box 80"/>
            <p:cNvSpPr txBox="1">
              <a:spLocks noChangeArrowheads="1"/>
            </p:cNvSpPr>
            <p:nvPr/>
          </p:nvSpPr>
          <p:spPr bwMode="auto">
            <a:xfrm>
              <a:off x="1115784" y="3357024"/>
              <a:ext cx="1512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使用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OS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命令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操作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8" name="Line 81"/>
            <p:cNvSpPr>
              <a:spLocks noChangeShapeType="1"/>
            </p:cNvSpPr>
            <p:nvPr/>
          </p:nvSpPr>
          <p:spPr bwMode="auto">
            <a:xfrm>
              <a:off x="2699832" y="3501040"/>
              <a:ext cx="36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Text Box 19"/>
            <p:cNvSpPr txBox="1">
              <a:spLocks noChangeArrowheads="1"/>
            </p:cNvSpPr>
            <p:nvPr/>
          </p:nvSpPr>
          <p:spPr bwMode="auto">
            <a:xfrm>
              <a:off x="5652120" y="3357024"/>
              <a:ext cx="864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GUI</a:t>
              </a: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触发</a:t>
              </a:r>
              <a:endPara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0" name="Line 20"/>
            <p:cNvSpPr>
              <a:spLocks noChangeShapeType="1"/>
            </p:cNvSpPr>
            <p:nvPr/>
          </p:nvSpPr>
          <p:spPr bwMode="auto">
            <a:xfrm flipH="1">
              <a:off x="5292080" y="3501040"/>
              <a:ext cx="360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1" name="Text Box 69"/>
          <p:cNvSpPr txBox="1">
            <a:spLocks noChangeArrowheads="1"/>
          </p:cNvSpPr>
          <p:nvPr/>
        </p:nvSpPr>
        <p:spPr bwMode="auto">
          <a:xfrm>
            <a:off x="4499992" y="2204896"/>
            <a:ext cx="158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用</a:t>
            </a: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汇编程序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翻译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1331640" y="1916832"/>
            <a:ext cx="5868336" cy="302728"/>
            <a:chOff x="1115784" y="3341634"/>
            <a:chExt cx="5868336" cy="302728"/>
          </a:xfrm>
        </p:grpSpPr>
        <p:sp>
          <p:nvSpPr>
            <p:cNvPr id="133" name="Text Box 78"/>
            <p:cNvSpPr txBox="1">
              <a:spLocks noChangeArrowheads="1"/>
            </p:cNvSpPr>
            <p:nvPr/>
          </p:nvSpPr>
          <p:spPr bwMode="auto">
            <a:xfrm>
              <a:off x="3058988" y="3341634"/>
              <a:ext cx="2160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汇编语言级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机器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M3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4" name="Text Box 80"/>
            <p:cNvSpPr txBox="1">
              <a:spLocks noChangeArrowheads="1"/>
            </p:cNvSpPr>
            <p:nvPr/>
          </p:nvSpPr>
          <p:spPr bwMode="auto">
            <a:xfrm>
              <a:off x="1115784" y="3357024"/>
              <a:ext cx="1512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用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汇编语言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编程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5" name="Line 81"/>
            <p:cNvSpPr>
              <a:spLocks noChangeShapeType="1"/>
            </p:cNvSpPr>
            <p:nvPr/>
          </p:nvSpPr>
          <p:spPr bwMode="auto">
            <a:xfrm>
              <a:off x="2699832" y="3501040"/>
              <a:ext cx="36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Text Box 19"/>
            <p:cNvSpPr txBox="1">
              <a:spLocks noChangeArrowheads="1"/>
            </p:cNvSpPr>
            <p:nvPr/>
          </p:nvSpPr>
          <p:spPr bwMode="auto">
            <a:xfrm>
              <a:off x="5652120" y="3357024"/>
              <a:ext cx="1332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执行环境触发</a:t>
              </a:r>
              <a:endPara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7" name="Line 20"/>
            <p:cNvSpPr>
              <a:spLocks noChangeShapeType="1"/>
            </p:cNvSpPr>
            <p:nvPr/>
          </p:nvSpPr>
          <p:spPr bwMode="auto">
            <a:xfrm flipH="1">
              <a:off x="5292080" y="3501040"/>
              <a:ext cx="360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8" name="Text Box 69"/>
          <p:cNvSpPr txBox="1">
            <a:spLocks noChangeArrowheads="1"/>
          </p:cNvSpPr>
          <p:nvPr/>
        </p:nvSpPr>
        <p:spPr bwMode="auto">
          <a:xfrm>
            <a:off x="4499992" y="1556824"/>
            <a:ext cx="158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用</a:t>
            </a:r>
            <a:r>
              <a:rPr lang="zh-CN" altLang="en-US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编译程序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翻译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139" name="组合 138"/>
          <p:cNvGrpSpPr/>
          <p:nvPr/>
        </p:nvGrpSpPr>
        <p:grpSpPr>
          <a:xfrm>
            <a:off x="1331640" y="1268760"/>
            <a:ext cx="5868336" cy="302728"/>
            <a:chOff x="1115784" y="3341634"/>
            <a:chExt cx="5868336" cy="302728"/>
          </a:xfrm>
        </p:grpSpPr>
        <p:sp>
          <p:nvSpPr>
            <p:cNvPr id="140" name="Text Box 78"/>
            <p:cNvSpPr txBox="1">
              <a:spLocks noChangeArrowheads="1"/>
            </p:cNvSpPr>
            <p:nvPr/>
          </p:nvSpPr>
          <p:spPr bwMode="auto">
            <a:xfrm>
              <a:off x="3058988" y="3341634"/>
              <a:ext cx="2160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高级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语言级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机器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M3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1" name="Text Box 80"/>
            <p:cNvSpPr txBox="1">
              <a:spLocks noChangeArrowheads="1"/>
            </p:cNvSpPr>
            <p:nvPr/>
          </p:nvSpPr>
          <p:spPr bwMode="auto">
            <a:xfrm>
              <a:off x="1115784" y="3357024"/>
              <a:ext cx="1512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用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高级语言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编程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2" name="Line 81"/>
            <p:cNvSpPr>
              <a:spLocks noChangeShapeType="1"/>
            </p:cNvSpPr>
            <p:nvPr/>
          </p:nvSpPr>
          <p:spPr bwMode="auto">
            <a:xfrm>
              <a:off x="2699832" y="3501040"/>
              <a:ext cx="36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Text Box 19"/>
            <p:cNvSpPr txBox="1">
              <a:spLocks noChangeArrowheads="1"/>
            </p:cNvSpPr>
            <p:nvPr/>
          </p:nvSpPr>
          <p:spPr bwMode="auto">
            <a:xfrm>
              <a:off x="5652120" y="3357024"/>
              <a:ext cx="1332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执行环境触发</a:t>
              </a:r>
              <a:endPara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4" name="Line 20"/>
            <p:cNvSpPr>
              <a:spLocks noChangeShapeType="1"/>
            </p:cNvSpPr>
            <p:nvPr/>
          </p:nvSpPr>
          <p:spPr bwMode="auto">
            <a:xfrm flipH="1">
              <a:off x="5292080" y="3501040"/>
              <a:ext cx="360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5" name="Line 76"/>
          <p:cNvSpPr>
            <a:spLocks noChangeShapeType="1"/>
          </p:cNvSpPr>
          <p:nvPr/>
        </p:nvSpPr>
        <p:spPr bwMode="auto">
          <a:xfrm>
            <a:off x="4356099" y="1553111"/>
            <a:ext cx="0" cy="360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6" name="Line 85"/>
          <p:cNvSpPr>
            <a:spLocks noChangeShapeType="1"/>
          </p:cNvSpPr>
          <p:nvPr/>
        </p:nvSpPr>
        <p:spPr bwMode="auto">
          <a:xfrm>
            <a:off x="4355976" y="2204368"/>
            <a:ext cx="0" cy="360536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7" name="Line 93"/>
          <p:cNvSpPr>
            <a:spLocks noChangeShapeType="1"/>
          </p:cNvSpPr>
          <p:nvPr/>
        </p:nvSpPr>
        <p:spPr bwMode="auto">
          <a:xfrm flipH="1">
            <a:off x="4355976" y="3501008"/>
            <a:ext cx="123" cy="360611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8" name="Text Box 94"/>
          <p:cNvSpPr txBox="1">
            <a:spLocks noChangeArrowheads="1"/>
          </p:cNvSpPr>
          <p:nvPr/>
        </p:nvSpPr>
        <p:spPr bwMode="auto">
          <a:xfrm>
            <a:off x="4499992" y="3501008"/>
            <a:ext cx="1512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r>
              <a:rPr lang="zh-CN" altLang="en-US" sz="1600" b="1" dirty="0" smtClean="0">
                <a:latin typeface="宋体" panose="02010600030101010101" pitchFamily="2" charset="-122"/>
              </a:rPr>
              <a:t>用</a:t>
            </a: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微程序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解释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149" name="组合 148"/>
          <p:cNvGrpSpPr/>
          <p:nvPr/>
        </p:nvGrpSpPr>
        <p:grpSpPr>
          <a:xfrm>
            <a:off x="1115808" y="3861048"/>
            <a:ext cx="6335740" cy="293412"/>
            <a:chOff x="899784" y="4725144"/>
            <a:chExt cx="6335740" cy="293412"/>
          </a:xfrm>
        </p:grpSpPr>
        <p:sp>
          <p:nvSpPr>
            <p:cNvPr id="150" name="Text Box 6"/>
            <p:cNvSpPr txBox="1">
              <a:spLocks noChangeArrowheads="1"/>
            </p:cNvSpPr>
            <p:nvPr/>
          </p:nvSpPr>
          <p:spPr bwMode="auto">
            <a:xfrm>
              <a:off x="3058989" y="4725144"/>
              <a:ext cx="2160000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 微程序级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机器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M0 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1" name="Text Box 21"/>
            <p:cNvSpPr txBox="1">
              <a:spLocks noChangeArrowheads="1"/>
            </p:cNvSpPr>
            <p:nvPr/>
          </p:nvSpPr>
          <p:spPr bwMode="auto">
            <a:xfrm>
              <a:off x="899784" y="4729631"/>
              <a:ext cx="1728000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用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微指令系统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实现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2" name="Line 58"/>
            <p:cNvSpPr>
              <a:spLocks noChangeShapeType="1"/>
            </p:cNvSpPr>
            <p:nvPr/>
          </p:nvSpPr>
          <p:spPr bwMode="auto">
            <a:xfrm>
              <a:off x="2699832" y="4872506"/>
              <a:ext cx="36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Text Box 19"/>
            <p:cNvSpPr txBox="1">
              <a:spLocks noChangeArrowheads="1"/>
            </p:cNvSpPr>
            <p:nvPr/>
          </p:nvSpPr>
          <p:spPr bwMode="auto">
            <a:xfrm>
              <a:off x="5651524" y="4725144"/>
              <a:ext cx="1584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直接</a:t>
              </a: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执行微指令</a:t>
              </a:r>
              <a:endPara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4" name="Line 20"/>
            <p:cNvSpPr>
              <a:spLocks noChangeShapeType="1"/>
            </p:cNvSpPr>
            <p:nvPr/>
          </p:nvSpPr>
          <p:spPr bwMode="auto">
            <a:xfrm flipH="1">
              <a:off x="5291161" y="4868913"/>
              <a:ext cx="360363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940248" y="4293096"/>
            <a:ext cx="2952232" cy="1116041"/>
            <a:chOff x="5508104" y="4401191"/>
            <a:chExt cx="2952232" cy="1116041"/>
          </a:xfrm>
        </p:grpSpPr>
        <p:sp>
          <p:nvSpPr>
            <p:cNvPr id="161" name="Text Box 77"/>
            <p:cNvSpPr txBox="1">
              <a:spLocks noChangeArrowheads="1"/>
            </p:cNvSpPr>
            <p:nvPr/>
          </p:nvSpPr>
          <p:spPr bwMode="auto">
            <a:xfrm>
              <a:off x="5508104" y="4761231"/>
              <a:ext cx="792000" cy="756000"/>
            </a:xfrm>
            <a:prstGeom prst="rect">
              <a:avLst/>
            </a:prstGeom>
            <a:solidFill>
              <a:srgbClr val="FF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100011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001000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101011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2" name="Text Box 77"/>
            <p:cNvSpPr txBox="1">
              <a:spLocks noChangeArrowheads="1"/>
            </p:cNvSpPr>
            <p:nvPr/>
          </p:nvSpPr>
          <p:spPr bwMode="auto">
            <a:xfrm>
              <a:off x="6300192" y="4761232"/>
              <a:ext cx="648000" cy="756000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00011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01000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00011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3" name="Text Box 77"/>
            <p:cNvSpPr txBox="1">
              <a:spLocks noChangeArrowheads="1"/>
            </p:cNvSpPr>
            <p:nvPr/>
          </p:nvSpPr>
          <p:spPr bwMode="auto">
            <a:xfrm>
              <a:off x="6948264" y="4761231"/>
              <a:ext cx="648000" cy="75600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01000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01001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01001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4" name="Text Box 77"/>
            <p:cNvSpPr txBox="1">
              <a:spLocks noChangeArrowheads="1"/>
            </p:cNvSpPr>
            <p:nvPr/>
          </p:nvSpPr>
          <p:spPr bwMode="auto">
            <a:xfrm>
              <a:off x="7596336" y="4761231"/>
              <a:ext cx="864000" cy="756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0010000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1111110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0010100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6" name="Text Box 71"/>
            <p:cNvSpPr txBox="1">
              <a:spLocks noChangeArrowheads="1"/>
            </p:cNvSpPr>
            <p:nvPr/>
          </p:nvSpPr>
          <p:spPr bwMode="auto">
            <a:xfrm>
              <a:off x="5508104" y="4401191"/>
              <a:ext cx="1583952" cy="36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机器语言程序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: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252875" y="4293096"/>
            <a:ext cx="2615269" cy="1101119"/>
            <a:chOff x="3108787" y="4293096"/>
            <a:chExt cx="2615269" cy="1101119"/>
          </a:xfrm>
        </p:grpSpPr>
        <p:sp>
          <p:nvSpPr>
            <p:cNvPr id="158" name="Text Box 77"/>
            <p:cNvSpPr txBox="1">
              <a:spLocks noChangeArrowheads="1"/>
            </p:cNvSpPr>
            <p:nvPr/>
          </p:nvSpPr>
          <p:spPr bwMode="auto">
            <a:xfrm>
              <a:off x="3108787" y="4653136"/>
              <a:ext cx="1872000" cy="504000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 smtClean="0">
                  <a:latin typeface="宋体" panose="02010600030101010101" pitchFamily="2" charset="-122"/>
                </a:rPr>
                <a:t>lw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  R8, 16(R3)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err="1" smtClean="0">
                  <a:latin typeface="宋体" panose="02010600030101010101" pitchFamily="2" charset="-122"/>
                </a:rPr>
                <a:t>subi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R9, R8, 2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77"/>
            <p:cNvSpPr txBox="1">
              <a:spLocks noChangeArrowheads="1"/>
            </p:cNvSpPr>
            <p:nvPr/>
          </p:nvSpPr>
          <p:spPr bwMode="auto">
            <a:xfrm>
              <a:off x="3108787" y="5142215"/>
              <a:ext cx="1872000" cy="252000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 smtClean="0">
                  <a:latin typeface="宋体" panose="02010600030101010101" pitchFamily="2" charset="-122"/>
                </a:rPr>
                <a:t>sw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  R9, 20(R3)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5" name="Text Box 71"/>
            <p:cNvSpPr txBox="1">
              <a:spLocks noChangeArrowheads="1"/>
            </p:cNvSpPr>
            <p:nvPr/>
          </p:nvSpPr>
          <p:spPr bwMode="auto">
            <a:xfrm>
              <a:off x="3109011" y="4293096"/>
              <a:ext cx="1583952" cy="36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汇编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语言程序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: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8" name="右箭头 167"/>
            <p:cNvSpPr/>
            <p:nvPr/>
          </p:nvSpPr>
          <p:spPr bwMode="auto">
            <a:xfrm>
              <a:off x="5076056" y="4869160"/>
              <a:ext cx="648000" cy="180000"/>
            </a:xfrm>
            <a:prstGeom prst="rightArrow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6" name="Text Box 23"/>
            <p:cNvSpPr txBox="1">
              <a:spLocks noChangeArrowheads="1"/>
            </p:cNvSpPr>
            <p:nvPr/>
          </p:nvSpPr>
          <p:spPr bwMode="auto">
            <a:xfrm>
              <a:off x="5163683" y="4689136"/>
              <a:ext cx="432000" cy="216000"/>
            </a:xfrm>
            <a:prstGeom prst="rect">
              <a:avLst/>
            </a:prstGeom>
            <a:noFill/>
            <a:ln w="12700">
              <a:noFill/>
              <a:prstDash val="sysDash"/>
            </a:ln>
          </p:spPr>
          <p:txBody>
            <a:bodyPr wrap="square" lIns="18000" tIns="10800" rIns="18000" bIns="10800" anchor="ctr" anchorCtr="0">
              <a:noAutofit/>
            </a:bodyPr>
            <a:lstStyle>
              <a:lvl1pPr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0"/>
                </a:spcBef>
                <a:buFontTx/>
                <a:buNone/>
              </a:pPr>
              <a:r>
                <a:rPr lang="en-US" altLang="zh-CN" sz="1800" dirty="0" smtClean="0">
                  <a:latin typeface="+mn-ea"/>
                </a:rPr>
                <a:t>1:1</a:t>
              </a:r>
              <a:endParaRPr lang="zh-CN" altLang="en-US" sz="180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99592" y="4293096"/>
            <a:ext cx="2304256" cy="864096"/>
            <a:chOff x="899592" y="4293096"/>
            <a:chExt cx="2304256" cy="864096"/>
          </a:xfrm>
        </p:grpSpPr>
        <p:sp>
          <p:nvSpPr>
            <p:cNvPr id="156" name="Text Box 71"/>
            <p:cNvSpPr txBox="1">
              <a:spLocks noChangeArrowheads="1"/>
            </p:cNvSpPr>
            <p:nvPr/>
          </p:nvSpPr>
          <p:spPr bwMode="auto">
            <a:xfrm>
              <a:off x="899592" y="4293096"/>
              <a:ext cx="1583952" cy="36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高级语言程序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: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7" name="Text Box 77"/>
            <p:cNvSpPr txBox="1">
              <a:spLocks noChangeArrowheads="1"/>
            </p:cNvSpPr>
            <p:nvPr/>
          </p:nvSpPr>
          <p:spPr bwMode="auto">
            <a:xfrm>
              <a:off x="900213" y="4653136"/>
              <a:ext cx="1584000" cy="252000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 smtClean="0">
                  <a:latin typeface="宋体" panose="02010600030101010101" pitchFamily="2" charset="-122"/>
                </a:rPr>
                <a:t>tmp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=a[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i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]-2; 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60" name="Text Box 77"/>
            <p:cNvSpPr txBox="1">
              <a:spLocks noChangeArrowheads="1"/>
            </p:cNvSpPr>
            <p:nvPr/>
          </p:nvSpPr>
          <p:spPr bwMode="auto">
            <a:xfrm>
              <a:off x="900213" y="4905192"/>
              <a:ext cx="1584000" cy="252000"/>
            </a:xfrm>
            <a:prstGeom prst="rect">
              <a:avLst/>
            </a:prstGeom>
            <a:solidFill>
              <a:srgbClr val="FFC000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a[i+1]=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tmp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;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77" name="右箭头 176"/>
            <p:cNvSpPr/>
            <p:nvPr/>
          </p:nvSpPr>
          <p:spPr bwMode="auto">
            <a:xfrm>
              <a:off x="2555848" y="4833160"/>
              <a:ext cx="648000" cy="180000"/>
            </a:xfrm>
            <a:prstGeom prst="rightArrow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8" name="Text Box 23"/>
            <p:cNvSpPr txBox="1">
              <a:spLocks noChangeArrowheads="1"/>
            </p:cNvSpPr>
            <p:nvPr/>
          </p:nvSpPr>
          <p:spPr bwMode="auto">
            <a:xfrm>
              <a:off x="2643475" y="4653136"/>
              <a:ext cx="432000" cy="216000"/>
            </a:xfrm>
            <a:prstGeom prst="rect">
              <a:avLst/>
            </a:prstGeom>
            <a:noFill/>
            <a:ln w="12700">
              <a:noFill/>
              <a:prstDash val="sysDash"/>
            </a:ln>
          </p:spPr>
          <p:txBody>
            <a:bodyPr wrap="square" lIns="18000" tIns="10800" rIns="18000" bIns="10800" anchor="ctr" anchorCtr="0">
              <a:noAutofit/>
            </a:bodyPr>
            <a:lstStyle>
              <a:lvl1pPr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0"/>
                </a:spcBef>
                <a:buFontTx/>
                <a:buNone/>
              </a:pPr>
              <a:r>
                <a:rPr lang="en-US" altLang="zh-CN" sz="1800" dirty="0" smtClean="0">
                  <a:latin typeface="+mn-ea"/>
                </a:rPr>
                <a:t>1:n</a:t>
              </a:r>
              <a:endParaRPr lang="zh-CN" altLang="en-US" sz="180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8" grpId="0" animBg="1"/>
      <p:bldP spid="116" grpId="0" animBg="1"/>
      <p:bldP spid="124" grpId="0"/>
      <p:bldP spid="131" grpId="0"/>
      <p:bldP spid="138" grpId="0"/>
      <p:bldP spid="145" grpId="0" animBg="1"/>
      <p:bldP spid="146" grpId="0" animBg="1"/>
      <p:bldP spid="147" grpId="0" animBg="1"/>
      <p:bldP spid="14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9388" y="420053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28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2400" dirty="0"/>
              <a:t>二、计算机软硬件关系</a:t>
            </a:r>
            <a:endParaRPr lang="zh-CN" altLang="en-US" sz="2400" dirty="0"/>
          </a:p>
        </p:txBody>
      </p:sp>
      <p:sp>
        <p:nvSpPr>
          <p:cNvPr id="5" name="Text Box 109"/>
          <p:cNvSpPr txBox="1">
            <a:spLocks noChangeArrowheads="1"/>
          </p:cNvSpPr>
          <p:nvPr/>
        </p:nvSpPr>
        <p:spPr bwMode="auto">
          <a:xfrm>
            <a:off x="179389" y="911083"/>
            <a:ext cx="3528516" cy="39780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从系统组成看：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从用户角度看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从设计者角度看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发展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趋势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b="1" dirty="0" smtClean="0">
              <a:latin typeface="宋体" panose="02010600030101010101" pitchFamily="2" charset="-122"/>
            </a:endParaRPr>
          </a:p>
        </p:txBody>
      </p:sp>
      <p:sp>
        <p:nvSpPr>
          <p:cNvPr id="6" name="Text Box 109"/>
          <p:cNvSpPr txBox="1">
            <a:spLocks noChangeArrowheads="1"/>
          </p:cNvSpPr>
          <p:nvPr/>
        </p:nvSpPr>
        <p:spPr bwMode="auto">
          <a:xfrm>
            <a:off x="2699418" y="1844824"/>
            <a:ext cx="6193188" cy="1708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软件和硬件的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功能在逻辑上是等价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           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性能、成本有所不同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如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乘法功能可用</a:t>
            </a:r>
            <a:r>
              <a:rPr lang="zh-CN" altLang="en-US" sz="2000" b="1" u="sng" dirty="0" smtClean="0">
                <a:latin typeface="宋体" panose="02010600030101010101" pitchFamily="2" charset="-122"/>
              </a:rPr>
              <a:t>乘法指令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实现，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  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也可用</a:t>
            </a:r>
            <a:r>
              <a:rPr lang="zh-CN" altLang="en-US" sz="2000" b="1" u="sng" dirty="0" smtClean="0">
                <a:latin typeface="宋体" panose="02010600030101010101" pitchFamily="2" charset="-122"/>
              </a:rPr>
              <a:t>加法指令＋移位指令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实现</a:t>
            </a:r>
            <a:endParaRPr lang="en-US" altLang="zh-CN" sz="2000" b="1" u="sng" dirty="0" smtClean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8" name="Text Box 109"/>
          <p:cNvSpPr txBox="1">
            <a:spLocks noChangeArrowheads="1"/>
          </p:cNvSpPr>
          <p:nvPr/>
        </p:nvSpPr>
        <p:spPr bwMode="auto">
          <a:xfrm>
            <a:off x="2339753" y="3501008"/>
            <a:ext cx="6552854" cy="13619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软件和硬件的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交界面影响性能与成本</a:t>
            </a:r>
            <a:endParaRPr lang="en-US" altLang="zh-CN" b="1" u="sng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               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向上则性能及成本下降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软硬件</a:t>
            </a:r>
            <a:r>
              <a:rPr lang="zh-CN" altLang="en-US" b="1" dirty="0">
                <a:latin typeface="宋体" panose="02010600030101010101" pitchFamily="2" charset="-122"/>
              </a:rPr>
              <a:t>交界面上</a:t>
            </a:r>
            <a:r>
              <a:rPr lang="zh-CN" altLang="en-US" b="1" dirty="0" smtClean="0">
                <a:latin typeface="宋体" panose="02010600030101010101" pitchFamily="2" charset="-122"/>
              </a:rPr>
              <a:t>移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硬件成本下降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7" name="Text Box 109"/>
          <p:cNvSpPr txBox="1">
            <a:spLocks noChangeArrowheads="1"/>
          </p:cNvSpPr>
          <p:nvPr/>
        </p:nvSpPr>
        <p:spPr bwMode="auto">
          <a:xfrm>
            <a:off x="2699792" y="908720"/>
            <a:ext cx="6192813" cy="8448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软件和硬件是一个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整体</a:t>
            </a:r>
            <a:r>
              <a:rPr lang="zh-CN" altLang="en-US" b="1" dirty="0" smtClean="0">
                <a:latin typeface="宋体" panose="02010600030101010101" pitchFamily="2" charset="-122"/>
              </a:rPr>
              <a:t> 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软件功能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靠硬件实现→</a:t>
            </a:r>
            <a:r>
              <a:rPr lang="zh-CN" altLang="en-US" sz="1800" dirty="0" smtClean="0">
                <a:latin typeface="宋体" panose="02010600030101010101" pitchFamily="2" charset="-122"/>
              </a:rPr>
              <a:t>┴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硬件性能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靠软件反映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Box 242"/>
          <p:cNvSpPr txBox="1">
            <a:spLocks noChangeArrowheads="1"/>
          </p:cNvSpPr>
          <p:nvPr/>
        </p:nvSpPr>
        <p:spPr bwMode="auto">
          <a:xfrm>
            <a:off x="179264" y="908720"/>
            <a:ext cx="4032696" cy="55553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计算机结构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 smtClean="0">
                <a:solidFill>
                  <a:srgbClr val="C00000"/>
                </a:solidFill>
                <a:latin typeface="+mn-lt"/>
              </a:rPr>
              <a:t>Architecture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计算机组成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rgbClr val="C00000"/>
                </a:solidFill>
              </a:rPr>
              <a:t>Organization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计算机实现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rgbClr val="C00000"/>
                </a:solidFill>
              </a:rPr>
              <a:t>Implementation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相互关系： 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51520" y="1555900"/>
            <a:ext cx="3458991" cy="2449164"/>
            <a:chOff x="538460" y="1628800"/>
            <a:chExt cx="3458991" cy="2449164"/>
          </a:xfrm>
        </p:grpSpPr>
        <p:sp>
          <p:nvSpPr>
            <p:cNvPr id="69" name="Text Box 218"/>
            <p:cNvSpPr txBox="1">
              <a:spLocks noChangeArrowheads="1"/>
            </p:cNvSpPr>
            <p:nvPr/>
          </p:nvSpPr>
          <p:spPr bwMode="auto">
            <a:xfrm>
              <a:off x="1620515" y="2996952"/>
              <a:ext cx="2159000" cy="287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机器语言级机器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M1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0" name="Text Box 219"/>
            <p:cNvSpPr txBox="1">
              <a:spLocks noChangeArrowheads="1"/>
            </p:cNvSpPr>
            <p:nvPr/>
          </p:nvSpPr>
          <p:spPr bwMode="auto">
            <a:xfrm>
              <a:off x="1620515" y="3356992"/>
              <a:ext cx="2159000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微程序级机器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M0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1" name="AutoShape 222"/>
            <p:cNvSpPr/>
            <p:nvPr/>
          </p:nvSpPr>
          <p:spPr bwMode="auto">
            <a:xfrm>
              <a:off x="1501945" y="3050293"/>
              <a:ext cx="45719" cy="1008112"/>
            </a:xfrm>
            <a:prstGeom prst="leftBrace">
              <a:avLst>
                <a:gd name="adj1" fmla="val 151111"/>
                <a:gd name="adj2" fmla="val 50000"/>
              </a:avLst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Text Box 223"/>
            <p:cNvSpPr txBox="1">
              <a:spLocks noChangeArrowheads="1"/>
            </p:cNvSpPr>
            <p:nvPr/>
          </p:nvSpPr>
          <p:spPr bwMode="auto">
            <a:xfrm>
              <a:off x="972418" y="3429000"/>
              <a:ext cx="503238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硬件</a:t>
              </a:r>
              <a:endPara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" name="AutoShape 224"/>
            <p:cNvSpPr/>
            <p:nvPr/>
          </p:nvSpPr>
          <p:spPr bwMode="auto">
            <a:xfrm>
              <a:off x="1495259" y="1674520"/>
              <a:ext cx="52405" cy="934518"/>
            </a:xfrm>
            <a:prstGeom prst="leftBrace">
              <a:avLst>
                <a:gd name="adj1" fmla="val 151111"/>
                <a:gd name="adj2" fmla="val 50000"/>
              </a:avLst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Text Box 225"/>
            <p:cNvSpPr txBox="1">
              <a:spLocks noChangeArrowheads="1"/>
            </p:cNvSpPr>
            <p:nvPr/>
          </p:nvSpPr>
          <p:spPr bwMode="auto">
            <a:xfrm>
              <a:off x="970831" y="1985990"/>
              <a:ext cx="504825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软件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5" name="Text Box 226"/>
            <p:cNvSpPr txBox="1">
              <a:spLocks noChangeArrowheads="1"/>
            </p:cNvSpPr>
            <p:nvPr/>
          </p:nvSpPr>
          <p:spPr bwMode="auto">
            <a:xfrm>
              <a:off x="1620515" y="1987576"/>
              <a:ext cx="2159000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汇编语言级机器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M3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6" name="Text Box 229"/>
            <p:cNvSpPr txBox="1">
              <a:spLocks noChangeArrowheads="1"/>
            </p:cNvSpPr>
            <p:nvPr/>
          </p:nvSpPr>
          <p:spPr bwMode="auto">
            <a:xfrm>
              <a:off x="1620515" y="1628800"/>
              <a:ext cx="2159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高级语言级机器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M4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7" name="Text Box 237"/>
            <p:cNvSpPr txBox="1">
              <a:spLocks noChangeArrowheads="1"/>
            </p:cNvSpPr>
            <p:nvPr/>
          </p:nvSpPr>
          <p:spPr bwMode="auto">
            <a:xfrm>
              <a:off x="1620515" y="2352697"/>
              <a:ext cx="2159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操作系统级机器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M2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8" name="Line 249"/>
            <p:cNvSpPr>
              <a:spLocks noChangeShapeType="1"/>
            </p:cNvSpPr>
            <p:nvPr/>
          </p:nvSpPr>
          <p:spPr bwMode="auto">
            <a:xfrm>
              <a:off x="2700015" y="2852936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AutoShape 248"/>
            <p:cNvSpPr>
              <a:spLocks noChangeArrowheads="1"/>
            </p:cNvSpPr>
            <p:nvPr/>
          </p:nvSpPr>
          <p:spPr bwMode="auto">
            <a:xfrm>
              <a:off x="1403648" y="2708796"/>
              <a:ext cx="2593803" cy="144140"/>
            </a:xfrm>
            <a:prstGeom prst="parallelogram">
              <a:avLst>
                <a:gd name="adj" fmla="val 120619"/>
              </a:avLst>
            </a:prstGeom>
            <a:solidFill>
              <a:srgbClr val="FF99CC">
                <a:alpha val="7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0" name="Text Box 255"/>
            <p:cNvSpPr txBox="1">
              <a:spLocks noChangeArrowheads="1"/>
            </p:cNvSpPr>
            <p:nvPr/>
          </p:nvSpPr>
          <p:spPr bwMode="auto">
            <a:xfrm>
              <a:off x="538460" y="2492896"/>
              <a:ext cx="865188" cy="5762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软硬件交界面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1" name="Line 244"/>
            <p:cNvSpPr>
              <a:spLocks noChangeShapeType="1"/>
            </p:cNvSpPr>
            <p:nvPr/>
          </p:nvSpPr>
          <p:spPr bwMode="auto">
            <a:xfrm>
              <a:off x="2700015" y="2640034"/>
              <a:ext cx="0" cy="1409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246"/>
            <p:cNvSpPr>
              <a:spLocks noChangeShapeType="1"/>
            </p:cNvSpPr>
            <p:nvPr/>
          </p:nvSpPr>
          <p:spPr bwMode="auto">
            <a:xfrm flipH="1">
              <a:off x="2699172" y="3644875"/>
              <a:ext cx="620" cy="144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 Box 247"/>
            <p:cNvSpPr txBox="1">
              <a:spLocks noChangeArrowheads="1"/>
            </p:cNvSpPr>
            <p:nvPr/>
          </p:nvSpPr>
          <p:spPr bwMode="auto">
            <a:xfrm>
              <a:off x="1619672" y="3789040"/>
              <a:ext cx="2159000" cy="28892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物理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电路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级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机器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5" name="Oval 287"/>
          <p:cNvSpPr>
            <a:spLocks noChangeArrowheads="1"/>
          </p:cNvSpPr>
          <p:nvPr/>
        </p:nvSpPr>
        <p:spPr bwMode="auto">
          <a:xfrm>
            <a:off x="4377920" y="6012000"/>
            <a:ext cx="1584000" cy="360000"/>
          </a:xfrm>
          <a:prstGeom prst="ellipse">
            <a:avLst/>
          </a:prstGeom>
          <a:solidFill>
            <a:srgbClr val="CCFFFF"/>
          </a:solidFill>
          <a:ln w="15875">
            <a:solidFill>
              <a:srgbClr val="FF3399"/>
            </a:solidFill>
            <a:prstDash val="sysDash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AB9F-9786-4D27-8482-651DB90E2F0F}" type="slidenum">
              <a:rPr lang="en-US" altLang="zh-CN"/>
            </a:fld>
            <a:endParaRPr lang="en-US" altLang="zh-CN"/>
          </a:p>
        </p:txBody>
      </p:sp>
      <p:sp>
        <p:nvSpPr>
          <p:cNvPr id="157881" name="Text Box 185"/>
          <p:cNvSpPr txBox="1">
            <a:spLocks noChangeArrowheads="1"/>
          </p:cNvSpPr>
          <p:nvPr/>
        </p:nvSpPr>
        <p:spPr bwMode="auto">
          <a:xfrm>
            <a:off x="179263" y="420053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三、计算机结构与组成</a:t>
            </a:r>
            <a:endParaRPr lang="zh-CN" altLang="en-US" sz="2400" dirty="0"/>
          </a:p>
        </p:txBody>
      </p:sp>
      <p:sp>
        <p:nvSpPr>
          <p:cNvPr id="157949" name="AutoShape 253"/>
          <p:cNvSpPr/>
          <p:nvPr/>
        </p:nvSpPr>
        <p:spPr bwMode="auto">
          <a:xfrm rot="10800000">
            <a:off x="3491881" y="2978388"/>
            <a:ext cx="108000" cy="576000"/>
          </a:xfrm>
          <a:prstGeom prst="leftBrace">
            <a:avLst>
              <a:gd name="adj1" fmla="val 46204"/>
              <a:gd name="adj2" fmla="val 52903"/>
            </a:avLst>
          </a:prstGeom>
          <a:noFill/>
          <a:ln w="15875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7977" name="Group 281"/>
          <p:cNvGrpSpPr/>
          <p:nvPr/>
        </p:nvGrpSpPr>
        <p:grpSpPr bwMode="auto">
          <a:xfrm>
            <a:off x="3619325" y="2996952"/>
            <a:ext cx="4337051" cy="574675"/>
            <a:chOff x="2938" y="2524"/>
            <a:chExt cx="2732" cy="362"/>
          </a:xfrm>
        </p:grpSpPr>
        <p:sp>
          <p:nvSpPr>
            <p:cNvPr id="157958" name="Line 262"/>
            <p:cNvSpPr>
              <a:spLocks noChangeShapeType="1"/>
            </p:cNvSpPr>
            <p:nvPr/>
          </p:nvSpPr>
          <p:spPr bwMode="auto">
            <a:xfrm flipH="1" flipV="1">
              <a:off x="2938" y="2694"/>
              <a:ext cx="327" cy="11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959" name="Rectangle 263"/>
            <p:cNvSpPr>
              <a:spLocks noChangeArrowheads="1"/>
            </p:cNvSpPr>
            <p:nvPr/>
          </p:nvSpPr>
          <p:spPr bwMode="auto">
            <a:xfrm>
              <a:off x="3379" y="2524"/>
              <a:ext cx="2291" cy="36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</a:rPr>
                <a:t>功能部件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组织</a:t>
              </a:r>
              <a:r>
                <a:rPr lang="zh-CN" altLang="en-US" sz="2000" b="1" dirty="0" smtClean="0">
                  <a:latin typeface="宋体" panose="02010600030101010101" pitchFamily="2" charset="-122"/>
                </a:rPr>
                <a:t>、数据通路设计、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控制机构、</a:t>
              </a:r>
              <a:r>
                <a:rPr lang="zh-CN" altLang="en-US" sz="2000" b="1" dirty="0" smtClean="0">
                  <a:latin typeface="宋体" panose="02010600030101010101" pitchFamily="2" charset="-122"/>
                </a:rPr>
                <a:t>排队及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缓冲机制等</a:t>
              </a: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157960" name="AutoShape 264"/>
            <p:cNvSpPr/>
            <p:nvPr/>
          </p:nvSpPr>
          <p:spPr bwMode="auto">
            <a:xfrm>
              <a:off x="3290" y="2554"/>
              <a:ext cx="49" cy="317"/>
            </a:xfrm>
            <a:prstGeom prst="leftBrace">
              <a:avLst>
                <a:gd name="adj1" fmla="val 49094"/>
                <a:gd name="adj2" fmla="val 47972"/>
              </a:avLst>
            </a:prstGeom>
            <a:noFill/>
            <a:ln w="15875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7969" name="Group 273"/>
          <p:cNvGrpSpPr/>
          <p:nvPr/>
        </p:nvGrpSpPr>
        <p:grpSpPr bwMode="auto">
          <a:xfrm>
            <a:off x="3347367" y="3645024"/>
            <a:ext cx="3744913" cy="287337"/>
            <a:chOff x="2744" y="3068"/>
            <a:chExt cx="2359" cy="181"/>
          </a:xfrm>
        </p:grpSpPr>
        <p:sp>
          <p:nvSpPr>
            <p:cNvPr id="157937" name="Text Box 241"/>
            <p:cNvSpPr txBox="1">
              <a:spLocks noChangeArrowheads="1"/>
            </p:cNvSpPr>
            <p:nvPr/>
          </p:nvSpPr>
          <p:spPr bwMode="auto">
            <a:xfrm>
              <a:off x="3379" y="3068"/>
              <a:ext cx="1724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2000" b="1" dirty="0">
                  <a:latin typeface="宋体" panose="02010600030101010101" pitchFamily="2" charset="-122"/>
                </a:rPr>
                <a:t>器件技术、组装技术等</a:t>
              </a: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157961" name="Line 265"/>
            <p:cNvSpPr>
              <a:spLocks noChangeShapeType="1"/>
            </p:cNvSpPr>
            <p:nvPr/>
          </p:nvSpPr>
          <p:spPr bwMode="auto">
            <a:xfrm flipH="1" flipV="1">
              <a:off x="2744" y="3178"/>
              <a:ext cx="499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57962" name="AutoShape 266"/>
            <p:cNvSpPr/>
            <p:nvPr/>
          </p:nvSpPr>
          <p:spPr bwMode="auto">
            <a:xfrm>
              <a:off x="3278" y="3113"/>
              <a:ext cx="46" cy="136"/>
            </a:xfrm>
            <a:prstGeom prst="leftBrace">
              <a:avLst>
                <a:gd name="adj1" fmla="val 24638"/>
                <a:gd name="adj2" fmla="val 48924"/>
              </a:avLst>
            </a:prstGeom>
            <a:noFill/>
            <a:ln w="15875">
              <a:solidFill>
                <a:srgbClr val="CC3300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grpSp>
        <p:nvGrpSpPr>
          <p:cNvPr id="157984" name="Group 288"/>
          <p:cNvGrpSpPr/>
          <p:nvPr/>
        </p:nvGrpSpPr>
        <p:grpSpPr bwMode="auto">
          <a:xfrm>
            <a:off x="3491878" y="2276872"/>
            <a:ext cx="5114927" cy="652462"/>
            <a:chOff x="2878" y="2024"/>
            <a:chExt cx="3222" cy="411"/>
          </a:xfrm>
        </p:grpSpPr>
        <p:sp>
          <p:nvSpPr>
            <p:cNvPr id="157986" name="Rectangle 290"/>
            <p:cNvSpPr>
              <a:spLocks noChangeArrowheads="1"/>
            </p:cNvSpPr>
            <p:nvPr/>
          </p:nvSpPr>
          <p:spPr bwMode="auto">
            <a:xfrm>
              <a:off x="3379" y="2024"/>
              <a:ext cx="2721" cy="411"/>
            </a:xfrm>
            <a:prstGeom prst="rect">
              <a:avLst/>
            </a:prstGeom>
            <a:noFill/>
            <a:ln w="12700">
              <a:solidFill>
                <a:srgbClr val="FF3399"/>
              </a:solidFill>
              <a:prstDash val="dash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2000" b="1" u="sng" dirty="0" smtClean="0">
                  <a:latin typeface="宋体" panose="02010600030101010101" pitchFamily="2" charset="-122"/>
                </a:rPr>
                <a:t>包含</a:t>
              </a:r>
              <a:r>
                <a:rPr lang="zh-CN" altLang="en-US" sz="2000" b="1" dirty="0" smtClean="0">
                  <a:latin typeface="宋体" panose="02010600030101010101" pitchFamily="2" charset="-122"/>
                </a:rPr>
                <a:t>数据表示、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寻址方式、</a:t>
              </a:r>
              <a:r>
                <a:rPr lang="zh-CN" altLang="en-US" sz="2000" b="1" dirty="0" smtClean="0">
                  <a:latin typeface="宋体" panose="02010600030101010101" pitchFamily="2" charset="-122"/>
                </a:rPr>
                <a:t>指令集</a:t>
              </a:r>
              <a:r>
                <a:rPr lang="en-US" altLang="zh-CN" sz="2000" b="1" dirty="0" smtClean="0">
                  <a:latin typeface="宋体" panose="02010600030101010101" pitchFamily="2" charset="-122"/>
                </a:rPr>
                <a:t>,</a:t>
              </a:r>
              <a:endParaRPr lang="en-US" altLang="zh-CN" sz="2000" b="1" dirty="0" smtClean="0">
                <a:latin typeface="宋体" panose="02010600030101010101" pitchFamily="2" charset="-122"/>
              </a:endParaRPr>
            </a:p>
            <a:p>
              <a:r>
                <a:rPr lang="zh-CN" altLang="en-US" sz="2000" b="1" u="sng" dirty="0" smtClean="0">
                  <a:latin typeface="宋体" panose="02010600030101010101" pitchFamily="2" charset="-122"/>
                </a:rPr>
                <a:t>涉及</a:t>
              </a:r>
              <a:r>
                <a:rPr lang="zh-CN" altLang="en-US" sz="2000" b="1" dirty="0" smtClean="0">
                  <a:latin typeface="宋体" panose="02010600030101010101" pitchFamily="2" charset="-122"/>
                </a:rPr>
                <a:t>存储系统、</a:t>
              </a:r>
              <a:r>
                <a:rPr lang="en-US" altLang="zh-CN" sz="20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2000" b="1" dirty="0" smtClean="0">
                  <a:latin typeface="宋体" panose="02010600030101010101" pitchFamily="2" charset="-122"/>
                </a:rPr>
                <a:t>系统、信息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保护等</a:t>
              </a: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157987" name="AutoShape 291"/>
            <p:cNvSpPr/>
            <p:nvPr/>
          </p:nvSpPr>
          <p:spPr bwMode="auto">
            <a:xfrm>
              <a:off x="3285" y="2026"/>
              <a:ext cx="49" cy="406"/>
            </a:xfrm>
            <a:prstGeom prst="leftBrace">
              <a:avLst>
                <a:gd name="adj1" fmla="val 49275"/>
                <a:gd name="adj2" fmla="val 50000"/>
              </a:avLst>
            </a:prstGeom>
            <a:noFill/>
            <a:ln w="15875">
              <a:solidFill>
                <a:srgbClr val="FF3399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985" name="Line 289"/>
            <p:cNvSpPr>
              <a:spLocks noChangeShapeType="1"/>
            </p:cNvSpPr>
            <p:nvPr/>
          </p:nvSpPr>
          <p:spPr bwMode="auto">
            <a:xfrm flipH="1">
              <a:off x="2878" y="2229"/>
              <a:ext cx="408" cy="6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" name="Text Box 4"/>
          <p:cNvSpPr txBox="1">
            <a:spLocks noChangeArrowheads="1"/>
          </p:cNvSpPr>
          <p:nvPr/>
        </p:nvSpPr>
        <p:spPr bwMode="auto">
          <a:xfrm>
            <a:off x="2123728" y="5877272"/>
            <a:ext cx="6696744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硬件的功能设计→逻辑实现→物理实现 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65" name="Text Box 242"/>
          <p:cNvSpPr txBox="1">
            <a:spLocks noChangeArrowheads="1"/>
          </p:cNvSpPr>
          <p:nvPr/>
        </p:nvSpPr>
        <p:spPr bwMode="auto">
          <a:xfrm>
            <a:off x="3635896" y="908720"/>
            <a:ext cx="5040809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sng" dirty="0" smtClean="0">
                <a:latin typeface="宋体" panose="02010600030101010101" pitchFamily="2" charset="-122"/>
              </a:rPr>
              <a:t>机器语言程序员</a:t>
            </a:r>
            <a:r>
              <a:rPr lang="zh-CN" altLang="en-US" b="1" dirty="0" smtClean="0">
                <a:latin typeface="宋体" panose="02010600030101010101" pitchFamily="2" charset="-122"/>
              </a:rPr>
              <a:t>看到</a:t>
            </a:r>
            <a:r>
              <a:rPr lang="zh-CN" altLang="en-US" b="1" dirty="0">
                <a:latin typeface="宋体" panose="02010600030101010101" pitchFamily="2" charset="-122"/>
              </a:rPr>
              <a:t>的</a:t>
            </a:r>
            <a:r>
              <a:rPr lang="zh-CN" altLang="en-US" b="1" u="sng" dirty="0">
                <a:latin typeface="宋体" panose="02010600030101010101" pitchFamily="2" charset="-122"/>
              </a:rPr>
              <a:t>计算机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属性</a:t>
            </a:r>
            <a:r>
              <a:rPr lang="zh-CN" altLang="en-US" b="1" dirty="0" smtClean="0">
                <a:latin typeface="宋体" panose="02010600030101010101" pitchFamily="2" charset="-122"/>
              </a:rPr>
              <a:t>，包括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硬件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概念性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结构</a:t>
            </a:r>
            <a:r>
              <a:rPr lang="zh-CN" altLang="en-US" b="1" dirty="0">
                <a:latin typeface="宋体" panose="02010600030101010101" pitchFamily="2" charset="-122"/>
              </a:rPr>
              <a:t>和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功能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特性</a:t>
            </a:r>
            <a:endParaRPr lang="en-US" altLang="zh-CN" b="1" u="sng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66" name="Text Box 256"/>
          <p:cNvSpPr txBox="1">
            <a:spLocks noChangeArrowheads="1"/>
          </p:cNvSpPr>
          <p:nvPr/>
        </p:nvSpPr>
        <p:spPr bwMode="auto">
          <a:xfrm>
            <a:off x="3635896" y="4069521"/>
            <a:ext cx="4968552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sng" dirty="0" smtClean="0">
                <a:latin typeface="宋体" panose="02010600030101010101" pitchFamily="2" charset="-122"/>
              </a:rPr>
              <a:t>硬件设计人员</a:t>
            </a:r>
            <a:r>
              <a:rPr lang="zh-CN" altLang="en-US" b="1" dirty="0" smtClean="0">
                <a:latin typeface="宋体" panose="02010600030101010101" pitchFamily="2" charset="-122"/>
              </a:rPr>
              <a:t>看到的</a:t>
            </a:r>
            <a:r>
              <a:rPr lang="zh-CN" altLang="en-US" b="1" u="sng" dirty="0">
                <a:latin typeface="宋体" panose="02010600030101010101" pitchFamily="2" charset="-122"/>
              </a:rPr>
              <a:t>计算机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属性</a:t>
            </a:r>
            <a:r>
              <a:rPr lang="zh-CN" altLang="en-US" b="1" dirty="0" smtClean="0">
                <a:latin typeface="宋体" panose="02010600030101010101" pitchFamily="2" charset="-122"/>
              </a:rPr>
              <a:t>，是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计算机结构</a:t>
            </a:r>
            <a:r>
              <a:rPr lang="zh-CN" altLang="en-US" b="1" dirty="0">
                <a:latin typeface="宋体" panose="02010600030101010101" pitchFamily="2" charset="-122"/>
              </a:rPr>
              <a:t>的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逻辑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endParaRPr lang="en-US" altLang="zh-CN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67" name="Text Box 256"/>
          <p:cNvSpPr txBox="1">
            <a:spLocks noChangeArrowheads="1"/>
          </p:cNvSpPr>
          <p:nvPr/>
        </p:nvSpPr>
        <p:spPr bwMode="auto">
          <a:xfrm>
            <a:off x="3851920" y="5005625"/>
            <a:ext cx="4788024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sng" dirty="0" smtClean="0">
                <a:latin typeface="宋体" panose="02010600030101010101" pitchFamily="2" charset="-122"/>
              </a:rPr>
              <a:t>硬件制造人员</a:t>
            </a:r>
            <a:r>
              <a:rPr lang="zh-CN" altLang="en-US" b="1" dirty="0" smtClean="0">
                <a:latin typeface="宋体" panose="02010600030101010101" pitchFamily="2" charset="-122"/>
              </a:rPr>
              <a:t>看到的</a:t>
            </a:r>
            <a:r>
              <a:rPr lang="zh-CN" altLang="en-US" b="1" u="sng" dirty="0">
                <a:latin typeface="宋体" panose="02010600030101010101" pitchFamily="2" charset="-122"/>
              </a:rPr>
              <a:t>计算机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属性</a:t>
            </a:r>
            <a:r>
              <a:rPr lang="zh-CN" altLang="en-US" b="1" dirty="0" smtClean="0">
                <a:latin typeface="宋体" panose="02010600030101010101" pitchFamily="2" charset="-122"/>
              </a:rPr>
              <a:t>，是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计算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机组成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物理实现</a:t>
            </a:r>
            <a:endParaRPr lang="en-US" altLang="zh-CN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20393" y="1413232"/>
            <a:ext cx="5472087" cy="866815"/>
            <a:chOff x="3348385" y="1412016"/>
            <a:chExt cx="5472087" cy="866815"/>
          </a:xfrm>
        </p:grpSpPr>
        <p:sp>
          <p:nvSpPr>
            <p:cNvPr id="157981" name="Text Box 285"/>
            <p:cNvSpPr txBox="1">
              <a:spLocks noChangeArrowheads="1"/>
            </p:cNvSpPr>
            <p:nvPr/>
          </p:nvSpPr>
          <p:spPr bwMode="auto">
            <a:xfrm>
              <a:off x="4932040" y="1916832"/>
              <a:ext cx="3888432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又称为</a:t>
              </a: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ISA</a:t>
              </a:r>
              <a:r>
                <a:rPr lang="en-US" altLang="zh-CN" sz="1800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800" dirty="0" smtClean="0">
                  <a:latin typeface="+mn-lt"/>
                </a:rPr>
                <a:t>Instruction </a:t>
              </a:r>
              <a:r>
                <a:rPr lang="en-US" altLang="zh-CN" sz="1800" dirty="0">
                  <a:latin typeface="+mn-lt"/>
                </a:rPr>
                <a:t>Set Architecture</a:t>
              </a:r>
              <a:r>
                <a:rPr lang="en-US" altLang="zh-CN" sz="1800" dirty="0">
                  <a:latin typeface="宋体" panose="02010600030101010101" pitchFamily="2" charset="-122"/>
                </a:rPr>
                <a:t>)</a:t>
              </a:r>
              <a:endParaRPr lang="en-US" altLang="zh-CN" sz="1800" dirty="0">
                <a:latin typeface="宋体" panose="02010600030101010101" pitchFamily="2" charset="-122"/>
              </a:endParaRPr>
            </a:p>
          </p:txBody>
        </p:sp>
        <p:sp>
          <p:nvSpPr>
            <p:cNvPr id="157982" name="Line 286"/>
            <p:cNvSpPr>
              <a:spLocks noChangeShapeType="1"/>
            </p:cNvSpPr>
            <p:nvPr/>
          </p:nvSpPr>
          <p:spPr bwMode="auto">
            <a:xfrm>
              <a:off x="4067944" y="2056758"/>
              <a:ext cx="864096" cy="4535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prstDash val="solid"/>
              <a:round/>
              <a:tailEnd type="triangle" w="lg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286"/>
            <p:cNvSpPr>
              <a:spLocks noChangeShapeType="1"/>
            </p:cNvSpPr>
            <p:nvPr/>
          </p:nvSpPr>
          <p:spPr bwMode="auto">
            <a:xfrm>
              <a:off x="3348385" y="1412016"/>
              <a:ext cx="719560" cy="644742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prstDash val="solid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286"/>
            <p:cNvSpPr>
              <a:spLocks noChangeShapeType="1"/>
            </p:cNvSpPr>
            <p:nvPr/>
          </p:nvSpPr>
          <p:spPr bwMode="auto">
            <a:xfrm flipV="1">
              <a:off x="4499992" y="2068879"/>
              <a:ext cx="93952" cy="20995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dash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57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15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57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7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157949" grpId="0" animBg="1"/>
      <p:bldP spid="64" grpId="0"/>
      <p:bldP spid="65" grpId="0"/>
      <p:bldP spid="66" grpId="0"/>
      <p:bldP spid="6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07504" y="2276872"/>
            <a:ext cx="8856984" cy="41980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*程序的执行顺序：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指令地址的表示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         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指令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需从</a:t>
            </a:r>
            <a:r>
              <a:rPr lang="en-US" altLang="zh-CN" sz="1800" b="1" dirty="0">
                <a:latin typeface="宋体" panose="02010600030101010101" pitchFamily="2" charset="-122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</a:rPr>
              <a:t>中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取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执行顺序的表示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   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←指令需串行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执行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spcBef>
                <a:spcPts val="0"/>
              </a:spcBef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下条指令地址的形成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776808" y="285728"/>
            <a:ext cx="746760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3000" b="1" dirty="0">
                <a:latin typeface="宋体" panose="02010600030101010101" pitchFamily="2" charset="-122"/>
              </a:rPr>
              <a:t>§</a:t>
            </a:r>
            <a:r>
              <a:rPr lang="en-US" altLang="zh-CN" sz="3000" b="1" dirty="0" smtClean="0">
                <a:latin typeface="宋体" panose="02010600030101010101" pitchFamily="2" charset="-122"/>
              </a:rPr>
              <a:t>1.4 </a:t>
            </a:r>
            <a:r>
              <a:rPr lang="zh-CN" altLang="en-US" sz="3000" b="1" dirty="0" smtClean="0">
                <a:latin typeface="宋体" panose="02010600030101010101" pitchFamily="2" charset="-122"/>
              </a:rPr>
              <a:t>计算机的工作过程</a:t>
            </a:r>
            <a:endParaRPr lang="zh-CN" altLang="en-US" sz="3000" b="1" dirty="0">
              <a:latin typeface="宋体" panose="02010600030101010101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9263" y="1383159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一</a:t>
            </a:r>
            <a:r>
              <a:rPr lang="zh-CN" altLang="en-US" sz="2400" dirty="0" smtClean="0"/>
              <a:t>、工作</a:t>
            </a:r>
            <a:r>
              <a:rPr lang="zh-CN" altLang="en-US" sz="2400" dirty="0"/>
              <a:t>方式</a:t>
            </a:r>
            <a:r>
              <a:rPr lang="zh-CN" altLang="en-US" sz="2400" dirty="0" smtClean="0"/>
              <a:t>的实现方案</a:t>
            </a:r>
            <a:endParaRPr lang="zh-CN" altLang="en-US" sz="2400" dirty="0"/>
          </a:p>
        </p:txBody>
      </p:sp>
      <p:sp>
        <p:nvSpPr>
          <p:cNvPr id="12" name="AutoShape 17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3851920" y="5949280"/>
            <a:ext cx="5256584" cy="4298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 err="1" smtClean="0">
                <a:latin typeface="宋体" panose="02010600030101010101" pitchFamily="2" charset="-122"/>
              </a:rPr>
              <a:t>NextPC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(PC)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＋</a:t>
            </a:r>
            <a:r>
              <a:rPr lang="zh-CN" altLang="en-US" sz="22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b="1" baseline="-25000" dirty="0" smtClean="0">
                <a:latin typeface="+mn-ea"/>
                <a:ea typeface="+mn-ea"/>
                <a:cs typeface="Arial Unicode MS" panose="020B0604020202020204" charset="-122"/>
              </a:rPr>
              <a:t>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或</a:t>
            </a:r>
            <a:r>
              <a:rPr lang="zh-CN" altLang="en-US" sz="2200" b="1" baseline="-25000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zh-CN" altLang="en-US" sz="2200" b="1" dirty="0">
                <a:latin typeface="宋体" panose="02010600030101010101" pitchFamily="2" charset="-122"/>
              </a:rPr>
              <a:t>对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(IR)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操作结果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15" name="Text Box 526"/>
          <p:cNvSpPr txBox="1">
            <a:spLocks noChangeArrowheads="1"/>
          </p:cNvSpPr>
          <p:nvPr/>
        </p:nvSpPr>
        <p:spPr bwMode="auto">
          <a:xfrm>
            <a:off x="179512" y="909881"/>
            <a:ext cx="8785225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200" b="1" dirty="0" smtClean="0">
                <a:latin typeface="+mn-ea"/>
                <a:ea typeface="+mn-ea"/>
              </a:rPr>
              <a:t>工作方式的实现方案，程序执行的过程</a:t>
            </a:r>
            <a:r>
              <a:rPr lang="en-US" altLang="zh-CN" sz="2000" b="1" dirty="0" smtClean="0">
                <a:latin typeface="+mn-ea"/>
                <a:ea typeface="+mn-ea"/>
              </a:rPr>
              <a:t>(</a:t>
            </a:r>
            <a:r>
              <a:rPr lang="zh-CN" altLang="en-US" sz="2000" b="1" dirty="0" smtClean="0">
                <a:latin typeface="+mn-ea"/>
                <a:ea typeface="+mn-ea"/>
              </a:rPr>
              <a:t>准备</a:t>
            </a:r>
            <a:r>
              <a:rPr lang="en-US" altLang="zh-CN" sz="2000" b="1" dirty="0" smtClean="0">
                <a:latin typeface="+mn-ea"/>
                <a:ea typeface="+mn-ea"/>
              </a:rPr>
              <a:t>/</a:t>
            </a:r>
            <a:r>
              <a:rPr lang="zh-CN" altLang="en-US" sz="2000" b="1" dirty="0" smtClean="0">
                <a:latin typeface="+mn-ea"/>
                <a:ea typeface="+mn-ea"/>
              </a:rPr>
              <a:t>执行</a:t>
            </a:r>
            <a:r>
              <a:rPr lang="en-US" altLang="zh-CN" sz="2000" b="1" dirty="0" smtClean="0">
                <a:latin typeface="+mn-ea"/>
                <a:ea typeface="+mn-ea"/>
              </a:rPr>
              <a:t>)</a:t>
            </a:r>
            <a:endParaRPr lang="en-US" altLang="zh-CN" sz="2200" b="1" u="none" dirty="0" smtClean="0">
              <a:latin typeface="+mn-ea"/>
              <a:ea typeface="+mn-ea"/>
            </a:endParaRP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971600" y="1916832"/>
            <a:ext cx="4032000" cy="360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990600" indent="-990600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存储程序工作方式的主要思想？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33" name="Text Box 4"/>
          <p:cNvSpPr txBox="1">
            <a:spLocks noChangeArrowheads="1"/>
          </p:cNvSpPr>
          <p:nvPr/>
        </p:nvSpPr>
        <p:spPr bwMode="auto">
          <a:xfrm>
            <a:off x="3275359" y="2708920"/>
            <a:ext cx="5617121" cy="15973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使用</a:t>
            </a:r>
            <a:r>
              <a:rPr lang="en-US" altLang="zh-CN" b="1" u="sng" dirty="0" smtClean="0">
                <a:latin typeface="宋体" panose="02010600030101010101" pitchFamily="2" charset="-122"/>
              </a:rPr>
              <a:t>MEM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地址</a:t>
            </a:r>
            <a:r>
              <a:rPr lang="zh-CN" altLang="en-US" b="1" dirty="0" smtClean="0">
                <a:latin typeface="宋体" panose="02010600030101010101" pitchFamily="2" charset="-122"/>
              </a:rPr>
              <a:t>           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编程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时</a:t>
            </a:r>
            <a:r>
              <a:rPr lang="zh-CN" altLang="en-US" sz="1800" b="1" dirty="0">
                <a:latin typeface="宋体" panose="02010600030101010101" pitchFamily="2" charset="-122"/>
              </a:rPr>
              <a:t>为</a:t>
            </a:r>
            <a:r>
              <a:rPr lang="zh-CN" altLang="en-US" sz="1800" b="1" u="sng" dirty="0">
                <a:latin typeface="宋体" panose="02010600030101010101" pitchFamily="2" charset="-122"/>
              </a:rPr>
              <a:t>逻辑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地址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时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换为</a:t>
            </a:r>
            <a:r>
              <a:rPr lang="zh-CN" altLang="en-US" sz="1800" b="1" u="sng" dirty="0">
                <a:latin typeface="宋体" panose="02010600030101010101" pitchFamily="2" charset="-122"/>
              </a:rPr>
              <a:t>物理地址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使用</a:t>
            </a:r>
            <a:r>
              <a:rPr lang="zh-CN" altLang="en-US" b="1" u="sng" dirty="0">
                <a:latin typeface="宋体" panose="02010600030101010101" pitchFamily="2" charset="-122"/>
              </a:rPr>
              <a:t>下条指令地址</a:t>
            </a:r>
            <a:r>
              <a:rPr lang="zh-CN" altLang="en-US" b="1" dirty="0" smtClean="0">
                <a:latin typeface="宋体" panose="02010600030101010101" pitchFamily="2" charset="-122"/>
              </a:rPr>
              <a:t>序列  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基于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逻辑地址形成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2" name="AutoShape 338"/>
          <p:cNvSpPr/>
          <p:nvPr/>
        </p:nvSpPr>
        <p:spPr bwMode="auto">
          <a:xfrm>
            <a:off x="6732000" y="2564904"/>
            <a:ext cx="1368000" cy="252000"/>
          </a:xfrm>
          <a:prstGeom prst="borderCallout2">
            <a:avLst>
              <a:gd name="adj1" fmla="val 49527"/>
              <a:gd name="adj2" fmla="val 100451"/>
              <a:gd name="adj3" fmla="val 50689"/>
              <a:gd name="adj4" fmla="val 115158"/>
              <a:gd name="adj5" fmla="val 137646"/>
              <a:gd name="adj6" fmla="val 134529"/>
            </a:avLst>
          </a:prstGeom>
          <a:noFill/>
          <a:ln w="12700">
            <a:solidFill>
              <a:srgbClr val="0070C0"/>
            </a:solidFill>
            <a:prstDash val="sysDot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基于指令地址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aphicFrame>
        <p:nvGraphicFramePr>
          <p:cNvPr id="24" name="Group 452"/>
          <p:cNvGraphicFramePr>
            <a:graphicFrameLocks noGrp="1"/>
          </p:cNvGraphicFramePr>
          <p:nvPr/>
        </p:nvGraphicFramePr>
        <p:xfrm>
          <a:off x="1763688" y="4272734"/>
          <a:ext cx="6336704" cy="1676546"/>
        </p:xfrm>
        <a:graphic>
          <a:graphicData uri="http://schemas.openxmlformats.org/drawingml/2006/table">
            <a:tbl>
              <a:tblPr/>
              <a:tblGrid>
                <a:gridCol w="1008112"/>
                <a:gridCol w="1872208"/>
                <a:gridCol w="3456384"/>
              </a:tblGrid>
              <a:tr h="58099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指令地址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指令内容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暂用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语言描述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执行顺序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4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LP: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nSum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+=6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；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18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if (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nCnt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&lt;3)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4572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goto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LP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；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18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COUT&gt;&gt;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nSum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；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18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" name="Text Box 311"/>
          <p:cNvSpPr txBox="1">
            <a:spLocks noChangeArrowheads="1"/>
          </p:cNvSpPr>
          <p:nvPr/>
        </p:nvSpPr>
        <p:spPr bwMode="auto">
          <a:xfrm>
            <a:off x="2051720" y="4848798"/>
            <a:ext cx="504056" cy="1080120"/>
          </a:xfrm>
          <a:prstGeom prst="rect">
            <a:avLst/>
          </a:prstGeom>
          <a:solidFill>
            <a:srgbClr val="FFCC99">
              <a:alpha val="80000"/>
            </a:srgbClr>
          </a:solidFill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800" b="1" i="1" dirty="0" smtClean="0">
                <a:latin typeface="+mn-lt"/>
              </a:rPr>
              <a:t>x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+0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</a:pPr>
            <a:r>
              <a:rPr lang="en-US" altLang="zh-CN" sz="1800" b="1" i="1" dirty="0"/>
              <a:t>x</a:t>
            </a:r>
            <a:r>
              <a:rPr lang="en-US" altLang="zh-CN" sz="1800" b="1" dirty="0">
                <a:latin typeface="宋体" panose="02010600030101010101" pitchFamily="2" charset="-122"/>
              </a:rPr>
              <a:t>+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1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</a:pPr>
            <a:endParaRPr lang="en-US" altLang="zh-CN" sz="18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</a:pPr>
            <a:r>
              <a:rPr lang="en-US" altLang="zh-CN" sz="1800" b="1" i="1" dirty="0"/>
              <a:t>x</a:t>
            </a:r>
            <a:r>
              <a:rPr lang="en-US" altLang="zh-CN" sz="1800" b="1" dirty="0">
                <a:latin typeface="宋体" panose="02010600030101010101" pitchFamily="2" charset="-122"/>
              </a:rPr>
              <a:t>+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3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27" name="Text Box 311"/>
          <p:cNvSpPr txBox="1">
            <a:spLocks noChangeArrowheads="1"/>
          </p:cNvSpPr>
          <p:nvPr/>
        </p:nvSpPr>
        <p:spPr bwMode="auto">
          <a:xfrm>
            <a:off x="4716016" y="4848798"/>
            <a:ext cx="3384376" cy="1080120"/>
          </a:xfrm>
          <a:prstGeom prst="rect">
            <a:avLst/>
          </a:prstGeom>
          <a:solidFill>
            <a:srgbClr val="FFCCFF">
              <a:alpha val="80000"/>
            </a:srgbClr>
          </a:solidFill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lvl="0">
              <a:lnSpc>
                <a:spcPct val="90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＝</a:t>
            </a:r>
            <a:r>
              <a:rPr lang="zh-CN" altLang="en-US" sz="1800" b="1" dirty="0">
                <a:latin typeface="宋体" panose="02010600030101010101" pitchFamily="2" charset="-122"/>
              </a:rPr>
              <a:t>当前地址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+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，即  ＝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(PC)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+1</a:t>
            </a:r>
            <a:endParaRPr lang="en-US" altLang="zh-CN" sz="18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＝</a:t>
            </a:r>
            <a:r>
              <a:rPr lang="en-US" altLang="zh-CN" sz="1800" b="1" i="1" dirty="0" smtClean="0">
                <a:solidFill>
                  <a:schemeClr val="accent2"/>
                </a:solidFill>
              </a:rPr>
              <a:t>x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即  ＝</a:t>
            </a:r>
            <a:r>
              <a:rPr lang="en-US" altLang="zh-CN" sz="1800" b="1" i="1" dirty="0" smtClean="0">
                <a:solidFill>
                  <a:schemeClr val="accent2"/>
                </a:solidFill>
              </a:rPr>
              <a:t>x</a:t>
            </a: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或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当前</a:t>
            </a:r>
            <a:r>
              <a:rPr lang="zh-CN" altLang="en-US" sz="1800" b="1" dirty="0">
                <a:latin typeface="宋体" panose="02010600030101010101" pitchFamily="2" charset="-122"/>
              </a:rPr>
              <a:t>地址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+2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  或＝</a:t>
            </a:r>
            <a:r>
              <a:rPr lang="en-US" altLang="zh-CN" sz="1800" b="1" dirty="0">
                <a:latin typeface="宋体" panose="02010600030101010101" pitchFamily="2" charset="-122"/>
              </a:rPr>
              <a:t>(PC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+2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＝</a:t>
            </a:r>
            <a:r>
              <a:rPr lang="zh-CN" altLang="en-US" sz="1800" b="1" dirty="0">
                <a:latin typeface="宋体" panose="02010600030101010101" pitchFamily="2" charset="-122"/>
              </a:rPr>
              <a:t>当前地址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+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，即  ＝</a:t>
            </a:r>
            <a:r>
              <a:rPr lang="en-US" altLang="zh-CN" sz="1800" b="1" dirty="0">
                <a:latin typeface="宋体" panose="02010600030101010101" pitchFamily="2" charset="-122"/>
              </a:rPr>
              <a:t>(PC)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+1</a:t>
            </a:r>
            <a:endParaRPr lang="zh-CN" altLang="en-US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AutoShape 338"/>
          <p:cNvSpPr/>
          <p:nvPr/>
        </p:nvSpPr>
        <p:spPr bwMode="auto">
          <a:xfrm>
            <a:off x="539680" y="5373216"/>
            <a:ext cx="1152000" cy="504000"/>
          </a:xfrm>
          <a:prstGeom prst="borderCallout2">
            <a:avLst>
              <a:gd name="adj1" fmla="val 52831"/>
              <a:gd name="adj2" fmla="val 101598"/>
              <a:gd name="adj3" fmla="val 53674"/>
              <a:gd name="adj4" fmla="val 120927"/>
              <a:gd name="adj5" fmla="val 9487"/>
              <a:gd name="adj6" fmla="val 210064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6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假设该指令占</a:t>
            </a:r>
            <a:r>
              <a: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6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个单元</a:t>
            </a:r>
            <a:endParaRPr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9" name="Text Box 311"/>
          <p:cNvSpPr txBox="1">
            <a:spLocks noChangeArrowheads="1"/>
          </p:cNvSpPr>
          <p:nvPr/>
        </p:nvSpPr>
        <p:spPr bwMode="auto">
          <a:xfrm>
            <a:off x="5652288" y="4596798"/>
            <a:ext cx="1512000" cy="25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下条指令地址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30" name="Text Box 311"/>
          <p:cNvSpPr txBox="1">
            <a:spLocks noChangeArrowheads="1"/>
          </p:cNvSpPr>
          <p:nvPr/>
        </p:nvSpPr>
        <p:spPr bwMode="auto">
          <a:xfrm>
            <a:off x="1691800" y="4596798"/>
            <a:ext cx="1080000" cy="25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逻辑地址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bldLvl="0" animBg="1"/>
      <p:bldP spid="28" grpId="0" animBg="1"/>
      <p:bldP spid="22" grpId="0" bldLvl="0" animBg="1"/>
      <p:bldP spid="26" grpId="0" animBg="1"/>
      <p:bldP spid="27" grpId="0" animBg="1"/>
      <p:bldP spid="25" grpId="0" animBg="1"/>
      <p:bldP spid="29" grpId="0"/>
      <p:bldP spid="3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>
            <a:off x="2051720" y="4795950"/>
            <a:ext cx="5544616" cy="1513370"/>
            <a:chOff x="2195736" y="4365136"/>
            <a:chExt cx="5544616" cy="1513370"/>
          </a:xfrm>
        </p:grpSpPr>
        <p:sp>
          <p:nvSpPr>
            <p:cNvPr id="78" name="Text Box 354"/>
            <p:cNvSpPr txBox="1">
              <a:spLocks noChangeArrowheads="1"/>
            </p:cNvSpPr>
            <p:nvPr/>
          </p:nvSpPr>
          <p:spPr bwMode="auto">
            <a:xfrm>
              <a:off x="2195736" y="5590506"/>
              <a:ext cx="2376264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存储器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9" name="Text Box 354"/>
            <p:cNvSpPr txBox="1">
              <a:spLocks noChangeArrowheads="1"/>
            </p:cNvSpPr>
            <p:nvPr/>
          </p:nvSpPr>
          <p:spPr bwMode="auto">
            <a:xfrm>
              <a:off x="6232320" y="5589240"/>
              <a:ext cx="855966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0" name="Text Box 354"/>
            <p:cNvSpPr txBox="1">
              <a:spLocks noChangeArrowheads="1"/>
            </p:cNvSpPr>
            <p:nvPr/>
          </p:nvSpPr>
          <p:spPr bwMode="auto">
            <a:xfrm>
              <a:off x="7088286" y="5589240"/>
              <a:ext cx="648072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354"/>
            <p:cNvSpPr txBox="1">
              <a:spLocks noChangeArrowheads="1"/>
            </p:cNvSpPr>
            <p:nvPr/>
          </p:nvSpPr>
          <p:spPr bwMode="auto">
            <a:xfrm>
              <a:off x="6228184" y="5589240"/>
              <a:ext cx="1512168" cy="288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存储器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/REGs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2" name="Text Box 352"/>
            <p:cNvSpPr txBox="1">
              <a:spLocks noChangeArrowheads="1"/>
            </p:cNvSpPr>
            <p:nvPr/>
          </p:nvSpPr>
          <p:spPr bwMode="auto">
            <a:xfrm>
              <a:off x="2195736" y="4725208"/>
              <a:ext cx="1080120" cy="57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指令地址寄存器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3" name="Text Box 365"/>
            <p:cNvSpPr txBox="1">
              <a:spLocks noChangeArrowheads="1"/>
            </p:cNvSpPr>
            <p:nvPr/>
          </p:nvSpPr>
          <p:spPr bwMode="auto">
            <a:xfrm>
              <a:off x="3507839" y="4725208"/>
              <a:ext cx="1064161" cy="57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指令内容寄存器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4" name="Text Box 408"/>
            <p:cNvSpPr txBox="1">
              <a:spLocks noChangeArrowheads="1"/>
            </p:cNvSpPr>
            <p:nvPr/>
          </p:nvSpPr>
          <p:spPr bwMode="auto">
            <a:xfrm>
              <a:off x="4932040" y="4725143"/>
              <a:ext cx="792088" cy="86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指令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译码器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5" name="Text Box 439"/>
            <p:cNvSpPr txBox="1">
              <a:spLocks noChangeArrowheads="1"/>
            </p:cNvSpPr>
            <p:nvPr/>
          </p:nvSpPr>
          <p:spPr bwMode="auto">
            <a:xfrm>
              <a:off x="3670908" y="4365136"/>
              <a:ext cx="757076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/>
                <a:t>＋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en-US" altLang="zh-CN" sz="18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86" name="Text Box 460"/>
            <p:cNvSpPr txBox="1">
              <a:spLocks noChangeArrowheads="1"/>
            </p:cNvSpPr>
            <p:nvPr/>
          </p:nvSpPr>
          <p:spPr bwMode="auto">
            <a:xfrm>
              <a:off x="6300192" y="4365136"/>
              <a:ext cx="1440160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地址计算部件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7" name="Text Box 460"/>
            <p:cNvSpPr txBox="1">
              <a:spLocks noChangeArrowheads="1"/>
            </p:cNvSpPr>
            <p:nvPr/>
          </p:nvSpPr>
          <p:spPr bwMode="auto">
            <a:xfrm>
              <a:off x="6300192" y="4725176"/>
              <a:ext cx="1424483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功能部件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705" y="332740"/>
            <a:ext cx="8784000" cy="4422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*程序的执行机制： 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工作方式之程序执行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需求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2000" b="1" dirty="0" smtClean="0">
                <a:latin typeface="宋体" panose="02010600030101010101" pitchFamily="2" charset="-122"/>
              </a:rPr>
              <a:t>  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   指令例：            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R[2]</a:t>
            </a:r>
            <a:r>
              <a:rPr lang="zh-CN" altLang="en-US" sz="2000" b="1" dirty="0">
                <a:latin typeface="宋体" panose="02010600030101010101" pitchFamily="2" charset="-122"/>
              </a:rPr>
              <a:t>←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R[2]+3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隐含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:PC=</a:t>
            </a:r>
            <a:r>
              <a:rPr lang="en-US" altLang="zh-CN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PC+1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                           R[2]=0</a:t>
            </a:r>
            <a:r>
              <a:rPr lang="zh-CN" altLang="en-US" sz="2000" b="1" dirty="0">
                <a:latin typeface="宋体" panose="02010600030101010101" pitchFamily="2" charset="-122"/>
              </a:rPr>
              <a:t>时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PC=</a:t>
            </a:r>
            <a:r>
              <a:rPr lang="en-US" altLang="zh-CN" sz="20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48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隐含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: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不转移时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PC=</a:t>
            </a:r>
            <a:r>
              <a:rPr lang="en-US" altLang="zh-CN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PC+2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优化分析：</a:t>
            </a:r>
            <a:endParaRPr lang="en-US" altLang="zh-CN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方案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实现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 Box 309"/>
          <p:cNvSpPr txBox="1">
            <a:spLocks noChangeArrowheads="1"/>
          </p:cNvSpPr>
          <p:nvPr/>
        </p:nvSpPr>
        <p:spPr bwMode="auto">
          <a:xfrm>
            <a:off x="2664963" y="2197313"/>
            <a:ext cx="6227517" cy="938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sng" dirty="0" smtClean="0">
                <a:latin typeface="宋体" panose="02010600030101010101" pitchFamily="2" charset="-122"/>
              </a:rPr>
              <a:t>顺序型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指令的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NextPC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计算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与</a:t>
            </a:r>
            <a:r>
              <a:rPr lang="zh-CN" altLang="en-US" sz="1800" b="1" u="sng" dirty="0">
                <a:latin typeface="宋体" panose="02010600030101010101" pitchFamily="2" charset="-122"/>
              </a:rPr>
              <a:t>指令内容</a:t>
            </a:r>
            <a:r>
              <a:rPr lang="zh-CN" altLang="en-US" sz="1800" b="1" dirty="0">
                <a:latin typeface="宋体" panose="02010600030101010101" pitchFamily="2" charset="-122"/>
              </a:rPr>
              <a:t>无关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可提前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sng" dirty="0" smtClean="0">
                <a:latin typeface="宋体" panose="02010600030101010101" pitchFamily="2" charset="-122"/>
              </a:rPr>
              <a:t>转移型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指令的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NextPC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计算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与</a:t>
            </a:r>
            <a:r>
              <a:rPr lang="zh-CN" altLang="en-US" sz="1800" b="1" u="sng" dirty="0">
                <a:latin typeface="宋体" panose="02010600030101010101" pitchFamily="2" charset="-122"/>
              </a:rPr>
              <a:t>数据操作</a:t>
            </a:r>
            <a:r>
              <a:rPr lang="zh-CN" altLang="en-US" sz="1800" b="1" dirty="0">
                <a:latin typeface="宋体" panose="02010600030101010101" pitchFamily="2" charset="-122"/>
              </a:rPr>
              <a:t>无关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可提前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196296" y="3212976"/>
            <a:ext cx="5040000" cy="792000"/>
            <a:chOff x="2195735" y="3434700"/>
            <a:chExt cx="5040000" cy="792000"/>
          </a:xfrm>
        </p:grpSpPr>
        <p:sp>
          <p:nvSpPr>
            <p:cNvPr id="17" name="矩形 16"/>
            <p:cNvSpPr/>
            <p:nvPr/>
          </p:nvSpPr>
          <p:spPr bwMode="auto">
            <a:xfrm>
              <a:off x="2195735" y="3434700"/>
              <a:ext cx="5040000" cy="79200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Text Box 311"/>
            <p:cNvSpPr txBox="1">
              <a:spLocks noChangeArrowheads="1"/>
            </p:cNvSpPr>
            <p:nvPr/>
          </p:nvSpPr>
          <p:spPr bwMode="auto">
            <a:xfrm>
              <a:off x="2339751" y="3501008"/>
              <a:ext cx="1296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取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指令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314"/>
            <p:cNvSpPr txBox="1">
              <a:spLocks noChangeArrowheads="1"/>
            </p:cNvSpPr>
            <p:nvPr/>
          </p:nvSpPr>
          <p:spPr bwMode="auto">
            <a:xfrm>
              <a:off x="4067944" y="3501008"/>
              <a:ext cx="1080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分析指令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1" name="Text Box 316"/>
            <p:cNvSpPr txBox="1">
              <a:spLocks noChangeArrowheads="1"/>
            </p:cNvSpPr>
            <p:nvPr/>
          </p:nvSpPr>
          <p:spPr bwMode="auto">
            <a:xfrm>
              <a:off x="5508104" y="3501008"/>
              <a:ext cx="1656000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执行指令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2" name="直接箭头连接符 21"/>
            <p:cNvCxnSpPr>
              <a:stCxn id="19" idx="3"/>
              <a:endCxn id="20" idx="1"/>
            </p:cNvCxnSpPr>
            <p:nvPr/>
          </p:nvCxnSpPr>
          <p:spPr bwMode="auto">
            <a:xfrm>
              <a:off x="3635751" y="3645008"/>
              <a:ext cx="432193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" name="直接箭头连接符 22"/>
            <p:cNvCxnSpPr>
              <a:stCxn id="20" idx="3"/>
              <a:endCxn id="21" idx="1"/>
            </p:cNvCxnSpPr>
            <p:nvPr/>
          </p:nvCxnSpPr>
          <p:spPr bwMode="auto">
            <a:xfrm>
              <a:off x="5147944" y="3645008"/>
              <a:ext cx="36016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" name="Text Box 316"/>
            <p:cNvSpPr txBox="1">
              <a:spLocks noChangeArrowheads="1"/>
            </p:cNvSpPr>
            <p:nvPr/>
          </p:nvSpPr>
          <p:spPr bwMode="auto">
            <a:xfrm>
              <a:off x="2951844" y="3866748"/>
              <a:ext cx="2196000" cy="28800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(PC)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＋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zh-CN" altLang="en-US" sz="1800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cxnSp>
          <p:nvCxnSpPr>
            <p:cNvPr id="25" name="直接箭头连接符 27"/>
            <p:cNvCxnSpPr>
              <a:stCxn id="21" idx="3"/>
              <a:endCxn id="19" idx="1"/>
            </p:cNvCxnSpPr>
            <p:nvPr/>
          </p:nvCxnSpPr>
          <p:spPr bwMode="auto">
            <a:xfrm flipH="1">
              <a:off x="2339751" y="3645008"/>
              <a:ext cx="4824353" cy="12700"/>
            </a:xfrm>
            <a:prstGeom prst="bentConnector5">
              <a:avLst>
                <a:gd name="adj1" fmla="val -4738"/>
                <a:gd name="adj2" fmla="val -2123283"/>
                <a:gd name="adj3" fmla="val 104738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Text Box 316"/>
            <p:cNvSpPr txBox="1">
              <a:spLocks noChangeArrowheads="1"/>
            </p:cNvSpPr>
            <p:nvPr/>
          </p:nvSpPr>
          <p:spPr bwMode="auto">
            <a:xfrm>
              <a:off x="5508288" y="3866748"/>
              <a:ext cx="1656000" cy="28800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←计算结果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cxnSp>
        <p:nvCxnSpPr>
          <p:cNvPr id="53" name="直接箭头连接符 52"/>
          <p:cNvCxnSpPr/>
          <p:nvPr/>
        </p:nvCxnSpPr>
        <p:spPr bwMode="auto">
          <a:xfrm flipV="1">
            <a:off x="3923928" y="5732054"/>
            <a:ext cx="0" cy="288000"/>
          </a:xfrm>
          <a:prstGeom prst="straightConnector1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直接箭头连接符 53"/>
          <p:cNvCxnSpPr/>
          <p:nvPr/>
        </p:nvCxnSpPr>
        <p:spPr bwMode="auto">
          <a:xfrm>
            <a:off x="2627780" y="5732054"/>
            <a:ext cx="4" cy="288000"/>
          </a:xfrm>
          <a:prstGeom prst="straightConnector1">
            <a:avLst/>
          </a:prstGeom>
          <a:noFill/>
          <a:ln w="19050" cap="flat" cmpd="sng" algn="ctr">
            <a:solidFill>
              <a:srgbClr val="CC33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直接箭头连接符 54"/>
          <p:cNvCxnSpPr/>
          <p:nvPr/>
        </p:nvCxnSpPr>
        <p:spPr bwMode="auto">
          <a:xfrm>
            <a:off x="4427984" y="5442402"/>
            <a:ext cx="360000" cy="1588"/>
          </a:xfrm>
          <a:prstGeom prst="straightConnector1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6" name="组合 55"/>
          <p:cNvGrpSpPr/>
          <p:nvPr/>
        </p:nvGrpSpPr>
        <p:grpSpPr>
          <a:xfrm>
            <a:off x="5580112" y="5299974"/>
            <a:ext cx="360040" cy="504056"/>
            <a:chOff x="4286248" y="4491575"/>
            <a:chExt cx="360040" cy="504056"/>
          </a:xfrm>
        </p:grpSpPr>
        <p:cxnSp>
          <p:nvCxnSpPr>
            <p:cNvPr id="57" name="直接连接符 56"/>
            <p:cNvCxnSpPr/>
            <p:nvPr/>
          </p:nvCxnSpPr>
          <p:spPr bwMode="auto">
            <a:xfrm>
              <a:off x="4286248" y="4491575"/>
              <a:ext cx="36004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 bwMode="auto">
            <a:xfrm>
              <a:off x="4286248" y="4779607"/>
              <a:ext cx="360040" cy="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 bwMode="auto">
            <a:xfrm>
              <a:off x="4286248" y="4923623"/>
              <a:ext cx="360040" cy="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 bwMode="auto">
            <a:xfrm flipV="1">
              <a:off x="4286248" y="4995631"/>
              <a:ext cx="36004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1" name="组合 60"/>
          <p:cNvGrpSpPr/>
          <p:nvPr/>
        </p:nvGrpSpPr>
        <p:grpSpPr>
          <a:xfrm>
            <a:off x="5868144" y="5444054"/>
            <a:ext cx="1224136" cy="576000"/>
            <a:chOff x="4571430" y="4833886"/>
            <a:chExt cx="1224136" cy="576000"/>
          </a:xfrm>
        </p:grpSpPr>
        <p:cxnSp>
          <p:nvCxnSpPr>
            <p:cNvPr id="62" name="直接连接符 141"/>
            <p:cNvCxnSpPr/>
            <p:nvPr/>
          </p:nvCxnSpPr>
          <p:spPr bwMode="auto">
            <a:xfrm>
              <a:off x="4571430" y="5121886"/>
              <a:ext cx="1152000" cy="288000"/>
            </a:xfrm>
            <a:prstGeom prst="bentConnector3">
              <a:avLst>
                <a:gd name="adj1" fmla="val 99568"/>
              </a:avLst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3" name="直接连接符 141"/>
            <p:cNvCxnSpPr/>
            <p:nvPr/>
          </p:nvCxnSpPr>
          <p:spPr bwMode="auto">
            <a:xfrm>
              <a:off x="4571430" y="5193886"/>
              <a:ext cx="504000" cy="216000"/>
            </a:xfrm>
            <a:prstGeom prst="bentConnector3">
              <a:avLst>
                <a:gd name="adj1" fmla="val 100195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直接箭头连接符 63"/>
            <p:cNvCxnSpPr/>
            <p:nvPr/>
          </p:nvCxnSpPr>
          <p:spPr bwMode="auto">
            <a:xfrm flipV="1">
              <a:off x="5147494" y="4833886"/>
              <a:ext cx="0" cy="57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接箭头连接符 64"/>
            <p:cNvCxnSpPr/>
            <p:nvPr/>
          </p:nvCxnSpPr>
          <p:spPr bwMode="auto">
            <a:xfrm flipH="1" flipV="1">
              <a:off x="5788429" y="4833886"/>
              <a:ext cx="7137" cy="57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66" name="直接连接符 65"/>
          <p:cNvCxnSpPr/>
          <p:nvPr/>
        </p:nvCxnSpPr>
        <p:spPr bwMode="auto">
          <a:xfrm>
            <a:off x="5868144" y="5298386"/>
            <a:ext cx="288000" cy="1588"/>
          </a:xfrm>
          <a:prstGeom prst="line">
            <a:avLst/>
          </a:prstGeom>
          <a:noFill/>
          <a:ln w="12700" cap="flat" cmpd="sng" algn="ctr">
            <a:solidFill>
              <a:srgbClr val="FF339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67" name="直接箭头连接符 160"/>
          <p:cNvCxnSpPr/>
          <p:nvPr/>
        </p:nvCxnSpPr>
        <p:spPr bwMode="auto">
          <a:xfrm>
            <a:off x="7452320" y="5443989"/>
            <a:ext cx="0" cy="324000"/>
          </a:xfrm>
          <a:prstGeom prst="straightConnector1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39" name="组合 138"/>
          <p:cNvGrpSpPr/>
          <p:nvPr/>
        </p:nvGrpSpPr>
        <p:grpSpPr>
          <a:xfrm>
            <a:off x="5868144" y="5588006"/>
            <a:ext cx="1584176" cy="432048"/>
            <a:chOff x="5220072" y="5445224"/>
            <a:chExt cx="1584176" cy="432048"/>
          </a:xfrm>
        </p:grpSpPr>
        <p:cxnSp>
          <p:nvCxnSpPr>
            <p:cNvPr id="69" name="直接连接符 141"/>
            <p:cNvCxnSpPr/>
            <p:nvPr/>
          </p:nvCxnSpPr>
          <p:spPr bwMode="auto">
            <a:xfrm>
              <a:off x="5220072" y="5445224"/>
              <a:ext cx="1512000" cy="432000"/>
            </a:xfrm>
            <a:prstGeom prst="bentConnector3">
              <a:avLst>
                <a:gd name="adj1" fmla="val 100077"/>
              </a:avLst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直接箭头连接符 160"/>
            <p:cNvCxnSpPr/>
            <p:nvPr/>
          </p:nvCxnSpPr>
          <p:spPr bwMode="auto">
            <a:xfrm>
              <a:off x="6804248" y="5517272"/>
              <a:ext cx="0" cy="36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38" name="组合 137"/>
          <p:cNvGrpSpPr/>
          <p:nvPr/>
        </p:nvGrpSpPr>
        <p:grpSpPr>
          <a:xfrm>
            <a:off x="4499992" y="4723934"/>
            <a:ext cx="3096344" cy="864000"/>
            <a:chOff x="4139952" y="4581152"/>
            <a:chExt cx="3096344" cy="864000"/>
          </a:xfrm>
        </p:grpSpPr>
        <p:cxnSp>
          <p:nvCxnSpPr>
            <p:cNvPr id="72" name="直接箭头连接符 222"/>
            <p:cNvCxnSpPr/>
            <p:nvPr/>
          </p:nvCxnSpPr>
          <p:spPr bwMode="auto">
            <a:xfrm rot="5400000" flipH="1" flipV="1">
              <a:off x="5328136" y="4977152"/>
              <a:ext cx="648000" cy="288000"/>
            </a:xfrm>
            <a:prstGeom prst="bentConnector3">
              <a:avLst>
                <a:gd name="adj1" fmla="val 100474"/>
              </a:avLst>
            </a:prstGeom>
            <a:noFill/>
            <a:ln w="15875" cap="flat" cmpd="sng" algn="ctr">
              <a:solidFill>
                <a:srgbClr val="CC3300"/>
              </a:solidFill>
              <a:prstDash val="sysDash"/>
              <a:round/>
              <a:headEnd type="oval" w="sm" len="sm"/>
              <a:tailEnd type="triangle"/>
            </a:ln>
            <a:effectLst/>
          </p:spPr>
        </p:cxnSp>
        <p:sp>
          <p:nvSpPr>
            <p:cNvPr id="74" name="Text Box 479"/>
            <p:cNvSpPr txBox="1">
              <a:spLocks noChangeArrowheads="1"/>
            </p:cNvSpPr>
            <p:nvPr/>
          </p:nvSpPr>
          <p:spPr bwMode="auto">
            <a:xfrm>
              <a:off x="4788024" y="4725168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转移时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7" name="直接箭头连接符 222"/>
            <p:cNvCxnSpPr/>
            <p:nvPr/>
          </p:nvCxnSpPr>
          <p:spPr bwMode="auto">
            <a:xfrm flipH="1" flipV="1">
              <a:off x="4139952" y="4581152"/>
              <a:ext cx="3096344" cy="216000"/>
            </a:xfrm>
            <a:prstGeom prst="bentConnector3">
              <a:avLst>
                <a:gd name="adj1" fmla="val -6626"/>
              </a:avLst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37" name="组合 136"/>
          <p:cNvGrpSpPr/>
          <p:nvPr/>
        </p:nvGrpSpPr>
        <p:grpSpPr>
          <a:xfrm>
            <a:off x="2627779" y="4939934"/>
            <a:ext cx="1656189" cy="900096"/>
            <a:chOff x="2267739" y="4797152"/>
            <a:chExt cx="1656189" cy="900096"/>
          </a:xfrm>
        </p:grpSpPr>
        <p:cxnSp>
          <p:nvCxnSpPr>
            <p:cNvPr id="88" name="直接箭头连接符 222"/>
            <p:cNvCxnSpPr/>
            <p:nvPr/>
          </p:nvCxnSpPr>
          <p:spPr bwMode="auto">
            <a:xfrm>
              <a:off x="2915816" y="4797152"/>
              <a:ext cx="25100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5" name="直接箭头连接符 222"/>
            <p:cNvCxnSpPr/>
            <p:nvPr/>
          </p:nvCxnSpPr>
          <p:spPr bwMode="auto">
            <a:xfrm flipH="1">
              <a:off x="2267928" y="4797176"/>
              <a:ext cx="1656000" cy="216000"/>
            </a:xfrm>
            <a:prstGeom prst="bentConnector4">
              <a:avLst>
                <a:gd name="adj1" fmla="val -13509"/>
                <a:gd name="adj2" fmla="val -105175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6" name="直接箭头连接符 222"/>
            <p:cNvCxnSpPr/>
            <p:nvPr/>
          </p:nvCxnSpPr>
          <p:spPr bwMode="auto">
            <a:xfrm rot="5400000" flipH="1" flipV="1">
              <a:off x="2141791" y="4923196"/>
              <a:ext cx="900000" cy="648103"/>
            </a:xfrm>
            <a:prstGeom prst="bentConnector3">
              <a:avLst>
                <a:gd name="adj1" fmla="val -514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  <p:sp>
        <p:nvSpPr>
          <p:cNvPr id="68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Text Box 63"/>
          <p:cNvSpPr txBox="1">
            <a:spLocks noChangeArrowheads="1"/>
          </p:cNvSpPr>
          <p:nvPr/>
        </p:nvSpPr>
        <p:spPr bwMode="auto">
          <a:xfrm>
            <a:off x="1781944" y="4191471"/>
            <a:ext cx="5886400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按序</a:t>
            </a:r>
            <a:r>
              <a:rPr lang="zh-CN" altLang="en-US" b="1" dirty="0" smtClean="0">
                <a:latin typeface="宋体" panose="02010600030101010101" pitchFamily="2" charset="-122"/>
              </a:rPr>
              <a:t>进行相应操作，指令转移时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重写</a:t>
            </a:r>
            <a:r>
              <a:rPr lang="en-US" altLang="zh-CN" b="1" dirty="0" smtClean="0">
                <a:latin typeface="宋体" panose="02010600030101010101" pitchFamily="2" charset="-122"/>
              </a:rPr>
              <a:t>PC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73" name="AutoShape 338"/>
          <p:cNvSpPr/>
          <p:nvPr/>
        </p:nvSpPr>
        <p:spPr bwMode="auto">
          <a:xfrm>
            <a:off x="7236296" y="4077072"/>
            <a:ext cx="1800000" cy="252000"/>
          </a:xfrm>
          <a:prstGeom prst="borderCallout2">
            <a:avLst>
              <a:gd name="adj1" fmla="val 48751"/>
              <a:gd name="adj2" fmla="val 703"/>
              <a:gd name="adj3" fmla="val 42928"/>
              <a:gd name="adj4" fmla="val -79448"/>
              <a:gd name="adj5" fmla="val -97336"/>
              <a:gd name="adj6" fmla="val -125259"/>
            </a:avLst>
          </a:prstGeom>
          <a:noFill/>
          <a:ln w="12700">
            <a:solidFill>
              <a:srgbClr val="990099"/>
            </a:solidFill>
            <a:prstDash val="sysDot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/>
            <a:r>
              <a:rPr lang="zh-CN" altLang="en-US" sz="1600" b="1" dirty="0" smtClean="0">
                <a:solidFill>
                  <a:srgbClr val="FF3399"/>
                </a:solidFill>
                <a:latin typeface="+mn-ea"/>
                <a:ea typeface="+mn-ea"/>
                <a:cs typeface="Arial Unicode MS" panose="020B0604020202020204" charset="-122"/>
              </a:rPr>
              <a:t>常</a:t>
            </a:r>
            <a:r>
              <a:rPr lang="zh-CN" altLang="en-US" sz="1600" b="1" dirty="0" smtClean="0">
                <a:latin typeface="+mn-ea"/>
                <a:ea typeface="+mn-ea"/>
                <a:cs typeface="Arial Unicode MS" panose="020B0604020202020204" charset="-122"/>
              </a:rPr>
              <a:t>放在取指令阶段</a:t>
            </a:r>
            <a:endParaRPr lang="zh-CN" altLang="en-US" sz="16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2124064" y="836712"/>
            <a:ext cx="6192352" cy="504056"/>
            <a:chOff x="1907704" y="1340768"/>
            <a:chExt cx="6192352" cy="504056"/>
          </a:xfrm>
        </p:grpSpPr>
        <p:sp>
          <p:nvSpPr>
            <p:cNvPr id="89" name="矩形 88"/>
            <p:cNvSpPr/>
            <p:nvPr/>
          </p:nvSpPr>
          <p:spPr bwMode="auto">
            <a:xfrm>
              <a:off x="1907704" y="1412824"/>
              <a:ext cx="4320000" cy="43200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" name="Text Box 311"/>
            <p:cNvSpPr txBox="1">
              <a:spLocks noChangeArrowheads="1"/>
            </p:cNvSpPr>
            <p:nvPr/>
          </p:nvSpPr>
          <p:spPr bwMode="auto">
            <a:xfrm>
              <a:off x="2051720" y="1484816"/>
              <a:ext cx="1080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取指令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1" name="Text Box 314"/>
            <p:cNvSpPr txBox="1">
              <a:spLocks noChangeArrowheads="1"/>
            </p:cNvSpPr>
            <p:nvPr/>
          </p:nvSpPr>
          <p:spPr bwMode="auto">
            <a:xfrm>
              <a:off x="3563720" y="1484816"/>
              <a:ext cx="1080000" cy="288000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分析指令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2" name="Text Box 316"/>
            <p:cNvSpPr txBox="1">
              <a:spLocks noChangeArrowheads="1"/>
            </p:cNvSpPr>
            <p:nvPr/>
          </p:nvSpPr>
          <p:spPr bwMode="auto">
            <a:xfrm>
              <a:off x="5075888" y="1484816"/>
              <a:ext cx="1080000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执行指令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3" name="直接箭头连接符 92"/>
            <p:cNvCxnSpPr>
              <a:stCxn id="90" idx="3"/>
              <a:endCxn id="91" idx="1"/>
            </p:cNvCxnSpPr>
            <p:nvPr/>
          </p:nvCxnSpPr>
          <p:spPr bwMode="auto">
            <a:xfrm>
              <a:off x="3131720" y="1628816"/>
              <a:ext cx="432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4" name="直接箭头连接符 93"/>
            <p:cNvCxnSpPr>
              <a:stCxn id="91" idx="3"/>
              <a:endCxn id="92" idx="1"/>
            </p:cNvCxnSpPr>
            <p:nvPr/>
          </p:nvCxnSpPr>
          <p:spPr bwMode="auto">
            <a:xfrm>
              <a:off x="4643720" y="1628816"/>
              <a:ext cx="43216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5" name="Text Box 316"/>
            <p:cNvSpPr txBox="1">
              <a:spLocks noChangeArrowheads="1"/>
            </p:cNvSpPr>
            <p:nvPr/>
          </p:nvSpPr>
          <p:spPr bwMode="auto">
            <a:xfrm>
              <a:off x="6588056" y="1340768"/>
              <a:ext cx="1512000" cy="50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计算指令地址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循环处理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6" name="直接箭头连接符 95"/>
            <p:cNvCxnSpPr/>
            <p:nvPr/>
          </p:nvCxnSpPr>
          <p:spPr bwMode="auto">
            <a:xfrm flipV="1">
              <a:off x="6156008" y="1628800"/>
              <a:ext cx="432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7" name="直接箭头连接符 27"/>
            <p:cNvCxnSpPr>
              <a:stCxn id="95" idx="3"/>
              <a:endCxn id="90" idx="1"/>
            </p:cNvCxnSpPr>
            <p:nvPr/>
          </p:nvCxnSpPr>
          <p:spPr bwMode="auto">
            <a:xfrm flipH="1">
              <a:off x="2051720" y="1592768"/>
              <a:ext cx="6048336" cy="36048"/>
            </a:xfrm>
            <a:prstGeom prst="bentConnector5">
              <a:avLst>
                <a:gd name="adj1" fmla="val -3780"/>
                <a:gd name="adj2" fmla="val 884030"/>
                <a:gd name="adj3" fmla="val 104567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9" name="组合 98"/>
          <p:cNvGrpSpPr/>
          <p:nvPr/>
        </p:nvGrpSpPr>
        <p:grpSpPr>
          <a:xfrm>
            <a:off x="2339944" y="1556792"/>
            <a:ext cx="1980000" cy="576064"/>
            <a:chOff x="1547664" y="1340768"/>
            <a:chExt cx="1980000" cy="576064"/>
          </a:xfrm>
        </p:grpSpPr>
        <p:sp>
          <p:nvSpPr>
            <p:cNvPr id="100" name="Text Box 354"/>
            <p:cNvSpPr txBox="1">
              <a:spLocks noChangeArrowheads="1"/>
            </p:cNvSpPr>
            <p:nvPr/>
          </p:nvSpPr>
          <p:spPr bwMode="auto">
            <a:xfrm>
              <a:off x="1547664" y="1340768"/>
              <a:ext cx="697591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加法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1" name="Text Box 354"/>
            <p:cNvSpPr txBox="1">
              <a:spLocks noChangeArrowheads="1"/>
            </p:cNvSpPr>
            <p:nvPr/>
          </p:nvSpPr>
          <p:spPr bwMode="auto">
            <a:xfrm>
              <a:off x="2245895" y="1340768"/>
              <a:ext cx="86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R[2] 3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2" name="Text Box 354"/>
            <p:cNvSpPr txBox="1">
              <a:spLocks noChangeArrowheads="1"/>
            </p:cNvSpPr>
            <p:nvPr/>
          </p:nvSpPr>
          <p:spPr bwMode="auto">
            <a:xfrm>
              <a:off x="1547664" y="1700808"/>
              <a:ext cx="100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=0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时转移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3" name="Text Box 354"/>
            <p:cNvSpPr txBox="1">
              <a:spLocks noChangeArrowheads="1"/>
            </p:cNvSpPr>
            <p:nvPr/>
          </p:nvSpPr>
          <p:spPr bwMode="auto">
            <a:xfrm>
              <a:off x="2555664" y="1700808"/>
              <a:ext cx="97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R[2] 48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4" name="直接连接符 103"/>
            <p:cNvCxnSpPr/>
            <p:nvPr/>
          </p:nvCxnSpPr>
          <p:spPr bwMode="auto">
            <a:xfrm>
              <a:off x="2771294" y="1340768"/>
              <a:ext cx="0" cy="216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/>
          </p:nvCxnSpPr>
          <p:spPr bwMode="auto">
            <a:xfrm>
              <a:off x="3059214" y="1700832"/>
              <a:ext cx="0" cy="216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"/>
                            </p:stCondLst>
                            <p:childTnLst>
                              <p:par>
                                <p:cTn id="50" presetID="5" presetClass="entr" presetSubtype="1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5" presetClass="entr" presetSubtype="1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1" grpId="0"/>
      <p:bldP spid="7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Box 374"/>
          <p:cNvSpPr txBox="1">
            <a:spLocks noChangeArrowheads="1"/>
          </p:cNvSpPr>
          <p:nvPr/>
        </p:nvSpPr>
        <p:spPr bwMode="auto">
          <a:xfrm>
            <a:off x="179263" y="904071"/>
            <a:ext cx="8785350" cy="33610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、程序执行过程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准备阶段：</a:t>
            </a:r>
            <a:r>
              <a:rPr lang="zh-CN" altLang="en-US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工作方式之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程序存放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由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操作系统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负责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b="1" dirty="0">
                <a:latin typeface="宋体" panose="02010600030101010101" pitchFamily="2" charset="-122"/>
              </a:rPr>
              <a:t>程序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装入</a:t>
            </a:r>
            <a:r>
              <a:rPr lang="zh-CN" altLang="en-US" b="1" dirty="0">
                <a:latin typeface="宋体" panose="02010600030101010101" pitchFamily="2" charset="-122"/>
              </a:rPr>
              <a:t>主存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假设入口为</a:t>
            </a:r>
            <a:r>
              <a:rPr lang="en-US" altLang="zh-CN" sz="1800" b="1" i="1" dirty="0"/>
              <a:t>y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②设置</a:t>
            </a:r>
            <a:r>
              <a:rPr lang="zh-CN" altLang="en-US" b="1" dirty="0">
                <a:latin typeface="宋体" panose="02010600030101010101" pitchFamily="2" charset="-122"/>
              </a:rPr>
              <a:t>程序入口地址</a:t>
            </a:r>
            <a:r>
              <a:rPr lang="en-US" altLang="zh-CN" sz="1800" b="1" dirty="0">
                <a:latin typeface="宋体" panose="02010600030101010101" pitchFamily="2" charset="-122"/>
              </a:rPr>
              <a:t>(PC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i="1" dirty="0"/>
              <a:t>y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阶段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工作方式之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程序执行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由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CPU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控制实现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①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取指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dirty="0">
                <a:latin typeface="宋体" panose="02010600030101010101" pitchFamily="2" charset="-122"/>
              </a:rPr>
              <a:t>(PC)→MEM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读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r>
              <a:rPr lang="en-US" altLang="zh-CN" b="1" dirty="0">
                <a:latin typeface="宋体" panose="02010600030101010101" pitchFamily="2" charset="-122"/>
              </a:rPr>
              <a:t>→IR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(PC)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＋</a:t>
            </a:r>
            <a:r>
              <a:rPr lang="zh-CN" altLang="en-US" b="1" dirty="0">
                <a:solidFill>
                  <a:srgbClr val="9900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9900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→PC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②分析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dirty="0">
                <a:latin typeface="宋体" panose="02010600030101010101" pitchFamily="2" charset="-122"/>
              </a:rPr>
              <a:t>(IR)→ID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③执行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>
                <a:latin typeface="宋体" panose="02010600030101010101" pitchFamily="2" charset="-122"/>
              </a:rPr>
              <a:t>实现指令约定操作，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指令转移时重写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PC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转①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58" name="Text Box 629"/>
          <p:cNvSpPr txBox="1">
            <a:spLocks noChangeArrowheads="1"/>
          </p:cNvSpPr>
          <p:nvPr/>
        </p:nvSpPr>
        <p:spPr bwMode="auto">
          <a:xfrm>
            <a:off x="179388" y="40466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二、程序的执行过程</a:t>
            </a:r>
            <a:endParaRPr lang="zh-CN" altLang="en-US" sz="2400" dirty="0"/>
          </a:p>
        </p:txBody>
      </p:sp>
      <p:sp>
        <p:nvSpPr>
          <p:cNvPr id="43" name="Text Box 4"/>
          <p:cNvSpPr txBox="1">
            <a:spLocks noChangeArrowheads="1"/>
          </p:cNvSpPr>
          <p:nvPr/>
        </p:nvSpPr>
        <p:spPr bwMode="auto">
          <a:xfrm>
            <a:off x="6804248" y="3284984"/>
            <a:ext cx="216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转①如何</a:t>
            </a:r>
            <a:r>
              <a:rPr lang="zh-CN" altLang="en-US" sz="1600" b="1" dirty="0">
                <a:latin typeface="宋体" panose="02010600030101010101" pitchFamily="2" charset="-122"/>
              </a:rPr>
              <a:t>实现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？</a:t>
            </a:r>
            <a:endParaRPr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404302" y="4293096"/>
            <a:ext cx="6408058" cy="1236893"/>
            <a:chOff x="1187752" y="4509072"/>
            <a:chExt cx="6408058" cy="1236893"/>
          </a:xfrm>
        </p:grpSpPr>
        <p:sp>
          <p:nvSpPr>
            <p:cNvPr id="48" name="Text Box 119"/>
            <p:cNvSpPr txBox="1">
              <a:spLocks noChangeArrowheads="1"/>
            </p:cNvSpPr>
            <p:nvPr/>
          </p:nvSpPr>
          <p:spPr bwMode="auto">
            <a:xfrm>
              <a:off x="6227810" y="5085184"/>
              <a:ext cx="1224000" cy="216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功能部件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9" name="Text Box 113"/>
            <p:cNvSpPr txBox="1">
              <a:spLocks noChangeArrowheads="1"/>
            </p:cNvSpPr>
            <p:nvPr/>
          </p:nvSpPr>
          <p:spPr bwMode="auto">
            <a:xfrm>
              <a:off x="1979792" y="5013200"/>
              <a:ext cx="72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PC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52" name="Text Box 115"/>
            <p:cNvSpPr txBox="1">
              <a:spLocks noChangeArrowheads="1"/>
            </p:cNvSpPr>
            <p:nvPr/>
          </p:nvSpPr>
          <p:spPr bwMode="auto">
            <a:xfrm>
              <a:off x="4932040" y="4665837"/>
              <a:ext cx="288000" cy="86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>
                  <a:latin typeface="宋体" panose="02010600030101010101" pitchFamily="2" charset="-122"/>
                </a:rPr>
                <a:t>ID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53" name="Text Box 120"/>
            <p:cNvSpPr txBox="1">
              <a:spLocks noChangeArrowheads="1"/>
            </p:cNvSpPr>
            <p:nvPr/>
          </p:nvSpPr>
          <p:spPr bwMode="auto">
            <a:xfrm>
              <a:off x="2627784" y="4653160"/>
              <a:ext cx="719138" cy="216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  <a:cs typeface="Arial Unicode MS" panose="020B0604020202020204" charset="-122"/>
                </a:rPr>
                <a:t>＋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en-US" altLang="zh-CN" sz="1600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54" name="Text Box 129"/>
            <p:cNvSpPr txBox="1">
              <a:spLocks noChangeArrowheads="1"/>
            </p:cNvSpPr>
            <p:nvPr/>
          </p:nvSpPr>
          <p:spPr bwMode="auto">
            <a:xfrm>
              <a:off x="3923928" y="5013200"/>
              <a:ext cx="72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7" name="Text Box 133"/>
            <p:cNvSpPr txBox="1">
              <a:spLocks noChangeArrowheads="1"/>
            </p:cNvSpPr>
            <p:nvPr/>
          </p:nvSpPr>
          <p:spPr bwMode="auto">
            <a:xfrm>
              <a:off x="1187752" y="4689160"/>
              <a:ext cx="115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400" b="1" dirty="0">
                  <a:latin typeface="宋体" panose="02010600030101010101" pitchFamily="2" charset="-122"/>
                </a:rPr>
                <a:t>下条指令地址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59" name="Text Box 134"/>
            <p:cNvSpPr txBox="1">
              <a:spLocks noChangeArrowheads="1"/>
            </p:cNvSpPr>
            <p:nvPr/>
          </p:nvSpPr>
          <p:spPr bwMode="auto">
            <a:xfrm>
              <a:off x="1187752" y="5265224"/>
              <a:ext cx="115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400" b="1" dirty="0">
                  <a:latin typeface="宋体" panose="02010600030101010101" pitchFamily="2" charset="-122"/>
                </a:rPr>
                <a:t>当前指令地址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60" name="Text Box 135"/>
            <p:cNvSpPr txBox="1">
              <a:spLocks noChangeArrowheads="1"/>
            </p:cNvSpPr>
            <p:nvPr/>
          </p:nvSpPr>
          <p:spPr bwMode="auto">
            <a:xfrm>
              <a:off x="3131840" y="5265224"/>
              <a:ext cx="115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400" b="1" dirty="0">
                  <a:latin typeface="宋体" panose="02010600030101010101" pitchFamily="2" charset="-122"/>
                </a:rPr>
                <a:t>当前指令内容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1" name="直接箭头连接符 60"/>
            <p:cNvCxnSpPr/>
            <p:nvPr/>
          </p:nvCxnSpPr>
          <p:spPr bwMode="auto">
            <a:xfrm>
              <a:off x="2339751" y="5229224"/>
              <a:ext cx="1" cy="28800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41"/>
            <p:cNvCxnSpPr/>
            <p:nvPr/>
          </p:nvCxnSpPr>
          <p:spPr bwMode="auto">
            <a:xfrm rot="10800000">
              <a:off x="2340246" y="4509072"/>
              <a:ext cx="648000" cy="144064"/>
            </a:xfrm>
            <a:prstGeom prst="bentConnector3">
              <a:avLst>
                <a:gd name="adj1" fmla="val 350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3" name="直接箭头连接符 44"/>
            <p:cNvCxnSpPr/>
            <p:nvPr/>
          </p:nvCxnSpPr>
          <p:spPr bwMode="auto">
            <a:xfrm flipV="1">
              <a:off x="2339776" y="4869216"/>
              <a:ext cx="647130" cy="504000"/>
            </a:xfrm>
            <a:prstGeom prst="bentConnector2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64" name="直接箭头连接符 63"/>
            <p:cNvCxnSpPr/>
            <p:nvPr/>
          </p:nvCxnSpPr>
          <p:spPr bwMode="auto">
            <a:xfrm flipV="1">
              <a:off x="4283968" y="5229232"/>
              <a:ext cx="248" cy="28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接箭头连接符 64"/>
            <p:cNvCxnSpPr/>
            <p:nvPr/>
          </p:nvCxnSpPr>
          <p:spPr bwMode="auto">
            <a:xfrm>
              <a:off x="4643928" y="5157192"/>
              <a:ext cx="288112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/>
            <p:cNvCxnSpPr/>
            <p:nvPr/>
          </p:nvCxnSpPr>
          <p:spPr bwMode="auto">
            <a:xfrm>
              <a:off x="5220072" y="5229200"/>
              <a:ext cx="100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直接箭头连接符 88"/>
            <p:cNvCxnSpPr/>
            <p:nvPr/>
          </p:nvCxnSpPr>
          <p:spPr bwMode="auto">
            <a:xfrm flipV="1">
              <a:off x="6588570" y="5301208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0" name="直接箭头连接符 89"/>
            <p:cNvCxnSpPr/>
            <p:nvPr/>
          </p:nvCxnSpPr>
          <p:spPr bwMode="auto">
            <a:xfrm flipV="1">
              <a:off x="6732586" y="5301208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1" name="直接箭头连接符 90"/>
            <p:cNvCxnSpPr/>
            <p:nvPr/>
          </p:nvCxnSpPr>
          <p:spPr bwMode="auto">
            <a:xfrm>
              <a:off x="7164634" y="5301208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2" name="Text Box 354"/>
            <p:cNvSpPr txBox="1">
              <a:spLocks noChangeArrowheads="1"/>
            </p:cNvSpPr>
            <p:nvPr/>
          </p:nvSpPr>
          <p:spPr bwMode="auto">
            <a:xfrm>
              <a:off x="1980928" y="5529965"/>
              <a:ext cx="2664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存储器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3" name="Text Box 354"/>
            <p:cNvSpPr txBox="1">
              <a:spLocks noChangeArrowheads="1"/>
            </p:cNvSpPr>
            <p:nvPr/>
          </p:nvSpPr>
          <p:spPr bwMode="auto">
            <a:xfrm>
              <a:off x="6231946" y="5529965"/>
              <a:ext cx="72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4" name="Text Box 354"/>
            <p:cNvSpPr txBox="1">
              <a:spLocks noChangeArrowheads="1"/>
            </p:cNvSpPr>
            <p:nvPr/>
          </p:nvSpPr>
          <p:spPr bwMode="auto">
            <a:xfrm>
              <a:off x="6948610" y="5529965"/>
              <a:ext cx="50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5" name="Text Box 354"/>
            <p:cNvSpPr txBox="1">
              <a:spLocks noChangeArrowheads="1"/>
            </p:cNvSpPr>
            <p:nvPr/>
          </p:nvSpPr>
          <p:spPr bwMode="auto">
            <a:xfrm>
              <a:off x="6227810" y="5529933"/>
              <a:ext cx="1224000" cy="216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存储器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/REGs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6" name="直接连接符 141"/>
            <p:cNvCxnSpPr/>
            <p:nvPr/>
          </p:nvCxnSpPr>
          <p:spPr bwMode="auto">
            <a:xfrm>
              <a:off x="5220530" y="5517232"/>
              <a:ext cx="100800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7" name="Text Box 127"/>
            <p:cNvSpPr txBox="1">
              <a:spLocks noChangeArrowheads="1"/>
            </p:cNvSpPr>
            <p:nvPr/>
          </p:nvSpPr>
          <p:spPr bwMode="auto">
            <a:xfrm>
              <a:off x="6227810" y="4797152"/>
              <a:ext cx="1368000" cy="216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地址计算部件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130"/>
            <p:cNvSpPr txBox="1">
              <a:spLocks noChangeArrowheads="1"/>
            </p:cNvSpPr>
            <p:nvPr/>
          </p:nvSpPr>
          <p:spPr bwMode="auto">
            <a:xfrm>
              <a:off x="5220522" y="4725168"/>
              <a:ext cx="9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400" b="1" dirty="0">
                  <a:latin typeface="宋体" panose="02010600030101010101" pitchFamily="2" charset="-122"/>
                </a:rPr>
                <a:t>转移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型指令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9" name="直接箭头连接符 98"/>
            <p:cNvCxnSpPr/>
            <p:nvPr/>
          </p:nvCxnSpPr>
          <p:spPr bwMode="auto">
            <a:xfrm flipV="1">
              <a:off x="5220072" y="4941168"/>
              <a:ext cx="100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1" name="直接连接符 141"/>
            <p:cNvCxnSpPr/>
            <p:nvPr/>
          </p:nvCxnSpPr>
          <p:spPr bwMode="auto">
            <a:xfrm>
              <a:off x="5220418" y="5445240"/>
              <a:ext cx="100800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4" name="直接连接符 141"/>
            <p:cNvCxnSpPr/>
            <p:nvPr/>
          </p:nvCxnSpPr>
          <p:spPr bwMode="auto">
            <a:xfrm>
              <a:off x="7092626" y="5409232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5" name="直接连接符 141"/>
            <p:cNvCxnSpPr/>
            <p:nvPr/>
          </p:nvCxnSpPr>
          <p:spPr bwMode="auto">
            <a:xfrm>
              <a:off x="5220418" y="5409232"/>
              <a:ext cx="187220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箭头连接符 105"/>
            <p:cNvCxnSpPr/>
            <p:nvPr/>
          </p:nvCxnSpPr>
          <p:spPr bwMode="auto">
            <a:xfrm>
              <a:off x="2339752" y="4509176"/>
              <a:ext cx="40" cy="50400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07" name="组合 106"/>
          <p:cNvGrpSpPr/>
          <p:nvPr/>
        </p:nvGrpSpPr>
        <p:grpSpPr>
          <a:xfrm>
            <a:off x="3203905" y="4293144"/>
            <a:ext cx="4464901" cy="300701"/>
            <a:chOff x="2267995" y="4437107"/>
            <a:chExt cx="4464901" cy="300701"/>
          </a:xfrm>
        </p:grpSpPr>
        <p:sp>
          <p:nvSpPr>
            <p:cNvPr id="108" name="Text Box 140"/>
            <p:cNvSpPr txBox="1">
              <a:spLocks noChangeArrowheads="1"/>
            </p:cNvSpPr>
            <p:nvPr/>
          </p:nvSpPr>
          <p:spPr bwMode="auto">
            <a:xfrm>
              <a:off x="6156896" y="4449832"/>
              <a:ext cx="57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转移时</a:t>
              </a:r>
              <a:endParaRPr lang="zh-CN" altLang="en-US" sz="14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9" name="直接箭头连接符 41"/>
            <p:cNvCxnSpPr/>
            <p:nvPr/>
          </p:nvCxnSpPr>
          <p:spPr bwMode="auto">
            <a:xfrm flipH="1" flipV="1">
              <a:off x="2267995" y="4437107"/>
              <a:ext cx="38880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0" name="直接箭头连接符 41"/>
            <p:cNvCxnSpPr/>
            <p:nvPr/>
          </p:nvCxnSpPr>
          <p:spPr bwMode="auto">
            <a:xfrm flipV="1">
              <a:off x="6156895" y="4449808"/>
              <a:ext cx="1" cy="28800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1394-182B-479F-95CC-F41E63C6F1B6}" type="slidenum">
              <a:rPr lang="en-US" altLang="zh-CN"/>
            </a:fld>
            <a:endParaRPr lang="en-US" altLang="zh-CN" dirty="0"/>
          </a:p>
        </p:txBody>
      </p:sp>
      <p:sp>
        <p:nvSpPr>
          <p:cNvPr id="209526" name="Text Box 630"/>
          <p:cNvSpPr txBox="1">
            <a:spLocks noChangeArrowheads="1"/>
          </p:cNvSpPr>
          <p:nvPr/>
        </p:nvSpPr>
        <p:spPr bwMode="auto">
          <a:xfrm>
            <a:off x="179388" y="332656"/>
            <a:ext cx="7056908" cy="32470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、程序执行过程示例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*模型机指令系统：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*模型机结构：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90" name="AutoShape 71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2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83" name="Group 280"/>
          <p:cNvGraphicFramePr>
            <a:graphicFrameLocks noGrp="1"/>
          </p:cNvGraphicFramePr>
          <p:nvPr/>
        </p:nvGraphicFramePr>
        <p:xfrm>
          <a:off x="1043608" y="1340768"/>
          <a:ext cx="7200800" cy="1577304"/>
        </p:xfrm>
        <a:graphic>
          <a:graphicData uri="http://schemas.openxmlformats.org/drawingml/2006/table">
            <a:tbl>
              <a:tblPr/>
              <a:tblGrid>
                <a:gridCol w="360040"/>
                <a:gridCol w="864096"/>
                <a:gridCol w="2160240"/>
                <a:gridCol w="3816424"/>
              </a:tblGrid>
              <a:tr h="27432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指令系统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指令功能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功能说明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157728">
                <a:tc vMerge="1"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取数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AC←M[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maddr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]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取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maddr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单元内容到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6864">
                <a:tc vMerge="1"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maddr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←(AC)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将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内容存到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maddr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单元中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0016">
                <a:tc vMerge="1"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加法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AC←(AC)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M[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maddr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]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将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内容与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maddr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单元内容相加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160">
                <a:tc vMerge="1"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停机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停机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程序执行结束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16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b="1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注：</a:t>
                      </a:r>
                      <a:r>
                        <a:rPr kumimoji="0" lang="en-US" altLang="zh-CN" sz="1800" b="1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AC—</a:t>
                      </a:r>
                      <a:r>
                        <a:rPr kumimoji="0" lang="zh-CN" altLang="en-US" sz="1800" b="1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称为累加器，既存放源操作数、又存放目的操作数的寄存器</a:t>
                      </a:r>
                      <a:endParaRPr kumimoji="0" lang="en-US" altLang="zh-CN" sz="1800" b="1" dirty="0" smtClean="0">
                        <a:latin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4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22887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>
            <a:off x="1043608" y="3573048"/>
            <a:ext cx="6985868" cy="2520248"/>
            <a:chOff x="1115616" y="1268760"/>
            <a:chExt cx="6985868" cy="2520248"/>
          </a:xfrm>
        </p:grpSpPr>
        <p:sp>
          <p:nvSpPr>
            <p:cNvPr id="88" name="AutoShape 702"/>
            <p:cNvSpPr>
              <a:spLocks noChangeArrowheads="1"/>
            </p:cNvSpPr>
            <p:nvPr/>
          </p:nvSpPr>
          <p:spPr bwMode="auto">
            <a:xfrm rot="10800000">
              <a:off x="1336063" y="1556792"/>
              <a:ext cx="863600" cy="288000"/>
            </a:xfrm>
            <a:custGeom>
              <a:avLst/>
              <a:gdLst>
                <a:gd name="G0" fmla="+- 3811 0 0"/>
                <a:gd name="G1" fmla="+- 21600 0 3811"/>
                <a:gd name="G2" fmla="*/ 3811 1 2"/>
                <a:gd name="G3" fmla="+- 21600 0 G2"/>
                <a:gd name="G4" fmla="+/ 3811 21600 2"/>
                <a:gd name="G5" fmla="+/ G1 0 2"/>
                <a:gd name="G6" fmla="*/ 21600 21600 3811"/>
                <a:gd name="G7" fmla="*/ G6 1 2"/>
                <a:gd name="G8" fmla="+- 21600 0 G7"/>
                <a:gd name="G9" fmla="*/ 21600 1 2"/>
                <a:gd name="G10" fmla="+- 3811 0 G9"/>
                <a:gd name="G11" fmla="?: G10 G8 0"/>
                <a:gd name="G12" fmla="?: G10 G7 21600"/>
                <a:gd name="T0" fmla="*/ 19694 w 21600"/>
                <a:gd name="T1" fmla="*/ 10800 h 21600"/>
                <a:gd name="T2" fmla="*/ 10800 w 21600"/>
                <a:gd name="T3" fmla="*/ 21600 h 21600"/>
                <a:gd name="T4" fmla="*/ 1906 w 21600"/>
                <a:gd name="T5" fmla="*/ 10800 h 21600"/>
                <a:gd name="T6" fmla="*/ 10800 w 21600"/>
                <a:gd name="T7" fmla="*/ 0 h 21600"/>
                <a:gd name="T8" fmla="*/ 3706 w 21600"/>
                <a:gd name="T9" fmla="*/ 3706 h 21600"/>
                <a:gd name="T10" fmla="*/ 17894 w 21600"/>
                <a:gd name="T11" fmla="*/ 1789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3811" y="21600"/>
                  </a:lnTo>
                  <a:lnTo>
                    <a:pt x="1778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CC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Text Box 638"/>
            <p:cNvSpPr txBox="1">
              <a:spLocks noChangeArrowheads="1"/>
            </p:cNvSpPr>
            <p:nvPr/>
          </p:nvSpPr>
          <p:spPr bwMode="auto">
            <a:xfrm>
              <a:off x="1115616" y="2852936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CPU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3" name="Rectangle 641"/>
            <p:cNvSpPr>
              <a:spLocks noChangeArrowheads="1"/>
            </p:cNvSpPr>
            <p:nvPr/>
          </p:nvSpPr>
          <p:spPr bwMode="auto">
            <a:xfrm>
              <a:off x="1259632" y="1336550"/>
              <a:ext cx="1512000" cy="1440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prstDash val="sysDash"/>
              <a:miter lim="800000"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94" name="Text Box 642"/>
            <p:cNvSpPr txBox="1">
              <a:spLocks noChangeArrowheads="1"/>
            </p:cNvSpPr>
            <p:nvPr/>
          </p:nvSpPr>
          <p:spPr bwMode="auto">
            <a:xfrm>
              <a:off x="3131896" y="3213000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Addr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6" name="Text Box 643"/>
            <p:cNvSpPr txBox="1">
              <a:spLocks noChangeArrowheads="1"/>
            </p:cNvSpPr>
            <p:nvPr/>
          </p:nvSpPr>
          <p:spPr bwMode="auto">
            <a:xfrm>
              <a:off x="1907760" y="3213000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Data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7" name="Text Box 644"/>
            <p:cNvSpPr txBox="1">
              <a:spLocks noChangeArrowheads="1"/>
            </p:cNvSpPr>
            <p:nvPr/>
          </p:nvSpPr>
          <p:spPr bwMode="auto">
            <a:xfrm>
              <a:off x="4431974" y="3213000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Cmd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647"/>
            <p:cNvSpPr txBox="1">
              <a:spLocks noChangeArrowheads="1"/>
            </p:cNvSpPr>
            <p:nvPr/>
          </p:nvSpPr>
          <p:spPr bwMode="auto">
            <a:xfrm>
              <a:off x="4716016" y="1484784"/>
              <a:ext cx="216000" cy="288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rgbClr val="FF3399"/>
                  </a:solidFill>
                </a:rPr>
                <a:t>…</a:t>
              </a:r>
              <a:endParaRPr kumimoji="0" lang="en-US" altLang="zh-CN" sz="1800" b="1" dirty="0">
                <a:solidFill>
                  <a:srgbClr val="FF3399"/>
                </a:solidFill>
              </a:endParaRPr>
            </a:p>
          </p:txBody>
        </p:sp>
        <p:sp>
          <p:nvSpPr>
            <p:cNvPr id="99" name="Text Box 648"/>
            <p:cNvSpPr txBox="1">
              <a:spLocks noChangeArrowheads="1"/>
            </p:cNvSpPr>
            <p:nvPr/>
          </p:nvSpPr>
          <p:spPr bwMode="auto">
            <a:xfrm>
              <a:off x="3707904" y="1412776"/>
              <a:ext cx="936000" cy="50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控制信号形成部件</a:t>
              </a:r>
              <a:endParaRPr kumimoji="0"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0" name="Text Box 650"/>
            <p:cNvSpPr txBox="1">
              <a:spLocks noChangeArrowheads="1"/>
            </p:cNvSpPr>
            <p:nvPr/>
          </p:nvSpPr>
          <p:spPr bwMode="auto">
            <a:xfrm>
              <a:off x="2987880" y="1412776"/>
              <a:ext cx="504000" cy="504000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时序部件</a:t>
              </a:r>
              <a:endParaRPr kumimoji="0"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1" name="Text Box 654"/>
            <p:cNvSpPr txBox="1">
              <a:spLocks noChangeArrowheads="1"/>
            </p:cNvSpPr>
            <p:nvPr/>
          </p:nvSpPr>
          <p:spPr bwMode="auto">
            <a:xfrm>
              <a:off x="3995984" y="2060848"/>
              <a:ext cx="432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ID</a:t>
              </a:r>
              <a:endParaRPr kumimoji="0"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2" name="Text Box 659"/>
            <p:cNvSpPr txBox="1">
              <a:spLocks noChangeArrowheads="1"/>
            </p:cNvSpPr>
            <p:nvPr/>
          </p:nvSpPr>
          <p:spPr bwMode="auto">
            <a:xfrm>
              <a:off x="2200158" y="2420888"/>
              <a:ext cx="504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+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kumimoji="0" lang="en-US" altLang="zh-CN" sz="1800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104" name="Text Box 673"/>
            <p:cNvSpPr txBox="1">
              <a:spLocks noChangeArrowheads="1"/>
            </p:cNvSpPr>
            <p:nvPr/>
          </p:nvSpPr>
          <p:spPr bwMode="auto">
            <a:xfrm>
              <a:off x="1696474" y="1988840"/>
              <a:ext cx="57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AC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5" name="Text Box 674"/>
            <p:cNvSpPr txBox="1">
              <a:spLocks noChangeArrowheads="1"/>
            </p:cNvSpPr>
            <p:nvPr/>
          </p:nvSpPr>
          <p:spPr bwMode="auto">
            <a:xfrm>
              <a:off x="1552086" y="1556792"/>
              <a:ext cx="452438" cy="2460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ALU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6" name="Text Box 681"/>
            <p:cNvSpPr txBox="1">
              <a:spLocks noChangeArrowheads="1"/>
            </p:cNvSpPr>
            <p:nvPr/>
          </p:nvSpPr>
          <p:spPr bwMode="auto">
            <a:xfrm>
              <a:off x="4067944" y="2420888"/>
              <a:ext cx="57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IR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4" name="Text Box 682"/>
            <p:cNvSpPr txBox="1">
              <a:spLocks noChangeArrowheads="1"/>
            </p:cNvSpPr>
            <p:nvPr/>
          </p:nvSpPr>
          <p:spPr bwMode="auto">
            <a:xfrm>
              <a:off x="3205347" y="2420888"/>
              <a:ext cx="57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PC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704"/>
            <p:cNvSpPr txBox="1">
              <a:spLocks noChangeArrowheads="1"/>
            </p:cNvSpPr>
            <p:nvPr/>
          </p:nvSpPr>
          <p:spPr bwMode="auto">
            <a:xfrm>
              <a:off x="3491880" y="1520816"/>
              <a:ext cx="180000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rgbClr val="990099"/>
                  </a:solidFill>
                  <a:latin typeface="+mn-ea"/>
                  <a:ea typeface="+mn-ea"/>
                </a:rPr>
                <a:t>…</a:t>
              </a:r>
              <a:endParaRPr kumimoji="0" lang="en-US" altLang="zh-CN" sz="1600" b="1" dirty="0">
                <a:solidFill>
                  <a:srgbClr val="990099"/>
                </a:solidFill>
                <a:latin typeface="+mn-ea"/>
                <a:ea typeface="+mn-ea"/>
              </a:endParaRPr>
            </a:p>
          </p:txBody>
        </p:sp>
        <p:cxnSp>
          <p:nvCxnSpPr>
            <p:cNvPr id="121" name="直接箭头连接符 120"/>
            <p:cNvCxnSpPr/>
            <p:nvPr/>
          </p:nvCxnSpPr>
          <p:spPr bwMode="auto">
            <a:xfrm>
              <a:off x="2056142" y="2780944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2" name="直接箭头连接符 121"/>
            <p:cNvCxnSpPr/>
            <p:nvPr/>
          </p:nvCxnSpPr>
          <p:spPr bwMode="auto">
            <a:xfrm rot="5400000">
              <a:off x="3421236" y="2851572"/>
              <a:ext cx="142082" cy="79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3" name="直接箭头连接符 122"/>
            <p:cNvCxnSpPr/>
            <p:nvPr/>
          </p:nvCxnSpPr>
          <p:spPr bwMode="auto">
            <a:xfrm rot="5400000">
              <a:off x="4284539" y="2852365"/>
              <a:ext cx="142876" cy="2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4" name="直接箭头连接符 123"/>
            <p:cNvCxnSpPr/>
            <p:nvPr/>
          </p:nvCxnSpPr>
          <p:spPr bwMode="auto">
            <a:xfrm rot="5400000">
              <a:off x="4718174" y="2852366"/>
              <a:ext cx="142876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5" name="直接箭头连接符 124"/>
            <p:cNvCxnSpPr/>
            <p:nvPr/>
          </p:nvCxnSpPr>
          <p:spPr bwMode="auto">
            <a:xfrm>
              <a:off x="3491880" y="1484784"/>
              <a:ext cx="214314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6" name="直接箭头连接符 125"/>
            <p:cNvCxnSpPr/>
            <p:nvPr/>
          </p:nvCxnSpPr>
          <p:spPr bwMode="auto">
            <a:xfrm>
              <a:off x="3491880" y="1772816"/>
              <a:ext cx="214314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7" name="直接箭头连接符 126"/>
            <p:cNvCxnSpPr/>
            <p:nvPr/>
          </p:nvCxnSpPr>
          <p:spPr bwMode="auto">
            <a:xfrm>
              <a:off x="4644008" y="1483196"/>
              <a:ext cx="285752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8" name="直接箭头连接符 127"/>
            <p:cNvCxnSpPr/>
            <p:nvPr/>
          </p:nvCxnSpPr>
          <p:spPr bwMode="auto">
            <a:xfrm>
              <a:off x="4644008" y="1772816"/>
              <a:ext cx="285752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9" name="直接箭头连接符 128"/>
            <p:cNvCxnSpPr/>
            <p:nvPr/>
          </p:nvCxnSpPr>
          <p:spPr bwMode="auto">
            <a:xfrm rot="5400000" flipH="1" flipV="1">
              <a:off x="4139728" y="1987476"/>
              <a:ext cx="142876" cy="1588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0" name="直接箭头连接符 208"/>
            <p:cNvCxnSpPr/>
            <p:nvPr/>
          </p:nvCxnSpPr>
          <p:spPr bwMode="auto">
            <a:xfrm rot="5400000" flipH="1" flipV="1">
              <a:off x="3131840" y="2420888"/>
              <a:ext cx="360000" cy="360000"/>
            </a:xfrm>
            <a:prstGeom prst="bentConnector3">
              <a:avLst>
                <a:gd name="adj1" fmla="val 153825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1" name="直接箭头连接符 130"/>
            <p:cNvCxnSpPr/>
            <p:nvPr/>
          </p:nvCxnSpPr>
          <p:spPr bwMode="auto">
            <a:xfrm flipV="1">
              <a:off x="4211960" y="2276872"/>
              <a:ext cx="1589" cy="14968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箭头连接符 103"/>
            <p:cNvCxnSpPr/>
            <p:nvPr/>
          </p:nvCxnSpPr>
          <p:spPr bwMode="auto">
            <a:xfrm rot="16200000" flipH="1">
              <a:off x="4463992" y="2456888"/>
              <a:ext cx="360000" cy="288000"/>
            </a:xfrm>
            <a:prstGeom prst="bentConnector3">
              <a:avLst>
                <a:gd name="adj1" fmla="val -27574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3" name="直接箭头连接符 132"/>
            <p:cNvCxnSpPr/>
            <p:nvPr/>
          </p:nvCxnSpPr>
          <p:spPr bwMode="auto">
            <a:xfrm rot="5400000">
              <a:off x="3421236" y="2707556"/>
              <a:ext cx="142082" cy="794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4" name="直接箭头连接符 133"/>
            <p:cNvCxnSpPr/>
            <p:nvPr/>
          </p:nvCxnSpPr>
          <p:spPr bwMode="auto">
            <a:xfrm rot="5400000" flipH="1" flipV="1">
              <a:off x="4285332" y="2707556"/>
              <a:ext cx="142876" cy="158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5" name="直接箭头连接符 125"/>
            <p:cNvCxnSpPr/>
            <p:nvPr/>
          </p:nvCxnSpPr>
          <p:spPr bwMode="auto">
            <a:xfrm rot="5400000">
              <a:off x="2051744" y="1628856"/>
              <a:ext cx="648000" cy="216000"/>
            </a:xfrm>
            <a:prstGeom prst="bentConnector3">
              <a:avLst>
                <a:gd name="adj1" fmla="val 100050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6" name="直接箭头连接符 135"/>
            <p:cNvCxnSpPr/>
            <p:nvPr/>
          </p:nvCxnSpPr>
          <p:spPr bwMode="auto">
            <a:xfrm flipH="1" flipV="1">
              <a:off x="2056141" y="1844824"/>
              <a:ext cx="1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7" name="直接箭头连接符 216"/>
            <p:cNvCxnSpPr/>
            <p:nvPr/>
          </p:nvCxnSpPr>
          <p:spPr bwMode="auto">
            <a:xfrm rot="16200000" flipV="1">
              <a:off x="1120091" y="2204813"/>
              <a:ext cx="936000" cy="216022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8" name="直接箭头连接符 137"/>
            <p:cNvCxnSpPr/>
            <p:nvPr/>
          </p:nvCxnSpPr>
          <p:spPr bwMode="auto">
            <a:xfrm>
              <a:off x="2056142" y="2204864"/>
              <a:ext cx="0" cy="57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9" name="直接箭头连接符 170"/>
            <p:cNvCxnSpPr/>
            <p:nvPr/>
          </p:nvCxnSpPr>
          <p:spPr bwMode="auto">
            <a:xfrm rot="16200000" flipH="1">
              <a:off x="3960008" y="2529007"/>
              <a:ext cx="1656000" cy="288000"/>
            </a:xfrm>
            <a:prstGeom prst="bentConnector3">
              <a:avLst>
                <a:gd name="adj1" fmla="val 123"/>
              </a:avLst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0" name="直接箭头连接符 139"/>
            <p:cNvCxnSpPr/>
            <p:nvPr/>
          </p:nvCxnSpPr>
          <p:spPr bwMode="auto">
            <a:xfrm flipV="1">
              <a:off x="2414594" y="3141008"/>
              <a:ext cx="1588" cy="36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1" name="Text Box 705"/>
            <p:cNvSpPr txBox="1">
              <a:spLocks noChangeArrowheads="1"/>
            </p:cNvSpPr>
            <p:nvPr/>
          </p:nvSpPr>
          <p:spPr bwMode="auto">
            <a:xfrm>
              <a:off x="1620048" y="2924944"/>
              <a:ext cx="3384000" cy="2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prstDash val="sysDash"/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部件互连结构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0"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如总线结构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2" name="直接连接符 66"/>
            <p:cNvCxnSpPr/>
            <p:nvPr/>
          </p:nvCxnSpPr>
          <p:spPr bwMode="auto">
            <a:xfrm>
              <a:off x="3640317" y="3141008"/>
              <a:ext cx="2" cy="36000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3" name="Text Box 701"/>
            <p:cNvSpPr txBox="1">
              <a:spLocks noChangeArrowheads="1"/>
            </p:cNvSpPr>
            <p:nvPr/>
          </p:nvSpPr>
          <p:spPr bwMode="auto">
            <a:xfrm>
              <a:off x="3318704" y="3501008"/>
              <a:ext cx="2808000" cy="288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系统总线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0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ABus</a:t>
              </a: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、</a:t>
              </a:r>
              <a:r>
                <a:rPr kumimoji="0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DBus</a:t>
              </a: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、</a:t>
              </a:r>
              <a:r>
                <a:rPr kumimoji="0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CBus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639"/>
            <p:cNvSpPr txBox="1">
              <a:spLocks noChangeArrowheads="1"/>
            </p:cNvSpPr>
            <p:nvPr/>
          </p:nvSpPr>
          <p:spPr bwMode="auto">
            <a:xfrm>
              <a:off x="7380759" y="1376904"/>
              <a:ext cx="720725" cy="1188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eaVert" lIns="0" tIns="0" rIns="0" bIns="0" anchor="ctr"/>
            <a:lstStyle/>
            <a:p>
              <a:pPr algn="ctr"/>
              <a:r>
                <a:rPr kumimoji="0" lang="zh-CN" altLang="en-US" sz="18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外部设备</a:t>
              </a:r>
              <a:endParaRPr kumimoji="0"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algn="ctr"/>
              <a:r>
                <a:rPr kumimoji="0" lang="en-US" altLang="zh-CN" sz="18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0" lang="zh-CN" altLang="en-US" sz="18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含辅存</a:t>
              </a:r>
              <a:r>
                <a:rPr kumimoji="0" lang="en-US" altLang="zh-CN" sz="18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  <a:endParaRPr kumimoji="0"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5" name="Text Box 670"/>
            <p:cNvSpPr txBox="1">
              <a:spLocks noChangeArrowheads="1"/>
            </p:cNvSpPr>
            <p:nvPr/>
          </p:nvSpPr>
          <p:spPr bwMode="auto">
            <a:xfrm>
              <a:off x="7236296" y="2852936"/>
              <a:ext cx="863600" cy="288000"/>
            </a:xfrm>
            <a:prstGeom prst="rect">
              <a:avLst/>
            </a:prstGeom>
            <a:solidFill>
              <a:srgbClr val="FFFF99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I/O</a:t>
              </a:r>
              <a:r>
                <a:rPr kumimoji="0" lang="zh-CN" altLang="en-US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接口</a:t>
              </a:r>
              <a:endParaRPr kumimoji="0"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6" name="Rectangle 684"/>
            <p:cNvSpPr>
              <a:spLocks noChangeArrowheads="1"/>
            </p:cNvSpPr>
            <p:nvPr/>
          </p:nvSpPr>
          <p:spPr bwMode="auto">
            <a:xfrm>
              <a:off x="5292080" y="1268760"/>
              <a:ext cx="1728000" cy="187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7" name="Line 685"/>
            <p:cNvSpPr>
              <a:spLocks noChangeShapeType="1"/>
            </p:cNvSpPr>
            <p:nvPr/>
          </p:nvSpPr>
          <p:spPr bwMode="auto">
            <a:xfrm>
              <a:off x="5939780" y="1626967"/>
              <a:ext cx="2873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8" name="Text Box 686"/>
            <p:cNvSpPr txBox="1">
              <a:spLocks noChangeArrowheads="1"/>
            </p:cNvSpPr>
            <p:nvPr/>
          </p:nvSpPr>
          <p:spPr bwMode="auto">
            <a:xfrm>
              <a:off x="6011218" y="1916864"/>
              <a:ext cx="216000" cy="288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vert="eaVert" lIns="0" tIns="0" rIns="0" bIns="0" anchor="ctr"/>
            <a:lstStyle/>
            <a:p>
              <a:pPr algn="ctr"/>
              <a:r>
                <a:rPr kumimoji="0" lang="en-US" altLang="zh-CN" sz="1800" b="1" dirty="0" smtClean="0">
                  <a:solidFill>
                    <a:srgbClr val="000000"/>
                  </a:solidFill>
                </a:rPr>
                <a:t>…</a:t>
              </a:r>
              <a:endParaRPr kumimoji="0" lang="en-US" altLang="zh-CN" sz="1800" b="1" dirty="0"/>
            </a:p>
          </p:txBody>
        </p:sp>
        <p:sp>
          <p:nvSpPr>
            <p:cNvPr id="150" name="Text Box 687"/>
            <p:cNvSpPr txBox="1">
              <a:spLocks noChangeArrowheads="1"/>
            </p:cNvSpPr>
            <p:nvPr/>
          </p:nvSpPr>
          <p:spPr bwMode="auto">
            <a:xfrm>
              <a:off x="6227118" y="1549179"/>
              <a:ext cx="720000" cy="86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存储</a:t>
              </a:r>
              <a:endParaRPr kumimoji="0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algn="ctr"/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阵列</a:t>
              </a:r>
              <a:endParaRPr kumimoji="0"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2" name="Text Box 688"/>
            <p:cNvSpPr txBox="1">
              <a:spLocks noChangeArrowheads="1"/>
            </p:cNvSpPr>
            <p:nvPr/>
          </p:nvSpPr>
          <p:spPr bwMode="auto">
            <a:xfrm>
              <a:off x="6084168" y="2636912"/>
              <a:ext cx="864000" cy="288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I/O</a:t>
              </a:r>
              <a:r>
                <a:rPr kumimoji="0" lang="zh-CN" altLang="en-US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电路</a:t>
              </a:r>
              <a:endParaRPr kumimoji="0"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3" name="Text Box 689"/>
            <p:cNvSpPr txBox="1">
              <a:spLocks noChangeArrowheads="1"/>
            </p:cNvSpPr>
            <p:nvPr/>
          </p:nvSpPr>
          <p:spPr bwMode="auto">
            <a:xfrm>
              <a:off x="5579418" y="1340768"/>
              <a:ext cx="360363" cy="122396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eaVert" lIns="0" tIns="0" rIns="0" bIns="0" anchor="ctr"/>
            <a:lstStyle/>
            <a:p>
              <a:pPr algn="ctr"/>
              <a:r>
                <a:rPr kumimoji="0" lang="zh-CN" altLang="en-US" sz="1600" b="1">
                  <a:solidFill>
                    <a:srgbClr val="000000"/>
                  </a:solidFill>
                  <a:latin typeface="宋体" panose="02010600030101010101" pitchFamily="2" charset="-122"/>
                </a:rPr>
                <a:t>地址译码器</a:t>
              </a:r>
              <a:endParaRPr kumimoji="0"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155" name="Line 690"/>
            <p:cNvSpPr>
              <a:spLocks noChangeShapeType="1"/>
            </p:cNvSpPr>
            <p:nvPr/>
          </p:nvSpPr>
          <p:spPr bwMode="auto">
            <a:xfrm>
              <a:off x="5939780" y="1769842"/>
              <a:ext cx="2873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57" name="Line 691"/>
            <p:cNvSpPr>
              <a:spLocks noChangeShapeType="1"/>
            </p:cNvSpPr>
            <p:nvPr/>
          </p:nvSpPr>
          <p:spPr bwMode="auto">
            <a:xfrm>
              <a:off x="5939780" y="2348880"/>
              <a:ext cx="2873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61" name="Line 692"/>
            <p:cNvSpPr>
              <a:spLocks noChangeShapeType="1"/>
            </p:cNvSpPr>
            <p:nvPr/>
          </p:nvSpPr>
          <p:spPr bwMode="auto">
            <a:xfrm>
              <a:off x="6300192" y="2420888"/>
              <a:ext cx="3175" cy="2159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62" name="Line 694"/>
            <p:cNvSpPr>
              <a:spLocks noChangeShapeType="1"/>
            </p:cNvSpPr>
            <p:nvPr/>
          </p:nvSpPr>
          <p:spPr bwMode="auto">
            <a:xfrm flipH="1">
              <a:off x="6804248" y="2420888"/>
              <a:ext cx="0" cy="2159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64" name="Text Box 695"/>
            <p:cNvSpPr txBox="1">
              <a:spLocks noChangeArrowheads="1"/>
            </p:cNvSpPr>
            <p:nvPr/>
          </p:nvSpPr>
          <p:spPr bwMode="auto">
            <a:xfrm>
              <a:off x="6444208" y="2384904"/>
              <a:ext cx="288000" cy="180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en-US" altLang="zh-CN" sz="1800" b="1" dirty="0">
                  <a:solidFill>
                    <a:srgbClr val="000000"/>
                  </a:solidFill>
                </a:rPr>
                <a:t>…</a:t>
              </a:r>
              <a:endParaRPr kumimoji="0" lang="en-US" altLang="zh-CN" sz="1800" b="1" dirty="0"/>
            </a:p>
          </p:txBody>
        </p:sp>
        <p:sp>
          <p:nvSpPr>
            <p:cNvPr id="165" name="Text Box 707"/>
            <p:cNvSpPr txBox="1">
              <a:spLocks noChangeArrowheads="1"/>
            </p:cNvSpPr>
            <p:nvPr/>
          </p:nvSpPr>
          <p:spPr bwMode="auto">
            <a:xfrm>
              <a:off x="6231236" y="1268784"/>
              <a:ext cx="576000" cy="216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zh-CN" altLang="en-US" sz="18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主存</a:t>
              </a:r>
              <a:endParaRPr kumimoji="0"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6" name="直接箭头连接符 163"/>
            <p:cNvCxnSpPr/>
            <p:nvPr/>
          </p:nvCxnSpPr>
          <p:spPr bwMode="auto">
            <a:xfrm rot="5400000" flipH="1" flipV="1">
              <a:off x="4841418" y="2763008"/>
              <a:ext cx="1296000" cy="180000"/>
            </a:xfrm>
            <a:prstGeom prst="bentConnector2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7" name="直接箭头连接符 167"/>
            <p:cNvCxnSpPr/>
            <p:nvPr/>
          </p:nvCxnSpPr>
          <p:spPr bwMode="auto">
            <a:xfrm rot="5400000" flipH="1" flipV="1">
              <a:off x="5616144" y="3032929"/>
              <a:ext cx="720000" cy="216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8" name="直接箭头连接符 167"/>
            <p:cNvCxnSpPr/>
            <p:nvPr/>
          </p:nvCxnSpPr>
          <p:spPr bwMode="auto">
            <a:xfrm rot="5400000" flipH="1" flipV="1">
              <a:off x="6229010" y="3212214"/>
              <a:ext cx="576000" cy="158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9" name="直接箭头连接符 168"/>
            <p:cNvCxnSpPr/>
            <p:nvPr/>
          </p:nvCxnSpPr>
          <p:spPr bwMode="auto">
            <a:xfrm rot="5400000" flipH="1" flipV="1">
              <a:off x="7678621" y="3320969"/>
              <a:ext cx="36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0" name="直接箭头连接符 167"/>
            <p:cNvCxnSpPr/>
            <p:nvPr/>
          </p:nvCxnSpPr>
          <p:spPr bwMode="auto">
            <a:xfrm rot="5400000" flipH="1" flipV="1">
              <a:off x="7462718" y="3320971"/>
              <a:ext cx="36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1" name="直接箭头连接符 167"/>
            <p:cNvCxnSpPr/>
            <p:nvPr/>
          </p:nvCxnSpPr>
          <p:spPr bwMode="auto">
            <a:xfrm rot="5400000" flipH="1" flipV="1">
              <a:off x="7248407" y="3320969"/>
              <a:ext cx="3600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2" name="直接箭头连接符 167"/>
            <p:cNvCxnSpPr/>
            <p:nvPr/>
          </p:nvCxnSpPr>
          <p:spPr bwMode="auto">
            <a:xfrm rot="5400000" flipH="1" flipV="1">
              <a:off x="7498718" y="2708935"/>
              <a:ext cx="288000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3" name="直接箭头连接符 172"/>
            <p:cNvCxnSpPr/>
            <p:nvPr/>
          </p:nvCxnSpPr>
          <p:spPr bwMode="auto">
            <a:xfrm rot="5400000" flipH="1" flipV="1">
              <a:off x="7713827" y="2708142"/>
              <a:ext cx="288000" cy="158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4" name="直接箭头连接符 173"/>
            <p:cNvCxnSpPr/>
            <p:nvPr/>
          </p:nvCxnSpPr>
          <p:spPr bwMode="auto">
            <a:xfrm>
              <a:off x="1116392" y="3501008"/>
              <a:ext cx="698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5" name="直接箭头连接符 174"/>
            <p:cNvCxnSpPr/>
            <p:nvPr/>
          </p:nvCxnSpPr>
          <p:spPr bwMode="auto">
            <a:xfrm>
              <a:off x="1691680" y="2780928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7" name="Rectangle 641"/>
            <p:cNvSpPr>
              <a:spLocks noChangeArrowheads="1"/>
            </p:cNvSpPr>
            <p:nvPr/>
          </p:nvSpPr>
          <p:spPr bwMode="auto">
            <a:xfrm>
              <a:off x="2915816" y="1340768"/>
              <a:ext cx="2088000" cy="1440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prstDash val="sysDash"/>
              <a:miter lim="800000"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cxnSp>
          <p:nvCxnSpPr>
            <p:cNvPr id="178" name="直接箭头连接符 177"/>
            <p:cNvCxnSpPr/>
            <p:nvPr/>
          </p:nvCxnSpPr>
          <p:spPr bwMode="auto">
            <a:xfrm rot="5400000">
              <a:off x="3064824" y="2853506"/>
              <a:ext cx="142082" cy="79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9" name="直接箭头连接符 178"/>
            <p:cNvCxnSpPr/>
            <p:nvPr/>
          </p:nvCxnSpPr>
          <p:spPr bwMode="auto">
            <a:xfrm flipH="1" flipV="1">
              <a:off x="2344172" y="2636912"/>
              <a:ext cx="2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0" name="直接箭头连接符 179"/>
            <p:cNvCxnSpPr/>
            <p:nvPr/>
          </p:nvCxnSpPr>
          <p:spPr bwMode="auto">
            <a:xfrm flipH="1">
              <a:off x="2559404" y="2636912"/>
              <a:ext cx="794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1" name="直接箭头连接符 180"/>
            <p:cNvCxnSpPr/>
            <p:nvPr/>
          </p:nvCxnSpPr>
          <p:spPr bwMode="auto">
            <a:xfrm rot="5400000">
              <a:off x="2268314" y="2853506"/>
              <a:ext cx="142082" cy="79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2" name="直接箭头连接符 181"/>
            <p:cNvCxnSpPr/>
            <p:nvPr/>
          </p:nvCxnSpPr>
          <p:spPr bwMode="auto">
            <a:xfrm rot="5400000">
              <a:off x="2488760" y="2853506"/>
              <a:ext cx="142082" cy="79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3" name="直接箭头连接符 182"/>
            <p:cNvCxnSpPr/>
            <p:nvPr/>
          </p:nvCxnSpPr>
          <p:spPr bwMode="auto">
            <a:xfrm flipV="1">
              <a:off x="1912126" y="2204864"/>
              <a:ext cx="0" cy="57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4" name="直接箭头连接符 183"/>
            <p:cNvCxnSpPr/>
            <p:nvPr/>
          </p:nvCxnSpPr>
          <p:spPr bwMode="auto">
            <a:xfrm>
              <a:off x="1907704" y="2780944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5" name="Rectangle 640"/>
            <p:cNvSpPr>
              <a:spLocks noChangeArrowheads="1"/>
            </p:cNvSpPr>
            <p:nvPr/>
          </p:nvSpPr>
          <p:spPr bwMode="auto">
            <a:xfrm>
              <a:off x="1115616" y="1268760"/>
              <a:ext cx="3960000" cy="1872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cxnSp>
          <p:nvCxnSpPr>
            <p:cNvPr id="186" name="直接箭头连接符 216"/>
            <p:cNvCxnSpPr/>
            <p:nvPr/>
          </p:nvCxnSpPr>
          <p:spPr bwMode="auto">
            <a:xfrm flipV="1">
              <a:off x="1763688" y="1412775"/>
              <a:ext cx="720000" cy="144000"/>
            </a:xfrm>
            <a:prstGeom prst="bentConnector3">
              <a:avLst>
                <a:gd name="adj1" fmla="val -706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132" name="Text Box 47"/>
          <p:cNvSpPr txBox="1">
            <a:spLocks noChangeArrowheads="1"/>
          </p:cNvSpPr>
          <p:nvPr/>
        </p:nvSpPr>
        <p:spPr bwMode="auto">
          <a:xfrm>
            <a:off x="142844" y="332656"/>
            <a:ext cx="5437268" cy="23600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*机器语言程序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(y=</a:t>
            </a:r>
            <a:r>
              <a:rPr lang="en-US" altLang="zh-CN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x+b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的执行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过程：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编程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准备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阶段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执行阶段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33" name="Text Box 47"/>
          <p:cNvSpPr txBox="1">
            <a:spLocks noChangeArrowheads="1"/>
          </p:cNvSpPr>
          <p:nvPr/>
        </p:nvSpPr>
        <p:spPr bwMode="auto">
          <a:xfrm>
            <a:off x="1763687" y="764704"/>
            <a:ext cx="4608859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假设</a:t>
            </a:r>
            <a:r>
              <a:rPr lang="zh-CN" altLang="en-US" b="1" dirty="0" smtClean="0">
                <a:latin typeface="宋体" panose="02010600030101010101" pitchFamily="2" charset="-122"/>
              </a:rPr>
              <a:t>程序入口地址为</a:t>
            </a:r>
            <a:r>
              <a:rPr lang="en-US" altLang="zh-CN" b="1" dirty="0" smtClean="0">
                <a:latin typeface="宋体" panose="02010600030101010101" pitchFamily="2" charset="-122"/>
              </a:rPr>
              <a:t>2000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假设</a:t>
            </a:r>
            <a:r>
              <a:rPr lang="zh-CN" altLang="en-US" b="1" dirty="0">
                <a:latin typeface="宋体" panose="02010600030101010101" pitchFamily="2" charset="-122"/>
              </a:rPr>
              <a:t>装入位置为</a:t>
            </a:r>
            <a:r>
              <a:rPr lang="en-US" altLang="zh-CN" b="1" dirty="0" smtClean="0">
                <a:latin typeface="宋体" panose="02010600030101010101" pitchFamily="2" charset="-122"/>
              </a:rPr>
              <a:t>2000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则</a:t>
            </a:r>
            <a:r>
              <a:rPr lang="en-US" altLang="zh-CN" b="1" dirty="0" smtClean="0">
                <a:latin typeface="宋体" panose="02010600030101010101" pitchFamily="2" charset="-122"/>
              </a:rPr>
              <a:t>PC</a:t>
            </a:r>
            <a:r>
              <a:rPr lang="zh-CN" altLang="en-US" b="1" dirty="0" smtClean="0">
                <a:latin typeface="宋体" panose="02010600030101010101" pitchFamily="2" charset="-122"/>
              </a:rPr>
              <a:t>←</a:t>
            </a:r>
            <a:r>
              <a:rPr lang="en-US" altLang="zh-CN" b="1" dirty="0" smtClean="0">
                <a:latin typeface="宋体" panose="02010600030101010101" pitchFamily="2" charset="-122"/>
              </a:rPr>
              <a:t>2000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latin typeface="宋体" panose="02010600030101010101" pitchFamily="2" charset="-122"/>
              </a:rPr>
              <a:t>自动、逐条地取并执行指令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grpSp>
        <p:nvGrpSpPr>
          <p:cNvPr id="134" name="组合 133"/>
          <p:cNvGrpSpPr/>
          <p:nvPr/>
        </p:nvGrpSpPr>
        <p:grpSpPr>
          <a:xfrm>
            <a:off x="6300408" y="836712"/>
            <a:ext cx="2592072" cy="1584000"/>
            <a:chOff x="7625091" y="3637294"/>
            <a:chExt cx="2592072" cy="1584000"/>
          </a:xfrm>
        </p:grpSpPr>
        <p:sp>
          <p:nvSpPr>
            <p:cNvPr id="135" name="Text Box 36"/>
            <p:cNvSpPr txBox="1">
              <a:spLocks noChangeArrowheads="1"/>
            </p:cNvSpPr>
            <p:nvPr/>
          </p:nvSpPr>
          <p:spPr bwMode="auto">
            <a:xfrm>
              <a:off x="8273163" y="3637294"/>
              <a:ext cx="1944000" cy="1584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tIns="10800" bIns="1080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AC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M[</a:t>
              </a:r>
              <a:r>
                <a: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2004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]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AC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(AC)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M[2005]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M[2006]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(AC)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停机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x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b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y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36"/>
            <p:cNvSpPr txBox="1">
              <a:spLocks noChangeArrowheads="1"/>
            </p:cNvSpPr>
            <p:nvPr/>
          </p:nvSpPr>
          <p:spPr bwMode="auto">
            <a:xfrm>
              <a:off x="7625091" y="3637294"/>
              <a:ext cx="648000" cy="158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2000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2001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2002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2003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2004</a:t>
              </a:r>
              <a:endPara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2005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2006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7" name="直接连接符 136"/>
            <p:cNvCxnSpPr/>
            <p:nvPr/>
          </p:nvCxnSpPr>
          <p:spPr bwMode="auto">
            <a:xfrm flipV="1">
              <a:off x="8273163" y="3860938"/>
              <a:ext cx="1944000" cy="1424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直接连接符 137"/>
            <p:cNvCxnSpPr/>
            <p:nvPr/>
          </p:nvCxnSpPr>
          <p:spPr bwMode="auto">
            <a:xfrm flipV="1">
              <a:off x="8273163" y="4084582"/>
              <a:ext cx="1944000" cy="1424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直接连接符 138"/>
            <p:cNvCxnSpPr/>
            <p:nvPr/>
          </p:nvCxnSpPr>
          <p:spPr bwMode="auto">
            <a:xfrm flipV="1">
              <a:off x="8273163" y="4308226"/>
              <a:ext cx="1944000" cy="1424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/>
          </p:nvCxnSpPr>
          <p:spPr bwMode="auto">
            <a:xfrm>
              <a:off x="8273163" y="4539490"/>
              <a:ext cx="19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直接连接符 141"/>
            <p:cNvCxnSpPr/>
            <p:nvPr/>
          </p:nvCxnSpPr>
          <p:spPr bwMode="auto">
            <a:xfrm>
              <a:off x="8273163" y="4751322"/>
              <a:ext cx="19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直接连接符 142"/>
            <p:cNvCxnSpPr/>
            <p:nvPr/>
          </p:nvCxnSpPr>
          <p:spPr bwMode="auto">
            <a:xfrm>
              <a:off x="8273163" y="4997826"/>
              <a:ext cx="19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4" name="Text Box 65"/>
          <p:cNvSpPr txBox="1">
            <a:spLocks noChangeArrowheads="1"/>
          </p:cNvSpPr>
          <p:nvPr/>
        </p:nvSpPr>
        <p:spPr bwMode="auto">
          <a:xfrm>
            <a:off x="3419872" y="3000372"/>
            <a:ext cx="2160000" cy="288000"/>
          </a:xfrm>
          <a:prstGeom prst="rect">
            <a:avLst/>
          </a:prstGeom>
          <a:solidFill>
            <a:srgbClr val="FFCCFF">
              <a:alpha val="80000"/>
            </a:srgbClr>
          </a:solidFill>
          <a:ln w="12700">
            <a:solidFill>
              <a:schemeClr val="tx1"/>
            </a:solidFill>
            <a:prstDash val="dash"/>
            <a:miter lim="800000"/>
          </a:ln>
          <a:effectLst/>
        </p:spPr>
        <p:txBody>
          <a:bodyPr lIns="54000" tIns="10800" rIns="18000" bIns="10800" anchor="ctr"/>
          <a:lstStyle/>
          <a:p>
            <a:pPr algn="just">
              <a:lnSpc>
                <a:spcPct val="9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(IR)</a:t>
            </a:r>
            <a:r>
              <a:rPr lang="en-US" altLang="zh-CN" sz="1800" b="1" baseline="-18000" dirty="0" err="1" smtClean="0">
                <a:latin typeface="宋体" panose="02010600030101010101" pitchFamily="2" charset="-122"/>
              </a:rPr>
              <a:t>Ad</a:t>
            </a:r>
            <a:r>
              <a:rPr lang="en-US" altLang="zh-CN" sz="18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MEM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(R)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AC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cxnSp>
        <p:nvCxnSpPr>
          <p:cNvPr id="145" name="直接连接符 10"/>
          <p:cNvCxnSpPr>
            <a:stCxn id="144" idx="3"/>
            <a:endCxn id="158" idx="1"/>
          </p:cNvCxnSpPr>
          <p:nvPr/>
        </p:nvCxnSpPr>
        <p:spPr bwMode="auto">
          <a:xfrm flipH="1">
            <a:off x="539744" y="3144372"/>
            <a:ext cx="5040128" cy="644676"/>
          </a:xfrm>
          <a:prstGeom prst="bentConnector5">
            <a:avLst>
              <a:gd name="adj1" fmla="val -4536"/>
              <a:gd name="adj2" fmla="val 64775"/>
              <a:gd name="adj3" fmla="val 104536"/>
            </a:avLst>
          </a:prstGeom>
          <a:noFill/>
          <a:ln w="1270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46" name="直接连接符 10"/>
          <p:cNvCxnSpPr>
            <a:stCxn id="154" idx="3"/>
            <a:endCxn id="166" idx="1"/>
          </p:cNvCxnSpPr>
          <p:nvPr/>
        </p:nvCxnSpPr>
        <p:spPr bwMode="auto">
          <a:xfrm flipH="1">
            <a:off x="539552" y="3795175"/>
            <a:ext cx="5976664" cy="641921"/>
          </a:xfrm>
          <a:prstGeom prst="bentConnector5">
            <a:avLst>
              <a:gd name="adj1" fmla="val -3825"/>
              <a:gd name="adj2" fmla="val 64245"/>
              <a:gd name="adj3" fmla="val 103825"/>
            </a:avLst>
          </a:prstGeom>
          <a:noFill/>
          <a:ln w="1270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153" name="组合 152"/>
          <p:cNvGrpSpPr/>
          <p:nvPr/>
        </p:nvGrpSpPr>
        <p:grpSpPr>
          <a:xfrm>
            <a:off x="539744" y="3645048"/>
            <a:ext cx="5976472" cy="504032"/>
            <a:chOff x="1364322" y="4153070"/>
            <a:chExt cx="5976472" cy="504032"/>
          </a:xfrm>
        </p:grpSpPr>
        <p:sp>
          <p:nvSpPr>
            <p:cNvPr id="154" name="Text Box 65"/>
            <p:cNvSpPr txBox="1">
              <a:spLocks noChangeArrowheads="1"/>
            </p:cNvSpPr>
            <p:nvPr/>
          </p:nvSpPr>
          <p:spPr bwMode="auto">
            <a:xfrm>
              <a:off x="4244794" y="4159197"/>
              <a:ext cx="3096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IR)</a:t>
              </a:r>
              <a:r>
                <a:rPr lang="en-US" altLang="zh-CN" sz="1800" b="1" baseline="-18000" dirty="0" err="1" smtClean="0">
                  <a:latin typeface="宋体" panose="02010600030101010101" pitchFamily="2" charset="-122"/>
                </a:rPr>
                <a:t>Ad</a:t>
              </a:r>
              <a:r>
                <a:rPr lang="en-US" altLang="zh-CN" sz="1800" b="1" dirty="0" err="1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MEM</a:t>
              </a: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(R)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ALU</a:t>
              </a: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(+)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AC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56" name="Text Box 65"/>
            <p:cNvSpPr txBox="1">
              <a:spLocks noChangeArrowheads="1"/>
            </p:cNvSpPr>
            <p:nvPr/>
          </p:nvSpPr>
          <p:spPr bwMode="auto">
            <a:xfrm>
              <a:off x="5540594" y="4441102"/>
              <a:ext cx="936000" cy="21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/>
              <a:r>
                <a:rPr lang="en-US" altLang="zh-CN" sz="1800" b="1" dirty="0" smtClean="0">
                  <a:latin typeface="宋体" panose="02010600030101010101" pitchFamily="2" charset="-122"/>
                </a:rPr>
                <a:t>AC→ALU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grpSp>
          <p:nvGrpSpPr>
            <p:cNvPr id="157" name="组合 156"/>
            <p:cNvGrpSpPr/>
            <p:nvPr/>
          </p:nvGrpSpPr>
          <p:grpSpPr>
            <a:xfrm>
              <a:off x="1364322" y="4153070"/>
              <a:ext cx="2880128" cy="504032"/>
              <a:chOff x="357350" y="3138688"/>
              <a:chExt cx="2880128" cy="504032"/>
            </a:xfrm>
          </p:grpSpPr>
          <p:sp>
            <p:nvSpPr>
              <p:cNvPr id="162" name="Text Box 65"/>
              <p:cNvSpPr txBox="1">
                <a:spLocks noChangeArrowheads="1"/>
              </p:cNvSpPr>
              <p:nvPr/>
            </p:nvSpPr>
            <p:spPr bwMode="auto">
              <a:xfrm>
                <a:off x="357350" y="3138688"/>
                <a:ext cx="1728000" cy="50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/>
                <a:endParaRPr lang="en-US" altLang="zh-CN" sz="1800" b="1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58" name="Text Box 65"/>
              <p:cNvSpPr txBox="1">
                <a:spLocks noChangeArrowheads="1"/>
              </p:cNvSpPr>
              <p:nvPr/>
            </p:nvSpPr>
            <p:spPr bwMode="auto">
              <a:xfrm>
                <a:off x="357350" y="3138688"/>
                <a:ext cx="1728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noFill/>
                <a:prstDash val="sysDot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>
                  <a:lnSpc>
                    <a:spcPct val="90000"/>
                  </a:lnSpc>
                </a:pPr>
                <a:r>
                  <a:rPr lang="en-US" altLang="zh-CN" sz="1800" b="1" dirty="0" smtClean="0">
                    <a:latin typeface="宋体" panose="02010600030101010101" pitchFamily="2" charset="-122"/>
                  </a:rPr>
                  <a:t>PC</a:t>
                </a:r>
                <a:r>
                  <a:rPr lang="en-US" altLang="zh-CN" sz="18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→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MEM</a:t>
                </a:r>
                <a:r>
                  <a:rPr lang="en-US" altLang="zh-CN" sz="1800" b="1" dirty="0" smtClean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(R)</a:t>
                </a:r>
                <a:r>
                  <a:rPr lang="en-US" altLang="zh-CN" sz="18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→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IR</a:t>
                </a:r>
                <a:endParaRPr lang="en-US" altLang="zh-CN" sz="1800" b="1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59" name="Text Box 65"/>
              <p:cNvSpPr txBox="1">
                <a:spLocks noChangeArrowheads="1"/>
              </p:cNvSpPr>
              <p:nvPr/>
            </p:nvSpPr>
            <p:spPr bwMode="auto">
              <a:xfrm>
                <a:off x="2085478" y="3138720"/>
                <a:ext cx="1152000" cy="288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2700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(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IR)</a:t>
                </a:r>
                <a:r>
                  <a:rPr lang="en-US" altLang="zh-CN" sz="1800" b="1" baseline="-18000" dirty="0" smtClean="0">
                    <a:latin typeface="宋体" panose="02010600030101010101" pitchFamily="2" charset="-122"/>
                  </a:rPr>
                  <a:t>OP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→ID</a:t>
                </a:r>
                <a:endParaRPr lang="en-US" altLang="zh-CN" sz="1800" b="1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60" name="Text Box 65"/>
              <p:cNvSpPr txBox="1">
                <a:spLocks noChangeArrowheads="1"/>
              </p:cNvSpPr>
              <p:nvPr/>
            </p:nvSpPr>
            <p:spPr bwMode="auto">
              <a:xfrm>
                <a:off x="717350" y="3426720"/>
                <a:ext cx="1368000" cy="216000"/>
              </a:xfrm>
              <a:prstGeom prst="rect">
                <a:avLst/>
              </a:prstGeom>
              <a:solidFill>
                <a:srgbClr val="CCFFFF">
                  <a:alpha val="90000"/>
                </a:srgbClr>
              </a:solidFill>
              <a:ln w="12700">
                <a:noFill/>
                <a:prstDash val="sysDot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>
                  <a:lnSpc>
                    <a:spcPct val="90000"/>
                  </a:lnSpc>
                </a:pPr>
                <a:r>
                  <a:rPr lang="en-US" altLang="zh-CN" sz="18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  </a:t>
                </a:r>
                <a:r>
                  <a:rPr lang="zh-CN" altLang="en-US" sz="1800" b="1" dirty="0" smtClean="0">
                    <a:latin typeface="宋体" panose="02010600030101010101" pitchFamily="2" charset="-122"/>
                  </a:rPr>
                  <a:t>＋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1→PC</a:t>
                </a:r>
                <a:endParaRPr lang="en-US" altLang="zh-CN" sz="1800" b="1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61" name="直接连接符 10"/>
              <p:cNvCxnSpPr/>
              <p:nvPr/>
            </p:nvCxnSpPr>
            <p:spPr bwMode="auto">
              <a:xfrm rot="16200000" flipH="1">
                <a:off x="711928" y="3300704"/>
                <a:ext cx="252000" cy="216000"/>
              </a:xfrm>
              <a:prstGeom prst="bentConnector3">
                <a:avLst>
                  <a:gd name="adj1" fmla="val 100807"/>
                </a:avLst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</p:grpSp>
      <p:grpSp>
        <p:nvGrpSpPr>
          <p:cNvPr id="163" name="组合 162"/>
          <p:cNvGrpSpPr/>
          <p:nvPr/>
        </p:nvGrpSpPr>
        <p:grpSpPr>
          <a:xfrm>
            <a:off x="539552" y="4293096"/>
            <a:ext cx="4536504" cy="505567"/>
            <a:chOff x="1353076" y="4941168"/>
            <a:chExt cx="4536504" cy="505567"/>
          </a:xfrm>
        </p:grpSpPr>
        <p:sp>
          <p:nvSpPr>
            <p:cNvPr id="164" name="Text Box 65"/>
            <p:cNvSpPr txBox="1">
              <a:spLocks noChangeArrowheads="1"/>
            </p:cNvSpPr>
            <p:nvPr/>
          </p:nvSpPr>
          <p:spPr bwMode="auto">
            <a:xfrm>
              <a:off x="4233396" y="4942735"/>
              <a:ext cx="1656184" cy="504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IR)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Ad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MEM</a:t>
              </a: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(W)</a:t>
              </a:r>
              <a:endPara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just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AC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)—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zh-CN" altLang="en-US" sz="180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┘</a:t>
              </a:r>
              <a:endParaRPr lang="en-US" altLang="zh-CN" sz="1800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165" name="组合 164"/>
            <p:cNvGrpSpPr/>
            <p:nvPr/>
          </p:nvGrpSpPr>
          <p:grpSpPr>
            <a:xfrm>
              <a:off x="1353076" y="4941168"/>
              <a:ext cx="2880192" cy="504032"/>
              <a:chOff x="346104" y="3138688"/>
              <a:chExt cx="2880192" cy="504032"/>
            </a:xfrm>
          </p:grpSpPr>
          <p:sp>
            <p:nvSpPr>
              <p:cNvPr id="171" name="Text Box 65"/>
              <p:cNvSpPr txBox="1">
                <a:spLocks noChangeArrowheads="1"/>
              </p:cNvSpPr>
              <p:nvPr/>
            </p:nvSpPr>
            <p:spPr bwMode="auto">
              <a:xfrm>
                <a:off x="346104" y="3138688"/>
                <a:ext cx="1728000" cy="50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/>
                <a:endParaRPr lang="en-US" altLang="zh-CN" sz="1800" b="1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66" name="Text Box 65"/>
              <p:cNvSpPr txBox="1">
                <a:spLocks noChangeArrowheads="1"/>
              </p:cNvSpPr>
              <p:nvPr/>
            </p:nvSpPr>
            <p:spPr bwMode="auto">
              <a:xfrm>
                <a:off x="346104" y="3138688"/>
                <a:ext cx="1728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noFill/>
                <a:prstDash val="sysDot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>
                  <a:lnSpc>
                    <a:spcPct val="90000"/>
                  </a:lnSpc>
                </a:pPr>
                <a:r>
                  <a:rPr lang="en-US" altLang="zh-CN" sz="1800" b="1" dirty="0" smtClean="0">
                    <a:latin typeface="宋体" panose="02010600030101010101" pitchFamily="2" charset="-122"/>
                  </a:rPr>
                  <a:t>PC</a:t>
                </a:r>
                <a:r>
                  <a:rPr lang="en-US" altLang="zh-CN" sz="18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→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MEM</a:t>
                </a:r>
                <a:r>
                  <a:rPr lang="en-US" altLang="zh-CN" sz="1800" b="1" dirty="0" smtClean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(R)</a:t>
                </a:r>
                <a:r>
                  <a:rPr lang="en-US" altLang="zh-CN" sz="18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→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IR</a:t>
                </a:r>
                <a:endParaRPr lang="en-US" altLang="zh-CN" sz="1800" b="1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68" name="Text Box 65"/>
              <p:cNvSpPr txBox="1">
                <a:spLocks noChangeArrowheads="1"/>
              </p:cNvSpPr>
              <p:nvPr/>
            </p:nvSpPr>
            <p:spPr bwMode="auto">
              <a:xfrm>
                <a:off x="2074296" y="3140968"/>
                <a:ext cx="1152000" cy="288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2700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(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IR)</a:t>
                </a:r>
                <a:r>
                  <a:rPr lang="en-US" altLang="zh-CN" sz="1800" b="1" baseline="-18000" dirty="0" smtClean="0">
                    <a:latin typeface="宋体" panose="02010600030101010101" pitchFamily="2" charset="-122"/>
                  </a:rPr>
                  <a:t>OP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→ID</a:t>
                </a:r>
                <a:endParaRPr lang="en-US" altLang="zh-CN" sz="1800" b="1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69" name="Text Box 65"/>
              <p:cNvSpPr txBox="1">
                <a:spLocks noChangeArrowheads="1"/>
              </p:cNvSpPr>
              <p:nvPr/>
            </p:nvSpPr>
            <p:spPr bwMode="auto">
              <a:xfrm>
                <a:off x="706296" y="3426720"/>
                <a:ext cx="1368000" cy="216000"/>
              </a:xfrm>
              <a:prstGeom prst="rect">
                <a:avLst/>
              </a:prstGeom>
              <a:solidFill>
                <a:srgbClr val="CCFFFF">
                  <a:alpha val="90000"/>
                </a:srgbClr>
              </a:solidFill>
              <a:ln w="12700">
                <a:noFill/>
                <a:prstDash val="sysDot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>
                  <a:lnSpc>
                    <a:spcPct val="90000"/>
                  </a:lnSpc>
                </a:pPr>
                <a:r>
                  <a:rPr lang="en-US" altLang="zh-CN" sz="18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  </a:t>
                </a:r>
                <a:r>
                  <a:rPr lang="zh-CN" altLang="en-US" sz="1800" b="1" dirty="0" smtClean="0">
                    <a:latin typeface="宋体" panose="02010600030101010101" pitchFamily="2" charset="-122"/>
                  </a:rPr>
                  <a:t>＋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1→PC</a:t>
                </a:r>
                <a:endParaRPr lang="en-US" altLang="zh-CN" sz="1800" b="1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70" name="直接连接符 10"/>
              <p:cNvCxnSpPr/>
              <p:nvPr/>
            </p:nvCxnSpPr>
            <p:spPr bwMode="auto">
              <a:xfrm rot="16200000" flipH="1">
                <a:off x="727822" y="3300704"/>
                <a:ext cx="252000" cy="216000"/>
              </a:xfrm>
              <a:prstGeom prst="bentConnector3">
                <a:avLst>
                  <a:gd name="adj1" fmla="val 100807"/>
                </a:avLst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</p:grpSp>
      <p:grpSp>
        <p:nvGrpSpPr>
          <p:cNvPr id="172" name="组合 171"/>
          <p:cNvGrpSpPr/>
          <p:nvPr/>
        </p:nvGrpSpPr>
        <p:grpSpPr>
          <a:xfrm>
            <a:off x="539552" y="4941168"/>
            <a:ext cx="3744416" cy="504064"/>
            <a:chOff x="1353076" y="5733256"/>
            <a:chExt cx="3744416" cy="504064"/>
          </a:xfrm>
        </p:grpSpPr>
        <p:sp>
          <p:nvSpPr>
            <p:cNvPr id="173" name="Text Box 65"/>
            <p:cNvSpPr txBox="1">
              <a:spLocks noChangeArrowheads="1"/>
            </p:cNvSpPr>
            <p:nvPr/>
          </p:nvSpPr>
          <p:spPr bwMode="auto">
            <a:xfrm>
              <a:off x="4233396" y="5736106"/>
              <a:ext cx="864096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(STOP)</a:t>
              </a:r>
              <a:endPara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174" name="组合 173"/>
            <p:cNvGrpSpPr/>
            <p:nvPr/>
          </p:nvGrpSpPr>
          <p:grpSpPr>
            <a:xfrm>
              <a:off x="1353076" y="5733256"/>
              <a:ext cx="2880192" cy="504064"/>
              <a:chOff x="346104" y="3138688"/>
              <a:chExt cx="2880192" cy="504064"/>
            </a:xfrm>
          </p:grpSpPr>
          <p:sp>
            <p:nvSpPr>
              <p:cNvPr id="179" name="Text Box 65"/>
              <p:cNvSpPr txBox="1">
                <a:spLocks noChangeArrowheads="1"/>
              </p:cNvSpPr>
              <p:nvPr/>
            </p:nvSpPr>
            <p:spPr bwMode="auto">
              <a:xfrm>
                <a:off x="346104" y="3138752"/>
                <a:ext cx="1728000" cy="50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/>
                <a:endParaRPr lang="en-US" altLang="zh-CN" sz="1800" b="1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75" name="Text Box 65"/>
              <p:cNvSpPr txBox="1">
                <a:spLocks noChangeArrowheads="1"/>
              </p:cNvSpPr>
              <p:nvPr/>
            </p:nvSpPr>
            <p:spPr bwMode="auto">
              <a:xfrm>
                <a:off x="346104" y="3138688"/>
                <a:ext cx="1728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noFill/>
                <a:prstDash val="sysDot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>
                  <a:lnSpc>
                    <a:spcPct val="90000"/>
                  </a:lnSpc>
                </a:pPr>
                <a:r>
                  <a:rPr lang="en-US" altLang="zh-CN" sz="1800" b="1" dirty="0" smtClean="0">
                    <a:latin typeface="宋体" panose="02010600030101010101" pitchFamily="2" charset="-122"/>
                  </a:rPr>
                  <a:t>PC</a:t>
                </a:r>
                <a:r>
                  <a:rPr lang="en-US" altLang="zh-CN" sz="18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→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MEM</a:t>
                </a:r>
                <a:r>
                  <a:rPr lang="en-US" altLang="zh-CN" sz="1800" b="1" dirty="0" smtClean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(R)</a:t>
                </a:r>
                <a:r>
                  <a:rPr lang="en-US" altLang="zh-CN" sz="18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→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IR</a:t>
                </a:r>
                <a:endParaRPr lang="en-US" altLang="zh-CN" sz="1800" b="1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76" name="Text Box 65"/>
              <p:cNvSpPr txBox="1">
                <a:spLocks noChangeArrowheads="1"/>
              </p:cNvSpPr>
              <p:nvPr/>
            </p:nvSpPr>
            <p:spPr bwMode="auto">
              <a:xfrm>
                <a:off x="2074296" y="3140968"/>
                <a:ext cx="1152000" cy="288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2700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(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IR)</a:t>
                </a:r>
                <a:r>
                  <a:rPr lang="en-US" altLang="zh-CN" sz="1800" b="1" baseline="-18000" dirty="0" smtClean="0">
                    <a:latin typeface="宋体" panose="02010600030101010101" pitchFamily="2" charset="-122"/>
                  </a:rPr>
                  <a:t>OP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→ID</a:t>
                </a:r>
                <a:endParaRPr lang="en-US" altLang="zh-CN" sz="1800" b="1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77" name="Text Box 65"/>
              <p:cNvSpPr txBox="1">
                <a:spLocks noChangeArrowheads="1"/>
              </p:cNvSpPr>
              <p:nvPr/>
            </p:nvSpPr>
            <p:spPr bwMode="auto">
              <a:xfrm>
                <a:off x="706296" y="3426720"/>
                <a:ext cx="1368000" cy="216000"/>
              </a:xfrm>
              <a:prstGeom prst="rect">
                <a:avLst/>
              </a:prstGeom>
              <a:solidFill>
                <a:srgbClr val="CCFFFF">
                  <a:alpha val="90000"/>
                </a:srgbClr>
              </a:solidFill>
              <a:ln w="12700">
                <a:noFill/>
                <a:prstDash val="sysDot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>
                  <a:lnSpc>
                    <a:spcPct val="90000"/>
                  </a:lnSpc>
                </a:pPr>
                <a:r>
                  <a:rPr lang="en-US" altLang="zh-CN" sz="18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  </a:t>
                </a:r>
                <a:r>
                  <a:rPr lang="zh-CN" altLang="en-US" sz="1800" b="1" dirty="0" smtClean="0">
                    <a:latin typeface="宋体" panose="02010600030101010101" pitchFamily="2" charset="-122"/>
                  </a:rPr>
                  <a:t>＋</a:t>
                </a:r>
                <a:r>
                  <a:rPr lang="en-US" altLang="zh-CN" sz="1800" b="1" dirty="0" smtClean="0">
                    <a:latin typeface="宋体" panose="02010600030101010101" pitchFamily="2" charset="-122"/>
                  </a:rPr>
                  <a:t>1→PC</a:t>
                </a:r>
                <a:endParaRPr lang="en-US" altLang="zh-CN" sz="1800" b="1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78" name="直接连接符 10"/>
              <p:cNvCxnSpPr/>
              <p:nvPr/>
            </p:nvCxnSpPr>
            <p:spPr bwMode="auto">
              <a:xfrm rot="16200000" flipH="1">
                <a:off x="727822" y="3300704"/>
                <a:ext cx="252000" cy="216000"/>
              </a:xfrm>
              <a:prstGeom prst="bentConnector3">
                <a:avLst>
                  <a:gd name="adj1" fmla="val 100807"/>
                </a:avLst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</p:grpSp>
      <p:sp>
        <p:nvSpPr>
          <p:cNvPr id="180" name="Text Box 36"/>
          <p:cNvSpPr txBox="1">
            <a:spLocks noChangeArrowheads="1"/>
          </p:cNvSpPr>
          <p:nvPr/>
        </p:nvSpPr>
        <p:spPr bwMode="auto">
          <a:xfrm>
            <a:off x="7175342" y="2961016"/>
            <a:ext cx="1368152" cy="61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r>
              <a:rPr lang="en-US" altLang="zh-CN" sz="1800" b="1" dirty="0" smtClean="0">
                <a:latin typeface="宋体" panose="02010600030101010101" pitchFamily="2" charset="-122"/>
              </a:rPr>
              <a:t>(PC)=2001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r>
              <a:rPr lang="en-US" altLang="zh-CN" sz="1800" b="1" dirty="0" smtClean="0">
                <a:latin typeface="宋体" panose="02010600030101010101" pitchFamily="2" charset="-122"/>
              </a:rPr>
              <a:t>(AC)=x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181" name="Text Box 36"/>
          <p:cNvSpPr txBox="1">
            <a:spLocks noChangeArrowheads="1"/>
          </p:cNvSpPr>
          <p:nvPr/>
        </p:nvSpPr>
        <p:spPr bwMode="auto">
          <a:xfrm>
            <a:off x="7175342" y="3609088"/>
            <a:ext cx="1368152" cy="61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r>
              <a:rPr lang="en-US" altLang="zh-CN" sz="1800" b="1" dirty="0" smtClean="0">
                <a:latin typeface="宋体" panose="02010600030101010101" pitchFamily="2" charset="-122"/>
              </a:rPr>
              <a:t>(PC)=2002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r>
              <a:rPr lang="en-US" altLang="zh-CN" sz="1800" b="1" dirty="0" smtClean="0">
                <a:latin typeface="宋体" panose="02010600030101010101" pitchFamily="2" charset="-122"/>
              </a:rPr>
              <a:t>(AC)=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x+b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182" name="Text Box 36"/>
          <p:cNvSpPr txBox="1">
            <a:spLocks noChangeArrowheads="1"/>
          </p:cNvSpPr>
          <p:nvPr/>
        </p:nvSpPr>
        <p:spPr bwMode="auto">
          <a:xfrm>
            <a:off x="7175342" y="4329168"/>
            <a:ext cx="1368152" cy="61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r>
              <a:rPr lang="en-US" altLang="zh-CN" sz="1800" b="1" dirty="0" smtClean="0">
                <a:latin typeface="宋体" panose="02010600030101010101" pitchFamily="2" charset="-122"/>
              </a:rPr>
              <a:t>(PC)=2003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r>
              <a:rPr lang="en-US" altLang="zh-CN" sz="1800" b="1" dirty="0" smtClean="0">
                <a:latin typeface="宋体" panose="02010600030101010101" pitchFamily="2" charset="-122"/>
              </a:rPr>
              <a:t>M[&amp;y]=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x+b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cxnSp>
        <p:nvCxnSpPr>
          <p:cNvPr id="217" name="直接连接符 10"/>
          <p:cNvCxnSpPr>
            <a:stCxn id="164" idx="3"/>
            <a:endCxn id="175" idx="1"/>
          </p:cNvCxnSpPr>
          <p:nvPr/>
        </p:nvCxnSpPr>
        <p:spPr bwMode="auto">
          <a:xfrm flipH="1">
            <a:off x="539552" y="4546663"/>
            <a:ext cx="4536504" cy="538505"/>
          </a:xfrm>
          <a:prstGeom prst="bentConnector5">
            <a:avLst>
              <a:gd name="adj1" fmla="val -5039"/>
              <a:gd name="adj2" fmla="val 60028"/>
              <a:gd name="adj3" fmla="val 105039"/>
            </a:avLst>
          </a:prstGeom>
          <a:noFill/>
          <a:ln w="1270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sp>
        <p:nvSpPr>
          <p:cNvPr id="86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9" name="Text Box 36"/>
          <p:cNvSpPr txBox="1">
            <a:spLocks noChangeArrowheads="1"/>
          </p:cNvSpPr>
          <p:nvPr/>
        </p:nvSpPr>
        <p:spPr bwMode="auto">
          <a:xfrm>
            <a:off x="1669673" y="2636912"/>
            <a:ext cx="6862767" cy="322326"/>
          </a:xfrm>
          <a:prstGeom prst="rect">
            <a:avLst/>
          </a:prstGeom>
          <a:solidFill>
            <a:srgbClr val="CCCCFF">
              <a:alpha val="80000"/>
            </a:srgbClr>
          </a:solidFill>
          <a:ln w="19050">
            <a:noFill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r>
              <a:rPr lang="zh-CN" altLang="en-US" sz="1800" b="1" dirty="0" smtClean="0">
                <a:latin typeface="宋体" panose="02010600030101010101" pitchFamily="2" charset="-122"/>
              </a:rPr>
              <a:t>指令执行过程的操作          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指令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执行结果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90" name="AutoShape 338"/>
          <p:cNvSpPr/>
          <p:nvPr/>
        </p:nvSpPr>
        <p:spPr bwMode="auto">
          <a:xfrm>
            <a:off x="5940152" y="499532"/>
            <a:ext cx="1876922" cy="265172"/>
          </a:xfrm>
          <a:prstGeom prst="borderCallout2">
            <a:avLst>
              <a:gd name="adj1" fmla="val 50491"/>
              <a:gd name="adj2" fmla="val 40"/>
              <a:gd name="adj3" fmla="val 52983"/>
              <a:gd name="adj4" fmla="val -15530"/>
              <a:gd name="adj5" fmla="val 338126"/>
              <a:gd name="adj6" fmla="val -37737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600" b="1" dirty="0" smtClean="0">
                <a:solidFill>
                  <a:srgbClr val="000000"/>
                </a:solidFill>
                <a:latin typeface="Times New Roman" panose="02020603050405020304"/>
              </a:rPr>
              <a:t>忽略地址变换问题</a:t>
            </a:r>
            <a:endParaRPr lang="zh-CN" altLang="en-US" sz="16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1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22887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7" name="组合 146"/>
          <p:cNvGrpSpPr/>
          <p:nvPr/>
        </p:nvGrpSpPr>
        <p:grpSpPr>
          <a:xfrm>
            <a:off x="539552" y="2996952"/>
            <a:ext cx="2880320" cy="504032"/>
            <a:chOff x="357158" y="3133558"/>
            <a:chExt cx="2880320" cy="504032"/>
          </a:xfrm>
        </p:grpSpPr>
        <p:sp>
          <p:nvSpPr>
            <p:cNvPr id="152" name="Text Box 65"/>
            <p:cNvSpPr txBox="1">
              <a:spLocks noChangeArrowheads="1"/>
            </p:cNvSpPr>
            <p:nvPr/>
          </p:nvSpPr>
          <p:spPr bwMode="auto">
            <a:xfrm>
              <a:off x="357350" y="3133558"/>
              <a:ext cx="1728000" cy="50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>
                <a:lnSpc>
                  <a:spcPct val="90000"/>
                </a:lnSpc>
              </a:pP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8" name="Text Box 65"/>
            <p:cNvSpPr txBox="1">
              <a:spLocks noChangeArrowheads="1"/>
            </p:cNvSpPr>
            <p:nvPr/>
          </p:nvSpPr>
          <p:spPr bwMode="auto">
            <a:xfrm>
              <a:off x="357158" y="3133558"/>
              <a:ext cx="1728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noFill/>
              <a:prstDash val="sysDot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PC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MEM</a:t>
              </a: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(R)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9" name="Text Box 65"/>
            <p:cNvSpPr txBox="1">
              <a:spLocks noChangeArrowheads="1"/>
            </p:cNvSpPr>
            <p:nvPr/>
          </p:nvSpPr>
          <p:spPr bwMode="auto">
            <a:xfrm>
              <a:off x="2085478" y="3140968"/>
              <a:ext cx="1152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(IR)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OP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50" name="Text Box 65"/>
            <p:cNvSpPr txBox="1">
              <a:spLocks noChangeArrowheads="1"/>
            </p:cNvSpPr>
            <p:nvPr/>
          </p:nvSpPr>
          <p:spPr bwMode="auto">
            <a:xfrm>
              <a:off x="717350" y="3421590"/>
              <a:ext cx="1368000" cy="216000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2700">
              <a:noFill/>
              <a:prstDash val="sysDot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 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1→PC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51" name="直接连接符 10"/>
            <p:cNvCxnSpPr/>
            <p:nvPr/>
          </p:nvCxnSpPr>
          <p:spPr bwMode="auto">
            <a:xfrm rot="16200000" flipH="1">
              <a:off x="727823" y="3295574"/>
              <a:ext cx="252000" cy="216000"/>
            </a:xfrm>
            <a:prstGeom prst="bentConnector3">
              <a:avLst>
                <a:gd name="adj1" fmla="val 100807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3" name="组合 2"/>
          <p:cNvGrpSpPr/>
          <p:nvPr/>
        </p:nvGrpSpPr>
        <p:grpSpPr>
          <a:xfrm>
            <a:off x="5289803" y="5085184"/>
            <a:ext cx="3384376" cy="1224136"/>
            <a:chOff x="4644008" y="5085184"/>
            <a:chExt cx="3384376" cy="1224136"/>
          </a:xfrm>
        </p:grpSpPr>
        <p:sp>
          <p:nvSpPr>
            <p:cNvPr id="128" name="Text Box 705"/>
            <p:cNvSpPr txBox="1">
              <a:spLocks noChangeArrowheads="1"/>
            </p:cNvSpPr>
            <p:nvPr/>
          </p:nvSpPr>
          <p:spPr bwMode="auto">
            <a:xfrm>
              <a:off x="5076056" y="6021288"/>
              <a:ext cx="2376000" cy="180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prstDash val="solid"/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kumimoji="0" lang="zh-CN" altLang="en-US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部件互连结构</a:t>
              </a:r>
              <a:endParaRPr kumimoji="0"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29" name="Text Box 174"/>
            <p:cNvSpPr txBox="1">
              <a:spLocks noChangeArrowheads="1"/>
            </p:cNvSpPr>
            <p:nvPr/>
          </p:nvSpPr>
          <p:spPr bwMode="auto">
            <a:xfrm>
              <a:off x="7668344" y="5301208"/>
              <a:ext cx="360040" cy="82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主存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0" name="Rectangle 175"/>
            <p:cNvSpPr>
              <a:spLocks noChangeArrowheads="1"/>
            </p:cNvSpPr>
            <p:nvPr/>
          </p:nvSpPr>
          <p:spPr bwMode="auto">
            <a:xfrm>
              <a:off x="4644008" y="5085184"/>
              <a:ext cx="2880000" cy="11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Rectangle 178" descr="轮廓式菱形"/>
            <p:cNvSpPr>
              <a:spLocks noChangeArrowheads="1"/>
            </p:cNvSpPr>
            <p:nvPr/>
          </p:nvSpPr>
          <p:spPr bwMode="auto">
            <a:xfrm>
              <a:off x="6300192" y="5229200"/>
              <a:ext cx="1152000" cy="72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Rectangle 179" descr="瓦形"/>
            <p:cNvSpPr>
              <a:spLocks noChangeArrowheads="1"/>
            </p:cNvSpPr>
            <p:nvPr/>
          </p:nvSpPr>
          <p:spPr bwMode="auto">
            <a:xfrm>
              <a:off x="4716016" y="5157192"/>
              <a:ext cx="1512000" cy="79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Text Box 190"/>
            <p:cNvSpPr txBox="1">
              <a:spLocks noChangeArrowheads="1"/>
            </p:cNvSpPr>
            <p:nvPr/>
          </p:nvSpPr>
          <p:spPr bwMode="auto">
            <a:xfrm>
              <a:off x="4932040" y="5661272"/>
              <a:ext cx="43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AC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7" name="AutoShape 191"/>
            <p:cNvSpPr>
              <a:spLocks noChangeArrowheads="1"/>
            </p:cNvSpPr>
            <p:nvPr/>
          </p:nvSpPr>
          <p:spPr bwMode="auto">
            <a:xfrm rot="10800000">
              <a:off x="5004049" y="5301231"/>
              <a:ext cx="648000" cy="216000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83" name="Text Box 201"/>
            <p:cNvSpPr txBox="1">
              <a:spLocks noChangeArrowheads="1"/>
            </p:cNvSpPr>
            <p:nvPr/>
          </p:nvSpPr>
          <p:spPr bwMode="auto">
            <a:xfrm>
              <a:off x="6372296" y="5661272"/>
              <a:ext cx="43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PC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84" name="Text Box 202"/>
            <p:cNvSpPr txBox="1">
              <a:spLocks noChangeArrowheads="1"/>
            </p:cNvSpPr>
            <p:nvPr/>
          </p:nvSpPr>
          <p:spPr bwMode="auto">
            <a:xfrm>
              <a:off x="6876304" y="5661272"/>
              <a:ext cx="43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IR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85" name="Text Box 203"/>
            <p:cNvSpPr txBox="1">
              <a:spLocks noChangeArrowheads="1"/>
            </p:cNvSpPr>
            <p:nvPr/>
          </p:nvSpPr>
          <p:spPr bwMode="auto">
            <a:xfrm>
              <a:off x="6948304" y="5301208"/>
              <a:ext cx="36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ID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86" name="Text Box 209"/>
            <p:cNvSpPr txBox="1">
              <a:spLocks noChangeArrowheads="1"/>
            </p:cNvSpPr>
            <p:nvPr/>
          </p:nvSpPr>
          <p:spPr bwMode="auto">
            <a:xfrm>
              <a:off x="5580112" y="5661248"/>
              <a:ext cx="504000" cy="216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 smtClean="0">
                  <a:latin typeface="+mn-ea"/>
                  <a:ea typeface="+mn-ea"/>
                  <a:cs typeface="Arial Unicode MS" panose="020B0604020202020204" charset="-122"/>
                </a:rPr>
                <a:t>+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en-US" altLang="zh-CN" sz="1600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cxnSp>
          <p:nvCxnSpPr>
            <p:cNvPr id="187" name="直接连接符 56"/>
            <p:cNvCxnSpPr/>
            <p:nvPr/>
          </p:nvCxnSpPr>
          <p:spPr bwMode="auto">
            <a:xfrm rot="10800000">
              <a:off x="4788025" y="5229272"/>
              <a:ext cx="144000" cy="540000"/>
            </a:xfrm>
            <a:prstGeom prst="bentConnector2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none" w="med" len="sm"/>
            </a:ln>
            <a:effectLst/>
          </p:spPr>
        </p:cxnSp>
        <p:cxnSp>
          <p:nvCxnSpPr>
            <p:cNvPr id="188" name="直接连接符 56"/>
            <p:cNvCxnSpPr/>
            <p:nvPr/>
          </p:nvCxnSpPr>
          <p:spPr bwMode="auto">
            <a:xfrm>
              <a:off x="5148064" y="5877288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9" name="直接连接符 56"/>
            <p:cNvCxnSpPr/>
            <p:nvPr/>
          </p:nvCxnSpPr>
          <p:spPr bwMode="auto">
            <a:xfrm flipV="1">
              <a:off x="5148064" y="5517248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0" name="直接连接符 56"/>
            <p:cNvCxnSpPr/>
            <p:nvPr/>
          </p:nvCxnSpPr>
          <p:spPr bwMode="auto">
            <a:xfrm flipV="1">
              <a:off x="5508104" y="5517288"/>
              <a:ext cx="1" cy="50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1" name="直接连接符 56"/>
            <p:cNvCxnSpPr/>
            <p:nvPr/>
          </p:nvCxnSpPr>
          <p:spPr bwMode="auto">
            <a:xfrm flipH="1">
              <a:off x="6804264" y="5373216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2" name="直接连接符 56"/>
            <p:cNvCxnSpPr/>
            <p:nvPr/>
          </p:nvCxnSpPr>
          <p:spPr bwMode="auto">
            <a:xfrm flipH="1">
              <a:off x="5580112" y="5408677"/>
              <a:ext cx="144016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3" name="直接连接符 56"/>
            <p:cNvCxnSpPr/>
            <p:nvPr/>
          </p:nvCxnSpPr>
          <p:spPr bwMode="auto">
            <a:xfrm flipV="1">
              <a:off x="7020272" y="5517232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4" name="直接连接符 56"/>
            <p:cNvCxnSpPr/>
            <p:nvPr/>
          </p:nvCxnSpPr>
          <p:spPr bwMode="auto">
            <a:xfrm flipH="1" flipV="1">
              <a:off x="7092328" y="5877272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5" name="直接连接符 56"/>
            <p:cNvCxnSpPr/>
            <p:nvPr/>
          </p:nvCxnSpPr>
          <p:spPr bwMode="auto">
            <a:xfrm rot="5400000">
              <a:off x="5547053" y="6255320"/>
              <a:ext cx="1080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6" name="直接连接符 56"/>
            <p:cNvCxnSpPr/>
            <p:nvPr/>
          </p:nvCxnSpPr>
          <p:spPr bwMode="auto">
            <a:xfrm rot="5400000">
              <a:off x="6822256" y="6255320"/>
              <a:ext cx="10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7" name="直接连接符 56"/>
            <p:cNvCxnSpPr/>
            <p:nvPr/>
          </p:nvCxnSpPr>
          <p:spPr bwMode="auto">
            <a:xfrm rot="5400000">
              <a:off x="6339338" y="6255320"/>
              <a:ext cx="10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8" name="直接连接符 56"/>
            <p:cNvCxnSpPr/>
            <p:nvPr/>
          </p:nvCxnSpPr>
          <p:spPr bwMode="auto">
            <a:xfrm rot="16200000" flipH="1">
              <a:off x="5832144" y="5697249"/>
              <a:ext cx="360000" cy="288000"/>
            </a:xfrm>
            <a:prstGeom prst="bentConnector3">
              <a:avLst>
                <a:gd name="adj1" fmla="val -19250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9" name="直接连接符 56"/>
            <p:cNvCxnSpPr/>
            <p:nvPr/>
          </p:nvCxnSpPr>
          <p:spPr bwMode="auto">
            <a:xfrm flipH="1" flipV="1">
              <a:off x="6228184" y="5373216"/>
              <a:ext cx="21606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sp>
          <p:nvSpPr>
            <p:cNvPr id="200" name="Text Box 190"/>
            <p:cNvSpPr txBox="1">
              <a:spLocks noChangeArrowheads="1"/>
            </p:cNvSpPr>
            <p:nvPr/>
          </p:nvSpPr>
          <p:spPr bwMode="auto">
            <a:xfrm>
              <a:off x="5148064" y="5302348"/>
              <a:ext cx="36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ALU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1" name="直接连接符 56"/>
            <p:cNvCxnSpPr/>
            <p:nvPr/>
          </p:nvCxnSpPr>
          <p:spPr bwMode="auto">
            <a:xfrm>
              <a:off x="6588272" y="5877272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201"/>
            <p:cNvCxnSpPr/>
            <p:nvPr/>
          </p:nvCxnSpPr>
          <p:spPr bwMode="auto">
            <a:xfrm>
              <a:off x="5508104" y="6309320"/>
              <a:ext cx="252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3" name="直接连接符 56"/>
            <p:cNvCxnSpPr/>
            <p:nvPr/>
          </p:nvCxnSpPr>
          <p:spPr bwMode="auto">
            <a:xfrm flipV="1">
              <a:off x="7740352" y="6129312"/>
              <a:ext cx="0" cy="18000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204" name="直接连接符 56"/>
            <p:cNvCxnSpPr/>
            <p:nvPr/>
          </p:nvCxnSpPr>
          <p:spPr bwMode="auto">
            <a:xfrm flipV="1">
              <a:off x="7852280" y="6129312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205" name="直接连接符 56"/>
            <p:cNvCxnSpPr/>
            <p:nvPr/>
          </p:nvCxnSpPr>
          <p:spPr bwMode="auto">
            <a:xfrm>
              <a:off x="4788024" y="5229208"/>
              <a:ext cx="540000" cy="72000"/>
            </a:xfrm>
            <a:prstGeom prst="bentConnector2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6" name="Text Box 203"/>
            <p:cNvSpPr txBox="1">
              <a:spLocks noChangeArrowheads="1"/>
            </p:cNvSpPr>
            <p:nvPr/>
          </p:nvSpPr>
          <p:spPr bwMode="auto">
            <a:xfrm>
              <a:off x="6444248" y="5301208"/>
              <a:ext cx="36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OP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7" name="直接连接符 56"/>
            <p:cNvCxnSpPr/>
            <p:nvPr/>
          </p:nvCxnSpPr>
          <p:spPr bwMode="auto">
            <a:xfrm flipH="1">
              <a:off x="6804264" y="5445224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208" name="直接连接符 56"/>
            <p:cNvCxnSpPr/>
            <p:nvPr/>
          </p:nvCxnSpPr>
          <p:spPr bwMode="auto">
            <a:xfrm flipH="1" flipV="1">
              <a:off x="6228144" y="5445224"/>
              <a:ext cx="21606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209" name="直接连接符 56"/>
            <p:cNvCxnSpPr/>
            <p:nvPr/>
          </p:nvCxnSpPr>
          <p:spPr bwMode="auto">
            <a:xfrm rot="5400000">
              <a:off x="7866376" y="6219312"/>
              <a:ext cx="18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0" name="直接连接符 56"/>
            <p:cNvCxnSpPr/>
            <p:nvPr/>
          </p:nvCxnSpPr>
          <p:spPr bwMode="auto">
            <a:xfrm flipH="1" flipV="1">
              <a:off x="5868144" y="5877272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92" name="直接连接符 56"/>
            <p:cNvCxnSpPr/>
            <p:nvPr/>
          </p:nvCxnSpPr>
          <p:spPr bwMode="auto">
            <a:xfrm rot="16200000" flipH="1">
              <a:off x="7128328" y="5769249"/>
              <a:ext cx="360000" cy="144000"/>
            </a:xfrm>
            <a:prstGeom prst="bentConnector3">
              <a:avLst>
                <a:gd name="adj1" fmla="val -19250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sp>
        <p:nvSpPr>
          <p:cNvPr id="4" name="Text Box 3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26393" y="5616000"/>
            <a:ext cx="4176000" cy="39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18000" tIns="10800" rIns="18000" bIns="10800">
            <a:noAutofit/>
          </a:bodyPr>
          <a:p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特征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由若干有序的操作组成</a:t>
            </a: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nimBg="1"/>
      <p:bldP spid="181" grpId="0"/>
      <p:bldP spid="182" grpId="0"/>
      <p:bldP spid="89" grpId="0" animBg="1"/>
      <p:bldP spid="90" grpId="0" animBg="1"/>
      <p:bldP spid="4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51520" y="404664"/>
            <a:ext cx="8640960" cy="5438775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 ※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本节课堂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练习（多选题）：</a:t>
            </a:r>
            <a:endParaRPr lang="en-US" altLang="zh-CN" b="1" dirty="0">
              <a:latin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1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、使用逻辑地址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(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不是物理地址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)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编程的原因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有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A.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主存容量可变  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程序装入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位置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未知  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C.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允许程序空间≥主存空间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2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PC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b="1" dirty="0">
                <a:latin typeface="宋体" panose="02010600030101010101" pitchFamily="2" charset="-122"/>
              </a:rPr>
              <a:t>PC)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＋</a:t>
            </a:r>
            <a:r>
              <a:rPr lang="zh-CN" altLang="en-US" sz="22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中的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是指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446405" indent="-446405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     A. </a:t>
            </a:r>
            <a:r>
              <a:rPr lang="zh-CN" altLang="en-US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指令</a:t>
            </a:r>
            <a:r>
              <a:rPr lang="zh-CN" altLang="en-US" sz="2200" b="1" dirty="0">
                <a:latin typeface="宋体" panose="02010600030101010101" pitchFamily="2" charset="-122"/>
                <a:sym typeface="微软雅黑" panose="020B0503020204020204" charset="-122"/>
              </a:rPr>
              <a:t>所占</a:t>
            </a:r>
            <a:r>
              <a:rPr lang="zh-CN" altLang="en-US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存储单元数  </a:t>
            </a:r>
            <a:r>
              <a:rPr lang="en-US" altLang="zh-CN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B. </a:t>
            </a:r>
            <a:r>
              <a:rPr lang="zh-CN" altLang="en-US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指令所占二进制位数  </a:t>
            </a:r>
            <a:endParaRPr lang="en-US" altLang="zh-CN" sz="2200" b="1" dirty="0" smtClean="0">
              <a:latin typeface="宋体" panose="02010600030101010101" pitchFamily="2" charset="-122"/>
              <a:sym typeface="微软雅黑" panose="020B0503020204020204" charset="-122"/>
            </a:endParaRPr>
          </a:p>
          <a:p>
            <a:pPr marL="446405" indent="-446405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     C.</a:t>
            </a:r>
            <a:r>
              <a:rPr lang="zh-CN" altLang="en-US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 数值</a:t>
            </a:r>
            <a:r>
              <a:rPr lang="en-US" altLang="zh-CN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1</a:t>
            </a:r>
            <a:endParaRPr lang="en-US" altLang="zh-CN" sz="2200" b="1" dirty="0" smtClean="0"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3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、转移型指令的下条指令地址计算，可以提前进行的原因是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A.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计算与指令内容无关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计算与数据操作无关  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C.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其他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4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、程序执行过程中的循环，其实现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方法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是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A.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时序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信号具有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周期性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B.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用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PC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存放下条指令地址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9248A-FA8B-4991-AE0A-CBD8CD257108}" type="slidenum">
              <a:rPr lang="en-US" altLang="zh-CN"/>
            </a:fld>
            <a:endParaRPr lang="en-US" altLang="zh-CN"/>
          </a:p>
        </p:txBody>
      </p:sp>
      <p:sp>
        <p:nvSpPr>
          <p:cNvPr id="261124" name="Text Box 4"/>
          <p:cNvSpPr txBox="1">
            <a:spLocks noChangeArrowheads="1"/>
          </p:cNvSpPr>
          <p:nvPr/>
        </p:nvSpPr>
        <p:spPr bwMode="auto">
          <a:xfrm>
            <a:off x="762000" y="339742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1.5 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计算机的</a:t>
            </a:r>
            <a:r>
              <a:rPr lang="zh-CN" altLang="en-US" sz="2800" b="1" dirty="0">
                <a:latin typeface="宋体" panose="02010600030101010101" pitchFamily="2" charset="-122"/>
              </a:rPr>
              <a:t>性能指标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3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29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Text Box 526"/>
          <p:cNvSpPr txBox="1">
            <a:spLocks noChangeArrowheads="1"/>
          </p:cNvSpPr>
          <p:nvPr/>
        </p:nvSpPr>
        <p:spPr bwMode="auto">
          <a:xfrm>
            <a:off x="179512" y="981889"/>
            <a:ext cx="8785225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主要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内容：</a:t>
            </a:r>
            <a:r>
              <a:rPr lang="zh-CN" altLang="en-US" sz="2200" b="1" u="none" dirty="0" smtClean="0">
                <a:latin typeface="+mn-ea"/>
                <a:ea typeface="+mn-ea"/>
              </a:rPr>
              <a:t>硬件技术指标，计算机性能指标</a:t>
            </a:r>
            <a:endParaRPr lang="en-US" altLang="zh-CN" sz="2200" b="1" u="none" dirty="0" smtClean="0">
              <a:latin typeface="+mn-ea"/>
              <a:ea typeface="+mn-ea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79389" y="1916832"/>
            <a:ext cx="2088355" cy="44350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机器字长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b="1" dirty="0" smtClean="0">
                <a:latin typeface="宋体" panose="02010600030101010101" pitchFamily="2" charset="-122"/>
              </a:rPr>
              <a:t> 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 </a:t>
            </a:r>
            <a:endParaRPr lang="en-US" altLang="zh-CN" sz="20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单位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dirty="0" smtClean="0">
                <a:latin typeface="宋体" panose="02010600030101010101" pitchFamily="2" charset="-122"/>
              </a:rPr>
              <a:t> 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特点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599055" indent="-2599055">
              <a:lnSpc>
                <a:spcPct val="125000"/>
              </a:lnSpc>
              <a:spcBef>
                <a:spcPts val="600"/>
              </a:spcBef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主频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b="1" dirty="0" smtClean="0">
                <a:latin typeface="宋体" panose="02010600030101010101" pitchFamily="2" charset="-122"/>
              </a:rPr>
              <a:t> 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05000"/>
              </a:lnSpc>
            </a:pP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05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单位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599055" indent="-2599055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特点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79388" y="1412776"/>
            <a:ext cx="8785225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硬件的技术指标</a:t>
            </a:r>
            <a:endParaRPr lang="zh-CN" altLang="en-US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1763810" y="3133417"/>
            <a:ext cx="727268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反映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整数运算</a:t>
            </a:r>
            <a:r>
              <a:rPr lang="zh-CN" altLang="en-US" b="1" dirty="0" smtClean="0">
                <a:latin typeface="宋体" panose="02010600030101010101" pitchFamily="2" charset="-122"/>
              </a:rPr>
              <a:t>的性能；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800" i="1" dirty="0" smtClean="0">
                <a:latin typeface="+mn-lt"/>
              </a:rPr>
              <a:t>T</a:t>
            </a:r>
            <a:r>
              <a:rPr lang="en-US" altLang="zh-CN" sz="1800" b="1" baseline="-18000" dirty="0" smtClean="0">
                <a:latin typeface="宋体" panose="02010600030101010101" pitchFamily="2" charset="-122"/>
              </a:rPr>
              <a:t>32</a:t>
            </a:r>
            <a:r>
              <a:rPr lang="zh-CN" altLang="en-US" sz="1800" b="1" baseline="-18000" dirty="0" smtClean="0">
                <a:latin typeface="宋体" panose="02010600030101010101" pitchFamily="2" charset="-122"/>
              </a:rPr>
              <a:t>位加法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＜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2×</a:t>
            </a:r>
            <a:r>
              <a:rPr lang="en-US" altLang="zh-CN" sz="1800" i="1" dirty="0" smtClean="0">
                <a:latin typeface="+mn-lt"/>
              </a:rPr>
              <a:t>T</a:t>
            </a:r>
            <a:r>
              <a:rPr lang="en-US" altLang="zh-CN" sz="1800" b="1" baseline="-18000" dirty="0" smtClean="0">
                <a:latin typeface="宋体" panose="02010600030101010101" pitchFamily="2" charset="-122"/>
              </a:rPr>
              <a:t>16</a:t>
            </a:r>
            <a:r>
              <a:rPr lang="zh-CN" altLang="en-US" sz="1800" b="1" baseline="-18000" dirty="0" smtClean="0">
                <a:latin typeface="宋体" panose="02010600030101010101" pitchFamily="2" charset="-122"/>
              </a:rPr>
              <a:t>位加法</a:t>
            </a:r>
            <a:endParaRPr lang="en-US" altLang="zh-CN" sz="1800" b="1" baseline="-18000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决定</a:t>
            </a:r>
            <a:r>
              <a:rPr lang="en-US" altLang="zh-CN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ALU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、数据</a:t>
            </a:r>
            <a:r>
              <a:rPr lang="en-US" altLang="zh-CN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REG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、数据通路</a:t>
            </a:r>
            <a:r>
              <a:rPr lang="zh-CN" altLang="en-US" b="1" dirty="0" smtClean="0">
                <a:latin typeface="宋体" panose="02010600030101010101" pitchFamily="2" charset="-122"/>
              </a:rPr>
              <a:t>的位数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←宽度应相等</a:t>
            </a:r>
            <a:endParaRPr lang="en-US" altLang="zh-CN" sz="1800" b="1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1763687" y="1916832"/>
            <a:ext cx="7201049" cy="13388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</a:rPr>
              <a:t>指</a:t>
            </a:r>
            <a:r>
              <a:rPr lang="en-US" altLang="zh-CN" b="1" dirty="0">
                <a:latin typeface="宋体" panose="02010600030101010101" pitchFamily="2" charset="-122"/>
              </a:rPr>
              <a:t>CPU</a:t>
            </a:r>
            <a:r>
              <a:rPr lang="zh-CN" altLang="en-US" b="1" u="sng" dirty="0">
                <a:latin typeface="宋体" panose="02010600030101010101" pitchFamily="2" charset="-122"/>
              </a:rPr>
              <a:t>一次能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b="1" dirty="0" smtClean="0">
                <a:latin typeface="宋体" panose="02010600030101010101" pitchFamily="2" charset="-122"/>
              </a:rPr>
              <a:t>数据的二进制位数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</a:rPr>
              <a:t>                 </a:t>
            </a:r>
            <a:r>
              <a:rPr lang="zh-CN" altLang="en-US" sz="2000" dirty="0" smtClean="0">
                <a:latin typeface="宋体" panose="02010600030101010101" pitchFamily="2" charset="-122"/>
              </a:rPr>
              <a:t>└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←指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整数运算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←早期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: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浮点运算</a:t>
            </a:r>
            <a:r>
              <a:rPr lang="zh-CN" altLang="en-US" sz="1800" b="1" dirty="0" smtClean="0">
                <a:latin typeface="宋体" panose="02010600030101010101" pitchFamily="2" charset="-122"/>
                <a:sym typeface="Symbol" panose="05050102010706020507"/>
              </a:rPr>
              <a:t></a:t>
            </a:r>
            <a:r>
              <a:rPr lang="en-US" altLang="zh-CN" sz="1800" b="1" dirty="0" smtClean="0">
                <a:latin typeface="宋体" panose="02010600030101010101" pitchFamily="2" charset="-122"/>
                <a:sym typeface="Symbol" panose="05050102010706020507"/>
              </a:rPr>
              <a:t>CPU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二进制位</a:t>
            </a:r>
            <a:r>
              <a:rPr lang="en-US" altLang="zh-CN" b="1" dirty="0" smtClean="0">
                <a:latin typeface="宋体" panose="02010600030101010101" pitchFamily="2" charset="-122"/>
              </a:rPr>
              <a:t>(</a:t>
            </a:r>
            <a:r>
              <a:rPr lang="en-US" altLang="zh-CN" dirty="0" smtClean="0">
                <a:latin typeface="+mn-lt"/>
              </a:rPr>
              <a:t>bit</a:t>
            </a:r>
            <a:r>
              <a:rPr lang="en-US" altLang="zh-CN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，如</a:t>
            </a:r>
            <a:r>
              <a:rPr lang="en-US" altLang="zh-CN" b="1" dirty="0" smtClean="0">
                <a:solidFill>
                  <a:schemeClr val="accent2"/>
                </a:solidFill>
                <a:latin typeface="+mn-lt"/>
              </a:rPr>
              <a:t> </a:t>
            </a:r>
            <a:r>
              <a:rPr lang="en-US" altLang="zh-CN" i="1" dirty="0"/>
              <a:t>n</a:t>
            </a:r>
            <a:r>
              <a:rPr lang="zh-CN" altLang="en-US" b="1" dirty="0" smtClean="0">
                <a:latin typeface="宋体" panose="02010600030101010101" pitchFamily="2" charset="-122"/>
              </a:rPr>
              <a:t>位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机器字长为</a:t>
            </a:r>
            <a:r>
              <a:rPr lang="en-US" altLang="zh-CN" sz="2200" i="1" dirty="0" smtClean="0">
                <a:latin typeface="+mn-lt"/>
              </a:rPr>
              <a:t>n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位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1763812" y="4149080"/>
            <a:ext cx="7200926" cy="214930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599055" indent="-2599055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指</a:t>
            </a:r>
            <a:r>
              <a:rPr lang="en-US" altLang="zh-CN" b="1" dirty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内部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主时钟脉冲</a:t>
            </a:r>
            <a:r>
              <a:rPr lang="zh-CN" altLang="en-US" b="1" dirty="0" smtClean="0">
                <a:latin typeface="宋体" panose="02010600030101010101" pitchFamily="2" charset="-122"/>
              </a:rPr>
              <a:t>的频率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dirty="0" smtClean="0">
                <a:latin typeface="宋体" panose="02010600030101010101" pitchFamily="2" charset="-122"/>
              </a:rPr>
              <a:t>常记为</a:t>
            </a:r>
            <a:r>
              <a:rPr lang="zh-CN" altLang="en-US" b="1" dirty="0" smtClean="0">
                <a:latin typeface="+mn-lt"/>
              </a:rPr>
              <a:t> </a:t>
            </a:r>
            <a:r>
              <a:rPr lang="en-US" altLang="zh-CN" i="1" dirty="0" smtClean="0">
                <a:latin typeface="+mn-lt"/>
              </a:rPr>
              <a:t>f</a:t>
            </a:r>
            <a:r>
              <a:rPr lang="en-US" altLang="zh-CN" b="1" i="1" dirty="0" smtClean="0"/>
              <a:t> 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0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               </a:t>
            </a:r>
            <a:r>
              <a:rPr lang="zh-CN" altLang="en-US" sz="2000" dirty="0" smtClean="0">
                <a:latin typeface="宋体" panose="02010600030101010101" pitchFamily="2" charset="-122"/>
              </a:rPr>
              <a:t>└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2000" b="1" dirty="0">
                <a:latin typeface="宋体" panose="02010600030101010101" pitchFamily="2" charset="-122"/>
              </a:rPr>
              <a:t>宽度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＝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主时钟</a:t>
            </a:r>
            <a:r>
              <a:rPr lang="zh-CN" altLang="en-US" sz="20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周期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常记为</a:t>
            </a:r>
            <a:r>
              <a:rPr lang="en-US" altLang="zh-CN" sz="2000" b="1" i="1" dirty="0">
                <a:latin typeface="宋体" panose="02010600030101010101" pitchFamily="2" charset="-122"/>
              </a:rPr>
              <a:t>T</a:t>
            </a:r>
            <a:r>
              <a:rPr lang="en-US" altLang="zh-CN" sz="2000" b="1" baseline="-18000" dirty="0">
                <a:latin typeface="宋体" panose="02010600030101010101" pitchFamily="2" charset="-122"/>
              </a:rPr>
              <a:t>C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0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               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＝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最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基本</a:t>
            </a:r>
            <a:r>
              <a:rPr lang="zh-CN" altLang="en-US" sz="2000" b="1" u="sng" dirty="0" smtClean="0">
                <a:latin typeface="宋体" panose="02010600030101010101" pitchFamily="2" charset="-122"/>
              </a:rPr>
              <a:t>原子操作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的时延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1GHz=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10</a:t>
            </a:r>
            <a:r>
              <a:rPr lang="en-US" altLang="zh-CN" b="1" baseline="3000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en-US" altLang="zh-CN" b="1" baseline="30000" dirty="0" smtClean="0">
                <a:latin typeface="+mn-lt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MHz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</a:rPr>
              <a:t>1MHz=1×10</a:t>
            </a:r>
            <a:r>
              <a:rPr lang="en-US" altLang="zh-CN" b="1" baseline="30000" dirty="0" smtClean="0">
                <a:latin typeface="宋体" panose="02010600030101010101" pitchFamily="2" charset="-122"/>
              </a:rPr>
              <a:t>3</a:t>
            </a:r>
            <a:r>
              <a:rPr lang="en-US" altLang="zh-CN" b="1" baseline="30000" dirty="0" smtClean="0"/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kHz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</a:rPr>
              <a:t>1kHz=1×10</a:t>
            </a:r>
            <a:r>
              <a:rPr lang="en-US" altLang="zh-CN" b="1" baseline="30000" dirty="0" smtClean="0">
                <a:latin typeface="宋体" panose="02010600030101010101" pitchFamily="2" charset="-122"/>
              </a:rPr>
              <a:t>3</a:t>
            </a:r>
            <a:r>
              <a:rPr lang="en-US" altLang="zh-CN" b="1" baseline="30000" dirty="0" smtClean="0"/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Hz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25000"/>
              </a:lnSpc>
              <a:spcBef>
                <a:spcPts val="200"/>
              </a:spcBef>
            </a:pPr>
            <a:r>
              <a:rPr lang="zh-CN" altLang="en-US" b="1" dirty="0" smtClean="0">
                <a:latin typeface="宋体" panose="02010600030101010101" pitchFamily="2" charset="-122"/>
              </a:rPr>
              <a:t>反映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工作</a:t>
            </a:r>
            <a:r>
              <a:rPr lang="zh-CN" altLang="en-US" b="1" dirty="0">
                <a:latin typeface="宋体" panose="02010600030101010101" pitchFamily="2" charset="-122"/>
              </a:rPr>
              <a:t>的速度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指令执行过程＝</a:t>
            </a:r>
            <a:r>
              <a:rPr lang="en-US" altLang="zh-CN" sz="2000" i="1" dirty="0" smtClean="0">
                <a:latin typeface="+mn-lt"/>
              </a:rPr>
              <a:t>k</a:t>
            </a:r>
            <a:r>
              <a:rPr lang="zh-CN" altLang="en-US" sz="2000" b="1" dirty="0">
                <a:latin typeface="+mn-lt"/>
              </a:rPr>
              <a:t>个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原子操作≥</a:t>
            </a:r>
            <a:r>
              <a:rPr lang="en-US" altLang="zh-CN" sz="2000" i="1" dirty="0" err="1" smtClean="0">
                <a:latin typeface="+mn-lt"/>
              </a:rPr>
              <a:t>k</a:t>
            </a:r>
            <a:r>
              <a:rPr lang="en-US" altLang="zh-CN" sz="2000" b="1" dirty="0" err="1" smtClean="0">
                <a:latin typeface="+mn-lt"/>
              </a:rPr>
              <a:t>·</a:t>
            </a:r>
            <a:r>
              <a:rPr lang="en-US" altLang="zh-CN" sz="2000" i="1" dirty="0" err="1" smtClean="0">
                <a:latin typeface="+mn-lt"/>
              </a:rPr>
              <a:t>T</a:t>
            </a:r>
            <a:r>
              <a:rPr lang="en-US" altLang="zh-CN" sz="2000" b="1" baseline="-18000" dirty="0" err="1" smtClean="0">
                <a:latin typeface="宋体" panose="02010600030101010101" pitchFamily="2" charset="-122"/>
              </a:rPr>
              <a:t>C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en-US" altLang="zh-CN" sz="2800" b="1" dirty="0" smtClean="0">
              <a:latin typeface="宋体" panose="02010600030101010101" pitchFamily="2" charset="-122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5580112" y="5229200"/>
            <a:ext cx="2232248" cy="648000"/>
          </a:xfrm>
          <a:prstGeom prst="straightConnector1">
            <a:avLst/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Box 6"/>
          <p:cNvSpPr txBox="1">
            <a:spLocks noChangeArrowheads="1"/>
          </p:cNvSpPr>
          <p:nvPr/>
        </p:nvSpPr>
        <p:spPr bwMode="auto">
          <a:xfrm>
            <a:off x="179512" y="332656"/>
            <a:ext cx="8785100" cy="24391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存储容量：</a:t>
            </a:r>
            <a:r>
              <a:rPr lang="zh-CN" altLang="en-US" b="1" dirty="0" smtClean="0">
                <a:latin typeface="宋体" panose="02010600030101010101" pitchFamily="2" charset="-122"/>
              </a:rPr>
              <a:t>包括主存容量、辅存容量，大小均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可配置</a:t>
            </a:r>
            <a:endParaRPr lang="en-US" altLang="zh-CN" b="1" u="sng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单位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RAM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类：              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←主存、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OS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等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其 余：              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←磁盘、网络等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特点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07" name="Text Box 6"/>
          <p:cNvSpPr txBox="1">
            <a:spLocks noChangeArrowheads="1"/>
          </p:cNvSpPr>
          <p:nvPr/>
        </p:nvSpPr>
        <p:spPr bwMode="auto">
          <a:xfrm>
            <a:off x="2699792" y="764704"/>
            <a:ext cx="4104456" cy="14957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300"/>
              </a:spcBef>
            </a:pPr>
            <a:r>
              <a:rPr lang="en-US" altLang="zh-CN" b="1" dirty="0" smtClean="0">
                <a:latin typeface="宋体" panose="02010600030101010101" pitchFamily="2" charset="-122"/>
              </a:rPr>
              <a:t> 1GB</a:t>
            </a:r>
            <a:r>
              <a:rPr lang="zh-CN" altLang="en-US" b="1" dirty="0">
                <a:latin typeface="宋体" panose="02010600030101010101" pitchFamily="2" charset="-122"/>
              </a:rPr>
              <a:t>＝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en-US" altLang="zh-CN" b="1" baseline="30000" dirty="0">
                <a:solidFill>
                  <a:srgbClr val="FF3399"/>
                </a:solidFill>
                <a:latin typeface="宋体" panose="02010600030101010101" pitchFamily="2" charset="-122"/>
              </a:rPr>
              <a:t>10</a:t>
            </a:r>
            <a:r>
              <a:rPr lang="en-US" altLang="zh-CN" b="1" baseline="30000" dirty="0">
                <a:solidFill>
                  <a:srgbClr val="FF3399"/>
                </a:solidFill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MB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en-US" altLang="zh-CN" b="1" dirty="0" smtClean="0">
                <a:latin typeface="宋体" panose="02010600030101010101" pitchFamily="2" charset="-122"/>
              </a:rPr>
              <a:t>2</a:t>
            </a:r>
            <a:r>
              <a:rPr lang="en-US" altLang="zh-CN" b="1" baseline="30000" dirty="0" smtClean="0">
                <a:latin typeface="宋体" panose="02010600030101010101" pitchFamily="2" charset="-122"/>
              </a:rPr>
              <a:t>20</a:t>
            </a:r>
            <a:r>
              <a:rPr lang="en-US" altLang="zh-CN" b="1" baseline="30000" dirty="0" smtClean="0"/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KB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en-US" altLang="zh-CN" b="1" dirty="0" smtClean="0">
                <a:latin typeface="宋体" panose="02010600030101010101" pitchFamily="2" charset="-122"/>
              </a:rPr>
              <a:t>2</a:t>
            </a:r>
            <a:r>
              <a:rPr lang="en-US" altLang="zh-CN" b="1" baseline="30000" dirty="0" smtClean="0">
                <a:latin typeface="宋体" panose="02010600030101010101" pitchFamily="2" charset="-122"/>
              </a:rPr>
              <a:t>30</a:t>
            </a:r>
            <a:r>
              <a:rPr lang="en-US" altLang="zh-CN" b="1" baseline="30000" dirty="0" smtClean="0"/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B</a:t>
            </a:r>
            <a:r>
              <a:rPr lang="zh-CN" altLang="en-US" b="1" dirty="0" smtClean="0">
                <a:latin typeface="宋体" panose="02010600030101010101" pitchFamily="2" charset="-122"/>
              </a:rPr>
              <a:t>；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1GB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10</a:t>
            </a:r>
            <a:r>
              <a:rPr lang="en-US" altLang="zh-CN" b="1" baseline="3000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en-US" altLang="zh-CN" b="1" baseline="30000" dirty="0" smtClean="0"/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MB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en-US" altLang="zh-CN" b="1" dirty="0" smtClean="0">
                <a:latin typeface="宋体" panose="02010600030101010101" pitchFamily="2" charset="-122"/>
              </a:rPr>
              <a:t>10</a:t>
            </a:r>
            <a:r>
              <a:rPr lang="en-US" altLang="zh-CN" b="1" baseline="30000" dirty="0" smtClean="0">
                <a:latin typeface="宋体" panose="02010600030101010101" pitchFamily="2" charset="-122"/>
              </a:rPr>
              <a:t>6</a:t>
            </a:r>
            <a:r>
              <a:rPr lang="en-US" altLang="zh-CN" b="1" baseline="30000" dirty="0" smtClean="0"/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KB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en-US" altLang="zh-CN" b="1" dirty="0" smtClean="0">
                <a:latin typeface="宋体" panose="02010600030101010101" pitchFamily="2" charset="-122"/>
              </a:rPr>
              <a:t>10</a:t>
            </a:r>
            <a:r>
              <a:rPr lang="en-US" altLang="zh-CN" b="1" baseline="30000" dirty="0" smtClean="0">
                <a:latin typeface="宋体" panose="02010600030101010101" pitchFamily="2" charset="-122"/>
              </a:rPr>
              <a:t>9</a:t>
            </a:r>
            <a:r>
              <a:rPr lang="en-US" altLang="zh-CN" b="1" baseline="30000" dirty="0" smtClean="0"/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B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1GiB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en-US" altLang="zh-CN" b="1" dirty="0" smtClean="0">
                <a:latin typeface="宋体" panose="02010600030101010101" pitchFamily="2" charset="-122"/>
              </a:rPr>
              <a:t>2</a:t>
            </a:r>
            <a:r>
              <a:rPr lang="en-US" altLang="zh-CN" b="1" baseline="30000" dirty="0" smtClean="0">
                <a:latin typeface="宋体" panose="02010600030101010101" pitchFamily="2" charset="-122"/>
              </a:rPr>
              <a:t>10</a:t>
            </a:r>
            <a:r>
              <a:rPr lang="en-US" altLang="zh-CN" b="1" baseline="30000" dirty="0" smtClean="0"/>
              <a:t> </a:t>
            </a:r>
            <a:r>
              <a:rPr lang="en-US" altLang="zh-CN" b="1" dirty="0" err="1" smtClean="0">
                <a:latin typeface="宋体" panose="02010600030101010101" pitchFamily="2" charset="-122"/>
              </a:rPr>
              <a:t>MiB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en-US" altLang="zh-CN" b="1" dirty="0" smtClean="0">
                <a:latin typeface="宋体" panose="02010600030101010101" pitchFamily="2" charset="-122"/>
              </a:rPr>
              <a:t>2</a:t>
            </a:r>
            <a:r>
              <a:rPr lang="en-US" altLang="zh-CN" b="1" baseline="30000" dirty="0" smtClean="0">
                <a:latin typeface="宋体" panose="02010600030101010101" pitchFamily="2" charset="-122"/>
              </a:rPr>
              <a:t>20</a:t>
            </a:r>
            <a:r>
              <a:rPr lang="en-US" altLang="zh-CN" b="1" baseline="30000" dirty="0" smtClean="0"/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KiB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en-US" altLang="zh-CN" b="1" dirty="0" smtClean="0">
                <a:latin typeface="宋体" panose="02010600030101010101" pitchFamily="2" charset="-122"/>
              </a:rPr>
              <a:t>2</a:t>
            </a:r>
            <a:r>
              <a:rPr lang="en-US" altLang="zh-CN" b="1" baseline="30000" dirty="0" smtClean="0">
                <a:latin typeface="宋体" panose="02010600030101010101" pitchFamily="2" charset="-122"/>
              </a:rPr>
              <a:t>30</a:t>
            </a:r>
            <a:r>
              <a:rPr lang="en-US" altLang="zh-CN" b="1" baseline="30000" dirty="0" smtClean="0"/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B</a:t>
            </a:r>
            <a:endParaRPr lang="zh-CN" altLang="en-US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01D6-EAE4-40DB-99A1-CC99F9935E07}" type="slidenum">
              <a:rPr lang="en-US" altLang="zh-CN"/>
            </a:fld>
            <a:endParaRPr lang="en-US" altLang="zh-CN" dirty="0"/>
          </a:p>
        </p:txBody>
      </p:sp>
      <p:sp>
        <p:nvSpPr>
          <p:cNvPr id="71" name="Text Box 6"/>
          <p:cNvSpPr txBox="1">
            <a:spLocks noChangeArrowheads="1"/>
          </p:cNvSpPr>
          <p:nvPr/>
        </p:nvSpPr>
        <p:spPr bwMode="auto">
          <a:xfrm>
            <a:off x="179327" y="2757004"/>
            <a:ext cx="4320665" cy="9971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71780" indent="-271780">
              <a:lnSpc>
                <a:spcPct val="120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术语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主存地址空间：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 CPU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可寻址空间：</a:t>
            </a:r>
            <a:endParaRPr lang="zh-CN" altLang="en-US" b="1" spc="-50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2339801" y="3859658"/>
            <a:ext cx="3816375" cy="2305298"/>
            <a:chOff x="3779515" y="4077072"/>
            <a:chExt cx="3816375" cy="2305298"/>
          </a:xfrm>
        </p:grpSpPr>
        <p:sp>
          <p:nvSpPr>
            <p:cNvPr id="73" name="Rectangle 17"/>
            <p:cNvSpPr>
              <a:spLocks noChangeArrowheads="1"/>
            </p:cNvSpPr>
            <p:nvPr/>
          </p:nvSpPr>
          <p:spPr bwMode="auto">
            <a:xfrm>
              <a:off x="4427984" y="4365997"/>
              <a:ext cx="632347" cy="820738"/>
            </a:xfrm>
            <a:prstGeom prst="rect">
              <a:avLst/>
            </a:prstGeom>
            <a:solidFill>
              <a:srgbClr val="CC3300"/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Text Box 36"/>
            <p:cNvSpPr txBox="1">
              <a:spLocks noChangeArrowheads="1"/>
            </p:cNvSpPr>
            <p:nvPr/>
          </p:nvSpPr>
          <p:spPr bwMode="auto">
            <a:xfrm>
              <a:off x="3779913" y="4365997"/>
              <a:ext cx="1294706" cy="1584325"/>
            </a:xfrm>
            <a:prstGeom prst="rect">
              <a:avLst/>
            </a:prstGeom>
            <a:solidFill>
              <a:srgbClr val="FFCC99">
                <a:alpha val="60000"/>
              </a:srgbClr>
            </a:solidFill>
            <a:ln w="9525">
              <a:noFill/>
              <a:miter lim="800000"/>
            </a:ln>
            <a:effectLst/>
          </p:spPr>
          <p:txBody>
            <a:bodyPr lIns="54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spc="300" dirty="0" smtClean="0">
                  <a:latin typeface="宋体" panose="02010600030101010101" pitchFamily="2" charset="-122"/>
                </a:rPr>
                <a:t>0…00…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 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800" b="1" spc="300" dirty="0">
                  <a:latin typeface="宋体" panose="02010600030101010101" pitchFamily="2" charset="-122"/>
                </a:rPr>
                <a:t>0…01…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 </a:t>
              </a:r>
              <a:r>
                <a:rPr lang="en-US" altLang="zh-CN" sz="1800" b="1" spc="300" dirty="0">
                  <a:latin typeface="宋体" panose="02010600030101010101" pitchFamily="2" charset="-122"/>
                </a:rPr>
                <a:t>0…10…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 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spc="300" dirty="0">
                  <a:latin typeface="宋体" panose="02010600030101010101" pitchFamily="2" charset="-122"/>
                </a:rPr>
                <a:t>1…11…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5" name="Rectangle 19"/>
            <p:cNvSpPr>
              <a:spLocks noChangeArrowheads="1"/>
            </p:cNvSpPr>
            <p:nvPr/>
          </p:nvSpPr>
          <p:spPr bwMode="auto">
            <a:xfrm>
              <a:off x="5147644" y="4365997"/>
              <a:ext cx="1440000" cy="1584325"/>
            </a:xfrm>
            <a:prstGeom prst="rect">
              <a:avLst/>
            </a:prstGeom>
            <a:solidFill>
              <a:srgbClr val="99CCFF">
                <a:alpha val="25000"/>
              </a:srgbClr>
            </a:solidFill>
            <a:ln w="222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Text Box 26"/>
            <p:cNvSpPr txBox="1">
              <a:spLocks noChangeArrowheads="1"/>
            </p:cNvSpPr>
            <p:nvPr/>
          </p:nvSpPr>
          <p:spPr bwMode="auto">
            <a:xfrm>
              <a:off x="5147618" y="5661745"/>
              <a:ext cx="1440160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…</a:t>
              </a:r>
              <a:endParaRPr lang="en-US" altLang="zh-CN" sz="2000" b="1" baseline="-20000" dirty="0">
                <a:latin typeface="+mn-ea"/>
                <a:ea typeface="+mn-ea"/>
              </a:endParaRPr>
            </a:p>
          </p:txBody>
        </p:sp>
        <p:sp>
          <p:nvSpPr>
            <p:cNvPr id="77" name="Rectangle 18"/>
            <p:cNvSpPr>
              <a:spLocks noChangeArrowheads="1"/>
            </p:cNvSpPr>
            <p:nvPr/>
          </p:nvSpPr>
          <p:spPr bwMode="auto">
            <a:xfrm>
              <a:off x="5148064" y="4365997"/>
              <a:ext cx="1440581" cy="792237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Text Box 15"/>
            <p:cNvSpPr txBox="1">
              <a:spLocks noChangeArrowheads="1"/>
            </p:cNvSpPr>
            <p:nvPr/>
          </p:nvSpPr>
          <p:spPr bwMode="auto">
            <a:xfrm>
              <a:off x="6731794" y="4294486"/>
              <a:ext cx="360040" cy="10081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配置容量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79" name="AutoShape 16"/>
            <p:cNvSpPr/>
            <p:nvPr/>
          </p:nvSpPr>
          <p:spPr bwMode="auto">
            <a:xfrm>
              <a:off x="6660232" y="4365997"/>
              <a:ext cx="71438" cy="792163"/>
            </a:xfrm>
            <a:prstGeom prst="rightBrace">
              <a:avLst>
                <a:gd name="adj1" fmla="val 36231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Text Box 20"/>
            <p:cNvSpPr txBox="1">
              <a:spLocks noChangeArrowheads="1"/>
            </p:cNvSpPr>
            <p:nvPr/>
          </p:nvSpPr>
          <p:spPr bwMode="auto">
            <a:xfrm>
              <a:off x="5147643" y="4078661"/>
              <a:ext cx="1440581" cy="2874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2000" b="1" i="1" baseline="-20000" dirty="0">
                  <a:latin typeface="+mn-lt"/>
                </a:rPr>
                <a:t>w</a:t>
              </a:r>
              <a:r>
                <a:rPr lang="en-US" altLang="zh-CN" sz="2000" b="1" baseline="-20000" dirty="0">
                  <a:latin typeface="宋体" panose="02010600030101010101" pitchFamily="2" charset="-122"/>
                </a:rPr>
                <a:t>-1</a:t>
              </a:r>
              <a:r>
                <a:rPr lang="en-US" altLang="zh-CN" sz="1800" b="1" dirty="0"/>
                <a:t>  </a:t>
              </a:r>
              <a:r>
                <a:rPr lang="en-US" altLang="zh-CN" sz="1800" b="1" dirty="0" smtClean="0"/>
                <a:t>   …    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2000" b="1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21"/>
            <p:cNvSpPr txBox="1">
              <a:spLocks noChangeArrowheads="1"/>
            </p:cNvSpPr>
            <p:nvPr/>
          </p:nvSpPr>
          <p:spPr bwMode="auto">
            <a:xfrm>
              <a:off x="5723805" y="4797796"/>
              <a:ext cx="360363" cy="8644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2000" b="1" dirty="0" smtClean="0"/>
                <a:t>…    …</a:t>
              </a:r>
              <a:endParaRPr lang="en-US" altLang="zh-CN" sz="2000" b="1" baseline="-20000" dirty="0"/>
            </a:p>
          </p:txBody>
        </p:sp>
        <p:sp>
          <p:nvSpPr>
            <p:cNvPr id="82" name="AutoShape 28"/>
            <p:cNvSpPr/>
            <p:nvPr/>
          </p:nvSpPr>
          <p:spPr bwMode="auto">
            <a:xfrm rot="16200000">
              <a:off x="5832142" y="5338254"/>
              <a:ext cx="72007" cy="1440161"/>
            </a:xfrm>
            <a:prstGeom prst="rightBrace">
              <a:avLst>
                <a:gd name="adj1" fmla="val 47554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Text Box 29"/>
            <p:cNvSpPr txBox="1">
              <a:spLocks noChangeArrowheads="1"/>
            </p:cNvSpPr>
            <p:nvPr/>
          </p:nvSpPr>
          <p:spPr bwMode="auto">
            <a:xfrm>
              <a:off x="5148064" y="6096620"/>
              <a:ext cx="1439863" cy="2857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主存单元长度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84" name="Text Box 43"/>
            <p:cNvSpPr txBox="1">
              <a:spLocks noChangeArrowheads="1"/>
            </p:cNvSpPr>
            <p:nvPr/>
          </p:nvSpPr>
          <p:spPr bwMode="auto">
            <a:xfrm>
              <a:off x="3779515" y="4077072"/>
              <a:ext cx="1296541" cy="28907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2000" b="1" i="1" baseline="-20000" dirty="0" smtClean="0">
                  <a:latin typeface="+mn-lt"/>
                </a:rPr>
                <a:t>n</a:t>
              </a:r>
              <a:r>
                <a:rPr lang="en-US" altLang="zh-CN" sz="2000" b="1" baseline="-20000" dirty="0" smtClean="0">
                  <a:latin typeface="宋体" panose="02010600030101010101" pitchFamily="2" charset="-122"/>
                </a:rPr>
                <a:t>-1 </a:t>
              </a:r>
              <a:r>
                <a:rPr lang="en-US" altLang="zh-CN" sz="2000" b="1" dirty="0" smtClean="0"/>
                <a:t> </a:t>
              </a:r>
              <a:r>
                <a:rPr lang="en-US" altLang="zh-CN" sz="1800" b="1" dirty="0" smtClean="0"/>
                <a:t>  …  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2000" b="1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148064" y="4366146"/>
              <a:ext cx="1440160" cy="288032"/>
            </a:xfrm>
            <a:prstGeom prst="rect">
              <a:avLst/>
            </a:prstGeom>
            <a:solidFill>
              <a:srgbClr val="CC99FF">
                <a:alpha val="0"/>
              </a:srgbClr>
            </a:solidFill>
            <a:ln w="12700">
              <a:solidFill>
                <a:schemeClr val="tx1"/>
              </a:solidFill>
            </a:ln>
          </p:spPr>
          <p:txBody>
            <a:bodyPr wrap="none" lIns="18000" tIns="10800" rIns="18000" bIns="1080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2000" dirty="0" smtClean="0">
                  <a:latin typeface="+mn-ea"/>
                  <a:ea typeface="+mn-ea"/>
                </a:rPr>
                <a:t>…</a:t>
              </a:r>
              <a:endParaRPr lang="zh-CN" altLang="en-US" sz="2000" dirty="0">
                <a:latin typeface="+mn-ea"/>
                <a:ea typeface="+mn-ea"/>
              </a:endParaRPr>
            </a:p>
          </p:txBody>
        </p:sp>
        <p:sp>
          <p:nvSpPr>
            <p:cNvPr id="86" name="Line 32"/>
            <p:cNvSpPr>
              <a:spLocks noChangeShapeType="1"/>
            </p:cNvSpPr>
            <p:nvPr/>
          </p:nvSpPr>
          <p:spPr bwMode="auto">
            <a:xfrm>
              <a:off x="5436568" y="4365997"/>
              <a:ext cx="0" cy="2873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33"/>
            <p:cNvSpPr>
              <a:spLocks noChangeShapeType="1"/>
            </p:cNvSpPr>
            <p:nvPr/>
          </p:nvSpPr>
          <p:spPr bwMode="auto">
            <a:xfrm>
              <a:off x="6300192" y="4366146"/>
              <a:ext cx="0" cy="2873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32"/>
            <p:cNvSpPr>
              <a:spLocks noChangeShapeType="1"/>
            </p:cNvSpPr>
            <p:nvPr/>
          </p:nvSpPr>
          <p:spPr bwMode="auto">
            <a:xfrm>
              <a:off x="5436096" y="5662835"/>
              <a:ext cx="0" cy="2873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33"/>
            <p:cNvSpPr>
              <a:spLocks noChangeShapeType="1"/>
            </p:cNvSpPr>
            <p:nvPr/>
          </p:nvSpPr>
          <p:spPr bwMode="auto">
            <a:xfrm>
              <a:off x="6299720" y="5662984"/>
              <a:ext cx="0" cy="2873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AutoShape 16"/>
            <p:cNvSpPr/>
            <p:nvPr/>
          </p:nvSpPr>
          <p:spPr bwMode="auto">
            <a:xfrm>
              <a:off x="7091834" y="4365996"/>
              <a:ext cx="100905" cy="1584177"/>
            </a:xfrm>
            <a:prstGeom prst="rightBrace">
              <a:avLst>
                <a:gd name="adj1" fmla="val 31275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Text Box 15"/>
            <p:cNvSpPr txBox="1">
              <a:spLocks noChangeArrowheads="1"/>
            </p:cNvSpPr>
            <p:nvPr/>
          </p:nvSpPr>
          <p:spPr bwMode="auto">
            <a:xfrm>
              <a:off x="7235850" y="4654526"/>
              <a:ext cx="360040" cy="10790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最大容量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2" name="Text Box 39"/>
            <p:cNvSpPr txBox="1">
              <a:spLocks noChangeArrowheads="1"/>
            </p:cNvSpPr>
            <p:nvPr/>
          </p:nvSpPr>
          <p:spPr bwMode="auto">
            <a:xfrm>
              <a:off x="3995936" y="4654178"/>
              <a:ext cx="936104" cy="11521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2000" b="1" dirty="0" smtClean="0"/>
                <a:t>…       </a:t>
              </a:r>
              <a:r>
                <a:rPr lang="en-US" altLang="zh-CN" sz="1200" b="1" dirty="0" smtClean="0"/>
                <a:t>  </a:t>
              </a:r>
              <a:r>
                <a:rPr lang="en-US" altLang="zh-CN" sz="2000" b="1" dirty="0" smtClean="0"/>
                <a:t>…</a:t>
              </a:r>
              <a:endParaRPr lang="en-US" altLang="zh-CN" sz="2000" b="1" dirty="0" smtClean="0"/>
            </a:p>
            <a:p>
              <a:pPr>
                <a:lnSpc>
                  <a:spcPct val="90000"/>
                </a:lnSpc>
              </a:pPr>
              <a:endParaRPr lang="en-US" altLang="zh-CN" sz="2000" b="1" baseline="-20000" dirty="0" smtClean="0"/>
            </a:p>
            <a:p>
              <a:pPr>
                <a:lnSpc>
                  <a:spcPct val="90000"/>
                </a:lnSpc>
              </a:pPr>
              <a:endParaRPr lang="en-US" altLang="zh-CN" sz="2000" b="1" baseline="-20000" dirty="0" smtClean="0"/>
            </a:p>
            <a:p>
              <a:pPr>
                <a:lnSpc>
                  <a:spcPct val="90000"/>
                </a:lnSpc>
              </a:pPr>
              <a:r>
                <a:rPr lang="en-US" altLang="zh-CN" sz="2000" b="1" dirty="0" smtClean="0"/>
                <a:t>…       </a:t>
              </a:r>
              <a:r>
                <a:rPr lang="en-US" altLang="zh-CN" sz="1200" b="1" dirty="0" smtClean="0"/>
                <a:t>  </a:t>
              </a:r>
              <a:r>
                <a:rPr lang="en-US" altLang="zh-CN" sz="2000" b="1" dirty="0" smtClean="0"/>
                <a:t>…</a:t>
              </a:r>
              <a:endParaRPr lang="en-US" altLang="zh-CN" sz="2000" b="1" dirty="0" smtClean="0"/>
            </a:p>
            <a:p>
              <a:pPr>
                <a:lnSpc>
                  <a:spcPct val="80000"/>
                </a:lnSpc>
              </a:pPr>
              <a:endParaRPr lang="en-US" altLang="zh-CN" sz="2000" b="1" baseline="-20000" dirty="0" smtClean="0"/>
            </a:p>
            <a:p>
              <a:pPr>
                <a:lnSpc>
                  <a:spcPct val="80000"/>
                </a:lnSpc>
              </a:pPr>
              <a:endParaRPr lang="en-US" altLang="zh-CN" sz="2000" b="1" baseline="-20000" dirty="0"/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1476076" y="4004716"/>
            <a:ext cx="792261" cy="2016919"/>
            <a:chOff x="4184784" y="4372446"/>
            <a:chExt cx="792261" cy="2016919"/>
          </a:xfrm>
        </p:grpSpPr>
        <p:sp>
          <p:nvSpPr>
            <p:cNvPr id="94" name="Text Box 27"/>
            <p:cNvSpPr txBox="1">
              <a:spLocks noChangeArrowheads="1"/>
            </p:cNvSpPr>
            <p:nvPr/>
          </p:nvSpPr>
          <p:spPr bwMode="auto">
            <a:xfrm>
              <a:off x="4184785" y="4372446"/>
              <a:ext cx="324036" cy="194649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CPU</a:t>
              </a:r>
              <a:r>
                <a:rPr lang="zh-CN" altLang="en-US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可寻址空间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97" name="直接箭头连接符 39"/>
            <p:cNvCxnSpPr/>
            <p:nvPr/>
          </p:nvCxnSpPr>
          <p:spPr bwMode="auto">
            <a:xfrm rot="10800000" flipH="1" flipV="1">
              <a:off x="4184784" y="5345695"/>
              <a:ext cx="792261" cy="1043670"/>
            </a:xfrm>
            <a:prstGeom prst="bentConnector3">
              <a:avLst>
                <a:gd name="adj1" fmla="val -28854"/>
              </a:avLst>
            </a:prstGeom>
            <a:noFill/>
            <a:ln w="15875" cap="flat" cmpd="sng" algn="ctr">
              <a:solidFill>
                <a:srgbClr val="C00000"/>
              </a:solidFill>
              <a:prstDash val="sysDash"/>
              <a:round/>
              <a:headEnd type="arrow" w="med" len="sm"/>
              <a:tailEnd type="arrow" w="med" len="sm"/>
            </a:ln>
            <a:effectLst/>
          </p:spPr>
        </p:cxnSp>
      </p:grpSp>
      <p:sp>
        <p:nvSpPr>
          <p:cNvPr id="101" name="AutoShape 338"/>
          <p:cNvSpPr/>
          <p:nvPr/>
        </p:nvSpPr>
        <p:spPr bwMode="auto">
          <a:xfrm>
            <a:off x="323528" y="3394142"/>
            <a:ext cx="720080" cy="2123090"/>
          </a:xfrm>
          <a:prstGeom prst="borderCallout2">
            <a:avLst>
              <a:gd name="adj1" fmla="val 8072"/>
              <a:gd name="adj2" fmla="val 99012"/>
              <a:gd name="adj3" fmla="val 8259"/>
              <a:gd name="adj4" fmla="val 147693"/>
              <a:gd name="adj5" fmla="val 42358"/>
              <a:gd name="adj6" fmla="val 267657"/>
            </a:avLst>
          </a:prstGeom>
          <a:noFill/>
          <a:ln w="12700">
            <a:solidFill>
              <a:srgbClr val="0066FF"/>
            </a:solidFill>
            <a:prstDash val="sysDash"/>
            <a:miter lim="800000"/>
            <a:tailEnd type="triangle" w="med" len="med"/>
          </a:ln>
          <a:effectLst/>
        </p:spPr>
        <p:txBody>
          <a:bodyPr vert="eaVert"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主存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所占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地址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范围</a:t>
            </a:r>
            <a:endParaRPr lang="en-US" altLang="zh-CN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0" algn="ctr">
              <a:lnSpc>
                <a:spcPct val="9000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地址空间的一部分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02" name="AutoShape 22"/>
          <p:cNvSpPr/>
          <p:nvPr/>
        </p:nvSpPr>
        <p:spPr bwMode="auto">
          <a:xfrm rot="10800000">
            <a:off x="2246124" y="4157903"/>
            <a:ext cx="73025" cy="756000"/>
          </a:xfrm>
          <a:prstGeom prst="rightBrace">
            <a:avLst>
              <a:gd name="adj1" fmla="val 55380"/>
              <a:gd name="adj2" fmla="val 50000"/>
            </a:avLst>
          </a:prstGeom>
          <a:noFill/>
          <a:ln w="15875">
            <a:solidFill>
              <a:srgbClr val="0066FF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Text Box 6"/>
          <p:cNvSpPr txBox="1">
            <a:spLocks noChangeArrowheads="1"/>
          </p:cNvSpPr>
          <p:nvPr/>
        </p:nvSpPr>
        <p:spPr bwMode="auto">
          <a:xfrm>
            <a:off x="4067944" y="2738244"/>
            <a:ext cx="4824659" cy="13065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主存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最大容量时</a:t>
            </a:r>
            <a:r>
              <a:rPr lang="zh-CN" altLang="en-US" b="1" dirty="0" smtClean="0">
                <a:latin typeface="宋体" panose="02010600030101010101" pitchFamily="2" charset="-122"/>
              </a:rPr>
              <a:t>的地址空间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由地址引脚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构成</a:t>
            </a:r>
            <a:r>
              <a:rPr lang="zh-CN" altLang="en-US" b="1" dirty="0" smtClean="0">
                <a:latin typeface="宋体" panose="02010600030101010101" pitchFamily="2" charset="-122"/>
              </a:rPr>
              <a:t>的地址空间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spc="-50" dirty="0" smtClean="0">
                <a:latin typeface="宋体" panose="02010600030101010101" pitchFamily="2" charset="-122"/>
              </a:rPr>
              <a:t>                 </a:t>
            </a:r>
            <a:r>
              <a:rPr lang="zh-CN" altLang="en-US" sz="1800" spc="-50" dirty="0" smtClean="0">
                <a:latin typeface="宋体" panose="02010600030101010101" pitchFamily="2" charset="-122"/>
              </a:rPr>
              <a:t>└─</a:t>
            </a:r>
            <a:r>
              <a:rPr lang="zh-CN" altLang="en-US" sz="1800" b="1" spc="-50" dirty="0" smtClean="0">
                <a:latin typeface="宋体" panose="02010600030101010101" pitchFamily="2" charset="-122"/>
              </a:rPr>
              <a:t>大小</a:t>
            </a:r>
            <a:r>
              <a:rPr lang="zh-CN" altLang="en-US" sz="1800" b="1" spc="-50" dirty="0">
                <a:solidFill>
                  <a:srgbClr val="0070C0"/>
                </a:solidFill>
                <a:latin typeface="宋体" panose="02010600030101010101" pitchFamily="2" charset="-122"/>
              </a:rPr>
              <a:t>常</a:t>
            </a:r>
            <a:r>
              <a:rPr lang="zh-CN" altLang="en-US" sz="1800" b="1" spc="-5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＝</a:t>
            </a:r>
            <a:r>
              <a:rPr lang="zh-CN" altLang="en-US" sz="1800" b="1" spc="-50" dirty="0">
                <a:latin typeface="宋体" panose="02010600030101010101" pitchFamily="2" charset="-122"/>
              </a:rPr>
              <a:t>主存</a:t>
            </a:r>
            <a:r>
              <a:rPr lang="zh-CN" altLang="en-US" sz="1800" b="1" spc="-50" dirty="0" smtClean="0">
                <a:latin typeface="宋体" panose="02010600030101010101" pitchFamily="2" charset="-122"/>
              </a:rPr>
              <a:t>地址空间</a:t>
            </a:r>
            <a:endParaRPr lang="zh-CN" altLang="en-US" sz="1800" b="1" spc="-50" dirty="0">
              <a:latin typeface="宋体" panose="02010600030101010101" pitchFamily="2" charset="-122"/>
            </a:endParaRPr>
          </a:p>
        </p:txBody>
      </p:sp>
      <p:sp>
        <p:nvSpPr>
          <p:cNvPr id="104" name="Text Box 140"/>
          <p:cNvSpPr txBox="1">
            <a:spLocks noChangeArrowheads="1"/>
          </p:cNvSpPr>
          <p:nvPr/>
        </p:nvSpPr>
        <p:spPr bwMode="auto">
          <a:xfrm>
            <a:off x="6516216" y="4306634"/>
            <a:ext cx="2304256" cy="1800199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lstStyle/>
          <a:p>
            <a:pPr marL="271780" indent="-271780">
              <a:lnSpc>
                <a:spcPct val="12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地址空间：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非负整数地址的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有序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集合</a:t>
            </a:r>
            <a:endParaRPr lang="en-US" altLang="zh-CN" sz="1800" b="1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表示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1800" i="1" dirty="0" smtClean="0">
                <a:latin typeface="+mn-lt"/>
              </a:rPr>
              <a:t>n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位或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2</a:t>
            </a:r>
            <a:r>
              <a:rPr lang="en-US" altLang="zh-CN" sz="1800" b="1" i="1" baseline="30000" dirty="0" smtClean="0">
                <a:latin typeface="+mn-lt"/>
              </a:rPr>
              <a:t>n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个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marL="266700" indent="-266700">
              <a:lnSpc>
                <a:spcPct val="12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线性地址空间：</a:t>
            </a:r>
            <a:r>
              <a:rPr lang="zh-CN" altLang="en-US" sz="1800" b="1" dirty="0" smtClean="0"/>
              <a:t>地址空间中的</a:t>
            </a:r>
            <a:r>
              <a:rPr lang="zh-CN" altLang="en-US" sz="1800" b="1" dirty="0" smtClean="0">
                <a:solidFill>
                  <a:srgbClr val="0070C0"/>
                </a:solidFill>
              </a:rPr>
              <a:t>地址连续</a:t>
            </a:r>
            <a:r>
              <a:rPr lang="en-US" altLang="zh-CN" sz="1800" b="1" i="1" u="none" dirty="0" smtClean="0">
                <a:latin typeface="宋体" panose="02010600030101010101" pitchFamily="2" charset="-122"/>
              </a:rPr>
              <a:t>  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105" name="Text Box 6"/>
          <p:cNvSpPr txBox="1">
            <a:spLocks noChangeArrowheads="1"/>
          </p:cNvSpPr>
          <p:nvPr/>
        </p:nvSpPr>
        <p:spPr bwMode="auto">
          <a:xfrm>
            <a:off x="1799693" y="2204864"/>
            <a:ext cx="4068451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反映主存、辅存的最大容量</a:t>
            </a:r>
            <a:endParaRPr lang="zh-CN" altLang="en-US" b="1" spc="-50" dirty="0">
              <a:latin typeface="宋体" panose="02010600030101010101" pitchFamily="2" charset="-122"/>
            </a:endParaRPr>
          </a:p>
        </p:txBody>
      </p:sp>
      <p:sp>
        <p:nvSpPr>
          <p:cNvPr id="61" name="Text Box 65"/>
          <p:cNvSpPr txBox="1">
            <a:spLocks noChangeArrowheads="1"/>
          </p:cNvSpPr>
          <p:nvPr/>
        </p:nvSpPr>
        <p:spPr bwMode="auto">
          <a:xfrm>
            <a:off x="6876256" y="2132856"/>
            <a:ext cx="93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931GiB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48" name="AutoShape 338"/>
          <p:cNvSpPr/>
          <p:nvPr/>
        </p:nvSpPr>
        <p:spPr bwMode="auto">
          <a:xfrm>
            <a:off x="251520" y="1412776"/>
            <a:ext cx="1296000" cy="540000"/>
          </a:xfrm>
          <a:prstGeom prst="borderCallout2">
            <a:avLst>
              <a:gd name="adj1" fmla="val 50223"/>
              <a:gd name="adj2" fmla="val 99590"/>
              <a:gd name="adj3" fmla="val 51839"/>
              <a:gd name="adj4" fmla="val 110353"/>
              <a:gd name="adj5" fmla="val -36702"/>
              <a:gd name="adj6" fmla="val 127534"/>
            </a:avLst>
          </a:prstGeom>
          <a:noFill/>
          <a:ln w="12700">
            <a:solidFill>
              <a:srgbClr val="0066FF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800" b="1" dirty="0"/>
              <a:t>指用</a:t>
            </a:r>
            <a:r>
              <a:rPr lang="zh-CN" altLang="en-US" sz="1800" b="1" u="sng" dirty="0"/>
              <a:t>译码器</a:t>
            </a:r>
            <a:r>
              <a:rPr lang="zh-CN" altLang="en-US" sz="1800" b="1" dirty="0"/>
              <a:t>识别</a:t>
            </a:r>
            <a:r>
              <a:rPr lang="zh-CN" altLang="en-US" sz="1800" b="1" dirty="0" smtClean="0"/>
              <a:t>地址</a:t>
            </a:r>
            <a:endParaRPr lang="zh-CN" altLang="en-US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6876360" y="1196752"/>
            <a:ext cx="1944050" cy="936104"/>
            <a:chOff x="7020334" y="1196752"/>
            <a:chExt cx="1944050" cy="936104"/>
          </a:xfrm>
        </p:grpSpPr>
        <p:sp>
          <p:nvSpPr>
            <p:cNvPr id="50" name="Text Box 65"/>
            <p:cNvSpPr txBox="1">
              <a:spLocks noChangeArrowheads="1"/>
            </p:cNvSpPr>
            <p:nvPr/>
          </p:nvSpPr>
          <p:spPr bwMode="auto">
            <a:xfrm>
              <a:off x="7020334" y="1844824"/>
              <a:ext cx="936000" cy="288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1TB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硬盘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1" name="直接箭头连接符 10"/>
            <p:cNvCxnSpPr/>
            <p:nvPr/>
          </p:nvCxnSpPr>
          <p:spPr bwMode="auto">
            <a:xfrm flipH="1">
              <a:off x="7380286" y="1700808"/>
              <a:ext cx="14400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2" name="直接箭头连接符 11"/>
            <p:cNvCxnSpPr/>
            <p:nvPr/>
          </p:nvCxnSpPr>
          <p:spPr bwMode="auto">
            <a:xfrm>
              <a:off x="8100392" y="1196752"/>
              <a:ext cx="288000" cy="648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3" name="Text Box 65"/>
            <p:cNvSpPr txBox="1">
              <a:spLocks noChangeArrowheads="1"/>
            </p:cNvSpPr>
            <p:nvPr/>
          </p:nvSpPr>
          <p:spPr bwMode="auto">
            <a:xfrm>
              <a:off x="8028384" y="1844856"/>
              <a:ext cx="936000" cy="288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931GB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764109" y="4003674"/>
            <a:ext cx="1944216" cy="2161630"/>
            <a:chOff x="1764109" y="4003674"/>
            <a:chExt cx="1944216" cy="2161630"/>
          </a:xfrm>
        </p:grpSpPr>
        <p:sp>
          <p:nvSpPr>
            <p:cNvPr id="99" name="AutoShape 22"/>
            <p:cNvSpPr/>
            <p:nvPr/>
          </p:nvSpPr>
          <p:spPr bwMode="auto">
            <a:xfrm rot="10800000">
              <a:off x="2086880" y="4148583"/>
              <a:ext cx="73025" cy="1584325"/>
            </a:xfrm>
            <a:prstGeom prst="rightBrace">
              <a:avLst>
                <a:gd name="adj1" fmla="val 55380"/>
                <a:gd name="adj2" fmla="val 50000"/>
              </a:avLst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Text Box 27"/>
            <p:cNvSpPr txBox="1">
              <a:spLocks noChangeArrowheads="1"/>
            </p:cNvSpPr>
            <p:nvPr/>
          </p:nvSpPr>
          <p:spPr bwMode="auto">
            <a:xfrm>
              <a:off x="1764109" y="4003674"/>
              <a:ext cx="324036" cy="194649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主存地址空间</a:t>
              </a:r>
              <a:endPara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" name="AutoShape 41"/>
            <p:cNvSpPr/>
            <p:nvPr/>
          </p:nvSpPr>
          <p:spPr bwMode="auto">
            <a:xfrm rot="16200000">
              <a:off x="2951733" y="5193381"/>
              <a:ext cx="73025" cy="1296143"/>
            </a:xfrm>
            <a:prstGeom prst="rightBrace">
              <a:avLst>
                <a:gd name="adj1" fmla="val 48004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Text Box 42"/>
            <p:cNvSpPr txBox="1">
              <a:spLocks noChangeArrowheads="1"/>
            </p:cNvSpPr>
            <p:nvPr/>
          </p:nvSpPr>
          <p:spPr bwMode="auto">
            <a:xfrm>
              <a:off x="2268338" y="5877966"/>
              <a:ext cx="1439987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主存地址位数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101" grpId="0" animBg="1"/>
      <p:bldP spid="102" grpId="0" animBg="1"/>
      <p:bldP spid="104" grpId="0" animBg="1"/>
      <p:bldP spid="105" grpId="0"/>
      <p:bldP spid="61" grpId="0" animBg="1"/>
      <p:bldP spid="61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179512" y="1916832"/>
            <a:ext cx="3096344" cy="40123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CPU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时间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等待时间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优化设计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特点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79512" y="1340768"/>
            <a:ext cx="8856984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响应时间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b="1" dirty="0">
                <a:latin typeface="宋体" panose="02010600030101010101" pitchFamily="2" charset="-122"/>
              </a:rPr>
              <a:t>指</a:t>
            </a:r>
            <a:r>
              <a:rPr lang="zh-CN" altLang="en-US" b="1" dirty="0" smtClean="0">
                <a:latin typeface="宋体" panose="02010600030101010101" pitchFamily="2" charset="-122"/>
              </a:rPr>
              <a:t>一</a:t>
            </a:r>
            <a:r>
              <a:rPr lang="zh-CN" altLang="en-US" b="1" dirty="0">
                <a:latin typeface="宋体" panose="02010600030101010101" pitchFamily="2" charset="-122"/>
              </a:rPr>
              <a:t>个任务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从提交到完成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r>
              <a:rPr lang="zh-CN" altLang="en-US" b="1" dirty="0">
                <a:latin typeface="宋体" panose="02010600030101010101" pitchFamily="2" charset="-122"/>
              </a:rPr>
              <a:t>总</a:t>
            </a:r>
            <a:r>
              <a:rPr lang="zh-CN" altLang="en-US" b="1" dirty="0" smtClean="0">
                <a:latin typeface="宋体" panose="02010600030101010101" pitchFamily="2" charset="-122"/>
              </a:rPr>
              <a:t>时间</a:t>
            </a:r>
            <a:r>
              <a:rPr lang="en-US" altLang="zh-CN" b="1" dirty="0" smtClean="0">
                <a:latin typeface="宋体" panose="02010600030101010101" pitchFamily="2" charset="-122"/>
              </a:rPr>
              <a:t>(＝</a:t>
            </a:r>
            <a:r>
              <a:rPr lang="en-US" altLang="zh-CN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b="1" baseline="-20000" dirty="0" smtClean="0">
                <a:latin typeface="宋体" panose="02010600030101010101" pitchFamily="2" charset="-122"/>
              </a:rPr>
              <a:t>CPU</a:t>
            </a:r>
            <a:r>
              <a:rPr lang="en-US" altLang="zh-CN" b="1" dirty="0" smtClean="0">
                <a:latin typeface="宋体" panose="02010600030101010101" pitchFamily="2" charset="-122"/>
              </a:rPr>
              <a:t>＋</a:t>
            </a:r>
            <a:r>
              <a:rPr lang="en-US" altLang="zh-CN" b="1" i="1" dirty="0" smtClean="0">
                <a:latin typeface="宋体" panose="02010600030101010101" pitchFamily="2" charset="-122"/>
              </a:rPr>
              <a:t>T</a:t>
            </a:r>
            <a:r>
              <a:rPr lang="zh-CN" altLang="en-US" b="1" baseline="-20000" dirty="0" smtClean="0">
                <a:latin typeface="宋体" panose="02010600030101010101" pitchFamily="2" charset="-122"/>
              </a:rPr>
              <a:t>等待</a:t>
            </a:r>
            <a:r>
              <a:rPr lang="zh-CN" altLang="en-US" b="1" baseline="-20000" dirty="0" smtClean="0">
                <a:latin typeface="+mn-lt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90DD-2F5E-4233-B7D8-F0064FE5DB0A}" type="slidenum">
              <a:rPr lang="en-US" altLang="zh-CN"/>
            </a:fld>
            <a:endParaRPr lang="en-US" altLang="zh-CN"/>
          </a:p>
        </p:txBody>
      </p:sp>
      <p:sp>
        <p:nvSpPr>
          <p:cNvPr id="263173" name="Text Box 5"/>
          <p:cNvSpPr txBox="1">
            <a:spLocks noChangeArrowheads="1"/>
          </p:cNvSpPr>
          <p:nvPr/>
        </p:nvSpPr>
        <p:spPr bwMode="auto">
          <a:xfrm>
            <a:off x="179388" y="334293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、计算机的性能指标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计算机的性能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指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硬件</a:t>
            </a:r>
            <a:r>
              <a:rPr lang="zh-CN" altLang="en-US" b="1" dirty="0">
                <a:latin typeface="宋体" panose="02010600030101010101" pitchFamily="2" charset="-122"/>
              </a:rPr>
              <a:t>的性能，</a:t>
            </a:r>
            <a:r>
              <a:rPr lang="zh-CN" altLang="en-US" b="1" dirty="0" smtClean="0">
                <a:latin typeface="宋体" panose="02010600030101010101" pitchFamily="2" charset="-122"/>
              </a:rPr>
              <a:t>通过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软件</a:t>
            </a:r>
            <a:r>
              <a:rPr lang="zh-CN" altLang="en-US" b="1" dirty="0" smtClean="0">
                <a:latin typeface="宋体" panose="02010600030101010101" pitchFamily="2" charset="-122"/>
              </a:rPr>
              <a:t>反映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24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AutoShape 1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28"/>
          <p:cNvSpPr txBox="1">
            <a:spLocks noChangeArrowheads="1"/>
          </p:cNvSpPr>
          <p:nvPr/>
        </p:nvSpPr>
        <p:spPr bwMode="auto">
          <a:xfrm>
            <a:off x="1763688" y="4077072"/>
            <a:ext cx="7272808" cy="23067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指磁盘访问、</a:t>
            </a:r>
            <a:r>
              <a:rPr lang="en-US" altLang="zh-CN" b="1" dirty="0">
                <a:latin typeface="宋体" panose="02010600030101010101" pitchFamily="2" charset="-122"/>
              </a:rPr>
              <a:t>OS</a:t>
            </a:r>
            <a:r>
              <a:rPr lang="zh-CN" altLang="en-US" b="1" dirty="0">
                <a:latin typeface="宋体" panose="02010600030101010101" pitchFamily="2" charset="-122"/>
              </a:rPr>
              <a:t>开销等</a:t>
            </a:r>
            <a:r>
              <a:rPr lang="zh-CN" altLang="en-US" b="1" dirty="0" smtClean="0">
                <a:latin typeface="宋体" panose="02010600030101010101" pitchFamily="2" charset="-122"/>
              </a:rPr>
              <a:t>时间    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1800" b="1" i="1" dirty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1800" b="1" baseline="-200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等待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时任务不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执行</a:t>
            </a:r>
            <a:endParaRPr lang="en-US" altLang="zh-CN" sz="1800" b="1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800" b="1" dirty="0" smtClean="0">
                <a:latin typeface="+mn-ea"/>
                <a:ea typeface="+mn-ea"/>
              </a:rPr>
              <a:t>      (</a:t>
            </a:r>
            <a:r>
              <a:rPr lang="zh-CN" altLang="en-US" sz="1800" b="1" dirty="0" smtClean="0">
                <a:latin typeface="+mn-ea"/>
                <a:ea typeface="+mn-ea"/>
              </a:rPr>
              <a:t>如磁盘→主存</a:t>
            </a:r>
            <a:r>
              <a:rPr lang="en-US" altLang="zh-CN" sz="1800" b="1" dirty="0" smtClean="0">
                <a:latin typeface="+mn-ea"/>
                <a:ea typeface="+mn-ea"/>
              </a:rPr>
              <a:t>) (</a:t>
            </a:r>
            <a:r>
              <a:rPr lang="zh-CN" altLang="en-US" sz="1800" b="1" dirty="0" smtClean="0">
                <a:latin typeface="+mn-ea"/>
                <a:ea typeface="+mn-ea"/>
              </a:rPr>
              <a:t>如进程调度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endParaRPr lang="en-US" altLang="zh-CN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b="1" dirty="0" smtClean="0">
                <a:latin typeface="宋体" panose="02010600030101010101" pitchFamily="2" charset="-122"/>
              </a:rPr>
              <a:t>       </a:t>
            </a:r>
            <a:r>
              <a:rPr lang="en-US" altLang="zh-CN" b="1" dirty="0"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latin typeface="宋体" panose="02010600030101010101" pitchFamily="2" charset="-122"/>
              </a:rPr>
              <a:t>在</a:t>
            </a:r>
            <a:r>
              <a:rPr lang="en-US" altLang="zh-CN" b="1" i="1" dirty="0">
                <a:latin typeface="宋体" panose="02010600030101010101" pitchFamily="2" charset="-122"/>
              </a:rPr>
              <a:t>T</a:t>
            </a:r>
            <a:r>
              <a:rPr lang="zh-CN" altLang="en-US" b="1" baseline="-20000" dirty="0">
                <a:latin typeface="宋体" panose="02010600030101010101" pitchFamily="2" charset="-122"/>
              </a:rPr>
              <a:t>等待</a:t>
            </a:r>
            <a:r>
              <a:rPr lang="zh-CN" altLang="en-US" b="1" dirty="0">
                <a:latin typeface="宋体" panose="02010600030101010101" pitchFamily="2" charset="-122"/>
              </a:rPr>
              <a:t>时执行其他程序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单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任务→</a:t>
            </a:r>
            <a:r>
              <a:rPr lang="zh-CN" altLang="en-US" sz="1800" b="1" dirty="0">
                <a:latin typeface="宋体" panose="02010600030101010101" pitchFamily="2" charset="-122"/>
              </a:rPr>
              <a:t>多任务系统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b="1" dirty="0" smtClean="0">
                <a:latin typeface="宋体" panose="02010600030101010101" pitchFamily="2" charset="-122"/>
              </a:rPr>
              <a:t>反映</a:t>
            </a:r>
            <a:r>
              <a:rPr lang="zh-CN" altLang="en-US" b="1" u="sng" dirty="0">
                <a:latin typeface="宋体" panose="02010600030101010101" pitchFamily="2" charset="-122"/>
              </a:rPr>
              <a:t>单任务系统</a:t>
            </a:r>
            <a:r>
              <a:rPr lang="zh-CN" altLang="en-US" b="1" dirty="0">
                <a:latin typeface="宋体" panose="02010600030101010101" pitchFamily="2" charset="-122"/>
              </a:rPr>
              <a:t>的</a:t>
            </a:r>
            <a:r>
              <a:rPr lang="zh-CN" altLang="en-US" b="1" u="sng" dirty="0">
                <a:latin typeface="宋体" panose="02010600030101010101" pitchFamily="2" charset="-122"/>
              </a:rPr>
              <a:t>总体</a:t>
            </a:r>
            <a:r>
              <a:rPr lang="zh-CN" altLang="en-US" b="1" dirty="0">
                <a:latin typeface="宋体" panose="02010600030101010101" pitchFamily="2" charset="-122"/>
              </a:rPr>
              <a:t>性能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←多任务</a:t>
            </a:r>
            <a:r>
              <a:rPr lang="zh-CN" altLang="en-US" sz="1800" b="1" dirty="0">
                <a:latin typeface="宋体" panose="02010600030101010101" pitchFamily="2" charset="-122"/>
              </a:rPr>
              <a:t>系统用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吞吐率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评测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b="1" dirty="0" smtClean="0">
                <a:latin typeface="宋体" panose="02010600030101010101" pitchFamily="2" charset="-122"/>
              </a:rPr>
              <a:t>常用</a:t>
            </a:r>
            <a:r>
              <a:rPr lang="en-US" altLang="zh-CN" b="1" i="1" dirty="0">
                <a:latin typeface="宋体" panose="02010600030101010101" pitchFamily="2" charset="-122"/>
              </a:rPr>
              <a:t>T</a:t>
            </a:r>
            <a:r>
              <a:rPr lang="en-US" altLang="zh-CN" b="1" baseline="-20000" dirty="0"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latin typeface="宋体" panose="02010600030101010101" pitchFamily="2" charset="-122"/>
              </a:rPr>
              <a:t>评测</a:t>
            </a:r>
            <a:r>
              <a:rPr lang="en-US" altLang="zh-CN" b="1" dirty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性能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spc="-5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～</a:t>
            </a:r>
            <a:r>
              <a:rPr lang="zh-CN" altLang="en-US" sz="1800" b="1" spc="-50" dirty="0">
                <a:latin typeface="宋体" panose="02010600030101010101" pitchFamily="2" charset="-122"/>
              </a:rPr>
              <a:t>算法及</a:t>
            </a:r>
            <a:r>
              <a:rPr lang="zh-CN" altLang="en-US" sz="1800" b="1" spc="-50" dirty="0" smtClean="0">
                <a:latin typeface="宋体" panose="02010600030101010101" pitchFamily="2" charset="-122"/>
              </a:rPr>
              <a:t>编译、</a:t>
            </a:r>
            <a:r>
              <a:rPr lang="en-US" altLang="zh-CN" sz="1800" b="1" spc="-50" dirty="0">
                <a:latin typeface="宋体" panose="02010600030101010101" pitchFamily="2" charset="-122"/>
              </a:rPr>
              <a:t>ISA</a:t>
            </a:r>
            <a:r>
              <a:rPr lang="zh-CN" altLang="en-US" sz="1800" b="1" spc="-50" dirty="0">
                <a:latin typeface="宋体" panose="02010600030101010101" pitchFamily="2" charset="-122"/>
              </a:rPr>
              <a:t>及</a:t>
            </a:r>
            <a:r>
              <a:rPr lang="zh-CN" altLang="en-US" sz="1800" b="1" spc="-50" dirty="0" smtClean="0">
                <a:latin typeface="宋体" panose="02010600030101010101" pitchFamily="2" charset="-122"/>
              </a:rPr>
              <a:t>组成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1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17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259632" y="1916262"/>
            <a:ext cx="7488236" cy="2246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i="1" dirty="0" smtClean="0">
                <a:latin typeface="宋体" panose="02010600030101010101" pitchFamily="2" charset="-122"/>
              </a:rPr>
              <a:t>      T</a:t>
            </a:r>
            <a:r>
              <a:rPr lang="en-US" altLang="zh-CN" b="1" baseline="-18000" dirty="0" smtClean="0">
                <a:latin typeface="宋体" panose="02010600030101010101" pitchFamily="2" charset="-122"/>
              </a:rPr>
              <a:t>CPU</a:t>
            </a:r>
            <a:r>
              <a:rPr lang="en-US" altLang="zh-CN" b="1" dirty="0" smtClean="0">
                <a:latin typeface="宋体" panose="02010600030101010101" pitchFamily="2" charset="-122"/>
              </a:rPr>
              <a:t>＝</a:t>
            </a:r>
            <a:r>
              <a:rPr lang="en-US" altLang="zh-CN" b="1" i="1" dirty="0" smtClean="0">
                <a:latin typeface="宋体" panose="02010600030101010101" pitchFamily="2" charset="-122"/>
              </a:rPr>
              <a:t>I</a:t>
            </a:r>
            <a:r>
              <a:rPr lang="en-US" altLang="zh-CN" b="1" i="1" baseline="-18000" dirty="0" smtClean="0">
                <a:latin typeface="+mn-lt"/>
              </a:rPr>
              <a:t>N </a:t>
            </a:r>
            <a:r>
              <a:rPr lang="en-US" altLang="zh-CN" b="1" dirty="0" smtClean="0">
                <a:latin typeface="宋体" panose="02010600030101010101" pitchFamily="2" charset="-122"/>
              </a:rPr>
              <a:t>×CPI×</a:t>
            </a:r>
            <a:r>
              <a:rPr lang="en-US" altLang="zh-CN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b="1" baseline="-18000" dirty="0" smtClean="0">
                <a:latin typeface="宋体" panose="02010600030101010101" pitchFamily="2" charset="-122"/>
              </a:rPr>
              <a:t>C</a:t>
            </a:r>
            <a:r>
              <a:rPr lang="en-US" altLang="zh-CN" b="1" dirty="0" smtClean="0">
                <a:latin typeface="宋体" panose="02010600030101010101" pitchFamily="2" charset="-122"/>
              </a:rPr>
              <a:t>＝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2000" b="1" i="1" dirty="0" smtClean="0">
                <a:latin typeface="宋体" panose="02010600030101010101" pitchFamily="2" charset="-122"/>
              </a:rPr>
              <a:t>I</a:t>
            </a:r>
            <a:r>
              <a:rPr lang="en-US" altLang="zh-CN" sz="2000" b="1" i="1" baseline="-18000" dirty="0" smtClean="0">
                <a:latin typeface="宋体" panose="02010600030101010101" pitchFamily="2" charset="-122"/>
              </a:rPr>
              <a:t>N</a:t>
            </a:r>
            <a:r>
              <a:rPr lang="en-US" altLang="zh-CN" sz="2000" b="1" i="1" baseline="-18000" dirty="0" smtClean="0"/>
              <a:t>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—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执行的</a:t>
            </a:r>
            <a:r>
              <a:rPr lang="zh-CN" altLang="en-US" sz="20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指令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条</a:t>
            </a:r>
            <a:r>
              <a:rPr lang="zh-CN" altLang="en-US" sz="20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(≠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代码的指令条数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000" b="1" baseline="-18000" dirty="0" smtClean="0">
                <a:latin typeface="宋体" panose="02010600030101010101" pitchFamily="2" charset="-122"/>
              </a:rPr>
              <a:t>C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—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主</a:t>
            </a:r>
            <a:r>
              <a:rPr lang="zh-CN" altLang="en-US" sz="20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时钟周期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(=1/</a:t>
            </a:r>
            <a:r>
              <a:rPr lang="en-US" altLang="zh-CN" sz="1800" i="1" dirty="0" smtClean="0">
                <a:latin typeface="+mn-lt"/>
              </a:rPr>
              <a:t>f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 smtClean="0">
                <a:latin typeface="宋体" panose="02010600030101010101" pitchFamily="2" charset="-122"/>
              </a:rPr>
              <a:t>CPI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800" dirty="0" smtClean="0">
                <a:latin typeface="+mn-lt"/>
              </a:rPr>
              <a:t>Cycles per Instruction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—</a:t>
            </a:r>
            <a:r>
              <a:rPr lang="zh-CN" altLang="en-US" sz="2000" b="1" dirty="0">
                <a:latin typeface="宋体" panose="02010600030101010101" pitchFamily="2" charset="-122"/>
              </a:rPr>
              <a:t>执行一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条指令所需的</a:t>
            </a:r>
            <a:r>
              <a:rPr lang="en-US" altLang="zh-CN" sz="2000" b="1" i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000" b="1" u="sng" baseline="-180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0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平均值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i="1" dirty="0" smtClean="0">
                <a:latin typeface="+mn-lt"/>
              </a:rPr>
              <a:t>n</a:t>
            </a:r>
            <a:r>
              <a:rPr lang="en-US" altLang="zh-CN" sz="2000" b="1" i="1" baseline="-25000" dirty="0" smtClean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—</a:t>
            </a:r>
            <a:r>
              <a:rPr lang="zh-CN" altLang="en-US" sz="2000" b="1" u="sng" dirty="0" smtClean="0">
                <a:latin typeface="宋体" panose="02010600030101010101" pitchFamily="2" charset="-122"/>
              </a:rPr>
              <a:t>指令系统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的指令类型数，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i="1" dirty="0" smtClean="0">
                <a:latin typeface="宋体" panose="02010600030101010101" pitchFamily="2" charset="-122"/>
              </a:rPr>
              <a:t>I</a:t>
            </a:r>
            <a:r>
              <a:rPr lang="en-US" altLang="zh-CN" sz="2000" b="1" i="1" baseline="-18000" dirty="0" smtClean="0">
                <a:latin typeface="+mn-lt"/>
              </a:rPr>
              <a:t>i</a:t>
            </a:r>
            <a:r>
              <a:rPr lang="en-US" altLang="zh-CN" sz="2000" b="1" i="1" baseline="-18000" dirty="0" smtClean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—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程序中第</a:t>
            </a:r>
            <a:r>
              <a:rPr lang="en-US" altLang="zh-CN" sz="2000" i="1" dirty="0" err="1">
                <a:latin typeface="+mn-lt"/>
              </a:rPr>
              <a:t>i</a:t>
            </a:r>
            <a:r>
              <a:rPr lang="en-US" altLang="zh-CN" sz="2000" b="1" i="1" dirty="0" smtClean="0"/>
              <a:t>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种指令的执行条数，</a:t>
            </a:r>
            <a:r>
              <a:rPr lang="en-US" altLang="zh-CN" sz="2000" b="1" dirty="0" err="1" smtClean="0">
                <a:latin typeface="宋体" panose="02010600030101010101" pitchFamily="2" charset="-122"/>
              </a:rPr>
              <a:t>CPI</a:t>
            </a:r>
            <a:r>
              <a:rPr lang="en-US" altLang="zh-CN" sz="2000" b="1" i="1" baseline="-18000" dirty="0" err="1" smtClean="0"/>
              <a:t>i</a:t>
            </a:r>
            <a:r>
              <a:rPr lang="en-US" altLang="zh-CN" sz="2000" b="1" i="1" baseline="-18000" dirty="0" smtClean="0"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—</a:t>
            </a:r>
            <a:r>
              <a:rPr lang="zh-CN" altLang="en-US" sz="2000" b="1" dirty="0">
                <a:latin typeface="宋体" panose="02010600030101010101" pitchFamily="2" charset="-122"/>
              </a:rPr>
              <a:t>第</a:t>
            </a:r>
            <a:r>
              <a:rPr lang="en-US" altLang="zh-CN" sz="2000" i="1" dirty="0" err="1"/>
              <a:t>i</a:t>
            </a:r>
            <a:r>
              <a:rPr lang="en-US" altLang="zh-CN" sz="2000" b="1" i="1" dirty="0"/>
              <a:t> </a:t>
            </a:r>
            <a:r>
              <a:rPr lang="zh-CN" altLang="en-US" sz="2000" b="1" dirty="0">
                <a:latin typeface="宋体" panose="02010600030101010101" pitchFamily="2" charset="-122"/>
              </a:rPr>
              <a:t>种指令的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CPI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061352" y="1800200"/>
          <a:ext cx="2102936" cy="764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791" name="Equation" r:id="rId3" imgW="26822400" imgH="9753600" progId="Equation.DSMT4">
                  <p:embed/>
                </p:oleObj>
              </mc:Choice>
              <mc:Fallback>
                <p:oleObj name="Equation" r:id="rId3" imgW="26822400" imgH="9753600" progId="Equation.DSMT4">
                  <p:embed/>
                  <p:pic>
                    <p:nvPicPr>
                      <p:cNvPr id="0" name="图片 2637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61352" y="1800200"/>
                        <a:ext cx="2102936" cy="764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AC38-6360-4109-9FCF-488A37030BC5}" type="slidenum">
              <a:rPr lang="en-US" altLang="zh-CN"/>
            </a:fld>
            <a:endParaRPr lang="en-US" altLang="zh-CN"/>
          </a:p>
        </p:txBody>
      </p:sp>
      <p:sp>
        <p:nvSpPr>
          <p:cNvPr id="264196" name="Text Box 4"/>
          <p:cNvSpPr txBox="1">
            <a:spLocks noChangeArrowheads="1"/>
          </p:cNvSpPr>
          <p:nvPr/>
        </p:nvSpPr>
        <p:spPr bwMode="auto">
          <a:xfrm>
            <a:off x="179512" y="332259"/>
            <a:ext cx="8785225" cy="22467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1—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某机</a:t>
            </a:r>
            <a:r>
              <a:rPr lang="zh-CN" altLang="en-US" sz="2200" b="1" dirty="0">
                <a:latin typeface="宋体" panose="02010600030101010101" pitchFamily="2" charset="-122"/>
              </a:rPr>
              <a:t>主频为</a:t>
            </a:r>
            <a:r>
              <a:rPr lang="en-US" altLang="zh-CN" sz="2200" b="1" dirty="0">
                <a:latin typeface="宋体" panose="02010600030101010101" pitchFamily="2" charset="-122"/>
              </a:rPr>
              <a:t>2GHz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指令系统包含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类指令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dirty="0"/>
              <a:t>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类及</a:t>
            </a:r>
            <a:r>
              <a:rPr lang="en-US" altLang="zh-CN" sz="2200" dirty="0" err="1" smtClean="0"/>
              <a:t>ⅠⅠ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类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，指令长度均为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2B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，指令执行时间分别</a:t>
            </a:r>
            <a:r>
              <a:rPr lang="zh-CN" altLang="en-US" sz="2200" b="1" dirty="0">
                <a:latin typeface="宋体" panose="02010600030101010101" pitchFamily="2" charset="-122"/>
              </a:rPr>
              <a:t>为</a:t>
            </a:r>
            <a:r>
              <a:rPr lang="en-US" altLang="zh-CN" sz="2200" b="1" dirty="0">
                <a:latin typeface="宋体" panose="02010600030101010101" pitchFamily="2" charset="-122"/>
              </a:rPr>
              <a:t>5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个和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8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个主时钟</a:t>
            </a:r>
            <a:r>
              <a:rPr lang="zh-CN" altLang="en-US" sz="2200" b="1" dirty="0">
                <a:latin typeface="宋体" panose="02010600030101010101" pitchFamily="2" charset="-122"/>
              </a:rPr>
              <a:t>周期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。程序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执行时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，执行了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30000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条</a:t>
            </a:r>
            <a:r>
              <a:rPr lang="en-US" altLang="zh-CN" sz="2200" dirty="0"/>
              <a:t>Ⅰ</a:t>
            </a:r>
            <a:r>
              <a:rPr lang="zh-CN" altLang="en-US" sz="2200" b="1" dirty="0">
                <a:latin typeface="宋体" panose="02010600030101010101" pitchFamily="2" charset="-122"/>
              </a:rPr>
              <a:t>类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70000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条</a:t>
            </a:r>
            <a:r>
              <a:rPr lang="en-US" altLang="zh-CN" sz="2200" dirty="0"/>
              <a:t>Ⅱ</a:t>
            </a:r>
            <a:r>
              <a:rPr lang="zh-CN" altLang="en-US" sz="2200" b="1" dirty="0"/>
              <a:t>类</a:t>
            </a:r>
            <a:r>
              <a:rPr lang="zh-CN" altLang="en-US" sz="2200" b="1" dirty="0">
                <a:latin typeface="宋体" panose="02010600030101010101" pitchFamily="2" charset="-122"/>
              </a:rPr>
              <a:t>指令，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求程序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A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执行的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时间、平均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CPI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。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  <a:endParaRPr lang="zh-CN" altLang="en-US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264201" name="Text Box 9"/>
          <p:cNvSpPr txBox="1">
            <a:spLocks noChangeArrowheads="1"/>
          </p:cNvSpPr>
          <p:nvPr/>
        </p:nvSpPr>
        <p:spPr bwMode="auto">
          <a:xfrm>
            <a:off x="1331516" y="2044382"/>
            <a:ext cx="6840884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20000" dirty="0" smtClean="0"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(30000×5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＋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70000×8)/(2×10</a:t>
            </a:r>
            <a:r>
              <a:rPr lang="en-US" altLang="zh-CN" sz="2200" b="1" baseline="30000" dirty="0" smtClean="0">
                <a:latin typeface="宋体" panose="02010600030101010101" pitchFamily="2" charset="-122"/>
              </a:rPr>
              <a:t>9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355</a:t>
            </a:r>
            <a:r>
              <a:rPr lang="en-US" altLang="zh-CN" sz="2200" b="1" dirty="0" smtClean="0">
                <a:latin typeface="+mn-lt"/>
              </a:rPr>
              <a:t> </a:t>
            </a:r>
            <a:r>
              <a:rPr lang="en-US" altLang="zh-CN" sz="2200" dirty="0" err="1" smtClean="0">
                <a:latin typeface="+mn-lt"/>
              </a:rPr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；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CPI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30000/100000×5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＋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70000/100000×8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7.1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79388" y="2926188"/>
            <a:ext cx="8785225" cy="18235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2—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续例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。程序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B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大小</a:t>
            </a:r>
            <a:r>
              <a:rPr lang="zh-CN" altLang="en-US" sz="2200" b="1" dirty="0">
                <a:latin typeface="宋体" panose="02010600030101010101" pitchFamily="2" charset="-122"/>
              </a:rPr>
              <a:t>为</a:t>
            </a:r>
            <a:r>
              <a:rPr lang="en-US" altLang="zh-CN" sz="2200" b="1" dirty="0">
                <a:latin typeface="宋体" panose="02010600030101010101" pitchFamily="2" charset="-122"/>
              </a:rPr>
              <a:t>2MB</a:t>
            </a:r>
            <a:r>
              <a:rPr lang="zh-CN" altLang="en-US" sz="2200" b="1" dirty="0">
                <a:latin typeface="宋体" panose="02010600030101010101" pitchFamily="2" charset="-122"/>
              </a:rPr>
              <a:t>，其中</a:t>
            </a:r>
            <a:r>
              <a:rPr lang="en-US" altLang="zh-CN" sz="2200" b="1" dirty="0">
                <a:latin typeface="宋体" panose="02010600030101010101" pitchFamily="2" charset="-122"/>
              </a:rPr>
              <a:t>30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%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为</a:t>
            </a:r>
            <a:r>
              <a:rPr lang="en-US" altLang="zh-CN" sz="2200" dirty="0"/>
              <a:t>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类</a:t>
            </a:r>
            <a:r>
              <a:rPr lang="zh-CN" altLang="en-US" sz="2200" b="1" dirty="0">
                <a:latin typeface="宋体" panose="02010600030101010101" pitchFamily="2" charset="-122"/>
              </a:rPr>
              <a:t>指令；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程序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B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</a:rPr>
              <a:t>时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dirty="0" smtClean="0"/>
              <a:t>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类</a:t>
            </a:r>
            <a:r>
              <a:rPr lang="zh-CN" altLang="en-US" sz="2200" b="1" dirty="0">
                <a:latin typeface="宋体" panose="02010600030101010101" pitchFamily="2" charset="-122"/>
              </a:rPr>
              <a:t>指令的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10%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和</a:t>
            </a:r>
            <a:r>
              <a:rPr lang="en-US" altLang="zh-CN" sz="2200" dirty="0" err="1" smtClean="0"/>
              <a:t>ⅠⅠ</a:t>
            </a:r>
            <a:r>
              <a:rPr lang="zh-CN" altLang="en-US" sz="2200" b="1" dirty="0" smtClean="0"/>
              <a:t>类</a:t>
            </a:r>
            <a:r>
              <a:rPr lang="zh-CN" altLang="en-US" sz="2200" b="1" dirty="0">
                <a:latin typeface="宋体" panose="02010600030101010101" pitchFamily="2" charset="-122"/>
              </a:rPr>
              <a:t>指令的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20%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各执行了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30</a:t>
            </a:r>
            <a:r>
              <a:rPr lang="zh-CN" altLang="en-US" sz="2200" b="1" dirty="0">
                <a:latin typeface="宋体" panose="02010600030101010101" pitchFamily="2" charset="-122"/>
              </a:rPr>
              <a:t>次，其余指令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均只执行了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次。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求程序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B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执行所需的时钟周期数。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259383" y="4221088"/>
            <a:ext cx="7273057" cy="18620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代码中指令数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—</a:t>
            </a:r>
            <a:r>
              <a:rPr lang="en-US" altLang="zh-CN" sz="2200" dirty="0"/>
              <a:t>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类有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条，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Ⅱ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类有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条；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spc="-50" dirty="0" smtClean="0">
                <a:latin typeface="宋体" panose="02010600030101010101" pitchFamily="2" charset="-122"/>
              </a:rPr>
              <a:t>执行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的指令数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—</a:t>
            </a:r>
            <a:r>
              <a:rPr lang="en-US" altLang="zh-CN" sz="2200" b="1" spc="-50" dirty="0" smtClean="0">
                <a:latin typeface="+mn-lt"/>
              </a:rPr>
              <a:t> </a:t>
            </a:r>
            <a:r>
              <a:rPr lang="en-US" altLang="zh-CN" sz="2200" dirty="0" smtClean="0"/>
              <a:t>Ⅰ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类为</a:t>
            </a:r>
            <a:endParaRPr lang="en-US" altLang="zh-CN" sz="2200" b="1" spc="-50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spc="-50" dirty="0" smtClean="0">
                <a:latin typeface="宋体" panose="02010600030101010101" pitchFamily="2" charset="-122"/>
              </a:rPr>
              <a:t>    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en-US" altLang="zh-CN" sz="2200" dirty="0" err="1" smtClean="0"/>
              <a:t>ⅠⅠ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类为</a:t>
            </a:r>
            <a:endParaRPr lang="en-US" altLang="zh-CN" sz="2200" b="1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 smtClean="0">
                <a:latin typeface="宋体" panose="02010600030101010101" pitchFamily="2" charset="-122"/>
              </a:rPr>
              <a:t>所</a:t>
            </a:r>
            <a:r>
              <a:rPr lang="zh-CN" altLang="en-US" sz="2200" b="1" dirty="0">
                <a:latin typeface="宋体" panose="02010600030101010101" pitchFamily="2" charset="-122"/>
              </a:rPr>
              <a:t>需时钟周期数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—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3635896" y="4221088"/>
            <a:ext cx="5328841" cy="18620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spc="-5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0.3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200" b="1" spc="-50" baseline="3000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20</a:t>
            </a:r>
            <a:r>
              <a:rPr lang="en-US" altLang="zh-CN" sz="2200" b="1" spc="-5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           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0.7*2</a:t>
            </a:r>
            <a:r>
              <a:rPr lang="en-US" altLang="zh-CN" sz="2200" b="1" spc="-50" baseline="30000" dirty="0" smtClean="0">
                <a:latin typeface="宋体" panose="02010600030101010101" pitchFamily="2" charset="-122"/>
              </a:rPr>
              <a:t>20</a:t>
            </a:r>
            <a:endParaRPr lang="en-US" altLang="zh-CN" sz="2200" b="1" spc="-50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spc="-50" dirty="0" smtClean="0">
                <a:latin typeface="宋体" panose="02010600030101010101" pitchFamily="2" charset="-122"/>
              </a:rPr>
              <a:t>   0.3*2</a:t>
            </a:r>
            <a:r>
              <a:rPr lang="en-US" altLang="zh-CN" sz="2200" b="1" spc="-50" baseline="30000" dirty="0" smtClean="0">
                <a:latin typeface="宋体" panose="02010600030101010101" pitchFamily="2" charset="-122"/>
              </a:rPr>
              <a:t>20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(10%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30+90%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1)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1.17*2</a:t>
            </a:r>
            <a:r>
              <a:rPr lang="en-US" altLang="zh-CN" sz="2200" b="1" spc="-50" baseline="30000" dirty="0" smtClean="0">
                <a:latin typeface="宋体" panose="02010600030101010101" pitchFamily="2" charset="-122"/>
              </a:rPr>
              <a:t>20 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条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spc="-50" dirty="0" smtClean="0">
                <a:latin typeface="宋体" panose="02010600030101010101" pitchFamily="2" charset="-122"/>
              </a:rPr>
              <a:t>   0.7*2</a:t>
            </a:r>
            <a:r>
              <a:rPr lang="en-US" altLang="zh-CN" sz="2200" b="1" spc="-50" baseline="30000" dirty="0" smtClean="0">
                <a:latin typeface="宋体" panose="02010600030101010101" pitchFamily="2" charset="-122"/>
              </a:rPr>
              <a:t>20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(20%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30+80%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1)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4.76*2</a:t>
            </a:r>
            <a:r>
              <a:rPr lang="en-US" altLang="zh-CN" sz="2200" b="1" spc="-50" baseline="30000" dirty="0" smtClean="0">
                <a:latin typeface="宋体" panose="02010600030101010101" pitchFamily="2" charset="-122"/>
              </a:rPr>
              <a:t>20 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条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；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spc="-50" dirty="0">
                <a:latin typeface="宋体" panose="02010600030101010101" pitchFamily="2" charset="-122"/>
              </a:rPr>
              <a:t>(1.17*2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5</a:t>
            </a:r>
            <a:r>
              <a:rPr lang="zh-CN" altLang="en-US" sz="2200" b="1" spc="-50" dirty="0">
                <a:latin typeface="宋体" panose="02010600030101010101" pitchFamily="2" charset="-122"/>
              </a:rPr>
              <a:t>＋</a:t>
            </a:r>
            <a:r>
              <a:rPr lang="en-US" altLang="zh-CN" sz="2200" b="1" spc="-50" dirty="0">
                <a:latin typeface="宋体" panose="02010600030101010101" pitchFamily="2" charset="-122"/>
              </a:rPr>
              <a:t>4.76*2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8)</a:t>
            </a:r>
            <a:r>
              <a:rPr lang="zh-CN" altLang="en-US" sz="2200" b="1" spc="-50" dirty="0">
                <a:latin typeface="宋体" panose="02010600030101010101" pitchFamily="2" charset="-122"/>
              </a:rPr>
              <a:t>＝</a:t>
            </a:r>
            <a:r>
              <a:rPr lang="en-US" altLang="zh-CN" sz="2200" b="1" spc="-50" dirty="0">
                <a:latin typeface="宋体" panose="02010600030101010101" pitchFamily="2" charset="-122"/>
              </a:rPr>
              <a:t>43.93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 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个</a:t>
            </a:r>
            <a:endParaRPr lang="en-US" altLang="zh-CN" sz="2200" b="1" spc="-50" dirty="0"/>
          </a:p>
        </p:txBody>
      </p:sp>
      <p:sp>
        <p:nvSpPr>
          <p:cNvPr id="15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4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4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075-6A9C-4F36-9F5B-72E0214112E2}" type="slidenum">
              <a:rPr lang="en-US" altLang="zh-CN"/>
            </a:fld>
            <a:endParaRPr lang="en-US" altLang="zh-CN"/>
          </a:p>
        </p:txBody>
      </p:sp>
      <p:sp>
        <p:nvSpPr>
          <p:cNvPr id="294916" name="Text Box 4"/>
          <p:cNvSpPr txBox="1">
            <a:spLocks noChangeArrowheads="1"/>
          </p:cNvSpPr>
          <p:nvPr/>
        </p:nvSpPr>
        <p:spPr bwMode="auto">
          <a:xfrm>
            <a:off x="179388" y="357166"/>
            <a:ext cx="8785225" cy="22467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3—</a:t>
            </a:r>
            <a:r>
              <a:rPr lang="zh-CN" altLang="en-US" sz="2200" b="1" dirty="0">
                <a:latin typeface="宋体" panose="02010600030101010101" pitchFamily="2" charset="-122"/>
              </a:rPr>
              <a:t>计算机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M1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的主频</a:t>
            </a:r>
            <a:r>
              <a:rPr lang="zh-CN" altLang="en-US" sz="2200" b="1" dirty="0">
                <a:latin typeface="宋体" panose="02010600030101010101" pitchFamily="2" charset="-122"/>
              </a:rPr>
              <a:t>为</a:t>
            </a:r>
            <a:r>
              <a:rPr lang="en-US" altLang="zh-CN" sz="2200" b="1" dirty="0">
                <a:latin typeface="宋体" panose="02010600030101010101" pitchFamily="2" charset="-122"/>
              </a:rPr>
              <a:t>2GHz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，计算机</a:t>
            </a:r>
            <a:r>
              <a:rPr lang="en-US" altLang="zh-CN" sz="2200" b="1" dirty="0">
                <a:latin typeface="宋体" panose="02010600030101010101" pitchFamily="2" charset="-122"/>
              </a:rPr>
              <a:t>M2</a:t>
            </a:r>
            <a:r>
              <a:rPr lang="zh-CN" altLang="en-US" sz="2200" b="1" dirty="0">
                <a:latin typeface="宋体" panose="02010600030101010101" pitchFamily="2" charset="-122"/>
              </a:rPr>
              <a:t>与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>
                <a:latin typeface="宋体" panose="02010600030101010101" pitchFamily="2" charset="-122"/>
              </a:rPr>
              <a:t>具有相同的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ISA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800" dirty="0" smtClean="0">
                <a:latin typeface="+mn-lt"/>
              </a:rPr>
              <a:t>Instruction Set Architecture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M2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的主频</a:t>
            </a:r>
            <a:r>
              <a:rPr lang="zh-CN" altLang="en-US" sz="2200" b="1" dirty="0">
                <a:latin typeface="宋体" panose="02010600030101010101" pitchFamily="2" charset="-122"/>
              </a:rPr>
              <a:t>高于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CPI</a:t>
            </a:r>
            <a:r>
              <a:rPr lang="zh-CN" altLang="en-US" sz="2200" b="1" dirty="0">
                <a:latin typeface="宋体" panose="02010600030101010101" pitchFamily="2" charset="-122"/>
              </a:rPr>
              <a:t>大于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。</a:t>
            </a:r>
            <a:r>
              <a:rPr lang="zh-CN" altLang="en-US" sz="2200" b="1" dirty="0">
                <a:latin typeface="宋体" panose="02010600030101010101" pitchFamily="2" charset="-122"/>
              </a:rPr>
              <a:t>若程序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上的运行时间</a:t>
            </a:r>
            <a:r>
              <a:rPr lang="zh-CN" altLang="en-US" sz="2200" b="1" dirty="0">
                <a:latin typeface="宋体" panose="02010600030101010101" pitchFamily="2" charset="-122"/>
              </a:rPr>
              <a:t>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10s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dirty="0">
                <a:latin typeface="宋体" panose="02010600030101010101" pitchFamily="2" charset="-122"/>
              </a:rPr>
              <a:t>M2</a:t>
            </a:r>
            <a:r>
              <a:rPr lang="zh-CN" altLang="en-US" sz="2200" b="1" dirty="0">
                <a:latin typeface="宋体" panose="02010600030101010101" pitchFamily="2" charset="-122"/>
              </a:rPr>
              <a:t>上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运行所</a:t>
            </a:r>
            <a:r>
              <a:rPr lang="zh-CN" altLang="en-US" sz="2200" b="1" dirty="0">
                <a:latin typeface="宋体" panose="02010600030101010101" pitchFamily="2" charset="-122"/>
              </a:rPr>
              <a:t>需时钟周期数为在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>
                <a:latin typeface="宋体" panose="02010600030101010101" pitchFamily="2" charset="-122"/>
              </a:rPr>
              <a:t>上的</a:t>
            </a:r>
            <a:r>
              <a:rPr lang="en-US" altLang="zh-CN" sz="2200" b="1" dirty="0">
                <a:latin typeface="宋体" panose="02010600030101010101" pitchFamily="2" charset="-122"/>
              </a:rPr>
              <a:t>1.5</a:t>
            </a:r>
            <a:r>
              <a:rPr lang="zh-CN" altLang="en-US" sz="2200" b="1" dirty="0">
                <a:latin typeface="宋体" panose="02010600030101010101" pitchFamily="2" charset="-122"/>
              </a:rPr>
              <a:t>倍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，欲使程序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A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在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M2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上运行时间为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6s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，则</a:t>
            </a:r>
            <a:r>
              <a:rPr lang="en-US" altLang="zh-CN" sz="2200" b="1" dirty="0">
                <a:latin typeface="宋体" panose="02010600030101010101" pitchFamily="2" charset="-122"/>
              </a:rPr>
              <a:t>M2</a:t>
            </a:r>
            <a:r>
              <a:rPr lang="zh-CN" altLang="en-US" sz="2200" b="1" dirty="0">
                <a:latin typeface="宋体" panose="02010600030101010101" pitchFamily="2" charset="-122"/>
              </a:rPr>
              <a:t>的主频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至少为多少？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294917" name="Text Box 5"/>
          <p:cNvSpPr txBox="1">
            <a:spLocks noChangeArrowheads="1"/>
          </p:cNvSpPr>
          <p:nvPr/>
        </p:nvSpPr>
        <p:spPr bwMode="auto">
          <a:xfrm>
            <a:off x="1331516" y="2097729"/>
            <a:ext cx="7416948" cy="22082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设 </a:t>
            </a:r>
            <a:r>
              <a:rPr lang="zh-CN" altLang="en-US" sz="2200" b="1" dirty="0">
                <a:latin typeface="宋体" panose="02010600030101010101" pitchFamily="2" charset="-122"/>
              </a:rPr>
              <a:t>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M1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M2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上运行的时钟</a:t>
            </a:r>
            <a:r>
              <a:rPr lang="zh-CN" altLang="en-US" sz="2200" b="1" dirty="0">
                <a:latin typeface="宋体" panose="02010600030101010101" pitchFamily="2" charset="-122"/>
              </a:rPr>
              <a:t>周期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数各为</a:t>
            </a:r>
            <a:r>
              <a:rPr lang="en-US" altLang="zh-CN" sz="2200" i="1" dirty="0" smtClean="0">
                <a:latin typeface="+mn-lt"/>
              </a:rPr>
              <a:t>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i="1" dirty="0" smtClean="0">
                <a:latin typeface="+mn-lt"/>
              </a:rPr>
              <a:t>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则 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CPU-</a:t>
            </a:r>
            <a:r>
              <a:rPr lang="en-US" altLang="zh-CN" sz="2200" b="1" baseline="-14000" dirty="0" smtClean="0">
                <a:latin typeface="宋体" panose="02010600030101010101" pitchFamily="2" charset="-122"/>
              </a:rPr>
              <a:t>M1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i="1" dirty="0" smtClean="0">
                <a:latin typeface="+mn-lt"/>
              </a:rPr>
              <a:t>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1×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10s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i="1" dirty="0">
                <a:latin typeface="+mn-lt"/>
              </a:rPr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 </a:t>
            </a:r>
            <a:r>
              <a:rPr lang="en-US" altLang="zh-CN" sz="2200" i="1" dirty="0" smtClean="0"/>
              <a:t>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1.5×</a:t>
            </a:r>
            <a:r>
              <a:rPr lang="en-US" altLang="zh-CN" sz="2200" i="1" dirty="0" smtClean="0"/>
              <a:t>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i="1" dirty="0" smtClean="0"/>
              <a:t> 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CPU-M2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i="1" dirty="0"/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2×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</a:t>
            </a:r>
            <a:r>
              <a:rPr lang="en-US" altLang="zh-CN" sz="2200" b="1" dirty="0">
                <a:sym typeface="Symbol" panose="05050102010706020507"/>
              </a:rPr>
              <a:t> </a:t>
            </a:r>
            <a:r>
              <a:rPr lang="en-US" altLang="zh-CN" sz="2200" b="1" dirty="0" smtClean="0">
                <a:sym typeface="Symbol" panose="05050102010706020507"/>
              </a:rPr>
              <a:t>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6s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C</a:t>
            </a:r>
            <a:r>
              <a:rPr lang="en-US" altLang="zh-CN" sz="2200" b="1" dirty="0" smtClean="0">
                <a:sym typeface="Symbol" panose="05050102010706020507"/>
              </a:rPr>
              <a:t> </a:t>
            </a:r>
            <a:r>
              <a:rPr lang="en-US" altLang="zh-CN" sz="2200" b="1" dirty="0">
                <a:sym typeface="Symbol" panose="05050102010706020507"/>
              </a:rPr>
              <a:t>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则 </a:t>
            </a:r>
            <a:r>
              <a:rPr lang="en-US" altLang="zh-CN" sz="2200" i="1" dirty="0" smtClean="0"/>
              <a:t>f</a:t>
            </a:r>
            <a:r>
              <a:rPr lang="en-US" altLang="zh-CN" sz="2200" b="1" i="1" dirty="0" smtClean="0"/>
              <a:t> </a:t>
            </a:r>
            <a:r>
              <a:rPr lang="en-US" altLang="zh-CN" sz="2200" b="1" dirty="0">
                <a:sym typeface="Symbol" panose="05050102010706020507"/>
              </a:rPr>
              <a:t>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1/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</a:t>
            </a:r>
            <a:r>
              <a:rPr lang="en-US" altLang="zh-CN" sz="2200" b="1" dirty="0">
                <a:sym typeface="Symbol" panose="05050102010706020507"/>
              </a:rPr>
              <a:t> 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294919" name="Text Box 7"/>
          <p:cNvSpPr txBox="1">
            <a:spLocks noChangeArrowheads="1"/>
          </p:cNvSpPr>
          <p:nvPr/>
        </p:nvSpPr>
        <p:spPr bwMode="auto">
          <a:xfrm>
            <a:off x="3275856" y="2492896"/>
            <a:ext cx="5112568" cy="1742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     </a:t>
            </a:r>
            <a:r>
              <a:rPr lang="en-US" altLang="zh-CN" sz="2200" b="1" dirty="0" smtClean="0">
                <a:latin typeface="+mn-lt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10s</a:t>
            </a:r>
            <a:r>
              <a:rPr lang="en-US" altLang="zh-CN" sz="2200" b="1" dirty="0" smtClean="0"/>
              <a:t>×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2GHz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20G</a:t>
            </a:r>
            <a:r>
              <a:rPr lang="zh-CN" altLang="en-US" sz="2200" b="1" dirty="0">
                <a:latin typeface="宋体" panose="02010600030101010101" pitchFamily="2" charset="-122"/>
              </a:rPr>
              <a:t>个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1.5×20G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30G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个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      </a:t>
            </a:r>
            <a:r>
              <a:rPr lang="en-US" altLang="zh-CN" sz="2200" b="1" dirty="0" smtClean="0">
                <a:latin typeface="+mn-lt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6s/30G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0.2</a:t>
            </a:r>
            <a:r>
              <a:rPr lang="en-US" altLang="zh-CN" sz="2200" b="1" dirty="0"/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ns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1/</a:t>
            </a:r>
            <a:r>
              <a:rPr lang="en-US" altLang="zh-CN" sz="2200" b="1" dirty="0">
                <a:latin typeface="宋体" panose="02010600030101010101" pitchFamily="2" charset="-122"/>
              </a:rPr>
              <a:t>0.2</a:t>
            </a:r>
            <a:r>
              <a:rPr lang="en-US" altLang="zh-CN" sz="2200" b="1" dirty="0"/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ns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5GHz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94922" name="Text Box 10"/>
          <p:cNvSpPr txBox="1">
            <a:spLocks noChangeArrowheads="1"/>
          </p:cNvSpPr>
          <p:nvPr/>
        </p:nvSpPr>
        <p:spPr bwMode="auto">
          <a:xfrm>
            <a:off x="179388" y="4293096"/>
            <a:ext cx="8785225" cy="938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分析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</a:rPr>
              <a:t>∵</a:t>
            </a:r>
            <a:r>
              <a:rPr lang="en-US" altLang="zh-CN" sz="2200" i="1" dirty="0">
                <a:latin typeface="+mn-lt"/>
              </a:rPr>
              <a:t>f</a:t>
            </a:r>
            <a:r>
              <a:rPr lang="en-US" altLang="zh-CN" sz="2200" b="1" i="1" dirty="0"/>
              <a:t> </a:t>
            </a:r>
            <a:r>
              <a:rPr lang="en-US" altLang="zh-CN" sz="2200" b="1" dirty="0" smtClean="0">
                <a:sym typeface="Symbol" panose="05050102010706020507"/>
              </a:rPr>
              <a:t>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/</a:t>
            </a:r>
            <a:r>
              <a:rPr lang="en-US" altLang="zh-CN" sz="2200" i="1" dirty="0">
                <a:latin typeface="+mn-lt"/>
              </a:rPr>
              <a:t>f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5/2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2.5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CPU-M1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/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CPU-M2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10/6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1.67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＜</a:t>
            </a:r>
            <a:r>
              <a:rPr lang="en-US" altLang="zh-CN" sz="2200" i="1" dirty="0"/>
              <a:t> f</a:t>
            </a:r>
            <a:r>
              <a:rPr lang="en-US" altLang="zh-CN" sz="2200" b="1" i="1" dirty="0"/>
              <a:t> </a:t>
            </a:r>
            <a:r>
              <a:rPr lang="en-US" altLang="zh-CN" sz="2200" b="1" dirty="0">
                <a:sym typeface="Symbol" panose="05050102010706020507"/>
              </a:rPr>
              <a:t>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en-US" altLang="zh-CN" sz="2200" i="1" dirty="0"/>
              <a:t>f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  ∴主频只是影响系统性能的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因素之一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4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4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4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4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94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7" grpId="0"/>
      <p:bldP spid="2949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44" name="Text Box 28"/>
          <p:cNvSpPr txBox="1">
            <a:spLocks noChangeArrowheads="1"/>
          </p:cNvSpPr>
          <p:nvPr/>
        </p:nvSpPr>
        <p:spPr bwMode="auto">
          <a:xfrm>
            <a:off x="1259632" y="1706116"/>
            <a:ext cx="7462540" cy="2554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latin typeface="+mn-ea"/>
                <a:ea typeface="+mn-ea"/>
              </a:rPr>
              <a:t> </a:t>
            </a:r>
            <a:r>
              <a:rPr lang="zh-CN" altLang="en-US" b="1" dirty="0" smtClean="0">
                <a:latin typeface="+mn-lt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</a:rPr>
              <a:t>常用</a:t>
            </a:r>
            <a:r>
              <a:rPr lang="en-US" altLang="zh-CN" b="1" dirty="0">
                <a:latin typeface="宋体" panose="02010600030101010101" pitchFamily="2" charset="-122"/>
              </a:rPr>
              <a:t>MIPS</a:t>
            </a:r>
            <a:r>
              <a:rPr lang="zh-CN" altLang="en-US" b="1" dirty="0">
                <a:latin typeface="宋体" panose="02010600030101010101" pitchFamily="2" charset="-122"/>
              </a:rPr>
              <a:t>及</a:t>
            </a:r>
            <a:r>
              <a:rPr lang="en-US" altLang="zh-CN" b="1" dirty="0">
                <a:latin typeface="宋体" panose="02010600030101010101" pitchFamily="2" charset="-122"/>
              </a:rPr>
              <a:t>MFLOPS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代替</a:t>
            </a:r>
            <a:r>
              <a:rPr lang="zh-CN" altLang="en-US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∵工作量定义未能统一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MIPS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每秒百万次指令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MFLOPS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每秒百万次浮点运算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196358" y="1700808"/>
            <a:ext cx="1855362" cy="42473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+mn-ea"/>
                <a:ea typeface="+mn-ea"/>
              </a:rPr>
              <a:t>表示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+mn-ea"/>
                <a:ea typeface="+mn-ea"/>
              </a:rPr>
              <a:t>特点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02E1-CA0C-45C3-A7C2-E719A9CDFFD7}" type="slidenum">
              <a:rPr lang="en-US" altLang="zh-CN"/>
            </a:fld>
            <a:endParaRPr lang="en-US" altLang="zh-CN"/>
          </a:p>
        </p:txBody>
      </p:sp>
      <p:sp>
        <p:nvSpPr>
          <p:cNvPr id="265222" name="Text Box 6"/>
          <p:cNvSpPr txBox="1">
            <a:spLocks noChangeArrowheads="1"/>
          </p:cNvSpPr>
          <p:nvPr/>
        </p:nvSpPr>
        <p:spPr bwMode="auto">
          <a:xfrm>
            <a:off x="1763688" y="5301208"/>
            <a:ext cx="6958484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反映</a:t>
            </a:r>
            <a:r>
              <a:rPr lang="zh-CN" altLang="en-US" b="1" dirty="0">
                <a:latin typeface="宋体" panose="02010600030101010101" pitchFamily="2" charset="-122"/>
              </a:rPr>
              <a:t>了</a:t>
            </a:r>
            <a:r>
              <a:rPr lang="zh-CN" altLang="en-US" b="1" u="sng" dirty="0" smtClean="0"/>
              <a:t>多任务系统</a:t>
            </a:r>
            <a:r>
              <a:rPr lang="zh-CN" altLang="en-US" b="1" dirty="0" smtClean="0"/>
              <a:t>的</a:t>
            </a:r>
            <a:r>
              <a:rPr lang="zh-CN" altLang="en-US" b="1" u="sng" dirty="0" smtClean="0"/>
              <a:t>总体性能</a:t>
            </a:r>
            <a:r>
              <a:rPr lang="zh-CN" altLang="en-US" b="1" dirty="0" smtClean="0"/>
              <a:t>，单位不统一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65232" name="Text Box 16"/>
          <p:cNvSpPr txBox="1">
            <a:spLocks noChangeArrowheads="1"/>
          </p:cNvSpPr>
          <p:nvPr/>
        </p:nvSpPr>
        <p:spPr bwMode="auto">
          <a:xfrm>
            <a:off x="179388" y="3241437"/>
            <a:ext cx="8736012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       </a:t>
            </a:r>
            <a:r>
              <a:rPr lang="en-US" altLang="zh-CN" b="1" dirty="0" smtClean="0"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缺点</a:t>
            </a:r>
            <a:r>
              <a:rPr lang="en-US" altLang="zh-CN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不能</a:t>
            </a:r>
            <a:r>
              <a:rPr lang="zh-CN" altLang="en-US" b="1" dirty="0">
                <a:latin typeface="宋体" panose="02010600030101010101" pitchFamily="2" charset="-122"/>
              </a:rPr>
              <a:t>反映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指令功能</a:t>
            </a:r>
            <a:r>
              <a:rPr lang="zh-CN" altLang="en-US" b="1" dirty="0">
                <a:latin typeface="宋体" panose="02010600030101010101" pitchFamily="2" charset="-122"/>
              </a:rPr>
              <a:t>强弱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可用相对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MIPS</a:t>
            </a:r>
            <a:r>
              <a:rPr lang="zh-CN" altLang="en-US" sz="2000" b="1" dirty="0">
                <a:latin typeface="宋体" panose="02010600030101010101" pitchFamily="2" charset="-122"/>
              </a:rPr>
              <a:t>方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法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65245" name="Text Box 29"/>
          <p:cNvSpPr txBox="1">
            <a:spLocks noChangeArrowheads="1"/>
          </p:cNvSpPr>
          <p:nvPr/>
        </p:nvSpPr>
        <p:spPr bwMode="auto">
          <a:xfrm>
            <a:off x="179388" y="404664"/>
            <a:ext cx="8736012" cy="13388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吞吐率：</a:t>
            </a:r>
            <a:r>
              <a:rPr lang="zh-CN" altLang="en-US" b="1" dirty="0" smtClean="0">
                <a:latin typeface="宋体" panose="02010600030101010101" pitchFamily="2" charset="-122"/>
              </a:rPr>
              <a:t>指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单位</a:t>
            </a:r>
            <a:r>
              <a:rPr lang="zh-CN" altLang="en-US" b="1" u="sng" dirty="0">
                <a:latin typeface="宋体" panose="02010600030101010101" pitchFamily="2" charset="-122"/>
              </a:rPr>
              <a:t>时间内</a:t>
            </a:r>
            <a:r>
              <a:rPr lang="zh-CN" altLang="en-US" b="1" dirty="0">
                <a:latin typeface="宋体" panose="02010600030101010101" pitchFamily="2" charset="-122"/>
              </a:rPr>
              <a:t>能处理的</a:t>
            </a:r>
            <a:r>
              <a:rPr lang="zh-CN" altLang="en-US" b="1" dirty="0" smtClean="0">
                <a:latin typeface="宋体" panose="02010600030101010101" pitchFamily="2" charset="-122"/>
              </a:rPr>
              <a:t>工作量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   </a:t>
            </a:r>
            <a:r>
              <a:rPr lang="zh-CN" altLang="en-US" b="1" dirty="0" smtClean="0">
                <a:latin typeface="宋体" panose="02010600030101010101" pitchFamily="2" charset="-122"/>
              </a:rPr>
              <a:t>    即</a:t>
            </a:r>
            <a:r>
              <a:rPr lang="en-US" altLang="zh-CN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b="1" baseline="-18000" dirty="0" smtClean="0">
                <a:latin typeface="宋体" panose="02010600030101010101" pitchFamily="2" charset="-122"/>
              </a:rPr>
              <a:t>P</a:t>
            </a:r>
            <a:r>
              <a:rPr lang="zh-CN" altLang="en-US" b="1" dirty="0" smtClean="0"/>
              <a:t>＝</a:t>
            </a:r>
            <a:r>
              <a:rPr lang="en-US" altLang="zh-CN" b="1" dirty="0" smtClean="0">
                <a:latin typeface="+mn-ea"/>
                <a:ea typeface="+mn-ea"/>
              </a:rPr>
              <a:t>(</a:t>
            </a:r>
            <a:r>
              <a:rPr lang="zh-CN" altLang="en-US" b="1" dirty="0" smtClean="0">
                <a:latin typeface="+mn-lt"/>
              </a:rPr>
              <a:t>∑</a:t>
            </a:r>
            <a:r>
              <a:rPr lang="en-US" altLang="zh-CN" b="1" i="1" dirty="0" smtClean="0">
                <a:latin typeface="+mn-ea"/>
                <a:ea typeface="+mn-ea"/>
              </a:rPr>
              <a:t>W</a:t>
            </a:r>
            <a:r>
              <a:rPr lang="en-US" altLang="zh-CN" b="1" i="1" baseline="-18000" dirty="0" smtClean="0">
                <a:latin typeface="+mn-lt"/>
                <a:ea typeface="+mn-ea"/>
              </a:rPr>
              <a:t>i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r>
              <a:rPr lang="en-US" altLang="zh-CN" b="1" dirty="0" smtClean="0">
                <a:latin typeface="宋体" panose="02010600030101010101" pitchFamily="2" charset="-122"/>
              </a:rPr>
              <a:t>/</a:t>
            </a:r>
            <a:r>
              <a:rPr lang="en-US" altLang="zh-CN" b="1" i="1" dirty="0" err="1" smtClean="0">
                <a:latin typeface="宋体" panose="02010600030101010101" pitchFamily="2" charset="-122"/>
              </a:rPr>
              <a:t>T</a:t>
            </a:r>
            <a:r>
              <a:rPr lang="en-US" altLang="zh-CN" b="1" i="1" baseline="-18000" dirty="0" err="1" smtClean="0">
                <a:latin typeface="+mn-lt"/>
              </a:rPr>
              <a:t>n</a:t>
            </a:r>
            <a:r>
              <a:rPr lang="zh-CN" altLang="en-US" dirty="0" smtClean="0">
                <a:latin typeface="+mn-ea"/>
                <a:ea typeface="+mn-ea"/>
              </a:rPr>
              <a:t>，</a:t>
            </a:r>
            <a:r>
              <a:rPr lang="en-US" altLang="zh-CN" sz="2000" b="1" i="1" dirty="0" smtClean="0">
                <a:latin typeface="+mn-ea"/>
                <a:ea typeface="+mn-ea"/>
              </a:rPr>
              <a:t>W</a:t>
            </a:r>
            <a:r>
              <a:rPr lang="en-US" altLang="zh-CN" sz="2000" b="1" i="1" baseline="-18000" dirty="0" smtClean="0">
                <a:latin typeface="+mn-lt"/>
                <a:ea typeface="+mn-ea"/>
              </a:rPr>
              <a:t>i</a:t>
            </a:r>
            <a:r>
              <a:rPr lang="en-US" altLang="zh-CN" sz="2000" b="1" dirty="0" smtClean="0">
                <a:latin typeface="+mn-ea"/>
                <a:ea typeface="+mn-ea"/>
              </a:rPr>
              <a:t>—</a:t>
            </a:r>
            <a:r>
              <a:rPr lang="zh-CN" altLang="en-US" sz="2000" b="1" dirty="0" smtClean="0">
                <a:latin typeface="+mn-ea"/>
                <a:ea typeface="+mn-ea"/>
              </a:rPr>
              <a:t>任务</a:t>
            </a:r>
            <a:r>
              <a:rPr lang="en-US" altLang="zh-CN" sz="2000" b="1" i="1" dirty="0" err="1" smtClean="0">
                <a:latin typeface="+mn-lt"/>
                <a:ea typeface="+mn-ea"/>
              </a:rPr>
              <a:t>i</a:t>
            </a:r>
            <a:r>
              <a:rPr lang="zh-CN" altLang="en-US" sz="2000" b="1" dirty="0" smtClean="0">
                <a:latin typeface="+mn-ea"/>
                <a:ea typeface="+mn-ea"/>
              </a:rPr>
              <a:t>的工作量</a:t>
            </a:r>
            <a:r>
              <a:rPr lang="en-US" altLang="zh-CN" sz="2000" b="1" dirty="0" smtClean="0">
                <a:latin typeface="+mn-ea"/>
                <a:ea typeface="+mn-ea"/>
              </a:rPr>
              <a:t>,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lvl="0">
              <a:lnSpc>
                <a:spcPct val="105000"/>
              </a:lnSpc>
            </a:pPr>
            <a:r>
              <a:rPr lang="en-US" altLang="zh-CN" sz="2000" b="1" dirty="0"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latin typeface="+mn-ea"/>
                <a:ea typeface="+mn-ea"/>
              </a:rPr>
              <a:t>                             </a:t>
            </a:r>
            <a:r>
              <a:rPr lang="en-US" altLang="zh-CN" sz="2000" b="1" i="1" dirty="0" err="1" smtClean="0">
                <a:latin typeface="+mn-ea"/>
                <a:ea typeface="+mn-ea"/>
              </a:rPr>
              <a:t>T</a:t>
            </a:r>
            <a:r>
              <a:rPr lang="en-US" altLang="zh-CN" sz="2000" b="1" i="1" baseline="-18000" dirty="0" err="1" smtClean="0">
                <a:latin typeface="+mn-lt"/>
                <a:ea typeface="+mn-ea"/>
              </a:rPr>
              <a:t>n</a:t>
            </a:r>
            <a:r>
              <a:rPr lang="en-US" altLang="zh-CN" sz="2000" b="1" dirty="0" smtClean="0">
                <a:latin typeface="+mn-ea"/>
                <a:ea typeface="+mn-ea"/>
              </a:rPr>
              <a:t>—</a:t>
            </a:r>
            <a:r>
              <a:rPr lang="zh-CN" altLang="en-US" sz="2000" b="1" dirty="0" smtClean="0">
                <a:latin typeface="+mn-ea"/>
                <a:ea typeface="+mn-ea"/>
              </a:rPr>
              <a:t>完成</a:t>
            </a:r>
            <a:r>
              <a:rPr lang="en-US" altLang="zh-CN" sz="2000" b="1" i="1" dirty="0" smtClean="0">
                <a:latin typeface="+mn-lt"/>
                <a:ea typeface="+mn-ea"/>
              </a:rPr>
              <a:t>n</a:t>
            </a:r>
            <a:r>
              <a:rPr lang="zh-CN" altLang="en-US" sz="2000" b="1" dirty="0">
                <a:latin typeface="+mn-ea"/>
                <a:ea typeface="+mn-ea"/>
              </a:rPr>
              <a:t>个任务的</a:t>
            </a:r>
            <a:r>
              <a:rPr lang="zh-CN" altLang="en-US" sz="2000" b="1" dirty="0" smtClean="0">
                <a:latin typeface="+mn-ea"/>
                <a:ea typeface="+mn-ea"/>
              </a:rPr>
              <a:t>总时间（</a:t>
            </a:r>
            <a:r>
              <a:rPr lang="en-US" altLang="zh-CN" sz="2000" b="1" i="1" dirty="0" err="1" smtClean="0">
                <a:latin typeface="+mn-ea"/>
              </a:rPr>
              <a:t>T</a:t>
            </a:r>
            <a:r>
              <a:rPr lang="en-US" altLang="zh-CN" sz="2000" b="1" i="1" baseline="-18000" dirty="0" err="1" smtClean="0"/>
              <a:t>n</a:t>
            </a:r>
            <a:r>
              <a:rPr lang="zh-CN" altLang="en-US" sz="2000" b="1" dirty="0" smtClean="0"/>
              <a:t>＜</a:t>
            </a:r>
            <a:r>
              <a:rPr lang="zh-CN" altLang="en-US" sz="2000" b="1" dirty="0">
                <a:solidFill>
                  <a:srgbClr val="000000"/>
                </a:solidFill>
              </a:rPr>
              <a:t>∑</a:t>
            </a:r>
            <a:r>
              <a:rPr lang="en-US" altLang="zh-CN" sz="2000" b="1" i="1" dirty="0">
                <a:solidFill>
                  <a:srgbClr val="000000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2000" b="1" baseline="-18000" dirty="0">
                <a:solidFill>
                  <a:srgbClr val="000000"/>
                </a:solidFill>
                <a:latin typeface="宋体" panose="02010600030101010101" pitchFamily="2" charset="-122"/>
              </a:rPr>
              <a:t>响应</a:t>
            </a:r>
            <a:r>
              <a:rPr lang="en-US" altLang="zh-CN" sz="2000" b="1" i="1" baseline="-18000" dirty="0" err="1" smtClean="0">
                <a:solidFill>
                  <a:srgbClr val="000000"/>
                </a:solidFill>
              </a:rPr>
              <a:t>i</a:t>
            </a:r>
            <a:r>
              <a:rPr lang="zh-CN" altLang="en-US" sz="2000" b="1" dirty="0" smtClean="0">
                <a:latin typeface="+mn-ea"/>
                <a:ea typeface="+mn-ea"/>
              </a:rPr>
              <a:t>）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65247" name="Text Box 31"/>
          <p:cNvSpPr txBox="1">
            <a:spLocks noChangeArrowheads="1"/>
          </p:cNvSpPr>
          <p:nvPr/>
        </p:nvSpPr>
        <p:spPr bwMode="auto">
          <a:xfrm>
            <a:off x="179388" y="4797152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       </a:t>
            </a:r>
            <a:r>
              <a:rPr lang="en-US" altLang="zh-CN" b="1" dirty="0" smtClean="0"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缺点</a:t>
            </a:r>
            <a:r>
              <a:rPr lang="en-US" altLang="zh-CN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不能反映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整体</a:t>
            </a:r>
            <a:r>
              <a:rPr lang="zh-CN" altLang="en-US" b="1" dirty="0" smtClean="0">
                <a:latin typeface="宋体" panose="02010600030101010101" pitchFamily="2" charset="-122"/>
              </a:rPr>
              <a:t>性能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只为浮点操作能力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265250" name="Text Box 34"/>
          <p:cNvSpPr txBox="1">
            <a:spLocks noChangeArrowheads="1"/>
          </p:cNvSpPr>
          <p:nvPr/>
        </p:nvSpPr>
        <p:spPr bwMode="auto">
          <a:xfrm>
            <a:off x="179388" y="5805264"/>
            <a:ext cx="8736012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其他指标：</a:t>
            </a:r>
            <a:r>
              <a:rPr lang="en-US" altLang="zh-CN" b="1" dirty="0">
                <a:latin typeface="宋体" panose="02010600030101010101" pitchFamily="2" charset="-122"/>
              </a:rPr>
              <a:t>RAS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可靠性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可用性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可维护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，兼容性等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42851" y="2622882"/>
          <a:ext cx="3103563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31" name="Equation" r:id="rId1" imgW="1193165" imgH="266700" progId="Equation.DSMT4">
                  <p:embed/>
                </p:oleObj>
              </mc:Choice>
              <mc:Fallback>
                <p:oleObj name="Equation" r:id="rId1" imgW="1193165" imgH="2667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2851" y="2622882"/>
                        <a:ext cx="3103563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082926" y="2593365"/>
          <a:ext cx="3665538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32" name="Equation" r:id="rId3" imgW="1409700" imgH="279400" progId="Equation.DSMT4">
                  <p:embed/>
                </p:oleObj>
              </mc:Choice>
              <mc:Fallback>
                <p:oleObj name="Equation" r:id="rId3" imgW="1409700" imgH="279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2926" y="2593365"/>
                        <a:ext cx="3665538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82788" y="4181772"/>
          <a:ext cx="626745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33" name="Equation" r:id="rId5" imgW="2400300" imgH="266700" progId="Equation.DSMT4">
                  <p:embed/>
                </p:oleObj>
              </mc:Choice>
              <mc:Fallback>
                <p:oleObj name="Equation" r:id="rId5" imgW="2400300" imgH="2667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788" y="4181772"/>
                        <a:ext cx="626745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AutoShape 62">
            <a:hlinkClick r:id="rId7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34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1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6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44" grpId="0"/>
      <p:bldP spid="265222" grpId="0"/>
      <p:bldP spid="265232" grpId="0"/>
      <p:bldP spid="265247" grpId="0"/>
      <p:bldP spid="26525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51520" y="404664"/>
            <a:ext cx="8640960" cy="4785926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 ※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本节课堂练习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：</a:t>
            </a:r>
            <a:endParaRPr lang="en-US" altLang="zh-CN" b="1" dirty="0">
              <a:latin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latin typeface="+mn-ea"/>
                <a:ea typeface="+mn-ea"/>
              </a:rPr>
              <a:t>  某</a:t>
            </a:r>
            <a:r>
              <a:rPr lang="en-US" altLang="zh-CN" sz="2200" b="1" dirty="0" smtClean="0">
                <a:latin typeface="+mn-ea"/>
                <a:ea typeface="+mn-ea"/>
              </a:rPr>
              <a:t>CPU</a:t>
            </a:r>
            <a:r>
              <a:rPr lang="zh-CN" altLang="en-US" sz="2200" b="1" dirty="0" smtClean="0">
                <a:latin typeface="+mn-ea"/>
                <a:ea typeface="+mn-ea"/>
              </a:rPr>
              <a:t>的</a:t>
            </a:r>
            <a:r>
              <a:rPr lang="zh-CN" altLang="en-US" sz="2200" b="1" dirty="0" smtClean="0">
                <a:latin typeface="+mn-ea"/>
              </a:rPr>
              <a:t>主频为</a:t>
            </a:r>
            <a:r>
              <a:rPr lang="en-US" altLang="zh-CN" sz="2200" b="1" dirty="0" smtClean="0">
                <a:latin typeface="+mn-ea"/>
              </a:rPr>
              <a:t>50MHz</a:t>
            </a:r>
            <a:r>
              <a:rPr lang="zh-CN" altLang="en-US" sz="2200" b="1" dirty="0" smtClean="0">
                <a:latin typeface="+mn-ea"/>
              </a:rPr>
              <a:t>，所</a:t>
            </a:r>
            <a:r>
              <a:rPr lang="zh-CN" altLang="en-US" sz="2200" b="1" dirty="0" smtClean="0">
                <a:latin typeface="+mn-ea"/>
                <a:ea typeface="+mn-ea"/>
              </a:rPr>
              <a:t>支持的指令有</a:t>
            </a:r>
            <a:r>
              <a:rPr lang="en-US" altLang="zh-CN" sz="2200" b="1" dirty="0" smtClean="0">
                <a:latin typeface="+mn-ea"/>
                <a:ea typeface="+mn-ea"/>
              </a:rPr>
              <a:t>X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Y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Z</a:t>
            </a:r>
            <a:r>
              <a:rPr lang="zh-CN" altLang="en-US" sz="2200" b="1" dirty="0" smtClean="0">
                <a:latin typeface="+mn-ea"/>
                <a:ea typeface="+mn-ea"/>
              </a:rPr>
              <a:t>三类，</a:t>
            </a:r>
            <a:r>
              <a:rPr lang="zh-CN" altLang="en-US" sz="2200" b="1" dirty="0">
                <a:latin typeface="+mn-ea"/>
                <a:ea typeface="+mn-ea"/>
              </a:rPr>
              <a:t>其</a:t>
            </a:r>
            <a:r>
              <a:rPr lang="en-US" altLang="zh-CN" sz="2200" b="1" dirty="0">
                <a:latin typeface="+mn-ea"/>
                <a:ea typeface="+mn-ea"/>
              </a:rPr>
              <a:t>CPI</a:t>
            </a:r>
            <a:r>
              <a:rPr lang="zh-CN" altLang="en-US" sz="2200" b="1" dirty="0">
                <a:latin typeface="+mn-ea"/>
                <a:ea typeface="+mn-ea"/>
              </a:rPr>
              <a:t>分别</a:t>
            </a:r>
            <a:r>
              <a:rPr lang="zh-CN" altLang="en-US" sz="2200" b="1" dirty="0" smtClean="0">
                <a:latin typeface="+mn-ea"/>
                <a:ea typeface="+mn-ea"/>
              </a:rPr>
              <a:t>为</a:t>
            </a:r>
            <a:r>
              <a:rPr lang="en-US" altLang="zh-CN" sz="2200" b="1" dirty="0" smtClean="0">
                <a:latin typeface="+mn-ea"/>
                <a:ea typeface="+mn-ea"/>
              </a:rPr>
              <a:t>4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6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8</a:t>
            </a:r>
            <a:r>
              <a:rPr lang="zh-CN" altLang="en-US" sz="2200" b="1" dirty="0" smtClean="0">
                <a:latin typeface="+mn-ea"/>
                <a:ea typeface="+mn-ea"/>
              </a:rPr>
              <a:t>。假设</a:t>
            </a:r>
            <a:r>
              <a:rPr lang="zh-CN" altLang="en-US" sz="2200" b="1" dirty="0">
                <a:latin typeface="+mn-ea"/>
                <a:ea typeface="+mn-ea"/>
              </a:rPr>
              <a:t>程序</a:t>
            </a:r>
            <a:r>
              <a:rPr lang="en-US" altLang="zh-CN" sz="2200" b="1" dirty="0">
                <a:latin typeface="+mn-ea"/>
                <a:ea typeface="+mn-ea"/>
              </a:rPr>
              <a:t>P</a:t>
            </a:r>
            <a:r>
              <a:rPr lang="zh-CN" altLang="en-US" sz="2200" b="1" dirty="0">
                <a:latin typeface="+mn-ea"/>
                <a:ea typeface="+mn-ea"/>
              </a:rPr>
              <a:t>的</a:t>
            </a:r>
            <a:r>
              <a:rPr lang="zh-CN" altLang="en-US" sz="2200" b="1" dirty="0" smtClean="0">
                <a:latin typeface="+mn-ea"/>
                <a:ea typeface="+mn-ea"/>
              </a:rPr>
              <a:t>目标代码中，</a:t>
            </a:r>
            <a:r>
              <a:rPr lang="en-US" altLang="zh-CN" sz="2200" b="1" dirty="0">
                <a:latin typeface="+mn-ea"/>
                <a:ea typeface="+mn-ea"/>
              </a:rPr>
              <a:t>X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>
                <a:latin typeface="+mn-ea"/>
                <a:ea typeface="+mn-ea"/>
              </a:rPr>
              <a:t>Y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Z</a:t>
            </a:r>
            <a:r>
              <a:rPr lang="zh-CN" altLang="en-US" sz="2200" b="1" dirty="0" smtClean="0">
                <a:latin typeface="+mn-ea"/>
                <a:ea typeface="+mn-ea"/>
              </a:rPr>
              <a:t>类指令所占比例</a:t>
            </a:r>
            <a:r>
              <a:rPr lang="zh-CN" altLang="en-US" sz="2200" b="1" dirty="0">
                <a:latin typeface="+mn-ea"/>
                <a:ea typeface="+mn-ea"/>
              </a:rPr>
              <a:t>分别</a:t>
            </a:r>
            <a:r>
              <a:rPr lang="zh-CN" altLang="en-US" sz="2200" b="1" dirty="0" smtClean="0">
                <a:latin typeface="+mn-ea"/>
                <a:ea typeface="+mn-ea"/>
              </a:rPr>
              <a:t>为</a:t>
            </a:r>
            <a:r>
              <a:rPr lang="en-US" altLang="zh-CN" sz="2200" b="1" dirty="0" smtClean="0">
                <a:latin typeface="+mn-ea"/>
                <a:ea typeface="+mn-ea"/>
              </a:rPr>
              <a:t>50%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30%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20%</a:t>
            </a:r>
            <a:r>
              <a:rPr lang="zh-CN" altLang="en-US" sz="2200" b="1" dirty="0">
                <a:latin typeface="+mn-ea"/>
                <a:ea typeface="+mn-ea"/>
              </a:rPr>
              <a:t>。</a:t>
            </a:r>
            <a:r>
              <a:rPr lang="en-US" altLang="zh-CN" sz="2200" b="1" dirty="0">
                <a:latin typeface="+mn-ea"/>
                <a:ea typeface="+mn-ea"/>
              </a:rPr>
              <a:t>P</a:t>
            </a:r>
            <a:r>
              <a:rPr lang="zh-CN" altLang="en-US" sz="2200" b="1" dirty="0" smtClean="0">
                <a:latin typeface="+mn-ea"/>
                <a:ea typeface="+mn-ea"/>
              </a:rPr>
              <a:t>经过编译优化</a:t>
            </a:r>
            <a:r>
              <a:rPr lang="zh-CN" altLang="en-US" sz="2200" b="1" dirty="0">
                <a:latin typeface="+mn-ea"/>
                <a:ea typeface="+mn-ea"/>
              </a:rPr>
              <a:t>后，某类指令数量减少</a:t>
            </a:r>
            <a:r>
              <a:rPr lang="zh-CN" altLang="en-US" sz="2200" b="1" dirty="0" smtClean="0">
                <a:latin typeface="+mn-ea"/>
                <a:ea typeface="+mn-ea"/>
              </a:rPr>
              <a:t>了</a:t>
            </a:r>
            <a:r>
              <a:rPr lang="en-US" altLang="zh-CN" sz="2200" b="1" dirty="0" smtClean="0">
                <a:latin typeface="+mn-ea"/>
                <a:ea typeface="+mn-ea"/>
              </a:rPr>
              <a:t>20</a:t>
            </a:r>
            <a:r>
              <a:rPr lang="en-US" altLang="zh-CN" sz="2200" b="1" dirty="0">
                <a:latin typeface="+mn-ea"/>
                <a:ea typeface="+mn-ea"/>
              </a:rPr>
              <a:t>%</a:t>
            </a:r>
            <a:r>
              <a:rPr lang="zh-CN" altLang="en-US" sz="2200" b="1" dirty="0">
                <a:latin typeface="+mn-ea"/>
                <a:ea typeface="+mn-ea"/>
              </a:rPr>
              <a:t>，平均</a:t>
            </a:r>
            <a:r>
              <a:rPr lang="en-US" altLang="zh-CN" sz="2200" b="1" dirty="0">
                <a:latin typeface="+mn-ea"/>
                <a:ea typeface="+mn-ea"/>
              </a:rPr>
              <a:t>CPI</a:t>
            </a:r>
            <a:r>
              <a:rPr lang="zh-CN" altLang="en-US" sz="2200" b="1" dirty="0">
                <a:latin typeface="+mn-ea"/>
                <a:ea typeface="+mn-ea"/>
              </a:rPr>
              <a:t>减少</a:t>
            </a:r>
            <a:r>
              <a:rPr lang="zh-CN" altLang="en-US" sz="2200" b="1" dirty="0" smtClean="0">
                <a:latin typeface="+mn-ea"/>
                <a:ea typeface="+mn-ea"/>
              </a:rPr>
              <a:t>了</a:t>
            </a:r>
            <a:r>
              <a:rPr lang="en-US" altLang="zh-CN" sz="2200" b="1" dirty="0" smtClean="0">
                <a:latin typeface="+mn-ea"/>
                <a:ea typeface="+mn-ea"/>
              </a:rPr>
              <a:t>0.11</a:t>
            </a:r>
            <a:r>
              <a:rPr lang="zh-CN" altLang="en-US" sz="2200" b="1" dirty="0" smtClean="0">
                <a:latin typeface="+mn-ea"/>
                <a:ea typeface="+mn-ea"/>
              </a:rPr>
              <a:t>。回答下列问题：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latin typeface="+mn-ea"/>
                <a:ea typeface="+mn-ea"/>
              </a:rPr>
              <a:t>（</a:t>
            </a:r>
            <a:r>
              <a:rPr lang="en-US" altLang="zh-CN" sz="2200" b="1" dirty="0" smtClean="0">
                <a:latin typeface="+mn-ea"/>
                <a:ea typeface="+mn-ea"/>
              </a:rPr>
              <a:t>1</a:t>
            </a:r>
            <a:r>
              <a:rPr lang="zh-CN" altLang="en-US" sz="2200" b="1" dirty="0" smtClean="0">
                <a:latin typeface="+mn-ea"/>
                <a:ea typeface="+mn-ea"/>
              </a:rPr>
              <a:t>）程序</a:t>
            </a:r>
            <a:r>
              <a:rPr lang="en-US" altLang="zh-CN" sz="2200" b="1" dirty="0" smtClean="0">
                <a:latin typeface="+mn-ea"/>
                <a:ea typeface="+mn-ea"/>
              </a:rPr>
              <a:t>P</a:t>
            </a:r>
            <a:r>
              <a:rPr lang="zh-CN" altLang="en-US" sz="2200" b="1" dirty="0" smtClean="0">
                <a:latin typeface="+mn-ea"/>
                <a:ea typeface="+mn-ea"/>
              </a:rPr>
              <a:t>优化</a:t>
            </a:r>
            <a:r>
              <a:rPr lang="zh-CN" altLang="en-US" sz="2200" b="1" dirty="0">
                <a:latin typeface="+mn-ea"/>
                <a:ea typeface="+mn-ea"/>
              </a:rPr>
              <a:t>前的平均</a:t>
            </a:r>
            <a:r>
              <a:rPr lang="en-US" altLang="zh-CN" sz="2200" b="1" dirty="0" smtClean="0">
                <a:latin typeface="+mn-ea"/>
                <a:ea typeface="+mn-ea"/>
              </a:rPr>
              <a:t>CPI</a:t>
            </a:r>
            <a:r>
              <a:rPr lang="zh-CN" altLang="en-US" sz="2200" b="1" dirty="0" smtClean="0">
                <a:latin typeface="+mn-ea"/>
                <a:ea typeface="+mn-ea"/>
              </a:rPr>
              <a:t>为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latin typeface="+mn-ea"/>
                <a:ea typeface="+mn-ea"/>
              </a:rPr>
              <a:t>        A. 5.4          B. 5.8        C. 6.6  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latin typeface="+mn-ea"/>
                <a:ea typeface="+mn-ea"/>
              </a:rPr>
              <a:t>  （</a:t>
            </a:r>
            <a:r>
              <a:rPr lang="en-US" altLang="zh-CN" sz="2200" b="1" dirty="0" smtClean="0">
                <a:latin typeface="+mn-ea"/>
                <a:ea typeface="+mn-ea"/>
              </a:rPr>
              <a:t>2</a:t>
            </a:r>
            <a:r>
              <a:rPr lang="zh-CN" altLang="en-US" sz="2200" b="1" dirty="0" smtClean="0">
                <a:latin typeface="+mn-ea"/>
                <a:ea typeface="+mn-ea"/>
              </a:rPr>
              <a:t>）程序</a:t>
            </a:r>
            <a:r>
              <a:rPr lang="en-US" altLang="zh-CN" sz="2200" b="1" dirty="0" smtClean="0">
                <a:latin typeface="+mn-ea"/>
                <a:ea typeface="+mn-ea"/>
              </a:rPr>
              <a:t>P</a:t>
            </a:r>
            <a:r>
              <a:rPr lang="zh-CN" altLang="en-US" sz="2200" b="1" dirty="0" smtClean="0">
                <a:latin typeface="+mn-ea"/>
                <a:ea typeface="+mn-ea"/>
              </a:rPr>
              <a:t>优化前的</a:t>
            </a:r>
            <a:r>
              <a:rPr lang="zh-CN" altLang="en-US" sz="2200" b="1" dirty="0">
                <a:latin typeface="+mn-ea"/>
                <a:ea typeface="+mn-ea"/>
              </a:rPr>
              <a:t>吞吐率</a:t>
            </a:r>
            <a:r>
              <a:rPr lang="en-US" altLang="zh-CN" sz="2200" b="1" dirty="0">
                <a:latin typeface="+mn-ea"/>
                <a:ea typeface="+mn-ea"/>
              </a:rPr>
              <a:t>(MPIS</a:t>
            </a:r>
            <a:r>
              <a:rPr lang="zh-CN" altLang="en-US" sz="2200" b="1" dirty="0">
                <a:latin typeface="+mn-ea"/>
                <a:ea typeface="+mn-ea"/>
              </a:rPr>
              <a:t>数</a:t>
            </a:r>
            <a:r>
              <a:rPr lang="en-US" altLang="zh-CN" sz="22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为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</a:rPr>
              <a:t>         A. 0.108</a:t>
            </a:r>
            <a:r>
              <a:rPr lang="en-US" altLang="zh-CN" sz="2200" b="1" baseline="-25000" dirty="0">
                <a:latin typeface="+mn-ea"/>
              </a:rPr>
              <a:t> </a:t>
            </a:r>
            <a:r>
              <a:rPr lang="en-US" altLang="zh-CN" sz="2200" b="1" dirty="0">
                <a:latin typeface="+mn-ea"/>
              </a:rPr>
              <a:t>MIPS   B. 9.26</a:t>
            </a:r>
            <a:r>
              <a:rPr lang="en-US" altLang="zh-CN" sz="2200" b="1" baseline="-25000" dirty="0">
                <a:latin typeface="+mn-ea"/>
              </a:rPr>
              <a:t> </a:t>
            </a:r>
            <a:r>
              <a:rPr lang="en-US" altLang="zh-CN" sz="2200" b="1" dirty="0">
                <a:latin typeface="+mn-ea"/>
              </a:rPr>
              <a:t>MIPS   C. 270</a:t>
            </a:r>
            <a:r>
              <a:rPr lang="en-US" altLang="zh-CN" sz="2200" b="1" baseline="-25000" dirty="0">
                <a:latin typeface="+mn-ea"/>
              </a:rPr>
              <a:t> </a:t>
            </a:r>
            <a:r>
              <a:rPr lang="en-US" altLang="zh-CN" sz="2200" b="1" dirty="0" smtClean="0">
                <a:latin typeface="+mn-ea"/>
              </a:rPr>
              <a:t>MIPS</a:t>
            </a:r>
            <a:endParaRPr lang="en-US" altLang="zh-CN" sz="2200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latin typeface="+mn-ea"/>
                <a:ea typeface="+mn-ea"/>
              </a:rPr>
              <a:t>（</a:t>
            </a:r>
            <a:r>
              <a:rPr lang="en-US" altLang="zh-CN" sz="2200" b="1" dirty="0">
                <a:latin typeface="+mn-ea"/>
                <a:ea typeface="+mn-ea"/>
              </a:rPr>
              <a:t>3</a:t>
            </a:r>
            <a:r>
              <a:rPr lang="zh-CN" altLang="en-US" sz="2200" b="1" dirty="0" smtClean="0">
                <a:latin typeface="+mn-ea"/>
                <a:ea typeface="+mn-ea"/>
              </a:rPr>
              <a:t>）优化程序</a:t>
            </a:r>
            <a:r>
              <a:rPr lang="en-US" altLang="zh-CN" sz="2200" b="1" dirty="0" smtClean="0">
                <a:latin typeface="+mn-ea"/>
                <a:ea typeface="+mn-ea"/>
              </a:rPr>
              <a:t>P</a:t>
            </a:r>
            <a:r>
              <a:rPr lang="zh-CN" altLang="en-US" sz="2200" b="1" dirty="0" smtClean="0">
                <a:latin typeface="+mn-ea"/>
                <a:ea typeface="+mn-ea"/>
              </a:rPr>
              <a:t>时，优化的指令类型为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</a:rPr>
              <a:t>         A. </a:t>
            </a:r>
            <a:r>
              <a:rPr lang="en-US" altLang="zh-CN" sz="2200" b="1" dirty="0">
                <a:latin typeface="+mn-ea"/>
                <a:ea typeface="+mn-ea"/>
              </a:rPr>
              <a:t>X</a:t>
            </a:r>
            <a:r>
              <a:rPr lang="en-US" altLang="zh-CN" sz="2200" b="1" dirty="0" smtClean="0">
                <a:latin typeface="+mn-ea"/>
                <a:ea typeface="+mn-ea"/>
              </a:rPr>
              <a:t>            B. Y          C. Z</a:t>
            </a:r>
            <a:endParaRPr lang="en-US" altLang="zh-CN" sz="2200" b="1" dirty="0" smtClean="0">
              <a:latin typeface="+mn-ea"/>
              <a:ea typeface="+mn-ea"/>
            </a:endParaRPr>
          </a:p>
        </p:txBody>
      </p:sp>
      <p:sp>
        <p:nvSpPr>
          <p:cNvPr id="4" name="Text Box 32"/>
          <p:cNvSpPr txBox="1">
            <a:spLocks noChangeArrowheads="1"/>
          </p:cNvSpPr>
          <p:nvPr/>
        </p:nvSpPr>
        <p:spPr bwMode="auto">
          <a:xfrm>
            <a:off x="755453" y="5877272"/>
            <a:ext cx="3888555" cy="46166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b="1" dirty="0" smtClean="0">
                <a:latin typeface="宋体" panose="02010600030101010101" pitchFamily="2" charset="-122"/>
              </a:rPr>
              <a:t>P19—3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4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10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16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5" name="AutoShape 10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5242-2205-42B3-90B7-E4C4C9FF1235}" type="slidenum">
              <a:rPr lang="en-US" altLang="zh-CN"/>
            </a:fld>
            <a:endParaRPr lang="en-US" altLang="zh-CN" dirty="0"/>
          </a:p>
        </p:txBody>
      </p:sp>
      <p:sp>
        <p:nvSpPr>
          <p:cNvPr id="266244" name="Text Box 4"/>
          <p:cNvSpPr txBox="1">
            <a:spLocks noChangeArrowheads="1"/>
          </p:cNvSpPr>
          <p:nvPr/>
        </p:nvSpPr>
        <p:spPr bwMode="auto">
          <a:xfrm>
            <a:off x="179389" y="332656"/>
            <a:ext cx="8713092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en-US" altLang="zh-CN" sz="2400" dirty="0" smtClean="0">
                <a:solidFill>
                  <a:srgbClr val="FF3399"/>
                </a:solidFill>
                <a:latin typeface="+mn-ea"/>
                <a:ea typeface="+mn-ea"/>
              </a:rPr>
              <a:t>3</a:t>
            </a:r>
            <a:r>
              <a:rPr lang="zh-CN" altLang="en-US" sz="2400" dirty="0" smtClean="0">
                <a:solidFill>
                  <a:srgbClr val="FF3399"/>
                </a:solidFill>
                <a:latin typeface="+mn-ea"/>
                <a:ea typeface="+mn-ea"/>
              </a:rPr>
              <a:t>、计算机的性能优化</a:t>
            </a:r>
            <a:endParaRPr lang="en-US" altLang="zh-CN" sz="2400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 smtClean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400" dirty="0" smtClean="0">
                <a:solidFill>
                  <a:srgbClr val="C00000"/>
                </a:solidFill>
                <a:latin typeface="+mn-ea"/>
                <a:ea typeface="+mn-ea"/>
              </a:rPr>
              <a:t>*冯</a:t>
            </a:r>
            <a:r>
              <a:rPr lang="en-US" altLang="zh-CN" sz="2400" dirty="0">
                <a:solidFill>
                  <a:srgbClr val="C00000"/>
                </a:solidFill>
                <a:latin typeface="+mn-lt"/>
                <a:ea typeface="+mn-ea"/>
              </a:rPr>
              <a:t>·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诺依曼计算机的性能</a:t>
            </a:r>
            <a:r>
              <a:rPr lang="zh-CN" altLang="en-US" sz="2400" dirty="0" smtClean="0">
                <a:solidFill>
                  <a:srgbClr val="C00000"/>
                </a:solidFill>
                <a:latin typeface="+mn-ea"/>
                <a:ea typeface="+mn-ea"/>
              </a:rPr>
              <a:t>瓶颈：</a:t>
            </a:r>
            <a:endParaRPr lang="en-US" altLang="zh-CN" sz="24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79512" y="1302434"/>
            <a:ext cx="3528392" cy="455509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①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指令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执行瓶颈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②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访问瓶颈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③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方式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瓶颈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3131840" y="1340768"/>
            <a:ext cx="5766903" cy="13065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指令</a:t>
            </a:r>
            <a:r>
              <a:rPr lang="zh-CN" altLang="en-US" b="1" u="sng" dirty="0">
                <a:latin typeface="宋体" panose="02010600030101010101" pitchFamily="2" charset="-122"/>
              </a:rPr>
              <a:t>串行</a:t>
            </a:r>
            <a:r>
              <a:rPr lang="zh-CN" altLang="en-US" b="1" dirty="0">
                <a:latin typeface="宋体" panose="02010600030101010101" pitchFamily="2" charset="-122"/>
              </a:rPr>
              <a:t>执行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下</a:t>
            </a:r>
            <a:r>
              <a:rPr lang="zh-CN" altLang="en-US" sz="1800" b="1" dirty="0">
                <a:latin typeface="宋体" panose="02010600030101010101" pitchFamily="2" charset="-122"/>
              </a:rPr>
              <a:t>条指令地址由当前指令产生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MEM</a:t>
            </a:r>
            <a:r>
              <a:rPr lang="zh-CN" altLang="en-US" b="1" dirty="0" smtClean="0">
                <a:latin typeface="宋体" panose="02010600030101010101" pitchFamily="2" charset="-122"/>
              </a:rPr>
              <a:t>速度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较慢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按逻辑地址</a:t>
            </a:r>
            <a:r>
              <a:rPr lang="zh-CN" altLang="en-US" b="1" dirty="0" smtClean="0">
                <a:latin typeface="宋体" panose="02010600030101010101" pitchFamily="2" charset="-122"/>
              </a:rPr>
              <a:t>访问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(S-V-C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需求矛盾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   (</a:t>
            </a:r>
            <a:r>
              <a:rPr lang="zh-CN" altLang="en-US" sz="1800" b="1" dirty="0">
                <a:latin typeface="宋体" panose="02010600030101010101" pitchFamily="2" charset="-122"/>
              </a:rPr>
              <a:t>程序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装入导致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131839" y="5301208"/>
            <a:ext cx="4788531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latin typeface="宋体" panose="02010600030101010101" pitchFamily="2" charset="-122"/>
              </a:rPr>
              <a:t>与运算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串行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以运算器为中心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17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5400000">
            <a:off x="2880160" y="6417679"/>
            <a:ext cx="287337" cy="504057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跳过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79389" y="2601629"/>
            <a:ext cx="4176588" cy="27084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</a:rPr>
              <a:t>   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按逻辑地址访存示例：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400"/>
              </a:spcBef>
            </a:pPr>
            <a:r>
              <a:rPr lang="en-US" altLang="zh-CN" sz="2000" b="1" dirty="0" smtClean="0">
                <a:latin typeface="宋体" panose="02010600030101010101" pitchFamily="2" charset="-122"/>
              </a:rPr>
              <a:t>        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实现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—</a:t>
            </a:r>
            <a:endParaRPr lang="en-US" altLang="zh-CN" sz="2000" b="1" dirty="0" smtClean="0">
              <a:latin typeface="宋体" panose="0201060003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849821" y="4437112"/>
            <a:ext cx="5760424" cy="288032"/>
            <a:chOff x="1403648" y="3140968"/>
            <a:chExt cx="5760424" cy="288032"/>
          </a:xfrm>
        </p:grpSpPr>
        <p:sp>
          <p:nvSpPr>
            <p:cNvPr id="19" name="Text Box 65"/>
            <p:cNvSpPr txBox="1">
              <a:spLocks noChangeArrowheads="1"/>
            </p:cNvSpPr>
            <p:nvPr/>
          </p:nvSpPr>
          <p:spPr bwMode="auto">
            <a:xfrm>
              <a:off x="5220072" y="3140968"/>
              <a:ext cx="1944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/>
              <a:r>
                <a:rPr lang="en-US" altLang="zh-CN" sz="1600" b="1" dirty="0" smtClean="0">
                  <a:latin typeface="宋体" panose="02010600030101010101" pitchFamily="2" charset="-122"/>
                </a:rPr>
                <a:t>(IR)</a:t>
              </a:r>
              <a:r>
                <a:rPr lang="en-US" altLang="zh-CN" sz="1600" b="1" baseline="-18000" dirty="0" err="1" smtClean="0">
                  <a:latin typeface="宋体" panose="02010600030101010101" pitchFamily="2" charset="-122"/>
                </a:rPr>
                <a:t>Ad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→MEM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R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)→AC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0" name="Text Box 65"/>
            <p:cNvSpPr txBox="1">
              <a:spLocks noChangeArrowheads="1"/>
            </p:cNvSpPr>
            <p:nvPr/>
          </p:nvSpPr>
          <p:spPr bwMode="auto">
            <a:xfrm>
              <a:off x="1403648" y="3141000"/>
              <a:ext cx="1584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/>
              <a:r>
                <a:rPr lang="en-US" altLang="zh-CN" sz="1600" b="1" dirty="0" smtClean="0">
                  <a:latin typeface="宋体" panose="02010600030101010101" pitchFamily="2" charset="-122"/>
                </a:rPr>
                <a:t>PC→MEM(</a:t>
              </a: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R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)→IR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1" name="Text Box 65"/>
            <p:cNvSpPr txBox="1">
              <a:spLocks noChangeArrowheads="1"/>
            </p:cNvSpPr>
            <p:nvPr/>
          </p:nvSpPr>
          <p:spPr bwMode="auto">
            <a:xfrm>
              <a:off x="4067944" y="3140968"/>
              <a:ext cx="1152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(IR)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→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2" name="Text Box 65"/>
            <p:cNvSpPr txBox="1">
              <a:spLocks noChangeArrowheads="1"/>
            </p:cNvSpPr>
            <p:nvPr/>
          </p:nvSpPr>
          <p:spPr bwMode="auto">
            <a:xfrm>
              <a:off x="2987824" y="3141000"/>
              <a:ext cx="1080000" cy="288000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2700">
              <a:noFill/>
              <a:prstDash val="sysDot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/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1→PC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4" name="Text Box 65"/>
            <p:cNvSpPr txBox="1">
              <a:spLocks noChangeArrowheads="1"/>
            </p:cNvSpPr>
            <p:nvPr/>
          </p:nvSpPr>
          <p:spPr bwMode="auto">
            <a:xfrm>
              <a:off x="1403649" y="3140968"/>
              <a:ext cx="2664000" cy="288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/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48" name="Text Box 5"/>
          <p:cNvSpPr txBox="1">
            <a:spLocks noChangeArrowheads="1"/>
          </p:cNvSpPr>
          <p:nvPr/>
        </p:nvSpPr>
        <p:spPr bwMode="auto">
          <a:xfrm>
            <a:off x="2399483" y="4797152"/>
            <a:ext cx="6348981" cy="4770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</a:rPr>
              <a:t>访存时</a:t>
            </a:r>
            <a:r>
              <a:rPr lang="zh-CN" altLang="en-US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先进行</a:t>
            </a:r>
            <a:r>
              <a:rPr lang="zh-CN" altLang="en-US" sz="2000" b="1" u="sng" dirty="0" smtClean="0">
                <a:latin typeface="宋体" panose="02010600030101010101" pitchFamily="2" charset="-122"/>
              </a:rPr>
              <a:t>地址变换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如物理地址＝基地址＋逻辑地址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42" name="AutoShape 62">
            <a:hlinkClick r:id="rId2" action="ppaction://hlinkpres?slideindex=25&amp;slidetitle=PowerPoint 演示文稿"/>
          </p:cNvPr>
          <p:cNvSpPr>
            <a:spLocks noChangeArrowheads="1"/>
          </p:cNvSpPr>
          <p:nvPr/>
        </p:nvSpPr>
        <p:spPr bwMode="auto">
          <a:xfrm rot="5400000">
            <a:off x="6219459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6" name="Text Box 140"/>
          <p:cNvSpPr txBox="1">
            <a:spLocks noChangeArrowheads="1"/>
          </p:cNvSpPr>
          <p:nvPr/>
        </p:nvSpPr>
        <p:spPr bwMode="auto">
          <a:xfrm>
            <a:off x="323728" y="3141112"/>
            <a:ext cx="1800000" cy="1296000"/>
          </a:xfrm>
          <a:prstGeom prst="rect">
            <a:avLst/>
          </a:prstGeom>
          <a:noFill/>
          <a:ln w="12700">
            <a:solidFill>
              <a:srgbClr val="FF3399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lstStyle/>
          <a:p>
            <a:pPr>
              <a:lnSpc>
                <a:spcPct val="114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</a:rPr>
              <a:t>程序</a:t>
            </a:r>
            <a:r>
              <a:rPr lang="en-US" altLang="zh-CN" sz="1800" b="1" u="none" dirty="0" smtClean="0">
                <a:solidFill>
                  <a:srgbClr val="990099"/>
                </a:solidFill>
                <a:latin typeface="+mn-ea"/>
                <a:ea typeface="+mn-ea"/>
              </a:rPr>
              <a:t>MEM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endParaRPr lang="en-US" altLang="zh-CN" sz="1800" b="1" u="none" dirty="0" smtClean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14000"/>
              </a:lnSpc>
            </a:pPr>
            <a:r>
              <a:rPr lang="zh-CN" altLang="en-US" sz="1800" b="1" dirty="0" smtClean="0">
                <a:latin typeface="+mn-ea"/>
                <a:ea typeface="+mn-ea"/>
              </a:rPr>
              <a:t>  指程序空间</a:t>
            </a:r>
            <a:r>
              <a:rPr lang="zh-CN" altLang="en-US" sz="1800" b="1" dirty="0">
                <a:latin typeface="+mn-ea"/>
                <a:ea typeface="+mn-ea"/>
              </a:rPr>
              <a:t>的</a:t>
            </a:r>
            <a:r>
              <a:rPr lang="en-US" altLang="zh-CN" sz="1800" b="1" dirty="0">
                <a:solidFill>
                  <a:srgbClr val="0070C0"/>
                </a:solidFill>
                <a:latin typeface="+mn-ea"/>
                <a:ea typeface="+mn-ea"/>
              </a:rPr>
              <a:t>MEM</a:t>
            </a:r>
            <a:r>
              <a:rPr lang="zh-CN" altLang="en-US" sz="1800" b="1" dirty="0" smtClean="0">
                <a:solidFill>
                  <a:srgbClr val="0070C0"/>
                </a:solidFill>
                <a:latin typeface="+mn-ea"/>
                <a:ea typeface="+mn-ea"/>
              </a:rPr>
              <a:t>抽象</a:t>
            </a:r>
            <a:r>
              <a:rPr lang="zh-CN" altLang="en-US" sz="1800" b="1" dirty="0" smtClean="0">
                <a:latin typeface="+mn-ea"/>
                <a:ea typeface="+mn-ea"/>
              </a:rPr>
              <a:t>，并不</a:t>
            </a:r>
            <a:r>
              <a:rPr lang="zh-CN" altLang="en-US" sz="1800" b="1" dirty="0">
                <a:latin typeface="+mn-ea"/>
                <a:ea typeface="+mn-ea"/>
              </a:rPr>
              <a:t>真实存在</a:t>
            </a:r>
            <a:r>
              <a:rPr lang="zh-CN" altLang="en-US" sz="1800" b="1" dirty="0" smtClean="0">
                <a:latin typeface="+mn-ea"/>
                <a:ea typeface="+mn-ea"/>
              </a:rPr>
              <a:t>！</a:t>
            </a:r>
            <a:endParaRPr lang="en-US" altLang="zh-CN" sz="1800" b="1" dirty="0" smtClean="0">
              <a:latin typeface="+mn-ea"/>
              <a:ea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411760" y="2996952"/>
            <a:ext cx="6126477" cy="1296041"/>
            <a:chOff x="2483768" y="3212976"/>
            <a:chExt cx="6126477" cy="1296041"/>
          </a:xfrm>
        </p:grpSpPr>
        <p:grpSp>
          <p:nvGrpSpPr>
            <p:cNvPr id="25" name="组合 24"/>
            <p:cNvGrpSpPr/>
            <p:nvPr/>
          </p:nvGrpSpPr>
          <p:grpSpPr>
            <a:xfrm>
              <a:off x="2483768" y="3212976"/>
              <a:ext cx="2598085" cy="1296041"/>
              <a:chOff x="1325627" y="1484784"/>
              <a:chExt cx="2598085" cy="1296041"/>
            </a:xfrm>
          </p:grpSpPr>
          <p:sp>
            <p:nvSpPr>
              <p:cNvPr id="26" name="Text Box 36"/>
              <p:cNvSpPr txBox="1">
                <a:spLocks noChangeArrowheads="1"/>
              </p:cNvSpPr>
              <p:nvPr/>
            </p:nvSpPr>
            <p:spPr bwMode="auto">
              <a:xfrm>
                <a:off x="1979712" y="1844824"/>
                <a:ext cx="1944000" cy="936000"/>
              </a:xfrm>
              <a:prstGeom prst="rect">
                <a:avLst/>
              </a:prstGeom>
              <a:solidFill>
                <a:srgbClr val="CC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tIns="10800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AC</a:t>
                </a:r>
                <a:r>
                  <a:rPr lang="zh-CN" altLang="en-US" sz="1600" b="1" dirty="0" smtClean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M[</a:t>
                </a:r>
                <a:r>
                  <a:rPr lang="en-US" altLang="zh-CN" sz="1600" b="1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0002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]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AC</a:t>
                </a:r>
                <a:r>
                  <a:rPr lang="zh-CN" altLang="en-US" sz="1600" b="1" dirty="0" smtClean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(AC)</a:t>
                </a:r>
                <a:r>
                  <a:rPr lang="zh-CN" altLang="en-US" sz="1600" b="1" dirty="0" smtClean="0">
                    <a:latin typeface="宋体" panose="02010600030101010101" pitchFamily="2" charset="-122"/>
                  </a:rPr>
                  <a:t>＋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M[</a:t>
                </a:r>
                <a:r>
                  <a:rPr lang="en-US" altLang="zh-CN" sz="1600" b="1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0003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]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 x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 …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7" name="Text Box 36"/>
              <p:cNvSpPr txBox="1">
                <a:spLocks noChangeArrowheads="1"/>
              </p:cNvSpPr>
              <p:nvPr/>
            </p:nvSpPr>
            <p:spPr bwMode="auto">
              <a:xfrm>
                <a:off x="1325699" y="1844825"/>
                <a:ext cx="648000" cy="93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tIns="10800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0000</a:t>
                </a:r>
                <a:endPara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0001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0002</a:t>
                </a:r>
                <a:endPara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0003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8" name="直接连接符 27"/>
              <p:cNvCxnSpPr/>
              <p:nvPr/>
            </p:nvCxnSpPr>
            <p:spPr bwMode="auto">
              <a:xfrm>
                <a:off x="1979712" y="2071734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" name="直接连接符 28"/>
              <p:cNvCxnSpPr/>
              <p:nvPr/>
            </p:nvCxnSpPr>
            <p:spPr bwMode="auto">
              <a:xfrm>
                <a:off x="1979712" y="2299732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直接连接符 29"/>
              <p:cNvCxnSpPr/>
              <p:nvPr/>
            </p:nvCxnSpPr>
            <p:spPr bwMode="auto">
              <a:xfrm>
                <a:off x="1979712" y="2515756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1" name="Text Box 36"/>
              <p:cNvSpPr txBox="1">
                <a:spLocks noChangeArrowheads="1"/>
              </p:cNvSpPr>
              <p:nvPr/>
            </p:nvSpPr>
            <p:spPr bwMode="auto">
              <a:xfrm>
                <a:off x="1325627" y="1484784"/>
                <a:ext cx="2592000" cy="36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18000" tIns="10800" rIns="18000" bIns="10800" anchor="ctr" anchorCtr="0">
                <a:noAutofit/>
              </a:bodyPr>
              <a:lstStyle/>
              <a:p>
                <a:r>
                  <a:rPr lang="zh-CN" altLang="en-US" sz="1600" b="1" dirty="0" smtClean="0">
                    <a:latin typeface="宋体" panose="02010600030101010101" pitchFamily="2" charset="-122"/>
                  </a:rPr>
                  <a:t>逻辑地址  </a:t>
                </a:r>
                <a:r>
                  <a:rPr lang="zh-CN" altLang="en-US" sz="1800" b="1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程序</a:t>
                </a: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存储器</a:t>
                </a:r>
                <a:endPara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5220072" y="3717032"/>
              <a:ext cx="648000" cy="432024"/>
              <a:chOff x="5076056" y="4703372"/>
              <a:chExt cx="648000" cy="432024"/>
            </a:xfrm>
          </p:grpSpPr>
          <p:sp>
            <p:nvSpPr>
              <p:cNvPr id="40" name="右箭头 39"/>
              <p:cNvSpPr/>
              <p:nvPr/>
            </p:nvSpPr>
            <p:spPr bwMode="auto">
              <a:xfrm>
                <a:off x="5076056" y="4919396"/>
                <a:ext cx="648000" cy="216000"/>
              </a:xfrm>
              <a:prstGeom prst="rightArrow">
                <a:avLst>
                  <a:gd name="adj1" fmla="val 33789"/>
                  <a:gd name="adj2" fmla="val 50000"/>
                </a:avLst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Text Box 223"/>
              <p:cNvSpPr txBox="1">
                <a:spLocks noChangeArrowheads="1"/>
              </p:cNvSpPr>
              <p:nvPr/>
            </p:nvSpPr>
            <p:spPr bwMode="auto">
              <a:xfrm>
                <a:off x="5134240" y="4703372"/>
                <a:ext cx="504000" cy="288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 smtClean="0">
                    <a:latin typeface="宋体" panose="02010600030101010101" pitchFamily="2" charset="-122"/>
                  </a:rPr>
                  <a:t>装入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6012160" y="3212976"/>
              <a:ext cx="2598085" cy="1296009"/>
              <a:chOff x="1325627" y="1484816"/>
              <a:chExt cx="2598085" cy="1296009"/>
            </a:xfrm>
          </p:grpSpPr>
          <p:sp>
            <p:nvSpPr>
              <p:cNvPr id="49" name="Text Box 36"/>
              <p:cNvSpPr txBox="1">
                <a:spLocks noChangeArrowheads="1"/>
              </p:cNvSpPr>
              <p:nvPr/>
            </p:nvSpPr>
            <p:spPr bwMode="auto">
              <a:xfrm>
                <a:off x="1979712" y="1844824"/>
                <a:ext cx="1944000" cy="936000"/>
              </a:xfrm>
              <a:prstGeom prst="rect">
                <a:avLst/>
              </a:prstGeom>
              <a:solidFill>
                <a:srgbClr val="CCE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tIns="10800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AC</a:t>
                </a:r>
                <a:r>
                  <a:rPr lang="zh-CN" altLang="en-US" sz="1600" b="1" dirty="0" smtClean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M[</a:t>
                </a:r>
                <a:r>
                  <a:rPr lang="en-US" altLang="zh-CN" sz="1600" b="1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0002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]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AC</a:t>
                </a:r>
                <a:r>
                  <a:rPr lang="zh-CN" altLang="en-US" sz="1600" b="1" dirty="0" smtClean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(AC)</a:t>
                </a:r>
                <a:r>
                  <a:rPr lang="zh-CN" altLang="en-US" sz="1600" b="1" dirty="0" smtClean="0">
                    <a:latin typeface="宋体" panose="02010600030101010101" pitchFamily="2" charset="-122"/>
                  </a:rPr>
                  <a:t>＋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M[</a:t>
                </a:r>
                <a:r>
                  <a:rPr lang="en-US" altLang="zh-CN" sz="1600" b="1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0003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]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 x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 …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0" name="Text Box 36"/>
              <p:cNvSpPr txBox="1">
                <a:spLocks noChangeArrowheads="1"/>
              </p:cNvSpPr>
              <p:nvPr/>
            </p:nvSpPr>
            <p:spPr bwMode="auto">
              <a:xfrm>
                <a:off x="1325699" y="1844825"/>
                <a:ext cx="648000" cy="93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tIns="10800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2000</a:t>
                </a:r>
                <a:endPara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2001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2002</a:t>
                </a:r>
                <a:endParaRPr lang="en-US" altLang="zh-CN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2003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1" name="直接连接符 50"/>
              <p:cNvCxnSpPr/>
              <p:nvPr/>
            </p:nvCxnSpPr>
            <p:spPr bwMode="auto">
              <a:xfrm>
                <a:off x="1979712" y="2071734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" name="直接连接符 51"/>
              <p:cNvCxnSpPr/>
              <p:nvPr/>
            </p:nvCxnSpPr>
            <p:spPr bwMode="auto">
              <a:xfrm>
                <a:off x="1979712" y="2299732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" name="直接连接符 52"/>
              <p:cNvCxnSpPr/>
              <p:nvPr/>
            </p:nvCxnSpPr>
            <p:spPr bwMode="auto">
              <a:xfrm>
                <a:off x="1979712" y="2515756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4" name="Text Box 36"/>
              <p:cNvSpPr txBox="1">
                <a:spLocks noChangeArrowheads="1"/>
              </p:cNvSpPr>
              <p:nvPr/>
            </p:nvSpPr>
            <p:spPr bwMode="auto">
              <a:xfrm>
                <a:off x="1325627" y="1484816"/>
                <a:ext cx="2592000" cy="36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18000" tIns="10800" rIns="18000" bIns="10800" anchor="ctr" anchorCtr="0">
                <a:noAutofit/>
              </a:bodyPr>
              <a:lstStyle/>
              <a:p>
                <a:r>
                  <a:rPr lang="zh-CN" altLang="en-US" sz="1600" b="1" dirty="0">
                    <a:latin typeface="宋体" panose="02010600030101010101" pitchFamily="2" charset="-122"/>
                  </a:rPr>
                  <a:t>物理</a:t>
                </a:r>
                <a:r>
                  <a:rPr lang="zh-CN" altLang="en-US" sz="1600" b="1" dirty="0" smtClean="0">
                    <a:latin typeface="宋体" panose="02010600030101010101" pitchFamily="2" charset="-122"/>
                  </a:rPr>
                  <a:t>地址    </a:t>
                </a:r>
                <a:r>
                  <a:rPr lang="zh-CN" altLang="en-US" sz="1800" b="1" dirty="0" smtClean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主存</a:t>
                </a:r>
                <a:endParaRPr lang="zh-CN" altLang="en-US" sz="1800" b="1" dirty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</p:txBody>
          </p:sp>
        </p:grpSp>
      </p:grpSp>
      <p:cxnSp>
        <p:nvCxnSpPr>
          <p:cNvPr id="43" name="直接箭头连接符 42"/>
          <p:cNvCxnSpPr/>
          <p:nvPr/>
        </p:nvCxnSpPr>
        <p:spPr bwMode="auto">
          <a:xfrm flipH="1">
            <a:off x="6936058" y="3573016"/>
            <a:ext cx="545363" cy="936104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ysDash"/>
            <a:round/>
            <a:headEnd type="oval" w="med" len="med"/>
            <a:tailEnd type="arrow"/>
          </a:ln>
          <a:effectLst/>
        </p:spPr>
      </p:cxnSp>
      <p:cxnSp>
        <p:nvCxnSpPr>
          <p:cNvPr id="44" name="直接箭头连接符 43"/>
          <p:cNvCxnSpPr/>
          <p:nvPr/>
        </p:nvCxnSpPr>
        <p:spPr bwMode="auto">
          <a:xfrm flipH="1" flipV="1">
            <a:off x="6450005" y="3955884"/>
            <a:ext cx="1260138" cy="481228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ysDash"/>
            <a:round/>
            <a:headEnd type="oval" w="med" len="med"/>
            <a:tailEnd type="arrow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6" grpId="0"/>
      <p:bldP spid="48" grpId="0"/>
      <p:bldP spid="4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179389" y="397113"/>
            <a:ext cx="8785100" cy="48628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*现代计算机的性能优化：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采用并行处理技术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提高并行性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减少</a:t>
            </a:r>
            <a:r>
              <a:rPr lang="zh-CN" altLang="en-US" sz="1800" b="1" dirty="0">
                <a:latin typeface="宋体" panose="02010600030101010101" pitchFamily="2" charset="-122"/>
              </a:rPr>
              <a:t>串行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损失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b="1" dirty="0" smtClean="0">
                <a:latin typeface="宋体" panose="02010600030101010101" pitchFamily="2" charset="-122"/>
              </a:rPr>
              <a:t>包括并行处理</a:t>
            </a:r>
            <a:r>
              <a:rPr lang="zh-CN" altLang="en-US" b="1" dirty="0">
                <a:latin typeface="宋体" panose="02010600030101010101" pitchFamily="2" charset="-122"/>
              </a:rPr>
              <a:t>技术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流水线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指令级并行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线程级并行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       </a:t>
            </a:r>
            <a:r>
              <a:rPr lang="en-US" altLang="zh-CN" b="1" dirty="0" smtClean="0"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latin typeface="宋体" panose="02010600030101010101" pitchFamily="2" charset="-122"/>
              </a:rPr>
              <a:t>数据流</a:t>
            </a:r>
            <a:r>
              <a:rPr lang="zh-CN" altLang="en-US" b="1" dirty="0">
                <a:latin typeface="宋体" panose="02010600030101010101" pitchFamily="2" charset="-122"/>
              </a:rPr>
              <a:t>技术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乱序执行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latin typeface="宋体" panose="02010600030101010101" pitchFamily="2" charset="-122"/>
              </a:rPr>
              <a:t>前瞻</a:t>
            </a:r>
            <a:r>
              <a:rPr lang="zh-CN" altLang="en-US" b="1" dirty="0" smtClean="0">
                <a:latin typeface="宋体" panose="02010600030101010101" pitchFamily="2" charset="-122"/>
              </a:rPr>
              <a:t>执行</a:t>
            </a:r>
            <a:r>
              <a:rPr lang="zh-CN" altLang="en-US" b="1" dirty="0">
                <a:latin typeface="宋体" panose="02010600030101010101" pitchFamily="2" charset="-122"/>
              </a:rPr>
              <a:t>技术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推测执行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优化存储器结构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减少</a:t>
            </a:r>
            <a:r>
              <a:rPr lang="zh-CN" altLang="en-US" sz="1800" b="1" dirty="0">
                <a:latin typeface="宋体" panose="02010600030101010101" pitchFamily="2" charset="-122"/>
              </a:rPr>
              <a:t>访存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延迟、提高</a:t>
            </a:r>
            <a:r>
              <a:rPr lang="zh-CN" altLang="en-US" sz="1800" b="1" dirty="0">
                <a:latin typeface="宋体" panose="02010600030101010101" pitchFamily="2" charset="-122"/>
              </a:rPr>
              <a:t>访存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效率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   增设</a:t>
            </a:r>
            <a:r>
              <a:rPr lang="en-US" altLang="zh-CN" b="1" dirty="0">
                <a:latin typeface="宋体" panose="02010600030101010101" pitchFamily="2" charset="-122"/>
              </a:rPr>
              <a:t>Cache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b="1" i="1" dirty="0" err="1">
                <a:latin typeface="宋体" panose="02010600030101010101" pitchFamily="2" charset="-122"/>
              </a:rPr>
              <a:t>T</a:t>
            </a:r>
            <a:r>
              <a:rPr lang="en-US" altLang="zh-CN" sz="1800" b="1" baseline="-14000" dirty="0" err="1">
                <a:latin typeface="宋体" panose="02010600030101010101" pitchFamily="2" charset="-122"/>
              </a:rPr>
              <a:t>Cache</a:t>
            </a:r>
            <a:r>
              <a:rPr lang="zh-CN" altLang="en-US" sz="1800" b="1" dirty="0">
                <a:latin typeface="宋体" panose="02010600030101010101" pitchFamily="2" charset="-122"/>
              </a:rPr>
              <a:t>＜</a:t>
            </a:r>
            <a:r>
              <a:rPr lang="en-US" altLang="zh-CN" sz="1800" b="1" i="1" dirty="0">
                <a:latin typeface="宋体" panose="02010600030101010101" pitchFamily="2" charset="-122"/>
              </a:rPr>
              <a:t>T</a:t>
            </a:r>
            <a:r>
              <a:rPr lang="zh-CN" altLang="en-US" sz="1800" b="1" baseline="-14000" dirty="0">
                <a:latin typeface="宋体" panose="02010600030101010101" pitchFamily="2" charset="-122"/>
              </a:rPr>
              <a:t>主存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，采用哈佛结构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指令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数据并行</a:t>
            </a:r>
            <a:r>
              <a:rPr lang="zh-CN" altLang="en-US" sz="1800" b="1" dirty="0">
                <a:latin typeface="宋体" panose="02010600030101010101" pitchFamily="2" charset="-122"/>
              </a:rPr>
              <a:t>访问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</a:rPr>
              <a:t>   </a:t>
            </a:r>
            <a:r>
              <a:rPr lang="zh-CN" altLang="en-US" b="1" dirty="0">
                <a:latin typeface="宋体" panose="02010600030101010101" pitchFamily="2" charset="-122"/>
              </a:rPr>
              <a:t>采用多体</a:t>
            </a:r>
            <a:r>
              <a:rPr lang="zh-CN" altLang="en-US" b="1" dirty="0" smtClean="0">
                <a:latin typeface="宋体" panose="02010600030101010101" pitchFamily="2" charset="-122"/>
              </a:rPr>
              <a:t>交叉</a:t>
            </a:r>
            <a:r>
              <a:rPr lang="en-US" altLang="zh-CN" b="1" dirty="0" smtClean="0">
                <a:latin typeface="宋体" panose="02010600030101010101" pitchFamily="2" charset="-122"/>
              </a:rPr>
              <a:t>MEM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提高带宽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，优化地址变换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变换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访问并行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改进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方式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减少所占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CPU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时间、提高传输效率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b="1" dirty="0" smtClean="0">
                <a:latin typeface="宋体" panose="02010600030101010101" pitchFamily="2" charset="-122"/>
              </a:rPr>
              <a:t>采用</a:t>
            </a:r>
            <a:r>
              <a:rPr lang="zh-CN" altLang="en-US" b="1" dirty="0">
                <a:latin typeface="宋体" panose="02010600030101010101" pitchFamily="2" charset="-122"/>
              </a:rPr>
              <a:t>中断、</a:t>
            </a:r>
            <a:r>
              <a:rPr lang="en-US" altLang="zh-CN" b="1" dirty="0">
                <a:latin typeface="宋体" panose="02010600030101010101" pitchFamily="2" charset="-122"/>
              </a:rPr>
              <a:t>DMA</a:t>
            </a:r>
            <a:r>
              <a:rPr lang="zh-CN" altLang="en-US" b="1" dirty="0">
                <a:latin typeface="宋体" panose="02010600030101010101" pitchFamily="2" charset="-122"/>
              </a:rPr>
              <a:t>、通道等</a:t>
            </a:r>
            <a:r>
              <a:rPr lang="en-US" altLang="zh-CN" b="1" dirty="0"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latin typeface="宋体" panose="02010600030101010101" pitchFamily="2" charset="-122"/>
              </a:rPr>
              <a:t>方式，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   </a:t>
            </a:r>
            <a:r>
              <a:rPr lang="en-US" altLang="zh-CN" b="1" dirty="0" smtClean="0">
                <a:latin typeface="宋体" panose="02010600030101010101" pitchFamily="2" charset="-122"/>
              </a:rPr>
              <a:t>   </a:t>
            </a:r>
            <a:r>
              <a:rPr lang="zh-CN" altLang="en-US" b="1" dirty="0">
                <a:latin typeface="宋体" panose="02010600030101010101" pitchFamily="2" charset="-122"/>
              </a:rPr>
              <a:t>改进总线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增加宽度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级数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5525-FA2E-4E3D-ACB5-6A59B8FCBE70}" type="slidenum">
              <a:rPr lang="en-US" altLang="zh-CN"/>
            </a:fld>
            <a:endParaRPr lang="en-US" altLang="zh-CN"/>
          </a:p>
        </p:txBody>
      </p:sp>
      <p:sp>
        <p:nvSpPr>
          <p:cNvPr id="178180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、现代计算机的结构类型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</a:rPr>
              <a:t>按</a:t>
            </a:r>
            <a:r>
              <a:rPr lang="en-US" altLang="zh-CN" b="1" dirty="0" smtClean="0">
                <a:latin typeface="宋体" panose="02010600030101010101" pitchFamily="2" charset="-122"/>
              </a:rPr>
              <a:t>Flynn</a:t>
            </a:r>
            <a:r>
              <a:rPr lang="zh-CN" altLang="en-US" b="1" dirty="0" smtClean="0">
                <a:latin typeface="宋体" panose="02010600030101010101" pitchFamily="2" charset="-122"/>
              </a:rPr>
              <a:t>分类法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dirty="0" smtClean="0">
                <a:latin typeface="宋体" panose="02010600030101010101" pitchFamily="2" charset="-122"/>
              </a:rPr>
              <a:t>结构有</a:t>
            </a:r>
            <a:r>
              <a:rPr lang="en-US" altLang="zh-CN" b="1" dirty="0" smtClean="0">
                <a:latin typeface="宋体" panose="02010600030101010101" pitchFamily="2" charset="-122"/>
              </a:rPr>
              <a:t>SISD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SIMD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MISD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MIMD</a:t>
            </a:r>
            <a:r>
              <a:rPr lang="zh-CN" altLang="en-US" b="1" dirty="0" smtClean="0">
                <a:latin typeface="宋体" panose="02010600030101010101" pitchFamily="2" charset="-122"/>
              </a:rPr>
              <a:t>四种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09" name="Text Box 379"/>
          <p:cNvSpPr txBox="1">
            <a:spLocks noChangeArrowheads="1"/>
          </p:cNvSpPr>
          <p:nvPr/>
        </p:nvSpPr>
        <p:spPr bwMode="auto">
          <a:xfrm>
            <a:off x="179388" y="5251266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本课程的目标：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SISD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结构</a:t>
            </a:r>
            <a:r>
              <a:rPr lang="zh-CN" altLang="en-US" b="1" dirty="0" smtClean="0">
                <a:latin typeface="宋体" panose="02010600030101010101" pitchFamily="2" charset="-122"/>
              </a:rPr>
              <a:t>计算机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串行计算机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←硬件</a:t>
            </a:r>
            <a:r>
              <a:rPr lang="zh-CN" altLang="en-US" sz="1800" b="1" u="sng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基础课</a:t>
            </a:r>
            <a:endParaRPr lang="zh-CN" altLang="en-US" sz="1800" b="1" u="sng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13" name="AutoShape 338"/>
          <p:cNvSpPr/>
          <p:nvPr/>
        </p:nvSpPr>
        <p:spPr bwMode="auto">
          <a:xfrm>
            <a:off x="5724440" y="584712"/>
            <a:ext cx="2808000" cy="252000"/>
          </a:xfrm>
          <a:prstGeom prst="borderCallout2">
            <a:avLst>
              <a:gd name="adj1" fmla="val 51268"/>
              <a:gd name="adj2" fmla="val -290"/>
              <a:gd name="adj3" fmla="val 50567"/>
              <a:gd name="adj4" fmla="val -7625"/>
              <a:gd name="adj5" fmla="val 123627"/>
              <a:gd name="adj6" fmla="val -12878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en-US" altLang="zh-CN" sz="1600" dirty="0">
                <a:solidFill>
                  <a:srgbClr val="000000"/>
                </a:solidFill>
              </a:rPr>
              <a:t>Single Instruction Multiple Data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1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001120" y="3285669"/>
            <a:ext cx="3891360" cy="1800200"/>
            <a:chOff x="5074468" y="3789040"/>
            <a:chExt cx="3891360" cy="1800200"/>
          </a:xfrm>
        </p:grpSpPr>
        <p:sp>
          <p:nvSpPr>
            <p:cNvPr id="178523" name="Text Box 347"/>
            <p:cNvSpPr txBox="1">
              <a:spLocks noChangeArrowheads="1"/>
            </p:cNvSpPr>
            <p:nvPr/>
          </p:nvSpPr>
          <p:spPr bwMode="auto">
            <a:xfrm>
              <a:off x="5795838" y="5301240"/>
              <a:ext cx="2664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2000" b="1" dirty="0" smtClean="0">
                  <a:latin typeface="+mn-ea"/>
                  <a:ea typeface="+mn-ea"/>
                </a:rPr>
                <a:t>MIMD</a:t>
              </a:r>
              <a:r>
                <a:rPr lang="zh-CN" altLang="en-US" sz="2000" b="1" dirty="0" smtClean="0">
                  <a:latin typeface="+mn-ea"/>
                  <a:ea typeface="+mn-ea"/>
                </a:rPr>
                <a:t>结构</a:t>
              </a:r>
              <a:r>
                <a:rPr lang="en-US" altLang="zh-CN" sz="2000" b="1" dirty="0" smtClean="0">
                  <a:latin typeface="+mn-ea"/>
                  <a:ea typeface="+mn-ea"/>
                </a:rPr>
                <a:t>(</a:t>
              </a:r>
              <a:r>
                <a:rPr lang="zh-CN" altLang="en-US" sz="2000" b="1" dirty="0" smtClean="0">
                  <a:latin typeface="+mn-ea"/>
                  <a:ea typeface="+mn-ea"/>
                </a:rPr>
                <a:t>多处理机</a:t>
              </a:r>
              <a:r>
                <a:rPr lang="en-US" altLang="zh-CN" sz="2000" b="1" dirty="0" smtClean="0">
                  <a:latin typeface="+mn-ea"/>
                  <a:ea typeface="+mn-ea"/>
                </a:rPr>
                <a:t>)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178527" name="Text Box 351"/>
            <p:cNvSpPr txBox="1">
              <a:spLocks noChangeArrowheads="1"/>
            </p:cNvSpPr>
            <p:nvPr/>
          </p:nvSpPr>
          <p:spPr bwMode="auto">
            <a:xfrm>
              <a:off x="6012200" y="3789064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>
                  <a:latin typeface="+mn-ea"/>
                  <a:ea typeface="+mn-ea"/>
                </a:rPr>
                <a:t>IS1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178528" name="Line 352"/>
            <p:cNvSpPr>
              <a:spLocks noChangeShapeType="1"/>
            </p:cNvSpPr>
            <p:nvPr/>
          </p:nvSpPr>
          <p:spPr bwMode="auto">
            <a:xfrm>
              <a:off x="5940216" y="4005064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534" name="Text Box 358"/>
            <p:cNvSpPr txBox="1">
              <a:spLocks noChangeArrowheads="1"/>
            </p:cNvSpPr>
            <p:nvPr/>
          </p:nvSpPr>
          <p:spPr bwMode="auto">
            <a:xfrm>
              <a:off x="6012200" y="4581152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 err="1">
                  <a:latin typeface="+mn-ea"/>
                  <a:ea typeface="+mn-ea"/>
                </a:rPr>
                <a:t>IS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  <p:sp>
          <p:nvSpPr>
            <p:cNvPr id="178535" name="Line 359"/>
            <p:cNvSpPr>
              <a:spLocks noChangeShapeType="1"/>
            </p:cNvSpPr>
            <p:nvPr/>
          </p:nvSpPr>
          <p:spPr bwMode="auto">
            <a:xfrm>
              <a:off x="5940216" y="4796259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536" name="Line 360"/>
            <p:cNvSpPr>
              <a:spLocks noChangeShapeType="1"/>
            </p:cNvSpPr>
            <p:nvPr/>
          </p:nvSpPr>
          <p:spPr bwMode="auto">
            <a:xfrm>
              <a:off x="8532440" y="4005064"/>
              <a:ext cx="433388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37" name="Line 361"/>
            <p:cNvSpPr>
              <a:spLocks noChangeShapeType="1"/>
            </p:cNvSpPr>
            <p:nvPr/>
          </p:nvSpPr>
          <p:spPr bwMode="auto">
            <a:xfrm>
              <a:off x="8964488" y="4005361"/>
              <a:ext cx="0" cy="12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38" name="Line 362"/>
            <p:cNvSpPr>
              <a:spLocks noChangeShapeType="1"/>
            </p:cNvSpPr>
            <p:nvPr/>
          </p:nvSpPr>
          <p:spPr bwMode="auto">
            <a:xfrm>
              <a:off x="8531547" y="4725144"/>
              <a:ext cx="28892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39" name="Line 363"/>
            <p:cNvSpPr>
              <a:spLocks noChangeShapeType="1"/>
            </p:cNvSpPr>
            <p:nvPr/>
          </p:nvSpPr>
          <p:spPr bwMode="auto">
            <a:xfrm>
              <a:off x="8820472" y="4725144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40" name="Line 364"/>
            <p:cNvSpPr>
              <a:spLocks noChangeShapeType="1"/>
            </p:cNvSpPr>
            <p:nvPr/>
          </p:nvSpPr>
          <p:spPr bwMode="auto">
            <a:xfrm>
              <a:off x="5220488" y="5085184"/>
              <a:ext cx="360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41" name="Line 365"/>
            <p:cNvSpPr>
              <a:spLocks noChangeShapeType="1"/>
            </p:cNvSpPr>
            <p:nvPr/>
          </p:nvSpPr>
          <p:spPr bwMode="auto">
            <a:xfrm>
              <a:off x="5076504" y="5229200"/>
              <a:ext cx="38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42" name="Line 366"/>
            <p:cNvSpPr>
              <a:spLocks noChangeShapeType="1"/>
            </p:cNvSpPr>
            <p:nvPr/>
          </p:nvSpPr>
          <p:spPr bwMode="auto">
            <a:xfrm>
              <a:off x="5218484" y="4796829"/>
              <a:ext cx="1588" cy="288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43" name="Line 367"/>
            <p:cNvSpPr>
              <a:spLocks noChangeShapeType="1"/>
            </p:cNvSpPr>
            <p:nvPr/>
          </p:nvSpPr>
          <p:spPr bwMode="auto">
            <a:xfrm>
              <a:off x="5220088" y="4796259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44" name="Line 368"/>
            <p:cNvSpPr>
              <a:spLocks noChangeShapeType="1"/>
            </p:cNvSpPr>
            <p:nvPr/>
          </p:nvSpPr>
          <p:spPr bwMode="auto">
            <a:xfrm>
              <a:off x="5074468" y="4005361"/>
              <a:ext cx="1588" cy="12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45" name="Line 369"/>
            <p:cNvSpPr>
              <a:spLocks noChangeShapeType="1"/>
            </p:cNvSpPr>
            <p:nvPr/>
          </p:nvSpPr>
          <p:spPr bwMode="auto">
            <a:xfrm>
              <a:off x="5076088" y="4005064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52" name="Text Box 376"/>
            <p:cNvSpPr txBox="1">
              <a:spLocks noChangeArrowheads="1"/>
            </p:cNvSpPr>
            <p:nvPr/>
          </p:nvSpPr>
          <p:spPr bwMode="auto">
            <a:xfrm>
              <a:off x="5364152" y="3860155"/>
              <a:ext cx="576000" cy="288925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2222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+mn-ea"/>
                  <a:ea typeface="+mn-ea"/>
                </a:rPr>
                <a:t>CU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178553" name="Text Box 377"/>
            <p:cNvSpPr txBox="1">
              <a:spLocks noChangeArrowheads="1"/>
            </p:cNvSpPr>
            <p:nvPr/>
          </p:nvSpPr>
          <p:spPr bwMode="auto">
            <a:xfrm>
              <a:off x="5364152" y="4652243"/>
              <a:ext cx="576000" cy="288925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2222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dirty="0" err="1">
                  <a:latin typeface="+mn-ea"/>
                  <a:ea typeface="+mn-ea"/>
                </a:rPr>
                <a:t>CU</a:t>
              </a:r>
              <a:r>
                <a:rPr lang="en-US" altLang="zh-CN" sz="1800" i="1" dirty="0" err="1">
                  <a:latin typeface="+mn-lt"/>
                  <a:ea typeface="+mn-ea"/>
                </a:rPr>
                <a:t>n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15" name="Text Box 291"/>
            <p:cNvSpPr txBox="1">
              <a:spLocks noChangeArrowheads="1"/>
            </p:cNvSpPr>
            <p:nvPr/>
          </p:nvSpPr>
          <p:spPr bwMode="auto">
            <a:xfrm rot="5400000">
              <a:off x="6612483" y="4256561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sp>
          <p:nvSpPr>
            <p:cNvPr id="116" name="Rectangle 294"/>
            <p:cNvSpPr>
              <a:spLocks noChangeArrowheads="1"/>
            </p:cNvSpPr>
            <p:nvPr/>
          </p:nvSpPr>
          <p:spPr bwMode="auto">
            <a:xfrm>
              <a:off x="7668170" y="3789168"/>
              <a:ext cx="863600" cy="11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tIns="10800" bIns="10800" anchor="ctr"/>
            <a:lstStyle/>
            <a:p>
              <a:endParaRPr lang="zh-CN" altLang="en-US"/>
            </a:p>
          </p:txBody>
        </p:sp>
        <p:sp>
          <p:nvSpPr>
            <p:cNvPr id="117" name="Text Box 295"/>
            <p:cNvSpPr txBox="1">
              <a:spLocks noChangeArrowheads="1"/>
            </p:cNvSpPr>
            <p:nvPr/>
          </p:nvSpPr>
          <p:spPr bwMode="auto">
            <a:xfrm>
              <a:off x="7164933" y="3789168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DS1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118" name="Line 296"/>
            <p:cNvSpPr>
              <a:spLocks noChangeShapeType="1"/>
            </p:cNvSpPr>
            <p:nvPr/>
          </p:nvSpPr>
          <p:spPr bwMode="auto">
            <a:xfrm flipH="1">
              <a:off x="7093495" y="4005068"/>
              <a:ext cx="576263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19" name="Text Box 301"/>
            <p:cNvSpPr txBox="1">
              <a:spLocks noChangeArrowheads="1"/>
            </p:cNvSpPr>
            <p:nvPr/>
          </p:nvSpPr>
          <p:spPr bwMode="auto">
            <a:xfrm>
              <a:off x="6444208" y="4652446"/>
              <a:ext cx="612775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  <a:ea typeface="+mn-ea"/>
                </a:rPr>
                <a:t>PU</a:t>
              </a:r>
              <a:r>
                <a:rPr lang="en-US" altLang="zh-CN" sz="1800" i="1" dirty="0" err="1">
                  <a:latin typeface="+mn-lt"/>
                  <a:ea typeface="+mn-ea"/>
                </a:rPr>
                <a:t>n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20" name="Text Box 302"/>
            <p:cNvSpPr txBox="1">
              <a:spLocks noChangeArrowheads="1"/>
            </p:cNvSpPr>
            <p:nvPr/>
          </p:nvSpPr>
          <p:spPr bwMode="auto">
            <a:xfrm>
              <a:off x="7164933" y="4581252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latin typeface="+mn-ea"/>
                  <a:ea typeface="+mn-ea"/>
                </a:rPr>
                <a:t>DS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  <p:sp>
          <p:nvSpPr>
            <p:cNvPr id="121" name="Line 303"/>
            <p:cNvSpPr>
              <a:spLocks noChangeShapeType="1"/>
            </p:cNvSpPr>
            <p:nvPr/>
          </p:nvSpPr>
          <p:spPr bwMode="auto">
            <a:xfrm>
              <a:off x="7050633" y="4796908"/>
              <a:ext cx="6175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22" name="Text Box 311"/>
            <p:cNvSpPr txBox="1">
              <a:spLocks noChangeArrowheads="1"/>
            </p:cNvSpPr>
            <p:nvPr/>
          </p:nvSpPr>
          <p:spPr bwMode="auto">
            <a:xfrm>
              <a:off x="6444877" y="3861742"/>
              <a:ext cx="648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PU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123" name="Text Box 380"/>
            <p:cNvSpPr txBox="1">
              <a:spLocks noChangeArrowheads="1"/>
            </p:cNvSpPr>
            <p:nvPr/>
          </p:nvSpPr>
          <p:spPr bwMode="auto">
            <a:xfrm>
              <a:off x="7739608" y="4581097"/>
              <a:ext cx="720725" cy="287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err="1" smtClean="0">
                  <a:latin typeface="+mn-ea"/>
                  <a:ea typeface="+mn-ea"/>
                </a:rPr>
                <a:t>MEM</a:t>
              </a:r>
              <a:r>
                <a:rPr lang="en-US" altLang="zh-CN" sz="1800" i="1" dirty="0" err="1" smtClean="0">
                  <a:latin typeface="+mn-lt"/>
                  <a:ea typeface="+mn-ea"/>
                </a:rPr>
                <a:t>m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24" name="Text Box 382"/>
            <p:cNvSpPr txBox="1">
              <a:spLocks noChangeArrowheads="1"/>
            </p:cNvSpPr>
            <p:nvPr/>
          </p:nvSpPr>
          <p:spPr bwMode="auto">
            <a:xfrm>
              <a:off x="7739608" y="3860606"/>
              <a:ext cx="720725" cy="287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MEM</a:t>
              </a:r>
              <a:r>
                <a:rPr lang="en-US" altLang="zh-CN" sz="1800" dirty="0" smtClean="0">
                  <a:latin typeface="+mn-ea"/>
                  <a:ea typeface="+mn-ea"/>
                </a:rPr>
                <a:t>1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125" name="Text Box 291"/>
            <p:cNvSpPr txBox="1">
              <a:spLocks noChangeArrowheads="1"/>
            </p:cNvSpPr>
            <p:nvPr/>
          </p:nvSpPr>
          <p:spPr bwMode="auto">
            <a:xfrm rot="5400000">
              <a:off x="7993234" y="4256561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sp>
          <p:nvSpPr>
            <p:cNvPr id="126" name="Text Box 291"/>
            <p:cNvSpPr txBox="1">
              <a:spLocks noChangeArrowheads="1"/>
            </p:cNvSpPr>
            <p:nvPr/>
          </p:nvSpPr>
          <p:spPr bwMode="auto">
            <a:xfrm rot="5400000">
              <a:off x="5543600" y="4256592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sp>
          <p:nvSpPr>
            <p:cNvPr id="127" name="Text Box 351"/>
            <p:cNvSpPr txBox="1">
              <a:spLocks noChangeArrowheads="1"/>
            </p:cNvSpPr>
            <p:nvPr/>
          </p:nvSpPr>
          <p:spPr bwMode="auto">
            <a:xfrm>
              <a:off x="8604488" y="3789040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>
                  <a:latin typeface="+mn-ea"/>
                  <a:ea typeface="+mn-ea"/>
                </a:rPr>
                <a:t>IS1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128" name="Text Box 358"/>
            <p:cNvSpPr txBox="1">
              <a:spLocks noChangeArrowheads="1"/>
            </p:cNvSpPr>
            <p:nvPr/>
          </p:nvSpPr>
          <p:spPr bwMode="auto">
            <a:xfrm>
              <a:off x="8604488" y="4509096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 err="1">
                  <a:latin typeface="+mn-ea"/>
                  <a:ea typeface="+mn-ea"/>
                </a:rPr>
                <a:t>IS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80640" y="3285669"/>
            <a:ext cx="3963170" cy="1800200"/>
            <a:chOff x="539552" y="3789040"/>
            <a:chExt cx="3963170" cy="1800200"/>
          </a:xfrm>
        </p:grpSpPr>
        <p:sp>
          <p:nvSpPr>
            <p:cNvPr id="178489" name="Text Box 313"/>
            <p:cNvSpPr txBox="1">
              <a:spLocks noChangeArrowheads="1"/>
            </p:cNvSpPr>
            <p:nvPr/>
          </p:nvSpPr>
          <p:spPr bwMode="auto">
            <a:xfrm>
              <a:off x="1115616" y="5301240"/>
              <a:ext cx="2809677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2000" b="1" dirty="0" smtClean="0">
                  <a:latin typeface="+mn-ea"/>
                  <a:ea typeface="+mn-ea"/>
                </a:rPr>
                <a:t>MISD</a:t>
              </a:r>
              <a:r>
                <a:rPr lang="zh-CN" altLang="en-US" sz="2000" b="1" dirty="0" smtClean="0">
                  <a:latin typeface="+mn-ea"/>
                  <a:ea typeface="+mn-ea"/>
                </a:rPr>
                <a:t>结构</a:t>
              </a:r>
              <a:r>
                <a:rPr lang="en-US" altLang="zh-CN" sz="2000" b="1" dirty="0" smtClean="0">
                  <a:latin typeface="+mn-ea"/>
                  <a:ea typeface="+mn-ea"/>
                </a:rPr>
                <a:t>(</a:t>
              </a:r>
              <a:r>
                <a:rPr lang="zh-CN" altLang="en-US" sz="2000" b="1" dirty="0" smtClean="0">
                  <a:latin typeface="+mn-ea"/>
                  <a:ea typeface="+mn-ea"/>
                </a:rPr>
                <a:t>专用处理机</a:t>
              </a:r>
              <a:r>
                <a:rPr lang="en-US" altLang="zh-CN" sz="2000" b="1" dirty="0" smtClean="0">
                  <a:latin typeface="+mn-ea"/>
                  <a:ea typeface="+mn-ea"/>
                </a:rPr>
                <a:t>)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178512" name="Line 336"/>
            <p:cNvSpPr>
              <a:spLocks noChangeShapeType="1"/>
            </p:cNvSpPr>
            <p:nvPr/>
          </p:nvSpPr>
          <p:spPr bwMode="auto">
            <a:xfrm>
              <a:off x="2267744" y="4150221"/>
              <a:ext cx="0" cy="142875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13" name="Line 337"/>
            <p:cNvSpPr>
              <a:spLocks noChangeShapeType="1"/>
            </p:cNvSpPr>
            <p:nvPr/>
          </p:nvSpPr>
          <p:spPr bwMode="auto">
            <a:xfrm>
              <a:off x="2267744" y="4508227"/>
              <a:ext cx="0" cy="142875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Text Box 351"/>
            <p:cNvSpPr txBox="1">
              <a:spLocks noChangeArrowheads="1"/>
            </p:cNvSpPr>
            <p:nvPr/>
          </p:nvSpPr>
          <p:spPr bwMode="auto">
            <a:xfrm>
              <a:off x="1549094" y="3789064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>
                  <a:latin typeface="+mn-ea"/>
                  <a:ea typeface="+mn-ea"/>
                </a:rPr>
                <a:t>IS1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130" name="Line 352"/>
            <p:cNvSpPr>
              <a:spLocks noChangeShapeType="1"/>
            </p:cNvSpPr>
            <p:nvPr/>
          </p:nvSpPr>
          <p:spPr bwMode="auto">
            <a:xfrm>
              <a:off x="1477102" y="4005064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31" name="Text Box 358"/>
            <p:cNvSpPr txBox="1">
              <a:spLocks noChangeArrowheads="1"/>
            </p:cNvSpPr>
            <p:nvPr/>
          </p:nvSpPr>
          <p:spPr bwMode="auto">
            <a:xfrm>
              <a:off x="1549094" y="4580235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 err="1">
                  <a:latin typeface="+mn-ea"/>
                  <a:ea typeface="+mn-ea"/>
                </a:rPr>
                <a:t>IS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  <p:sp>
          <p:nvSpPr>
            <p:cNvPr id="132" name="Line 359"/>
            <p:cNvSpPr>
              <a:spLocks noChangeShapeType="1"/>
            </p:cNvSpPr>
            <p:nvPr/>
          </p:nvSpPr>
          <p:spPr bwMode="auto">
            <a:xfrm>
              <a:off x="1477102" y="4796259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33" name="Line 360"/>
            <p:cNvSpPr>
              <a:spLocks noChangeShapeType="1"/>
            </p:cNvSpPr>
            <p:nvPr/>
          </p:nvSpPr>
          <p:spPr bwMode="auto">
            <a:xfrm>
              <a:off x="4069334" y="4005064"/>
              <a:ext cx="433388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361"/>
            <p:cNvSpPr>
              <a:spLocks noChangeShapeType="1"/>
            </p:cNvSpPr>
            <p:nvPr/>
          </p:nvSpPr>
          <p:spPr bwMode="auto">
            <a:xfrm>
              <a:off x="4501382" y="4005361"/>
              <a:ext cx="0" cy="12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362"/>
            <p:cNvSpPr>
              <a:spLocks noChangeShapeType="1"/>
            </p:cNvSpPr>
            <p:nvPr/>
          </p:nvSpPr>
          <p:spPr bwMode="auto">
            <a:xfrm>
              <a:off x="4068441" y="4725144"/>
              <a:ext cx="28892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363"/>
            <p:cNvSpPr>
              <a:spLocks noChangeShapeType="1"/>
            </p:cNvSpPr>
            <p:nvPr/>
          </p:nvSpPr>
          <p:spPr bwMode="auto">
            <a:xfrm>
              <a:off x="4357366" y="4725144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364"/>
            <p:cNvSpPr>
              <a:spLocks noChangeShapeType="1"/>
            </p:cNvSpPr>
            <p:nvPr/>
          </p:nvSpPr>
          <p:spPr bwMode="auto">
            <a:xfrm>
              <a:off x="684461" y="5085184"/>
              <a:ext cx="367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365"/>
            <p:cNvSpPr>
              <a:spLocks noChangeShapeType="1"/>
            </p:cNvSpPr>
            <p:nvPr/>
          </p:nvSpPr>
          <p:spPr bwMode="auto">
            <a:xfrm>
              <a:off x="539552" y="5229200"/>
              <a:ext cx="39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366"/>
            <p:cNvSpPr>
              <a:spLocks noChangeShapeType="1"/>
            </p:cNvSpPr>
            <p:nvPr/>
          </p:nvSpPr>
          <p:spPr bwMode="auto">
            <a:xfrm>
              <a:off x="684958" y="4796829"/>
              <a:ext cx="1588" cy="288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367"/>
            <p:cNvSpPr>
              <a:spLocks noChangeShapeType="1"/>
            </p:cNvSpPr>
            <p:nvPr/>
          </p:nvSpPr>
          <p:spPr bwMode="auto">
            <a:xfrm>
              <a:off x="684957" y="4796259"/>
              <a:ext cx="21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368"/>
            <p:cNvSpPr>
              <a:spLocks noChangeShapeType="1"/>
            </p:cNvSpPr>
            <p:nvPr/>
          </p:nvSpPr>
          <p:spPr bwMode="auto">
            <a:xfrm>
              <a:off x="540942" y="4005361"/>
              <a:ext cx="1588" cy="12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369"/>
            <p:cNvSpPr>
              <a:spLocks noChangeShapeType="1"/>
            </p:cNvSpPr>
            <p:nvPr/>
          </p:nvSpPr>
          <p:spPr bwMode="auto">
            <a:xfrm>
              <a:off x="540941" y="4005064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Text Box 376"/>
            <p:cNvSpPr txBox="1">
              <a:spLocks noChangeArrowheads="1"/>
            </p:cNvSpPr>
            <p:nvPr/>
          </p:nvSpPr>
          <p:spPr bwMode="auto">
            <a:xfrm>
              <a:off x="901046" y="3860155"/>
              <a:ext cx="576000" cy="288925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2222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+mn-ea"/>
                  <a:ea typeface="+mn-ea"/>
                </a:rPr>
                <a:t>CU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144" name="Text Box 377"/>
            <p:cNvSpPr txBox="1">
              <a:spLocks noChangeArrowheads="1"/>
            </p:cNvSpPr>
            <p:nvPr/>
          </p:nvSpPr>
          <p:spPr bwMode="auto">
            <a:xfrm>
              <a:off x="901046" y="4652243"/>
              <a:ext cx="576000" cy="288925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2222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dirty="0" err="1">
                  <a:latin typeface="+mn-ea"/>
                  <a:ea typeface="+mn-ea"/>
                </a:rPr>
                <a:t>CU</a:t>
              </a:r>
              <a:r>
                <a:rPr lang="en-US" altLang="zh-CN" sz="1800" i="1" dirty="0" err="1">
                  <a:latin typeface="+mn-lt"/>
                  <a:ea typeface="+mn-ea"/>
                </a:rPr>
                <a:t>n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45" name="Text Box 291"/>
            <p:cNvSpPr txBox="1">
              <a:spLocks noChangeArrowheads="1"/>
            </p:cNvSpPr>
            <p:nvPr/>
          </p:nvSpPr>
          <p:spPr bwMode="auto">
            <a:xfrm>
              <a:off x="2123405" y="4221112"/>
              <a:ext cx="360363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sp>
          <p:nvSpPr>
            <p:cNvPr id="146" name="Rectangle 294"/>
            <p:cNvSpPr>
              <a:spLocks noChangeArrowheads="1"/>
            </p:cNvSpPr>
            <p:nvPr/>
          </p:nvSpPr>
          <p:spPr bwMode="auto">
            <a:xfrm>
              <a:off x="3204344" y="3789168"/>
              <a:ext cx="863600" cy="11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tIns="10800" bIns="10800" anchor="ctr"/>
            <a:lstStyle/>
            <a:p>
              <a:endParaRPr lang="zh-CN" altLang="en-US"/>
            </a:p>
          </p:txBody>
        </p:sp>
        <p:sp>
          <p:nvSpPr>
            <p:cNvPr id="147" name="Text Box 295"/>
            <p:cNvSpPr txBox="1">
              <a:spLocks noChangeArrowheads="1"/>
            </p:cNvSpPr>
            <p:nvPr/>
          </p:nvSpPr>
          <p:spPr bwMode="auto">
            <a:xfrm>
              <a:off x="2701827" y="3789168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DS1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148" name="Line 296"/>
            <p:cNvSpPr>
              <a:spLocks noChangeShapeType="1"/>
            </p:cNvSpPr>
            <p:nvPr/>
          </p:nvSpPr>
          <p:spPr bwMode="auto">
            <a:xfrm flipH="1">
              <a:off x="2630389" y="4005068"/>
              <a:ext cx="576263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49" name="Text Box 301"/>
            <p:cNvSpPr txBox="1">
              <a:spLocks noChangeArrowheads="1"/>
            </p:cNvSpPr>
            <p:nvPr/>
          </p:nvSpPr>
          <p:spPr bwMode="auto">
            <a:xfrm>
              <a:off x="1981102" y="4652446"/>
              <a:ext cx="612775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  <a:ea typeface="+mn-ea"/>
                </a:rPr>
                <a:t>PU</a:t>
              </a:r>
              <a:r>
                <a:rPr lang="en-US" altLang="zh-CN" sz="1800" i="1" dirty="0" err="1">
                  <a:latin typeface="+mn-lt"/>
                  <a:ea typeface="+mn-ea"/>
                </a:rPr>
                <a:t>n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50" name="Text Box 302"/>
            <p:cNvSpPr txBox="1">
              <a:spLocks noChangeArrowheads="1"/>
            </p:cNvSpPr>
            <p:nvPr/>
          </p:nvSpPr>
          <p:spPr bwMode="auto">
            <a:xfrm>
              <a:off x="2701827" y="4581008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latin typeface="+mn-ea"/>
                  <a:ea typeface="+mn-ea"/>
                </a:rPr>
                <a:t>DS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  <p:sp>
          <p:nvSpPr>
            <p:cNvPr id="151" name="Line 303"/>
            <p:cNvSpPr>
              <a:spLocks noChangeShapeType="1"/>
            </p:cNvSpPr>
            <p:nvPr/>
          </p:nvSpPr>
          <p:spPr bwMode="auto">
            <a:xfrm>
              <a:off x="2587527" y="4796908"/>
              <a:ext cx="6175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52" name="Text Box 311"/>
            <p:cNvSpPr txBox="1">
              <a:spLocks noChangeArrowheads="1"/>
            </p:cNvSpPr>
            <p:nvPr/>
          </p:nvSpPr>
          <p:spPr bwMode="auto">
            <a:xfrm>
              <a:off x="1981771" y="3861742"/>
              <a:ext cx="648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PU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153" name="Text Box 380"/>
            <p:cNvSpPr txBox="1">
              <a:spLocks noChangeArrowheads="1"/>
            </p:cNvSpPr>
            <p:nvPr/>
          </p:nvSpPr>
          <p:spPr bwMode="auto">
            <a:xfrm>
              <a:off x="3276502" y="4581097"/>
              <a:ext cx="720725" cy="287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err="1" smtClean="0">
                  <a:latin typeface="+mn-ea"/>
                  <a:ea typeface="+mn-ea"/>
                </a:rPr>
                <a:t>MEM</a:t>
              </a:r>
              <a:r>
                <a:rPr lang="en-US" altLang="zh-CN" sz="1800" i="1" dirty="0" err="1" smtClean="0">
                  <a:latin typeface="+mn-lt"/>
                  <a:ea typeface="+mn-ea"/>
                </a:rPr>
                <a:t>m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54" name="Text Box 382"/>
            <p:cNvSpPr txBox="1">
              <a:spLocks noChangeArrowheads="1"/>
            </p:cNvSpPr>
            <p:nvPr/>
          </p:nvSpPr>
          <p:spPr bwMode="auto">
            <a:xfrm>
              <a:off x="3276502" y="3860606"/>
              <a:ext cx="720725" cy="287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MEM</a:t>
              </a:r>
              <a:r>
                <a:rPr lang="en-US" altLang="zh-CN" sz="1800" dirty="0" smtClean="0">
                  <a:latin typeface="+mn-ea"/>
                  <a:ea typeface="+mn-ea"/>
                </a:rPr>
                <a:t>1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155" name="Text Box 291"/>
            <p:cNvSpPr txBox="1">
              <a:spLocks noChangeArrowheads="1"/>
            </p:cNvSpPr>
            <p:nvPr/>
          </p:nvSpPr>
          <p:spPr bwMode="auto">
            <a:xfrm rot="5400000">
              <a:off x="3530128" y="4257277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sp>
          <p:nvSpPr>
            <p:cNvPr id="156" name="Text Box 291"/>
            <p:cNvSpPr txBox="1">
              <a:spLocks noChangeArrowheads="1"/>
            </p:cNvSpPr>
            <p:nvPr/>
          </p:nvSpPr>
          <p:spPr bwMode="auto">
            <a:xfrm rot="5400000">
              <a:off x="1080494" y="4257277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sp>
          <p:nvSpPr>
            <p:cNvPr id="157" name="Text Box 351"/>
            <p:cNvSpPr txBox="1">
              <a:spLocks noChangeArrowheads="1"/>
            </p:cNvSpPr>
            <p:nvPr/>
          </p:nvSpPr>
          <p:spPr bwMode="auto">
            <a:xfrm>
              <a:off x="4141382" y="3789040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>
                  <a:latin typeface="+mn-ea"/>
                  <a:ea typeface="+mn-ea"/>
                </a:rPr>
                <a:t>IS1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158" name="Text Box 358"/>
            <p:cNvSpPr txBox="1">
              <a:spLocks noChangeArrowheads="1"/>
            </p:cNvSpPr>
            <p:nvPr/>
          </p:nvSpPr>
          <p:spPr bwMode="auto">
            <a:xfrm>
              <a:off x="4141382" y="4509096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 err="1">
                  <a:latin typeface="+mn-ea"/>
                  <a:ea typeface="+mn-ea"/>
                </a:rPr>
                <a:t>IS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9004" y="1340768"/>
            <a:ext cx="3816945" cy="1728877"/>
            <a:chOff x="467916" y="1340768"/>
            <a:chExt cx="3816945" cy="1728877"/>
          </a:xfrm>
        </p:grpSpPr>
        <p:sp>
          <p:nvSpPr>
            <p:cNvPr id="178451" name="Text Box 275"/>
            <p:cNvSpPr txBox="1">
              <a:spLocks noChangeArrowheads="1"/>
            </p:cNvSpPr>
            <p:nvPr/>
          </p:nvSpPr>
          <p:spPr bwMode="auto">
            <a:xfrm>
              <a:off x="900932" y="2782307"/>
              <a:ext cx="2735264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2000" b="1" dirty="0" smtClean="0">
                  <a:latin typeface="+mn-ea"/>
                  <a:ea typeface="+mn-ea"/>
                </a:rPr>
                <a:t>SISD</a:t>
              </a:r>
              <a:r>
                <a:rPr lang="zh-CN" altLang="en-US" sz="2000" b="1" dirty="0" smtClean="0">
                  <a:latin typeface="+mn-ea"/>
                  <a:ea typeface="+mn-ea"/>
                </a:rPr>
                <a:t>结构</a:t>
              </a:r>
              <a:r>
                <a:rPr lang="en-US" altLang="zh-CN" sz="2000" b="1" dirty="0" smtClean="0">
                  <a:latin typeface="+mn-ea"/>
                  <a:ea typeface="+mn-ea"/>
                </a:rPr>
                <a:t>(</a:t>
              </a:r>
              <a:r>
                <a:rPr lang="zh-CN" altLang="en-US" sz="2000" b="1" dirty="0" smtClean="0">
                  <a:latin typeface="+mn-ea"/>
                  <a:ea typeface="+mn-ea"/>
                </a:rPr>
                <a:t>串行</a:t>
              </a:r>
              <a:r>
                <a:rPr lang="zh-CN" altLang="en-US" sz="2000" b="1" dirty="0">
                  <a:latin typeface="+mn-ea"/>
                  <a:ea typeface="+mn-ea"/>
                </a:rPr>
                <a:t>处理</a:t>
              </a:r>
              <a:r>
                <a:rPr lang="zh-CN" altLang="en-US" sz="2000" b="1" dirty="0" smtClean="0">
                  <a:latin typeface="+mn-ea"/>
                  <a:ea typeface="+mn-ea"/>
                </a:rPr>
                <a:t>机</a:t>
              </a:r>
              <a:r>
                <a:rPr lang="en-US" altLang="zh-CN" sz="2000" b="1" dirty="0" smtClean="0">
                  <a:latin typeface="+mn-ea"/>
                  <a:ea typeface="+mn-ea"/>
                </a:rPr>
                <a:t>)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178452" name="Text Box 276"/>
            <p:cNvSpPr txBox="1">
              <a:spLocks noChangeArrowheads="1"/>
            </p:cNvSpPr>
            <p:nvPr/>
          </p:nvSpPr>
          <p:spPr bwMode="auto">
            <a:xfrm>
              <a:off x="827907" y="2133020"/>
              <a:ext cx="647700" cy="287338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CU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178453" name="Text Box 277"/>
            <p:cNvSpPr txBox="1">
              <a:spLocks noChangeArrowheads="1"/>
            </p:cNvSpPr>
            <p:nvPr/>
          </p:nvSpPr>
          <p:spPr bwMode="auto">
            <a:xfrm>
              <a:off x="3275834" y="2133020"/>
              <a:ext cx="720725" cy="287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MEM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178454" name="Text Box 278"/>
            <p:cNvSpPr txBox="1">
              <a:spLocks noChangeArrowheads="1"/>
            </p:cNvSpPr>
            <p:nvPr/>
          </p:nvSpPr>
          <p:spPr bwMode="auto">
            <a:xfrm>
              <a:off x="1477195" y="2061582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IS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178455" name="Line 279"/>
            <p:cNvSpPr>
              <a:spLocks noChangeShapeType="1"/>
            </p:cNvSpPr>
            <p:nvPr/>
          </p:nvSpPr>
          <p:spPr bwMode="auto">
            <a:xfrm>
              <a:off x="1477195" y="2277482"/>
              <a:ext cx="503238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456" name="Text Box 280"/>
            <p:cNvSpPr txBox="1">
              <a:spLocks noChangeArrowheads="1"/>
            </p:cNvSpPr>
            <p:nvPr/>
          </p:nvSpPr>
          <p:spPr bwMode="auto">
            <a:xfrm>
              <a:off x="2115371" y="2493382"/>
              <a:ext cx="287338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IS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178457" name="Text Box 281"/>
            <p:cNvSpPr txBox="1">
              <a:spLocks noChangeArrowheads="1"/>
            </p:cNvSpPr>
            <p:nvPr/>
          </p:nvSpPr>
          <p:spPr bwMode="auto">
            <a:xfrm>
              <a:off x="1980433" y="2133020"/>
              <a:ext cx="6477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PU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178458" name="Text Box 282"/>
            <p:cNvSpPr txBox="1">
              <a:spLocks noChangeArrowheads="1"/>
            </p:cNvSpPr>
            <p:nvPr/>
          </p:nvSpPr>
          <p:spPr bwMode="auto">
            <a:xfrm>
              <a:off x="2701158" y="2061582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DS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178459" name="Line 283"/>
            <p:cNvSpPr>
              <a:spLocks noChangeShapeType="1"/>
            </p:cNvSpPr>
            <p:nvPr/>
          </p:nvSpPr>
          <p:spPr bwMode="auto">
            <a:xfrm>
              <a:off x="2629721" y="2277482"/>
              <a:ext cx="6477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460" name="Line 284"/>
            <p:cNvSpPr>
              <a:spLocks noChangeShapeType="1"/>
            </p:cNvSpPr>
            <p:nvPr/>
          </p:nvSpPr>
          <p:spPr bwMode="auto">
            <a:xfrm>
              <a:off x="538982" y="2709282"/>
              <a:ext cx="374332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61" name="Line 285"/>
            <p:cNvSpPr>
              <a:spLocks noChangeShapeType="1"/>
            </p:cNvSpPr>
            <p:nvPr/>
          </p:nvSpPr>
          <p:spPr bwMode="auto">
            <a:xfrm>
              <a:off x="538982" y="2277482"/>
              <a:ext cx="0" cy="4318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62" name="Line 286"/>
            <p:cNvSpPr>
              <a:spLocks noChangeShapeType="1"/>
            </p:cNvSpPr>
            <p:nvPr/>
          </p:nvSpPr>
          <p:spPr bwMode="auto">
            <a:xfrm>
              <a:off x="538982" y="2277482"/>
              <a:ext cx="28892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63" name="Line 287"/>
            <p:cNvSpPr>
              <a:spLocks noChangeShapeType="1"/>
            </p:cNvSpPr>
            <p:nvPr/>
          </p:nvSpPr>
          <p:spPr bwMode="auto">
            <a:xfrm>
              <a:off x="4283897" y="2277482"/>
              <a:ext cx="0" cy="4318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Text Box 280"/>
            <p:cNvSpPr txBox="1">
              <a:spLocks noChangeArrowheads="1"/>
            </p:cNvSpPr>
            <p:nvPr/>
          </p:nvSpPr>
          <p:spPr bwMode="auto">
            <a:xfrm>
              <a:off x="467916" y="1340768"/>
              <a:ext cx="3600000" cy="64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注：</a:t>
              </a:r>
              <a:r>
                <a:rPr lang="en-US" altLang="zh-CN" sz="1800" b="1" baseline="-25000" dirty="0" smtClean="0"/>
                <a:t> </a:t>
              </a:r>
              <a:r>
                <a:rPr lang="en-US" altLang="zh-CN" sz="1800" dirty="0" smtClean="0"/>
                <a:t>IS</a:t>
              </a:r>
              <a:r>
                <a:rPr lang="en-US" altLang="zh-CN" sz="1800" b="1" dirty="0" smtClean="0"/>
                <a:t>—</a:t>
              </a:r>
              <a:r>
                <a:rPr lang="zh-CN" altLang="en-US" sz="1800" b="1" dirty="0" smtClean="0"/>
                <a:t>指令流</a:t>
              </a:r>
              <a:r>
                <a:rPr lang="en-US" altLang="zh-CN" sz="1800" b="1" dirty="0" smtClean="0">
                  <a:latin typeface="+mn-ea"/>
                  <a:ea typeface="+mn-ea"/>
                </a:rPr>
                <a:t>(</a:t>
              </a:r>
              <a:r>
                <a:rPr lang="en-US" altLang="zh-CN" sz="1800" dirty="0" smtClean="0"/>
                <a:t>Instruction Stream</a:t>
              </a:r>
              <a:r>
                <a:rPr lang="en-US" altLang="zh-CN" sz="1800" b="1" dirty="0">
                  <a:latin typeface="+mn-ea"/>
                  <a:ea typeface="+mn-ea"/>
                </a:rPr>
                <a:t>)</a:t>
              </a:r>
              <a:endParaRPr lang="en-US" altLang="zh-CN" sz="1800" b="1" dirty="0">
                <a:latin typeface="+mn-ea"/>
                <a:ea typeface="+mn-ea"/>
              </a:endParaRPr>
            </a:p>
            <a:p>
              <a:r>
                <a:rPr lang="en-US" altLang="zh-CN" sz="1800" b="1" dirty="0" smtClean="0"/>
                <a:t>        </a:t>
              </a:r>
              <a:r>
                <a:rPr lang="en-US" altLang="zh-CN" sz="1800" dirty="0" smtClean="0"/>
                <a:t>DS</a:t>
              </a:r>
              <a:r>
                <a:rPr lang="en-US" altLang="zh-CN" sz="1800" b="1" dirty="0" smtClean="0"/>
                <a:t>—</a:t>
              </a:r>
              <a:r>
                <a:rPr lang="zh-CN" altLang="en-US" sz="1800" b="1" dirty="0" smtClean="0"/>
                <a:t>数据流</a:t>
              </a:r>
              <a:r>
                <a:rPr lang="en-US" altLang="zh-CN" sz="1800" b="1" dirty="0">
                  <a:latin typeface="+mn-ea"/>
                  <a:ea typeface="+mn-ea"/>
                </a:rPr>
                <a:t>(</a:t>
              </a:r>
              <a:r>
                <a:rPr lang="en-US" altLang="zh-CN" sz="1800" dirty="0" smtClean="0"/>
                <a:t>Data </a:t>
              </a:r>
              <a:r>
                <a:rPr lang="en-US" altLang="zh-CN" sz="1800" dirty="0"/>
                <a:t>Stream</a:t>
              </a:r>
              <a:r>
                <a:rPr lang="en-US" altLang="zh-CN" sz="1800" b="1" dirty="0">
                  <a:latin typeface="+mn-ea"/>
                  <a:ea typeface="+mn-ea"/>
                </a:rPr>
                <a:t>)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159" name="Line 362"/>
            <p:cNvSpPr>
              <a:spLocks noChangeShapeType="1"/>
            </p:cNvSpPr>
            <p:nvPr/>
          </p:nvSpPr>
          <p:spPr bwMode="auto">
            <a:xfrm>
              <a:off x="3995936" y="2276872"/>
              <a:ext cx="28892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001815" y="1413585"/>
            <a:ext cx="3746202" cy="1656060"/>
            <a:chOff x="5075163" y="1413585"/>
            <a:chExt cx="3746202" cy="1656060"/>
          </a:xfrm>
        </p:grpSpPr>
        <p:sp>
          <p:nvSpPr>
            <p:cNvPr id="178465" name="Text Box 289"/>
            <p:cNvSpPr txBox="1">
              <a:spLocks noChangeArrowheads="1"/>
            </p:cNvSpPr>
            <p:nvPr/>
          </p:nvSpPr>
          <p:spPr bwMode="auto">
            <a:xfrm>
              <a:off x="5509493" y="2781645"/>
              <a:ext cx="2808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2000" b="1" dirty="0" smtClean="0">
                  <a:latin typeface="+mn-ea"/>
                  <a:ea typeface="+mn-ea"/>
                </a:rPr>
                <a:t>SIMD</a:t>
              </a:r>
              <a:r>
                <a:rPr lang="zh-CN" altLang="en-US" sz="2000" b="1" dirty="0" smtClean="0">
                  <a:latin typeface="+mn-ea"/>
                  <a:ea typeface="+mn-ea"/>
                </a:rPr>
                <a:t>结构</a:t>
              </a:r>
              <a:r>
                <a:rPr lang="en-US" altLang="zh-CN" sz="2000" b="1" dirty="0" smtClean="0">
                  <a:latin typeface="+mn-ea"/>
                  <a:ea typeface="+mn-ea"/>
                </a:rPr>
                <a:t>(</a:t>
              </a:r>
              <a:r>
                <a:rPr lang="zh-CN" altLang="en-US" sz="2000" b="1" dirty="0" smtClean="0">
                  <a:latin typeface="+mn-ea"/>
                  <a:ea typeface="+mn-ea"/>
                </a:rPr>
                <a:t>并行处理机</a:t>
              </a:r>
              <a:r>
                <a:rPr lang="en-US" altLang="zh-CN" sz="2000" b="1" dirty="0" smtClean="0">
                  <a:latin typeface="+mn-ea"/>
                  <a:ea typeface="+mn-ea"/>
                </a:rPr>
                <a:t>)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178466" name="Text Box 290"/>
            <p:cNvSpPr txBox="1">
              <a:spLocks noChangeArrowheads="1"/>
            </p:cNvSpPr>
            <p:nvPr/>
          </p:nvSpPr>
          <p:spPr bwMode="auto">
            <a:xfrm>
              <a:off x="5363889" y="1845509"/>
              <a:ext cx="576263" cy="287338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CU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178467" name="Text Box 291"/>
            <p:cNvSpPr txBox="1">
              <a:spLocks noChangeArrowheads="1"/>
            </p:cNvSpPr>
            <p:nvPr/>
          </p:nvSpPr>
          <p:spPr bwMode="auto">
            <a:xfrm rot="5400000">
              <a:off x="6613203" y="1810014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sp>
          <p:nvSpPr>
            <p:cNvPr id="178470" name="Rectangle 294"/>
            <p:cNvSpPr>
              <a:spLocks noChangeArrowheads="1"/>
            </p:cNvSpPr>
            <p:nvPr/>
          </p:nvSpPr>
          <p:spPr bwMode="auto">
            <a:xfrm>
              <a:off x="7668890" y="1413620"/>
              <a:ext cx="863600" cy="11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tIns="10800" bIns="10800" anchor="ctr"/>
            <a:lstStyle/>
            <a:p>
              <a:endParaRPr lang="zh-CN" altLang="en-US"/>
            </a:p>
          </p:txBody>
        </p:sp>
        <p:sp>
          <p:nvSpPr>
            <p:cNvPr id="178471" name="Text Box 295"/>
            <p:cNvSpPr txBox="1">
              <a:spLocks noChangeArrowheads="1"/>
            </p:cNvSpPr>
            <p:nvPr/>
          </p:nvSpPr>
          <p:spPr bwMode="auto">
            <a:xfrm>
              <a:off x="7165653" y="1413585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DS1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178472" name="Line 296"/>
            <p:cNvSpPr>
              <a:spLocks noChangeShapeType="1"/>
            </p:cNvSpPr>
            <p:nvPr/>
          </p:nvSpPr>
          <p:spPr bwMode="auto">
            <a:xfrm flipH="1">
              <a:off x="7094215" y="1629485"/>
              <a:ext cx="576263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473" name="Text Box 297"/>
            <p:cNvSpPr txBox="1">
              <a:spLocks noChangeArrowheads="1"/>
            </p:cNvSpPr>
            <p:nvPr/>
          </p:nvSpPr>
          <p:spPr bwMode="auto">
            <a:xfrm>
              <a:off x="6014243" y="1773501"/>
              <a:ext cx="287338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IS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178474" name="Line 298"/>
            <p:cNvSpPr>
              <a:spLocks noChangeShapeType="1"/>
            </p:cNvSpPr>
            <p:nvPr/>
          </p:nvSpPr>
          <p:spPr bwMode="auto">
            <a:xfrm>
              <a:off x="5940216" y="1989525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475" name="Text Box 299"/>
            <p:cNvSpPr txBox="1">
              <a:spLocks noChangeArrowheads="1"/>
            </p:cNvSpPr>
            <p:nvPr/>
          </p:nvSpPr>
          <p:spPr bwMode="auto">
            <a:xfrm>
              <a:off x="5438179" y="2493581"/>
              <a:ext cx="287338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IS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178477" name="Text Box 301"/>
            <p:cNvSpPr txBox="1">
              <a:spLocks noChangeArrowheads="1"/>
            </p:cNvSpPr>
            <p:nvPr/>
          </p:nvSpPr>
          <p:spPr bwMode="auto">
            <a:xfrm>
              <a:off x="6444928" y="2206243"/>
              <a:ext cx="612775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  <a:ea typeface="+mn-ea"/>
                </a:rPr>
                <a:t>PU</a:t>
              </a:r>
              <a:r>
                <a:rPr lang="en-US" altLang="zh-CN" sz="1800" i="1" dirty="0" err="1">
                  <a:latin typeface="+mn-lt"/>
                  <a:ea typeface="+mn-ea"/>
                </a:rPr>
                <a:t>n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78478" name="Text Box 302"/>
            <p:cNvSpPr txBox="1">
              <a:spLocks noChangeArrowheads="1"/>
            </p:cNvSpPr>
            <p:nvPr/>
          </p:nvSpPr>
          <p:spPr bwMode="auto">
            <a:xfrm>
              <a:off x="7165653" y="2134345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latin typeface="+mn-ea"/>
                  <a:ea typeface="+mn-ea"/>
                </a:rPr>
                <a:t>DS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  <p:sp>
          <p:nvSpPr>
            <p:cNvPr id="178479" name="Line 303"/>
            <p:cNvSpPr>
              <a:spLocks noChangeShapeType="1"/>
            </p:cNvSpPr>
            <p:nvPr/>
          </p:nvSpPr>
          <p:spPr bwMode="auto">
            <a:xfrm>
              <a:off x="7051353" y="2350245"/>
              <a:ext cx="6175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480" name="Line 304"/>
            <p:cNvSpPr>
              <a:spLocks noChangeShapeType="1"/>
            </p:cNvSpPr>
            <p:nvPr/>
          </p:nvSpPr>
          <p:spPr bwMode="auto">
            <a:xfrm>
              <a:off x="6301597" y="2349565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481" name="Line 305"/>
            <p:cNvSpPr>
              <a:spLocks noChangeShapeType="1"/>
            </p:cNvSpPr>
            <p:nvPr/>
          </p:nvSpPr>
          <p:spPr bwMode="auto">
            <a:xfrm>
              <a:off x="5075758" y="2709605"/>
              <a:ext cx="37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82" name="Line 306"/>
            <p:cNvSpPr>
              <a:spLocks noChangeShapeType="1"/>
            </p:cNvSpPr>
            <p:nvPr/>
          </p:nvSpPr>
          <p:spPr bwMode="auto">
            <a:xfrm>
              <a:off x="6301597" y="1629485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83" name="Line 307"/>
            <p:cNvSpPr>
              <a:spLocks noChangeShapeType="1"/>
            </p:cNvSpPr>
            <p:nvPr/>
          </p:nvSpPr>
          <p:spPr bwMode="auto">
            <a:xfrm>
              <a:off x="5076056" y="1989525"/>
              <a:ext cx="0" cy="72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84" name="Line 308"/>
            <p:cNvSpPr>
              <a:spLocks noChangeShapeType="1"/>
            </p:cNvSpPr>
            <p:nvPr/>
          </p:nvSpPr>
          <p:spPr bwMode="auto">
            <a:xfrm>
              <a:off x="5075163" y="1989525"/>
              <a:ext cx="28892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85" name="Line 309"/>
            <p:cNvSpPr>
              <a:spLocks noChangeShapeType="1"/>
            </p:cNvSpPr>
            <p:nvPr/>
          </p:nvSpPr>
          <p:spPr bwMode="auto">
            <a:xfrm>
              <a:off x="6301581" y="1629565"/>
              <a:ext cx="0" cy="72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87" name="Text Box 311"/>
            <p:cNvSpPr txBox="1">
              <a:spLocks noChangeArrowheads="1"/>
            </p:cNvSpPr>
            <p:nvPr/>
          </p:nvSpPr>
          <p:spPr bwMode="auto">
            <a:xfrm>
              <a:off x="6445597" y="1485469"/>
              <a:ext cx="648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PU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178556" name="Text Box 380"/>
            <p:cNvSpPr txBox="1">
              <a:spLocks noChangeArrowheads="1"/>
            </p:cNvSpPr>
            <p:nvPr/>
          </p:nvSpPr>
          <p:spPr bwMode="auto">
            <a:xfrm>
              <a:off x="7740328" y="2205549"/>
              <a:ext cx="720725" cy="287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err="1" smtClean="0">
                  <a:latin typeface="+mn-ea"/>
                  <a:ea typeface="+mn-ea"/>
                </a:rPr>
                <a:t>MEM</a:t>
              </a:r>
              <a:r>
                <a:rPr lang="en-US" altLang="zh-CN" sz="1800" i="1" dirty="0" err="1" smtClean="0">
                  <a:latin typeface="+mn-lt"/>
                  <a:ea typeface="+mn-ea"/>
                </a:rPr>
                <a:t>m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78558" name="Text Box 382"/>
            <p:cNvSpPr txBox="1">
              <a:spLocks noChangeArrowheads="1"/>
            </p:cNvSpPr>
            <p:nvPr/>
          </p:nvSpPr>
          <p:spPr bwMode="auto">
            <a:xfrm>
              <a:off x="7740328" y="1485058"/>
              <a:ext cx="720725" cy="287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MEM</a:t>
              </a:r>
              <a:r>
                <a:rPr lang="en-US" altLang="zh-CN" sz="1800" dirty="0" smtClean="0">
                  <a:latin typeface="+mn-ea"/>
                  <a:ea typeface="+mn-ea"/>
                </a:rPr>
                <a:t>1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178559" name="Line 383"/>
            <p:cNvSpPr>
              <a:spLocks noChangeShapeType="1"/>
            </p:cNvSpPr>
            <p:nvPr/>
          </p:nvSpPr>
          <p:spPr bwMode="auto">
            <a:xfrm>
              <a:off x="8820472" y="1988839"/>
              <a:ext cx="0" cy="72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Text Box 291"/>
            <p:cNvSpPr txBox="1">
              <a:spLocks noChangeArrowheads="1"/>
            </p:cNvSpPr>
            <p:nvPr/>
          </p:nvSpPr>
          <p:spPr bwMode="auto">
            <a:xfrm rot="5400000">
              <a:off x="7993954" y="1810014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sp>
          <p:nvSpPr>
            <p:cNvPr id="160" name="Line 362"/>
            <p:cNvSpPr>
              <a:spLocks noChangeShapeType="1"/>
            </p:cNvSpPr>
            <p:nvPr/>
          </p:nvSpPr>
          <p:spPr bwMode="auto">
            <a:xfrm>
              <a:off x="8532440" y="1988840"/>
              <a:ext cx="28892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102826" y="6381328"/>
            <a:ext cx="1040904" cy="360040"/>
          </a:xfrm>
        </p:spPr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388" y="303292"/>
            <a:ext cx="8857108" cy="59400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b="1">
                <a:solidFill>
                  <a:srgbClr val="FF3399"/>
                </a:solidFill>
                <a:latin typeface="宋体" panose="02010600030101010101" pitchFamily="2" charset="-122"/>
              </a:defRPr>
            </a:lvl1pPr>
          </a:lstStyle>
          <a:p>
            <a:r>
              <a:rPr lang="en-US" altLang="zh-CN" dirty="0" smtClean="0"/>
              <a:t>※</a:t>
            </a:r>
            <a:r>
              <a:rPr lang="zh-CN" altLang="en-US" dirty="0" smtClean="0"/>
              <a:t>附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：课程</a:t>
            </a:r>
            <a:r>
              <a:rPr lang="zh-CN" altLang="en-US" dirty="0"/>
              <a:t>内容的</a:t>
            </a:r>
            <a:r>
              <a:rPr lang="zh-CN" altLang="en-US" dirty="0" smtClean="0"/>
              <a:t>组织</a:t>
            </a:r>
            <a:endParaRPr lang="en-US" altLang="zh-CN" dirty="0" smtClean="0"/>
          </a:p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en-US" altLang="zh-CN" sz="2200" dirty="0" smtClean="0">
                <a:solidFill>
                  <a:srgbClr val="C00000"/>
                </a:solidFill>
              </a:rPr>
              <a:t> </a:t>
            </a:r>
            <a:r>
              <a:rPr lang="zh-CN" altLang="en-US" sz="2200" dirty="0" smtClean="0">
                <a:solidFill>
                  <a:srgbClr val="C00000"/>
                </a:solidFill>
              </a:rPr>
              <a:t>第</a:t>
            </a:r>
            <a:r>
              <a:rPr lang="en-US" altLang="zh-CN" sz="2200" dirty="0" smtClean="0">
                <a:solidFill>
                  <a:srgbClr val="C00000"/>
                </a:solidFill>
              </a:rPr>
              <a:t>1</a:t>
            </a:r>
            <a:r>
              <a:rPr lang="zh-CN" altLang="en-US" sz="2200" dirty="0" smtClean="0">
                <a:solidFill>
                  <a:srgbClr val="C00000"/>
                </a:solidFill>
              </a:rPr>
              <a:t>章</a:t>
            </a:r>
            <a:r>
              <a:rPr lang="en-US" altLang="zh-CN" sz="2200" dirty="0" smtClean="0">
                <a:solidFill>
                  <a:srgbClr val="C00000"/>
                </a:solidFill>
              </a:rPr>
              <a:t>—</a:t>
            </a:r>
            <a:r>
              <a:rPr lang="zh-CN" altLang="en-US" sz="2200" dirty="0" smtClean="0">
                <a:solidFill>
                  <a:srgbClr val="C00000"/>
                </a:solidFill>
              </a:rPr>
              <a:t>计算机</a:t>
            </a:r>
            <a:r>
              <a:rPr lang="zh-CN" altLang="en-US" sz="2200" dirty="0" smtClean="0">
                <a:solidFill>
                  <a:schemeClr val="tx1"/>
                </a:solidFill>
              </a:rPr>
              <a:t>的模型、硬件组成、工作过程、性能指标</a:t>
            </a:r>
            <a:endParaRPr lang="zh-CN" altLang="en-US" sz="2200" dirty="0">
              <a:solidFill>
                <a:schemeClr val="tx1"/>
              </a:solidFill>
            </a:endParaRPr>
          </a:p>
          <a:p>
            <a:endParaRPr lang="en-US" altLang="zh-CN" sz="2200" dirty="0" smtClean="0">
              <a:solidFill>
                <a:srgbClr val="C00000"/>
              </a:solidFill>
            </a:endParaRPr>
          </a:p>
          <a:p>
            <a:endParaRPr lang="en-US" altLang="zh-CN" sz="2200" dirty="0" smtClean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000" dirty="0" smtClean="0">
              <a:solidFill>
                <a:srgbClr val="C00000"/>
              </a:solidFill>
            </a:endParaRPr>
          </a:p>
          <a:p>
            <a:endParaRPr lang="en-US" altLang="zh-CN" sz="1800" dirty="0">
              <a:solidFill>
                <a:srgbClr val="C00000"/>
              </a:solidFill>
            </a:endParaRPr>
          </a:p>
          <a:p>
            <a:r>
              <a:rPr lang="en-US" altLang="zh-CN" sz="2200" dirty="0" smtClean="0">
                <a:solidFill>
                  <a:srgbClr val="C00000"/>
                </a:solidFill>
              </a:rPr>
              <a:t>  </a:t>
            </a:r>
            <a:r>
              <a:rPr lang="zh-CN" altLang="en-US" sz="2200" dirty="0" smtClean="0">
                <a:solidFill>
                  <a:srgbClr val="C00000"/>
                </a:solidFill>
              </a:rPr>
              <a:t>第</a:t>
            </a:r>
            <a:r>
              <a:rPr lang="en-US" altLang="zh-CN" sz="2200" dirty="0" smtClean="0">
                <a:solidFill>
                  <a:srgbClr val="C00000"/>
                </a:solidFill>
              </a:rPr>
              <a:t>2</a:t>
            </a:r>
            <a:r>
              <a:rPr lang="zh-CN" altLang="en-US" sz="2200" dirty="0" smtClean="0">
                <a:solidFill>
                  <a:srgbClr val="C00000"/>
                </a:solidFill>
              </a:rPr>
              <a:t>章</a:t>
            </a:r>
            <a:r>
              <a:rPr lang="en-US" altLang="zh-CN" sz="2200" dirty="0" smtClean="0">
                <a:solidFill>
                  <a:srgbClr val="C00000"/>
                </a:solidFill>
              </a:rPr>
              <a:t>—</a:t>
            </a:r>
            <a:r>
              <a:rPr lang="zh-CN" altLang="en-US" sz="2200" dirty="0">
                <a:solidFill>
                  <a:srgbClr val="C00000"/>
                </a:solidFill>
              </a:rPr>
              <a:t>数据</a:t>
            </a:r>
            <a:r>
              <a:rPr lang="zh-CN" altLang="en-US" sz="2200" dirty="0" smtClean="0">
                <a:solidFill>
                  <a:schemeClr val="tx1"/>
                </a:solidFill>
              </a:rPr>
              <a:t>的表示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含格式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编码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sz="2200" dirty="0" smtClean="0">
                <a:solidFill>
                  <a:schemeClr val="tx1"/>
                </a:solidFill>
              </a:rPr>
              <a:t>、运算组织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dirty="0" smtClean="0">
                <a:solidFill>
                  <a:schemeClr val="tx1"/>
                </a:solidFill>
              </a:rPr>
              <a:t>运算器的组成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rgbClr val="C00000"/>
                </a:solidFill>
              </a:rPr>
              <a:t>  第</a:t>
            </a:r>
            <a:r>
              <a:rPr lang="en-US" altLang="zh-CN" sz="2200" dirty="0" smtClean="0">
                <a:solidFill>
                  <a:srgbClr val="C00000"/>
                </a:solidFill>
              </a:rPr>
              <a:t>3</a:t>
            </a:r>
            <a:r>
              <a:rPr lang="zh-CN" altLang="en-US" sz="2200" dirty="0" smtClean="0">
                <a:solidFill>
                  <a:srgbClr val="C00000"/>
                </a:solidFill>
              </a:rPr>
              <a:t>章</a:t>
            </a:r>
            <a:r>
              <a:rPr lang="en-US" altLang="zh-CN" sz="2200" dirty="0" smtClean="0">
                <a:solidFill>
                  <a:srgbClr val="C00000"/>
                </a:solidFill>
              </a:rPr>
              <a:t>—</a:t>
            </a:r>
            <a:r>
              <a:rPr lang="zh-CN" altLang="en-US" sz="2200" dirty="0" smtClean="0">
                <a:solidFill>
                  <a:srgbClr val="C00000"/>
                </a:solidFill>
              </a:rPr>
              <a:t>存储器</a:t>
            </a:r>
            <a:r>
              <a:rPr lang="zh-CN" altLang="en-US" sz="2200" dirty="0" smtClean="0">
                <a:solidFill>
                  <a:schemeClr val="tx1"/>
                </a:solidFill>
              </a:rPr>
              <a:t>的结构，</a:t>
            </a:r>
            <a:r>
              <a:rPr lang="zh-CN" altLang="en-US" sz="2200" dirty="0" smtClean="0">
                <a:solidFill>
                  <a:srgbClr val="000000"/>
                </a:solidFill>
              </a:rPr>
              <a:t>主存组成，</a:t>
            </a:r>
            <a:r>
              <a:rPr lang="en-US" altLang="zh-CN" sz="2200" dirty="0">
                <a:solidFill>
                  <a:srgbClr val="000000"/>
                </a:solidFill>
              </a:rPr>
              <a:t>Cache</a:t>
            </a:r>
            <a:r>
              <a:rPr lang="zh-CN" altLang="en-US" sz="2200" dirty="0">
                <a:solidFill>
                  <a:srgbClr val="000000"/>
                </a:solidFill>
              </a:rPr>
              <a:t>原理，虚</a:t>
            </a:r>
            <a:r>
              <a:rPr lang="zh-CN" altLang="en-US" sz="2200" dirty="0" smtClean="0">
                <a:solidFill>
                  <a:srgbClr val="000000"/>
                </a:solidFill>
              </a:rPr>
              <a:t>存实现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 </a:t>
            </a:r>
            <a:r>
              <a:rPr lang="zh-CN" altLang="en-US" sz="2200" dirty="0" smtClean="0">
                <a:solidFill>
                  <a:srgbClr val="C00000"/>
                </a:solidFill>
              </a:rPr>
              <a:t>第</a:t>
            </a:r>
            <a:r>
              <a:rPr lang="en-US" altLang="zh-CN" sz="2200" dirty="0" smtClean="0">
                <a:solidFill>
                  <a:srgbClr val="C00000"/>
                </a:solidFill>
              </a:rPr>
              <a:t>4</a:t>
            </a:r>
            <a:r>
              <a:rPr lang="zh-CN" altLang="en-US" sz="2200" dirty="0" smtClean="0">
                <a:solidFill>
                  <a:srgbClr val="C00000"/>
                </a:solidFill>
              </a:rPr>
              <a:t>章</a:t>
            </a:r>
            <a:r>
              <a:rPr lang="en-US" altLang="zh-CN" sz="2200" dirty="0" smtClean="0">
                <a:solidFill>
                  <a:srgbClr val="C00000"/>
                </a:solidFill>
              </a:rPr>
              <a:t>—</a:t>
            </a:r>
            <a:r>
              <a:rPr lang="zh-CN" altLang="en-US" sz="2200" dirty="0" smtClean="0">
                <a:solidFill>
                  <a:srgbClr val="C00000"/>
                </a:solidFill>
              </a:rPr>
              <a:t>指令</a:t>
            </a:r>
            <a:r>
              <a:rPr lang="zh-CN" altLang="en-US" sz="2200" dirty="0" smtClean="0">
                <a:solidFill>
                  <a:schemeClr val="tx1"/>
                </a:solidFill>
              </a:rPr>
              <a:t>的表示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功能</a:t>
            </a:r>
            <a:r>
              <a:rPr lang="en-US" altLang="zh-CN" sz="1800" dirty="0" smtClean="0">
                <a:solidFill>
                  <a:schemeClr val="tx1"/>
                </a:solidFill>
              </a:rPr>
              <a:t>-</a:t>
            </a:r>
            <a:r>
              <a:rPr lang="zh-CN" altLang="en-US" sz="1800" dirty="0" smtClean="0">
                <a:solidFill>
                  <a:schemeClr val="tx1"/>
                </a:solidFill>
              </a:rPr>
              <a:t>格式约定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sz="2200" dirty="0" smtClean="0">
                <a:solidFill>
                  <a:schemeClr val="tx1"/>
                </a:solidFill>
              </a:rPr>
              <a:t>，操作数的寻址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存放</a:t>
            </a:r>
            <a:r>
              <a:rPr lang="en-US" altLang="zh-CN" sz="1800" dirty="0" smtClean="0">
                <a:solidFill>
                  <a:schemeClr val="tx1"/>
                </a:solidFill>
              </a:rPr>
              <a:t>+</a:t>
            </a:r>
            <a:r>
              <a:rPr lang="zh-CN" altLang="en-US" sz="1800" dirty="0" smtClean="0">
                <a:solidFill>
                  <a:schemeClr val="tx1"/>
                </a:solidFill>
              </a:rPr>
              <a:t>寻址方式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1257300" indent="-1257300"/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en-US" altLang="zh-CN" sz="2200" dirty="0" smtClean="0">
                <a:solidFill>
                  <a:srgbClr val="C00000"/>
                </a:solidFill>
              </a:rPr>
              <a:t> </a:t>
            </a:r>
            <a:r>
              <a:rPr lang="zh-CN" altLang="en-US" sz="2200" dirty="0" smtClean="0">
                <a:solidFill>
                  <a:srgbClr val="C00000"/>
                </a:solidFill>
              </a:rPr>
              <a:t>第</a:t>
            </a:r>
            <a:r>
              <a:rPr lang="en-US" altLang="zh-CN" sz="2200" dirty="0" smtClean="0">
                <a:solidFill>
                  <a:srgbClr val="C00000"/>
                </a:solidFill>
              </a:rPr>
              <a:t>5</a:t>
            </a:r>
            <a:r>
              <a:rPr lang="zh-CN" altLang="en-US" sz="2200" dirty="0" smtClean="0">
                <a:solidFill>
                  <a:srgbClr val="C00000"/>
                </a:solidFill>
              </a:rPr>
              <a:t>章</a:t>
            </a:r>
            <a:r>
              <a:rPr lang="en-US" altLang="zh-CN" sz="2200" dirty="0" smtClean="0">
                <a:solidFill>
                  <a:srgbClr val="C00000"/>
                </a:solidFill>
              </a:rPr>
              <a:t>—</a:t>
            </a:r>
            <a:r>
              <a:rPr lang="en-US" altLang="zh-CN" sz="2200" dirty="0">
                <a:solidFill>
                  <a:srgbClr val="C00000"/>
                </a:solidFill>
              </a:rPr>
              <a:t>CPU</a:t>
            </a:r>
            <a:r>
              <a:rPr lang="zh-CN" altLang="en-US" sz="2200" dirty="0">
                <a:solidFill>
                  <a:srgbClr val="000000"/>
                </a:solidFill>
              </a:rPr>
              <a:t>的组成及工作</a:t>
            </a:r>
            <a:r>
              <a:rPr lang="zh-CN" altLang="en-US" sz="2200" dirty="0" smtClean="0">
                <a:solidFill>
                  <a:srgbClr val="000000"/>
                </a:solidFill>
              </a:rPr>
              <a:t>流程，</a:t>
            </a:r>
            <a:r>
              <a:rPr lang="zh-CN" altLang="en-US" sz="2200" dirty="0">
                <a:solidFill>
                  <a:srgbClr val="000000"/>
                </a:solidFill>
              </a:rPr>
              <a:t>数据</a:t>
            </a:r>
            <a:r>
              <a:rPr lang="zh-CN" altLang="en-US" sz="2200" dirty="0" smtClean="0">
                <a:solidFill>
                  <a:srgbClr val="000000"/>
                </a:solidFill>
              </a:rPr>
              <a:t>通路组织，控制器组成，异常</a:t>
            </a:r>
            <a:r>
              <a:rPr lang="zh-CN" altLang="en-US" sz="2200" dirty="0">
                <a:solidFill>
                  <a:srgbClr val="000000"/>
                </a:solidFill>
              </a:rPr>
              <a:t>及</a:t>
            </a:r>
            <a:r>
              <a:rPr lang="zh-CN" altLang="en-US" sz="2200" dirty="0" smtClean="0">
                <a:solidFill>
                  <a:srgbClr val="000000"/>
                </a:solidFill>
              </a:rPr>
              <a:t>中断处理</a:t>
            </a:r>
            <a:r>
              <a:rPr lang="en-US" altLang="zh-CN" sz="1800" dirty="0">
                <a:solidFill>
                  <a:srgbClr val="000000"/>
                </a:solidFill>
              </a:rPr>
              <a:t>(</a:t>
            </a:r>
            <a:r>
              <a:rPr lang="zh-CN" altLang="en-US" sz="1800" dirty="0">
                <a:solidFill>
                  <a:srgbClr val="000000"/>
                </a:solidFill>
              </a:rPr>
              <a:t>中断</a:t>
            </a:r>
            <a:r>
              <a:rPr lang="zh-CN" altLang="en-US" sz="1800" dirty="0" smtClean="0">
                <a:solidFill>
                  <a:srgbClr val="000000"/>
                </a:solidFill>
              </a:rPr>
              <a:t>机构</a:t>
            </a:r>
            <a:r>
              <a:rPr lang="en-US" altLang="zh-CN" sz="1800" dirty="0" smtClean="0">
                <a:solidFill>
                  <a:srgbClr val="000000"/>
                </a:solidFill>
              </a:rPr>
              <a:t>)</a:t>
            </a:r>
            <a:r>
              <a:rPr lang="zh-CN" altLang="en-US" sz="2200" dirty="0">
                <a:solidFill>
                  <a:srgbClr val="000000"/>
                </a:solidFill>
              </a:rPr>
              <a:t>，</a:t>
            </a:r>
            <a:r>
              <a:rPr lang="zh-CN" altLang="en-US" sz="2200" dirty="0" smtClean="0">
                <a:solidFill>
                  <a:srgbClr val="000000"/>
                </a:solidFill>
              </a:rPr>
              <a:t>指令流水线原理</a:t>
            </a:r>
            <a:endParaRPr lang="en-US" altLang="zh-CN" sz="2200" dirty="0">
              <a:solidFill>
                <a:srgbClr val="C00000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 </a:t>
            </a:r>
            <a:r>
              <a:rPr lang="zh-CN" altLang="en-US" sz="2200" dirty="0" smtClean="0">
                <a:solidFill>
                  <a:srgbClr val="C00000"/>
                </a:solidFill>
              </a:rPr>
              <a:t>第</a:t>
            </a:r>
            <a:r>
              <a:rPr lang="en-US" altLang="zh-CN" sz="2200" dirty="0" smtClean="0">
                <a:solidFill>
                  <a:srgbClr val="C00000"/>
                </a:solidFill>
              </a:rPr>
              <a:t>6</a:t>
            </a:r>
            <a:r>
              <a:rPr lang="zh-CN" altLang="en-US" sz="2200" dirty="0" smtClean="0">
                <a:solidFill>
                  <a:srgbClr val="C00000"/>
                </a:solidFill>
              </a:rPr>
              <a:t>章</a:t>
            </a:r>
            <a:r>
              <a:rPr lang="en-US" altLang="zh-CN" sz="2200" dirty="0" smtClean="0">
                <a:solidFill>
                  <a:srgbClr val="C00000"/>
                </a:solidFill>
              </a:rPr>
              <a:t>—</a:t>
            </a:r>
            <a:r>
              <a:rPr lang="zh-CN" altLang="en-US" sz="2200" dirty="0" smtClean="0">
                <a:solidFill>
                  <a:srgbClr val="C00000"/>
                </a:solidFill>
              </a:rPr>
              <a:t>总线</a:t>
            </a:r>
            <a:r>
              <a:rPr lang="zh-CN" altLang="en-US" sz="2200" dirty="0" smtClean="0">
                <a:solidFill>
                  <a:srgbClr val="000000"/>
                </a:solidFill>
              </a:rPr>
              <a:t>的</a:t>
            </a:r>
            <a:r>
              <a:rPr lang="zh-CN" altLang="en-US" sz="2200" dirty="0">
                <a:solidFill>
                  <a:schemeClr val="tx1"/>
                </a:solidFill>
              </a:rPr>
              <a:t>操作</a:t>
            </a:r>
            <a:r>
              <a:rPr lang="zh-CN" altLang="en-US" sz="2200" dirty="0" smtClean="0">
                <a:solidFill>
                  <a:srgbClr val="000000"/>
                </a:solidFill>
              </a:rPr>
              <a:t>过程，总线仲裁，总线传输与定时，</a:t>
            </a:r>
            <a:r>
              <a:rPr lang="zh-CN" altLang="en-US" sz="2200" dirty="0">
                <a:solidFill>
                  <a:srgbClr val="000000"/>
                </a:solidFill>
              </a:rPr>
              <a:t>总线结构</a:t>
            </a:r>
            <a:endParaRPr lang="en-US" altLang="zh-CN" sz="2200" dirty="0" smtClean="0">
              <a:solidFill>
                <a:srgbClr val="C00000"/>
              </a:solidFill>
            </a:endParaRPr>
          </a:p>
          <a:p>
            <a:pPr marL="2060575" indent="-2060575"/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en-US" altLang="zh-CN" sz="2200" dirty="0" smtClean="0">
                <a:solidFill>
                  <a:srgbClr val="C00000"/>
                </a:solidFill>
              </a:rPr>
              <a:t> </a:t>
            </a:r>
            <a:r>
              <a:rPr lang="zh-CN" altLang="en-US" sz="2200" dirty="0" smtClean="0">
                <a:solidFill>
                  <a:srgbClr val="C00000"/>
                </a:solidFill>
              </a:rPr>
              <a:t>第</a:t>
            </a:r>
            <a:r>
              <a:rPr lang="en-US" altLang="zh-CN" sz="2200" dirty="0" smtClean="0">
                <a:solidFill>
                  <a:srgbClr val="C00000"/>
                </a:solidFill>
              </a:rPr>
              <a:t>7</a:t>
            </a:r>
            <a:r>
              <a:rPr lang="zh-CN" altLang="en-US" sz="2200" dirty="0" smtClean="0">
                <a:solidFill>
                  <a:srgbClr val="C00000"/>
                </a:solidFill>
              </a:rPr>
              <a:t>章</a:t>
            </a:r>
            <a:r>
              <a:rPr lang="en-US" altLang="zh-CN" sz="2200" dirty="0" smtClean="0">
                <a:solidFill>
                  <a:srgbClr val="C00000"/>
                </a:solidFill>
              </a:rPr>
              <a:t>—</a:t>
            </a:r>
            <a:r>
              <a:rPr lang="en-US" altLang="zh-CN" sz="2200" dirty="0">
                <a:solidFill>
                  <a:srgbClr val="C00000"/>
                </a:solidFill>
              </a:rPr>
              <a:t>I/O</a:t>
            </a:r>
            <a:r>
              <a:rPr lang="zh-CN" altLang="en-US" sz="2200" dirty="0" smtClean="0">
                <a:solidFill>
                  <a:srgbClr val="C00000"/>
                </a:solidFill>
              </a:rPr>
              <a:t>系统</a:t>
            </a:r>
            <a:r>
              <a:rPr lang="zh-CN" altLang="en-US" sz="2200" dirty="0" smtClean="0">
                <a:solidFill>
                  <a:schemeClr val="tx1"/>
                </a:solidFill>
              </a:rPr>
              <a:t>的</a:t>
            </a:r>
            <a:r>
              <a:rPr lang="zh-CN" altLang="en-US" sz="2200" dirty="0" smtClean="0">
                <a:solidFill>
                  <a:srgbClr val="000000"/>
                </a:solidFill>
              </a:rPr>
              <a:t>组成</a:t>
            </a:r>
            <a:r>
              <a:rPr lang="zh-CN" altLang="en-US" sz="2200" dirty="0">
                <a:solidFill>
                  <a:srgbClr val="000000"/>
                </a:solidFill>
              </a:rPr>
              <a:t>，</a:t>
            </a:r>
            <a:r>
              <a:rPr lang="zh-CN" altLang="en-US" sz="2200" dirty="0" smtClean="0">
                <a:solidFill>
                  <a:srgbClr val="000000"/>
                </a:solidFill>
              </a:rPr>
              <a:t>外设组成，</a:t>
            </a:r>
            <a:r>
              <a:rPr lang="en-US" altLang="zh-CN" sz="2200" dirty="0">
                <a:solidFill>
                  <a:srgbClr val="000000"/>
                </a:solidFill>
              </a:rPr>
              <a:t>I/O</a:t>
            </a:r>
            <a:r>
              <a:rPr lang="zh-CN" altLang="en-US" sz="2200" dirty="0" smtClean="0">
                <a:solidFill>
                  <a:srgbClr val="000000"/>
                </a:solidFill>
              </a:rPr>
              <a:t>接口原理，</a:t>
            </a:r>
            <a:r>
              <a:rPr lang="en-US" altLang="zh-CN" sz="2200" dirty="0">
                <a:solidFill>
                  <a:srgbClr val="000000"/>
                </a:solidFill>
              </a:rPr>
              <a:t>I/O</a:t>
            </a:r>
            <a:r>
              <a:rPr lang="zh-CN" altLang="en-US" sz="2200" dirty="0">
                <a:solidFill>
                  <a:srgbClr val="000000"/>
                </a:solidFill>
              </a:rPr>
              <a:t>方式的</a:t>
            </a:r>
            <a:r>
              <a:rPr lang="zh-CN" altLang="en-US" sz="2200" dirty="0" smtClean="0">
                <a:solidFill>
                  <a:srgbClr val="000000"/>
                </a:solidFill>
              </a:rPr>
              <a:t>组织</a:t>
            </a:r>
            <a:endParaRPr lang="en-US" altLang="zh-CN" sz="2200" dirty="0">
              <a:solidFill>
                <a:srgbClr val="000000"/>
              </a:solidFill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899592" y="1306273"/>
            <a:ext cx="3960571" cy="1762940"/>
            <a:chOff x="1835125" y="1519530"/>
            <a:chExt cx="3960571" cy="1762940"/>
          </a:xfrm>
        </p:grpSpPr>
        <p:sp>
          <p:nvSpPr>
            <p:cNvPr id="45" name="Text Box 32"/>
            <p:cNvSpPr txBox="1">
              <a:spLocks noChangeArrowheads="1"/>
            </p:cNvSpPr>
            <p:nvPr/>
          </p:nvSpPr>
          <p:spPr bwMode="auto">
            <a:xfrm>
              <a:off x="1835125" y="1519530"/>
              <a:ext cx="3960000" cy="253285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计算机</a:t>
              </a: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软件（</a:t>
              </a:r>
              <a:r>
                <a:rPr lang="zh-CN" altLang="en-US" sz="1600" b="1" u="sng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指令</a:t>
              </a: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序列及</a:t>
              </a:r>
              <a:r>
                <a:rPr lang="zh-CN" altLang="en-US" sz="1600" b="1" u="sng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数据</a:t>
              </a: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）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" name="Text Box 35"/>
            <p:cNvSpPr txBox="1">
              <a:spLocks noChangeArrowheads="1"/>
            </p:cNvSpPr>
            <p:nvPr/>
          </p:nvSpPr>
          <p:spPr bwMode="auto">
            <a:xfrm>
              <a:off x="1978572" y="2022358"/>
              <a:ext cx="793228" cy="252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控制器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" name="Text Box 36"/>
            <p:cNvSpPr txBox="1">
              <a:spLocks noChangeArrowheads="1"/>
            </p:cNvSpPr>
            <p:nvPr/>
          </p:nvSpPr>
          <p:spPr bwMode="auto">
            <a:xfrm>
              <a:off x="2771800" y="2022358"/>
              <a:ext cx="792088" cy="25200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运算器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8" name="Text Box 38"/>
            <p:cNvSpPr txBox="1">
              <a:spLocks noChangeArrowheads="1"/>
            </p:cNvSpPr>
            <p:nvPr/>
          </p:nvSpPr>
          <p:spPr bwMode="auto">
            <a:xfrm>
              <a:off x="4931584" y="2022358"/>
              <a:ext cx="710390" cy="252000"/>
            </a:xfrm>
            <a:prstGeom prst="rect">
              <a:avLst/>
            </a:prstGeom>
            <a:solidFill>
              <a:srgbClr val="99CCFF">
                <a:alpha val="79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主存</a:t>
              </a:r>
              <a:endPara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9" name="Text Box 39"/>
            <p:cNvSpPr txBox="1">
              <a:spLocks noChangeArrowheads="1"/>
            </p:cNvSpPr>
            <p:nvPr/>
          </p:nvSpPr>
          <p:spPr bwMode="auto">
            <a:xfrm>
              <a:off x="4139952" y="2647273"/>
              <a:ext cx="360000" cy="288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000000"/>
                  </a:solidFill>
                </a:rPr>
                <a:t>…</a:t>
              </a:r>
              <a:endParaRPr lang="en-US" altLang="zh-CN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0" name="Text Box 42"/>
            <p:cNvSpPr txBox="1">
              <a:spLocks noChangeArrowheads="1"/>
            </p:cNvSpPr>
            <p:nvPr/>
          </p:nvSpPr>
          <p:spPr bwMode="auto">
            <a:xfrm>
              <a:off x="3779912" y="2126586"/>
              <a:ext cx="936000" cy="288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solidFill>
                    <a:srgbClr val="000000"/>
                  </a:solidFill>
                </a:rPr>
                <a:t>系统总线</a:t>
              </a:r>
              <a:endParaRPr lang="zh-CN" altLang="en-US" sz="1600" b="1" dirty="0">
                <a:solidFill>
                  <a:srgbClr val="000000"/>
                </a:solidFill>
              </a:endParaRPr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1835125" y="1950470"/>
              <a:ext cx="3960000" cy="133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52" name="Text Box 49"/>
            <p:cNvSpPr txBox="1">
              <a:spLocks noChangeArrowheads="1"/>
            </p:cNvSpPr>
            <p:nvPr/>
          </p:nvSpPr>
          <p:spPr bwMode="auto">
            <a:xfrm>
              <a:off x="1979792" y="2958462"/>
              <a:ext cx="720000" cy="252000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键盘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3" name="Text Box 50"/>
            <p:cNvSpPr txBox="1">
              <a:spLocks noChangeArrowheads="1"/>
            </p:cNvSpPr>
            <p:nvPr/>
          </p:nvSpPr>
          <p:spPr bwMode="auto">
            <a:xfrm>
              <a:off x="1907800" y="2562390"/>
              <a:ext cx="86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USB</a:t>
              </a: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接口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4" name="直接连接符 53"/>
            <p:cNvCxnSpPr/>
            <p:nvPr/>
          </p:nvCxnSpPr>
          <p:spPr bwMode="auto">
            <a:xfrm>
              <a:off x="2339752" y="2816904"/>
              <a:ext cx="0" cy="144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直接连接符 54"/>
            <p:cNvCxnSpPr/>
            <p:nvPr/>
          </p:nvCxnSpPr>
          <p:spPr bwMode="auto">
            <a:xfrm>
              <a:off x="1906737" y="2416612"/>
              <a:ext cx="3816000" cy="0"/>
            </a:xfrm>
            <a:prstGeom prst="line">
              <a:avLst/>
            </a:prstGeom>
            <a:noFill/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/>
          </p:nvCxnSpPr>
          <p:spPr bwMode="auto">
            <a:xfrm rot="5400000">
              <a:off x="2268314" y="2483775"/>
              <a:ext cx="143670" cy="794"/>
            </a:xfrm>
            <a:prstGeom prst="line">
              <a:avLst/>
            </a:prstGeom>
            <a:noFill/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连接符 56"/>
            <p:cNvCxnSpPr/>
            <p:nvPr/>
          </p:nvCxnSpPr>
          <p:spPr bwMode="auto">
            <a:xfrm rot="5400000">
              <a:off x="2699568" y="2340900"/>
              <a:ext cx="143670" cy="794"/>
            </a:xfrm>
            <a:prstGeom prst="line">
              <a:avLst/>
            </a:prstGeom>
            <a:noFill/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 bwMode="auto">
            <a:xfrm rot="5400000">
              <a:off x="5219392" y="2340900"/>
              <a:ext cx="143670" cy="794"/>
            </a:xfrm>
            <a:prstGeom prst="line">
              <a:avLst/>
            </a:prstGeom>
            <a:noFill/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 bwMode="auto">
            <a:xfrm>
              <a:off x="1835696" y="1840834"/>
              <a:ext cx="3960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0" name="Text Box 49"/>
            <p:cNvSpPr txBox="1">
              <a:spLocks noChangeArrowheads="1"/>
            </p:cNvSpPr>
            <p:nvPr/>
          </p:nvSpPr>
          <p:spPr bwMode="auto">
            <a:xfrm>
              <a:off x="2987936" y="2958462"/>
              <a:ext cx="1008000" cy="252000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显示器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" name="Text Box 50"/>
            <p:cNvSpPr txBox="1">
              <a:spLocks noChangeArrowheads="1"/>
            </p:cNvSpPr>
            <p:nvPr/>
          </p:nvSpPr>
          <p:spPr bwMode="auto">
            <a:xfrm>
              <a:off x="2915815" y="2562390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显示适配器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2" name="直接连接符 61"/>
            <p:cNvCxnSpPr/>
            <p:nvPr/>
          </p:nvCxnSpPr>
          <p:spPr bwMode="auto">
            <a:xfrm>
              <a:off x="3491759" y="2814406"/>
              <a:ext cx="121" cy="144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/>
            <p:nvPr/>
          </p:nvCxnSpPr>
          <p:spPr bwMode="auto">
            <a:xfrm rot="5400000">
              <a:off x="3359092" y="2483775"/>
              <a:ext cx="143670" cy="794"/>
            </a:xfrm>
            <a:prstGeom prst="line">
              <a:avLst/>
            </a:prstGeom>
            <a:noFill/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" name="Text Box 49"/>
            <p:cNvSpPr txBox="1">
              <a:spLocks noChangeArrowheads="1"/>
            </p:cNvSpPr>
            <p:nvPr/>
          </p:nvSpPr>
          <p:spPr bwMode="auto">
            <a:xfrm>
              <a:off x="4572000" y="2958462"/>
              <a:ext cx="1152000" cy="252000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硬盘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5" name="Text Box 50"/>
            <p:cNvSpPr txBox="1">
              <a:spLocks noChangeArrowheads="1"/>
            </p:cNvSpPr>
            <p:nvPr/>
          </p:nvSpPr>
          <p:spPr bwMode="auto">
            <a:xfrm>
              <a:off x="4572000" y="2564904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磁盘控制器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6" name="直接连接符 65"/>
            <p:cNvCxnSpPr/>
            <p:nvPr/>
          </p:nvCxnSpPr>
          <p:spPr bwMode="auto">
            <a:xfrm>
              <a:off x="5130792" y="2816904"/>
              <a:ext cx="0" cy="144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/>
            <p:nvPr/>
          </p:nvCxnSpPr>
          <p:spPr bwMode="auto">
            <a:xfrm rot="5400000">
              <a:off x="5076170" y="2483775"/>
              <a:ext cx="143670" cy="794"/>
            </a:xfrm>
            <a:prstGeom prst="line">
              <a:avLst/>
            </a:prstGeom>
            <a:noFill/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8" name="组合 67"/>
          <p:cNvGrpSpPr/>
          <p:nvPr/>
        </p:nvGrpSpPr>
        <p:grpSpPr>
          <a:xfrm>
            <a:off x="5995312" y="1282486"/>
            <a:ext cx="2897168" cy="1662719"/>
            <a:chOff x="4915192" y="3566481"/>
            <a:chExt cx="2897168" cy="1662719"/>
          </a:xfrm>
        </p:grpSpPr>
        <p:sp>
          <p:nvSpPr>
            <p:cNvPr id="69" name="Text Box 36"/>
            <p:cNvSpPr txBox="1">
              <a:spLocks noChangeArrowheads="1"/>
            </p:cNvSpPr>
            <p:nvPr/>
          </p:nvSpPr>
          <p:spPr bwMode="auto">
            <a:xfrm>
              <a:off x="5645659" y="3797724"/>
              <a:ext cx="942565" cy="133176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1001</a:t>
              </a:r>
              <a:r>
                <a:rPr lang="en-US" altLang="zh-CN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00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01000100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0101</a:t>
              </a:r>
              <a:r>
                <a:rPr lang="en-US" altLang="zh-CN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10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00110011</a:t>
              </a:r>
              <a:endParaRPr lang="en-US" altLang="zh-CN" sz="1600" b="1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70" name="直接连接符 69"/>
            <p:cNvCxnSpPr/>
            <p:nvPr/>
          </p:nvCxnSpPr>
          <p:spPr bwMode="auto">
            <a:xfrm>
              <a:off x="5645659" y="4012594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/>
          </p:nvCxnSpPr>
          <p:spPr bwMode="auto">
            <a:xfrm>
              <a:off x="5645659" y="3789040"/>
              <a:ext cx="0" cy="144016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/>
            <p:cNvCxnSpPr/>
            <p:nvPr/>
          </p:nvCxnSpPr>
          <p:spPr bwMode="auto">
            <a:xfrm>
              <a:off x="6588224" y="3789040"/>
              <a:ext cx="0" cy="144016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/>
          </p:nvCxnSpPr>
          <p:spPr bwMode="auto">
            <a:xfrm>
              <a:off x="5645659" y="3797724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/>
          </p:nvCxnSpPr>
          <p:spPr bwMode="auto">
            <a:xfrm>
              <a:off x="5645659" y="4462180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 Box 36"/>
            <p:cNvSpPr txBox="1">
              <a:spLocks noChangeArrowheads="1"/>
            </p:cNvSpPr>
            <p:nvPr/>
          </p:nvSpPr>
          <p:spPr bwMode="auto">
            <a:xfrm>
              <a:off x="4921652" y="3797724"/>
              <a:ext cx="730468" cy="132780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</a:rPr>
                <a:t>0…000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0</a:t>
              </a:r>
              <a:r>
                <a:rPr lang="en-US" altLang="zh-CN" sz="1600" b="1" dirty="0" smtClean="0">
                  <a:latin typeface="+mn-ea"/>
                </a:rPr>
                <a:t>…</a:t>
              </a:r>
              <a:r>
                <a:rPr lang="en-US" altLang="zh-CN" sz="1600" b="1" dirty="0" smtClean="0">
                  <a:latin typeface="+mn-ea"/>
                  <a:ea typeface="+mn-ea"/>
                </a:rPr>
                <a:t>001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0…010</a:t>
              </a:r>
              <a:endParaRPr lang="en-US" altLang="zh-CN" sz="1600" b="1" u="none" dirty="0" smtClean="0"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</a:rPr>
                <a:t>…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   </a:t>
              </a:r>
              <a:endParaRPr lang="en-US" altLang="zh-CN" sz="1600" b="1" u="none" dirty="0" smtClean="0"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</a:rPr>
                <a:t>0…044</a:t>
              </a:r>
              <a:endParaRPr lang="en-US" altLang="zh-CN" sz="1600" b="1" dirty="0">
                <a:latin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</a:rPr>
                <a:t>…</a:t>
              </a:r>
              <a:endParaRPr lang="en-US" altLang="zh-CN" sz="1600" b="1" dirty="0" smtClean="0">
                <a:latin typeface="+mn-ea"/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+mn-ea"/>
              </a:endParaRPr>
            </a:p>
          </p:txBody>
        </p:sp>
        <p:cxnSp>
          <p:nvCxnSpPr>
            <p:cNvPr id="76" name="直接连接符 75"/>
            <p:cNvCxnSpPr/>
            <p:nvPr/>
          </p:nvCxnSpPr>
          <p:spPr bwMode="auto">
            <a:xfrm>
              <a:off x="5645659" y="4242058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 bwMode="auto">
            <a:xfrm>
              <a:off x="5645659" y="4686825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/>
          </p:nvCxnSpPr>
          <p:spPr bwMode="auto">
            <a:xfrm>
              <a:off x="5645659" y="5129484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/>
          </p:nvCxnSpPr>
          <p:spPr bwMode="auto">
            <a:xfrm>
              <a:off x="5645659" y="4909362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0" name="Text Box 36"/>
            <p:cNvSpPr txBox="1">
              <a:spLocks noChangeArrowheads="1"/>
            </p:cNvSpPr>
            <p:nvPr/>
          </p:nvSpPr>
          <p:spPr bwMode="auto">
            <a:xfrm>
              <a:off x="4915192" y="3566481"/>
              <a:ext cx="2897168" cy="22255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</a:rPr>
                <a:t> 地址</a:t>
              </a:r>
              <a:r>
                <a:rPr lang="zh-CN" altLang="en-US" sz="1400" b="1" dirty="0" smtClean="0">
                  <a:latin typeface="+mn-ea"/>
                </a:rPr>
                <a:t>   </a:t>
              </a:r>
              <a:r>
                <a:rPr lang="zh-CN" altLang="en-US" sz="1600" b="1" dirty="0" smtClean="0">
                  <a:latin typeface="+mn-ea"/>
                </a:rPr>
                <a:t>程序内容</a:t>
              </a:r>
              <a:r>
                <a:rPr lang="zh-CN" altLang="en-US" sz="1400" b="1" dirty="0" smtClean="0">
                  <a:latin typeface="+mn-ea"/>
                </a:rPr>
                <a:t>   </a:t>
              </a:r>
              <a:r>
                <a:rPr lang="zh-CN" altLang="en-US" sz="1600" b="1" dirty="0" smtClean="0">
                  <a:latin typeface="+mn-ea"/>
                </a:rPr>
                <a:t>约定功能</a:t>
              </a:r>
              <a:endParaRPr lang="en-US" altLang="zh-CN" sz="1800" b="1" dirty="0" smtClean="0">
                <a:latin typeface="+mn-ea"/>
              </a:endParaRPr>
            </a:p>
          </p:txBody>
        </p:sp>
        <p:sp>
          <p:nvSpPr>
            <p:cNvPr id="81" name="Text Box 36"/>
            <p:cNvSpPr txBox="1">
              <a:spLocks noChangeArrowheads="1"/>
            </p:cNvSpPr>
            <p:nvPr/>
          </p:nvSpPr>
          <p:spPr bwMode="auto">
            <a:xfrm>
              <a:off x="6660232" y="3789040"/>
              <a:ext cx="1152128" cy="132780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R1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M[44H]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 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</a:rPr>
                <a:t>R1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(R1)+2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   </a:t>
              </a:r>
              <a:endParaRPr lang="en-US" altLang="zh-CN" sz="1600" b="1" u="none" dirty="0" smtClean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endParaRPr lang="en-US" altLang="zh-CN" sz="1600" b="1" dirty="0" smtClean="0">
                <a:latin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</a:rPr>
                <a:t>x=33H</a:t>
              </a:r>
              <a:endParaRPr lang="en-US" altLang="zh-CN" sz="1600" b="1" dirty="0" smtClean="0">
                <a:latin typeface="+mn-ea"/>
              </a:endParaRPr>
            </a:p>
            <a:p>
              <a:pPr>
                <a:lnSpc>
                  <a:spcPct val="90000"/>
                </a:lnSpc>
              </a:pPr>
              <a:endParaRPr lang="en-US" altLang="zh-CN" sz="1600" b="1" dirty="0">
                <a:latin typeface="+mn-ea"/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2483883" y="1543145"/>
            <a:ext cx="1655044" cy="393948"/>
            <a:chOff x="2627784" y="1614900"/>
            <a:chExt cx="1655044" cy="393948"/>
          </a:xfrm>
        </p:grpSpPr>
        <p:cxnSp>
          <p:nvCxnSpPr>
            <p:cNvPr id="85" name="直接箭头连接符 84"/>
            <p:cNvCxnSpPr>
              <a:endCxn id="86" idx="0"/>
            </p:cNvCxnSpPr>
            <p:nvPr/>
          </p:nvCxnSpPr>
          <p:spPr bwMode="auto">
            <a:xfrm>
              <a:off x="4015240" y="1614900"/>
              <a:ext cx="196150" cy="32194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86" name="椭圆 85"/>
            <p:cNvSpPr/>
            <p:nvPr/>
          </p:nvSpPr>
          <p:spPr bwMode="auto">
            <a:xfrm>
              <a:off x="4139952" y="1936840"/>
              <a:ext cx="142876" cy="71438"/>
            </a:xfrm>
            <a:prstGeom prst="ellipse">
              <a:avLst/>
            </a:prstGeom>
            <a:solidFill>
              <a:srgbClr val="0070C0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smtClean="0">
                <a:solidFill>
                  <a:srgbClr val="000000"/>
                </a:solidFill>
              </a:endParaRPr>
            </a:p>
          </p:txBody>
        </p:sp>
        <p:cxnSp>
          <p:nvCxnSpPr>
            <p:cNvPr id="88" name="直接箭头连接符 87"/>
            <p:cNvCxnSpPr>
              <a:endCxn id="89" idx="6"/>
            </p:cNvCxnSpPr>
            <p:nvPr/>
          </p:nvCxnSpPr>
          <p:spPr bwMode="auto">
            <a:xfrm flipH="1" flipV="1">
              <a:off x="2770660" y="1973129"/>
              <a:ext cx="1368000" cy="195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89" name="椭圆 88"/>
            <p:cNvSpPr/>
            <p:nvPr/>
          </p:nvSpPr>
          <p:spPr bwMode="auto">
            <a:xfrm>
              <a:off x="2627784" y="1937410"/>
              <a:ext cx="142876" cy="71438"/>
            </a:xfrm>
            <a:prstGeom prst="ellipse">
              <a:avLst/>
            </a:prstGeom>
            <a:solidFill>
              <a:srgbClr val="0070C0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94" name="AutoShape 338"/>
          <p:cNvSpPr/>
          <p:nvPr/>
        </p:nvSpPr>
        <p:spPr bwMode="auto">
          <a:xfrm>
            <a:off x="5076056" y="2853189"/>
            <a:ext cx="1368000" cy="252000"/>
          </a:xfrm>
          <a:prstGeom prst="borderCallout2">
            <a:avLst>
              <a:gd name="adj1" fmla="val 51438"/>
              <a:gd name="adj2" fmla="val -167"/>
              <a:gd name="adj3" fmla="val 52179"/>
              <a:gd name="adj4" fmla="val -7104"/>
              <a:gd name="adj5" fmla="val -358954"/>
              <a:gd name="adj6" fmla="val -35238"/>
            </a:avLst>
          </a:prstGeom>
          <a:solidFill>
            <a:srgbClr val="CCFFFF"/>
          </a:solidFill>
          <a:ln w="15875">
            <a:solidFill>
              <a:srgbClr val="CC3300"/>
            </a:solidFill>
            <a:prstDash val="sysDash"/>
            <a:miter lim="800000"/>
            <a:tailEnd type="triangle" w="med" len="med"/>
          </a:ln>
          <a:effectLst/>
        </p:spPr>
        <p:txBody>
          <a:bodyPr lIns="54000" tIns="10800" rIns="54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600" b="1" dirty="0" smtClean="0">
                <a:solidFill>
                  <a:srgbClr val="000000"/>
                </a:solidFill>
              </a:rPr>
              <a:t>性能如何优化</a:t>
            </a:r>
            <a:endParaRPr lang="zh-CN" altLang="en-US" sz="1600" b="1" i="1" baseline="-18000" dirty="0">
              <a:solidFill>
                <a:srgbClr val="000000"/>
              </a:solidFill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2987939" y="1543145"/>
            <a:ext cx="1152128" cy="517956"/>
            <a:chOff x="3203848" y="1542322"/>
            <a:chExt cx="1152128" cy="517956"/>
          </a:xfrm>
        </p:grpSpPr>
        <p:cxnSp>
          <p:nvCxnSpPr>
            <p:cNvPr id="100" name="直接箭头连接符 99"/>
            <p:cNvCxnSpPr>
              <a:endCxn id="101" idx="1"/>
            </p:cNvCxnSpPr>
            <p:nvPr/>
          </p:nvCxnSpPr>
          <p:spPr bwMode="auto">
            <a:xfrm>
              <a:off x="3203848" y="1542322"/>
              <a:ext cx="1030176" cy="45698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01" name="椭圆 100"/>
            <p:cNvSpPr/>
            <p:nvPr/>
          </p:nvSpPr>
          <p:spPr bwMode="auto">
            <a:xfrm>
              <a:off x="4213100" y="1988840"/>
              <a:ext cx="142876" cy="71438"/>
            </a:xfrm>
            <a:prstGeom prst="ellipse">
              <a:avLst/>
            </a:prstGeom>
            <a:solidFill>
              <a:srgbClr val="FFCCFF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1764943" y="1943977"/>
            <a:ext cx="2230876" cy="76492"/>
            <a:chOff x="3359264" y="4529069"/>
            <a:chExt cx="2230876" cy="76492"/>
          </a:xfrm>
        </p:grpSpPr>
        <p:cxnSp>
          <p:nvCxnSpPr>
            <p:cNvPr id="103" name="直接箭头连接符 102"/>
            <p:cNvCxnSpPr>
              <a:endCxn id="104" idx="6"/>
            </p:cNvCxnSpPr>
            <p:nvPr/>
          </p:nvCxnSpPr>
          <p:spPr bwMode="auto">
            <a:xfrm flipH="1" flipV="1">
              <a:off x="3502140" y="4564788"/>
              <a:ext cx="2088000" cy="4077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04" name="椭圆 103"/>
            <p:cNvSpPr/>
            <p:nvPr/>
          </p:nvSpPr>
          <p:spPr bwMode="auto">
            <a:xfrm>
              <a:off x="3359264" y="4529069"/>
              <a:ext cx="142876" cy="71438"/>
            </a:xfrm>
            <a:prstGeom prst="ellipse">
              <a:avLst/>
            </a:prstGeom>
            <a:solidFill>
              <a:srgbClr val="FFCCFF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1834223" y="2061101"/>
            <a:ext cx="2378646" cy="287686"/>
            <a:chOff x="1978918" y="2132856"/>
            <a:chExt cx="2378646" cy="287686"/>
          </a:xfrm>
        </p:grpSpPr>
        <p:cxnSp>
          <p:nvCxnSpPr>
            <p:cNvPr id="116" name="直接连接符 115"/>
            <p:cNvCxnSpPr/>
            <p:nvPr/>
          </p:nvCxnSpPr>
          <p:spPr bwMode="auto">
            <a:xfrm>
              <a:off x="1978918" y="2276872"/>
              <a:ext cx="2376000" cy="0"/>
            </a:xfrm>
            <a:prstGeom prst="line">
              <a:avLst/>
            </a:prstGeom>
            <a:noFill/>
            <a:ln w="317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7" name="直接连接符 116"/>
            <p:cNvCxnSpPr/>
            <p:nvPr/>
          </p:nvCxnSpPr>
          <p:spPr bwMode="auto">
            <a:xfrm rot="5400000">
              <a:off x="1908274" y="2204294"/>
              <a:ext cx="143670" cy="794"/>
            </a:xfrm>
            <a:prstGeom prst="line">
              <a:avLst/>
            </a:prstGeom>
            <a:noFill/>
            <a:ln w="317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接连接符 117"/>
            <p:cNvCxnSpPr/>
            <p:nvPr/>
          </p:nvCxnSpPr>
          <p:spPr bwMode="auto">
            <a:xfrm rot="5400000">
              <a:off x="4285332" y="2348310"/>
              <a:ext cx="143670" cy="794"/>
            </a:xfrm>
            <a:prstGeom prst="line">
              <a:avLst/>
            </a:prstGeom>
            <a:noFill/>
            <a:ln w="317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7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05"/>
          <p:cNvSpPr txBox="1">
            <a:spLocks noChangeArrowheads="1"/>
          </p:cNvSpPr>
          <p:nvPr/>
        </p:nvSpPr>
        <p:spPr bwMode="auto">
          <a:xfrm>
            <a:off x="179388" y="332909"/>
            <a:ext cx="8857108" cy="6054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附</a:t>
            </a: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2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：数字逻辑电路基础</a:t>
            </a:r>
            <a:endParaRPr lang="en-US" altLang="zh-CN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⑴数字逻辑基础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+mn-ea"/>
                <a:ea typeface="+mn-ea"/>
              </a:rPr>
              <a:t>    </a:t>
            </a:r>
            <a:r>
              <a:rPr lang="zh-CN" altLang="en-US" sz="2200" b="1" u="sng" dirty="0" smtClean="0">
                <a:latin typeface="+mn-ea"/>
                <a:ea typeface="+mn-ea"/>
              </a:rPr>
              <a:t>逻辑代数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基本运算、基本定理</a:t>
            </a:r>
            <a:r>
              <a:rPr lang="en-US" altLang="zh-CN" sz="1600" b="1" dirty="0" smtClean="0">
                <a:latin typeface="+mn-ea"/>
                <a:ea typeface="+mn-ea"/>
              </a:rPr>
              <a:t>[10</a:t>
            </a:r>
            <a:r>
              <a:rPr lang="zh-CN" altLang="en-US" sz="1600" b="1" dirty="0" smtClean="0">
                <a:latin typeface="+mn-ea"/>
                <a:ea typeface="+mn-ea"/>
              </a:rPr>
              <a:t>个</a:t>
            </a:r>
            <a:r>
              <a:rPr lang="en-US" altLang="zh-CN" sz="1600" b="1" dirty="0" smtClean="0">
                <a:latin typeface="+mn-ea"/>
                <a:ea typeface="+mn-ea"/>
              </a:rPr>
              <a:t>]</a:t>
            </a:r>
            <a:r>
              <a:rPr lang="zh-CN" altLang="en-US" sz="1600" b="1" dirty="0" smtClean="0">
                <a:latin typeface="+mn-ea"/>
                <a:ea typeface="+mn-ea"/>
              </a:rPr>
              <a:t>、基本运算规则</a:t>
            </a:r>
            <a:r>
              <a:rPr lang="en-US" altLang="zh-CN" sz="1600" b="1" dirty="0" smtClean="0">
                <a:latin typeface="+mn-ea"/>
                <a:ea typeface="+mn-ea"/>
              </a:rPr>
              <a:t>[</a:t>
            </a:r>
            <a:r>
              <a:rPr lang="zh-CN" altLang="en-US" sz="1600" b="1" dirty="0" smtClean="0">
                <a:latin typeface="+mn-ea"/>
                <a:ea typeface="+mn-ea"/>
              </a:rPr>
              <a:t>代入</a:t>
            </a:r>
            <a:r>
              <a:rPr lang="en-US" altLang="zh-CN" sz="1600" b="1" dirty="0" smtClean="0">
                <a:latin typeface="+mn-ea"/>
                <a:ea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</a:rPr>
              <a:t>反演</a:t>
            </a:r>
            <a:r>
              <a:rPr lang="en-US" altLang="zh-CN" sz="1600" b="1" dirty="0" smtClean="0">
                <a:latin typeface="+mn-ea"/>
                <a:ea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</a:rPr>
              <a:t>对偶</a:t>
            </a:r>
            <a:r>
              <a:rPr lang="en-US" altLang="zh-CN" sz="1600" b="1" dirty="0" smtClean="0">
                <a:latin typeface="+mn-ea"/>
                <a:ea typeface="+mn-ea"/>
              </a:rPr>
              <a:t>])</a:t>
            </a:r>
            <a:r>
              <a:rPr lang="zh-CN" altLang="en-US" sz="2200" b="1" dirty="0" smtClean="0">
                <a:latin typeface="+mn-ea"/>
                <a:ea typeface="+mn-ea"/>
              </a:rPr>
              <a:t>，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+mn-ea"/>
                <a:ea typeface="+mn-ea"/>
              </a:rPr>
              <a:t>    </a:t>
            </a:r>
            <a:r>
              <a:rPr lang="zh-CN" altLang="en-US" sz="2200" b="1" u="sng" dirty="0" smtClean="0">
                <a:latin typeface="+mn-ea"/>
                <a:ea typeface="+mn-ea"/>
              </a:rPr>
              <a:t>逻辑关系表示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真值表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</a:rPr>
              <a:t>函数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，</a:t>
            </a:r>
            <a:r>
              <a:rPr lang="zh-CN" altLang="en-US" sz="2200" b="1" u="sng" dirty="0" smtClean="0">
                <a:latin typeface="+mn-ea"/>
                <a:ea typeface="+mn-ea"/>
              </a:rPr>
              <a:t>逻辑函数化简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代数法</a:t>
            </a:r>
            <a:r>
              <a:rPr lang="en-US" altLang="zh-CN" sz="1600" b="1" dirty="0" smtClean="0">
                <a:latin typeface="+mn-ea"/>
                <a:ea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</a:rPr>
              <a:t>卡诺图法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⑵组合逻辑电路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+mn-ea"/>
                <a:ea typeface="+mn-ea"/>
              </a:rPr>
              <a:t>    </a:t>
            </a:r>
            <a:r>
              <a:rPr lang="zh-CN" altLang="en-US" sz="2200" b="1" u="sng" dirty="0" smtClean="0">
                <a:latin typeface="+mn-ea"/>
                <a:ea typeface="+mn-ea"/>
              </a:rPr>
              <a:t>逻辑门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与门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或门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</a:rPr>
              <a:t>非门</a:t>
            </a:r>
            <a:r>
              <a:rPr lang="en-US" altLang="zh-CN" sz="1600" b="1" dirty="0" smtClean="0">
                <a:latin typeface="+mn-ea"/>
                <a:ea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</a:rPr>
              <a:t>缓冲器</a:t>
            </a:r>
            <a:r>
              <a:rPr lang="en-US" altLang="zh-CN" sz="1600" b="1" dirty="0" smtClean="0">
                <a:latin typeface="+mn-ea"/>
                <a:ea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</a:rPr>
              <a:t>三态门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，    </a:t>
            </a:r>
            <a:r>
              <a:rPr lang="en-US" altLang="zh-CN" sz="2200" b="1" dirty="0" smtClean="0"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latin typeface="+mn-ea"/>
                <a:ea typeface="+mn-ea"/>
              </a:rPr>
              <a:t>  </a:t>
            </a:r>
            <a:r>
              <a:rPr lang="zh-CN" altLang="en-US" sz="1600" b="1" dirty="0" smtClean="0">
                <a:latin typeface="+mn-ea"/>
                <a:ea typeface="+mn-ea"/>
              </a:rPr>
              <a:t>←基本元件之</a:t>
            </a:r>
            <a:r>
              <a:rPr lang="en-US" altLang="zh-CN" sz="1600" b="1" dirty="0" smtClean="0">
                <a:latin typeface="+mn-ea"/>
                <a:ea typeface="+mn-ea"/>
              </a:rPr>
              <a:t>1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latin typeface="+mn-ea"/>
                <a:ea typeface="+mn-ea"/>
              </a:rPr>
              <a:t>   </a:t>
            </a:r>
            <a:r>
              <a:rPr lang="zh-CN" altLang="en-US" sz="2200" b="1" u="sng" dirty="0" smtClean="0">
                <a:latin typeface="+mn-ea"/>
                <a:ea typeface="+mn-ea"/>
              </a:rPr>
              <a:t>电路结构</a:t>
            </a:r>
            <a:r>
              <a:rPr lang="en-US" altLang="zh-CN" sz="1600" b="1" spc="-80" dirty="0" smtClean="0">
                <a:latin typeface="+mn-ea"/>
                <a:ea typeface="+mn-ea"/>
              </a:rPr>
              <a:t>(</a:t>
            </a:r>
            <a:r>
              <a:rPr lang="zh-CN" altLang="en-US" sz="1600" b="1" spc="-80" dirty="0">
                <a:latin typeface="+mn-ea"/>
                <a:ea typeface="+mn-ea"/>
              </a:rPr>
              <a:t>操作</a:t>
            </a:r>
            <a:r>
              <a:rPr lang="zh-CN" altLang="en-US" sz="1600" b="1" spc="-80" dirty="0" smtClean="0">
                <a:latin typeface="+mn-ea"/>
                <a:ea typeface="+mn-ea"/>
              </a:rPr>
              <a:t>元件</a:t>
            </a:r>
            <a:r>
              <a:rPr lang="en-US" altLang="zh-CN" sz="1600" b="1" spc="-80" dirty="0" smtClean="0">
                <a:latin typeface="+mn-ea"/>
                <a:ea typeface="+mn-ea"/>
              </a:rPr>
              <a:t>+</a:t>
            </a:r>
            <a:r>
              <a:rPr lang="zh-CN" altLang="en-US" sz="1600" b="1" spc="-80" dirty="0" smtClean="0">
                <a:latin typeface="+mn-ea"/>
                <a:ea typeface="+mn-ea"/>
              </a:rPr>
              <a:t>连线</a:t>
            </a:r>
            <a:r>
              <a:rPr lang="en-US" altLang="zh-CN" sz="1600" b="1" spc="-80" dirty="0" smtClean="0">
                <a:latin typeface="+mn-ea"/>
                <a:ea typeface="+mn-ea"/>
              </a:rPr>
              <a:t>[</a:t>
            </a:r>
            <a:r>
              <a:rPr lang="zh-CN" altLang="en-US" sz="1600" b="1" spc="-80" dirty="0" smtClean="0">
                <a:latin typeface="+mn-ea"/>
                <a:ea typeface="+mn-ea"/>
                <a:sym typeface="+mn-ea"/>
              </a:rPr>
              <a:t>输出</a:t>
            </a:r>
            <a:r>
              <a:rPr lang="zh-CN" altLang="en-US" sz="1600" b="1" spc="-80" dirty="0" smtClean="0">
                <a:latin typeface="+mn-ea"/>
                <a:ea typeface="+mn-ea"/>
              </a:rPr>
              <a:t>无合并</a:t>
            </a:r>
            <a:r>
              <a:rPr lang="en-US" altLang="zh-CN" sz="1600" b="1" spc="-80" dirty="0" smtClean="0">
                <a:latin typeface="+mn-ea"/>
                <a:ea typeface="+mn-ea"/>
              </a:rPr>
              <a:t>/</a:t>
            </a:r>
            <a:r>
              <a:rPr lang="zh-CN" altLang="en-US" sz="1600" b="1" spc="-80" dirty="0" smtClean="0">
                <a:latin typeface="+mn-ea"/>
                <a:ea typeface="+mn-ea"/>
              </a:rPr>
              <a:t>无回路</a:t>
            </a:r>
            <a:r>
              <a:rPr lang="en-US" altLang="zh-CN" sz="1600" b="1" spc="-80" dirty="0" smtClean="0">
                <a:latin typeface="+mn-ea"/>
                <a:ea typeface="+mn-ea"/>
              </a:rPr>
              <a:t>])</a:t>
            </a:r>
            <a:r>
              <a:rPr lang="zh-CN" altLang="en-US" sz="2200" b="1" dirty="0" smtClean="0">
                <a:latin typeface="+mn-ea"/>
                <a:ea typeface="+mn-ea"/>
              </a:rPr>
              <a:t>，</a:t>
            </a:r>
            <a:r>
              <a:rPr lang="zh-CN" altLang="en-US" sz="2200" b="1" u="sng" dirty="0" smtClean="0">
                <a:latin typeface="+mn-ea"/>
                <a:ea typeface="+mn-ea"/>
              </a:rPr>
              <a:t>典型器件</a:t>
            </a:r>
            <a:r>
              <a:rPr lang="en-US" altLang="zh-CN" sz="1600" b="1" spc="-80" dirty="0">
                <a:latin typeface="+mn-ea"/>
                <a:ea typeface="+mn-ea"/>
              </a:rPr>
              <a:t>(</a:t>
            </a:r>
            <a:r>
              <a:rPr lang="zh-CN" altLang="en-US" sz="1600" b="1" spc="-80" dirty="0">
                <a:latin typeface="+mn-ea"/>
                <a:ea typeface="+mn-ea"/>
              </a:rPr>
              <a:t>译码器</a:t>
            </a:r>
            <a:r>
              <a:rPr lang="en-US" altLang="zh-CN" sz="1600" b="1" spc="-80" dirty="0">
                <a:latin typeface="+mn-ea"/>
                <a:ea typeface="+mn-ea"/>
              </a:rPr>
              <a:t>/</a:t>
            </a:r>
            <a:r>
              <a:rPr lang="zh-CN" altLang="en-US" sz="1600" b="1" spc="-80" dirty="0">
                <a:latin typeface="+mn-ea"/>
                <a:ea typeface="+mn-ea"/>
              </a:rPr>
              <a:t>选择器</a:t>
            </a:r>
            <a:r>
              <a:rPr lang="en-US" altLang="zh-CN" sz="1600" b="1" spc="-80" dirty="0">
                <a:latin typeface="+mn-ea"/>
                <a:ea typeface="+mn-ea"/>
              </a:rPr>
              <a:t>/</a:t>
            </a:r>
            <a:r>
              <a:rPr lang="zh-CN" altLang="en-US" sz="1600" b="1" spc="-80" dirty="0">
                <a:latin typeface="+mn-ea"/>
                <a:ea typeface="+mn-ea"/>
              </a:rPr>
              <a:t>加法器</a:t>
            </a:r>
            <a:r>
              <a:rPr lang="en-US" altLang="zh-CN" sz="1600" b="1" spc="-80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，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+mn-ea"/>
                <a:ea typeface="+mn-ea"/>
              </a:rPr>
              <a:t>    </a:t>
            </a:r>
            <a:r>
              <a:rPr lang="zh-CN" altLang="en-US" sz="2200" b="1" u="sng" dirty="0" smtClean="0">
                <a:latin typeface="+mn-ea"/>
                <a:ea typeface="+mn-ea"/>
              </a:rPr>
              <a:t>设计步骤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功能分析→真值表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→</a:t>
            </a:r>
            <a:r>
              <a:rPr lang="zh-CN" altLang="en-US" sz="1600" b="1" dirty="0" smtClean="0">
                <a:latin typeface="+mn-ea"/>
                <a:ea typeface="+mn-ea"/>
              </a:rPr>
              <a:t>逻辑函数</a:t>
            </a:r>
            <a:r>
              <a:rPr lang="en-US" altLang="zh-CN" sz="1600" b="1" dirty="0" smtClean="0">
                <a:latin typeface="+mn-ea"/>
                <a:ea typeface="+mn-ea"/>
              </a:rPr>
              <a:t>&amp;</a:t>
            </a:r>
            <a:r>
              <a:rPr lang="zh-CN" altLang="en-US" sz="1600" b="1" dirty="0" smtClean="0">
                <a:latin typeface="+mn-ea"/>
                <a:ea typeface="+mn-ea"/>
              </a:rPr>
              <a:t>化简→电路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latin typeface="+mn-ea"/>
                <a:ea typeface="+mn-ea"/>
              </a:rPr>
              <a:t> 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⑶时序逻辑电路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+mn-ea"/>
                <a:ea typeface="+mn-ea"/>
              </a:rPr>
              <a:t>    </a:t>
            </a:r>
            <a:r>
              <a:rPr lang="zh-CN" altLang="en-US" sz="2200" b="1" u="sng" dirty="0" smtClean="0">
                <a:latin typeface="+mn-ea"/>
                <a:ea typeface="+mn-ea"/>
              </a:rPr>
              <a:t>锁存器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RS/D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、电平触发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及</a:t>
            </a:r>
            <a:r>
              <a:rPr lang="zh-CN" altLang="en-US" sz="2200" b="1" u="sng" dirty="0" smtClean="0">
                <a:latin typeface="+mn-ea"/>
                <a:ea typeface="+mn-ea"/>
              </a:rPr>
              <a:t>触发器</a:t>
            </a:r>
            <a:r>
              <a:rPr lang="en-US" altLang="zh-CN" sz="1600" b="1" dirty="0" smtClean="0">
                <a:latin typeface="+mn-ea"/>
                <a:ea typeface="+mn-ea"/>
              </a:rPr>
              <a:t>(T/D</a:t>
            </a:r>
            <a:r>
              <a:rPr lang="zh-CN" altLang="en-US" sz="1600" b="1" dirty="0" smtClean="0">
                <a:latin typeface="+mn-ea"/>
                <a:ea typeface="+mn-ea"/>
              </a:rPr>
              <a:t>、边沿触发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，</a:t>
            </a:r>
            <a:r>
              <a:rPr lang="zh-CN" altLang="en-US" sz="2000" b="1" dirty="0">
                <a:latin typeface="+mn-ea"/>
              </a:rPr>
              <a:t> </a:t>
            </a:r>
            <a:r>
              <a:rPr lang="zh-CN" altLang="en-US" sz="1800" b="1" dirty="0" smtClean="0">
                <a:latin typeface="+mn-ea"/>
              </a:rPr>
              <a:t> </a:t>
            </a:r>
            <a:r>
              <a:rPr lang="zh-CN" altLang="en-US" sz="1600" b="1" dirty="0" smtClean="0">
                <a:latin typeface="+mn-ea"/>
              </a:rPr>
              <a:t>←基本元件之</a:t>
            </a:r>
            <a:r>
              <a:rPr lang="en-US" altLang="zh-CN" sz="1600" b="1" dirty="0" smtClean="0">
                <a:latin typeface="+mn-ea"/>
              </a:rPr>
              <a:t>2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latin typeface="+mn-ea"/>
                <a:ea typeface="+mn-ea"/>
              </a:rPr>
              <a:t>   </a:t>
            </a:r>
            <a:r>
              <a:rPr lang="zh-CN" altLang="en-US" sz="2200" b="1" u="sng" dirty="0" smtClean="0">
                <a:latin typeface="+mn-ea"/>
                <a:ea typeface="+mn-ea"/>
              </a:rPr>
              <a:t>电路结构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状态元件</a:t>
            </a:r>
            <a:r>
              <a:rPr lang="en-US" altLang="zh-CN" sz="1600" b="1" dirty="0" smtClean="0">
                <a:latin typeface="+mn-ea"/>
                <a:ea typeface="+mn-ea"/>
              </a:rPr>
              <a:t>+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次态</a:t>
            </a:r>
            <a:r>
              <a:rPr lang="zh-CN" sz="1600" b="1" dirty="0" smtClean="0">
                <a:latin typeface="+mn-ea"/>
                <a:ea typeface="+mn-ea"/>
              </a:rPr>
              <a:t>函数</a:t>
            </a:r>
            <a:r>
              <a:rPr lang="en-US" altLang="zh-CN" sz="1600" b="1" dirty="0" smtClean="0">
                <a:latin typeface="+mn-ea"/>
                <a:ea typeface="+mn-ea"/>
              </a:rPr>
              <a:t>+</a:t>
            </a:r>
            <a:r>
              <a:rPr lang="zh-CN" altLang="en-US" sz="1600" b="1" dirty="0" smtClean="0">
                <a:latin typeface="+mn-ea"/>
                <a:ea typeface="+mn-ea"/>
              </a:rPr>
              <a:t>输出函数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，</a:t>
            </a:r>
            <a:r>
              <a:rPr lang="zh-CN" altLang="en-US" sz="2200" b="1" u="sng" dirty="0" smtClean="0">
                <a:latin typeface="+mn-ea"/>
              </a:rPr>
              <a:t>典型器件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寄存器</a:t>
            </a:r>
            <a:r>
              <a:rPr lang="en-US" altLang="zh-CN" sz="1600" b="1" dirty="0" smtClean="0">
                <a:latin typeface="+mn-ea"/>
                <a:ea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</a:rPr>
              <a:t>计数器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，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latin typeface="+mn-ea"/>
                <a:ea typeface="+mn-ea"/>
              </a:rPr>
              <a:t>   </a:t>
            </a:r>
            <a:r>
              <a:rPr lang="zh-CN" altLang="en-US" sz="2200" b="1" u="sng" dirty="0" smtClean="0">
                <a:latin typeface="+mn-ea"/>
                <a:ea typeface="+mn-ea"/>
              </a:rPr>
              <a:t>设计步骤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功能分析→</a:t>
            </a:r>
            <a:r>
              <a:rPr lang="zh-CN" altLang="en-US" sz="1600" b="1" dirty="0" smtClean="0">
                <a:latin typeface="+mn-ea"/>
                <a:ea typeface="+mn-ea"/>
              </a:rPr>
              <a:t>状态图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→</a:t>
            </a:r>
            <a:r>
              <a:rPr lang="zh-CN" altLang="en-US" sz="1600" b="1" dirty="0" smtClean="0">
                <a:latin typeface="+mn-ea"/>
                <a:ea typeface="+mn-ea"/>
              </a:rPr>
              <a:t>状态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化简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&amp;</a:t>
            </a:r>
            <a:r>
              <a:rPr lang="zh-CN" altLang="en-US" sz="1600" b="1" dirty="0" smtClean="0">
                <a:latin typeface="+mn-ea"/>
                <a:ea typeface="+mn-ea"/>
              </a:rPr>
              <a:t>编码→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次态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&amp;</a:t>
            </a:r>
            <a:r>
              <a:rPr lang="zh-CN" altLang="en-US" sz="1600" b="1" dirty="0" smtClean="0">
                <a:latin typeface="+mn-ea"/>
                <a:ea typeface="+mn-ea"/>
              </a:rPr>
              <a:t>输出函数→电路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→分析</a:t>
            </a:r>
            <a:r>
              <a:rPr lang="en-US" altLang="zh-CN" sz="1600" b="1" dirty="0" smtClean="0">
                <a:latin typeface="+mn-ea"/>
                <a:ea typeface="+mn-ea"/>
              </a:rPr>
              <a:t>[</a:t>
            </a:r>
            <a:r>
              <a:rPr lang="zh-CN" altLang="en-US" sz="1600" b="1" dirty="0" smtClean="0">
                <a:latin typeface="+mn-ea"/>
                <a:ea typeface="+mn-ea"/>
              </a:rPr>
              <a:t>自启动</a:t>
            </a:r>
            <a:r>
              <a:rPr lang="en-US" altLang="zh-CN" sz="1600" b="1" dirty="0" smtClean="0">
                <a:latin typeface="+mn-ea"/>
                <a:ea typeface="+mn-ea"/>
              </a:rPr>
              <a:t>])</a:t>
            </a:r>
            <a:r>
              <a:rPr lang="zh-CN" altLang="en-US" sz="2200" b="1" dirty="0" smtClean="0">
                <a:latin typeface="+mn-ea"/>
                <a:ea typeface="+mn-ea"/>
              </a:rPr>
              <a:t> 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⑷其他电路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+mn-ea"/>
              </a:rPr>
              <a:t>    </a:t>
            </a:r>
            <a:r>
              <a:rPr lang="zh-CN" altLang="en-US" sz="2200" b="1" u="sng" dirty="0" smtClean="0">
                <a:latin typeface="+mn-ea"/>
              </a:rPr>
              <a:t>半导体存储器</a:t>
            </a:r>
            <a:r>
              <a:rPr lang="en-US" altLang="zh-CN" sz="1600" b="1" dirty="0" smtClean="0">
                <a:latin typeface="+mn-ea"/>
              </a:rPr>
              <a:t>(RAM/ROM)</a:t>
            </a:r>
            <a:endParaRPr lang="en-US" altLang="zh-CN" sz="2200" b="1" dirty="0">
              <a:latin typeface="+mn-ea"/>
            </a:endParaRPr>
          </a:p>
        </p:txBody>
      </p:sp>
      <p:sp>
        <p:nvSpPr>
          <p:cNvPr id="6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3456224" y="6057639"/>
            <a:ext cx="287337" cy="122413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回教学要求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" name="AutoShape 338"/>
          <p:cNvSpPr/>
          <p:nvPr/>
        </p:nvSpPr>
        <p:spPr bwMode="auto">
          <a:xfrm>
            <a:off x="6156400" y="5517485"/>
            <a:ext cx="2016000" cy="252000"/>
          </a:xfrm>
          <a:prstGeom prst="borderCallout2">
            <a:avLst>
              <a:gd name="adj1" fmla="val 51268"/>
              <a:gd name="adj2" fmla="val -290"/>
              <a:gd name="adj3" fmla="val 50567"/>
              <a:gd name="adj4" fmla="val -7625"/>
              <a:gd name="adj5" fmla="val -51854"/>
              <a:gd name="adj6" fmla="val -18448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lvl="0" algn="ctr"/>
            <a:r>
              <a:rPr lang="zh-CN" altLang="en-US" sz="1600" b="1" dirty="0" smtClean="0">
                <a:solidFill>
                  <a:srgbClr val="000000"/>
                </a:solidFill>
              </a:rPr>
              <a:t>仅要求同步时序逻辑</a:t>
            </a:r>
            <a:endParaRPr lang="zh-CN" altLang="en-US" sz="1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043608" y="890301"/>
          <a:ext cx="7056784" cy="4344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0080"/>
                <a:gridCol w="1584176"/>
                <a:gridCol w="1584176"/>
                <a:gridCol w="1584176"/>
                <a:gridCol w="792088"/>
                <a:gridCol w="792088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周次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周三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(3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学时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周五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学时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周六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(4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学时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授课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实验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实验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1</a:t>
                      </a:r>
                      <a:endParaRPr lang="en-US" alt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0+4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放假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3+2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国庆放假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国庆放假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0+5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2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章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2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章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第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2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章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&amp;</a:t>
                      </a:r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实验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2</a:t>
                      </a:r>
                      <a:endParaRPr lang="en-US" alt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0+4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3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章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alt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alt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endParaRPr lang="zh-CN" altLang="zh-CN" sz="1800" b="1" kern="1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第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3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章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实验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3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/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实验</a:t>
                      </a:r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4</a:t>
                      </a:r>
                      <a:endParaRPr lang="en-US" alt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4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5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章</a:t>
                      </a:r>
                      <a:endParaRPr lang="en-US" alt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5/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复习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合计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64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9+7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9388" y="303292"/>
            <a:ext cx="885710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b="1">
                <a:solidFill>
                  <a:srgbClr val="FF3399"/>
                </a:solidFill>
                <a:latin typeface="宋体" panose="02010600030101010101" pitchFamily="2" charset="-122"/>
              </a:defRPr>
            </a:lvl1pPr>
          </a:lstStyle>
          <a:p>
            <a:r>
              <a:rPr lang="en-US" altLang="zh-CN" dirty="0" smtClean="0"/>
              <a:t>※</a:t>
            </a:r>
            <a:r>
              <a:rPr lang="zh-CN" altLang="en-US" dirty="0" smtClean="0"/>
              <a:t>附</a:t>
            </a:r>
            <a:r>
              <a:rPr lang="en-US" altLang="zh-CN" dirty="0" smtClean="0"/>
              <a:t>3</a:t>
            </a:r>
            <a:r>
              <a:rPr lang="zh-CN" altLang="en-US" dirty="0" smtClean="0"/>
              <a:t>：教学进度计划</a:t>
            </a:r>
            <a:endParaRPr lang="en-US" altLang="zh-CN" dirty="0" smtClean="0"/>
          </a:p>
        </p:txBody>
      </p:sp>
      <p:sp>
        <p:nvSpPr>
          <p:cNvPr id="5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040400" y="6057639"/>
            <a:ext cx="287337" cy="122413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回教学要求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05"/>
          <p:cNvSpPr txBox="1">
            <a:spLocks noChangeArrowheads="1"/>
          </p:cNvSpPr>
          <p:nvPr/>
        </p:nvSpPr>
        <p:spPr bwMode="auto">
          <a:xfrm>
            <a:off x="179388" y="332909"/>
            <a:ext cx="8857108" cy="53245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附</a:t>
            </a: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4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：课程学习思考</a:t>
            </a:r>
            <a:endParaRPr lang="en-US" altLang="zh-CN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⑴为什么要设置这门课？这门课主要内容是什么？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marL="4659630" indent="-4659630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latin typeface="+mn-ea"/>
                <a:ea typeface="+mn-ea"/>
              </a:rPr>
              <a:t>    本</a:t>
            </a:r>
            <a:r>
              <a:rPr lang="zh-CN" altLang="en-US" sz="2200" b="1" dirty="0">
                <a:latin typeface="+mn-ea"/>
                <a:ea typeface="+mn-ea"/>
              </a:rPr>
              <a:t>课程是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硬件基础课</a:t>
            </a:r>
            <a:r>
              <a:rPr lang="zh-CN" altLang="en-US" sz="2200" b="1" dirty="0" smtClean="0">
                <a:latin typeface="+mn-ea"/>
                <a:ea typeface="+mn-ea"/>
              </a:rPr>
              <a:t>，必修的后续</a:t>
            </a:r>
            <a:r>
              <a:rPr lang="zh-CN" altLang="en-US" sz="2200" b="1" dirty="0">
                <a:latin typeface="+mn-ea"/>
                <a:ea typeface="+mn-ea"/>
              </a:rPr>
              <a:t>课程</a:t>
            </a:r>
            <a:r>
              <a:rPr lang="zh-CN" altLang="en-US" sz="2200" b="1" u="sng" dirty="0" smtClean="0">
                <a:latin typeface="+mn-ea"/>
                <a:ea typeface="+mn-ea"/>
              </a:rPr>
              <a:t>有</a:t>
            </a:r>
            <a:r>
              <a:rPr lang="en-US" altLang="zh-CN" sz="2200" b="1" u="sng" dirty="0" smtClean="0">
                <a:latin typeface="+mn-ea"/>
                <a:ea typeface="+mn-ea"/>
              </a:rPr>
              <a:t>2</a:t>
            </a:r>
            <a:r>
              <a:rPr lang="zh-CN" altLang="en-US" sz="2200" b="1" u="sng" dirty="0" smtClean="0">
                <a:latin typeface="+mn-ea"/>
                <a:ea typeface="+mn-ea"/>
              </a:rPr>
              <a:t>门</a:t>
            </a:r>
            <a:endParaRPr lang="en-US" altLang="zh-CN" sz="2200" b="1" u="sng" dirty="0" smtClean="0">
              <a:latin typeface="+mn-ea"/>
              <a:ea typeface="+mn-ea"/>
            </a:endParaRPr>
          </a:p>
          <a:p>
            <a:pPr marL="4659630" indent="-4659630">
              <a:lnSpc>
                <a:spcPct val="125000"/>
              </a:lnSpc>
            </a:pPr>
            <a:r>
              <a:rPr lang="en-US" altLang="zh-CN" sz="1600" b="1" dirty="0">
                <a:latin typeface="+mn-ea"/>
                <a:ea typeface="+mn-ea"/>
              </a:rPr>
              <a:t> </a:t>
            </a:r>
            <a:r>
              <a:rPr lang="en-US" altLang="zh-CN" sz="1600" b="1" dirty="0" smtClean="0">
                <a:latin typeface="+mn-ea"/>
                <a:ea typeface="+mn-ea"/>
              </a:rPr>
              <a:t>               </a:t>
            </a:r>
            <a:r>
              <a:rPr lang="en-US" altLang="zh-CN" sz="1600" b="1" dirty="0">
                <a:latin typeface="+mn-ea"/>
                <a:ea typeface="+mn-ea"/>
              </a:rPr>
              <a:t> </a:t>
            </a:r>
            <a:r>
              <a:rPr lang="en-US" altLang="zh-CN" sz="1600" b="1" dirty="0" smtClean="0">
                <a:latin typeface="+mn-ea"/>
                <a:ea typeface="+mn-ea"/>
              </a:rPr>
              <a:t>                 (</a:t>
            </a:r>
            <a:r>
              <a:rPr lang="zh-CN" altLang="en-US" sz="1600" b="1" dirty="0" smtClean="0">
                <a:latin typeface="+mn-ea"/>
                <a:ea typeface="+mn-ea"/>
              </a:rPr>
              <a:t>计算机系统</a:t>
            </a:r>
            <a:r>
              <a:rPr lang="zh-CN" altLang="en-US" sz="1600" b="1" dirty="0">
                <a:latin typeface="+mn-ea"/>
                <a:ea typeface="+mn-ea"/>
              </a:rPr>
              <a:t>结构、计算机系统综合课程设计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16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latin typeface="+mn-ea"/>
                <a:ea typeface="+mn-ea"/>
              </a:rPr>
              <a:t>  计算机硬件</a:t>
            </a:r>
            <a:r>
              <a:rPr lang="zh-CN" altLang="en-US" sz="2200" b="1" dirty="0">
                <a:latin typeface="+mn-ea"/>
                <a:ea typeface="+mn-ea"/>
              </a:rPr>
              <a:t>的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  <a:ea typeface="+mn-ea"/>
              </a:rPr>
              <a:t>组成及工作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原理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zh-CN" altLang="en-US" sz="2200" b="1" dirty="0" smtClean="0">
                <a:latin typeface="+mn-ea"/>
                <a:ea typeface="+mn-ea"/>
              </a:rPr>
              <a:t>即部件</a:t>
            </a:r>
            <a:r>
              <a:rPr lang="zh-CN" altLang="en-US" sz="2200" b="1" dirty="0">
                <a:latin typeface="+mn-ea"/>
                <a:ea typeface="+mn-ea"/>
              </a:rPr>
              <a:t>的</a:t>
            </a:r>
            <a:r>
              <a:rPr lang="zh-CN" altLang="en-US" sz="2200" b="1" dirty="0" smtClean="0">
                <a:latin typeface="+mn-ea"/>
                <a:ea typeface="+mn-ea"/>
              </a:rPr>
              <a:t>组织、互连及控制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⑵学习本课程要注意哪些？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 重视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概念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  <a:ea typeface="+mn-ea"/>
              </a:rPr>
              <a:t>一切的基础</a:t>
            </a:r>
            <a:r>
              <a:rPr lang="zh-CN" altLang="en-US" sz="2200" b="1" dirty="0" smtClean="0">
                <a:latin typeface="+mn-ea"/>
                <a:ea typeface="+mn-ea"/>
              </a:rPr>
              <a:t>！理解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分析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zh-CN" altLang="en-US" sz="2200" b="1" dirty="0">
                <a:latin typeface="+mn-ea"/>
                <a:ea typeface="+mn-ea"/>
              </a:rPr>
              <a:t>应用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做题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zh-CN" altLang="en-US" sz="2200" b="1" dirty="0">
                <a:latin typeface="+mn-ea"/>
                <a:ea typeface="+mn-ea"/>
              </a:rPr>
              <a:t>融合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点→面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 关注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需求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  <a:ea typeface="+mn-ea"/>
              </a:rPr>
              <a:t>组成</a:t>
            </a:r>
            <a:r>
              <a:rPr lang="zh-CN" altLang="en-US" sz="2200" b="1" dirty="0" smtClean="0">
                <a:latin typeface="+mn-ea"/>
                <a:ea typeface="+mn-ea"/>
              </a:rPr>
              <a:t>与原理的</a:t>
            </a:r>
            <a:r>
              <a:rPr lang="zh-CN" altLang="en-US" sz="2200" b="1" dirty="0">
                <a:latin typeface="+mn-ea"/>
                <a:ea typeface="+mn-ea"/>
              </a:rPr>
              <a:t>依据</a:t>
            </a:r>
            <a:r>
              <a:rPr lang="zh-CN" altLang="en-US" sz="2200" b="1" dirty="0" smtClean="0">
                <a:latin typeface="+mn-ea"/>
                <a:ea typeface="+mn-ea"/>
              </a:rPr>
              <a:t>！分析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基于模型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、细化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部件</a:t>
            </a:r>
            <a:r>
              <a:rPr lang="en-US" altLang="zh-CN" sz="1600" b="1" dirty="0" smtClean="0">
                <a:latin typeface="+mn-ea"/>
                <a:ea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</a:rPr>
              <a:t>关联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⑶如何防止挂科？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 保证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学习时间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  <a:ea typeface="+mn-ea"/>
              </a:rPr>
              <a:t>多看多练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基础课的特征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 提高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学习效率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  <a:ea typeface="+mn-ea"/>
              </a:rPr>
              <a:t>方法多样化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看书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听课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作业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答疑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，及时补缺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拖危害大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 不要轻易放弃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  <a:ea typeface="+mn-ea"/>
              </a:rPr>
              <a:t>没有笨人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时间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方法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，对自己负责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不要影响其他课程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en-US" altLang="zh-CN" sz="1800" b="1" dirty="0">
              <a:latin typeface="+mn-ea"/>
              <a:ea typeface="+mn-ea"/>
            </a:endParaRPr>
          </a:p>
        </p:txBody>
      </p:sp>
      <p:sp>
        <p:nvSpPr>
          <p:cNvPr id="8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696584" y="6057639"/>
            <a:ext cx="287337" cy="122413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回教学要求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0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285115"/>
            <a:ext cx="3079750" cy="575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※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附</a:t>
            </a: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5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：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PPT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界面组织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标题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结构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文字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标注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插图约定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其它说明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4" name="Text Box 103"/>
          <p:cNvSpPr txBox="1">
            <a:spLocks noChangeArrowheads="1"/>
          </p:cNvSpPr>
          <p:nvPr/>
        </p:nvSpPr>
        <p:spPr bwMode="auto">
          <a:xfrm>
            <a:off x="1908175" y="765175"/>
            <a:ext cx="7153910" cy="4800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有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6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层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sym typeface="+mn-ea"/>
              </a:rPr>
              <a:t>/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sym typeface="+mn-ea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sym typeface="+mn-ea"/>
              </a:rPr>
              <a:t>，可缺省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sym typeface="+mn-ea"/>
              </a:rPr>
              <a:t>基于内容多少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sym typeface="+mn-ea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4090" y="1236345"/>
            <a:ext cx="3782695" cy="22485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852670" y="1239520"/>
            <a:ext cx="3560445" cy="2245360"/>
          </a:xfrm>
          <a:prstGeom prst="rect">
            <a:avLst/>
          </a:prstGeom>
        </p:spPr>
      </p:pic>
      <p:sp>
        <p:nvSpPr>
          <p:cNvPr id="7" name="Text Box 103"/>
          <p:cNvSpPr txBox="1">
            <a:spLocks noChangeArrowheads="1"/>
          </p:cNvSpPr>
          <p:nvPr/>
        </p:nvSpPr>
        <p:spPr bwMode="auto">
          <a:xfrm>
            <a:off x="1891665" y="3403600"/>
            <a:ext cx="7153910" cy="305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不同颜色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下划线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表示关键信息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醒目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为说明信息，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表示原因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表示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结果，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尾←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为说明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解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释，</a:t>
            </a:r>
            <a:endParaRPr lang="zh-CN" altLang="en-US" sz="2200" b="1" dirty="0" smtClean="0">
              <a:solidFill>
                <a:srgbClr val="0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ea typeface="+mn-ea"/>
                <a:sym typeface="+mn-ea"/>
              </a:rPr>
              <a:t>部分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ea typeface="+mn-ea"/>
                <a:sym typeface="+mn-ea"/>
              </a:rPr>
              <a:t>缩写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非标准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(REG/MEM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表示寄存器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存储器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)</a:t>
            </a:r>
            <a:endParaRPr lang="zh-CN" altLang="en-US" sz="2200" b="1" dirty="0" smtClean="0">
              <a:solidFill>
                <a:srgbClr val="0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ea typeface="+mn-ea"/>
                <a:sym typeface="+mn-ea"/>
              </a:rPr>
              <a:t>线条颜色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表示</a:t>
            </a:r>
            <a:r>
              <a:rPr lang="zh-CN" altLang="en-US" sz="2200" b="1" u="sng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功能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(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地址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数据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控制线为橙色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蓝色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粉红色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)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，</a:t>
            </a:r>
            <a:endParaRPr lang="zh-CN" altLang="en-US" sz="2200" b="1" dirty="0" smtClean="0">
              <a:solidFill>
                <a:srgbClr val="000000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ea typeface="+mn-ea"/>
                <a:sym typeface="+mn-ea"/>
              </a:rPr>
              <a:t>文本框颜色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表示电路类型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(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时序逻辑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组合逻辑为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橙色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粉红色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)</a:t>
            </a:r>
            <a:endParaRPr lang="zh-CN" altLang="en-US" sz="2200" b="1" dirty="0" smtClean="0">
              <a:solidFill>
                <a:srgbClr val="000000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 smtClean="0">
                <a:latin typeface="宋体" panose="02010600030101010101" pitchFamily="2" charset="-122"/>
                <a:ea typeface="+mn-ea"/>
                <a:sym typeface="+mn-ea"/>
              </a:rPr>
              <a:t>所有</a:t>
            </a:r>
            <a:r>
              <a:rPr 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ea typeface="+mn-ea"/>
                <a:sym typeface="+mn-ea"/>
              </a:rPr>
              <a:t>动画</a:t>
            </a:r>
            <a:r>
              <a:rPr lang="zh-CN" sz="2200" b="1" dirty="0" smtClean="0">
                <a:latin typeface="宋体" panose="02010600030101010101" pitchFamily="2" charset="-122"/>
                <a:ea typeface="+mn-ea"/>
                <a:sym typeface="+mn-ea"/>
              </a:rPr>
              <a:t>均可用于互动</a:t>
            </a:r>
            <a:r>
              <a:rPr lang="en-US" altLang="zh-CN" sz="1800" b="1" dirty="0" smtClean="0">
                <a:latin typeface="宋体" panose="02010600030101010101" pitchFamily="2" charset="-122"/>
                <a:ea typeface="+mn-ea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ea typeface="+mn-ea"/>
                <a:sym typeface="+mn-ea"/>
              </a:rPr>
              <a:t>思考后再看结果</a:t>
            </a:r>
            <a:r>
              <a:rPr lang="en-US" altLang="zh-CN" sz="1800" b="1" dirty="0" smtClean="0">
                <a:latin typeface="宋体" panose="02010600030101010101" pitchFamily="2" charset="-122"/>
                <a:ea typeface="+mn-ea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所有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思考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均有答案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备注栏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当前页中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ea typeface="+mn-ea"/>
              <a:sym typeface="+mn-ea"/>
            </a:endParaRPr>
          </a:p>
        </p:txBody>
      </p:sp>
      <p:sp>
        <p:nvSpPr>
          <p:cNvPr id="11" name="AutoShape 230">
            <a:hlinkClick r:id="rId6" action="ppaction://hlinksldjump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99"/>
          <p:cNvSpPr txBox="1">
            <a:spLocks noChangeArrowheads="1"/>
          </p:cNvSpPr>
          <p:nvPr/>
        </p:nvSpPr>
        <p:spPr bwMode="auto">
          <a:xfrm>
            <a:off x="179512" y="334064"/>
            <a:ext cx="6912768" cy="4998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附</a:t>
            </a: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6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：寄存器组设计</a:t>
            </a:r>
            <a:endParaRPr lang="en-US" altLang="zh-CN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+mn-ea"/>
                <a:ea typeface="+mn-ea"/>
              </a:rPr>
              <a:t>功能需求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8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+mn-ea"/>
                <a:ea typeface="+mn-ea"/>
              </a:rPr>
              <a:t>引脚定义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b="1" dirty="0" smtClean="0">
                <a:solidFill>
                  <a:srgbClr val="990099"/>
                </a:solidFill>
                <a:latin typeface="+mn-ea"/>
                <a:ea typeface="+mn-ea"/>
              </a:rPr>
              <a:t>读端口：</a:t>
            </a:r>
            <a:endParaRPr lang="en-US" altLang="zh-CN" b="1" dirty="0" smtClean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en-US" altLang="zh-CN" b="1" dirty="0" smtClean="0">
                <a:solidFill>
                  <a:srgbClr val="990099"/>
                </a:solidFill>
                <a:latin typeface="+mn-ea"/>
                <a:ea typeface="+mn-ea"/>
              </a:rPr>
              <a:t>            </a:t>
            </a:r>
            <a:r>
              <a:rPr lang="zh-CN" altLang="en-US" b="1" dirty="0" smtClean="0">
                <a:solidFill>
                  <a:srgbClr val="990099"/>
                </a:solidFill>
                <a:latin typeface="+mn-ea"/>
                <a:ea typeface="+mn-ea"/>
              </a:rPr>
              <a:t>写端口：</a:t>
            </a:r>
            <a:endParaRPr lang="en-US" altLang="zh-CN" b="1" dirty="0" smtClean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+mn-ea"/>
                <a:ea typeface="+mn-ea"/>
              </a:rPr>
              <a:t>逻辑函数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+mn-ea"/>
                <a:ea typeface="+mn-ea"/>
              </a:rPr>
              <a:t>内部逻辑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+mn-ea"/>
              <a:ea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555776" y="4434860"/>
            <a:ext cx="3528360" cy="1514673"/>
            <a:chOff x="2555776" y="4506615"/>
            <a:chExt cx="3528360" cy="1514673"/>
          </a:xfrm>
        </p:grpSpPr>
        <p:sp>
          <p:nvSpPr>
            <p:cNvPr id="7" name="矩形 6"/>
            <p:cNvSpPr/>
            <p:nvPr/>
          </p:nvSpPr>
          <p:spPr>
            <a:xfrm>
              <a:off x="3060184" y="4509144"/>
              <a:ext cx="2592000" cy="151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27816" y="5157216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rW</a:t>
              </a:r>
              <a:endParaRPr lang="zh-CN" altLang="en-US" sz="1600" b="1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96136" y="4941192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Q</a:t>
              </a:r>
              <a:endParaRPr lang="zh-CN" altLang="en-US" sz="1600" b="1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 bwMode="auto">
            <a:xfrm>
              <a:off x="5508104" y="5057568"/>
              <a:ext cx="288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 bwMode="auto">
            <a:xfrm>
              <a:off x="2915816" y="4869183"/>
              <a:ext cx="288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" name="TextBox 13"/>
            <p:cNvSpPr txBox="1"/>
            <p:nvPr/>
          </p:nvSpPr>
          <p:spPr>
            <a:xfrm>
              <a:off x="2627816" y="5517280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Wr</a:t>
              </a:r>
              <a:endParaRPr lang="zh-CN" altLang="en-US" sz="1600" b="1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27816" y="5805288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CP</a:t>
              </a:r>
              <a:endParaRPr lang="zh-CN" altLang="en-US" sz="1600" b="1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627816" y="4725192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endParaRPr lang="zh-CN" altLang="en-US" sz="1600" b="1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627816" y="4506615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rA</a:t>
              </a:r>
              <a:endParaRPr lang="zh-CN" altLang="en-US" sz="1600" b="1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" name="左大括号 18"/>
            <p:cNvSpPr/>
            <p:nvPr/>
          </p:nvSpPr>
          <p:spPr bwMode="auto">
            <a:xfrm>
              <a:off x="2555776" y="4823100"/>
              <a:ext cx="72008" cy="1152000"/>
            </a:xfrm>
            <a:prstGeom prst="leftBrace">
              <a:avLst>
                <a:gd name="adj1" fmla="val 45937"/>
                <a:gd name="adj2" fmla="val 50000"/>
              </a:avLst>
            </a:prstGeom>
            <a:noFill/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 bwMode="auto">
            <a:xfrm>
              <a:off x="2915816" y="4653126"/>
              <a:ext cx="288000" cy="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" name="直接连接符 20"/>
            <p:cNvCxnSpPr/>
            <p:nvPr/>
          </p:nvCxnSpPr>
          <p:spPr bwMode="auto">
            <a:xfrm>
              <a:off x="2915816" y="5301232"/>
              <a:ext cx="288000" cy="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" name="直接连接符 22"/>
            <p:cNvCxnSpPr/>
            <p:nvPr/>
          </p:nvCxnSpPr>
          <p:spPr bwMode="auto">
            <a:xfrm>
              <a:off x="2915816" y="5661238"/>
              <a:ext cx="288000" cy="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4" name="直接连接符 23"/>
            <p:cNvCxnSpPr/>
            <p:nvPr/>
          </p:nvCxnSpPr>
          <p:spPr bwMode="auto">
            <a:xfrm>
              <a:off x="2915816" y="5949304"/>
              <a:ext cx="288000" cy="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5" name="矩形 44"/>
            <p:cNvSpPr/>
            <p:nvPr/>
          </p:nvSpPr>
          <p:spPr>
            <a:xfrm>
              <a:off x="4139952" y="4797152"/>
              <a:ext cx="576000" cy="288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R7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4139944" y="5589272"/>
              <a:ext cx="576000" cy="288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R0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Text Box 18"/>
            <p:cNvSpPr txBox="1">
              <a:spLocks noChangeArrowheads="1"/>
            </p:cNvSpPr>
            <p:nvPr/>
          </p:nvSpPr>
          <p:spPr bwMode="auto">
            <a:xfrm rot="16200000">
              <a:off x="4247374" y="5193746"/>
              <a:ext cx="288000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015"/>
          <p:cNvSpPr txBox="1">
            <a:spLocks noChangeArrowheads="1"/>
          </p:cNvSpPr>
          <p:nvPr/>
        </p:nvSpPr>
        <p:spPr bwMode="auto">
          <a:xfrm>
            <a:off x="2267744" y="764957"/>
            <a:ext cx="6696744" cy="22491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包含多个寄存器；</a:t>
            </a:r>
            <a:endParaRPr lang="en-US" altLang="zh-CN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按地址读、写某个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  <a:ea typeface="+mn-ea"/>
              </a:rPr>
              <a:t>REG</a:t>
            </a:r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en-US" b="1" u="sng" dirty="0" smtClean="0">
                <a:solidFill>
                  <a:srgbClr val="990099"/>
                </a:solidFill>
                <a:latin typeface="+mn-ea"/>
                <a:ea typeface="+mn-ea"/>
              </a:rPr>
              <a:t>可同时</a:t>
            </a:r>
            <a:r>
              <a:rPr lang="zh-CN" altLang="en-US" b="1" dirty="0">
                <a:latin typeface="+mn-ea"/>
                <a:ea typeface="+mn-ea"/>
              </a:rPr>
              <a:t>进行</a:t>
            </a:r>
            <a:r>
              <a:rPr lang="zh-CN" altLang="en-US" b="1" dirty="0" smtClean="0">
                <a:latin typeface="+mn-ea"/>
                <a:ea typeface="+mn-ea"/>
              </a:rPr>
              <a:t>读和写</a:t>
            </a:r>
            <a:endParaRPr lang="en-US" altLang="zh-CN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zh-CN" altLang="en-US" sz="1800" b="1" dirty="0" smtClean="0">
                <a:latin typeface="+mn-ea"/>
              </a:rPr>
              <a:t>                               </a:t>
            </a:r>
            <a:r>
              <a:rPr lang="zh-CN" altLang="en-US" sz="1800" dirty="0" smtClean="0">
                <a:latin typeface="+mn-ea"/>
              </a:rPr>
              <a:t>└</a:t>
            </a:r>
            <a:r>
              <a:rPr lang="zh-CN" altLang="en-US" sz="1800" b="1" dirty="0" smtClean="0">
                <a:latin typeface="+mn-ea"/>
              </a:rPr>
              <a:t>←读端口、写端口各</a:t>
            </a:r>
            <a:r>
              <a:rPr lang="en-US" altLang="zh-CN" sz="1800" b="1" dirty="0" smtClean="0">
                <a:latin typeface="+mn-ea"/>
              </a:rPr>
              <a:t>1</a:t>
            </a:r>
            <a:r>
              <a:rPr lang="zh-CN" altLang="en-US" sz="1800" b="1" dirty="0" smtClean="0">
                <a:latin typeface="+mn-ea"/>
              </a:rPr>
              <a:t>个</a:t>
            </a:r>
            <a:endParaRPr lang="en-US" altLang="zh-CN" sz="1800" dirty="0" smtClean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>
                <a:latin typeface="+mn-ea"/>
              </a:rPr>
              <a:t> </a:t>
            </a:r>
            <a:r>
              <a:rPr lang="en-US" altLang="zh-CN" b="1" dirty="0" smtClean="0">
                <a:latin typeface="+mn-ea"/>
              </a:rPr>
              <a:t>       </a:t>
            </a:r>
            <a:r>
              <a:rPr lang="en-US" altLang="zh-CN" b="1" dirty="0" err="1" smtClean="0">
                <a:latin typeface="+mn-ea"/>
              </a:rPr>
              <a:t>rA</a:t>
            </a:r>
            <a:r>
              <a:rPr lang="zh-CN" altLang="en-US" b="1" dirty="0" smtClean="0">
                <a:latin typeface="+mn-ea"/>
              </a:rPr>
              <a:t>，</a:t>
            </a:r>
            <a:r>
              <a:rPr lang="en-US" altLang="zh-CN" b="1" dirty="0" smtClean="0">
                <a:latin typeface="+mn-ea"/>
              </a:rPr>
              <a:t>Q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>
                <a:latin typeface="+mn-ea"/>
              </a:rPr>
              <a:t> </a:t>
            </a:r>
            <a:r>
              <a:rPr lang="en-US" altLang="zh-CN" b="1" dirty="0" smtClean="0">
                <a:latin typeface="+mn-ea"/>
              </a:rPr>
              <a:t>       </a:t>
            </a:r>
            <a:r>
              <a:rPr lang="en-US" altLang="zh-CN" b="1" dirty="0" err="1" smtClean="0">
                <a:latin typeface="+mn-ea"/>
              </a:rPr>
              <a:t>wA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D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err="1" smtClean="0">
                <a:latin typeface="+mn-ea"/>
              </a:rPr>
              <a:t>Wr</a:t>
            </a:r>
            <a:r>
              <a:rPr lang="zh-CN" altLang="en-US" b="1" dirty="0" smtClean="0">
                <a:latin typeface="+mn-ea"/>
              </a:rPr>
              <a:t>、</a:t>
            </a:r>
            <a:r>
              <a:rPr lang="en-US" altLang="zh-CN" b="1" dirty="0" smtClean="0">
                <a:latin typeface="+mn-ea"/>
              </a:rPr>
              <a:t>CP</a:t>
            </a:r>
            <a:endParaRPr lang="en-US" altLang="zh-CN" b="1" dirty="0" smtClean="0">
              <a:latin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411760" y="3066708"/>
          <a:ext cx="4608512" cy="1158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/>
                <a:gridCol w="432048"/>
                <a:gridCol w="432048"/>
                <a:gridCol w="432048"/>
                <a:gridCol w="1080120"/>
                <a:gridCol w="720080"/>
                <a:gridCol w="1080120"/>
              </a:tblGrid>
              <a:tr h="15979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rW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Wr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CP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R[</a:t>
                      </a:r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rW</a:t>
                      </a: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R[a]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不变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上升沿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R[a]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非上升沿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R[a]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不变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4" name="AutoShape 71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3995937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3131840" y="4581381"/>
            <a:ext cx="2376264" cy="1008113"/>
            <a:chOff x="3131840" y="4653136"/>
            <a:chExt cx="2376264" cy="1008113"/>
          </a:xfrm>
        </p:grpSpPr>
        <p:sp>
          <p:nvSpPr>
            <p:cNvPr id="50" name="流程图: 手动操作 49"/>
            <p:cNvSpPr/>
            <p:nvPr/>
          </p:nvSpPr>
          <p:spPr bwMode="auto">
            <a:xfrm rot="16200000">
              <a:off x="5112104" y="4905145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0  7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52" name="直接连接符 51"/>
            <p:cNvCxnSpPr/>
            <p:nvPr/>
          </p:nvCxnSpPr>
          <p:spPr bwMode="auto">
            <a:xfrm flipV="1">
              <a:off x="4715968" y="4869160"/>
              <a:ext cx="57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5" name="直接连接符 54"/>
            <p:cNvCxnSpPr/>
            <p:nvPr/>
          </p:nvCxnSpPr>
          <p:spPr bwMode="auto">
            <a:xfrm flipV="1">
              <a:off x="4715944" y="5661248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/>
          </p:nvCxnSpPr>
          <p:spPr bwMode="auto">
            <a:xfrm>
              <a:off x="5436096" y="4653136"/>
              <a:ext cx="0" cy="14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7" name="直接连接符 56"/>
            <p:cNvCxnSpPr/>
            <p:nvPr/>
          </p:nvCxnSpPr>
          <p:spPr bwMode="auto">
            <a:xfrm>
              <a:off x="3131840" y="4653136"/>
              <a:ext cx="230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 bwMode="auto">
            <a:xfrm flipV="1">
              <a:off x="4932040" y="5157192"/>
              <a:ext cx="360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 bwMode="auto">
            <a:xfrm flipV="1">
              <a:off x="4932040" y="5157168"/>
              <a:ext cx="0" cy="504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60" name="Text Box 18"/>
            <p:cNvSpPr txBox="1">
              <a:spLocks noChangeArrowheads="1"/>
            </p:cNvSpPr>
            <p:nvPr/>
          </p:nvSpPr>
          <p:spPr bwMode="auto">
            <a:xfrm rot="16200000">
              <a:off x="5039534" y="4905683"/>
              <a:ext cx="288000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131840" y="4797405"/>
            <a:ext cx="1008040" cy="1080200"/>
            <a:chOff x="3131840" y="4869160"/>
            <a:chExt cx="1008040" cy="1080200"/>
          </a:xfrm>
        </p:grpSpPr>
        <p:cxnSp>
          <p:nvCxnSpPr>
            <p:cNvPr id="34" name="直接连接符 33"/>
            <p:cNvCxnSpPr/>
            <p:nvPr/>
          </p:nvCxnSpPr>
          <p:spPr bwMode="auto">
            <a:xfrm flipV="1">
              <a:off x="3779840" y="5661360"/>
              <a:ext cx="360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35" name="直接连接符 34"/>
            <p:cNvCxnSpPr/>
            <p:nvPr/>
          </p:nvCxnSpPr>
          <p:spPr bwMode="auto">
            <a:xfrm flipV="1">
              <a:off x="3923880" y="4941248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6" name="直接连接符 35"/>
            <p:cNvCxnSpPr/>
            <p:nvPr/>
          </p:nvCxnSpPr>
          <p:spPr bwMode="auto">
            <a:xfrm flipV="1">
              <a:off x="3923856" y="5733368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37" name="直接连接符 36"/>
            <p:cNvCxnSpPr/>
            <p:nvPr/>
          </p:nvCxnSpPr>
          <p:spPr bwMode="auto">
            <a:xfrm flipV="1">
              <a:off x="3923856" y="4941248"/>
              <a:ext cx="24" cy="10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/>
          </p:nvCxnSpPr>
          <p:spPr bwMode="auto">
            <a:xfrm flipV="1">
              <a:off x="3491880" y="5013256"/>
              <a:ext cx="648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 bwMode="auto">
            <a:xfrm flipV="1">
              <a:off x="3491880" y="5805343"/>
              <a:ext cx="648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 bwMode="auto">
            <a:xfrm>
              <a:off x="3779840" y="4869160"/>
              <a:ext cx="24" cy="792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/>
          </p:nvCxnSpPr>
          <p:spPr bwMode="auto">
            <a:xfrm>
              <a:off x="3131840" y="5949360"/>
              <a:ext cx="79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矩形 41"/>
            <p:cNvSpPr/>
            <p:nvPr/>
          </p:nvSpPr>
          <p:spPr>
            <a:xfrm>
              <a:off x="3203848" y="4941248"/>
              <a:ext cx="288032" cy="93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 anchorCtr="1"/>
            <a:lstStyle/>
            <a:p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译码器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3" name="Text Box 18"/>
            <p:cNvSpPr txBox="1">
              <a:spLocks noChangeArrowheads="1"/>
            </p:cNvSpPr>
            <p:nvPr/>
          </p:nvSpPr>
          <p:spPr bwMode="auto">
            <a:xfrm rot="16200000">
              <a:off x="3455358" y="5265834"/>
              <a:ext cx="288000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1" name="直接连接符 60"/>
            <p:cNvCxnSpPr/>
            <p:nvPr/>
          </p:nvCxnSpPr>
          <p:spPr bwMode="auto">
            <a:xfrm flipV="1">
              <a:off x="3131840" y="4869160"/>
              <a:ext cx="1008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RAINPROBLEM" val="ProblemBody"/>
</p:tagLst>
</file>

<file path=ppt/tags/tag109.xml><?xml version="1.0" encoding="utf-8"?>
<p:tagLst xmlns:p="http://schemas.openxmlformats.org/presentationml/2006/main">
  <p:tag name="RAINPROBLEM" val="ProblemBody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RAINPROBLEM" val="ProblemBody"/>
</p:tagLst>
</file>

<file path=ppt/tags/tag112.xml><?xml version="1.0" encoding="utf-8"?>
<p:tagLst xmlns:p="http://schemas.openxmlformats.org/presentationml/2006/main">
  <p:tag name="RAINPROBLEM" val="ProblemBody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  <p:tag name="KSO_WM_UNIT_PLACING_PICTURE_USER_VIEWPORT" val="{&quot;height&quot;:7810,&quot;width&quot;:13140}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PP_MARK_KEY" val="52b5e824-ef97-4852-b711-217f15a3a636"/>
  <p:tag name="COMMONDATA" val="eyJoZGlkIjoiY2ZiYjY4MjU5YzBkYmJmZjUyNGJiOWY1ZTc3NzM1MGYifQ=="/>
  <p:tag name="commondata" val="eyJoZGlkIjoiMTYxYjYyZWE4M2VkN2ZhNjg5OWUzNDNjNjcyOTBhNGM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16345</Words>
  <Application>WPS 演示</Application>
  <PresentationFormat>全屏显示(4:3)</PresentationFormat>
  <Paragraphs>2478</Paragraphs>
  <Slides>47</Slides>
  <Notes>36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47</vt:i4>
      </vt:variant>
    </vt:vector>
  </HeadingPairs>
  <TitlesOfParts>
    <vt:vector size="65" baseType="lpstr">
      <vt:lpstr>Arial</vt:lpstr>
      <vt:lpstr>宋体</vt:lpstr>
      <vt:lpstr>Wingdings</vt:lpstr>
      <vt:lpstr>Times New Roman</vt:lpstr>
      <vt:lpstr>MS Gothic</vt:lpstr>
      <vt:lpstr>楷体_GB2312</vt:lpstr>
      <vt:lpstr>新宋体</vt:lpstr>
      <vt:lpstr>黑体</vt:lpstr>
      <vt:lpstr>微软雅黑</vt:lpstr>
      <vt:lpstr>Arial Unicode MS</vt:lpstr>
      <vt:lpstr>Symbol</vt:lpstr>
      <vt:lpstr>Arial Unicode MS</vt:lpstr>
      <vt:lpstr>Times New Roman</vt:lpstr>
      <vt:lpstr>默认设计模板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1260</cp:revision>
</cp:coreProperties>
</file>

<file path=docProps/custom.xml><?xml version="1.0" encoding="utf-8"?>
<Properties xmlns="http://schemas.openxmlformats.org/officeDocument/2006/custom-properties"/>
</file>